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420" y="-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4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3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1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2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7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7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1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5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FA2EA-0002-4302-9060-0E87986BC45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1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8"/>
          <p:cNvSpPr/>
          <p:nvPr/>
        </p:nvSpPr>
        <p:spPr>
          <a:xfrm>
            <a:off x="1090733" y="1816817"/>
            <a:ext cx="1150339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6" name="Rectángulo 302"/>
          <p:cNvSpPr/>
          <p:nvPr/>
        </p:nvSpPr>
        <p:spPr>
          <a:xfrm>
            <a:off x="2317792" y="2682876"/>
            <a:ext cx="4725316" cy="27983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305"/>
          <p:cNvSpPr/>
          <p:nvPr/>
        </p:nvSpPr>
        <p:spPr>
          <a:xfrm>
            <a:off x="1075572" y="1629853"/>
            <a:ext cx="5967536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Datalake</a:t>
            </a:r>
          </a:p>
        </p:txBody>
      </p:sp>
      <p:grpSp>
        <p:nvGrpSpPr>
          <p:cNvPr id="26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3712201" y="4220133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7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CuadroTexto 86"/>
          <p:cNvSpPr txBox="1"/>
          <p:nvPr/>
        </p:nvSpPr>
        <p:spPr>
          <a:xfrm>
            <a:off x="3252316" y="3990981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1" name="Elbow Connector 30"/>
          <p:cNvCxnSpPr>
            <a:endCxn id="28" idx="2"/>
          </p:cNvCxnSpPr>
          <p:nvPr/>
        </p:nvCxnSpPr>
        <p:spPr>
          <a:xfrm>
            <a:off x="1846560" y="2134492"/>
            <a:ext cx="1865641" cy="2288135"/>
          </a:xfrm>
          <a:prstGeom prst="bentConnector3">
            <a:avLst>
              <a:gd name="adj1" fmla="val 3725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33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241" y="4174674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/>
          <p:cNvGrpSpPr/>
          <p:nvPr/>
        </p:nvGrpSpPr>
        <p:grpSpPr>
          <a:xfrm>
            <a:off x="4400599" y="3361975"/>
            <a:ext cx="1966913" cy="1944639"/>
            <a:chOff x="6210095" y="3119569"/>
            <a:chExt cx="2091549" cy="2066313"/>
          </a:xfrm>
        </p:grpSpPr>
        <p:sp>
          <p:nvSpPr>
            <p:cNvPr id="35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3461542"/>
              <a:ext cx="1938065" cy="172434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3119569"/>
              <a:ext cx="343570" cy="382075"/>
              <a:chOff x="8038758" y="5798433"/>
              <a:chExt cx="1282700" cy="1262850"/>
            </a:xfrm>
            <a:solidFill>
              <a:srgbClr val="FFC000"/>
            </a:solidFill>
          </p:grpSpPr>
          <p:sp>
            <p:nvSpPr>
              <p:cNvPr id="37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6611898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6205166"/>
                <a:ext cx="1282700" cy="449384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5798433"/>
                <a:ext cx="1282700" cy="449387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" name="CuadroTexto 86"/>
          <p:cNvSpPr txBox="1"/>
          <p:nvPr/>
        </p:nvSpPr>
        <p:spPr>
          <a:xfrm>
            <a:off x="4712711" y="4568155"/>
            <a:ext cx="1599067" cy="22959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bu_captools_work.bail_in_srb</a:t>
            </a:r>
          </a:p>
        </p:txBody>
      </p:sp>
      <p:sp>
        <p:nvSpPr>
          <p:cNvPr id="49" name="CuadroTexto 86"/>
          <p:cNvSpPr txBox="1"/>
          <p:nvPr/>
        </p:nvSpPr>
        <p:spPr>
          <a:xfrm>
            <a:off x="3959947" y="3159083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50" name="Elbow Connector 49"/>
          <p:cNvCxnSpPr/>
          <p:nvPr/>
        </p:nvCxnSpPr>
        <p:spPr>
          <a:xfrm flipV="1">
            <a:off x="4075489" y="4419237"/>
            <a:ext cx="468000" cy="3390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Straight Arrow Connector 50"/>
          <p:cNvCxnSpPr/>
          <p:nvPr/>
        </p:nvCxnSpPr>
        <p:spPr>
          <a:xfrm>
            <a:off x="2241072" y="5084064"/>
            <a:ext cx="2302417" cy="1283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56" name="Group 55"/>
          <p:cNvGrpSpPr/>
          <p:nvPr/>
        </p:nvGrpSpPr>
        <p:grpSpPr>
          <a:xfrm>
            <a:off x="7216721" y="4217474"/>
            <a:ext cx="804003" cy="684549"/>
            <a:chOff x="10072503" y="3695273"/>
            <a:chExt cx="1288224" cy="1197595"/>
          </a:xfrm>
        </p:grpSpPr>
        <p:grpSp>
          <p:nvGrpSpPr>
            <p:cNvPr id="57" name="Group 56"/>
            <p:cNvGrpSpPr/>
            <p:nvPr/>
          </p:nvGrpSpPr>
          <p:grpSpPr>
            <a:xfrm>
              <a:off x="10072503" y="3695273"/>
              <a:ext cx="1288224" cy="1197595"/>
              <a:chOff x="9692355" y="3052813"/>
              <a:chExt cx="1358030" cy="1232796"/>
            </a:xfrm>
          </p:grpSpPr>
          <p:sp>
            <p:nvSpPr>
              <p:cNvPr id="59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216705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92355" y="3052813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58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144979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1" name="Straight Arrow Connector 60"/>
          <p:cNvCxnSpPr>
            <a:endCxn id="59" idx="1"/>
          </p:cNvCxnSpPr>
          <p:nvPr/>
        </p:nvCxnSpPr>
        <p:spPr>
          <a:xfrm>
            <a:off x="6367512" y="4599261"/>
            <a:ext cx="921904" cy="5991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CuadroTexto 86"/>
          <p:cNvSpPr txBox="1"/>
          <p:nvPr/>
        </p:nvSpPr>
        <p:spPr>
          <a:xfrm>
            <a:off x="7984610" y="411409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Corporação</a:t>
            </a:r>
            <a:endParaRPr lang="es-ES" sz="10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8008589" y="4524932"/>
            <a:ext cx="360000" cy="0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77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12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Contabilidade/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FNREP</a:t>
            </a:r>
          </a:p>
        </p:txBody>
      </p:sp>
      <p:sp>
        <p:nvSpPr>
          <p:cNvPr id="78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12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 smtClean="0">
                <a:solidFill>
                  <a:prstClr val="black"/>
                </a:solidFill>
                <a:latin typeface="Santander Headline" panose="020B0504020201020104" pitchFamily="34" charset="0"/>
              </a:rPr>
              <a:t>ALM</a:t>
            </a:r>
            <a:endParaRPr kumimoji="0" lang="pt-BR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12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pt-PT" altLang="pt-PT" sz="1000" kern="0" dirty="0" smtClean="0">
                <a:solidFill>
                  <a:prstClr val="black"/>
                </a:solidFill>
                <a:latin typeface="Santander Headline" panose="020B0504020201020104" pitchFamily="34" charset="0"/>
              </a:rPr>
              <a:t>Capital Tools</a:t>
            </a:r>
            <a:endParaRPr kumimoji="0" lang="en-US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411" y="4317220"/>
            <a:ext cx="939072" cy="494916"/>
          </a:xfrm>
          <a:prstGeom prst="rect">
            <a:avLst/>
          </a:prstGeom>
        </p:spPr>
      </p:pic>
      <p:cxnSp>
        <p:nvCxnSpPr>
          <p:cNvPr id="83" name="Straight Connector 82"/>
          <p:cNvCxnSpPr/>
          <p:nvPr/>
        </p:nvCxnSpPr>
        <p:spPr>
          <a:xfrm>
            <a:off x="8785150" y="4527052"/>
            <a:ext cx="288000" cy="0"/>
          </a:xfrm>
          <a:prstGeom prst="line">
            <a:avLst/>
          </a:prstGeom>
          <a:noFill/>
          <a:ln w="63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86" name="Group 85"/>
          <p:cNvGrpSpPr/>
          <p:nvPr/>
        </p:nvGrpSpPr>
        <p:grpSpPr>
          <a:xfrm>
            <a:off x="8283208" y="4375200"/>
            <a:ext cx="541382" cy="449352"/>
            <a:chOff x="2988362" y="1267823"/>
            <a:chExt cx="737727" cy="564878"/>
          </a:xfrm>
        </p:grpSpPr>
        <p:pic>
          <p:nvPicPr>
            <p:cNvPr id="87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CuadroTexto 86"/>
          <p:cNvSpPr txBox="1"/>
          <p:nvPr/>
        </p:nvSpPr>
        <p:spPr>
          <a:xfrm>
            <a:off x="7209055" y="4739891"/>
            <a:ext cx="908177" cy="22959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.CSV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53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472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en-US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0" grpId="0"/>
      <p:bldP spid="40" grpId="0"/>
      <p:bldP spid="49" grpId="0"/>
      <p:bldP spid="70" grpId="0"/>
      <p:bldP spid="5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6B9A5E792D2446B8986FAE34BEC557" ma:contentTypeVersion="13" ma:contentTypeDescription="Criar um novo documento." ma:contentTypeScope="" ma:versionID="af2f9aa599193a55c79d292d76b6e337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4b25a183bab0937220f8c9e03018195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4944BFA-1021-4AFB-80F2-7497E0505C1D}"/>
</file>

<file path=customXml/itemProps2.xml><?xml version="1.0" encoding="utf-8"?>
<ds:datastoreItem xmlns:ds="http://schemas.openxmlformats.org/officeDocument/2006/customXml" ds:itemID="{08A16A77-8F2F-4E8E-B22D-2B444CD419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345ED9-3A30-4C8A-9882-3D792007BEE2}">
  <ds:schemaRefs>
    <ds:schemaRef ds:uri="http://purl.org/dc/terms/"/>
    <ds:schemaRef ds:uri="http://schemas.microsoft.com/office/2006/documentManagement/types"/>
    <ds:schemaRef ds:uri="5ad20f8b-9281-4829-a9aa-2b5a878ba2cc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09d3dac3-f296-4107-b579-4b1e37be6169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Santander Headline</vt:lpstr>
      <vt:lpstr>Santander Text</vt:lpstr>
      <vt:lpstr>Office Theme</vt:lpstr>
      <vt:lpstr>PowerPoint Presentation</vt:lpstr>
    </vt:vector>
  </TitlesOfParts>
  <Company>Banco Santander Portugal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Luís Filipe da Silva Pragosa</dc:creator>
  <cp:lastModifiedBy>Luís Filipe da Silva Pragosa</cp:lastModifiedBy>
  <cp:revision>5</cp:revision>
  <dcterms:created xsi:type="dcterms:W3CDTF">2025-01-24T16:08:49Z</dcterms:created>
  <dcterms:modified xsi:type="dcterms:W3CDTF">2025-03-12T18:44:23Z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2025-01-24T16:11:11Z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a2a5b728-3540-409a-8aa7-55aa5a9cfb7c</vt:lpwstr>
  </property>
  <property fmtid="{D5CDD505-2E9C-101B-9397-08002B2CF9AE}" pid="8" name="MSIP_Label_0c2abd79-57a9-4473-8700-c843f76a1e37_ContentBits">
    <vt:lpwstr>0</vt:lpwstr>
  </property>
  <property fmtid="{D5CDD505-2E9C-101B-9397-08002B2CF9AE}" pid="9" name="ContentTypeId">
    <vt:lpwstr>0x0101000B6B9A5E792D2446B8986FAE34BEC557</vt:lpwstr>
  </property>
  <property fmtid="{D5CDD505-2E9C-101B-9397-08002B2CF9AE}" pid="10" name="MediaServiceImageTags">
    <vt:lpwstr/>
  </property>
</Properties>
</file>