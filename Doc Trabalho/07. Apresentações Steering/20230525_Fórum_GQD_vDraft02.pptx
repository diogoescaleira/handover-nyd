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6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7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8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3.xml" ContentType="application/vnd.openxmlformats-officedocument.themeOverr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4.xml" ContentType="application/vnd.openxmlformats-officedocument.themeOverr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5.xml" ContentType="application/vnd.openxmlformats-officedocument.themeOverr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6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7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19.xml" ContentType="application/vnd.openxmlformats-officedocument.presentationml.notesSlid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8.xml" ContentType="application/vnd.openxmlformats-officedocument.themeOverride+xml"/>
  <Override PartName="/ppt/notesSlides/notesSlide20.xml" ContentType="application/vnd.openxmlformats-officedocument.presentationml.notesSl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9.xml" ContentType="application/vnd.openxmlformats-officedocument.themeOverride+xml"/>
  <Override PartName="/ppt/notesSlides/notesSlide21.xml" ContentType="application/vnd.openxmlformats-officedocument.presentationml.notesSlid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10.xml" ContentType="application/vnd.openxmlformats-officedocument.themeOverride+xml"/>
  <Override PartName="/ppt/drawings/drawing1.xml" ContentType="application/vnd.openxmlformats-officedocument.drawingml.chartshapes+xml"/>
  <Override PartName="/ppt/notesSlides/notesSlide24.xml" ContentType="application/vnd.openxmlformats-officedocument.presentationml.notesSlid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heme/themeOverride11.xml" ContentType="application/vnd.openxmlformats-officedocument.themeOverride+xml"/>
  <Override PartName="/ppt/notesSlides/notesSlide25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12.xml" ContentType="application/vnd.openxmlformats-officedocument.themeOverride+xml"/>
  <Override PartName="/ppt/drawings/drawing2.xml" ContentType="application/vnd.openxmlformats-officedocument.drawingml.chartshapes+xml"/>
  <Override PartName="/ppt/notesSlides/notesSlide26.xml" ContentType="application/vnd.openxmlformats-officedocument.presentationml.notesSlid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13.xml" ContentType="application/vnd.openxmlformats-officedocument.themeOverride+xml"/>
  <Override PartName="/ppt/notesSlides/notesSlide27.xml" ContentType="application/vnd.openxmlformats-officedocument.presentationml.notesSlid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theme/themeOverride14.xml" ContentType="application/vnd.openxmlformats-officedocument.themeOverride+xml"/>
  <Override PartName="/ppt/notesSlides/notesSlide28.xml" ContentType="application/vnd.openxmlformats-officedocument.presentationml.notesSlid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heme/themeOverride15.xml" ContentType="application/vnd.openxmlformats-officedocument.themeOverride+xml"/>
  <Override PartName="/ppt/notesSlides/notesSlide29.xml" ContentType="application/vnd.openxmlformats-officedocument.presentationml.notesSlid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heme/themeOverride16.xml" ContentType="application/vnd.openxmlformats-officedocument.themeOverride+xml"/>
  <Override PartName="/ppt/notesSlides/notesSlide30.xml" ContentType="application/vnd.openxmlformats-officedocument.presentationml.notesSlid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theme/themeOverride17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1.xml" ContentType="application/vnd.openxmlformats-officedocument.presentationml.notesSlid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notesSlides/notesSlide32.xml" ContentType="application/vnd.openxmlformats-officedocument.presentationml.notesSlid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notesSlides/notesSlide33.xml" ContentType="application/vnd.openxmlformats-officedocument.presentationml.notesSlid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  <p:sldMasterId id="2147483672" r:id="rId6"/>
    <p:sldMasterId id="2147483684" r:id="rId7"/>
    <p:sldMasterId id="2147483697" r:id="rId8"/>
    <p:sldMasterId id="2147483709" r:id="rId9"/>
    <p:sldMasterId id="2147483723" r:id="rId10"/>
    <p:sldMasterId id="2147483735" r:id="rId11"/>
    <p:sldMasterId id="2147483747" r:id="rId12"/>
  </p:sldMasterIdLst>
  <p:notesMasterIdLst>
    <p:notesMasterId r:id="rId73"/>
  </p:notesMasterIdLst>
  <p:handoutMasterIdLst>
    <p:handoutMasterId r:id="rId74"/>
  </p:handoutMasterIdLst>
  <p:sldIdLst>
    <p:sldId id="256" r:id="rId13"/>
    <p:sldId id="257" r:id="rId14"/>
    <p:sldId id="281" r:id="rId15"/>
    <p:sldId id="267" r:id="rId16"/>
    <p:sldId id="268" r:id="rId17"/>
    <p:sldId id="270" r:id="rId18"/>
    <p:sldId id="2147377355" r:id="rId19"/>
    <p:sldId id="2147377411" r:id="rId20"/>
    <p:sldId id="2147377366" r:id="rId21"/>
    <p:sldId id="2147377412" r:id="rId22"/>
    <p:sldId id="2147377454" r:id="rId23"/>
    <p:sldId id="2147377409" r:id="rId24"/>
    <p:sldId id="261" r:id="rId25"/>
    <p:sldId id="262" r:id="rId26"/>
    <p:sldId id="2147377367" r:id="rId27"/>
    <p:sldId id="2147377455" r:id="rId28"/>
    <p:sldId id="2147377456" r:id="rId29"/>
    <p:sldId id="2147377457" r:id="rId30"/>
    <p:sldId id="2147377410" r:id="rId31"/>
    <p:sldId id="2147377438" r:id="rId32"/>
    <p:sldId id="2147377439" r:id="rId33"/>
    <p:sldId id="2147377440" r:id="rId34"/>
    <p:sldId id="2147377413" r:id="rId35"/>
    <p:sldId id="2147377364" r:id="rId36"/>
    <p:sldId id="2147377452" r:id="rId37"/>
    <p:sldId id="2147377263" r:id="rId38"/>
    <p:sldId id="2147377433" r:id="rId39"/>
    <p:sldId id="2147377324" r:id="rId40"/>
    <p:sldId id="2147377432" r:id="rId41"/>
    <p:sldId id="2147377414" r:id="rId42"/>
    <p:sldId id="2147377451" r:id="rId43"/>
    <p:sldId id="2147377441" r:id="rId44"/>
    <p:sldId id="774" r:id="rId45"/>
    <p:sldId id="2147377337" r:id="rId46"/>
    <p:sldId id="2147377345" r:id="rId47"/>
    <p:sldId id="2147377357" r:id="rId48"/>
    <p:sldId id="2147377347" r:id="rId49"/>
    <p:sldId id="2147377322" r:id="rId50"/>
    <p:sldId id="2147377330" r:id="rId51"/>
    <p:sldId id="2147377331" r:id="rId52"/>
    <p:sldId id="2147377358" r:id="rId53"/>
    <p:sldId id="2146847451" r:id="rId54"/>
    <p:sldId id="2147377442" r:id="rId55"/>
    <p:sldId id="2147377448" r:id="rId56"/>
    <p:sldId id="2147377449" r:id="rId57"/>
    <p:sldId id="2147377450" r:id="rId58"/>
    <p:sldId id="2147377443" r:id="rId59"/>
    <p:sldId id="2147377444" r:id="rId60"/>
    <p:sldId id="2147377445" r:id="rId61"/>
    <p:sldId id="2147377447" r:id="rId62"/>
    <p:sldId id="2147377428" r:id="rId63"/>
    <p:sldId id="2147377429" r:id="rId64"/>
    <p:sldId id="2147377430" r:id="rId65"/>
    <p:sldId id="2147377431" r:id="rId66"/>
    <p:sldId id="519" r:id="rId67"/>
    <p:sldId id="2147377313" r:id="rId68"/>
    <p:sldId id="2147377314" r:id="rId69"/>
    <p:sldId id="2147377359" r:id="rId70"/>
    <p:sldId id="2147377315" r:id="rId71"/>
    <p:sldId id="291" r:id="rId72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8C"/>
    <a:srgbClr val="1AB2BB"/>
    <a:srgbClr val="99FFCC"/>
    <a:srgbClr val="FFDDDD"/>
    <a:srgbClr val="EB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E55D9-BA65-4A25-B3E7-84B68E035C20}" v="2" dt="2023-12-20T18:02:17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2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12" y="102"/>
      </p:cViewPr>
      <p:guideLst>
        <p:guide orient="horz" pos="2160"/>
        <p:guide pos="3840"/>
        <p:guide orient="horz" pos="21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16" Type="http://schemas.openxmlformats.org/officeDocument/2006/relationships/slide" Target="slides/slide4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66" Type="http://schemas.openxmlformats.org/officeDocument/2006/relationships/slide" Target="slides/slide54.xml"/><Relationship Id="rId74" Type="http://schemas.openxmlformats.org/officeDocument/2006/relationships/handoutMaster" Target="handoutMasters/handoutMaster1.xml"/><Relationship Id="rId79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49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77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slide" Target="slides/slide58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59.xml"/><Relationship Id="rId2" Type="http://schemas.openxmlformats.org/officeDocument/2006/relationships/customXml" Target="../customXml/item2.xml"/><Relationship Id="rId29" Type="http://schemas.openxmlformats.org/officeDocument/2006/relationships/slide" Target="slides/slide1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6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7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11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12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13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14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5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6.%20Data%20Quality/02.%20Invent&#225;rio%20Data%20Quality/02.23/Graficos%20Incidencias_02.23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6.%20Data%20Quality/02.%20Invent&#225;rio%20Data%20Quality/02.23/Graficos%20Incidencias_02.23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39.%20Data%20Management%20Risk/01.%20Indicadores/05.%20Reportes/202305/Indicadores_20230515_v1.0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4.%20Data%20Architecture/Indicador_Architecture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4.%20Data%20Architecture/Indicador_Architecture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4.%20Data%20Architecture/Indicador_Architecture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package" Target="../embeddings/Microsoft_Excel_Worksheet16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package" Target="../embeddings/Microsoft_Excel_Worksheet17.xlsx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50.xml"/><Relationship Id="rId1" Type="http://schemas.microsoft.com/office/2011/relationships/chartStyle" Target="style50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35.xlsx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package" Target="../embeddings/Microsoft_Excel_Worksheet36.xlsx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52.xml"/><Relationship Id="rId1" Type="http://schemas.microsoft.com/office/2011/relationships/chartStyle" Target="style52.xml"/><Relationship Id="rId5" Type="http://schemas.openxmlformats.org/officeDocument/2006/relationships/chartUserShapes" Target="../drawings/drawing2.xml"/><Relationship Id="rId4" Type="http://schemas.openxmlformats.org/officeDocument/2006/relationships/package" Target="../embeddings/Microsoft_Excel_Worksheet37.xlsx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package" Target="../embeddings/Microsoft_Excel_Worksheet38.xlsx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54.xml"/><Relationship Id="rId1" Type="http://schemas.microsoft.com/office/2011/relationships/chartStyle" Target="style54.xml"/><Relationship Id="rId4" Type="http://schemas.openxmlformats.org/officeDocument/2006/relationships/package" Target="../embeddings/Microsoft_Excel_Worksheet40.xlsx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package" Target="../embeddings/Microsoft_Excel_Worksheet41.xlsx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56.xml"/><Relationship Id="rId1" Type="http://schemas.microsoft.com/office/2011/relationships/chartStyle" Target="style56.xml"/><Relationship Id="rId4" Type="http://schemas.openxmlformats.org/officeDocument/2006/relationships/package" Target="../embeddings/Microsoft_Excel_Worksheet42.xlsx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package" Target="../embeddings/Microsoft_Excel_Worksheet44.xlsx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5.%20Data%20Governance/Indicadores_Dados.xlsx" TargetMode="External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4.%20Data%20Architecture/Indicador_Architecture.xlsx" TargetMode="External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oleObject" Target="https://santandernet.sharepoint.com/sites/CDO697/Shared%20Documents/Archive/50.%20Oversight/04.%20Data%20Architecture/Indicador_Architecture.xlsx" TargetMode="External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1400">
                <a:latin typeface="Santander Text" panose="020B0504020201020104" pitchFamily="34" charset="0"/>
              </a:rPr>
              <a:t>NIFs Inválidos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3786382392014801"/>
          <c:y val="0.21072936905811615"/>
          <c:w val="0.82686179598189946"/>
          <c:h val="0.60868286685458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'KPI para CE'!$B$3</c:f>
              <c:strCache>
                <c:ptCount val="1"/>
                <c:pt idx="0">
                  <c:v>NIFs Inválidos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32-41EA-9111-B0D24BF225E3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32-41EA-9111-B0D24BF225E3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6B1-4942-90EB-DE5596E091D3}"/>
                </c:ext>
              </c:extLst>
            </c:dLbl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B1-4942-90EB-DE5596E091D3}"/>
                </c:ext>
              </c:extLst>
            </c:dLbl>
            <c:dLbl>
              <c:idx val="8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6B1-4942-90EB-DE5596E091D3}"/>
                </c:ext>
              </c:extLst>
            </c:dLbl>
            <c:dLbl>
              <c:idx val="1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DAE-4E05-BB5C-B928BF0E0650}"/>
                </c:ext>
              </c:extLst>
            </c:dLbl>
            <c:spPr>
              <a:solidFill>
                <a:schemeClr val="bg1"/>
              </a:solidFill>
              <a:ln>
                <a:solidFill>
                  <a:srgbClr val="0070C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70C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'KPI para CE'!$R$2:$AD$2</c:f>
              <c:numCache>
                <c:formatCode>[$-816]mmm/yy;@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'KPI para CE'!$R$3:$AD$3</c:f>
              <c:numCache>
                <c:formatCode>#,##0</c:formatCode>
                <c:ptCount val="13"/>
                <c:pt idx="0">
                  <c:v>42748</c:v>
                </c:pt>
                <c:pt idx="1">
                  <c:v>39625</c:v>
                </c:pt>
                <c:pt idx="2">
                  <c:v>39306</c:v>
                </c:pt>
                <c:pt idx="3">
                  <c:v>38886</c:v>
                </c:pt>
                <c:pt idx="4">
                  <c:v>38375</c:v>
                </c:pt>
                <c:pt idx="5">
                  <c:v>38150</c:v>
                </c:pt>
                <c:pt idx="6">
                  <c:v>38054</c:v>
                </c:pt>
                <c:pt idx="7">
                  <c:v>37841</c:v>
                </c:pt>
                <c:pt idx="8">
                  <c:v>37688</c:v>
                </c:pt>
                <c:pt idx="9">
                  <c:v>37526</c:v>
                </c:pt>
                <c:pt idx="10">
                  <c:v>37309</c:v>
                </c:pt>
                <c:pt idx="11">
                  <c:v>36558</c:v>
                </c:pt>
                <c:pt idx="12">
                  <c:v>36437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F0D-4EC9-8D1D-A73CCF83C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802595576"/>
        <c:axId val="802594792"/>
      </c:barChart>
      <c:lineChart>
        <c:grouping val="standard"/>
        <c:varyColors val="0"/>
        <c:ser>
          <c:idx val="1"/>
          <c:order val="1"/>
          <c:tx>
            <c:strRef>
              <c:f>'KPI para CE'!$B$4</c:f>
              <c:strCache>
                <c:ptCount val="1"/>
                <c:pt idx="0">
                  <c:v>Objectivo CE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0.32231053459119496"/>
                  <c:y val="-7.3560661412752776E-2"/>
                </c:manualLayout>
              </c:layout>
              <c:tx>
                <c:rich>
                  <a:bodyPr/>
                  <a:lstStyle/>
                  <a:p>
                    <a:r>
                      <a:rPr lang="en-US" dirty="0">
                        <a:latin typeface="Santander Text" panose="020B0504020201020104" pitchFamily="34" charset="0"/>
                      </a:rPr>
                      <a:t>34 000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6B1-4942-90EB-DE5596E091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5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'KPI para CE'!$R$2:$AD$2</c:f>
              <c:numCache>
                <c:formatCode>[$-816]mmm/yy;@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'KPI para CE'!$R$4:$AD$4</c:f>
              <c:numCache>
                <c:formatCode>#,##0</c:formatCode>
                <c:ptCount val="13"/>
                <c:pt idx="0">
                  <c:v>45000</c:v>
                </c:pt>
                <c:pt idx="1">
                  <c:v>45000</c:v>
                </c:pt>
                <c:pt idx="2">
                  <c:v>45000</c:v>
                </c:pt>
                <c:pt idx="3">
                  <c:v>45000</c:v>
                </c:pt>
                <c:pt idx="4">
                  <c:v>45000</c:v>
                </c:pt>
                <c:pt idx="5">
                  <c:v>45000</c:v>
                </c:pt>
                <c:pt idx="6">
                  <c:v>45000</c:v>
                </c:pt>
                <c:pt idx="7">
                  <c:v>45000</c:v>
                </c:pt>
                <c:pt idx="8">
                  <c:v>45000</c:v>
                </c:pt>
                <c:pt idx="9">
                  <c:v>34000</c:v>
                </c:pt>
                <c:pt idx="10">
                  <c:v>34000</c:v>
                </c:pt>
                <c:pt idx="11">
                  <c:v>34000</c:v>
                </c:pt>
                <c:pt idx="12">
                  <c:v>34000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EF0D-4EC9-8D1D-A73CCF83C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02595576"/>
        <c:axId val="802594792"/>
      </c:lineChart>
      <c:dateAx>
        <c:axId val="802595576"/>
        <c:scaling>
          <c:orientation val="minMax"/>
        </c:scaling>
        <c:delete val="0"/>
        <c:axPos val="b"/>
        <c:numFmt formatCode="[$-816]mmm/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802594792"/>
        <c:crosses val="autoZero"/>
        <c:auto val="1"/>
        <c:lblOffset val="100"/>
        <c:baseTimeUnit val="months"/>
      </c:dateAx>
      <c:valAx>
        <c:axId val="802594792"/>
        <c:scaling>
          <c:orientation val="minMax"/>
          <c:max val="50000"/>
          <c:min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802595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b="0" noProof="0" dirty="0">
                <a:latin typeface="Santander Text" panose="020B0504020201020104" pitchFamily="34" charset="0"/>
              </a:rPr>
              <a:t>Evolução de Qualidade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0166884275927981"/>
          <c:y val="0.21370877918094852"/>
          <c:w val="0.82349377491597986"/>
          <c:h val="0.43773427529854519"/>
        </c:manualLayout>
      </c:layout>
      <c:lineChart>
        <c:grouping val="standard"/>
        <c:varyColors val="0"/>
        <c:ser>
          <c:idx val="0"/>
          <c:order val="0"/>
          <c:tx>
            <c:strRef>
              <c:f>'evol qualidade completitude'!$A$3</c:f>
              <c:strCache>
                <c:ptCount val="1"/>
                <c:pt idx="0">
                  <c:v>Local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FDF-482A-8CF8-47BD5E0358D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0070C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t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70C0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10B-471A-B1B2-D980FDBE1A13}"/>
                </c:ext>
              </c:extLst>
            </c:dLbl>
            <c:dLbl>
              <c:idx val="6"/>
              <c:spPr>
                <a:solidFill>
                  <a:sysClr val="window" lastClr="FFFFFF"/>
                </a:solidFill>
                <a:ln>
                  <a:solidFill>
                    <a:srgbClr val="0070C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t" anchorCtr="0">
                  <a:sp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70C0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0B-471A-B1B2-D980FDBE1A13}"/>
                </c:ext>
              </c:extLst>
            </c:dLbl>
            <c:dLbl>
              <c:idx val="9"/>
              <c:spPr>
                <a:solidFill>
                  <a:sysClr val="window" lastClr="FFFFFF"/>
                </a:solidFill>
                <a:ln>
                  <a:solidFill>
                    <a:srgbClr val="0070C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sz="800" b="1" i="0" u="none" strike="noStrike" kern="1200" baseline="0">
                      <a:solidFill>
                        <a:srgbClr val="0070C0"/>
                      </a:solidFill>
                      <a:latin typeface="Santander Text" panose="020B0504020201020104" pitchFamily="34" charset="0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4651470216433525E-2"/>
                      <c:h val="6.53419408458177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10B-471A-B1B2-D980FDBE1A13}"/>
                </c:ext>
              </c:extLst>
            </c:dLbl>
            <c:dLbl>
              <c:idx val="1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5ED-4491-B5EF-A2CD8EFDB904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0070C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 algn="ctr">
                  <a:defRPr sz="800" b="1" i="0" u="none" strike="noStrike" kern="1200" baseline="0">
                    <a:solidFill>
                      <a:srgbClr val="0070C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'evol qualidade completitude'!$T$2:$AF$2</c:f>
              <c:numCache>
                <c:formatCode>[$-816]mmm/yy;@</c:formatCode>
                <c:ptCount val="13"/>
                <c:pt idx="0">
                  <c:v>44621</c:v>
                </c:pt>
                <c:pt idx="1">
                  <c:v>44652</c:v>
                </c:pt>
                <c:pt idx="2">
                  <c:v>44682</c:v>
                </c:pt>
                <c:pt idx="3">
                  <c:v>44713</c:v>
                </c:pt>
                <c:pt idx="4">
                  <c:v>44743</c:v>
                </c:pt>
                <c:pt idx="5">
                  <c:v>44774</c:v>
                </c:pt>
                <c:pt idx="6">
                  <c:v>44805</c:v>
                </c:pt>
                <c:pt idx="7">
                  <c:v>44835</c:v>
                </c:pt>
                <c:pt idx="8">
                  <c:v>44866</c:v>
                </c:pt>
                <c:pt idx="9">
                  <c:v>44896</c:v>
                </c:pt>
                <c:pt idx="10">
                  <c:v>44927</c:v>
                </c:pt>
                <c:pt idx="11">
                  <c:v>44958</c:v>
                </c:pt>
                <c:pt idx="12">
                  <c:v>44986</c:v>
                </c:pt>
              </c:numCache>
            </c:numRef>
          </c:cat>
          <c:val>
            <c:numRef>
              <c:f>'evol qualidade completitude'!$T$3:$AF$3</c:f>
              <c:numCache>
                <c:formatCode>General</c:formatCode>
                <c:ptCount val="13"/>
                <c:pt idx="0">
                  <c:v>96.01</c:v>
                </c:pt>
                <c:pt idx="1">
                  <c:v>95.72</c:v>
                </c:pt>
                <c:pt idx="2">
                  <c:v>96.42</c:v>
                </c:pt>
                <c:pt idx="3">
                  <c:v>96.39</c:v>
                </c:pt>
                <c:pt idx="4">
                  <c:v>96.56</c:v>
                </c:pt>
                <c:pt idx="5">
                  <c:v>96.65</c:v>
                </c:pt>
                <c:pt idx="6">
                  <c:v>96.79</c:v>
                </c:pt>
                <c:pt idx="7">
                  <c:v>96.5</c:v>
                </c:pt>
                <c:pt idx="8">
                  <c:v>96.53</c:v>
                </c:pt>
                <c:pt idx="9">
                  <c:v>96.64</c:v>
                </c:pt>
                <c:pt idx="10">
                  <c:v>95.32</c:v>
                </c:pt>
                <c:pt idx="11" formatCode="#,##0.00">
                  <c:v>95.3</c:v>
                </c:pt>
                <c:pt idx="12" formatCode="#,##0.00">
                  <c:v>95.31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A1-4797-ADE4-76081A1E5803}"/>
            </c:ext>
          </c:extLst>
        </c:ser>
        <c:ser>
          <c:idx val="1"/>
          <c:order val="1"/>
          <c:tx>
            <c:strRef>
              <c:f>'evol qualidade completitude'!$A$4</c:f>
              <c:strCache>
                <c:ptCount val="1"/>
                <c:pt idx="0">
                  <c:v>Corporativa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DF-482A-8CF8-47BD5E0358D7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0B-471A-B1B2-D980FDBE1A13}"/>
                </c:ext>
              </c:extLst>
            </c:dLbl>
            <c:dLbl>
              <c:idx val="6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10B-471A-B1B2-D980FDBE1A13}"/>
                </c:ext>
              </c:extLst>
            </c:dLbl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0B-471A-B1B2-D980FDBE1A13}"/>
                </c:ext>
              </c:extLst>
            </c:dLbl>
            <c:dLbl>
              <c:idx val="1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ED-4491-B5EF-A2CD8EFDB904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FF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FF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'evol qualidade completitude'!$T$2:$AF$2</c:f>
              <c:numCache>
                <c:formatCode>[$-816]mmm/yy;@</c:formatCode>
                <c:ptCount val="13"/>
                <c:pt idx="0">
                  <c:v>44621</c:v>
                </c:pt>
                <c:pt idx="1">
                  <c:v>44652</c:v>
                </c:pt>
                <c:pt idx="2">
                  <c:v>44682</c:v>
                </c:pt>
                <c:pt idx="3">
                  <c:v>44713</c:v>
                </c:pt>
                <c:pt idx="4">
                  <c:v>44743</c:v>
                </c:pt>
                <c:pt idx="5">
                  <c:v>44774</c:v>
                </c:pt>
                <c:pt idx="6">
                  <c:v>44805</c:v>
                </c:pt>
                <c:pt idx="7">
                  <c:v>44835</c:v>
                </c:pt>
                <c:pt idx="8">
                  <c:v>44866</c:v>
                </c:pt>
                <c:pt idx="9">
                  <c:v>44896</c:v>
                </c:pt>
                <c:pt idx="10">
                  <c:v>44927</c:v>
                </c:pt>
                <c:pt idx="11">
                  <c:v>44958</c:v>
                </c:pt>
                <c:pt idx="12">
                  <c:v>44986</c:v>
                </c:pt>
              </c:numCache>
            </c:numRef>
          </c:cat>
          <c:val>
            <c:numRef>
              <c:f>'evol qualidade completitude'!$T$4:$AF$4</c:f>
              <c:numCache>
                <c:formatCode>General</c:formatCode>
                <c:ptCount val="13"/>
                <c:pt idx="0">
                  <c:v>92.08</c:v>
                </c:pt>
                <c:pt idx="1">
                  <c:v>92.34</c:v>
                </c:pt>
                <c:pt idx="2">
                  <c:v>91.71</c:v>
                </c:pt>
                <c:pt idx="3">
                  <c:v>92.15</c:v>
                </c:pt>
                <c:pt idx="4">
                  <c:v>92.63</c:v>
                </c:pt>
                <c:pt idx="5">
                  <c:v>93.13</c:v>
                </c:pt>
                <c:pt idx="6">
                  <c:v>92.45</c:v>
                </c:pt>
                <c:pt idx="7">
                  <c:v>92.35</c:v>
                </c:pt>
                <c:pt idx="8">
                  <c:v>92.63</c:v>
                </c:pt>
                <c:pt idx="9">
                  <c:v>92.47</c:v>
                </c:pt>
                <c:pt idx="10">
                  <c:v>92.26</c:v>
                </c:pt>
                <c:pt idx="11">
                  <c:v>92.37</c:v>
                </c:pt>
                <c:pt idx="12">
                  <c:v>92.05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A1-4797-ADE4-76081A1E5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2640864"/>
        <c:axId val="732646352"/>
      </c:lineChart>
      <c:dateAx>
        <c:axId val="732640864"/>
        <c:scaling>
          <c:orientation val="minMax"/>
        </c:scaling>
        <c:delete val="0"/>
        <c:axPos val="b"/>
        <c:numFmt formatCode="[$-816]m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88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32646352"/>
        <c:crosses val="autoZero"/>
        <c:auto val="1"/>
        <c:lblOffset val="100"/>
        <c:baseTimeUnit val="months"/>
      </c:dateAx>
      <c:valAx>
        <c:axId val="732646352"/>
        <c:scaling>
          <c:orientation val="minMax"/>
          <c:max val="100"/>
          <c:min val="8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3264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>
                <a:latin typeface="Santander Text" panose="020B0504020201020104" pitchFamily="34" charset="0"/>
              </a:rPr>
              <a:t>Evolução de Completitude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0540563801861276"/>
          <c:y val="0.2253521925175197"/>
          <c:w val="0.84736382970019508"/>
          <c:h val="0.42098534106433722"/>
        </c:manualLayout>
      </c:layout>
      <c:lineChart>
        <c:grouping val="standard"/>
        <c:varyColors val="0"/>
        <c:ser>
          <c:idx val="0"/>
          <c:order val="0"/>
          <c:tx>
            <c:strRef>
              <c:f>'evol qualidade completitude'!$A$7</c:f>
              <c:strCache>
                <c:ptCount val="1"/>
                <c:pt idx="0">
                  <c:v>Local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B7-4805-AF99-DA0F352C0EE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0A-4641-971C-82A70079304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BB2-43CE-969D-78E1DF30C8E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5DA-4EFC-9AF0-D53EFDD5DFB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B2-43CE-969D-78E1DF30C8E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72-4906-BF88-EA648B4C461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20A-4641-971C-82A70079304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4A4-4437-BA61-B3E78DF54433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0070C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70C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'evol qualidade completitude'!$T$6:$AF$6</c:f>
              <c:numCache>
                <c:formatCode>[$-816]mmm/yy;@</c:formatCode>
                <c:ptCount val="13"/>
                <c:pt idx="0">
                  <c:v>44621</c:v>
                </c:pt>
                <c:pt idx="1">
                  <c:v>44652</c:v>
                </c:pt>
                <c:pt idx="2">
                  <c:v>44682</c:v>
                </c:pt>
                <c:pt idx="3">
                  <c:v>44713</c:v>
                </c:pt>
                <c:pt idx="4">
                  <c:v>44743</c:v>
                </c:pt>
                <c:pt idx="5">
                  <c:v>44774</c:v>
                </c:pt>
                <c:pt idx="6">
                  <c:v>44805</c:v>
                </c:pt>
                <c:pt idx="7">
                  <c:v>44835</c:v>
                </c:pt>
                <c:pt idx="8">
                  <c:v>44866</c:v>
                </c:pt>
                <c:pt idx="9">
                  <c:v>44896</c:v>
                </c:pt>
                <c:pt idx="10">
                  <c:v>44927</c:v>
                </c:pt>
                <c:pt idx="11">
                  <c:v>44958</c:v>
                </c:pt>
                <c:pt idx="12">
                  <c:v>44986</c:v>
                </c:pt>
              </c:numCache>
            </c:numRef>
          </c:cat>
          <c:val>
            <c:numRef>
              <c:f>'evol qualidade completitude'!$T$7:$AF$7</c:f>
              <c:numCache>
                <c:formatCode>General</c:formatCode>
                <c:ptCount val="13"/>
                <c:pt idx="0">
                  <c:v>80.17</c:v>
                </c:pt>
                <c:pt idx="1">
                  <c:v>81.150000000000006</c:v>
                </c:pt>
                <c:pt idx="2">
                  <c:v>81.53</c:v>
                </c:pt>
                <c:pt idx="3">
                  <c:v>82.33</c:v>
                </c:pt>
                <c:pt idx="4">
                  <c:v>82.07</c:v>
                </c:pt>
                <c:pt idx="5">
                  <c:v>82.1</c:v>
                </c:pt>
                <c:pt idx="6">
                  <c:v>82.15</c:v>
                </c:pt>
                <c:pt idx="7">
                  <c:v>82.14</c:v>
                </c:pt>
                <c:pt idx="8">
                  <c:v>82.79</c:v>
                </c:pt>
                <c:pt idx="9">
                  <c:v>82.84</c:v>
                </c:pt>
                <c:pt idx="10">
                  <c:v>82.83</c:v>
                </c:pt>
                <c:pt idx="11">
                  <c:v>84.08</c:v>
                </c:pt>
                <c:pt idx="12">
                  <c:v>84.09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09-425D-85A8-23C3897838AC}"/>
            </c:ext>
          </c:extLst>
        </c:ser>
        <c:ser>
          <c:idx val="1"/>
          <c:order val="1"/>
          <c:tx>
            <c:strRef>
              <c:f>'evol qualidade completitude'!$A$8</c:f>
              <c:strCache>
                <c:ptCount val="1"/>
                <c:pt idx="0">
                  <c:v>Corporativa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3B7-4805-AF99-DA0F352C0EE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0A-4641-971C-82A70079304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BB2-43CE-969D-78E1DF30C8E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8C-4ACE-AD9B-7E36BD433B6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B2-43CE-969D-78E1DF30C8E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08C-4ACE-AD9B-7E36BD433B6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0A-4641-971C-82A70079304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4A4-4437-BA61-B3E78DF54433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FF0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FF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'evol qualidade completitude'!$T$6:$AF$6</c:f>
              <c:numCache>
                <c:formatCode>[$-816]mmm/yy;@</c:formatCode>
                <c:ptCount val="13"/>
                <c:pt idx="0">
                  <c:v>44621</c:v>
                </c:pt>
                <c:pt idx="1">
                  <c:v>44652</c:v>
                </c:pt>
                <c:pt idx="2">
                  <c:v>44682</c:v>
                </c:pt>
                <c:pt idx="3">
                  <c:v>44713</c:v>
                </c:pt>
                <c:pt idx="4">
                  <c:v>44743</c:v>
                </c:pt>
                <c:pt idx="5">
                  <c:v>44774</c:v>
                </c:pt>
                <c:pt idx="6">
                  <c:v>44805</c:v>
                </c:pt>
                <c:pt idx="7">
                  <c:v>44835</c:v>
                </c:pt>
                <c:pt idx="8">
                  <c:v>44866</c:v>
                </c:pt>
                <c:pt idx="9">
                  <c:v>44896</c:v>
                </c:pt>
                <c:pt idx="10">
                  <c:v>44927</c:v>
                </c:pt>
                <c:pt idx="11">
                  <c:v>44958</c:v>
                </c:pt>
                <c:pt idx="12">
                  <c:v>44986</c:v>
                </c:pt>
              </c:numCache>
            </c:numRef>
          </c:cat>
          <c:val>
            <c:numRef>
              <c:f>'evol qualidade completitude'!$T$8:$AF$8</c:f>
              <c:numCache>
                <c:formatCode>General</c:formatCode>
                <c:ptCount val="13"/>
                <c:pt idx="0">
                  <c:v>82.03</c:v>
                </c:pt>
                <c:pt idx="1">
                  <c:v>84.94</c:v>
                </c:pt>
                <c:pt idx="2" formatCode="0.00">
                  <c:v>85.1</c:v>
                </c:pt>
                <c:pt idx="3">
                  <c:v>85.72</c:v>
                </c:pt>
                <c:pt idx="4">
                  <c:v>85.51</c:v>
                </c:pt>
                <c:pt idx="5">
                  <c:v>85.6</c:v>
                </c:pt>
                <c:pt idx="6">
                  <c:v>85.56</c:v>
                </c:pt>
                <c:pt idx="7">
                  <c:v>86.56</c:v>
                </c:pt>
                <c:pt idx="8">
                  <c:v>86.68</c:v>
                </c:pt>
                <c:pt idx="9">
                  <c:v>87.11</c:v>
                </c:pt>
                <c:pt idx="10" formatCode="#,##0.00">
                  <c:v>87.1</c:v>
                </c:pt>
                <c:pt idx="11" formatCode="#,##0.00">
                  <c:v>87.42</c:v>
                </c:pt>
                <c:pt idx="12" formatCode="#,##0.00">
                  <c:v>87.89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09-425D-85A8-23C389783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2641256"/>
        <c:axId val="732635376"/>
      </c:lineChart>
      <c:dateAx>
        <c:axId val="732641256"/>
        <c:scaling>
          <c:orientation val="minMax"/>
        </c:scaling>
        <c:delete val="0"/>
        <c:axPos val="b"/>
        <c:numFmt formatCode="[$-816]m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88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32635376"/>
        <c:crosses val="autoZero"/>
        <c:auto val="1"/>
        <c:lblOffset val="100"/>
        <c:baseTimeUnit val="months"/>
      </c:dateAx>
      <c:valAx>
        <c:axId val="732635376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32641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solidFill>
        <a:sysClr val="windowText" lastClr="000000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en-US" sz="1400">
                <a:latin typeface="Santander Text" panose="020B0504020201020104" pitchFamily="34" charset="0"/>
              </a:rPr>
              <a:t>% NIFs</a:t>
            </a:r>
            <a:r>
              <a:rPr lang="en-US" sz="1400" baseline="0">
                <a:latin typeface="Santander Text" panose="020B0504020201020104" pitchFamily="34" charset="0"/>
              </a:rPr>
              <a:t> Duplicados com Crédito</a:t>
            </a:r>
            <a:endParaRPr lang="en-US" sz="1400">
              <a:latin typeface="Santander Text" panose="020B05040202010201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578891770553302"/>
          <c:y val="0.1940961725532081"/>
          <c:w val="0.80098864413551207"/>
          <c:h val="0.626165624498269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'KPI para CE'!$B$9</c:f>
              <c:strCache>
                <c:ptCount val="1"/>
                <c:pt idx="0">
                  <c:v>% NIFs duplicados com Crédito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751-432D-B5A2-4E0F2FFE6C62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751-432D-B5A2-4E0F2FFE6C6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442-4708-A999-70F0EF2267CF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42-4708-A999-70F0EF2267CF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442-4708-A999-70F0EF2267CF}"/>
                </c:ext>
              </c:extLst>
            </c:dLbl>
            <c:dLbl>
              <c:idx val="1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0C-4299-B4F5-0B79A8376305}"/>
                </c:ext>
              </c:extLst>
            </c:dLbl>
            <c:numFmt formatCode="0.00%" sourceLinked="0"/>
            <c:spPr>
              <a:solidFill>
                <a:schemeClr val="bg1"/>
              </a:solidFill>
              <a:ln>
                <a:solidFill>
                  <a:srgbClr val="0070C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70C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'KPI para CE'!$R$2:$AD$2</c:f>
              <c:numCache>
                <c:formatCode>[$-816]mmm/yy;@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'KPI para CE'!$R$9:$AD$9</c:f>
              <c:numCache>
                <c:formatCode>0.00%</c:formatCode>
                <c:ptCount val="13"/>
                <c:pt idx="0">
                  <c:v>4.4000000000000003E-3</c:v>
                </c:pt>
                <c:pt idx="1">
                  <c:v>4.1999999999999997E-3</c:v>
                </c:pt>
                <c:pt idx="2">
                  <c:v>4.1000000000000003E-3</c:v>
                </c:pt>
                <c:pt idx="3">
                  <c:v>4.0000000000000001E-3</c:v>
                </c:pt>
                <c:pt idx="4">
                  <c:v>3.8999999999999998E-3</c:v>
                </c:pt>
                <c:pt idx="5">
                  <c:v>3.8E-3</c:v>
                </c:pt>
                <c:pt idx="6" formatCode="0.000%">
                  <c:v>3.7799999999999999E-3</c:v>
                </c:pt>
                <c:pt idx="7" formatCode="0.000%">
                  <c:v>3.65E-3</c:v>
                </c:pt>
                <c:pt idx="8" formatCode="0.000%">
                  <c:v>3.5999999999999999E-3</c:v>
                </c:pt>
                <c:pt idx="9" formatCode="0.000%">
                  <c:v>3.5400000000000002E-3</c:v>
                </c:pt>
                <c:pt idx="10" formatCode="0.000%">
                  <c:v>3.2028473868676317E-3</c:v>
                </c:pt>
                <c:pt idx="11" formatCode="0.000%">
                  <c:v>2.9430132980171738E-3</c:v>
                </c:pt>
                <c:pt idx="12" formatCode="0.000%">
                  <c:v>2.9166609070677189E-3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751-432D-B5A2-4E0F2FFE6C62}"/>
            </c:ext>
          </c:extLst>
        </c:ser>
        <c:ser>
          <c:idx val="1"/>
          <c:order val="1"/>
          <c:tx>
            <c:strRef>
              <c:f>'KPI para CE'!$B$10</c:f>
              <c:strCache>
                <c:ptCount val="1"/>
                <c:pt idx="0">
                  <c:v>Titulares de contas (excepto 029)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'KPI para CE'!$R$2:$AD$2</c:f>
              <c:numCache>
                <c:formatCode>[$-816]mmm/yy;@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'KPI para CE'!$R$10:$AD$10</c:f>
            </c:numRef>
          </c:val>
          <c:extLst>
            <c:ext xmlns:c16="http://schemas.microsoft.com/office/drawing/2014/chart" uri="{C3380CC4-5D6E-409C-BE32-E72D297353CC}">
              <c16:uniqueId val="{00000012-E751-432D-B5A2-4E0F2FFE6C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802608904"/>
        <c:axId val="732644000"/>
      </c:barChart>
      <c:lineChart>
        <c:grouping val="standard"/>
        <c:varyColors val="0"/>
        <c:ser>
          <c:idx val="2"/>
          <c:order val="2"/>
          <c:tx>
            <c:strRef>
              <c:f>'KPI para CE'!$B$11</c:f>
              <c:strCache>
                <c:ptCount val="1"/>
                <c:pt idx="0">
                  <c:v>Objectivo CE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0.43146075312297749"/>
                  <c:y val="-0.23822226648659461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0,275%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442-4708-A999-70F0EF2267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5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'KPI para CE'!$R$2:$AD$2</c:f>
              <c:numCache>
                <c:formatCode>[$-816]mmm/yy;@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'KPI para CE'!$R$11:$AD$11</c:f>
              <c:numCache>
                <c:formatCode>0.000%</c:formatCode>
                <c:ptCount val="13"/>
                <c:pt idx="0">
                  <c:v>3.7499999999999999E-3</c:v>
                </c:pt>
                <c:pt idx="1">
                  <c:v>3.7499999999999999E-3</c:v>
                </c:pt>
                <c:pt idx="2">
                  <c:v>3.7499999999999999E-3</c:v>
                </c:pt>
                <c:pt idx="3">
                  <c:v>3.7499999999999999E-3</c:v>
                </c:pt>
                <c:pt idx="4">
                  <c:v>3.7499999999999999E-3</c:v>
                </c:pt>
                <c:pt idx="5">
                  <c:v>3.7499999999999999E-3</c:v>
                </c:pt>
                <c:pt idx="6">
                  <c:v>3.7499999999999999E-3</c:v>
                </c:pt>
                <c:pt idx="7">
                  <c:v>3.7499999999999999E-3</c:v>
                </c:pt>
                <c:pt idx="8">
                  <c:v>3.7499999999999999E-3</c:v>
                </c:pt>
                <c:pt idx="9">
                  <c:v>2.7499999999999998E-3</c:v>
                </c:pt>
                <c:pt idx="10">
                  <c:v>2.7499999999999998E-3</c:v>
                </c:pt>
                <c:pt idx="11">
                  <c:v>2.7499999999999998E-3</c:v>
                </c:pt>
                <c:pt idx="12">
                  <c:v>2.7499999999999998E-3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E751-432D-B5A2-4E0F2FFE6C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02608904"/>
        <c:axId val="732644000"/>
      </c:lineChart>
      <c:dateAx>
        <c:axId val="8026089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r>
                  <a:rPr lang="pt-PT" b="1" noProof="0" dirty="0">
                    <a:solidFill>
                      <a:srgbClr val="00B050"/>
                    </a:solidFill>
                    <a:latin typeface="Santander Text" panose="020B0504020201020104" pitchFamily="34" charset="0"/>
                  </a:rPr>
                  <a:t>Novo Objetivo:</a:t>
                </a:r>
              </a:p>
            </c:rich>
          </c:tx>
          <c:layout>
            <c:manualLayout>
              <c:xMode val="edge"/>
              <c:yMode val="edge"/>
              <c:x val="0.47117624722422397"/>
              <c:y val="0.21591688639062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  <a:ea typeface="+mn-ea"/>
                  <a:cs typeface="+mn-cs"/>
                </a:defRPr>
              </a:pPr>
              <a:endParaRPr lang="pt-PT"/>
            </a:p>
          </c:txPr>
        </c:title>
        <c:numFmt formatCode="[$-816]mmm/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32644000"/>
        <c:crosses val="autoZero"/>
        <c:auto val="1"/>
        <c:lblOffset val="100"/>
        <c:baseTimeUnit val="months"/>
      </c:dateAx>
      <c:valAx>
        <c:axId val="732644000"/>
        <c:scaling>
          <c:orientation val="minMax"/>
          <c:max val="5.000000000000001E-3"/>
          <c:min val="2.5000000000000005E-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802608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400" b="0" i="0" baseline="0" dirty="0">
                <a:effectLst/>
                <a:latin typeface="Santander Text" panose="020B0504020201020104" pitchFamily="34" charset="0"/>
              </a:rPr>
              <a:t>Evolução prevista do Plano 2022 / 2024</a:t>
            </a:r>
            <a:endParaRPr lang="pt-PT" sz="1400" b="0" dirty="0">
              <a:effectLst/>
              <a:latin typeface="Santander Text" panose="020B05040202010201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6.3320709073099862E-2"/>
          <c:y val="0.23847784613752074"/>
          <c:w val="0.91798312687923544"/>
          <c:h val="0.56696217453188202"/>
        </c:manualLayout>
      </c:layout>
      <c:lineChart>
        <c:grouping val="standard"/>
        <c:varyColors val="0"/>
        <c:ser>
          <c:idx val="0"/>
          <c:order val="0"/>
          <c:tx>
            <c:strRef>
              <c:f>Plano!$M$100</c:f>
              <c:strCache>
                <c:ptCount val="1"/>
                <c:pt idx="0">
                  <c:v>Concluído</c:v>
                </c:pt>
              </c:strCache>
            </c:strRef>
          </c:tx>
          <c:spPr>
            <a:ln w="4762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50800">
                <a:solidFill>
                  <a:srgbClr val="00B050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1E-4E19-B5CD-00133220A9F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1E-4E19-B5CD-00133220A9F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F9-4954-B7D1-2F905DE3B08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0C5-4504-BD7A-8D315CB636E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6B-4B76-AD5F-54E132532C6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6B-4B76-AD5F-54E132532C6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59-4951-A7EB-D27C7D6951B8}"/>
                </c:ext>
              </c:extLst>
            </c:dLbl>
            <c:dLbl>
              <c:idx val="11"/>
              <c:layout>
                <c:manualLayout>
                  <c:x val="-4.0340479045200273E-2"/>
                  <c:y val="7.071938603089457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6E0-480A-B353-8AA1596EB588}"/>
                </c:ext>
              </c:extLst>
            </c:dLbl>
            <c:dLbl>
              <c:idx val="12"/>
              <c:layout>
                <c:manualLayout>
                  <c:x val="-1.9084999901511558E-2"/>
                  <c:y val="-7.07193860308947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57-4B66-B891-02F12504EE2B}"/>
                </c:ext>
              </c:extLst>
            </c:dLbl>
            <c:spPr>
              <a:solidFill>
                <a:schemeClr val="bg1"/>
              </a:solidFill>
              <a:ln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B05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Plano!$L$104:$L$133</c:f>
              <c:numCache>
                <c:formatCode>mmm\-yy</c:formatCode>
                <c:ptCount val="30"/>
                <c:pt idx="0">
                  <c:v>44681</c:v>
                </c:pt>
                <c:pt idx="1">
                  <c:v>44712</c:v>
                </c:pt>
                <c:pt idx="2">
                  <c:v>44742</c:v>
                </c:pt>
                <c:pt idx="3">
                  <c:v>44773</c:v>
                </c:pt>
                <c:pt idx="4">
                  <c:v>44774</c:v>
                </c:pt>
                <c:pt idx="5">
                  <c:v>44805</c:v>
                </c:pt>
                <c:pt idx="6">
                  <c:v>44865</c:v>
                </c:pt>
                <c:pt idx="7">
                  <c:v>44866</c:v>
                </c:pt>
                <c:pt idx="8">
                  <c:v>44926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  <c:pt idx="25">
                  <c:v>45413</c:v>
                </c:pt>
                <c:pt idx="26">
                  <c:v>45444</c:v>
                </c:pt>
                <c:pt idx="27">
                  <c:v>45474</c:v>
                </c:pt>
                <c:pt idx="28">
                  <c:v>45505</c:v>
                </c:pt>
                <c:pt idx="29">
                  <c:v>45536</c:v>
                </c:pt>
              </c:numCache>
            </c:numRef>
          </c:cat>
          <c:val>
            <c:numRef>
              <c:f>Plano!$M$104:$M$133</c:f>
              <c:numCache>
                <c:formatCode>0.0%</c:formatCode>
                <c:ptCount val="30"/>
                <c:pt idx="0">
                  <c:v>0.2601</c:v>
                </c:pt>
                <c:pt idx="1">
                  <c:v>0.26800000000000002</c:v>
                </c:pt>
                <c:pt idx="2">
                  <c:v>0.36499999999999999</c:v>
                </c:pt>
                <c:pt idx="3">
                  <c:v>0.435</c:v>
                </c:pt>
                <c:pt idx="4">
                  <c:v>0.43659999999999999</c:v>
                </c:pt>
                <c:pt idx="5">
                  <c:v>0.43569999999999998</c:v>
                </c:pt>
                <c:pt idx="6">
                  <c:v>0.43480000000000002</c:v>
                </c:pt>
                <c:pt idx="7">
                  <c:v>0.48480000000000001</c:v>
                </c:pt>
                <c:pt idx="8">
                  <c:v>0.50360000000000005</c:v>
                </c:pt>
                <c:pt idx="9">
                  <c:v>0.52200000000000002</c:v>
                </c:pt>
                <c:pt idx="10">
                  <c:v>0.52600000000000002</c:v>
                </c:pt>
                <c:pt idx="11">
                  <c:v>0.53400000000000003</c:v>
                </c:pt>
                <c:pt idx="12">
                  <c:v>0.55010000000000003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1E-4E19-B5CD-00133220A9F9}"/>
            </c:ext>
          </c:extLst>
        </c:ser>
        <c:ser>
          <c:idx val="1"/>
          <c:order val="1"/>
          <c:tx>
            <c:strRef>
              <c:f>Plano!$N$100</c:f>
              <c:strCache>
                <c:ptCount val="1"/>
                <c:pt idx="0">
                  <c:v>Planeado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F9-4954-B7D1-2F905DE3B08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1E-4E19-B5CD-00133220A9F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8E1-4653-80BC-AA7A4319C8C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C5-4504-BD7A-8D315CB636E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972-4FDF-840B-B303F965067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0C5-4504-BD7A-8D315CB636E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CA-4CA7-ACB5-E4C3D877F271}"/>
                </c:ext>
              </c:extLst>
            </c:dLbl>
            <c:dLbl>
              <c:idx val="11"/>
              <c:layout>
                <c:manualLayout>
                  <c:x val="-4.0340479045200273E-2"/>
                  <c:y val="-7.07193860308946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E5-4B86-8CF1-97F1237DB67C}"/>
                </c:ext>
              </c:extLst>
            </c:dLbl>
            <c:dLbl>
              <c:idx val="12"/>
              <c:layout>
                <c:manualLayout>
                  <c:x val="-1.9084999901511558E-2"/>
                  <c:y val="7.62573175916537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186-49EE-B60B-A226006BA9D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186-49EE-B60B-A226006BA9D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186-49EE-B60B-A226006BA9D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186-49EE-B60B-A226006BA9D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186-49EE-B60B-A226006BA9D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186-49EE-B60B-A226006BA9D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86-49EE-B60B-A226006BA9D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186-49EE-B60B-A226006BA9D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86-49EE-B60B-A226006BA9D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186-49EE-B60B-A226006BA9D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186-49EE-B60B-A226006BA9D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186-49EE-B60B-A226006BA9D4}"/>
                </c:ext>
              </c:extLst>
            </c:dLbl>
            <c:spPr>
              <a:solidFill>
                <a:schemeClr val="bg1"/>
              </a:solidFill>
              <a:ln>
                <a:solidFill>
                  <a:srgbClr val="0070C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0070C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Plano!$L$104:$L$133</c:f>
              <c:numCache>
                <c:formatCode>mmm\-yy</c:formatCode>
                <c:ptCount val="30"/>
                <c:pt idx="0">
                  <c:v>44681</c:v>
                </c:pt>
                <c:pt idx="1">
                  <c:v>44712</c:v>
                </c:pt>
                <c:pt idx="2">
                  <c:v>44742</c:v>
                </c:pt>
                <c:pt idx="3">
                  <c:v>44773</c:v>
                </c:pt>
                <c:pt idx="4">
                  <c:v>44774</c:v>
                </c:pt>
                <c:pt idx="5">
                  <c:v>44805</c:v>
                </c:pt>
                <c:pt idx="6">
                  <c:v>44865</c:v>
                </c:pt>
                <c:pt idx="7">
                  <c:v>44866</c:v>
                </c:pt>
                <c:pt idx="8">
                  <c:v>44926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  <c:pt idx="13">
                  <c:v>45047</c:v>
                </c:pt>
                <c:pt idx="14">
                  <c:v>45078</c:v>
                </c:pt>
                <c:pt idx="15">
                  <c:v>45108</c:v>
                </c:pt>
                <c:pt idx="16">
                  <c:v>45139</c:v>
                </c:pt>
                <c:pt idx="17">
                  <c:v>45170</c:v>
                </c:pt>
                <c:pt idx="18">
                  <c:v>45200</c:v>
                </c:pt>
                <c:pt idx="19">
                  <c:v>45231</c:v>
                </c:pt>
                <c:pt idx="20">
                  <c:v>45261</c:v>
                </c:pt>
                <c:pt idx="21">
                  <c:v>45292</c:v>
                </c:pt>
                <c:pt idx="22">
                  <c:v>45323</c:v>
                </c:pt>
                <c:pt idx="23">
                  <c:v>45352</c:v>
                </c:pt>
                <c:pt idx="24">
                  <c:v>45383</c:v>
                </c:pt>
                <c:pt idx="25">
                  <c:v>45413</c:v>
                </c:pt>
                <c:pt idx="26">
                  <c:v>45444</c:v>
                </c:pt>
                <c:pt idx="27">
                  <c:v>45474</c:v>
                </c:pt>
                <c:pt idx="28">
                  <c:v>45505</c:v>
                </c:pt>
                <c:pt idx="29">
                  <c:v>45536</c:v>
                </c:pt>
              </c:numCache>
            </c:numRef>
          </c:cat>
          <c:val>
            <c:numRef>
              <c:f>Plano!$N$104:$N$133</c:f>
              <c:numCache>
                <c:formatCode>0.0%</c:formatCode>
                <c:ptCount val="30"/>
                <c:pt idx="0">
                  <c:v>0.24</c:v>
                </c:pt>
                <c:pt idx="1">
                  <c:v>0.25199709513434998</c:v>
                </c:pt>
                <c:pt idx="2">
                  <c:v>0.35090777051561362</c:v>
                </c:pt>
                <c:pt idx="3">
                  <c:v>0.3600580973129992</c:v>
                </c:pt>
                <c:pt idx="4">
                  <c:v>0.3600580973129992</c:v>
                </c:pt>
                <c:pt idx="5">
                  <c:v>0.3600580973129992</c:v>
                </c:pt>
                <c:pt idx="6">
                  <c:v>0.3949164851125635</c:v>
                </c:pt>
                <c:pt idx="7">
                  <c:v>0.3949164851125635</c:v>
                </c:pt>
                <c:pt idx="8">
                  <c:v>0.47499999999999998</c:v>
                </c:pt>
                <c:pt idx="9">
                  <c:v>0.52700000000000002</c:v>
                </c:pt>
                <c:pt idx="10">
                  <c:v>0.52700000000000002</c:v>
                </c:pt>
                <c:pt idx="11">
                  <c:v>0.54600000000000004</c:v>
                </c:pt>
                <c:pt idx="12">
                  <c:v>0.54600000000000004</c:v>
                </c:pt>
                <c:pt idx="13">
                  <c:v>0.54600000000000004</c:v>
                </c:pt>
                <c:pt idx="14">
                  <c:v>0.59399999999999997</c:v>
                </c:pt>
                <c:pt idx="15">
                  <c:v>0.60199999999999998</c:v>
                </c:pt>
                <c:pt idx="16">
                  <c:v>0.60199999999999998</c:v>
                </c:pt>
                <c:pt idx="17">
                  <c:v>0.65100000000000002</c:v>
                </c:pt>
                <c:pt idx="18">
                  <c:v>0.65100000000000002</c:v>
                </c:pt>
                <c:pt idx="19">
                  <c:v>0.65100000000000002</c:v>
                </c:pt>
                <c:pt idx="20">
                  <c:v>0.78500000000000003</c:v>
                </c:pt>
                <c:pt idx="21">
                  <c:v>0.78500000000000003</c:v>
                </c:pt>
                <c:pt idx="22">
                  <c:v>0.78500000000000003</c:v>
                </c:pt>
                <c:pt idx="23">
                  <c:v>0.79700000000000004</c:v>
                </c:pt>
                <c:pt idx="24">
                  <c:v>0.80900000000000005</c:v>
                </c:pt>
                <c:pt idx="25">
                  <c:v>0.80900000000000005</c:v>
                </c:pt>
                <c:pt idx="26">
                  <c:v>0.92300000000000004</c:v>
                </c:pt>
                <c:pt idx="27">
                  <c:v>0.92300000000000004</c:v>
                </c:pt>
                <c:pt idx="28">
                  <c:v>0.92300000000000004</c:v>
                </c:pt>
                <c:pt idx="2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1E-4E19-B5CD-00133220A9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1890223"/>
        <c:axId val="1121909359"/>
      </c:lineChart>
      <c:dateAx>
        <c:axId val="112189022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88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121909359"/>
        <c:crosses val="autoZero"/>
        <c:auto val="1"/>
        <c:lblOffset val="100"/>
        <c:baseTimeUnit val="months"/>
      </c:dateAx>
      <c:valAx>
        <c:axId val="1121909359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121890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4853684783744798"/>
          <c:y val="0.46241634981097773"/>
          <c:w val="0.13405577880765049"/>
          <c:h val="0.245799336087715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Corporativos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6"/>
                <c:pt idx="0">
                  <c:v>Julho (Mês Inicial)</c:v>
                </c:pt>
                <c:pt idx="1">
                  <c:v>Novembro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6"/>
                <c:pt idx="0">
                  <c:v>107</c:v>
                </c:pt>
                <c:pt idx="1">
                  <c:v>104</c:v>
                </c:pt>
                <c:pt idx="2">
                  <c:v>103</c:v>
                </c:pt>
                <c:pt idx="3">
                  <c:v>101</c:v>
                </c:pt>
                <c:pt idx="4">
                  <c:v>89</c:v>
                </c:pt>
                <c:pt idx="5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9C-46C2-BA66-03191C79C2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Locais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6"/>
                <c:pt idx="0">
                  <c:v>Julho (Mês Inicial)</c:v>
                </c:pt>
                <c:pt idx="1">
                  <c:v>Novembro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6"/>
                <c:pt idx="0">
                  <c:v>43</c:v>
                </c:pt>
                <c:pt idx="1">
                  <c:v>33</c:v>
                </c:pt>
                <c:pt idx="2">
                  <c:v>30</c:v>
                </c:pt>
                <c:pt idx="3">
                  <c:v>41</c:v>
                </c:pt>
                <c:pt idx="4">
                  <c:v>40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9C-46C2-BA66-03191C79C2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879118527"/>
        <c:axId val="879125599"/>
      </c:barChart>
      <c:catAx>
        <c:axId val="8791185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879125599"/>
        <c:crosses val="autoZero"/>
        <c:auto val="1"/>
        <c:lblAlgn val="ctr"/>
        <c:lblOffset val="100"/>
        <c:noMultiLvlLbl val="0"/>
      </c:catAx>
      <c:valAx>
        <c:axId val="87912559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87911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2791129943502823"/>
          <c:y val="3.5277777777777776E-2"/>
          <c:w val="0.18154077212806027"/>
          <c:h val="0.113102777777777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5151871642594922E-2"/>
          <c:y val="0.17865719638842434"/>
          <c:w val="0.90087221531957262"/>
          <c:h val="0.628304866895812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'Não Prudenciais'!$E$2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6800180514061112E-2"/>
                  <c:y val="-5.4476496812481921E-2"/>
                </c:manualLayout>
              </c:layout>
              <c:tx>
                <c:rich>
                  <a:bodyPr/>
                  <a:lstStyle/>
                  <a:p>
                    <a:r>
                      <a:rPr lang="en-US" sz="900" dirty="0"/>
                      <a:t> 14(5%)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D80-4473-9556-289950E1510C}"/>
                </c:ext>
              </c:extLst>
            </c:dLbl>
            <c:dLbl>
              <c:idx val="1"/>
              <c:layout>
                <c:manualLayout>
                  <c:x val="6.0464708289161825E-2"/>
                  <c:y val="-5.326824000688081E-2"/>
                </c:manualLayout>
              </c:layout>
              <c:tx>
                <c:rich>
                  <a:bodyPr/>
                  <a:lstStyle/>
                  <a:p>
                    <a:fld id="{C6EA6741-5764-4A57-B61E-2AEC1ACE7A4A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023-49FF-972B-4C809EAD645B}"/>
                </c:ext>
              </c:extLst>
            </c:dLbl>
            <c:dLbl>
              <c:idx val="2"/>
              <c:layout>
                <c:manualLayout>
                  <c:x val="5.6800180514061112E-2"/>
                  <c:y val="-5.0127019231283647E-2"/>
                </c:manualLayout>
              </c:layout>
              <c:tx>
                <c:rich>
                  <a:bodyPr/>
                  <a:lstStyle/>
                  <a:p>
                    <a:fld id="{5F54C69C-ED33-43AD-937B-0FB756F3D65D}" type="VALUE">
                      <a:rPr lang="en-US" sz="900" smtClean="0"/>
                      <a:pPr/>
                      <a:t>[VALUE]</a:t>
                    </a:fld>
                    <a:r>
                      <a:rPr lang="en-US" sz="900" dirty="0"/>
                      <a:t>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023-49FF-972B-4C809EAD645B}"/>
                </c:ext>
              </c:extLst>
            </c:dLbl>
            <c:dLbl>
              <c:idx val="3"/>
              <c:layout>
                <c:manualLayout>
                  <c:x val="5.6800180514061112E-2"/>
                  <c:y val="-5.3509809061679126E-2"/>
                </c:manualLayout>
              </c:layout>
              <c:tx>
                <c:rich>
                  <a:bodyPr/>
                  <a:lstStyle/>
                  <a:p>
                    <a:fld id="{A5D28E26-2440-49D4-B99E-7EE52DCC5BB6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023-49FF-972B-4C809EAD645B}"/>
                </c:ext>
              </c:extLst>
            </c:dLbl>
            <c:dLbl>
              <c:idx val="4"/>
              <c:layout>
                <c:manualLayout>
                  <c:x val="6.4129236064262546E-2"/>
                  <c:y val="-5.1410174789820517E-2"/>
                </c:manualLayout>
              </c:layout>
              <c:tx>
                <c:rich>
                  <a:bodyPr/>
                  <a:lstStyle/>
                  <a:p>
                    <a:fld id="{4F99974C-75C8-402D-B2D2-8E3687899256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9442801338158583E-2"/>
                      <c:h val="8.354503205213940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023-49FF-972B-4C809EAD645B}"/>
                </c:ext>
              </c:extLst>
            </c:dLbl>
            <c:dLbl>
              <c:idx val="5"/>
              <c:layout>
                <c:manualLayout>
                  <c:x val="5.8632444401611333E-2"/>
                  <c:y val="-5.3026670952082494E-2"/>
                </c:manualLayout>
              </c:layout>
              <c:tx>
                <c:rich>
                  <a:bodyPr/>
                  <a:lstStyle/>
                  <a:p>
                    <a:fld id="{F54B795F-0B47-4E61-9601-7DEE68574623}" type="VALUE">
                      <a:rPr lang="en-US" smtClean="0"/>
                      <a:pPr/>
                      <a:t>[VALUE]</a:t>
                    </a:fld>
                    <a:r>
                      <a:rPr lang="en-US"/>
                      <a:t> 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3B4-43E6-82C6-9EEC683550BF}"/>
                </c:ext>
              </c:extLst>
            </c:dLbl>
            <c:dLbl>
              <c:idx val="6"/>
              <c:layout>
                <c:manualLayout>
                  <c:x val="5.8632444401611333E-2"/>
                  <c:y val="-5.3509809061679126E-2"/>
                </c:manualLayout>
              </c:layout>
              <c:tx>
                <c:rich>
                  <a:bodyPr/>
                  <a:lstStyle/>
                  <a:p>
                    <a:fld id="{51A36681-B52F-41EB-8484-57CE6940B4D8}" type="VALUE">
                      <a:rPr lang="en-US" smtClean="0"/>
                      <a:pPr/>
                      <a:t>[VALUE]</a:t>
                    </a:fld>
                    <a:r>
                      <a:rPr lang="en-US"/>
                      <a:t> (2%)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EA8-4CF9-B27C-C4A66C7380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19050" rIns="38100" bIns="19050" anchor="ctr" anchorCtr="0">
                <a:spAutoFit/>
              </a:bodyPr>
              <a:lstStyle/>
              <a:p>
                <a:pPr algn="l">
                  <a:defRPr sz="900" b="1" i="0" u="none" strike="noStrike" kern="1200" baseline="0">
                    <a:solidFill>
                      <a:srgbClr val="FF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'Não Prudenciais'!$D$3:$D$19</c:f>
              <c:strCache>
                <c:ptCount val="7"/>
                <c:pt idx="0">
                  <c:v>Novembro 21
(Mês inicial)</c:v>
                </c:pt>
                <c:pt idx="1">
                  <c:v>Março 22
(Mês Homologo)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'Não Prudenciais'!$E$3:$E$19</c:f>
              <c:numCache>
                <c:formatCode>General</c:formatCode>
                <c:ptCount val="7"/>
                <c:pt idx="0">
                  <c:v>14</c:v>
                </c:pt>
                <c:pt idx="1">
                  <c:v>19</c:v>
                </c:pt>
                <c:pt idx="2">
                  <c:v>32</c:v>
                </c:pt>
                <c:pt idx="3">
                  <c:v>18</c:v>
                </c:pt>
                <c:pt idx="4">
                  <c:v>25</c:v>
                </c:pt>
                <c:pt idx="5">
                  <c:v>20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23-49FF-972B-4C809EAD645B}"/>
            </c:ext>
          </c:extLst>
        </c:ser>
        <c:ser>
          <c:idx val="1"/>
          <c:order val="1"/>
          <c:tx>
            <c:strRef>
              <c:f>'Não Prudenciais'!$F$2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'Não Prudenciais'!$D$3:$D$19</c:f>
              <c:strCache>
                <c:ptCount val="7"/>
                <c:pt idx="0">
                  <c:v>Novembro 21
(Mês inicial)</c:v>
                </c:pt>
                <c:pt idx="1">
                  <c:v>Março 22
(Mês Homologo)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'Não Prudenciais'!$F$3:$F$19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7-3023-49FF-972B-4C809EAD645B}"/>
            </c:ext>
          </c:extLst>
        </c:ser>
        <c:ser>
          <c:idx val="2"/>
          <c:order val="2"/>
          <c:tx>
            <c:strRef>
              <c:f>'Não Prudenciais'!$G$2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'Não Prudenciais'!$D$3:$D$19</c:f>
              <c:strCache>
                <c:ptCount val="7"/>
                <c:pt idx="0">
                  <c:v>Novembro 21
(Mês inicial)</c:v>
                </c:pt>
                <c:pt idx="1">
                  <c:v>Março 22
(Mês Homologo)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'Não Prudenciais'!$G$3:$G$19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8-3023-49FF-972B-4C809EAD645B}"/>
            </c:ext>
          </c:extLst>
        </c:ser>
        <c:ser>
          <c:idx val="3"/>
          <c:order val="3"/>
          <c:tx>
            <c:strRef>
              <c:f>'Não Prudenciais'!$H$2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'Não Prudenciais'!$D$3:$D$19</c:f>
              <c:strCache>
                <c:ptCount val="7"/>
                <c:pt idx="0">
                  <c:v>Novembro 21
(Mês inicial)</c:v>
                </c:pt>
                <c:pt idx="1">
                  <c:v>Março 22
(Mês Homologo)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'Não Prudenciais'!$H$3:$H$19</c:f>
              <c:numCache>
                <c:formatCode>General</c:formatCode>
                <c:ptCount val="7"/>
                <c:pt idx="0">
                  <c:v>259</c:v>
                </c:pt>
                <c:pt idx="1">
                  <c:v>1085</c:v>
                </c:pt>
                <c:pt idx="2">
                  <c:v>1091</c:v>
                </c:pt>
                <c:pt idx="3">
                  <c:v>1077</c:v>
                </c:pt>
                <c:pt idx="4">
                  <c:v>1072</c:v>
                </c:pt>
                <c:pt idx="5">
                  <c:v>1077</c:v>
                </c:pt>
                <c:pt idx="6">
                  <c:v>1074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023-49FF-972B-4C809EAD645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1"/>
      </c:catAx>
      <c:valAx>
        <c:axId val="443460968"/>
        <c:scaling>
          <c:orientation val="minMax"/>
          <c:max val="13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368347942014989"/>
          <c:y val="0.13503243674078855"/>
          <c:w val="0.65536581811250039"/>
          <c:h val="0.11236271393539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Dezembro 22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C7-4CE2-9EBB-4B0D6A40D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Dezembro 22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C7-4CE2-9EBB-4B0D6A40D4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Dezembro 22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C7-4CE2-9EBB-4B0D6A40D4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Dezembro 22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13</c:v>
                </c:pt>
                <c:pt idx="4">
                  <c:v>19</c:v>
                </c:pt>
                <c:pt idx="5">
                  <c:v>19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C7-4CE2-9EBB-4B0D6A40D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5">
                  <c:v>Dezembro 22
(Mês Inicial)</c:v>
                </c:pt>
                <c:pt idx="6">
                  <c:v>Janeiro 23</c:v>
                </c:pt>
                <c:pt idx="7">
                  <c:v>Fevereiro 23</c:v>
                </c:pt>
                <c:pt idx="8">
                  <c:v>Março 23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C-4C99-8969-078D1B3C45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5">
                  <c:v>Dezembro 22
(Mês Inicial)</c:v>
                </c:pt>
                <c:pt idx="6">
                  <c:v>Janeiro 23</c:v>
                </c:pt>
                <c:pt idx="7">
                  <c:v>Fevereiro 23</c:v>
                </c:pt>
                <c:pt idx="8">
                  <c:v>Março 23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EC-4C99-8969-078D1B3C45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5">
                  <c:v>Dezembro 22
(Mês Inicial)</c:v>
                </c:pt>
                <c:pt idx="6">
                  <c:v>Janeiro 23</c:v>
                </c:pt>
                <c:pt idx="7">
                  <c:v>Fevereiro 23</c:v>
                </c:pt>
                <c:pt idx="8">
                  <c:v>Março 23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EC-4C99-8969-078D1B3C45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5">
                  <c:v>Dezembro 22
(Mês Inicial)</c:v>
                </c:pt>
                <c:pt idx="6">
                  <c:v>Janeiro 23</c:v>
                </c:pt>
                <c:pt idx="7">
                  <c:v>Fevereiro 23</c:v>
                </c:pt>
                <c:pt idx="8">
                  <c:v>Março 23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EC-4C99-8969-078D1B3C4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6">
                  <c:v>Dezembro 22
(Mês Inicial)</c:v>
                </c:pt>
                <c:pt idx="7">
                  <c:v>Janeiro 23</c:v>
                </c:pt>
                <c:pt idx="8">
                  <c:v>Fevereiro 23</c:v>
                </c:pt>
                <c:pt idx="9">
                  <c:v>Março 23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C-4C99-8969-078D1B3C45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6">
                  <c:v>Dezembro 22
(Mês Inicial)</c:v>
                </c:pt>
                <c:pt idx="7">
                  <c:v>Janeiro 23</c:v>
                </c:pt>
                <c:pt idx="8">
                  <c:v>Fevereiro 23</c:v>
                </c:pt>
                <c:pt idx="9">
                  <c:v>Março 23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EC-4C99-8969-078D1B3C45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6">
                  <c:v>Dezembro 22
(Mês Inicial)</c:v>
                </c:pt>
                <c:pt idx="7">
                  <c:v>Janeiro 23</c:v>
                </c:pt>
                <c:pt idx="8">
                  <c:v>Fevereiro 23</c:v>
                </c:pt>
                <c:pt idx="9">
                  <c:v>Março 23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EC-4C99-8969-078D1B3C45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6">
                  <c:v>Dezembro 22
(Mês Inicial)</c:v>
                </c:pt>
                <c:pt idx="7">
                  <c:v>Janeiro 23</c:v>
                </c:pt>
                <c:pt idx="8">
                  <c:v>Fevereiro 23</c:v>
                </c:pt>
                <c:pt idx="9">
                  <c:v>Março 23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6">
                  <c:v>82</c:v>
                </c:pt>
                <c:pt idx="7">
                  <c:v>82</c:v>
                </c:pt>
                <c:pt idx="8">
                  <c:v>88</c:v>
                </c:pt>
                <c:pt idx="9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EC-4C99-8969-078D1B3C4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Outubro 21
(Mês Inicial)</c:v>
                </c:pt>
                <c:pt idx="1">
                  <c:v>Jun22</c:v>
                </c:pt>
                <c:pt idx="2">
                  <c:v>Set22</c:v>
                </c:pt>
                <c:pt idx="3">
                  <c:v>Dez22</c:v>
                </c:pt>
                <c:pt idx="4">
                  <c:v>Mar23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7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31-4376-A6ED-F46587CA8C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Outubro 21
(Mês Inicial)</c:v>
                </c:pt>
                <c:pt idx="1">
                  <c:v>Jun22</c:v>
                </c:pt>
                <c:pt idx="2">
                  <c:v>Set22</c:v>
                </c:pt>
                <c:pt idx="3">
                  <c:v>Dez22</c:v>
                </c:pt>
                <c:pt idx="4">
                  <c:v>Mar23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31-4376-A6ED-F46587CA8C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Outubro 21
(Mês Inicial)</c:v>
                </c:pt>
                <c:pt idx="1">
                  <c:v>Jun22</c:v>
                </c:pt>
                <c:pt idx="2">
                  <c:v>Set22</c:v>
                </c:pt>
                <c:pt idx="3">
                  <c:v>Dez22</c:v>
                </c:pt>
                <c:pt idx="4">
                  <c:v>Mar23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31-4376-A6ED-F46587CA8C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Outubro 21
(Mês Inicial)</c:v>
                </c:pt>
                <c:pt idx="1">
                  <c:v>Jun22</c:v>
                </c:pt>
                <c:pt idx="2">
                  <c:v>Set22</c:v>
                </c:pt>
                <c:pt idx="3">
                  <c:v>Dez22</c:v>
                </c:pt>
                <c:pt idx="4">
                  <c:v>Mar23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23</c:v>
                </c:pt>
                <c:pt idx="1">
                  <c:v>86</c:v>
                </c:pt>
                <c:pt idx="2">
                  <c:v>89</c:v>
                </c:pt>
                <c:pt idx="3">
                  <c:v>94</c:v>
                </c:pt>
                <c:pt idx="4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31-4376-A6ED-F46587CA8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62873776"/>
        <c:axId val="462877304"/>
      </c:barChart>
      <c:catAx>
        <c:axId val="46287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62877304"/>
        <c:crosses val="autoZero"/>
        <c:auto val="1"/>
        <c:lblAlgn val="ctr"/>
        <c:lblOffset val="100"/>
        <c:noMultiLvlLbl val="0"/>
      </c:catAx>
      <c:valAx>
        <c:axId val="462877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62873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3"/>
          <c:order val="0"/>
          <c:tx>
            <c:strRef>
              <c:f>'Dashboard EP'!$F$7</c:f>
              <c:strCache>
                <c:ptCount val="1"/>
                <c:pt idx="0">
                  <c:v>CONTAS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EP'!$B$8:$B$12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EP'!$F$8:$F$12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A-4713-85E3-3313948876AE}"/>
            </c:ext>
          </c:extLst>
        </c:ser>
        <c:ser>
          <c:idx val="2"/>
          <c:order val="1"/>
          <c:tx>
            <c:strRef>
              <c:f>'Dashboard EP'!$E$7</c:f>
              <c:strCache>
                <c:ptCount val="1"/>
                <c:pt idx="0">
                  <c:v>MODELOS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e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1FA-4713-85E3-3313948876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EP'!$B$8:$B$12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EP'!$E$8:$E$12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FA-4713-85E3-3313948876AE}"/>
            </c:ext>
          </c:extLst>
        </c:ser>
        <c:ser>
          <c:idx val="0"/>
          <c:order val="2"/>
          <c:tx>
            <c:strRef>
              <c:f>'Dashboard EP'!$D$7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EP'!$B$8:$B$12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EP'!$D$8:$D$12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1FA-4713-85E3-3313948876AE}"/>
            </c:ext>
          </c:extLst>
        </c:ser>
        <c:ser>
          <c:idx val="1"/>
          <c:order val="3"/>
          <c:tx>
            <c:strRef>
              <c:f>'Dashboard EP'!$C$7</c:f>
              <c:strCache>
                <c:ptCount val="1"/>
                <c:pt idx="0">
                  <c:v>ALM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EP'!$B$8:$B$12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EP'!$C$8:$C$12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1FA-4713-85E3-3313948876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632828047"/>
        <c:axId val="1634783807"/>
      </c:barChart>
      <c:catAx>
        <c:axId val="163282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634783807"/>
        <c:crosses val="autoZero"/>
        <c:auto val="1"/>
        <c:lblAlgn val="ctr"/>
        <c:lblOffset val="100"/>
        <c:noMultiLvlLbl val="0"/>
      </c:catAx>
      <c:valAx>
        <c:axId val="1634783807"/>
        <c:scaling>
          <c:orientation val="minMax"/>
          <c:max val="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632828047"/>
        <c:crosses val="autoZero"/>
        <c:crossBetween val="between"/>
        <c:majorUnit val="2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tx1">
          <a:lumMod val="50000"/>
          <a:lumOff val="50000"/>
        </a:schemeClr>
      </a:solidFill>
      <a:prstDash val="dash"/>
      <a:round/>
    </a:ln>
    <a:effectLst/>
  </c:spPr>
  <c:txPr>
    <a:bodyPr/>
    <a:lstStyle/>
    <a:p>
      <a:pPr>
        <a:defRPr sz="800"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3"/>
          <c:order val="0"/>
          <c:tx>
            <c:strRef>
              <c:f>'Dashboard EP'!$L$7</c:f>
              <c:strCache>
                <c:ptCount val="1"/>
                <c:pt idx="0">
                  <c:v>CONTAS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'Dashboard EP'!$H$8:$H$12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EP'!$L$8:$L$12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36-4FBE-82EA-6971AA237C13}"/>
            </c:ext>
          </c:extLst>
        </c:ser>
        <c:ser>
          <c:idx val="2"/>
          <c:order val="1"/>
          <c:tx>
            <c:strRef>
              <c:f>'Dashboard EP'!$K$7</c:f>
              <c:strCache>
                <c:ptCount val="1"/>
                <c:pt idx="0">
                  <c:v>MODELOS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'Dashboard EP'!$H$8:$H$12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EP'!$K$8:$K$12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36-4FBE-82EA-6971AA237C13}"/>
            </c:ext>
          </c:extLst>
        </c:ser>
        <c:ser>
          <c:idx val="0"/>
          <c:order val="2"/>
          <c:tx>
            <c:strRef>
              <c:f>'Dashboard EP'!$J$7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'Dashboard EP'!$H$8:$H$12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EP'!$J$8:$J$12</c:f>
              <c:numCache>
                <c:formatCode>General</c:formatCode>
                <c:ptCount val="5"/>
                <c:pt idx="4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36-4FBE-82EA-6971AA237C13}"/>
            </c:ext>
          </c:extLst>
        </c:ser>
        <c:ser>
          <c:idx val="1"/>
          <c:order val="3"/>
          <c:tx>
            <c:strRef>
              <c:f>'Dashboard EP'!$I$7</c:f>
              <c:strCache>
                <c:ptCount val="1"/>
                <c:pt idx="0">
                  <c:v>ALM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'Dashboard EP'!$H$8:$H$12</c:f>
              <c:strCache>
                <c:ptCount val="5"/>
                <c:pt idx="0">
                  <c:v>FEV.22</c:v>
                </c:pt>
                <c:pt idx="1">
                  <c:v>AGO.22</c:v>
                </c:pt>
                <c:pt idx="2">
                  <c:v>DEZ.22</c:v>
                </c:pt>
                <c:pt idx="3">
                  <c:v>JAN.23</c:v>
                </c:pt>
                <c:pt idx="4">
                  <c:v>FEV.23</c:v>
                </c:pt>
              </c:strCache>
            </c:strRef>
          </c:cat>
          <c:val>
            <c:numRef>
              <c:f>'Dashboard EP'!$I$8:$I$12</c:f>
              <c:numCache>
                <c:formatCode>General</c:formatCode>
                <c:ptCount val="5"/>
                <c:pt idx="4" formatCode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36-4FBE-82EA-6971AA237C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632828047"/>
        <c:axId val="1634783807"/>
      </c:barChart>
      <c:catAx>
        <c:axId val="163282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634783807"/>
        <c:crosses val="autoZero"/>
        <c:auto val="1"/>
        <c:lblAlgn val="ctr"/>
        <c:lblOffset val="100"/>
        <c:noMultiLvlLbl val="0"/>
      </c:catAx>
      <c:valAx>
        <c:axId val="1634783807"/>
        <c:scaling>
          <c:orientation val="minMax"/>
          <c:max val="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632828047"/>
        <c:crosses val="autoZero"/>
        <c:crossBetween val="between"/>
        <c:majorUnit val="2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solidFill>
        <a:schemeClr val="tx1">
          <a:lumMod val="50000"/>
          <a:lumOff val="50000"/>
        </a:schemeClr>
      </a:solidFill>
      <a:prstDash val="dash"/>
      <a:round/>
    </a:ln>
    <a:effectLst/>
  </c:spPr>
  <c:txPr>
    <a:bodyPr/>
    <a:lstStyle/>
    <a:p>
      <a:pPr>
        <a:defRPr sz="800"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[Indicadores_20230515_v1.0.xlsx]Data!$F$2:$I$2</c:f>
              <c:strCache>
                <c:ptCount val="4"/>
                <c:pt idx="0">
                  <c:v>NOV.22</c:v>
                </c:pt>
                <c:pt idx="1">
                  <c:v>DEZ.22</c:v>
                </c:pt>
                <c:pt idx="2">
                  <c:v>JAN.23</c:v>
                </c:pt>
                <c:pt idx="3">
                  <c:v>FEV.23</c:v>
                </c:pt>
              </c:strCache>
            </c:strRef>
          </c:cat>
          <c:val>
            <c:numRef>
              <c:f>[Indicadores_20230515_v1.0.xlsx]Data!$F$3:$I$3</c:f>
              <c:numCache>
                <c:formatCode>0.00%</c:formatCode>
                <c:ptCount val="4"/>
                <c:pt idx="0">
                  <c:v>2.0146520146520148E-2</c:v>
                </c:pt>
                <c:pt idx="1">
                  <c:v>2.197802197802198E-2</c:v>
                </c:pt>
                <c:pt idx="2">
                  <c:v>2.0599250936329586E-2</c:v>
                </c:pt>
                <c:pt idx="3">
                  <c:v>1.6885553470919325E-2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65-4D92-A4D3-1DE9ADE904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[Indicadores_20230515_v1.0.xlsx]Data!$F$7:$I$7</c:f>
              <c:strCache>
                <c:ptCount val="4"/>
                <c:pt idx="0">
                  <c:v>NOV.22</c:v>
                </c:pt>
                <c:pt idx="1">
                  <c:v>DEZ.22</c:v>
                </c:pt>
                <c:pt idx="2">
                  <c:v>JAN.23</c:v>
                </c:pt>
                <c:pt idx="3">
                  <c:v>FEV.23</c:v>
                </c:pt>
              </c:strCache>
            </c:strRef>
          </c:cat>
          <c:val>
            <c:numRef>
              <c:f>[Indicadores_20230515_v1.0.xlsx]Data!$F$8:$I$8</c:f>
              <c:numCache>
                <c:formatCode>0.00%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23-4F43-8EC5-2506143D3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[Indicadores_20230515_v1.0.xlsx]Data!$D$13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layout>
                <c:manualLayout>
                  <c:x val="-4.4628591069669606E-2"/>
                  <c:y val="-4.11325078522425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8C-408C-864A-6CDF246820C2}"/>
                </c:ext>
              </c:extLst>
            </c:dLbl>
            <c:dLbl>
              <c:idx val="1"/>
              <c:layout>
                <c:manualLayout>
                  <c:x val="-7.6870408631772275E-2"/>
                  <c:y val="-0.153924827792752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8C-408C-864A-6CDF246820C2}"/>
                </c:ext>
              </c:extLst>
            </c:dLbl>
            <c:dLbl>
              <c:idx val="2"/>
              <c:layout>
                <c:manualLayout>
                  <c:x val="-2.4044226347593442E-2"/>
                  <c:y val="-5.43584334745397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8C-408C-864A-6CDF246820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[Indicadores_20230515_v1.0.xlsx]Data!$F$12:$I$12</c:f>
              <c:strCache>
                <c:ptCount val="3"/>
                <c:pt idx="0">
                  <c:v>JUN.22</c:v>
                </c:pt>
                <c:pt idx="1">
                  <c:v>SET.22</c:v>
                </c:pt>
                <c:pt idx="2">
                  <c:v>DEZ.22</c:v>
                </c:pt>
              </c:strCache>
              <c:extLst/>
            </c:strRef>
          </c:cat>
          <c:val>
            <c:numRef>
              <c:f>[Indicadores_20230515_v1.0.xlsx]Data!$F$13:$I$13</c:f>
              <c:numCache>
                <c:formatCode>0.00%</c:formatCode>
                <c:ptCount val="3"/>
                <c:pt idx="0">
                  <c:v>0.15873015873015872</c:v>
                </c:pt>
                <c:pt idx="1">
                  <c:v>3.8461538461538464E-2</c:v>
                </c:pt>
                <c:pt idx="2">
                  <c:v>0.18840579710144928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748C-408C-864A-6CDF24682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[Indicadores_20230515_v1.0.xlsx]Data!$D$18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layout>
                <c:manualLayout>
                  <c:x val="-8.1196051423324186E-2"/>
                  <c:y val="-0.174315663372267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4DC-4965-9825-290747FD1087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DC-4965-9825-290747FD1087}"/>
                </c:ext>
              </c:extLst>
            </c:dLbl>
            <c:dLbl>
              <c:idx val="2"/>
              <c:layout>
                <c:manualLayout>
                  <c:x val="-8.4438418273645552E-2"/>
                  <c:y val="-0.1326377657981431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DC-4965-9825-290747FD1087}"/>
                </c:ext>
              </c:extLst>
            </c:dLbl>
            <c:dLbl>
              <c:idx val="3"/>
              <c:layout>
                <c:manualLayout>
                  <c:x val="-8.4337486480555085E-2"/>
                  <c:y val="-8.026750216030537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DC-4965-9825-290747FD10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[Indicadores_20230515_v1.0.xlsx]Data!$F$17:$I$17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[Indicadores_20230515_v1.0.xlsx]Data!$F$18:$I$18</c:f>
              <c:numCache>
                <c:formatCode>0.00%</c:formatCode>
                <c:ptCount val="4"/>
                <c:pt idx="0">
                  <c:v>6.2801932367149801E-2</c:v>
                </c:pt>
                <c:pt idx="1">
                  <c:v>8.4690553745928335E-2</c:v>
                </c:pt>
                <c:pt idx="2">
                  <c:v>8.7027914614121515E-2</c:v>
                </c:pt>
                <c:pt idx="3">
                  <c:v>0.10638297872340426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4DC-4965-9825-290747FD10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[Indicadores_20230515_v1.0.xlsx]Data!$D$23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[Indicadores_20230515_v1.0.xlsx]Data!$F$22:$I$22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[Indicadores_20230515_v1.0.xlsx]Data!$F$23:$I$23</c:f>
              <c:numCache>
                <c:formatCode>0.00%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A7-4685-88AA-80D7A989AE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2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[Indicadores_20230515_v1.0.xlsx]Data!$D$28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17085573641971"/>
                      <c:h val="6.566308867494141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683A-4CEA-9746-7C9B0D6EB7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[Indicadores_20230515_v1.0.xlsx]Data!$F$27:$I$27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[Indicadores_20230515_v1.0.xlsx]Data!$F$28:$I$28</c:f>
              <c:numCache>
                <c:formatCode>0.00%</c:formatCode>
                <c:ptCount val="4"/>
                <c:pt idx="0">
                  <c:v>9.0909090909090898E-2</c:v>
                </c:pt>
                <c:pt idx="1">
                  <c:v>9.0909090909090898E-2</c:v>
                </c:pt>
                <c:pt idx="2">
                  <c:v>9.0909090909090898E-2</c:v>
                </c:pt>
                <c:pt idx="3">
                  <c:v>9.0909090909090898E-2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3A-4CEA-9746-7C9B0D6EB7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[Indicadores_20230515_v1.0.xlsx]Data!$D$33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5D-430D-BFF7-0C74169AE1AA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5D-430D-BFF7-0C74169AE1AA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85D-430D-BFF7-0C74169AE1AA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5D-430D-BFF7-0C74169AE1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[Indicadores_20230515_v1.0.xlsx]Data!$F$32:$I$32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[Indicadores_20230515_v1.0.xlsx]Data!$F$33:$I$33</c:f>
              <c:numCache>
                <c:formatCode>0.00%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85D-430D-BFF7-0C74169AE1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[Indicadores_20230515_v1.0.xlsx]Data!$D$38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F76-4F86-AA0E-4DDDCF1EA9C4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F76-4F86-AA0E-4DDDCF1EA9C4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F76-4F86-AA0E-4DDDCF1EA9C4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F76-4F86-AA0E-4DDDCF1EA9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[Indicadores_20230515_v1.0.xlsx]Data!$F$42:$I$42</c:f>
              <c:strCache>
                <c:ptCount val="4"/>
                <c:pt idx="0">
                  <c:v>NOV.22</c:v>
                </c:pt>
                <c:pt idx="1">
                  <c:v>DEZ.22</c:v>
                </c:pt>
                <c:pt idx="2">
                  <c:v>JAN.23</c:v>
                </c:pt>
                <c:pt idx="3">
                  <c:v>FEV.23</c:v>
                </c:pt>
              </c:strCache>
            </c:strRef>
          </c:cat>
          <c:val>
            <c:numRef>
              <c:f>[Indicadores_20230515_v1.0.xlsx]Data!$F$38:$I$38</c:f>
              <c:numCache>
                <c:formatCode>0.00%</c:formatCode>
                <c:ptCount val="4"/>
                <c:pt idx="0">
                  <c:v>3.4653465346534656E-2</c:v>
                </c:pt>
                <c:pt idx="1">
                  <c:v>3.5906642728904849E-2</c:v>
                </c:pt>
                <c:pt idx="2">
                  <c:v>3.2243205895900504E-2</c:v>
                </c:pt>
                <c:pt idx="3">
                  <c:v>3.1855955678670361E-2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6-4F86-AA0E-4DDDCF1EA9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[Indicadores_20230515_v1.0.xlsx]Data!$D$43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[Indicadores_20230515_v1.0.xlsx]Data!$F$42:$I$42</c:f>
              <c:strCache>
                <c:ptCount val="4"/>
                <c:pt idx="0">
                  <c:v>NOV.22</c:v>
                </c:pt>
                <c:pt idx="1">
                  <c:v>DEZ.22</c:v>
                </c:pt>
                <c:pt idx="2">
                  <c:v>JAN.23</c:v>
                </c:pt>
                <c:pt idx="3">
                  <c:v>FEV.23</c:v>
                </c:pt>
              </c:strCache>
            </c:strRef>
          </c:cat>
          <c:val>
            <c:numRef>
              <c:f>[Indicadores_20230515_v1.0.xlsx]Data!$F$43:$I$43</c:f>
              <c:numCache>
                <c:formatCode>0.00%</c:formatCode>
                <c:ptCount val="4"/>
                <c:pt idx="0">
                  <c:v>8.0082135523613956E-2</c:v>
                </c:pt>
                <c:pt idx="1">
                  <c:v>8.0445544554455448E-2</c:v>
                </c:pt>
                <c:pt idx="2">
                  <c:v>8.125264494286924E-2</c:v>
                </c:pt>
                <c:pt idx="3">
                  <c:v>8.0645161290322578E-2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7D-46AD-B413-907A22065A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[Indicadores_20230515_v1.0.xlsx]Data!$D$48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[Indicadores_20230515_v1.0.xlsx]Data!$F$47:$I$47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[Indicadores_20230515_v1.0.xlsx]Data!$F$48:$I$48</c:f>
              <c:numCache>
                <c:formatCode>0.00%</c:formatCode>
                <c:ptCount val="4"/>
                <c:pt idx="0">
                  <c:v>2.41545893719807E-2</c:v>
                </c:pt>
                <c:pt idx="1">
                  <c:v>2.4429967426710098E-2</c:v>
                </c:pt>
                <c:pt idx="2">
                  <c:v>2.1346469622331693E-2</c:v>
                </c:pt>
                <c:pt idx="3">
                  <c:v>1.8003273322422259E-2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D1-49F1-93F2-27E8A60B5B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[Indicadores_20230515_v1.0.xlsx]Data!$D$58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[Indicadores_20230515_v1.0.xlsx]Data!$F$57:$I$57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[Indicadores_20230515_v1.0.xlsx]Data!$F$58:$I$58</c:f>
              <c:numCache>
                <c:formatCode>0.00%</c:formatCode>
                <c:ptCount val="4"/>
                <c:pt idx="0">
                  <c:v>9.5238095238095233E-2</c:v>
                </c:pt>
                <c:pt idx="1">
                  <c:v>9.5238095238095233E-2</c:v>
                </c:pt>
                <c:pt idx="2">
                  <c:v>9.5238095238095233E-2</c:v>
                </c:pt>
                <c:pt idx="3">
                  <c:v>9.5238095238095233E-2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09-4A74-9F2D-8C9B00EFE1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[Indicadores_20230515_v1.0.xlsx]Data!$D$63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[Indicadores_20230515_v1.0.xlsx]Data!$F$62:$I$62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[Indicadores_20230515_v1.0.xlsx]Data!$F$63:$I$63</c:f>
              <c:numCache>
                <c:formatCode>0.00%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B6-417B-BDBA-EC70ADB213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[Indicadores_20230515_v1.0.xlsx]Data!$D$68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[Indicadores_20230515_v1.0.xlsx]Data!$F$67:$I$67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[Indicadores_20230515_v1.0.xlsx]Data!$F$68:$I$68</c:f>
              <c:numCache>
                <c:formatCode>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0A-467E-901C-B91B9A242A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20"/>
          <c:min val="0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"/>
        <c:minorUnit val="1.0000000000000003E-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[Indicadores_20230515_v1.0.xlsx]Data!$D$73</c:f>
              <c:strCache>
                <c:ptCount val="1"/>
                <c:pt idx="0">
                  <c:v>Valor 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[Indicadores_20230515_v1.0.xlsx]Data!$F$72:$I$72</c:f>
              <c:strCache>
                <c:ptCount val="4"/>
                <c:pt idx="0">
                  <c:v>JAN.23</c:v>
                </c:pt>
                <c:pt idx="1">
                  <c:v>FEV.23</c:v>
                </c:pt>
                <c:pt idx="2">
                  <c:v>MAR.23</c:v>
                </c:pt>
                <c:pt idx="3">
                  <c:v>ABR.23</c:v>
                </c:pt>
              </c:strCache>
            </c:strRef>
          </c:cat>
          <c:val>
            <c:numRef>
              <c:f>[Indicadores_20230515_v1.0.xlsx]Data!$F$73:$I$73</c:f>
              <c:numCache>
                <c:formatCode>0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FD-480D-85B4-62B0FCC8A6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20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"/>
        <c:min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97031424255907"/>
          <c:y val="0.13710802514076958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[Indicadores_Dados.xlsx]Indicadores!$D$5</c:f>
              <c:strCache>
                <c:ptCount val="1"/>
                <c:pt idx="0">
                  <c:v>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[Indicadores_Dados.xlsx]Indicadores!$E$6:$G$6</c:f>
              <c:numCache>
                <c:formatCode>0.00%</c:formatCode>
                <c:ptCount val="3"/>
                <c:pt idx="0">
                  <c:v>3.5315985130111527E-2</c:v>
                </c:pt>
                <c:pt idx="1">
                  <c:v>3.3519553072625698E-2</c:v>
                </c:pt>
                <c:pt idx="2">
                  <c:v>8.0413555427914993E-2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0F-4C98-81BE-6BAD69714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[Indicadores_Dados.xlsx]Indicadores!$D$5</c:f>
              <c:strCache>
                <c:ptCount val="1"/>
                <c:pt idx="0">
                  <c:v>INDICADOR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[Indicadores_Dados.xlsx]Indicadores!$E$13:$G$13</c:f>
              <c:numCache>
                <c:formatCode>0.00%</c:formatCode>
                <c:ptCount val="3"/>
                <c:pt idx="0">
                  <c:v>0.22439405785770133</c:v>
                </c:pt>
                <c:pt idx="1">
                  <c:v>0.23981191222570533</c:v>
                </c:pt>
                <c:pt idx="2">
                  <c:v>0.17238860482103727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B9-42F6-A338-B41FAFA249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30000000000000004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5.000000000000001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'[Indicador_Architecture.xlsx]NOVAS INGESTAS'!$B$11</c:f>
              <c:strCache>
                <c:ptCount val="1"/>
                <c:pt idx="0">
                  <c:v>NOVAS INGESTAS CRIADAS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'[Indicador_Architecture.xlsx]NOVAS INGESTAS'!$C$10:$E$10</c:f>
              <c:strCache>
                <c:ptCount val="3"/>
                <c:pt idx="0">
                  <c:v>FEV.23</c:v>
                </c:pt>
                <c:pt idx="1">
                  <c:v>MAR.23</c:v>
                </c:pt>
                <c:pt idx="2">
                  <c:v>ABR.23</c:v>
                </c:pt>
              </c:strCache>
            </c:strRef>
          </c:cat>
          <c:val>
            <c:numRef>
              <c:f>'[Indicador_Architecture.xlsx]NOVAS INGESTAS'!$C$11:$E$11</c:f>
              <c:numCache>
                <c:formatCode>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D4-4D45-93E9-415AD8F970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20"/>
          <c:min val="0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3475523179895"/>
          <c:y val="0.14133953823649459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'[Indicador_Architecture.xlsx]TABELAS INVENTÁRIO'!$B$11</c:f>
              <c:strCache>
                <c:ptCount val="1"/>
                <c:pt idx="0">
                  <c:v>INGESTAS NÃO INVENTARIADAS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'[Indicador_Architecture.xlsx]TABELAS INVENTÁRIO'!$C$10:$E$10</c:f>
              <c:strCache>
                <c:ptCount val="3"/>
                <c:pt idx="0">
                  <c:v>FEV.23</c:v>
                </c:pt>
                <c:pt idx="1">
                  <c:v>MAR.23</c:v>
                </c:pt>
                <c:pt idx="2">
                  <c:v>ABR.23</c:v>
                </c:pt>
              </c:strCache>
            </c:strRef>
          </c:cat>
          <c:val>
            <c:numRef>
              <c:f>'[Indicador_Architecture.xlsx]TABELAS INVENTÁRIO'!$C$11:$E$11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7B-4905-A102-9EEFC4B56F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31563752766939"/>
          <c:y val="0.14133969362837251"/>
          <c:w val="0.85748662285812072"/>
          <c:h val="0.74596494422136939"/>
        </c:manualLayout>
      </c:layout>
      <c:lineChart>
        <c:grouping val="standard"/>
        <c:varyColors val="0"/>
        <c:ser>
          <c:idx val="0"/>
          <c:order val="0"/>
          <c:tx>
            <c:strRef>
              <c:f>'[Indicador_Architecture.xlsx]ATRIBUTOS MIN INVENTÁRIO'!$B$7</c:f>
              <c:strCache>
                <c:ptCount val="1"/>
                <c:pt idx="0">
                  <c:v>ATRIBUTOS MÍNIMOS EM FALTA NO INVENTÁRIO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'[Indicador_Architecture.xlsx]ATRIBUTOS MIN INVENTÁRIO'!$C$6:$E$6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'[Indicador_Architecture.xlsx]ATRIBUTOS MIN INVENTÁRIO'!$C$10:$E$10</c:f>
              <c:numCache>
                <c:formatCode>0.00%</c:formatCode>
                <c:ptCount val="3"/>
                <c:pt idx="0">
                  <c:v>0.11764705882352941</c:v>
                </c:pt>
                <c:pt idx="1">
                  <c:v>0.11973094170403588</c:v>
                </c:pt>
                <c:pt idx="2">
                  <c:v>0.12044444444444445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2C-4B73-90F7-D06C098E31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7439375"/>
        <c:axId val="1447441455"/>
      </c:lineChart>
      <c:catAx>
        <c:axId val="1447439375"/>
        <c:scaling>
          <c:orientation val="minMax"/>
        </c:scaling>
        <c:delete val="0"/>
        <c:axPos val="b"/>
        <c:numFmt formatCode="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41455"/>
        <c:crosses val="autoZero"/>
        <c:auto val="1"/>
        <c:lblAlgn val="ctr"/>
        <c:lblOffset val="100"/>
        <c:noMultiLvlLbl val="0"/>
      </c:catAx>
      <c:valAx>
        <c:axId val="1447441455"/>
        <c:scaling>
          <c:orientation val="minMax"/>
          <c:max val="0.2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47439375"/>
        <c:crossesAt val="1"/>
        <c:crossBetween val="between"/>
        <c:majorUnit val="4.0000000000000008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bg1">
          <a:lumMod val="75000"/>
        </a:schemeClr>
      </a:solidFill>
      <a:prstDash val="dash"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13</c:v>
                </c:pt>
                <c:pt idx="2">
                  <c:v>17</c:v>
                </c:pt>
                <c:pt idx="3">
                  <c:v>14</c:v>
                </c:pt>
                <c:pt idx="4">
                  <c:v>12</c:v>
                </c:pt>
                <c:pt idx="5">
                  <c:v>11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91-4B7C-B06B-99CE24D986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91-4B7C-B06B-99CE24D986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</c:v>
                </c:pt>
                <c:pt idx="1">
                  <c:v>7</c:v>
                </c:pt>
                <c:pt idx="2">
                  <c:v>13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91-4B7C-B06B-99CE24D986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263</c:v>
                </c:pt>
                <c:pt idx="1">
                  <c:v>281</c:v>
                </c:pt>
                <c:pt idx="2">
                  <c:v>272</c:v>
                </c:pt>
                <c:pt idx="3">
                  <c:v>284</c:v>
                </c:pt>
                <c:pt idx="4">
                  <c:v>287</c:v>
                </c:pt>
                <c:pt idx="5">
                  <c:v>290</c:v>
                </c:pt>
                <c:pt idx="6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91-4B7C-B06B-99CE24D98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Março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2023</c:v>
                </c:pt>
                <c:pt idx="4">
                  <c:v>Fevereiro 2023</c:v>
                </c:pt>
                <c:pt idx="5">
                  <c:v>Março 2023</c:v>
                </c:pt>
                <c:pt idx="6">
                  <c:v>Abril 2023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06-4C11-A02E-13CDF33E7B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Março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2023</c:v>
                </c:pt>
                <c:pt idx="4">
                  <c:v>Fevereiro 2023</c:v>
                </c:pt>
                <c:pt idx="5">
                  <c:v>Março 2023</c:v>
                </c:pt>
                <c:pt idx="6">
                  <c:v>Abril 2023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06-4C11-A02E-13CDF33E7B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Março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2023</c:v>
                </c:pt>
                <c:pt idx="4">
                  <c:v>Fevereiro 2023</c:v>
                </c:pt>
                <c:pt idx="5">
                  <c:v>Março 2023</c:v>
                </c:pt>
                <c:pt idx="6">
                  <c:v>Abril 2023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06-4C11-A02E-13CDF33E7B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Março 21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2023</c:v>
                </c:pt>
                <c:pt idx="4">
                  <c:v>Fevereiro 2023</c:v>
                </c:pt>
                <c:pt idx="5">
                  <c:v>Março 2023</c:v>
                </c:pt>
                <c:pt idx="6">
                  <c:v>Abril 2023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39</c:v>
                </c:pt>
                <c:pt idx="1">
                  <c:v>54</c:v>
                </c:pt>
                <c:pt idx="2">
                  <c:v>60</c:v>
                </c:pt>
                <c:pt idx="3">
                  <c:v>64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06-4C11-A02E-13CDF33E7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singulares vivos com idade superior a 120 anos ou data</a:t>
            </a:r>
            <a:r>
              <a:rPr lang="pt-PT" sz="700" baseline="0" dirty="0"/>
              <a:t> nascimento com formato inválido</a:t>
            </a:r>
            <a:endParaRPr lang="pt-PT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14099668930309747"/>
          <c:y val="0.25797229848903031"/>
          <c:w val="0.81992063727418352"/>
          <c:h val="0.4787650673888562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singulares vivos com idade superior a 120 anos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11309</c:v>
                </c:pt>
                <c:pt idx="1">
                  <c:v>11203</c:v>
                </c:pt>
                <c:pt idx="2">
                  <c:v>11134</c:v>
                </c:pt>
                <c:pt idx="3">
                  <c:v>11085</c:v>
                </c:pt>
                <c:pt idx="4">
                  <c:v>10946</c:v>
                </c:pt>
                <c:pt idx="5">
                  <c:v>10907</c:v>
                </c:pt>
                <c:pt idx="6">
                  <c:v>10877</c:v>
                </c:pt>
                <c:pt idx="7">
                  <c:v>10811</c:v>
                </c:pt>
                <c:pt idx="8">
                  <c:v>10778</c:v>
                </c:pt>
                <c:pt idx="9">
                  <c:v>10728</c:v>
                </c:pt>
                <c:pt idx="10">
                  <c:v>10645</c:v>
                </c:pt>
                <c:pt idx="11">
                  <c:v>10368</c:v>
                </c:pt>
                <c:pt idx="12">
                  <c:v>10324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4F-4CC8-A00F-E12A88EA4F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singulares com data de abertura superior à data de óbito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singulares com data de abertura superior à data de óbito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199</c:v>
                </c:pt>
                <c:pt idx="1">
                  <c:v>196</c:v>
                </c:pt>
                <c:pt idx="2">
                  <c:v>195</c:v>
                </c:pt>
                <c:pt idx="3">
                  <c:v>194</c:v>
                </c:pt>
                <c:pt idx="4">
                  <c:v>192</c:v>
                </c:pt>
                <c:pt idx="5">
                  <c:v>191</c:v>
                </c:pt>
                <c:pt idx="6">
                  <c:v>190</c:v>
                </c:pt>
                <c:pt idx="7">
                  <c:v>188</c:v>
                </c:pt>
                <c:pt idx="8">
                  <c:v>186</c:v>
                </c:pt>
                <c:pt idx="9">
                  <c:v>185</c:v>
                </c:pt>
                <c:pt idx="10">
                  <c:v>183</c:v>
                </c:pt>
                <c:pt idx="11">
                  <c:v>182</c:v>
                </c:pt>
                <c:pt idx="12">
                  <c:v>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B3-4249-8980-313FB9E13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201"/>
          <c:min val="1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700" dirty="0" err="1"/>
              <a:t>Clientes</a:t>
            </a:r>
            <a:r>
              <a:rPr lang="en-US" sz="700" dirty="0"/>
              <a:t> </a:t>
            </a:r>
            <a:r>
              <a:rPr lang="en-US" sz="700" dirty="0" err="1"/>
              <a:t>duplicados</a:t>
            </a:r>
            <a:endParaRPr lang="en-US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duplicados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20528</c:v>
                </c:pt>
                <c:pt idx="1">
                  <c:v>19178</c:v>
                </c:pt>
                <c:pt idx="2">
                  <c:v>18720</c:v>
                </c:pt>
                <c:pt idx="3">
                  <c:v>18602</c:v>
                </c:pt>
                <c:pt idx="4">
                  <c:v>17739</c:v>
                </c:pt>
                <c:pt idx="5">
                  <c:v>17686</c:v>
                </c:pt>
                <c:pt idx="6">
                  <c:v>17640</c:v>
                </c:pt>
                <c:pt idx="7">
                  <c:v>16615</c:v>
                </c:pt>
                <c:pt idx="8">
                  <c:v>16515</c:v>
                </c:pt>
                <c:pt idx="9">
                  <c:v>16398</c:v>
                </c:pt>
                <c:pt idx="10">
                  <c:v>14716</c:v>
                </c:pt>
                <c:pt idx="11">
                  <c:v>13079</c:v>
                </c:pt>
                <c:pt idx="12">
                  <c:v>13041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5-4CD7-99DF-625FA74F3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25000"/>
          <c:min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no mesmo zcligrupo com Documento Fiscal distinto</a:t>
            </a:r>
          </a:p>
        </c:rich>
      </c:tx>
      <c:layout>
        <c:manualLayout>
          <c:xMode val="edge"/>
          <c:yMode val="edge"/>
          <c:x val="0.1954162186379928"/>
          <c:y val="5.85820041387955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no mesmo zcligrupo com Documento Fiscal (Doc2) distinto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238</c:v>
                </c:pt>
                <c:pt idx="1">
                  <c:v>224</c:v>
                </c:pt>
                <c:pt idx="2">
                  <c:v>220</c:v>
                </c:pt>
                <c:pt idx="3">
                  <c:v>218</c:v>
                </c:pt>
                <c:pt idx="4">
                  <c:v>222</c:v>
                </c:pt>
                <c:pt idx="5">
                  <c:v>223</c:v>
                </c:pt>
                <c:pt idx="6">
                  <c:v>221</c:v>
                </c:pt>
                <c:pt idx="7">
                  <c:v>108</c:v>
                </c:pt>
                <c:pt idx="8">
                  <c:v>109</c:v>
                </c:pt>
                <c:pt idx="9">
                  <c:v>108</c:v>
                </c:pt>
                <c:pt idx="10">
                  <c:v>108</c:v>
                </c:pt>
                <c:pt idx="11">
                  <c:v>106</c:v>
                </c:pt>
                <c:pt idx="12">
                  <c:v>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06-4668-9F11-3EF09D201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27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no mesmo zcligrupo com Documento Identificador distinto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no mesmo zcligrupo com Documento Identificador(Doc1) distinto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1829</c:v>
                </c:pt>
                <c:pt idx="1">
                  <c:v>1671</c:v>
                </c:pt>
                <c:pt idx="2">
                  <c:v>1632</c:v>
                </c:pt>
                <c:pt idx="3">
                  <c:v>1610</c:v>
                </c:pt>
                <c:pt idx="4">
                  <c:v>1553</c:v>
                </c:pt>
                <c:pt idx="5">
                  <c:v>1553</c:v>
                </c:pt>
                <c:pt idx="6">
                  <c:v>1544</c:v>
                </c:pt>
                <c:pt idx="7">
                  <c:v>1453</c:v>
                </c:pt>
                <c:pt idx="8">
                  <c:v>1436</c:v>
                </c:pt>
                <c:pt idx="9">
                  <c:v>1429</c:v>
                </c:pt>
                <c:pt idx="10">
                  <c:v>1397</c:v>
                </c:pt>
                <c:pt idx="11">
                  <c:v>1275</c:v>
                </c:pt>
                <c:pt idx="12">
                  <c:v>1262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63-44EE-8D9D-30B271371E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1900"/>
          <c:min val="1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com código nacional de profissões fora de catálogo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código nacional de profissões fora de catálogo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393957</c:v>
                </c:pt>
                <c:pt idx="1">
                  <c:v>393476</c:v>
                </c:pt>
                <c:pt idx="2">
                  <c:v>394398</c:v>
                </c:pt>
                <c:pt idx="3">
                  <c:v>395378</c:v>
                </c:pt>
                <c:pt idx="4">
                  <c:v>394540</c:v>
                </c:pt>
                <c:pt idx="5" formatCode="#,##0">
                  <c:v>399639</c:v>
                </c:pt>
                <c:pt idx="6">
                  <c:v>403328</c:v>
                </c:pt>
                <c:pt idx="7">
                  <c:v>404390</c:v>
                </c:pt>
                <c:pt idx="8">
                  <c:v>406241</c:v>
                </c:pt>
                <c:pt idx="9">
                  <c:v>409198</c:v>
                </c:pt>
                <c:pt idx="10">
                  <c:v>413085</c:v>
                </c:pt>
                <c:pt idx="11">
                  <c:v>415995</c:v>
                </c:pt>
                <c:pt idx="12">
                  <c:v>417876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FF-4137-B4DD-4E4281F91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440000"/>
          <c:min val="3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3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Empresa sem Cliente Relação associado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sem Cliente Relação associado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13742</c:v>
                </c:pt>
                <c:pt idx="1">
                  <c:v>13501</c:v>
                </c:pt>
                <c:pt idx="2">
                  <c:v>13359</c:v>
                </c:pt>
                <c:pt idx="3">
                  <c:v>13231</c:v>
                </c:pt>
                <c:pt idx="4">
                  <c:v>13219</c:v>
                </c:pt>
                <c:pt idx="5">
                  <c:v>13163</c:v>
                </c:pt>
                <c:pt idx="6">
                  <c:v>13132</c:v>
                </c:pt>
                <c:pt idx="7">
                  <c:v>13030</c:v>
                </c:pt>
                <c:pt idx="8">
                  <c:v>11220</c:v>
                </c:pt>
                <c:pt idx="9">
                  <c:v>11123</c:v>
                </c:pt>
                <c:pt idx="10">
                  <c:v>10868</c:v>
                </c:pt>
                <c:pt idx="11">
                  <c:v>10396</c:v>
                </c:pt>
                <c:pt idx="12">
                  <c:v>10265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B0-4430-BEA5-F38D841BA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com Setor de Atividade (CAE) não informado ou em formato inválido [EMPRESAS]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Setor de Atividade (CAE) não informado ou em formato inválido [EMPRESAS]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97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  <c:pt idx="4">
                  <c:v>97</c:v>
                </c:pt>
                <c:pt idx="5">
                  <c:v>96</c:v>
                </c:pt>
                <c:pt idx="6">
                  <c:v>96</c:v>
                </c:pt>
                <c:pt idx="7">
                  <c:v>96</c:v>
                </c:pt>
                <c:pt idx="8">
                  <c:v>96</c:v>
                </c:pt>
                <c:pt idx="9">
                  <c:v>138</c:v>
                </c:pt>
                <c:pt idx="10">
                  <c:v>138</c:v>
                </c:pt>
                <c:pt idx="11">
                  <c:v>130</c:v>
                </c:pt>
                <c:pt idx="12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93-4D4A-BA17-BF633003F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8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com campo Nome do Cliente não informado ou com valores por defeito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campo Nome do Cliente não informado ou com valores por defeito 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34</c:v>
                </c:pt>
                <c:pt idx="1">
                  <c:v>34</c:v>
                </c:pt>
                <c:pt idx="2">
                  <c:v>34</c:v>
                </c:pt>
                <c:pt idx="3">
                  <c:v>34</c:v>
                </c:pt>
                <c:pt idx="4">
                  <c:v>34</c:v>
                </c:pt>
                <c:pt idx="5">
                  <c:v>33</c:v>
                </c:pt>
                <c:pt idx="6">
                  <c:v>33</c:v>
                </c:pt>
                <c:pt idx="7">
                  <c:v>33</c:v>
                </c:pt>
                <c:pt idx="8">
                  <c:v>33</c:v>
                </c:pt>
                <c:pt idx="9">
                  <c:v>33</c:v>
                </c:pt>
                <c:pt idx="10">
                  <c:v>33</c:v>
                </c:pt>
                <c:pt idx="11">
                  <c:v>28</c:v>
                </c:pt>
                <c:pt idx="12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CA-4796-A8A5-4DF2AF560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2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com data de validade (doc1) inválida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data de validade (doc1) inválida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365698</c:v>
                </c:pt>
                <c:pt idx="1">
                  <c:v>362581</c:v>
                </c:pt>
                <c:pt idx="2">
                  <c:v>359735</c:v>
                </c:pt>
                <c:pt idx="3">
                  <c:v>358219</c:v>
                </c:pt>
                <c:pt idx="4">
                  <c:v>356254</c:v>
                </c:pt>
                <c:pt idx="5">
                  <c:v>355529</c:v>
                </c:pt>
                <c:pt idx="6">
                  <c:v>355153</c:v>
                </c:pt>
                <c:pt idx="7">
                  <c:v>354071</c:v>
                </c:pt>
                <c:pt idx="8">
                  <c:v>353459</c:v>
                </c:pt>
                <c:pt idx="9">
                  <c:v>352638</c:v>
                </c:pt>
                <c:pt idx="10">
                  <c:v>350814</c:v>
                </c:pt>
                <c:pt idx="11">
                  <c:v>346214</c:v>
                </c:pt>
                <c:pt idx="12">
                  <c:v>345404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DB-4B91-ABC6-A7863BA80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34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dirty="0"/>
              <a:t>Clientes sem Identificador Externo (Doc1 e Doc2) ou em formato incorreto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sem Identificador Externo (Doc1 e Doc2) ou em formato incorreto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Sheet1!$A$12:$A$24</c:f>
              <c:numCache>
                <c:formatCode>mmm\-yy</c:formatCode>
                <c:ptCount val="13"/>
                <c:pt idx="0">
                  <c:v>44621</c:v>
                </c:pt>
                <c:pt idx="1">
                  <c:v>44652</c:v>
                </c:pt>
                <c:pt idx="2">
                  <c:v>44682</c:v>
                </c:pt>
                <c:pt idx="3">
                  <c:v>44713</c:v>
                </c:pt>
                <c:pt idx="4">
                  <c:v>44743</c:v>
                </c:pt>
                <c:pt idx="5">
                  <c:v>44774</c:v>
                </c:pt>
                <c:pt idx="6">
                  <c:v>44805</c:v>
                </c:pt>
                <c:pt idx="7">
                  <c:v>44835</c:v>
                </c:pt>
                <c:pt idx="8">
                  <c:v>44866</c:v>
                </c:pt>
                <c:pt idx="9">
                  <c:v>44896</c:v>
                </c:pt>
                <c:pt idx="10">
                  <c:v>44927</c:v>
                </c:pt>
                <c:pt idx="11">
                  <c:v>44958</c:v>
                </c:pt>
                <c:pt idx="12">
                  <c:v>44986</c:v>
                </c:pt>
              </c:numCache>
            </c:numRef>
          </c:cat>
          <c:val>
            <c:numRef>
              <c:f>Sheet1!$B$12:$B$24</c:f>
              <c:numCache>
                <c:formatCode>General</c:formatCode>
                <c:ptCount val="13"/>
                <c:pt idx="0">
                  <c:v>312</c:v>
                </c:pt>
                <c:pt idx="1">
                  <c:v>309</c:v>
                </c:pt>
                <c:pt idx="2">
                  <c:v>319</c:v>
                </c:pt>
                <c:pt idx="3">
                  <c:v>318</c:v>
                </c:pt>
                <c:pt idx="4">
                  <c:v>309</c:v>
                </c:pt>
                <c:pt idx="5">
                  <c:v>292</c:v>
                </c:pt>
                <c:pt idx="6">
                  <c:v>290</c:v>
                </c:pt>
                <c:pt idx="7">
                  <c:v>285</c:v>
                </c:pt>
                <c:pt idx="8">
                  <c:v>285</c:v>
                </c:pt>
                <c:pt idx="9">
                  <c:v>280</c:v>
                </c:pt>
                <c:pt idx="10">
                  <c:v>278</c:v>
                </c:pt>
                <c:pt idx="11">
                  <c:v>283</c:v>
                </c:pt>
                <c:pt idx="12">
                  <c:v>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76-4CB2-8500-142DBE230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in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/>
              <a:t>Clientes colectivos no mesmo zcligrupo com data constituição distinta</a:t>
            </a:r>
            <a:endParaRPr lang="pt-PT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colectivos no mesmo zcligrupo com data constituição distinta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504</c:v>
                </c:pt>
                <c:pt idx="1">
                  <c:v>78</c:v>
                </c:pt>
                <c:pt idx="2">
                  <c:v>10</c:v>
                </c:pt>
                <c:pt idx="3">
                  <c:v>18</c:v>
                </c:pt>
                <c:pt idx="4">
                  <c:v>39</c:v>
                </c:pt>
                <c:pt idx="5">
                  <c:v>48</c:v>
                </c:pt>
                <c:pt idx="6">
                  <c:v>59</c:v>
                </c:pt>
                <c:pt idx="7">
                  <c:v>69</c:v>
                </c:pt>
                <c:pt idx="8">
                  <c:v>73</c:v>
                </c:pt>
                <c:pt idx="9">
                  <c:v>80</c:v>
                </c:pt>
                <c:pt idx="10">
                  <c:v>93</c:v>
                </c:pt>
                <c:pt idx="11">
                  <c:v>92</c:v>
                </c:pt>
                <c:pt idx="12">
                  <c:v>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A8-41C3-95A3-206059636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5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100"/>
        <c:min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b="0" i="0" u="none" strike="noStrike" baseline="0" dirty="0">
                <a:effectLst/>
              </a:rPr>
              <a:t>Clientes com código postal fora de catálogo (4 digitos comparados contra catálogo)  - morada fiscal</a:t>
            </a:r>
            <a:r>
              <a:rPr lang="pt-PT" sz="700" b="0" i="0" u="none" strike="noStrike" baseline="0" dirty="0"/>
              <a:t> </a:t>
            </a:r>
            <a:endParaRPr lang="pt-PT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sem Cliente Relação associado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1701</c:v>
                </c:pt>
                <c:pt idx="1">
                  <c:v>1644</c:v>
                </c:pt>
                <c:pt idx="2">
                  <c:v>1630</c:v>
                </c:pt>
                <c:pt idx="3">
                  <c:v>1614</c:v>
                </c:pt>
                <c:pt idx="4">
                  <c:v>1594</c:v>
                </c:pt>
                <c:pt idx="5">
                  <c:v>1574</c:v>
                </c:pt>
                <c:pt idx="6">
                  <c:v>1565</c:v>
                </c:pt>
                <c:pt idx="7">
                  <c:v>1553</c:v>
                </c:pt>
                <c:pt idx="8">
                  <c:v>1546</c:v>
                </c:pt>
                <c:pt idx="9">
                  <c:v>1544</c:v>
                </c:pt>
                <c:pt idx="10">
                  <c:v>1544</c:v>
                </c:pt>
                <c:pt idx="11">
                  <c:v>1528</c:v>
                </c:pt>
                <c:pt idx="12">
                  <c:v>1520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80-41A5-9435-B0A841B67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1800"/>
          <c:min val="1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b="0" i="0" u="none" strike="noStrike" baseline="0" dirty="0">
                <a:effectLst/>
              </a:rPr>
              <a:t>Clientes com mais de um Grupo Económico</a:t>
            </a:r>
            <a:r>
              <a:rPr lang="pt-PT" sz="700" b="0" i="0" u="none" strike="noStrike" baseline="0" dirty="0"/>
              <a:t> </a:t>
            </a:r>
            <a:endParaRPr lang="pt-PT" sz="700" dirty="0"/>
          </a:p>
        </c:rich>
      </c:tx>
      <c:layout>
        <c:manualLayout>
          <c:xMode val="edge"/>
          <c:yMode val="edge"/>
          <c:x val="0.16998207885304659"/>
          <c:y val="9.51957567255427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Documento Fiscal (Doc2) associado a diferentes Números de Cliente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135</c:v>
                </c:pt>
                <c:pt idx="1">
                  <c:v>210</c:v>
                </c:pt>
                <c:pt idx="2">
                  <c:v>205</c:v>
                </c:pt>
                <c:pt idx="3">
                  <c:v>203</c:v>
                </c:pt>
                <c:pt idx="4">
                  <c:v>201</c:v>
                </c:pt>
                <c:pt idx="5">
                  <c:v>201</c:v>
                </c:pt>
                <c:pt idx="6">
                  <c:v>144</c:v>
                </c:pt>
                <c:pt idx="7">
                  <c:v>145</c:v>
                </c:pt>
                <c:pt idx="8">
                  <c:v>145</c:v>
                </c:pt>
                <c:pt idx="9">
                  <c:v>145</c:v>
                </c:pt>
                <c:pt idx="10">
                  <c:v>144</c:v>
                </c:pt>
                <c:pt idx="11">
                  <c:v>142</c:v>
                </c:pt>
                <c:pt idx="12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D1-4D89-B71B-98052DF94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25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7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700" b="0" i="0" u="none" strike="noStrike" baseline="0" dirty="0">
                <a:effectLst/>
              </a:rPr>
              <a:t>Clientes com morada com formato errado</a:t>
            </a:r>
            <a:r>
              <a:rPr lang="pt-PT" sz="700" b="0" i="0" u="none" strike="noStrike" baseline="0" dirty="0"/>
              <a:t> </a:t>
            </a:r>
            <a:endParaRPr lang="pt-PT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com Documento Identificador (Doc1) associado a diferentes Números de Cliente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Sheet1!$A$13:$A$25</c:f>
              <c:numCache>
                <c:formatCode>mmm\-yy</c:formatCode>
                <c:ptCount val="13"/>
                <c:pt idx="0">
                  <c:v>44652</c:v>
                </c:pt>
                <c:pt idx="1">
                  <c:v>44682</c:v>
                </c:pt>
                <c:pt idx="2">
                  <c:v>44713</c:v>
                </c:pt>
                <c:pt idx="3">
                  <c:v>44743</c:v>
                </c:pt>
                <c:pt idx="4">
                  <c:v>44774</c:v>
                </c:pt>
                <c:pt idx="5">
                  <c:v>44805</c:v>
                </c:pt>
                <c:pt idx="6">
                  <c:v>44835</c:v>
                </c:pt>
                <c:pt idx="7">
                  <c:v>44866</c:v>
                </c:pt>
                <c:pt idx="8">
                  <c:v>44896</c:v>
                </c:pt>
                <c:pt idx="9">
                  <c:v>44927</c:v>
                </c:pt>
                <c:pt idx="10">
                  <c:v>44958</c:v>
                </c:pt>
                <c:pt idx="11">
                  <c:v>44986</c:v>
                </c:pt>
                <c:pt idx="12">
                  <c:v>45017</c:v>
                </c:pt>
              </c:numCache>
            </c:numRef>
          </c:cat>
          <c:val>
            <c:numRef>
              <c:f>Sheet1!$B$13:$B$25</c:f>
              <c:numCache>
                <c:formatCode>General</c:formatCode>
                <c:ptCount val="13"/>
                <c:pt idx="0">
                  <c:v>23679</c:v>
                </c:pt>
                <c:pt idx="1">
                  <c:v>22404</c:v>
                </c:pt>
                <c:pt idx="2">
                  <c:v>22272</c:v>
                </c:pt>
                <c:pt idx="3">
                  <c:v>22121</c:v>
                </c:pt>
                <c:pt idx="4">
                  <c:v>22003</c:v>
                </c:pt>
                <c:pt idx="5">
                  <c:v>21963</c:v>
                </c:pt>
                <c:pt idx="6">
                  <c:v>21912</c:v>
                </c:pt>
                <c:pt idx="7">
                  <c:v>21820</c:v>
                </c:pt>
                <c:pt idx="8">
                  <c:v>21760</c:v>
                </c:pt>
                <c:pt idx="9">
                  <c:v>21670</c:v>
                </c:pt>
                <c:pt idx="10">
                  <c:v>21605</c:v>
                </c:pt>
                <c:pt idx="11">
                  <c:v>21232</c:v>
                </c:pt>
                <c:pt idx="12">
                  <c:v>21171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8A-432C-AB68-E41D5EEF9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051104"/>
        <c:axId val="1964048608"/>
      </c:lineChart>
      <c:dateAx>
        <c:axId val="19640511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48608"/>
        <c:crosses val="autoZero"/>
        <c:auto val="1"/>
        <c:lblOffset val="100"/>
        <c:baseTimeUnit val="months"/>
      </c:dateAx>
      <c:valAx>
        <c:axId val="1964048608"/>
        <c:scaling>
          <c:orientation val="minMax"/>
          <c:max val="25000"/>
          <c:min val="2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6405110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pt-PT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Janeiro 22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21</c:v>
                </c:pt>
                <c:pt idx="2">
                  <c:v>5</c:v>
                </c:pt>
                <c:pt idx="3">
                  <c:v>13</c:v>
                </c:pt>
                <c:pt idx="4">
                  <c:v>11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E-4D39-871B-E5A4D3E57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Janeiro 22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2E-4D39-871B-E5A4D3E57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Janeiro 22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12</c:v>
                </c:pt>
                <c:pt idx="3">
                  <c:v>9</c:v>
                </c:pt>
                <c:pt idx="4">
                  <c:v>11</c:v>
                </c:pt>
                <c:pt idx="5">
                  <c:v>12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2E-4D39-871B-E5A4D3E57F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Janeiro 22
(Mês inicial)</c:v>
                </c:pt>
                <c:pt idx="1">
                  <c:v>Abril 22
(Mês Homólogo)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97</c:v>
                </c:pt>
                <c:pt idx="1">
                  <c:v>117</c:v>
                </c:pt>
                <c:pt idx="2">
                  <c:v>146</c:v>
                </c:pt>
                <c:pt idx="3">
                  <c:v>141</c:v>
                </c:pt>
                <c:pt idx="4">
                  <c:v>140</c:v>
                </c:pt>
                <c:pt idx="5">
                  <c:v>141</c:v>
                </c:pt>
                <c:pt idx="6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2E-4D39-871B-E5A4D3E57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
                 </c:v>
                </c:pt>
                <c:pt idx="1">
                  <c:v>Maio 21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C-499A-9413-4AE1403BC3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
                 </c:v>
                </c:pt>
                <c:pt idx="1">
                  <c:v>Maio 21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C-499A-9413-4AE1403BC3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
                 </c:v>
                </c:pt>
                <c:pt idx="1">
                  <c:v>Maio 21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C-499A-9413-4AE1403BC3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
                 </c:v>
                </c:pt>
                <c:pt idx="1">
                  <c:v>Maio 21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34</c:v>
                </c:pt>
                <c:pt idx="2">
                  <c:v>37</c:v>
                </c:pt>
                <c:pt idx="3">
                  <c:v>39</c:v>
                </c:pt>
                <c:pt idx="4">
                  <c:v>41</c:v>
                </c:pt>
                <c:pt idx="5">
                  <c:v>41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9C-499A-9413-4AE1403BC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0A-4D32-98C2-C503A44574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0A-4D32-98C2-C503A44574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0A-4D32-98C2-C503A44574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61</c:v>
                </c:pt>
                <c:pt idx="2">
                  <c:v>69</c:v>
                </c:pt>
                <c:pt idx="3">
                  <c:v>86</c:v>
                </c:pt>
                <c:pt idx="4">
                  <c:v>97</c:v>
                </c:pt>
                <c:pt idx="5">
                  <c:v>95</c:v>
                </c:pt>
                <c:pt idx="6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9-45CD-BD0E-6C9BB7F27B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8796199190568365E-2"/>
          <c:y val="0.19405502979673647"/>
          <c:w val="0.93332591940876297"/>
          <c:h val="0.5962697748093143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Novembro 22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0A-4D32-98C2-C503A44574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Novembro 22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0A-4D32-98C2-C503A44574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Novembro 22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0A-4D32-98C2-C503A44574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Novembro 22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0A-4D32-98C2-C503A445746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Novembro 22
(Mês Inicial)</c:v>
                </c:pt>
                <c:pt idx="2">
                  <c:v>Dezembro 22</c:v>
                </c:pt>
                <c:pt idx="3">
                  <c:v>Janeiro 23</c:v>
                </c:pt>
                <c:pt idx="4">
                  <c:v>Fevereiro 23</c:v>
                </c:pt>
                <c:pt idx="5">
                  <c:v>Março 23</c:v>
                </c:pt>
                <c:pt idx="6">
                  <c:v>Abril 23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F5-4378-A7FC-114554FF4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7"/>
                <c:pt idx="1">
                  <c:v>Março 22
(Mês inicial)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E-4D39-871B-E5A4D3E57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7"/>
                <c:pt idx="1">
                  <c:v>Março 22
(Mês inicial)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2E-4D39-871B-E5A4D3E57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7"/>
                <c:pt idx="1">
                  <c:v>Março 22
(Mês inicial)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2E-4D39-871B-E5A4D3E57F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7"/>
                <c:pt idx="1">
                  <c:v>Março 22
(Mês inicial)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103</c:v>
                </c:pt>
                <c:pt idx="2">
                  <c:v>103</c:v>
                </c:pt>
                <c:pt idx="3">
                  <c:v>102</c:v>
                </c:pt>
                <c:pt idx="4">
                  <c:v>103</c:v>
                </c:pt>
                <c:pt idx="5">
                  <c:v>103</c:v>
                </c:pt>
                <c:pt idx="6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2E-4D39-871B-E5A4D3E57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4807424"/>
        <c:axId val="674803896"/>
      </c:barChart>
      <c:catAx>
        <c:axId val="67480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674803896"/>
        <c:crosses val="autoZero"/>
        <c:auto val="1"/>
        <c:lblAlgn val="ctr"/>
        <c:lblOffset val="100"/>
        <c:noMultiLvlLbl val="0"/>
      </c:catAx>
      <c:valAx>
        <c:axId val="674803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67480742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Junho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6</c:v>
                </c:pt>
                <c:pt idx="2">
                  <c:v>2</c:v>
                </c:pt>
                <c:pt idx="3">
                  <c:v>11</c:v>
                </c:pt>
                <c:pt idx="4">
                  <c:v>12</c:v>
                </c:pt>
                <c:pt idx="5">
                  <c:v>11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41-4AC9-BE7D-99EF1BA88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Junho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5</c:v>
                </c:pt>
                <c:pt idx="4">
                  <c:v>3</c:v>
                </c:pt>
                <c:pt idx="5">
                  <c:v>8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41-4AC9-BE7D-99EF1BA88F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Junho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41-4AC9-BE7D-99EF1BA88F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Junho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146</c:v>
                </c:pt>
                <c:pt idx="1">
                  <c:v>203</c:v>
                </c:pt>
                <c:pt idx="2">
                  <c:v>200</c:v>
                </c:pt>
                <c:pt idx="3">
                  <c:v>185</c:v>
                </c:pt>
                <c:pt idx="4">
                  <c:v>183</c:v>
                </c:pt>
                <c:pt idx="5">
                  <c:v>185</c:v>
                </c:pt>
                <c:pt idx="6">
                  <c:v>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A41-4AC9-BE7D-99EF1BA88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Março 22
(Mês inical)</c:v>
                </c:pt>
                <c:pt idx="2">
                  <c:v>Outubro 22</c:v>
                </c:pt>
                <c:pt idx="3">
                  <c:v>Novembro 22</c:v>
                </c:pt>
                <c:pt idx="4">
                  <c:v>Dezembro 22</c:v>
                </c:pt>
                <c:pt idx="5">
                  <c:v>Janeiro 23</c:v>
                </c:pt>
                <c:pt idx="6">
                  <c:v>Fevereiro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0</c:v>
                </c:pt>
                <c:pt idx="2">
                  <c:v>8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66-46FB-936A-0492580381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Março 22
(Mês inical)</c:v>
                </c:pt>
                <c:pt idx="2">
                  <c:v>Outubro 22</c:v>
                </c:pt>
                <c:pt idx="3">
                  <c:v>Novembro 22</c:v>
                </c:pt>
                <c:pt idx="4">
                  <c:v>Dezembro 22</c:v>
                </c:pt>
                <c:pt idx="5">
                  <c:v>Janeiro 23</c:v>
                </c:pt>
                <c:pt idx="6">
                  <c:v>Fevereiro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66-46FB-936A-0492580381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Março 22
(Mês inical)</c:v>
                </c:pt>
                <c:pt idx="2">
                  <c:v>Outubro 22</c:v>
                </c:pt>
                <c:pt idx="3">
                  <c:v>Novembro 22</c:v>
                </c:pt>
                <c:pt idx="4">
                  <c:v>Dezembro 22</c:v>
                </c:pt>
                <c:pt idx="5">
                  <c:v>Janeiro 23</c:v>
                </c:pt>
                <c:pt idx="6">
                  <c:v>Fevereiro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66-46FB-936A-0492580381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1">
                  <c:v>Março 22
(Mês inical)</c:v>
                </c:pt>
                <c:pt idx="2">
                  <c:v>Outubro 22</c:v>
                </c:pt>
                <c:pt idx="3">
                  <c:v>Novembro 22</c:v>
                </c:pt>
                <c:pt idx="4">
                  <c:v>Dezembro 22</c:v>
                </c:pt>
                <c:pt idx="5">
                  <c:v>Janeiro 23</c:v>
                </c:pt>
                <c:pt idx="6">
                  <c:v>Fevereiro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14</c:v>
                </c:pt>
                <c:pt idx="2">
                  <c:v>26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66-46FB-936A-049258038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0A-4D32-98C2-C503A44574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0A-4D32-98C2-C503A44574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0A-4D32-98C2-C503A44574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Setembro 21
(Mês inicial)</c:v>
                </c:pt>
                <c:pt idx="1">
                  <c:v>Março 22
(Mês homólogo)</c:v>
                </c:pt>
                <c:pt idx="2">
                  <c:v>Novembro 22</c:v>
                </c:pt>
                <c:pt idx="3">
                  <c:v>Dezembro 22</c:v>
                </c:pt>
                <c:pt idx="4">
                  <c:v>Janeiro 23</c:v>
                </c:pt>
                <c:pt idx="5">
                  <c:v>Fevereiro 23</c:v>
                </c:pt>
                <c:pt idx="6">
                  <c:v>Março 23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63</c:v>
                </c:pt>
                <c:pt idx="1">
                  <c:v>87</c:v>
                </c:pt>
                <c:pt idx="2">
                  <c:v>92</c:v>
                </c:pt>
                <c:pt idx="3">
                  <c:v>93</c:v>
                </c:pt>
                <c:pt idx="4">
                  <c:v>91</c:v>
                </c:pt>
                <c:pt idx="5">
                  <c:v>93</c:v>
                </c:pt>
                <c:pt idx="6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9-45CD-BD0E-6C9BB7F27B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[Indicadores_Dados.xlsx]Indicadores!$B$6</c:f>
              <c:strCache>
                <c:ptCount val="1"/>
                <c:pt idx="0">
                  <c:v>MÉTRICAS S/ ATRIBUTOS MÍNIMOS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[Indicadores_Dados.xlsx]Indicadores!$E$6:$G$6</c:f>
              <c:numCache>
                <c:formatCode>0.00%</c:formatCode>
                <c:ptCount val="3"/>
                <c:pt idx="0">
                  <c:v>3.5315985130111527E-2</c:v>
                </c:pt>
                <c:pt idx="1">
                  <c:v>3.3519553072625698E-2</c:v>
                </c:pt>
                <c:pt idx="2">
                  <c:v>8.0413555427914993E-2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FD-4FC9-8F6A-AEE748AD750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06593296"/>
        <c:axId val="1406595792"/>
      </c:line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0.1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  <c:majorUnit val="2.0000000000000004E-2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1" i="0" u="none" strike="noStrike" kern="1200" cap="small" spc="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pt-PT" b="1" cap="small" baseline="0"/>
              <a:t>Visão Com vs Sem Proprietário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1" i="0" u="none" strike="noStrike" kern="1200" cap="small" spc="0" baseline="0">
              <a:solidFill>
                <a:sysClr val="windowText" lastClr="000000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c/ Proprietário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[Indicadores_Dados.xlsx]Indicadores!$E$9:$G$9</c:f>
              <c:numCache>
                <c:formatCode>0.00%</c:formatCode>
                <c:ptCount val="3"/>
                <c:pt idx="0">
                  <c:v>7.4349442379182153E-3</c:v>
                </c:pt>
                <c:pt idx="1">
                  <c:v>7.4487895716945996E-3</c:v>
                </c:pt>
                <c:pt idx="2">
                  <c:v>9.190120620333142E-3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0C-4EDF-9418-FA42115F6C76}"/>
            </c:ext>
          </c:extLst>
        </c:ser>
        <c:ser>
          <c:idx val="1"/>
          <c:order val="1"/>
          <c:tx>
            <c:v>s/ Proprietário</c:v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[Indicadores_Dados.xlsx]Indicadores!$E$11:$G$11</c:f>
              <c:numCache>
                <c:formatCode>0.00%</c:formatCode>
                <c:ptCount val="3"/>
                <c:pt idx="0">
                  <c:v>2.7881040892193308E-2</c:v>
                </c:pt>
                <c:pt idx="1">
                  <c:v>2.6070763500931099E-2</c:v>
                </c:pt>
                <c:pt idx="2">
                  <c:v>7.1223434807581851E-2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0C-4EDF-9418-FA42115F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406593296"/>
        <c:axId val="1406595792"/>
      </c:bar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5.000000000000001E-2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  <c:majorUnit val="1.0000000000000002E-2"/>
        <c:minorUnit val="5.000000000000001E-3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[Indicadores_Dados.xlsx]Indicadores!$D$13</c:f>
              <c:strCache>
                <c:ptCount val="1"/>
                <c:pt idx="0">
                  <c:v>Global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[Indicadores_Dados.xlsx]Indicadores!$E$13:$G$13</c:f>
              <c:numCache>
                <c:formatCode>0.00%</c:formatCode>
                <c:ptCount val="3"/>
                <c:pt idx="0">
                  <c:v>0.22439405785770133</c:v>
                </c:pt>
                <c:pt idx="1">
                  <c:v>0.23981191222570533</c:v>
                </c:pt>
                <c:pt idx="2">
                  <c:v>0.17238860482103727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03-4599-B522-CC8646F72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06593296"/>
        <c:axId val="1406595792"/>
      </c:line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0.30000000000000004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  <c:majorUnit val="5.000000000000001E-2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1" i="0" u="none" strike="noStrike" kern="1200" cap="small" spc="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r>
              <a:rPr lang="pt-PT" b="1" cap="small" baseline="0"/>
              <a:t>Visão Com vs Sem Proprietário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1" i="0" u="none" strike="noStrike" kern="1200" cap="small" spc="0" baseline="0">
              <a:solidFill>
                <a:sysClr val="windowText" lastClr="000000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c/ Proprietário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[Indicadores_Dados.xlsx]Indicadores!$E$5:$G$5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[Indicadores_Dados.xlsx]Indicadores!$E$16:$G$16</c:f>
              <c:numCache>
                <c:formatCode>0.00%</c:formatCode>
                <c:ptCount val="3"/>
                <c:pt idx="0">
                  <c:v>0.19546520719311963</c:v>
                </c:pt>
                <c:pt idx="1">
                  <c:v>0.20846394984326019</c:v>
                </c:pt>
                <c:pt idx="2">
                  <c:v>8.3272461650840027E-2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9-4355-8B2B-5000AAC958C8}"/>
            </c:ext>
          </c:extLst>
        </c:ser>
        <c:ser>
          <c:idx val="1"/>
          <c:order val="1"/>
          <c:tx>
            <c:v>s/ Proprietário</c:v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[Indicadores_Dados.xlsx]Indicadores!$E$18:$G$18</c:f>
              <c:numCache>
                <c:formatCode>0.00%</c:formatCode>
                <c:ptCount val="3"/>
                <c:pt idx="0">
                  <c:v>2.8928850664581705E-2</c:v>
                </c:pt>
                <c:pt idx="1">
                  <c:v>3.1347962382445138E-2</c:v>
                </c:pt>
                <c:pt idx="2">
                  <c:v>8.9116143170197226E-2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49-4355-8B2B-5000AAC958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406593296"/>
        <c:axId val="1406595792"/>
      </c:bar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0.25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  <c:majorUnit val="5.000000000000001E-2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'[Indicador_Architecture.xlsx]TABELAS INVENTÁRIO'!$B$8:$C$8</c:f>
              <c:strCache>
                <c:ptCount val="2"/>
                <c:pt idx="0">
                  <c:v>TOTAL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12700">
              <a:solidFill>
                <a:schemeClr val="bg2">
                  <a:lumMod val="90000"/>
                </a:schemeClr>
              </a:solidFill>
              <a:prstDash val="dash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'[Indicador_Architecture.xlsx]TABELAS INVENTÁRIO'!$D$5:$F$5</c:f>
              <c:strCache>
                <c:ptCount val="3"/>
                <c:pt idx="0">
                  <c:v>FEV.23</c:v>
                </c:pt>
                <c:pt idx="1">
                  <c:v>MAR.23</c:v>
                </c:pt>
                <c:pt idx="2">
                  <c:v>ABR.23</c:v>
                </c:pt>
              </c:strCache>
            </c:strRef>
          </c:cat>
          <c:val>
            <c:numRef>
              <c:f>'[Indicador_Architecture.xlsx]TABELAS INVENTÁRIO'!$D$8:$F$8</c:f>
              <c:numCache>
                <c:formatCode>General</c:formatCode>
                <c:ptCount val="3"/>
                <c:pt idx="0">
                  <c:v>10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C7-4845-8A39-B1D641AE2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1622272"/>
        <c:axId val="1621619360"/>
      </c:barChart>
      <c:lineChart>
        <c:grouping val="stacked"/>
        <c:varyColors val="0"/>
        <c:ser>
          <c:idx val="0"/>
          <c:order val="0"/>
          <c:tx>
            <c:strRef>
              <c:f>'[Indicador_Architecture.xlsx]TABELAS INVENTÁRIO'!$B$11</c:f>
              <c:strCache>
                <c:ptCount val="1"/>
                <c:pt idx="0">
                  <c:v>INGESTAS NÃO INVENTARIADAS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'[Indicador_Architecture.xlsx]TABELAS INVENTÁRIO'!$D$5:$F$5</c:f>
              <c:strCache>
                <c:ptCount val="3"/>
                <c:pt idx="0">
                  <c:v>FEV.23</c:v>
                </c:pt>
                <c:pt idx="1">
                  <c:v>MAR.23</c:v>
                </c:pt>
                <c:pt idx="2">
                  <c:v>ABR.23</c:v>
                </c:pt>
              </c:strCache>
            </c:strRef>
          </c:cat>
          <c:val>
            <c:numRef>
              <c:f>'[Indicador_Architecture.xlsx]TABELAS INVENTÁRIO'!$C$11:$E$11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C7-4845-8A39-B1D641AE2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06593296"/>
        <c:axId val="1406595792"/>
      </c:line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1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  <c:majorUnit val="0.2"/>
      </c:valAx>
      <c:valAx>
        <c:axId val="16216193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621622272"/>
        <c:crosses val="max"/>
        <c:crossBetween val="between"/>
      </c:valAx>
      <c:catAx>
        <c:axId val="1621622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21619360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'[Indicador_Architecture.xlsx]ATRIBUTOS MIN INVENTÁRIO'!$B$9</c:f>
              <c:strCache>
                <c:ptCount val="1"/>
                <c:pt idx="0">
                  <c:v>UNIVERSO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12700">
              <a:solidFill>
                <a:schemeClr val="bg2"/>
              </a:solidFill>
              <a:prstDash val="dash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'[Indicador_Architecture.xlsx]ATRIBUTOS MIN INVENTÁRIO'!$C$6:$E$6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'[Indicador_Architecture.xlsx]ATRIBUTOS MIN INVENTÁRIO'!$C$9:$E$9</c:f>
              <c:numCache>
                <c:formatCode>0</c:formatCode>
                <c:ptCount val="3"/>
                <c:pt idx="0">
                  <c:v>2210</c:v>
                </c:pt>
                <c:pt idx="1">
                  <c:v>2230</c:v>
                </c:pt>
                <c:pt idx="2">
                  <c:v>2250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D0-499E-9681-AA52D9901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8696384"/>
        <c:axId val="138708448"/>
      </c:barChart>
      <c:lineChart>
        <c:grouping val="stacked"/>
        <c:varyColors val="0"/>
        <c:ser>
          <c:idx val="0"/>
          <c:order val="0"/>
          <c:tx>
            <c:strRef>
              <c:f>'[Indicador_Architecture.xlsx]ATRIBUTOS MIN INVENTÁRIO'!$B$7</c:f>
              <c:strCache>
                <c:ptCount val="1"/>
                <c:pt idx="0">
                  <c:v>ATRIBUTOS MÍNIMOS EM FALTA NO INVENTÁRIO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1"/>
              </a:solidFill>
              <a:ln w="9525" cap="rnd">
                <a:solidFill>
                  <a:schemeClr val="accent1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'[Indicador_Architecture.xlsx]ATRIBUTOS MIN INVENTÁRIO'!$C$6:$E$6</c:f>
              <c:strCache>
                <c:ptCount val="3"/>
                <c:pt idx="0">
                  <c:v>MAR.23</c:v>
                </c:pt>
                <c:pt idx="1">
                  <c:v>ABR.23</c:v>
                </c:pt>
                <c:pt idx="2">
                  <c:v>MAI.23</c:v>
                </c:pt>
              </c:strCache>
            </c:strRef>
          </c:cat>
          <c:val>
            <c:numRef>
              <c:f>'[Indicador_Architecture.xlsx]ATRIBUTOS MIN INVENTÁRIO'!$C$10:$E$10</c:f>
              <c:numCache>
                <c:formatCode>0.00%</c:formatCode>
                <c:ptCount val="3"/>
                <c:pt idx="0">
                  <c:v>0.11764705882352941</c:v>
                </c:pt>
                <c:pt idx="1">
                  <c:v>0.11973094170403588</c:v>
                </c:pt>
                <c:pt idx="2">
                  <c:v>0.12044444444444445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7D0-499E-9681-AA52D99015E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06593296"/>
        <c:axId val="1406595792"/>
      </c:lineChart>
      <c:catAx>
        <c:axId val="140659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5792"/>
        <c:crosses val="autoZero"/>
        <c:auto val="1"/>
        <c:lblAlgn val="ctr"/>
        <c:lblOffset val="100"/>
        <c:noMultiLvlLbl val="0"/>
      </c:catAx>
      <c:valAx>
        <c:axId val="1406595792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406593296"/>
        <c:crosses val="autoZero"/>
        <c:crossBetween val="between"/>
      </c:valAx>
      <c:valAx>
        <c:axId val="138708448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138696384"/>
        <c:crosses val="max"/>
        <c:crossBetween val="between"/>
      </c:valAx>
      <c:catAx>
        <c:axId val="1386963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8708448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prstDash val="dash"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Santander Text" panose="020B0504020201020104" pitchFamily="34" charset="0"/>
        </a:defRPr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0.13047</cdr:x>
      <cdr:y>0.68054</cdr:y>
    </cdr:from>
    <cdr:to>
      <cdr:x>0.22639</cdr:x>
      <cdr:y>0.77904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AB36A513-AA80-4EA0-894D-B1A1C10685CE}"/>
            </a:ext>
          </a:extLst>
        </cdr:cNvPr>
        <cdr:cNvSpPr/>
      </cdr:nvSpPr>
      <cdr:spPr>
        <a:xfrm xmlns:a="http://schemas.openxmlformats.org/drawingml/2006/main">
          <a:off x="926831" y="1618869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189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377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566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754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5943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131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320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509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10 (9%) 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0.25783</cdr:x>
      <cdr:y>0.69107</cdr:y>
    </cdr:from>
    <cdr:to>
      <cdr:x>0.35375</cdr:x>
      <cdr:y>0.78956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4A61B9C1-7B97-46CD-8226-E9048CCC1254}"/>
            </a:ext>
          </a:extLst>
        </cdr:cNvPr>
        <cdr:cNvSpPr/>
      </cdr:nvSpPr>
      <cdr:spPr>
        <a:xfrm xmlns:a="http://schemas.openxmlformats.org/drawingml/2006/main">
          <a:off x="1831562" y="1643907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189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377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566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754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5943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131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320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509" algn="l" defTabSz="914377" rtl="0" eaLnBrk="1" latinLnBrk="0" hangingPunct="1">
            <a:defRPr sz="19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5 (7%)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00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75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04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956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371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483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endParaRPr lang="pt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399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endParaRPr lang="pt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210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endParaRPr lang="pt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289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229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560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120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292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961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362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254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396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181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16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674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8655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148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999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0757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459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2986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0367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1557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0549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9439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2690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2690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05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9.jpeg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09"/>
            <a:ext cx="5296867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7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46125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300" b="0" i="0" u="none" strike="noStrike" kern="1200" cap="none" spc="0" normalizeH="0" baseline="0" noProof="0" smtClean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ES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8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6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A890-D139-EA75-E94F-8808E084B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6E7A8-5995-EAFD-21DC-E7C8C5823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0216-93C3-56DC-F009-D33459FE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70771-2080-46D6-A757-1E4F55861D20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76EFE-4D12-A8A0-D626-D940363E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9C4DB-1076-9DAE-23BC-8801B38A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7DF04-03CD-4DCC-8781-2937C5B5E84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848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9" y="1087719"/>
            <a:ext cx="10757333" cy="1823433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1" y="3094290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28007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6989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51659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139225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4654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17327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140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15796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44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79709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303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 dirty="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 dirty="0">
              <a:solidFill>
                <a:schemeClr val="tx2"/>
              </a:solidFill>
            </a:endParaRPr>
          </a:p>
          <a:p>
            <a:r>
              <a:rPr lang="pt-PT" sz="1400" dirty="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 dirty="0">
                <a:solidFill>
                  <a:schemeClr val="tx2"/>
                </a:solidFill>
              </a:rPr>
              <a:t> </a:t>
            </a:r>
            <a:r>
              <a:rPr lang="pt-PT" sz="1400" dirty="0">
                <a:solidFill>
                  <a:schemeClr val="tx2"/>
                </a:solidFill>
              </a:rPr>
              <a:t>de que tudo</a:t>
            </a:r>
            <a:r>
              <a:rPr lang="pt-PT" sz="1400" baseline="0" dirty="0">
                <a:solidFill>
                  <a:schemeClr val="tx2"/>
                </a:solidFill>
              </a:rPr>
              <a:t> o </a:t>
            </a:r>
            <a:r>
              <a:rPr lang="pt-PT" sz="1400" dirty="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 dirty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8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0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2461-12AF-4CAB-AA6A-C0E2C17B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CB9C-9808-45D7-B3D6-A30CB78B6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4C28-0ED4-432A-A8AF-8C1683A3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F261CE-1FDC-4F69-B8F5-C808F5492F6D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20/12/2023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F14B-7EFF-4532-A969-14B359C2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741DB-1676-49FA-BD83-D46A469A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EA7576-902F-478B-9754-F5247BAC7AFF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108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6" y="2722782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52" indent="0" algn="ctr">
              <a:buNone/>
              <a:defRPr sz="2000"/>
            </a:lvl2pPr>
            <a:lvl3pPr marL="914103" indent="0" algn="ctr">
              <a:buNone/>
              <a:defRPr sz="1900"/>
            </a:lvl3pPr>
            <a:lvl4pPr marL="1371155" indent="0" algn="ctr">
              <a:buNone/>
              <a:defRPr sz="1600"/>
            </a:lvl4pPr>
            <a:lvl5pPr marL="1828205" indent="0" algn="ctr">
              <a:buNone/>
              <a:defRPr sz="1600"/>
            </a:lvl5pPr>
            <a:lvl6pPr marL="2285257" indent="0" algn="ctr">
              <a:buNone/>
              <a:defRPr sz="1600"/>
            </a:lvl6pPr>
            <a:lvl7pPr marL="2742308" indent="0" algn="ctr">
              <a:buNone/>
              <a:defRPr sz="1600"/>
            </a:lvl7pPr>
            <a:lvl8pPr marL="3199360" indent="0" algn="ctr">
              <a:buNone/>
              <a:defRPr sz="1600"/>
            </a:lvl8pPr>
            <a:lvl9pPr marL="3656411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3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5" tIns="45702" rIns="91405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52" indent="0">
              <a:buNone/>
              <a:defRPr sz="1300">
                <a:solidFill>
                  <a:schemeClr val="tx2"/>
                </a:solidFill>
              </a:defRPr>
            </a:lvl2pPr>
            <a:lvl3pPr marL="914103" indent="0">
              <a:buNone/>
              <a:defRPr sz="1300">
                <a:solidFill>
                  <a:schemeClr val="tx2"/>
                </a:solidFill>
              </a:defRPr>
            </a:lvl3pPr>
            <a:lvl4pPr marL="1371155" indent="0">
              <a:buNone/>
              <a:defRPr sz="1300">
                <a:solidFill>
                  <a:schemeClr val="tx2"/>
                </a:solidFill>
              </a:defRPr>
            </a:lvl4pPr>
            <a:lvl5pPr marL="1828205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72513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2"/>
            <a:ext cx="1849581" cy="297586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4"/>
            <a:ext cx="10634458" cy="4907801"/>
          </a:xfrm>
        </p:spPr>
        <p:txBody>
          <a:bodyPr>
            <a:normAutofit/>
          </a:bodyPr>
          <a:lstStyle>
            <a:lvl1pPr marL="431860" indent="-39587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7087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5" tIns="45702" rIns="91405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5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5">
                <a:solidFill>
                  <a:schemeClr val="bg1"/>
                </a:solidFill>
              </a:defRPr>
            </a:lvl1pPr>
            <a:lvl2pPr>
              <a:defRPr sz="13896">
                <a:solidFill>
                  <a:schemeClr val="tx1"/>
                </a:solidFill>
              </a:defRPr>
            </a:lvl2pPr>
            <a:lvl3pPr>
              <a:defRPr sz="11497">
                <a:solidFill>
                  <a:schemeClr val="tx1"/>
                </a:solidFill>
              </a:defRPr>
            </a:lvl3pPr>
            <a:lvl4pPr>
              <a:defRPr sz="9597">
                <a:solidFill>
                  <a:schemeClr val="tx1"/>
                </a:solidFill>
              </a:defRPr>
            </a:lvl4pPr>
            <a:lvl5pPr>
              <a:defRPr sz="9597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988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20"/>
            <a:ext cx="5296868" cy="1606419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90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8" y="1087719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13692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9" y="1087719"/>
            <a:ext cx="10757333" cy="1823433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1" y="3094290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585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8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1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6813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4" y="2517762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1" y="1087700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145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4" y="1192087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15005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52" indent="0">
              <a:buFontTx/>
              <a:buNone/>
              <a:defRPr sz="1100"/>
            </a:lvl2pPr>
            <a:lvl3pPr marL="914103" indent="0">
              <a:buFontTx/>
              <a:buNone/>
              <a:defRPr sz="1100"/>
            </a:lvl3pPr>
            <a:lvl4pPr marL="1371155" indent="0">
              <a:buFontTx/>
              <a:buNone/>
              <a:defRPr sz="1100"/>
            </a:lvl4pPr>
            <a:lvl5pPr marL="1828205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4" y="1192087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9" y="1192087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0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15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205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9" y="1994372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5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5" tIns="45702" rIns="91405" bIns="45702" rtlCol="0" anchor="ctr"/>
          <a:lstStyle/>
          <a:p>
            <a:pPr algn="ctr"/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29411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0" y="5231143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5" tIns="45702" rIns="91405" bIns="45702" rtlCol="0" anchor="ctr"/>
          <a:lstStyle/>
          <a:p>
            <a:pPr algn="ctr"/>
            <a:endParaRPr lang="es-ES" sz="18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5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9" y="5574877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5" y="1946100"/>
            <a:ext cx="3365041" cy="1384993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2" y="628349"/>
            <a:ext cx="3365041" cy="708051"/>
          </a:xfrm>
          <a:prstGeom prst="rect">
            <a:avLst/>
          </a:prstGeom>
          <a:noFill/>
        </p:spPr>
        <p:txBody>
          <a:bodyPr wrap="square" lIns="91405" tIns="45702" rIns="91405" bIns="45702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3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5" tIns="45702" rIns="91405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00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7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0"/>
            <a:ext cx="5296867" cy="1606419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17" indent="0">
              <a:buFontTx/>
              <a:buNone/>
              <a:defRPr sz="1100"/>
            </a:lvl2pPr>
            <a:lvl3pPr marL="914035" indent="0">
              <a:buFontTx/>
              <a:buNone/>
              <a:defRPr sz="1050"/>
            </a:lvl3pPr>
            <a:lvl4pPr marL="1371052" indent="0">
              <a:buFontTx/>
              <a:buNone/>
              <a:defRPr sz="1000"/>
            </a:lvl4pPr>
            <a:lvl5pPr marL="1828068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80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9" y="1087710"/>
            <a:ext cx="5080343" cy="50906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711999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defTabSz="914103">
              <a:defRPr/>
            </a:pPr>
            <a:fld id="{BC0D97B6-E32F-4D7D-B839-7C3B51F2640F}" type="slidenum">
              <a:rPr lang="es-ES" smtClean="0">
                <a:solidFill>
                  <a:srgbClr val="EB0000"/>
                </a:solidFill>
              </a:rPr>
              <a:pPr defTabSz="914103">
                <a:defRPr/>
              </a:pPr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17" indent="0">
              <a:buFontTx/>
              <a:buNone/>
              <a:defRPr sz="1100"/>
            </a:lvl2pPr>
            <a:lvl3pPr marL="914035" indent="0">
              <a:buFontTx/>
              <a:buNone/>
              <a:defRPr sz="1050"/>
            </a:lvl3pPr>
            <a:lvl4pPr marL="1371052" indent="0">
              <a:buFontTx/>
              <a:buNone/>
              <a:defRPr sz="1000"/>
            </a:lvl4pPr>
            <a:lvl5pPr marL="1828068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4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3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9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1" y="1096745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29" y="2722773"/>
            <a:ext cx="4933667" cy="243701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1"/>
              </a:spcAft>
              <a:buNone/>
              <a:defRPr sz="1934">
                <a:solidFill>
                  <a:schemeClr val="tx2"/>
                </a:solidFill>
              </a:defRPr>
            </a:lvl1pPr>
            <a:lvl2pPr marL="441845" indent="0" algn="ctr">
              <a:buNone/>
              <a:defRPr sz="1934"/>
            </a:lvl2pPr>
            <a:lvl3pPr marL="883689" indent="0" algn="ctr">
              <a:buNone/>
              <a:defRPr sz="1741"/>
            </a:lvl3pPr>
            <a:lvl4pPr marL="1325530" indent="0" algn="ctr">
              <a:buNone/>
              <a:defRPr sz="1547"/>
            </a:lvl4pPr>
            <a:lvl5pPr marL="1767373" indent="0" algn="ctr">
              <a:buNone/>
              <a:defRPr sz="1547"/>
            </a:lvl5pPr>
            <a:lvl6pPr marL="2209221" indent="0" algn="ctr">
              <a:buNone/>
              <a:defRPr sz="1547"/>
            </a:lvl6pPr>
            <a:lvl7pPr marL="2651063" indent="0" algn="ctr">
              <a:buNone/>
              <a:defRPr sz="1547"/>
            </a:lvl7pPr>
            <a:lvl8pPr marL="3092906" indent="0" algn="ctr">
              <a:buNone/>
              <a:defRPr sz="1547"/>
            </a:lvl8pPr>
            <a:lvl9pPr marL="3534749" indent="0" algn="ctr">
              <a:buNone/>
              <a:defRPr sz="1547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63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1845" indent="0">
              <a:buNone/>
              <a:defRPr sz="1257">
                <a:solidFill>
                  <a:schemeClr val="tx2"/>
                </a:solidFill>
              </a:defRPr>
            </a:lvl2pPr>
            <a:lvl3pPr marL="883689" indent="0">
              <a:buNone/>
              <a:defRPr sz="1257">
                <a:solidFill>
                  <a:schemeClr val="tx2"/>
                </a:solidFill>
              </a:defRPr>
            </a:lvl3pPr>
            <a:lvl4pPr marL="1325530" indent="0">
              <a:buNone/>
              <a:defRPr sz="1257">
                <a:solidFill>
                  <a:schemeClr val="tx2"/>
                </a:solidFill>
              </a:defRPr>
            </a:lvl4pPr>
            <a:lvl5pPr marL="1767373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52426" y="1844701"/>
            <a:ext cx="7142681" cy="4610050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</p:spTree>
    <p:extLst>
      <p:ext uri="{BB962C8B-B14F-4D97-AF65-F5344CB8AC3E}">
        <p14:creationId xmlns:p14="http://schemas.microsoft.com/office/powerpoint/2010/main" val="193055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40" y="312345"/>
            <a:ext cx="1849580" cy="282702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1257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496"/>
            <a:ext cx="10634459" cy="4907801"/>
          </a:xfrm>
        </p:spPr>
        <p:txBody>
          <a:bodyPr>
            <a:normAutofit/>
          </a:bodyPr>
          <a:lstStyle>
            <a:lvl1pPr marL="417489" indent="-382700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41578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1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1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4">
                <a:solidFill>
                  <a:schemeClr val="bg1"/>
                </a:solidFill>
              </a:defRPr>
            </a:lvl1pPr>
            <a:lvl2pPr>
              <a:defRPr sz="13346">
                <a:solidFill>
                  <a:schemeClr val="tx1"/>
                </a:solidFill>
              </a:defRPr>
            </a:lvl2pPr>
            <a:lvl3pPr>
              <a:defRPr sz="11122">
                <a:solidFill>
                  <a:schemeClr val="tx1"/>
                </a:solidFill>
              </a:defRPr>
            </a:lvl3pPr>
            <a:lvl4pPr>
              <a:defRPr sz="9284">
                <a:solidFill>
                  <a:schemeClr val="tx1"/>
                </a:solidFill>
              </a:defRPr>
            </a:lvl4pPr>
            <a:lvl5pPr>
              <a:defRPr sz="9284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78261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7"/>
            <a:ext cx="5296867" cy="1606419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8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999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09"/>
            <a:ext cx="10757333" cy="1823433"/>
          </a:xfrm>
        </p:spPr>
        <p:txBody>
          <a:bodyPr anchor="t">
            <a:no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6" y="3094281"/>
            <a:ext cx="10757333" cy="3084115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6327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83" y="1110017"/>
            <a:ext cx="3800624" cy="505185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04" y="1126533"/>
            <a:ext cx="6696163" cy="505186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942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6" y="1087717"/>
            <a:ext cx="3910892" cy="1183406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2517752"/>
            <a:ext cx="3910892" cy="366064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07" y="1087690"/>
            <a:ext cx="6682681" cy="512404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17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77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8"/>
            <a:ext cx="6612104" cy="4503566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23126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81"/>
            <a:ext cx="3910892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5" y="1192081"/>
            <a:ext cx="6455897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6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5" y="1994362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5" y="3685922"/>
            <a:ext cx="187127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</p:spTree>
    <p:extLst>
      <p:ext uri="{BB962C8B-B14F-4D97-AF65-F5344CB8AC3E}">
        <p14:creationId xmlns:p14="http://schemas.microsoft.com/office/powerpoint/2010/main" val="68223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31140"/>
            <a:ext cx="12190413" cy="16284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35"/>
            <a:ext cx="1347308" cy="45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0" y="5574867"/>
            <a:ext cx="578632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195" y="1946103"/>
            <a:ext cx="3365041" cy="1250066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pt-PT" sz="1257" dirty="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257" dirty="0">
              <a:solidFill>
                <a:schemeClr val="tx2"/>
              </a:solidFill>
            </a:endParaRPr>
          </a:p>
          <a:p>
            <a:r>
              <a:rPr lang="pt-PT" sz="1257" dirty="0">
                <a:solidFill>
                  <a:schemeClr val="tx2"/>
                </a:solidFill>
              </a:rPr>
              <a:t>A nossa cultura baseia-se no princípio</a:t>
            </a:r>
            <a:r>
              <a:rPr lang="pt-PT" sz="1257" baseline="0" dirty="0">
                <a:solidFill>
                  <a:schemeClr val="tx2"/>
                </a:solidFill>
              </a:rPr>
              <a:t> </a:t>
            </a:r>
            <a:r>
              <a:rPr lang="pt-PT" sz="1257" dirty="0">
                <a:solidFill>
                  <a:schemeClr val="tx2"/>
                </a:solidFill>
              </a:rPr>
              <a:t>de que tudo</a:t>
            </a:r>
            <a:r>
              <a:rPr lang="pt-PT" sz="1257" baseline="0" dirty="0">
                <a:solidFill>
                  <a:schemeClr val="tx2"/>
                </a:solidFill>
              </a:rPr>
              <a:t> o </a:t>
            </a:r>
            <a:r>
              <a:rPr lang="pt-PT" sz="1257" dirty="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18" y="628338"/>
            <a:ext cx="3365041" cy="684457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3868" dirty="0" err="1">
                <a:solidFill>
                  <a:schemeClr val="accent1"/>
                </a:solidFill>
              </a:rPr>
              <a:t>Obrigado</a:t>
            </a:r>
            <a:r>
              <a:rPr lang="es-ES" sz="3868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0924" y="3423933"/>
            <a:ext cx="2785550" cy="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56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31743" y="284466"/>
            <a:ext cx="10514231" cy="51852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95" baseline="0">
                <a:solidFill>
                  <a:srgbClr val="FF0000"/>
                </a:solidFill>
              </a:defRPr>
            </a:lvl1pPr>
            <a:lvl2pPr marL="442158" indent="0">
              <a:buFontTx/>
              <a:buNone/>
              <a:defRPr sz="3095">
                <a:solidFill>
                  <a:srgbClr val="FF0000"/>
                </a:solidFill>
              </a:defRPr>
            </a:lvl2pPr>
            <a:lvl3pPr marL="884316" indent="0">
              <a:buFontTx/>
              <a:buNone/>
              <a:defRPr sz="3095">
                <a:solidFill>
                  <a:srgbClr val="FF0000"/>
                </a:solidFill>
              </a:defRPr>
            </a:lvl3pPr>
            <a:lvl4pPr marL="1326474" indent="0">
              <a:buFontTx/>
              <a:buNone/>
              <a:defRPr sz="3095">
                <a:solidFill>
                  <a:srgbClr val="FF0000"/>
                </a:solidFill>
              </a:defRPr>
            </a:lvl4pPr>
            <a:lvl5pPr marL="1768632" indent="0">
              <a:buFontTx/>
              <a:buNone/>
              <a:defRPr sz="3095">
                <a:solidFill>
                  <a:srgbClr val="FF0000"/>
                </a:solidFill>
              </a:defRPr>
            </a:lvl5pPr>
          </a:lstStyle>
          <a:p>
            <a:pPr lvl="0"/>
            <a:r>
              <a:rPr lang="es-ES" dirty="0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831741" y="864200"/>
            <a:ext cx="10515431" cy="3708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41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830292" y="1512351"/>
            <a:ext cx="10515431" cy="3982522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5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547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547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547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547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5" name="Gráfico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43" y="6264138"/>
            <a:ext cx="1173010" cy="20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44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B3F5-2044-4ABA-A64B-10890DAAD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2B7EF-01E3-40B4-B1C7-B1081AF04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226C1-0D3D-48A8-8B19-E1500F3B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AED9-2108-4239-84EA-19D3814A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3D1AA-09B1-4E9E-AAD5-9FCF5DB3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82866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5EBE-258C-4225-B834-ADEC41AF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F15B-17E0-4990-B91A-7D8997A69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3B83-740A-41E6-8F3D-A9A5F699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B713C-A9ED-4AFA-9DB9-BA3339DA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07EDA-1117-4FA2-8FD3-6777569F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16015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D951-6282-4393-82D9-E7CC4AF5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742" y="1710134"/>
            <a:ext cx="10514231" cy="2853398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377E3-3A2C-4404-9AD9-0C505F152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742" y="4590526"/>
            <a:ext cx="10514231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5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7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0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A5F6F-09BF-4C3D-B617-D04795D7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51B1-D031-4C07-8981-8493C298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1577-2D5E-400B-A38C-D22A407B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97914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0027-7EBB-4136-AF4D-19EE8B21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471BD-AD2E-41DA-A53C-FAF100C80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C6C3D-D23C-4B48-B999-4465000D9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FD58A-B331-49C2-9A7D-E692D613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37D-775E-44D9-851C-6677DC58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54ED8-5AD3-4CD5-85A6-374BAB67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998805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A081-B4B9-4E67-93BA-B74975D7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365210"/>
            <a:ext cx="10514231" cy="1325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81291-1531-4ADE-B1E0-D4B12FDF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679" y="1681552"/>
            <a:ext cx="5157116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B1063-811E-43BA-96E4-BC542597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679" y="2505655"/>
            <a:ext cx="5157116" cy="3685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F674C-59CA-4230-A8C6-E9C884AAB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397" y="1681552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A1ECC-39A3-49B8-9F24-E6DE6EDEB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397" y="2505655"/>
            <a:ext cx="5182513" cy="3685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CCD0A-264D-4343-BB05-5AC7E460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653E39-6F01-4ECC-B80C-7E3DAA7A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729C1-F51A-44C6-B0A9-A802A9B1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67704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0982-5562-40D8-96A2-77DB79B6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EA703-0B9D-46FC-BA11-785B1187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9CCAC-F859-4245-82EF-743DD643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C309A-72E9-416E-8A80-D7ABD3EE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49498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18D46-9952-4F6B-9B52-F9CB109E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62F7C-F9C6-4D2B-A042-699273E5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3FE88-0BD7-4B09-8D91-CD8D3174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85139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4F41-BC76-41EF-AAE4-A8C942F3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457306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1DEA-14EB-4ED7-8006-4F2A05261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513" y="987654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F1F5E-1148-46C2-9A7A-05B7992A4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679" y="2057876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2F4F0-0949-4230-B225-EF711C8D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56D16-A753-4802-A751-B4FBCAD0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23EB-99C4-44C4-ADDE-2300718D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813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B588-B2F5-4DCA-AAAF-2C96D2F17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79" y="457306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08BBF-E56E-4CC6-B5BF-27F10B631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2513" y="987654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154" indent="0">
              <a:buNone/>
              <a:defRPr sz="2800"/>
            </a:lvl2pPr>
            <a:lvl3pPr marL="914309" indent="0">
              <a:buNone/>
              <a:defRPr sz="2400"/>
            </a:lvl3pPr>
            <a:lvl4pPr marL="1371463" indent="0">
              <a:buNone/>
              <a:defRPr sz="2000"/>
            </a:lvl4pPr>
            <a:lvl5pPr marL="1828617" indent="0">
              <a:buNone/>
              <a:defRPr sz="2000"/>
            </a:lvl5pPr>
            <a:lvl6pPr marL="2285771" indent="0">
              <a:buNone/>
              <a:defRPr sz="2000"/>
            </a:lvl6pPr>
            <a:lvl7pPr marL="2742926" indent="0">
              <a:buNone/>
              <a:defRPr sz="2000"/>
            </a:lvl7pPr>
            <a:lvl8pPr marL="3200080" indent="0">
              <a:buNone/>
              <a:defRPr sz="2000"/>
            </a:lvl8pPr>
            <a:lvl9pPr marL="3657234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14D15-3DE9-491E-9614-6C28ECE8A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679" y="2057876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154" indent="0">
              <a:buNone/>
              <a:defRPr sz="1400"/>
            </a:lvl2pPr>
            <a:lvl3pPr marL="914309" indent="0">
              <a:buNone/>
              <a:defRPr sz="1200"/>
            </a:lvl3pPr>
            <a:lvl4pPr marL="1371463" indent="0">
              <a:buNone/>
              <a:defRPr sz="1000"/>
            </a:lvl4pPr>
            <a:lvl5pPr marL="1828617" indent="0">
              <a:buNone/>
              <a:defRPr sz="1000"/>
            </a:lvl5pPr>
            <a:lvl6pPr marL="2285771" indent="0">
              <a:buNone/>
              <a:defRPr sz="1000"/>
            </a:lvl6pPr>
            <a:lvl7pPr marL="2742926" indent="0">
              <a:buNone/>
              <a:defRPr sz="1000"/>
            </a:lvl7pPr>
            <a:lvl8pPr marL="3200080" indent="0">
              <a:buNone/>
              <a:defRPr sz="1000"/>
            </a:lvl8pPr>
            <a:lvl9pPr marL="365723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A051F-164F-445C-B2FE-B65C6848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607B0-E8FE-413A-9945-92EAC0F49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4F9F-A6E7-48A2-AF25-1678EBC7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96623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2608-618D-4176-A8DF-68D47A30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786EA-E77B-4BE8-8DB0-5147304AA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A3994-28CF-40F2-A00B-58AA0CC0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BD675-591D-4408-946A-DA041C08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CFBA-5934-4BCB-818A-45DB267A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5421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C5956-06F0-485F-B487-6C0FAF23E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764" y="365209"/>
            <a:ext cx="2628558" cy="58131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58724-1C0B-4D85-83E4-8AB34383A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091" y="365209"/>
            <a:ext cx="7733293" cy="58131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F8C6B-050E-48F1-94DE-B8161986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15EA5-BF42-4001-84CC-BE9A7CEA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A976B-20DC-43EE-A9AD-6EA56329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79196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17" indent="0">
              <a:buFontTx/>
              <a:buNone/>
              <a:defRPr sz="1100"/>
            </a:lvl2pPr>
            <a:lvl3pPr marL="914035" indent="0">
              <a:buFontTx/>
              <a:buNone/>
              <a:defRPr sz="1050"/>
            </a:lvl3pPr>
            <a:lvl4pPr marL="1371052" indent="0">
              <a:buFontTx/>
              <a:buNone/>
              <a:defRPr sz="1000"/>
            </a:lvl4pPr>
            <a:lvl5pPr marL="1828068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4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3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1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0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05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06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9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5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3462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120847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1871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3760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48091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6505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21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5810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 dirty="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 dirty="0">
              <a:solidFill>
                <a:schemeClr val="tx2"/>
              </a:solidFill>
            </a:endParaRPr>
          </a:p>
          <a:p>
            <a:r>
              <a:rPr lang="pt-PT" sz="1400" dirty="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 dirty="0">
                <a:solidFill>
                  <a:schemeClr val="tx2"/>
                </a:solidFill>
              </a:rPr>
              <a:t> </a:t>
            </a:r>
            <a:r>
              <a:rPr lang="pt-PT" sz="1400" dirty="0">
                <a:solidFill>
                  <a:schemeClr val="tx2"/>
                </a:solidFill>
              </a:rPr>
              <a:t>de que tudo</a:t>
            </a:r>
            <a:r>
              <a:rPr lang="pt-PT" sz="1400" baseline="0" dirty="0">
                <a:solidFill>
                  <a:schemeClr val="tx2"/>
                </a:solidFill>
              </a:rPr>
              <a:t> o </a:t>
            </a:r>
            <a:r>
              <a:rPr lang="pt-PT" sz="1400" dirty="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 dirty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8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8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82043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94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92871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11247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4354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3023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66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6771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68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 dirty="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 dirty="0">
              <a:solidFill>
                <a:schemeClr val="tx2"/>
              </a:solidFill>
            </a:endParaRPr>
          </a:p>
          <a:p>
            <a:r>
              <a:rPr lang="pt-PT" sz="1400" dirty="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 dirty="0">
                <a:solidFill>
                  <a:schemeClr val="tx2"/>
                </a:solidFill>
              </a:rPr>
              <a:t> </a:t>
            </a:r>
            <a:r>
              <a:rPr lang="pt-PT" sz="1400" dirty="0">
                <a:solidFill>
                  <a:schemeClr val="tx2"/>
                </a:solidFill>
              </a:rPr>
              <a:t>de que tudo</a:t>
            </a:r>
            <a:r>
              <a:rPr lang="pt-PT" sz="1400" baseline="0" dirty="0">
                <a:solidFill>
                  <a:schemeClr val="tx2"/>
                </a:solidFill>
              </a:rPr>
              <a:t> o </a:t>
            </a:r>
            <a:r>
              <a:rPr lang="pt-PT" sz="1400" dirty="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 dirty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3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4846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pic>
        <p:nvPicPr>
          <p:cNvPr id="16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015" y="6527478"/>
            <a:ext cx="1171955" cy="20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6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1" y="1096739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título do Modelo Global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26" y="2722772"/>
            <a:ext cx="4933667" cy="243701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1" y="5728727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33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8" y="333728"/>
            <a:ext cx="11176095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54" indent="0">
              <a:buNone/>
              <a:defRPr sz="1300">
                <a:solidFill>
                  <a:schemeClr val="tx2"/>
                </a:solidFill>
              </a:defRPr>
            </a:lvl2pPr>
            <a:lvl3pPr marL="914309" indent="0">
              <a:buNone/>
              <a:defRPr sz="1300">
                <a:solidFill>
                  <a:schemeClr val="tx2"/>
                </a:solidFill>
              </a:defRPr>
            </a:lvl3pPr>
            <a:lvl4pPr marL="1371463" indent="0">
              <a:buNone/>
              <a:defRPr sz="1300">
                <a:solidFill>
                  <a:schemeClr val="tx2"/>
                </a:solidFill>
              </a:defRPr>
            </a:lvl4pPr>
            <a:lvl5pPr marL="1828617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32350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40" y="312341"/>
            <a:ext cx="1849580" cy="29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494"/>
            <a:ext cx="10634459" cy="4907801"/>
          </a:xfrm>
        </p:spPr>
        <p:txBody>
          <a:bodyPr>
            <a:normAutofit/>
          </a:bodyPr>
          <a:lstStyle>
            <a:lvl1pPr marL="431957" indent="-39596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None/>
              <a:defRPr/>
            </a:lvl2pPr>
          </a:lstStyle>
          <a:p>
            <a:pPr lvl="0"/>
            <a:r>
              <a:rPr lang="pt-PT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5426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5" y="626518"/>
            <a:ext cx="4385623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o estilo de título do Modelo </a:t>
            </a:r>
            <a:br>
              <a:rPr lang="pt-PT" dirty="0"/>
            </a:br>
            <a:r>
              <a:rPr lang="pt-PT" dirty="0"/>
              <a:t>Global</a:t>
            </a:r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8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84"/>
            <a:ext cx="2958369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598">
                <a:solidFill>
                  <a:schemeClr val="bg1"/>
                </a:solidFill>
              </a:defRPr>
            </a:lvl1pPr>
            <a:lvl2pPr>
              <a:defRPr sz="13799">
                <a:solidFill>
                  <a:schemeClr val="tx1"/>
                </a:solidFill>
              </a:defRPr>
            </a:lvl2pPr>
            <a:lvl3pPr>
              <a:defRPr sz="11499">
                <a:solidFill>
                  <a:schemeClr val="tx1"/>
                </a:solidFill>
              </a:defRPr>
            </a:lvl3pPr>
            <a:lvl4pPr>
              <a:defRPr sz="9599">
                <a:solidFill>
                  <a:schemeClr val="tx1"/>
                </a:solidFill>
              </a:defRPr>
            </a:lvl4pPr>
            <a:lvl5pPr>
              <a:defRPr sz="9599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3953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09"/>
            <a:ext cx="5296867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7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4030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09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 do Modelo Global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79"/>
            <a:ext cx="10757333" cy="3084115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3640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5" y="1110016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 dirty="0"/>
              <a:t>Editar os estilos </a:t>
            </a:r>
            <a:br>
              <a:rPr lang="pt-PT" dirty="0"/>
            </a:br>
            <a:r>
              <a:rPr lang="pt-PT" dirty="0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01" y="1126535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09674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10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 dirty="0"/>
              <a:t>Clique para editar </a:t>
            </a:r>
            <a:br>
              <a:rPr lang="pt-PT" dirty="0"/>
            </a:br>
            <a:r>
              <a:rPr lang="pt-PT" dirty="0"/>
              <a:t>o estilo de título</a:t>
            </a:r>
            <a:endParaRPr lang="es-ES" dirty="0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2517753"/>
            <a:ext cx="3910892" cy="366064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01" y="1087690"/>
            <a:ext cx="6682680" cy="512404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808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498631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1"/>
            <a:ext cx="6612104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sua</a:t>
            </a:r>
            <a:r>
              <a:rPr lang="es-ES" dirty="0"/>
              <a:t> </a:t>
            </a:r>
            <a:r>
              <a:rPr lang="es-ES" dirty="0" err="1"/>
              <a:t>tabela</a:t>
            </a:r>
            <a:endParaRPr lang="es-ES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16420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4" y="6263776"/>
            <a:ext cx="1171955" cy="205591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1" y="337178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54" indent="0">
              <a:buFontTx/>
              <a:buNone/>
              <a:defRPr sz="1100"/>
            </a:lvl2pPr>
            <a:lvl3pPr marL="914309" indent="0">
              <a:buFontTx/>
              <a:buNone/>
              <a:defRPr sz="1050"/>
            </a:lvl3pPr>
            <a:lvl4pPr marL="1371463" indent="0">
              <a:buFontTx/>
              <a:buNone/>
              <a:defRPr sz="1000"/>
            </a:lvl4pPr>
            <a:lvl5pPr marL="1828617" indent="0">
              <a:buFontTx/>
              <a:buNone/>
              <a:defRPr sz="1000"/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33" y="1192078"/>
            <a:ext cx="3910892" cy="657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08" y="1192078"/>
            <a:ext cx="6455897" cy="657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0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6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617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6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09" y="1994362"/>
            <a:ext cx="6471875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Insira</a:t>
            </a:r>
            <a:r>
              <a:rPr lang="es-ES" dirty="0"/>
              <a:t> </a:t>
            </a:r>
            <a:r>
              <a:rPr lang="es-ES" dirty="0" err="1"/>
              <a:t>aqui</a:t>
            </a:r>
            <a:r>
              <a:rPr lang="es-ES" dirty="0"/>
              <a:t> </a:t>
            </a:r>
            <a:r>
              <a:rPr lang="es-ES" dirty="0" err="1"/>
              <a:t>seu</a:t>
            </a:r>
            <a:r>
              <a:rPr lang="es-ES" dirty="0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78" y="3685915"/>
            <a:ext cx="187127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72570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31133"/>
            <a:ext cx="12190413" cy="16284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1" y="5728727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34"/>
            <a:ext cx="1347307" cy="45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68" y="5574867"/>
            <a:ext cx="578632" cy="455122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194" y="1946100"/>
            <a:ext cx="3365040" cy="1385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 dirty="0">
              <a:solidFill>
                <a:schemeClr val="tx2"/>
              </a:solidFill>
            </a:endParaRPr>
          </a:p>
          <a:p>
            <a:r>
              <a:rPr lang="pt-PT" sz="1400" dirty="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 dirty="0">
                <a:solidFill>
                  <a:schemeClr val="tx2"/>
                </a:solidFill>
              </a:rPr>
              <a:t> </a:t>
            </a:r>
            <a:r>
              <a:rPr lang="pt-PT" sz="1400" dirty="0">
                <a:solidFill>
                  <a:schemeClr val="tx2"/>
                </a:solidFill>
              </a:rPr>
              <a:t>de que tudo</a:t>
            </a:r>
            <a:r>
              <a:rPr lang="pt-PT" sz="1400" baseline="0" dirty="0">
                <a:solidFill>
                  <a:schemeClr val="tx2"/>
                </a:solidFill>
              </a:rPr>
              <a:t> o </a:t>
            </a:r>
            <a:r>
              <a:rPr lang="pt-PT" sz="1400" dirty="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12" y="628338"/>
            <a:ext cx="3365040" cy="7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err="1">
                <a:solidFill>
                  <a:schemeClr val="accent1"/>
                </a:solidFill>
              </a:rPr>
              <a:t>Obrigado</a:t>
            </a:r>
            <a:r>
              <a:rPr lang="es-ES" sz="40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33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0" y="3459001"/>
            <a:ext cx="3046240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1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4C3CA411-E46C-4918-92F8-09028ADD12C4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8"/>
            <a:ext cx="10514231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2FAB2D9E-464D-E094-BFBD-8AAC1091CF15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085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93">
          <p15:clr>
            <a:srgbClr val="F26B43"/>
          </p15:clr>
        </p15:guide>
        <p15:guide id="2" pos="7224">
          <p15:clr>
            <a:srgbClr val="F26B43"/>
          </p15:clr>
        </p15:guide>
        <p15:guide id="3" pos="52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9A50F363-ADC8-4BE6-A1CD-91FFE5580E4D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213381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722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1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1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1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1156905335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32605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103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25" indent="-228525" algn="l" defTabSz="91410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77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28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0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32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83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5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5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7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2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5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1" algn="l" defTabSz="91410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69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7"/>
            <a:ext cx="10514231" cy="4352346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1156905335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27500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883689" rtl="0" eaLnBrk="1" latinLnBrk="0" hangingPunct="1">
        <a:lnSpc>
          <a:spcPct val="90000"/>
        </a:lnSpc>
        <a:spcBef>
          <a:spcPct val="0"/>
        </a:spcBef>
        <a:buNone/>
        <a:defRPr sz="43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22" indent="-220922" algn="l" defTabSz="883689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1pPr>
      <a:lvl2pPr marL="662766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4611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6452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988297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430140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871984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313829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755673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1pPr>
      <a:lvl2pPr marL="441845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2pPr>
      <a:lvl3pPr marL="88368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3pPr>
      <a:lvl4pPr marL="132553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76737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209221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65106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092906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53474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05808-9628-4931-82EC-D03329F5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3AE1F-9ED2-4102-A7B3-7B5C7D58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8"/>
            <a:ext cx="10514231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9F4C2-389D-4BF5-8E22-F300E7389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FF261-8012-4549-9D66-10090DD30CF8}" type="datetimeFigureOut">
              <a:rPr lang="pt-PT" smtClean="0"/>
              <a:t>20/12/2023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EB9F-FC3A-4722-A247-0F8445754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55AB4-E0BE-4FFA-B662-2AECD237A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90717-A54D-44B8-900C-431594A1AAA1}" type="slidenum">
              <a:rPr lang="pt-PT" smtClean="0"/>
              <a:t>‹#›</a:t>
            </a:fld>
            <a:endParaRPr lang="pt-PT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265254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9A50F363-ADC8-4BE6-A1CD-91FFE5580E4D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72579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9A50F363-ADC8-4BE6-A1CD-91FFE5580E4D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93717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8"/>
            <a:ext cx="10514231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1156905335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8FACEF74-DEA6-00FF-923A-FF15481DAD3E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93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</p:sldLayoutIdLst>
  <p:hf hdr="0" ft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maxpixel.net/Check-Ok-Check-Mark-Tick-Mark-Yes-Correct-Green-1292787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image" Target="../media/image17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package" Target="../embeddings/Microsoft_Excel_Worksheet1.xlsx"/><Relationship Id="rId11" Type="http://schemas.openxmlformats.org/officeDocument/2006/relationships/image" Target="../media/image19.emf"/><Relationship Id="rId5" Type="http://schemas.openxmlformats.org/officeDocument/2006/relationships/notesSlide" Target="../notesSlides/notesSlide1.xml"/><Relationship Id="rId10" Type="http://schemas.openxmlformats.org/officeDocument/2006/relationships/package" Target="../embeddings/Microsoft_Excel_Worksheet2.xlsx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Excel_Worksheet3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.ppt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chart" Target="../charts/chart7.xml"/><Relationship Id="rId4" Type="http://schemas.openxmlformats.org/officeDocument/2006/relationships/image" Target="../media/image3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6" Type="http://schemas.openxmlformats.org/officeDocument/2006/relationships/chart" Target="../charts/chart8.xml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9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Relationship Id="rId6" Type="http://schemas.openxmlformats.org/officeDocument/2006/relationships/chart" Target="../charts/chart10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42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7" Type="http://schemas.openxmlformats.org/officeDocument/2006/relationships/chart" Target="../charts/chart19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7" Type="http://schemas.openxmlformats.org/officeDocument/2006/relationships/chart" Target="../charts/chart25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7" Type="http://schemas.openxmlformats.org/officeDocument/2006/relationships/chart" Target="../charts/chart31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4.xml"/><Relationship Id="rId6" Type="http://schemas.openxmlformats.org/officeDocument/2006/relationships/chart" Target="../charts/chart30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33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Excel_Worksheet18.xlsx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0.xml"/><Relationship Id="rId13" Type="http://schemas.openxmlformats.org/officeDocument/2006/relationships/chart" Target="../charts/chart45.xml"/><Relationship Id="rId3" Type="http://schemas.openxmlformats.org/officeDocument/2006/relationships/chart" Target="../charts/chart35.xml"/><Relationship Id="rId7" Type="http://schemas.openxmlformats.org/officeDocument/2006/relationships/chart" Target="../charts/chart39.xml"/><Relationship Id="rId12" Type="http://schemas.openxmlformats.org/officeDocument/2006/relationships/chart" Target="../charts/chart44.xml"/><Relationship Id="rId17" Type="http://schemas.openxmlformats.org/officeDocument/2006/relationships/chart" Target="../charts/chart49.xml"/><Relationship Id="rId2" Type="http://schemas.openxmlformats.org/officeDocument/2006/relationships/notesSlide" Target="../notesSlides/notesSlide21.xml"/><Relationship Id="rId16" Type="http://schemas.openxmlformats.org/officeDocument/2006/relationships/chart" Target="../charts/chart48.xml"/><Relationship Id="rId1" Type="http://schemas.openxmlformats.org/officeDocument/2006/relationships/slideLayout" Target="../slideLayouts/slideLayout27.xml"/><Relationship Id="rId6" Type="http://schemas.openxmlformats.org/officeDocument/2006/relationships/chart" Target="../charts/chart38.xml"/><Relationship Id="rId11" Type="http://schemas.openxmlformats.org/officeDocument/2006/relationships/chart" Target="../charts/chart43.xml"/><Relationship Id="rId5" Type="http://schemas.openxmlformats.org/officeDocument/2006/relationships/chart" Target="../charts/chart37.xml"/><Relationship Id="rId15" Type="http://schemas.openxmlformats.org/officeDocument/2006/relationships/chart" Target="../charts/chart47.xml"/><Relationship Id="rId10" Type="http://schemas.openxmlformats.org/officeDocument/2006/relationships/chart" Target="../charts/chart42.xml"/><Relationship Id="rId4" Type="http://schemas.openxmlformats.org/officeDocument/2006/relationships/chart" Target="../charts/chart36.xml"/><Relationship Id="rId9" Type="http://schemas.openxmlformats.org/officeDocument/2006/relationships/chart" Target="../charts/chart41.xml"/><Relationship Id="rId14" Type="http://schemas.openxmlformats.org/officeDocument/2006/relationships/chart" Target="../charts/chart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Relationship Id="rId6" Type="http://schemas.openxmlformats.org/officeDocument/2006/relationships/chart" Target="../charts/chart50.xml"/><Relationship Id="rId5" Type="http://schemas.openxmlformats.org/officeDocument/2006/relationships/image" Target="../media/image33.png"/><Relationship Id="rId4" Type="http://schemas.openxmlformats.org/officeDocument/2006/relationships/image" Target="../media/image4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3.xml"/><Relationship Id="rId5" Type="http://schemas.openxmlformats.org/officeDocument/2006/relationships/chart" Target="../charts/chart51.xml"/><Relationship Id="rId4" Type="http://schemas.openxmlformats.org/officeDocument/2006/relationships/image" Target="../media/image4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emf"/><Relationship Id="rId5" Type="http://schemas.openxmlformats.org/officeDocument/2006/relationships/package" Target="../embeddings/Microsoft_Excel_Worksheet39.xlsx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4.xml"/><Relationship Id="rId4" Type="http://schemas.openxmlformats.org/officeDocument/2006/relationships/chart" Target="../charts/chart5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15.bin"/><Relationship Id="rId4" Type="http://schemas.openxmlformats.org/officeDocument/2006/relationships/chart" Target="../charts/chart5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emf"/><Relationship Id="rId5" Type="http://schemas.openxmlformats.org/officeDocument/2006/relationships/package" Target="../embeddings/Microsoft_Excel_Worksheet43.xlsx"/><Relationship Id="rId4" Type="http://schemas.openxmlformats.org/officeDocument/2006/relationships/chart" Target="../charts/chart5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0.emf"/><Relationship Id="rId5" Type="http://schemas.openxmlformats.org/officeDocument/2006/relationships/package" Target="../embeddings/Microsoft_Excel_Worksheet45.xlsx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5" Type="http://schemas.openxmlformats.org/officeDocument/2006/relationships/slide" Target="slide34.xml"/><Relationship Id="rId4" Type="http://schemas.openxmlformats.org/officeDocument/2006/relationships/chart" Target="../charts/chart5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1.xml"/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3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3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040" y="1168659"/>
            <a:ext cx="6425198" cy="1407330"/>
          </a:xfrm>
        </p:spPr>
        <p:txBody>
          <a:bodyPr>
            <a:normAutofit/>
          </a:bodyPr>
          <a:lstStyle/>
          <a:p>
            <a:r>
              <a:rPr lang="pt-PT" dirty="0"/>
              <a:t>Fórum de Governo e Qualidade do Dado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/>
              <a:t>Chief</a:t>
            </a:r>
            <a:r>
              <a:rPr lang="pt-PT"/>
              <a:t> Data </a:t>
            </a:r>
            <a:r>
              <a:rPr lang="pt-PT" err="1"/>
              <a:t>Officer</a:t>
            </a:r>
            <a:r>
              <a:rPr lang="pt-PT"/>
              <a:t> (CDO)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	Lisboa	25/05/2023</a:t>
            </a:r>
          </a:p>
        </p:txBody>
      </p:sp>
    </p:spTree>
    <p:extLst>
      <p:ext uri="{BB962C8B-B14F-4D97-AF65-F5344CB8AC3E}">
        <p14:creationId xmlns:p14="http://schemas.microsoft.com/office/powerpoint/2010/main" val="192079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532" y="1100503"/>
            <a:ext cx="10819277" cy="4907801"/>
          </a:xfrm>
        </p:spPr>
        <p:txBody>
          <a:bodyPr>
            <a:normAutofit/>
          </a:bodyPr>
          <a:lstStyle/>
          <a:p>
            <a:r>
              <a:rPr lang="pt-PT" sz="2400" dirty="0"/>
              <a:t>Proteção de Dados</a:t>
            </a:r>
          </a:p>
          <a:p>
            <a:r>
              <a:rPr lang="pt-PT" sz="2400" dirty="0"/>
              <a:t>Governo de Dados</a:t>
            </a:r>
          </a:p>
          <a:p>
            <a:r>
              <a:rPr lang="pt-PT" sz="2400" dirty="0"/>
              <a:t>Manuais do Relatório Executivo de Riscos e Apetência de Risco</a:t>
            </a:r>
          </a:p>
          <a:p>
            <a:r>
              <a:rPr lang="pt-PT" sz="2400" dirty="0"/>
              <a:t>Modelo Único de Garantias Recebidas</a:t>
            </a:r>
          </a:p>
          <a:p>
            <a:r>
              <a:rPr lang="pt-PT" sz="2400" dirty="0"/>
              <a:t>PDS BCB</a:t>
            </a:r>
          </a:p>
          <a:p>
            <a:r>
              <a:rPr lang="pt-PT" sz="2400" dirty="0"/>
              <a:t>Qualidade de Dados</a:t>
            </a:r>
          </a:p>
          <a:p>
            <a:r>
              <a:rPr lang="pt-PT" sz="2400" dirty="0"/>
              <a:t>Oversight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566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Proteção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46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9FD6E-58F7-D671-23C7-0D18FA02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79" y="451349"/>
            <a:ext cx="7190938" cy="5625732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D841E962-FC0A-73D7-C06E-B6431F269CA1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4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35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7748F-FC5A-0D25-A04A-96013DF4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30" y="663764"/>
            <a:ext cx="8983804" cy="5945165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A15CA7A8-8424-F4B7-82AC-CB9F59AF8229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5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46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5609AB4-92E5-C728-E429-27076CCC9F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860" y="73231"/>
          <a:ext cx="5190449" cy="77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90986" imgH="771690" progId="Excel.Sheet.12">
                  <p:embed/>
                </p:oleObj>
              </mc:Choice>
              <mc:Fallback>
                <p:oleObj name="Worksheet" r:id="rId2" imgW="5190986" imgH="77169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5609AB4-92E5-C728-E429-27076CCC9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9860" y="73231"/>
                        <a:ext cx="5190449" cy="771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E5B4AF8-FA5C-2876-66DA-FB5641C0C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29" y="844656"/>
            <a:ext cx="8308032" cy="5841585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FF5D692-E9E4-E9AC-3F73-8D2831E12545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6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82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19"/>
            <a:ext cx="6200890" cy="2853398"/>
          </a:xfrm>
        </p:spPr>
        <p:txBody>
          <a:bodyPr/>
          <a:lstStyle/>
          <a:p>
            <a:r>
              <a:rPr lang="pt-PT"/>
              <a:t>Governo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3259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19"/>
            <a:ext cx="6602504" cy="2853398"/>
          </a:xfrm>
        </p:spPr>
        <p:txBody>
          <a:bodyPr/>
          <a:lstStyle/>
          <a:p>
            <a:r>
              <a:rPr lang="pt-PT"/>
              <a:t>Fluxos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390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51319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/>
          <a:lstStyle/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9</a:t>
            </a:fld>
            <a:endParaRPr lang="es-ES" dirty="0">
              <a:solidFill>
                <a:srgbClr val="EB0000"/>
              </a:solidFill>
            </a:endParaRP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725942" y="650568"/>
            <a:ext cx="9823327" cy="719072"/>
          </a:xfrm>
          <a:prstGeom prst="rect">
            <a:avLst/>
          </a:prstGeom>
        </p:spPr>
        <p:txBody>
          <a:bodyPr vert="horz" lIns="91362" tIns="45680" rIns="91362" bIns="4568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800" b="1" dirty="0">
                <a:solidFill>
                  <a:srgbClr val="FF0000"/>
                </a:solidFill>
              </a:rPr>
              <a:t>Fluxos de Dados</a:t>
            </a:r>
            <a:endParaRPr lang="pt-PT" sz="2799" b="1" dirty="0">
              <a:solidFill>
                <a:srgbClr val="FF0000"/>
              </a:solidFill>
            </a:endParaRPr>
          </a:p>
        </p:txBody>
      </p:sp>
      <p:sp>
        <p:nvSpPr>
          <p:cNvPr id="12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714732" y="340612"/>
            <a:ext cx="10184613" cy="304608"/>
          </a:xfrm>
        </p:spPr>
        <p:txBody>
          <a:bodyPr/>
          <a:lstStyle/>
          <a:p>
            <a:r>
              <a:rPr lang="pt-PT" dirty="0">
                <a:solidFill>
                  <a:srgbClr val="E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Governo de Dados</a:t>
            </a:r>
            <a:endParaRPr lang="pt-PT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4A46B6-74EE-4B32-9C9B-A4030CE0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0" t="9674" r="76250" b="77516"/>
          <a:stretch/>
        </p:blipFill>
        <p:spPr>
          <a:xfrm>
            <a:off x="10121651" y="411178"/>
            <a:ext cx="1370925" cy="878110"/>
          </a:xfrm>
          <a:prstGeom prst="rect">
            <a:avLst/>
          </a:prstGeom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8FB80860-1C96-4797-A9EF-43B32348BCE5}"/>
              </a:ext>
            </a:extLst>
          </p:cNvPr>
          <p:cNvSpPr txBox="1"/>
          <p:nvPr/>
        </p:nvSpPr>
        <p:spPr>
          <a:xfrm>
            <a:off x="684682" y="1158523"/>
            <a:ext cx="10779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600" dirty="0">
                <a:solidFill>
                  <a:schemeClr val="tx2"/>
                </a:solidFill>
              </a:rPr>
              <a:t>Decorrente do exercício para promover a atualização dos fluxos em falta foram preparados planos de ação </a:t>
            </a:r>
          </a:p>
          <a:p>
            <a:pPr algn="just"/>
            <a:r>
              <a:rPr lang="pt-PT" sz="1600" dirty="0">
                <a:solidFill>
                  <a:schemeClr val="tx2"/>
                </a:solidFill>
              </a:rPr>
              <a:t>pelas áreas que têm conceitos em dicionário sem fluxo carregado para documentar estes fluxos.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C4749-81C0-F72B-A83F-D1C65D3A2A04}"/>
              </a:ext>
            </a:extLst>
          </p:cNvPr>
          <p:cNvSpPr/>
          <p:nvPr/>
        </p:nvSpPr>
        <p:spPr>
          <a:xfrm>
            <a:off x="4522880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F8A12-5F9F-98D9-5E7B-08F08EC92793}"/>
              </a:ext>
            </a:extLst>
          </p:cNvPr>
          <p:cNvSpPr/>
          <p:nvPr/>
        </p:nvSpPr>
        <p:spPr>
          <a:xfrm>
            <a:off x="6135334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CF82BC-D1ED-FD88-5AAF-4A2719006103}"/>
              </a:ext>
            </a:extLst>
          </p:cNvPr>
          <p:cNvSpPr/>
          <p:nvPr/>
        </p:nvSpPr>
        <p:spPr>
          <a:xfrm>
            <a:off x="7747788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53A974-149F-02DD-2AB5-57F2A4DDEFAB}"/>
              </a:ext>
            </a:extLst>
          </p:cNvPr>
          <p:cNvSpPr/>
          <p:nvPr/>
        </p:nvSpPr>
        <p:spPr>
          <a:xfrm>
            <a:off x="9360242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1905F-D9D9-495A-724F-787E859FC48A}"/>
              </a:ext>
            </a:extLst>
          </p:cNvPr>
          <p:cNvSpPr/>
          <p:nvPr/>
        </p:nvSpPr>
        <p:spPr>
          <a:xfrm>
            <a:off x="10972696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B37E7-54CD-1EF3-4258-F357B1BB65AD}"/>
              </a:ext>
            </a:extLst>
          </p:cNvPr>
          <p:cNvSpPr/>
          <p:nvPr/>
        </p:nvSpPr>
        <p:spPr>
          <a:xfrm>
            <a:off x="3716653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5BDC57-20DE-E0D1-228A-DE4BA1425FD8}"/>
              </a:ext>
            </a:extLst>
          </p:cNvPr>
          <p:cNvSpPr/>
          <p:nvPr/>
        </p:nvSpPr>
        <p:spPr>
          <a:xfrm>
            <a:off x="5329107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55CBD9-FA3B-718F-5A91-7809E2BF2C6D}"/>
              </a:ext>
            </a:extLst>
          </p:cNvPr>
          <p:cNvSpPr/>
          <p:nvPr/>
        </p:nvSpPr>
        <p:spPr>
          <a:xfrm>
            <a:off x="6941561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33ACC-2D1D-EEB1-5FE9-16B1C4DB67C5}"/>
              </a:ext>
            </a:extLst>
          </p:cNvPr>
          <p:cNvSpPr/>
          <p:nvPr/>
        </p:nvSpPr>
        <p:spPr>
          <a:xfrm>
            <a:off x="8554015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6175A1-0840-ABE4-227A-4BE958A28A48}"/>
              </a:ext>
            </a:extLst>
          </p:cNvPr>
          <p:cNvSpPr/>
          <p:nvPr/>
        </p:nvSpPr>
        <p:spPr>
          <a:xfrm>
            <a:off x="10166469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32FBB5-F2F6-D251-2C79-7BEF96492F18}"/>
              </a:ext>
            </a:extLst>
          </p:cNvPr>
          <p:cNvSpPr/>
          <p:nvPr/>
        </p:nvSpPr>
        <p:spPr>
          <a:xfrm>
            <a:off x="2910426" y="2142325"/>
            <a:ext cx="381550" cy="39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endParaRPr lang="pt-PT" sz="1800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82E82D-B885-372A-C463-1C89C69A05AF}"/>
              </a:ext>
            </a:extLst>
          </p:cNvPr>
          <p:cNvSpPr/>
          <p:nvPr/>
        </p:nvSpPr>
        <p:spPr>
          <a:xfrm>
            <a:off x="2910426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1991"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Dez22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6A142-98D1-245D-F276-DC2C50E26680}"/>
              </a:ext>
            </a:extLst>
          </p:cNvPr>
          <p:cNvSpPr/>
          <p:nvPr/>
        </p:nvSpPr>
        <p:spPr>
          <a:xfrm>
            <a:off x="3313499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Jan23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1AAC15-D49F-9BC2-B1FD-0C19E4524C27}"/>
              </a:ext>
            </a:extLst>
          </p:cNvPr>
          <p:cNvSpPr/>
          <p:nvPr/>
        </p:nvSpPr>
        <p:spPr>
          <a:xfrm>
            <a:off x="3716571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Fev 23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54EDDE-B084-4BFF-4D99-6F0B675FF97E}"/>
              </a:ext>
            </a:extLst>
          </p:cNvPr>
          <p:cNvSpPr/>
          <p:nvPr/>
        </p:nvSpPr>
        <p:spPr>
          <a:xfrm>
            <a:off x="4119644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Mar23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595A3-5501-AEB1-A714-4C86C1F6A027}"/>
              </a:ext>
            </a:extLst>
          </p:cNvPr>
          <p:cNvSpPr/>
          <p:nvPr/>
        </p:nvSpPr>
        <p:spPr>
          <a:xfrm>
            <a:off x="4522716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Abr23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3588B8-176A-4480-411C-ECA6F9A2E2B2}"/>
              </a:ext>
            </a:extLst>
          </p:cNvPr>
          <p:cNvSpPr/>
          <p:nvPr/>
        </p:nvSpPr>
        <p:spPr>
          <a:xfrm>
            <a:off x="4925789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Mai23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FB601D-2944-1D87-6B6E-6E7B52321915}"/>
              </a:ext>
            </a:extLst>
          </p:cNvPr>
          <p:cNvSpPr/>
          <p:nvPr/>
        </p:nvSpPr>
        <p:spPr>
          <a:xfrm>
            <a:off x="5328861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Jun23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F7F75F-2AE5-086C-5627-CD25945721DB}"/>
              </a:ext>
            </a:extLst>
          </p:cNvPr>
          <p:cNvSpPr/>
          <p:nvPr/>
        </p:nvSpPr>
        <p:spPr>
          <a:xfrm>
            <a:off x="6135006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Ago23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0A1F3-3A79-E4B2-04BB-2D3FBC03E0F9}"/>
              </a:ext>
            </a:extLst>
          </p:cNvPr>
          <p:cNvSpPr/>
          <p:nvPr/>
        </p:nvSpPr>
        <p:spPr>
          <a:xfrm>
            <a:off x="6538079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Set23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3BAF21-BB24-AF2B-E7AC-BD3137D6C835}"/>
              </a:ext>
            </a:extLst>
          </p:cNvPr>
          <p:cNvSpPr/>
          <p:nvPr/>
        </p:nvSpPr>
        <p:spPr>
          <a:xfrm>
            <a:off x="6941151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Out23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1E100F-C327-C95C-B109-84EBA85FA579}"/>
              </a:ext>
            </a:extLst>
          </p:cNvPr>
          <p:cNvSpPr txBox="1"/>
          <p:nvPr/>
        </p:nvSpPr>
        <p:spPr>
          <a:xfrm>
            <a:off x="529058" y="2190403"/>
            <a:ext cx="2457917" cy="391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b="1" dirty="0">
                <a:solidFill>
                  <a:schemeClr val="accent5">
                    <a:lumMod val="75000"/>
                  </a:schemeClr>
                </a:solidFill>
                <a:latin typeface="Santander Headline" panose="020B0504020201020104" pitchFamily="34" charset="0"/>
                <a:cs typeface="Segoe UI Semilight" panose="020B0402040204020203" pitchFamily="34" charset="0"/>
              </a:rPr>
              <a:t>Auditoria Interna</a:t>
            </a:r>
          </a:p>
          <a:p>
            <a:pPr>
              <a:lnSpc>
                <a:spcPct val="150000"/>
              </a:lnSpc>
            </a:pPr>
            <a:r>
              <a:rPr lang="pt-PT" sz="1400" b="1" dirty="0">
                <a:solidFill>
                  <a:schemeClr val="accent5">
                    <a:lumMod val="75000"/>
                  </a:schemeClr>
                </a:solidFill>
                <a:latin typeface="Santander Headline" panose="020B0504020201020104" pitchFamily="34" charset="0"/>
                <a:cs typeface="Segoe UI Semilight" panose="020B0402040204020203" pitchFamily="34" charset="0"/>
              </a:rPr>
              <a:t>Capital</a:t>
            </a: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Cibersegurança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 err="1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Compliance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 err="1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Consumer</a:t>
            </a: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 </a:t>
            </a:r>
            <a:r>
              <a:rPr lang="pt-PT" sz="1400" b="1" i="0" u="none" strike="noStrike" kern="1200" dirty="0" err="1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Protection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Controlo de Gestão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Contabilidade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PBC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Portfolio Manager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Risco de Mercado e Estrutural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marL="0" algn="l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Risco Operacional</a:t>
            </a:r>
            <a:endParaRPr lang="pt-PT" sz="1400" b="1" i="0" u="none" strike="noStrike" dirty="0">
              <a:solidFill>
                <a:schemeClr val="accent5">
                  <a:lumMod val="75000"/>
                </a:schemeClr>
              </a:solidFill>
              <a:effectLst/>
              <a:latin typeface="Santander Headline" panose="020B0504020201020104" pitchFamily="34" charset="0"/>
            </a:endParaRPr>
          </a:p>
          <a:p>
            <a:pPr fontAlgn="b">
              <a:lnSpc>
                <a:spcPct val="150000"/>
              </a:lnSpc>
            </a:pPr>
            <a:r>
              <a:rPr lang="pt-PT" sz="1400" b="1" i="0" u="none" strike="noStrike" kern="12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Gestão de Pessoas </a:t>
            </a:r>
            <a:r>
              <a:rPr lang="pt-PT" sz="1400" b="1" i="0" u="none" strike="noStrike" kern="1200" baseline="30000" dirty="0">
                <a:solidFill>
                  <a:schemeClr val="accent5">
                    <a:lumMod val="75000"/>
                  </a:schemeClr>
                </a:solidFill>
                <a:effectLst/>
                <a:latin typeface="Santander Headline" panose="020B0504020201020104" pitchFamily="34" charset="0"/>
              </a:rPr>
              <a:t>1</a:t>
            </a:r>
            <a:endParaRPr lang="pt-PT" sz="1400" b="1" i="0" u="none" strike="noStrike" baseline="30000" dirty="0">
              <a:effectLst/>
              <a:latin typeface="Santander Headline" panose="020B05040202010201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7009B2-5EE4-9A23-101F-4F585755CAA7}"/>
              </a:ext>
            </a:extLst>
          </p:cNvPr>
          <p:cNvCxnSpPr/>
          <p:nvPr/>
        </p:nvCxnSpPr>
        <p:spPr>
          <a:xfrm flipV="1">
            <a:off x="630665" y="2210746"/>
            <a:ext cx="10728000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1C79AC4-4D3A-795C-3648-8C570F55CEC5}"/>
              </a:ext>
            </a:extLst>
          </p:cNvPr>
          <p:cNvSpPr/>
          <p:nvPr/>
        </p:nvSpPr>
        <p:spPr>
          <a:xfrm>
            <a:off x="7344224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Nov23</a:t>
            </a:r>
          </a:p>
        </p:txBody>
      </p:sp>
      <p:sp>
        <p:nvSpPr>
          <p:cNvPr id="32" name="Rectangle: Rounded Corners 192">
            <a:extLst>
              <a:ext uri="{FF2B5EF4-FFF2-40B4-BE49-F238E27FC236}">
                <a16:creationId xmlns:a16="http://schemas.microsoft.com/office/drawing/2014/main" id="{F3413216-CF07-5D0A-79BA-841F2EBDF54E}"/>
              </a:ext>
            </a:extLst>
          </p:cNvPr>
          <p:cNvSpPr/>
          <p:nvPr/>
        </p:nvSpPr>
        <p:spPr>
          <a:xfrm>
            <a:off x="2947718" y="3246880"/>
            <a:ext cx="4752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defTabSz="914400"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27%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820E2F-6157-5CEA-FDFD-03325441BCE4}"/>
              </a:ext>
            </a:extLst>
          </p:cNvPr>
          <p:cNvSpPr/>
          <p:nvPr/>
        </p:nvSpPr>
        <p:spPr>
          <a:xfrm>
            <a:off x="7747296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1991" rtlCol="0" anchor="ctr"/>
          <a:lstStyle/>
          <a:p>
            <a:pPr algn="ctr"/>
            <a:r>
              <a:rPr lang="pt-PT" sz="900" kern="0">
                <a:solidFill>
                  <a:prstClr val="white"/>
                </a:solidFill>
                <a:latin typeface="Santander Text"/>
              </a:rPr>
              <a:t>Dez23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E074C5-B308-6AC9-D0A0-02E6A40D470D}"/>
              </a:ext>
            </a:extLst>
          </p:cNvPr>
          <p:cNvSpPr/>
          <p:nvPr/>
        </p:nvSpPr>
        <p:spPr>
          <a:xfrm>
            <a:off x="8150369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Jan24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83C9A6-6F2A-B710-5665-5D702602B146}"/>
              </a:ext>
            </a:extLst>
          </p:cNvPr>
          <p:cNvSpPr/>
          <p:nvPr/>
        </p:nvSpPr>
        <p:spPr>
          <a:xfrm>
            <a:off x="8553441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Fev24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9D7B91-BC4E-0ADF-4810-820F2C6CAB99}"/>
              </a:ext>
            </a:extLst>
          </p:cNvPr>
          <p:cNvSpPr/>
          <p:nvPr/>
        </p:nvSpPr>
        <p:spPr>
          <a:xfrm>
            <a:off x="8956514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Mar24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AA2176-18BD-6A12-BE22-B89B0CEA0E7D}"/>
              </a:ext>
            </a:extLst>
          </p:cNvPr>
          <p:cNvSpPr/>
          <p:nvPr/>
        </p:nvSpPr>
        <p:spPr>
          <a:xfrm>
            <a:off x="5731934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Jul</a:t>
            </a:r>
          </a:p>
          <a:p>
            <a:pPr algn="ctr" defTabSz="914309">
              <a:defRPr/>
            </a:pPr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23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D32CBD-AEE4-607B-786F-90BD530F59E8}"/>
              </a:ext>
            </a:extLst>
          </p:cNvPr>
          <p:cNvSpPr/>
          <p:nvPr/>
        </p:nvSpPr>
        <p:spPr>
          <a:xfrm>
            <a:off x="9359586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Abr24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239244-C8CE-8793-2694-8F3D9663F921}"/>
              </a:ext>
            </a:extLst>
          </p:cNvPr>
          <p:cNvSpPr/>
          <p:nvPr/>
        </p:nvSpPr>
        <p:spPr>
          <a:xfrm>
            <a:off x="9762659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Mai24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D0BE14-FD02-EE46-5239-AE2CCF128EDF}"/>
              </a:ext>
            </a:extLst>
          </p:cNvPr>
          <p:cNvSpPr/>
          <p:nvPr/>
        </p:nvSpPr>
        <p:spPr>
          <a:xfrm>
            <a:off x="10165731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Jun24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8D5BF3-90EF-00C8-4F7B-6ABE578F68BB}"/>
              </a:ext>
            </a:extLst>
          </p:cNvPr>
          <p:cNvSpPr/>
          <p:nvPr/>
        </p:nvSpPr>
        <p:spPr>
          <a:xfrm>
            <a:off x="10971877" y="1879445"/>
            <a:ext cx="381550" cy="287963"/>
          </a:xfrm>
          <a:prstGeom prst="rect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09">
              <a:defRPr/>
            </a:pPr>
            <a:r>
              <a:rPr lang="pt-PT" sz="900" kern="0">
                <a:solidFill>
                  <a:prstClr val="white"/>
                </a:solidFill>
                <a:latin typeface="Santander Text"/>
              </a:rPr>
              <a:t>Ago24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0501D1-9E1A-7F8F-CB52-1CD9AFAA702C}"/>
              </a:ext>
            </a:extLst>
          </p:cNvPr>
          <p:cNvSpPr/>
          <p:nvPr/>
        </p:nvSpPr>
        <p:spPr>
          <a:xfrm>
            <a:off x="10568804" y="1879445"/>
            <a:ext cx="381550" cy="2879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Jul</a:t>
            </a:r>
          </a:p>
          <a:p>
            <a:pPr algn="ctr"/>
            <a:r>
              <a:rPr lang="pt-PT" sz="900" kern="0">
                <a:solidFill>
                  <a:sysClr val="windowText" lastClr="000000"/>
                </a:solidFill>
                <a:latin typeface="Santander Text"/>
              </a:rPr>
              <a:t>24</a:t>
            </a:r>
          </a:p>
        </p:txBody>
      </p:sp>
      <p:pic>
        <p:nvPicPr>
          <p:cNvPr id="44" name="Picture 43" descr="Icon&#10;&#10;Description automatically generated">
            <a:extLst>
              <a:ext uri="{FF2B5EF4-FFF2-40B4-BE49-F238E27FC236}">
                <a16:creationId xmlns:a16="http://schemas.microsoft.com/office/drawing/2014/main" id="{C443FF57-9D31-3D47-D7A3-E362A374449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929633" y="4158347"/>
            <a:ext cx="219871" cy="215972"/>
          </a:xfrm>
          <a:prstGeom prst="rect">
            <a:avLst/>
          </a:prstGeom>
        </p:spPr>
      </p:pic>
      <p:sp>
        <p:nvSpPr>
          <p:cNvPr id="45" name="Rectangle: Rounded Corners 192">
            <a:extLst>
              <a:ext uri="{FF2B5EF4-FFF2-40B4-BE49-F238E27FC236}">
                <a16:creationId xmlns:a16="http://schemas.microsoft.com/office/drawing/2014/main" id="{551ED56C-D98E-4D0B-9BF1-01A7015DE94D}"/>
              </a:ext>
            </a:extLst>
          </p:cNvPr>
          <p:cNvSpPr/>
          <p:nvPr/>
        </p:nvSpPr>
        <p:spPr>
          <a:xfrm>
            <a:off x="2947718" y="3569192"/>
            <a:ext cx="1548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solidFill>
              <a:srgbClr val="92D050"/>
            </a:solidFill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1991" tIns="0" rIns="71991" bIns="0" numCol="1" spcCol="38100" rtlCol="0" anchor="ctr">
            <a:noAutofit/>
          </a:bodyPr>
          <a:lstStyle/>
          <a:p>
            <a:pPr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100%</a:t>
            </a:r>
          </a:p>
        </p:txBody>
      </p:sp>
      <p:sp>
        <p:nvSpPr>
          <p:cNvPr id="46" name="Rectangle: Rounded Corners 192">
            <a:extLst>
              <a:ext uri="{FF2B5EF4-FFF2-40B4-BE49-F238E27FC236}">
                <a16:creationId xmlns:a16="http://schemas.microsoft.com/office/drawing/2014/main" id="{5C803918-6022-DACE-72DA-FCF01E56FDE9}"/>
              </a:ext>
            </a:extLst>
          </p:cNvPr>
          <p:cNvSpPr/>
          <p:nvPr/>
        </p:nvSpPr>
        <p:spPr>
          <a:xfrm>
            <a:off x="3307643" y="3891504"/>
            <a:ext cx="2340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defTabSz="914400"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25%</a:t>
            </a:r>
          </a:p>
        </p:txBody>
      </p:sp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3D5546E0-2D28-0CEE-25C4-04AF2813FF7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929633" y="2307326"/>
            <a:ext cx="219871" cy="215972"/>
          </a:xfrm>
          <a:prstGeom prst="rect">
            <a:avLst/>
          </a:prstGeom>
        </p:spPr>
      </p:pic>
      <p:sp>
        <p:nvSpPr>
          <p:cNvPr id="48" name="Rectangle: Rounded Corners 192">
            <a:extLst>
              <a:ext uri="{FF2B5EF4-FFF2-40B4-BE49-F238E27FC236}">
                <a16:creationId xmlns:a16="http://schemas.microsoft.com/office/drawing/2014/main" id="{0C0A2CA9-3963-3866-DD22-A34FE465DD04}"/>
              </a:ext>
            </a:extLst>
          </p:cNvPr>
          <p:cNvSpPr/>
          <p:nvPr/>
        </p:nvSpPr>
        <p:spPr>
          <a:xfrm>
            <a:off x="3307643" y="4536128"/>
            <a:ext cx="7200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defTabSz="914400"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11%</a:t>
            </a:r>
          </a:p>
        </p:txBody>
      </p:sp>
      <p:sp>
        <p:nvSpPr>
          <p:cNvPr id="50" name="Rectangle: Rounded Corners 192">
            <a:extLst>
              <a:ext uri="{FF2B5EF4-FFF2-40B4-BE49-F238E27FC236}">
                <a16:creationId xmlns:a16="http://schemas.microsoft.com/office/drawing/2014/main" id="{401A4148-A57D-C229-8586-09A561221F3A}"/>
              </a:ext>
            </a:extLst>
          </p:cNvPr>
          <p:cNvSpPr/>
          <p:nvPr/>
        </p:nvSpPr>
        <p:spPr>
          <a:xfrm>
            <a:off x="3307643" y="4858440"/>
            <a:ext cx="6408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solidFill>
              <a:schemeClr val="accent6"/>
            </a:solidFill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1991" tIns="0" rIns="71991" bIns="0" numCol="1" spcCol="38100" rtlCol="0" anchor="ctr">
            <a:noAutofit/>
          </a:bodyPr>
          <a:lstStyle/>
          <a:p>
            <a:pPr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0%</a:t>
            </a:r>
          </a:p>
        </p:txBody>
      </p:sp>
      <p:sp>
        <p:nvSpPr>
          <p:cNvPr id="51" name="Rectangle: Rounded Corners 192">
            <a:extLst>
              <a:ext uri="{FF2B5EF4-FFF2-40B4-BE49-F238E27FC236}">
                <a16:creationId xmlns:a16="http://schemas.microsoft.com/office/drawing/2014/main" id="{6F444207-B19F-24EA-79AF-ED5546A06216}"/>
              </a:ext>
            </a:extLst>
          </p:cNvPr>
          <p:cNvSpPr/>
          <p:nvPr/>
        </p:nvSpPr>
        <p:spPr>
          <a:xfrm>
            <a:off x="2947718" y="5180752"/>
            <a:ext cx="1908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solidFill>
              <a:srgbClr val="92D050"/>
            </a:solidFill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1991" tIns="0" rIns="71991" bIns="0" numCol="1" spcCol="38100" rtlCol="0" anchor="ctr">
            <a:noAutofit/>
          </a:bodyPr>
          <a:lstStyle/>
          <a:p>
            <a:pPr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100%</a:t>
            </a:r>
          </a:p>
        </p:txBody>
      </p:sp>
      <p:sp>
        <p:nvSpPr>
          <p:cNvPr id="52" name="Rectangle: Rounded Corners 192">
            <a:extLst>
              <a:ext uri="{FF2B5EF4-FFF2-40B4-BE49-F238E27FC236}">
                <a16:creationId xmlns:a16="http://schemas.microsoft.com/office/drawing/2014/main" id="{12DB5F06-4969-30AA-C396-A70B4399C012}"/>
              </a:ext>
            </a:extLst>
          </p:cNvPr>
          <p:cNvSpPr/>
          <p:nvPr/>
        </p:nvSpPr>
        <p:spPr>
          <a:xfrm>
            <a:off x="2947718" y="5503066"/>
            <a:ext cx="5148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defTabSz="914400"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24%</a:t>
            </a:r>
          </a:p>
        </p:txBody>
      </p:sp>
      <p:sp>
        <p:nvSpPr>
          <p:cNvPr id="54" name="Nome">
            <a:extLst>
              <a:ext uri="{FF2B5EF4-FFF2-40B4-BE49-F238E27FC236}">
                <a16:creationId xmlns:a16="http://schemas.microsoft.com/office/drawing/2014/main" id="{A6CDB460-3409-6B44-7DC2-60918C90CC51}"/>
              </a:ext>
            </a:extLst>
          </p:cNvPr>
          <p:cNvSpPr/>
          <p:nvPr/>
        </p:nvSpPr>
        <p:spPr>
          <a:xfrm>
            <a:off x="2150912" y="6310259"/>
            <a:ext cx="8928000" cy="288000"/>
          </a:xfrm>
          <a:prstGeom prst="roundRect">
            <a:avLst>
              <a:gd name="adj" fmla="val 0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t"/>
          <a:lstStyle/>
          <a:p>
            <a:pPr algn="just"/>
            <a:r>
              <a:rPr lang="pt-BR" sz="1100" noProof="1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77"/>
              </a:rPr>
              <a:t>1 – Em análise pela corporação</a:t>
            </a:r>
          </a:p>
        </p:txBody>
      </p:sp>
      <p:sp>
        <p:nvSpPr>
          <p:cNvPr id="55" name="Rectangle: Rounded Corners 192">
            <a:extLst>
              <a:ext uri="{FF2B5EF4-FFF2-40B4-BE49-F238E27FC236}">
                <a16:creationId xmlns:a16="http://schemas.microsoft.com/office/drawing/2014/main" id="{8A851C3F-B657-47F5-9CAA-73F2040911F2}"/>
              </a:ext>
            </a:extLst>
          </p:cNvPr>
          <p:cNvSpPr/>
          <p:nvPr/>
        </p:nvSpPr>
        <p:spPr>
          <a:xfrm>
            <a:off x="3822505" y="2616442"/>
            <a:ext cx="1850839" cy="189348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defTabSz="914400"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99%</a:t>
            </a:r>
          </a:p>
        </p:txBody>
      </p:sp>
      <p:pic>
        <p:nvPicPr>
          <p:cNvPr id="56" name="Picture 55" descr="Icon&#10;&#10;Description automatically generated">
            <a:extLst>
              <a:ext uri="{FF2B5EF4-FFF2-40B4-BE49-F238E27FC236}">
                <a16:creationId xmlns:a16="http://schemas.microsoft.com/office/drawing/2014/main" id="{94A82C33-C74C-4DC2-82FA-4AC40107F33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25622" y="2898883"/>
            <a:ext cx="219871" cy="215972"/>
          </a:xfrm>
          <a:prstGeom prst="rect">
            <a:avLst/>
          </a:prstGeom>
        </p:spPr>
      </p:pic>
      <p:sp>
        <p:nvSpPr>
          <p:cNvPr id="33" name="Rectangle: Rounded Corners 192">
            <a:extLst>
              <a:ext uri="{FF2B5EF4-FFF2-40B4-BE49-F238E27FC236}">
                <a16:creationId xmlns:a16="http://schemas.microsoft.com/office/drawing/2014/main" id="{F42C70A7-04EE-C45C-5D43-10D9DB37FDC4}"/>
              </a:ext>
            </a:extLst>
          </p:cNvPr>
          <p:cNvSpPr/>
          <p:nvPr/>
        </p:nvSpPr>
        <p:spPr>
          <a:xfrm>
            <a:off x="2947718" y="2924568"/>
            <a:ext cx="1116000" cy="160503"/>
          </a:xfrm>
          <a:prstGeom prst="roundRect">
            <a:avLst>
              <a:gd name="adj" fmla="val 50000"/>
            </a:avLst>
          </a:prstGeom>
          <a:solidFill>
            <a:srgbClr val="458FA3"/>
          </a:solidFill>
          <a:ln w="25400" cap="flat">
            <a:solidFill>
              <a:srgbClr val="92D050"/>
            </a:solidFill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71991" tIns="0" rIns="71991" bIns="0" numCol="1" spcCol="38100" rtlCol="0" anchor="ctr">
            <a:noAutofit/>
          </a:bodyPr>
          <a:lstStyle/>
          <a:p>
            <a:pPr hangingPunct="0"/>
            <a:r>
              <a:rPr lang="pt-PT" sz="900" kern="0" dirty="0">
                <a:solidFill>
                  <a:prstClr val="white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Calibri"/>
              </a:rPr>
              <a:t>100%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AA2D56E-C80F-0B4D-0D84-0F020213914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528053" y="3512819"/>
            <a:ext cx="219871" cy="215972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D6C3CC04-5D6F-CF74-63C6-D1E9A6A4A36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25789" y="5117193"/>
            <a:ext cx="219871" cy="215972"/>
          </a:xfrm>
          <a:prstGeom prst="rect">
            <a:avLst/>
          </a:prstGeom>
        </p:spPr>
      </p:pic>
      <p:sp>
        <p:nvSpPr>
          <p:cNvPr id="53" name="Rectangle: Rounded Corners 192">
            <a:extLst>
              <a:ext uri="{FF2B5EF4-FFF2-40B4-BE49-F238E27FC236}">
                <a16:creationId xmlns:a16="http://schemas.microsoft.com/office/drawing/2014/main" id="{4D8445A7-F0F4-BEDD-A01B-FF8059BC3714}"/>
              </a:ext>
            </a:extLst>
          </p:cNvPr>
          <p:cNvSpPr/>
          <p:nvPr/>
        </p:nvSpPr>
        <p:spPr>
          <a:xfrm>
            <a:off x="3307643" y="3891504"/>
            <a:ext cx="1188000" cy="144000"/>
          </a:xfrm>
          <a:prstGeom prst="roundRect">
            <a:avLst>
              <a:gd name="adj" fmla="val 50000"/>
            </a:avLst>
          </a:prstGeom>
          <a:noFill/>
          <a:ln w="25400" cap="flat">
            <a:solidFill>
              <a:srgbClr val="FFC000"/>
            </a:solidFill>
            <a:prstDash val="sysDot"/>
            <a:round/>
          </a:ln>
          <a:effectLst/>
          <a:sp3d/>
        </p:spPr>
        <p:txBody>
          <a:bodyPr rot="0" spcFirstLastPara="1" vertOverflow="overflow" horzOverflow="overflow" vert="horz" wrap="square" lIns="72000" tIns="0" rIns="72000" bIns="0" numCol="1" spcCol="38100" rtlCol="0" anchor="ctr">
            <a:noAutofit/>
          </a:bodyPr>
          <a:lstStyle/>
          <a:p>
            <a:pPr marL="0" marR="0" lvl="0" indent="0" defTabSz="9144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 pitchFamily="34" charset="0"/>
              <a:cs typeface="Segoe UI Semilight" panose="020B04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77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19"/>
            <a:ext cx="6602504" cy="2853398"/>
          </a:xfrm>
        </p:spPr>
        <p:txBody>
          <a:bodyPr/>
          <a:lstStyle/>
          <a:p>
            <a:r>
              <a:rPr lang="pt-PT" dirty="0"/>
              <a:t>Listagem de Reportes Internos e Inventário de Reportes sob Governo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3900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9082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defTabSz="914035">
              <a:defRPr/>
            </a:pPr>
            <a:fld id="{BC0D97B6-E32F-4D7D-B839-7C3B51F2640F}" type="slidenum">
              <a:rPr lang="en-GB">
                <a:solidFill>
                  <a:srgbClr val="EB0000"/>
                </a:solidFill>
                <a:latin typeface="Arial"/>
              </a:rPr>
              <a:pPr defTabSz="914035">
                <a:defRPr/>
              </a:pPr>
              <a:t>11</a:t>
            </a:fld>
            <a:endParaRPr lang="en-GB">
              <a:solidFill>
                <a:srgbClr val="EB0000"/>
              </a:solidFill>
              <a:latin typeface="Arial"/>
            </a:endParaRPr>
          </a:p>
        </p:txBody>
      </p:sp>
      <p:sp>
        <p:nvSpPr>
          <p:cNvPr id="16" name="Título 1"/>
          <p:cNvSpPr txBox="1">
            <a:spLocks/>
          </p:cNvSpPr>
          <p:nvPr/>
        </p:nvSpPr>
        <p:spPr>
          <a:xfrm>
            <a:off x="724092" y="733838"/>
            <a:ext cx="11199500" cy="3980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103"/>
            <a:r>
              <a:rPr lang="pt-BR" sz="2400" dirty="0">
                <a:solidFill>
                  <a:srgbClr val="EB0000"/>
                </a:solidFill>
                <a:latin typeface="Arial"/>
              </a:rPr>
              <a:t>Listagem de Reportes Internos e Inventário de Reportes sob Governo</a:t>
            </a:r>
          </a:p>
          <a:p>
            <a:pPr defTabSz="914103"/>
            <a:endParaRPr lang="pt-BR" sz="1200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712878" y="338297"/>
            <a:ext cx="10753444" cy="304759"/>
          </a:xfrm>
        </p:spPr>
        <p:txBody>
          <a:bodyPr/>
          <a:lstStyle/>
          <a:p>
            <a:r>
              <a:rPr lang="pt-PT" dirty="0"/>
              <a:t>Governo de Dados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4CE9F26D-E24E-4E7E-93A9-6384105A8D5B}"/>
              </a:ext>
            </a:extLst>
          </p:cNvPr>
          <p:cNvSpPr txBox="1">
            <a:spLocks/>
          </p:cNvSpPr>
          <p:nvPr/>
        </p:nvSpPr>
        <p:spPr>
          <a:xfrm>
            <a:off x="724092" y="1324786"/>
            <a:ext cx="10423806" cy="1011968"/>
          </a:xfrm>
          <a:prstGeom prst="rect">
            <a:avLst/>
          </a:prstGeom>
        </p:spPr>
        <p:txBody>
          <a:bodyPr numCol="1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03">
              <a:spcAft>
                <a:spcPts val="600"/>
              </a:spcAft>
              <a:buNone/>
            </a:pPr>
            <a:r>
              <a:rPr lang="pt-PT" sz="1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procedimento define de forma sistematizada o método a seguir para a listar e caracterizar de forma sucinta os vários reportes internos relevantes, e para adicionalmente inventariar os Reportes internos sob governo de dados, incluindo a sua caracterização mais detalhada.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F5965AC-53D5-F68E-61B7-63E68341EE0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9520060" y="4048100"/>
            <a:ext cx="1559091" cy="7917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76172" tIns="76172" rIns="76172" bIns="76172" anchor="ctr"/>
          <a:lstStyle>
            <a:lvl1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95081" fontAlgn="base">
              <a:spcBef>
                <a:spcPct val="0"/>
              </a:spcBef>
              <a:buSzPct val="120000"/>
            </a:pPr>
            <a:endParaRPr lang="en-US" altLang="en-US" sz="1400" kern="0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D2C1B0B-CC03-BF1C-89A2-ACEA3614E9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9524049" y="2982321"/>
            <a:ext cx="1560055" cy="7917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76172" tIns="76172" rIns="76172" bIns="76172" anchor="ctr"/>
          <a:lstStyle>
            <a:lvl1pPr algn="l" defTabSz="895350">
              <a:spcAft>
                <a:spcPct val="0"/>
              </a:spcAft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11200" indent="-304800" algn="l" defTabSz="895350">
              <a:spcAft>
                <a:spcPct val="0"/>
              </a:spcAft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0300" indent="-304800" algn="l" defTabSz="895350"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49400" indent="-304800" algn="l" defTabSz="895350">
              <a:spcAft>
                <a:spcPct val="0"/>
              </a:spcAft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68500" indent="-304800" algn="l" defTabSz="895350"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25700" indent="-304800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82900" indent="-304800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40100" indent="-304800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97300" indent="-304800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895081" fontAlgn="base">
              <a:spcBef>
                <a:spcPts val="600"/>
              </a:spcBef>
              <a:defRPr/>
            </a:pPr>
            <a:endParaRPr lang="en-US" altLang="en-US" sz="1400" i="1" kern="0" dirty="0">
              <a:solidFill>
                <a:srgbClr val="000000"/>
              </a:solidFill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99C0DDD6-8678-7B59-1B4F-E60A4C423D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8440" y="4040165"/>
            <a:ext cx="8387112" cy="791714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03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6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2571544F-6BC9-90F5-09B0-E98E043DEB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31880" y="4328339"/>
            <a:ext cx="7773188" cy="21536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895350">
              <a:spcAft>
                <a:spcPct val="0"/>
              </a:spcAft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44463" indent="-142875" algn="l" defTabSz="895350">
              <a:spcAft>
                <a:spcPct val="0"/>
              </a:spcAft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95275" indent="-149225" algn="l" defTabSz="895350"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31800" indent="-134938" algn="l" defTabSz="895350">
              <a:spcAft>
                <a:spcPct val="0"/>
              </a:spcAft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582613" indent="-149225" algn="l" defTabSz="895350"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895081" fontAlgn="base">
              <a:spcBef>
                <a:spcPct val="0"/>
              </a:spcBef>
              <a:defRPr/>
            </a:pPr>
            <a:r>
              <a:rPr lang="en-US" altLang="en-US" sz="1400" b="1" kern="0" dirty="0" err="1">
                <a:solidFill>
                  <a:srgbClr val="FFFFFF"/>
                </a:solidFill>
              </a:rPr>
              <a:t>Listagem</a:t>
            </a:r>
            <a:r>
              <a:rPr lang="en-US" altLang="en-US" sz="1400" b="1" kern="0" dirty="0">
                <a:solidFill>
                  <a:srgbClr val="FFFFFF"/>
                </a:solidFill>
              </a:rPr>
              <a:t> de </a:t>
            </a:r>
            <a:r>
              <a:rPr lang="en-US" altLang="en-US" sz="1400" b="1" kern="0" dirty="0" err="1">
                <a:solidFill>
                  <a:srgbClr val="FFFFFF"/>
                </a:solidFill>
              </a:rPr>
              <a:t>Reportes</a:t>
            </a:r>
            <a:r>
              <a:rPr lang="en-US" altLang="en-US" sz="1400" b="1" kern="0" dirty="0">
                <a:solidFill>
                  <a:srgbClr val="FFFFFF"/>
                </a:solidFill>
              </a:rPr>
              <a:t> </a:t>
            </a:r>
            <a:r>
              <a:rPr lang="en-US" altLang="en-US" sz="1400" b="1" kern="0" dirty="0" err="1">
                <a:solidFill>
                  <a:srgbClr val="FFFFFF"/>
                </a:solidFill>
              </a:rPr>
              <a:t>Internos</a:t>
            </a:r>
            <a:endParaRPr lang="en-US" altLang="en-US" sz="1400" b="1" kern="0" dirty="0">
              <a:solidFill>
                <a:srgbClr val="FFFFFF"/>
              </a:solidFill>
            </a:endParaRPr>
          </a:p>
        </p:txBody>
      </p:sp>
      <p:sp>
        <p:nvSpPr>
          <p:cNvPr id="19" name="WordArt 20">
            <a:extLst>
              <a:ext uri="{FF2B5EF4-FFF2-40B4-BE49-F238E27FC236}">
                <a16:creationId xmlns:a16="http://schemas.microsoft.com/office/drawing/2014/main" id="{5C7752F5-00BA-22DD-9D9B-3D671E929148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1173833" y="4178228"/>
            <a:ext cx="304689" cy="539805"/>
          </a:xfrm>
          <a:prstGeom prst="rect">
            <a:avLst/>
          </a:pr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199" kern="10" dirty="0">
                <a:solidFill>
                  <a:srgbClr val="FFFFFF"/>
                </a:solidFill>
                <a:latin typeface="Arial Black" panose="020B0A04020102020204" pitchFamily="34" charset="0"/>
                <a:cs typeface="Arial"/>
              </a:rPr>
              <a:t>2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FCE657C1-DB1E-5006-9D33-1591872D0D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8440" y="2982321"/>
            <a:ext cx="8387120" cy="791714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endParaRPr lang="en-US" sz="16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4AB95087-535B-6665-11A1-9B0284BAC0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31881" y="3270495"/>
            <a:ext cx="7773188" cy="21536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895350">
              <a:spcAft>
                <a:spcPct val="0"/>
              </a:spcAft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44463" indent="-142875" algn="l" defTabSz="895350">
              <a:spcAft>
                <a:spcPct val="0"/>
              </a:spcAft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95275" indent="-149225" algn="l" defTabSz="895350"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31800" indent="-134938" algn="l" defTabSz="895350">
              <a:spcAft>
                <a:spcPct val="0"/>
              </a:spcAft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582613" indent="-149225" algn="l" defTabSz="895350"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895081" fontAlgn="base">
              <a:spcBef>
                <a:spcPct val="0"/>
              </a:spcBef>
              <a:defRPr/>
            </a:pPr>
            <a:r>
              <a:rPr lang="en-US" altLang="en-US" sz="1400" b="1" kern="0" dirty="0" err="1">
                <a:solidFill>
                  <a:srgbClr val="FFFFFF"/>
                </a:solidFill>
              </a:rPr>
              <a:t>Definição</a:t>
            </a:r>
            <a:r>
              <a:rPr lang="en-US" altLang="en-US" sz="1400" b="1" kern="0" dirty="0">
                <a:solidFill>
                  <a:srgbClr val="FFFFFF"/>
                </a:solidFill>
              </a:rPr>
              <a:t> do </a:t>
            </a:r>
            <a:r>
              <a:rPr lang="en-US" altLang="en-US" sz="1400" b="1" kern="0" dirty="0" err="1">
                <a:solidFill>
                  <a:srgbClr val="FFFFFF"/>
                </a:solidFill>
              </a:rPr>
              <a:t>Procedimento</a:t>
            </a:r>
            <a:endParaRPr lang="en-US" altLang="en-US" sz="1400" kern="0" dirty="0">
              <a:solidFill>
                <a:srgbClr val="FFFFFF"/>
              </a:solidFill>
            </a:endParaRPr>
          </a:p>
        </p:txBody>
      </p:sp>
      <p:sp>
        <p:nvSpPr>
          <p:cNvPr id="22" name="WordArt 25">
            <a:extLst>
              <a:ext uri="{FF2B5EF4-FFF2-40B4-BE49-F238E27FC236}">
                <a16:creationId xmlns:a16="http://schemas.microsoft.com/office/drawing/2014/main" id="{903C6F0A-2BF9-C704-6279-58FE82E3A3DC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1186528" y="3120384"/>
            <a:ext cx="304689" cy="539805"/>
          </a:xfrm>
          <a:prstGeom prst="rect">
            <a:avLst/>
          </a:pr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2400" kern="10" dirty="0">
                <a:solidFill>
                  <a:srgbClr val="FFFFFF"/>
                </a:solidFill>
                <a:latin typeface="Arial Black" panose="020B0A04020102020204" pitchFamily="34" charset="0"/>
                <a:cs typeface="Arial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6EA89A-C7E4-9053-50B5-438CD9B3861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56057" y="3772610"/>
            <a:ext cx="9824447" cy="165358"/>
          </a:xfrm>
          <a:prstGeom prst="rect">
            <a:avLst/>
          </a:prstGeom>
          <a:gradFill rotWithShape="1">
            <a:gsLst>
              <a:gs pos="0">
                <a:srgbClr val="8299B4"/>
              </a:gs>
              <a:gs pos="100000">
                <a:srgbClr val="EEEADE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endParaRPr lang="en-US" sz="1600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1FF149-8AE8-5561-C817-2DFF1DD165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56057" y="4828863"/>
            <a:ext cx="9824447" cy="165358"/>
          </a:xfrm>
          <a:prstGeom prst="rect">
            <a:avLst/>
          </a:prstGeom>
          <a:gradFill rotWithShape="1">
            <a:gsLst>
              <a:gs pos="0">
                <a:srgbClr val="8299B4"/>
              </a:gs>
              <a:gs pos="100000">
                <a:srgbClr val="EEEADE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endParaRPr lang="en-US" sz="1600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E97D226-A870-45B2-6A2E-3F5CEEF59E4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9520060" y="5094107"/>
            <a:ext cx="1559091" cy="7917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lIns="76172" tIns="76172" rIns="76172" bIns="76172" anchor="ctr"/>
          <a:lstStyle>
            <a:lvl1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895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895081" fontAlgn="base">
              <a:spcBef>
                <a:spcPct val="0"/>
              </a:spcBef>
              <a:buSzPct val="120000"/>
            </a:pPr>
            <a:endParaRPr lang="en-US" altLang="en-US" sz="1400" kern="0" dirty="0">
              <a:solidFill>
                <a:srgbClr val="000000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744112E6-DD76-EBE6-AF3C-E0EBC571FB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8440" y="5086172"/>
            <a:ext cx="8387112" cy="791714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03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6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F29B8C67-7945-DB00-FFFF-78582E6E2B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31880" y="5374346"/>
            <a:ext cx="7773188" cy="21536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895350">
              <a:spcAft>
                <a:spcPct val="0"/>
              </a:spcAft>
              <a:buSzPct val="120000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44463" indent="-142875" algn="l" defTabSz="895350">
              <a:spcAft>
                <a:spcPct val="0"/>
              </a:spcAft>
              <a:buSzPct val="12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95275" indent="-149225" algn="l" defTabSz="895350"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31800" indent="-134938" algn="l" defTabSz="895350">
              <a:spcAft>
                <a:spcPct val="0"/>
              </a:spcAft>
              <a:buSzPct val="89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582613" indent="-149225" algn="l" defTabSz="895350"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0398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14970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9542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411413" indent="-149225" defTabSz="895350" fontAlgn="base">
              <a:spcBef>
                <a:spcPct val="0"/>
              </a:spcBef>
              <a:spcAft>
                <a:spcPct val="0"/>
              </a:spcAft>
              <a:buSzPct val="7500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895081" fontAlgn="base">
              <a:spcBef>
                <a:spcPct val="0"/>
              </a:spcBef>
              <a:defRPr/>
            </a:pPr>
            <a:r>
              <a:rPr lang="en-US" altLang="en-US" sz="1400" b="1" kern="0" dirty="0" err="1">
                <a:solidFill>
                  <a:srgbClr val="FFFFFF"/>
                </a:solidFill>
              </a:rPr>
              <a:t>Inventário</a:t>
            </a:r>
            <a:r>
              <a:rPr lang="en-US" altLang="en-US" sz="1400" b="1" kern="0" dirty="0">
                <a:solidFill>
                  <a:srgbClr val="FFFFFF"/>
                </a:solidFill>
              </a:rPr>
              <a:t> de </a:t>
            </a:r>
            <a:r>
              <a:rPr lang="en-US" altLang="en-US" sz="1400" b="1" kern="0" dirty="0" err="1">
                <a:solidFill>
                  <a:srgbClr val="FFFFFF"/>
                </a:solidFill>
              </a:rPr>
              <a:t>Reportes</a:t>
            </a:r>
            <a:r>
              <a:rPr lang="en-US" altLang="en-US" sz="1400" b="1" kern="0" dirty="0">
                <a:solidFill>
                  <a:srgbClr val="FFFFFF"/>
                </a:solidFill>
              </a:rPr>
              <a:t> </a:t>
            </a:r>
            <a:r>
              <a:rPr lang="en-US" altLang="en-US" sz="1400" b="1" kern="0" dirty="0" err="1">
                <a:solidFill>
                  <a:srgbClr val="FFFFFF"/>
                </a:solidFill>
              </a:rPr>
              <a:t>Internos</a:t>
            </a:r>
            <a:r>
              <a:rPr lang="en-US" altLang="en-US" sz="1400" b="1" kern="0" dirty="0">
                <a:solidFill>
                  <a:srgbClr val="FFFFFF"/>
                </a:solidFill>
              </a:rPr>
              <a:t> sob Governo de Dados</a:t>
            </a:r>
          </a:p>
        </p:txBody>
      </p:sp>
      <p:sp>
        <p:nvSpPr>
          <p:cNvPr id="7" name="WordArt 20">
            <a:extLst>
              <a:ext uri="{FF2B5EF4-FFF2-40B4-BE49-F238E27FC236}">
                <a16:creationId xmlns:a16="http://schemas.microsoft.com/office/drawing/2014/main" id="{F7279FC1-0184-6CBB-80F6-BDB23C794E99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1173834" y="5224235"/>
            <a:ext cx="285316" cy="539805"/>
          </a:xfrm>
          <a:prstGeom prst="rect">
            <a:avLst/>
          </a:pr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199" kern="10" dirty="0">
                <a:solidFill>
                  <a:srgbClr val="FFFFFF"/>
                </a:solidFill>
                <a:latin typeface="Arial Black" panose="020B0A04020102020204" pitchFamily="34" charset="0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3C87E-50CC-4CCC-FF37-9CE3461576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56057" y="5874870"/>
            <a:ext cx="9824447" cy="165358"/>
          </a:xfrm>
          <a:prstGeom prst="rect">
            <a:avLst/>
          </a:prstGeom>
          <a:gradFill rotWithShape="1">
            <a:gsLst>
              <a:gs pos="0">
                <a:srgbClr val="8299B4"/>
              </a:gs>
              <a:gs pos="100000">
                <a:srgbClr val="EEEADE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126" eaLnBrk="0" fontAlgn="base" hangingPunct="0">
              <a:spcBef>
                <a:spcPct val="0"/>
              </a:spcBef>
              <a:spcAft>
                <a:spcPts val="600"/>
              </a:spcAft>
              <a:defRPr/>
            </a:pPr>
            <a:endParaRPr lang="en-US" sz="1600" kern="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D34A278-798F-9B9A-C485-C8054170F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39009"/>
              </p:ext>
            </p:extLst>
          </p:nvPr>
        </p:nvGraphicFramePr>
        <p:xfrm>
          <a:off x="9756875" y="416899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282" imgH="792515" progId="Excel.Sheet.12">
                  <p:embed/>
                </p:oleObj>
              </mc:Choice>
              <mc:Fallback>
                <p:oleObj name="Worksheet" showAsIcon="1" r:id="rId6" imgW="914282" imgH="792515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D34A278-798F-9B9A-C485-C8054170F7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56875" y="416899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F834E97-A22C-A263-B7A7-0450D059E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882201"/>
              </p:ext>
            </p:extLst>
          </p:nvPr>
        </p:nvGraphicFramePr>
        <p:xfrm>
          <a:off x="9764304" y="316656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8" imgW="914282" imgH="792515" progId="AcroExch.Document.DC">
                  <p:embed/>
                </p:oleObj>
              </mc:Choice>
              <mc:Fallback>
                <p:oleObj name="Acrobat Document" showAsIcon="1" r:id="rId8" imgW="914282" imgH="792515" progId="AcroExch.Document.DC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DF834E97-A22C-A263-B7A7-0450D059E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764304" y="3166569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57B3E6B-0766-A0D6-00C1-7BA03FEA3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322324"/>
              </p:ext>
            </p:extLst>
          </p:nvPr>
        </p:nvGraphicFramePr>
        <p:xfrm>
          <a:off x="9800828" y="519942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10" imgW="914282" imgH="792515" progId="Excel.Sheet.12">
                  <p:embed/>
                </p:oleObj>
              </mc:Choice>
              <mc:Fallback>
                <p:oleObj name="Worksheet" showAsIcon="1" r:id="rId10" imgW="914282" imgH="792515" progId="Excel.Sheet.12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157B3E6B-0766-A0D6-00C1-7BA03FEA3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0828" y="519942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57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3" y="626519"/>
            <a:ext cx="7419628" cy="2853398"/>
          </a:xfrm>
        </p:spPr>
        <p:txBody>
          <a:bodyPr>
            <a:normAutofit/>
          </a:bodyPr>
          <a:lstStyle/>
          <a:p>
            <a:r>
              <a:rPr lang="pt-PT" dirty="0"/>
              <a:t>Manuais do </a:t>
            </a:r>
            <a:br>
              <a:rPr lang="pt-PT" dirty="0"/>
            </a:br>
            <a:r>
              <a:rPr lang="pt-PT" dirty="0"/>
              <a:t>Relatório Executivo de Riscos e </a:t>
            </a:r>
            <a:br>
              <a:rPr lang="pt-PT" dirty="0"/>
            </a:br>
            <a:r>
              <a:rPr lang="pt-PT" dirty="0"/>
              <a:t>Apetência de Risco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907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4DDD309-6BE2-43FB-A70F-2607C6D6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2" y="643058"/>
            <a:ext cx="7103299" cy="473120"/>
          </a:xfrm>
        </p:spPr>
        <p:txBody>
          <a:bodyPr/>
          <a:lstStyle/>
          <a:p>
            <a:pPr algn="just"/>
            <a:r>
              <a:rPr lang="pt-PT" dirty="0">
                <a:solidFill>
                  <a:schemeClr val="accent3"/>
                </a:solidFill>
                <a:latin typeface="Santander Headline" panose="020B0504020201020104" pitchFamily="34" charset="0"/>
              </a:rPr>
              <a:t>Manual do Relatório Executivo de Riscos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E8F8BB3-C6A4-4260-91BA-91F5E68D58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>
                <a:latin typeface="Santander Text Light" panose="020B0304020201020104" pitchFamily="34" charset="0"/>
              </a:rPr>
              <a:t>Relatório Executivo de Riscos (New </a:t>
            </a:r>
            <a:r>
              <a:rPr lang="pt-PT" i="1" dirty="0">
                <a:latin typeface="Santander Text Light" panose="020B0304020201020104" pitchFamily="34" charset="0"/>
              </a:rPr>
              <a:t>IMR</a:t>
            </a:r>
            <a:r>
              <a:rPr lang="pt-PT" dirty="0">
                <a:latin typeface="Santander Text Light" panose="020B0304020201020104" pitchFamily="34" charset="0"/>
              </a:rPr>
              <a:t>)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274B0AF-B270-4A4F-B9C8-43FEC65E7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672" y="1116177"/>
            <a:ext cx="11333593" cy="5102174"/>
          </a:xfrm>
        </p:spPr>
        <p:txBody>
          <a:bodyPr/>
          <a:lstStyle/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400" dirty="0">
                <a:latin typeface="Santander Text" panose="020B0504020201020104" pitchFamily="34" charset="0"/>
              </a:rPr>
              <a:t>O Relatório Executivo de Riscos é produzido localmente pela Área Consolidação e Governo de Riscos/</a:t>
            </a:r>
            <a:r>
              <a:rPr lang="pt-PT" sz="1400" i="1" dirty="0">
                <a:latin typeface="Santander Text" panose="020B0504020201020104" pitchFamily="34" charset="0"/>
              </a:rPr>
              <a:t>ERM-</a:t>
            </a:r>
            <a:r>
              <a:rPr lang="pt-PT" sz="1400" i="1" dirty="0" err="1">
                <a:latin typeface="Santander Text" panose="020B0504020201020104" pitchFamily="34" charset="0"/>
              </a:rPr>
              <a:t>Enterprise</a:t>
            </a:r>
            <a:r>
              <a:rPr lang="pt-PT" sz="1400" i="1" dirty="0">
                <a:latin typeface="Santander Text" panose="020B0504020201020104" pitchFamily="34" charset="0"/>
              </a:rPr>
              <a:t> </a:t>
            </a:r>
            <a:r>
              <a:rPr lang="pt-PT" sz="1400" i="1" dirty="0" err="1">
                <a:latin typeface="Santander Text" panose="020B0504020201020104" pitchFamily="34" charset="0"/>
              </a:rPr>
              <a:t>Risk</a:t>
            </a:r>
            <a:r>
              <a:rPr lang="pt-PT" sz="1400" i="1" dirty="0">
                <a:latin typeface="Santander Text" panose="020B0504020201020104" pitchFamily="34" charset="0"/>
              </a:rPr>
              <a:t> Management, </a:t>
            </a:r>
            <a:r>
              <a:rPr lang="pt-PT" sz="1400" dirty="0">
                <a:latin typeface="Santander Text" panose="020B0504020201020104" pitchFamily="34" charset="0"/>
              </a:rPr>
              <a:t>sob os princípios RDA/RFF e tem como destinatários o Conselho Administração, Corporação, Banco de Portugal entre outros.</a:t>
            </a:r>
          </a:p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PT" sz="500" dirty="0">
              <a:latin typeface="Santander Text" panose="020B0504020201020104" pitchFamily="34" charset="0"/>
            </a:endParaRPr>
          </a:p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400" dirty="0">
                <a:latin typeface="Santander Text" panose="020B0504020201020104" pitchFamily="34" charset="0"/>
              </a:rPr>
              <a:t>Na sequência da autonomização como relatório da </a:t>
            </a:r>
            <a:r>
              <a:rPr lang="pt-PT" sz="1400" b="1" dirty="0">
                <a:latin typeface="Santander Text" panose="020B0504020201020104" pitchFamily="34" charset="0"/>
              </a:rPr>
              <a:t>Apetência de Risco</a:t>
            </a:r>
            <a:r>
              <a:rPr lang="pt-PT" sz="1400" dirty="0">
                <a:latin typeface="Santander Text" panose="020B0504020201020104" pitchFamily="34" charset="0"/>
              </a:rPr>
              <a:t> e da </a:t>
            </a:r>
            <a:r>
              <a:rPr lang="pt-PT" sz="1400" dirty="0" err="1">
                <a:latin typeface="Santander Text" panose="020B0504020201020104" pitchFamily="34" charset="0"/>
              </a:rPr>
              <a:t>actualização</a:t>
            </a:r>
            <a:r>
              <a:rPr lang="pt-PT" sz="1400" dirty="0">
                <a:latin typeface="Santander Text" panose="020B0504020201020104" pitchFamily="34" charset="0"/>
              </a:rPr>
              <a:t> de alguns pontos adicionais, surge a necessidade de atualizar o Manual do RER, assim como a listagem de métricas que lhe estão associadas na Biblioteca de Informes RDA/Logos, em conformidade com o seu novo conteúdo.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  <a:defRPr/>
            </a:pPr>
            <a:endParaRPr lang="pt-PT" sz="500" dirty="0">
              <a:latin typeface="Santander Text" panose="020B0504020201020104" pitchFamily="34" charset="0"/>
            </a:endParaRPr>
          </a:p>
          <a:p>
            <a:pPr marL="285721" indent="-28572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Face ao exposto, a Área de Consolidação e Governo/</a:t>
            </a:r>
            <a:r>
              <a:rPr lang="pt-PT" sz="1400" b="1" i="1" dirty="0">
                <a:latin typeface="Santander Text" panose="020B0504020201020104" pitchFamily="34" charset="0"/>
              </a:rPr>
              <a:t>ERM </a:t>
            </a:r>
            <a:r>
              <a:rPr lang="pt-PT" sz="1400" b="1" dirty="0">
                <a:latin typeface="Santander Text" panose="020B0504020201020104" pitchFamily="34" charset="0"/>
              </a:rPr>
              <a:t>propõe para aprovação:</a:t>
            </a:r>
          </a:p>
          <a:p>
            <a:pPr marL="800020" lvl="1" indent="-342866" algn="just">
              <a:lnSpc>
                <a:spcPct val="120000"/>
              </a:lnSpc>
              <a:spcAft>
                <a:spcPts val="600"/>
              </a:spcAft>
              <a:buFont typeface="+mj-lt"/>
              <a:buAutoNum type="alphaUcPeriod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Versão anexa (v10) do Manual¹ do RER,</a:t>
            </a:r>
            <a:r>
              <a:rPr lang="pt-PT" sz="1400" dirty="0">
                <a:latin typeface="Santander Text" panose="020B0504020201020104" pitchFamily="34" charset="0"/>
              </a:rPr>
              <a:t> </a:t>
            </a:r>
            <a:r>
              <a:rPr lang="pt-PT" sz="1400" b="1" dirty="0">
                <a:latin typeface="Santander Text" panose="020B0504020201020104" pitchFamily="34" charset="0"/>
              </a:rPr>
              <a:t>a qual visa atualizar a versão existente </a:t>
            </a:r>
            <a:r>
              <a:rPr lang="pt-PT" sz="1400" dirty="0">
                <a:latin typeface="Santander Text" panose="020B0504020201020104" pitchFamily="34" charset="0"/>
              </a:rPr>
              <a:t>(v9, aprovada neste Fórum a 29/11/2022)</a:t>
            </a:r>
            <a:r>
              <a:rPr lang="pt-PT" sz="1400" b="1" dirty="0">
                <a:latin typeface="Santander Text" panose="020B0504020201020104" pitchFamily="34" charset="0"/>
              </a:rPr>
              <a:t> no que refere aos seguintes pontos:</a:t>
            </a:r>
          </a:p>
          <a:p>
            <a:pPr marL="1200030" lvl="2" indent="-285721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b="1" dirty="0">
                <a:latin typeface="Santander Text" panose="020B0504020201020104" pitchFamily="34" charset="0"/>
              </a:rPr>
              <a:t>Introdução -</a:t>
            </a:r>
            <a:r>
              <a:rPr lang="pt-PT" sz="1300" dirty="0">
                <a:latin typeface="Santander Text" panose="020B0504020201020104" pitchFamily="34" charset="0"/>
              </a:rPr>
              <a:t> Inclusão de explicação por que motivo não há detalhe dos Riscos Estratégicos e de Cumprimento e Conduta e eliminação das referências ao Selo RDA, de acordo com as informações da EWRM e CDO de 09.05.2023.</a:t>
            </a:r>
          </a:p>
          <a:p>
            <a:pPr marL="1200030" lvl="2" indent="-285721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b="1" dirty="0">
                <a:latin typeface="Santander Text" panose="020B0504020201020104" pitchFamily="34" charset="0"/>
              </a:rPr>
              <a:t>Síntese descritiva do processo de elaboração do RER</a:t>
            </a:r>
            <a:r>
              <a:rPr lang="pt-PT" sz="1300" dirty="0">
                <a:latin typeface="Santander Text" panose="020B0504020201020104" pitchFamily="34" charset="0"/>
              </a:rPr>
              <a:t> – inclusão dos prazos para divulgação do RER no “Destinatários do RER e métodos de divulgação do mesmo”.</a:t>
            </a:r>
          </a:p>
          <a:p>
            <a:pPr marL="1200030" lvl="2" indent="-285721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b="1" dirty="0" err="1">
                <a:latin typeface="Santander Text" panose="020B0504020201020104" pitchFamily="34" charset="0"/>
              </a:rPr>
              <a:t>Actualização</a:t>
            </a:r>
            <a:r>
              <a:rPr lang="pt-PT" sz="1300" b="1" dirty="0">
                <a:latin typeface="Santander Text" panose="020B0504020201020104" pitchFamily="34" charset="0"/>
              </a:rPr>
              <a:t> do Capítulo 3- Radar de Riscos</a:t>
            </a:r>
            <a:r>
              <a:rPr lang="pt-PT" sz="1300" dirty="0">
                <a:latin typeface="Santander Text" panose="020B0504020201020104" pitchFamily="34" charset="0"/>
              </a:rPr>
              <a:t>, tendo em conta que os “Top </a:t>
            </a:r>
            <a:r>
              <a:rPr lang="pt-PT" sz="1300" dirty="0" err="1">
                <a:latin typeface="Santander Text" panose="020B0504020201020104" pitchFamily="34" charset="0"/>
              </a:rPr>
              <a:t>Risks</a:t>
            </a:r>
            <a:r>
              <a:rPr lang="pt-PT" sz="1300" dirty="0">
                <a:latin typeface="Santander Text" panose="020B0504020201020104" pitchFamily="34" charset="0"/>
              </a:rPr>
              <a:t>” passaram a ser considerados na forma autónoma no Relatório de Risco Estratégico. </a:t>
            </a:r>
          </a:p>
          <a:p>
            <a:pPr marL="1200030" lvl="2" indent="-285721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b="1" dirty="0" err="1">
                <a:latin typeface="Santander Text" panose="020B0504020201020104" pitchFamily="34" charset="0"/>
              </a:rPr>
              <a:t>Actualização</a:t>
            </a:r>
            <a:r>
              <a:rPr lang="pt-PT" sz="1300" b="1" dirty="0">
                <a:latin typeface="Santander Text" panose="020B0504020201020104" pitchFamily="34" charset="0"/>
              </a:rPr>
              <a:t> do Capítulo 4- Apetite de Risco</a:t>
            </a:r>
            <a:r>
              <a:rPr lang="pt-PT" sz="1300" dirty="0">
                <a:latin typeface="Santander Text" panose="020B0504020201020104" pitchFamily="34" charset="0"/>
              </a:rPr>
              <a:t>, tendo em conta a autonomização deste reporte. </a:t>
            </a:r>
          </a:p>
          <a:p>
            <a:pPr marL="1200030" lvl="2" indent="-285721" algn="just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endParaRPr lang="pt-BR" sz="1300" dirty="0">
              <a:latin typeface="Santander Text" panose="020B0504020201020104" pitchFamily="34" charset="0"/>
            </a:endParaRPr>
          </a:p>
          <a:p>
            <a:pPr marL="800020" lvl="1" indent="-342866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Listagem </a:t>
            </a:r>
            <a:r>
              <a:rPr lang="pt-PT" sz="1400" dirty="0">
                <a:latin typeface="Santander Text" panose="020B0504020201020104" pitchFamily="34" charset="0"/>
              </a:rPr>
              <a:t>(</a:t>
            </a:r>
            <a:r>
              <a:rPr lang="pt-PT" sz="1400" dirty="0" err="1">
                <a:latin typeface="Santander Text" panose="020B0504020201020104" pitchFamily="34" charset="0"/>
              </a:rPr>
              <a:t>excel</a:t>
            </a:r>
            <a:r>
              <a:rPr lang="pt-PT" sz="1400" dirty="0">
                <a:latin typeface="Santander Text" panose="020B0504020201020104" pitchFamily="34" charset="0"/>
              </a:rPr>
              <a:t> anexo)</a:t>
            </a:r>
            <a:r>
              <a:rPr lang="pt-PT" sz="1400" b="1" dirty="0">
                <a:latin typeface="Santander Text" panose="020B0504020201020104" pitchFamily="34" charset="0"/>
              </a:rPr>
              <a:t> com o código ID RDA dos conceitos que deverão ficar associados a este relatório</a:t>
            </a:r>
            <a:r>
              <a:rPr lang="pt-PT" sz="1400" dirty="0">
                <a:latin typeface="Santander Text" panose="020B0504020201020104" pitchFamily="34" charset="0"/>
              </a:rPr>
              <a:t> (R.BPT.G.IR.0001-”Relatório Executivo </a:t>
            </a:r>
            <a:r>
              <a:rPr lang="pt-PT" sz="1400" dirty="0" err="1">
                <a:latin typeface="Santander Text" panose="020B0504020201020104" pitchFamily="34" charset="0"/>
              </a:rPr>
              <a:t>Riscos_PT</a:t>
            </a:r>
            <a:r>
              <a:rPr lang="pt-PT" sz="1400" dirty="0">
                <a:latin typeface="Santander Text" panose="020B0504020201020104" pitchFamily="34" charset="0"/>
              </a:rPr>
              <a:t>”) </a:t>
            </a:r>
            <a:r>
              <a:rPr lang="pt-PT" sz="1400" b="1" dirty="0">
                <a:latin typeface="Santander Text" panose="020B0504020201020104" pitchFamily="34" charset="0"/>
              </a:rPr>
              <a:t>na Biblioteca de Informes RDA/Logos. 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13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42334" y="6423272"/>
            <a:ext cx="9748786" cy="36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pt-PT" sz="1050" dirty="0">
                <a:solidFill>
                  <a:prstClr val="black"/>
                </a:solidFill>
                <a:latin typeface="Santander Text" panose="020B0504020201020104" pitchFamily="34" charset="0"/>
              </a:rPr>
              <a:t>¹</a:t>
            </a:r>
            <a:r>
              <a:rPr lang="pt-PT" sz="1800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BR" sz="1050" dirty="0">
                <a:solidFill>
                  <a:prstClr val="black"/>
                </a:solidFill>
                <a:latin typeface="Santander Text" panose="020B0504020201020104" pitchFamily="34" charset="0"/>
              </a:rPr>
              <a:t>O objetivo do presente Manual consiste em documentar, entre outros, os procedimentos, metodologia e controlos seguidos localmente no âmbito da elaboração do RER. </a:t>
            </a:r>
            <a:endParaRPr lang="en-US" sz="1050" dirty="0">
              <a:solidFill>
                <a:prstClr val="black"/>
              </a:solidFill>
              <a:latin typeface="Arial"/>
            </a:endParaRP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10960803" y="2271457"/>
          <a:ext cx="1095512" cy="86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806400" progId="AcroExch.Document.DC">
                  <p:embed/>
                </p:oleObj>
              </mc:Choice>
              <mc:Fallback>
                <p:oleObj name="Acrobat Document" showAsIcon="1" r:id="rId3" imgW="914400" imgH="806400" progId="AcroExch.Document.DC">
                  <p:embed/>
                  <p:pic>
                    <p:nvPicPr>
                      <p:cNvPr id="9" name="Objeto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60803" y="2271457"/>
                        <a:ext cx="1095512" cy="86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2D89F74-CA8E-0706-EDAF-857F2B5FE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5002" y="3655813"/>
          <a:ext cx="914281" cy="8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5" imgW="914597" imgH="806311" progId="AcroExch.Document.DC">
                  <p:embed/>
                </p:oleObj>
              </mc:Choice>
              <mc:Fallback>
                <p:oleObj name="Acrobat Document" showAsIcon="1" r:id="rId5" imgW="914597" imgH="806311" progId="AcroExch.Document.DC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2D89F74-CA8E-0706-EDAF-857F2B5FE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85002" y="3655813"/>
                        <a:ext cx="914281" cy="8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C9814DD-3EBC-B95D-7067-741904F7F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34783" y="5743411"/>
          <a:ext cx="914281" cy="8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7" imgW="914597" imgH="806311" progId="Excel.Sheet.12">
                  <p:embed/>
                </p:oleObj>
              </mc:Choice>
              <mc:Fallback>
                <p:oleObj name="Worksheet" showAsIcon="1" r:id="rId7" imgW="914597" imgH="806311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C9814DD-3EBC-B95D-7067-741904F7F1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34783" y="5743411"/>
                        <a:ext cx="914281" cy="8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262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4DDD309-6BE2-43FB-A70F-2607C6D6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22" y="643058"/>
            <a:ext cx="7103299" cy="473120"/>
          </a:xfrm>
        </p:spPr>
        <p:txBody>
          <a:bodyPr/>
          <a:lstStyle/>
          <a:p>
            <a:pPr algn="just"/>
            <a:r>
              <a:rPr lang="pt-PT" dirty="0">
                <a:solidFill>
                  <a:schemeClr val="accent3"/>
                </a:solidFill>
                <a:latin typeface="Santander Headline" panose="020B0504020201020104" pitchFamily="34" charset="0"/>
              </a:rPr>
              <a:t>Manual da Apetência de Risco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E8F8BB3-C6A4-4260-91BA-91F5E68D58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>
                <a:latin typeface="Santander Text Light" panose="020B0304020201020104" pitchFamily="34" charset="0"/>
              </a:rPr>
              <a:t>Apetência de Risco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274B0AF-B270-4A4F-B9C8-43FEC65E7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672" y="1116177"/>
            <a:ext cx="11333593" cy="5102174"/>
          </a:xfrm>
        </p:spPr>
        <p:txBody>
          <a:bodyPr/>
          <a:lstStyle/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400" dirty="0">
                <a:latin typeface="Santander Text" panose="020B0504020201020104" pitchFamily="34" charset="0"/>
              </a:rPr>
              <a:t>O reporte Apetência de Risco é produzido localmente pela Área Consolidação e Governo de Riscos/</a:t>
            </a:r>
            <a:r>
              <a:rPr lang="pt-PT" sz="1400" i="1" dirty="0">
                <a:latin typeface="Santander Text" panose="020B0504020201020104" pitchFamily="34" charset="0"/>
              </a:rPr>
              <a:t>ERM-</a:t>
            </a:r>
            <a:r>
              <a:rPr lang="pt-PT" sz="1400" i="1" dirty="0" err="1">
                <a:latin typeface="Santander Text" panose="020B0504020201020104" pitchFamily="34" charset="0"/>
              </a:rPr>
              <a:t>Enterprise</a:t>
            </a:r>
            <a:r>
              <a:rPr lang="pt-PT" sz="1400" i="1" dirty="0">
                <a:latin typeface="Santander Text" panose="020B0504020201020104" pitchFamily="34" charset="0"/>
              </a:rPr>
              <a:t> Risk Management, </a:t>
            </a:r>
            <a:r>
              <a:rPr lang="pt-PT" sz="1400" dirty="0">
                <a:latin typeface="Santander Text" panose="020B0504020201020104" pitchFamily="34" charset="0"/>
              </a:rPr>
              <a:t>sob os princípios RDA/RFF e tem como destinatários o Conselho Administração, Corporação, Banco de Portugal entre outros.</a:t>
            </a:r>
          </a:p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PT" sz="500" dirty="0">
              <a:latin typeface="Santander Text" panose="020B0504020201020104" pitchFamily="34" charset="0"/>
            </a:endParaRPr>
          </a:p>
          <a:p>
            <a:pPr marL="285721" indent="-285721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PT" sz="1400" dirty="0">
                <a:latin typeface="Santander Text" panose="020B0504020201020104" pitchFamily="34" charset="0"/>
              </a:rPr>
              <a:t>Na sequência da sua autonomização como relatório da </a:t>
            </a:r>
            <a:r>
              <a:rPr lang="pt-PT" sz="1400" b="1" dirty="0">
                <a:latin typeface="Santander Text" panose="020B0504020201020104" pitchFamily="34" charset="0"/>
              </a:rPr>
              <a:t>Apetência de Risco</a:t>
            </a:r>
            <a:r>
              <a:rPr lang="pt-PT" sz="1400" dirty="0">
                <a:latin typeface="Santander Text" panose="020B0504020201020104" pitchFamily="34" charset="0"/>
              </a:rPr>
              <a:t> (antes estava incluído no Relatório Executivo de Riscos), surge a necessidade da criação do </a:t>
            </a:r>
            <a:r>
              <a:rPr lang="pt-PT" sz="1400" dirty="0" err="1">
                <a:latin typeface="Santander Text" panose="020B0504020201020104" pitchFamily="34" charset="0"/>
              </a:rPr>
              <a:t>respectivo</a:t>
            </a:r>
            <a:r>
              <a:rPr lang="pt-PT" sz="1400" dirty="0">
                <a:latin typeface="Santander Text" panose="020B0504020201020104" pitchFamily="34" charset="0"/>
              </a:rPr>
              <a:t> Manual de Apetência de Risco, assim como a listagem de métricas que lhe estão associadas na Biblioteca de Informes RDA/Logos.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  <a:defRPr/>
            </a:pPr>
            <a:endParaRPr lang="pt-PT" sz="500" dirty="0">
              <a:latin typeface="Santander Text" panose="020B0504020201020104" pitchFamily="34" charset="0"/>
            </a:endParaRPr>
          </a:p>
          <a:p>
            <a:pPr marL="285721" indent="-28572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Face ao exposto, a Área de Consolidação e Governo/</a:t>
            </a:r>
            <a:r>
              <a:rPr lang="pt-PT" sz="1400" b="1" i="1" dirty="0">
                <a:latin typeface="Santander Text" panose="020B0504020201020104" pitchFamily="34" charset="0"/>
              </a:rPr>
              <a:t>ERM </a:t>
            </a:r>
            <a:r>
              <a:rPr lang="pt-PT" sz="1400" b="1" dirty="0">
                <a:latin typeface="Santander Text" panose="020B0504020201020104" pitchFamily="34" charset="0"/>
              </a:rPr>
              <a:t>propõe para aprovação:</a:t>
            </a:r>
          </a:p>
          <a:p>
            <a:pPr marL="800020" lvl="1" indent="-342866" algn="just">
              <a:lnSpc>
                <a:spcPct val="120000"/>
              </a:lnSpc>
              <a:spcAft>
                <a:spcPts val="600"/>
              </a:spcAft>
              <a:buFont typeface="+mj-lt"/>
              <a:buAutoNum type="alphaUcPeriod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Versão anexa (v1) do Manual¹ da Apetência de Risco, que tem como principais pontos: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0. Governo do Manual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1. introdução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2. Síntese descritiva dos processos fundamentais da gestão de apetência de risco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3. Controlos associados ao reporte pela função de controlo de apetência de risco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4. Síntese descritiva do reporte da Apetência de Risco do Banco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5. Processo de elaboração do reporte da Apetência de Risco do Banco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6. Métricas de Apetência de Risco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7. Quadro resumo das Métricas de Apetência de Risco</a:t>
            </a:r>
          </a:p>
          <a:p>
            <a:pPr marL="1200030" lvl="2" indent="-28572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pt-PT" sz="1300" dirty="0">
                <a:latin typeface="Santander Text" panose="020B0504020201020104" pitchFamily="34" charset="0"/>
              </a:rPr>
              <a:t>8. Controlo de Versões</a:t>
            </a:r>
          </a:p>
          <a:p>
            <a:pPr marL="800020" lvl="1" indent="-342866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  <a:defRPr/>
            </a:pPr>
            <a:endParaRPr lang="pt-BR" sz="800" b="1" dirty="0">
              <a:latin typeface="Santander Text" panose="020B0504020201020104" pitchFamily="34" charset="0"/>
            </a:endParaRPr>
          </a:p>
          <a:p>
            <a:pPr marL="800020" lvl="1" indent="-342866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  <a:defRPr/>
            </a:pPr>
            <a:r>
              <a:rPr lang="pt-PT" sz="1400" b="1" dirty="0">
                <a:latin typeface="Santander Text" panose="020B0504020201020104" pitchFamily="34" charset="0"/>
              </a:rPr>
              <a:t>Listagem </a:t>
            </a:r>
            <a:r>
              <a:rPr lang="pt-PT" sz="1400" dirty="0">
                <a:latin typeface="Santander Text" panose="020B0504020201020104" pitchFamily="34" charset="0"/>
              </a:rPr>
              <a:t>(</a:t>
            </a:r>
            <a:r>
              <a:rPr lang="pt-PT" sz="1400" dirty="0" err="1">
                <a:latin typeface="Santander Text" panose="020B0504020201020104" pitchFamily="34" charset="0"/>
              </a:rPr>
              <a:t>excel</a:t>
            </a:r>
            <a:r>
              <a:rPr lang="pt-PT" sz="1400" dirty="0">
                <a:latin typeface="Santander Text" panose="020B0504020201020104" pitchFamily="34" charset="0"/>
              </a:rPr>
              <a:t> anexo)</a:t>
            </a:r>
            <a:r>
              <a:rPr lang="pt-PT" sz="1400" b="1" dirty="0">
                <a:latin typeface="Santander Text" panose="020B0504020201020104" pitchFamily="34" charset="0"/>
              </a:rPr>
              <a:t> com o código ID RDA dos conceitos que deverão ficar associados a este relatório</a:t>
            </a:r>
            <a:r>
              <a:rPr lang="pt-PT" sz="1400" dirty="0">
                <a:latin typeface="Santander Text" panose="020B0504020201020104" pitchFamily="34" charset="0"/>
              </a:rPr>
              <a:t> (</a:t>
            </a:r>
            <a:r>
              <a:rPr lang="pt-PT" sz="1400" dirty="0">
                <a:latin typeface="Santander Text" panose="020B0504020201020104" pitchFamily="34" charset="0"/>
                <a:ea typeface="Calibri" panose="020F0502020204030204" pitchFamily="34" charset="0"/>
              </a:rPr>
              <a:t>R.BPT.G.AR.0001</a:t>
            </a:r>
            <a:r>
              <a:rPr lang="pt-PT" sz="1400" dirty="0">
                <a:latin typeface="Santander Text" panose="020B0504020201020104" pitchFamily="34" charset="0"/>
              </a:rPr>
              <a:t>-”</a:t>
            </a:r>
            <a:r>
              <a:rPr lang="pt-PT" sz="1400" dirty="0">
                <a:latin typeface="Santander Text" panose="020B0504020201020104" pitchFamily="34" charset="0"/>
                <a:ea typeface="Calibri" panose="020F0502020204030204" pitchFamily="34" charset="0"/>
              </a:rPr>
              <a:t> Apetência de </a:t>
            </a:r>
            <a:r>
              <a:rPr lang="pt-PT" sz="1400" dirty="0" err="1">
                <a:latin typeface="Santander Text" panose="020B0504020201020104" pitchFamily="34" charset="0"/>
                <a:ea typeface="Calibri" panose="020F0502020204030204" pitchFamily="34" charset="0"/>
              </a:rPr>
              <a:t>Risco_PT</a:t>
            </a:r>
            <a:r>
              <a:rPr lang="pt-PT" sz="1400" dirty="0">
                <a:latin typeface="Santander Text" panose="020B0504020201020104" pitchFamily="34" charset="0"/>
              </a:rPr>
              <a:t>”) </a:t>
            </a:r>
            <a:r>
              <a:rPr lang="pt-PT" sz="1400" b="1" dirty="0">
                <a:latin typeface="Santander Text" panose="020B0504020201020104" pitchFamily="34" charset="0"/>
              </a:rPr>
              <a:t>na Biblioteca de Informes RDA/Logos. 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14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95348" y="6448012"/>
            <a:ext cx="11472400" cy="33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¹ 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presente manual tem como principal objetivo descrever os princípios a seguir no reporte da apetência de risco em conjunto com os aspetos funcionais e de governo, principais processos associados e os instrumentos que permitem o seu adequado desenvolvimento e implementação. </a:t>
            </a:r>
            <a:endParaRPr lang="en-US" sz="800" dirty="0">
              <a:solidFill>
                <a:prstClr val="black"/>
              </a:solidFill>
              <a:latin typeface="Arial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70E3AD7-747C-0488-AD42-AC4E1EF20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31937" y="2860919"/>
          <a:ext cx="914281" cy="8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597" imgH="806311" progId="AcroExch.Document.DC">
                  <p:embed/>
                </p:oleObj>
              </mc:Choice>
              <mc:Fallback>
                <p:oleObj name="Acrobat Document" showAsIcon="1" r:id="rId3" imgW="914597" imgH="806311" progId="AcroExch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70E3AD7-747C-0488-AD42-AC4E1EF201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31937" y="2860919"/>
                        <a:ext cx="914281" cy="8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0C9CF51-C32B-5F1F-BE0F-5DA82B728C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31937" y="5018240"/>
          <a:ext cx="914281" cy="8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597" imgH="806311" progId="Excel.Sheet.12">
                  <p:embed/>
                </p:oleObj>
              </mc:Choice>
              <mc:Fallback>
                <p:oleObj name="Worksheet" showAsIcon="1" r:id="rId5" imgW="914597" imgH="806311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0C9CF51-C32B-5F1F-BE0F-5DA82B728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31937" y="5018240"/>
                        <a:ext cx="914281" cy="8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743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Único de Garantias Recebidas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591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16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Recordatório do Modelo Único de Garantias no Data Lake</a:t>
            </a:r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2B2B3F-46C6-6B6C-EF5C-F0C312EB5B7F}"/>
              </a:ext>
            </a:extLst>
          </p:cNvPr>
          <p:cNvSpPr txBox="1"/>
          <p:nvPr/>
        </p:nvSpPr>
        <p:spPr>
          <a:xfrm>
            <a:off x="1012064" y="759118"/>
            <a:ext cx="1015384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Conforme apresentado anteriormente no FGQD, com o objetivo de se ter um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repositório único com as garantias recebidas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construiu-se no Data Lake um modelo de dados, a partir dos dados existentes nas aplicações GPs, CS, Lease e Eurofac.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Este modelo de dados está em produção desde 2022, sendo que a aplicação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IFRS está a apontar para o mesmo desde Dez 2022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 A aplicação Loan Tapes BCE está igualmente a apontar para o modelo desde 2022.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Entretanto, no </a:t>
            </a:r>
            <a:r>
              <a:rPr lang="pt-PT" sz="1450" b="1" dirty="0">
                <a:solidFill>
                  <a:srgbClr val="0070C0"/>
                </a:solidFill>
                <a:latin typeface="Santander Text" panose="020B0504020201020104" pitchFamily="34" charset="0"/>
              </a:rPr>
              <a:t>rácio de Abril de 2023 o ficheiro BIYR2500/9500 passou a apontar para o modelo de garantias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, passando assim a BDR - e logo Capital - a alimentar-se também da fonte única de garantias. 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O reflexo nos processos </a:t>
            </a:r>
            <a:r>
              <a:rPr lang="pt-PT" sz="1450" b="1" dirty="0" err="1">
                <a:solidFill>
                  <a:srgbClr val="0070C0"/>
                </a:solidFill>
                <a:latin typeface="Santander Text" panose="020B0504020201020104" pitchFamily="34" charset="0"/>
              </a:rPr>
              <a:t>Finrep</a:t>
            </a:r>
            <a:r>
              <a:rPr lang="pt-PT" sz="1450" b="1" dirty="0">
                <a:solidFill>
                  <a:srgbClr val="0070C0"/>
                </a:solidFill>
                <a:latin typeface="Santander Text" panose="020B0504020201020104" pitchFamily="34" charset="0"/>
              </a:rPr>
              <a:t> da Contabilidade terá lugar no rácio de Maio 2023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não se tendo verificado no rácio de Abril.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Durante o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</a:rPr>
              <a:t>2º semestre, a CRC 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</a:rPr>
              <a:t>deverá também passar a apontar para o modelo único de garantias.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Recordamos que este modelo foi construído nomeadamente para: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agnóstico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origem.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Assegurar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granularidade total e completude horizontal de dados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ie responsabilidades – cauções – bens.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aplicações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origem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Ser diretamente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rastreável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face às principais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a jusante 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(eg IFRS e BDR).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Ligar diretamente com as responsabilidades contabilísticas 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ser diretamente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escalável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e utilizável pelos diversos domínios, através dos vários Rosetta.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Demonstrar de forma direta o cálculo e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repartição das cauções e bens pelas responsabilidades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717978" lvl="1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Ter um </a:t>
            </a:r>
            <a:r>
              <a:rPr lang="pt-PT" sz="145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modelo de controlo de Data Quality 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um governo e seguimento no FGQD comum aos restantes </a:t>
            </a:r>
            <a:r>
              <a:rPr lang="pt-PT" sz="1450" baseline="30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(1)</a:t>
            </a: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.</a:t>
            </a:r>
          </a:p>
          <a:p>
            <a:pPr marL="276266" indent="-276266" defTabSz="883424"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45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Sem prejuízo do modelo estar em PRO, subsistem ainda algumas situações em análise, melhoria e remediação com IT.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BDF89B6-A5CB-6327-1F02-BEA694A80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983" y="6288430"/>
            <a:ext cx="6870987" cy="20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400" tIns="44200" rIns="88400" bIns="44200" numCol="1" anchor="ctr" anchorCtr="0" compatLnSpc="1">
            <a:prstTxWarp prst="textNoShape">
              <a:avLst/>
            </a:prstTxWarp>
            <a:spAutoFit/>
          </a:bodyPr>
          <a:lstStyle/>
          <a:p>
            <a:pPr defTabSz="88405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PT" sz="774" dirty="0">
                <a:solidFill>
                  <a:prstClr val="black"/>
                </a:solidFill>
                <a:latin typeface="Santander Text" panose="020B0504020201020104" pitchFamily="34" charset="0"/>
              </a:rPr>
              <a:t>1. Esse modelo já foi criado no 4Q2022, inclui controlos Corporativos e Locais, está ainda a ser alargado, e está a ser governado e seguido regularmente no FGQD </a:t>
            </a:r>
          </a:p>
        </p:txBody>
      </p:sp>
      <p:graphicFrame>
        <p:nvGraphicFramePr>
          <p:cNvPr id="21" name="Object 20">
            <a:hlinkClick r:id="" action="ppaction://ole?verb=0"/>
            <a:extLst>
              <a:ext uri="{FF2B5EF4-FFF2-40B4-BE49-F238E27FC236}">
                <a16:creationId xmlns:a16="http://schemas.microsoft.com/office/drawing/2014/main" id="{961D41E5-7CA5-E8DB-7AC1-7608C1B33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764471"/>
              </p:ext>
            </p:extLst>
          </p:nvPr>
        </p:nvGraphicFramePr>
        <p:xfrm>
          <a:off x="11011066" y="154578"/>
          <a:ext cx="914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620" imgH="780808" progId="PowerPoint.Show.12">
                  <p:embed/>
                </p:oleObj>
              </mc:Choice>
              <mc:Fallback>
                <p:oleObj name="Presentation" showAsIcon="1" r:id="rId3" imgW="914620" imgH="780808" progId="PowerPoint.Show.12">
                  <p:embed/>
                  <p:pic>
                    <p:nvPicPr>
                      <p:cNvPr id="21" name="Object 2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961D41E5-7CA5-E8DB-7AC1-7608C1B33F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11066" y="154578"/>
                        <a:ext cx="9144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82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17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Modelo Único de Garantias - </a:t>
            </a:r>
            <a:r>
              <a:rPr lang="pt-PT" sz="1934" dirty="0">
                <a:latin typeface="+mj-lt"/>
              </a:rPr>
              <a:t>Arquitetura de Sistemas e de Informação (</a:t>
            </a:r>
            <a:r>
              <a:rPr lang="pt-PT" sz="1934" b="1" dirty="0">
                <a:latin typeface="+mj-lt"/>
              </a:rPr>
              <a:t>AS-WAS ≤ </a:t>
            </a:r>
            <a:r>
              <a:rPr lang="pt-PT" sz="1934" b="1" dirty="0" err="1">
                <a:latin typeface="+mj-lt"/>
              </a:rPr>
              <a:t>Nov</a:t>
            </a:r>
            <a:r>
              <a:rPr lang="pt-PT" sz="1934" b="1" dirty="0">
                <a:latin typeface="+mj-lt"/>
              </a:rPr>
              <a:t> 2022)</a:t>
            </a:r>
            <a:endParaRPr lang="es-ES" sz="1934" b="1" dirty="0"/>
          </a:p>
          <a:p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3" name="Rectángulo 302">
            <a:extLst>
              <a:ext uri="{FF2B5EF4-FFF2-40B4-BE49-F238E27FC236}">
                <a16:creationId xmlns:a16="http://schemas.microsoft.com/office/drawing/2014/main" id="{0AF0968B-0B37-7F14-C0A6-4A889EEF18EB}"/>
              </a:ext>
            </a:extLst>
          </p:cNvPr>
          <p:cNvSpPr/>
          <p:nvPr/>
        </p:nvSpPr>
        <p:spPr>
          <a:xfrm>
            <a:off x="7425962" y="1576290"/>
            <a:ext cx="2327607" cy="3698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4" name="Rectángulo 68">
            <a:extLst>
              <a:ext uri="{FF2B5EF4-FFF2-40B4-BE49-F238E27FC236}">
                <a16:creationId xmlns:a16="http://schemas.microsoft.com/office/drawing/2014/main" id="{12E8DD28-95BA-FEC6-16D1-F18ECC639F8F}"/>
              </a:ext>
            </a:extLst>
          </p:cNvPr>
          <p:cNvSpPr/>
          <p:nvPr/>
        </p:nvSpPr>
        <p:spPr>
          <a:xfrm>
            <a:off x="718200" y="5097331"/>
            <a:ext cx="1672023" cy="1131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5" name="Rectángulo 68">
            <a:extLst>
              <a:ext uri="{FF2B5EF4-FFF2-40B4-BE49-F238E27FC236}">
                <a16:creationId xmlns:a16="http://schemas.microsoft.com/office/drawing/2014/main" id="{5E33E900-5B0C-AB12-9CBA-375F0BEA6D56}"/>
              </a:ext>
            </a:extLst>
          </p:cNvPr>
          <p:cNvSpPr/>
          <p:nvPr/>
        </p:nvSpPr>
        <p:spPr>
          <a:xfrm>
            <a:off x="717987" y="1829168"/>
            <a:ext cx="1672023" cy="2876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6" name="Rectángulo 69">
            <a:extLst>
              <a:ext uri="{FF2B5EF4-FFF2-40B4-BE49-F238E27FC236}">
                <a16:creationId xmlns:a16="http://schemas.microsoft.com/office/drawing/2014/main" id="{33C1A144-8460-B799-9ABD-226911CF066B}"/>
              </a:ext>
            </a:extLst>
          </p:cNvPr>
          <p:cNvSpPr/>
          <p:nvPr/>
        </p:nvSpPr>
        <p:spPr>
          <a:xfrm>
            <a:off x="752795" y="1682038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E168C6-1BF6-BB30-05BB-952EAC246420}"/>
              </a:ext>
            </a:extLst>
          </p:cNvPr>
          <p:cNvGrpSpPr/>
          <p:nvPr/>
        </p:nvGrpSpPr>
        <p:grpSpPr>
          <a:xfrm>
            <a:off x="3023965" y="2392918"/>
            <a:ext cx="558768" cy="442880"/>
            <a:chOff x="3272267" y="3031604"/>
            <a:chExt cx="577911" cy="458053"/>
          </a:xfrm>
        </p:grpSpPr>
        <p:grpSp>
          <p:nvGrpSpPr>
            <p:cNvPr id="8" name="Grupo 83">
              <a:extLst>
                <a:ext uri="{FF2B5EF4-FFF2-40B4-BE49-F238E27FC236}">
                  <a16:creationId xmlns:a16="http://schemas.microsoft.com/office/drawing/2014/main" id="{41F80C02-FE2D-19AC-CF69-87C4CD7204B5}"/>
                </a:ext>
              </a:extLst>
            </p:cNvPr>
            <p:cNvGrpSpPr/>
            <p:nvPr/>
          </p:nvGrpSpPr>
          <p:grpSpPr>
            <a:xfrm>
              <a:off x="3272267" y="3273657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0" name="Disco magnético 89">
                <a:extLst>
                  <a:ext uri="{FF2B5EF4-FFF2-40B4-BE49-F238E27FC236}">
                    <a16:creationId xmlns:a16="http://schemas.microsoft.com/office/drawing/2014/main" id="{CB6DFC99-7F7B-3E94-ADBA-2C41E472B817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1" name="Disco magnético 91">
                <a:extLst>
                  <a:ext uri="{FF2B5EF4-FFF2-40B4-BE49-F238E27FC236}">
                    <a16:creationId xmlns:a16="http://schemas.microsoft.com/office/drawing/2014/main" id="{7563AF2B-47E7-262D-F5B5-8BC05604A4F8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" name="Disco magnético 92">
                <a:extLst>
                  <a:ext uri="{FF2B5EF4-FFF2-40B4-BE49-F238E27FC236}">
                    <a16:creationId xmlns:a16="http://schemas.microsoft.com/office/drawing/2014/main" id="{59C5BD40-2DCA-2DC3-FF47-1CA7EE286E89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9" name="CuadroTexto 86">
              <a:extLst>
                <a:ext uri="{FF2B5EF4-FFF2-40B4-BE49-F238E27FC236}">
                  <a16:creationId xmlns:a16="http://schemas.microsoft.com/office/drawing/2014/main" id="{4F112642-8D33-4050-4999-0CB382191E11}"/>
                </a:ext>
              </a:extLst>
            </p:cNvPr>
            <p:cNvSpPr txBox="1"/>
            <p:nvPr/>
          </p:nvSpPr>
          <p:spPr>
            <a:xfrm>
              <a:off x="3377514" y="3031604"/>
              <a:ext cx="367415" cy="28226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13" name="Rectangle 18">
            <a:extLst>
              <a:ext uri="{FF2B5EF4-FFF2-40B4-BE49-F238E27FC236}">
                <a16:creationId xmlns:a16="http://schemas.microsoft.com/office/drawing/2014/main" id="{14D5B3F5-5E74-D490-CE8D-662E7911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703103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AF0D330D-DEA7-240F-2296-9381E966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24229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323A5A0F-4383-31DC-0EEA-054145A60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443517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B42ED1-D291-DBB0-C980-1A81400B2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21690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1B3E1C1-AD41-182D-14D2-22498D686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729602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3E9437DA-B73F-0FF6-0D1D-156198D1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94786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22" name="Rectangle 32">
            <a:extLst>
              <a:ext uri="{FF2B5EF4-FFF2-40B4-BE49-F238E27FC236}">
                <a16:creationId xmlns:a16="http://schemas.microsoft.com/office/drawing/2014/main" id="{462B6390-750B-3607-51E6-1EBBFAAB5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48595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9281938E-6AC3-D9CC-20EB-319718C4F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199753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B2EA9F4-C0DB-E1B1-AC47-7D888C952C34}"/>
              </a:ext>
            </a:extLst>
          </p:cNvPr>
          <p:cNvGrpSpPr/>
          <p:nvPr/>
        </p:nvGrpSpPr>
        <p:grpSpPr>
          <a:xfrm>
            <a:off x="6458772" y="1951589"/>
            <a:ext cx="886781" cy="424435"/>
            <a:chOff x="5270531" y="2813744"/>
            <a:chExt cx="917161" cy="438976"/>
          </a:xfrm>
        </p:grpSpPr>
        <p:grpSp>
          <p:nvGrpSpPr>
            <p:cNvPr id="25" name="Grupo 83">
              <a:extLst>
                <a:ext uri="{FF2B5EF4-FFF2-40B4-BE49-F238E27FC236}">
                  <a16:creationId xmlns:a16="http://schemas.microsoft.com/office/drawing/2014/main" id="{0885BED2-9AFC-4F99-A3A3-E947FDC29BC4}"/>
                </a:ext>
              </a:extLst>
            </p:cNvPr>
            <p:cNvGrpSpPr/>
            <p:nvPr/>
          </p:nvGrpSpPr>
          <p:grpSpPr>
            <a:xfrm>
              <a:off x="5423815" y="3036720"/>
              <a:ext cx="577911" cy="216000"/>
              <a:chOff x="8038758" y="3835908"/>
              <a:chExt cx="1282700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27" name="Disco magnético 89">
                <a:extLst>
                  <a:ext uri="{FF2B5EF4-FFF2-40B4-BE49-F238E27FC236}">
                    <a16:creationId xmlns:a16="http://schemas.microsoft.com/office/drawing/2014/main" id="{B610BA8A-D978-8DE4-CA74-9927877EE6B9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28" name="Disco magnético 91">
                <a:extLst>
                  <a:ext uri="{FF2B5EF4-FFF2-40B4-BE49-F238E27FC236}">
                    <a16:creationId xmlns:a16="http://schemas.microsoft.com/office/drawing/2014/main" id="{8C4BEF27-C5A6-E89E-0B2E-05AD91FFF69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29" name="Disco magnético 92">
                <a:extLst>
                  <a:ext uri="{FF2B5EF4-FFF2-40B4-BE49-F238E27FC236}">
                    <a16:creationId xmlns:a16="http://schemas.microsoft.com/office/drawing/2014/main" id="{5BBE5944-F52B-B770-7F43-9E1C8930F2E2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26" name="CuadroTexto 86">
              <a:extLst>
                <a:ext uri="{FF2B5EF4-FFF2-40B4-BE49-F238E27FC236}">
                  <a16:creationId xmlns:a16="http://schemas.microsoft.com/office/drawing/2014/main" id="{669E5FDE-1C14-7E9A-CFCD-297FF22133AD}"/>
                </a:ext>
              </a:extLst>
            </p:cNvPr>
            <p:cNvSpPr txBox="1"/>
            <p:nvPr/>
          </p:nvSpPr>
          <p:spPr>
            <a:xfrm>
              <a:off x="5270531" y="2813744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</p:txBody>
        </p:sp>
      </p:grpSp>
      <p:sp>
        <p:nvSpPr>
          <p:cNvPr id="30" name="Rectangle 32">
            <a:extLst>
              <a:ext uri="{FF2B5EF4-FFF2-40B4-BE49-F238E27FC236}">
                <a16:creationId xmlns:a16="http://schemas.microsoft.com/office/drawing/2014/main" id="{D7D9CCAF-B38B-B221-4C7A-6227373E2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246061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GPs</a:t>
            </a: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FDC50799-E2BF-583F-6E35-63F9F0AD3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46056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A7C09E90-87B1-A04D-30D5-361A7A434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37" y="297325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01988ABA-6DBF-5CA5-A71C-14DB7F23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6" y="4191518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34" name="Rectángulo 69">
            <a:extLst>
              <a:ext uri="{FF2B5EF4-FFF2-40B4-BE49-F238E27FC236}">
                <a16:creationId xmlns:a16="http://schemas.microsoft.com/office/drawing/2014/main" id="{90416D6C-383D-0E70-CC1D-7A0B43B6CD3D}"/>
              </a:ext>
            </a:extLst>
          </p:cNvPr>
          <p:cNvSpPr/>
          <p:nvPr/>
        </p:nvSpPr>
        <p:spPr>
          <a:xfrm>
            <a:off x="751709" y="4922572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C972C1A1-9090-3030-09E9-91F42B37D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489713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CS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507B2561-6901-98A5-1739-43592C820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733366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7BD69AF9-93B4-9860-A435-5A4A59E09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977019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Eurofac</a:t>
            </a:r>
          </a:p>
        </p:txBody>
      </p:sp>
      <p:sp>
        <p:nvSpPr>
          <p:cNvPr id="38" name="Rectángulo 68">
            <a:extLst>
              <a:ext uri="{FF2B5EF4-FFF2-40B4-BE49-F238E27FC236}">
                <a16:creationId xmlns:a16="http://schemas.microsoft.com/office/drawing/2014/main" id="{A0CFDDE4-F75D-712D-386A-7FD9234853F4}"/>
              </a:ext>
            </a:extLst>
          </p:cNvPr>
          <p:cNvSpPr/>
          <p:nvPr/>
        </p:nvSpPr>
        <p:spPr>
          <a:xfrm>
            <a:off x="717987" y="1167384"/>
            <a:ext cx="1672023" cy="4164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04386495-5D71-0794-6D4A-B0F5D8044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131533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BDP</a:t>
            </a:r>
          </a:p>
        </p:txBody>
      </p:sp>
      <p:sp>
        <p:nvSpPr>
          <p:cNvPr id="40" name="Rectángulo 69">
            <a:extLst>
              <a:ext uri="{FF2B5EF4-FFF2-40B4-BE49-F238E27FC236}">
                <a16:creationId xmlns:a16="http://schemas.microsoft.com/office/drawing/2014/main" id="{A80A8234-7AB9-9E64-E2DD-84D1DCD47AAE}"/>
              </a:ext>
            </a:extLst>
          </p:cNvPr>
          <p:cNvSpPr/>
          <p:nvPr/>
        </p:nvSpPr>
        <p:spPr>
          <a:xfrm>
            <a:off x="752795" y="991847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41" name="Conector angular 217">
            <a:extLst>
              <a:ext uri="{FF2B5EF4-FFF2-40B4-BE49-F238E27FC236}">
                <a16:creationId xmlns:a16="http://schemas.microsoft.com/office/drawing/2014/main" id="{769C5055-7ED4-D3D5-508A-AE8E8ECAAC65}"/>
              </a:ext>
            </a:extLst>
          </p:cNvPr>
          <p:cNvCxnSpPr>
            <a:cxnSpLocks/>
            <a:stCxn id="30" idx="3"/>
            <a:endCxn id="117" idx="1"/>
          </p:cNvCxnSpPr>
          <p:nvPr/>
        </p:nvCxnSpPr>
        <p:spPr>
          <a:xfrm flipV="1">
            <a:off x="2217025" y="3725125"/>
            <a:ext cx="1753145" cy="1625358"/>
          </a:xfrm>
          <a:prstGeom prst="bentConnector3">
            <a:avLst>
              <a:gd name="adj1" fmla="val 2137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217">
            <a:extLst>
              <a:ext uri="{FF2B5EF4-FFF2-40B4-BE49-F238E27FC236}">
                <a16:creationId xmlns:a16="http://schemas.microsoft.com/office/drawing/2014/main" id="{7ECA80FC-993B-EB3F-1675-B0F0548BC729}"/>
              </a:ext>
            </a:extLst>
          </p:cNvPr>
          <p:cNvCxnSpPr>
            <a:cxnSpLocks/>
            <a:stCxn id="35" idx="3"/>
            <a:endCxn id="117" idx="1"/>
          </p:cNvCxnSpPr>
          <p:nvPr/>
        </p:nvCxnSpPr>
        <p:spPr>
          <a:xfrm flipV="1">
            <a:off x="2217025" y="3725126"/>
            <a:ext cx="1753145" cy="1869010"/>
          </a:xfrm>
          <a:prstGeom prst="bentConnector3">
            <a:avLst>
              <a:gd name="adj1" fmla="val 21458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angular 217">
            <a:extLst>
              <a:ext uri="{FF2B5EF4-FFF2-40B4-BE49-F238E27FC236}">
                <a16:creationId xmlns:a16="http://schemas.microsoft.com/office/drawing/2014/main" id="{04FB366E-DB22-896F-FAA1-0B7A0984AAF6}"/>
              </a:ext>
            </a:extLst>
          </p:cNvPr>
          <p:cNvCxnSpPr>
            <a:cxnSpLocks/>
            <a:stCxn id="36" idx="3"/>
            <a:endCxn id="117" idx="1"/>
          </p:cNvCxnSpPr>
          <p:nvPr/>
        </p:nvCxnSpPr>
        <p:spPr>
          <a:xfrm flipV="1">
            <a:off x="2217025" y="3725125"/>
            <a:ext cx="1753145" cy="2112663"/>
          </a:xfrm>
          <a:prstGeom prst="bentConnector3">
            <a:avLst>
              <a:gd name="adj1" fmla="val 2137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r 217">
            <a:extLst>
              <a:ext uri="{FF2B5EF4-FFF2-40B4-BE49-F238E27FC236}">
                <a16:creationId xmlns:a16="http://schemas.microsoft.com/office/drawing/2014/main" id="{FB6AE366-6AB9-5ACF-B0E5-1E168ADB579C}"/>
              </a:ext>
            </a:extLst>
          </p:cNvPr>
          <p:cNvCxnSpPr>
            <a:cxnSpLocks/>
            <a:stCxn id="37" idx="3"/>
            <a:endCxn id="117" idx="1"/>
          </p:cNvCxnSpPr>
          <p:nvPr/>
        </p:nvCxnSpPr>
        <p:spPr>
          <a:xfrm flipV="1">
            <a:off x="2217025" y="3725126"/>
            <a:ext cx="1753145" cy="2356316"/>
          </a:xfrm>
          <a:prstGeom prst="bentConnector3">
            <a:avLst>
              <a:gd name="adj1" fmla="val 2130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angular 217">
            <a:extLst>
              <a:ext uri="{FF2B5EF4-FFF2-40B4-BE49-F238E27FC236}">
                <a16:creationId xmlns:a16="http://schemas.microsoft.com/office/drawing/2014/main" id="{4D816053-EB7B-0441-AFC8-6D4EB79EAEC6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 flipV="1">
            <a:off x="2390010" y="2731375"/>
            <a:ext cx="633955" cy="53597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r 217">
            <a:extLst>
              <a:ext uri="{FF2B5EF4-FFF2-40B4-BE49-F238E27FC236}">
                <a16:creationId xmlns:a16="http://schemas.microsoft.com/office/drawing/2014/main" id="{7ACA7A5B-8B6E-51E2-EFF9-C1A123DEF969}"/>
              </a:ext>
            </a:extLst>
          </p:cNvPr>
          <p:cNvCxnSpPr>
            <a:cxnSpLocks/>
            <a:stCxn id="10" idx="3"/>
            <a:endCxn id="54" idx="1"/>
          </p:cNvCxnSpPr>
          <p:nvPr/>
        </p:nvCxnSpPr>
        <p:spPr>
          <a:xfrm rot="16200000" flipH="1">
            <a:off x="3274327" y="2864819"/>
            <a:ext cx="723617" cy="665573"/>
          </a:xfrm>
          <a:prstGeom prst="bentConnector2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217">
            <a:extLst>
              <a:ext uri="{FF2B5EF4-FFF2-40B4-BE49-F238E27FC236}">
                <a16:creationId xmlns:a16="http://schemas.microsoft.com/office/drawing/2014/main" id="{57B87EF6-5E5C-78C1-737B-0FD4D63EAF6F}"/>
              </a:ext>
            </a:extLst>
          </p:cNvPr>
          <p:cNvCxnSpPr>
            <a:cxnSpLocks/>
            <a:stCxn id="11" idx="4"/>
            <a:endCxn id="29" idx="2"/>
          </p:cNvCxnSpPr>
          <p:nvPr/>
        </p:nvCxnSpPr>
        <p:spPr>
          <a:xfrm flipV="1">
            <a:off x="3582733" y="2207163"/>
            <a:ext cx="3024246" cy="524212"/>
          </a:xfrm>
          <a:prstGeom prst="bentConnector3">
            <a:avLst>
              <a:gd name="adj1" fmla="val 46084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14D0220-1258-A3BA-3F60-3821355B2070}"/>
              </a:ext>
            </a:extLst>
          </p:cNvPr>
          <p:cNvGrpSpPr/>
          <p:nvPr/>
        </p:nvGrpSpPr>
        <p:grpSpPr>
          <a:xfrm>
            <a:off x="5716530" y="4702420"/>
            <a:ext cx="558768" cy="392611"/>
            <a:chOff x="3847857" y="924730"/>
            <a:chExt cx="577911" cy="406062"/>
          </a:xfrm>
        </p:grpSpPr>
        <p:grpSp>
          <p:nvGrpSpPr>
            <p:cNvPr id="49" name="Grupo 83">
              <a:extLst>
                <a:ext uri="{FF2B5EF4-FFF2-40B4-BE49-F238E27FC236}">
                  <a16:creationId xmlns:a16="http://schemas.microsoft.com/office/drawing/2014/main" id="{68AAAB41-84B3-C485-8011-250BC5823E44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51" name="Disco magnético 89">
                <a:extLst>
                  <a:ext uri="{FF2B5EF4-FFF2-40B4-BE49-F238E27FC236}">
                    <a16:creationId xmlns:a16="http://schemas.microsoft.com/office/drawing/2014/main" id="{36F3C2E7-0792-0165-C5B5-408BD31473F5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52" name="Disco magnético 91">
                <a:extLst>
                  <a:ext uri="{FF2B5EF4-FFF2-40B4-BE49-F238E27FC236}">
                    <a16:creationId xmlns:a16="http://schemas.microsoft.com/office/drawing/2014/main" id="{CBD8EEB6-405C-998E-4F9C-8EE39C4556E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53" name="Disco magnético 92">
                <a:extLst>
                  <a:ext uri="{FF2B5EF4-FFF2-40B4-BE49-F238E27FC236}">
                    <a16:creationId xmlns:a16="http://schemas.microsoft.com/office/drawing/2014/main" id="{CBE4C7A3-1C24-8E75-C2A5-3FDF59A42EAC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50" name="CuadroTexto 86">
              <a:extLst>
                <a:ext uri="{FF2B5EF4-FFF2-40B4-BE49-F238E27FC236}">
                  <a16:creationId xmlns:a16="http://schemas.microsoft.com/office/drawing/2014/main" id="{1ADDECBB-0405-EF2E-6678-C427AA7ACD5F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IFRS9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E46BE53-A490-4607-9AB4-FCE3BE700D66}"/>
              </a:ext>
            </a:extLst>
          </p:cNvPr>
          <p:cNvSpPr txBox="1"/>
          <p:nvPr/>
        </p:nvSpPr>
        <p:spPr>
          <a:xfrm>
            <a:off x="3968923" y="3280432"/>
            <a:ext cx="774462" cy="55796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34808" rIns="34808" rtlCol="0">
            <a:spAutoFit/>
          </a:bodyPr>
          <a:lstStyle/>
          <a:p>
            <a:pPr algn="ctr" defTabSz="883512"/>
            <a:r>
              <a:rPr lang="pt-PT" sz="1015">
                <a:solidFill>
                  <a:prstClr val="black"/>
                </a:solidFill>
                <a:latin typeface="Arial"/>
              </a:rPr>
              <a:t>Ficheiros BIYR2500 / BYR9500</a:t>
            </a:r>
          </a:p>
        </p:txBody>
      </p:sp>
      <p:cxnSp>
        <p:nvCxnSpPr>
          <p:cNvPr id="55" name="Conector angular 217">
            <a:extLst>
              <a:ext uri="{FF2B5EF4-FFF2-40B4-BE49-F238E27FC236}">
                <a16:creationId xmlns:a16="http://schemas.microsoft.com/office/drawing/2014/main" id="{05DC9044-BB68-7157-E688-0362050F6D44}"/>
              </a:ext>
            </a:extLst>
          </p:cNvPr>
          <p:cNvCxnSpPr>
            <a:cxnSpLocks/>
            <a:stCxn id="54" idx="3"/>
            <a:endCxn id="28" idx="2"/>
          </p:cNvCxnSpPr>
          <p:nvPr/>
        </p:nvCxnSpPr>
        <p:spPr>
          <a:xfrm flipV="1">
            <a:off x="4743384" y="2271601"/>
            <a:ext cx="1863595" cy="1287813"/>
          </a:xfrm>
          <a:prstGeom prst="bentConnector3">
            <a:avLst>
              <a:gd name="adj1" fmla="val 2606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5E97FA8-9944-7971-23F8-70E044F3AFFA}"/>
              </a:ext>
            </a:extLst>
          </p:cNvPr>
          <p:cNvSpPr txBox="1"/>
          <p:nvPr/>
        </p:nvSpPr>
        <p:spPr>
          <a:xfrm>
            <a:off x="7376846" y="1583494"/>
            <a:ext cx="1279762" cy="2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161" b="1">
                <a:solidFill>
                  <a:prstClr val="black"/>
                </a:solidFill>
                <a:latin typeface="Arial"/>
              </a:rPr>
              <a:t>Data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Lake</a:t>
            </a:r>
            <a:endParaRPr lang="pt-PT" sz="1161" b="1">
              <a:solidFill>
                <a:prstClr val="black"/>
              </a:solidFill>
              <a:latin typeface="Arial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8A554C5-FEF7-E436-94A0-76A1E5277AC6}"/>
              </a:ext>
            </a:extLst>
          </p:cNvPr>
          <p:cNvGrpSpPr/>
          <p:nvPr/>
        </p:nvGrpSpPr>
        <p:grpSpPr>
          <a:xfrm>
            <a:off x="7776941" y="4699143"/>
            <a:ext cx="558768" cy="392611"/>
            <a:chOff x="3847857" y="924730"/>
            <a:chExt cx="577911" cy="406062"/>
          </a:xfrm>
        </p:grpSpPr>
        <p:grpSp>
          <p:nvGrpSpPr>
            <p:cNvPr id="58" name="Grupo 83">
              <a:extLst>
                <a:ext uri="{FF2B5EF4-FFF2-40B4-BE49-F238E27FC236}">
                  <a16:creationId xmlns:a16="http://schemas.microsoft.com/office/drawing/2014/main" id="{E86EB621-492F-6B64-60F5-BCB68CED1D25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60" name="Disco magnético 89">
                <a:extLst>
                  <a:ext uri="{FF2B5EF4-FFF2-40B4-BE49-F238E27FC236}">
                    <a16:creationId xmlns:a16="http://schemas.microsoft.com/office/drawing/2014/main" id="{74DA3A92-F3AA-6439-2FF1-FB0AC5EFF87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61" name="Disco magnético 91">
                <a:extLst>
                  <a:ext uri="{FF2B5EF4-FFF2-40B4-BE49-F238E27FC236}">
                    <a16:creationId xmlns:a16="http://schemas.microsoft.com/office/drawing/2014/main" id="{57B58434-2F8E-8656-BD99-47347CF73F64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62" name="Disco magnético 92">
                <a:extLst>
                  <a:ext uri="{FF2B5EF4-FFF2-40B4-BE49-F238E27FC236}">
                    <a16:creationId xmlns:a16="http://schemas.microsoft.com/office/drawing/2014/main" id="{CD02784F-C297-D568-535D-E973DAD036F0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59" name="CuadroTexto 86">
              <a:extLst>
                <a:ext uri="{FF2B5EF4-FFF2-40B4-BE49-F238E27FC236}">
                  <a16:creationId xmlns:a16="http://schemas.microsoft.com/office/drawing/2014/main" id="{6CE36062-672B-0680-1D15-01F75F9A1B31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373745-A751-FC87-2342-F1FBB76D2375}"/>
              </a:ext>
            </a:extLst>
          </p:cNvPr>
          <p:cNvGrpSpPr/>
          <p:nvPr/>
        </p:nvGrpSpPr>
        <p:grpSpPr>
          <a:xfrm>
            <a:off x="7516578" y="3267209"/>
            <a:ext cx="1110368" cy="460184"/>
            <a:chOff x="8628564" y="1927475"/>
            <a:chExt cx="1148408" cy="475950"/>
          </a:xfrm>
        </p:grpSpPr>
        <p:grpSp>
          <p:nvGrpSpPr>
            <p:cNvPr id="64" name="Grupo 83">
              <a:extLst>
                <a:ext uri="{FF2B5EF4-FFF2-40B4-BE49-F238E27FC236}">
                  <a16:creationId xmlns:a16="http://schemas.microsoft.com/office/drawing/2014/main" id="{5EB052EF-968C-0442-3FBF-BE11C57A7947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66" name="Disco magnético 89">
                <a:extLst>
                  <a:ext uri="{FF2B5EF4-FFF2-40B4-BE49-F238E27FC236}">
                    <a16:creationId xmlns:a16="http://schemas.microsoft.com/office/drawing/2014/main" id="{128A5DC5-86F6-2C31-A8E4-59D9BBF68554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67" name="Disco magnético 91">
                <a:extLst>
                  <a:ext uri="{FF2B5EF4-FFF2-40B4-BE49-F238E27FC236}">
                    <a16:creationId xmlns:a16="http://schemas.microsoft.com/office/drawing/2014/main" id="{87F824BE-6FE9-8BDF-CEDC-88CB994995D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68" name="Disco magnético 92">
                <a:extLst>
                  <a:ext uri="{FF2B5EF4-FFF2-40B4-BE49-F238E27FC236}">
                    <a16:creationId xmlns:a16="http://schemas.microsoft.com/office/drawing/2014/main" id="{09E9DD8F-764E-74AC-9FA1-DC9398E5EBC3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65" name="CuadroTexto 86">
              <a:extLst>
                <a:ext uri="{FF2B5EF4-FFF2-40B4-BE49-F238E27FC236}">
                  <a16:creationId xmlns:a16="http://schemas.microsoft.com/office/drawing/2014/main" id="{840002D2-8C1E-B3CC-A5EB-B4038DA8B7D3}"/>
                </a:ext>
              </a:extLst>
            </p:cNvPr>
            <p:cNvSpPr txBox="1"/>
            <p:nvPr/>
          </p:nvSpPr>
          <p:spPr>
            <a:xfrm>
              <a:off x="8628564" y="1927475"/>
              <a:ext cx="1148408" cy="1814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69" name="Conector angular 217">
            <a:extLst>
              <a:ext uri="{FF2B5EF4-FFF2-40B4-BE49-F238E27FC236}">
                <a16:creationId xmlns:a16="http://schemas.microsoft.com/office/drawing/2014/main" id="{0DA748A3-8148-EEAC-0041-DEE56B7ACCA4}"/>
              </a:ext>
            </a:extLst>
          </p:cNvPr>
          <p:cNvCxnSpPr>
            <a:cxnSpLocks/>
            <a:stCxn id="54" idx="3"/>
            <a:endCxn id="86" idx="2"/>
          </p:cNvCxnSpPr>
          <p:nvPr/>
        </p:nvCxnSpPr>
        <p:spPr>
          <a:xfrm>
            <a:off x="4743384" y="3559415"/>
            <a:ext cx="1880715" cy="707348"/>
          </a:xfrm>
          <a:prstGeom prst="bentConnector3">
            <a:avLst>
              <a:gd name="adj1" fmla="val 2594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angular 217">
            <a:extLst>
              <a:ext uri="{FF2B5EF4-FFF2-40B4-BE49-F238E27FC236}">
                <a16:creationId xmlns:a16="http://schemas.microsoft.com/office/drawing/2014/main" id="{CC9B310B-62BE-BFB4-85BA-8F2C97F7664C}"/>
              </a:ext>
            </a:extLst>
          </p:cNvPr>
          <p:cNvCxnSpPr>
            <a:cxnSpLocks/>
            <a:stCxn id="52" idx="4"/>
            <a:endCxn id="61" idx="2"/>
          </p:cNvCxnSpPr>
          <p:nvPr/>
        </p:nvCxnSpPr>
        <p:spPr>
          <a:xfrm flipV="1">
            <a:off x="6275298" y="4987332"/>
            <a:ext cx="1501642" cy="3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D8B8FF0-5F12-2C9D-A129-CB6894967073}"/>
              </a:ext>
            </a:extLst>
          </p:cNvPr>
          <p:cNvGrpSpPr/>
          <p:nvPr/>
        </p:nvGrpSpPr>
        <p:grpSpPr>
          <a:xfrm>
            <a:off x="8719668" y="3325011"/>
            <a:ext cx="978392" cy="403059"/>
            <a:chOff x="7424185" y="4914310"/>
            <a:chExt cx="1011910" cy="416867"/>
          </a:xfrm>
        </p:grpSpPr>
        <p:grpSp>
          <p:nvGrpSpPr>
            <p:cNvPr id="72" name="Grupo 83">
              <a:extLst>
                <a:ext uri="{FF2B5EF4-FFF2-40B4-BE49-F238E27FC236}">
                  <a16:creationId xmlns:a16="http://schemas.microsoft.com/office/drawing/2014/main" id="{1DF4EB47-8E42-650B-441B-79DF1E06346A}"/>
                </a:ext>
              </a:extLst>
            </p:cNvPr>
            <p:cNvGrpSpPr/>
            <p:nvPr/>
          </p:nvGrpSpPr>
          <p:grpSpPr>
            <a:xfrm>
              <a:off x="7460803" y="5115177"/>
              <a:ext cx="577911" cy="216000"/>
              <a:chOff x="8038758" y="3835908"/>
              <a:chExt cx="1282700" cy="1173653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4" name="Disco magnético 89">
                <a:extLst>
                  <a:ext uri="{FF2B5EF4-FFF2-40B4-BE49-F238E27FC236}">
                    <a16:creationId xmlns:a16="http://schemas.microsoft.com/office/drawing/2014/main" id="{AC3C1A3E-3958-938D-D5FC-0BAE5A1ADF98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75" name="Disco magnético 91">
                <a:extLst>
                  <a:ext uri="{FF2B5EF4-FFF2-40B4-BE49-F238E27FC236}">
                    <a16:creationId xmlns:a16="http://schemas.microsoft.com/office/drawing/2014/main" id="{3B880996-0ED8-2734-E3C7-03CBF0D6820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76" name="Disco magnético 92">
                <a:extLst>
                  <a:ext uri="{FF2B5EF4-FFF2-40B4-BE49-F238E27FC236}">
                    <a16:creationId xmlns:a16="http://schemas.microsoft.com/office/drawing/2014/main" id="{3AC50F6B-5739-C2B7-F5A9-F35F7C63A50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73" name="CuadroTexto 86">
              <a:extLst>
                <a:ext uri="{FF2B5EF4-FFF2-40B4-BE49-F238E27FC236}">
                  <a16:creationId xmlns:a16="http://schemas.microsoft.com/office/drawing/2014/main" id="{8912D3DB-5624-EF17-FF8B-EBBB5D6ECD28}"/>
                </a:ext>
              </a:extLst>
            </p:cNvPr>
            <p:cNvSpPr txBox="1"/>
            <p:nvPr/>
          </p:nvSpPr>
          <p:spPr>
            <a:xfrm>
              <a:off x="7424185" y="4914310"/>
              <a:ext cx="1011910" cy="1595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ALM Liquidez</a:t>
              </a:r>
            </a:p>
          </p:txBody>
        </p:sp>
      </p:grpSp>
      <p:cxnSp>
        <p:nvCxnSpPr>
          <p:cNvPr id="77" name="Conector angular 217">
            <a:extLst>
              <a:ext uri="{FF2B5EF4-FFF2-40B4-BE49-F238E27FC236}">
                <a16:creationId xmlns:a16="http://schemas.microsoft.com/office/drawing/2014/main" id="{98FCF4A4-C546-A1DE-EE18-DDDB5CA1D6A1}"/>
              </a:ext>
            </a:extLst>
          </p:cNvPr>
          <p:cNvCxnSpPr>
            <a:cxnSpLocks/>
            <a:stCxn id="38" idx="3"/>
            <a:endCxn id="11" idx="2"/>
          </p:cNvCxnSpPr>
          <p:nvPr/>
        </p:nvCxnSpPr>
        <p:spPr>
          <a:xfrm>
            <a:off x="2390010" y="1375618"/>
            <a:ext cx="633955" cy="13557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6160697-AB13-6C5F-E108-7CEE7A57E7C7}"/>
              </a:ext>
            </a:extLst>
          </p:cNvPr>
          <p:cNvGrpSpPr/>
          <p:nvPr/>
        </p:nvGrpSpPr>
        <p:grpSpPr>
          <a:xfrm>
            <a:off x="3763354" y="4167794"/>
            <a:ext cx="1177068" cy="307055"/>
            <a:chOff x="3608497" y="4223067"/>
            <a:chExt cx="952559" cy="323062"/>
          </a:xfrm>
        </p:grpSpPr>
        <p:sp>
          <p:nvSpPr>
            <p:cNvPr id="79" name="Fluxograma: multidocumentos 215">
              <a:extLst>
                <a:ext uri="{FF2B5EF4-FFF2-40B4-BE49-F238E27FC236}">
                  <a16:creationId xmlns:a16="http://schemas.microsoft.com/office/drawing/2014/main" id="{A34F86A6-F5D6-60BC-4FD6-8756CB989DDB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tIns="0" rIns="34808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83512"/>
              <a:endParaRPr lang="pt-PT" sz="774" baseline="30000">
                <a:solidFill>
                  <a:sysClr val="windowText" lastClr="000000"/>
                </a:solidFill>
                <a:latin typeface="Arial"/>
              </a:endParaRPr>
            </a:p>
          </p:txBody>
        </p:sp>
        <p:sp>
          <p:nvSpPr>
            <p:cNvPr id="80" name="CaixaDeTexto 167">
              <a:extLst>
                <a:ext uri="{FF2B5EF4-FFF2-40B4-BE49-F238E27FC236}">
                  <a16:creationId xmlns:a16="http://schemas.microsoft.com/office/drawing/2014/main" id="{CC54CB1D-2C79-7E1D-6DAF-26B52F665283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61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83512"/>
              <a:r>
                <a:rPr lang="pt-PT" sz="1015">
                  <a:solidFill>
                    <a:srgbClr val="E7E6E6">
                      <a:lumMod val="25000"/>
                    </a:srgb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81" name="Conector angular 217">
            <a:extLst>
              <a:ext uri="{FF2B5EF4-FFF2-40B4-BE49-F238E27FC236}">
                <a16:creationId xmlns:a16="http://schemas.microsoft.com/office/drawing/2014/main" id="{7D6AE473-F3B6-A472-D000-6425A0266E27}"/>
              </a:ext>
            </a:extLst>
          </p:cNvPr>
          <p:cNvCxnSpPr>
            <a:cxnSpLocks/>
            <a:stCxn id="80" idx="0"/>
            <a:endCxn id="54" idx="2"/>
          </p:cNvCxnSpPr>
          <p:nvPr/>
        </p:nvCxnSpPr>
        <p:spPr>
          <a:xfrm rot="5400000" flipH="1" flipV="1">
            <a:off x="4179124" y="4014124"/>
            <a:ext cx="352757" cy="13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angular 217">
            <a:extLst>
              <a:ext uri="{FF2B5EF4-FFF2-40B4-BE49-F238E27FC236}">
                <a16:creationId xmlns:a16="http://schemas.microsoft.com/office/drawing/2014/main" id="{B5E5C7F2-C63D-8784-B438-6996FE3DD812}"/>
              </a:ext>
            </a:extLst>
          </p:cNvPr>
          <p:cNvCxnSpPr>
            <a:cxnSpLocks/>
            <a:stCxn id="54" idx="3"/>
            <a:endCxn id="51" idx="2"/>
          </p:cNvCxnSpPr>
          <p:nvPr/>
        </p:nvCxnSpPr>
        <p:spPr>
          <a:xfrm>
            <a:off x="4743384" y="3559415"/>
            <a:ext cx="973146" cy="14956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7375314-C177-3034-C100-64386F469DB9}"/>
              </a:ext>
            </a:extLst>
          </p:cNvPr>
          <p:cNvGrpSpPr/>
          <p:nvPr/>
        </p:nvGrpSpPr>
        <p:grpSpPr>
          <a:xfrm>
            <a:off x="6475893" y="4011191"/>
            <a:ext cx="886781" cy="424435"/>
            <a:chOff x="5692521" y="4580785"/>
            <a:chExt cx="917161" cy="438976"/>
          </a:xfrm>
        </p:grpSpPr>
        <p:sp>
          <p:nvSpPr>
            <p:cNvPr id="84" name="Disco magnético 89">
              <a:extLst>
                <a:ext uri="{FF2B5EF4-FFF2-40B4-BE49-F238E27FC236}">
                  <a16:creationId xmlns:a16="http://schemas.microsoft.com/office/drawing/2014/main" id="{35C13825-F846-C7D9-3CD1-9697AF5C6AED}"/>
                </a:ext>
              </a:extLst>
            </p:cNvPr>
            <p:cNvSpPr/>
            <p:nvPr/>
          </p:nvSpPr>
          <p:spPr>
            <a:xfrm>
              <a:off x="5845805" y="4937056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5" name="Disco magnético 91">
              <a:extLst>
                <a:ext uri="{FF2B5EF4-FFF2-40B4-BE49-F238E27FC236}">
                  <a16:creationId xmlns:a16="http://schemas.microsoft.com/office/drawing/2014/main" id="{4F7D43F9-C775-DCA7-7B08-83A8C34D1B24}"/>
                </a:ext>
              </a:extLst>
            </p:cNvPr>
            <p:cNvSpPr/>
            <p:nvPr/>
          </p:nvSpPr>
          <p:spPr>
            <a:xfrm>
              <a:off x="5845805" y="4870408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6" name="Disco magnético 92">
              <a:extLst>
                <a:ext uri="{FF2B5EF4-FFF2-40B4-BE49-F238E27FC236}">
                  <a16:creationId xmlns:a16="http://schemas.microsoft.com/office/drawing/2014/main" id="{047F22D0-CCCE-FBF3-D5E9-E4FB37C2D755}"/>
                </a:ext>
              </a:extLst>
            </p:cNvPr>
            <p:cNvSpPr/>
            <p:nvPr/>
          </p:nvSpPr>
          <p:spPr>
            <a:xfrm>
              <a:off x="5845805" y="4803761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D390F999-4FC6-EF69-F1FA-A0A9140935E1}"/>
                </a:ext>
              </a:extLst>
            </p:cNvPr>
            <p:cNvSpPr txBox="1"/>
            <p:nvPr/>
          </p:nvSpPr>
          <p:spPr>
            <a:xfrm>
              <a:off x="5692521" y="4580785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/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Repesp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88" name="Conector angular 217">
            <a:extLst>
              <a:ext uri="{FF2B5EF4-FFF2-40B4-BE49-F238E27FC236}">
                <a16:creationId xmlns:a16="http://schemas.microsoft.com/office/drawing/2014/main" id="{CC42BEA8-468D-C67D-8111-368E273B47D3}"/>
              </a:ext>
            </a:extLst>
          </p:cNvPr>
          <p:cNvCxnSpPr>
            <a:cxnSpLocks/>
            <a:stCxn id="54" idx="3"/>
            <a:endCxn id="68" idx="2"/>
          </p:cNvCxnSpPr>
          <p:nvPr/>
        </p:nvCxnSpPr>
        <p:spPr>
          <a:xfrm flipV="1">
            <a:off x="4743383" y="3558532"/>
            <a:ext cx="3048994" cy="883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angular 217">
            <a:extLst>
              <a:ext uri="{FF2B5EF4-FFF2-40B4-BE49-F238E27FC236}">
                <a16:creationId xmlns:a16="http://schemas.microsoft.com/office/drawing/2014/main" id="{8C9D79C3-5030-20DA-0793-948888FC41CF}"/>
              </a:ext>
            </a:extLst>
          </p:cNvPr>
          <p:cNvCxnSpPr>
            <a:cxnSpLocks/>
            <a:stCxn id="67" idx="4"/>
            <a:endCxn id="75" idx="2"/>
          </p:cNvCxnSpPr>
          <p:nvPr/>
        </p:nvCxnSpPr>
        <p:spPr>
          <a:xfrm>
            <a:off x="8351146" y="3622971"/>
            <a:ext cx="403928" cy="67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angular 217">
            <a:extLst>
              <a:ext uri="{FF2B5EF4-FFF2-40B4-BE49-F238E27FC236}">
                <a16:creationId xmlns:a16="http://schemas.microsoft.com/office/drawing/2014/main" id="{86238187-87FE-1789-FB57-D2B7D2871B02}"/>
              </a:ext>
            </a:extLst>
          </p:cNvPr>
          <p:cNvCxnSpPr>
            <a:cxnSpLocks/>
            <a:stCxn id="52" idx="4"/>
            <a:endCxn id="84" idx="2"/>
          </p:cNvCxnSpPr>
          <p:nvPr/>
        </p:nvCxnSpPr>
        <p:spPr>
          <a:xfrm flipV="1">
            <a:off x="6275298" y="4395643"/>
            <a:ext cx="348801" cy="59496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FA16C89-3518-47CF-4AA1-90BC988D7AAB}"/>
              </a:ext>
            </a:extLst>
          </p:cNvPr>
          <p:cNvGrpSpPr/>
          <p:nvPr/>
        </p:nvGrpSpPr>
        <p:grpSpPr>
          <a:xfrm>
            <a:off x="7612402" y="1954633"/>
            <a:ext cx="886781" cy="424435"/>
            <a:chOff x="7664352" y="2572167"/>
            <a:chExt cx="917161" cy="438976"/>
          </a:xfrm>
        </p:grpSpPr>
        <p:grpSp>
          <p:nvGrpSpPr>
            <p:cNvPr id="92" name="Grupo 83">
              <a:extLst>
                <a:ext uri="{FF2B5EF4-FFF2-40B4-BE49-F238E27FC236}">
                  <a16:creationId xmlns:a16="http://schemas.microsoft.com/office/drawing/2014/main" id="{D54986F0-B6A4-F196-840B-D2427E2DFEC7}"/>
                </a:ext>
              </a:extLst>
            </p:cNvPr>
            <p:cNvGrpSpPr/>
            <p:nvPr/>
          </p:nvGrpSpPr>
          <p:grpSpPr>
            <a:xfrm>
              <a:off x="7817637" y="2795143"/>
              <a:ext cx="577912" cy="216000"/>
              <a:chOff x="8038758" y="3835908"/>
              <a:chExt cx="1282702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94" name="Disco magnético 89">
                <a:extLst>
                  <a:ext uri="{FF2B5EF4-FFF2-40B4-BE49-F238E27FC236}">
                    <a16:creationId xmlns:a16="http://schemas.microsoft.com/office/drawing/2014/main" id="{CEDB1759-57A4-DE8D-23E9-1AF373A19378}"/>
                  </a:ext>
                </a:extLst>
              </p:cNvPr>
              <p:cNvSpPr/>
              <p:nvPr/>
            </p:nvSpPr>
            <p:spPr>
              <a:xfrm>
                <a:off x="8038760" y="4560177"/>
                <a:ext cx="1282700" cy="449384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5" name="Disco magnético 91">
                <a:extLst>
                  <a:ext uri="{FF2B5EF4-FFF2-40B4-BE49-F238E27FC236}">
                    <a16:creationId xmlns:a16="http://schemas.microsoft.com/office/drawing/2014/main" id="{5A3DFAF3-DCDC-81AC-116C-0E7ADF5B0CC8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6" name="Disco magnético 92">
                <a:extLst>
                  <a:ext uri="{FF2B5EF4-FFF2-40B4-BE49-F238E27FC236}">
                    <a16:creationId xmlns:a16="http://schemas.microsoft.com/office/drawing/2014/main" id="{CF7CD103-30EC-488B-EE12-770F2A4368B6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93" name="CuadroTexto 86">
              <a:extLst>
                <a:ext uri="{FF2B5EF4-FFF2-40B4-BE49-F238E27FC236}">
                  <a16:creationId xmlns:a16="http://schemas.microsoft.com/office/drawing/2014/main" id="{BFC4DD1F-22AE-F069-D423-A50B4DD092FB}"/>
                </a:ext>
              </a:extLst>
            </p:cNvPr>
            <p:cNvSpPr txBox="1"/>
            <p:nvPr/>
          </p:nvSpPr>
          <p:spPr>
            <a:xfrm>
              <a:off x="7664352" y="2572167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Capital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555BB34-9D31-19BC-50A6-3F865940A6FE}"/>
              </a:ext>
            </a:extLst>
          </p:cNvPr>
          <p:cNvGrpSpPr/>
          <p:nvPr/>
        </p:nvGrpSpPr>
        <p:grpSpPr>
          <a:xfrm>
            <a:off x="10450208" y="2864498"/>
            <a:ext cx="1253071" cy="710059"/>
            <a:chOff x="9049403" y="1468587"/>
            <a:chExt cx="1296000" cy="734385"/>
          </a:xfrm>
        </p:grpSpPr>
        <p:pic>
          <p:nvPicPr>
            <p:cNvPr id="98" name="Picture 4" descr="Banco de Portugal - Wikipedia">
              <a:extLst>
                <a:ext uri="{FF2B5EF4-FFF2-40B4-BE49-F238E27FC236}">
                  <a16:creationId xmlns:a16="http://schemas.microsoft.com/office/drawing/2014/main" id="{4434A5E0-2497-B274-8A41-30A0C26BF9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1303" y="1528227"/>
              <a:ext cx="571219" cy="413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87F590C-B800-B867-B8A6-F3B4AC5BD748}"/>
                </a:ext>
              </a:extLst>
            </p:cNvPr>
            <p:cNvSpPr/>
            <p:nvPr/>
          </p:nvSpPr>
          <p:spPr>
            <a:xfrm>
              <a:off x="9049403" y="1468587"/>
              <a:ext cx="1296000" cy="734385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pt-PT" sz="145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FD15716-07AE-A9ED-BFFC-638418031047}"/>
                </a:ext>
              </a:extLst>
            </p:cNvPr>
            <p:cNvSpPr/>
            <p:nvPr/>
          </p:nvSpPr>
          <p:spPr>
            <a:xfrm>
              <a:off x="9101302" y="2021488"/>
              <a:ext cx="1188000" cy="1335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rIns="34808" rtlCol="0" anchor="ctr"/>
            <a:lstStyle/>
            <a:p>
              <a:pPr algn="ctr" defTabSz="883512"/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Finrep</a:t>
              </a:r>
              <a:r>
                <a:rPr lang="pt-PT" sz="967" b="1">
                  <a:solidFill>
                    <a:prstClr val="black"/>
                  </a:solidFill>
                  <a:latin typeface="Arial"/>
                </a:rPr>
                <a:t> / </a:t>
              </a:r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Corep</a:t>
              </a:r>
              <a:endParaRPr lang="pt-PT" sz="967" b="1">
                <a:solidFill>
                  <a:prstClr val="black"/>
                </a:solidFill>
                <a:latin typeface="Arial"/>
              </a:endParaRPr>
            </a:p>
          </p:txBody>
        </p:sp>
      </p:grpSp>
      <p:cxnSp>
        <p:nvCxnSpPr>
          <p:cNvPr id="101" name="Conector angular 217">
            <a:extLst>
              <a:ext uri="{FF2B5EF4-FFF2-40B4-BE49-F238E27FC236}">
                <a16:creationId xmlns:a16="http://schemas.microsoft.com/office/drawing/2014/main" id="{2DDA617C-CDCA-E129-7A04-725BFE3F7BDC}"/>
              </a:ext>
            </a:extLst>
          </p:cNvPr>
          <p:cNvCxnSpPr>
            <a:cxnSpLocks/>
            <a:stCxn id="95" idx="4"/>
            <a:endCxn id="103" idx="0"/>
          </p:cNvCxnSpPr>
          <p:nvPr/>
        </p:nvCxnSpPr>
        <p:spPr>
          <a:xfrm>
            <a:off x="8319377" y="2274646"/>
            <a:ext cx="2757367" cy="227228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angular 217">
            <a:extLst>
              <a:ext uri="{FF2B5EF4-FFF2-40B4-BE49-F238E27FC236}">
                <a16:creationId xmlns:a16="http://schemas.microsoft.com/office/drawing/2014/main" id="{6B66E72B-A07E-2DCA-C6B9-E6574D2880ED}"/>
              </a:ext>
            </a:extLst>
          </p:cNvPr>
          <p:cNvCxnSpPr>
            <a:cxnSpLocks/>
            <a:stCxn id="85" idx="4"/>
            <a:endCxn id="99" idx="2"/>
          </p:cNvCxnSpPr>
          <p:nvPr/>
        </p:nvCxnSpPr>
        <p:spPr>
          <a:xfrm flipV="1">
            <a:off x="7182868" y="3574557"/>
            <a:ext cx="3893876" cy="756646"/>
          </a:xfrm>
          <a:prstGeom prst="bentConnector2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E16FEA2-26C7-D081-826B-DA6B5F0D8563}"/>
              </a:ext>
            </a:extLst>
          </p:cNvPr>
          <p:cNvSpPr/>
          <p:nvPr/>
        </p:nvSpPr>
        <p:spPr>
          <a:xfrm>
            <a:off x="10450209" y="2501873"/>
            <a:ext cx="1253071" cy="34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557" tIns="23278" rIns="46557" bIns="232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3512"/>
            <a:endParaRPr lang="pt-PT" sz="10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61A0EEF-F4E9-41D7-240C-7CCC199482C2}"/>
              </a:ext>
            </a:extLst>
          </p:cNvPr>
          <p:cNvSpPr/>
          <p:nvPr/>
        </p:nvSpPr>
        <p:spPr>
          <a:xfrm>
            <a:off x="10486548" y="2534868"/>
            <a:ext cx="1183456" cy="2865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967">
                <a:solidFill>
                  <a:prstClr val="white"/>
                </a:solidFill>
                <a:latin typeface="Arial"/>
              </a:rPr>
              <a:t>Reporting Interno e Corporativo</a:t>
            </a:r>
          </a:p>
        </p:txBody>
      </p:sp>
      <p:cxnSp>
        <p:nvCxnSpPr>
          <p:cNvPr id="105" name="Conector angular 217">
            <a:extLst>
              <a:ext uri="{FF2B5EF4-FFF2-40B4-BE49-F238E27FC236}">
                <a16:creationId xmlns:a16="http://schemas.microsoft.com/office/drawing/2014/main" id="{68A5A588-59C0-1D8D-075C-7706EB05E7B8}"/>
              </a:ext>
            </a:extLst>
          </p:cNvPr>
          <p:cNvCxnSpPr>
            <a:cxnSpLocks/>
            <a:stCxn id="75" idx="4"/>
            <a:endCxn id="99" idx="1"/>
          </p:cNvCxnSpPr>
          <p:nvPr/>
        </p:nvCxnSpPr>
        <p:spPr>
          <a:xfrm flipV="1">
            <a:off x="9313842" y="3219528"/>
            <a:ext cx="1136365" cy="404119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angular 217">
            <a:extLst>
              <a:ext uri="{FF2B5EF4-FFF2-40B4-BE49-F238E27FC236}">
                <a16:creationId xmlns:a16="http://schemas.microsoft.com/office/drawing/2014/main" id="{7494AE26-8FA1-6526-3A0D-0652E493E69E}"/>
              </a:ext>
            </a:extLst>
          </p:cNvPr>
          <p:cNvCxnSpPr>
            <a:cxnSpLocks/>
            <a:stCxn id="11" idx="4"/>
            <a:endCxn id="53" idx="2"/>
          </p:cNvCxnSpPr>
          <p:nvPr/>
        </p:nvCxnSpPr>
        <p:spPr>
          <a:xfrm>
            <a:off x="3582733" y="2731374"/>
            <a:ext cx="2133797" cy="2194796"/>
          </a:xfrm>
          <a:prstGeom prst="bentConnector3">
            <a:avLst>
              <a:gd name="adj1" fmla="val 65178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angular 217">
            <a:extLst>
              <a:ext uri="{FF2B5EF4-FFF2-40B4-BE49-F238E27FC236}">
                <a16:creationId xmlns:a16="http://schemas.microsoft.com/office/drawing/2014/main" id="{1FC3D171-B63E-CCD9-EF80-E5BCE514CB8D}"/>
              </a:ext>
            </a:extLst>
          </p:cNvPr>
          <p:cNvCxnSpPr>
            <a:cxnSpLocks/>
            <a:stCxn id="52" idx="4"/>
            <a:endCxn id="27" idx="2"/>
          </p:cNvCxnSpPr>
          <p:nvPr/>
        </p:nvCxnSpPr>
        <p:spPr>
          <a:xfrm flipV="1">
            <a:off x="6275298" y="2336042"/>
            <a:ext cx="331681" cy="26545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angular 217">
            <a:extLst>
              <a:ext uri="{FF2B5EF4-FFF2-40B4-BE49-F238E27FC236}">
                <a16:creationId xmlns:a16="http://schemas.microsoft.com/office/drawing/2014/main" id="{38F0EC44-BE0B-C586-2022-B7302FA1B7D2}"/>
              </a:ext>
            </a:extLst>
          </p:cNvPr>
          <p:cNvCxnSpPr>
            <a:cxnSpLocks/>
            <a:stCxn id="11" idx="4"/>
            <a:endCxn id="85" idx="2"/>
          </p:cNvCxnSpPr>
          <p:nvPr/>
        </p:nvCxnSpPr>
        <p:spPr>
          <a:xfrm>
            <a:off x="3582733" y="2731374"/>
            <a:ext cx="3041366" cy="1599828"/>
          </a:xfrm>
          <a:prstGeom prst="bentConnector3">
            <a:avLst>
              <a:gd name="adj1" fmla="val 45708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angular 217">
            <a:extLst>
              <a:ext uri="{FF2B5EF4-FFF2-40B4-BE49-F238E27FC236}">
                <a16:creationId xmlns:a16="http://schemas.microsoft.com/office/drawing/2014/main" id="{D6FCC932-3D73-1D24-A553-7BE827B2A033}"/>
              </a:ext>
            </a:extLst>
          </p:cNvPr>
          <p:cNvCxnSpPr>
            <a:cxnSpLocks/>
            <a:stCxn id="28" idx="4"/>
            <a:endCxn id="95" idx="2"/>
          </p:cNvCxnSpPr>
          <p:nvPr/>
        </p:nvCxnSpPr>
        <p:spPr>
          <a:xfrm>
            <a:off x="7165747" y="2271603"/>
            <a:ext cx="594862" cy="304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uadroTexto 86">
            <a:extLst>
              <a:ext uri="{FF2B5EF4-FFF2-40B4-BE49-F238E27FC236}">
                <a16:creationId xmlns:a16="http://schemas.microsoft.com/office/drawing/2014/main" id="{AFD61A84-1C6E-18A6-7EC2-525FA55AE234}"/>
              </a:ext>
            </a:extLst>
          </p:cNvPr>
          <p:cNvSpPr txBox="1"/>
          <p:nvPr/>
        </p:nvSpPr>
        <p:spPr>
          <a:xfrm>
            <a:off x="3906919" y="2951685"/>
            <a:ext cx="886781" cy="33381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es-ES" sz="1015" b="1" err="1">
                <a:solidFill>
                  <a:prstClr val="black"/>
                </a:solidFill>
                <a:latin typeface="Santander Text" panose="020B0504020201020104" pitchFamily="34" charset="0"/>
              </a:rPr>
              <a:t>Processo</a:t>
            </a:r>
            <a:r>
              <a:rPr lang="es-ES" sz="1015" b="1">
                <a:solidFill>
                  <a:prstClr val="black"/>
                </a:solidFill>
                <a:latin typeface="Santander Text" panose="020B0504020201020104" pitchFamily="34" charset="0"/>
              </a:rPr>
              <a:t> de Basileia</a:t>
            </a:r>
          </a:p>
        </p:txBody>
      </p:sp>
      <p:cxnSp>
        <p:nvCxnSpPr>
          <p:cNvPr id="111" name="Conector angular 217">
            <a:extLst>
              <a:ext uri="{FF2B5EF4-FFF2-40B4-BE49-F238E27FC236}">
                <a16:creationId xmlns:a16="http://schemas.microsoft.com/office/drawing/2014/main" id="{34712D02-B30D-41CC-E975-1B40613CE791}"/>
              </a:ext>
            </a:extLst>
          </p:cNvPr>
          <p:cNvCxnSpPr>
            <a:cxnSpLocks/>
            <a:stCxn id="11" idx="4"/>
            <a:endCxn id="66" idx="2"/>
          </p:cNvCxnSpPr>
          <p:nvPr/>
        </p:nvCxnSpPr>
        <p:spPr>
          <a:xfrm>
            <a:off x="3582733" y="2731374"/>
            <a:ext cx="4209645" cy="956037"/>
          </a:xfrm>
          <a:prstGeom prst="bentConnector3">
            <a:avLst>
              <a:gd name="adj1" fmla="val 33111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3F7A4C1-7EE4-F78D-892C-4502A3D1E3E6}"/>
              </a:ext>
            </a:extLst>
          </p:cNvPr>
          <p:cNvSpPr txBox="1"/>
          <p:nvPr/>
        </p:nvSpPr>
        <p:spPr>
          <a:xfrm>
            <a:off x="9735627" y="1877419"/>
            <a:ext cx="931509" cy="53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Capital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799D92-7AFA-FC58-7DFA-FC8DDAE0E7F8}"/>
              </a:ext>
            </a:extLst>
          </p:cNvPr>
          <p:cNvSpPr txBox="1"/>
          <p:nvPr/>
        </p:nvSpPr>
        <p:spPr>
          <a:xfrm>
            <a:off x="9334395" y="3649533"/>
            <a:ext cx="1358778" cy="38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ALM Liquidez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76DF03A-4DC0-71FB-4688-7E335E5CBB1E}"/>
              </a:ext>
            </a:extLst>
          </p:cNvPr>
          <p:cNvSpPr txBox="1"/>
          <p:nvPr/>
        </p:nvSpPr>
        <p:spPr>
          <a:xfrm>
            <a:off x="7391157" y="4099618"/>
            <a:ext cx="1922685" cy="241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Contabilidade</a:t>
            </a:r>
          </a:p>
        </p:txBody>
      </p:sp>
      <p:sp>
        <p:nvSpPr>
          <p:cNvPr id="115" name="Rectángulo 305">
            <a:extLst>
              <a:ext uri="{FF2B5EF4-FFF2-40B4-BE49-F238E27FC236}">
                <a16:creationId xmlns:a16="http://schemas.microsoft.com/office/drawing/2014/main" id="{766CAABC-A115-90F1-6827-AFCF055AAB1C}"/>
              </a:ext>
            </a:extLst>
          </p:cNvPr>
          <p:cNvSpPr/>
          <p:nvPr/>
        </p:nvSpPr>
        <p:spPr>
          <a:xfrm>
            <a:off x="2888954" y="874877"/>
            <a:ext cx="8841110" cy="24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1161" b="1">
                <a:solidFill>
                  <a:prstClr val="white"/>
                </a:solidFill>
                <a:latin typeface="Santander Text" panose="020B0504020201020104" pitchFamily="34" charset="0"/>
              </a:rPr>
              <a:t>Fluxo temporal</a:t>
            </a:r>
          </a:p>
        </p:txBody>
      </p:sp>
      <p:cxnSp>
        <p:nvCxnSpPr>
          <p:cNvPr id="116" name="Conector angular 217">
            <a:extLst>
              <a:ext uri="{FF2B5EF4-FFF2-40B4-BE49-F238E27FC236}">
                <a16:creationId xmlns:a16="http://schemas.microsoft.com/office/drawing/2014/main" id="{E912D556-B78A-5BE5-7BBB-1EB76979880C}"/>
              </a:ext>
            </a:extLst>
          </p:cNvPr>
          <p:cNvCxnSpPr>
            <a:cxnSpLocks/>
            <a:stCxn id="52" idx="4"/>
            <a:endCxn id="67" idx="2"/>
          </p:cNvCxnSpPr>
          <p:nvPr/>
        </p:nvCxnSpPr>
        <p:spPr>
          <a:xfrm flipV="1">
            <a:off x="6275298" y="3622972"/>
            <a:ext cx="1517080" cy="1367638"/>
          </a:xfrm>
          <a:prstGeom prst="bentConnector3">
            <a:avLst>
              <a:gd name="adj1" fmla="val 10972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74AF4C7-96DA-BF15-54CA-DDAFDA935326}"/>
              </a:ext>
            </a:extLst>
          </p:cNvPr>
          <p:cNvSpPr txBox="1"/>
          <p:nvPr/>
        </p:nvSpPr>
        <p:spPr>
          <a:xfrm>
            <a:off x="3970168" y="3546576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375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E634D9-20F1-4014-875C-1A3705C5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7458" y="6402633"/>
            <a:ext cx="2742843" cy="365077"/>
          </a:xfrm>
        </p:spPr>
        <p:txBody>
          <a:bodyPr/>
          <a:lstStyle/>
          <a:p>
            <a:pPr defTabSz="914309"/>
            <a:fld id="{BC0D97B6-E32F-4D7D-B839-7C3B51F2640F}" type="slidenum">
              <a:rPr lang="es-ES">
                <a:solidFill>
                  <a:srgbClr val="EB0000"/>
                </a:solidFill>
                <a:latin typeface="Arial"/>
              </a:rPr>
              <a:pPr defTabSz="914309"/>
              <a:t>18</a:t>
            </a:fld>
            <a:endParaRPr lang="es-ES" dirty="0">
              <a:solidFill>
                <a:srgbClr val="EB0000"/>
              </a:solidFill>
              <a:latin typeface="Arial"/>
            </a:endParaRP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1FEBDAC4-900D-D1B7-03CF-97D69CDD17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/>
          <a:lstStyle/>
          <a:p>
            <a:r>
              <a:rPr lang="pt-BR" sz="1934" dirty="0"/>
              <a:t>Modelo Único de Garantias - </a:t>
            </a:r>
            <a:r>
              <a:rPr lang="pt-PT" sz="1934" dirty="0">
                <a:latin typeface="+mj-lt"/>
              </a:rPr>
              <a:t>Arquitetura de Sistemas e de Informação </a:t>
            </a:r>
            <a:r>
              <a:rPr lang="pt-PT" sz="1934">
                <a:latin typeface="+mj-lt"/>
              </a:rPr>
              <a:t>(</a:t>
            </a:r>
            <a:r>
              <a:rPr lang="pt-PT" sz="1934" b="1">
                <a:latin typeface="+mj-lt"/>
              </a:rPr>
              <a:t>AS-I)</a:t>
            </a:r>
            <a:endParaRPr lang="es-ES" sz="1934" b="1" dirty="0"/>
          </a:p>
          <a:p>
            <a:endParaRPr lang="es-ES" sz="1934" dirty="0"/>
          </a:p>
          <a:p>
            <a:endParaRPr lang="es-ES" sz="1934" dirty="0"/>
          </a:p>
          <a:p>
            <a:endParaRPr lang="es-ES" dirty="0"/>
          </a:p>
        </p:txBody>
      </p:sp>
      <p:sp>
        <p:nvSpPr>
          <p:cNvPr id="16" name="Rectángulo 302">
            <a:extLst>
              <a:ext uri="{FF2B5EF4-FFF2-40B4-BE49-F238E27FC236}">
                <a16:creationId xmlns:a16="http://schemas.microsoft.com/office/drawing/2014/main" id="{7906CCBD-313C-DEA5-6923-0CFA32F35C3A}"/>
              </a:ext>
            </a:extLst>
          </p:cNvPr>
          <p:cNvSpPr/>
          <p:nvPr/>
        </p:nvSpPr>
        <p:spPr>
          <a:xfrm>
            <a:off x="7425962" y="1576290"/>
            <a:ext cx="2327607" cy="3698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7" name="Rectángulo 68">
            <a:extLst>
              <a:ext uri="{FF2B5EF4-FFF2-40B4-BE49-F238E27FC236}">
                <a16:creationId xmlns:a16="http://schemas.microsoft.com/office/drawing/2014/main" id="{C44D31F6-2643-9511-88C4-AD0445C4F4D9}"/>
              </a:ext>
            </a:extLst>
          </p:cNvPr>
          <p:cNvSpPr/>
          <p:nvPr/>
        </p:nvSpPr>
        <p:spPr>
          <a:xfrm>
            <a:off x="718200" y="5097362"/>
            <a:ext cx="1672023" cy="11313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18" name="Rectángulo 68">
            <a:extLst>
              <a:ext uri="{FF2B5EF4-FFF2-40B4-BE49-F238E27FC236}">
                <a16:creationId xmlns:a16="http://schemas.microsoft.com/office/drawing/2014/main" id="{1D0E807A-65BB-A917-459B-BF4EF771E522}"/>
              </a:ext>
            </a:extLst>
          </p:cNvPr>
          <p:cNvSpPr/>
          <p:nvPr/>
        </p:nvSpPr>
        <p:spPr>
          <a:xfrm>
            <a:off x="717987" y="1829168"/>
            <a:ext cx="1672023" cy="2876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19" name="Rectángulo 69">
            <a:extLst>
              <a:ext uri="{FF2B5EF4-FFF2-40B4-BE49-F238E27FC236}">
                <a16:creationId xmlns:a16="http://schemas.microsoft.com/office/drawing/2014/main" id="{8BDDDB56-8948-D5C5-42A3-3287CDCB915E}"/>
              </a:ext>
            </a:extLst>
          </p:cNvPr>
          <p:cNvSpPr/>
          <p:nvPr/>
        </p:nvSpPr>
        <p:spPr>
          <a:xfrm>
            <a:off x="752795" y="1682038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66BA4F-AF69-BF8F-4E15-0D7B0A2BA111}"/>
              </a:ext>
            </a:extLst>
          </p:cNvPr>
          <p:cNvGrpSpPr/>
          <p:nvPr/>
        </p:nvGrpSpPr>
        <p:grpSpPr>
          <a:xfrm>
            <a:off x="3023965" y="2392918"/>
            <a:ext cx="558768" cy="442880"/>
            <a:chOff x="3272267" y="3031604"/>
            <a:chExt cx="577911" cy="458053"/>
          </a:xfrm>
        </p:grpSpPr>
        <p:grpSp>
          <p:nvGrpSpPr>
            <p:cNvPr id="121" name="Grupo 83">
              <a:extLst>
                <a:ext uri="{FF2B5EF4-FFF2-40B4-BE49-F238E27FC236}">
                  <a16:creationId xmlns:a16="http://schemas.microsoft.com/office/drawing/2014/main" id="{6DA66D54-EC07-68C0-2C98-0FFDA3B22A31}"/>
                </a:ext>
              </a:extLst>
            </p:cNvPr>
            <p:cNvGrpSpPr/>
            <p:nvPr/>
          </p:nvGrpSpPr>
          <p:grpSpPr>
            <a:xfrm>
              <a:off x="3272267" y="3273657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23" name="Disco magnético 89">
                <a:extLst>
                  <a:ext uri="{FF2B5EF4-FFF2-40B4-BE49-F238E27FC236}">
                    <a16:creationId xmlns:a16="http://schemas.microsoft.com/office/drawing/2014/main" id="{35959E92-411E-1159-A410-FE23FA7B06B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4" name="Disco magnético 91">
                <a:extLst>
                  <a:ext uri="{FF2B5EF4-FFF2-40B4-BE49-F238E27FC236}">
                    <a16:creationId xmlns:a16="http://schemas.microsoft.com/office/drawing/2014/main" id="{3E996FE0-D0ED-C96F-2F03-27C8DF15BB2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5" name="Disco magnético 92">
                <a:extLst>
                  <a:ext uri="{FF2B5EF4-FFF2-40B4-BE49-F238E27FC236}">
                    <a16:creationId xmlns:a16="http://schemas.microsoft.com/office/drawing/2014/main" id="{059660AC-05E6-36FD-2D74-F7B855E845AC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22" name="CuadroTexto 86">
              <a:extLst>
                <a:ext uri="{FF2B5EF4-FFF2-40B4-BE49-F238E27FC236}">
                  <a16:creationId xmlns:a16="http://schemas.microsoft.com/office/drawing/2014/main" id="{6A42B0CF-7010-8EE8-2B8B-A794B308C6C7}"/>
                </a:ext>
              </a:extLst>
            </p:cNvPr>
            <p:cNvSpPr txBox="1"/>
            <p:nvPr/>
          </p:nvSpPr>
          <p:spPr>
            <a:xfrm>
              <a:off x="3377514" y="3031604"/>
              <a:ext cx="367415" cy="28226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126" name="Rectangle 18">
            <a:extLst>
              <a:ext uri="{FF2B5EF4-FFF2-40B4-BE49-F238E27FC236}">
                <a16:creationId xmlns:a16="http://schemas.microsoft.com/office/drawing/2014/main" id="{79284068-5686-A071-C044-A250434A5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703103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27" name="Rectangle 32">
            <a:extLst>
              <a:ext uri="{FF2B5EF4-FFF2-40B4-BE49-F238E27FC236}">
                <a16:creationId xmlns:a16="http://schemas.microsoft.com/office/drawing/2014/main" id="{ACB979C5-57C2-D6F3-BAF7-91D3947C2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24229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F53FCEFA-D5E5-F09F-B541-AD29D4AF0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443517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129" name="Rectangle 18">
            <a:extLst>
              <a:ext uri="{FF2B5EF4-FFF2-40B4-BE49-F238E27FC236}">
                <a16:creationId xmlns:a16="http://schemas.microsoft.com/office/drawing/2014/main" id="{56A7ABDD-1A55-4E83-7866-E061F442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21690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30" name="Rectangle 30">
            <a:extLst>
              <a:ext uri="{FF2B5EF4-FFF2-40B4-BE49-F238E27FC236}">
                <a16:creationId xmlns:a16="http://schemas.microsoft.com/office/drawing/2014/main" id="{C90BC251-857E-8C09-CB76-A0E21F6E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729602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131" name="Rectangle 30">
            <a:extLst>
              <a:ext uri="{FF2B5EF4-FFF2-40B4-BE49-F238E27FC236}">
                <a16:creationId xmlns:a16="http://schemas.microsoft.com/office/drawing/2014/main" id="{0D434B28-D6CA-C118-6925-8A3C1F207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94786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32" name="Rectangle 32">
            <a:extLst>
              <a:ext uri="{FF2B5EF4-FFF2-40B4-BE49-F238E27FC236}">
                <a16:creationId xmlns:a16="http://schemas.microsoft.com/office/drawing/2014/main" id="{00A310D5-8475-2B57-D45A-43C79AD0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248595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33" name="Rectangle 32">
            <a:extLst>
              <a:ext uri="{FF2B5EF4-FFF2-40B4-BE49-F238E27FC236}">
                <a16:creationId xmlns:a16="http://schemas.microsoft.com/office/drawing/2014/main" id="{676C630A-59FA-DD3E-9749-634C84126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199753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7F8B423-3AF3-63D6-C431-569A0DDB791B}"/>
              </a:ext>
            </a:extLst>
          </p:cNvPr>
          <p:cNvGrpSpPr/>
          <p:nvPr/>
        </p:nvGrpSpPr>
        <p:grpSpPr>
          <a:xfrm>
            <a:off x="6458772" y="1951589"/>
            <a:ext cx="886781" cy="424435"/>
            <a:chOff x="5270531" y="2813744"/>
            <a:chExt cx="917161" cy="438976"/>
          </a:xfrm>
        </p:grpSpPr>
        <p:grpSp>
          <p:nvGrpSpPr>
            <p:cNvPr id="135" name="Grupo 83">
              <a:extLst>
                <a:ext uri="{FF2B5EF4-FFF2-40B4-BE49-F238E27FC236}">
                  <a16:creationId xmlns:a16="http://schemas.microsoft.com/office/drawing/2014/main" id="{F2DD55D6-712A-E126-ABBA-F43152ABBFF5}"/>
                </a:ext>
              </a:extLst>
            </p:cNvPr>
            <p:cNvGrpSpPr/>
            <p:nvPr/>
          </p:nvGrpSpPr>
          <p:grpSpPr>
            <a:xfrm>
              <a:off x="5423815" y="3036720"/>
              <a:ext cx="577911" cy="216000"/>
              <a:chOff x="8038758" y="3835908"/>
              <a:chExt cx="1282700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37" name="Disco magnético 89">
                <a:extLst>
                  <a:ext uri="{FF2B5EF4-FFF2-40B4-BE49-F238E27FC236}">
                    <a16:creationId xmlns:a16="http://schemas.microsoft.com/office/drawing/2014/main" id="{235585EE-CA87-E57D-975D-7AEC5ED08B31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38" name="Disco magnético 91">
                <a:extLst>
                  <a:ext uri="{FF2B5EF4-FFF2-40B4-BE49-F238E27FC236}">
                    <a16:creationId xmlns:a16="http://schemas.microsoft.com/office/drawing/2014/main" id="{931C7923-D6CA-CEB1-2338-6885E1267A87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39" name="Disco magnético 92">
                <a:extLst>
                  <a:ext uri="{FF2B5EF4-FFF2-40B4-BE49-F238E27FC236}">
                    <a16:creationId xmlns:a16="http://schemas.microsoft.com/office/drawing/2014/main" id="{9B9EF299-C038-FE34-928E-C2CFE6845FC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36" name="CuadroTexto 86">
              <a:extLst>
                <a:ext uri="{FF2B5EF4-FFF2-40B4-BE49-F238E27FC236}">
                  <a16:creationId xmlns:a16="http://schemas.microsoft.com/office/drawing/2014/main" id="{4818185C-9D53-CD9D-5964-B494305183E9}"/>
                </a:ext>
              </a:extLst>
            </p:cNvPr>
            <p:cNvSpPr txBox="1"/>
            <p:nvPr/>
          </p:nvSpPr>
          <p:spPr>
            <a:xfrm>
              <a:off x="5270531" y="2813744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</p:txBody>
        </p:sp>
      </p:grpSp>
      <p:sp>
        <p:nvSpPr>
          <p:cNvPr id="140" name="Rectangle 32">
            <a:extLst>
              <a:ext uri="{FF2B5EF4-FFF2-40B4-BE49-F238E27FC236}">
                <a16:creationId xmlns:a16="http://schemas.microsoft.com/office/drawing/2014/main" id="{DD6F9B90-50AB-FBD3-781E-D129E42AF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246092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GPs</a:t>
            </a:r>
          </a:p>
        </p:txBody>
      </p:sp>
      <p:sp>
        <p:nvSpPr>
          <p:cNvPr id="141" name="Rectangle 18">
            <a:extLst>
              <a:ext uri="{FF2B5EF4-FFF2-40B4-BE49-F238E27FC236}">
                <a16:creationId xmlns:a16="http://schemas.microsoft.com/office/drawing/2014/main" id="{5FC69DEE-EC93-2775-9CCD-7A8D5E80D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68" y="346056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US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142" name="Rectangle 30">
            <a:extLst>
              <a:ext uri="{FF2B5EF4-FFF2-40B4-BE49-F238E27FC236}">
                <a16:creationId xmlns:a16="http://schemas.microsoft.com/office/drawing/2014/main" id="{F4D6CD95-D951-4ECA-D6EC-7E7D3AE1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37" y="2973255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143" name="Rectangle 30">
            <a:extLst>
              <a:ext uri="{FF2B5EF4-FFF2-40B4-BE49-F238E27FC236}">
                <a16:creationId xmlns:a16="http://schemas.microsoft.com/office/drawing/2014/main" id="{B99D2602-8CF1-6CFB-9F83-01CF40D97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6" y="4191518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44" name="Rectángulo 69">
            <a:extLst>
              <a:ext uri="{FF2B5EF4-FFF2-40B4-BE49-F238E27FC236}">
                <a16:creationId xmlns:a16="http://schemas.microsoft.com/office/drawing/2014/main" id="{4FCEE23A-0ADA-8529-4FD8-3DD854BA6C67}"/>
              </a:ext>
            </a:extLst>
          </p:cNvPr>
          <p:cNvSpPr/>
          <p:nvPr/>
        </p:nvSpPr>
        <p:spPr>
          <a:xfrm>
            <a:off x="751709" y="4922603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45" name="Rectangle 32">
            <a:extLst>
              <a:ext uri="{FF2B5EF4-FFF2-40B4-BE49-F238E27FC236}">
                <a16:creationId xmlns:a16="http://schemas.microsoft.com/office/drawing/2014/main" id="{728DE50E-9058-E588-7DCD-ED5E69F82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489744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CS</a:t>
            </a:r>
          </a:p>
        </p:txBody>
      </p:sp>
      <p:sp>
        <p:nvSpPr>
          <p:cNvPr id="146" name="Rectangle 32">
            <a:extLst>
              <a:ext uri="{FF2B5EF4-FFF2-40B4-BE49-F238E27FC236}">
                <a16:creationId xmlns:a16="http://schemas.microsoft.com/office/drawing/2014/main" id="{80733FA5-A565-8020-2114-F51E90E4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73339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147" name="Rectangle 32">
            <a:extLst>
              <a:ext uri="{FF2B5EF4-FFF2-40B4-BE49-F238E27FC236}">
                <a16:creationId xmlns:a16="http://schemas.microsoft.com/office/drawing/2014/main" id="{DCF5881D-92B5-C4CE-3F48-5A82B990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5977050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Eurofac</a:t>
            </a:r>
          </a:p>
        </p:txBody>
      </p:sp>
      <p:sp>
        <p:nvSpPr>
          <p:cNvPr id="148" name="Rectángulo 68">
            <a:extLst>
              <a:ext uri="{FF2B5EF4-FFF2-40B4-BE49-F238E27FC236}">
                <a16:creationId xmlns:a16="http://schemas.microsoft.com/office/drawing/2014/main" id="{D0FE033C-EF59-8FEA-9472-95F4BCCCADD0}"/>
              </a:ext>
            </a:extLst>
          </p:cNvPr>
          <p:cNvSpPr/>
          <p:nvPr/>
        </p:nvSpPr>
        <p:spPr>
          <a:xfrm>
            <a:off x="717987" y="1167384"/>
            <a:ext cx="1672023" cy="4164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es-ES" sz="1741">
              <a:solidFill>
                <a:prstClr val="white"/>
              </a:solidFill>
              <a:latin typeface="Arial"/>
            </a:endParaRPr>
          </a:p>
        </p:txBody>
      </p:sp>
      <p:sp>
        <p:nvSpPr>
          <p:cNvPr id="149" name="Rectangle 32">
            <a:extLst>
              <a:ext uri="{FF2B5EF4-FFF2-40B4-BE49-F238E27FC236}">
                <a16:creationId xmlns:a16="http://schemas.microsoft.com/office/drawing/2014/main" id="{1E9A5911-D64C-2176-6DEF-46B904C5E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986" y="1315337"/>
            <a:ext cx="1318037" cy="208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BR" altLang="pt-PT" sz="1161">
                <a:solidFill>
                  <a:prstClr val="black"/>
                </a:solidFill>
                <a:latin typeface="Santander Text" panose="020B0504020201020104" pitchFamily="34" charset="0"/>
              </a:rPr>
              <a:t>BDP</a:t>
            </a:r>
          </a:p>
        </p:txBody>
      </p:sp>
      <p:sp>
        <p:nvSpPr>
          <p:cNvPr id="150" name="Rectángulo 69">
            <a:extLst>
              <a:ext uri="{FF2B5EF4-FFF2-40B4-BE49-F238E27FC236}">
                <a16:creationId xmlns:a16="http://schemas.microsoft.com/office/drawing/2014/main" id="{94253E49-1BDF-DEF8-F112-54A1AAA13F56}"/>
              </a:ext>
            </a:extLst>
          </p:cNvPr>
          <p:cNvSpPr/>
          <p:nvPr/>
        </p:nvSpPr>
        <p:spPr>
          <a:xfrm>
            <a:off x="752795" y="991847"/>
            <a:ext cx="1626309" cy="2784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161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161" b="1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161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51" name="Conector angular 217">
            <a:extLst>
              <a:ext uri="{FF2B5EF4-FFF2-40B4-BE49-F238E27FC236}">
                <a16:creationId xmlns:a16="http://schemas.microsoft.com/office/drawing/2014/main" id="{21B1BC0D-93D7-1C8F-9B0F-F2FA22627943}"/>
              </a:ext>
            </a:extLst>
          </p:cNvPr>
          <p:cNvCxnSpPr>
            <a:cxnSpLocks/>
            <a:stCxn id="140" idx="3"/>
            <a:endCxn id="220" idx="1"/>
          </p:cNvCxnSpPr>
          <p:nvPr/>
        </p:nvCxnSpPr>
        <p:spPr>
          <a:xfrm>
            <a:off x="2217023" y="5350513"/>
            <a:ext cx="609794" cy="372918"/>
          </a:xfrm>
          <a:prstGeom prst="bentConnector3">
            <a:avLst>
              <a:gd name="adj1" fmla="val 61957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angular 217">
            <a:extLst>
              <a:ext uri="{FF2B5EF4-FFF2-40B4-BE49-F238E27FC236}">
                <a16:creationId xmlns:a16="http://schemas.microsoft.com/office/drawing/2014/main" id="{063B0E06-E827-B2EF-7083-4A05DA7DE8F4}"/>
              </a:ext>
            </a:extLst>
          </p:cNvPr>
          <p:cNvCxnSpPr>
            <a:cxnSpLocks/>
            <a:stCxn id="145" idx="3"/>
            <a:endCxn id="220" idx="1"/>
          </p:cNvCxnSpPr>
          <p:nvPr/>
        </p:nvCxnSpPr>
        <p:spPr>
          <a:xfrm>
            <a:off x="2217023" y="5594166"/>
            <a:ext cx="609794" cy="129265"/>
          </a:xfrm>
          <a:prstGeom prst="bentConnector3">
            <a:avLst>
              <a:gd name="adj1" fmla="val 6189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angular 217">
            <a:extLst>
              <a:ext uri="{FF2B5EF4-FFF2-40B4-BE49-F238E27FC236}">
                <a16:creationId xmlns:a16="http://schemas.microsoft.com/office/drawing/2014/main" id="{C1D0C755-573C-408F-823F-A869F660D94F}"/>
              </a:ext>
            </a:extLst>
          </p:cNvPr>
          <p:cNvCxnSpPr>
            <a:cxnSpLocks/>
            <a:stCxn id="146" idx="3"/>
            <a:endCxn id="220" idx="1"/>
          </p:cNvCxnSpPr>
          <p:nvPr/>
        </p:nvCxnSpPr>
        <p:spPr>
          <a:xfrm flipV="1">
            <a:off x="2217023" y="5723431"/>
            <a:ext cx="609794" cy="114388"/>
          </a:xfrm>
          <a:prstGeom prst="bentConnector3">
            <a:avLst>
              <a:gd name="adj1" fmla="val 6189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angular 217">
            <a:extLst>
              <a:ext uri="{FF2B5EF4-FFF2-40B4-BE49-F238E27FC236}">
                <a16:creationId xmlns:a16="http://schemas.microsoft.com/office/drawing/2014/main" id="{BD0B4369-051E-AB58-64DA-6EE447EFAA4D}"/>
              </a:ext>
            </a:extLst>
          </p:cNvPr>
          <p:cNvCxnSpPr>
            <a:cxnSpLocks/>
            <a:stCxn id="118" idx="3"/>
            <a:endCxn id="124" idx="2"/>
          </p:cNvCxnSpPr>
          <p:nvPr/>
        </p:nvCxnSpPr>
        <p:spPr>
          <a:xfrm flipV="1">
            <a:off x="2390010" y="2731375"/>
            <a:ext cx="633955" cy="53597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angular 217">
            <a:extLst>
              <a:ext uri="{FF2B5EF4-FFF2-40B4-BE49-F238E27FC236}">
                <a16:creationId xmlns:a16="http://schemas.microsoft.com/office/drawing/2014/main" id="{E094EFE0-2E80-9C7C-5A71-45519DE6CAFF}"/>
              </a:ext>
            </a:extLst>
          </p:cNvPr>
          <p:cNvCxnSpPr>
            <a:cxnSpLocks/>
            <a:stCxn id="124" idx="4"/>
            <a:endCxn id="139" idx="2"/>
          </p:cNvCxnSpPr>
          <p:nvPr/>
        </p:nvCxnSpPr>
        <p:spPr>
          <a:xfrm flipV="1">
            <a:off x="3582733" y="2207163"/>
            <a:ext cx="3024246" cy="524212"/>
          </a:xfrm>
          <a:prstGeom prst="bentConnector3">
            <a:avLst>
              <a:gd name="adj1" fmla="val 46084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7E10AE4-7C60-0CA5-BA9A-2955B52BA6EF}"/>
              </a:ext>
            </a:extLst>
          </p:cNvPr>
          <p:cNvGrpSpPr/>
          <p:nvPr/>
        </p:nvGrpSpPr>
        <p:grpSpPr>
          <a:xfrm>
            <a:off x="5716530" y="4574163"/>
            <a:ext cx="558768" cy="392611"/>
            <a:chOff x="3847857" y="924730"/>
            <a:chExt cx="577911" cy="406062"/>
          </a:xfrm>
        </p:grpSpPr>
        <p:grpSp>
          <p:nvGrpSpPr>
            <p:cNvPr id="157" name="Grupo 83">
              <a:extLst>
                <a:ext uri="{FF2B5EF4-FFF2-40B4-BE49-F238E27FC236}">
                  <a16:creationId xmlns:a16="http://schemas.microsoft.com/office/drawing/2014/main" id="{1719AD6B-7A19-72D1-F752-2206A76D6154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159" name="Disco magnético 89">
                <a:extLst>
                  <a:ext uri="{FF2B5EF4-FFF2-40B4-BE49-F238E27FC236}">
                    <a16:creationId xmlns:a16="http://schemas.microsoft.com/office/drawing/2014/main" id="{A0AE8363-D909-E28A-3E7F-A3BFFBFA0BED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0" name="Disco magnético 91">
                <a:extLst>
                  <a:ext uri="{FF2B5EF4-FFF2-40B4-BE49-F238E27FC236}">
                    <a16:creationId xmlns:a16="http://schemas.microsoft.com/office/drawing/2014/main" id="{7D00492D-D033-6160-C22E-D70A806BB33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1" name="Disco magnético 92">
                <a:extLst>
                  <a:ext uri="{FF2B5EF4-FFF2-40B4-BE49-F238E27FC236}">
                    <a16:creationId xmlns:a16="http://schemas.microsoft.com/office/drawing/2014/main" id="{9B19D8CC-B4B2-F22E-47BF-248E5616D83F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58" name="CuadroTexto 86">
              <a:extLst>
                <a:ext uri="{FF2B5EF4-FFF2-40B4-BE49-F238E27FC236}">
                  <a16:creationId xmlns:a16="http://schemas.microsoft.com/office/drawing/2014/main" id="{16A4A094-9062-686B-C2FE-062E0268ECFB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IFRS9</a:t>
              </a:r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273E04CD-294D-6183-B148-5A604F2EFF9B}"/>
              </a:ext>
            </a:extLst>
          </p:cNvPr>
          <p:cNvSpPr txBox="1"/>
          <p:nvPr/>
        </p:nvSpPr>
        <p:spPr>
          <a:xfrm>
            <a:off x="3968923" y="3280432"/>
            <a:ext cx="774462" cy="55796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34808" rIns="34808" rtlCol="0">
            <a:spAutoFit/>
          </a:bodyPr>
          <a:lstStyle/>
          <a:p>
            <a:pPr algn="ctr" defTabSz="883512"/>
            <a:r>
              <a:rPr lang="pt-PT" sz="1015">
                <a:solidFill>
                  <a:prstClr val="black"/>
                </a:solidFill>
                <a:latin typeface="Arial"/>
              </a:rPr>
              <a:t>Ficheiros BIYR2500 / BYR9500</a:t>
            </a:r>
          </a:p>
        </p:txBody>
      </p:sp>
      <p:cxnSp>
        <p:nvCxnSpPr>
          <p:cNvPr id="163" name="Conector angular 217">
            <a:extLst>
              <a:ext uri="{FF2B5EF4-FFF2-40B4-BE49-F238E27FC236}">
                <a16:creationId xmlns:a16="http://schemas.microsoft.com/office/drawing/2014/main" id="{27228CDE-A347-CEF4-78C9-82657142C4DB}"/>
              </a:ext>
            </a:extLst>
          </p:cNvPr>
          <p:cNvCxnSpPr>
            <a:cxnSpLocks/>
            <a:stCxn id="162" idx="3"/>
            <a:endCxn id="138" idx="2"/>
          </p:cNvCxnSpPr>
          <p:nvPr/>
        </p:nvCxnSpPr>
        <p:spPr>
          <a:xfrm flipV="1">
            <a:off x="4743384" y="2271601"/>
            <a:ext cx="1863595" cy="1287813"/>
          </a:xfrm>
          <a:prstGeom prst="bentConnector3">
            <a:avLst>
              <a:gd name="adj1" fmla="val 2606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B1D393A7-0A4F-B0DC-0778-F725EEF2E025}"/>
              </a:ext>
            </a:extLst>
          </p:cNvPr>
          <p:cNvSpPr txBox="1"/>
          <p:nvPr/>
        </p:nvSpPr>
        <p:spPr>
          <a:xfrm>
            <a:off x="7376846" y="1583494"/>
            <a:ext cx="1279762" cy="2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161" b="1">
                <a:solidFill>
                  <a:prstClr val="black"/>
                </a:solidFill>
                <a:latin typeface="Arial"/>
              </a:rPr>
              <a:t>Data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Lake</a:t>
            </a:r>
            <a:endParaRPr lang="pt-PT" sz="1161" b="1">
              <a:solidFill>
                <a:prstClr val="black"/>
              </a:solidFill>
              <a:latin typeface="Arial"/>
            </a:endParaRP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A4E730-67A9-BDC0-61FD-14DD74F47562}"/>
              </a:ext>
            </a:extLst>
          </p:cNvPr>
          <p:cNvGrpSpPr/>
          <p:nvPr/>
        </p:nvGrpSpPr>
        <p:grpSpPr>
          <a:xfrm>
            <a:off x="7776941" y="4570885"/>
            <a:ext cx="558768" cy="392611"/>
            <a:chOff x="3847857" y="924730"/>
            <a:chExt cx="577911" cy="406062"/>
          </a:xfrm>
        </p:grpSpPr>
        <p:grpSp>
          <p:nvGrpSpPr>
            <p:cNvPr id="166" name="Grupo 83">
              <a:extLst>
                <a:ext uri="{FF2B5EF4-FFF2-40B4-BE49-F238E27FC236}">
                  <a16:creationId xmlns:a16="http://schemas.microsoft.com/office/drawing/2014/main" id="{984FD1D2-19F2-F7EC-3F58-CC8FC9AE35E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168" name="Disco magnético 89">
                <a:extLst>
                  <a:ext uri="{FF2B5EF4-FFF2-40B4-BE49-F238E27FC236}">
                    <a16:creationId xmlns:a16="http://schemas.microsoft.com/office/drawing/2014/main" id="{00630B94-9E39-D8C3-2D3E-67BCFF12265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69" name="Disco magnético 91">
                <a:extLst>
                  <a:ext uri="{FF2B5EF4-FFF2-40B4-BE49-F238E27FC236}">
                    <a16:creationId xmlns:a16="http://schemas.microsoft.com/office/drawing/2014/main" id="{D0AB84A0-14F3-848C-D668-DFBFD12B4B7F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0" name="Disco magnético 92">
                <a:extLst>
                  <a:ext uri="{FF2B5EF4-FFF2-40B4-BE49-F238E27FC236}">
                    <a16:creationId xmlns:a16="http://schemas.microsoft.com/office/drawing/2014/main" id="{65542D1B-59BD-A55C-D896-3295F1E56B5E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67" name="CuadroTexto 86">
              <a:extLst>
                <a:ext uri="{FF2B5EF4-FFF2-40B4-BE49-F238E27FC236}">
                  <a16:creationId xmlns:a16="http://schemas.microsoft.com/office/drawing/2014/main" id="{C6EC396F-DAB4-0B78-1E3E-949A44B53913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0C05626-7886-C0CC-48D7-7F2623307486}"/>
              </a:ext>
            </a:extLst>
          </p:cNvPr>
          <p:cNvGrpSpPr/>
          <p:nvPr/>
        </p:nvGrpSpPr>
        <p:grpSpPr>
          <a:xfrm>
            <a:off x="7516578" y="3267209"/>
            <a:ext cx="1110368" cy="460184"/>
            <a:chOff x="8628564" y="1927475"/>
            <a:chExt cx="1148408" cy="475950"/>
          </a:xfrm>
        </p:grpSpPr>
        <p:grpSp>
          <p:nvGrpSpPr>
            <p:cNvPr id="172" name="Grupo 83">
              <a:extLst>
                <a:ext uri="{FF2B5EF4-FFF2-40B4-BE49-F238E27FC236}">
                  <a16:creationId xmlns:a16="http://schemas.microsoft.com/office/drawing/2014/main" id="{894BA67C-B6B6-0759-C6D2-9E8BCE07C2DD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74" name="Disco magnético 89">
                <a:extLst>
                  <a:ext uri="{FF2B5EF4-FFF2-40B4-BE49-F238E27FC236}">
                    <a16:creationId xmlns:a16="http://schemas.microsoft.com/office/drawing/2014/main" id="{CDF83B3B-17F9-9C6E-3F83-4827BFF5FE1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5" name="Disco magnético 91">
                <a:extLst>
                  <a:ext uri="{FF2B5EF4-FFF2-40B4-BE49-F238E27FC236}">
                    <a16:creationId xmlns:a16="http://schemas.microsoft.com/office/drawing/2014/main" id="{8F04C286-6D3A-1F9A-734B-0838FCB6EE4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76" name="Disco magnético 92">
                <a:extLst>
                  <a:ext uri="{FF2B5EF4-FFF2-40B4-BE49-F238E27FC236}">
                    <a16:creationId xmlns:a16="http://schemas.microsoft.com/office/drawing/2014/main" id="{9094CDF9-B09B-7C4B-3D79-36CC674FE344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73" name="CuadroTexto 86">
              <a:extLst>
                <a:ext uri="{FF2B5EF4-FFF2-40B4-BE49-F238E27FC236}">
                  <a16:creationId xmlns:a16="http://schemas.microsoft.com/office/drawing/2014/main" id="{A6E82650-F98B-3C6A-BB58-05856F0F866C}"/>
                </a:ext>
              </a:extLst>
            </p:cNvPr>
            <p:cNvSpPr txBox="1"/>
            <p:nvPr/>
          </p:nvSpPr>
          <p:spPr>
            <a:xfrm>
              <a:off x="8628564" y="1927475"/>
              <a:ext cx="1148408" cy="1814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15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15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77" name="Conector angular 217">
            <a:extLst>
              <a:ext uri="{FF2B5EF4-FFF2-40B4-BE49-F238E27FC236}">
                <a16:creationId xmlns:a16="http://schemas.microsoft.com/office/drawing/2014/main" id="{822A2D66-5400-C987-877B-6B517816C61F}"/>
              </a:ext>
            </a:extLst>
          </p:cNvPr>
          <p:cNvCxnSpPr>
            <a:cxnSpLocks/>
            <a:stCxn id="162" idx="3"/>
            <a:endCxn id="189" idx="2"/>
          </p:cNvCxnSpPr>
          <p:nvPr/>
        </p:nvCxnSpPr>
        <p:spPr>
          <a:xfrm>
            <a:off x="4743384" y="3559415"/>
            <a:ext cx="1880715" cy="707348"/>
          </a:xfrm>
          <a:prstGeom prst="bentConnector3">
            <a:avLst>
              <a:gd name="adj1" fmla="val 2594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angular 217">
            <a:extLst>
              <a:ext uri="{FF2B5EF4-FFF2-40B4-BE49-F238E27FC236}">
                <a16:creationId xmlns:a16="http://schemas.microsoft.com/office/drawing/2014/main" id="{DBA5A670-AA6E-82FA-7C08-3A132883A67E}"/>
              </a:ext>
            </a:extLst>
          </p:cNvPr>
          <p:cNvCxnSpPr>
            <a:cxnSpLocks/>
            <a:stCxn id="160" idx="4"/>
            <a:endCxn id="169" idx="2"/>
          </p:cNvCxnSpPr>
          <p:nvPr/>
        </p:nvCxnSpPr>
        <p:spPr>
          <a:xfrm flipV="1">
            <a:off x="6275298" y="4859074"/>
            <a:ext cx="1501642" cy="3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30A53EA-15DE-253D-5BDA-AC7725F65471}"/>
              </a:ext>
            </a:extLst>
          </p:cNvPr>
          <p:cNvGrpSpPr/>
          <p:nvPr/>
        </p:nvGrpSpPr>
        <p:grpSpPr>
          <a:xfrm>
            <a:off x="8719668" y="3325011"/>
            <a:ext cx="978392" cy="403059"/>
            <a:chOff x="7424185" y="4914310"/>
            <a:chExt cx="1011910" cy="416867"/>
          </a:xfrm>
        </p:grpSpPr>
        <p:grpSp>
          <p:nvGrpSpPr>
            <p:cNvPr id="180" name="Grupo 83">
              <a:extLst>
                <a:ext uri="{FF2B5EF4-FFF2-40B4-BE49-F238E27FC236}">
                  <a16:creationId xmlns:a16="http://schemas.microsoft.com/office/drawing/2014/main" id="{4A0609B1-1F56-9BF9-27C3-3BEE3D770E7A}"/>
                </a:ext>
              </a:extLst>
            </p:cNvPr>
            <p:cNvGrpSpPr/>
            <p:nvPr/>
          </p:nvGrpSpPr>
          <p:grpSpPr>
            <a:xfrm>
              <a:off x="7460803" y="5115177"/>
              <a:ext cx="577911" cy="216000"/>
              <a:chOff x="8038758" y="3835908"/>
              <a:chExt cx="1282700" cy="1173653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182" name="Disco magnético 89">
                <a:extLst>
                  <a:ext uri="{FF2B5EF4-FFF2-40B4-BE49-F238E27FC236}">
                    <a16:creationId xmlns:a16="http://schemas.microsoft.com/office/drawing/2014/main" id="{32D94050-AFF4-12EA-4344-ED6DAF4F25E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83" name="Disco magnético 91">
                <a:extLst>
                  <a:ext uri="{FF2B5EF4-FFF2-40B4-BE49-F238E27FC236}">
                    <a16:creationId xmlns:a16="http://schemas.microsoft.com/office/drawing/2014/main" id="{0B298C02-2D8E-7BCC-8783-BE4605D7019C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84" name="Disco magnético 92">
                <a:extLst>
                  <a:ext uri="{FF2B5EF4-FFF2-40B4-BE49-F238E27FC236}">
                    <a16:creationId xmlns:a16="http://schemas.microsoft.com/office/drawing/2014/main" id="{A7592915-14A5-1B24-2780-CBE3EB16C5D4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81" name="CuadroTexto 86">
              <a:extLst>
                <a:ext uri="{FF2B5EF4-FFF2-40B4-BE49-F238E27FC236}">
                  <a16:creationId xmlns:a16="http://schemas.microsoft.com/office/drawing/2014/main" id="{8C37B677-905E-4E5B-3562-FC4117A3CA43}"/>
                </a:ext>
              </a:extLst>
            </p:cNvPr>
            <p:cNvSpPr txBox="1"/>
            <p:nvPr/>
          </p:nvSpPr>
          <p:spPr>
            <a:xfrm>
              <a:off x="7424185" y="4914310"/>
              <a:ext cx="1011910" cy="1595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ALM Liquidez</a:t>
              </a:r>
            </a:p>
          </p:txBody>
        </p:sp>
      </p:grpSp>
      <p:cxnSp>
        <p:nvCxnSpPr>
          <p:cNvPr id="185" name="Conector angular 217">
            <a:extLst>
              <a:ext uri="{FF2B5EF4-FFF2-40B4-BE49-F238E27FC236}">
                <a16:creationId xmlns:a16="http://schemas.microsoft.com/office/drawing/2014/main" id="{BE56E6AB-04F7-9639-A563-78715007332C}"/>
              </a:ext>
            </a:extLst>
          </p:cNvPr>
          <p:cNvCxnSpPr>
            <a:cxnSpLocks/>
            <a:stCxn id="148" idx="3"/>
            <a:endCxn id="124" idx="2"/>
          </p:cNvCxnSpPr>
          <p:nvPr/>
        </p:nvCxnSpPr>
        <p:spPr>
          <a:xfrm>
            <a:off x="2390010" y="1375618"/>
            <a:ext cx="633955" cy="13557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D920669-B907-E0F8-ACAA-0092DA2E3F6D}"/>
              </a:ext>
            </a:extLst>
          </p:cNvPr>
          <p:cNvGrpSpPr/>
          <p:nvPr/>
        </p:nvGrpSpPr>
        <p:grpSpPr>
          <a:xfrm>
            <a:off x="6412593" y="4011191"/>
            <a:ext cx="1008000" cy="424435"/>
            <a:chOff x="5627047" y="4580785"/>
            <a:chExt cx="1042532" cy="438976"/>
          </a:xfrm>
        </p:grpSpPr>
        <p:sp>
          <p:nvSpPr>
            <p:cNvPr id="187" name="Disco magnético 89">
              <a:extLst>
                <a:ext uri="{FF2B5EF4-FFF2-40B4-BE49-F238E27FC236}">
                  <a16:creationId xmlns:a16="http://schemas.microsoft.com/office/drawing/2014/main" id="{36A8DBD7-178B-4E3A-9BAA-5FAD0DCBE64A}"/>
                </a:ext>
              </a:extLst>
            </p:cNvPr>
            <p:cNvSpPr/>
            <p:nvPr/>
          </p:nvSpPr>
          <p:spPr>
            <a:xfrm>
              <a:off x="5845805" y="4937056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88" name="Disco magnético 91">
              <a:extLst>
                <a:ext uri="{FF2B5EF4-FFF2-40B4-BE49-F238E27FC236}">
                  <a16:creationId xmlns:a16="http://schemas.microsoft.com/office/drawing/2014/main" id="{27B2AC47-0495-F46F-562C-EFA64D8C2941}"/>
                </a:ext>
              </a:extLst>
            </p:cNvPr>
            <p:cNvSpPr/>
            <p:nvPr/>
          </p:nvSpPr>
          <p:spPr>
            <a:xfrm>
              <a:off x="5845805" y="4870408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89" name="Disco magnético 92">
              <a:extLst>
                <a:ext uri="{FF2B5EF4-FFF2-40B4-BE49-F238E27FC236}">
                  <a16:creationId xmlns:a16="http://schemas.microsoft.com/office/drawing/2014/main" id="{36B80119-B711-C233-B798-121E5BAF6CA5}"/>
                </a:ext>
              </a:extLst>
            </p:cNvPr>
            <p:cNvSpPr/>
            <p:nvPr/>
          </p:nvSpPr>
          <p:spPr>
            <a:xfrm>
              <a:off x="5845805" y="4803761"/>
              <a:ext cx="577911" cy="82705"/>
            </a:xfrm>
            <a:prstGeom prst="flowChartMagneticDisk">
              <a:avLst/>
            </a:prstGeom>
            <a:solidFill>
              <a:srgbClr val="FFC000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90" name="CuadroTexto 86">
              <a:extLst>
                <a:ext uri="{FF2B5EF4-FFF2-40B4-BE49-F238E27FC236}">
                  <a16:creationId xmlns:a16="http://schemas.microsoft.com/office/drawing/2014/main" id="{D6DE82B8-07D6-533D-438F-3C13B78B5AD9}"/>
                </a:ext>
              </a:extLst>
            </p:cNvPr>
            <p:cNvSpPr txBox="1"/>
            <p:nvPr/>
          </p:nvSpPr>
          <p:spPr>
            <a:xfrm>
              <a:off x="5627047" y="4580785"/>
              <a:ext cx="1042532" cy="14071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r>
                <a:rPr lang="es-ES" sz="1015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/</a:t>
              </a:r>
              <a:r>
                <a:rPr lang="es-ES" sz="1015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Repesp</a:t>
              </a:r>
              <a:r>
                <a:rPr lang="es-ES" sz="1015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  <a:r>
                <a:rPr lang="es-ES" sz="1015" b="1" baseline="30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(1)</a:t>
              </a:r>
            </a:p>
          </p:txBody>
        </p:sp>
      </p:grpSp>
      <p:cxnSp>
        <p:nvCxnSpPr>
          <p:cNvPr id="191" name="Conector angular 217">
            <a:extLst>
              <a:ext uri="{FF2B5EF4-FFF2-40B4-BE49-F238E27FC236}">
                <a16:creationId xmlns:a16="http://schemas.microsoft.com/office/drawing/2014/main" id="{AB76829F-F1CC-26DB-162E-2B5008F62AED}"/>
              </a:ext>
            </a:extLst>
          </p:cNvPr>
          <p:cNvCxnSpPr>
            <a:cxnSpLocks/>
            <a:stCxn id="162" idx="3"/>
            <a:endCxn id="176" idx="2"/>
          </p:cNvCxnSpPr>
          <p:nvPr/>
        </p:nvCxnSpPr>
        <p:spPr>
          <a:xfrm flipV="1">
            <a:off x="4743383" y="3558532"/>
            <a:ext cx="3048994" cy="883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angular 217">
            <a:extLst>
              <a:ext uri="{FF2B5EF4-FFF2-40B4-BE49-F238E27FC236}">
                <a16:creationId xmlns:a16="http://schemas.microsoft.com/office/drawing/2014/main" id="{0A37DAA8-4345-3822-084D-CB69BD04048A}"/>
              </a:ext>
            </a:extLst>
          </p:cNvPr>
          <p:cNvCxnSpPr>
            <a:cxnSpLocks/>
            <a:stCxn id="175" idx="4"/>
            <a:endCxn id="183" idx="2"/>
          </p:cNvCxnSpPr>
          <p:nvPr/>
        </p:nvCxnSpPr>
        <p:spPr>
          <a:xfrm>
            <a:off x="8351146" y="3622971"/>
            <a:ext cx="403928" cy="67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angular 217">
            <a:extLst>
              <a:ext uri="{FF2B5EF4-FFF2-40B4-BE49-F238E27FC236}">
                <a16:creationId xmlns:a16="http://schemas.microsoft.com/office/drawing/2014/main" id="{699038A8-0613-57E2-9201-FC4D2F9CAD1D}"/>
              </a:ext>
            </a:extLst>
          </p:cNvPr>
          <p:cNvCxnSpPr>
            <a:cxnSpLocks/>
            <a:stCxn id="160" idx="4"/>
            <a:endCxn id="187" idx="2"/>
          </p:cNvCxnSpPr>
          <p:nvPr/>
        </p:nvCxnSpPr>
        <p:spPr>
          <a:xfrm flipV="1">
            <a:off x="6275298" y="4395643"/>
            <a:ext cx="348801" cy="466709"/>
          </a:xfrm>
          <a:prstGeom prst="bentConnector3">
            <a:avLst>
              <a:gd name="adj1" fmla="val 4835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BCE1AB6-DA5F-674B-20AD-2DA0C57F4B25}"/>
              </a:ext>
            </a:extLst>
          </p:cNvPr>
          <p:cNvGrpSpPr/>
          <p:nvPr/>
        </p:nvGrpSpPr>
        <p:grpSpPr>
          <a:xfrm>
            <a:off x="7612402" y="1954633"/>
            <a:ext cx="886781" cy="424435"/>
            <a:chOff x="7664352" y="2572167"/>
            <a:chExt cx="917161" cy="438976"/>
          </a:xfrm>
        </p:grpSpPr>
        <p:grpSp>
          <p:nvGrpSpPr>
            <p:cNvPr id="195" name="Grupo 83">
              <a:extLst>
                <a:ext uri="{FF2B5EF4-FFF2-40B4-BE49-F238E27FC236}">
                  <a16:creationId xmlns:a16="http://schemas.microsoft.com/office/drawing/2014/main" id="{9A3ECE09-1368-50F9-77D5-905822FB8BDC}"/>
                </a:ext>
              </a:extLst>
            </p:cNvPr>
            <p:cNvGrpSpPr/>
            <p:nvPr/>
          </p:nvGrpSpPr>
          <p:grpSpPr>
            <a:xfrm>
              <a:off x="7817637" y="2795143"/>
              <a:ext cx="577912" cy="216000"/>
              <a:chOff x="8038758" y="3835908"/>
              <a:chExt cx="1282702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97" name="Disco magnético 89">
                <a:extLst>
                  <a:ext uri="{FF2B5EF4-FFF2-40B4-BE49-F238E27FC236}">
                    <a16:creationId xmlns:a16="http://schemas.microsoft.com/office/drawing/2014/main" id="{4FAFC44E-EC1F-ADDC-EDA8-39C0D9B31EE2}"/>
                  </a:ext>
                </a:extLst>
              </p:cNvPr>
              <p:cNvSpPr/>
              <p:nvPr/>
            </p:nvSpPr>
            <p:spPr>
              <a:xfrm>
                <a:off x="8038760" y="4560177"/>
                <a:ext cx="1282700" cy="449384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98" name="Disco magnético 91">
                <a:extLst>
                  <a:ext uri="{FF2B5EF4-FFF2-40B4-BE49-F238E27FC236}">
                    <a16:creationId xmlns:a16="http://schemas.microsoft.com/office/drawing/2014/main" id="{DD4031A1-B226-8E66-5A91-AD45BA08CF0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99" name="Disco magnético 92">
                <a:extLst>
                  <a:ext uri="{FF2B5EF4-FFF2-40B4-BE49-F238E27FC236}">
                    <a16:creationId xmlns:a16="http://schemas.microsoft.com/office/drawing/2014/main" id="{96F91B46-3F27-F831-43DB-3F86315C27D0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83512"/>
                <a:endParaRPr lang="es-ES" sz="1741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sp>
          <p:nvSpPr>
            <p:cNvPr id="196" name="CuadroTexto 86">
              <a:extLst>
                <a:ext uri="{FF2B5EF4-FFF2-40B4-BE49-F238E27FC236}">
                  <a16:creationId xmlns:a16="http://schemas.microsoft.com/office/drawing/2014/main" id="{B370BC6A-65AC-85A7-AA70-28A45B9E2106}"/>
                </a:ext>
              </a:extLst>
            </p:cNvPr>
            <p:cNvSpPr txBox="1"/>
            <p:nvPr/>
          </p:nvSpPr>
          <p:spPr>
            <a:xfrm>
              <a:off x="7664352" y="2572167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 defTabSz="883512"/>
              <a:r>
                <a:rPr lang="es-ES" sz="1015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Capital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7B7EC61-6CCC-54DD-321F-95BEB31C1439}"/>
              </a:ext>
            </a:extLst>
          </p:cNvPr>
          <p:cNvGrpSpPr/>
          <p:nvPr/>
        </p:nvGrpSpPr>
        <p:grpSpPr>
          <a:xfrm>
            <a:off x="10450208" y="2864498"/>
            <a:ext cx="1253071" cy="710059"/>
            <a:chOff x="9049403" y="1468587"/>
            <a:chExt cx="1296000" cy="734385"/>
          </a:xfrm>
        </p:grpSpPr>
        <p:pic>
          <p:nvPicPr>
            <p:cNvPr id="201" name="Picture 4" descr="Banco de Portugal - Wikipedia">
              <a:extLst>
                <a:ext uri="{FF2B5EF4-FFF2-40B4-BE49-F238E27FC236}">
                  <a16:creationId xmlns:a16="http://schemas.microsoft.com/office/drawing/2014/main" id="{1C3B026A-D148-D4DE-26EE-619E6B112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1303" y="1528227"/>
              <a:ext cx="571219" cy="413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6DC6D5E-2297-8F51-284A-814861508D76}"/>
                </a:ext>
              </a:extLst>
            </p:cNvPr>
            <p:cNvSpPr/>
            <p:nvPr/>
          </p:nvSpPr>
          <p:spPr>
            <a:xfrm>
              <a:off x="9049403" y="1468587"/>
              <a:ext cx="1296000" cy="734385"/>
            </a:xfrm>
            <a:prstGeom prst="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pt-PT" sz="145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D6BF5BC1-E5C5-E6C5-4662-1A64E9EE3F5D}"/>
                </a:ext>
              </a:extLst>
            </p:cNvPr>
            <p:cNvSpPr/>
            <p:nvPr/>
          </p:nvSpPr>
          <p:spPr>
            <a:xfrm>
              <a:off x="9101302" y="2021488"/>
              <a:ext cx="1188000" cy="1335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rIns="34808" rtlCol="0" anchor="ctr"/>
            <a:lstStyle/>
            <a:p>
              <a:pPr algn="ctr" defTabSz="883512"/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Finrep</a:t>
              </a:r>
              <a:r>
                <a:rPr lang="pt-PT" sz="967" b="1">
                  <a:solidFill>
                    <a:prstClr val="black"/>
                  </a:solidFill>
                  <a:latin typeface="Arial"/>
                </a:rPr>
                <a:t> / </a:t>
              </a:r>
              <a:r>
                <a:rPr lang="pt-PT" sz="967" b="1" err="1">
                  <a:solidFill>
                    <a:prstClr val="black"/>
                  </a:solidFill>
                  <a:latin typeface="Arial"/>
                </a:rPr>
                <a:t>Corep</a:t>
              </a:r>
              <a:endParaRPr lang="pt-PT" sz="967" b="1">
                <a:solidFill>
                  <a:prstClr val="black"/>
                </a:solidFill>
                <a:latin typeface="Arial"/>
              </a:endParaRPr>
            </a:p>
          </p:txBody>
        </p:sp>
      </p:grpSp>
      <p:cxnSp>
        <p:nvCxnSpPr>
          <p:cNvPr id="204" name="Conector angular 217">
            <a:extLst>
              <a:ext uri="{FF2B5EF4-FFF2-40B4-BE49-F238E27FC236}">
                <a16:creationId xmlns:a16="http://schemas.microsoft.com/office/drawing/2014/main" id="{82F37523-BD25-D98C-57EE-1B920D203FF7}"/>
              </a:ext>
            </a:extLst>
          </p:cNvPr>
          <p:cNvCxnSpPr>
            <a:cxnSpLocks/>
            <a:stCxn id="198" idx="4"/>
            <a:endCxn id="206" idx="0"/>
          </p:cNvCxnSpPr>
          <p:nvPr/>
        </p:nvCxnSpPr>
        <p:spPr>
          <a:xfrm>
            <a:off x="8319377" y="2274646"/>
            <a:ext cx="2757367" cy="227228"/>
          </a:xfrm>
          <a:prstGeom prst="bentConnector2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angular 217">
            <a:extLst>
              <a:ext uri="{FF2B5EF4-FFF2-40B4-BE49-F238E27FC236}">
                <a16:creationId xmlns:a16="http://schemas.microsoft.com/office/drawing/2014/main" id="{E0F0A186-8F87-BADC-FBB5-CA2AF4B93D7B}"/>
              </a:ext>
            </a:extLst>
          </p:cNvPr>
          <p:cNvCxnSpPr>
            <a:cxnSpLocks/>
            <a:stCxn id="188" idx="4"/>
            <a:endCxn id="202" idx="2"/>
          </p:cNvCxnSpPr>
          <p:nvPr/>
        </p:nvCxnSpPr>
        <p:spPr>
          <a:xfrm flipV="1">
            <a:off x="7182868" y="3574557"/>
            <a:ext cx="3893876" cy="756646"/>
          </a:xfrm>
          <a:prstGeom prst="bentConnector2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63C025D-A4EE-843B-F614-E21C9FC90B35}"/>
              </a:ext>
            </a:extLst>
          </p:cNvPr>
          <p:cNvSpPr/>
          <p:nvPr/>
        </p:nvSpPr>
        <p:spPr>
          <a:xfrm>
            <a:off x="10450209" y="2501873"/>
            <a:ext cx="1253071" cy="34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557" tIns="23278" rIns="46557" bIns="232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3512"/>
            <a:endParaRPr lang="pt-PT" sz="1041">
              <a:solidFill>
                <a:prstClr val="white"/>
              </a:solidFill>
              <a:latin typeface="Arial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D691279-F531-A7ED-6F37-93083E9893D3}"/>
              </a:ext>
            </a:extLst>
          </p:cNvPr>
          <p:cNvSpPr/>
          <p:nvPr/>
        </p:nvSpPr>
        <p:spPr>
          <a:xfrm>
            <a:off x="10486548" y="2534868"/>
            <a:ext cx="1183456" cy="2865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967">
                <a:solidFill>
                  <a:prstClr val="white"/>
                </a:solidFill>
                <a:latin typeface="Arial"/>
              </a:rPr>
              <a:t>Reporting Interno e Corporativo</a:t>
            </a:r>
          </a:p>
        </p:txBody>
      </p:sp>
      <p:cxnSp>
        <p:nvCxnSpPr>
          <p:cNvPr id="208" name="Conector angular 217">
            <a:extLst>
              <a:ext uri="{FF2B5EF4-FFF2-40B4-BE49-F238E27FC236}">
                <a16:creationId xmlns:a16="http://schemas.microsoft.com/office/drawing/2014/main" id="{8F1BC86A-9BEC-CB5C-5355-BC6DEFAE9880}"/>
              </a:ext>
            </a:extLst>
          </p:cNvPr>
          <p:cNvCxnSpPr>
            <a:cxnSpLocks/>
            <a:stCxn id="183" idx="4"/>
            <a:endCxn id="202" idx="1"/>
          </p:cNvCxnSpPr>
          <p:nvPr/>
        </p:nvCxnSpPr>
        <p:spPr>
          <a:xfrm flipV="1">
            <a:off x="9313842" y="3219528"/>
            <a:ext cx="1136365" cy="404119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angular 217">
            <a:extLst>
              <a:ext uri="{FF2B5EF4-FFF2-40B4-BE49-F238E27FC236}">
                <a16:creationId xmlns:a16="http://schemas.microsoft.com/office/drawing/2014/main" id="{EB5FD89E-4C51-97A2-BA6B-78E8A5802778}"/>
              </a:ext>
            </a:extLst>
          </p:cNvPr>
          <p:cNvCxnSpPr>
            <a:cxnSpLocks/>
            <a:stCxn id="124" idx="4"/>
            <a:endCxn id="161" idx="2"/>
          </p:cNvCxnSpPr>
          <p:nvPr/>
        </p:nvCxnSpPr>
        <p:spPr>
          <a:xfrm>
            <a:off x="3582733" y="2731374"/>
            <a:ext cx="2133797" cy="2066538"/>
          </a:xfrm>
          <a:prstGeom prst="bentConnector3">
            <a:avLst>
              <a:gd name="adj1" fmla="val 65196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ctor angular 217">
            <a:extLst>
              <a:ext uri="{FF2B5EF4-FFF2-40B4-BE49-F238E27FC236}">
                <a16:creationId xmlns:a16="http://schemas.microsoft.com/office/drawing/2014/main" id="{49B9012F-0D54-3C3C-7C64-3A7E500B5B44}"/>
              </a:ext>
            </a:extLst>
          </p:cNvPr>
          <p:cNvCxnSpPr>
            <a:cxnSpLocks/>
            <a:stCxn id="160" idx="4"/>
            <a:endCxn id="137" idx="2"/>
          </p:cNvCxnSpPr>
          <p:nvPr/>
        </p:nvCxnSpPr>
        <p:spPr>
          <a:xfrm flipV="1">
            <a:off x="6275298" y="2336043"/>
            <a:ext cx="331681" cy="252630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ector angular 217">
            <a:extLst>
              <a:ext uri="{FF2B5EF4-FFF2-40B4-BE49-F238E27FC236}">
                <a16:creationId xmlns:a16="http://schemas.microsoft.com/office/drawing/2014/main" id="{29A4F3EC-325A-0EC0-9885-3AE9E2B87BEB}"/>
              </a:ext>
            </a:extLst>
          </p:cNvPr>
          <p:cNvCxnSpPr>
            <a:cxnSpLocks/>
            <a:stCxn id="124" idx="4"/>
            <a:endCxn id="188" idx="2"/>
          </p:cNvCxnSpPr>
          <p:nvPr/>
        </p:nvCxnSpPr>
        <p:spPr>
          <a:xfrm>
            <a:off x="3582733" y="2731374"/>
            <a:ext cx="3041366" cy="1599828"/>
          </a:xfrm>
          <a:prstGeom prst="bentConnector3">
            <a:avLst>
              <a:gd name="adj1" fmla="val 45708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angular 217">
            <a:extLst>
              <a:ext uri="{FF2B5EF4-FFF2-40B4-BE49-F238E27FC236}">
                <a16:creationId xmlns:a16="http://schemas.microsoft.com/office/drawing/2014/main" id="{90ABB8E0-0B55-F9F6-794F-E378C59C7C03}"/>
              </a:ext>
            </a:extLst>
          </p:cNvPr>
          <p:cNvCxnSpPr>
            <a:cxnSpLocks/>
            <a:stCxn id="138" idx="4"/>
            <a:endCxn id="198" idx="2"/>
          </p:cNvCxnSpPr>
          <p:nvPr/>
        </p:nvCxnSpPr>
        <p:spPr>
          <a:xfrm>
            <a:off x="7165747" y="2271603"/>
            <a:ext cx="594862" cy="304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CuadroTexto 86">
            <a:extLst>
              <a:ext uri="{FF2B5EF4-FFF2-40B4-BE49-F238E27FC236}">
                <a16:creationId xmlns:a16="http://schemas.microsoft.com/office/drawing/2014/main" id="{99BC298F-8338-B79A-DDBD-21BECFEDE254}"/>
              </a:ext>
            </a:extLst>
          </p:cNvPr>
          <p:cNvSpPr txBox="1"/>
          <p:nvPr/>
        </p:nvSpPr>
        <p:spPr>
          <a:xfrm>
            <a:off x="3906919" y="2951685"/>
            <a:ext cx="886781" cy="33381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es-ES" sz="1015" b="1" err="1">
                <a:solidFill>
                  <a:prstClr val="black"/>
                </a:solidFill>
                <a:latin typeface="Santander Text" panose="020B0504020201020104" pitchFamily="34" charset="0"/>
              </a:rPr>
              <a:t>Processo</a:t>
            </a:r>
            <a:r>
              <a:rPr lang="es-ES" sz="1015" b="1">
                <a:solidFill>
                  <a:prstClr val="black"/>
                </a:solidFill>
                <a:latin typeface="Santander Text" panose="020B0504020201020104" pitchFamily="34" charset="0"/>
              </a:rPr>
              <a:t> de Basileia</a:t>
            </a:r>
          </a:p>
        </p:txBody>
      </p:sp>
      <p:cxnSp>
        <p:nvCxnSpPr>
          <p:cNvPr id="214" name="Conector angular 217">
            <a:extLst>
              <a:ext uri="{FF2B5EF4-FFF2-40B4-BE49-F238E27FC236}">
                <a16:creationId xmlns:a16="http://schemas.microsoft.com/office/drawing/2014/main" id="{568902DF-750A-0091-0403-E5ED1A66D023}"/>
              </a:ext>
            </a:extLst>
          </p:cNvPr>
          <p:cNvCxnSpPr>
            <a:cxnSpLocks/>
            <a:stCxn id="124" idx="4"/>
            <a:endCxn id="174" idx="2"/>
          </p:cNvCxnSpPr>
          <p:nvPr/>
        </p:nvCxnSpPr>
        <p:spPr>
          <a:xfrm>
            <a:off x="3582733" y="2731374"/>
            <a:ext cx="4209645" cy="956037"/>
          </a:xfrm>
          <a:prstGeom prst="bentConnector3">
            <a:avLst>
              <a:gd name="adj1" fmla="val 33111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FDFE16D1-AFF9-8C2B-9927-44FDE5040612}"/>
              </a:ext>
            </a:extLst>
          </p:cNvPr>
          <p:cNvSpPr txBox="1"/>
          <p:nvPr/>
        </p:nvSpPr>
        <p:spPr>
          <a:xfrm>
            <a:off x="9735627" y="1877419"/>
            <a:ext cx="931509" cy="53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Capital 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D818E62-FC5D-305E-51FA-5D6DDDDA97ED}"/>
              </a:ext>
            </a:extLst>
          </p:cNvPr>
          <p:cNvSpPr txBox="1"/>
          <p:nvPr/>
        </p:nvSpPr>
        <p:spPr>
          <a:xfrm>
            <a:off x="9334395" y="3649533"/>
            <a:ext cx="1358778" cy="386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Corep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ALM Liquidez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B09EADD-0352-A7A4-F2D9-DFCC1542FE15}"/>
              </a:ext>
            </a:extLst>
          </p:cNvPr>
          <p:cNvSpPr txBox="1"/>
          <p:nvPr/>
        </p:nvSpPr>
        <p:spPr>
          <a:xfrm>
            <a:off x="7391157" y="4099618"/>
            <a:ext cx="1922685" cy="241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967">
                <a:solidFill>
                  <a:prstClr val="black"/>
                </a:solidFill>
                <a:latin typeface="Arial"/>
              </a:rPr>
              <a:t>Reporte </a:t>
            </a:r>
            <a:r>
              <a:rPr lang="pt-PT" sz="967" err="1">
                <a:solidFill>
                  <a:prstClr val="black"/>
                </a:solidFill>
                <a:latin typeface="Arial"/>
              </a:rPr>
              <a:t>Finrep</a:t>
            </a:r>
            <a:r>
              <a:rPr lang="pt-PT" sz="967">
                <a:solidFill>
                  <a:prstClr val="black"/>
                </a:solidFill>
                <a:latin typeface="Arial"/>
              </a:rPr>
              <a:t> Contabilidade</a:t>
            </a:r>
          </a:p>
        </p:txBody>
      </p:sp>
      <p:sp>
        <p:nvSpPr>
          <p:cNvPr id="218" name="Rectángulo 305">
            <a:extLst>
              <a:ext uri="{FF2B5EF4-FFF2-40B4-BE49-F238E27FC236}">
                <a16:creationId xmlns:a16="http://schemas.microsoft.com/office/drawing/2014/main" id="{3B4330A7-67FF-BBA4-D9F5-5C0776FEB29A}"/>
              </a:ext>
            </a:extLst>
          </p:cNvPr>
          <p:cNvSpPr/>
          <p:nvPr/>
        </p:nvSpPr>
        <p:spPr>
          <a:xfrm>
            <a:off x="2888954" y="874877"/>
            <a:ext cx="8841110" cy="24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r>
              <a:rPr lang="pt-PT" sz="1161" b="1">
                <a:solidFill>
                  <a:prstClr val="white"/>
                </a:solidFill>
                <a:latin typeface="Santander Text" panose="020B0504020201020104" pitchFamily="34" charset="0"/>
              </a:rPr>
              <a:t>Fluxo temporal</a:t>
            </a:r>
          </a:p>
        </p:txBody>
      </p:sp>
      <p:cxnSp>
        <p:nvCxnSpPr>
          <p:cNvPr id="219" name="Conector angular 217">
            <a:extLst>
              <a:ext uri="{FF2B5EF4-FFF2-40B4-BE49-F238E27FC236}">
                <a16:creationId xmlns:a16="http://schemas.microsoft.com/office/drawing/2014/main" id="{8CCA22EA-F2EF-FCBA-104A-E9DA381C8277}"/>
              </a:ext>
            </a:extLst>
          </p:cNvPr>
          <p:cNvCxnSpPr>
            <a:cxnSpLocks/>
            <a:stCxn id="160" idx="4"/>
            <a:endCxn id="175" idx="2"/>
          </p:cNvCxnSpPr>
          <p:nvPr/>
        </p:nvCxnSpPr>
        <p:spPr>
          <a:xfrm flipV="1">
            <a:off x="6275298" y="3622971"/>
            <a:ext cx="1517080" cy="1239381"/>
          </a:xfrm>
          <a:prstGeom prst="bentConnector3">
            <a:avLst>
              <a:gd name="adj1" fmla="val 11063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ángulo 302">
            <a:extLst>
              <a:ext uri="{FF2B5EF4-FFF2-40B4-BE49-F238E27FC236}">
                <a16:creationId xmlns:a16="http://schemas.microsoft.com/office/drawing/2014/main" id="{B4398C24-F2EA-7793-1220-4C1359020301}"/>
              </a:ext>
            </a:extLst>
          </p:cNvPr>
          <p:cNvSpPr/>
          <p:nvPr/>
        </p:nvSpPr>
        <p:spPr>
          <a:xfrm>
            <a:off x="2826817" y="5305560"/>
            <a:ext cx="2401185" cy="835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83512"/>
            <a:endParaRPr lang="pt-PT" sz="1741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FDE73FF7-8D0D-5E1B-6657-D0D4D68639DD}"/>
              </a:ext>
            </a:extLst>
          </p:cNvPr>
          <p:cNvGrpSpPr/>
          <p:nvPr/>
        </p:nvGrpSpPr>
        <p:grpSpPr>
          <a:xfrm>
            <a:off x="3062407" y="5909663"/>
            <a:ext cx="382882" cy="174038"/>
            <a:chOff x="8038756" y="3835908"/>
            <a:chExt cx="1282702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69C31C23-975B-D1D1-1A55-EB020613B0F9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3" name="Disco magnético 91">
              <a:extLst>
                <a:ext uri="{FF2B5EF4-FFF2-40B4-BE49-F238E27FC236}">
                  <a16:creationId xmlns:a16="http://schemas.microsoft.com/office/drawing/2014/main" id="{549D35F5-5A84-1883-3C95-C0CAE1365C2E}"/>
                </a:ext>
              </a:extLst>
            </p:cNvPr>
            <p:cNvSpPr/>
            <p:nvPr/>
          </p:nvSpPr>
          <p:spPr>
            <a:xfrm>
              <a:off x="8038756" y="4198040"/>
              <a:ext cx="1282700" cy="449384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4" name="Disco magnético 92">
              <a:extLst>
                <a:ext uri="{FF2B5EF4-FFF2-40B4-BE49-F238E27FC236}">
                  <a16:creationId xmlns:a16="http://schemas.microsoft.com/office/drawing/2014/main" id="{533822D9-A0AD-437E-F6CC-CB3A15683806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25" name="CuadroTexto 86">
            <a:extLst>
              <a:ext uri="{FF2B5EF4-FFF2-40B4-BE49-F238E27FC236}">
                <a16:creationId xmlns:a16="http://schemas.microsoft.com/office/drawing/2014/main" id="{ED869C08-9C9A-9BC6-52FD-373F989BE443}"/>
              </a:ext>
            </a:extLst>
          </p:cNvPr>
          <p:cNvSpPr txBox="1"/>
          <p:nvPr/>
        </p:nvSpPr>
        <p:spPr>
          <a:xfrm>
            <a:off x="2887362" y="5624751"/>
            <a:ext cx="757091" cy="272333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Garantias</a:t>
            </a:r>
          </a:p>
        </p:txBody>
      </p:sp>
      <p:grpSp>
        <p:nvGrpSpPr>
          <p:cNvPr id="226" name="Grupo 83">
            <a:extLst>
              <a:ext uri="{FF2B5EF4-FFF2-40B4-BE49-F238E27FC236}">
                <a16:creationId xmlns:a16="http://schemas.microsoft.com/office/drawing/2014/main" id="{96F89EBC-EA99-95D4-4992-216206E4C514}"/>
              </a:ext>
            </a:extLst>
          </p:cNvPr>
          <p:cNvGrpSpPr/>
          <p:nvPr/>
        </p:nvGrpSpPr>
        <p:grpSpPr>
          <a:xfrm>
            <a:off x="3877524" y="5910715"/>
            <a:ext cx="382882" cy="174038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7" name="Disco magnético 89">
              <a:extLst>
                <a:ext uri="{FF2B5EF4-FFF2-40B4-BE49-F238E27FC236}">
                  <a16:creationId xmlns:a16="http://schemas.microsoft.com/office/drawing/2014/main" id="{F33BB272-1675-9312-0F1A-71FF3C8C3981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8" name="Disco magnético 91">
              <a:extLst>
                <a:ext uri="{FF2B5EF4-FFF2-40B4-BE49-F238E27FC236}">
                  <a16:creationId xmlns:a16="http://schemas.microsoft.com/office/drawing/2014/main" id="{FB1C5921-5087-EB7C-039D-E8895A71F9A2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29" name="Disco magnético 92">
              <a:extLst>
                <a:ext uri="{FF2B5EF4-FFF2-40B4-BE49-F238E27FC236}">
                  <a16:creationId xmlns:a16="http://schemas.microsoft.com/office/drawing/2014/main" id="{0866DFFE-DB14-9506-9A15-E604A3328B43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30" name="CuadroTexto 86">
            <a:extLst>
              <a:ext uri="{FF2B5EF4-FFF2-40B4-BE49-F238E27FC236}">
                <a16:creationId xmlns:a16="http://schemas.microsoft.com/office/drawing/2014/main" id="{E254CE33-2E8F-C82A-A4A8-91EE7102ADF0}"/>
              </a:ext>
            </a:extLst>
          </p:cNvPr>
          <p:cNvSpPr txBox="1"/>
          <p:nvPr/>
        </p:nvSpPr>
        <p:spPr>
          <a:xfrm>
            <a:off x="3679907" y="5502657"/>
            <a:ext cx="843003" cy="38363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Relação Responsabilidades vs Garantias</a:t>
            </a:r>
          </a:p>
        </p:txBody>
      </p:sp>
      <p:grpSp>
        <p:nvGrpSpPr>
          <p:cNvPr id="231" name="Grupo 83">
            <a:extLst>
              <a:ext uri="{FF2B5EF4-FFF2-40B4-BE49-F238E27FC236}">
                <a16:creationId xmlns:a16="http://schemas.microsoft.com/office/drawing/2014/main" id="{A08D349D-7857-5EDE-DEB0-F861B2828699}"/>
              </a:ext>
            </a:extLst>
          </p:cNvPr>
          <p:cNvGrpSpPr/>
          <p:nvPr/>
        </p:nvGrpSpPr>
        <p:grpSpPr>
          <a:xfrm>
            <a:off x="4675931" y="5909387"/>
            <a:ext cx="382882" cy="174038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2" name="Disco magnético 89">
              <a:extLst>
                <a:ext uri="{FF2B5EF4-FFF2-40B4-BE49-F238E27FC236}">
                  <a16:creationId xmlns:a16="http://schemas.microsoft.com/office/drawing/2014/main" id="{A0CBC098-CC4E-295F-4EC7-C2E46CF727EF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33" name="Disco magnético 91">
              <a:extLst>
                <a:ext uri="{FF2B5EF4-FFF2-40B4-BE49-F238E27FC236}">
                  <a16:creationId xmlns:a16="http://schemas.microsoft.com/office/drawing/2014/main" id="{7ADE0F49-9249-1AC5-DD6A-3AFCDFC708A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7779E48E-F22B-BE5B-9D87-4F99B927136B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83512"/>
              <a:endParaRPr lang="es-ES" sz="1741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5606E915-8A4E-0480-0E06-1077A6EBBF93}"/>
              </a:ext>
            </a:extLst>
          </p:cNvPr>
          <p:cNvSpPr txBox="1"/>
          <p:nvPr/>
        </p:nvSpPr>
        <p:spPr>
          <a:xfrm>
            <a:off x="4585611" y="5642026"/>
            <a:ext cx="563520" cy="24596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883512"/>
            <a:r>
              <a:rPr lang="pt-PT" sz="774" b="1">
                <a:solidFill>
                  <a:prstClr val="black"/>
                </a:solidFill>
                <a:latin typeface="Santander Text" panose="020B0504020201020104" pitchFamily="34" charset="0"/>
              </a:rPr>
              <a:t>Output para BDR/IFRS</a:t>
            </a:r>
          </a:p>
        </p:txBody>
      </p:sp>
      <p:cxnSp>
        <p:nvCxnSpPr>
          <p:cNvPr id="236" name="Conector angular 217">
            <a:extLst>
              <a:ext uri="{FF2B5EF4-FFF2-40B4-BE49-F238E27FC236}">
                <a16:creationId xmlns:a16="http://schemas.microsoft.com/office/drawing/2014/main" id="{9DADAAEC-493C-9424-0361-E6BB876511EE}"/>
              </a:ext>
            </a:extLst>
          </p:cNvPr>
          <p:cNvCxnSpPr>
            <a:cxnSpLocks/>
            <a:stCxn id="223" idx="4"/>
            <a:endCxn id="228" idx="2"/>
          </p:cNvCxnSpPr>
          <p:nvPr/>
        </p:nvCxnSpPr>
        <p:spPr>
          <a:xfrm>
            <a:off x="3445288" y="5996682"/>
            <a:ext cx="432236" cy="10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angular 217">
            <a:extLst>
              <a:ext uri="{FF2B5EF4-FFF2-40B4-BE49-F238E27FC236}">
                <a16:creationId xmlns:a16="http://schemas.microsoft.com/office/drawing/2014/main" id="{D61A7AB2-D801-9DDB-9919-F31E496CF02E}"/>
              </a:ext>
            </a:extLst>
          </p:cNvPr>
          <p:cNvCxnSpPr>
            <a:cxnSpLocks/>
            <a:stCxn id="228" idx="4"/>
            <a:endCxn id="233" idx="2"/>
          </p:cNvCxnSpPr>
          <p:nvPr/>
        </p:nvCxnSpPr>
        <p:spPr>
          <a:xfrm flipV="1">
            <a:off x="4260406" y="5996407"/>
            <a:ext cx="415525" cy="13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E7122615-B91A-A41E-D541-7FF76CA6E31C}"/>
              </a:ext>
            </a:extLst>
          </p:cNvPr>
          <p:cNvSpPr txBox="1"/>
          <p:nvPr/>
        </p:nvSpPr>
        <p:spPr>
          <a:xfrm>
            <a:off x="2826817" y="5288508"/>
            <a:ext cx="2270826" cy="2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161" b="1">
                <a:solidFill>
                  <a:prstClr val="black"/>
                </a:solidFill>
                <a:latin typeface="Arial"/>
              </a:rPr>
              <a:t>Data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Lake</a:t>
            </a:r>
            <a:r>
              <a:rPr lang="pt-PT" sz="1161" b="1">
                <a:solidFill>
                  <a:prstClr val="black"/>
                </a:solidFill>
                <a:latin typeface="Arial"/>
              </a:rPr>
              <a:t> – </a:t>
            </a:r>
            <a:r>
              <a:rPr lang="pt-PT" sz="1161" b="1" err="1">
                <a:solidFill>
                  <a:prstClr val="black"/>
                </a:solidFill>
                <a:latin typeface="Arial"/>
              </a:rPr>
              <a:t>Mod</a:t>
            </a:r>
            <a:r>
              <a:rPr lang="pt-PT" sz="1161" b="1">
                <a:solidFill>
                  <a:prstClr val="black"/>
                </a:solidFill>
                <a:latin typeface="Arial"/>
              </a:rPr>
              <a:t>. Garantias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2BA0C2E-3FEA-C937-FAED-B6ED75E4ACA6}"/>
              </a:ext>
            </a:extLst>
          </p:cNvPr>
          <p:cNvSpPr txBox="1"/>
          <p:nvPr/>
        </p:nvSpPr>
        <p:spPr>
          <a:xfrm>
            <a:off x="3970168" y="3546576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cxnSp>
        <p:nvCxnSpPr>
          <p:cNvPr id="240" name="Conector angular 217">
            <a:extLst>
              <a:ext uri="{FF2B5EF4-FFF2-40B4-BE49-F238E27FC236}">
                <a16:creationId xmlns:a16="http://schemas.microsoft.com/office/drawing/2014/main" id="{92A163FC-CC55-BBAF-E811-22FF778CF39E}"/>
              </a:ext>
            </a:extLst>
          </p:cNvPr>
          <p:cNvCxnSpPr>
            <a:cxnSpLocks/>
            <a:stCxn id="147" idx="3"/>
            <a:endCxn id="220" idx="1"/>
          </p:cNvCxnSpPr>
          <p:nvPr/>
        </p:nvCxnSpPr>
        <p:spPr>
          <a:xfrm flipV="1">
            <a:off x="2217023" y="5723431"/>
            <a:ext cx="609794" cy="358040"/>
          </a:xfrm>
          <a:prstGeom prst="bentConnector3">
            <a:avLst>
              <a:gd name="adj1" fmla="val 618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angular 217">
            <a:extLst>
              <a:ext uri="{FF2B5EF4-FFF2-40B4-BE49-F238E27FC236}">
                <a16:creationId xmlns:a16="http://schemas.microsoft.com/office/drawing/2014/main" id="{1DC50237-119F-6DB6-7197-99B9B55BF685}"/>
              </a:ext>
            </a:extLst>
          </p:cNvPr>
          <p:cNvCxnSpPr>
            <a:cxnSpLocks/>
            <a:stCxn id="247" idx="2"/>
            <a:endCxn id="242" idx="0"/>
          </p:cNvCxnSpPr>
          <p:nvPr/>
        </p:nvCxnSpPr>
        <p:spPr>
          <a:xfrm rot="16200000" flipH="1">
            <a:off x="1975390" y="4064291"/>
            <a:ext cx="2465516" cy="1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E369EC2B-465C-D0CE-6D86-73218D8AE50F}"/>
              </a:ext>
            </a:extLst>
          </p:cNvPr>
          <p:cNvSpPr txBox="1"/>
          <p:nvPr/>
        </p:nvSpPr>
        <p:spPr>
          <a:xfrm>
            <a:off x="3008313" y="5297058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8F2A347D-E516-9188-6CF5-611AFCF6FB7F}"/>
              </a:ext>
            </a:extLst>
          </p:cNvPr>
          <p:cNvGrpSpPr/>
          <p:nvPr/>
        </p:nvGrpSpPr>
        <p:grpSpPr>
          <a:xfrm>
            <a:off x="2661836" y="6331278"/>
            <a:ext cx="1177068" cy="307055"/>
            <a:chOff x="3608497" y="4223067"/>
            <a:chExt cx="952559" cy="323062"/>
          </a:xfrm>
        </p:grpSpPr>
        <p:sp>
          <p:nvSpPr>
            <p:cNvPr id="244" name="Fluxograma: multidocumentos 215">
              <a:extLst>
                <a:ext uri="{FF2B5EF4-FFF2-40B4-BE49-F238E27FC236}">
                  <a16:creationId xmlns:a16="http://schemas.microsoft.com/office/drawing/2014/main" id="{93FFABE2-6D7E-ABB0-9D29-64CB9800A2A4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808" tIns="0" rIns="34808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83512"/>
              <a:endParaRPr lang="pt-PT" sz="774" baseline="30000">
                <a:solidFill>
                  <a:sysClr val="windowText" lastClr="000000"/>
                </a:solidFill>
                <a:latin typeface="Arial"/>
              </a:endParaRPr>
            </a:p>
          </p:txBody>
        </p:sp>
        <p:sp>
          <p:nvSpPr>
            <p:cNvPr id="245" name="CaixaDeTexto 167">
              <a:extLst>
                <a:ext uri="{FF2B5EF4-FFF2-40B4-BE49-F238E27FC236}">
                  <a16:creationId xmlns:a16="http://schemas.microsoft.com/office/drawing/2014/main" id="{D02387C3-0823-1271-E703-19F7FF336A39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61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83512"/>
              <a:r>
                <a:rPr lang="pt-PT" sz="1015">
                  <a:solidFill>
                    <a:srgbClr val="E7E6E6">
                      <a:lumMod val="25000"/>
                    </a:srgb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CE19F5BA-C8A2-B916-0398-8779F959F3DE}"/>
              </a:ext>
            </a:extLst>
          </p:cNvPr>
          <p:cNvCxnSpPr>
            <a:cxnSpLocks/>
            <a:stCxn id="245" idx="0"/>
            <a:endCxn id="222" idx="3"/>
          </p:cNvCxnSpPr>
          <p:nvPr/>
        </p:nvCxnSpPr>
        <p:spPr>
          <a:xfrm rot="5400000" flipH="1" flipV="1">
            <a:off x="3118122" y="6218912"/>
            <a:ext cx="270938" cy="5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86950773-67B4-A81D-0BFE-5DCEF33AC946}"/>
              </a:ext>
            </a:extLst>
          </p:cNvPr>
          <p:cNvSpPr txBox="1"/>
          <p:nvPr/>
        </p:nvSpPr>
        <p:spPr>
          <a:xfrm>
            <a:off x="3008296" y="2474444"/>
            <a:ext cx="399685" cy="35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3512"/>
            <a:r>
              <a:rPr lang="pt-PT" sz="1741">
                <a:solidFill>
                  <a:prstClr val="black"/>
                </a:solidFill>
                <a:latin typeface="Arial"/>
              </a:rPr>
              <a:t> </a:t>
            </a:r>
          </a:p>
        </p:txBody>
      </p: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E33ADADD-BA40-A293-E664-87C3F3EFF8F2}"/>
              </a:ext>
            </a:extLst>
          </p:cNvPr>
          <p:cNvCxnSpPr>
            <a:cxnSpLocks/>
            <a:stCxn id="233" idx="4"/>
            <a:endCxn id="159" idx="3"/>
          </p:cNvCxnSpPr>
          <p:nvPr/>
        </p:nvCxnSpPr>
        <p:spPr>
          <a:xfrm flipV="1">
            <a:off x="5058813" y="4966774"/>
            <a:ext cx="937101" cy="1029633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FEAFF883-E34D-6731-E27A-3323E10EAFCD}"/>
              </a:ext>
            </a:extLst>
          </p:cNvPr>
          <p:cNvCxnSpPr>
            <a:cxnSpLocks/>
            <a:endCxn id="162" idx="2"/>
          </p:cNvCxnSpPr>
          <p:nvPr/>
        </p:nvCxnSpPr>
        <p:spPr>
          <a:xfrm rot="16200000" flipV="1">
            <a:off x="3719508" y="4475042"/>
            <a:ext cx="1803629" cy="530337"/>
          </a:xfrm>
          <a:prstGeom prst="bentConnector3">
            <a:avLst>
              <a:gd name="adj1" fmla="val 3536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814324CA-30EC-1092-C738-4A949A487443}"/>
              </a:ext>
            </a:extLst>
          </p:cNvPr>
          <p:cNvSpPr txBox="1"/>
          <p:nvPr/>
        </p:nvSpPr>
        <p:spPr>
          <a:xfrm>
            <a:off x="6458772" y="6326863"/>
            <a:ext cx="5025734" cy="210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70" dirty="0"/>
              <a:t>(1) Os processos do </a:t>
            </a:r>
            <a:r>
              <a:rPr lang="pt-PT" sz="770" dirty="0" err="1"/>
              <a:t>Finrep</a:t>
            </a:r>
            <a:r>
              <a:rPr lang="pt-PT" sz="770" dirty="0"/>
              <a:t> da contabilidade só serão afetados no rácio de Maio 2023.</a:t>
            </a:r>
          </a:p>
        </p:txBody>
      </p:sp>
    </p:spTree>
    <p:extLst>
      <p:ext uri="{BB962C8B-B14F-4D97-AF65-F5344CB8AC3E}">
        <p14:creationId xmlns:p14="http://schemas.microsoft.com/office/powerpoint/2010/main" val="391180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PDS BCB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89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>
                <a:latin typeface="Santander Headline" panose="020B0504020201020104" pitchFamily="34" charset="0"/>
              </a:rPr>
              <a:t>BCB – </a:t>
            </a:r>
            <a:r>
              <a:rPr lang="es-ES" sz="1934" dirty="0" err="1">
                <a:latin typeface="Santander Headline" panose="020B0504020201020104" pitchFamily="34" charset="0"/>
              </a:rPr>
              <a:t>Evolução</a:t>
            </a:r>
            <a:r>
              <a:rPr lang="es-ES" sz="1934" dirty="0">
                <a:latin typeface="Santander Headline" panose="020B0504020201020104" pitchFamily="34" charset="0"/>
              </a:rPr>
              <a:t> de </a:t>
            </a:r>
            <a:r>
              <a:rPr lang="es-ES" sz="1934" dirty="0" err="1">
                <a:latin typeface="Santander Headline" panose="020B0504020201020104" pitchFamily="34" charset="0"/>
              </a:rPr>
              <a:t>incidências</a:t>
            </a:r>
            <a:endParaRPr lang="es-ES" sz="1934" dirty="0">
              <a:solidFill>
                <a:srgbClr val="FF0000"/>
              </a:solidFill>
              <a:latin typeface="Santander Headline" panose="020B05040202010201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2F40DF19-9011-4A45-921C-0A411279D5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3985" y="985912"/>
              <a:ext cx="11587979" cy="53049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11907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2680113250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1124562638"/>
                        </a:ext>
                      </a:extLst>
                    </a:gridCol>
                  </a:tblGrid>
                  <a:tr h="4472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%</a:t>
                          </a:r>
                          <a:r>
                            <a:rPr lang="pt-PT" sz="1600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𝟐𝟎𝟐𝟐</m:t>
                                  </m:r>
                                </m:den>
                              </m:f>
                            </m:oMath>
                          </a14:m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CQ01 - Beneficiário Efetivo em Falta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228.169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208.770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FF0000"/>
                              </a:solidFill>
                            </a:rPr>
                            <a:t>214.796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400" dirty="0"/>
                            <a:t>CQ02 - Datas de contas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372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332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-99%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CQ03 - Datas de relação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1.750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9.489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1.317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CQ04 - Datas de contas e relação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557.227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309.995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216.696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-61%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CQ05 - Data de abertura de conta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50.731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79.288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22.894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CQ06 - Data de inicio de relação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28.140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28.668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10.677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-62%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86474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CQ07 - Conta encerrada com intervenientes ativos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333.736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58.403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12.693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-96%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940081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CQ08 - Par interveniente/tipo relação repetido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244.781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77.041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49.172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-80%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5349019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CQ09 - Conta sem titular ativo</a:t>
                          </a:r>
                          <a:endParaRPr lang="pt-PT" sz="1400" b="1" dirty="0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182.209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179.947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8.680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5203132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CQ10 - Interveniente sem NIF/NIPC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17.493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12.124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11.663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-33%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6068413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CQ12 - Mesmo BI/NIC/CC atribuído a duas entidades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32.411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22.683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14.440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300671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CQ13 - Data de nascimento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14.149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9.817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FF0000"/>
                              </a:solidFill>
                            </a:rPr>
                            <a:t>76.199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439%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1143990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CQ14 - Nome inferior a 5 carateres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-43%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274177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CQ15 - Morada inferior a 5 carateres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10.897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9.916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7.471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-31%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990985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CQ16 - Beneficiário efetivo que não e pessoa singular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91871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2F40DF19-9011-4A45-921C-0A411279D50A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403985" y="985912"/>
              <a:ext cx="11587979" cy="53049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11907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2680113250"/>
                        </a:ext>
                      </a:extLst>
                    </a:gridCol>
                    <a:gridCol w="1719018">
                      <a:extLst>
                        <a:ext uri="{9D8B030D-6E8A-4147-A177-3AD203B41FA5}">
                          <a16:colId xmlns:a16="http://schemas.microsoft.com/office/drawing/2014/main" val="1124562638"/>
                        </a:ext>
                      </a:extLst>
                    </a:gridCol>
                  </a:tblGrid>
                  <a:tr h="44731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 smtClean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4823" t="-1370" r="-709" b="-11054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CQ01 - Beneficiário Efetivo em Falta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228.169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208.770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FF0000"/>
                              </a:solidFill>
                            </a:rPr>
                            <a:t>214.796</a:t>
                          </a:r>
                          <a:endParaRPr lang="pt-PT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-5%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400" dirty="0"/>
                            <a:t>CQ02 - Datas de contas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372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332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-99%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CQ03 - Datas de relação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1.750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9.489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1.317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-25%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CQ04 - Datas de contas e relação incoerentes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557.227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309.995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216.696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-61%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CQ05 - Data de abertura de conta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50.731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79.288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22.894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-55%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CQ06 - Data de inicio de relação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28.140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28.668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10.677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-62%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86474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CQ07 - Conta encerrada com intervenientes ativos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333.736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58.403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12.693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-96%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940081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CQ08 - Par interveniente/tipo relação repetido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244.781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77.041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49.172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-80%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5349019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CQ09 - Conta sem titular ativo</a:t>
                          </a:r>
                          <a:endParaRPr lang="pt-PT" sz="1400" b="1" dirty="0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182.209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179.947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8.680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-95%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5203132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CQ10 - Interveniente sem NIF/NIPC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17.493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12.124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11.663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-33%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6068413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CQ12 - Mesmo BI/NIC/CC atribuído a duas entidades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32.411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22.683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14.440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-55%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300671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CQ13 - Data de nascimento não plausível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14.149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9.817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FF0000"/>
                              </a:solidFill>
                            </a:rPr>
                            <a:t>76.199</a:t>
                          </a:r>
                          <a:endParaRPr lang="pt-PT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439%</a:t>
                          </a:r>
                          <a:endParaRPr lang="pt-PT" sz="14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1143990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CQ14 - Nome inferior a 5 carateres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-43%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274177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CQ15 - Morada inferior a 5 carateres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10.897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9.916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7.471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-31%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9909856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 smtClean="0"/>
                            <a:t>CQ16 - Beneficiário efetivo que não e pessoa singular</a:t>
                          </a:r>
                          <a:endParaRPr lang="pt-PT" sz="1400" dirty="0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/>
                            <a:t>0</a:t>
                          </a:r>
                          <a:endParaRPr lang="pt-PT" sz="1400" dirty="0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pt-PT" sz="1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pt-PT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pt-PT" sz="1400" kern="1200" dirty="0">
                            <a:solidFill>
                              <a:srgbClr val="FF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291871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10">
            <a:extLst>
              <a:ext uri="{FF2B5EF4-FFF2-40B4-BE49-F238E27FC236}">
                <a16:creationId xmlns:a16="http://schemas.microsoft.com/office/drawing/2014/main" id="{C83BB26F-F912-4085-B6EF-1F134C37899B}"/>
              </a:ext>
            </a:extLst>
          </p:cNvPr>
          <p:cNvSpPr txBox="1"/>
          <p:nvPr/>
        </p:nvSpPr>
        <p:spPr>
          <a:xfrm>
            <a:off x="686639" y="647479"/>
            <a:ext cx="10775891" cy="33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103"/>
            <a:r>
              <a:rPr lang="pt-PT" sz="1600" dirty="0">
                <a:solidFill>
                  <a:srgbClr val="6E7678"/>
                </a:solidFill>
                <a:latin typeface="Arial"/>
              </a:rPr>
              <a:t>Plano de correções iniciado em 2022 e que se prolongará até ao final de 2023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53FB373-86BB-40A9-2AE2-7834FF80B60C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20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72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>
                <a:latin typeface="Santander Headline" panose="020B0504020201020104" pitchFamily="34" charset="0"/>
              </a:rPr>
              <a:t>BCB – </a:t>
            </a:r>
            <a:r>
              <a:rPr lang="es-ES" sz="1934" dirty="0" err="1">
                <a:latin typeface="Santander Headline" panose="020B0504020201020104" pitchFamily="34" charset="0"/>
              </a:rPr>
              <a:t>Evolução</a:t>
            </a:r>
            <a:r>
              <a:rPr lang="es-ES" sz="1934" dirty="0">
                <a:latin typeface="Santander Headline" panose="020B0504020201020104" pitchFamily="34" charset="0"/>
              </a:rPr>
              <a:t> de erros de </a:t>
            </a:r>
            <a:r>
              <a:rPr lang="es-ES" sz="1934" dirty="0" err="1">
                <a:latin typeface="Santander Headline" panose="020B0504020201020104" pitchFamily="34" charset="0"/>
              </a:rPr>
              <a:t>submissão</a:t>
            </a:r>
            <a:endParaRPr lang="es-ES" sz="1934" dirty="0">
              <a:solidFill>
                <a:srgbClr val="FF0000"/>
              </a:solidFill>
              <a:latin typeface="Santander Headline" panose="020B05040202010201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78DD94ED-3B3E-4700-AB4F-DDD7FBF606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42063" y="1212994"/>
              <a:ext cx="10633742" cy="30569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05466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815066719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2928768163"/>
                        </a:ext>
                      </a:extLst>
                    </a:gridCol>
                  </a:tblGrid>
                  <a:tr h="44726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%</a:t>
                          </a:r>
                          <a:r>
                            <a:rPr lang="pt-PT" sz="1600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𝟐𝟎𝟐𝟐</m:t>
                                  </m:r>
                                </m:den>
                              </m:f>
                            </m:oMath>
                          </a14:m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51805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EC19 - Data de encerramento &lt; à data de início de funcionamento da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accent1"/>
                              </a:solidFill>
                            </a:rPr>
                            <a:t>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51805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400" dirty="0"/>
                            <a:t>EI20 - Interveniente com códigos de domínio de Nacionalidade inválidos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51805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EC34 - Conta com Interveniente inexistente no sistema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66%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EI37 - Interveniente sem contas no sistema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6.976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68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38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-99%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73139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EC38 - Titularidade/autorização de movimentação não encontrada (em registos ativos) numa tentativa de eliminação de relação entre conta e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65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98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78DD94ED-3B3E-4700-AB4F-DDD7FBF6068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942063" y="1212994"/>
              <a:ext cx="10633742" cy="30569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05466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815066719"/>
                        </a:ext>
                      </a:extLst>
                    </a:gridCol>
                    <a:gridCol w="1582069">
                      <a:extLst>
                        <a:ext uri="{9D8B030D-6E8A-4147-A177-3AD203B41FA5}">
                          <a16:colId xmlns:a16="http://schemas.microsoft.com/office/drawing/2014/main" val="2928768163"/>
                        </a:ext>
                      </a:extLst>
                    </a:gridCol>
                  </a:tblGrid>
                  <a:tr h="44731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 smtClean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1538" t="-1351" r="-1154" b="-5932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51811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EC19 - Data de encerramento &lt; à data de início de funcionamento da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chemeClr val="accent1"/>
                              </a:solidFill>
                            </a:rPr>
                            <a:t>1</a:t>
                          </a:r>
                          <a:endParaRPr lang="pt-PT" sz="14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chemeClr val="accent1"/>
                              </a:solidFill>
                            </a:rPr>
                            <a:t>0%</a:t>
                          </a:r>
                          <a:endParaRPr lang="pt-PT" sz="14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5181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400" dirty="0"/>
                            <a:t>EI20 - Interveniente com códigos de domínio de Nacionalidade inválidos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51811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EC34 - Conta com Interveniente inexistente no sistema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66%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238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EI37 - Interveniente sem contas no sistema BCB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6.976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68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38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-99%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73147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400" dirty="0"/>
                            <a:t>EC38 - Titularidade/autorização de movimentação não encontrada (em registos ativos) numa tentativa de eliminação de relação entre conta e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65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98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-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10">
            <a:extLst>
              <a:ext uri="{FF2B5EF4-FFF2-40B4-BE49-F238E27FC236}">
                <a16:creationId xmlns:a16="http://schemas.microsoft.com/office/drawing/2014/main" id="{0E77F3D4-688A-4736-9D03-E191A2D4CED3}"/>
              </a:ext>
            </a:extLst>
          </p:cNvPr>
          <p:cNvSpPr txBox="1"/>
          <p:nvPr/>
        </p:nvSpPr>
        <p:spPr>
          <a:xfrm>
            <a:off x="686639" y="753795"/>
            <a:ext cx="10775891" cy="33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103"/>
            <a:r>
              <a:rPr lang="pt-PT" sz="1600" dirty="0">
                <a:solidFill>
                  <a:srgbClr val="6E7678"/>
                </a:solidFill>
                <a:latin typeface="Arial"/>
              </a:rPr>
              <a:t>Plano de correções iniciado em 2022 e que se prolongará até ao final de 2023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C535F8A3-A9EF-0049-5C4C-004D6791FAB5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21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40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>
                <a:latin typeface="Santander Headline" panose="020B0504020201020104" pitchFamily="34" charset="0"/>
              </a:rPr>
              <a:t>BCB – </a:t>
            </a:r>
            <a:r>
              <a:rPr lang="es-ES" sz="1934" dirty="0" err="1">
                <a:latin typeface="Santander Headline" panose="020B0504020201020104" pitchFamily="34" charset="0"/>
              </a:rPr>
              <a:t>Evolução</a:t>
            </a:r>
            <a:r>
              <a:rPr lang="es-ES" sz="1934" dirty="0">
                <a:latin typeface="Santander Headline" panose="020B0504020201020104" pitchFamily="34" charset="0"/>
              </a:rPr>
              <a:t> de avisos </a:t>
            </a:r>
            <a:r>
              <a:rPr lang="es-ES" sz="1934" dirty="0" err="1">
                <a:latin typeface="Santander Headline" panose="020B0504020201020104" pitchFamily="34" charset="0"/>
              </a:rPr>
              <a:t>na</a:t>
            </a:r>
            <a:r>
              <a:rPr lang="es-ES" sz="1934" dirty="0">
                <a:latin typeface="Santander Headline" panose="020B0504020201020104" pitchFamily="34" charset="0"/>
              </a:rPr>
              <a:t> </a:t>
            </a:r>
            <a:r>
              <a:rPr lang="es-ES" sz="1934" dirty="0" err="1">
                <a:latin typeface="Santander Headline" panose="020B0504020201020104" pitchFamily="34" charset="0"/>
              </a:rPr>
              <a:t>submissão</a:t>
            </a:r>
            <a:endParaRPr lang="es-ES" sz="1934" dirty="0">
              <a:solidFill>
                <a:srgbClr val="FF0000"/>
              </a:solidFill>
              <a:latin typeface="Santander Headline" panose="020B05040202010201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BAFD1812-77C8-48B9-A400-CC090C9AB15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7503" y="938973"/>
              <a:ext cx="11524190" cy="5302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6358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3323372969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4255139569"/>
                        </a:ext>
                      </a:extLst>
                    </a:gridCol>
                  </a:tblGrid>
                  <a:tr h="57901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%</a:t>
                          </a:r>
                          <a:r>
                            <a:rPr lang="pt-PT" sz="1600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PT" sz="1600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𝑨𝒃𝒓𝒊𝒍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PT" sz="1600" b="1" i="1" baseline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𝟐𝟎𝟐𝟐</m:t>
                                  </m:r>
                                </m:den>
                              </m:f>
                            </m:oMath>
                          </a14:m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3047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AF31 - Data de abertura de conta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396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595%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200" dirty="0"/>
                            <a:t>AF37 - Data início de titularidade/autorização de movimentação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279%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AF38 - Data fim de titularidade/autorização de movimentação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40%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047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AF36 - Data de encerramento de conta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95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AF30 - Data início de titularidade/autorização de movimentação anterior à data de abertura de conta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3.958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  <a:tr h="3047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AF28 - Data de encerramento de conta anterior à data de Abertura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7813374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AF32 - Data início de titularidade/autorização de movimentação anterior à data de nascimento do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434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101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-62%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3524008"/>
                      </a:ext>
                    </a:extLst>
                  </a:tr>
                  <a:tr h="3047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AF29 - Data fim de titularidade/autorização de movimentação anterior à data de início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70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-76%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589281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AF35 - Nome do interveniente diferente do que consta na tabela geral de pessoas coletivas do Banco de Portugal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454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443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-2%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673526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AF27 - Data fim de titularidade/autorização de movimentação anterior à data início de funcionamento da BCB.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6696067"/>
                      </a:ext>
                    </a:extLst>
                  </a:tr>
                  <a:tr h="4571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AF24 - Data fim de titularidade/autorização de movimentação anterior à data de nascimento do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00B050"/>
                              </a:solidFill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7877961"/>
                      </a:ext>
                    </a:extLst>
                  </a:tr>
                  <a:tr h="30472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AF25 - NIF/NIPC com check digit inválido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rgbClr val="C00000"/>
                              </a:solidFill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60238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2">
                <a:extLst>
                  <a:ext uri="{FF2B5EF4-FFF2-40B4-BE49-F238E27FC236}">
                    <a16:creationId xmlns:a16="http://schemas.microsoft.com/office/drawing/2014/main" id="{BAFD1812-77C8-48B9-A400-CC090C9AB153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327503" y="938973"/>
              <a:ext cx="11524190" cy="53029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36358">
                      <a:extLst>
                        <a:ext uri="{9D8B030D-6E8A-4147-A177-3AD203B41FA5}">
                          <a16:colId xmlns:a16="http://schemas.microsoft.com/office/drawing/2014/main" val="1572531527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1347627397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2603876454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3323372969"/>
                        </a:ext>
                      </a:extLst>
                    </a:gridCol>
                    <a:gridCol w="1271958">
                      <a:extLst>
                        <a:ext uri="{9D8B030D-6E8A-4147-A177-3AD203B41FA5}">
                          <a16:colId xmlns:a16="http://schemas.microsoft.com/office/drawing/2014/main" val="4255139569"/>
                        </a:ext>
                      </a:extLst>
                    </a:gridCol>
                  </a:tblGrid>
                  <a:tr h="57907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Casuística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Abril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>
                              <a:solidFill>
                                <a:schemeClr val="bg1"/>
                              </a:solidFill>
                            </a:rPr>
                            <a:t>Outubro 2022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PT" sz="1600" dirty="0" smtClean="0">
                              <a:solidFill>
                                <a:schemeClr val="bg1"/>
                              </a:solidFill>
                            </a:rPr>
                            <a:t>Abril 2023</a:t>
                          </a:r>
                          <a:endParaRPr lang="pt-PT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5742" t="-3158" r="-957" b="-8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1267248"/>
                      </a:ext>
                    </a:extLst>
                  </a:tr>
                  <a:tr h="3047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AF31 - Data de abertura de conta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57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396</a:t>
                          </a:r>
                          <a:endParaRPr lang="pt-PT" sz="1400" kern="1200" dirty="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595%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8174551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PT" sz="1200" dirty="0"/>
                            <a:t>AF37 - Data início de titularidade/autorização de movimentação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178</a:t>
                          </a:r>
                          <a:endParaRPr lang="pt-PT" sz="1400" kern="1200" dirty="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279%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2099020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AF38 - Data fim de titularidade/autorização de movimentação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10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31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40%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0891087"/>
                      </a:ext>
                    </a:extLst>
                  </a:tr>
                  <a:tr h="3047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AF36 - Data de encerramento de conta posterior ao último dia do mês de referência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95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68586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AF30 - Data início de titularidade/autorização de movimentação anterior à data de abertura de conta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3.958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3562873"/>
                      </a:ext>
                    </a:extLst>
                  </a:tr>
                  <a:tr h="3047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AF28 - Data de encerramento de conta anterior à data de Abertura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2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-100%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7813374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AF32 - Data início de titularidade/autorização de movimentação anterior à data de nascimento do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434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101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163</a:t>
                          </a:r>
                          <a:endParaRPr lang="pt-PT" sz="1400" kern="1200" dirty="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-62%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3524008"/>
                      </a:ext>
                    </a:extLst>
                  </a:tr>
                  <a:tr h="3047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AF29 - Data fim de titularidade/autorização de movimentação anterior à data de início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70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17</a:t>
                          </a:r>
                          <a:endParaRPr lang="pt-PT" sz="1400" kern="1200" dirty="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-76%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7589281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AF35 - Nome do interveniente diferente do que consta na tabela geral de pessoas coletivas do Banco de Portugal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454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1217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443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-2%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9673526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AF27 - Data fim de titularidade/autorização de movimentação anterior à data início de funcionamento da BCB.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pt-PT" sz="1400" kern="1200" dirty="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6696067"/>
                      </a:ext>
                    </a:extLst>
                  </a:tr>
                  <a:tr h="4571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AF24 - Data fim de titularidade/autorização de movimentação anterior à data de nascimento do interveniente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00B050"/>
                              </a:solidFill>
                            </a:rPr>
                            <a:t>-</a:t>
                          </a:r>
                          <a:endParaRPr lang="pt-PT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7877961"/>
                      </a:ext>
                    </a:extLst>
                  </a:tr>
                  <a:tr h="3047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PT" sz="1200" dirty="0"/>
                            <a:t>AF25 - NIF/NIPC com check digit inválido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/>
                            <a:t>0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r" defTabSz="914194" rtl="0" eaLnBrk="1" latinLnBrk="0" hangingPunct="1"/>
                          <a:r>
                            <a:rPr lang="pt-PT" sz="1400" kern="1200" dirty="0" smtClean="0">
                              <a:solidFill>
                                <a:srgbClr val="00B05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pt-PT" sz="1400" kern="1200" dirty="0">
                            <a:solidFill>
                              <a:srgbClr val="00B05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PT" sz="1400" dirty="0" smtClean="0">
                              <a:solidFill>
                                <a:srgbClr val="C00000"/>
                              </a:solidFill>
                            </a:rPr>
                            <a:t>-</a:t>
                          </a:r>
                          <a:endParaRPr lang="pt-PT" sz="1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91395" marR="91395" marT="45697" marB="4569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60238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10">
            <a:extLst>
              <a:ext uri="{FF2B5EF4-FFF2-40B4-BE49-F238E27FC236}">
                <a16:creationId xmlns:a16="http://schemas.microsoft.com/office/drawing/2014/main" id="{9D3A209A-F272-4FF4-AE3B-ECC32514DB26}"/>
              </a:ext>
            </a:extLst>
          </p:cNvPr>
          <p:cNvSpPr txBox="1"/>
          <p:nvPr/>
        </p:nvSpPr>
        <p:spPr>
          <a:xfrm>
            <a:off x="692374" y="600540"/>
            <a:ext cx="10775891" cy="338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103"/>
            <a:r>
              <a:rPr lang="pt-PT" sz="1600" dirty="0">
                <a:solidFill>
                  <a:srgbClr val="6E7678"/>
                </a:solidFill>
                <a:latin typeface="Arial"/>
              </a:rPr>
              <a:t>Plano de correções iniciado em 2022 e que se prolongará até ao final de 2023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EC13DFA2-B892-BFD1-30C0-99FFA6DE018C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22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97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Qualidade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9516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ráfico 9">
            <a:extLst>
              <a:ext uri="{FF2B5EF4-FFF2-40B4-BE49-F238E27FC236}">
                <a16:creationId xmlns:a16="http://schemas.microsoft.com/office/drawing/2014/main" id="{CD0808EA-148F-4823-9625-0CFAA8952964}"/>
              </a:ext>
            </a:extLst>
          </p:cNvPr>
          <p:cNvGraphicFramePr>
            <a:graphicFrameLocks/>
          </p:cNvGraphicFramePr>
          <p:nvPr/>
        </p:nvGraphicFramePr>
        <p:xfrm>
          <a:off x="4270516" y="1100356"/>
          <a:ext cx="3816000" cy="2329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número de diapositiva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1685" y="729937"/>
            <a:ext cx="3920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Indicadores Corporativos de Qualidade</a:t>
            </a:r>
          </a:p>
        </p:txBody>
      </p:sp>
      <p:sp>
        <p:nvSpPr>
          <p:cNvPr id="27" name="CaixaDeTexto 7">
            <a:extLst>
              <a:ext uri="{FF2B5EF4-FFF2-40B4-BE49-F238E27FC236}">
                <a16:creationId xmlns:a16="http://schemas.microsoft.com/office/drawing/2014/main" id="{C584E2F1-9C48-4AB7-B605-40CF8AE25A47}"/>
              </a:ext>
            </a:extLst>
          </p:cNvPr>
          <p:cNvSpPr txBox="1"/>
          <p:nvPr/>
        </p:nvSpPr>
        <p:spPr>
          <a:xfrm>
            <a:off x="4390881" y="727370"/>
            <a:ext cx="747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KPIs</a:t>
            </a: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selecionados</a:t>
            </a:r>
          </a:p>
        </p:txBody>
      </p:sp>
      <p:sp>
        <p:nvSpPr>
          <p:cNvPr id="28" name="CaixaDeTexto 7">
            <a:extLst>
              <a:ext uri="{FF2B5EF4-FFF2-40B4-BE49-F238E27FC236}">
                <a16:creationId xmlns:a16="http://schemas.microsoft.com/office/drawing/2014/main" id="{EBB215EA-9650-481A-940A-15E0C0C25D38}"/>
              </a:ext>
            </a:extLst>
          </p:cNvPr>
          <p:cNvSpPr txBox="1"/>
          <p:nvPr/>
        </p:nvSpPr>
        <p:spPr>
          <a:xfrm>
            <a:off x="4390881" y="3500756"/>
            <a:ext cx="747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Plano Data </a:t>
            </a:r>
            <a:r>
              <a:rPr kumimoji="0" lang="pt-PT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Quality</a:t>
            </a: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Revamp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225144-6BBF-464D-88E4-091938DFCAEE}"/>
              </a:ext>
            </a:extLst>
          </p:cNvPr>
          <p:cNvSpPr txBox="1"/>
          <p:nvPr/>
        </p:nvSpPr>
        <p:spPr>
          <a:xfrm>
            <a:off x="0" y="-13460"/>
            <a:ext cx="1219041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0" u="none" strike="noStrike" kern="1200" cap="none" spc="-1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Poppins" pitchFamily="2" charset="77"/>
              </a:rPr>
              <a:t>Indicadores de Qualidade</a:t>
            </a:r>
          </a:p>
        </p:txBody>
      </p:sp>
      <p:sp>
        <p:nvSpPr>
          <p:cNvPr id="18" name="CaixaDeTexto 7">
            <a:extLst>
              <a:ext uri="{FF2B5EF4-FFF2-40B4-BE49-F238E27FC236}">
                <a16:creationId xmlns:a16="http://schemas.microsoft.com/office/drawing/2014/main" id="{64A1A4B4-3DD9-42DE-8D7E-C77DC37569B6}"/>
              </a:ext>
            </a:extLst>
          </p:cNvPr>
          <p:cNvSpPr txBox="1"/>
          <p:nvPr/>
        </p:nvSpPr>
        <p:spPr>
          <a:xfrm>
            <a:off x="5544166" y="1652040"/>
            <a:ext cx="10174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Novo Objetivo:</a:t>
            </a:r>
          </a:p>
        </p:txBody>
      </p:sp>
      <p:graphicFrame>
        <p:nvGraphicFramePr>
          <p:cNvPr id="22" name="Gráfico 2">
            <a:extLst>
              <a:ext uri="{FF2B5EF4-FFF2-40B4-BE49-F238E27FC236}">
                <a16:creationId xmlns:a16="http://schemas.microsoft.com/office/drawing/2014/main" id="{9D4D5FC6-E41F-457C-B29D-9BAA7E464C67}"/>
              </a:ext>
            </a:extLst>
          </p:cNvPr>
          <p:cNvGraphicFramePr>
            <a:graphicFrameLocks/>
          </p:cNvGraphicFramePr>
          <p:nvPr/>
        </p:nvGraphicFramePr>
        <p:xfrm>
          <a:off x="149827" y="1100356"/>
          <a:ext cx="3763816" cy="2329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Gráfico 3">
            <a:extLst>
              <a:ext uri="{FF2B5EF4-FFF2-40B4-BE49-F238E27FC236}">
                <a16:creationId xmlns:a16="http://schemas.microsoft.com/office/drawing/2014/main" id="{BF7A0486-5C86-40FE-A6F4-E5EDF79A720D}"/>
              </a:ext>
            </a:extLst>
          </p:cNvPr>
          <p:cNvGraphicFramePr>
            <a:graphicFrameLocks/>
          </p:cNvGraphicFramePr>
          <p:nvPr/>
        </p:nvGraphicFramePr>
        <p:xfrm>
          <a:off x="149129" y="3825795"/>
          <a:ext cx="3764514" cy="2293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Gráfico 5">
            <a:extLst>
              <a:ext uri="{FF2B5EF4-FFF2-40B4-BE49-F238E27FC236}">
                <a16:creationId xmlns:a16="http://schemas.microsoft.com/office/drawing/2014/main" id="{D1E59D3F-099F-41F9-9E0B-7F2CE5FC251C}"/>
              </a:ext>
            </a:extLst>
          </p:cNvPr>
          <p:cNvGraphicFramePr>
            <a:graphicFrameLocks/>
          </p:cNvGraphicFramePr>
          <p:nvPr/>
        </p:nvGraphicFramePr>
        <p:xfrm>
          <a:off x="8224577" y="1100356"/>
          <a:ext cx="3813348" cy="2329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C03A2873-C1C0-4A23-801C-9CFB00815967}"/>
              </a:ext>
            </a:extLst>
          </p:cNvPr>
          <p:cNvGraphicFramePr>
            <a:graphicFrameLocks/>
          </p:cNvGraphicFramePr>
          <p:nvPr/>
        </p:nvGraphicFramePr>
        <p:xfrm>
          <a:off x="4270516" y="3825797"/>
          <a:ext cx="7767409" cy="229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6491189" y="4179521"/>
            <a:ext cx="619694" cy="518677"/>
            <a:chOff x="6385682" y="4194593"/>
            <a:chExt cx="619694" cy="518677"/>
          </a:xfrm>
        </p:grpSpPr>
        <p:pic>
          <p:nvPicPr>
            <p:cNvPr id="29" name="Imagem 34">
              <a:extLst>
                <a:ext uri="{FF2B5EF4-FFF2-40B4-BE49-F238E27FC236}">
                  <a16:creationId xmlns:a16="http://schemas.microsoft.com/office/drawing/2014/main" id="{FBDFEEB7-E210-49C9-B779-29BDA44FD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711" y="4415419"/>
              <a:ext cx="393636" cy="297851"/>
            </a:xfrm>
            <a:prstGeom prst="rect">
              <a:avLst/>
            </a:prstGeom>
          </p:spPr>
        </p:pic>
        <p:sp>
          <p:nvSpPr>
            <p:cNvPr id="30" name="CaixaDeTexto 35">
              <a:extLst>
                <a:ext uri="{FF2B5EF4-FFF2-40B4-BE49-F238E27FC236}">
                  <a16:creationId xmlns:a16="http://schemas.microsoft.com/office/drawing/2014/main" id="{5F4511C1-D3C9-4908-AD93-DF030C41F234}"/>
                </a:ext>
              </a:extLst>
            </p:cNvPr>
            <p:cNvSpPr txBox="1"/>
            <p:nvPr/>
          </p:nvSpPr>
          <p:spPr>
            <a:xfrm>
              <a:off x="6385682" y="4194593"/>
              <a:ext cx="619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2022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092079" y="1219912"/>
            <a:ext cx="0" cy="4778351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9341167" y="4071430"/>
            <a:ext cx="619694" cy="518677"/>
            <a:chOff x="6385682" y="4194593"/>
            <a:chExt cx="619694" cy="518677"/>
          </a:xfrm>
        </p:grpSpPr>
        <p:pic>
          <p:nvPicPr>
            <p:cNvPr id="38" name="Imagem 34">
              <a:extLst>
                <a:ext uri="{FF2B5EF4-FFF2-40B4-BE49-F238E27FC236}">
                  <a16:creationId xmlns:a16="http://schemas.microsoft.com/office/drawing/2014/main" id="{FBDFEEB7-E210-49C9-B779-29BDA44FD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711" y="4415419"/>
              <a:ext cx="393636" cy="297851"/>
            </a:xfrm>
            <a:prstGeom prst="rect">
              <a:avLst/>
            </a:prstGeom>
          </p:spPr>
        </p:pic>
        <p:sp>
          <p:nvSpPr>
            <p:cNvPr id="39" name="CaixaDeTexto 35">
              <a:extLst>
                <a:ext uri="{FF2B5EF4-FFF2-40B4-BE49-F238E27FC236}">
                  <a16:creationId xmlns:a16="http://schemas.microsoft.com/office/drawing/2014/main" id="{5F4511C1-D3C9-4908-AD93-DF030C41F234}"/>
                </a:ext>
              </a:extLst>
            </p:cNvPr>
            <p:cNvSpPr txBox="1"/>
            <p:nvPr/>
          </p:nvSpPr>
          <p:spPr>
            <a:xfrm>
              <a:off x="6385682" y="4194593"/>
              <a:ext cx="619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2023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1469722" y="3789491"/>
            <a:ext cx="619694" cy="518677"/>
            <a:chOff x="6385682" y="4194593"/>
            <a:chExt cx="619694" cy="518677"/>
          </a:xfrm>
        </p:grpSpPr>
        <p:pic>
          <p:nvPicPr>
            <p:cNvPr id="41" name="Imagem 34">
              <a:extLst>
                <a:ext uri="{FF2B5EF4-FFF2-40B4-BE49-F238E27FC236}">
                  <a16:creationId xmlns:a16="http://schemas.microsoft.com/office/drawing/2014/main" id="{FBDFEEB7-E210-49C9-B779-29BDA44FD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711" y="4415419"/>
              <a:ext cx="393636" cy="297851"/>
            </a:xfrm>
            <a:prstGeom prst="rect">
              <a:avLst/>
            </a:prstGeom>
          </p:spPr>
        </p:pic>
        <p:sp>
          <p:nvSpPr>
            <p:cNvPr id="42" name="CaixaDeTexto 35">
              <a:extLst>
                <a:ext uri="{FF2B5EF4-FFF2-40B4-BE49-F238E27FC236}">
                  <a16:creationId xmlns:a16="http://schemas.microsoft.com/office/drawing/2014/main" id="{5F4511C1-D3C9-4908-AD93-DF030C41F234}"/>
                </a:ext>
              </a:extLst>
            </p:cNvPr>
            <p:cNvSpPr txBox="1"/>
            <p:nvPr/>
          </p:nvSpPr>
          <p:spPr>
            <a:xfrm>
              <a:off x="6385682" y="4194593"/>
              <a:ext cx="619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2024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260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C49FCB2-DD78-1BA9-33FA-61DA8C3F831D}"/>
              </a:ext>
            </a:extLst>
          </p:cNvPr>
          <p:cNvGraphicFramePr/>
          <p:nvPr/>
        </p:nvGraphicFramePr>
        <p:xfrm>
          <a:off x="732962" y="1621597"/>
          <a:ext cx="1062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ítulo 1"/>
          <p:cNvSpPr txBox="1">
            <a:spLocks/>
          </p:cNvSpPr>
          <p:nvPr/>
        </p:nvSpPr>
        <p:spPr>
          <a:xfrm>
            <a:off x="639562" y="668130"/>
            <a:ext cx="10053838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Eventos de Qualidade de Dados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732962" y="1343119"/>
            <a:ext cx="10620000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6BCCE6-E440-11BE-866D-E5EACAEEED1D}"/>
              </a:ext>
            </a:extLst>
          </p:cNvPr>
          <p:cNvSpPr txBox="1"/>
          <p:nvPr/>
        </p:nvSpPr>
        <p:spPr>
          <a:xfrm>
            <a:off x="732962" y="4733985"/>
            <a:ext cx="10620000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Principais destaques do mês:</a:t>
            </a:r>
          </a:p>
          <a:p>
            <a:pPr marL="342900" marR="0" lvl="0" indent="-34290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 15 entradas em NOK destacam-se um total de 12 controlos corporativos de RRMM reportados com incidências desde o mês de fevereiro 2023, com atrasos no carregamento no </a:t>
            </a:r>
            <a:r>
              <a:rPr kumimoji="0" lang="pt-PT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Murex</a:t>
            </a: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/ Prisma. Adicionalmente, destacar 2 controlos locais de ALM, com variações de saldo </a:t>
            </a:r>
            <a:r>
              <a:rPr kumimoji="0" lang="pt-PT" sz="11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off</a:t>
            </a:r>
            <a:r>
              <a:rPr kumimoji="0" lang="pt-PT" sz="1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balance</a:t>
            </a: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</a:p>
          <a:p>
            <a:pPr marL="342900" marR="0" lvl="0" indent="-34290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 13 saídas de NOK destacam-se um total de 5 controlos locais de PBC com melhorias em qualidade, 3 de IFRS9 e ainda 1 de ALM.</a:t>
            </a:r>
          </a:p>
          <a:p>
            <a:pPr marL="342900" marR="0" lvl="0" indent="-34290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 Garantias foram implementados 5 novos controlos: 2 Corporativos sobre a data de escritura e 3 locais (2 sobre o preenchimento do ISIN para fundos e títulos nas tabelas de reporte e outro sobre a percentagem de rateio de cada registo na GT015).</a:t>
            </a:r>
          </a:p>
          <a:p>
            <a:pPr marL="342900" marR="0" lvl="0" indent="-34290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 destacar ainda que um dos controlos locais no módulo de Garantias não foi reportado pois encontra-se em revisão, tanto a regra de implementação do controlo, como a regra de preenchimento do campo na tabela origem (campo </a:t>
            </a:r>
            <a:r>
              <a:rPr kumimoji="0" lang="pt-PT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ctipocs</a:t>
            </a: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tipo de cobertura).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D2DA37-6041-152F-6C8F-210592E5ED16}"/>
              </a:ext>
            </a:extLst>
          </p:cNvPr>
          <p:cNvSpPr/>
          <p:nvPr/>
        </p:nvSpPr>
        <p:spPr>
          <a:xfrm>
            <a:off x="1710928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4,7%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11C27-59AC-752D-2EDB-54598204648D}"/>
              </a:ext>
            </a:extLst>
          </p:cNvPr>
          <p:cNvSpPr/>
          <p:nvPr/>
        </p:nvSpPr>
        <p:spPr>
          <a:xfrm>
            <a:off x="6196015" y="1782554"/>
            <a:ext cx="72000" cy="72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ED2CE0-46B9-9C83-9157-EF783EAE6139}"/>
              </a:ext>
            </a:extLst>
          </p:cNvPr>
          <p:cNvSpPr txBox="1"/>
          <p:nvPr/>
        </p:nvSpPr>
        <p:spPr>
          <a:xfrm>
            <a:off x="6232014" y="1673833"/>
            <a:ext cx="2340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 Eventos / # Controlos (%)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99C204-D295-3A4D-7CB8-B1066319971E}"/>
              </a:ext>
            </a:extLst>
          </p:cNvPr>
          <p:cNvSpPr/>
          <p:nvPr/>
        </p:nvSpPr>
        <p:spPr>
          <a:xfrm>
            <a:off x="3387919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4,2%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4EED5C-2366-C420-2974-C8F8CA4F0D6B}"/>
              </a:ext>
            </a:extLst>
          </p:cNvPr>
          <p:cNvSpPr/>
          <p:nvPr/>
        </p:nvSpPr>
        <p:spPr>
          <a:xfrm>
            <a:off x="5069826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4,1%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5F2F6-876C-78E1-CF9A-F2E19CB44C5F}"/>
              </a:ext>
            </a:extLst>
          </p:cNvPr>
          <p:cNvSpPr/>
          <p:nvPr/>
        </p:nvSpPr>
        <p:spPr>
          <a:xfrm>
            <a:off x="6751733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74738-9D72-73ED-F786-9EA3873ED8D9}"/>
              </a:ext>
            </a:extLst>
          </p:cNvPr>
          <p:cNvSpPr/>
          <p:nvPr/>
        </p:nvSpPr>
        <p:spPr>
          <a:xfrm>
            <a:off x="8433640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47B636-E3D3-11D7-1F2F-A9DDB155AC7F}"/>
              </a:ext>
            </a:extLst>
          </p:cNvPr>
          <p:cNvSpPr/>
          <p:nvPr/>
        </p:nvSpPr>
        <p:spPr>
          <a:xfrm>
            <a:off x="10115547" y="1920674"/>
            <a:ext cx="523875" cy="180000"/>
          </a:xfrm>
          <a:prstGeom prst="rect">
            <a:avLst/>
          </a:prstGeom>
          <a:noFill/>
          <a:ln w="3175">
            <a:solidFill>
              <a:srgbClr val="1AB2B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srgbClr val="13868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4,1%</a:t>
            </a:r>
          </a:p>
        </p:txBody>
      </p:sp>
      <p:graphicFrame>
        <p:nvGraphicFramePr>
          <p:cNvPr id="31" name="Table 10">
            <a:extLst>
              <a:ext uri="{FF2B5EF4-FFF2-40B4-BE49-F238E27FC236}">
                <a16:creationId xmlns:a16="http://schemas.microsoft.com/office/drawing/2014/main" id="{BB5C0364-E146-DEBF-DAA8-579AA91E57D9}"/>
              </a:ext>
            </a:extLst>
          </p:cNvPr>
          <p:cNvGraphicFramePr>
            <a:graphicFrameLocks noGrp="1"/>
          </p:cNvGraphicFramePr>
          <p:nvPr/>
        </p:nvGraphicFramePr>
        <p:xfrm>
          <a:off x="233006" y="3825791"/>
          <a:ext cx="11160000" cy="8640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887871">
                  <a:extLst>
                    <a:ext uri="{9D8B030D-6E8A-4147-A177-3AD203B41FA5}">
                      <a16:colId xmlns:a16="http://schemas.microsoft.com/office/drawing/2014/main" val="3622683740"/>
                    </a:ext>
                  </a:extLst>
                </a:gridCol>
                <a:gridCol w="1632129">
                  <a:extLst>
                    <a:ext uri="{9D8B030D-6E8A-4147-A177-3AD203B41FA5}">
                      <a16:colId xmlns:a16="http://schemas.microsoft.com/office/drawing/2014/main" val="396136353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74951002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7595010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564926454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463752518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20588118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pt-PT" sz="1000" b="1">
                          <a:solidFill>
                            <a:schemeClr val="tx1"/>
                          </a:solidFill>
                          <a:latin typeface="Arial (Body)"/>
                        </a:rPr>
                        <a:t># Controlos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tx1"/>
                          </a:solidFill>
                          <a:latin typeface="Arial (Body)"/>
                        </a:rPr>
                        <a:t>3163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tx1"/>
                          </a:solidFill>
                          <a:latin typeface="Arial (Body)"/>
                        </a:rPr>
                        <a:t>3243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tx1"/>
                          </a:solidFill>
                          <a:latin typeface="Arial (Body)"/>
                        </a:rPr>
                        <a:t>3248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tx1"/>
                          </a:solidFill>
                          <a:latin typeface="Arial (Body)"/>
                        </a:rPr>
                        <a:t>3255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tx1"/>
                          </a:solidFill>
                          <a:latin typeface="Arial (Body)"/>
                        </a:rPr>
                        <a:t>3203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tx1"/>
                          </a:solidFill>
                          <a:latin typeface="Arial (Body)"/>
                        </a:rPr>
                        <a:t>3204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41309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pt-PT" sz="1000" b="1">
                          <a:solidFill>
                            <a:schemeClr val="tx1"/>
                          </a:solidFill>
                        </a:rPr>
                        <a:t>Novos</a:t>
                      </a:r>
                      <a:endParaRPr lang="pt-PT" sz="1000" b="1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>
                          <a:solidFill>
                            <a:schemeClr val="tx1"/>
                          </a:solidFill>
                          <a:latin typeface="Arial (Body)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278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pt-PT" sz="1000" b="1">
                          <a:solidFill>
                            <a:schemeClr val="tx1"/>
                          </a:solidFill>
                        </a:rPr>
                        <a:t>Fechados</a:t>
                      </a:r>
                      <a:endParaRPr lang="pt-PT" sz="1000" b="1">
                        <a:solidFill>
                          <a:schemeClr val="tx1"/>
                        </a:solidFill>
                        <a:latin typeface="Arial (Body)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0" dirty="0">
                          <a:solidFill>
                            <a:schemeClr val="tx1"/>
                          </a:solidFill>
                          <a:latin typeface="Arial (Body)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13664"/>
                  </a:ext>
                </a:extLst>
              </a:tr>
            </a:tbl>
          </a:graphicData>
        </a:graphic>
      </p:graphicFrame>
      <p:sp>
        <p:nvSpPr>
          <p:cNvPr id="32" name="Oval 31">
            <a:extLst>
              <a:ext uri="{FF2B5EF4-FFF2-40B4-BE49-F238E27FC236}">
                <a16:creationId xmlns:a16="http://schemas.microsoft.com/office/drawing/2014/main" id="{50A0C083-E1F7-2DBB-1485-8FEE94C2438D}"/>
              </a:ext>
            </a:extLst>
          </p:cNvPr>
          <p:cNvSpPr/>
          <p:nvPr/>
        </p:nvSpPr>
        <p:spPr>
          <a:xfrm>
            <a:off x="3839794" y="4193833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C96A45-BC2A-690C-C039-52CDFCD78544}"/>
              </a:ext>
            </a:extLst>
          </p:cNvPr>
          <p:cNvSpPr/>
          <p:nvPr/>
        </p:nvSpPr>
        <p:spPr>
          <a:xfrm flipV="1">
            <a:off x="3839794" y="4488572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598263E-D170-D4AA-57B6-21556C81C793}"/>
              </a:ext>
            </a:extLst>
          </p:cNvPr>
          <p:cNvSpPr/>
          <p:nvPr/>
        </p:nvSpPr>
        <p:spPr>
          <a:xfrm>
            <a:off x="5516194" y="4193833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B6458D-BF64-942E-C95E-128456444276}"/>
              </a:ext>
            </a:extLst>
          </p:cNvPr>
          <p:cNvSpPr/>
          <p:nvPr/>
        </p:nvSpPr>
        <p:spPr>
          <a:xfrm flipV="1">
            <a:off x="5516194" y="4488572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11B163-B8FE-8C7B-7B8D-087B9EB4FC75}"/>
              </a:ext>
            </a:extLst>
          </p:cNvPr>
          <p:cNvSpPr/>
          <p:nvPr/>
        </p:nvSpPr>
        <p:spPr>
          <a:xfrm>
            <a:off x="7256504" y="4193833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E40D03-B676-A529-56AD-587D01BDDB15}"/>
              </a:ext>
            </a:extLst>
          </p:cNvPr>
          <p:cNvSpPr/>
          <p:nvPr/>
        </p:nvSpPr>
        <p:spPr>
          <a:xfrm flipV="1">
            <a:off x="7256504" y="4488572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D88E624-43BA-4BD1-0D7A-C8139EB4CC60}"/>
              </a:ext>
            </a:extLst>
          </p:cNvPr>
          <p:cNvSpPr/>
          <p:nvPr/>
        </p:nvSpPr>
        <p:spPr>
          <a:xfrm>
            <a:off x="8996814" y="4193833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70594C-4B56-4942-8D13-B774F8A3C5E1}"/>
              </a:ext>
            </a:extLst>
          </p:cNvPr>
          <p:cNvSpPr/>
          <p:nvPr/>
        </p:nvSpPr>
        <p:spPr>
          <a:xfrm flipV="1">
            <a:off x="8996814" y="4488572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C62EFB-A922-CA20-8B01-BA1DF639E5BA}"/>
              </a:ext>
            </a:extLst>
          </p:cNvPr>
          <p:cNvSpPr/>
          <p:nvPr/>
        </p:nvSpPr>
        <p:spPr>
          <a:xfrm>
            <a:off x="10737124" y="4193833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331EA6C-18A5-607A-300A-9CDDFF07ED6D}"/>
              </a:ext>
            </a:extLst>
          </p:cNvPr>
          <p:cNvSpPr/>
          <p:nvPr/>
        </p:nvSpPr>
        <p:spPr>
          <a:xfrm flipV="1">
            <a:off x="10737124" y="4488572"/>
            <a:ext cx="108000" cy="10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971962" y="421077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4" imgW="380880" imgH="781200" progId="Excel.SheetMacroEnabled.12">
                  <p:embed/>
                </p:oleObj>
              </mc:Choice>
              <mc:Fallback>
                <p:oleObj name="Macro-Enabled Worksheet" showAsIcon="1" r:id="rId4" imgW="380880" imgH="781200" progId="Excel.SheetMacroEnabled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71962" y="421077"/>
                        <a:ext cx="3810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32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6" y="6493271"/>
            <a:ext cx="2742843" cy="365077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ítulo 1"/>
          <p:cNvSpPr txBox="1">
            <a:spLocks/>
          </p:cNvSpPr>
          <p:nvPr/>
        </p:nvSpPr>
        <p:spPr>
          <a:xfrm>
            <a:off x="722150" y="732861"/>
            <a:ext cx="8885874" cy="2870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Não Prudenciais de Compliance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775821" y="338007"/>
            <a:ext cx="10757334" cy="304870"/>
          </a:xfrm>
        </p:spPr>
        <p:txBody>
          <a:bodyPr/>
          <a:lstStyle/>
          <a:p>
            <a:r>
              <a:rPr lang="pt-PT"/>
              <a:t>Qualidade de dados</a:t>
            </a:r>
          </a:p>
        </p:txBody>
      </p:sp>
      <p:pic>
        <p:nvPicPr>
          <p:cNvPr id="27" name="Graphic 26" descr="Magnifying glass with solid fill">
            <a:extLst>
              <a:ext uri="{FF2B5EF4-FFF2-40B4-BE49-F238E27FC236}">
                <a16:creationId xmlns:a16="http://schemas.microsoft.com/office/drawing/2014/main" id="{3FCCF93B-C6F0-4733-9890-3310A142DFB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4392" y="1360060"/>
            <a:ext cx="199000" cy="199000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EA6D7D0-F0D7-4D6C-B4C2-723C8A0BBB06}"/>
              </a:ext>
            </a:extLst>
          </p:cNvPr>
          <p:cNvGraphicFramePr>
            <a:graphicFrameLocks noGrp="1"/>
          </p:cNvGraphicFramePr>
          <p:nvPr/>
        </p:nvGraphicFramePr>
        <p:xfrm>
          <a:off x="647100" y="3856331"/>
          <a:ext cx="10986881" cy="1495417"/>
        </p:xfrm>
        <a:graphic>
          <a:graphicData uri="http://schemas.openxmlformats.org/drawingml/2006/table">
            <a:tbl>
              <a:tblPr/>
              <a:tblGrid>
                <a:gridCol w="4501675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52026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892368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844062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1153550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34619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T="46177" marB="461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T="46177" marB="461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T="46177" marB="461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T="46177" marB="4617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3005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EB0000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 </a:t>
                      </a:r>
                      <a:r>
                        <a:rPr lang="pt-PT" sz="1000" b="0" i="1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Mystery</a:t>
                      </a:r>
                      <a:r>
                        <a:rPr lang="pt-PT" sz="1000" b="0" i="1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pt-PT" sz="1000" b="0" i="1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Shooping</a:t>
                      </a:r>
                      <a:r>
                        <a:rPr lang="pt-PT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 - 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GGS.</a:t>
                      </a:r>
                      <a:r>
                        <a:rPr lang="pt-PT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NP.30556; 30557; 30559 &amp; 30560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31/12/2022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Compl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verifica com as áreas o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mot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. atraso</a:t>
                      </a: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30/06/2023</a:t>
                      </a: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Cust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.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Care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-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Comp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430388"/>
                  </a:ext>
                </a:extLst>
              </a:tr>
              <a:tr h="30053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EB0000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 </a:t>
                      </a:r>
                      <a:r>
                        <a:rPr lang="pt-PT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Carregamento</a:t>
                      </a:r>
                      <a:r>
                        <a:rPr lang="pt-PT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 com dias em atraso - 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GGS.NP.30552 &amp; 30553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30/09/2022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" marR="9525" marT="9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Compl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 verifica com as áreas o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mot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. atraso</a:t>
                      </a: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31/03/2023</a:t>
                      </a: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C. Op. Rede - </a:t>
                      </a: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Comp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3" marR="9523" marT="9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29044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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KPI’ de validação adicionais GGS.NP.30595; 30596; 30597; 30598; 30599; 30600; 30601; 30602; 30603; 30604;</a:t>
                      </a:r>
                      <a:r>
                        <a:rPr lang="pt-PT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30605</a:t>
                      </a:r>
                      <a:r>
                        <a:rPr lang="pt-PT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&amp; 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30606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31/07/2022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projecto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inclusão no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Solfront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 e GTI Arte, alguns </a:t>
                      </a: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KPI’s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de validações adicionais vão ser alterados /retirados pela corporação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31/12/2023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Comp</a:t>
                      </a:r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- Corporação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2315978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60CBC23-BD09-4251-8EA5-7E8ED428DC2F}"/>
              </a:ext>
            </a:extLst>
          </p:cNvPr>
          <p:cNvGraphicFramePr>
            <a:graphicFrameLocks/>
          </p:cNvGraphicFramePr>
          <p:nvPr/>
        </p:nvGraphicFramePr>
        <p:xfrm>
          <a:off x="4417249" y="1360060"/>
          <a:ext cx="6931316" cy="2429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ounded Rectangle 36">
            <a:extLst>
              <a:ext uri="{FF2B5EF4-FFF2-40B4-BE49-F238E27FC236}">
                <a16:creationId xmlns:a16="http://schemas.microsoft.com/office/drawing/2014/main" id="{983C0510-CCF3-4538-B35F-6C5D36ADF073}"/>
              </a:ext>
            </a:extLst>
          </p:cNvPr>
          <p:cNvSpPr/>
          <p:nvPr/>
        </p:nvSpPr>
        <p:spPr>
          <a:xfrm>
            <a:off x="4417249" y="1383722"/>
            <a:ext cx="6931316" cy="250167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8795A0-B417-4CFB-8EF8-A693A2EC3191}"/>
              </a:ext>
            </a:extLst>
          </p:cNvPr>
          <p:cNvGraphicFramePr>
            <a:graphicFrameLocks noGrp="1"/>
          </p:cNvGraphicFramePr>
          <p:nvPr/>
        </p:nvGraphicFramePr>
        <p:xfrm>
          <a:off x="647101" y="1383723"/>
          <a:ext cx="3585545" cy="2052531"/>
        </p:xfrm>
        <a:graphic>
          <a:graphicData uri="http://schemas.openxmlformats.org/drawingml/2006/table">
            <a:tbl>
              <a:tblPr/>
              <a:tblGrid>
                <a:gridCol w="1406782">
                  <a:extLst>
                    <a:ext uri="{9D8B030D-6E8A-4147-A177-3AD203B41FA5}">
                      <a16:colId xmlns:a16="http://schemas.microsoft.com/office/drawing/2014/main" val="3238628835"/>
                    </a:ext>
                  </a:extLst>
                </a:gridCol>
                <a:gridCol w="1196783">
                  <a:extLst>
                    <a:ext uri="{9D8B030D-6E8A-4147-A177-3AD203B41FA5}">
                      <a16:colId xmlns:a16="http://schemas.microsoft.com/office/drawing/2014/main" val="733464651"/>
                    </a:ext>
                  </a:extLst>
                </a:gridCol>
                <a:gridCol w="981980">
                  <a:extLst>
                    <a:ext uri="{9D8B030D-6E8A-4147-A177-3AD203B41FA5}">
                      <a16:colId xmlns:a16="http://schemas.microsoft.com/office/drawing/2014/main" val="128092442"/>
                    </a:ext>
                  </a:extLst>
                </a:gridCol>
              </a:tblGrid>
              <a:tr h="277388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Março 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45200"/>
                  </a:ext>
                </a:extLst>
              </a:tr>
              <a:tr h="442170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Controlos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54938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8974509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 </a:t>
                      </a:r>
                      <a:r>
                        <a:rPr lang="pt-P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199020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 </a:t>
                      </a:r>
                      <a:r>
                        <a:rPr lang="pt-P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69366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415198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323839"/>
                  </a:ext>
                </a:extLst>
              </a:tr>
              <a:tr h="221086"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62933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E795530-E6E9-4AF0-A02A-C90EA83C58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01338" y="542645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380652" imgH="781258" progId="Excel.Sheet.12">
                  <p:embed/>
                </p:oleObj>
              </mc:Choice>
              <mc:Fallback>
                <p:oleObj name="Worksheet" showAsIcon="1" r:id="rId6" imgW="380652" imgH="781258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4E795530-E6E9-4AF0-A02A-C90EA83C5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01338" y="542645"/>
                        <a:ext cx="3810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303AAD-3FBA-456E-A09E-AF5E75B19A57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47100" y="3446585"/>
            <a:ext cx="41660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*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Resultado não aplicável aos Controlos Não Prudenciais de </a:t>
            </a:r>
            <a:r>
              <a:rPr kumimoji="0" lang="pt-PT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Compliance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</a:t>
            </a:r>
            <a:endParaRPr kumimoji="0" lang="pt-PT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59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92%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639562" y="702068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Contas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F3B7E4A-70DC-40F7-AF47-280932CC1CBE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817145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390437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com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Saldo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Disponivel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registado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como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Passivo</a:t>
                      </a:r>
                      <a:endParaRPr lang="pt-PT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Dezembro/22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1 250 (4,50%)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 Análise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BDAE89E-F6AB-4BB2-8058-9DB20478D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6913" y="598488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652" imgH="781258" progId="Excel.Sheet.12">
                  <p:embed/>
                </p:oleObj>
              </mc:Choice>
              <mc:Fallback>
                <p:oleObj name="Worksheet" showAsIcon="1" r:id="rId3" imgW="380652" imgH="781258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BDAE89E-F6AB-4BB2-8058-9DB20478D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56913" y="598488"/>
                        <a:ext cx="3810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7BC2975C-E920-4D06-A422-13177FDBF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19" y="3552138"/>
            <a:ext cx="213032" cy="28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4286280-83AD-4367-90B6-5AC2506E7085}"/>
              </a:ext>
            </a:extLst>
          </p:cNvPr>
          <p:cNvSpPr txBox="1"/>
          <p:nvPr/>
        </p:nvSpPr>
        <p:spPr>
          <a:xfrm>
            <a:off x="748136" y="3570813"/>
            <a:ext cx="4295884" cy="252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1 </a:t>
            </a:r>
          </a:p>
        </p:txBody>
      </p: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169B634B-6BDE-4F5E-A52A-967E8AF1CD7C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AF16EAE5-FE2B-42FA-BE0B-8F8CE02DDA66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(7%)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D36886-2D68-402B-AEC6-F6C23423962D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(7%)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01A1CC7-5F5B-4505-8560-A23521DADE3D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(5%)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9CAB64-85E0-4427-B1F8-002C9313C863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(5%)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31F8C6-03D3-435A-95CD-5A1F5C432A76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(4%)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77634D-30C0-4CA3-B620-59988BB9C44B}"/>
              </a:ext>
            </a:extLst>
          </p:cNvPr>
          <p:cNvCxnSpPr>
            <a:cxnSpLocks/>
          </p:cNvCxnSpPr>
          <p:nvPr/>
        </p:nvCxnSpPr>
        <p:spPr>
          <a:xfrm>
            <a:off x="6632143" y="1877356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06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8995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pt-PT" sz="1200" b="0" i="0" u="none" strike="noStrike" kern="1200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Riscos de Modelos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/>
              <a:t>Qualidade de dados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264F5D-7A7C-4449-A46E-1C011B45ED22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2430143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58663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2526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60239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47777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47074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4924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81046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102844"/>
                  </a:ext>
                </a:extLst>
              </a:tr>
              <a:tr h="25383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5091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26453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9DBE84-E6FF-4F2B-B56B-BCA36725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874924-4436-4CA6-93B7-B4395766B02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C3B0297-64FB-4073-8748-4D8B659D2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93400" y="534988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652" imgH="781258" progId="Excel.Sheet.12">
                  <p:embed/>
                </p:oleObj>
              </mc:Choice>
              <mc:Fallback>
                <p:oleObj name="Worksheet" showAsIcon="1" r:id="rId4" imgW="380652" imgH="781258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C3B0297-64FB-4073-8748-4D8B659D25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93400" y="534988"/>
                        <a:ext cx="3810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237C4AF-B66E-4560-83FE-8635F10917D4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04634B-7060-44CC-A2BC-DD1402E24AAD}"/>
              </a:ext>
            </a:extLst>
          </p:cNvPr>
          <p:cNvCxnSpPr>
            <a:cxnSpLocks/>
          </p:cNvCxnSpPr>
          <p:nvPr/>
        </p:nvCxnSpPr>
        <p:spPr>
          <a:xfrm>
            <a:off x="6698030" y="1892413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26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7802" y="6491058"/>
            <a:ext cx="2740859" cy="364813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37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37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4901" y="1344630"/>
          <a:ext cx="3373522" cy="1998275"/>
        </p:xfrm>
        <a:graphic>
          <a:graphicData uri="http://schemas.openxmlformats.org/drawingml/2006/table">
            <a:tbl>
              <a:tblPr/>
              <a:tblGrid>
                <a:gridCol w="111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381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2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3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88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582467" y="734811"/>
            <a:ext cx="8879449" cy="2868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38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Riscos de Operacionais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41536" y="279234"/>
            <a:ext cx="10749555" cy="304648"/>
          </a:xfrm>
        </p:spPr>
        <p:txBody>
          <a:bodyPr/>
          <a:lstStyle/>
          <a:p>
            <a:r>
              <a:rPr lang="pt-PT"/>
              <a:t>Qualidade de dados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9049" y="1343873"/>
            <a:ext cx="6970265" cy="2342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5" tIns="45697" rIns="91395" bIns="456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264F5D-7A7C-4449-A46E-1C011B45ED22}"/>
              </a:ext>
            </a:extLst>
          </p:cNvPr>
          <p:cNvGraphicFramePr>
            <a:graphicFrameLocks noGrp="1"/>
          </p:cNvGraphicFramePr>
          <p:nvPr/>
        </p:nvGraphicFramePr>
        <p:xfrm>
          <a:off x="734902" y="3822924"/>
          <a:ext cx="10604413" cy="2518896"/>
        </p:xfrm>
        <a:graphic>
          <a:graphicData uri="http://schemas.openxmlformats.org/drawingml/2006/table">
            <a:tbl>
              <a:tblPr/>
              <a:tblGrid>
                <a:gridCol w="432982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378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2772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7873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6947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616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3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283803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Montante do impacto – verifica se o que esta em sistema está de acordo com documento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31/12/2022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40 (0,34%)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Operações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SAMP fora do perímetro – a verificar com a Corporação.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Risco Operacional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586639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25269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602394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477773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470748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49243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810461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102844"/>
                  </a:ext>
                </a:extLst>
              </a:tr>
              <a:tr h="253743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50919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26453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9DBE84-E6FF-4F2B-B56B-BCA36725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01" y="3567147"/>
            <a:ext cx="213032" cy="28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874924-4436-4CA6-93B7-B4395766B02A}"/>
              </a:ext>
            </a:extLst>
          </p:cNvPr>
          <p:cNvSpPr txBox="1"/>
          <p:nvPr/>
        </p:nvSpPr>
        <p:spPr>
          <a:xfrm>
            <a:off x="854652" y="3570813"/>
            <a:ext cx="6201913" cy="246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C3B0297-64FB-4073-8748-4D8B659D2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91738" y="536036"/>
          <a:ext cx="380862" cy="780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652" imgH="781258" progId="Excel.Sheet.12">
                  <p:embed/>
                </p:oleObj>
              </mc:Choice>
              <mc:Fallback>
                <p:oleObj name="Worksheet" showAsIcon="1" r:id="rId4" imgW="380652" imgH="781258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C3B0297-64FB-4073-8748-4D8B659D25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91738" y="536036"/>
                        <a:ext cx="380862" cy="780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237C4AF-B66E-4560-83FE-8635F10917D4}"/>
              </a:ext>
            </a:extLst>
          </p:cNvPr>
          <p:cNvGraphicFramePr/>
          <p:nvPr/>
        </p:nvGraphicFramePr>
        <p:xfrm>
          <a:off x="4354331" y="1346241"/>
          <a:ext cx="7101181" cy="2377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04634B-7060-44CC-A2BC-DD1402E24AAD}"/>
              </a:ext>
            </a:extLst>
          </p:cNvPr>
          <p:cNvCxnSpPr>
            <a:cxnSpLocks/>
          </p:cNvCxnSpPr>
          <p:nvPr/>
        </p:nvCxnSpPr>
        <p:spPr>
          <a:xfrm>
            <a:off x="6697812" y="1892969"/>
            <a:ext cx="0" cy="167417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9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8192" y="493983"/>
            <a:ext cx="3226918" cy="242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PT" sz="1216" dirty="0">
                <a:solidFill>
                  <a:schemeClr val="accent1"/>
                </a:solidFill>
              </a:rPr>
              <a:t>Qualidade de Dados (KPI)</a:t>
            </a:r>
            <a:r>
              <a:rPr lang="es-ES" b="1" dirty="0"/>
              <a:t>					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194" y="736653"/>
            <a:ext cx="2703433" cy="299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813" marR="0" lvl="1" indent="0" algn="l" defTabSz="88368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81"/>
              </a:spcAft>
              <a:buClr>
                <a:srgbClr val="FF0000"/>
              </a:buClr>
              <a:buSzPct val="70000"/>
              <a:buFontTx/>
              <a:buNone/>
              <a:tabLst/>
              <a:defRPr/>
            </a:pPr>
            <a:r>
              <a:rPr kumimoji="0" lang="pt-PT" sz="1496" b="1" i="0" u="none" strike="noStrike" kern="1200" cap="none" spc="0" normalizeH="0" baseline="0" noProof="0" dirty="0">
                <a:ln>
                  <a:noFill/>
                </a:ln>
                <a:solidFill>
                  <a:srgbClr val="6E767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Resumo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AB2A486-E4D3-4079-8898-B30DA5530023}"/>
              </a:ext>
            </a:extLst>
          </p:cNvPr>
          <p:cNvGraphicFramePr/>
          <p:nvPr/>
        </p:nvGraphicFramePr>
        <p:xfrm>
          <a:off x="4365110" y="1497844"/>
          <a:ext cx="6870032" cy="2300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08616" y="1541268"/>
          <a:ext cx="3263712" cy="1933292"/>
        </p:xfrm>
        <a:graphic>
          <a:graphicData uri="http://schemas.openxmlformats.org/drawingml/2006/table">
            <a:tbl>
              <a:tblPr/>
              <a:tblGrid>
                <a:gridCol w="107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82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18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</a:p>
                  </a:txBody>
                  <a:tcPr marL="6141" marR="6141" marT="6141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424469" y="1540536"/>
            <a:ext cx="6743378" cy="226576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420" tIns="44210" rIns="88420" bIns="442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54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Mensal</a:t>
            </a:r>
            <a:endParaRPr kumimoji="0" lang="en-US" sz="135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E3815-B2B2-4901-B097-3283615ADD65}"/>
              </a:ext>
            </a:extLst>
          </p:cNvPr>
          <p:cNvSpPr/>
          <p:nvPr/>
        </p:nvSpPr>
        <p:spPr>
          <a:xfrm>
            <a:off x="5691479" y="3094634"/>
            <a:ext cx="591865" cy="226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(26%)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045A3-F35D-415C-9C76-966719BCD9CF}"/>
              </a:ext>
            </a:extLst>
          </p:cNvPr>
          <p:cNvSpPr/>
          <p:nvPr/>
        </p:nvSpPr>
        <p:spPr>
          <a:xfrm>
            <a:off x="6948978" y="3113651"/>
            <a:ext cx="522234" cy="22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7 (7%)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E65687-9E41-4719-A85E-15FB64550B78}"/>
              </a:ext>
            </a:extLst>
          </p:cNvPr>
          <p:cNvSpPr/>
          <p:nvPr/>
        </p:nvSpPr>
        <p:spPr>
          <a:xfrm>
            <a:off x="8205626" y="3127913"/>
            <a:ext cx="522234" cy="22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(3%)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E65687-9E41-4719-A85E-15FB64550B78}"/>
              </a:ext>
            </a:extLst>
          </p:cNvPr>
          <p:cNvSpPr/>
          <p:nvPr/>
        </p:nvSpPr>
        <p:spPr>
          <a:xfrm>
            <a:off x="9459789" y="3127913"/>
            <a:ext cx="522234" cy="22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(3%)</a:t>
            </a:r>
          </a:p>
        </p:txBody>
      </p:sp>
      <p:sp>
        <p:nvSpPr>
          <p:cNvPr id="22" name="TextBox 5"/>
          <p:cNvSpPr txBox="1"/>
          <p:nvPr/>
        </p:nvSpPr>
        <p:spPr>
          <a:xfrm>
            <a:off x="908615" y="5067398"/>
            <a:ext cx="10259231" cy="1160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74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 incidências relativas aos dois primeiros controlos indicados no quadro acima (Capital_KPI_017 e Capital_KPI_018) já foram analisados pela equipa de Capital e conclui-se que é necessária a atualização dos critérios de identificação das incidências. A atualização destes critérios já foi solicitada ao CDO e aguardamos a sua implementação.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 txBox="1">
            <a:spLocks/>
          </p:cNvSpPr>
          <p:nvPr/>
        </p:nvSpPr>
        <p:spPr>
          <a:xfrm>
            <a:off x="8139592" y="333729"/>
            <a:ext cx="3556286" cy="265324"/>
          </a:xfrm>
          <a:prstGeom prst="rect">
            <a:avLst/>
          </a:prstGeom>
        </p:spPr>
        <p:txBody>
          <a:bodyPr/>
          <a:lstStyle>
            <a:lvl1pPr marL="228438" indent="-228438" algn="l" defTabSz="91375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313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189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061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937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812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687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6563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3438" indent="-228438" algn="l" defTabSz="913751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883689" rtl="0" eaLnBrk="1" fontAlgn="auto" latinLnBrk="0" hangingPunct="1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354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Gabinete de Cálculo e Reporte de Capital</a:t>
            </a:r>
            <a:endParaRPr kumimoji="0" lang="es-ES" sz="1354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415" y="222368"/>
            <a:ext cx="1821342" cy="3508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i="1" dirty="0">
                <a:solidFill>
                  <a:schemeClr val="accent1"/>
                </a:solidFill>
                <a:latin typeface="Santander Headline" panose="020B0504020201020104" pitchFamily="34" charset="0"/>
              </a:rPr>
              <a:t>Gestão da BDR</a:t>
            </a:r>
            <a:endParaRPr lang="es-ES" sz="1934" i="1" dirty="0">
              <a:latin typeface="Santander Headline" panose="020B05040202010201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65687-9E41-4719-A85E-15FB64550B78}"/>
              </a:ext>
            </a:extLst>
          </p:cNvPr>
          <p:cNvSpPr/>
          <p:nvPr/>
        </p:nvSpPr>
        <p:spPr>
          <a:xfrm>
            <a:off x="10714451" y="3087895"/>
            <a:ext cx="522234" cy="226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77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5 (5%)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15" y="3821789"/>
            <a:ext cx="10328728" cy="1212228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0317179" y="765410"/>
          <a:ext cx="884316" cy="779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4" imgW="914400" imgH="806400" progId="Excel.SheetMacroEnabled.12">
                  <p:embed/>
                </p:oleObj>
              </mc:Choice>
              <mc:Fallback>
                <p:oleObj name="Macro-Enabled Worksheet" showAsIcon="1" r:id="rId4" imgW="914400" imgH="806400" progId="Excel.SheetMacroEnabled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17179" y="765410"/>
                        <a:ext cx="884316" cy="779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7854817" y="314770"/>
            <a:ext cx="2214824" cy="607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ATUALIZAR – PI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6EEEEC1-6ECC-C560-F358-99A05759BE9C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defPPr>
              <a:defRPr lang="es-ES"/>
            </a:defPPr>
            <a:lvl1pPr marL="0" algn="r" defTabSz="914377" rtl="0" eaLnBrk="1" latinLnBrk="0" hangingPunct="1">
              <a:defRPr sz="116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30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791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7802" y="6491058"/>
            <a:ext cx="2740859" cy="364813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37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37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ítulo 1"/>
          <p:cNvSpPr txBox="1">
            <a:spLocks/>
          </p:cNvSpPr>
          <p:nvPr/>
        </p:nvSpPr>
        <p:spPr>
          <a:xfrm>
            <a:off x="641536" y="724677"/>
            <a:ext cx="8879449" cy="2868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38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Garantias – Não Aplicáveis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41536" y="279234"/>
            <a:ext cx="10749555" cy="304648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E759AA6-1024-4272-844C-E5614A6B0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22166" y="645682"/>
          <a:ext cx="380950" cy="806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753" imgH="806311" progId="Excel.Sheet.12">
                  <p:embed/>
                </p:oleObj>
              </mc:Choice>
              <mc:Fallback>
                <p:oleObj name="Worksheet" showAsIcon="1" r:id="rId3" imgW="380753" imgH="806311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DE759AA6-1024-4272-844C-E5614A6B0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2166" y="645682"/>
                        <a:ext cx="380950" cy="806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2CB0B4-2EBD-4B13-971E-ED740A995D7B}"/>
              </a:ext>
            </a:extLst>
          </p:cNvPr>
          <p:cNvGraphicFramePr>
            <a:graphicFrameLocks noGrp="1"/>
          </p:cNvGraphicFramePr>
          <p:nvPr/>
        </p:nvGraphicFramePr>
        <p:xfrm>
          <a:off x="641536" y="2104185"/>
          <a:ext cx="10604414" cy="2337941"/>
        </p:xfrm>
        <a:graphic>
          <a:graphicData uri="http://schemas.openxmlformats.org/drawingml/2006/table">
            <a:tbl>
              <a:tblPr/>
              <a:tblGrid>
                <a:gridCol w="432982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378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5440209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</a:tblGrid>
              <a:tr h="485048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2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Universo não aplicabilidade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Número Controlos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Principais Justificações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852893">
                <a:tc>
                  <a:txBody>
                    <a:bodyPr/>
                    <a:lstStyle/>
                    <a:p>
                      <a:pPr lvl="0" algn="ctr" fontAlgn="ctr"/>
                      <a:r>
                        <a:rPr lang="pt-PT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Controlos corporativos sobre dados de garantias</a:t>
                      </a:r>
                      <a:endParaRPr lang="pt-PT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pt-P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KPI’s</a:t>
                      </a:r>
                      <a:r>
                        <a:rPr lang="pt-PT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estão relacionados com o valor de escritura da hipoteca.</a:t>
                      </a:r>
                    </a:p>
                    <a:p>
                      <a:pPr marL="0" indent="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pt-PT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PT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banco, o valor da hipoteca não é um valor fixo, é um valor que pode variar em função de várias rúbricas que cobre (capital em dívida, juros de mora, encargos contratuais, …).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Assim não é possível calcular um valor exato como</a:t>
                      </a:r>
                      <a:r>
                        <a:rPr lang="pt-PT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valor da hipoteca.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254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1DC232-9BAD-402B-B059-3A4F2844ADCA}"/>
              </a:ext>
            </a:extLst>
          </p:cNvPr>
          <p:cNvSpPr txBox="1"/>
          <p:nvPr/>
        </p:nvSpPr>
        <p:spPr>
          <a:xfrm>
            <a:off x="641535" y="1345877"/>
            <a:ext cx="10591769" cy="307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09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KPI’s para aprovação do fórum da não aplicabilidade no scope de Portugal. </a:t>
            </a:r>
          </a:p>
        </p:txBody>
      </p:sp>
    </p:spTree>
    <p:extLst>
      <p:ext uri="{BB962C8B-B14F-4D97-AF65-F5344CB8AC3E}">
        <p14:creationId xmlns:p14="http://schemas.microsoft.com/office/powerpoint/2010/main" val="26054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FFA4E304-B1E9-44D6-B69D-AF2796AF8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245" y="337178"/>
            <a:ext cx="10757334" cy="304870"/>
          </a:xfrm>
        </p:spPr>
        <p:txBody>
          <a:bodyPr/>
          <a:lstStyle/>
          <a:p>
            <a:r>
              <a:rPr lang="pt-PT">
                <a:latin typeface="Santander Headline" panose="020B0504020201020104" pitchFamily="34" charset="0"/>
              </a:rPr>
              <a:t>Qualidade de dados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FDCBD02-57C9-42B2-90D8-AEC89E37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1736" y="6339447"/>
            <a:ext cx="2742843" cy="365210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300" b="0" i="0" u="none" strike="noStrike" kern="1200" cap="none" spc="0" normalizeH="0" baseline="0" noProof="0" smtClean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s-ES" sz="1300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89525D27-4757-4872-B7ED-2133AF850CDA}"/>
              </a:ext>
            </a:extLst>
          </p:cNvPr>
          <p:cNvSpPr txBox="1">
            <a:spLocks/>
          </p:cNvSpPr>
          <p:nvPr/>
        </p:nvSpPr>
        <p:spPr>
          <a:xfrm>
            <a:off x="762821" y="2482424"/>
            <a:ext cx="10735933" cy="1664717"/>
          </a:xfrm>
          <a:prstGeom prst="rect">
            <a:avLst/>
          </a:prstGeom>
        </p:spPr>
        <p:txBody>
          <a:bodyPr vert="horz" lIns="91372" tIns="45685" rIns="91372" bIns="45685" rtlCol="0" anchor="t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21" marR="0" lvl="0" indent="-285721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Impeditivo Pool Cedidas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– Eliminação de universo de clientes com impeditivo das Pool Cedidas.  Implementação 1º trimestre de 2023; 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21" marR="0" lvl="0" indent="-285721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Impeditivos Fatca e CRS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– Novas regras dos impeditivos FATCA e CRS.  Implementação  1º trimesttre de 2023;</a:t>
            </a: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21" marR="0" lvl="0" indent="-285721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Impeditivo Pais Naturalidade e Nacionalidade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– Em desenvolvimento de sofftware para intervenção da Naturalidade e Nacionalidade. Data de entrega ainda por definir por IT;</a:t>
            </a:r>
          </a:p>
          <a:p>
            <a:pPr marL="285721" marR="0" lvl="0" indent="-285721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Impeditivos documentais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–  solicitação á rede ac olaboração para uniformização de dados em subset de universo de clientes com crédito (em curso)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C9CA679-5980-468D-BEBA-9EE65F9317E2}"/>
              </a:ext>
            </a:extLst>
          </p:cNvPr>
          <p:cNvSpPr txBox="1"/>
          <p:nvPr/>
        </p:nvSpPr>
        <p:spPr>
          <a:xfrm>
            <a:off x="727245" y="637412"/>
            <a:ext cx="7118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1. Evolução da fusão de clientes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8EFC6B0-AC02-48A3-9EC1-40F633BB7DFF}"/>
              </a:ext>
            </a:extLst>
          </p:cNvPr>
          <p:cNvSpPr txBox="1"/>
          <p:nvPr/>
        </p:nvSpPr>
        <p:spPr>
          <a:xfrm>
            <a:off x="708513" y="2279975"/>
            <a:ext cx="4315068" cy="307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Ações em curso / Próximas ações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D7954650-7927-484E-979B-E724237044D1}"/>
              </a:ext>
            </a:extLst>
          </p:cNvPr>
          <p:cNvSpPr/>
          <p:nvPr/>
        </p:nvSpPr>
        <p:spPr>
          <a:xfrm>
            <a:off x="759566" y="5241523"/>
            <a:ext cx="1390765" cy="286005"/>
          </a:xfrm>
          <a:prstGeom prst="homePlate">
            <a:avLst/>
          </a:prstGeom>
          <a:solidFill>
            <a:srgbClr val="EB0000"/>
          </a:solidFill>
          <a:ln>
            <a:solidFill>
              <a:srgbClr val="EB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237 291</a:t>
            </a: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2A006DDB-004A-4CB2-9753-96EDE059CF1C}"/>
              </a:ext>
            </a:extLst>
          </p:cNvPr>
          <p:cNvSpPr/>
          <p:nvPr/>
        </p:nvSpPr>
        <p:spPr>
          <a:xfrm>
            <a:off x="2155416" y="5227843"/>
            <a:ext cx="1409080" cy="299686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167 761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68CD05FA-E910-468C-99BD-A54A30B46F18}"/>
              </a:ext>
            </a:extLst>
          </p:cNvPr>
          <p:cNvSpPr/>
          <p:nvPr/>
        </p:nvSpPr>
        <p:spPr>
          <a:xfrm>
            <a:off x="3590525" y="5217638"/>
            <a:ext cx="1402023" cy="309890"/>
          </a:xfrm>
          <a:prstGeom prst="homePlat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80 455</a:t>
            </a: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F3B5C2B6-2A58-4B30-9475-A0BC3A5CD029}"/>
              </a:ext>
            </a:extLst>
          </p:cNvPr>
          <p:cNvSpPr/>
          <p:nvPr/>
        </p:nvSpPr>
        <p:spPr>
          <a:xfrm>
            <a:off x="5007456" y="5227842"/>
            <a:ext cx="1402024" cy="299686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53 389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2F41C0-8ABD-435C-8CC4-4A9956C76710}"/>
              </a:ext>
            </a:extLst>
          </p:cNvPr>
          <p:cNvSpPr txBox="1"/>
          <p:nvPr/>
        </p:nvSpPr>
        <p:spPr>
          <a:xfrm>
            <a:off x="753391" y="4663451"/>
            <a:ext cx="13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2019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C3CB6B-F1B9-4455-B296-7499DAA2ED52}"/>
              </a:ext>
            </a:extLst>
          </p:cNvPr>
          <p:cNvSpPr txBox="1"/>
          <p:nvPr/>
        </p:nvSpPr>
        <p:spPr>
          <a:xfrm>
            <a:off x="2167778" y="4663451"/>
            <a:ext cx="1285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9BBD72-4BB7-4972-97FE-C05475A45644}"/>
              </a:ext>
            </a:extLst>
          </p:cNvPr>
          <p:cNvSpPr txBox="1"/>
          <p:nvPr/>
        </p:nvSpPr>
        <p:spPr>
          <a:xfrm>
            <a:off x="3557255" y="4663451"/>
            <a:ext cx="1285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B9AE6F-6164-4F7A-AD71-C329EFAFCC78}"/>
              </a:ext>
            </a:extLst>
          </p:cNvPr>
          <p:cNvSpPr txBox="1"/>
          <p:nvPr/>
        </p:nvSpPr>
        <p:spPr>
          <a:xfrm>
            <a:off x="5001279" y="4665461"/>
            <a:ext cx="1285511" cy="3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2022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A2A592-88C7-462D-8EB8-162B635B274E}"/>
              </a:ext>
            </a:extLst>
          </p:cNvPr>
          <p:cNvSpPr txBox="1"/>
          <p:nvPr/>
        </p:nvSpPr>
        <p:spPr>
          <a:xfrm>
            <a:off x="141494" y="4923824"/>
            <a:ext cx="940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Objetivo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CB02C-2795-4406-9B69-303F3029CD32}"/>
              </a:ext>
            </a:extLst>
          </p:cNvPr>
          <p:cNvSpPr txBox="1"/>
          <p:nvPr/>
        </p:nvSpPr>
        <p:spPr>
          <a:xfrm>
            <a:off x="141491" y="5241523"/>
            <a:ext cx="9404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Atingido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56D6BBC1-FB04-4775-8926-B4CB9AF58C27}"/>
              </a:ext>
            </a:extLst>
          </p:cNvPr>
          <p:cNvSpPr txBox="1"/>
          <p:nvPr/>
        </p:nvSpPr>
        <p:spPr>
          <a:xfrm>
            <a:off x="617982" y="4237880"/>
            <a:ext cx="7118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2. </a:t>
            </a:r>
            <a:r>
              <a:rPr kumimoji="0" lang="pt-PT" sz="16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Timeline</a:t>
            </a: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da fusão de clientes </a:t>
            </a:r>
            <a:r>
              <a:rPr kumimoji="0" lang="pt-PT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(Zcligrupos por fusionar)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75C9DE-E8B8-4E74-979B-6F5D9CDDB00D}"/>
              </a:ext>
            </a:extLst>
          </p:cNvPr>
          <p:cNvSpPr txBox="1"/>
          <p:nvPr/>
        </p:nvSpPr>
        <p:spPr>
          <a:xfrm>
            <a:off x="3590522" y="5943924"/>
            <a:ext cx="1409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Obj. 2021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Ultrapassado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E3BBEA-5152-4E8D-AE7B-5B83FC4E4A04}"/>
              </a:ext>
            </a:extLst>
          </p:cNvPr>
          <p:cNvSpPr txBox="1"/>
          <p:nvPr/>
        </p:nvSpPr>
        <p:spPr>
          <a:xfrm>
            <a:off x="3590522" y="5526216"/>
            <a:ext cx="1252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+44 545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DF7A5D-CCCC-4563-949D-1756A1438C79}"/>
              </a:ext>
            </a:extLst>
          </p:cNvPr>
          <p:cNvSpPr txBox="1"/>
          <p:nvPr/>
        </p:nvSpPr>
        <p:spPr>
          <a:xfrm>
            <a:off x="4994611" y="5965471"/>
            <a:ext cx="1408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Obj. 2022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Ultrapassado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221B4C-6630-4E62-AF7F-DEB0BBE70C3A}"/>
              </a:ext>
            </a:extLst>
          </p:cNvPr>
          <p:cNvSpPr txBox="1"/>
          <p:nvPr/>
        </p:nvSpPr>
        <p:spPr>
          <a:xfrm>
            <a:off x="5023581" y="5526216"/>
            <a:ext cx="1285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+6 611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72C166B-D135-426F-BE09-527D6B9938FE}"/>
              </a:ext>
            </a:extLst>
          </p:cNvPr>
          <p:cNvSpPr/>
          <p:nvPr/>
        </p:nvSpPr>
        <p:spPr>
          <a:xfrm>
            <a:off x="759567" y="4893545"/>
            <a:ext cx="1390765" cy="261130"/>
          </a:xfrm>
          <a:prstGeom prst="homePlate">
            <a:avLst/>
          </a:prstGeom>
          <a:solidFill>
            <a:srgbClr val="EB0000"/>
          </a:solidFill>
          <a:ln>
            <a:solidFill>
              <a:srgbClr val="EB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N.D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D15A6FB9-37F0-460D-B390-9EF29A40E116}"/>
              </a:ext>
            </a:extLst>
          </p:cNvPr>
          <p:cNvSpPr/>
          <p:nvPr/>
        </p:nvSpPr>
        <p:spPr>
          <a:xfrm>
            <a:off x="2155416" y="4909861"/>
            <a:ext cx="1402024" cy="244814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N.D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54A8F9FD-63C1-4DAD-80A8-278DD093AF6E}"/>
              </a:ext>
            </a:extLst>
          </p:cNvPr>
          <p:cNvSpPr/>
          <p:nvPr/>
        </p:nvSpPr>
        <p:spPr>
          <a:xfrm>
            <a:off x="3590523" y="4909861"/>
            <a:ext cx="1402024" cy="244814"/>
          </a:xfrm>
          <a:prstGeom prst="homePlat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125 000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BE57FD58-4CD2-49E0-9717-DC6823D3DA03}"/>
              </a:ext>
            </a:extLst>
          </p:cNvPr>
          <p:cNvSpPr/>
          <p:nvPr/>
        </p:nvSpPr>
        <p:spPr>
          <a:xfrm>
            <a:off x="5007455" y="4909861"/>
            <a:ext cx="1402024" cy="244814"/>
          </a:xfrm>
          <a:prstGeom prst="homePlat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60 000</a:t>
            </a:r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D014E6A4-7EE7-45FB-A0DD-371A3A840339}"/>
              </a:ext>
            </a:extLst>
          </p:cNvPr>
          <p:cNvSpPr/>
          <p:nvPr/>
        </p:nvSpPr>
        <p:spPr>
          <a:xfrm>
            <a:off x="6409479" y="4909861"/>
            <a:ext cx="5639440" cy="24481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Obj 2023 – 44 000</a:t>
            </a:r>
          </a:p>
        </p:txBody>
      </p:sp>
      <p:sp>
        <p:nvSpPr>
          <p:cNvPr id="44" name="Arrow: Pentagon 43">
            <a:extLst>
              <a:ext uri="{FF2B5EF4-FFF2-40B4-BE49-F238E27FC236}">
                <a16:creationId xmlns:a16="http://schemas.microsoft.com/office/drawing/2014/main" id="{5B83AB41-4B08-4B7E-AFDA-93E14CB81883}"/>
              </a:ext>
            </a:extLst>
          </p:cNvPr>
          <p:cNvSpPr/>
          <p:nvPr/>
        </p:nvSpPr>
        <p:spPr>
          <a:xfrm>
            <a:off x="6409478" y="5206143"/>
            <a:ext cx="1434018" cy="321385"/>
          </a:xfrm>
          <a:prstGeom prst="homePlate">
            <a:avLst/>
          </a:prstGeom>
          <a:solidFill>
            <a:srgbClr val="EB0000"/>
          </a:solidFill>
          <a:ln>
            <a:solidFill>
              <a:srgbClr val="EB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36 228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55A5B2-C218-4302-93FE-A76A57B6F319}"/>
              </a:ext>
            </a:extLst>
          </p:cNvPr>
          <p:cNvSpPr txBox="1"/>
          <p:nvPr/>
        </p:nvSpPr>
        <p:spPr>
          <a:xfrm>
            <a:off x="6403303" y="4663451"/>
            <a:ext cx="13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1T2023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76C262-EEDC-4400-AAD4-0E93AF9B5FCC}"/>
              </a:ext>
            </a:extLst>
          </p:cNvPr>
          <p:cNvSpPr txBox="1"/>
          <p:nvPr/>
        </p:nvSpPr>
        <p:spPr>
          <a:xfrm>
            <a:off x="7808690" y="4663451"/>
            <a:ext cx="13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2T2023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3F03CD-3511-49F9-8DDA-2EEE0EFECA35}"/>
              </a:ext>
            </a:extLst>
          </p:cNvPr>
          <p:cNvSpPr txBox="1"/>
          <p:nvPr/>
        </p:nvSpPr>
        <p:spPr>
          <a:xfrm>
            <a:off x="9210714" y="4663451"/>
            <a:ext cx="13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3T2023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9CE947-F639-43AF-91AB-59A4DF8774F4}"/>
              </a:ext>
            </a:extLst>
          </p:cNvPr>
          <p:cNvSpPr txBox="1"/>
          <p:nvPr/>
        </p:nvSpPr>
        <p:spPr>
          <a:xfrm>
            <a:off x="10711055" y="4663451"/>
            <a:ext cx="130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4T2023</a:t>
            </a:r>
          </a:p>
        </p:txBody>
      </p:sp>
      <p:sp>
        <p:nvSpPr>
          <p:cNvPr id="60" name="Arrow: Pentagon 59">
            <a:extLst>
              <a:ext uri="{FF2B5EF4-FFF2-40B4-BE49-F238E27FC236}">
                <a16:creationId xmlns:a16="http://schemas.microsoft.com/office/drawing/2014/main" id="{2A2012E5-8D86-4EE6-B877-5B763D788DF7}"/>
              </a:ext>
            </a:extLst>
          </p:cNvPr>
          <p:cNvSpPr/>
          <p:nvPr/>
        </p:nvSpPr>
        <p:spPr>
          <a:xfrm>
            <a:off x="9264121" y="5227842"/>
            <a:ext cx="1455420" cy="323512"/>
          </a:xfrm>
          <a:prstGeom prst="homePlat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1" name="Arrow: Pentagon 60">
            <a:extLst>
              <a:ext uri="{FF2B5EF4-FFF2-40B4-BE49-F238E27FC236}">
                <a16:creationId xmlns:a16="http://schemas.microsoft.com/office/drawing/2014/main" id="{E02B3730-E201-4ACA-BDDF-1B63FADC2067}"/>
              </a:ext>
            </a:extLst>
          </p:cNvPr>
          <p:cNvSpPr/>
          <p:nvPr/>
        </p:nvSpPr>
        <p:spPr>
          <a:xfrm>
            <a:off x="10712493" y="5219751"/>
            <a:ext cx="1402024" cy="307777"/>
          </a:xfrm>
          <a:prstGeom prst="homePlat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80 455</a:t>
            </a:r>
          </a:p>
        </p:txBody>
      </p:sp>
      <p:sp>
        <p:nvSpPr>
          <p:cNvPr id="47" name="Arrow: Pentagon 46">
            <a:extLst>
              <a:ext uri="{FF2B5EF4-FFF2-40B4-BE49-F238E27FC236}">
                <a16:creationId xmlns:a16="http://schemas.microsoft.com/office/drawing/2014/main" id="{F6B8E37D-C3EE-4B46-AE45-E111BC51F0DF}"/>
              </a:ext>
            </a:extLst>
          </p:cNvPr>
          <p:cNvSpPr/>
          <p:nvPr/>
        </p:nvSpPr>
        <p:spPr>
          <a:xfrm>
            <a:off x="7855681" y="5220694"/>
            <a:ext cx="1034412" cy="306834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35 543</a:t>
            </a:r>
          </a:p>
        </p:txBody>
      </p:sp>
      <p:sp>
        <p:nvSpPr>
          <p:cNvPr id="51" name="TextBox 10">
            <a:extLst>
              <a:ext uri="{FF2B5EF4-FFF2-40B4-BE49-F238E27FC236}">
                <a16:creationId xmlns:a16="http://schemas.microsoft.com/office/drawing/2014/main" id="{63906F62-4ED6-4ACB-9AE6-8858A636688A}"/>
              </a:ext>
            </a:extLst>
          </p:cNvPr>
          <p:cNvSpPr txBox="1"/>
          <p:nvPr/>
        </p:nvSpPr>
        <p:spPr>
          <a:xfrm>
            <a:off x="713069" y="1929931"/>
            <a:ext cx="10785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Universo de fusão -  todas as entidades existentes na Base de Dados de Personas identificados que existe mais que um registo e agrupados por zcligrupos, com exclusão dos ex-clientes.</a:t>
            </a:r>
          </a:p>
        </p:txBody>
      </p:sp>
      <p:sp>
        <p:nvSpPr>
          <p:cNvPr id="56" name="Arrow: Pentagon 55">
            <a:extLst>
              <a:ext uri="{FF2B5EF4-FFF2-40B4-BE49-F238E27FC236}">
                <a16:creationId xmlns:a16="http://schemas.microsoft.com/office/drawing/2014/main" id="{4210A8C1-E28B-4D27-B06F-A5087561BD60}"/>
              </a:ext>
            </a:extLst>
          </p:cNvPr>
          <p:cNvSpPr/>
          <p:nvPr/>
        </p:nvSpPr>
        <p:spPr>
          <a:xfrm>
            <a:off x="6427155" y="5196469"/>
            <a:ext cx="1390765" cy="338846"/>
          </a:xfrm>
          <a:prstGeom prst="homePlate">
            <a:avLst/>
          </a:prstGeom>
          <a:noFill/>
          <a:ln>
            <a:solidFill>
              <a:srgbClr val="EB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9F58D-B443-EE48-33D5-10A6E62DA1D7}"/>
              </a:ext>
            </a:extLst>
          </p:cNvPr>
          <p:cNvSpPr/>
          <p:nvPr/>
        </p:nvSpPr>
        <p:spPr>
          <a:xfrm>
            <a:off x="6407541" y="4623170"/>
            <a:ext cx="1448139" cy="1320754"/>
          </a:xfrm>
          <a:prstGeom prst="rect">
            <a:avLst/>
          </a:prstGeom>
          <a:noFill/>
          <a:ln w="12700">
            <a:solidFill>
              <a:srgbClr val="EB0000"/>
            </a:solidFill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7D238-2B73-15B2-BAEE-935CB3B56409}"/>
              </a:ext>
            </a:extLst>
          </p:cNvPr>
          <p:cNvSpPr txBox="1"/>
          <p:nvPr/>
        </p:nvSpPr>
        <p:spPr>
          <a:xfrm>
            <a:off x="6477031" y="5535315"/>
            <a:ext cx="1285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+7 772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03177-7EB4-3A0E-9F4B-5BFEAFF252F2}"/>
              </a:ext>
            </a:extLst>
          </p:cNvPr>
          <p:cNvSpPr txBox="1"/>
          <p:nvPr/>
        </p:nvSpPr>
        <p:spPr>
          <a:xfrm>
            <a:off x="6422141" y="5959401"/>
            <a:ext cx="14086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Obj. 2023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Ultrapassado em 82%</a:t>
            </a:r>
          </a:p>
        </p:txBody>
      </p:sp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66271F68-C759-822D-458E-89B6E7E21F2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0137" y="2536059"/>
            <a:ext cx="283842" cy="283842"/>
          </a:xfrm>
          <a:prstGeom prst="rect">
            <a:avLst/>
          </a:prstGeom>
        </p:spPr>
      </p:pic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9CA44C51-F634-866B-24A9-C10775762A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0480" y="2870209"/>
            <a:ext cx="283842" cy="28384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AE529-D04B-BA0E-1D8B-1898D2C344F5}"/>
              </a:ext>
            </a:extLst>
          </p:cNvPr>
          <p:cNvGraphicFramePr>
            <a:graphicFrameLocks noGrp="1"/>
          </p:cNvGraphicFramePr>
          <p:nvPr/>
        </p:nvGraphicFramePr>
        <p:xfrm>
          <a:off x="708513" y="1081631"/>
          <a:ext cx="10514015" cy="801564"/>
        </p:xfrm>
        <a:graphic>
          <a:graphicData uri="http://schemas.openxmlformats.org/drawingml/2006/table">
            <a:tbl>
              <a:tblPr/>
              <a:tblGrid>
                <a:gridCol w="1472621">
                  <a:extLst>
                    <a:ext uri="{9D8B030D-6E8A-4147-A177-3AD203B41FA5}">
                      <a16:colId xmlns:a16="http://schemas.microsoft.com/office/drawing/2014/main" val="2712190754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865217970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3170976896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2178590888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200806670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3325509553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194293655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3179025981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215126027"/>
                    </a:ext>
                  </a:extLst>
                </a:gridCol>
                <a:gridCol w="647185">
                  <a:extLst>
                    <a:ext uri="{9D8B030D-6E8A-4147-A177-3AD203B41FA5}">
                      <a16:colId xmlns:a16="http://schemas.microsoft.com/office/drawing/2014/main" val="3830150911"/>
                    </a:ext>
                  </a:extLst>
                </a:gridCol>
                <a:gridCol w="715743">
                  <a:extLst>
                    <a:ext uri="{9D8B030D-6E8A-4147-A177-3AD203B41FA5}">
                      <a16:colId xmlns:a16="http://schemas.microsoft.com/office/drawing/2014/main" val="2760562694"/>
                    </a:ext>
                  </a:extLst>
                </a:gridCol>
                <a:gridCol w="833662">
                  <a:extLst>
                    <a:ext uri="{9D8B030D-6E8A-4147-A177-3AD203B41FA5}">
                      <a16:colId xmlns:a16="http://schemas.microsoft.com/office/drawing/2014/main" val="1829124652"/>
                    </a:ext>
                  </a:extLst>
                </a:gridCol>
                <a:gridCol w="833662">
                  <a:extLst>
                    <a:ext uri="{9D8B030D-6E8A-4147-A177-3AD203B41FA5}">
                      <a16:colId xmlns:a16="http://schemas.microsoft.com/office/drawing/2014/main" val="2013524017"/>
                    </a:ext>
                  </a:extLst>
                </a:gridCol>
                <a:gridCol w="833662">
                  <a:extLst>
                    <a:ext uri="{9D8B030D-6E8A-4147-A177-3AD203B41FA5}">
                      <a16:colId xmlns:a16="http://schemas.microsoft.com/office/drawing/2014/main" val="1428139066"/>
                    </a:ext>
                  </a:extLst>
                </a:gridCol>
              </a:tblGrid>
              <a:tr h="193621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39717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8274" marR="8274" marT="8274" marB="397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8274" marR="8274" marT="8274" marB="39717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608941"/>
                  </a:ext>
                </a:extLst>
              </a:tr>
              <a:tr h="193621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74" marR="8274" marT="8274" marB="39717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Maio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Junho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julho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Agosto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Setembro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Outubro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Novembro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Dezembro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Janeiro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Fevereiro</a:t>
                      </a:r>
                    </a:p>
                  </a:txBody>
                  <a:tcPr marL="8274" marR="8274" marT="8274" marB="3971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Março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Abril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Maio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68149"/>
                  </a:ext>
                </a:extLst>
              </a:tr>
              <a:tr h="19362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Duplicados s/ex-clientes</a:t>
                      </a:r>
                    </a:p>
                  </a:txBody>
                  <a:tcPr marL="8274" marR="8274" marT="8274" marB="397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61,176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60,151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60,930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56,186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56,323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56,562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53,172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53,389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53,515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49,194   </a:t>
                      </a:r>
                    </a:p>
                  </a:txBody>
                  <a:tcPr marL="8274" marR="8274" marT="8274" marB="3971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36,228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36,431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35,543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124049"/>
                  </a:ext>
                </a:extLst>
              </a:tr>
              <a:tr h="193621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Fusionados</a:t>
                      </a:r>
                    </a:p>
                  </a:txBody>
                  <a:tcPr marL="8274" marR="8274" marT="8274" marB="3971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2,421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1,023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-  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4,877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-  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-  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3,324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-  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-  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4,452   </a:t>
                      </a:r>
                    </a:p>
                  </a:txBody>
                  <a:tcPr marL="8274" marR="8274" marT="8274" marB="3971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13,044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pt-PT" sz="10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951   </a:t>
                      </a:r>
                    </a:p>
                  </a:txBody>
                  <a:tcPr marL="8274" marR="8274" marT="8274" marB="397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367886"/>
                  </a:ext>
                </a:extLst>
              </a:tr>
            </a:tbl>
          </a:graphicData>
        </a:graphic>
      </p:graphicFrame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AD4DA69-124E-93D5-BEBC-9824DDEAD937}"/>
              </a:ext>
            </a:extLst>
          </p:cNvPr>
          <p:cNvSpPr/>
          <p:nvPr/>
        </p:nvSpPr>
        <p:spPr>
          <a:xfrm>
            <a:off x="7855681" y="5228128"/>
            <a:ext cx="1382863" cy="298088"/>
          </a:xfrm>
          <a:prstGeom prst="homePlat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33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Oversight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234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647866" y="1362482"/>
            <a:ext cx="10980000" cy="1545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89" name="Título 1">
            <a:extLst>
              <a:ext uri="{FF2B5EF4-FFF2-40B4-BE49-F238E27FC236}">
                <a16:creationId xmlns:a16="http://schemas.microsoft.com/office/drawing/2014/main" id="{9BC1C235-F456-43F0-8C65-8358AE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93" y="566693"/>
            <a:ext cx="9862522" cy="409124"/>
          </a:xfrm>
        </p:spPr>
        <p:txBody>
          <a:bodyPr>
            <a:normAutofit fontScale="90000"/>
          </a:bodyPr>
          <a:lstStyle/>
          <a:p>
            <a:r>
              <a:rPr lang="pt-PT"/>
              <a:t>Oversight - Progressos</a:t>
            </a:r>
          </a:p>
        </p:txBody>
      </p:sp>
      <p:sp>
        <p:nvSpPr>
          <p:cNvPr id="193" name="Marcador de texto 3">
            <a:extLst>
              <a:ext uri="{FF2B5EF4-FFF2-40B4-BE49-F238E27FC236}">
                <a16:creationId xmlns:a16="http://schemas.microsoft.com/office/drawing/2014/main" id="{5049D1E0-7E40-43D3-B465-2A2E3FEFE1F7}"/>
              </a:ext>
            </a:extLst>
          </p:cNvPr>
          <p:cNvSpPr txBox="1">
            <a:spLocks/>
          </p:cNvSpPr>
          <p:nvPr/>
        </p:nvSpPr>
        <p:spPr>
          <a:xfrm>
            <a:off x="716539" y="285807"/>
            <a:ext cx="10757334" cy="3048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4" name="Marcador de texto 4">
            <a:extLst>
              <a:ext uri="{FF2B5EF4-FFF2-40B4-BE49-F238E27FC236}">
                <a16:creationId xmlns:a16="http://schemas.microsoft.com/office/drawing/2014/main" id="{45FC5365-3B70-4470-85DD-E817BB6A21AA}"/>
              </a:ext>
            </a:extLst>
          </p:cNvPr>
          <p:cNvSpPr txBox="1">
            <a:spLocks/>
          </p:cNvSpPr>
          <p:nvPr/>
        </p:nvSpPr>
        <p:spPr>
          <a:xfrm>
            <a:off x="564751" y="1399155"/>
            <a:ext cx="11270751" cy="409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s-ES"/>
            </a:defPPr>
            <a:lvl1pPr algn="just">
              <a:lnSpc>
                <a:spcPct val="100000"/>
              </a:lnSpc>
              <a:spcAft>
                <a:spcPts val="1200"/>
              </a:spcAft>
              <a:defRPr sz="1600">
                <a:solidFill>
                  <a:prstClr val="black"/>
                </a:solidFill>
                <a:latin typeface="Santander Text" panose="020B05040202010201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Face ao último Fórum, a equipa de Oversight desenvolveu as seguintes atividades: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76D53B-603E-47F9-B7EE-72CDF6839AF3}"/>
              </a:ext>
            </a:extLst>
          </p:cNvPr>
          <p:cNvSpPr/>
          <p:nvPr/>
        </p:nvSpPr>
        <p:spPr>
          <a:xfrm>
            <a:off x="564751" y="1729929"/>
            <a:ext cx="11270751" cy="2615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0" tIns="36000" rIns="36000" bIns="36000" rtlCol="0" anchor="t" anchorCtr="0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F0E40-E828-451E-BB36-B4FD76F82BFD}"/>
              </a:ext>
            </a:extLst>
          </p:cNvPr>
          <p:cNvSpPr/>
          <p:nvPr/>
        </p:nvSpPr>
        <p:spPr>
          <a:xfrm>
            <a:off x="674126" y="1884059"/>
            <a:ext cx="11052000" cy="365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Status</a:t>
            </a:r>
            <a:r>
              <a:rPr kumimoji="0" lang="pt-PT" sz="1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 Próximos passos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E2D2-F518-40A7-BD1D-F2E0D7FFBEA6}"/>
              </a:ext>
            </a:extLst>
          </p:cNvPr>
          <p:cNvSpPr/>
          <p:nvPr/>
        </p:nvSpPr>
        <p:spPr>
          <a:xfrm>
            <a:off x="674126" y="2292054"/>
            <a:ext cx="1105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bIns="36000" rtlCol="0" anchor="ctr"/>
          <a:lstStyle/>
          <a:p>
            <a:pPr marL="448560" marR="0" lvl="0" indent="-28569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Atualização dos KRIs de Risco de Gestão de Dado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6F8A36-01DF-6F88-CDED-346D9305C21F}"/>
              </a:ext>
            </a:extLst>
          </p:cNvPr>
          <p:cNvSpPr/>
          <p:nvPr/>
        </p:nvSpPr>
        <p:spPr>
          <a:xfrm>
            <a:off x="664294" y="3556934"/>
            <a:ext cx="1105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bIns="36000" rtlCol="0" anchor="ctr"/>
          <a:lstStyle/>
          <a:p>
            <a:pPr marL="448560" marR="0" lvl="0" indent="-28569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Em curso, resposta aos questionários do exercício DISA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D1CFD-DA9B-4341-CCA3-D8268A9D3235}"/>
              </a:ext>
            </a:extLst>
          </p:cNvPr>
          <p:cNvSpPr/>
          <p:nvPr/>
        </p:nvSpPr>
        <p:spPr>
          <a:xfrm>
            <a:off x="674126" y="2919200"/>
            <a:ext cx="110520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bIns="36000" rtlCol="0" anchor="ctr"/>
          <a:lstStyle/>
          <a:p>
            <a:pPr marL="448560" marR="0" lvl="0" indent="-28569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de 2LoD ao </a:t>
            </a:r>
            <a:r>
              <a:rPr kumimoji="0" lang="pt-PT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framework</a:t>
            </a: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Qualidade de Dados para os módulos ALM, Contas, Clientes e Modelos</a:t>
            </a:r>
          </a:p>
        </p:txBody>
      </p:sp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E5115D2D-0BB9-A60E-2C54-41487F069352}"/>
              </a:ext>
            </a:extLst>
          </p:cNvPr>
          <p:cNvSpPr/>
          <p:nvPr/>
        </p:nvSpPr>
        <p:spPr>
          <a:xfrm>
            <a:off x="10777883" y="3709133"/>
            <a:ext cx="712800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Anexo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9675DBF0-4899-9BAC-677F-4DF46D8BB9D6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34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01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Controlos ao Framework de Qualidade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3900" dirty="0"/>
              <a:t>7.1</a:t>
            </a:r>
          </a:p>
        </p:txBody>
      </p:sp>
    </p:spTree>
    <p:extLst>
      <p:ext uri="{BB962C8B-B14F-4D97-AF65-F5344CB8AC3E}">
        <p14:creationId xmlns:p14="http://schemas.microsoft.com/office/powerpoint/2010/main" val="144867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c 88" descr="Teacher with solid fill">
            <a:extLst>
              <a:ext uri="{FF2B5EF4-FFF2-40B4-BE49-F238E27FC236}">
                <a16:creationId xmlns:a16="http://schemas.microsoft.com/office/drawing/2014/main" id="{BC8C1B2C-CB29-4A3A-958F-A969269F5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356187" y="1384739"/>
            <a:ext cx="323841" cy="323841"/>
          </a:xfrm>
          <a:prstGeom prst="rect">
            <a:avLst/>
          </a:prstGeom>
        </p:spPr>
      </p:pic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CE157CC7-EACE-9943-C346-37D0B0175EDF}"/>
              </a:ext>
            </a:extLst>
          </p:cNvPr>
          <p:cNvSpPr txBox="1">
            <a:spLocks/>
          </p:cNvSpPr>
          <p:nvPr/>
        </p:nvSpPr>
        <p:spPr>
          <a:xfrm>
            <a:off x="782744" y="226469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EFF46-D797-132B-D3D3-B2B0851C3858}"/>
              </a:ext>
            </a:extLst>
          </p:cNvPr>
          <p:cNvSpPr/>
          <p:nvPr/>
        </p:nvSpPr>
        <p:spPr>
          <a:xfrm>
            <a:off x="782744" y="498071"/>
            <a:ext cx="10366326" cy="483179"/>
          </a:xfrm>
          <a:prstGeom prst="rect">
            <a:avLst/>
          </a:prstGeom>
        </p:spPr>
        <p:txBody>
          <a:bodyPr vert="horz" lIns="91428" tIns="45714" rIns="91428" bIns="45714" rtlCol="0" anchor="t">
            <a:normAutofit fontScale="97500"/>
          </a:bodyPr>
          <a:lstStyle/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Headline"/>
                <a:ea typeface="+mn-ea"/>
                <a:cs typeface="+mn-cs"/>
              </a:rPr>
              <a:t>Controlos de 2LOD à Qualidade de Dados – Criticidade Alta e Muito Alta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0A48B83-1375-B4CD-90B0-B0CCA8CBD241}"/>
              </a:ext>
            </a:extLst>
          </p:cNvPr>
          <p:cNvSpPr/>
          <p:nvPr/>
        </p:nvSpPr>
        <p:spPr>
          <a:xfrm rot="10800000">
            <a:off x="4607566" y="3694126"/>
            <a:ext cx="2975277" cy="179433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EAA8559-A07D-481C-9DB2-E6AC0B5C73F8}"/>
              </a:ext>
            </a:extLst>
          </p:cNvPr>
          <p:cNvGraphicFramePr>
            <a:graphicFrameLocks/>
          </p:cNvGraphicFramePr>
          <p:nvPr/>
        </p:nvGraphicFramePr>
        <p:xfrm>
          <a:off x="2462276" y="1722931"/>
          <a:ext cx="3492000" cy="1698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6B4857F-D7C5-08A8-1FF7-56B88E8DF161}"/>
              </a:ext>
            </a:extLst>
          </p:cNvPr>
          <p:cNvSpPr/>
          <p:nvPr/>
        </p:nvSpPr>
        <p:spPr>
          <a:xfrm>
            <a:off x="2462276" y="1304968"/>
            <a:ext cx="3492000" cy="3625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Eventos de Qualidade s/ Plano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73EF66-C7EB-483D-9608-9F1CF7FA26D7}"/>
              </a:ext>
            </a:extLst>
          </p:cNvPr>
          <p:cNvGraphicFramePr>
            <a:graphicFrameLocks/>
          </p:cNvGraphicFramePr>
          <p:nvPr/>
        </p:nvGraphicFramePr>
        <p:xfrm>
          <a:off x="6236135" y="1722931"/>
          <a:ext cx="3492000" cy="169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28DC3B-0C2A-637B-C5F6-59DCB300E1B1}"/>
              </a:ext>
            </a:extLst>
          </p:cNvPr>
          <p:cNvSpPr/>
          <p:nvPr/>
        </p:nvSpPr>
        <p:spPr>
          <a:xfrm>
            <a:off x="6236137" y="1304968"/>
            <a:ext cx="3492000" cy="3625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Eventos de Qualidade c/ Plano Vencido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9F6E5DC-A577-CC10-DAF9-C67A01113798}"/>
              </a:ext>
            </a:extLst>
          </p:cNvPr>
          <p:cNvGraphicFramePr>
            <a:graphicFrameLocks noGrp="1"/>
          </p:cNvGraphicFramePr>
          <p:nvPr/>
        </p:nvGraphicFramePr>
        <p:xfrm>
          <a:off x="646564" y="4255724"/>
          <a:ext cx="10897284" cy="1727310"/>
        </p:xfrm>
        <a:graphic>
          <a:graphicData uri="http://schemas.openxmlformats.org/drawingml/2006/table">
            <a:tbl>
              <a:tblPr/>
              <a:tblGrid>
                <a:gridCol w="1097907">
                  <a:extLst>
                    <a:ext uri="{9D8B030D-6E8A-4147-A177-3AD203B41FA5}">
                      <a16:colId xmlns:a16="http://schemas.microsoft.com/office/drawing/2014/main" val="3691979777"/>
                    </a:ext>
                  </a:extLst>
                </a:gridCol>
                <a:gridCol w="1829846">
                  <a:extLst>
                    <a:ext uri="{9D8B030D-6E8A-4147-A177-3AD203B41FA5}">
                      <a16:colId xmlns:a16="http://schemas.microsoft.com/office/drawing/2014/main" val="3095122605"/>
                    </a:ext>
                  </a:extLst>
                </a:gridCol>
                <a:gridCol w="1748057">
                  <a:extLst>
                    <a:ext uri="{9D8B030D-6E8A-4147-A177-3AD203B41FA5}">
                      <a16:colId xmlns:a16="http://schemas.microsoft.com/office/drawing/2014/main" val="3822398747"/>
                    </a:ext>
                  </a:extLst>
                </a:gridCol>
                <a:gridCol w="1097907">
                  <a:extLst>
                    <a:ext uri="{9D8B030D-6E8A-4147-A177-3AD203B41FA5}">
                      <a16:colId xmlns:a16="http://schemas.microsoft.com/office/drawing/2014/main" val="1713319900"/>
                    </a:ext>
                  </a:extLst>
                </a:gridCol>
                <a:gridCol w="1097907">
                  <a:extLst>
                    <a:ext uri="{9D8B030D-6E8A-4147-A177-3AD203B41FA5}">
                      <a16:colId xmlns:a16="http://schemas.microsoft.com/office/drawing/2014/main" val="919869835"/>
                    </a:ext>
                  </a:extLst>
                </a:gridCol>
                <a:gridCol w="1097907">
                  <a:extLst>
                    <a:ext uri="{9D8B030D-6E8A-4147-A177-3AD203B41FA5}">
                      <a16:colId xmlns:a16="http://schemas.microsoft.com/office/drawing/2014/main" val="1827010380"/>
                    </a:ext>
                  </a:extLst>
                </a:gridCol>
                <a:gridCol w="2927753">
                  <a:extLst>
                    <a:ext uri="{9D8B030D-6E8A-4147-A177-3AD203B41FA5}">
                      <a16:colId xmlns:a16="http://schemas.microsoft.com/office/drawing/2014/main" val="3945868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Incidência</a:t>
                      </a:r>
                    </a:p>
                  </a:txBody>
                  <a:tcPr marL="5750" marR="5750" marT="575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Plano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Código </a:t>
                      </a:r>
                      <a:r>
                        <a:rPr lang="pt-PT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DQI’s</a:t>
                      </a:r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 associado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Módulo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Criticidade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Data Fim Plano (Planeada)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Comentário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008291"/>
                  </a:ext>
                </a:extLst>
              </a:tr>
              <a:tr h="33895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vencido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Correção de input manual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L.ALM.CHAVE.00022.001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ALM</a:t>
                      </a:r>
                    </a:p>
                  </a:txBody>
                  <a:tcPr marL="5750" marR="5750" marT="57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Muito Alta</a:t>
                      </a:r>
                    </a:p>
                  </a:txBody>
                  <a:tcPr marL="5750" marR="5750" marT="57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31/01/2023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plano ainda não está concluído, uma vez que são necessárias correções ao input implementado. </a:t>
                      </a:r>
                    </a:p>
                  </a:txBody>
                  <a:tcPr marL="72000" marR="3600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645239"/>
                  </a:ext>
                </a:extLst>
              </a:tr>
              <a:tr h="33895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n-N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K.GGS.OF.00067.I.002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ALM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Alta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14644"/>
                  </a:ext>
                </a:extLst>
              </a:tr>
              <a:tr h="33895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n-N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K.GGS.OF.00133.I.003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ALM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pt-PT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Alta</a:t>
                      </a:r>
                    </a:p>
                  </a:txBody>
                  <a:tcPr marL="5750" marR="5750" marT="57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680025"/>
                  </a:ext>
                </a:extLst>
              </a:tr>
              <a:tr h="33895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n-NO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K.GGS.OF.00137.I.006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ALM</a:t>
                      </a:r>
                    </a:p>
                  </a:txBody>
                  <a:tcPr marL="5750" marR="5750" marT="575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73290"/>
                  </a:ext>
                </a:extLst>
              </a:tr>
            </a:tbl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3162E0-597B-E55B-5865-AD0D8A22F5C0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36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29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KRIs - Risco de Gestão de Dados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3900" dirty="0"/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46112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AB0AEA9-90BB-9FF0-2FBB-7546F603D87C}"/>
              </a:ext>
            </a:extLst>
          </p:cNvPr>
          <p:cNvSpPr/>
          <p:nvPr/>
        </p:nvSpPr>
        <p:spPr>
          <a:xfrm>
            <a:off x="785131" y="1130923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1.1 </a:t>
            </a:r>
            <a:r>
              <a:rPr kumimoji="0" lang="pt-PT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DQI’s</a:t>
            </a: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completitude (&lt;50) por mais de 3 meses (%)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0A9BE2-463D-52BA-A52E-A941CF6BBCD6}"/>
              </a:ext>
            </a:extLst>
          </p:cNvPr>
          <p:cNvSpPr txBox="1"/>
          <p:nvPr/>
        </p:nvSpPr>
        <p:spPr>
          <a:xfrm>
            <a:off x="795589" y="5414831"/>
            <a:ext cx="3484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15 métricas para as quais deixaram de vigorar os fluxos previamente definidos.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06485F-BF9E-1668-796D-38C400A714C7}"/>
              </a:ext>
            </a:extLst>
          </p:cNvPr>
          <p:cNvSpPr/>
          <p:nvPr/>
        </p:nvSpPr>
        <p:spPr>
          <a:xfrm>
            <a:off x="4473664" y="1130923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1.2 </a:t>
            </a:r>
            <a:r>
              <a:rPr kumimoji="0" lang="pt-PT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DQI’s</a:t>
            </a:r>
            <a:r>
              <a:rPr kumimoji="0" lang="pt-PT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pontualidade (&lt;50) por mais de 3 meses consecutivos (%)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E3233E-6E93-4058-B6D8-8201C40B644B}"/>
              </a:ext>
            </a:extLst>
          </p:cNvPr>
          <p:cNvSpPr/>
          <p:nvPr/>
        </p:nvSpPr>
        <p:spPr>
          <a:xfrm>
            <a:off x="8241466" y="1130923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1.3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Anexos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do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cargabal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c/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atrasado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ou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enviados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c/ issues (%)</a:t>
            </a:r>
            <a:endParaRPr kumimoji="0" lang="pt-PT" sz="1000" b="1" i="0" u="none" strike="noStrike" kern="1200" cap="sm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577A16-E649-29EB-A088-C6B60508C7D2}"/>
              </a:ext>
            </a:extLst>
          </p:cNvPr>
          <p:cNvSpPr/>
          <p:nvPr/>
        </p:nvSpPr>
        <p:spPr>
          <a:xfrm>
            <a:off x="796419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1.4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Conceitos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com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ação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governo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DISA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fluxo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dados (%)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599C3D-F4F1-3CB0-7044-26B08C1D8838}"/>
              </a:ext>
            </a:extLst>
          </p:cNvPr>
          <p:cNvSpPr/>
          <p:nvPr/>
        </p:nvSpPr>
        <p:spPr>
          <a:xfrm>
            <a:off x="4473664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2.1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Sistemas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modelo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controlo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documentado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(%)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7306EF-4A24-104D-A03D-F9FC60462EA3}"/>
              </a:ext>
            </a:extLst>
          </p:cNvPr>
          <p:cNvSpPr/>
          <p:nvPr/>
        </p:nvSpPr>
        <p:spPr>
          <a:xfrm>
            <a:off x="8241466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2.2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Sistemas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com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ajustes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manuais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não-documentados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7AF8C-0AE0-E1C9-C26B-80FE107728F3}"/>
              </a:ext>
            </a:extLst>
          </p:cNvPr>
          <p:cNvSpPr txBox="1"/>
          <p:nvPr/>
        </p:nvSpPr>
        <p:spPr>
          <a:xfrm>
            <a:off x="8241033" y="2901918"/>
            <a:ext cx="34847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Aumento significativo pontual relativo ao reporte de Dez-22 (reporte de fecho de ano)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2E54E61B-6A1A-840E-1A83-2D29EA7B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93" y="566693"/>
            <a:ext cx="9862522" cy="409124"/>
          </a:xfrm>
        </p:spPr>
        <p:txBody>
          <a:bodyPr>
            <a:normAutofit fontScale="90000"/>
          </a:bodyPr>
          <a:lstStyle/>
          <a:p>
            <a:r>
              <a:rPr lang="pt-PT" err="1"/>
              <a:t>KRIs</a:t>
            </a:r>
            <a:r>
              <a:rPr lang="pt-PT"/>
              <a:t> – Risco de Gestão de Dados </a:t>
            </a:r>
            <a:r>
              <a:rPr lang="pt-PT" sz="2000"/>
              <a:t>(1/3)</a:t>
            </a:r>
            <a:endParaRPr lang="pt-PT"/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FC85F-914A-D848-3B40-E2756C93CD87}"/>
              </a:ext>
            </a:extLst>
          </p:cNvPr>
          <p:cNvSpPr txBox="1">
            <a:spLocks/>
          </p:cNvSpPr>
          <p:nvPr/>
        </p:nvSpPr>
        <p:spPr>
          <a:xfrm>
            <a:off x="716539" y="285807"/>
            <a:ext cx="10757334" cy="3048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D6FC54-C66D-4FCA-8991-C75EFA7B5BF9}"/>
              </a:ext>
            </a:extLst>
          </p:cNvPr>
          <p:cNvGrpSpPr/>
          <p:nvPr/>
        </p:nvGrpSpPr>
        <p:grpSpPr>
          <a:xfrm>
            <a:off x="2849583" y="1486375"/>
            <a:ext cx="1514340" cy="251444"/>
            <a:chOff x="2849583" y="1486375"/>
            <a:chExt cx="1514340" cy="25144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D6423E8-98A7-406D-BA8F-4F82A6B27D1B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24" name="TextBox 11">
                <a:extLst>
                  <a:ext uri="{FF2B5EF4-FFF2-40B4-BE49-F238E27FC236}">
                    <a16:creationId xmlns:a16="http://schemas.microsoft.com/office/drawing/2014/main" id="{00000000-0008-0000-0000-00000C000000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0000000-0008-0000-0000-00000D000000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F14637B-C090-4AB8-9541-E3CE116D804E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129" name="TextBox 11">
                <a:extLst>
                  <a:ext uri="{FF2B5EF4-FFF2-40B4-BE49-F238E27FC236}">
                    <a16:creationId xmlns:a16="http://schemas.microsoft.com/office/drawing/2014/main" id="{06B04A85-DEAF-40DC-A8B4-4E526B1E5528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FA7B5CC-EA49-4C30-80CD-EC4A498BB3C4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9341E44-9A7D-455D-87E4-6E891C8142A5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132" name="TextBox 11">
                <a:extLst>
                  <a:ext uri="{FF2B5EF4-FFF2-40B4-BE49-F238E27FC236}">
                    <a16:creationId xmlns:a16="http://schemas.microsoft.com/office/drawing/2014/main" id="{700A9211-0FF7-4F1C-904C-4E2347EB59C4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D22DC5B1-CCA1-4510-B4EB-31078D21F6CA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Oval 133">
            <a:extLst>
              <a:ext uri="{FF2B5EF4-FFF2-40B4-BE49-F238E27FC236}">
                <a16:creationId xmlns:a16="http://schemas.microsoft.com/office/drawing/2014/main" id="{77978060-E561-4640-AF7D-72EC04C131DB}"/>
              </a:ext>
            </a:extLst>
          </p:cNvPr>
          <p:cNvSpPr/>
          <p:nvPr/>
        </p:nvSpPr>
        <p:spPr>
          <a:xfrm>
            <a:off x="3932311" y="1200649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228BF8-AA83-436E-BD85-45398AF27602}"/>
              </a:ext>
            </a:extLst>
          </p:cNvPr>
          <p:cNvSpPr/>
          <p:nvPr/>
        </p:nvSpPr>
        <p:spPr>
          <a:xfrm>
            <a:off x="3812389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1F8054-3967-48CB-A2C5-2409898DFDC8}"/>
              </a:ext>
            </a:extLst>
          </p:cNvPr>
          <p:cNvSpPr/>
          <p:nvPr/>
        </p:nvSpPr>
        <p:spPr>
          <a:xfrm>
            <a:off x="7490464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C80CEB-52EA-4E60-B781-C38D28EFCBAD}"/>
              </a:ext>
            </a:extLst>
          </p:cNvPr>
          <p:cNvSpPr/>
          <p:nvPr/>
        </p:nvSpPr>
        <p:spPr>
          <a:xfrm>
            <a:off x="11257833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7450A5-B989-43B5-8F04-2F49010014A3}"/>
              </a:ext>
            </a:extLst>
          </p:cNvPr>
          <p:cNvSpPr/>
          <p:nvPr/>
        </p:nvSpPr>
        <p:spPr>
          <a:xfrm>
            <a:off x="3812389" y="3678565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937D12-5595-418E-904C-BDCD0935B3DD}"/>
              </a:ext>
            </a:extLst>
          </p:cNvPr>
          <p:cNvSpPr/>
          <p:nvPr/>
        </p:nvSpPr>
        <p:spPr>
          <a:xfrm>
            <a:off x="7490464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3BCC5F-F4F4-46F9-8316-7FA64B52F600}"/>
              </a:ext>
            </a:extLst>
          </p:cNvPr>
          <p:cNvSpPr/>
          <p:nvPr/>
        </p:nvSpPr>
        <p:spPr>
          <a:xfrm>
            <a:off x="11257813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3DE782F-C630-4751-8D57-556738904BC1}"/>
              </a:ext>
            </a:extLst>
          </p:cNvPr>
          <p:cNvGrpSpPr/>
          <p:nvPr/>
        </p:nvGrpSpPr>
        <p:grpSpPr>
          <a:xfrm>
            <a:off x="6536590" y="1486375"/>
            <a:ext cx="1514340" cy="251444"/>
            <a:chOff x="2849583" y="1486375"/>
            <a:chExt cx="1514340" cy="25144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440336-298D-4871-A1F6-804DBF458AE2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52" name="TextBox 11">
                <a:extLst>
                  <a:ext uri="{FF2B5EF4-FFF2-40B4-BE49-F238E27FC236}">
                    <a16:creationId xmlns:a16="http://schemas.microsoft.com/office/drawing/2014/main" id="{5E06B31F-D1BD-46A3-8109-0B8C30B1600B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617F8E9-0F75-4EBB-A2B6-435146D8523D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AD01AD6-D1EC-4F32-934C-9AAE45CBDE19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48" name="TextBox 11">
                <a:extLst>
                  <a:ext uri="{FF2B5EF4-FFF2-40B4-BE49-F238E27FC236}">
                    <a16:creationId xmlns:a16="http://schemas.microsoft.com/office/drawing/2014/main" id="{1C7B3951-9F5D-41E2-B4DB-9DB946E6F80B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2E0DA18-045F-4EF0-824F-F64E2606F29C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8479517-D681-47E7-A707-ABF650A35A79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44" name="TextBox 11">
                <a:extLst>
                  <a:ext uri="{FF2B5EF4-FFF2-40B4-BE49-F238E27FC236}">
                    <a16:creationId xmlns:a16="http://schemas.microsoft.com/office/drawing/2014/main" id="{EAC444D9-01D8-4C9E-B25E-FB8CD6CF4107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C7E48D-D0E7-42E1-84A5-058C8326DCE6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532DA45-AA69-40D0-9A8D-241B796CFA53}"/>
              </a:ext>
            </a:extLst>
          </p:cNvPr>
          <p:cNvGrpSpPr/>
          <p:nvPr/>
        </p:nvGrpSpPr>
        <p:grpSpPr>
          <a:xfrm>
            <a:off x="9378066" y="1469119"/>
            <a:ext cx="1619918" cy="251444"/>
            <a:chOff x="2779226" y="1486375"/>
            <a:chExt cx="1584697" cy="25144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9869AF1-1897-41BE-AE42-E1637EC1B71B}"/>
                </a:ext>
              </a:extLst>
            </p:cNvPr>
            <p:cNvGrpSpPr/>
            <p:nvPr/>
          </p:nvGrpSpPr>
          <p:grpSpPr>
            <a:xfrm>
              <a:off x="3231247" y="1486375"/>
              <a:ext cx="640689" cy="251444"/>
              <a:chOff x="5694453" y="5827750"/>
              <a:chExt cx="640689" cy="251444"/>
            </a:xfrm>
          </p:grpSpPr>
          <p:sp>
            <p:nvSpPr>
              <p:cNvPr id="63" name="TextBox 11">
                <a:extLst>
                  <a:ext uri="{FF2B5EF4-FFF2-40B4-BE49-F238E27FC236}">
                    <a16:creationId xmlns:a16="http://schemas.microsoft.com/office/drawing/2014/main" id="{2C25D6A7-7F64-4205-A989-EC80E20A1E21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7,5%</a:t>
                </a: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41B36E0-1739-43B5-B677-AB8F3C51821A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0B9219C-CF5B-4F52-9E26-082D9046D902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61" name="TextBox 11">
                <a:extLst>
                  <a:ext uri="{FF2B5EF4-FFF2-40B4-BE49-F238E27FC236}">
                    <a16:creationId xmlns:a16="http://schemas.microsoft.com/office/drawing/2014/main" id="{A92BA75D-78B7-43A2-9AA4-5FC5A0D0AA13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15%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C79A0C9-0B3F-41DA-9475-229764DDE42F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067AEA0-F46E-439C-80EA-1CAED8958FE8}"/>
                </a:ext>
              </a:extLst>
            </p:cNvPr>
            <p:cNvGrpSpPr/>
            <p:nvPr/>
          </p:nvGrpSpPr>
          <p:grpSpPr>
            <a:xfrm>
              <a:off x="2779226" y="1486375"/>
              <a:ext cx="640689" cy="251444"/>
              <a:chOff x="5704504" y="5827750"/>
              <a:chExt cx="640689" cy="251444"/>
            </a:xfrm>
          </p:grpSpPr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6D32A957-DD4A-4119-AE4F-BAF52734E830}"/>
                  </a:ext>
                </a:extLst>
              </p:cNvPr>
              <p:cNvSpPr txBox="1"/>
              <p:nvPr/>
            </p:nvSpPr>
            <p:spPr>
              <a:xfrm>
                <a:off x="5704504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7,5%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5BB6948-A959-43E0-83E0-952B2EFEDFEA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E62AD48-4A89-4D78-902F-91D7A5F00F71}"/>
              </a:ext>
            </a:extLst>
          </p:cNvPr>
          <p:cNvGrpSpPr/>
          <p:nvPr/>
        </p:nvGrpSpPr>
        <p:grpSpPr>
          <a:xfrm>
            <a:off x="2849583" y="4032653"/>
            <a:ext cx="1514340" cy="251444"/>
            <a:chOff x="2849583" y="1486375"/>
            <a:chExt cx="1514340" cy="251444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1557E31-7CC1-4266-A880-935A3818D60D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74" name="TextBox 11">
                <a:extLst>
                  <a:ext uri="{FF2B5EF4-FFF2-40B4-BE49-F238E27FC236}">
                    <a16:creationId xmlns:a16="http://schemas.microsoft.com/office/drawing/2014/main" id="{4F097ADB-0132-4B85-8FCC-A32745EC716C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DD657C4-C969-46B4-BF3F-C4257B8FF63F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93E3C2C-8810-4EF5-BF9D-E3BC53A2D94A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72" name="TextBox 11">
                <a:extLst>
                  <a:ext uri="{FF2B5EF4-FFF2-40B4-BE49-F238E27FC236}">
                    <a16:creationId xmlns:a16="http://schemas.microsoft.com/office/drawing/2014/main" id="{E3228BBC-EA33-4FAE-A26B-C615D3DF172F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201AEDB-F07E-4CD9-A9B4-193E1A66ED2B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86CE8B2-9D52-4333-A30F-436828A9A7BE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69" name="TextBox 11">
                <a:extLst>
                  <a:ext uri="{FF2B5EF4-FFF2-40B4-BE49-F238E27FC236}">
                    <a16:creationId xmlns:a16="http://schemas.microsoft.com/office/drawing/2014/main" id="{80FFCBD8-AF3B-4212-8B85-B29E27B825CC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C10C9C4-2842-47F6-8EF0-D0858C930F2C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C47086E-8BE7-4E1B-B5BC-6D192072016B}"/>
              </a:ext>
            </a:extLst>
          </p:cNvPr>
          <p:cNvGrpSpPr/>
          <p:nvPr/>
        </p:nvGrpSpPr>
        <p:grpSpPr>
          <a:xfrm>
            <a:off x="6454398" y="4032653"/>
            <a:ext cx="1620000" cy="251444"/>
            <a:chOff x="2767391" y="1486375"/>
            <a:chExt cx="1596532" cy="251444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6D5B981-350E-456D-8A1F-34586261D8EF}"/>
                </a:ext>
              </a:extLst>
            </p:cNvPr>
            <p:cNvGrpSpPr/>
            <p:nvPr/>
          </p:nvGrpSpPr>
          <p:grpSpPr>
            <a:xfrm>
              <a:off x="3230655" y="1486375"/>
              <a:ext cx="640689" cy="251444"/>
              <a:chOff x="5693861" y="5827750"/>
              <a:chExt cx="640689" cy="251444"/>
            </a:xfrm>
          </p:grpSpPr>
          <p:sp>
            <p:nvSpPr>
              <p:cNvPr id="85" name="TextBox 11">
                <a:extLst>
                  <a:ext uri="{FF2B5EF4-FFF2-40B4-BE49-F238E27FC236}">
                    <a16:creationId xmlns:a16="http://schemas.microsoft.com/office/drawing/2014/main" id="{B9492E49-65F6-4BC8-B2DF-5DE1C682C220}"/>
                  </a:ext>
                </a:extLst>
              </p:cNvPr>
              <p:cNvSpPr txBox="1"/>
              <p:nvPr/>
            </p:nvSpPr>
            <p:spPr>
              <a:xfrm>
                <a:off x="5693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2,5%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4AA05F36-FD7E-411F-A116-AF45A8EB0F2F}"/>
                  </a:ext>
                </a:extLst>
              </p:cNvPr>
              <p:cNvSpPr/>
              <p:nvPr/>
            </p:nvSpPr>
            <p:spPr>
              <a:xfrm>
                <a:off x="5787806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8BBC9CE-5E6C-4A22-8CEB-935FEC2EEB75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47238924-030D-4C44-B2FD-CD7FEC665AB3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5%</a:t>
                </a: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7DF231-6B24-4A84-91B1-88A24F521226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270C624A-379F-4B98-B725-304E13043DE9}"/>
                </a:ext>
              </a:extLst>
            </p:cNvPr>
            <p:cNvGrpSpPr/>
            <p:nvPr/>
          </p:nvGrpSpPr>
          <p:grpSpPr>
            <a:xfrm>
              <a:off x="2767391" y="1486375"/>
              <a:ext cx="640689" cy="251444"/>
              <a:chOff x="5692669" y="5827750"/>
              <a:chExt cx="640689" cy="251444"/>
            </a:xfrm>
          </p:grpSpPr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3551AB9A-7ADB-4195-AFCF-5A4A534DCD7D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A18F418-2AD6-4E48-8CDD-22DFEFD8E2AB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630BB6CA-2964-41B0-9C21-1961E2D72743}"/>
              </a:ext>
            </a:extLst>
          </p:cNvPr>
          <p:cNvSpPr/>
          <p:nvPr/>
        </p:nvSpPr>
        <p:spPr>
          <a:xfrm>
            <a:off x="7616464" y="1200649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86BBE6C-C734-4E92-A4D1-EC70CEC44C88}"/>
              </a:ext>
            </a:extLst>
          </p:cNvPr>
          <p:cNvSpPr/>
          <p:nvPr/>
        </p:nvSpPr>
        <p:spPr>
          <a:xfrm>
            <a:off x="11383833" y="1200649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1D8B5EB-E96C-4B1D-953D-8BA08627C69A}"/>
              </a:ext>
            </a:extLst>
          </p:cNvPr>
          <p:cNvSpPr/>
          <p:nvPr/>
        </p:nvSpPr>
        <p:spPr>
          <a:xfrm>
            <a:off x="3938389" y="3748291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5A5EDA2-B901-472B-896F-A74D3D38D4BD}"/>
              </a:ext>
            </a:extLst>
          </p:cNvPr>
          <p:cNvGrpSpPr/>
          <p:nvPr/>
        </p:nvGrpSpPr>
        <p:grpSpPr>
          <a:xfrm>
            <a:off x="10188025" y="4032653"/>
            <a:ext cx="1620000" cy="251444"/>
            <a:chOff x="2767391" y="1486375"/>
            <a:chExt cx="1596532" cy="251444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2FC8F1A2-0A9D-4854-994E-3A0E1031BFAF}"/>
                </a:ext>
              </a:extLst>
            </p:cNvPr>
            <p:cNvGrpSpPr/>
            <p:nvPr/>
          </p:nvGrpSpPr>
          <p:grpSpPr>
            <a:xfrm>
              <a:off x="3230655" y="1486375"/>
              <a:ext cx="640689" cy="251444"/>
              <a:chOff x="5693861" y="5827750"/>
              <a:chExt cx="640689" cy="251444"/>
            </a:xfrm>
          </p:grpSpPr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F1AC4E64-038C-4B2B-AFE2-D2EBD076C3B3}"/>
                  </a:ext>
                </a:extLst>
              </p:cNvPr>
              <p:cNvSpPr txBox="1"/>
              <p:nvPr/>
            </p:nvSpPr>
            <p:spPr>
              <a:xfrm>
                <a:off x="5693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2,5%</a:t>
                </a: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CB0FAE80-FC5D-4B30-A415-A9C34265BEE3}"/>
                  </a:ext>
                </a:extLst>
              </p:cNvPr>
              <p:cNvSpPr/>
              <p:nvPr/>
            </p:nvSpPr>
            <p:spPr>
              <a:xfrm>
                <a:off x="5787806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9B46466-E873-4A69-B403-7CF4F7598F40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118" name="TextBox 11">
                <a:extLst>
                  <a:ext uri="{FF2B5EF4-FFF2-40B4-BE49-F238E27FC236}">
                    <a16:creationId xmlns:a16="http://schemas.microsoft.com/office/drawing/2014/main" id="{81E095F7-1A6E-42C8-AB89-9A722F6886E4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5%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1C4C73F-9747-430E-9654-D11043F6CA44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9D98076-505C-4C64-9DA6-34EBE31D4E0B}"/>
                </a:ext>
              </a:extLst>
            </p:cNvPr>
            <p:cNvGrpSpPr/>
            <p:nvPr/>
          </p:nvGrpSpPr>
          <p:grpSpPr>
            <a:xfrm>
              <a:off x="2767391" y="1486375"/>
              <a:ext cx="640689" cy="251444"/>
              <a:chOff x="5692669" y="5827750"/>
              <a:chExt cx="640689" cy="251444"/>
            </a:xfrm>
          </p:grpSpPr>
          <p:sp>
            <p:nvSpPr>
              <p:cNvPr id="116" name="TextBox 11">
                <a:extLst>
                  <a:ext uri="{FF2B5EF4-FFF2-40B4-BE49-F238E27FC236}">
                    <a16:creationId xmlns:a16="http://schemas.microsoft.com/office/drawing/2014/main" id="{3A9F8F16-90C5-4F6C-A6C2-FA50E44E6D0F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4A3A3766-BD70-4F2B-A10E-7D8D36447C09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2" name="Oval 121">
            <a:extLst>
              <a:ext uri="{FF2B5EF4-FFF2-40B4-BE49-F238E27FC236}">
                <a16:creationId xmlns:a16="http://schemas.microsoft.com/office/drawing/2014/main" id="{76FE4C8D-DFFE-437A-B96B-012A98ACF24D}"/>
              </a:ext>
            </a:extLst>
          </p:cNvPr>
          <p:cNvSpPr/>
          <p:nvPr/>
        </p:nvSpPr>
        <p:spPr>
          <a:xfrm>
            <a:off x="7616464" y="3743743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77225378-C6AE-499A-96B5-50A2DB6E12C4}"/>
              </a:ext>
            </a:extLst>
          </p:cNvPr>
          <p:cNvSpPr/>
          <p:nvPr/>
        </p:nvSpPr>
        <p:spPr>
          <a:xfrm>
            <a:off x="11383813" y="3743743"/>
            <a:ext cx="216000" cy="216000"/>
          </a:xfrm>
          <a:prstGeom prst="ellipse">
            <a:avLst/>
          </a:prstGeom>
          <a:solidFill>
            <a:srgbClr val="E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GraphicFramePr>
            <a:graphicFrameLocks/>
          </p:cNvGraphicFramePr>
          <p:nvPr/>
        </p:nvGraphicFramePr>
        <p:xfrm>
          <a:off x="785131" y="1520616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00000000-0008-0000-0000-000012000000}"/>
              </a:ext>
            </a:extLst>
          </p:cNvPr>
          <p:cNvGraphicFramePr>
            <a:graphicFrameLocks/>
          </p:cNvGraphicFramePr>
          <p:nvPr/>
        </p:nvGraphicFramePr>
        <p:xfrm>
          <a:off x="4486560" y="1520616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0000000-0008-0000-0000-00001E000000}"/>
              </a:ext>
            </a:extLst>
          </p:cNvPr>
          <p:cNvGraphicFramePr>
            <a:graphicFrameLocks/>
          </p:cNvGraphicFramePr>
          <p:nvPr/>
        </p:nvGraphicFramePr>
        <p:xfrm>
          <a:off x="8241033" y="1526346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00000000-0008-0000-0000-00002A000000}"/>
              </a:ext>
            </a:extLst>
          </p:cNvPr>
          <p:cNvGraphicFramePr>
            <a:graphicFrameLocks/>
          </p:cNvGraphicFramePr>
          <p:nvPr/>
        </p:nvGraphicFramePr>
        <p:xfrm>
          <a:off x="794125" y="4098629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0000000-0008-0000-0000-000036000000}"/>
              </a:ext>
            </a:extLst>
          </p:cNvPr>
          <p:cNvGraphicFramePr>
            <a:graphicFrameLocks/>
          </p:cNvGraphicFramePr>
          <p:nvPr/>
        </p:nvGraphicFramePr>
        <p:xfrm>
          <a:off x="4486560" y="4095240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0000000-0008-0000-0000-000042000000}"/>
              </a:ext>
            </a:extLst>
          </p:cNvPr>
          <p:cNvGraphicFramePr>
            <a:graphicFrameLocks/>
          </p:cNvGraphicFramePr>
          <p:nvPr/>
        </p:nvGraphicFramePr>
        <p:xfrm>
          <a:off x="8255018" y="4091851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325952-2C82-AEDE-4048-92AFF20C3EF1}"/>
              </a:ext>
            </a:extLst>
          </p:cNvPr>
          <p:cNvSpPr txBox="1"/>
          <p:nvPr/>
        </p:nvSpPr>
        <p:spPr>
          <a:xfrm>
            <a:off x="8129896" y="5414831"/>
            <a:ext cx="35995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Projeto MAT de Taxa de Juro, com data fim de Set-23, irá mitigar as incidências identificadas.</a:t>
            </a: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FF67403D-C191-4E30-99B7-0A3EABFA22A2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38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25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2E54E61B-6A1A-840E-1A83-2D29EA7B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93" y="566693"/>
            <a:ext cx="9862522" cy="409124"/>
          </a:xfrm>
        </p:spPr>
        <p:txBody>
          <a:bodyPr>
            <a:normAutofit fontScale="90000"/>
          </a:bodyPr>
          <a:lstStyle/>
          <a:p>
            <a:r>
              <a:rPr lang="pt-PT" err="1"/>
              <a:t>KRIs</a:t>
            </a:r>
            <a:r>
              <a:rPr lang="pt-PT"/>
              <a:t> – Risco de Gestão de Dados </a:t>
            </a:r>
            <a:r>
              <a:rPr lang="pt-PT" sz="2000"/>
              <a:t>(2/3)</a:t>
            </a:r>
            <a:endParaRPr lang="pt-PT"/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FC85F-914A-D848-3B40-E2756C93CD87}"/>
              </a:ext>
            </a:extLst>
          </p:cNvPr>
          <p:cNvSpPr txBox="1">
            <a:spLocks/>
          </p:cNvSpPr>
          <p:nvPr/>
        </p:nvSpPr>
        <p:spPr>
          <a:xfrm>
            <a:off x="716539" y="285807"/>
            <a:ext cx="10757334" cy="3048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727EC-B7DC-C42A-70A5-3DB3A028ADDA}"/>
              </a:ext>
            </a:extLst>
          </p:cNvPr>
          <p:cNvSpPr/>
          <p:nvPr/>
        </p:nvSpPr>
        <p:spPr>
          <a:xfrm>
            <a:off x="796419" y="1126375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2.3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Sistemas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com dados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não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reconciliados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com </a:t>
            </a:r>
            <a:r>
              <a:rPr kumimoji="0" lang="en-US" sz="1000" b="1" i="0" u="none" strike="noStrike" kern="1200" cap="small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contabilidade</a:t>
            </a:r>
            <a:r>
              <a:rPr kumimoji="0" lang="en-US" sz="1000" b="1" i="0" u="none" strike="noStrike" kern="1200" cap="sm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(%)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B58D9-1AF8-18D8-09EC-8DD58DDA5F4E}"/>
              </a:ext>
            </a:extLst>
          </p:cNvPr>
          <p:cNvSpPr/>
          <p:nvPr/>
        </p:nvSpPr>
        <p:spPr>
          <a:xfrm>
            <a:off x="4473664" y="112139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2.4 </a:t>
            </a: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DQI’s (&lt;50) por mais de 3 meses (%)</a:t>
            </a:r>
            <a:endParaRPr kumimoji="0" lang="en-US" sz="1000" b="1" i="0" u="none" strike="noStrike" kern="1200" cap="sm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B732D-B3C8-EA61-18EF-F8C5686D321A}"/>
              </a:ext>
            </a:extLst>
          </p:cNvPr>
          <p:cNvSpPr/>
          <p:nvPr/>
        </p:nvSpPr>
        <p:spPr>
          <a:xfrm>
            <a:off x="8241466" y="112139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2.5 </a:t>
            </a: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DQI’s não reportados por mais de 3 meses (%)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DCD52-1BBC-B266-40CE-7CD5B4C47C0C}"/>
              </a:ext>
            </a:extLst>
          </p:cNvPr>
          <p:cNvSpPr txBox="1"/>
          <p:nvPr/>
        </p:nvSpPr>
        <p:spPr>
          <a:xfrm>
            <a:off x="8241012" y="2872276"/>
            <a:ext cx="34843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Existe plano de CDO para implementar todos os DQI’s do modelo de controlo corporativo até Set-24.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D90049-C5AF-EA57-56B9-4C4BA34290C7}"/>
              </a:ext>
            </a:extLst>
          </p:cNvPr>
          <p:cNvSpPr/>
          <p:nvPr/>
        </p:nvSpPr>
        <p:spPr>
          <a:xfrm>
            <a:off x="796419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</a:t>
            </a: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3.1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Conceitos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com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ação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governo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DISA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Atr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.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Mínimos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(%)</a:t>
            </a:r>
            <a:endParaRPr kumimoji="0" lang="pt-PT" sz="1000" b="1" i="0" u="none" strike="noStrike" kern="1200" cap="sm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93EB38-711D-D4E0-78A0-EFD65E27C306}"/>
              </a:ext>
            </a:extLst>
          </p:cNvPr>
          <p:cNvSpPr/>
          <p:nvPr/>
        </p:nvSpPr>
        <p:spPr>
          <a:xfrm>
            <a:off x="4473664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3.3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Modelos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controlo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manuais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ou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baseados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EUC’s (%)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76A332-D9F5-819D-17DC-2D7CAEC21D6B}"/>
              </a:ext>
            </a:extLst>
          </p:cNvPr>
          <p:cNvSpPr/>
          <p:nvPr/>
        </p:nvSpPr>
        <p:spPr>
          <a:xfrm>
            <a:off x="8241466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4.1 Sistemas não protegidos contra perda de dados (%)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DB71B3-9391-4E2B-8DD4-549B540A41E6}"/>
              </a:ext>
            </a:extLst>
          </p:cNvPr>
          <p:cNvSpPr/>
          <p:nvPr/>
        </p:nvSpPr>
        <p:spPr>
          <a:xfrm>
            <a:off x="3812389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18937D-529D-467B-B676-0DFD756AE926}"/>
              </a:ext>
            </a:extLst>
          </p:cNvPr>
          <p:cNvSpPr/>
          <p:nvPr/>
        </p:nvSpPr>
        <p:spPr>
          <a:xfrm>
            <a:off x="7516409" y="1106072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D1889D-E713-4BAD-ADC9-DDFAFBAB81AB}"/>
              </a:ext>
            </a:extLst>
          </p:cNvPr>
          <p:cNvSpPr/>
          <p:nvPr/>
        </p:nvSpPr>
        <p:spPr>
          <a:xfrm>
            <a:off x="11257833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11F37E-3653-47A0-BFD5-6B6E6FA0645E}"/>
              </a:ext>
            </a:extLst>
          </p:cNvPr>
          <p:cNvSpPr/>
          <p:nvPr/>
        </p:nvSpPr>
        <p:spPr>
          <a:xfrm>
            <a:off x="3812389" y="3678565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B1DC57-6D34-4D42-A3E7-A322ECF1A3A0}"/>
              </a:ext>
            </a:extLst>
          </p:cNvPr>
          <p:cNvSpPr/>
          <p:nvPr/>
        </p:nvSpPr>
        <p:spPr>
          <a:xfrm>
            <a:off x="7490464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439399-7FE2-4F22-80CA-20FB1C78B2A5}"/>
              </a:ext>
            </a:extLst>
          </p:cNvPr>
          <p:cNvSpPr/>
          <p:nvPr/>
        </p:nvSpPr>
        <p:spPr>
          <a:xfrm>
            <a:off x="11257813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577FA2-33A9-437C-B918-6756C147ACF6}"/>
              </a:ext>
            </a:extLst>
          </p:cNvPr>
          <p:cNvSpPr/>
          <p:nvPr/>
        </p:nvSpPr>
        <p:spPr>
          <a:xfrm>
            <a:off x="7635514" y="1184608"/>
            <a:ext cx="216000" cy="216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18DEC5-3485-49AA-8E0D-3A2F11A54E72}"/>
              </a:ext>
            </a:extLst>
          </p:cNvPr>
          <p:cNvSpPr/>
          <p:nvPr/>
        </p:nvSpPr>
        <p:spPr>
          <a:xfrm>
            <a:off x="11383833" y="1200649"/>
            <a:ext cx="216000" cy="216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7DA95F6-76DF-40C1-B7E3-D543E20D50E2}"/>
              </a:ext>
            </a:extLst>
          </p:cNvPr>
          <p:cNvSpPr/>
          <p:nvPr/>
        </p:nvSpPr>
        <p:spPr>
          <a:xfrm>
            <a:off x="3938389" y="3748291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CE786-6384-44D2-8B5C-F7D79C642287}"/>
              </a:ext>
            </a:extLst>
          </p:cNvPr>
          <p:cNvSpPr/>
          <p:nvPr/>
        </p:nvSpPr>
        <p:spPr>
          <a:xfrm>
            <a:off x="7616464" y="3743743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CE83C25-D520-4D03-B866-1E1022ED9D42}"/>
              </a:ext>
            </a:extLst>
          </p:cNvPr>
          <p:cNvSpPr/>
          <p:nvPr/>
        </p:nvSpPr>
        <p:spPr>
          <a:xfrm>
            <a:off x="11383813" y="3743743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A50D922-77B6-4920-8D5A-356B6B8399CC}"/>
              </a:ext>
            </a:extLst>
          </p:cNvPr>
          <p:cNvGrpSpPr/>
          <p:nvPr/>
        </p:nvGrpSpPr>
        <p:grpSpPr>
          <a:xfrm>
            <a:off x="2849583" y="1486375"/>
            <a:ext cx="1514340" cy="251444"/>
            <a:chOff x="2849583" y="1486375"/>
            <a:chExt cx="1514340" cy="25144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86B9A44-4EDF-44E5-B9B6-0F4AB62FDA95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80CBE2B7-D456-4AB1-9E9E-CCB4EE7E9430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DEADF50-9C37-4DC9-B3FE-5968ACB6EAD3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DCE1905-FD8D-4774-8E96-92A1167F41A4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46" name="TextBox 11">
                <a:extLst>
                  <a:ext uri="{FF2B5EF4-FFF2-40B4-BE49-F238E27FC236}">
                    <a16:creationId xmlns:a16="http://schemas.microsoft.com/office/drawing/2014/main" id="{FF68BF23-48C2-4634-8F11-E3A2FB0AA257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1358-8ECE-49B2-812D-4DF40EB5122B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EA5813-B29E-4D97-BABD-E85A36652C22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44" name="TextBox 11">
                <a:extLst>
                  <a:ext uri="{FF2B5EF4-FFF2-40B4-BE49-F238E27FC236}">
                    <a16:creationId xmlns:a16="http://schemas.microsoft.com/office/drawing/2014/main" id="{35304CF4-F970-474C-950D-5101B65EF5DD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9F89C39-5D1B-4F34-A735-AEBD50191B70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9C3461B-DC9A-4C2F-909C-B7CDEE54B47C}"/>
              </a:ext>
            </a:extLst>
          </p:cNvPr>
          <p:cNvGrpSpPr/>
          <p:nvPr/>
        </p:nvGrpSpPr>
        <p:grpSpPr>
          <a:xfrm>
            <a:off x="10211486" y="1464244"/>
            <a:ext cx="1619918" cy="251444"/>
            <a:chOff x="2779226" y="1486375"/>
            <a:chExt cx="1584697" cy="25144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1CFC47C-95B4-4A1E-BF82-6E52F8785E7E}"/>
                </a:ext>
              </a:extLst>
            </p:cNvPr>
            <p:cNvGrpSpPr/>
            <p:nvPr/>
          </p:nvGrpSpPr>
          <p:grpSpPr>
            <a:xfrm>
              <a:off x="3231247" y="1486375"/>
              <a:ext cx="640689" cy="251444"/>
              <a:chOff x="5694453" y="5827750"/>
              <a:chExt cx="640689" cy="251444"/>
            </a:xfrm>
          </p:grpSpPr>
          <p:sp>
            <p:nvSpPr>
              <p:cNvPr id="70" name="TextBox 11">
                <a:extLst>
                  <a:ext uri="{FF2B5EF4-FFF2-40B4-BE49-F238E27FC236}">
                    <a16:creationId xmlns:a16="http://schemas.microsoft.com/office/drawing/2014/main" id="{0E8B0CAF-4181-47DF-85F7-A18D713D3D6A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2,5%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B9B4B6F-A181-4D7B-A15D-41286C1AEBD1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BE72293-E449-433E-866C-D92B2DFC3B64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68" name="TextBox 11">
                <a:extLst>
                  <a:ext uri="{FF2B5EF4-FFF2-40B4-BE49-F238E27FC236}">
                    <a16:creationId xmlns:a16="http://schemas.microsoft.com/office/drawing/2014/main" id="{EF040C33-50D9-41AE-AAD4-37D8D32B26A1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5%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24F0564-A309-46C8-A9F9-652BB6301AD0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071250B-CF29-45D0-B4AE-F1E7E290DA62}"/>
                </a:ext>
              </a:extLst>
            </p:cNvPr>
            <p:cNvGrpSpPr/>
            <p:nvPr/>
          </p:nvGrpSpPr>
          <p:grpSpPr>
            <a:xfrm>
              <a:off x="2779226" y="1486375"/>
              <a:ext cx="640689" cy="251444"/>
              <a:chOff x="5704504" y="5827750"/>
              <a:chExt cx="640689" cy="251444"/>
            </a:xfrm>
          </p:grpSpPr>
          <p:sp>
            <p:nvSpPr>
              <p:cNvPr id="66" name="TextBox 11">
                <a:extLst>
                  <a:ext uri="{FF2B5EF4-FFF2-40B4-BE49-F238E27FC236}">
                    <a16:creationId xmlns:a16="http://schemas.microsoft.com/office/drawing/2014/main" id="{B1DCE033-EDDD-4118-BFF7-A55D7751F38C}"/>
                  </a:ext>
                </a:extLst>
              </p:cNvPr>
              <p:cNvSpPr txBox="1"/>
              <p:nvPr/>
            </p:nvSpPr>
            <p:spPr>
              <a:xfrm>
                <a:off x="5704504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229557BB-E758-44B9-996A-90FF71ACE674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74A9BD50-A054-3F0F-552A-94E4DE46D0B9}"/>
              </a:ext>
            </a:extLst>
          </p:cNvPr>
          <p:cNvSpPr/>
          <p:nvPr/>
        </p:nvSpPr>
        <p:spPr>
          <a:xfrm>
            <a:off x="3935578" y="1203658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0D0CBB0-E1ED-4E62-A3E4-EE5FE086703F}"/>
              </a:ext>
            </a:extLst>
          </p:cNvPr>
          <p:cNvGraphicFramePr>
            <a:graphicFrameLocks/>
          </p:cNvGraphicFramePr>
          <p:nvPr/>
        </p:nvGraphicFramePr>
        <p:xfrm>
          <a:off x="793197" y="1522265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A7494FC-6880-B13F-FEE7-39EEFEB5E06D}"/>
              </a:ext>
            </a:extLst>
          </p:cNvPr>
          <p:cNvGrpSpPr/>
          <p:nvPr/>
        </p:nvGrpSpPr>
        <p:grpSpPr>
          <a:xfrm>
            <a:off x="6522475" y="1464244"/>
            <a:ext cx="1619918" cy="251444"/>
            <a:chOff x="2779226" y="1486375"/>
            <a:chExt cx="1584697" cy="2514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0DAEC4-313C-2F8E-D949-A06C7D987681}"/>
                </a:ext>
              </a:extLst>
            </p:cNvPr>
            <p:cNvGrpSpPr/>
            <p:nvPr/>
          </p:nvGrpSpPr>
          <p:grpSpPr>
            <a:xfrm>
              <a:off x="3231247" y="1486375"/>
              <a:ext cx="640689" cy="251444"/>
              <a:chOff x="5694453" y="5827750"/>
              <a:chExt cx="640689" cy="251444"/>
            </a:xfrm>
          </p:grpSpPr>
          <p:sp>
            <p:nvSpPr>
              <p:cNvPr id="15" name="TextBox 11">
                <a:extLst>
                  <a:ext uri="{FF2B5EF4-FFF2-40B4-BE49-F238E27FC236}">
                    <a16:creationId xmlns:a16="http://schemas.microsoft.com/office/drawing/2014/main" id="{E6A48021-F07C-75A9-3197-534BA8AD5B0B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2,5%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44ABE3E-7432-16F2-6C92-B420857BA4DA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6F8A076-EACF-27D8-403B-D6FD8F73F710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F9FCAB0-9CC4-2D1D-D2AD-7E245C5A6A54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5%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CBD56FF-F5E8-CE22-D114-58297F4DC90D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3FB734-478C-95F4-EF91-B5D42C9C6A12}"/>
                </a:ext>
              </a:extLst>
            </p:cNvPr>
            <p:cNvGrpSpPr/>
            <p:nvPr/>
          </p:nvGrpSpPr>
          <p:grpSpPr>
            <a:xfrm>
              <a:off x="2779226" y="1486375"/>
              <a:ext cx="640689" cy="251444"/>
              <a:chOff x="5704504" y="5827750"/>
              <a:chExt cx="640689" cy="251444"/>
            </a:xfrm>
          </p:grpSpPr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C199F61-B902-0A0E-464E-E5069F9BB53B}"/>
                  </a:ext>
                </a:extLst>
              </p:cNvPr>
              <p:cNvSpPr txBox="1"/>
              <p:nvPr/>
            </p:nvSpPr>
            <p:spPr>
              <a:xfrm>
                <a:off x="5704504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6E5D067-E7DB-F90E-116F-4A87FA17105B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0000000-0008-0000-0000-000066000000}"/>
              </a:ext>
            </a:extLst>
          </p:cNvPr>
          <p:cNvGraphicFramePr>
            <a:graphicFrameLocks/>
          </p:cNvGraphicFramePr>
          <p:nvPr/>
        </p:nvGraphicFramePr>
        <p:xfrm>
          <a:off x="4473664" y="1531250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0000000-0008-0000-0000-000072000000}"/>
              </a:ext>
            </a:extLst>
          </p:cNvPr>
          <p:cNvGraphicFramePr>
            <a:graphicFrameLocks/>
          </p:cNvGraphicFramePr>
          <p:nvPr/>
        </p:nvGraphicFramePr>
        <p:xfrm>
          <a:off x="8243406" y="1522265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D64A1CF6-7733-E4E2-D254-1A241893ED15}"/>
              </a:ext>
            </a:extLst>
          </p:cNvPr>
          <p:cNvGrpSpPr/>
          <p:nvPr/>
        </p:nvGrpSpPr>
        <p:grpSpPr>
          <a:xfrm>
            <a:off x="2867397" y="4045660"/>
            <a:ext cx="1514340" cy="251444"/>
            <a:chOff x="2849583" y="1486375"/>
            <a:chExt cx="1514340" cy="25144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14150E2-9B3D-C510-186B-433C2CB586D8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91" name="TextBox 11">
                <a:extLst>
                  <a:ext uri="{FF2B5EF4-FFF2-40B4-BE49-F238E27FC236}">
                    <a16:creationId xmlns:a16="http://schemas.microsoft.com/office/drawing/2014/main" id="{0EB330D0-B3EA-D91F-0BC8-DB4A812AB424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7C5D3D7-0E25-910A-95D2-BEAB903374C6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D2E200B-79DC-2D38-5DBE-1EB53E2F359C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89" name="TextBox 11">
                <a:extLst>
                  <a:ext uri="{FF2B5EF4-FFF2-40B4-BE49-F238E27FC236}">
                    <a16:creationId xmlns:a16="http://schemas.microsoft.com/office/drawing/2014/main" id="{FA6099F4-2177-7EA1-47B9-C089D04772D8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42EF5D9-AD18-33DD-E11E-205F20F90F78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EA61F84-5D69-DAC9-649C-F30F2F01C14A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86" name="TextBox 11">
                <a:extLst>
                  <a:ext uri="{FF2B5EF4-FFF2-40B4-BE49-F238E27FC236}">
                    <a16:creationId xmlns:a16="http://schemas.microsoft.com/office/drawing/2014/main" id="{C1B9BAB1-5D95-164F-51D9-18F000E9CBB2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59C5CDFD-C906-1056-90E7-48E19FE87275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93" name="Chart 92">
            <a:extLst>
              <a:ext uri="{FF2B5EF4-FFF2-40B4-BE49-F238E27FC236}">
                <a16:creationId xmlns:a16="http://schemas.microsoft.com/office/drawing/2014/main" id="{00000000-0008-0000-0000-00007E000000}"/>
              </a:ext>
            </a:extLst>
          </p:cNvPr>
          <p:cNvGraphicFramePr>
            <a:graphicFrameLocks/>
          </p:cNvGraphicFramePr>
          <p:nvPr/>
        </p:nvGraphicFramePr>
        <p:xfrm>
          <a:off x="801103" y="4083680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4FA7EB5-F02C-D426-4A64-FDE5307A14A0}"/>
              </a:ext>
            </a:extLst>
          </p:cNvPr>
          <p:cNvGrpSpPr/>
          <p:nvPr/>
        </p:nvGrpSpPr>
        <p:grpSpPr>
          <a:xfrm>
            <a:off x="6483284" y="4032653"/>
            <a:ext cx="1620000" cy="251444"/>
            <a:chOff x="2767391" y="1486375"/>
            <a:chExt cx="1596532" cy="25144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F5CC260-6DA5-E176-3F1A-96C2785C33C9}"/>
                </a:ext>
              </a:extLst>
            </p:cNvPr>
            <p:cNvGrpSpPr/>
            <p:nvPr/>
          </p:nvGrpSpPr>
          <p:grpSpPr>
            <a:xfrm>
              <a:off x="3230655" y="1486375"/>
              <a:ext cx="640689" cy="251444"/>
              <a:chOff x="5693861" y="5827750"/>
              <a:chExt cx="640689" cy="251444"/>
            </a:xfrm>
          </p:grpSpPr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002C4A96-6883-BA8B-E4BC-BB37FA66A616}"/>
                  </a:ext>
                </a:extLst>
              </p:cNvPr>
              <p:cNvSpPr txBox="1"/>
              <p:nvPr/>
            </p:nvSpPr>
            <p:spPr>
              <a:xfrm>
                <a:off x="5693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10%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AFDA7A6-B87D-1BD5-22C4-2CBF974F1003}"/>
                  </a:ext>
                </a:extLst>
              </p:cNvPr>
              <p:cNvSpPr/>
              <p:nvPr/>
            </p:nvSpPr>
            <p:spPr>
              <a:xfrm>
                <a:off x="5787806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CF2346F-E732-4861-09A5-20F4AB5DF38F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A026700A-DDB0-E758-F570-32235B4ABB79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20%</a:t>
                </a: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555D4F60-2103-07CE-F645-511D153ECBAC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43BE1A9B-26EE-9F96-6377-D93E8EC4A8CA}"/>
                </a:ext>
              </a:extLst>
            </p:cNvPr>
            <p:cNvGrpSpPr/>
            <p:nvPr/>
          </p:nvGrpSpPr>
          <p:grpSpPr>
            <a:xfrm>
              <a:off x="2767391" y="1486375"/>
              <a:ext cx="640689" cy="251444"/>
              <a:chOff x="5692669" y="5827750"/>
              <a:chExt cx="640689" cy="251444"/>
            </a:xfrm>
          </p:grpSpPr>
          <p:sp>
            <p:nvSpPr>
              <p:cNvPr id="119" name="TextBox 11">
                <a:extLst>
                  <a:ext uri="{FF2B5EF4-FFF2-40B4-BE49-F238E27FC236}">
                    <a16:creationId xmlns:a16="http://schemas.microsoft.com/office/drawing/2014/main" id="{F23F2550-A3FF-66B0-9B4C-3CC4C900F4A6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10%</a:t>
                </a: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8AC565D1-05AB-7EA5-4B22-3E825239077A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125" name="Chart 124">
            <a:extLst>
              <a:ext uri="{FF2B5EF4-FFF2-40B4-BE49-F238E27FC236}">
                <a16:creationId xmlns:a16="http://schemas.microsoft.com/office/drawing/2014/main" id="{00000000-0008-0000-0000-000096000000}"/>
              </a:ext>
            </a:extLst>
          </p:cNvPr>
          <p:cNvGraphicFramePr>
            <a:graphicFrameLocks/>
          </p:cNvGraphicFramePr>
          <p:nvPr/>
        </p:nvGraphicFramePr>
        <p:xfrm>
          <a:off x="4473664" y="4078018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3F7D2F8-9D83-3DAB-DE4D-467178A0AF4B}"/>
              </a:ext>
            </a:extLst>
          </p:cNvPr>
          <p:cNvGrpSpPr/>
          <p:nvPr/>
        </p:nvGrpSpPr>
        <p:grpSpPr>
          <a:xfrm>
            <a:off x="10247549" y="4026654"/>
            <a:ext cx="1619918" cy="251444"/>
            <a:chOff x="2779226" y="1486375"/>
            <a:chExt cx="1584697" cy="251444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AF9D2D90-6896-B286-7232-7D2254D48DFB}"/>
                </a:ext>
              </a:extLst>
            </p:cNvPr>
            <p:cNvGrpSpPr/>
            <p:nvPr/>
          </p:nvGrpSpPr>
          <p:grpSpPr>
            <a:xfrm>
              <a:off x="3231247" y="1486375"/>
              <a:ext cx="640689" cy="251444"/>
              <a:chOff x="5694453" y="5827750"/>
              <a:chExt cx="640689" cy="251444"/>
            </a:xfrm>
          </p:grpSpPr>
          <p:sp>
            <p:nvSpPr>
              <p:cNvPr id="134" name="TextBox 11">
                <a:extLst>
                  <a:ext uri="{FF2B5EF4-FFF2-40B4-BE49-F238E27FC236}">
                    <a16:creationId xmlns:a16="http://schemas.microsoft.com/office/drawing/2014/main" id="{22CA209D-6F94-3099-A436-A606CF2E0EF7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2,5%</a:t>
                </a: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661D8D1A-0E8A-44B5-E544-ED7E927D9C7C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8D49E4F0-7B9C-AC90-CC4F-D820EE438A56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132" name="TextBox 11">
                <a:extLst>
                  <a:ext uri="{FF2B5EF4-FFF2-40B4-BE49-F238E27FC236}">
                    <a16:creationId xmlns:a16="http://schemas.microsoft.com/office/drawing/2014/main" id="{55C1B7B8-B309-FCA2-47AF-814648EE375E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 &gt; 5%</a:t>
                </a: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23E0979-E6F9-4C8A-E441-C7ACC84BF0AF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8BD25EC-3411-F249-44BF-8553A54EAC5A}"/>
                </a:ext>
              </a:extLst>
            </p:cNvPr>
            <p:cNvGrpSpPr/>
            <p:nvPr/>
          </p:nvGrpSpPr>
          <p:grpSpPr>
            <a:xfrm>
              <a:off x="2779226" y="1486375"/>
              <a:ext cx="640689" cy="251444"/>
              <a:chOff x="5704504" y="5827750"/>
              <a:chExt cx="640689" cy="251444"/>
            </a:xfrm>
          </p:grpSpPr>
          <p:sp>
            <p:nvSpPr>
              <p:cNvPr id="130" name="TextBox 11">
                <a:extLst>
                  <a:ext uri="{FF2B5EF4-FFF2-40B4-BE49-F238E27FC236}">
                    <a16:creationId xmlns:a16="http://schemas.microsoft.com/office/drawing/2014/main" id="{1C15A371-E83D-668A-03C5-705DBE6620EA}"/>
                  </a:ext>
                </a:extLst>
              </p:cNvPr>
              <p:cNvSpPr txBox="1"/>
              <p:nvPr/>
            </p:nvSpPr>
            <p:spPr>
              <a:xfrm>
                <a:off x="5704504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A3517DD-E904-0926-83C1-7ABED235DF70}"/>
                  </a:ext>
                </a:extLst>
              </p:cNvPr>
              <p:cNvSpPr/>
              <p:nvPr/>
            </p:nvSpPr>
            <p:spPr>
              <a:xfrm>
                <a:off x="5788401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136" name="Chart 135">
            <a:extLst>
              <a:ext uri="{FF2B5EF4-FFF2-40B4-BE49-F238E27FC236}">
                <a16:creationId xmlns:a16="http://schemas.microsoft.com/office/drawing/2014/main" id="{00000000-0008-0000-0000-0000AE000000}"/>
              </a:ext>
            </a:extLst>
          </p:cNvPr>
          <p:cNvGraphicFramePr>
            <a:graphicFrameLocks/>
          </p:cNvGraphicFramePr>
          <p:nvPr/>
        </p:nvGraphicFramePr>
        <p:xfrm>
          <a:off x="8241012" y="4069269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93BEC285-E836-B787-8331-8949FCD0442F}"/>
              </a:ext>
            </a:extLst>
          </p:cNvPr>
          <p:cNvSpPr txBox="1"/>
          <p:nvPr/>
        </p:nvSpPr>
        <p:spPr>
          <a:xfrm>
            <a:off x="4474117" y="2903132"/>
            <a:ext cx="34843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Incidências e planos de ação são reportadas mensalmente no FGQD.</a:t>
            </a:r>
          </a:p>
        </p:txBody>
      </p:sp>
      <p:sp>
        <p:nvSpPr>
          <p:cNvPr id="19" name="Marcador de número de diapositiva 2">
            <a:extLst>
              <a:ext uri="{FF2B5EF4-FFF2-40B4-BE49-F238E27FC236}">
                <a16:creationId xmlns:a16="http://schemas.microsoft.com/office/drawing/2014/main" id="{9B228444-E24D-8D63-2A72-1F76A7F3A8E1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39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9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2E54E61B-6A1A-840E-1A83-2D29EA7B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18" y="566693"/>
            <a:ext cx="9862522" cy="409124"/>
          </a:xfrm>
        </p:spPr>
        <p:txBody>
          <a:bodyPr>
            <a:normAutofit fontScale="90000"/>
          </a:bodyPr>
          <a:lstStyle/>
          <a:p>
            <a:r>
              <a:rPr lang="pt-PT" err="1"/>
              <a:t>KRIs</a:t>
            </a:r>
            <a:r>
              <a:rPr lang="pt-PT"/>
              <a:t> – Risco de Gestão de Dados </a:t>
            </a:r>
            <a:r>
              <a:rPr lang="pt-PT" sz="2000"/>
              <a:t>(3/3)</a:t>
            </a:r>
            <a:endParaRPr lang="pt-PT"/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FC85F-914A-D848-3B40-E2756C93CD87}"/>
              </a:ext>
            </a:extLst>
          </p:cNvPr>
          <p:cNvSpPr txBox="1">
            <a:spLocks/>
          </p:cNvSpPr>
          <p:nvPr/>
        </p:nvSpPr>
        <p:spPr>
          <a:xfrm>
            <a:off x="716539" y="285807"/>
            <a:ext cx="10757334" cy="3048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2F7631-0778-191E-DDCC-2D7FB6D371A4}"/>
              </a:ext>
            </a:extLst>
          </p:cNvPr>
          <p:cNvSpPr/>
          <p:nvPr/>
        </p:nvSpPr>
        <p:spPr>
          <a:xfrm>
            <a:off x="796044" y="114044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5.1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Relatórios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modelo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controlo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qualidade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documentado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(#)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2E991C-B9E8-BC22-BE70-FEA13207DA5A}"/>
              </a:ext>
            </a:extLst>
          </p:cNvPr>
          <p:cNvSpPr/>
          <p:nvPr/>
        </p:nvSpPr>
        <p:spPr>
          <a:xfrm>
            <a:off x="4473664" y="114044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KRI 5.2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Relatórios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processo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geração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documentado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(#)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6DE2F7-4400-85A4-2FD6-6037DC9B5EDA}"/>
              </a:ext>
            </a:extLst>
          </p:cNvPr>
          <p:cNvSpPr/>
          <p:nvPr/>
        </p:nvSpPr>
        <p:spPr>
          <a:xfrm>
            <a:off x="8241466" y="114044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LKRI 1.1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Conceitos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fluxo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de dados (%)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2F5D4AF-FF14-4B2C-B12B-197C395E54A9}"/>
              </a:ext>
            </a:extLst>
          </p:cNvPr>
          <p:cNvSpPr/>
          <p:nvPr/>
        </p:nvSpPr>
        <p:spPr>
          <a:xfrm>
            <a:off x="796419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LKRI 1.2. %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Métricas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/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Conceitos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Atributos</a:t>
            </a:r>
            <a:r>
              <a:rPr kumimoji="0" lang="en-US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</a:t>
            </a:r>
            <a:r>
              <a:rPr kumimoji="0" lang="en-US" sz="1000" b="1" i="0" u="none" strike="noStrike" kern="1200" cap="small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Mínimos</a:t>
            </a:r>
            <a:endParaRPr kumimoji="0" lang="en-US" sz="1000" b="1" i="0" u="none" strike="noStrike" kern="1200" cap="sm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0FCE382-EE45-4794-AAD8-CE634F3EE510}"/>
              </a:ext>
            </a:extLst>
          </p:cNvPr>
          <p:cNvSpPr/>
          <p:nvPr/>
        </p:nvSpPr>
        <p:spPr>
          <a:xfrm>
            <a:off x="4473664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LKRI 1.3. # ingestas não aprovadas em working group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C0E81B4-C65A-4BA1-AB49-51F9261ECA1E}"/>
              </a:ext>
            </a:extLst>
          </p:cNvPr>
          <p:cNvSpPr/>
          <p:nvPr/>
        </p:nvSpPr>
        <p:spPr>
          <a:xfrm>
            <a:off x="8241466" y="3674017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LKRI 1.4 Ingestas não inventariadas no inevntário de ingestas (%)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BF4EDF-9E0D-4A3A-AD5F-221CFF561327}"/>
              </a:ext>
            </a:extLst>
          </p:cNvPr>
          <p:cNvSpPr txBox="1"/>
          <p:nvPr/>
        </p:nvSpPr>
        <p:spPr>
          <a:xfrm>
            <a:off x="795591" y="5438735"/>
            <a:ext cx="34843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Aumento relacionado com inclusão de novas métricas no universo em análise. Estas métricas não tinham o campo Ação de Governo preenchido, tendo sido corrigido corporativamente.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C8F9C-8EDD-49B8-A604-408D2DA5242D}"/>
              </a:ext>
            </a:extLst>
          </p:cNvPr>
          <p:cNvSpPr/>
          <p:nvPr/>
        </p:nvSpPr>
        <p:spPr>
          <a:xfrm>
            <a:off x="3812389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951FD4-8049-42C4-8B70-D7811317DD9F}"/>
              </a:ext>
            </a:extLst>
          </p:cNvPr>
          <p:cNvSpPr/>
          <p:nvPr/>
        </p:nvSpPr>
        <p:spPr>
          <a:xfrm>
            <a:off x="7490464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19AF7C-0C05-4480-AD4B-8E67B5D58BDD}"/>
              </a:ext>
            </a:extLst>
          </p:cNvPr>
          <p:cNvSpPr/>
          <p:nvPr/>
        </p:nvSpPr>
        <p:spPr>
          <a:xfrm>
            <a:off x="11257833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55B770-0ED0-4744-87C5-CE9B50F8BA9C}"/>
              </a:ext>
            </a:extLst>
          </p:cNvPr>
          <p:cNvSpPr/>
          <p:nvPr/>
        </p:nvSpPr>
        <p:spPr>
          <a:xfrm>
            <a:off x="3812389" y="3678565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618433-B550-484A-A837-A880104CAED3}"/>
              </a:ext>
            </a:extLst>
          </p:cNvPr>
          <p:cNvSpPr/>
          <p:nvPr/>
        </p:nvSpPr>
        <p:spPr>
          <a:xfrm>
            <a:off x="7490464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21409C-D585-4D69-9B94-A70435CBBE2F}"/>
              </a:ext>
            </a:extLst>
          </p:cNvPr>
          <p:cNvSpPr/>
          <p:nvPr/>
        </p:nvSpPr>
        <p:spPr>
          <a:xfrm>
            <a:off x="11257813" y="3674017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653D65-4F68-43D6-AA88-63B51A7914DA}"/>
              </a:ext>
            </a:extLst>
          </p:cNvPr>
          <p:cNvSpPr/>
          <p:nvPr/>
        </p:nvSpPr>
        <p:spPr>
          <a:xfrm>
            <a:off x="3932311" y="1200649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FE3C3E3-C55F-480C-9B4D-8A8359877FFB}"/>
              </a:ext>
            </a:extLst>
          </p:cNvPr>
          <p:cNvSpPr/>
          <p:nvPr/>
        </p:nvSpPr>
        <p:spPr>
          <a:xfrm>
            <a:off x="7616464" y="1200649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5EB22A-3CA0-4CBF-AA03-AD0A4EA19D12}"/>
              </a:ext>
            </a:extLst>
          </p:cNvPr>
          <p:cNvGrpSpPr/>
          <p:nvPr/>
        </p:nvGrpSpPr>
        <p:grpSpPr>
          <a:xfrm>
            <a:off x="6875632" y="1486375"/>
            <a:ext cx="1172171" cy="251444"/>
            <a:chOff x="2972871" y="1486375"/>
            <a:chExt cx="1172171" cy="25144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7B8C846-7AA7-42A6-A087-EA6F851E04D8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62" name="TextBox 11">
                <a:extLst>
                  <a:ext uri="{FF2B5EF4-FFF2-40B4-BE49-F238E27FC236}">
                    <a16:creationId xmlns:a16="http://schemas.microsoft.com/office/drawing/2014/main" id="{3D9CC9EE-2C5D-48F1-8940-2B5EB99B5275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0</a:t>
                </a: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4D4F7E9-49F3-447B-8C53-5F0876A7283F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5E821EE-314B-44E9-8CC9-AED0113298EE}"/>
                </a:ext>
              </a:extLst>
            </p:cNvPr>
            <p:cNvGrpSpPr/>
            <p:nvPr/>
          </p:nvGrpSpPr>
          <p:grpSpPr>
            <a:xfrm>
              <a:off x="3641042" y="1486375"/>
              <a:ext cx="504000" cy="251444"/>
              <a:chOff x="5692669" y="5827750"/>
              <a:chExt cx="504000" cy="251444"/>
            </a:xfrm>
          </p:grpSpPr>
          <p:sp>
            <p:nvSpPr>
              <p:cNvPr id="57" name="TextBox 11">
                <a:extLst>
                  <a:ext uri="{FF2B5EF4-FFF2-40B4-BE49-F238E27FC236}">
                    <a16:creationId xmlns:a16="http://schemas.microsoft.com/office/drawing/2014/main" id="{004BC644-EFCC-464D-85D3-D1446D533643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504000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0</a:t>
                </a: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3905B46-E391-4A9A-9ECF-4F21ECD79F84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4D34B00-A6A3-4099-AE5E-BD10ECF4FE24}"/>
                </a:ext>
              </a:extLst>
            </p:cNvPr>
            <p:cNvGrpSpPr/>
            <p:nvPr/>
          </p:nvGrpSpPr>
          <p:grpSpPr>
            <a:xfrm>
              <a:off x="2972871" y="1486375"/>
              <a:ext cx="640689" cy="251444"/>
              <a:chOff x="5898149" y="5827750"/>
              <a:chExt cx="640689" cy="251444"/>
            </a:xfrm>
          </p:grpSpPr>
          <p:sp>
            <p:nvSpPr>
              <p:cNvPr id="55" name="TextBox 11">
                <a:extLst>
                  <a:ext uri="{FF2B5EF4-FFF2-40B4-BE49-F238E27FC236}">
                    <a16:creationId xmlns:a16="http://schemas.microsoft.com/office/drawing/2014/main" id="{6A036919-20A1-49B5-A3F6-0B4ABA22CAC6}"/>
                  </a:ext>
                </a:extLst>
              </p:cNvPr>
              <p:cNvSpPr txBox="1"/>
              <p:nvPr/>
            </p:nvSpPr>
            <p:spPr>
              <a:xfrm>
                <a:off x="589814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= 0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9EBB190-005B-44EC-88A9-D29FD80B7963}"/>
                  </a:ext>
                </a:extLst>
              </p:cNvPr>
              <p:cNvSpPr/>
              <p:nvPr/>
            </p:nvSpPr>
            <p:spPr>
              <a:xfrm>
                <a:off x="599209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A5C7AAE2-632D-4D40-9DCE-995C32FFC88E}"/>
              </a:ext>
            </a:extLst>
          </p:cNvPr>
          <p:cNvSpPr/>
          <p:nvPr/>
        </p:nvSpPr>
        <p:spPr>
          <a:xfrm>
            <a:off x="11383833" y="1200649"/>
            <a:ext cx="216000" cy="216000"/>
          </a:xfrm>
          <a:prstGeom prst="ellipse">
            <a:avLst/>
          </a:prstGeom>
          <a:solidFill>
            <a:srgbClr val="E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D289738-BBD1-4518-97B1-1B2B962DD101}"/>
              </a:ext>
            </a:extLst>
          </p:cNvPr>
          <p:cNvSpPr/>
          <p:nvPr/>
        </p:nvSpPr>
        <p:spPr>
          <a:xfrm>
            <a:off x="3938389" y="3748291"/>
            <a:ext cx="216000" cy="216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3BBE215-45CE-4939-8E86-4B340AC8A2C7}"/>
              </a:ext>
            </a:extLst>
          </p:cNvPr>
          <p:cNvSpPr/>
          <p:nvPr/>
        </p:nvSpPr>
        <p:spPr>
          <a:xfrm>
            <a:off x="7616464" y="3743743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BB02163-E660-4BE9-92B5-1D2FB163AC8B}"/>
              </a:ext>
            </a:extLst>
          </p:cNvPr>
          <p:cNvSpPr/>
          <p:nvPr/>
        </p:nvSpPr>
        <p:spPr>
          <a:xfrm>
            <a:off x="11383813" y="3743743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3C22EE9-EC04-44B2-9D75-2DB8D74C1905}"/>
              </a:ext>
            </a:extLst>
          </p:cNvPr>
          <p:cNvGrpSpPr/>
          <p:nvPr/>
        </p:nvGrpSpPr>
        <p:grpSpPr>
          <a:xfrm>
            <a:off x="10659233" y="4032653"/>
            <a:ext cx="1172171" cy="251444"/>
            <a:chOff x="2972871" y="1486375"/>
            <a:chExt cx="1172171" cy="251444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26DE7507-7103-4025-8EA7-4B59E3C92A1A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20" name="TextBox 11">
                <a:extLst>
                  <a:ext uri="{FF2B5EF4-FFF2-40B4-BE49-F238E27FC236}">
                    <a16:creationId xmlns:a16="http://schemas.microsoft.com/office/drawing/2014/main" id="{BCD73AD7-845A-4029-99F1-F80B4C048467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0</a:t>
                </a: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1351DE4B-2B0D-485A-A94E-505262AEB3A9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A591FD20-D4B1-4A99-B878-D6DDB2A0663F}"/>
                </a:ext>
              </a:extLst>
            </p:cNvPr>
            <p:cNvGrpSpPr/>
            <p:nvPr/>
          </p:nvGrpSpPr>
          <p:grpSpPr>
            <a:xfrm>
              <a:off x="3641042" y="1486375"/>
              <a:ext cx="504000" cy="251444"/>
              <a:chOff x="5692669" y="5827750"/>
              <a:chExt cx="504000" cy="251444"/>
            </a:xfrm>
          </p:grpSpPr>
          <p:sp>
            <p:nvSpPr>
              <p:cNvPr id="118" name="TextBox 11">
                <a:extLst>
                  <a:ext uri="{FF2B5EF4-FFF2-40B4-BE49-F238E27FC236}">
                    <a16:creationId xmlns:a16="http://schemas.microsoft.com/office/drawing/2014/main" id="{659F5023-769F-48B0-B38E-8B580E280ADD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504000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1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436AAD07-0A40-4B2B-B548-F4F2012C3272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A14EB4C9-536D-4A56-8223-D91308A9714B}"/>
                </a:ext>
              </a:extLst>
            </p:cNvPr>
            <p:cNvGrpSpPr/>
            <p:nvPr/>
          </p:nvGrpSpPr>
          <p:grpSpPr>
            <a:xfrm>
              <a:off x="2972871" y="1486375"/>
              <a:ext cx="640689" cy="251444"/>
              <a:chOff x="5898149" y="5827750"/>
              <a:chExt cx="640689" cy="251444"/>
            </a:xfrm>
          </p:grpSpPr>
          <p:sp>
            <p:nvSpPr>
              <p:cNvPr id="116" name="TextBox 11">
                <a:extLst>
                  <a:ext uri="{FF2B5EF4-FFF2-40B4-BE49-F238E27FC236}">
                    <a16:creationId xmlns:a16="http://schemas.microsoft.com/office/drawing/2014/main" id="{01CDCC99-31E8-4992-B3DE-AA6B0AEFC656}"/>
                  </a:ext>
                </a:extLst>
              </p:cNvPr>
              <p:cNvSpPr txBox="1"/>
              <p:nvPr/>
            </p:nvSpPr>
            <p:spPr>
              <a:xfrm>
                <a:off x="589814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= 0</a:t>
                </a: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05DF6A02-1746-4235-AAFA-22DB0B0BA4B2}"/>
                  </a:ext>
                </a:extLst>
              </p:cNvPr>
              <p:cNvSpPr/>
              <p:nvPr/>
            </p:nvSpPr>
            <p:spPr>
              <a:xfrm>
                <a:off x="599209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D9113D-3835-A7CB-A105-84163F8953E8}"/>
              </a:ext>
            </a:extLst>
          </p:cNvPr>
          <p:cNvGrpSpPr/>
          <p:nvPr/>
        </p:nvGrpSpPr>
        <p:grpSpPr>
          <a:xfrm>
            <a:off x="3211700" y="1475278"/>
            <a:ext cx="1172171" cy="251444"/>
            <a:chOff x="2972871" y="1486375"/>
            <a:chExt cx="1172171" cy="2514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5B0B61-F563-0453-CD39-79251D5A9E8A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129ED202-FF13-3C4A-947A-B9A04C4B5DA5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0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8EFB237-659B-F549-DF19-5C922984C5CC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C718A57-8F7E-F5CE-BB4C-B1097C4CA15E}"/>
                </a:ext>
              </a:extLst>
            </p:cNvPr>
            <p:cNvGrpSpPr/>
            <p:nvPr/>
          </p:nvGrpSpPr>
          <p:grpSpPr>
            <a:xfrm>
              <a:off x="3641042" y="1486375"/>
              <a:ext cx="504000" cy="251444"/>
              <a:chOff x="5692669" y="5827750"/>
              <a:chExt cx="504000" cy="251444"/>
            </a:xfrm>
          </p:grpSpPr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BCD538-8F4A-8C55-4199-B472372B4296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504000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0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4BBB194-71F0-1D4A-691F-018D257EF190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29DBB2-400A-C649-0621-725DA97751EF}"/>
                </a:ext>
              </a:extLst>
            </p:cNvPr>
            <p:cNvGrpSpPr/>
            <p:nvPr/>
          </p:nvGrpSpPr>
          <p:grpSpPr>
            <a:xfrm>
              <a:off x="2972871" y="1486375"/>
              <a:ext cx="640689" cy="251444"/>
              <a:chOff x="5898149" y="5827750"/>
              <a:chExt cx="640689" cy="251444"/>
            </a:xfrm>
          </p:grpSpPr>
          <p:sp>
            <p:nvSpPr>
              <p:cNvPr id="6" name="TextBox 11">
                <a:extLst>
                  <a:ext uri="{FF2B5EF4-FFF2-40B4-BE49-F238E27FC236}">
                    <a16:creationId xmlns:a16="http://schemas.microsoft.com/office/drawing/2014/main" id="{DD6267C9-2C47-34B1-4489-5F6F85A4792C}"/>
                  </a:ext>
                </a:extLst>
              </p:cNvPr>
              <p:cNvSpPr txBox="1"/>
              <p:nvPr/>
            </p:nvSpPr>
            <p:spPr>
              <a:xfrm>
                <a:off x="589814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= 0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DC5BD8E-4573-58FC-F7BE-6393A0675DFB}"/>
                  </a:ext>
                </a:extLst>
              </p:cNvPr>
              <p:cNvSpPr/>
              <p:nvPr/>
            </p:nvSpPr>
            <p:spPr>
              <a:xfrm>
                <a:off x="599209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0000000-0008-0000-0000-0000BA000000}"/>
              </a:ext>
            </a:extLst>
          </p:cNvPr>
          <p:cNvGraphicFramePr>
            <a:graphicFrameLocks/>
          </p:cNvGraphicFramePr>
          <p:nvPr/>
        </p:nvGraphicFramePr>
        <p:xfrm>
          <a:off x="795364" y="1545004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00000000-0008-0000-0000-0000C6000000}"/>
              </a:ext>
            </a:extLst>
          </p:cNvPr>
          <p:cNvGraphicFramePr>
            <a:graphicFrameLocks/>
          </p:cNvGraphicFramePr>
          <p:nvPr/>
        </p:nvGraphicFramePr>
        <p:xfrm>
          <a:off x="4495688" y="1545004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7D940223-2BB8-571C-6FD6-989A6BDCE5B8}"/>
              </a:ext>
            </a:extLst>
          </p:cNvPr>
          <p:cNvGrpSpPr/>
          <p:nvPr/>
        </p:nvGrpSpPr>
        <p:grpSpPr>
          <a:xfrm>
            <a:off x="10250084" y="1475278"/>
            <a:ext cx="1630192" cy="251444"/>
            <a:chOff x="2769175" y="1486375"/>
            <a:chExt cx="1594748" cy="25144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5FD671A-5C92-53A0-63DD-91E28AF589CF}"/>
                </a:ext>
              </a:extLst>
            </p:cNvPr>
            <p:cNvGrpSpPr/>
            <p:nvPr/>
          </p:nvGrpSpPr>
          <p:grpSpPr>
            <a:xfrm>
              <a:off x="3231247" y="1486375"/>
              <a:ext cx="640689" cy="251444"/>
              <a:chOff x="5694453" y="5827750"/>
              <a:chExt cx="640689" cy="251444"/>
            </a:xfrm>
          </p:grpSpPr>
          <p:sp>
            <p:nvSpPr>
              <p:cNvPr id="38" name="TextBox 11">
                <a:extLst>
                  <a:ext uri="{FF2B5EF4-FFF2-40B4-BE49-F238E27FC236}">
                    <a16:creationId xmlns:a16="http://schemas.microsoft.com/office/drawing/2014/main" id="{B0547720-9350-31FA-7345-E0E5D70E36CE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2,5%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F1561B1-CB32-9F95-822D-AB20A12A892F}"/>
                  </a:ext>
                </a:extLst>
              </p:cNvPr>
              <p:cNvSpPr/>
              <p:nvPr/>
            </p:nvSpPr>
            <p:spPr>
              <a:xfrm>
                <a:off x="5788400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A12348-9B9D-6B5D-F05D-2EF98293D15D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35" name="TextBox 11">
                <a:extLst>
                  <a:ext uri="{FF2B5EF4-FFF2-40B4-BE49-F238E27FC236}">
                    <a16:creationId xmlns:a16="http://schemas.microsoft.com/office/drawing/2014/main" id="{5EAB5627-AD29-6F9B-485A-A936759D76E2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B2DF620-EFC5-66C6-A523-7F42B7E92807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6822B27-DD77-A248-3549-EBFB8A42E39B}"/>
                </a:ext>
              </a:extLst>
            </p:cNvPr>
            <p:cNvGrpSpPr/>
            <p:nvPr/>
          </p:nvGrpSpPr>
          <p:grpSpPr>
            <a:xfrm>
              <a:off x="2769175" y="1486375"/>
              <a:ext cx="640689" cy="251444"/>
              <a:chOff x="5694453" y="5827750"/>
              <a:chExt cx="640689" cy="251444"/>
            </a:xfrm>
          </p:grpSpPr>
          <p:sp>
            <p:nvSpPr>
              <p:cNvPr id="33" name="TextBox 11">
                <a:extLst>
                  <a:ext uri="{FF2B5EF4-FFF2-40B4-BE49-F238E27FC236}">
                    <a16:creationId xmlns:a16="http://schemas.microsoft.com/office/drawing/2014/main" id="{C05FA0F1-0F49-3185-FCB4-CAE70751749C}"/>
                  </a:ext>
                </a:extLst>
              </p:cNvPr>
              <p:cNvSpPr txBox="1"/>
              <p:nvPr/>
            </p:nvSpPr>
            <p:spPr>
              <a:xfrm>
                <a:off x="5694453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2,5%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06F72-0053-A44C-AA26-932736313429}"/>
                  </a:ext>
                </a:extLst>
              </p:cNvPr>
              <p:cNvSpPr/>
              <p:nvPr/>
            </p:nvSpPr>
            <p:spPr>
              <a:xfrm>
                <a:off x="5788400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FAC0F5F1-A79A-626A-08CD-58366203A533}"/>
              </a:ext>
            </a:extLst>
          </p:cNvPr>
          <p:cNvGraphicFramePr>
            <a:graphicFrameLocks/>
          </p:cNvGraphicFramePr>
          <p:nvPr/>
        </p:nvGraphicFramePr>
        <p:xfrm>
          <a:off x="795364" y="4083424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79" name="Group 78">
            <a:extLst>
              <a:ext uri="{FF2B5EF4-FFF2-40B4-BE49-F238E27FC236}">
                <a16:creationId xmlns:a16="http://schemas.microsoft.com/office/drawing/2014/main" id="{8637DF3B-4622-83FE-8926-42D5AAA704E8}"/>
              </a:ext>
            </a:extLst>
          </p:cNvPr>
          <p:cNvGrpSpPr/>
          <p:nvPr/>
        </p:nvGrpSpPr>
        <p:grpSpPr>
          <a:xfrm>
            <a:off x="2881859" y="4024092"/>
            <a:ext cx="1514340" cy="251444"/>
            <a:chOff x="2849583" y="1486375"/>
            <a:chExt cx="1514340" cy="25144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2C7BFDE-C1A6-D9B2-62CB-82F2B01AB5B5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22" name="TextBox 11">
                <a:extLst>
                  <a:ext uri="{FF2B5EF4-FFF2-40B4-BE49-F238E27FC236}">
                    <a16:creationId xmlns:a16="http://schemas.microsoft.com/office/drawing/2014/main" id="{04786971-C60D-B6D0-A484-80BC7D27D105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5%</a:t>
                </a: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929CA22E-FEAB-F194-1F04-2B0A483CE5C3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47A048F-D5A4-64BD-38B7-6B2304BDBD2F}"/>
                </a:ext>
              </a:extLst>
            </p:cNvPr>
            <p:cNvGrpSpPr/>
            <p:nvPr/>
          </p:nvGrpSpPr>
          <p:grpSpPr>
            <a:xfrm>
              <a:off x="3723234" y="1486375"/>
              <a:ext cx="640689" cy="251444"/>
              <a:chOff x="5774861" y="5827750"/>
              <a:chExt cx="640689" cy="251444"/>
            </a:xfrm>
          </p:grpSpPr>
          <p:sp>
            <p:nvSpPr>
              <p:cNvPr id="85" name="TextBox 11">
                <a:extLst>
                  <a:ext uri="{FF2B5EF4-FFF2-40B4-BE49-F238E27FC236}">
                    <a16:creationId xmlns:a16="http://schemas.microsoft.com/office/drawing/2014/main" id="{F2A300FC-8C28-D17C-6B0A-EDEB68AAB92D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10%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66075584-9963-7291-F8C2-D035402682A4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FC5A576-E7C1-B9B7-24F6-8B893D59E453}"/>
                </a:ext>
              </a:extLst>
            </p:cNvPr>
            <p:cNvGrpSpPr/>
            <p:nvPr/>
          </p:nvGrpSpPr>
          <p:grpSpPr>
            <a:xfrm>
              <a:off x="2849583" y="1486375"/>
              <a:ext cx="640689" cy="251444"/>
              <a:chOff x="5774861" y="5827750"/>
              <a:chExt cx="640689" cy="251444"/>
            </a:xfrm>
          </p:grpSpPr>
          <p:sp>
            <p:nvSpPr>
              <p:cNvPr id="83" name="TextBox 11">
                <a:extLst>
                  <a:ext uri="{FF2B5EF4-FFF2-40B4-BE49-F238E27FC236}">
                    <a16:creationId xmlns:a16="http://schemas.microsoft.com/office/drawing/2014/main" id="{6AD70548-AB1E-768F-B962-ED3D158B887B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≤ 5%</a:t>
                </a: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D2EB545-C75D-114E-C848-D56FFDE7F479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124" name="Chart 123">
            <a:extLst>
              <a:ext uri="{FF2B5EF4-FFF2-40B4-BE49-F238E27FC236}">
                <a16:creationId xmlns:a16="http://schemas.microsoft.com/office/drawing/2014/main" id="{F67FF18F-F297-D8A5-2681-9B159FFFCC54}"/>
              </a:ext>
            </a:extLst>
          </p:cNvPr>
          <p:cNvGraphicFramePr>
            <a:graphicFrameLocks/>
          </p:cNvGraphicFramePr>
          <p:nvPr/>
        </p:nvGraphicFramePr>
        <p:xfrm>
          <a:off x="8241466" y="1539167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C6FC8A2-2B85-7C5E-087B-5F19E98C095B}"/>
              </a:ext>
            </a:extLst>
          </p:cNvPr>
          <p:cNvGrpSpPr/>
          <p:nvPr/>
        </p:nvGrpSpPr>
        <p:grpSpPr>
          <a:xfrm>
            <a:off x="6825595" y="4024092"/>
            <a:ext cx="1172171" cy="251444"/>
            <a:chOff x="2972871" y="1486375"/>
            <a:chExt cx="1172171" cy="251444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065E5DC-6126-285A-AA72-29DBAA0EFDC8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33" name="TextBox 11">
                <a:extLst>
                  <a:ext uri="{FF2B5EF4-FFF2-40B4-BE49-F238E27FC236}">
                    <a16:creationId xmlns:a16="http://schemas.microsoft.com/office/drawing/2014/main" id="{34597070-C90D-5599-AB5F-3074D13D326D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0</a:t>
                </a: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9F56B7D3-66B3-127A-6F7B-E1D6C88585E8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230E2CA8-FC7D-9377-8A4F-F3B9224145F9}"/>
                </a:ext>
              </a:extLst>
            </p:cNvPr>
            <p:cNvGrpSpPr/>
            <p:nvPr/>
          </p:nvGrpSpPr>
          <p:grpSpPr>
            <a:xfrm>
              <a:off x="3641042" y="1486375"/>
              <a:ext cx="504000" cy="251444"/>
              <a:chOff x="5692669" y="5827750"/>
              <a:chExt cx="504000" cy="251444"/>
            </a:xfrm>
          </p:grpSpPr>
          <p:sp>
            <p:nvSpPr>
              <p:cNvPr id="131" name="TextBox 11">
                <a:extLst>
                  <a:ext uri="{FF2B5EF4-FFF2-40B4-BE49-F238E27FC236}">
                    <a16:creationId xmlns:a16="http://schemas.microsoft.com/office/drawing/2014/main" id="{CA734668-8162-5ACE-81E9-FE9A4375CF1C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504000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1</a:t>
                </a: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6A9C4BCE-2833-8DCD-A592-230F5BCD7A78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732132C-0A5F-CA31-2EF8-3D98EC74DB92}"/>
                </a:ext>
              </a:extLst>
            </p:cNvPr>
            <p:cNvGrpSpPr/>
            <p:nvPr/>
          </p:nvGrpSpPr>
          <p:grpSpPr>
            <a:xfrm>
              <a:off x="2972871" y="1486375"/>
              <a:ext cx="640689" cy="251444"/>
              <a:chOff x="5898149" y="5827750"/>
              <a:chExt cx="640689" cy="251444"/>
            </a:xfrm>
          </p:grpSpPr>
          <p:sp>
            <p:nvSpPr>
              <p:cNvPr id="129" name="TextBox 11">
                <a:extLst>
                  <a:ext uri="{FF2B5EF4-FFF2-40B4-BE49-F238E27FC236}">
                    <a16:creationId xmlns:a16="http://schemas.microsoft.com/office/drawing/2014/main" id="{DCAC8682-3703-76D9-F961-0921CD379C22}"/>
                  </a:ext>
                </a:extLst>
              </p:cNvPr>
              <p:cNvSpPr txBox="1"/>
              <p:nvPr/>
            </p:nvSpPr>
            <p:spPr>
              <a:xfrm>
                <a:off x="589814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= 0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51EEB16D-3023-EC5F-E9A2-7F72BE6CDC58}"/>
                  </a:ext>
                </a:extLst>
              </p:cNvPr>
              <p:cNvSpPr/>
              <p:nvPr/>
            </p:nvSpPr>
            <p:spPr>
              <a:xfrm>
                <a:off x="599209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49E650B5-6FD8-A21A-5220-689D7031BA4F}"/>
              </a:ext>
            </a:extLst>
          </p:cNvPr>
          <p:cNvSpPr txBox="1"/>
          <p:nvPr/>
        </p:nvSpPr>
        <p:spPr>
          <a:xfrm>
            <a:off x="4428373" y="2884388"/>
            <a:ext cx="348434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Relatório Market &amp; ALM Factor foi substituído pelo Apetite de Risco, mais genérico e que se encontra devidamente documentado.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24F81F3-F691-A68C-0FFE-15748A9B9E87}"/>
              </a:ext>
            </a:extLst>
          </p:cNvPr>
          <p:cNvSpPr txBox="1"/>
          <p:nvPr/>
        </p:nvSpPr>
        <p:spPr>
          <a:xfrm>
            <a:off x="8240166" y="2884388"/>
            <a:ext cx="348434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Redução do indicador como resultado do plano de documentação dos fluxos realizado pelas áreas de negócio em articulação com Data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Governance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.</a:t>
            </a:r>
          </a:p>
        </p:txBody>
      </p:sp>
      <p:graphicFrame>
        <p:nvGraphicFramePr>
          <p:cNvPr id="139" name="Chart 138">
            <a:extLst>
              <a:ext uri="{FF2B5EF4-FFF2-40B4-BE49-F238E27FC236}">
                <a16:creationId xmlns:a16="http://schemas.microsoft.com/office/drawing/2014/main" id="{5BC781B2-C8BB-3630-50BE-DE8821FAD93A}"/>
              </a:ext>
            </a:extLst>
          </p:cNvPr>
          <p:cNvGraphicFramePr>
            <a:graphicFrameLocks/>
          </p:cNvGraphicFramePr>
          <p:nvPr/>
        </p:nvGraphicFramePr>
        <p:xfrm>
          <a:off x="4495688" y="4083424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0" name="Chart 139">
            <a:extLst>
              <a:ext uri="{FF2B5EF4-FFF2-40B4-BE49-F238E27FC236}">
                <a16:creationId xmlns:a16="http://schemas.microsoft.com/office/drawing/2014/main" id="{93952F6E-33AE-540D-E760-7F24AA92CFC0}"/>
              </a:ext>
            </a:extLst>
          </p:cNvPr>
          <p:cNvGraphicFramePr>
            <a:graphicFrameLocks/>
          </p:cNvGraphicFramePr>
          <p:nvPr/>
        </p:nvGraphicFramePr>
        <p:xfrm>
          <a:off x="8240166" y="4083424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Marcador de número de diapositiva 2">
            <a:extLst>
              <a:ext uri="{FF2B5EF4-FFF2-40B4-BE49-F238E27FC236}">
                <a16:creationId xmlns:a16="http://schemas.microsoft.com/office/drawing/2014/main" id="{D4186359-456B-6637-9346-59A8756877AD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40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07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>
            <a:extLst>
              <a:ext uri="{FF2B5EF4-FFF2-40B4-BE49-F238E27FC236}">
                <a16:creationId xmlns:a16="http://schemas.microsoft.com/office/drawing/2014/main" id="{2E54E61B-6A1A-840E-1A83-2D29EA7B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18" y="566693"/>
            <a:ext cx="9862522" cy="409124"/>
          </a:xfrm>
        </p:spPr>
        <p:txBody>
          <a:bodyPr>
            <a:normAutofit fontScale="90000"/>
          </a:bodyPr>
          <a:lstStyle/>
          <a:p>
            <a:r>
              <a:rPr lang="pt-PT" dirty="0"/>
              <a:t>KRIs – Risco de Gestão de Dados </a:t>
            </a:r>
            <a:r>
              <a:rPr lang="pt-PT" sz="2000" dirty="0"/>
              <a:t>(4/3)</a:t>
            </a:r>
            <a:endParaRPr lang="pt-PT" dirty="0"/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848FC85F-914A-D848-3B40-E2756C93CD87}"/>
              </a:ext>
            </a:extLst>
          </p:cNvPr>
          <p:cNvSpPr txBox="1">
            <a:spLocks/>
          </p:cNvSpPr>
          <p:nvPr/>
        </p:nvSpPr>
        <p:spPr>
          <a:xfrm>
            <a:off x="716539" y="285807"/>
            <a:ext cx="10757334" cy="30487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2F7631-0778-191E-DDCC-2D7FB6D371A4}"/>
              </a:ext>
            </a:extLst>
          </p:cNvPr>
          <p:cNvSpPr/>
          <p:nvPr/>
        </p:nvSpPr>
        <p:spPr>
          <a:xfrm>
            <a:off x="796044" y="1140448"/>
            <a:ext cx="2988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LKRI 1.5 Ingestas c/ atributos mínimos em falta no inventário de ingestas (%)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C8F9C-8EDD-49B8-A604-408D2DA5242D}"/>
              </a:ext>
            </a:extLst>
          </p:cNvPr>
          <p:cNvSpPr/>
          <p:nvPr/>
        </p:nvSpPr>
        <p:spPr>
          <a:xfrm>
            <a:off x="3812389" y="1130923"/>
            <a:ext cx="468000" cy="35545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653D65-4F68-43D6-AA88-63B51A7914DA}"/>
              </a:ext>
            </a:extLst>
          </p:cNvPr>
          <p:cNvSpPr/>
          <p:nvPr/>
        </p:nvSpPr>
        <p:spPr>
          <a:xfrm>
            <a:off x="3932311" y="1200649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D9113D-3835-A7CB-A105-84163F8953E8}"/>
              </a:ext>
            </a:extLst>
          </p:cNvPr>
          <p:cNvGrpSpPr/>
          <p:nvPr/>
        </p:nvGrpSpPr>
        <p:grpSpPr>
          <a:xfrm>
            <a:off x="3211700" y="1475278"/>
            <a:ext cx="1172171" cy="251444"/>
            <a:chOff x="2972871" y="1486375"/>
            <a:chExt cx="1172171" cy="25144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5B0B61-F563-0453-CD39-79251D5A9E8A}"/>
                </a:ext>
              </a:extLst>
            </p:cNvPr>
            <p:cNvGrpSpPr/>
            <p:nvPr/>
          </p:nvGrpSpPr>
          <p:grpSpPr>
            <a:xfrm>
              <a:off x="3311655" y="1486375"/>
              <a:ext cx="640689" cy="251444"/>
              <a:chOff x="5774861" y="5827750"/>
              <a:chExt cx="640689" cy="251444"/>
            </a:xfrm>
          </p:grpSpPr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129ED202-FF13-3C4A-947A-B9A04C4B5DA5}"/>
                  </a:ext>
                </a:extLst>
              </p:cNvPr>
              <p:cNvSpPr txBox="1"/>
              <p:nvPr/>
            </p:nvSpPr>
            <p:spPr>
              <a:xfrm>
                <a:off x="5774861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&gt; 0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8EFB237-659B-F549-DF19-5C922984C5CC}"/>
                  </a:ext>
                </a:extLst>
              </p:cNvPr>
              <p:cNvSpPr/>
              <p:nvPr/>
            </p:nvSpPr>
            <p:spPr>
              <a:xfrm>
                <a:off x="5868808" y="5909946"/>
                <a:ext cx="119835" cy="11306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C718A57-8F7E-F5CE-BB4C-B1097C4CA15E}"/>
                </a:ext>
              </a:extLst>
            </p:cNvPr>
            <p:cNvGrpSpPr/>
            <p:nvPr/>
          </p:nvGrpSpPr>
          <p:grpSpPr>
            <a:xfrm>
              <a:off x="3641042" y="1486375"/>
              <a:ext cx="504000" cy="251444"/>
              <a:chOff x="5692669" y="5827750"/>
              <a:chExt cx="504000" cy="251444"/>
            </a:xfrm>
          </p:grpSpPr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7BCD538-8F4A-8C55-4199-B472372B4296}"/>
                  </a:ext>
                </a:extLst>
              </p:cNvPr>
              <p:cNvSpPr txBox="1"/>
              <p:nvPr/>
            </p:nvSpPr>
            <p:spPr>
              <a:xfrm>
                <a:off x="5692669" y="5827750"/>
                <a:ext cx="504000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&gt; 0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4BBB194-71F0-1D4A-691F-018D257EF190}"/>
                  </a:ext>
                </a:extLst>
              </p:cNvPr>
              <p:cNvSpPr/>
              <p:nvPr/>
            </p:nvSpPr>
            <p:spPr>
              <a:xfrm>
                <a:off x="5786616" y="5909946"/>
                <a:ext cx="119835" cy="113066"/>
              </a:xfrm>
              <a:prstGeom prst="ellipse">
                <a:avLst/>
              </a:prstGeom>
              <a:solidFill>
                <a:srgbClr val="EB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29DBB2-400A-C649-0621-725DA97751EF}"/>
                </a:ext>
              </a:extLst>
            </p:cNvPr>
            <p:cNvGrpSpPr/>
            <p:nvPr/>
          </p:nvGrpSpPr>
          <p:grpSpPr>
            <a:xfrm>
              <a:off x="2972871" y="1486375"/>
              <a:ext cx="640689" cy="251444"/>
              <a:chOff x="5898149" y="5827750"/>
              <a:chExt cx="640689" cy="251444"/>
            </a:xfrm>
          </p:grpSpPr>
          <p:sp>
            <p:nvSpPr>
              <p:cNvPr id="6" name="TextBox 11">
                <a:extLst>
                  <a:ext uri="{FF2B5EF4-FFF2-40B4-BE49-F238E27FC236}">
                    <a16:creationId xmlns:a16="http://schemas.microsoft.com/office/drawing/2014/main" id="{DD6267C9-2C47-34B1-4489-5F6F85A4792C}"/>
                  </a:ext>
                </a:extLst>
              </p:cNvPr>
              <p:cNvSpPr txBox="1"/>
              <p:nvPr/>
            </p:nvSpPr>
            <p:spPr>
              <a:xfrm>
                <a:off x="5898149" y="5827750"/>
                <a:ext cx="640689" cy="251444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/>
                    <a:ea typeface="+mn-ea"/>
                    <a:cs typeface="+mn-cs"/>
                  </a:rPr>
                  <a:t>      = 0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DC5BD8E-4573-58FC-F7BE-6393A0675DFB}"/>
                  </a:ext>
                </a:extLst>
              </p:cNvPr>
              <p:cNvSpPr/>
              <p:nvPr/>
            </p:nvSpPr>
            <p:spPr>
              <a:xfrm>
                <a:off x="5992096" y="5909946"/>
                <a:ext cx="119835" cy="11306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542192-B967-D2CB-49B9-4C4F51882DEE}"/>
              </a:ext>
            </a:extLst>
          </p:cNvPr>
          <p:cNvSpPr txBox="1"/>
          <p:nvPr/>
        </p:nvSpPr>
        <p:spPr>
          <a:xfrm>
            <a:off x="796044" y="2928332"/>
            <a:ext cx="348434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171433" indent="-171433">
              <a:buFont typeface="Wingdings" panose="05000000000000000000" pitchFamily="2" charset="2"/>
              <a:buChar char="§"/>
              <a:defRPr sz="1050"/>
            </a:lvl1pPr>
          </a:lstStyle>
          <a:p>
            <a:pPr marL="171433" marR="0" lvl="0" indent="-171433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 equipa de Data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Architecture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referiu que até ao final do mês de junho espera conseguir reduzir uma parte significativa das incidências detetadas.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8ABA8DE8-E720-8C92-5422-D0A8F6C6C2B2}"/>
              </a:ext>
            </a:extLst>
          </p:cNvPr>
          <p:cNvGraphicFramePr>
            <a:graphicFrameLocks/>
          </p:cNvGraphicFramePr>
          <p:nvPr/>
        </p:nvGraphicFramePr>
        <p:xfrm>
          <a:off x="796044" y="1534005"/>
          <a:ext cx="3484800" cy="133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3B9D038D-B1DD-34A2-D240-2B88283540C8}"/>
              </a:ext>
            </a:extLst>
          </p:cNvPr>
          <p:cNvSpPr txBox="1">
            <a:spLocks/>
          </p:cNvSpPr>
          <p:nvPr/>
        </p:nvSpPr>
        <p:spPr>
          <a:xfrm>
            <a:off x="8727804" y="6209030"/>
            <a:ext cx="2740859" cy="3649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37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41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87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Anexo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390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5757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7802" y="6491058"/>
            <a:ext cx="2740859" cy="364813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37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37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4901" y="1344630"/>
          <a:ext cx="3373522" cy="1960360"/>
        </p:xfrm>
        <a:graphic>
          <a:graphicData uri="http://schemas.openxmlformats.org/drawingml/2006/table">
            <a:tbl>
              <a:tblPr/>
              <a:tblGrid>
                <a:gridCol w="111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381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72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baseline="0" dirty="0">
                          <a:solidFill>
                            <a:schemeClr val="tx1"/>
                          </a:solidFill>
                          <a:latin typeface="Santander Text" panose="020B0504020201020104" pitchFamily="34" charset="0"/>
                        </a:rPr>
                        <a:t>10 </a:t>
                      </a:r>
                      <a:r>
                        <a:rPr kumimoji="0" lang="pt-PT" sz="1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(1)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9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</a:t>
                      </a: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9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0" baseline="0" dirty="0">
                          <a:solidFill>
                            <a:schemeClr val="tx1"/>
                          </a:solidFill>
                          <a:latin typeface="Santander Text" panose="020B0504020201020104" pitchFamily="34" charset="0"/>
                        </a:rPr>
                        <a:t>7 </a:t>
                      </a:r>
                      <a:r>
                        <a:rPr kumimoji="0" lang="pt-PT" sz="1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(2)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8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3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2" marR="9522" marT="9522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582467" y="734811"/>
            <a:ext cx="8879449" cy="2868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38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IFRS9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41536" y="279234"/>
            <a:ext cx="10749555" cy="304648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9049" y="1343873"/>
            <a:ext cx="6970265" cy="2342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5" tIns="45697" rIns="91395" bIns="456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Mensal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C2975C-E920-4D06-A422-13177FDBF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19" y="3497460"/>
            <a:ext cx="213032" cy="28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286280-83AD-4367-90B6-5AC2506E7085}"/>
              </a:ext>
            </a:extLst>
          </p:cNvPr>
          <p:cNvSpPr txBox="1"/>
          <p:nvPr/>
        </p:nvSpPr>
        <p:spPr>
          <a:xfrm>
            <a:off x="805130" y="3553815"/>
            <a:ext cx="1058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1 controlo (correção de </a:t>
            </a:r>
            <a:r>
              <a:rPr kumimoji="0" lang="pt-PT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threshold</a:t>
            </a:r>
            <a:r>
              <a:rPr kumimoji="0" lang="pt-PT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, alertas associados a controlos de garantias passaram a OK com a passagem a produção do novo modelo de garantias na BDR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F3B7E4A-70DC-40F7-AF47-280932CC1CBE}"/>
              </a:ext>
            </a:extLst>
          </p:cNvPr>
          <p:cNvGraphicFramePr>
            <a:graphicFrameLocks noGrp="1"/>
          </p:cNvGraphicFramePr>
          <p:nvPr/>
        </p:nvGraphicFramePr>
        <p:xfrm>
          <a:off x="671104" y="3792119"/>
          <a:ext cx="10797558" cy="2478634"/>
        </p:xfrm>
        <a:graphic>
          <a:graphicData uri="http://schemas.openxmlformats.org/drawingml/2006/table">
            <a:tbl>
              <a:tblPr/>
              <a:tblGrid>
                <a:gridCol w="4275905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534899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01085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3400746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606176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78747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3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1" marR="9521" marT="95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395" marR="91395" marT="45697" marB="4569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 com real_output_from_scoring_rating_model a nulo </a:t>
                      </a:r>
                      <a:endParaRPr lang="pt-PT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18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925</a:t>
                      </a: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(58,57%)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INC028243476 fechado – Aberta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 iniciativa  I2300266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25405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Real_output_from_scoring_rating_model (IFRS9) diferente de IDPUNSCO (Admissão)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586</a:t>
                      </a: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(13,06%)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INC028243476 fechado – Aberta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 iniciativa  I2300266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 com INTEREST_EFECTIVE_RATE = 0 para SOURCE Factoring e Londres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6 343 </a:t>
                      </a: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(7,05%)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validação com o CDO para seguimento (casuísticas identificadas)</a:t>
                      </a:r>
                      <a:endParaRPr lang="pt-PT" sz="90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 com TYPE_OF_SCORING_RATING_MODEL a nulo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808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(22,41%)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INC028243476 fechado – Aberta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 iniciativa  I2300266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718064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Type_of_scoring_rating_model (IFRS9) diferente de TIPMODE2 (Admissão)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295 948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(27,46%)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INC028243476 fechado – Aberta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 iniciativa  I2300266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0" marR="9520" marT="95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Exposição com NOMINAL_INTEREST_RATE = 0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17,66 </a:t>
                      </a:r>
                      <a:r>
                        <a:rPr lang="pt-PT" sz="9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B (30,81%)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Incidente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aberto junto de IT (INC028728283) – aguardamos resposta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Exposição INTEREST_EFECTIVE_RATE = 0 SOURCE Factoring e Londres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391,3M (24,37%)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validação com o CDO para seguimento (casuísticas identificadas)</a:t>
                      </a:r>
                      <a:endParaRPr lang="pt-PT" sz="90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114212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 com NOMINAL_INTEREST_RATE = 0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417 119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(20,72%)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Incidente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aberto junto de IT (INC028728283) – aguardamos resposta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809232"/>
                  </a:ext>
                </a:extLst>
              </a:tr>
              <a:tr h="213481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Exposição com real_output_from_scoring_rating_model a nulo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40,4 M (4,68%)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INC028243476 fechado –</a:t>
                      </a:r>
                      <a:r>
                        <a:rPr lang="pt-PT" sz="900" b="0" i="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Aberta</a:t>
                      </a:r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a iniciativa  I2300266</a:t>
                      </a:r>
                      <a:endParaRPr lang="pt-PT" sz="900" b="0" i="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 + CDO + IT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  <a:tr h="19433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FF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Exposição com SCORING_RATING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a nulo para ID_PORTFOLIO_IFRS9 = 1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Set/21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M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(0,11%)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Redefinição</a:t>
                      </a:r>
                      <a:r>
                        <a:rPr lang="pt-PT" sz="900" b="0" i="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da query do controlo tendo em conta análise efetuada pela  equipa de Modelos de Risco e Decisão </a:t>
                      </a:r>
                      <a:endParaRPr lang="pt-PT" sz="900" b="0" i="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Jun/23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IMP/MD</a:t>
                      </a:r>
                    </a:p>
                  </a:txBody>
                  <a:tcPr marL="9519" marR="9519" marT="95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56560"/>
                  </a:ext>
                </a:extLst>
              </a:tr>
            </a:tbl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8D06D4F1-4629-4E0E-94A8-79BE815D07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5325" y="569913"/>
          <a:ext cx="3810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880" imgH="806400" progId="Excel.Sheet.8">
                  <p:embed/>
                </p:oleObj>
              </mc:Choice>
              <mc:Fallback>
                <p:oleObj name="Worksheet" showAsIcon="1" r:id="rId4" imgW="380880" imgH="806400" progId="Excel.Sheet.8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8D06D4F1-4629-4E0E-94A8-79BE815D07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55325" y="569913"/>
                        <a:ext cx="381000" cy="80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4286280-83AD-4367-90B6-5AC2506E7085}"/>
              </a:ext>
            </a:extLst>
          </p:cNvPr>
          <p:cNvSpPr txBox="1"/>
          <p:nvPr/>
        </p:nvSpPr>
        <p:spPr>
          <a:xfrm>
            <a:off x="1439826" y="6405401"/>
            <a:ext cx="995126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1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</a:t>
            </a: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1)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2 alertas “Vermelho” derivam  de variações de exposição em portfolios GCB derivado a contratos de Cedência de Fundos até 48H e não contemplam plano de ação. </a:t>
            </a:r>
          </a:p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1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</a:t>
            </a: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2)  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Existe também um controlo de variação com alerta “Amarelo” que não constitui plano de ação, deriva de uma variação de exposição associada à entrada de um contrato de Cedência de Fundos até 48H.</a:t>
            </a:r>
          </a:p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 </a:t>
            </a:r>
          </a:p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6B7DF6E5-BA94-4918-B6C2-D83CCBD45AC5}"/>
              </a:ext>
            </a:extLst>
          </p:cNvPr>
          <p:cNvGraphicFramePr/>
          <p:nvPr/>
        </p:nvGraphicFramePr>
        <p:xfrm>
          <a:off x="4365608" y="1359294"/>
          <a:ext cx="6973705" cy="2223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35C33A-48AB-4B48-A8FD-79BAB33E2236}"/>
              </a:ext>
            </a:extLst>
          </p:cNvPr>
          <p:cNvCxnSpPr>
            <a:cxnSpLocks/>
          </p:cNvCxnSpPr>
          <p:nvPr/>
        </p:nvCxnSpPr>
        <p:spPr>
          <a:xfrm>
            <a:off x="6711466" y="1879033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2E6D8EB-5AE8-4F2D-A4F1-8D7E9ED63A3B}"/>
              </a:ext>
            </a:extLst>
          </p:cNvPr>
          <p:cNvGrpSpPr/>
          <p:nvPr/>
        </p:nvGrpSpPr>
        <p:grpSpPr>
          <a:xfrm>
            <a:off x="5249600" y="2797928"/>
            <a:ext cx="6219061" cy="424427"/>
            <a:chOff x="5288831" y="2979905"/>
            <a:chExt cx="6278858" cy="2414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98F3BA-FFD3-4AFE-9F0F-D0F3C517750E}"/>
                </a:ext>
              </a:extLst>
            </p:cNvPr>
            <p:cNvSpPr/>
            <p:nvPr/>
          </p:nvSpPr>
          <p:spPr>
            <a:xfrm>
              <a:off x="6221742" y="2983851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13 (4%) 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990108-4E7B-4906-9047-0238C105CBF3}"/>
                </a:ext>
              </a:extLst>
            </p:cNvPr>
            <p:cNvSpPr/>
            <p:nvPr/>
          </p:nvSpPr>
          <p:spPr>
            <a:xfrm>
              <a:off x="7154653" y="2980100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17 (6%) 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36E14AC-28A2-4937-BBA9-957F90F11E8C}"/>
                </a:ext>
              </a:extLst>
            </p:cNvPr>
            <p:cNvSpPr/>
            <p:nvPr/>
          </p:nvSpPr>
          <p:spPr>
            <a:xfrm>
              <a:off x="8087564" y="2987027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14 (5%)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76F6BFA-9475-4C05-A75E-12A8EE23DC6C}"/>
                </a:ext>
              </a:extLst>
            </p:cNvPr>
            <p:cNvSpPr/>
            <p:nvPr/>
          </p:nvSpPr>
          <p:spPr>
            <a:xfrm>
              <a:off x="9020475" y="2980099"/>
              <a:ext cx="681391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12 (4%) 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C537197-0190-48FB-AC87-423EBFF66B26}"/>
                </a:ext>
              </a:extLst>
            </p:cNvPr>
            <p:cNvSpPr/>
            <p:nvPr/>
          </p:nvSpPr>
          <p:spPr>
            <a:xfrm>
              <a:off x="9953385" y="2979905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11 (4%) 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C096829-8F87-41A0-AE46-CDA0193CCD4A}"/>
                </a:ext>
              </a:extLst>
            </p:cNvPr>
            <p:cNvSpPr/>
            <p:nvPr/>
          </p:nvSpPr>
          <p:spPr>
            <a:xfrm>
              <a:off x="5288831" y="2980099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23 (8%) 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463DDCF-6F14-4272-A34E-2EC4B9980933}"/>
                </a:ext>
              </a:extLst>
            </p:cNvPr>
            <p:cNvSpPr/>
            <p:nvPr/>
          </p:nvSpPr>
          <p:spPr>
            <a:xfrm>
              <a:off x="10886297" y="2979906"/>
              <a:ext cx="681392" cy="2342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10 (3%)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280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639562" y="668130"/>
            <a:ext cx="10053838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Clientes Stock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60713" y="250747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79CB6F-626A-409B-9379-A34A6FADAC9E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8" cy="2370708"/>
        </p:xfrm>
        <a:graphic>
          <a:graphicData uri="http://schemas.openxmlformats.org/drawingml/2006/table">
            <a:tbl>
              <a:tblPr/>
              <a:tblGrid>
                <a:gridCol w="3465959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5205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111704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551634">
                  <a:extLst>
                    <a:ext uri="{9D8B030D-6E8A-4147-A177-3AD203B41FA5}">
                      <a16:colId xmlns:a16="http://schemas.microsoft.com/office/drawing/2014/main" val="1149155061"/>
                    </a:ext>
                  </a:extLst>
                </a:gridCol>
                <a:gridCol w="2873828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101284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Yu Mincho Demibold" panose="020B0400000000000000" pitchFamily="18" charset="-128"/>
                        </a:rPr>
                        <a:t>∆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%</a:t>
                      </a:r>
                    </a:p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Inicial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diferentes com o mesmo Doc2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Abr/2021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20 374 (0,7%)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-64%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Processo de fusão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/2024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25405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diferentes com o mesmo Doc1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Abr/2021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18 741 (0,6%)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- 65%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Processo de fusão em curso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/2024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Clientes com mais de um Grupo Económico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Abr/2021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143 (0,1%)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- 11%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com código nacional de profissão fora de catálogo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Out/2021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417 876 (14,5%)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- 4%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71806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algn="l" defTabSz="914377" rtl="0" eaLnBrk="1" fontAlgn="ctr" latinLnBrk="0" hangingPunct="1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Clientes com código postal fora de catálogo (7 digitos)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Mar/2022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77 514 (2,7%)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-14%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com data de validade do Doc1 inválida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Mai/2021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345 404 (11,3%)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-22%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P. Rec. Documental e Sistemática de atualização de cliente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Empresa sem cliente relação associado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Mai/2021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10 265 (5,6%)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- 45%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114212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singulares sem NIF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Jun/2021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34 895(1,2%)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duplicados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Abr/2021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13 041 (0,4%)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-72%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Processo de fusão em curso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/2024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870982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Clientes com morada com formato errado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Abr/2022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21 171(0,7%)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-11%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 de Recuperação Documental em curso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/>
                          <a:ea typeface="+mn-ea"/>
                          <a:cs typeface="+mn-cs"/>
                        </a:rPr>
                        <a:t>Jun/2023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+ OPS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357936"/>
                  </a:ext>
                </a:extLst>
              </a:tr>
            </a:tbl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2D242B-B81F-4165-9BDF-CEA39A558069}"/>
              </a:ext>
            </a:extLst>
          </p:cNvPr>
          <p:cNvSpPr txBox="1"/>
          <p:nvPr/>
        </p:nvSpPr>
        <p:spPr>
          <a:xfrm>
            <a:off x="639562" y="6242940"/>
            <a:ext cx="881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 </a:t>
            </a:r>
            <a:r>
              <a:rPr kumimoji="0" lang="pt-PT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Universo de Clientes: 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titulares de contas excluindo contas encerramento</a:t>
            </a:r>
            <a:endParaRPr kumimoji="0" lang="pt-PT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2A4D3BA7-4A91-42F7-8269-BDD0D473A255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7E61AED6-70EE-4F5B-B4EA-ACEC1C829B6D}"/>
              </a:ext>
            </a:extLst>
          </p:cNvPr>
          <p:cNvSpPr/>
          <p:nvPr/>
        </p:nvSpPr>
        <p:spPr>
          <a:xfrm>
            <a:off x="621621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5 (7%)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5EE6AD-3850-484A-9F67-31B9868C4AAC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7 (9%)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A485B5-6F3E-4059-9A03-419333913CC0}"/>
              </a:ext>
            </a:extLst>
          </p:cNvPr>
          <p:cNvSpPr/>
          <p:nvPr/>
        </p:nvSpPr>
        <p:spPr>
          <a:xfrm>
            <a:off x="8109207" y="297608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8 (10%)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DEEEC6-01C3-4092-8B37-EAB6945C40B2}"/>
              </a:ext>
            </a:extLst>
          </p:cNvPr>
          <p:cNvSpPr/>
          <p:nvPr/>
        </p:nvSpPr>
        <p:spPr>
          <a:xfrm>
            <a:off x="9043261" y="2969153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8(10%)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C32CB4-2692-4408-9CA4-26488737EA52}"/>
              </a:ext>
            </a:extLst>
          </p:cNvPr>
          <p:cNvSpPr/>
          <p:nvPr/>
        </p:nvSpPr>
        <p:spPr>
          <a:xfrm>
            <a:off x="9966930" y="29651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7 (8%)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41D2F1-26EC-4827-ACAD-EF16AD13FD09}"/>
              </a:ext>
            </a:extLst>
          </p:cNvPr>
          <p:cNvSpPr/>
          <p:nvPr/>
        </p:nvSpPr>
        <p:spPr>
          <a:xfrm>
            <a:off x="5288831" y="2980099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(6%)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61178E-1C5A-405A-B4E3-C9E805359CFA}"/>
              </a:ext>
            </a:extLst>
          </p:cNvPr>
          <p:cNvSpPr/>
          <p:nvPr/>
        </p:nvSpPr>
        <p:spPr>
          <a:xfrm>
            <a:off x="10936249" y="2979904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7 (8%)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992C4B-B8AE-4899-8935-49B6A7073256}"/>
              </a:ext>
            </a:extLst>
          </p:cNvPr>
          <p:cNvCxnSpPr>
            <a:cxnSpLocks/>
          </p:cNvCxnSpPr>
          <p:nvPr/>
        </p:nvCxnSpPr>
        <p:spPr>
          <a:xfrm>
            <a:off x="6732944" y="196546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F0BE3BB-7A55-DC66-F6F0-89AE589766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93400" y="531813"/>
          <a:ext cx="70008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556200" imgH="469800" progId="Excel.Sheet.12">
                  <p:embed/>
                </p:oleObj>
              </mc:Choice>
              <mc:Fallback>
                <p:oleObj name="Worksheet" showAsIcon="1" r:id="rId4" imgW="556200" imgH="469800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F0BE3BB-7A55-DC66-F6F0-89AE589766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93400" y="531813"/>
                        <a:ext cx="700088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445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CA912C6-0404-4173-BED5-9E9CD710B7BC}"/>
              </a:ext>
            </a:extLst>
          </p:cNvPr>
          <p:cNvGraphicFramePr/>
          <p:nvPr/>
        </p:nvGraphicFramePr>
        <p:xfrm>
          <a:off x="512984" y="3118703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DF0688F-F379-4C50-AB53-B4859714BE9E}"/>
              </a:ext>
            </a:extLst>
          </p:cNvPr>
          <p:cNvGraphicFramePr/>
          <p:nvPr/>
        </p:nvGraphicFramePr>
        <p:xfrm>
          <a:off x="5132955" y="3118263"/>
          <a:ext cx="2232000" cy="17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683BB5B-EA51-4BCA-98B9-BFC07A156431}"/>
              </a:ext>
            </a:extLst>
          </p:cNvPr>
          <p:cNvGraphicFramePr/>
          <p:nvPr/>
        </p:nvGraphicFramePr>
        <p:xfrm>
          <a:off x="9724306" y="4894055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F91BE138-A4A6-448E-87B6-54E69077A3CF}"/>
              </a:ext>
            </a:extLst>
          </p:cNvPr>
          <p:cNvGraphicFramePr/>
          <p:nvPr/>
        </p:nvGraphicFramePr>
        <p:xfrm>
          <a:off x="7428631" y="1343351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6C8CE995-C26A-46DD-9A14-061E48ACDC40}"/>
              </a:ext>
            </a:extLst>
          </p:cNvPr>
          <p:cNvGraphicFramePr/>
          <p:nvPr/>
        </p:nvGraphicFramePr>
        <p:xfrm>
          <a:off x="512984" y="1343351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41BB3BF-6CBE-4728-A95A-D56B5D49CF53}"/>
              </a:ext>
            </a:extLst>
          </p:cNvPr>
          <p:cNvGraphicFramePr/>
          <p:nvPr/>
        </p:nvGraphicFramePr>
        <p:xfrm>
          <a:off x="2837279" y="3118703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0" name="Título 1">
            <a:extLst>
              <a:ext uri="{FF2B5EF4-FFF2-40B4-BE49-F238E27FC236}">
                <a16:creationId xmlns:a16="http://schemas.microsoft.com/office/drawing/2014/main" id="{79E4BCC8-5B86-4921-969E-431429610787}"/>
              </a:ext>
            </a:extLst>
          </p:cNvPr>
          <p:cNvSpPr txBox="1">
            <a:spLocks/>
          </p:cNvSpPr>
          <p:nvPr/>
        </p:nvSpPr>
        <p:spPr>
          <a:xfrm>
            <a:off x="641450" y="648854"/>
            <a:ext cx="8878293" cy="2868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373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Evolução das principais incidências Clientes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A7DB6E3C-5071-4F06-BC50-16850C22BB99}"/>
              </a:ext>
            </a:extLst>
          </p:cNvPr>
          <p:cNvSpPr txBox="1">
            <a:spLocks/>
          </p:cNvSpPr>
          <p:nvPr/>
        </p:nvSpPr>
        <p:spPr>
          <a:xfrm>
            <a:off x="641450" y="230333"/>
            <a:ext cx="10748156" cy="304608"/>
          </a:xfrm>
          <a:prstGeom prst="rect">
            <a:avLst/>
          </a:prstGeom>
        </p:spPr>
        <p:txBody>
          <a:bodyPr vert="horz" lIns="91393" tIns="45696" rIns="91393" bIns="45696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3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Qualidade de dados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99C6E92-36B5-44AA-85C5-74E49A258FC2}"/>
              </a:ext>
            </a:extLst>
          </p:cNvPr>
          <p:cNvGraphicFramePr/>
          <p:nvPr/>
        </p:nvGraphicFramePr>
        <p:xfrm>
          <a:off x="2815815" y="4894055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362B6CC7-C1DD-4E50-A1DB-EFE31D3E5395}"/>
              </a:ext>
            </a:extLst>
          </p:cNvPr>
          <p:cNvGraphicFramePr/>
          <p:nvPr/>
        </p:nvGraphicFramePr>
        <p:xfrm>
          <a:off x="5118646" y="4894055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C58EFD14-6A66-4D88-9CB7-1E08B6A93D85}"/>
              </a:ext>
            </a:extLst>
          </p:cNvPr>
          <p:cNvGraphicFramePr/>
          <p:nvPr/>
        </p:nvGraphicFramePr>
        <p:xfrm>
          <a:off x="9724306" y="1343351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0C64B819-9D81-4C25-B2CE-28BE306D4F17}"/>
              </a:ext>
            </a:extLst>
          </p:cNvPr>
          <p:cNvGraphicFramePr/>
          <p:nvPr/>
        </p:nvGraphicFramePr>
        <p:xfrm>
          <a:off x="2837279" y="1343351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1EF96CC6-67A3-42B7-A77E-6A30C4B3BC9C}"/>
              </a:ext>
            </a:extLst>
          </p:cNvPr>
          <p:cNvGraphicFramePr/>
          <p:nvPr/>
        </p:nvGraphicFramePr>
        <p:xfrm>
          <a:off x="5132955" y="1343351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1BE8C2E-431C-4D88-914B-1703B2813017}"/>
              </a:ext>
            </a:extLst>
          </p:cNvPr>
          <p:cNvSpPr txBox="1"/>
          <p:nvPr/>
        </p:nvSpPr>
        <p:spPr>
          <a:xfrm>
            <a:off x="641450" y="1052614"/>
            <a:ext cx="11225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Universo de Clientes: </a:t>
            </a: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titulares de contas excluindo contas encerramento</a:t>
            </a:r>
            <a:endParaRPr kumimoji="0" lang="pt-PT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CF2222C-3F5C-2209-F6CF-9F27F78EB94F}"/>
              </a:ext>
            </a:extLst>
          </p:cNvPr>
          <p:cNvGraphicFramePr/>
          <p:nvPr/>
        </p:nvGraphicFramePr>
        <p:xfrm>
          <a:off x="512984" y="4894055"/>
          <a:ext cx="2232000" cy="17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2C50109-22AF-80BB-A766-03894EBAE660}"/>
              </a:ext>
            </a:extLst>
          </p:cNvPr>
          <p:cNvGraphicFramePr/>
          <p:nvPr/>
        </p:nvGraphicFramePr>
        <p:xfrm>
          <a:off x="9724306" y="3118703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DC87072-0AA5-7DD1-2C3B-4355795E6CC1}"/>
              </a:ext>
            </a:extLst>
          </p:cNvPr>
          <p:cNvGraphicFramePr/>
          <p:nvPr/>
        </p:nvGraphicFramePr>
        <p:xfrm>
          <a:off x="7421477" y="4894055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375848E-8D0B-91FE-1E99-DF351D76BD07}"/>
              </a:ext>
            </a:extLst>
          </p:cNvPr>
          <p:cNvGraphicFramePr/>
          <p:nvPr/>
        </p:nvGraphicFramePr>
        <p:xfrm>
          <a:off x="7428631" y="3118703"/>
          <a:ext cx="2232000" cy="1734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1197938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FFA4E304-B1E9-44D6-B69D-AF2796AF8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539" y="311977"/>
            <a:ext cx="10757334" cy="304870"/>
          </a:xfrm>
        </p:spPr>
        <p:txBody>
          <a:bodyPr/>
          <a:lstStyle/>
          <a:p>
            <a:r>
              <a:rPr lang="pt-PT" dirty="0">
                <a:latin typeface="Santander Headline" panose="020B0504020201020104" pitchFamily="34" charset="0"/>
              </a:rPr>
              <a:t>Qualidade de dados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FDCBD02-57C9-42B2-90D8-AEC89E37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1736" y="6392058"/>
            <a:ext cx="2742843" cy="365210"/>
          </a:xfrm>
        </p:spPr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300" b="0" i="0" u="none" strike="noStrike" kern="1200" cap="none" spc="0" normalizeH="0" baseline="0" noProof="0" smtClean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s-ES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CaixaDeTexto 8">
            <a:extLst>
              <a:ext uri="{FF2B5EF4-FFF2-40B4-BE49-F238E27FC236}">
                <a16:creationId xmlns:a16="http://schemas.microsoft.com/office/drawing/2014/main" id="{602190C4-0516-4580-A761-E396E7E2808C}"/>
              </a:ext>
            </a:extLst>
          </p:cNvPr>
          <p:cNvSpPr txBox="1"/>
          <p:nvPr/>
        </p:nvSpPr>
        <p:spPr>
          <a:xfrm>
            <a:off x="716539" y="659134"/>
            <a:ext cx="10317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– Modelo de controlo nova produção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0B3023DD-5718-430D-A519-0C8A712A272E}"/>
              </a:ext>
            </a:extLst>
          </p:cNvPr>
          <p:cNvSpPr txBox="1">
            <a:spLocks/>
          </p:cNvSpPr>
          <p:nvPr/>
        </p:nvSpPr>
        <p:spPr>
          <a:xfrm>
            <a:off x="299170" y="1128015"/>
            <a:ext cx="11474819" cy="1122476"/>
          </a:xfrm>
          <a:prstGeom prst="rect">
            <a:avLst/>
          </a:prstGeom>
        </p:spPr>
        <p:txBody>
          <a:bodyPr numCol="1"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 universo do modulo de nova produção consiste em clientes titulares de contas, excluindo contas encerramento, que iniciaram uma relação depois de 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de Janeiro de 2023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(Novos Clientes) ou clientes com uma relação existente em que houve uma alteração nos seus dados depois de </a:t>
            </a:r>
            <a:r>
              <a:rPr kumimoji="0" lang="pt-P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de Janeiro de 2023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(Clientes Alterados). As incidências nos clientes anteriores a Janeiro de 2023 passaram a ser corrigidas no âmbito dos processos de resolução de stock, nomeadamente, o processo de fusão de clientes e o processo de recuperação documental. 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2" name="Rounded Rectangle 24">
            <a:extLst>
              <a:ext uri="{FF2B5EF4-FFF2-40B4-BE49-F238E27FC236}">
                <a16:creationId xmlns:a16="http://schemas.microsoft.com/office/drawing/2014/main" id="{6D568368-D7D4-4183-8517-BFDBFD71D076}"/>
              </a:ext>
            </a:extLst>
          </p:cNvPr>
          <p:cNvSpPr/>
          <p:nvPr/>
        </p:nvSpPr>
        <p:spPr>
          <a:xfrm>
            <a:off x="299170" y="2390173"/>
            <a:ext cx="5635561" cy="211766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5" tIns="45697" rIns="91395" bIns="456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Principais Notas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A205A53-D69B-4802-978F-76DDE53FB75E}"/>
              </a:ext>
            </a:extLst>
          </p:cNvPr>
          <p:cNvSpPr/>
          <p:nvPr/>
        </p:nvSpPr>
        <p:spPr>
          <a:xfrm>
            <a:off x="299170" y="2612583"/>
            <a:ext cx="5635561" cy="377947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12" rtlCol="0" anchor="ctr"/>
          <a:lstStyle/>
          <a:p>
            <a:pPr marL="0" marR="0" lvl="0" indent="0" algn="just" defTabSz="914103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Novos</a:t>
            </a:r>
          </a:p>
          <a:p>
            <a:pPr marL="171399" marR="0" lvl="0" indent="-171399" algn="just" defTabSz="914103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151 incidências detectadas em clientes novos, 23 foram corrigidas  incidências, 32 incidências sem indicação de suporte documental  (“Não” ou “Null”)  e  96 clientes novos com indicação documentos “Sim” em tratamento por parte de operações.</a:t>
            </a:r>
          </a:p>
          <a:p>
            <a:pPr marL="0" marR="0" lvl="0" indent="0" algn="just" defTabSz="914103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Alterados</a:t>
            </a:r>
          </a:p>
          <a:p>
            <a:pPr marL="171399" marR="0" lvl="0" indent="-171399" algn="just" defTabSz="914103" rtl="0" eaLnBrk="1" fontAlgn="b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1085 incidências detetadas em clientes com dados alterados, das quais 254 foram corrigidas. Das incidências não corrigidas existem 795 com indicação de suporte documental e 36 com indicação sem suporte documental (“Não” ou “Null”) que possibilite a correção.</a:t>
            </a:r>
            <a:r>
              <a:rPr kumimoji="0" lang="pt-PT" sz="12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ED587645-3251-4396-89C6-B14FCC7B2404}"/>
              </a:ext>
            </a:extLst>
          </p:cNvPr>
          <p:cNvSpPr/>
          <p:nvPr/>
        </p:nvSpPr>
        <p:spPr>
          <a:xfrm>
            <a:off x="6178139" y="2388715"/>
            <a:ext cx="5678783" cy="211766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5" tIns="45697" rIns="91395" bIns="456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Atuação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4AD1E50A-0E74-4C63-A806-BBDA06985C3A}"/>
              </a:ext>
            </a:extLst>
          </p:cNvPr>
          <p:cNvGraphicFramePr>
            <a:graphicFrameLocks noGrp="1"/>
          </p:cNvGraphicFramePr>
          <p:nvPr/>
        </p:nvGraphicFramePr>
        <p:xfrm>
          <a:off x="6178139" y="3429794"/>
          <a:ext cx="5595850" cy="1871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5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831"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Santander Text" panose="020B0504020201020104" pitchFamily="34" charset="0"/>
                        </a:rPr>
                        <a:t>Tipologia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Santander Text" panose="020B0504020201020104" pitchFamily="34" charset="0"/>
                        </a:rPr>
                        <a:t># Incidências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Santander Text" panose="020B0504020201020104" pitchFamily="34" charset="0"/>
                        </a:rPr>
                        <a:t># Correções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aseline="0" dirty="0">
                          <a:latin typeface="Santander Text" panose="020B0504020201020104" pitchFamily="34" charset="0"/>
                        </a:rPr>
                        <a:t>Para tratamento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Santander Text" panose="020B0504020201020104" pitchFamily="34" charset="0"/>
                        </a:rPr>
                        <a:t>Sem</a:t>
                      </a:r>
                      <a:r>
                        <a:rPr lang="pt-PT" sz="1200" baseline="0" dirty="0">
                          <a:latin typeface="Santander Text" panose="020B0504020201020104" pitchFamily="34" charset="0"/>
                        </a:rPr>
                        <a:t> documentos / inclusão ação estratégica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098"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Santander Text" panose="020B0504020201020104" pitchFamily="34" charset="0"/>
                        </a:rPr>
                        <a:t>Clientes novos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151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23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96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32</a:t>
                      </a:r>
                    </a:p>
                  </a:txBody>
                  <a:tcPr marL="91407" marR="91407" marT="45703" marB="457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098">
                <a:tc>
                  <a:txBody>
                    <a:bodyPr/>
                    <a:lstStyle/>
                    <a:p>
                      <a:r>
                        <a:rPr lang="pt-PT" sz="1200">
                          <a:latin typeface="Santander Text" panose="020B0504020201020104" pitchFamily="34" charset="0"/>
                        </a:rPr>
                        <a:t>Clientes alterados</a:t>
                      </a:r>
                      <a:endParaRPr lang="en-US" sz="1200" dirty="0">
                        <a:latin typeface="Santander Text" panose="020B0504020201020104" pitchFamily="34" charset="0"/>
                      </a:endParaRP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1085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254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Santander Text" panose="020B0504020201020104" pitchFamily="34" charset="0"/>
                        </a:rPr>
                        <a:t>795</a:t>
                      </a:r>
                    </a:p>
                  </a:txBody>
                  <a:tcPr marL="91407" marR="91407" marT="45703" marB="45703"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91407" marR="91407" marT="45703" marB="457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etângulo 3">
            <a:extLst>
              <a:ext uri="{FF2B5EF4-FFF2-40B4-BE49-F238E27FC236}">
                <a16:creationId xmlns:a16="http://schemas.microsoft.com/office/drawing/2014/main" id="{0F92F7B0-B3DA-48A3-BB1D-2C768E9F8905}"/>
              </a:ext>
            </a:extLst>
          </p:cNvPr>
          <p:cNvSpPr/>
          <p:nvPr/>
        </p:nvSpPr>
        <p:spPr>
          <a:xfrm>
            <a:off x="6095206" y="6025844"/>
            <a:ext cx="5635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(1) Os erros desta casuística são erros de </a:t>
            </a:r>
            <a:r>
              <a: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stock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corrigidos neste âmbito sempre que possível e enquadrados nas ações estratégicas de </a:t>
            </a:r>
            <a:r>
              <a: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stock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sempre que não seja possível recuperar o dado no momento.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41AC8F-5A0F-4E06-B74F-781BBCEECC99}"/>
              </a:ext>
            </a:extLst>
          </p:cNvPr>
          <p:cNvSpPr txBox="1"/>
          <p:nvPr/>
        </p:nvSpPr>
        <p:spPr>
          <a:xfrm>
            <a:off x="6178139" y="2657016"/>
            <a:ext cx="55958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Universo de Clientes: </a:t>
            </a:r>
            <a:r>
              <a:rPr kumimoji="0" lang="pt-P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 titulares de contas excluindo contas encerramento</a:t>
            </a:r>
            <a:endParaRPr kumimoji="0" lang="pt-PT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14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639562" y="668130"/>
            <a:ext cx="10053838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PBC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93400" y="582613"/>
          <a:ext cx="700088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556200" imgH="469800" progId="Excel.Sheet.12">
                  <p:embed/>
                </p:oleObj>
              </mc:Choice>
              <mc:Fallback>
                <p:oleObj name="Worksheet" showAsIcon="1" r:id="rId3" imgW="556200" imgH="469800" progId="Excel.Sheet.12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644C12CA-C815-405D-A669-1C04E68F0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93400" y="582613"/>
                        <a:ext cx="700088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42487" y="3823066"/>
          <a:ext cx="10608249" cy="23707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Sepas emitidas periodicas que não são enviadas para Norkom WLM 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26 160 (16,41%)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Novas Evidêncais Enviadas. Aguarda plano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IP enviadas que não são enviadas para Norkom WLM 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1 161 (0,425%)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Novas Evidêncais Enviadas. Aguarda plano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WIP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091712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NK não gera mínimo alertas Receiver Swift contra  Nome Banco em Fativa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Fev/23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(100%)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Analisado conclui-se que não se trata de incidência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NA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/ FCC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879060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NK não gera mínimo alertas para CR - MoneySend contra Nome Pessoa em Fativa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(100%)</a:t>
                      </a:r>
                      <a:endParaRPr lang="pt-PT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Analisado conclui-se que não se trata de incidência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/ FCC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Operações Alvo de screening sem o iban emissor / beneficiário preenchido (op 48)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13 020 (39,78%)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Necessária nova intervenção para calibração</a:t>
                      </a:r>
                      <a:endParaRPr lang="pt-PT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WIP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63390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Operações Alvo de screening sem o iban emissor / beneficiário preenchido (outras)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(0,33%)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Necessária nova intervenção para calibração</a:t>
                      </a:r>
                      <a:endParaRPr lang="pt-PT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WIP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9745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NK não gera mínimo alertas para Recolha Cheque contra Nome Pessoa em Fativa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(100%)</a:t>
                      </a:r>
                      <a:endParaRPr lang="pt-PT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Incidência recente, necessidade de simulação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 / FCC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67849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Analistas estão a rever alertas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5 (0,42%)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Incidências partilhadas para nova revisão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/23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FCC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13777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Utilizador que revê o alerta não é o mesmo que o fechou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Abr/23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 (0,34%)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Incidências partilhadas para nova revisão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/23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FCC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39892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Alertas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‘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Cli</a:t>
                      </a: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contra RCA en FACTIVA</a:t>
                      </a: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’  </a:t>
                      </a: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scores entre 0.85 e 0.90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Abr/23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(100%)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Incidência recente, necessidade de simulação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NA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324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1396312" y="6421006"/>
            <a:ext cx="881307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  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de PBC incluêm controlos de WLM, AML/TM e KYC.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b  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PR–Estes indicadores são controlos de processo e não são controlos de qualidade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c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 NK – Norkom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5D600705-A4E0-4A2F-A381-D4482B0082EC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2F5C99-2740-4C9F-A90F-286DD66C0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E91E96-4A04-4926-BC8F-C23FE5652CC1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6 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99C0093-94ED-4733-8E6F-89B4124B2B89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B69765-0844-4262-B6EB-0D35B613E1E6}"/>
              </a:ext>
            </a:extLst>
          </p:cNvPr>
          <p:cNvCxnSpPr>
            <a:cxnSpLocks/>
          </p:cNvCxnSpPr>
          <p:nvPr/>
        </p:nvCxnSpPr>
        <p:spPr>
          <a:xfrm>
            <a:off x="6753435" y="1966573"/>
            <a:ext cx="0" cy="172740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376AE4-EAD6-418E-AB0B-2E8D62C2C107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4 (6%)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3891-9362-484D-A148-00F836078ECD}"/>
              </a:ext>
            </a:extLst>
          </p:cNvPr>
          <p:cNvSpPr/>
          <p:nvPr/>
        </p:nvSpPr>
        <p:spPr>
          <a:xfrm>
            <a:off x="7174639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5 (2%)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90F306-39F0-42A7-B0E1-54C5B1E55FDF}"/>
              </a:ext>
            </a:extLst>
          </p:cNvPr>
          <p:cNvSpPr/>
          <p:nvPr/>
        </p:nvSpPr>
        <p:spPr>
          <a:xfrm>
            <a:off x="8116560" y="2990778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13 (8%)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AA12DA-FB56-496E-B19D-291BF2BCE62D}"/>
              </a:ext>
            </a:extLst>
          </p:cNvPr>
          <p:cNvSpPr/>
          <p:nvPr/>
        </p:nvSpPr>
        <p:spPr>
          <a:xfrm>
            <a:off x="9050614" y="2983850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13 (8%)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2ED44F-9EFE-4563-82ED-1EC7F5D7CEC6}"/>
              </a:ext>
            </a:extLst>
          </p:cNvPr>
          <p:cNvSpPr/>
          <p:nvPr/>
        </p:nvSpPr>
        <p:spPr>
          <a:xfrm>
            <a:off x="9992813" y="298365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10 (6%)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36A513-AA80-4EA0-894D-B1A1C10685CE}"/>
              </a:ext>
            </a:extLst>
          </p:cNvPr>
          <p:cNvSpPr/>
          <p:nvPr/>
        </p:nvSpPr>
        <p:spPr>
          <a:xfrm>
            <a:off x="6272808" y="2964355"/>
            <a:ext cx="600934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21 (14%)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D88F99-F255-477C-B458-6111FE27858B}"/>
              </a:ext>
            </a:extLst>
          </p:cNvPr>
          <p:cNvSpPr/>
          <p:nvPr/>
        </p:nvSpPr>
        <p:spPr>
          <a:xfrm>
            <a:off x="10934734" y="298365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10 (6%) </a:t>
            </a:r>
          </a:p>
        </p:txBody>
      </p:sp>
    </p:spTree>
    <p:extLst>
      <p:ext uri="{BB962C8B-B14F-4D97-AF65-F5344CB8AC3E}">
        <p14:creationId xmlns:p14="http://schemas.microsoft.com/office/powerpoint/2010/main" val="33474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42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639562" y="702068"/>
            <a:ext cx="8882661" cy="41317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Empréstimos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F3B7E4A-70DC-40F7-AF47-280932CC1CBE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1207582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390437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com data de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utilização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do capital anterior à data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formalização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do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</a:t>
                      </a:r>
                      <a:endParaRPr lang="pt-PT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Janeiro/23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 (0,014%)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Calibração</a:t>
                      </a:r>
                      <a:r>
                        <a:rPr lang="pt-BR" sz="90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do controlo</a:t>
                      </a: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725405"/>
                  </a:ext>
                </a:extLst>
              </a:tr>
              <a:tr h="390437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Contratos</a:t>
                      </a: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sem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proposta</a:t>
                      </a:r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associada</a:t>
                      </a:r>
                      <a:endParaRPr lang="pt-PT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Setembro/22</a:t>
                      </a:r>
                    </a:p>
                  </a:txBody>
                  <a:tcPr marL="9523" marR="9523" marT="95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108 109 (16,72%)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Pedido de Ingesta tabela RUT01 (processos) IFRRU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BDAE89E-F6AB-4BB2-8058-9DB20478D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6913" y="603250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880" imgH="771480" progId="Excel.Sheet.12">
                  <p:embed/>
                </p:oleObj>
              </mc:Choice>
              <mc:Fallback>
                <p:oleObj name="Worksheet" showAsIcon="1" r:id="rId3" imgW="380880" imgH="77148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BDAE89E-F6AB-4BB2-8058-9DB20478D4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56913" y="603250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54286280-83AD-4367-90B6-5AC2506E7085}"/>
              </a:ext>
            </a:extLst>
          </p:cNvPr>
          <p:cNvSpPr txBox="1"/>
          <p:nvPr/>
        </p:nvSpPr>
        <p:spPr>
          <a:xfrm>
            <a:off x="733339" y="3498973"/>
            <a:ext cx="4098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  <a:sym typeface="Wingdings" panose="05000000000000000000" pitchFamily="2" charset="2"/>
              </a:rPr>
              <a:t></a:t>
            </a: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1 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Variação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EF3BAF-C195-4E39-8A3D-8BC79658314E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(3%)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(3%)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(2%)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(2%)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(2%)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(2%) 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34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200" b="0" i="0" u="none" strike="noStrike" baseline="30000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2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66855" y="1343119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1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BEC89C6-2E53-4E38-9B52-576F87813532}"/>
              </a:ext>
            </a:extLst>
          </p:cNvPr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Garantias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3738" y="582613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380880" imgH="806400" progId="Excel.Sheet.12">
                  <p:embed/>
                </p:oleObj>
              </mc:Choice>
              <mc:Fallback>
                <p:oleObj name="Worksheet" showAsIcon="1" r:id="rId5" imgW="380880" imgH="806400" progId="Excel.Sheet.12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53738" y="582613"/>
                        <a:ext cx="3810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(4%)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(3%)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(4%)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4 (3%)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(2%)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4036441"/>
          <a:ext cx="10608249" cy="13987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1414 (0,50%)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</a:t>
                      </a: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Emp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3590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(0,95%)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 CS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(1,21%)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de correção definido por IT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 CS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(3,33%)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modelo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 </a:t>
                      </a:r>
                      <a:r>
                        <a:rPr lang="pt-PT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contab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 &lt; ao montante cativo total</a:t>
                      </a:r>
                      <a:endParaRPr lang="pt-PT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139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(2,17%)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1126738" y="5845710"/>
            <a:ext cx="88130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 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95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8995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Setembro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Atenção ao Cliente – Abril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264F5D-7A7C-4449-A46E-1C011B45ED22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2430143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58663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2526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60239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47777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47074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4924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81046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102844"/>
                  </a:ext>
                </a:extLst>
              </a:tr>
              <a:tr h="25383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5091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26453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9DBE84-E6FF-4F2B-B56B-BCA36725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874924-4436-4CA6-93B7-B4395766B02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A9CEAD-7BBC-254D-7C91-EE14B5751382}"/>
              </a:ext>
            </a:extLst>
          </p:cNvPr>
          <p:cNvCxnSpPr>
            <a:cxnSpLocks/>
          </p:cNvCxnSpPr>
          <p:nvPr/>
        </p:nvCxnSpPr>
        <p:spPr>
          <a:xfrm>
            <a:off x="6598209" y="1892413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1395015-BF40-75F2-884A-D7A9850FB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8000" y="284400"/>
          <a:ext cx="914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162" imgH="816726" progId="Excel.Sheet.12">
                  <p:embed/>
                </p:oleObj>
              </mc:Choice>
              <mc:Fallback>
                <p:oleObj name="Worksheet" showAsIcon="1" r:id="rId5" imgW="914162" imgH="816726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1395015-BF40-75F2-884A-D7A9850FBF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18000" y="284400"/>
                        <a:ext cx="914400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107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98%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1122030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Regs. Em Situação de Probation Period com a conta de Dias em Probation Period &gt; 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Jan/23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320 (2,74%)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Controlo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terá de ser atualizado uma vez que a casuística apresentada como sendo uma incidência, é expectável desde o </a:t>
                      </a:r>
                      <a:r>
                        <a:rPr lang="pt-PT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release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de 21 de setembro de 2022 para operações </a:t>
                      </a:r>
                      <a:r>
                        <a:rPr lang="pt-PT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retail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 operações de clientes CIB.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</a:tbl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5D600705-A4E0-4A2F-A381-D4482B0082EC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2F5C99-2740-4C9F-A90F-286DD66C0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E91E96-4A04-4926-BC8F-C23FE5652CC1}"/>
              </a:ext>
            </a:extLst>
          </p:cNvPr>
          <p:cNvSpPr txBox="1"/>
          <p:nvPr/>
        </p:nvSpPr>
        <p:spPr>
          <a:xfrm>
            <a:off x="852755" y="3570863"/>
            <a:ext cx="29030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 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99C0093-94ED-4733-8E6F-89B4124B2B89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B69765-0844-4262-B6EB-0D35B613E1E6}"/>
              </a:ext>
            </a:extLst>
          </p:cNvPr>
          <p:cNvCxnSpPr>
            <a:cxnSpLocks/>
          </p:cNvCxnSpPr>
          <p:nvPr/>
        </p:nvCxnSpPr>
        <p:spPr>
          <a:xfrm>
            <a:off x="6748673" y="1966573"/>
            <a:ext cx="0" cy="160062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376AE4-EAD6-418E-AB0B-2E8D62C2C107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4 (6%)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3891-9362-484D-A148-00F836078ECD}"/>
              </a:ext>
            </a:extLst>
          </p:cNvPr>
          <p:cNvSpPr/>
          <p:nvPr/>
        </p:nvSpPr>
        <p:spPr>
          <a:xfrm>
            <a:off x="7174639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0 (0%)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90F306-39F0-42A7-B0E1-54C5B1E55FDF}"/>
              </a:ext>
            </a:extLst>
          </p:cNvPr>
          <p:cNvSpPr/>
          <p:nvPr/>
        </p:nvSpPr>
        <p:spPr>
          <a:xfrm>
            <a:off x="8116560" y="2990778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(1%)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AA12DA-FB56-496E-B19D-291BF2BCE62D}"/>
              </a:ext>
            </a:extLst>
          </p:cNvPr>
          <p:cNvSpPr/>
          <p:nvPr/>
        </p:nvSpPr>
        <p:spPr>
          <a:xfrm>
            <a:off x="9050614" y="2983850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(1%)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2ED44F-9EFE-4563-82ED-1EC7F5D7CEC6}"/>
              </a:ext>
            </a:extLst>
          </p:cNvPr>
          <p:cNvSpPr/>
          <p:nvPr/>
        </p:nvSpPr>
        <p:spPr>
          <a:xfrm>
            <a:off x="9992813" y="298365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(1%)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36A513-AA80-4EA0-894D-B1A1C10685CE}"/>
              </a:ext>
            </a:extLst>
          </p:cNvPr>
          <p:cNvSpPr/>
          <p:nvPr/>
        </p:nvSpPr>
        <p:spPr>
          <a:xfrm>
            <a:off x="6228489" y="296608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0 (0%)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D88F99-F255-477C-B458-6111FE27858B}"/>
              </a:ext>
            </a:extLst>
          </p:cNvPr>
          <p:cNvSpPr/>
          <p:nvPr/>
        </p:nvSpPr>
        <p:spPr>
          <a:xfrm>
            <a:off x="10934734" y="298365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(1%)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732962" y="5077537"/>
            <a:ext cx="88130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NOTA: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Os controlos MAC estão em construção (ainda faltam construir alguns) e são replica dos controlos MAC que existem no motor acoplado. 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BEC89C6-2E53-4E38-9B52-576F87813532}"/>
              </a:ext>
            </a:extLst>
          </p:cNvPr>
          <p:cNvSpPr txBox="1">
            <a:spLocks/>
          </p:cNvSpPr>
          <p:nvPr/>
        </p:nvSpPr>
        <p:spPr>
          <a:xfrm>
            <a:off x="582467" y="734811"/>
            <a:ext cx="8879449" cy="2868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38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MAC – Versão Desacoplada do Motor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54817" y="314770"/>
            <a:ext cx="2214824" cy="607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ATUALIZAR – FC</a:t>
            </a:r>
          </a:p>
        </p:txBody>
      </p:sp>
    </p:spTree>
    <p:extLst>
      <p:ext uri="{BB962C8B-B14F-4D97-AF65-F5344CB8AC3E}">
        <p14:creationId xmlns:p14="http://schemas.microsoft.com/office/powerpoint/2010/main" val="364614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33340"/>
          <a:ext cx="10608249" cy="19819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Incoerências no cálculo de valores nominais AE (duas titularizações afetadas)</a:t>
                      </a:r>
                      <a:endParaRPr lang="pt-PT" sz="9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Fev/23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(2,326%)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analise por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681542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Colunas com caracteres especiais não reconhecidos </a:t>
                      </a:r>
                      <a:r>
                        <a:rPr lang="pt-PT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(4 controlos afetados)</a:t>
                      </a:r>
                      <a:endParaRPr lang="pt-PT" sz="9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Set/22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59 260 (4,602%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Remover caracteres especiais do input manual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Dez/22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RM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08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Wingdings" panose="05000000000000000000" pitchFamily="2" charset="2"/>
                        </a:rPr>
                        <a:t>l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Rating Externo não informado (titulo novo)</a:t>
                      </a:r>
                      <a:endParaRPr lang="pt-PT" sz="900" b="1" i="0" u="none" strike="noStrike" dirty="0">
                        <a:solidFill>
                          <a:schemeClr val="tx1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Out/22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(3,226%)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Informar rating externo no dicionário de títulos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Riscos de Mercado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12557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Contas contabilísticas  na matriz ALM que não existem no plano de contas (BST IND)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(0,024%)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Remover contas da matriz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Riscos de Mercado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84330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Preenchimento da data de próxima liquidação de juros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 (0,009%)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Incidente em análise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RM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55117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Registos com data da próxima amortização &lt; data de referência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 (0,006%)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Confirmar motivo de paragem de amortização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IT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0151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Datas de próxima liquidação de juros default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Jun/21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17 325 (0,899%)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Confirmar possíveis exceções do controlo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RM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794420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Elegibilidade dos códigos de frequência de renovação da taxa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Jun/21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80(0,015%)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Confirmar forçagens manuais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RM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971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BEC89C6-2E53-4E38-9B52-576F87813532}"/>
              </a:ext>
            </a:extLst>
          </p:cNvPr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ALM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C0A832E-0A3E-43C0-B600-7A7115865976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Rounded Rectangle 36">
            <a:extLst>
              <a:ext uri="{FF2B5EF4-FFF2-40B4-BE49-F238E27FC236}">
                <a16:creationId xmlns:a16="http://schemas.microsoft.com/office/drawing/2014/main" id="{B40519D4-DF9D-4395-AEC6-5EB8E046BAFC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ED6777-4BAF-4697-BCF1-D3F0D8624C69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(3%)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275EB-36C3-4062-AAC5-5DFE110B679F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(1%)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6171FE-865B-4812-94C4-05E1F3A12394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11 (5%)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BE01A2-380E-4BE8-9B7B-18CCA495C2B3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12 (6%)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48FCE3-1A99-411B-9AC0-9884BAAE16D8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11 (5%)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343DC-1088-4DE4-8AE9-358F2C5A00C5}"/>
              </a:ext>
            </a:extLst>
          </p:cNvPr>
          <p:cNvSpPr/>
          <p:nvPr/>
        </p:nvSpPr>
        <p:spPr>
          <a:xfrm>
            <a:off x="5288831" y="2980099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12 (7%)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82372F-82EB-4019-8A47-28CFEFD5ACB6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5(2%)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9DBBC3-9316-4786-AF24-70E2B8497897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5B12E9C-AB1A-6B2B-804F-95D42C6DB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53738" y="595313"/>
          <a:ext cx="3810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380652" imgH="781258" progId="Excel.Sheet.12">
                  <p:embed/>
                </p:oleObj>
              </mc:Choice>
              <mc:Fallback>
                <p:oleObj name="Worksheet" showAsIcon="1" r:id="rId5" imgW="380652" imgH="78125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5B12E9C-AB1A-6B2B-804F-95D42C6DB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53738" y="595313"/>
                        <a:ext cx="38100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7854817" y="314770"/>
            <a:ext cx="2214824" cy="607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ATUALIZAR – MS</a:t>
            </a:r>
          </a:p>
        </p:txBody>
      </p:sp>
    </p:spTree>
    <p:extLst>
      <p:ext uri="{BB962C8B-B14F-4D97-AF65-F5344CB8AC3E}">
        <p14:creationId xmlns:p14="http://schemas.microsoft.com/office/powerpoint/2010/main" val="198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8995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100%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ítulo 1"/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Propostas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264F5D-7A7C-4449-A46E-1C011B45ED22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249" cy="21763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finalidade &lt;&gt;  finalidade do contrato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Abril/22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2 841 (0,93%)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Alteração da finalidade nas GPTs durante avaliação.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 + 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58663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contratos com intervalo entre data de abertura e vencimento &lt;&gt; prazo da proposta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2 137 (0,70%)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das diferenças com ajuda de Empréstimos.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Emp + CDO + IT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2526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contratos com intervalo entre data de inicio e fim de carência &lt;&gt; prazo carência prop.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12 138 (38,12%)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Correção implementada para nova produção.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60239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spread diferente dos limites do catálogo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 (0,03%)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Spread alterado no momento da escritura. Em análise.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 + 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47777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valor &lt; ao valor formalizado em contratos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18 821 (6,17%)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Controlo em revisão com ajuda de Empréstimos.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Emp + CDO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47074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 com indexante diferente do catálogo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24 (0,11%)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Incidências remanescentes em análise. 99% corrigido.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549243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tipo de carência sem informar (quando têm prazo informado)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2 068 (5,93%)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Correção implementada para nova produção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810461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prazo de carência informado, quando o contrato não tem carência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Mai/22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4 860 (1,59%)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Correção implementada para nova produção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10284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EE843C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# propostas com tipo de taxa sem informar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Jun/22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4 674 (1,47%)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Aberto Snow: INC029490199 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IT+ OMDM</a:t>
                      </a:r>
                    </a:p>
                  </a:txBody>
                  <a:tcPr marL="9522" marR="9522" marT="952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5091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89DBE84-E6FF-4F2B-B56B-BCA36725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874924-4436-4CA6-93B7-B4395766B02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0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FBF68F04-6ABA-4EAB-8E52-11C5A45B81C2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Rounded Rectangle 36">
            <a:extLst>
              <a:ext uri="{FF2B5EF4-FFF2-40B4-BE49-F238E27FC236}">
                <a16:creationId xmlns:a16="http://schemas.microsoft.com/office/drawing/2014/main" id="{58C7BF5E-010B-46DF-B4D8-E478E2866F97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1B1966-DE56-4DF5-B6E1-A031B430008C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12 (18%)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716F75-DFC0-4D8A-98D5-C49E7245BBDF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8 (20%)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772781-4576-42E9-8BF7-B922571D0110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(15%)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46009A-2525-4AE7-9C9D-E38E6DABE4F6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(15%)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7D76FF-71ED-4A74-A3CF-3F08CB18D6A4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(15%)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F20742-BE7E-49EC-87A4-18778ED050C9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6 (15%)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B2E16D-C19F-411E-9F69-2513665E42D7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751BBEA-8D30-1FC8-7593-B41DC46892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87038" y="582613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597" imgH="806311" progId="Excel.Sheet.12">
                  <p:embed/>
                </p:oleObj>
              </mc:Choice>
              <mc:Fallback>
                <p:oleObj name="Worksheet" showAsIcon="1" r:id="rId5" imgW="914597" imgH="806311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751BBEA-8D30-1FC8-7593-B41DC4689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87038" y="582613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7854817" y="314770"/>
            <a:ext cx="2214824" cy="607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ATUALIZAR – MS</a:t>
            </a:r>
          </a:p>
        </p:txBody>
      </p:sp>
    </p:spTree>
    <p:extLst>
      <p:ext uri="{BB962C8B-B14F-4D97-AF65-F5344CB8AC3E}">
        <p14:creationId xmlns:p14="http://schemas.microsoft.com/office/powerpoint/2010/main" val="193998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E6F36F36-9BFD-4327-8258-948AF672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8754" y="6492164"/>
            <a:ext cx="2741851" cy="36494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13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2962" y="1343875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Março</a:t>
                      </a:r>
                      <a:r>
                        <a:rPr lang="en-US" sz="12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200" b="0" i="0" u="none" strike="noStrike" baseline="30000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97%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2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639562" y="278094"/>
            <a:ext cx="10753444" cy="304759"/>
          </a:xfrm>
        </p:spPr>
        <p:txBody>
          <a:bodyPr/>
          <a:lstStyle/>
          <a:p>
            <a:r>
              <a:rPr lang="pt-PT" dirty="0"/>
              <a:t>Qualidade de dados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53701" y="1345486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68424" y="1343119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Evolução Temporal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32962" y="3823066"/>
          <a:ext cx="10608359" cy="1009908"/>
        </p:xfrm>
        <a:graphic>
          <a:graphicData uri="http://schemas.openxmlformats.org/drawingml/2006/table">
            <a:tbl>
              <a:tblPr/>
              <a:tblGrid>
                <a:gridCol w="3465959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5320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11240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647245">
                  <a:extLst>
                    <a:ext uri="{9D8B030D-6E8A-4147-A177-3AD203B41FA5}">
                      <a16:colId xmlns:a16="http://schemas.microsoft.com/office/drawing/2014/main" val="1848667449"/>
                    </a:ext>
                  </a:extLst>
                </a:gridCol>
                <a:gridCol w="2776355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41600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1011600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Yu Mincho Demibold" panose="020B0400000000000000" pitchFamily="18" charset="-128"/>
                        </a:rPr>
                        <a:t>∆</a:t>
                      </a: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%</a:t>
                      </a:r>
                    </a:p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Mensal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Registos com frequência de renovação de taxa não informada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930 (0,218% 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</a:rPr>
                        <a:t>-3,72%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Operações de Método de Gestão Livre. Em confirmação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CdG +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Registos data de próxima liquidação de juros não informada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Mar/22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14 660 (0,480%)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Santander Text" panose="020B0504020201020104" pitchFamily="34" charset="0"/>
                        </a:rPr>
                        <a:t>-42,43%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Contas DOs. Confirmar aplicação que origina incidente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 + Operações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FF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Segmento comercial não informado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Jan/23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30 495( 0,210%)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Ocorre em meses de reafetação. A corrigir por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80958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62" y="3567195"/>
            <a:ext cx="213109" cy="28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852755" y="3570863"/>
            <a:ext cx="620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 corrigidos face ao mês anterior: 1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7BEC89C6-2E53-4E38-9B52-576F87813532}"/>
              </a:ext>
            </a:extLst>
          </p:cNvPr>
          <p:cNvSpPr txBox="1">
            <a:spLocks/>
          </p:cNvSpPr>
          <p:nvPr/>
        </p:nvSpPr>
        <p:spPr>
          <a:xfrm>
            <a:off x="580472" y="733836"/>
            <a:ext cx="8882661" cy="2869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0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Controlos Controlo de Gestão – Março 2023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E4ADC-6BDA-40B1-B4DA-FAB626347389}"/>
              </a:ext>
            </a:extLst>
          </p:cNvPr>
          <p:cNvSpPr txBox="1"/>
          <p:nvPr/>
        </p:nvSpPr>
        <p:spPr>
          <a:xfrm>
            <a:off x="732962" y="4842616"/>
            <a:ext cx="10608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pt-P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 resultado de cada controlo é determinado pelo respetivo </a:t>
            </a:r>
            <a:r>
              <a: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threshold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Para controlos corporativos os </a:t>
            </a:r>
            <a:r>
              <a:rPr kumimoji="0" lang="pt-PT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thresholds</a:t>
            </a:r>
            <a:r>
              <a: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são estabelecidos pela corporação, para controlos locais são definidos pela área local.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EF3BAF-C195-4E39-8A3D-8BC79658314E}"/>
              </a:ext>
            </a:extLst>
          </p:cNvPr>
          <p:cNvSpPr/>
          <p:nvPr/>
        </p:nvSpPr>
        <p:spPr>
          <a:xfrm>
            <a:off x="6234981" y="298385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(2%)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121638" y="2980100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(2%)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63559" y="2987027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(2%)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97613" y="2980099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(2%)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39812" y="2979905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(2%)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8EF85B-3DA7-4AC1-9CE4-91ED43B667BA}"/>
              </a:ext>
            </a:extLst>
          </p:cNvPr>
          <p:cNvSpPr/>
          <p:nvPr/>
        </p:nvSpPr>
        <p:spPr>
          <a:xfrm>
            <a:off x="5288831" y="2980099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12 (18%)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873587" y="298702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2(2%)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6806314" y="1908315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FC75CFE-E345-5712-88E3-C6C47BAF5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86909" y="582613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597" imgH="806311" progId="Excel.Sheet.12">
                  <p:embed/>
                </p:oleObj>
              </mc:Choice>
              <mc:Fallback>
                <p:oleObj name="Worksheet" showAsIcon="1" r:id="rId5" imgW="914597" imgH="806311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FC75CFE-E345-5712-88E3-C6C47BAF5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86909" y="582613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/>
          <p:nvPr/>
        </p:nvSpPr>
        <p:spPr>
          <a:xfrm>
            <a:off x="7854817" y="314770"/>
            <a:ext cx="2214824" cy="607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ATUALIZAR – MS</a:t>
            </a:r>
          </a:p>
        </p:txBody>
      </p:sp>
    </p:spTree>
    <p:extLst>
      <p:ext uri="{BB962C8B-B14F-4D97-AF65-F5344CB8AC3E}">
        <p14:creationId xmlns:p14="http://schemas.microsoft.com/office/powerpoint/2010/main" val="145645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220"/>
          <p:cNvSpPr/>
          <p:nvPr/>
        </p:nvSpPr>
        <p:spPr bwMode="auto">
          <a:xfrm>
            <a:off x="2268472" y="6481350"/>
            <a:ext cx="432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20" name="Rectangle 130"/>
          <p:cNvSpPr/>
          <p:nvPr/>
        </p:nvSpPr>
        <p:spPr bwMode="auto">
          <a:xfrm>
            <a:off x="3575364" y="6481350"/>
            <a:ext cx="432000" cy="18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21" name="Rectangle 245"/>
          <p:cNvSpPr/>
          <p:nvPr/>
        </p:nvSpPr>
        <p:spPr bwMode="auto">
          <a:xfrm>
            <a:off x="4882255" y="6481350"/>
            <a:ext cx="432000" cy="180000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00472" y="6455934"/>
            <a:ext cx="6415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Por iniciar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990088" y="6455934"/>
            <a:ext cx="6655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 decorrer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300320" y="6437290"/>
            <a:ext cx="1380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Respondido e revisto localmente. Faltam respostas corporativas.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66" name="Rectangle 245"/>
          <p:cNvSpPr/>
          <p:nvPr/>
        </p:nvSpPr>
        <p:spPr bwMode="auto">
          <a:xfrm>
            <a:off x="6681644" y="6509343"/>
            <a:ext cx="432000" cy="180000"/>
          </a:xfrm>
          <a:prstGeom prst="roundRect">
            <a:avLst/>
          </a:prstGeom>
          <a:solidFill>
            <a:schemeClr val="accent4"/>
          </a:solidFill>
          <a:ln w="28575">
            <a:solidFill>
              <a:schemeClr val="accent4"/>
            </a:solidFill>
            <a:miter lim="800000"/>
            <a:headEnd/>
            <a:tailEnd/>
          </a:ln>
        </p:spPr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8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7080953" y="6451681"/>
            <a:ext cx="1013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Respondido e revisto por OS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3" name="Rectangle 123"/>
          <p:cNvSpPr/>
          <p:nvPr>
            <p:custDataLst>
              <p:tags r:id="rId1"/>
            </p:custDataLst>
          </p:nvPr>
        </p:nvSpPr>
        <p:spPr bwMode="auto">
          <a:xfrm>
            <a:off x="2360828" y="913594"/>
            <a:ext cx="828000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Governance Model</a:t>
            </a:r>
          </a:p>
        </p:txBody>
      </p:sp>
      <p:sp>
        <p:nvSpPr>
          <p:cNvPr id="35" name="Rounded Rectangle 34"/>
          <p:cNvSpPr/>
          <p:nvPr>
            <p:custDataLst>
              <p:tags r:id="rId2"/>
            </p:custDataLst>
          </p:nvPr>
        </p:nvSpPr>
        <p:spPr bwMode="auto">
          <a:xfrm>
            <a:off x="10516934" y="913594"/>
            <a:ext cx="1296000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Reports</a:t>
            </a:r>
          </a:p>
        </p:txBody>
      </p:sp>
      <p:sp>
        <p:nvSpPr>
          <p:cNvPr id="117" name="Rounded Rectangle 116"/>
          <p:cNvSpPr/>
          <p:nvPr>
            <p:custDataLst>
              <p:tags r:id="rId3"/>
            </p:custDataLst>
          </p:nvPr>
        </p:nvSpPr>
        <p:spPr bwMode="auto">
          <a:xfrm>
            <a:off x="9032079" y="913594"/>
            <a:ext cx="1411200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Exploitation</a:t>
            </a:r>
          </a:p>
        </p:txBody>
      </p:sp>
      <p:sp>
        <p:nvSpPr>
          <p:cNvPr id="29" name="Rounded Rectangle 28"/>
          <p:cNvSpPr/>
          <p:nvPr>
            <p:custDataLst>
              <p:tags r:id="rId4"/>
            </p:custDataLst>
          </p:nvPr>
        </p:nvSpPr>
        <p:spPr bwMode="auto">
          <a:xfrm>
            <a:off x="3258580" y="913594"/>
            <a:ext cx="1409898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Sources and Providers</a:t>
            </a:r>
          </a:p>
        </p:txBody>
      </p:sp>
      <p:sp>
        <p:nvSpPr>
          <p:cNvPr id="160" name="Rounded Rectangle 114">
            <a:extLst>
              <a:ext uri="{FF2B5EF4-FFF2-40B4-BE49-F238E27FC236}">
                <a16:creationId xmlns:a16="http://schemas.microsoft.com/office/drawing/2014/main" id="{46270888-8788-46A4-95B8-1AA5EC5C45D6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871332" y="913594"/>
            <a:ext cx="2087507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Engines</a:t>
            </a:r>
          </a:p>
        </p:txBody>
      </p:sp>
      <p:sp>
        <p:nvSpPr>
          <p:cNvPr id="115" name="Rounded Rectangle 114"/>
          <p:cNvSpPr/>
          <p:nvPr>
            <p:custDataLst>
              <p:tags r:id="rId6"/>
            </p:custDataLst>
          </p:nvPr>
        </p:nvSpPr>
        <p:spPr bwMode="auto">
          <a:xfrm>
            <a:off x="4744715" y="913594"/>
            <a:ext cx="2052000" cy="43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33231" tIns="0" rIns="33231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/>
                <a:ea typeface="+mn-ea"/>
                <a:cs typeface="Arial"/>
                <a:sym typeface="Univers 45 Light"/>
              </a:rPr>
              <a:t> Repositories</a:t>
            </a:r>
          </a:p>
        </p:txBody>
      </p:sp>
      <p:sp>
        <p:nvSpPr>
          <p:cNvPr id="92" name="Rectangle 191">
            <a:hlinkClick r:id="" action="ppaction://noaction"/>
          </p:cNvPr>
          <p:cNvSpPr/>
          <p:nvPr/>
        </p:nvSpPr>
        <p:spPr bwMode="auto">
          <a:xfrm>
            <a:off x="432472" y="401935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Finance (Accounting)</a:t>
            </a:r>
          </a:p>
        </p:txBody>
      </p:sp>
      <p:sp>
        <p:nvSpPr>
          <p:cNvPr id="103" name="Rectangle 130"/>
          <p:cNvSpPr/>
          <p:nvPr/>
        </p:nvSpPr>
        <p:spPr bwMode="auto">
          <a:xfrm>
            <a:off x="9032079" y="401935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FINREP </a:t>
            </a:r>
            <a:b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</a:b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tool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46" name="Rectangle 128"/>
          <p:cNvSpPr/>
          <p:nvPr/>
        </p:nvSpPr>
        <p:spPr bwMode="auto">
          <a:xfrm>
            <a:off x="2360828" y="401935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93" name="Rectangle 131"/>
          <p:cNvSpPr/>
          <p:nvPr/>
        </p:nvSpPr>
        <p:spPr bwMode="auto">
          <a:xfrm>
            <a:off x="10516934" y="4019359"/>
            <a:ext cx="63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Local FINREP</a:t>
            </a:r>
          </a:p>
        </p:txBody>
      </p:sp>
      <p:sp>
        <p:nvSpPr>
          <p:cNvPr id="129" name="Rectangle 131"/>
          <p:cNvSpPr/>
          <p:nvPr/>
        </p:nvSpPr>
        <p:spPr bwMode="auto">
          <a:xfrm>
            <a:off x="11182934" y="4019359"/>
            <a:ext cx="63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FINREP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Corp.</a:t>
            </a:r>
          </a:p>
        </p:txBody>
      </p:sp>
      <p:sp>
        <p:nvSpPr>
          <p:cNvPr id="152" name="Rectangle 130">
            <a:extLst>
              <a:ext uri="{FF2B5EF4-FFF2-40B4-BE49-F238E27FC236}">
                <a16:creationId xmlns:a16="http://schemas.microsoft.com/office/drawing/2014/main" id="{3F5083EA-B7BE-4C00-9469-BCE0BAE2A27E}"/>
              </a:ext>
            </a:extLst>
          </p:cNvPr>
          <p:cNvSpPr/>
          <p:nvPr/>
        </p:nvSpPr>
        <p:spPr bwMode="auto">
          <a:xfrm>
            <a:off x="9759279" y="401935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ConsolS</a:t>
            </a:r>
          </a:p>
        </p:txBody>
      </p:sp>
      <p:sp>
        <p:nvSpPr>
          <p:cNvPr id="114" name="Rectangle 130"/>
          <p:cNvSpPr/>
          <p:nvPr/>
        </p:nvSpPr>
        <p:spPr bwMode="auto">
          <a:xfrm>
            <a:off x="6871332" y="4019359"/>
            <a:ext cx="208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Modelica</a:t>
            </a:r>
          </a:p>
        </p:txBody>
      </p:sp>
      <p:sp>
        <p:nvSpPr>
          <p:cNvPr id="100" name="Rectangle 130"/>
          <p:cNvSpPr/>
          <p:nvPr/>
        </p:nvSpPr>
        <p:spPr bwMode="auto">
          <a:xfrm>
            <a:off x="4744715" y="4019359"/>
            <a:ext cx="64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Accountng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DM</a:t>
            </a:r>
          </a:p>
        </p:txBody>
      </p:sp>
      <p:sp>
        <p:nvSpPr>
          <p:cNvPr id="201" name="Rectangle 130">
            <a:extLst>
              <a:ext uri="{FF2B5EF4-FFF2-40B4-BE49-F238E27FC236}">
                <a16:creationId xmlns:a16="http://schemas.microsoft.com/office/drawing/2014/main" id="{FA082C1A-2B92-495D-9E52-165009609B90}"/>
              </a:ext>
            </a:extLst>
          </p:cNvPr>
          <p:cNvSpPr/>
          <p:nvPr/>
        </p:nvSpPr>
        <p:spPr bwMode="auto">
          <a:xfrm>
            <a:off x="5446715" y="4019359"/>
            <a:ext cx="64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ConsolS</a:t>
            </a:r>
          </a:p>
        </p:txBody>
      </p:sp>
      <p:sp>
        <p:nvSpPr>
          <p:cNvPr id="145" name="Rectangle 130">
            <a:extLst>
              <a:ext uri="{FF2B5EF4-FFF2-40B4-BE49-F238E27FC236}">
                <a16:creationId xmlns:a16="http://schemas.microsoft.com/office/drawing/2014/main" id="{F407179E-E553-4FE0-9DF8-39E356DCC1F6}"/>
              </a:ext>
            </a:extLst>
          </p:cNvPr>
          <p:cNvSpPr/>
          <p:nvPr/>
        </p:nvSpPr>
        <p:spPr bwMode="auto">
          <a:xfrm>
            <a:off x="6148715" y="4019359"/>
            <a:ext cx="64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Modelica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13" name="Rectangle 130">
            <a:extLst>
              <a:ext uri="{FF2B5EF4-FFF2-40B4-BE49-F238E27FC236}">
                <a16:creationId xmlns:a16="http://schemas.microsoft.com/office/drawing/2014/main" id="{781359AD-867D-432D-B919-C97984655DCA}"/>
              </a:ext>
            </a:extLst>
          </p:cNvPr>
          <p:cNvSpPr/>
          <p:nvPr/>
        </p:nvSpPr>
        <p:spPr bwMode="auto">
          <a:xfrm>
            <a:off x="3258580" y="401935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ICs</a:t>
            </a:r>
            <a:endParaRPr kumimoji="0" lang="es-ES_tradnl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91" name="Rectangle 130">
            <a:extLst>
              <a:ext uri="{FF2B5EF4-FFF2-40B4-BE49-F238E27FC236}">
                <a16:creationId xmlns:a16="http://schemas.microsoft.com/office/drawing/2014/main" id="{1AE18978-A5C6-43D8-99BB-8367EAD5701C}"/>
              </a:ext>
            </a:extLst>
          </p:cNvPr>
          <p:cNvSpPr/>
          <p:nvPr/>
        </p:nvSpPr>
        <p:spPr bwMode="auto">
          <a:xfrm>
            <a:off x="3984478" y="401935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ConsolS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64" name="Rectangle 124"/>
          <p:cNvSpPr/>
          <p:nvPr/>
        </p:nvSpPr>
        <p:spPr bwMode="auto">
          <a:xfrm>
            <a:off x="10524307" y="1381617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9" name="Rounded Rectangle 18">
            <a:hlinkClick r:id="" action="ppaction://noaction"/>
          </p:cNvPr>
          <p:cNvSpPr/>
          <p:nvPr/>
        </p:nvSpPr>
        <p:spPr bwMode="auto">
          <a:xfrm>
            <a:off x="432472" y="1381617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Credit Risk</a:t>
            </a:r>
            <a:endParaRPr kumimoji="0" lang="es-ES_tradnl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44" name="Rectangle 124"/>
          <p:cNvSpPr/>
          <p:nvPr/>
        </p:nvSpPr>
        <p:spPr bwMode="auto">
          <a:xfrm>
            <a:off x="9759279" y="1381617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OFFICE</a:t>
            </a:r>
          </a:p>
        </p:txBody>
      </p:sp>
      <p:sp>
        <p:nvSpPr>
          <p:cNvPr id="142" name="Rectangle 128"/>
          <p:cNvSpPr/>
          <p:nvPr/>
        </p:nvSpPr>
        <p:spPr bwMode="auto">
          <a:xfrm>
            <a:off x="2360828" y="1381617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83" name="Rectangle 193">
            <a:extLst>
              <a:ext uri="{FF2B5EF4-FFF2-40B4-BE49-F238E27FC236}">
                <a16:creationId xmlns:a16="http://schemas.microsoft.com/office/drawing/2014/main" id="{3360BA9C-E78F-44FD-9F1E-FD990F8E6C25}"/>
              </a:ext>
            </a:extLst>
          </p:cNvPr>
          <p:cNvSpPr/>
          <p:nvPr/>
        </p:nvSpPr>
        <p:spPr bwMode="auto">
          <a:xfrm>
            <a:off x="9032079" y="1381617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SAS</a:t>
            </a:r>
          </a:p>
        </p:txBody>
      </p:sp>
      <p:sp>
        <p:nvSpPr>
          <p:cNvPr id="41" name="Rectangle 121"/>
          <p:cNvSpPr/>
          <p:nvPr/>
        </p:nvSpPr>
        <p:spPr bwMode="auto">
          <a:xfrm>
            <a:off x="4744715" y="1381617"/>
            <a:ext cx="20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Univers 45 Light"/>
              </a:rPr>
              <a:t>Risk</a:t>
            </a: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Univers 45 Light"/>
              </a:rPr>
              <a:t> DM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50" name="Rectangle 96">
            <a:extLst>
              <a:ext uri="{FF2B5EF4-FFF2-40B4-BE49-F238E27FC236}">
                <a16:creationId xmlns:a16="http://schemas.microsoft.com/office/drawing/2014/main" id="{CA39DF1A-19BF-4A89-9606-2E0E3FCBE59F}"/>
              </a:ext>
            </a:extLst>
          </p:cNvPr>
          <p:cNvSpPr/>
          <p:nvPr/>
        </p:nvSpPr>
        <p:spPr bwMode="auto">
          <a:xfrm>
            <a:off x="3258580" y="1381617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Univers 45 Light"/>
              </a:rPr>
              <a:t>Processo Auto. Aprov.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" name="Rectangle 124">
            <a:extLst>
              <a:ext uri="{FF2B5EF4-FFF2-40B4-BE49-F238E27FC236}">
                <a16:creationId xmlns:a16="http://schemas.microsoft.com/office/drawing/2014/main" id="{E3E8BD1F-4F6E-A451-1C94-176879C2E3D4}"/>
              </a:ext>
            </a:extLst>
          </p:cNvPr>
          <p:cNvSpPr/>
          <p:nvPr/>
        </p:nvSpPr>
        <p:spPr bwMode="auto">
          <a:xfrm>
            <a:off x="10854813" y="1381617"/>
            <a:ext cx="96549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87" name="Rectangle 191">
            <a:hlinkClick r:id="" action="ppaction://noaction"/>
          </p:cNvPr>
          <p:cNvSpPr/>
          <p:nvPr/>
        </p:nvSpPr>
        <p:spPr bwMode="auto">
          <a:xfrm>
            <a:off x="432472" y="171576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Mgmt Control</a:t>
            </a:r>
          </a:p>
        </p:txBody>
      </p:sp>
      <p:sp>
        <p:nvSpPr>
          <p:cNvPr id="141" name="Rectangle 128"/>
          <p:cNvSpPr/>
          <p:nvPr/>
        </p:nvSpPr>
        <p:spPr bwMode="auto">
          <a:xfrm>
            <a:off x="2360828" y="171576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68" name="Rectangle 124"/>
          <p:cNvSpPr/>
          <p:nvPr/>
        </p:nvSpPr>
        <p:spPr bwMode="auto">
          <a:xfrm>
            <a:off x="10524307" y="171576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28" name="Rectangle 124"/>
          <p:cNvSpPr/>
          <p:nvPr/>
        </p:nvSpPr>
        <p:spPr bwMode="auto">
          <a:xfrm>
            <a:off x="10847440" y="1715764"/>
            <a:ext cx="46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33231" rIns="0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Relatório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 CA</a:t>
            </a:r>
          </a:p>
        </p:txBody>
      </p:sp>
      <p:sp>
        <p:nvSpPr>
          <p:cNvPr id="206" name="Rectangle 124">
            <a:extLst>
              <a:ext uri="{FF2B5EF4-FFF2-40B4-BE49-F238E27FC236}">
                <a16:creationId xmlns:a16="http://schemas.microsoft.com/office/drawing/2014/main" id="{41B451A0-8F2B-46EF-98D5-9A151182B0E6}"/>
              </a:ext>
            </a:extLst>
          </p:cNvPr>
          <p:cNvSpPr/>
          <p:nvPr/>
        </p:nvSpPr>
        <p:spPr bwMode="auto">
          <a:xfrm>
            <a:off x="9032079" y="1715764"/>
            <a:ext cx="14112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OFFICE</a:t>
            </a:r>
          </a:p>
        </p:txBody>
      </p:sp>
      <p:sp>
        <p:nvSpPr>
          <p:cNvPr id="91" name="Rectangle 130"/>
          <p:cNvSpPr/>
          <p:nvPr/>
        </p:nvSpPr>
        <p:spPr bwMode="auto">
          <a:xfrm>
            <a:off x="4744715" y="1715764"/>
            <a:ext cx="100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MIS</a:t>
            </a:r>
          </a:p>
        </p:txBody>
      </p:sp>
      <p:sp>
        <p:nvSpPr>
          <p:cNvPr id="143" name="Rectangle 130"/>
          <p:cNvSpPr/>
          <p:nvPr/>
        </p:nvSpPr>
        <p:spPr bwMode="auto">
          <a:xfrm>
            <a:off x="5788715" y="1715764"/>
            <a:ext cx="100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ConsolS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63" name="Rectangle 130"/>
          <p:cNvSpPr/>
          <p:nvPr/>
        </p:nvSpPr>
        <p:spPr bwMode="auto">
          <a:xfrm>
            <a:off x="3258580" y="1715764"/>
            <a:ext cx="684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MIS</a:t>
            </a:r>
          </a:p>
        </p:txBody>
      </p:sp>
      <p:sp>
        <p:nvSpPr>
          <p:cNvPr id="187" name="Rectangle 130"/>
          <p:cNvSpPr/>
          <p:nvPr/>
        </p:nvSpPr>
        <p:spPr bwMode="auto">
          <a:xfrm>
            <a:off x="3984478" y="1715764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ConsolS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84" name="Rectangle 130">
            <a:extLst>
              <a:ext uri="{FF2B5EF4-FFF2-40B4-BE49-F238E27FC236}">
                <a16:creationId xmlns:a16="http://schemas.microsoft.com/office/drawing/2014/main" id="{A99EC171-490A-4E85-AF7D-ED330ABA2D7D}"/>
              </a:ext>
            </a:extLst>
          </p:cNvPr>
          <p:cNvSpPr/>
          <p:nvPr/>
        </p:nvSpPr>
        <p:spPr bwMode="auto">
          <a:xfrm>
            <a:off x="6871332" y="1715764"/>
            <a:ext cx="208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MIS</a:t>
            </a:r>
          </a:p>
        </p:txBody>
      </p:sp>
      <p:sp>
        <p:nvSpPr>
          <p:cNvPr id="12" name="Rectangle 124">
            <a:extLst>
              <a:ext uri="{FF2B5EF4-FFF2-40B4-BE49-F238E27FC236}">
                <a16:creationId xmlns:a16="http://schemas.microsoft.com/office/drawing/2014/main" id="{A0EB8211-03E3-36A0-FA18-43E59239167B}"/>
              </a:ext>
            </a:extLst>
          </p:cNvPr>
          <p:cNvSpPr/>
          <p:nvPr/>
        </p:nvSpPr>
        <p:spPr bwMode="auto">
          <a:xfrm>
            <a:off x="11344933" y="171576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8" name="Rounded Rectangle 27">
            <a:hlinkClick r:id="" action="ppaction://noaction"/>
          </p:cNvPr>
          <p:cNvSpPr/>
          <p:nvPr/>
        </p:nvSpPr>
        <p:spPr bwMode="auto">
          <a:xfrm>
            <a:off x="432472" y="204484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ALM Liquidity</a:t>
            </a:r>
          </a:p>
        </p:txBody>
      </p:sp>
      <p:sp>
        <p:nvSpPr>
          <p:cNvPr id="151" name="Rectangle 193"/>
          <p:cNvSpPr/>
          <p:nvPr/>
        </p:nvSpPr>
        <p:spPr bwMode="auto">
          <a:xfrm>
            <a:off x="9032079" y="2044849"/>
            <a:ext cx="14112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SAS</a:t>
            </a:r>
          </a:p>
        </p:txBody>
      </p:sp>
      <p:sp>
        <p:nvSpPr>
          <p:cNvPr id="140" name="Rectangle 128"/>
          <p:cNvSpPr/>
          <p:nvPr/>
        </p:nvSpPr>
        <p:spPr bwMode="auto">
          <a:xfrm>
            <a:off x="2360828" y="204484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27" name="Rectangle 192"/>
          <p:cNvSpPr/>
          <p:nvPr/>
        </p:nvSpPr>
        <p:spPr bwMode="auto">
          <a:xfrm>
            <a:off x="4744715" y="2044849"/>
            <a:ext cx="2088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Data Lake - ALM</a:t>
            </a:r>
          </a:p>
        </p:txBody>
      </p:sp>
      <p:sp>
        <p:nvSpPr>
          <p:cNvPr id="205" name="Rectangle 192">
            <a:extLst>
              <a:ext uri="{FF2B5EF4-FFF2-40B4-BE49-F238E27FC236}">
                <a16:creationId xmlns:a16="http://schemas.microsoft.com/office/drawing/2014/main" id="{418E14C8-7412-41B1-A282-F1CF84D4C246}"/>
              </a:ext>
            </a:extLst>
          </p:cNvPr>
          <p:cNvSpPr/>
          <p:nvPr/>
        </p:nvSpPr>
        <p:spPr bwMode="auto">
          <a:xfrm>
            <a:off x="3258580" y="2044849"/>
            <a:ext cx="14112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Data Lake - ALM</a:t>
            </a:r>
          </a:p>
        </p:txBody>
      </p:sp>
      <p:sp>
        <p:nvSpPr>
          <p:cNvPr id="20" name="Rounded Rectangle 19">
            <a:hlinkClick r:id="" action="ppaction://noaction"/>
          </p:cNvPr>
          <p:cNvSpPr/>
          <p:nvPr/>
        </p:nvSpPr>
        <p:spPr bwMode="auto">
          <a:xfrm>
            <a:off x="432472" y="237393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ALM Structural</a:t>
            </a:r>
          </a:p>
        </p:txBody>
      </p:sp>
      <p:sp>
        <p:nvSpPr>
          <p:cNvPr id="49" name="Rectangle 193"/>
          <p:cNvSpPr/>
          <p:nvPr/>
        </p:nvSpPr>
        <p:spPr bwMode="auto">
          <a:xfrm>
            <a:off x="9032079" y="2373934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OFFICE</a:t>
            </a:r>
          </a:p>
        </p:txBody>
      </p:sp>
      <p:sp>
        <p:nvSpPr>
          <p:cNvPr id="139" name="Rectangle 128"/>
          <p:cNvSpPr/>
          <p:nvPr/>
        </p:nvSpPr>
        <p:spPr bwMode="auto">
          <a:xfrm>
            <a:off x="2360828" y="237393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48" name="Rectangle 192"/>
          <p:cNvSpPr/>
          <p:nvPr/>
        </p:nvSpPr>
        <p:spPr bwMode="auto">
          <a:xfrm>
            <a:off x="6871332" y="2373934"/>
            <a:ext cx="20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BANCWARE</a:t>
            </a:r>
            <a:endParaRPr kumimoji="0" lang="es-ES_tradnl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48" name="Rectangle 195"/>
          <p:cNvSpPr/>
          <p:nvPr/>
        </p:nvSpPr>
        <p:spPr bwMode="auto">
          <a:xfrm>
            <a:off x="5788715" y="2373934"/>
            <a:ext cx="100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MIS</a:t>
            </a:r>
          </a:p>
        </p:txBody>
      </p:sp>
      <p:sp>
        <p:nvSpPr>
          <p:cNvPr id="207" name="Rectangle 123">
            <a:extLst>
              <a:ext uri="{FF2B5EF4-FFF2-40B4-BE49-F238E27FC236}">
                <a16:creationId xmlns:a16="http://schemas.microsoft.com/office/drawing/2014/main" id="{8FCD27B6-1374-489D-8960-3A4D8557AE60}"/>
              </a:ext>
            </a:extLst>
          </p:cNvPr>
          <p:cNvSpPr/>
          <p:nvPr/>
        </p:nvSpPr>
        <p:spPr bwMode="auto">
          <a:xfrm>
            <a:off x="4744715" y="2373934"/>
            <a:ext cx="100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DWH ALM</a:t>
            </a:r>
          </a:p>
        </p:txBody>
      </p:sp>
      <p:sp>
        <p:nvSpPr>
          <p:cNvPr id="204" name="Rectangle 114">
            <a:extLst>
              <a:ext uri="{FF2B5EF4-FFF2-40B4-BE49-F238E27FC236}">
                <a16:creationId xmlns:a16="http://schemas.microsoft.com/office/drawing/2014/main" id="{4945E3F8-6155-40BA-A4A3-588322D1D5B2}"/>
              </a:ext>
            </a:extLst>
          </p:cNvPr>
          <p:cNvSpPr/>
          <p:nvPr/>
        </p:nvSpPr>
        <p:spPr bwMode="auto">
          <a:xfrm>
            <a:off x="3258580" y="2373934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Univers 45 Light"/>
              </a:rPr>
              <a:t>Processo Auto. Aprov.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3" name="Rounded Rectangle 22">
            <a:hlinkClick r:id="" action="ppaction://noaction"/>
          </p:cNvPr>
          <p:cNvSpPr/>
          <p:nvPr/>
        </p:nvSpPr>
        <p:spPr bwMode="auto">
          <a:xfrm>
            <a:off x="432472" y="270301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Market</a:t>
            </a:r>
          </a:p>
        </p:txBody>
      </p:sp>
      <p:sp>
        <p:nvSpPr>
          <p:cNvPr id="52" name="Rectangle 200"/>
          <p:cNvSpPr/>
          <p:nvPr/>
        </p:nvSpPr>
        <p:spPr bwMode="auto">
          <a:xfrm>
            <a:off x="9032079" y="2703019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OFFICE</a:t>
            </a:r>
          </a:p>
        </p:txBody>
      </p:sp>
      <p:sp>
        <p:nvSpPr>
          <p:cNvPr id="138" name="Rectangle 128"/>
          <p:cNvSpPr/>
          <p:nvPr/>
        </p:nvSpPr>
        <p:spPr bwMode="auto">
          <a:xfrm>
            <a:off x="2360828" y="270301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50" name="Rectangle 195"/>
          <p:cNvSpPr/>
          <p:nvPr/>
        </p:nvSpPr>
        <p:spPr bwMode="auto">
          <a:xfrm>
            <a:off x="6871332" y="2697977"/>
            <a:ext cx="1026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AIRE</a:t>
            </a:r>
          </a:p>
        </p:txBody>
      </p:sp>
      <p:sp>
        <p:nvSpPr>
          <p:cNvPr id="51" name="Rectangle 198"/>
          <p:cNvSpPr/>
          <p:nvPr/>
        </p:nvSpPr>
        <p:spPr bwMode="auto">
          <a:xfrm>
            <a:off x="4744715" y="2703019"/>
            <a:ext cx="100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MARS</a:t>
            </a:r>
          </a:p>
        </p:txBody>
      </p:sp>
      <p:sp>
        <p:nvSpPr>
          <p:cNvPr id="81" name="Rectangle 195"/>
          <p:cNvSpPr/>
          <p:nvPr/>
        </p:nvSpPr>
        <p:spPr bwMode="auto">
          <a:xfrm>
            <a:off x="5788715" y="2703019"/>
            <a:ext cx="100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MIS</a:t>
            </a:r>
          </a:p>
        </p:txBody>
      </p:sp>
      <p:sp>
        <p:nvSpPr>
          <p:cNvPr id="75" name="Rectangle 265"/>
          <p:cNvSpPr/>
          <p:nvPr/>
        </p:nvSpPr>
        <p:spPr bwMode="auto">
          <a:xfrm>
            <a:off x="3258580" y="270301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MUREX</a:t>
            </a:r>
          </a:p>
        </p:txBody>
      </p:sp>
      <p:sp>
        <p:nvSpPr>
          <p:cNvPr id="180" name="Rectangle 198"/>
          <p:cNvSpPr/>
          <p:nvPr/>
        </p:nvSpPr>
        <p:spPr bwMode="auto">
          <a:xfrm>
            <a:off x="3984478" y="270301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Asset Control</a:t>
            </a:r>
          </a:p>
        </p:txBody>
      </p:sp>
      <p:sp>
        <p:nvSpPr>
          <p:cNvPr id="36" name="Rounded Rectangle 35">
            <a:hlinkClick r:id="" action="ppaction://noaction"/>
          </p:cNvPr>
          <p:cNvSpPr/>
          <p:nvPr/>
        </p:nvSpPr>
        <p:spPr bwMode="auto">
          <a:xfrm>
            <a:off x="432472" y="303210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Capital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37" name="Rectangle 128"/>
          <p:cNvSpPr/>
          <p:nvPr/>
        </p:nvSpPr>
        <p:spPr bwMode="auto">
          <a:xfrm>
            <a:off x="2360828" y="303210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69" name="Rectangle 124"/>
          <p:cNvSpPr/>
          <p:nvPr/>
        </p:nvSpPr>
        <p:spPr bwMode="auto">
          <a:xfrm>
            <a:off x="10516934" y="303210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25" name="Rectangle 193"/>
          <p:cNvSpPr/>
          <p:nvPr/>
        </p:nvSpPr>
        <p:spPr bwMode="auto">
          <a:xfrm>
            <a:off x="9759279" y="3032104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SAS</a:t>
            </a:r>
          </a:p>
        </p:txBody>
      </p:sp>
      <p:sp>
        <p:nvSpPr>
          <p:cNvPr id="126" name="Rectangle 202"/>
          <p:cNvSpPr/>
          <p:nvPr/>
        </p:nvSpPr>
        <p:spPr bwMode="auto">
          <a:xfrm>
            <a:off x="9032079" y="3032104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Data Lake – Captools</a:t>
            </a:r>
          </a:p>
        </p:txBody>
      </p:sp>
      <p:sp>
        <p:nvSpPr>
          <p:cNvPr id="69" name="Rectangle 245"/>
          <p:cNvSpPr/>
          <p:nvPr/>
        </p:nvSpPr>
        <p:spPr bwMode="auto">
          <a:xfrm>
            <a:off x="4744715" y="3032104"/>
            <a:ext cx="64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BDR</a:t>
            </a:r>
            <a:endParaRPr kumimoji="0" lang="es-ES_tradnl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61" name="Rectangle 202"/>
          <p:cNvSpPr/>
          <p:nvPr/>
        </p:nvSpPr>
        <p:spPr bwMode="auto">
          <a:xfrm>
            <a:off x="5446715" y="3032104"/>
            <a:ext cx="64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DL-</a:t>
            </a: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Captools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10" name="Rectangle 251">
            <a:extLst>
              <a:ext uri="{FF2B5EF4-FFF2-40B4-BE49-F238E27FC236}">
                <a16:creationId xmlns:a16="http://schemas.microsoft.com/office/drawing/2014/main" id="{BBE54665-5FEA-4E17-948D-B3686E1946A8}"/>
              </a:ext>
            </a:extLst>
          </p:cNvPr>
          <p:cNvSpPr/>
          <p:nvPr/>
        </p:nvSpPr>
        <p:spPr bwMode="auto">
          <a:xfrm>
            <a:off x="6148715" y="3032104"/>
            <a:ext cx="64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ECT</a:t>
            </a:r>
            <a:endParaRPr kumimoji="0" lang="es-ES_tradnl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55" name="Rectangle 202"/>
          <p:cNvSpPr/>
          <p:nvPr/>
        </p:nvSpPr>
        <p:spPr bwMode="auto">
          <a:xfrm>
            <a:off x="7219168" y="3032104"/>
            <a:ext cx="54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Motor Único</a:t>
            </a:r>
          </a:p>
        </p:txBody>
      </p:sp>
      <p:sp>
        <p:nvSpPr>
          <p:cNvPr id="156" name="Rectangle 202"/>
          <p:cNvSpPr/>
          <p:nvPr/>
        </p:nvSpPr>
        <p:spPr bwMode="auto">
          <a:xfrm>
            <a:off x="8418839" y="3032104"/>
            <a:ext cx="540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New Default</a:t>
            </a:r>
          </a:p>
        </p:txBody>
      </p:sp>
      <p:sp>
        <p:nvSpPr>
          <p:cNvPr id="211" name="Rectangle 251">
            <a:extLst>
              <a:ext uri="{FF2B5EF4-FFF2-40B4-BE49-F238E27FC236}">
                <a16:creationId xmlns:a16="http://schemas.microsoft.com/office/drawing/2014/main" id="{4237CA7F-FE57-4620-BD26-8B7E0CB15D84}"/>
              </a:ext>
            </a:extLst>
          </p:cNvPr>
          <p:cNvSpPr/>
          <p:nvPr/>
        </p:nvSpPr>
        <p:spPr bwMode="auto">
          <a:xfrm>
            <a:off x="6871332" y="3032104"/>
            <a:ext cx="2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ECT</a:t>
            </a:r>
          </a:p>
        </p:txBody>
      </p:sp>
      <p:sp>
        <p:nvSpPr>
          <p:cNvPr id="208" name="Rectangle 201">
            <a:extLst>
              <a:ext uri="{FF2B5EF4-FFF2-40B4-BE49-F238E27FC236}">
                <a16:creationId xmlns:a16="http://schemas.microsoft.com/office/drawing/2014/main" id="{7A65973E-6033-44AC-8013-AF0ACEBADBBD}"/>
              </a:ext>
            </a:extLst>
          </p:cNvPr>
          <p:cNvSpPr/>
          <p:nvPr/>
        </p:nvSpPr>
        <p:spPr bwMode="auto">
          <a:xfrm>
            <a:off x="3258580" y="3032104"/>
            <a:ext cx="432000" cy="288000"/>
          </a:xfrm>
          <a:prstGeom prst="roundRect">
            <a:avLst/>
          </a:prstGeom>
          <a:solidFill>
            <a:schemeClr val="accent6"/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BI - </a:t>
            </a:r>
            <a:r>
              <a:rPr kumimoji="0" lang="es-ES_trad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Basileia</a:t>
            </a:r>
            <a:endParaRPr kumimoji="0" lang="es-ES_tradnl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209" name="Rectangle 202">
            <a:extLst>
              <a:ext uri="{FF2B5EF4-FFF2-40B4-BE49-F238E27FC236}">
                <a16:creationId xmlns:a16="http://schemas.microsoft.com/office/drawing/2014/main" id="{AF4917E0-647B-4DB9-92D3-E785261A2518}"/>
              </a:ext>
            </a:extLst>
          </p:cNvPr>
          <p:cNvSpPr/>
          <p:nvPr/>
        </p:nvSpPr>
        <p:spPr bwMode="auto">
          <a:xfrm>
            <a:off x="3711515" y="3032104"/>
            <a:ext cx="50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Data Lake – </a:t>
            </a:r>
            <a:r>
              <a:rPr kumimoji="0" lang="es-ES_tradnl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Captools</a:t>
            </a:r>
            <a:endParaRPr kumimoji="0" lang="es-ES_tradnl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85" name="Rectangle 202">
            <a:extLst>
              <a:ext uri="{FF2B5EF4-FFF2-40B4-BE49-F238E27FC236}">
                <a16:creationId xmlns:a16="http://schemas.microsoft.com/office/drawing/2014/main" id="{92570FDD-9E9C-437B-B395-07290EB6B423}"/>
              </a:ext>
            </a:extLst>
          </p:cNvPr>
          <p:cNvSpPr/>
          <p:nvPr/>
        </p:nvSpPr>
        <p:spPr bwMode="auto">
          <a:xfrm>
            <a:off x="7819004" y="3032104"/>
            <a:ext cx="540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Titularizações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7" name="Rectangle 124">
            <a:extLst>
              <a:ext uri="{FF2B5EF4-FFF2-40B4-BE49-F238E27FC236}">
                <a16:creationId xmlns:a16="http://schemas.microsoft.com/office/drawing/2014/main" id="{5A00BBB3-3337-3520-134B-CDF3AFB78DCD}"/>
              </a:ext>
            </a:extLst>
          </p:cNvPr>
          <p:cNvSpPr/>
          <p:nvPr/>
        </p:nvSpPr>
        <p:spPr bwMode="auto">
          <a:xfrm>
            <a:off x="10847440" y="303210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Comité Capital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40" name="Rectangle 124">
            <a:extLst>
              <a:ext uri="{FF2B5EF4-FFF2-40B4-BE49-F238E27FC236}">
                <a16:creationId xmlns:a16="http://schemas.microsoft.com/office/drawing/2014/main" id="{70354A85-8B04-C80F-D829-05F79CA68E5E}"/>
              </a:ext>
            </a:extLst>
          </p:cNvPr>
          <p:cNvSpPr/>
          <p:nvPr/>
        </p:nvSpPr>
        <p:spPr bwMode="auto">
          <a:xfrm>
            <a:off x="11344933" y="303210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2" name="Rounded Rectangle 21">
            <a:hlinkClick r:id="" action="ppaction://noaction"/>
          </p:cNvPr>
          <p:cNvSpPr/>
          <p:nvPr/>
        </p:nvSpPr>
        <p:spPr bwMode="auto">
          <a:xfrm>
            <a:off x="432472" y="336118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Operational</a:t>
            </a:r>
          </a:p>
        </p:txBody>
      </p:sp>
      <p:sp>
        <p:nvSpPr>
          <p:cNvPr id="136" name="Rectangle 128"/>
          <p:cNvSpPr/>
          <p:nvPr/>
        </p:nvSpPr>
        <p:spPr bwMode="auto">
          <a:xfrm>
            <a:off x="2360828" y="336118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47" name="Rectangle 130"/>
          <p:cNvSpPr/>
          <p:nvPr/>
        </p:nvSpPr>
        <p:spPr bwMode="auto">
          <a:xfrm>
            <a:off x="4744715" y="3361189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212" name="Rectangle 111">
            <a:extLst>
              <a:ext uri="{FF2B5EF4-FFF2-40B4-BE49-F238E27FC236}">
                <a16:creationId xmlns:a16="http://schemas.microsoft.com/office/drawing/2014/main" id="{E3CE6046-9587-460C-90F8-3ACA7E840006}"/>
              </a:ext>
            </a:extLst>
          </p:cNvPr>
          <p:cNvSpPr/>
          <p:nvPr/>
        </p:nvSpPr>
        <p:spPr bwMode="auto">
          <a:xfrm>
            <a:off x="3258580" y="3361189"/>
            <a:ext cx="14112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RO Risco Operacional</a:t>
            </a:r>
          </a:p>
        </p:txBody>
      </p:sp>
      <p:sp>
        <p:nvSpPr>
          <p:cNvPr id="25" name="Rounded Rectangle 24">
            <a:hlinkClick r:id="" action="ppaction://noaction"/>
          </p:cNvPr>
          <p:cNvSpPr/>
          <p:nvPr/>
        </p:nvSpPr>
        <p:spPr bwMode="auto">
          <a:xfrm>
            <a:off x="432472" y="369027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Model Risk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35" name="Rectangle 128"/>
          <p:cNvSpPr/>
          <p:nvPr/>
        </p:nvSpPr>
        <p:spPr bwMode="auto">
          <a:xfrm>
            <a:off x="2360828" y="369027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70" name="Rectangle 124"/>
          <p:cNvSpPr/>
          <p:nvPr/>
        </p:nvSpPr>
        <p:spPr bwMode="auto">
          <a:xfrm>
            <a:off x="10516934" y="369027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53" name="Rectangle 130"/>
          <p:cNvSpPr/>
          <p:nvPr/>
        </p:nvSpPr>
        <p:spPr bwMode="auto">
          <a:xfrm>
            <a:off x="9032079" y="3690274"/>
            <a:ext cx="14112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Monet DS</a:t>
            </a:r>
          </a:p>
        </p:txBody>
      </p:sp>
      <p:sp>
        <p:nvSpPr>
          <p:cNvPr id="85" name="Rectangle 130"/>
          <p:cNvSpPr/>
          <p:nvPr/>
        </p:nvSpPr>
        <p:spPr bwMode="auto">
          <a:xfrm>
            <a:off x="4744715" y="3690274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Monet DS</a:t>
            </a:r>
          </a:p>
        </p:txBody>
      </p:sp>
      <p:sp>
        <p:nvSpPr>
          <p:cNvPr id="74" name="Rectangle 257"/>
          <p:cNvSpPr/>
          <p:nvPr/>
        </p:nvSpPr>
        <p:spPr bwMode="auto">
          <a:xfrm>
            <a:off x="3258580" y="3690274"/>
            <a:ext cx="14112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Monet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43" name="Rectangle 124">
            <a:extLst>
              <a:ext uri="{FF2B5EF4-FFF2-40B4-BE49-F238E27FC236}">
                <a16:creationId xmlns:a16="http://schemas.microsoft.com/office/drawing/2014/main" id="{26E4820C-D46A-B682-5420-618EC9539B44}"/>
              </a:ext>
            </a:extLst>
          </p:cNvPr>
          <p:cNvSpPr/>
          <p:nvPr/>
        </p:nvSpPr>
        <p:spPr bwMode="auto">
          <a:xfrm>
            <a:off x="10838929" y="3690274"/>
            <a:ext cx="9648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1" name="Rounded Rectangle 20">
            <a:hlinkClick r:id="" action="ppaction://noaction"/>
          </p:cNvPr>
          <p:cNvSpPr/>
          <p:nvPr/>
        </p:nvSpPr>
        <p:spPr bwMode="auto">
          <a:xfrm>
            <a:off x="432472" y="434844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NP - AML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34" name="Rectangle 128"/>
          <p:cNvSpPr/>
          <p:nvPr/>
        </p:nvSpPr>
        <p:spPr bwMode="auto">
          <a:xfrm>
            <a:off x="2360828" y="434844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71" name="Rectangle 124"/>
          <p:cNvSpPr/>
          <p:nvPr/>
        </p:nvSpPr>
        <p:spPr bwMode="auto">
          <a:xfrm>
            <a:off x="10516934" y="434844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88" name="Rectangle 124"/>
          <p:cNvSpPr/>
          <p:nvPr/>
        </p:nvSpPr>
        <p:spPr bwMode="auto">
          <a:xfrm>
            <a:off x="10847440" y="434844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33231" rIns="0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Resu.Exec</a:t>
            </a:r>
            <a:r>
              <a:rPr kumimoji="0" lang="es-ES_tradnl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</a:t>
            </a:r>
            <a:r>
              <a:rPr kumimoji="0" lang="es-ES_tradnl" sz="7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Cump</a:t>
            </a:r>
            <a:r>
              <a:rPr kumimoji="0" lang="es-ES_tradnl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Conduta</a:t>
            </a:r>
          </a:p>
        </p:txBody>
      </p:sp>
      <p:sp>
        <p:nvSpPr>
          <p:cNvPr id="57" name="Rectangle 213"/>
          <p:cNvSpPr/>
          <p:nvPr/>
        </p:nvSpPr>
        <p:spPr bwMode="auto">
          <a:xfrm>
            <a:off x="4744715" y="4348444"/>
            <a:ext cx="20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73" name="Rectangle 256"/>
          <p:cNvSpPr/>
          <p:nvPr/>
        </p:nvSpPr>
        <p:spPr bwMode="auto">
          <a:xfrm>
            <a:off x="3258580" y="4348444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NORKOM + BLANCA</a:t>
            </a:r>
          </a:p>
        </p:txBody>
      </p:sp>
      <p:sp>
        <p:nvSpPr>
          <p:cNvPr id="45" name="Rectangle 124">
            <a:extLst>
              <a:ext uri="{FF2B5EF4-FFF2-40B4-BE49-F238E27FC236}">
                <a16:creationId xmlns:a16="http://schemas.microsoft.com/office/drawing/2014/main" id="{387FC7AF-99AD-BF47-861B-4B93B332853E}"/>
              </a:ext>
            </a:extLst>
          </p:cNvPr>
          <p:cNvSpPr/>
          <p:nvPr/>
        </p:nvSpPr>
        <p:spPr bwMode="auto">
          <a:xfrm>
            <a:off x="11344934" y="434844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6" name="Rounded Rectangle 25">
            <a:hlinkClick r:id="" action="ppaction://noaction"/>
          </p:cNvPr>
          <p:cNvSpPr/>
          <p:nvPr/>
        </p:nvSpPr>
        <p:spPr bwMode="auto">
          <a:xfrm>
            <a:off x="432472" y="467752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NP – Regulatory</a:t>
            </a:r>
          </a:p>
        </p:txBody>
      </p:sp>
      <p:sp>
        <p:nvSpPr>
          <p:cNvPr id="133" name="Rectangle 128"/>
          <p:cNvSpPr/>
          <p:nvPr/>
        </p:nvSpPr>
        <p:spPr bwMode="auto">
          <a:xfrm>
            <a:off x="2360828" y="467752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30" name="Rectangle 124"/>
          <p:cNvSpPr/>
          <p:nvPr/>
        </p:nvSpPr>
        <p:spPr bwMode="auto">
          <a:xfrm>
            <a:off x="10516934" y="4677529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59" name="Rectangle 220"/>
          <p:cNvSpPr/>
          <p:nvPr/>
        </p:nvSpPr>
        <p:spPr bwMode="auto">
          <a:xfrm>
            <a:off x="4744715" y="4677529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186" name="Rectangle 214">
            <a:extLst>
              <a:ext uri="{FF2B5EF4-FFF2-40B4-BE49-F238E27FC236}">
                <a16:creationId xmlns:a16="http://schemas.microsoft.com/office/drawing/2014/main" id="{F9A16931-63DF-4C9C-94CC-3EE16BD3FD66}"/>
              </a:ext>
            </a:extLst>
          </p:cNvPr>
          <p:cNvSpPr/>
          <p:nvPr/>
        </p:nvSpPr>
        <p:spPr bwMode="auto">
          <a:xfrm>
            <a:off x="3258580" y="4677529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Feeders </a:t>
            </a: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to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53" name="Rectangle 124">
            <a:extLst>
              <a:ext uri="{FF2B5EF4-FFF2-40B4-BE49-F238E27FC236}">
                <a16:creationId xmlns:a16="http://schemas.microsoft.com/office/drawing/2014/main" id="{0F5B80DB-C350-BAE0-0639-77DA32ABD9A3}"/>
              </a:ext>
            </a:extLst>
          </p:cNvPr>
          <p:cNvSpPr/>
          <p:nvPr/>
        </p:nvSpPr>
        <p:spPr bwMode="auto">
          <a:xfrm>
            <a:off x="10847440" y="4677529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33231" rIns="0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Resu.Exec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</a:t>
            </a: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Cump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Conduta</a:t>
            </a:r>
          </a:p>
        </p:txBody>
      </p:sp>
      <p:sp>
        <p:nvSpPr>
          <p:cNvPr id="54" name="Rectangle 124">
            <a:extLst>
              <a:ext uri="{FF2B5EF4-FFF2-40B4-BE49-F238E27FC236}">
                <a16:creationId xmlns:a16="http://schemas.microsoft.com/office/drawing/2014/main" id="{D63CBF99-AF5F-0AE2-4131-F13F5736F723}"/>
              </a:ext>
            </a:extLst>
          </p:cNvPr>
          <p:cNvSpPr/>
          <p:nvPr/>
        </p:nvSpPr>
        <p:spPr bwMode="auto">
          <a:xfrm>
            <a:off x="11344934" y="4677529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4" name="Rounded Rectangle 23">
            <a:hlinkClick r:id="" action="ppaction://noaction"/>
          </p:cNvPr>
          <p:cNvSpPr/>
          <p:nvPr/>
        </p:nvSpPr>
        <p:spPr bwMode="auto">
          <a:xfrm>
            <a:off x="432472" y="500661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NP –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Product Governance</a:t>
            </a:r>
          </a:p>
        </p:txBody>
      </p:sp>
      <p:sp>
        <p:nvSpPr>
          <p:cNvPr id="132" name="Rectangle 128"/>
          <p:cNvSpPr/>
          <p:nvPr/>
        </p:nvSpPr>
        <p:spPr bwMode="auto">
          <a:xfrm>
            <a:off x="2360828" y="500661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81" name="Rectangle 124"/>
          <p:cNvSpPr/>
          <p:nvPr/>
        </p:nvSpPr>
        <p:spPr bwMode="auto">
          <a:xfrm>
            <a:off x="10516934" y="500661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61" name="Rectangle 228"/>
          <p:cNvSpPr/>
          <p:nvPr/>
        </p:nvSpPr>
        <p:spPr bwMode="auto">
          <a:xfrm>
            <a:off x="4744715" y="5006614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195" name="Rectangle 214">
            <a:extLst>
              <a:ext uri="{FF2B5EF4-FFF2-40B4-BE49-F238E27FC236}">
                <a16:creationId xmlns:a16="http://schemas.microsoft.com/office/drawing/2014/main" id="{3C56CC28-0874-4BCC-9DD4-C4812A9B0802}"/>
              </a:ext>
            </a:extLst>
          </p:cNvPr>
          <p:cNvSpPr/>
          <p:nvPr/>
        </p:nvSpPr>
        <p:spPr bwMode="auto">
          <a:xfrm>
            <a:off x="3258580" y="5006614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Feeders </a:t>
            </a: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to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55" name="Rectangle 124">
            <a:extLst>
              <a:ext uri="{FF2B5EF4-FFF2-40B4-BE49-F238E27FC236}">
                <a16:creationId xmlns:a16="http://schemas.microsoft.com/office/drawing/2014/main" id="{34B4361D-717C-564B-1FB0-CF1060E02340}"/>
              </a:ext>
            </a:extLst>
          </p:cNvPr>
          <p:cNvSpPr/>
          <p:nvPr/>
        </p:nvSpPr>
        <p:spPr bwMode="auto">
          <a:xfrm>
            <a:off x="10847440" y="500661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33231" rIns="0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Resu.Exec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</a:t>
            </a: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Cump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Conduta</a:t>
            </a:r>
          </a:p>
        </p:txBody>
      </p:sp>
      <p:sp>
        <p:nvSpPr>
          <p:cNvPr id="56" name="Rectangle 124">
            <a:extLst>
              <a:ext uri="{FF2B5EF4-FFF2-40B4-BE49-F238E27FC236}">
                <a16:creationId xmlns:a16="http://schemas.microsoft.com/office/drawing/2014/main" id="{56DC54B4-0C30-CB17-D456-3265CCBE7068}"/>
              </a:ext>
            </a:extLst>
          </p:cNvPr>
          <p:cNvSpPr/>
          <p:nvPr/>
        </p:nvSpPr>
        <p:spPr bwMode="auto">
          <a:xfrm>
            <a:off x="11344934" y="500661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27" name="Rounded Rectangle 26">
            <a:hlinkClick r:id="" action="ppaction://noaction"/>
          </p:cNvPr>
          <p:cNvSpPr/>
          <p:nvPr/>
        </p:nvSpPr>
        <p:spPr bwMode="auto">
          <a:xfrm>
            <a:off x="432472" y="5335699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NP – Consumer Protection</a:t>
            </a:r>
          </a:p>
        </p:txBody>
      </p:sp>
      <p:sp>
        <p:nvSpPr>
          <p:cNvPr id="131" name="Rectangle 128"/>
          <p:cNvSpPr/>
          <p:nvPr/>
        </p:nvSpPr>
        <p:spPr bwMode="auto">
          <a:xfrm>
            <a:off x="2360828" y="5335699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74" name="Rectangle 124"/>
          <p:cNvSpPr/>
          <p:nvPr/>
        </p:nvSpPr>
        <p:spPr bwMode="auto">
          <a:xfrm>
            <a:off x="10516934" y="5335699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64" name="Rectangle 235"/>
          <p:cNvSpPr/>
          <p:nvPr/>
        </p:nvSpPr>
        <p:spPr bwMode="auto">
          <a:xfrm>
            <a:off x="4744715" y="5335699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62" name="Rectangle 232"/>
          <p:cNvSpPr/>
          <p:nvPr/>
        </p:nvSpPr>
        <p:spPr bwMode="auto">
          <a:xfrm>
            <a:off x="3258580" y="533569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REMEDY</a:t>
            </a:r>
          </a:p>
        </p:txBody>
      </p:sp>
      <p:sp>
        <p:nvSpPr>
          <p:cNvPr id="122" name="Rectangle 232"/>
          <p:cNvSpPr/>
          <p:nvPr/>
        </p:nvSpPr>
        <p:spPr bwMode="auto">
          <a:xfrm>
            <a:off x="3984478" y="5335699"/>
            <a:ext cx="684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PGR</a:t>
            </a:r>
          </a:p>
        </p:txBody>
      </p:sp>
      <p:sp>
        <p:nvSpPr>
          <p:cNvPr id="58" name="Rectangle 124">
            <a:extLst>
              <a:ext uri="{FF2B5EF4-FFF2-40B4-BE49-F238E27FC236}">
                <a16:creationId xmlns:a16="http://schemas.microsoft.com/office/drawing/2014/main" id="{34A5A94F-CC26-D456-C2F6-19939FD8D831}"/>
              </a:ext>
            </a:extLst>
          </p:cNvPr>
          <p:cNvSpPr/>
          <p:nvPr/>
        </p:nvSpPr>
        <p:spPr bwMode="auto">
          <a:xfrm>
            <a:off x="10848134" y="5335699"/>
            <a:ext cx="9648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  <a:endParaRPr kumimoji="0" lang="es-ES_tradnl" sz="9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44" name="Rounded Rectangle 143">
            <a:hlinkClick r:id="" action="ppaction://noaction"/>
          </p:cNvPr>
          <p:cNvSpPr/>
          <p:nvPr/>
        </p:nvSpPr>
        <p:spPr bwMode="auto">
          <a:xfrm>
            <a:off x="432472" y="5664784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NP –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Reputacional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62" name="Rectangle 128"/>
          <p:cNvSpPr/>
          <p:nvPr/>
        </p:nvSpPr>
        <p:spPr bwMode="auto">
          <a:xfrm>
            <a:off x="2360828" y="5664784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82" name="Rectangle 124"/>
          <p:cNvSpPr/>
          <p:nvPr/>
        </p:nvSpPr>
        <p:spPr bwMode="auto">
          <a:xfrm>
            <a:off x="10516934" y="5664784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59" name="Rectangle 220"/>
          <p:cNvSpPr/>
          <p:nvPr/>
        </p:nvSpPr>
        <p:spPr bwMode="auto">
          <a:xfrm>
            <a:off x="4744715" y="5675670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196" name="Rectangle 214">
            <a:extLst>
              <a:ext uri="{FF2B5EF4-FFF2-40B4-BE49-F238E27FC236}">
                <a16:creationId xmlns:a16="http://schemas.microsoft.com/office/drawing/2014/main" id="{27281BE8-6B22-492B-A794-0F38FF46D997}"/>
              </a:ext>
            </a:extLst>
          </p:cNvPr>
          <p:cNvSpPr/>
          <p:nvPr/>
        </p:nvSpPr>
        <p:spPr bwMode="auto">
          <a:xfrm>
            <a:off x="3258580" y="5664784"/>
            <a:ext cx="14112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Feeders </a:t>
            </a:r>
            <a:r>
              <a:rPr kumimoji="0" lang="es-ES_tradnl" sz="9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to</a:t>
            </a:r>
            <a:endParaRPr kumimoji="0" lang="es-ES_tradnl" sz="9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Heracles</a:t>
            </a:r>
          </a:p>
        </p:txBody>
      </p:sp>
      <p:sp>
        <p:nvSpPr>
          <p:cNvPr id="60" name="Rectangle 124">
            <a:extLst>
              <a:ext uri="{FF2B5EF4-FFF2-40B4-BE49-F238E27FC236}">
                <a16:creationId xmlns:a16="http://schemas.microsoft.com/office/drawing/2014/main" id="{8834B8BF-00D0-37FF-778F-4B851DCC3540}"/>
              </a:ext>
            </a:extLst>
          </p:cNvPr>
          <p:cNvSpPr/>
          <p:nvPr/>
        </p:nvSpPr>
        <p:spPr bwMode="auto">
          <a:xfrm>
            <a:off x="10847440" y="566478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33231" rIns="0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Resu.Exec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</a:t>
            </a:r>
            <a:r>
              <a:rPr kumimoji="0" lang="es-ES_tradnl" sz="700" b="0" i="0" u="none" strike="noStrike" kern="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Cump</a:t>
            </a:r>
            <a:r>
              <a:rPr kumimoji="0" lang="es-ES_tradnl" sz="7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. Conduta</a:t>
            </a:r>
          </a:p>
        </p:txBody>
      </p:sp>
      <p:sp>
        <p:nvSpPr>
          <p:cNvPr id="63" name="Rectangle 124">
            <a:extLst>
              <a:ext uri="{FF2B5EF4-FFF2-40B4-BE49-F238E27FC236}">
                <a16:creationId xmlns:a16="http://schemas.microsoft.com/office/drawing/2014/main" id="{E54D607E-9DE8-9ABB-D820-CC006C7AB518}"/>
              </a:ext>
            </a:extLst>
          </p:cNvPr>
          <p:cNvSpPr/>
          <p:nvPr/>
        </p:nvSpPr>
        <p:spPr bwMode="auto">
          <a:xfrm>
            <a:off x="11344934" y="5664784"/>
            <a:ext cx="46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118" name="Rounded Rectangle 117">
            <a:hlinkClick r:id="" action="ppaction://noaction"/>
          </p:cNvPr>
          <p:cNvSpPr/>
          <p:nvPr/>
        </p:nvSpPr>
        <p:spPr bwMode="auto">
          <a:xfrm>
            <a:off x="432472" y="6004756"/>
            <a:ext cx="1836000" cy="288000"/>
          </a:xfrm>
          <a:prstGeom prst="round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square" lIns="66462" tIns="33231" rIns="0" bIns="33231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Auditoria Interna</a:t>
            </a:r>
          </a:p>
        </p:txBody>
      </p:sp>
      <p:sp>
        <p:nvSpPr>
          <p:cNvPr id="147" name="Rectangle 128"/>
          <p:cNvSpPr/>
          <p:nvPr/>
        </p:nvSpPr>
        <p:spPr bwMode="auto">
          <a:xfrm>
            <a:off x="2360828" y="6004756"/>
            <a:ext cx="82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Cross</a:t>
            </a:r>
          </a:p>
        </p:txBody>
      </p:sp>
      <p:sp>
        <p:nvSpPr>
          <p:cNvPr id="149" name="Rectangle 130"/>
          <p:cNvSpPr/>
          <p:nvPr/>
        </p:nvSpPr>
        <p:spPr bwMode="auto">
          <a:xfrm>
            <a:off x="9032079" y="6004756"/>
            <a:ext cx="14112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Aries</a:t>
            </a:r>
          </a:p>
        </p:txBody>
      </p:sp>
      <p:sp>
        <p:nvSpPr>
          <p:cNvPr id="146" name="Rectangle 130"/>
          <p:cNvSpPr/>
          <p:nvPr/>
        </p:nvSpPr>
        <p:spPr bwMode="auto">
          <a:xfrm>
            <a:off x="4744715" y="6004756"/>
            <a:ext cx="2088000" cy="288000"/>
          </a:xfrm>
          <a:prstGeom prst="roundRect">
            <a:avLst/>
          </a:prstGeom>
          <a:solidFill>
            <a:schemeClr val="accent6"/>
          </a:solidFill>
          <a:ln w="28575">
            <a:noFill/>
            <a:miter lim="800000"/>
            <a:headEnd/>
            <a:tailEnd/>
          </a:ln>
        </p:spPr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Aries</a:t>
            </a:r>
          </a:p>
        </p:txBody>
      </p:sp>
      <p:sp>
        <p:nvSpPr>
          <p:cNvPr id="190" name="Rectangle 124">
            <a:extLst>
              <a:ext uri="{FF2B5EF4-FFF2-40B4-BE49-F238E27FC236}">
                <a16:creationId xmlns:a16="http://schemas.microsoft.com/office/drawing/2014/main" id="{7A350D53-FDC0-450D-A5FD-6BB79D4C14BD}"/>
              </a:ext>
            </a:extLst>
          </p:cNvPr>
          <p:cNvSpPr/>
          <p:nvPr/>
        </p:nvSpPr>
        <p:spPr bwMode="auto">
          <a:xfrm>
            <a:off x="10516934" y="6004756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65" name="Rectangle 124">
            <a:extLst>
              <a:ext uri="{FF2B5EF4-FFF2-40B4-BE49-F238E27FC236}">
                <a16:creationId xmlns:a16="http://schemas.microsoft.com/office/drawing/2014/main" id="{D21E0B1D-2651-207F-FB68-07B990389773}"/>
              </a:ext>
            </a:extLst>
          </p:cNvPr>
          <p:cNvSpPr/>
          <p:nvPr/>
        </p:nvSpPr>
        <p:spPr bwMode="auto">
          <a:xfrm>
            <a:off x="10848134" y="6004756"/>
            <a:ext cx="9648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5" name="Rectangle 124">
            <a:extLst>
              <a:ext uri="{FF2B5EF4-FFF2-40B4-BE49-F238E27FC236}">
                <a16:creationId xmlns:a16="http://schemas.microsoft.com/office/drawing/2014/main" id="{5660709A-4012-7C23-A042-0B4500A57F44}"/>
              </a:ext>
            </a:extLst>
          </p:cNvPr>
          <p:cNvSpPr/>
          <p:nvPr/>
        </p:nvSpPr>
        <p:spPr bwMode="auto">
          <a:xfrm>
            <a:off x="10524307" y="2036661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6" name="Rectangle 124">
            <a:extLst>
              <a:ext uri="{FF2B5EF4-FFF2-40B4-BE49-F238E27FC236}">
                <a16:creationId xmlns:a16="http://schemas.microsoft.com/office/drawing/2014/main" id="{22FD0FFF-C0E8-6ED2-98AF-623C7928F10C}"/>
              </a:ext>
            </a:extLst>
          </p:cNvPr>
          <p:cNvSpPr/>
          <p:nvPr/>
        </p:nvSpPr>
        <p:spPr bwMode="auto">
          <a:xfrm>
            <a:off x="10854813" y="2036661"/>
            <a:ext cx="96549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7" name="Rectangle 124">
            <a:extLst>
              <a:ext uri="{FF2B5EF4-FFF2-40B4-BE49-F238E27FC236}">
                <a16:creationId xmlns:a16="http://schemas.microsoft.com/office/drawing/2014/main" id="{B2CA7867-2997-0699-5228-AE7B4C5760D5}"/>
              </a:ext>
            </a:extLst>
          </p:cNvPr>
          <p:cNvSpPr/>
          <p:nvPr/>
        </p:nvSpPr>
        <p:spPr bwMode="auto">
          <a:xfrm>
            <a:off x="10524307" y="2374613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8" name="Rectangle 124">
            <a:extLst>
              <a:ext uri="{FF2B5EF4-FFF2-40B4-BE49-F238E27FC236}">
                <a16:creationId xmlns:a16="http://schemas.microsoft.com/office/drawing/2014/main" id="{067C1CA9-1B51-B6C3-7B22-2A25A4697F11}"/>
              </a:ext>
            </a:extLst>
          </p:cNvPr>
          <p:cNvSpPr/>
          <p:nvPr/>
        </p:nvSpPr>
        <p:spPr bwMode="auto">
          <a:xfrm>
            <a:off x="10854813" y="2374613"/>
            <a:ext cx="96549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9" name="Rectangle 124">
            <a:extLst>
              <a:ext uri="{FF2B5EF4-FFF2-40B4-BE49-F238E27FC236}">
                <a16:creationId xmlns:a16="http://schemas.microsoft.com/office/drawing/2014/main" id="{144B05EA-2F97-968C-CC83-23E10D4247F3}"/>
              </a:ext>
            </a:extLst>
          </p:cNvPr>
          <p:cNvSpPr/>
          <p:nvPr/>
        </p:nvSpPr>
        <p:spPr bwMode="auto">
          <a:xfrm>
            <a:off x="10524307" y="2699557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0" name="Rectangle 124">
            <a:extLst>
              <a:ext uri="{FF2B5EF4-FFF2-40B4-BE49-F238E27FC236}">
                <a16:creationId xmlns:a16="http://schemas.microsoft.com/office/drawing/2014/main" id="{055CC2EE-3749-91FB-8169-FFB5146F349F}"/>
              </a:ext>
            </a:extLst>
          </p:cNvPr>
          <p:cNvSpPr/>
          <p:nvPr/>
        </p:nvSpPr>
        <p:spPr bwMode="auto">
          <a:xfrm>
            <a:off x="10854813" y="2699557"/>
            <a:ext cx="965493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13" name="Rectangle 124">
            <a:extLst>
              <a:ext uri="{FF2B5EF4-FFF2-40B4-BE49-F238E27FC236}">
                <a16:creationId xmlns:a16="http://schemas.microsoft.com/office/drawing/2014/main" id="{5FA40479-F7BE-5499-FD66-524A5D9DC3DC}"/>
              </a:ext>
            </a:extLst>
          </p:cNvPr>
          <p:cNvSpPr/>
          <p:nvPr/>
        </p:nvSpPr>
        <p:spPr bwMode="auto">
          <a:xfrm>
            <a:off x="10521325" y="3369377"/>
            <a:ext cx="28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RER</a:t>
            </a:r>
          </a:p>
        </p:txBody>
      </p:sp>
      <p:sp>
        <p:nvSpPr>
          <p:cNvPr id="14" name="Rectangle 124">
            <a:extLst>
              <a:ext uri="{FF2B5EF4-FFF2-40B4-BE49-F238E27FC236}">
                <a16:creationId xmlns:a16="http://schemas.microsoft.com/office/drawing/2014/main" id="{081EEAF9-CAB1-68CC-8F40-E87CC6AF6501}"/>
              </a:ext>
            </a:extLst>
          </p:cNvPr>
          <p:cNvSpPr/>
          <p:nvPr/>
        </p:nvSpPr>
        <p:spPr bwMode="auto">
          <a:xfrm>
            <a:off x="10843320" y="3369377"/>
            <a:ext cx="9648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Apetite Risco</a:t>
            </a:r>
          </a:p>
        </p:txBody>
      </p: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803E5C84-0699-607F-67BA-53D2E7B68999}"/>
              </a:ext>
            </a:extLst>
          </p:cNvPr>
          <p:cNvSpPr txBox="1">
            <a:spLocks/>
          </p:cNvSpPr>
          <p:nvPr/>
        </p:nvSpPr>
        <p:spPr>
          <a:xfrm>
            <a:off x="782744" y="226469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3" name="Rectangle 195">
            <a:extLst>
              <a:ext uri="{FF2B5EF4-FFF2-40B4-BE49-F238E27FC236}">
                <a16:creationId xmlns:a16="http://schemas.microsoft.com/office/drawing/2014/main" id="{51F98907-85A5-F569-C5AB-25834D9AFC0F}"/>
              </a:ext>
            </a:extLst>
          </p:cNvPr>
          <p:cNvSpPr/>
          <p:nvPr/>
        </p:nvSpPr>
        <p:spPr bwMode="auto">
          <a:xfrm>
            <a:off x="6871332" y="1381617"/>
            <a:ext cx="648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Aqua+</a:t>
            </a:r>
          </a:p>
        </p:txBody>
      </p:sp>
      <p:sp>
        <p:nvSpPr>
          <p:cNvPr id="30" name="Rectangle 195">
            <a:extLst>
              <a:ext uri="{FF2B5EF4-FFF2-40B4-BE49-F238E27FC236}">
                <a16:creationId xmlns:a16="http://schemas.microsoft.com/office/drawing/2014/main" id="{DDE4703D-4AB7-38E2-42D2-CE6F5509D3B1}"/>
              </a:ext>
            </a:extLst>
          </p:cNvPr>
          <p:cNvSpPr/>
          <p:nvPr/>
        </p:nvSpPr>
        <p:spPr bwMode="auto">
          <a:xfrm>
            <a:off x="4236450" y="3036200"/>
            <a:ext cx="432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CREAM</a:t>
            </a:r>
          </a:p>
        </p:txBody>
      </p:sp>
      <p:sp>
        <p:nvSpPr>
          <p:cNvPr id="31" name="Rectangle 195">
            <a:extLst>
              <a:ext uri="{FF2B5EF4-FFF2-40B4-BE49-F238E27FC236}">
                <a16:creationId xmlns:a16="http://schemas.microsoft.com/office/drawing/2014/main" id="{A20EE4F8-20E2-9D35-18A4-AF2D25CA42DE}"/>
              </a:ext>
            </a:extLst>
          </p:cNvPr>
          <p:cNvSpPr/>
          <p:nvPr/>
        </p:nvSpPr>
        <p:spPr bwMode="auto">
          <a:xfrm>
            <a:off x="7933332" y="2697977"/>
            <a:ext cx="1026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33231" tIns="33231" rIns="33231" bIns="33231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MARINER</a:t>
            </a:r>
          </a:p>
        </p:txBody>
      </p:sp>
      <p:sp>
        <p:nvSpPr>
          <p:cNvPr id="15" name="Rectangle: Rounded Corners 14">
            <a:hlinkClick r:id="rId8" action="ppaction://hlinksldjump"/>
            <a:extLst>
              <a:ext uri="{FF2B5EF4-FFF2-40B4-BE49-F238E27FC236}">
                <a16:creationId xmlns:a16="http://schemas.microsoft.com/office/drawing/2014/main" id="{AE96C5BF-9B02-BA66-2E2C-355F21DD7FCB}"/>
              </a:ext>
            </a:extLst>
          </p:cNvPr>
          <p:cNvSpPr/>
          <p:nvPr/>
        </p:nvSpPr>
        <p:spPr>
          <a:xfrm>
            <a:off x="10808631" y="292365"/>
            <a:ext cx="712605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Voltar</a:t>
            </a:r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16BE1293-34F6-227D-0CB0-2267F090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5" y="448371"/>
            <a:ext cx="9858956" cy="719166"/>
          </a:xfrm>
        </p:spPr>
        <p:txBody>
          <a:bodyPr>
            <a:normAutofit/>
          </a:bodyPr>
          <a:lstStyle/>
          <a:p>
            <a:r>
              <a:rPr lang="pt-PT" sz="2700" dirty="0"/>
              <a:t>DISA 2023 – Perímetro Tecnológico</a:t>
            </a:r>
          </a:p>
        </p:txBody>
      </p:sp>
    </p:spTree>
    <p:extLst>
      <p:ext uri="{BB962C8B-B14F-4D97-AF65-F5344CB8AC3E}">
        <p14:creationId xmlns:p14="http://schemas.microsoft.com/office/powerpoint/2010/main" val="94868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649837" y="1363231"/>
            <a:ext cx="10976030" cy="719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equipa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Oversight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definiu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um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conjunto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Data Governance, com base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Normativa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Gestão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 Dado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vigor.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esta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análise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apenas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métricas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vigentes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excluindo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métricas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criadas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há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menos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3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meses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189" name="Título 1">
            <a:extLst>
              <a:ext uri="{FF2B5EF4-FFF2-40B4-BE49-F238E27FC236}">
                <a16:creationId xmlns:a16="http://schemas.microsoft.com/office/drawing/2014/main" id="{9BC1C235-F456-43F0-8C65-8358AE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5" y="734812"/>
            <a:ext cx="9858956" cy="719166"/>
          </a:xfrm>
        </p:spPr>
        <p:txBody>
          <a:bodyPr>
            <a:normAutofit/>
          </a:bodyPr>
          <a:lstStyle/>
          <a:p>
            <a:r>
              <a:rPr lang="pt-PT" dirty="0"/>
              <a:t>Data </a:t>
            </a:r>
            <a:r>
              <a:rPr lang="pt-PT" dirty="0" err="1"/>
              <a:t>Governance</a:t>
            </a:r>
            <a:r>
              <a:rPr lang="pt-PT" dirty="0"/>
              <a:t> – Atributos Mínimos </a:t>
            </a:r>
            <a:r>
              <a:rPr lang="pt-PT" sz="1800" dirty="0"/>
              <a:t>(1/2)</a:t>
            </a:r>
            <a:endParaRPr lang="pt-PT" sz="800" dirty="0"/>
          </a:p>
        </p:txBody>
      </p:sp>
      <p:sp>
        <p:nvSpPr>
          <p:cNvPr id="193" name="Marcador de texto 3">
            <a:extLst>
              <a:ext uri="{FF2B5EF4-FFF2-40B4-BE49-F238E27FC236}">
                <a16:creationId xmlns:a16="http://schemas.microsoft.com/office/drawing/2014/main" id="{5049D1E0-7E40-43D3-B465-2A2E3FEFE1F7}"/>
              </a:ext>
            </a:extLst>
          </p:cNvPr>
          <p:cNvSpPr txBox="1">
            <a:spLocks/>
          </p:cNvSpPr>
          <p:nvPr/>
        </p:nvSpPr>
        <p:spPr>
          <a:xfrm>
            <a:off x="712878" y="338297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FF3EE72-4532-4F77-83D3-DA74B852EFA3}"/>
              </a:ext>
            </a:extLst>
          </p:cNvPr>
          <p:cNvSpPr/>
          <p:nvPr/>
        </p:nvSpPr>
        <p:spPr>
          <a:xfrm rot="5400000">
            <a:off x="4251459" y="3711260"/>
            <a:ext cx="1616271" cy="27139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5686" y="4703892"/>
            <a:ext cx="6250333" cy="128401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107986" tIns="107986" rIns="35995" bIns="35995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Destaques:</a:t>
            </a:r>
          </a:p>
          <a:p>
            <a:pPr marL="285721" marR="0" lvl="0" indent="-285721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Aumento relacionado com inclusão de novas métricas no universo em análise. Estas métricas não tinham o campo Ação de Governo preenchido, tendo sido corrigido corporativamente.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649837" y="2049347"/>
            <a:ext cx="3995480" cy="41754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5D36-4B07-45FB-BA64-37937039188C}"/>
              </a:ext>
            </a:extLst>
          </p:cNvPr>
          <p:cNvSpPr/>
          <p:nvPr/>
        </p:nvSpPr>
        <p:spPr>
          <a:xfrm>
            <a:off x="755997" y="2132186"/>
            <a:ext cx="3779508" cy="305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Métricas sem atributos mínimos (%)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0DFEE4-A404-46ED-B9A5-8ACFE9EE438E}"/>
              </a:ext>
            </a:extLst>
          </p:cNvPr>
          <p:cNvGrpSpPr/>
          <p:nvPr/>
        </p:nvGrpSpPr>
        <p:grpSpPr>
          <a:xfrm>
            <a:off x="5485686" y="2732290"/>
            <a:ext cx="6250337" cy="1865572"/>
            <a:chOff x="5894024" y="2380957"/>
            <a:chExt cx="5843527" cy="1865815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52F38B-3542-4341-BEEE-073502286B5E}"/>
                </a:ext>
              </a:extLst>
            </p:cNvPr>
            <p:cNvGrpSpPr/>
            <p:nvPr/>
          </p:nvGrpSpPr>
          <p:grpSpPr>
            <a:xfrm>
              <a:off x="5894024" y="2722197"/>
              <a:ext cx="5843527" cy="1524575"/>
              <a:chOff x="5894024" y="2551434"/>
              <a:chExt cx="5843527" cy="152457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342CC2F-4F54-4286-BC75-1BFA2E0148B0}"/>
                  </a:ext>
                </a:extLst>
              </p:cNvPr>
              <p:cNvSpPr/>
              <p:nvPr/>
            </p:nvSpPr>
            <p:spPr>
              <a:xfrm>
                <a:off x="5894024" y="2885117"/>
                <a:ext cx="1539734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c/ Proprietário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6417495-A304-43D2-968D-7F4E017A5BAB}"/>
                  </a:ext>
                </a:extLst>
              </p:cNvPr>
              <p:cNvSpPr/>
              <p:nvPr/>
            </p:nvSpPr>
            <p:spPr>
              <a:xfrm>
                <a:off x="5894024" y="3241398"/>
                <a:ext cx="1539734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s/ Proprietário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8082164-1B88-4042-BE98-C1CF401BF114}"/>
                  </a:ext>
                </a:extLst>
              </p:cNvPr>
              <p:cNvSpPr/>
              <p:nvPr/>
            </p:nvSpPr>
            <p:spPr>
              <a:xfrm>
                <a:off x="5894024" y="3621181"/>
                <a:ext cx="1539734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Total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C96F66-D117-438A-A60A-B7233E20CEA6}"/>
                  </a:ext>
                </a:extLst>
              </p:cNvPr>
              <p:cNvSpPr/>
              <p:nvPr/>
            </p:nvSpPr>
            <p:spPr>
              <a:xfrm>
                <a:off x="7470713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84FDA4E-1A39-45A5-B450-2E3CE00DF72D}"/>
                  </a:ext>
                </a:extLst>
              </p:cNvPr>
              <p:cNvSpPr/>
              <p:nvPr/>
            </p:nvSpPr>
            <p:spPr>
              <a:xfrm>
                <a:off x="7470713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45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CFB630C-EE3D-4190-812F-EB5CD041B65B}"/>
                  </a:ext>
                </a:extLst>
              </p:cNvPr>
              <p:cNvSpPr/>
              <p:nvPr/>
            </p:nvSpPr>
            <p:spPr>
              <a:xfrm>
                <a:off x="7470713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57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5260123-8467-4D15-AC6B-63A2DAAFF873}"/>
                  </a:ext>
                </a:extLst>
              </p:cNvPr>
              <p:cNvSpPr/>
              <p:nvPr/>
            </p:nvSpPr>
            <p:spPr>
              <a:xfrm>
                <a:off x="8519119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68DD52F-38DF-4C08-865C-28CA0E53ED8B}"/>
                  </a:ext>
                </a:extLst>
              </p:cNvPr>
              <p:cNvSpPr/>
              <p:nvPr/>
            </p:nvSpPr>
            <p:spPr>
              <a:xfrm>
                <a:off x="8519119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42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2B9AF61-E9AF-45D2-80FE-DC6B5FE578A0}"/>
                  </a:ext>
                </a:extLst>
              </p:cNvPr>
              <p:cNvSpPr/>
              <p:nvPr/>
            </p:nvSpPr>
            <p:spPr>
              <a:xfrm>
                <a:off x="8519119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54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14BFC8-9FF1-45A8-98E2-033610B1DC02}"/>
                  </a:ext>
                </a:extLst>
              </p:cNvPr>
              <p:cNvSpPr/>
              <p:nvPr/>
            </p:nvSpPr>
            <p:spPr>
              <a:xfrm>
                <a:off x="9567525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16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04F67F-6960-42CF-8CED-5A09F5861815}"/>
                  </a:ext>
                </a:extLst>
              </p:cNvPr>
              <p:cNvSpPr/>
              <p:nvPr/>
            </p:nvSpPr>
            <p:spPr>
              <a:xfrm>
                <a:off x="9567525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124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6A2BC1C-9BE2-442C-92F4-096678AF6924}"/>
                  </a:ext>
                </a:extLst>
              </p:cNvPr>
              <p:cNvSpPr/>
              <p:nvPr/>
            </p:nvSpPr>
            <p:spPr>
              <a:xfrm>
                <a:off x="9567525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140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F85184B-1936-4DBB-B5E2-D0263F3E092B}"/>
                  </a:ext>
                </a:extLst>
              </p:cNvPr>
              <p:cNvSpPr/>
              <p:nvPr/>
            </p:nvSpPr>
            <p:spPr>
              <a:xfrm>
                <a:off x="7470713" y="2551434"/>
                <a:ext cx="1011451" cy="30736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N-2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AECB1B9-4FE3-43A7-A61F-A70CDD0B1097}"/>
                  </a:ext>
                </a:extLst>
              </p:cNvPr>
              <p:cNvSpPr/>
              <p:nvPr/>
            </p:nvSpPr>
            <p:spPr>
              <a:xfrm>
                <a:off x="8519119" y="2551434"/>
                <a:ext cx="1011451" cy="30736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N-1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1597105-98AE-4523-A7FF-FA4CA538A668}"/>
                  </a:ext>
                </a:extLst>
              </p:cNvPr>
              <p:cNvSpPr/>
              <p:nvPr/>
            </p:nvSpPr>
            <p:spPr>
              <a:xfrm>
                <a:off x="9567525" y="2551434"/>
                <a:ext cx="1011451" cy="30736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4058D87-D4BA-4732-9BF0-461BB36CC4F2}"/>
                  </a:ext>
                </a:extLst>
              </p:cNvPr>
              <p:cNvSpPr/>
              <p:nvPr/>
            </p:nvSpPr>
            <p:spPr>
              <a:xfrm>
                <a:off x="10726100" y="2551434"/>
                <a:ext cx="1011451" cy="30736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&gt; 6M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F98711F-EFC4-4CBC-9CB5-B7A16E454941}"/>
                  </a:ext>
                </a:extLst>
              </p:cNvPr>
              <p:cNvSpPr/>
              <p:nvPr/>
            </p:nvSpPr>
            <p:spPr>
              <a:xfrm>
                <a:off x="10726100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D98F27F-0439-4B6C-8325-6CB599B3C917}"/>
                  </a:ext>
                </a:extLst>
              </p:cNvPr>
              <p:cNvSpPr/>
              <p:nvPr/>
            </p:nvSpPr>
            <p:spPr>
              <a:xfrm>
                <a:off x="10726100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39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4656A37-A5DA-4B40-9DB7-0578BCFCEBB6}"/>
                  </a:ext>
                </a:extLst>
              </p:cNvPr>
              <p:cNvSpPr/>
              <p:nvPr/>
            </p:nvSpPr>
            <p:spPr>
              <a:xfrm>
                <a:off x="10726100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49</a:t>
                </a: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B8560DB-DB59-4411-ADB6-242092070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4838" y="3592211"/>
                <a:ext cx="56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98894D3-F0B9-4B6F-8EE5-40997D3914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4838" y="3623564"/>
                <a:ext cx="56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893276F-8922-4B64-9DC5-4DA6293D6C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8" y="255143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000575C-2650-40EC-A87D-23D77190DC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8" y="3677242"/>
                <a:ext cx="0" cy="2892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3D64B7-255C-45B8-BEAE-B3C583057440}"/>
                </a:ext>
              </a:extLst>
            </p:cNvPr>
            <p:cNvSpPr/>
            <p:nvPr/>
          </p:nvSpPr>
          <p:spPr>
            <a:xfrm>
              <a:off x="7470712" y="2380957"/>
              <a:ext cx="4266836" cy="30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sm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rPr>
                <a:t>Métricas sem atributos mínimos (#)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5485686" y="6307260"/>
            <a:ext cx="6506386" cy="41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Não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atributos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Fim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vigência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” e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Componentes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”, pela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natureza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das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suas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características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 O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atributo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“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Cálculo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”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não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é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considerado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temporariamente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até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a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responsabilidade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seu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preenchimento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definida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4641666" y="2063371"/>
            <a:ext cx="864110" cy="763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1592" y="2575644"/>
            <a:ext cx="844016" cy="223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&gt; 5%;     &gt;10%</a:t>
            </a:r>
          </a:p>
        </p:txBody>
      </p:sp>
      <p:sp>
        <p:nvSpPr>
          <p:cNvPr id="16" name="Oval 15"/>
          <p:cNvSpPr/>
          <p:nvPr/>
        </p:nvSpPr>
        <p:spPr>
          <a:xfrm>
            <a:off x="5043242" y="2655048"/>
            <a:ext cx="71991" cy="719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703240" y="2648928"/>
            <a:ext cx="71991" cy="7199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1495" y="2111361"/>
            <a:ext cx="914281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sng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RESULTADO:</a:t>
            </a:r>
          </a:p>
        </p:txBody>
      </p:sp>
      <p:sp>
        <p:nvSpPr>
          <p:cNvPr id="18" name="Oval 17"/>
          <p:cNvSpPr/>
          <p:nvPr/>
        </p:nvSpPr>
        <p:spPr>
          <a:xfrm>
            <a:off x="4913011" y="2344968"/>
            <a:ext cx="251967" cy="2519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5686" y="4703893"/>
            <a:ext cx="6250333" cy="152091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/>
        </p:nvGraphicFramePr>
        <p:xfrm>
          <a:off x="768243" y="2503084"/>
          <a:ext cx="3765110" cy="1760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000-00000B000000}"/>
              </a:ext>
            </a:extLst>
          </p:cNvPr>
          <p:cNvGraphicFramePr>
            <a:graphicFrameLocks/>
          </p:cNvGraphicFramePr>
          <p:nvPr/>
        </p:nvGraphicFramePr>
        <p:xfrm>
          <a:off x="771601" y="4348341"/>
          <a:ext cx="3772705" cy="1799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: Rounded Corners 8">
            <a:hlinkClick r:id="rId5" action="ppaction://hlinksldjump"/>
            <a:extLst>
              <a:ext uri="{FF2B5EF4-FFF2-40B4-BE49-F238E27FC236}">
                <a16:creationId xmlns:a16="http://schemas.microsoft.com/office/drawing/2014/main" id="{3EF4D38F-CD15-687D-EE86-854744E2903D}"/>
              </a:ext>
            </a:extLst>
          </p:cNvPr>
          <p:cNvSpPr/>
          <p:nvPr/>
        </p:nvSpPr>
        <p:spPr>
          <a:xfrm>
            <a:off x="10808631" y="292365"/>
            <a:ext cx="712605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21449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649837" y="1363231"/>
            <a:ext cx="10976030" cy="719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equipa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Oversight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definiu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um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conjunto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Data Governance, com base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Normativa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Gestão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 Dado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vigor.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esta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análise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apenas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métricas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vigentes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excluindo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métricas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criadas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há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menos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3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meses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189" name="Título 1">
            <a:extLst>
              <a:ext uri="{FF2B5EF4-FFF2-40B4-BE49-F238E27FC236}">
                <a16:creationId xmlns:a16="http://schemas.microsoft.com/office/drawing/2014/main" id="{9BC1C235-F456-43F0-8C65-8358AE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5" y="734812"/>
            <a:ext cx="9858956" cy="719166"/>
          </a:xfrm>
        </p:spPr>
        <p:txBody>
          <a:bodyPr>
            <a:normAutofit/>
          </a:bodyPr>
          <a:lstStyle/>
          <a:p>
            <a:r>
              <a:rPr lang="pt-PT" dirty="0"/>
              <a:t>Data </a:t>
            </a:r>
            <a:r>
              <a:rPr lang="pt-PT" dirty="0" err="1"/>
              <a:t>Governance</a:t>
            </a:r>
            <a:r>
              <a:rPr lang="pt-PT" dirty="0"/>
              <a:t> – Fluxos </a:t>
            </a:r>
            <a:r>
              <a:rPr lang="pt-PT" sz="1800" dirty="0"/>
              <a:t>(2/2)</a:t>
            </a:r>
            <a:endParaRPr lang="pt-PT" sz="900" dirty="0"/>
          </a:p>
        </p:txBody>
      </p:sp>
      <p:sp>
        <p:nvSpPr>
          <p:cNvPr id="193" name="Marcador de texto 3">
            <a:extLst>
              <a:ext uri="{FF2B5EF4-FFF2-40B4-BE49-F238E27FC236}">
                <a16:creationId xmlns:a16="http://schemas.microsoft.com/office/drawing/2014/main" id="{5049D1E0-7E40-43D3-B465-2A2E3FEFE1F7}"/>
              </a:ext>
            </a:extLst>
          </p:cNvPr>
          <p:cNvSpPr txBox="1">
            <a:spLocks/>
          </p:cNvSpPr>
          <p:nvPr/>
        </p:nvSpPr>
        <p:spPr>
          <a:xfrm>
            <a:off x="712878" y="338297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FF3EE72-4532-4F77-83D3-DA74B852EFA3}"/>
              </a:ext>
            </a:extLst>
          </p:cNvPr>
          <p:cNvSpPr/>
          <p:nvPr/>
        </p:nvSpPr>
        <p:spPr>
          <a:xfrm rot="5400000">
            <a:off x="4251459" y="3761503"/>
            <a:ext cx="1616271" cy="271397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5686" y="4754128"/>
            <a:ext cx="6250333" cy="128416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107986" tIns="107986" rIns="35995" bIns="35995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Destaques:</a:t>
            </a:r>
          </a:p>
          <a:p>
            <a:pPr marL="285721" marR="0" lvl="0" indent="-285721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Redução do indicador como resultado do plano de documentação dos fluxos realizado pelas áreas de negócio em articulação com Data </a:t>
            </a:r>
            <a:r>
              <a:rPr kumimoji="0" lang="pt-P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Governance</a:t>
            </a: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649837" y="2049347"/>
            <a:ext cx="3995480" cy="41754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5D36-4B07-45FB-BA64-37937039188C}"/>
              </a:ext>
            </a:extLst>
          </p:cNvPr>
          <p:cNvSpPr/>
          <p:nvPr/>
        </p:nvSpPr>
        <p:spPr>
          <a:xfrm>
            <a:off x="755997" y="2132186"/>
            <a:ext cx="3779508" cy="305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Métricas sem Fluxo (%)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0DFEE4-A404-46ED-B9A5-8ACFE9EE438E}"/>
              </a:ext>
            </a:extLst>
          </p:cNvPr>
          <p:cNvGrpSpPr/>
          <p:nvPr/>
        </p:nvGrpSpPr>
        <p:grpSpPr>
          <a:xfrm>
            <a:off x="5485686" y="2782533"/>
            <a:ext cx="6250337" cy="1865572"/>
            <a:chOff x="5894024" y="2380957"/>
            <a:chExt cx="5843527" cy="1865815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52F38B-3542-4341-BEEE-073502286B5E}"/>
                </a:ext>
              </a:extLst>
            </p:cNvPr>
            <p:cNvGrpSpPr/>
            <p:nvPr/>
          </p:nvGrpSpPr>
          <p:grpSpPr>
            <a:xfrm>
              <a:off x="5894024" y="2722197"/>
              <a:ext cx="5843527" cy="1524575"/>
              <a:chOff x="5894024" y="2551434"/>
              <a:chExt cx="5843527" cy="152457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342CC2F-4F54-4286-BC75-1BFA2E0148B0}"/>
                  </a:ext>
                </a:extLst>
              </p:cNvPr>
              <p:cNvSpPr/>
              <p:nvPr/>
            </p:nvSpPr>
            <p:spPr>
              <a:xfrm>
                <a:off x="5894024" y="2885117"/>
                <a:ext cx="1539734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c/ Proprietário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6417495-A304-43D2-968D-7F4E017A5BAB}"/>
                  </a:ext>
                </a:extLst>
              </p:cNvPr>
              <p:cNvSpPr/>
              <p:nvPr/>
            </p:nvSpPr>
            <p:spPr>
              <a:xfrm>
                <a:off x="5894024" y="3241398"/>
                <a:ext cx="1539734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s/ Proprietário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8082164-1B88-4042-BE98-C1CF401BF114}"/>
                  </a:ext>
                </a:extLst>
              </p:cNvPr>
              <p:cNvSpPr/>
              <p:nvPr/>
            </p:nvSpPr>
            <p:spPr>
              <a:xfrm>
                <a:off x="5894024" y="3621181"/>
                <a:ext cx="1539734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Total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3C96F66-D117-438A-A60A-B7233E20CEA6}"/>
                  </a:ext>
                </a:extLst>
              </p:cNvPr>
              <p:cNvSpPr/>
              <p:nvPr/>
            </p:nvSpPr>
            <p:spPr>
              <a:xfrm>
                <a:off x="7470713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250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84FDA4E-1A39-45A5-B450-2E3CE00DF72D}"/>
                  </a:ext>
                </a:extLst>
              </p:cNvPr>
              <p:cNvSpPr/>
              <p:nvPr/>
            </p:nvSpPr>
            <p:spPr>
              <a:xfrm>
                <a:off x="7470713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37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CFB630C-EE3D-4190-812F-EB5CD041B65B}"/>
                  </a:ext>
                </a:extLst>
              </p:cNvPr>
              <p:cNvSpPr/>
              <p:nvPr/>
            </p:nvSpPr>
            <p:spPr>
              <a:xfrm>
                <a:off x="7470713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287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5260123-8467-4D15-AC6B-63A2DAAFF873}"/>
                  </a:ext>
                </a:extLst>
              </p:cNvPr>
              <p:cNvSpPr/>
              <p:nvPr/>
            </p:nvSpPr>
            <p:spPr>
              <a:xfrm>
                <a:off x="8519119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266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68DD52F-38DF-4C08-865C-28CA0E53ED8B}"/>
                  </a:ext>
                </a:extLst>
              </p:cNvPr>
              <p:cNvSpPr/>
              <p:nvPr/>
            </p:nvSpPr>
            <p:spPr>
              <a:xfrm>
                <a:off x="8519119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40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2B9AF61-E9AF-45D2-80FE-DC6B5FE578A0}"/>
                  </a:ext>
                </a:extLst>
              </p:cNvPr>
              <p:cNvSpPr/>
              <p:nvPr/>
            </p:nvSpPr>
            <p:spPr>
              <a:xfrm>
                <a:off x="8519119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306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C14BFC8-9FF1-45A8-98E2-033610B1DC02}"/>
                  </a:ext>
                </a:extLst>
              </p:cNvPr>
              <p:cNvSpPr/>
              <p:nvPr/>
            </p:nvSpPr>
            <p:spPr>
              <a:xfrm>
                <a:off x="9567525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114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04F67F-6960-42CF-8CED-5A09F5861815}"/>
                  </a:ext>
                </a:extLst>
              </p:cNvPr>
              <p:cNvSpPr/>
              <p:nvPr/>
            </p:nvSpPr>
            <p:spPr>
              <a:xfrm>
                <a:off x="9567525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122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6A2BC1C-9BE2-442C-92F4-096678AF6924}"/>
                  </a:ext>
                </a:extLst>
              </p:cNvPr>
              <p:cNvSpPr/>
              <p:nvPr/>
            </p:nvSpPr>
            <p:spPr>
              <a:xfrm>
                <a:off x="9567525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236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F85184B-1936-4DBB-B5E2-D0263F3E092B}"/>
                  </a:ext>
                </a:extLst>
              </p:cNvPr>
              <p:cNvSpPr/>
              <p:nvPr/>
            </p:nvSpPr>
            <p:spPr>
              <a:xfrm>
                <a:off x="7470713" y="2551434"/>
                <a:ext cx="1011451" cy="30736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N-2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AECB1B9-4FE3-43A7-A61F-A70CDD0B1097}"/>
                  </a:ext>
                </a:extLst>
              </p:cNvPr>
              <p:cNvSpPr/>
              <p:nvPr/>
            </p:nvSpPr>
            <p:spPr>
              <a:xfrm>
                <a:off x="8519119" y="2551434"/>
                <a:ext cx="1011451" cy="30736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N-1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1597105-98AE-4523-A7FF-FA4CA538A668}"/>
                  </a:ext>
                </a:extLst>
              </p:cNvPr>
              <p:cNvSpPr/>
              <p:nvPr/>
            </p:nvSpPr>
            <p:spPr>
              <a:xfrm>
                <a:off x="9567525" y="2551434"/>
                <a:ext cx="1011451" cy="30736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N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4058D87-D4BA-4732-9BF0-461BB36CC4F2}"/>
                  </a:ext>
                </a:extLst>
              </p:cNvPr>
              <p:cNvSpPr/>
              <p:nvPr/>
            </p:nvSpPr>
            <p:spPr>
              <a:xfrm>
                <a:off x="10726100" y="2551434"/>
                <a:ext cx="1011451" cy="30736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&gt; 6M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F98711F-EFC4-4CBC-9CB5-B7A16E454941}"/>
                  </a:ext>
                </a:extLst>
              </p:cNvPr>
              <p:cNvSpPr/>
              <p:nvPr/>
            </p:nvSpPr>
            <p:spPr>
              <a:xfrm>
                <a:off x="10726100" y="2885116"/>
                <a:ext cx="101145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69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D98F27F-0439-4B6C-8325-6CB599B3C917}"/>
                  </a:ext>
                </a:extLst>
              </p:cNvPr>
              <p:cNvSpPr/>
              <p:nvPr/>
            </p:nvSpPr>
            <p:spPr>
              <a:xfrm>
                <a:off x="10726100" y="3241397"/>
                <a:ext cx="1011451" cy="342000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37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4656A37-A5DA-4B40-9DB7-0578BCFCEBB6}"/>
                  </a:ext>
                </a:extLst>
              </p:cNvPr>
              <p:cNvSpPr/>
              <p:nvPr/>
            </p:nvSpPr>
            <p:spPr>
              <a:xfrm>
                <a:off x="10726100" y="3621180"/>
                <a:ext cx="1011451" cy="454828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106</a:t>
                </a: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B8560DB-DB59-4411-ADB6-242092070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4838" y="3592211"/>
                <a:ext cx="56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98894D3-F0B9-4B6F-8EE5-40997D3914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4838" y="3623564"/>
                <a:ext cx="56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893276F-8922-4B64-9DC5-4DA6293D6C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8" y="255143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000575C-2650-40EC-A87D-23D77190DC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8" y="3677242"/>
                <a:ext cx="0" cy="2892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3D64B7-255C-45B8-BEAE-B3C583057440}"/>
                </a:ext>
              </a:extLst>
            </p:cNvPr>
            <p:cNvSpPr/>
            <p:nvPr/>
          </p:nvSpPr>
          <p:spPr>
            <a:xfrm>
              <a:off x="7470712" y="2380957"/>
              <a:ext cx="4266836" cy="306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sm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rPr>
                <a:t>Métricas sem Fluxo (#)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4641666" y="2063371"/>
            <a:ext cx="864110" cy="763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91592" y="2575644"/>
            <a:ext cx="844016" cy="223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&gt; 5%;     &gt;10%</a:t>
            </a:r>
          </a:p>
        </p:txBody>
      </p:sp>
      <p:sp>
        <p:nvSpPr>
          <p:cNvPr id="41" name="Oval 40"/>
          <p:cNvSpPr/>
          <p:nvPr/>
        </p:nvSpPr>
        <p:spPr>
          <a:xfrm>
            <a:off x="5043242" y="2655048"/>
            <a:ext cx="71991" cy="719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703240" y="2648928"/>
            <a:ext cx="71991" cy="7199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91495" y="2111361"/>
            <a:ext cx="914281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sng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RESULTADO:</a:t>
            </a:r>
          </a:p>
        </p:txBody>
      </p:sp>
      <p:sp>
        <p:nvSpPr>
          <p:cNvPr id="44" name="Oval 43"/>
          <p:cNvSpPr/>
          <p:nvPr/>
        </p:nvSpPr>
        <p:spPr>
          <a:xfrm>
            <a:off x="4913011" y="2344968"/>
            <a:ext cx="251967" cy="2519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5686" y="4703893"/>
            <a:ext cx="6250333" cy="152091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/>
        </p:nvGraphicFramePr>
        <p:xfrm>
          <a:off x="742960" y="2479470"/>
          <a:ext cx="3779508" cy="1799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000-00000F000000}"/>
              </a:ext>
            </a:extLst>
          </p:cNvPr>
          <p:cNvGraphicFramePr>
            <a:graphicFrameLocks/>
          </p:cNvGraphicFramePr>
          <p:nvPr/>
        </p:nvGraphicFramePr>
        <p:xfrm>
          <a:off x="755997" y="4351185"/>
          <a:ext cx="3779508" cy="180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: Rounded Corners 2">
            <a:hlinkClick r:id="rId4" action="ppaction://hlinksldjump"/>
            <a:extLst>
              <a:ext uri="{FF2B5EF4-FFF2-40B4-BE49-F238E27FC236}">
                <a16:creationId xmlns:a16="http://schemas.microsoft.com/office/drawing/2014/main" id="{AEAF4B87-7375-9298-AAB2-D491F2BDFA1F}"/>
              </a:ext>
            </a:extLst>
          </p:cNvPr>
          <p:cNvSpPr/>
          <p:nvPr/>
        </p:nvSpPr>
        <p:spPr>
          <a:xfrm>
            <a:off x="10808631" y="292365"/>
            <a:ext cx="712605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83703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649837" y="1363231"/>
            <a:ext cx="10976030" cy="719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equipa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Oversight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definiu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um conjunto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Data Architecture.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esta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análise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apenas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as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ingestas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constantes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das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dois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Working Group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anteriores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à data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último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útil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mês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).</a:t>
            </a:r>
          </a:p>
        </p:txBody>
      </p:sp>
      <p:sp>
        <p:nvSpPr>
          <p:cNvPr id="189" name="Título 1">
            <a:extLst>
              <a:ext uri="{FF2B5EF4-FFF2-40B4-BE49-F238E27FC236}">
                <a16:creationId xmlns:a16="http://schemas.microsoft.com/office/drawing/2014/main" id="{9BC1C235-F456-43F0-8C65-8358AE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5" y="734812"/>
            <a:ext cx="9858956" cy="719166"/>
          </a:xfrm>
        </p:spPr>
        <p:txBody>
          <a:bodyPr>
            <a:normAutofit/>
          </a:bodyPr>
          <a:lstStyle/>
          <a:p>
            <a:r>
              <a:rPr lang="pt-PT" sz="3200" dirty="0"/>
              <a:t>Data Architecture – Ingestas não inventariadas </a:t>
            </a:r>
            <a:r>
              <a:rPr lang="pt-PT" sz="1600" dirty="0"/>
              <a:t>(1/2)</a:t>
            </a:r>
          </a:p>
        </p:txBody>
      </p:sp>
      <p:sp>
        <p:nvSpPr>
          <p:cNvPr id="193" name="Marcador de texto 3">
            <a:extLst>
              <a:ext uri="{FF2B5EF4-FFF2-40B4-BE49-F238E27FC236}">
                <a16:creationId xmlns:a16="http://schemas.microsoft.com/office/drawing/2014/main" id="{5049D1E0-7E40-43D3-B465-2A2E3FEFE1F7}"/>
              </a:ext>
            </a:extLst>
          </p:cNvPr>
          <p:cNvSpPr txBox="1">
            <a:spLocks/>
          </p:cNvSpPr>
          <p:nvPr/>
        </p:nvSpPr>
        <p:spPr>
          <a:xfrm>
            <a:off x="712878" y="338297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FF3EE72-4532-4F77-83D3-DA74B852EFA3}"/>
              </a:ext>
            </a:extLst>
          </p:cNvPr>
          <p:cNvSpPr/>
          <p:nvPr/>
        </p:nvSpPr>
        <p:spPr>
          <a:xfrm rot="5400000">
            <a:off x="4992391" y="3710758"/>
            <a:ext cx="1328154" cy="2598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25218" y="5011751"/>
            <a:ext cx="6417964" cy="1360947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107986" tIns="107986" rIns="35995" bIns="35995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Destaques:</a:t>
            </a:r>
          </a:p>
          <a:p>
            <a:pPr marL="285721" marR="0" lvl="0" indent="-285721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Sem incidências a registar: todas as ingestas constantes das atas dos dois últimos WG se encontram inventariadas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1127757" y="2274193"/>
            <a:ext cx="3995480" cy="234667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5D36-4B07-45FB-BA64-37937039188C}"/>
              </a:ext>
            </a:extLst>
          </p:cNvPr>
          <p:cNvSpPr/>
          <p:nvPr/>
        </p:nvSpPr>
        <p:spPr>
          <a:xfrm>
            <a:off x="1233917" y="2357032"/>
            <a:ext cx="3779508" cy="305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Ingestas não inventariadas (%)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5119586" y="2288216"/>
            <a:ext cx="864110" cy="763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35312" y="2800489"/>
            <a:ext cx="860459" cy="215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&gt; 0%;       &gt;0%</a:t>
            </a:r>
          </a:p>
        </p:txBody>
      </p:sp>
      <p:sp>
        <p:nvSpPr>
          <p:cNvPr id="16" name="Oval 15"/>
          <p:cNvSpPr/>
          <p:nvPr/>
        </p:nvSpPr>
        <p:spPr>
          <a:xfrm>
            <a:off x="5524625" y="2869504"/>
            <a:ext cx="71991" cy="719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5142200" y="2863384"/>
            <a:ext cx="71991" cy="7199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69415" y="2336207"/>
            <a:ext cx="914281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sng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RESULTADO:</a:t>
            </a:r>
          </a:p>
        </p:txBody>
      </p:sp>
      <p:sp>
        <p:nvSpPr>
          <p:cNvPr id="18" name="Oval 17"/>
          <p:cNvSpPr/>
          <p:nvPr/>
        </p:nvSpPr>
        <p:spPr>
          <a:xfrm>
            <a:off x="5390931" y="2569814"/>
            <a:ext cx="251967" cy="2519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64708" y="5011751"/>
            <a:ext cx="6461159" cy="1187845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9CB2D4-5D68-BAFA-794B-26EF80FBCEB1}"/>
              </a:ext>
            </a:extLst>
          </p:cNvPr>
          <p:cNvGrpSpPr/>
          <p:nvPr/>
        </p:nvGrpSpPr>
        <p:grpSpPr>
          <a:xfrm>
            <a:off x="6316833" y="2367753"/>
            <a:ext cx="5028116" cy="2192675"/>
            <a:chOff x="6317655" y="2366820"/>
            <a:chExt cx="5028771" cy="219296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8CBCE2E-BF80-301C-FAB6-DA16CD9B6703}"/>
                </a:ext>
              </a:extLst>
            </p:cNvPr>
            <p:cNvGrpSpPr/>
            <p:nvPr/>
          </p:nvGrpSpPr>
          <p:grpSpPr>
            <a:xfrm>
              <a:off x="6317655" y="2366820"/>
              <a:ext cx="5028771" cy="2192961"/>
              <a:chOff x="6317655" y="2366820"/>
              <a:chExt cx="5028771" cy="2192961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510DFEE4-A404-46ED-B9A5-8ACFE9EE438E}"/>
                  </a:ext>
                </a:extLst>
              </p:cNvPr>
              <p:cNvGrpSpPr/>
              <p:nvPr/>
            </p:nvGrpSpPr>
            <p:grpSpPr>
              <a:xfrm>
                <a:off x="6317655" y="2366820"/>
                <a:ext cx="5028771" cy="2192961"/>
                <a:chOff x="6791304" y="2037851"/>
                <a:chExt cx="4700868" cy="2192961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E152F38B-3542-4341-BEEE-073502286B5E}"/>
                    </a:ext>
                  </a:extLst>
                </p:cNvPr>
                <p:cNvGrpSpPr/>
                <p:nvPr/>
              </p:nvGrpSpPr>
              <p:grpSpPr>
                <a:xfrm>
                  <a:off x="6791304" y="2398347"/>
                  <a:ext cx="4700868" cy="1832465"/>
                  <a:chOff x="6791304" y="2227584"/>
                  <a:chExt cx="4700868" cy="1832465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1342CC2F-4F54-4286-BC75-1BFA2E0148B0}"/>
                      </a:ext>
                    </a:extLst>
                  </p:cNvPr>
                  <p:cNvSpPr/>
                  <p:nvPr/>
                </p:nvSpPr>
                <p:spPr>
                  <a:xfrm>
                    <a:off x="6890270" y="2890312"/>
                    <a:ext cx="1539734" cy="341719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small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Inventariadas</a:t>
                    </a: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F6417495-A304-43D2-968D-7F4E017A5BAB}"/>
                      </a:ext>
                    </a:extLst>
                  </p:cNvPr>
                  <p:cNvSpPr/>
                  <p:nvPr/>
                </p:nvSpPr>
                <p:spPr>
                  <a:xfrm>
                    <a:off x="6791305" y="3241397"/>
                    <a:ext cx="1737664" cy="342000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small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Não inventariadas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88082164-1B88-4042-BE98-C1CF401BF114}"/>
                      </a:ext>
                    </a:extLst>
                  </p:cNvPr>
                  <p:cNvSpPr/>
                  <p:nvPr/>
                </p:nvSpPr>
                <p:spPr>
                  <a:xfrm>
                    <a:off x="6890270" y="3605221"/>
                    <a:ext cx="1539734" cy="454828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1" i="0" u="none" strike="noStrike" kern="1200" cap="small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Total</a:t>
                    </a: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55260123-8467-4D15-AC6B-63A2DAAFF873}"/>
                      </a:ext>
                    </a:extLst>
                  </p:cNvPr>
                  <p:cNvSpPr/>
                  <p:nvPr/>
                </p:nvSpPr>
                <p:spPr>
                  <a:xfrm>
                    <a:off x="9355664" y="2890312"/>
                    <a:ext cx="1011451" cy="341719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D68DD52F-38DF-4C08-865C-28CA0E53ED8B}"/>
                      </a:ext>
                    </a:extLst>
                  </p:cNvPr>
                  <p:cNvSpPr/>
                  <p:nvPr/>
                </p:nvSpPr>
                <p:spPr>
                  <a:xfrm>
                    <a:off x="9355680" y="3241397"/>
                    <a:ext cx="1011451" cy="342000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0</a:t>
                    </a: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2B9AF61-E9AF-45D2-80FE-DC6B5FE578A0}"/>
                      </a:ext>
                    </a:extLst>
                  </p:cNvPr>
                  <p:cNvSpPr/>
                  <p:nvPr/>
                </p:nvSpPr>
                <p:spPr>
                  <a:xfrm>
                    <a:off x="9328002" y="3605221"/>
                    <a:ext cx="1011451" cy="454828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0</a:t>
                    </a: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3C14BFC8-9FF1-45A8-98E2-033610B1DC02}"/>
                      </a:ext>
                    </a:extLst>
                  </p:cNvPr>
                  <p:cNvSpPr/>
                  <p:nvPr/>
                </p:nvSpPr>
                <p:spPr>
                  <a:xfrm>
                    <a:off x="10394727" y="2890312"/>
                    <a:ext cx="1011451" cy="341719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3E04F67F-6960-42CF-8CED-5A09F5861815}"/>
                      </a:ext>
                    </a:extLst>
                  </p:cNvPr>
                  <p:cNvSpPr/>
                  <p:nvPr/>
                </p:nvSpPr>
                <p:spPr>
                  <a:xfrm>
                    <a:off x="10394726" y="3241397"/>
                    <a:ext cx="1011451" cy="342000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0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6A2BC1C-9BE2-442C-92F4-096678AF6924}"/>
                      </a:ext>
                    </a:extLst>
                  </p:cNvPr>
                  <p:cNvSpPr/>
                  <p:nvPr/>
                </p:nvSpPr>
                <p:spPr>
                  <a:xfrm>
                    <a:off x="10394742" y="3605221"/>
                    <a:ext cx="1011451" cy="454828"/>
                  </a:xfrm>
                  <a:prstGeom prst="rect">
                    <a:avLst/>
                  </a:prstGeom>
                  <a:noFill/>
                  <a:ln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0</a:t>
                    </a: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4AECB1B9-4FE3-43A7-A61F-A70CDD0B1097}"/>
                      </a:ext>
                    </a:extLst>
                  </p:cNvPr>
                  <p:cNvSpPr/>
                  <p:nvPr/>
                </p:nvSpPr>
                <p:spPr>
                  <a:xfrm>
                    <a:off x="9355664" y="2227584"/>
                    <a:ext cx="1011451" cy="307368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N-1</a:t>
                    </a: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1597105-98AE-4523-A7FF-FA4CA538A668}"/>
                      </a:ext>
                    </a:extLst>
                  </p:cNvPr>
                  <p:cNvSpPr/>
                  <p:nvPr/>
                </p:nvSpPr>
                <p:spPr>
                  <a:xfrm>
                    <a:off x="10394726" y="2227584"/>
                    <a:ext cx="1011451" cy="307368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37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PT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rPr>
                      <a:t>N</a:t>
                    </a:r>
                  </a:p>
                </p:txBody>
              </p: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DB8560DB-DB59-4411-ADB6-2420920708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91304" y="3578262"/>
                    <a:ext cx="4700868" cy="5135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2B3D64B7-255C-45B8-BEAE-B3C583057440}"/>
                    </a:ext>
                  </a:extLst>
                </p:cNvPr>
                <p:cNvSpPr/>
                <p:nvPr/>
              </p:nvSpPr>
              <p:spPr>
                <a:xfrm>
                  <a:off x="8307258" y="2037851"/>
                  <a:ext cx="3108110" cy="30736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PT" sz="1400" b="1" i="0" u="none" strike="noStrike" kern="1200" cap="small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antander Text"/>
                      <a:ea typeface="+mn-ea"/>
                      <a:cs typeface="+mn-cs"/>
                    </a:rPr>
                    <a:t>Novas Ingestas WG</a:t>
                  </a: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2D2EE2-0F60-2705-DA35-A10F93351FA8}"/>
                  </a:ext>
                </a:extLst>
              </p:cNvPr>
              <p:cNvSpPr/>
              <p:nvPr/>
            </p:nvSpPr>
            <p:spPr>
              <a:xfrm>
                <a:off x="6423538" y="3059978"/>
                <a:ext cx="1647141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small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Universo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EF214D-085B-64F8-0781-6519B111ABFE}"/>
                  </a:ext>
                </a:extLst>
              </p:cNvPr>
              <p:cNvSpPr/>
              <p:nvPr/>
            </p:nvSpPr>
            <p:spPr>
              <a:xfrm>
                <a:off x="10172452" y="3059978"/>
                <a:ext cx="1082006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7CCF55E-F6F3-CE44-9226-A6808D3D9945}"/>
                  </a:ext>
                </a:extLst>
              </p:cNvPr>
              <p:cNvSpPr/>
              <p:nvPr/>
            </p:nvSpPr>
            <p:spPr>
              <a:xfrm>
                <a:off x="9060908" y="3059978"/>
                <a:ext cx="1082006" cy="341719"/>
              </a:xfrm>
              <a:prstGeom prst="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9DFC726-9A60-E147-CCF2-F82136CA1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6413" y="3384909"/>
              <a:ext cx="4780013" cy="513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832259-B6C9-A750-3AEB-572D536FB5C5}"/>
                </a:ext>
              </a:extLst>
            </p:cNvPr>
            <p:cNvSpPr/>
            <p:nvPr/>
          </p:nvSpPr>
          <p:spPr>
            <a:xfrm>
              <a:off x="7948941" y="3384909"/>
              <a:ext cx="1082004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201109-0B55-454E-5AFB-ADB66164339E}"/>
                </a:ext>
              </a:extLst>
            </p:cNvPr>
            <p:cNvSpPr/>
            <p:nvPr/>
          </p:nvSpPr>
          <p:spPr>
            <a:xfrm>
              <a:off x="7948958" y="3735994"/>
              <a:ext cx="1082004" cy="342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F6B94C-2BC6-EFA9-A1BE-559A4AF83618}"/>
                </a:ext>
              </a:extLst>
            </p:cNvPr>
            <p:cNvSpPr/>
            <p:nvPr/>
          </p:nvSpPr>
          <p:spPr>
            <a:xfrm>
              <a:off x="7919349" y="4099818"/>
              <a:ext cx="1082004" cy="454828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9E9E15-016B-67EA-3BCD-4DDDF84335FA}"/>
                </a:ext>
              </a:extLst>
            </p:cNvPr>
            <p:cNvSpPr/>
            <p:nvPr/>
          </p:nvSpPr>
          <p:spPr>
            <a:xfrm>
              <a:off x="7948941" y="2722181"/>
              <a:ext cx="1082004" cy="3073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N-2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70A3FE4-05D7-451C-031D-B12E7877503F}"/>
                </a:ext>
              </a:extLst>
            </p:cNvPr>
            <p:cNvSpPr/>
            <p:nvPr/>
          </p:nvSpPr>
          <p:spPr>
            <a:xfrm>
              <a:off x="7948960" y="3054843"/>
              <a:ext cx="1082006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10</a:t>
              </a:r>
            </a:p>
          </p:txBody>
        </p:sp>
      </p:grp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8ECC6AF-353D-49B5-A1B2-E8C7BEF2A25A}"/>
              </a:ext>
            </a:extLst>
          </p:cNvPr>
          <p:cNvGraphicFramePr>
            <a:graphicFrameLocks/>
          </p:cNvGraphicFramePr>
          <p:nvPr/>
        </p:nvGraphicFramePr>
        <p:xfrm>
          <a:off x="1256709" y="2723068"/>
          <a:ext cx="3756716" cy="1757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: Rounded Corners 8">
            <a:hlinkClick r:id="rId4" action="ppaction://hlinksldjump"/>
            <a:extLst>
              <a:ext uri="{FF2B5EF4-FFF2-40B4-BE49-F238E27FC236}">
                <a16:creationId xmlns:a16="http://schemas.microsoft.com/office/drawing/2014/main" id="{7DDEB7CA-791E-2818-90A7-14D280D4D3D9}"/>
              </a:ext>
            </a:extLst>
          </p:cNvPr>
          <p:cNvSpPr/>
          <p:nvPr/>
        </p:nvSpPr>
        <p:spPr>
          <a:xfrm>
            <a:off x="10808631" y="292365"/>
            <a:ext cx="712605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6482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C7B0E-A918-47C7-9580-33A90611218F}"/>
              </a:ext>
            </a:extLst>
          </p:cNvPr>
          <p:cNvSpPr/>
          <p:nvPr/>
        </p:nvSpPr>
        <p:spPr>
          <a:xfrm>
            <a:off x="649837" y="1363231"/>
            <a:ext cx="10976030" cy="719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equipa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Oversight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definiu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um conjunto de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de Data Architecture. Para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esta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análise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apenas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consideram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as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ingestas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constantes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das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atas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dois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Working Group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anteriores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à data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controlo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último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útil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do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mês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).</a:t>
            </a:r>
          </a:p>
        </p:txBody>
      </p:sp>
      <p:sp>
        <p:nvSpPr>
          <p:cNvPr id="189" name="Título 1">
            <a:extLst>
              <a:ext uri="{FF2B5EF4-FFF2-40B4-BE49-F238E27FC236}">
                <a16:creationId xmlns:a16="http://schemas.microsoft.com/office/drawing/2014/main" id="{9BC1C235-F456-43F0-8C65-8358AEE7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35" y="734812"/>
            <a:ext cx="10753443" cy="719166"/>
          </a:xfrm>
        </p:spPr>
        <p:txBody>
          <a:bodyPr>
            <a:normAutofit fontScale="90000"/>
          </a:bodyPr>
          <a:lstStyle/>
          <a:p>
            <a:r>
              <a:rPr lang="pt-PT" dirty="0"/>
              <a:t>Data Architecture – Atributos Mínimos Inventário de Ingestas </a:t>
            </a:r>
            <a:r>
              <a:rPr lang="pt-PT" sz="1800" dirty="0"/>
              <a:t>(2/2)</a:t>
            </a:r>
            <a:endParaRPr lang="pt-PT" sz="800" dirty="0"/>
          </a:p>
        </p:txBody>
      </p:sp>
      <p:sp>
        <p:nvSpPr>
          <p:cNvPr id="193" name="Marcador de texto 3">
            <a:extLst>
              <a:ext uri="{FF2B5EF4-FFF2-40B4-BE49-F238E27FC236}">
                <a16:creationId xmlns:a16="http://schemas.microsoft.com/office/drawing/2014/main" id="{5049D1E0-7E40-43D3-B465-2A2E3FEFE1F7}"/>
              </a:ext>
            </a:extLst>
          </p:cNvPr>
          <p:cNvSpPr txBox="1">
            <a:spLocks/>
          </p:cNvSpPr>
          <p:nvPr/>
        </p:nvSpPr>
        <p:spPr>
          <a:xfrm>
            <a:off x="712878" y="338297"/>
            <a:ext cx="10753444" cy="304759"/>
          </a:xfrm>
          <a:prstGeom prst="rect">
            <a:avLst/>
          </a:prstGeom>
        </p:spPr>
        <p:txBody>
          <a:bodyPr vert="horz" lIns="91405" tIns="45702" rIns="91405" bIns="45702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300" b="0" i="0" u="none" strike="noStrike" kern="1200" cap="none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Oversight</a:t>
            </a:r>
            <a:endParaRPr kumimoji="0" lang="pt-PT" sz="1300" b="0" i="0" u="none" strike="noStrike" kern="1200" cap="none" spc="0" normalizeH="0" baseline="0" noProof="0" dirty="0">
              <a:ln>
                <a:noFill/>
              </a:ln>
              <a:solidFill>
                <a:srgbClr val="EC0000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FF3EE72-4532-4F77-83D3-DA74B852EFA3}"/>
              </a:ext>
            </a:extLst>
          </p:cNvPr>
          <p:cNvSpPr/>
          <p:nvPr/>
        </p:nvSpPr>
        <p:spPr>
          <a:xfrm rot="5400000">
            <a:off x="5095421" y="3612213"/>
            <a:ext cx="1328154" cy="25982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4801" y="5119537"/>
            <a:ext cx="6416996" cy="128416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wrap="square" lIns="107986" tIns="107986" rIns="35995" bIns="35995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small" spc="0" normalizeH="0" baseline="0" noProof="0" dirty="0">
                <a:ln>
                  <a:noFill/>
                </a:ln>
                <a:solidFill>
                  <a:srgbClr val="EC0000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Destaques:</a:t>
            </a:r>
          </a:p>
          <a:p>
            <a:pPr marL="285721" marR="0" lvl="0" indent="-285721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 equipa de Data </a:t>
            </a:r>
            <a:r>
              <a:rPr kumimoji="0" lang="pt-P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Architecture</a:t>
            </a: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 referiu que até ao final do mês de junho espera conseguir reduzir uma parte significativa das incidências detetadas.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1230786" y="2175648"/>
            <a:ext cx="3995480" cy="234667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15D36-4B07-45FB-BA64-37937039188C}"/>
              </a:ext>
            </a:extLst>
          </p:cNvPr>
          <p:cNvSpPr/>
          <p:nvPr/>
        </p:nvSpPr>
        <p:spPr>
          <a:xfrm>
            <a:off x="1336947" y="2258487"/>
            <a:ext cx="3779508" cy="3054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1200" cap="sm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Atributos Mínimos em falta e insatisfatórios (%)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5C5191-D723-4C2C-A019-7CB977D03731}"/>
              </a:ext>
            </a:extLst>
          </p:cNvPr>
          <p:cNvSpPr/>
          <p:nvPr/>
        </p:nvSpPr>
        <p:spPr>
          <a:xfrm>
            <a:off x="5222615" y="2189671"/>
            <a:ext cx="864110" cy="7638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28818" y="2720991"/>
            <a:ext cx="853864" cy="215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&gt; 2,5%;     &gt;5%</a:t>
            </a:r>
          </a:p>
        </p:txBody>
      </p:sp>
      <p:sp>
        <p:nvSpPr>
          <p:cNvPr id="16" name="Oval 15"/>
          <p:cNvSpPr/>
          <p:nvPr/>
        </p:nvSpPr>
        <p:spPr>
          <a:xfrm>
            <a:off x="5675273" y="2790006"/>
            <a:ext cx="71991" cy="719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5235706" y="2783886"/>
            <a:ext cx="71991" cy="7199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2444" y="2237662"/>
            <a:ext cx="914281" cy="24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sng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RESULTADO:</a:t>
            </a:r>
          </a:p>
        </p:txBody>
      </p:sp>
      <p:sp>
        <p:nvSpPr>
          <p:cNvPr id="18" name="Oval 17"/>
          <p:cNvSpPr/>
          <p:nvPr/>
        </p:nvSpPr>
        <p:spPr>
          <a:xfrm>
            <a:off x="5493960" y="2471269"/>
            <a:ext cx="251967" cy="251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40962" y="5124850"/>
            <a:ext cx="6460835" cy="142849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06010D-C584-8AB3-F451-6822936D18D8}"/>
              </a:ext>
            </a:extLst>
          </p:cNvPr>
          <p:cNvGrpSpPr/>
          <p:nvPr/>
        </p:nvGrpSpPr>
        <p:grpSpPr>
          <a:xfrm>
            <a:off x="6136896" y="2162857"/>
            <a:ext cx="5434932" cy="2876217"/>
            <a:chOff x="6490889" y="2103238"/>
            <a:chExt cx="5435640" cy="28765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63FA0E-9A5D-90FF-7D25-D9582499219C}"/>
                </a:ext>
              </a:extLst>
            </p:cNvPr>
            <p:cNvSpPr/>
            <p:nvPr/>
          </p:nvSpPr>
          <p:spPr>
            <a:xfrm>
              <a:off x="6566083" y="3416228"/>
              <a:ext cx="1779822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Descrição da Tabela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4054B2-64EA-10DC-6B3D-0D0A2D2BA492}"/>
                </a:ext>
              </a:extLst>
            </p:cNvPr>
            <p:cNvSpPr/>
            <p:nvPr/>
          </p:nvSpPr>
          <p:spPr>
            <a:xfrm>
              <a:off x="6566083" y="3699057"/>
              <a:ext cx="1779822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Granularidade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7CEBB4-7A06-D7E8-597E-89E32D465DDC}"/>
                </a:ext>
              </a:extLst>
            </p:cNvPr>
            <p:cNvSpPr/>
            <p:nvPr/>
          </p:nvSpPr>
          <p:spPr>
            <a:xfrm>
              <a:off x="6566083" y="3985578"/>
              <a:ext cx="1779822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Uso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60A3D3E-DD9E-5FE8-9689-F393B97A9A0A}"/>
                </a:ext>
              </a:extLst>
            </p:cNvPr>
            <p:cNvSpPr/>
            <p:nvPr/>
          </p:nvSpPr>
          <p:spPr>
            <a:xfrm>
              <a:off x="6566083" y="4295510"/>
              <a:ext cx="1779822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Source System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342CC2F-4F54-4286-BC75-1BFA2E0148B0}"/>
                </a:ext>
              </a:extLst>
            </p:cNvPr>
            <p:cNvSpPr/>
            <p:nvPr/>
          </p:nvSpPr>
          <p:spPr>
            <a:xfrm>
              <a:off x="6566082" y="3132890"/>
              <a:ext cx="1779821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Nome da Tabela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8082164-1B88-4042-BE98-C1CF401BF114}"/>
                </a:ext>
              </a:extLst>
            </p:cNvPr>
            <p:cNvSpPr/>
            <p:nvPr/>
          </p:nvSpPr>
          <p:spPr>
            <a:xfrm>
              <a:off x="6566082" y="4634017"/>
              <a:ext cx="1779821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sm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Total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5260123-8467-4D15-AC6B-63A2DAAFF873}"/>
                </a:ext>
              </a:extLst>
            </p:cNvPr>
            <p:cNvSpPr/>
            <p:nvPr/>
          </p:nvSpPr>
          <p:spPr>
            <a:xfrm>
              <a:off x="9430319" y="315470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8DD52F-38DF-4C08-865C-28CA0E53ED8B}"/>
                </a:ext>
              </a:extLst>
            </p:cNvPr>
            <p:cNvSpPr/>
            <p:nvPr/>
          </p:nvSpPr>
          <p:spPr>
            <a:xfrm>
              <a:off x="9430319" y="3438042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2B9AF61-E9AF-45D2-80FE-DC6B5FE578A0}"/>
                </a:ext>
              </a:extLst>
            </p:cNvPr>
            <p:cNvSpPr/>
            <p:nvPr/>
          </p:nvSpPr>
          <p:spPr>
            <a:xfrm>
              <a:off x="9430319" y="4655830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148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C14BFC8-9FF1-45A8-98E2-033610B1DC02}"/>
                </a:ext>
              </a:extLst>
            </p:cNvPr>
            <p:cNvSpPr/>
            <p:nvPr/>
          </p:nvSpPr>
          <p:spPr>
            <a:xfrm>
              <a:off x="10650543" y="316430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E04F67F-6960-42CF-8CED-5A09F5861815}"/>
                </a:ext>
              </a:extLst>
            </p:cNvPr>
            <p:cNvSpPr/>
            <p:nvPr/>
          </p:nvSpPr>
          <p:spPr>
            <a:xfrm>
              <a:off x="10650543" y="3447642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6A2BC1C-9BE2-442C-92F4-096678AF6924}"/>
                </a:ext>
              </a:extLst>
            </p:cNvPr>
            <p:cNvSpPr/>
            <p:nvPr/>
          </p:nvSpPr>
          <p:spPr>
            <a:xfrm>
              <a:off x="10650543" y="4636725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150</a:t>
              </a:r>
              <a:endPara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AECB1B9-4FE3-43A7-A61F-A70CDD0B1097}"/>
                </a:ext>
              </a:extLst>
            </p:cNvPr>
            <p:cNvSpPr/>
            <p:nvPr/>
          </p:nvSpPr>
          <p:spPr>
            <a:xfrm>
              <a:off x="9420901" y="2493920"/>
              <a:ext cx="1188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N-1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1597105-98AE-4523-A7FF-FA4CA538A668}"/>
                </a:ext>
              </a:extLst>
            </p:cNvPr>
            <p:cNvSpPr/>
            <p:nvPr/>
          </p:nvSpPr>
          <p:spPr>
            <a:xfrm>
              <a:off x="10641125" y="2500048"/>
              <a:ext cx="1188000" cy="32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N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B8560DB-DB59-4411-ADB6-242092070877}"/>
                </a:ext>
              </a:extLst>
            </p:cNvPr>
            <p:cNvCxnSpPr>
              <a:cxnSpLocks/>
            </p:cNvCxnSpPr>
            <p:nvPr/>
          </p:nvCxnSpPr>
          <p:spPr>
            <a:xfrm>
              <a:off x="6490889" y="4605312"/>
              <a:ext cx="54356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3D64B7-255C-45B8-BEAE-B3C583057440}"/>
                </a:ext>
              </a:extLst>
            </p:cNvPr>
            <p:cNvSpPr/>
            <p:nvPr/>
          </p:nvSpPr>
          <p:spPr>
            <a:xfrm>
              <a:off x="8198738" y="2103238"/>
              <a:ext cx="3620969" cy="33608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sm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/>
                  <a:ea typeface="+mn-ea"/>
                  <a:cs typeface="+mn-cs"/>
                </a:rPr>
                <a:t>Atributos Mínimos em falta e insatisfatórios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9DE5CB-0DC1-014F-E3CC-BBD6032F3E55}"/>
                </a:ext>
              </a:extLst>
            </p:cNvPr>
            <p:cNvSpPr/>
            <p:nvPr/>
          </p:nvSpPr>
          <p:spPr>
            <a:xfrm>
              <a:off x="9430321" y="3720870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8D8D26E-E265-E3D4-38AF-FEB6C5B6DBBA}"/>
                </a:ext>
              </a:extLst>
            </p:cNvPr>
            <p:cNvSpPr/>
            <p:nvPr/>
          </p:nvSpPr>
          <p:spPr>
            <a:xfrm>
              <a:off x="10650545" y="3730470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BD3CF65-9C6E-FE04-0004-D9815DA72011}"/>
                </a:ext>
              </a:extLst>
            </p:cNvPr>
            <p:cNvSpPr/>
            <p:nvPr/>
          </p:nvSpPr>
          <p:spPr>
            <a:xfrm>
              <a:off x="9430321" y="4007391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78D3949-E05E-90A8-7CEF-4E3181CB8444}"/>
                </a:ext>
              </a:extLst>
            </p:cNvPr>
            <p:cNvSpPr/>
            <p:nvPr/>
          </p:nvSpPr>
          <p:spPr>
            <a:xfrm>
              <a:off x="10650545" y="4016991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</a:t>
              </a:r>
              <a:endPara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4D5656-95A1-BB0B-6AAB-99791255A9F5}"/>
                </a:ext>
              </a:extLst>
            </p:cNvPr>
            <p:cNvSpPr/>
            <p:nvPr/>
          </p:nvSpPr>
          <p:spPr>
            <a:xfrm>
              <a:off x="9430321" y="431732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46ED4-CF16-FCE9-1314-0108C771D338}"/>
                </a:ext>
              </a:extLst>
            </p:cNvPr>
            <p:cNvSpPr/>
            <p:nvPr/>
          </p:nvSpPr>
          <p:spPr>
            <a:xfrm>
              <a:off x="10650545" y="432692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E3261E-AAA1-E452-EBAC-DCA8AA01E658}"/>
                </a:ext>
              </a:extLst>
            </p:cNvPr>
            <p:cNvSpPr/>
            <p:nvPr/>
          </p:nvSpPr>
          <p:spPr>
            <a:xfrm>
              <a:off x="6632424" y="2787729"/>
              <a:ext cx="1647141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small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Universo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FC0BBC-4772-BB93-C3FD-E8F14529F7FB}"/>
                </a:ext>
              </a:extLst>
            </p:cNvPr>
            <p:cNvSpPr/>
            <p:nvPr/>
          </p:nvSpPr>
          <p:spPr>
            <a:xfrm>
              <a:off x="10694124" y="2819142"/>
              <a:ext cx="1082006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2250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CC1F6BC-B17D-E28D-9CFE-F401430C4BBD}"/>
                </a:ext>
              </a:extLst>
            </p:cNvPr>
            <p:cNvSpPr/>
            <p:nvPr/>
          </p:nvSpPr>
          <p:spPr>
            <a:xfrm>
              <a:off x="9473900" y="2809542"/>
              <a:ext cx="1082006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2230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F3CC6A-04F0-B5A2-C260-4EFC4AB44118}"/>
                </a:ext>
              </a:extLst>
            </p:cNvPr>
            <p:cNvCxnSpPr>
              <a:cxnSpLocks/>
            </p:cNvCxnSpPr>
            <p:nvPr/>
          </p:nvCxnSpPr>
          <p:spPr>
            <a:xfrm>
              <a:off x="6878729" y="3117795"/>
              <a:ext cx="504780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6C279B-8FA5-5A23-07DC-E3C22B753CF8}"/>
                </a:ext>
              </a:extLst>
            </p:cNvPr>
            <p:cNvSpPr/>
            <p:nvPr/>
          </p:nvSpPr>
          <p:spPr>
            <a:xfrm>
              <a:off x="8208156" y="315470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6350E0-6550-DEC1-C10A-EBBD9CC9D847}"/>
                </a:ext>
              </a:extLst>
            </p:cNvPr>
            <p:cNvSpPr/>
            <p:nvPr/>
          </p:nvSpPr>
          <p:spPr>
            <a:xfrm>
              <a:off x="8208156" y="3438042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076EDD-0CAA-08C3-584D-05585DA4E4C4}"/>
                </a:ext>
              </a:extLst>
            </p:cNvPr>
            <p:cNvSpPr/>
            <p:nvPr/>
          </p:nvSpPr>
          <p:spPr>
            <a:xfrm>
              <a:off x="8208156" y="4655830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145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34C508-F859-3677-39E3-072914C6CC1D}"/>
                </a:ext>
              </a:extLst>
            </p:cNvPr>
            <p:cNvSpPr/>
            <p:nvPr/>
          </p:nvSpPr>
          <p:spPr>
            <a:xfrm>
              <a:off x="8198738" y="2493920"/>
              <a:ext cx="1188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N-2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A0F851D-53DE-7087-3657-BF4B158807CA}"/>
                </a:ext>
              </a:extLst>
            </p:cNvPr>
            <p:cNvSpPr/>
            <p:nvPr/>
          </p:nvSpPr>
          <p:spPr>
            <a:xfrm>
              <a:off x="8208158" y="3720870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9922798-B9BD-FDF6-1399-AE237A175915}"/>
                </a:ext>
              </a:extLst>
            </p:cNvPr>
            <p:cNvSpPr/>
            <p:nvPr/>
          </p:nvSpPr>
          <p:spPr>
            <a:xfrm>
              <a:off x="8208158" y="4007391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4BE7CDA-3A37-5B9C-057A-367097E85AAA}"/>
                </a:ext>
              </a:extLst>
            </p:cNvPr>
            <p:cNvSpPr/>
            <p:nvPr/>
          </p:nvSpPr>
          <p:spPr>
            <a:xfrm>
              <a:off x="8208158" y="4317323"/>
              <a:ext cx="1169164" cy="324000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EE6381-3CCD-7C63-199C-044480F08882}"/>
                </a:ext>
              </a:extLst>
            </p:cNvPr>
            <p:cNvSpPr/>
            <p:nvPr/>
          </p:nvSpPr>
          <p:spPr>
            <a:xfrm>
              <a:off x="8251737" y="2809542"/>
              <a:ext cx="1082006" cy="341719"/>
            </a:xfrm>
            <a:prstGeom prst="rect">
              <a:avLst/>
            </a:prstGeom>
            <a:noFill/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2210</a:t>
              </a:r>
            </a:p>
          </p:txBody>
        </p:sp>
      </p:grp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7262A8D6-39CE-4EC7-8B58-67D9BE325678}"/>
              </a:ext>
            </a:extLst>
          </p:cNvPr>
          <p:cNvGraphicFramePr>
            <a:graphicFrameLocks/>
          </p:cNvGraphicFramePr>
          <p:nvPr/>
        </p:nvGraphicFramePr>
        <p:xfrm>
          <a:off x="1326249" y="2628603"/>
          <a:ext cx="3756227" cy="1757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angle: Rounded Corners 1">
            <a:hlinkClick r:id="rId4" action="ppaction://hlinksldjump"/>
            <a:extLst>
              <a:ext uri="{FF2B5EF4-FFF2-40B4-BE49-F238E27FC236}">
                <a16:creationId xmlns:a16="http://schemas.microsoft.com/office/drawing/2014/main" id="{2610758D-2C36-1712-57CE-248D9FDAA1AB}"/>
              </a:ext>
            </a:extLst>
          </p:cNvPr>
          <p:cNvSpPr/>
          <p:nvPr/>
        </p:nvSpPr>
        <p:spPr>
          <a:xfrm>
            <a:off x="10808631" y="292365"/>
            <a:ext cx="712605" cy="27160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antander Text"/>
                <a:ea typeface="+mn-ea"/>
                <a:cs typeface="+mn-cs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6673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7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UOXNatmyFk2jvrCtd9Zi4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K_.JBdovG0uIDI6qydAc6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UOXNatmyFk2jvrCtd9Zi4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zOddV1NE.qqjvG9I8E5g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SANTANDER 2018">
      <a:dk1>
        <a:sysClr val="windowText" lastClr="000000"/>
      </a:dk1>
      <a:lt1>
        <a:srgbClr val="FFFFFF"/>
      </a:lt1>
      <a:dk2>
        <a:srgbClr val="595959"/>
      </a:dk2>
      <a:lt2>
        <a:srgbClr val="E7E6E6"/>
      </a:lt2>
      <a:accent1>
        <a:srgbClr val="EC0000"/>
      </a:accent1>
      <a:accent2>
        <a:srgbClr val="C00000"/>
      </a:accent2>
      <a:accent3>
        <a:srgbClr val="9E3667"/>
      </a:accent3>
      <a:accent4>
        <a:srgbClr val="63BA68"/>
      </a:accent4>
      <a:accent5>
        <a:srgbClr val="9BC3D3"/>
      </a:accent5>
      <a:accent6>
        <a:srgbClr val="FFCC33"/>
      </a:accent6>
      <a:hlink>
        <a:srgbClr val="9E3667"/>
      </a:hlink>
      <a:folHlink>
        <a:srgbClr val="C3DEE7"/>
      </a:folHlink>
    </a:clrScheme>
    <a:fontScheme name="Santander Text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0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1ec8e5-5652-48eb-8550-a56a35f5f817" xsi:nil="true"/>
    <lcf76f155ced4ddcb4097134ff3c332f xmlns="a9b50dc7-8f72-473c-8b7e-4a8c46ecad32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4" ma:contentTypeDescription="Criar um novo documento." ma:contentTypeScope="" ma:versionID="21b3148052822e609950cc8d6e1216fc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5081dca7d93d65f94f936cf4dfc14f7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10D050-DF1B-4E4D-81F1-0DA827DFF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110BE0F-158A-4048-94DA-080A6D67F648}">
  <ds:schemaRefs>
    <ds:schemaRef ds:uri="07a4d86f-9e5e-4cf4-bf5c-11fd242bc091"/>
    <ds:schemaRef ds:uri="e1f58ce8-c405-43f9-bee4-0f901dda00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b1ec8e5-5652-48eb-8550-a56a35f5f817"/>
    <ds:schemaRef ds:uri="a9b50dc7-8f72-473c-8b7e-4a8c46ecad32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992BE9D-5CD7-4EF2-A353-1E4A737D08A9}"/>
</file>

<file path=docProps/app.xml><?xml version="1.0" encoding="utf-8"?>
<Properties xmlns="http://schemas.openxmlformats.org/officeDocument/2006/extended-properties" xmlns:vt="http://schemas.openxmlformats.org/officeDocument/2006/docPropsVTypes">
  <TotalTime>4236</TotalTime>
  <Words>8624</Words>
  <Application>Microsoft Office PowerPoint</Application>
  <PresentationFormat>Custom</PresentationFormat>
  <Paragraphs>2048</Paragraphs>
  <Slides>60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60</vt:i4>
      </vt:variant>
    </vt:vector>
  </HeadingPairs>
  <TitlesOfParts>
    <vt:vector size="85" baseType="lpstr">
      <vt:lpstr>Arial</vt:lpstr>
      <vt:lpstr>Arial (Body)</vt:lpstr>
      <vt:lpstr>Arial Black</vt:lpstr>
      <vt:lpstr>Calibri</vt:lpstr>
      <vt:lpstr>Calibri Light</vt:lpstr>
      <vt:lpstr>Cambria Math</vt:lpstr>
      <vt:lpstr>Santander Headline</vt:lpstr>
      <vt:lpstr>Santander Headline</vt:lpstr>
      <vt:lpstr>Santander Text</vt:lpstr>
      <vt:lpstr>Santander Text Light</vt:lpstr>
      <vt:lpstr>Segoe UI Semilight</vt:lpstr>
      <vt:lpstr>Wingdings</vt:lpstr>
      <vt:lpstr>Tema de Office</vt:lpstr>
      <vt:lpstr>1_Tema de Office</vt:lpstr>
      <vt:lpstr>10_Tema de Office</vt:lpstr>
      <vt:lpstr>3_Tema de Office</vt:lpstr>
      <vt:lpstr>5_Tema de Office</vt:lpstr>
      <vt:lpstr>1_Office Theme</vt:lpstr>
      <vt:lpstr>11_Tema de Office</vt:lpstr>
      <vt:lpstr>6_Tema de Office</vt:lpstr>
      <vt:lpstr>2_Tema de Office</vt:lpstr>
      <vt:lpstr>Worksheet</vt:lpstr>
      <vt:lpstr>Acrobat Document</vt:lpstr>
      <vt:lpstr>Presentation</vt:lpstr>
      <vt:lpstr>Macro-Enabled Worksheet</vt:lpstr>
      <vt:lpstr>Fórum de Governo e Qualidade do Dado</vt:lpstr>
      <vt:lpstr>PowerPoint Presentation</vt:lpstr>
      <vt:lpstr>Proteção de Dados</vt:lpstr>
      <vt:lpstr>PowerPoint Presentation</vt:lpstr>
      <vt:lpstr>PowerPoint Presentation</vt:lpstr>
      <vt:lpstr>PowerPoint Presentation</vt:lpstr>
      <vt:lpstr>Governo de Dados</vt:lpstr>
      <vt:lpstr>Fluxos de Dados</vt:lpstr>
      <vt:lpstr>PowerPoint Presentation</vt:lpstr>
      <vt:lpstr>Listagem de Reportes Internos e Inventário de Reportes sob Governo de Dados</vt:lpstr>
      <vt:lpstr>PowerPoint Presentation</vt:lpstr>
      <vt:lpstr>Manuais do  Relatório Executivo de Riscos e  Apetência de Risco</vt:lpstr>
      <vt:lpstr>Manual do Relatório Executivo de Riscos</vt:lpstr>
      <vt:lpstr>Manual da Apetência de Risco</vt:lpstr>
      <vt:lpstr>Modelo Único de Garantias Recebidas</vt:lpstr>
      <vt:lpstr>PowerPoint Presentation</vt:lpstr>
      <vt:lpstr>PowerPoint Presentation</vt:lpstr>
      <vt:lpstr>PowerPoint Presentation</vt:lpstr>
      <vt:lpstr>PDS BCB</vt:lpstr>
      <vt:lpstr>PowerPoint Presentation</vt:lpstr>
      <vt:lpstr>PowerPoint Presentation</vt:lpstr>
      <vt:lpstr>PowerPoint Presentation</vt:lpstr>
      <vt:lpstr>Qualidade de Dados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Oversight </vt:lpstr>
      <vt:lpstr>Oversight - Progressos</vt:lpstr>
      <vt:lpstr>Controlos ao Framework de Qualidade de Dados</vt:lpstr>
      <vt:lpstr>PowerPoint Presentation</vt:lpstr>
      <vt:lpstr>KRIs - Risco de Gestão de Dados</vt:lpstr>
      <vt:lpstr>KRIs – Risco de Gestão de Dados (1/3)</vt:lpstr>
      <vt:lpstr>KRIs – Risco de Gestão de Dados (2/3)</vt:lpstr>
      <vt:lpstr>KRIs – Risco de Gestão de Dados (3/3)</vt:lpstr>
      <vt:lpstr>KRIs – Risco de Gestão de Dados (4/3)</vt:lpstr>
      <vt:lpstr>Anexo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DISA 2023 – Perímetro Tecnológico</vt:lpstr>
      <vt:lpstr>Data Governance – Atributos Mínimos (1/2)</vt:lpstr>
      <vt:lpstr>Data Governance – Fluxos (2/2)</vt:lpstr>
      <vt:lpstr>Data Architecture – Ingestas não inventariadas (1/2)</vt:lpstr>
      <vt:lpstr>Data Architecture – Atributos Mínimos Inventário de Ingestas (2/2)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24</cp:revision>
  <cp:lastPrinted>2020-02-14T10:49:34Z</cp:lastPrinted>
  <dcterms:created xsi:type="dcterms:W3CDTF">2018-03-19T11:10:43Z</dcterms:created>
  <dcterms:modified xsi:type="dcterms:W3CDTF">2023-12-20T18:02:27Z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2023-07-10T14:24:22Z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3b7a3b52-a3ee-42f9-b835-b11cbdf979e5</vt:lpwstr>
  </property>
  <property fmtid="{D5CDD505-2E9C-101B-9397-08002B2CF9AE}" pid="10" name="MSIP_Label_c28a54a4-093b-4fbd-aebd-593e22a43ea3_ContentBits">
    <vt:lpwstr>1</vt:lpwstr>
  </property>
</Properties>
</file>