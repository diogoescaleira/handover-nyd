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28"/>
  </p:notesMasterIdLst>
  <p:handoutMasterIdLst>
    <p:handoutMasterId r:id="rId29"/>
  </p:handoutMasterIdLst>
  <p:sldIdLst>
    <p:sldId id="256" r:id="rId7"/>
    <p:sldId id="268" r:id="rId8"/>
    <p:sldId id="269" r:id="rId9"/>
    <p:sldId id="307" r:id="rId10"/>
    <p:sldId id="281" r:id="rId11"/>
    <p:sldId id="306" r:id="rId12"/>
    <p:sldId id="284" r:id="rId13"/>
    <p:sldId id="322" r:id="rId14"/>
    <p:sldId id="331" r:id="rId15"/>
    <p:sldId id="332" r:id="rId16"/>
    <p:sldId id="333" r:id="rId17"/>
    <p:sldId id="334" r:id="rId18"/>
    <p:sldId id="330" r:id="rId19"/>
    <p:sldId id="291" r:id="rId20"/>
    <p:sldId id="314" r:id="rId21"/>
    <p:sldId id="324" r:id="rId22"/>
    <p:sldId id="325" r:id="rId23"/>
    <p:sldId id="320" r:id="rId24"/>
    <p:sldId id="321" r:id="rId25"/>
    <p:sldId id="326" r:id="rId26"/>
    <p:sldId id="267" r:id="rId27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32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8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09/11/2022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09/11/2022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6288" y="1143000"/>
            <a:ext cx="53054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8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7725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91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98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3279342"/>
              </p:ext>
            </p:extLst>
          </p:nvPr>
        </p:nvGraphicFramePr>
        <p:xfrm>
          <a:off x="1589" y="1643"/>
          <a:ext cx="1587" cy="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643"/>
                        <a:ext cx="1587" cy="1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3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476869"/>
            <a:ext cx="1172108" cy="212585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48649"/>
            <a:ext cx="10758734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6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058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89" r:id="rId11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dirty="0" err="1"/>
              <a:t>Projeto</a:t>
            </a:r>
            <a:r>
              <a:rPr lang="es-ES" dirty="0"/>
              <a:t> </a:t>
            </a:r>
            <a:r>
              <a:rPr lang="es-ES" dirty="0" err="1"/>
              <a:t>Repositório</a:t>
            </a:r>
            <a:r>
              <a:rPr lang="es-ES" dirty="0"/>
              <a:t> Consolidado de </a:t>
            </a:r>
            <a:r>
              <a:rPr lang="es-ES" dirty="0" err="1"/>
              <a:t>Garantias</a:t>
            </a:r>
            <a:endParaRPr lang="es-ES" dirty="0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08 de Novembro de 2022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506" y="1137933"/>
            <a:ext cx="10635843" cy="2492921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 dirty="0" err="1"/>
              <a:t>Sumário</a:t>
            </a:r>
            <a:r>
              <a:rPr lang="es-ES" sz="2400" dirty="0"/>
              <a:t> Executivo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t-BR" sz="2400" dirty="0"/>
              <a:t>Repositório Consolidado de Garantias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t-BR" sz="2400" dirty="0"/>
              <a:t>Plano e </a:t>
            </a:r>
            <a:r>
              <a:rPr lang="pt-BR" sz="2400" i="1" dirty="0"/>
              <a:t>status</a:t>
            </a:r>
            <a:r>
              <a:rPr lang="pt-BR" sz="2400" dirty="0"/>
              <a:t> do projeto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 dirty="0" err="1"/>
              <a:t>Principais</a:t>
            </a:r>
            <a:r>
              <a:rPr lang="es-ES" sz="2400" dirty="0"/>
              <a:t> </a:t>
            </a:r>
            <a:r>
              <a:rPr lang="es-ES" sz="2400" i="1" dirty="0" err="1"/>
              <a:t>issues</a:t>
            </a:r>
            <a:endParaRPr lang="es-ES" sz="24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079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7068" y="338620"/>
            <a:ext cx="10758734" cy="3152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err="1"/>
              <a:t>Sumário</a:t>
            </a:r>
            <a:r>
              <a:rPr lang="en-US" sz="2000"/>
              <a:t> </a:t>
            </a:r>
            <a:r>
              <a:rPr lang="en-US" sz="2000" err="1"/>
              <a:t>Executivo</a:t>
            </a:r>
            <a:endParaRPr lang="en-US" sz="2000"/>
          </a:p>
        </p:txBody>
      </p:sp>
      <p:sp>
        <p:nvSpPr>
          <p:cNvPr id="10" name="Rectangle 17"/>
          <p:cNvSpPr/>
          <p:nvPr/>
        </p:nvSpPr>
        <p:spPr bwMode="auto">
          <a:xfrm>
            <a:off x="372801" y="1049267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Finalidade</a:t>
            </a:r>
            <a:endParaRPr lang="en-US" sz="1200" dirty="0"/>
          </a:p>
        </p:txBody>
      </p:sp>
      <p:sp>
        <p:nvSpPr>
          <p:cNvPr id="12" name="Rectangle 17"/>
          <p:cNvSpPr/>
          <p:nvPr/>
        </p:nvSpPr>
        <p:spPr bwMode="auto">
          <a:xfrm>
            <a:off x="377068" y="2609292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Pontos</a:t>
            </a:r>
            <a:r>
              <a:rPr lang="en-US" sz="1200" dirty="0"/>
              <a:t> </a:t>
            </a:r>
            <a:r>
              <a:rPr lang="en-US" sz="1200" dirty="0" err="1"/>
              <a:t>chave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893703" y="1270768"/>
            <a:ext cx="9886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Fazer um ponto de situação da evolução do Projeto de implementação do repositório consolidado de garantias.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893702" y="2609292"/>
            <a:ext cx="9242100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projeto decorre de um </a:t>
            </a:r>
            <a:r>
              <a:rPr lang="pt-PT" sz="12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fiding</a:t>
            </a:r>
            <a:r>
              <a:rPr lang="pt-PT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OSI </a:t>
            </a: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Banco </a:t>
            </a: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Central Europeu. </a:t>
            </a:r>
            <a:endParaRPr lang="pt-PT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Verifica-se um atraso médio no projeto, decorrente da elevada complexidade do modelo de dados dos sistemas core do banco que suporta a informação não consolidada das garantias.</a:t>
            </a:r>
          </a:p>
        </p:txBody>
      </p:sp>
      <p:sp>
        <p:nvSpPr>
          <p:cNvPr id="20" name="Rectangle 17"/>
          <p:cNvSpPr/>
          <p:nvPr/>
        </p:nvSpPr>
        <p:spPr bwMode="auto">
          <a:xfrm>
            <a:off x="368534" y="4169317"/>
            <a:ext cx="1470900" cy="720000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/>
              <a:t>Planos</a:t>
            </a:r>
            <a:r>
              <a:rPr lang="en-US" sz="1200" dirty="0"/>
              <a:t> de </a:t>
            </a:r>
            <a:r>
              <a:rPr lang="en-US" sz="1200" dirty="0" err="1"/>
              <a:t>Ação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1893702" y="4332723"/>
            <a:ext cx="9886296" cy="77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Plano de acordo com o detalhado na apresentação.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1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5353162" cy="2950470"/>
          </a:xfrm>
        </p:spPr>
        <p:txBody>
          <a:bodyPr>
            <a:normAutofit fontScale="90000"/>
          </a:bodyPr>
          <a:lstStyle/>
          <a:p>
            <a:r>
              <a:rPr lang="pt-PT" sz="4000" dirty="0"/>
              <a:t>Repositório Consolidado de Garantias – </a:t>
            </a:r>
            <a:r>
              <a:rPr lang="pt-PT" sz="4000" i="1" dirty="0" err="1"/>
              <a:t>Finding</a:t>
            </a:r>
            <a:r>
              <a:rPr lang="pt-PT" sz="4000" i="1" dirty="0"/>
              <a:t> de OSI do Banco Central Europeu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4879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</a:t>
            </a:r>
            <a:r>
              <a:rPr lang="pt-PT" sz="2000" dirty="0"/>
              <a:t>Repositório Consolidado de Garantias – </a:t>
            </a:r>
            <a:r>
              <a:rPr lang="pt-PT" sz="2000" i="1" dirty="0" err="1"/>
              <a:t>Finding</a:t>
            </a:r>
            <a:r>
              <a:rPr lang="pt-PT" sz="2000" i="1" dirty="0"/>
              <a:t> de OSI do Banco Central Europeu</a:t>
            </a:r>
            <a:r>
              <a:rPr lang="pt-PT" sz="2000" dirty="0"/>
              <a:t> </a:t>
            </a:r>
          </a:p>
          <a:p>
            <a:endParaRPr lang="es-ES" sz="20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O projeto do repositório consolidado de garantias surgiu de um </a:t>
            </a:r>
            <a:r>
              <a:rPr lang="pt-PT" i="1" dirty="0" err="1"/>
              <a:t>finding</a:t>
            </a:r>
            <a:r>
              <a:rPr lang="pt-PT" i="1" dirty="0"/>
              <a:t> </a:t>
            </a:r>
            <a:r>
              <a:rPr lang="pt-PT" dirty="0"/>
              <a:t>de OSI do Banco Central Europeu. Tem como objetivo a </a:t>
            </a:r>
            <a:r>
              <a:rPr lang="pt-PT" b="1" dirty="0"/>
              <a:t>consolidação da informação de garantias dos vários sistemas fonte do Banco </a:t>
            </a:r>
            <a:r>
              <a:rPr lang="pt-PT" dirty="0"/>
              <a:t>para posterior reporte pelas diversas áreas que consomem esta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41980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285957" y="2624624"/>
            <a:ext cx="197635" cy="2493762"/>
            <a:chOff x="10285957" y="2624624"/>
            <a:chExt cx="197635" cy="2493762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9339557" y="2742632"/>
            <a:ext cx="144000" cy="1764688"/>
            <a:chOff x="9037991" y="1851157"/>
            <a:chExt cx="144000" cy="1610836"/>
          </a:xfrm>
          <a:solidFill>
            <a:srgbClr val="92D050"/>
          </a:solidFill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131" name="Diamond 130"/>
            <p:cNvSpPr/>
            <p:nvPr/>
          </p:nvSpPr>
          <p:spPr>
            <a:xfrm>
              <a:off x="9037991" y="1851157"/>
              <a:ext cx="144000" cy="128159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9610590" y="2877214"/>
            <a:ext cx="144000" cy="1620000"/>
            <a:chOff x="9037991" y="1818924"/>
            <a:chExt cx="144000" cy="1643069"/>
          </a:xfrm>
          <a:solidFill>
            <a:srgbClr val="92D050"/>
          </a:solidFill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143" name="Diamond 142"/>
            <p:cNvSpPr/>
            <p:nvPr/>
          </p:nvSpPr>
          <p:spPr>
            <a:xfrm>
              <a:off x="9037991" y="1818924"/>
              <a:ext cx="144000" cy="144000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4" name="Text Box 94">
            <a:extLst>
              <a:ext uri="{FF2B5EF4-FFF2-40B4-BE49-F238E27FC236}">
                <a16:creationId xmlns:a16="http://schemas.microsoft.com/office/drawing/2014/main" id="{C8F8A0B5-9CBC-40F1-BE31-C2B524F61343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560430" y="4247116"/>
            <a:ext cx="1152000" cy="1188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157004E4-A871-4A0E-BCE5-F196CDE83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879637"/>
              </p:ext>
            </p:extLst>
          </p:nvPr>
        </p:nvGraphicFramePr>
        <p:xfrm>
          <a:off x="1188000" y="3925748"/>
          <a:ext cx="4320000" cy="756000"/>
        </p:xfrm>
        <a:graphic>
          <a:graphicData uri="http://schemas.openxmlformats.org/drawingml/2006/table">
            <a:tbl>
              <a:tblPr/>
              <a:tblGrid>
                <a:gridCol w="2708959">
                  <a:extLst>
                    <a:ext uri="{9D8B030D-6E8A-4147-A177-3AD203B41FA5}">
                      <a16:colId xmlns:a16="http://schemas.microsoft.com/office/drawing/2014/main" val="1922513522"/>
                    </a:ext>
                  </a:extLst>
                </a:gridCol>
                <a:gridCol w="1611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 gridSpan="2"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2.1 Módulo Base</a:t>
                      </a: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68548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2.2 Módulo de União</a:t>
                      </a: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5821" marR="6194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2938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r>
                        <a:rPr lang="pt-PT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 Módulo de Exportação</a:t>
                      </a:r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619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45496" rtl="0" eaLnBrk="1" fontAlgn="ctr" latinLnBrk="0" hangingPunct="1"/>
                      <a:endParaRPr lang="pt-PT" sz="10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5821" marR="6194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D574228F-58E3-47F6-8436-C5D3FD604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69697"/>
              </p:ext>
            </p:extLst>
          </p:nvPr>
        </p:nvGraphicFramePr>
        <p:xfrm>
          <a:off x="4102330" y="3931610"/>
          <a:ext cx="928892" cy="756000"/>
        </p:xfrm>
        <a:graphic>
          <a:graphicData uri="http://schemas.openxmlformats.org/drawingml/2006/table">
            <a:tbl>
              <a:tblPr/>
              <a:tblGrid>
                <a:gridCol w="928892">
                  <a:extLst>
                    <a:ext uri="{9D8B030D-6E8A-4147-A177-3AD203B41FA5}">
                      <a16:colId xmlns:a16="http://schemas.microsoft.com/office/drawing/2014/main" val="1922513522"/>
                    </a:ext>
                  </a:extLst>
                </a:gridCol>
              </a:tblGrid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4685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6876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3751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06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74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4377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1250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198124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4998" algn="l" defTabSz="913751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3" panose="05040102010807070707" pitchFamily="18" charset="2"/>
                        </a:rPr>
                        <a:t> </a:t>
                      </a:r>
                      <a:r>
                        <a:rPr kumimoji="0" lang="pt-PT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 curso</a:t>
                      </a:r>
                      <a:endParaRPr kumimoji="0" lang="pt-P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9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29389"/>
                  </a:ext>
                </a:extLst>
              </a:tr>
            </a:tbl>
          </a:graphicData>
        </a:graphic>
      </p:graphicFrame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24776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1993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590768" y="5431231"/>
            <a:ext cx="1159375" cy="215444"/>
            <a:chOff x="3461156" y="6486804"/>
            <a:chExt cx="1159375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87917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99821" y="3383125"/>
            <a:ext cx="9758824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4148682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7945" y="4784070"/>
            <a:ext cx="9758818" cy="229028"/>
            <a:chOff x="897944" y="4107374"/>
            <a:chExt cx="9758818" cy="229028"/>
          </a:xfrm>
        </p:grpSpPr>
        <p:sp>
          <p:nvSpPr>
            <p:cNvPr id="158" name="Text Box 94">
              <a:extLst>
                <a:ext uri="{FF2B5EF4-FFF2-40B4-BE49-F238E27FC236}">
                  <a16:creationId xmlns:a16="http://schemas.microsoft.com/office/drawing/2014/main" id="{551A29D8-2A59-4DC8-BD2D-815823D50337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97944" y="4107374"/>
              <a:ext cx="9758818" cy="2290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defTabSz="679879" eaLnBrk="0">
                <a:defRPr/>
              </a:pPr>
              <a:r>
                <a:rPr lang="pt-PT" sz="1000" b="1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Helvetica Light"/>
                </a:rPr>
                <a:t>3.Validações com Imparidade</a:t>
              </a:r>
              <a:endParaRPr lang="en-US" sz="1000" b="1" kern="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66" name="Text Box 94">
              <a:extLst>
                <a:ext uri="{FF2B5EF4-FFF2-40B4-BE49-F238E27FC236}">
                  <a16:creationId xmlns:a16="http://schemas.microsoft.com/office/drawing/2014/main" id="{BECE4A3A-F8BF-4121-B485-62456EE1E664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274296" y="4167888"/>
              <a:ext cx="1026000" cy="10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marL="0" marR="0" lvl="0" indent="0" defTabSz="679879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75" b="1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uli 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B85A2B1-D61F-44DD-90E6-F435CF966DEF}"/>
                </a:ext>
              </a:extLst>
            </p:cNvPr>
            <p:cNvSpPr txBox="1"/>
            <p:nvPr/>
          </p:nvSpPr>
          <p:spPr>
            <a:xfrm>
              <a:off x="4098058" y="4114166"/>
              <a:ext cx="9374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45496" fontAlgn="ctr">
                <a:defRPr/>
              </a:pPr>
              <a:r>
                <a:rPr lang="pt-PT" sz="800" b="1">
                  <a:solidFill>
                    <a:srgbClr val="ED7D31"/>
                  </a:solidFill>
                  <a:sym typeface="Wingdings 3" panose="05040102010807070707" pitchFamily="18" charset="2"/>
                </a:rPr>
                <a:t> </a:t>
              </a:r>
              <a:r>
                <a:rPr lang="pt-PT" sz="800" dirty="0"/>
                <a:t>Por iniciar</a:t>
              </a:r>
              <a:endParaRPr lang="pt-PT" sz="800" b="1" dirty="0"/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99088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8244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57400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5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36556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mai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31571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jun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7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94868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jul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8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274024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ago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9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753180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set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0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32336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out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1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711492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nov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190645" y="3084385"/>
            <a:ext cx="4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dez 22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957957" y="3444179"/>
            <a:ext cx="5220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97945" y="3681057"/>
            <a:ext cx="9758817" cy="444288"/>
            <a:chOff x="897945" y="2878089"/>
            <a:chExt cx="9758817" cy="444288"/>
          </a:xfrm>
        </p:grpSpPr>
        <p:grpSp>
          <p:nvGrpSpPr>
            <p:cNvPr id="16" name="Group 15"/>
            <p:cNvGrpSpPr/>
            <p:nvPr/>
          </p:nvGrpSpPr>
          <p:grpSpPr>
            <a:xfrm>
              <a:off x="897945" y="2878089"/>
              <a:ext cx="9758817" cy="444288"/>
              <a:chOff x="897945" y="2878089"/>
              <a:chExt cx="9758817" cy="444288"/>
            </a:xfrm>
          </p:grpSpPr>
          <p:sp>
            <p:nvSpPr>
              <p:cNvPr id="153" name="Text Box 94">
                <a:extLst>
                  <a:ext uri="{FF2B5EF4-FFF2-40B4-BE49-F238E27FC236}">
                    <a16:creationId xmlns:a16="http://schemas.microsoft.com/office/drawing/2014/main" id="{8E445FB6-2507-4532-860F-6EFEB7F3471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97945" y="2878089"/>
                <a:ext cx="9758817" cy="2290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 cap="flat" cmpd="sng" algn="ctr">
                <a:solidFill>
                  <a:sysClr val="window" lastClr="FFFF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81055" tIns="40528" rIns="81055" bIns="40528" anchor="ctr"/>
              <a:lstStyle/>
              <a:p>
                <a:pPr marL="0" marR="0" lvl="0" indent="0" defTabSz="679879" eaLnBrk="0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PT" sz="1000" b="1" kern="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  <a:sym typeface="Helvetica Light"/>
                  </a:rPr>
                  <a:t>2. Implementação IT</a:t>
                </a:r>
                <a:endParaRPr kumimoji="0" lang="en-US" sz="1000" b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lt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63" name="Text Box 94">
                <a:extLst>
                  <a:ext uri="{FF2B5EF4-FFF2-40B4-BE49-F238E27FC236}">
                    <a16:creationId xmlns:a16="http://schemas.microsoft.com/office/drawing/2014/main" id="{38AC262B-C958-4F3D-BD60-2FF33925A3C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956887" y="3203577"/>
                <a:ext cx="5040000" cy="118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81055" tIns="40528" rIns="81055" bIns="40528" anchor="ctr"/>
              <a:lstStyle/>
              <a:p>
                <a:pPr marL="0" marR="0" lvl="0" indent="0" defTabSz="679879" eaLnBrk="0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75" b="1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uli "/>
                  <a:ea typeface="+mn-ea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sp>
          <p:nvSpPr>
            <p:cNvPr id="94" name="Text Box 94">
              <a:extLst>
                <a:ext uri="{FF2B5EF4-FFF2-40B4-BE49-F238E27FC236}">
                  <a16:creationId xmlns:a16="http://schemas.microsoft.com/office/drawing/2014/main" id="{A8599BBE-100B-41AF-BB0B-82FA8778B596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957957" y="2939143"/>
              <a:ext cx="5220000" cy="1069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marL="0" marR="0" lvl="0" indent="0" defTabSz="679879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75" b="1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uli "/>
                <a:ea typeface="+mn-ea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5" name="Text Box 94">
            <a:extLst>
              <a:ext uri="{FF2B5EF4-FFF2-40B4-BE49-F238E27FC236}">
                <a16:creationId xmlns:a16="http://schemas.microsoft.com/office/drawing/2014/main" id="{C8F8A0B5-9CBC-40F1-BE31-C2B524F61343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603874" y="4481911"/>
            <a:ext cx="1566000" cy="1188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8741462" y="5441008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437786" y="274353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#4</a:t>
            </a:r>
            <a:endParaRPr lang="en-US" sz="500" dirty="0"/>
          </a:p>
        </p:txBody>
      </p:sp>
      <p:sp>
        <p:nvSpPr>
          <p:cNvPr id="145" name="TextBox 144"/>
          <p:cNvSpPr txBox="1"/>
          <p:nvPr/>
        </p:nvSpPr>
        <p:spPr>
          <a:xfrm>
            <a:off x="9199873" y="2623596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#3</a:t>
            </a:r>
            <a:endParaRPr lang="en-US" sz="500" dirty="0"/>
          </a:p>
        </p:txBody>
      </p:sp>
      <p:grpSp>
        <p:nvGrpSpPr>
          <p:cNvPr id="10" name="Group 9"/>
          <p:cNvGrpSpPr/>
          <p:nvPr/>
        </p:nvGrpSpPr>
        <p:grpSpPr>
          <a:xfrm>
            <a:off x="897944" y="5393164"/>
            <a:ext cx="7662486" cy="1138773"/>
            <a:chOff x="897944" y="5420680"/>
            <a:chExt cx="7078341" cy="1138773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11387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 dirty="0"/>
                <a:t>      </a:t>
              </a:r>
              <a:r>
                <a:rPr lang="pt-PT" sz="1000" i="1" dirty="0" err="1"/>
                <a:t>Milestones</a:t>
              </a:r>
              <a:endParaRPr lang="pt-PT" sz="1000" i="1" dirty="0"/>
            </a:p>
            <a:p>
              <a:r>
                <a:rPr lang="pt-PT" sz="1000" dirty="0"/>
                <a:t>#1 Disponibilização da 1ª versão da tabela de união (GT018) para validações;</a:t>
              </a:r>
              <a:r>
                <a:rPr lang="pt-PT" sz="1000" dirty="0">
                  <a:sym typeface="Wingdings" panose="05000000000000000000" pitchFamily="2" charset="2"/>
                </a:rPr>
                <a:t> </a:t>
              </a:r>
              <a:r>
                <a:rPr lang="pt-PT" sz="14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</a:t>
              </a:r>
              <a:endParaRPr lang="pt-PT" sz="1000" b="1" dirty="0">
                <a:solidFill>
                  <a:srgbClr val="92D050"/>
                </a:solidFill>
              </a:endParaRPr>
            </a:p>
            <a:p>
              <a:r>
                <a:rPr lang="pt-PT" sz="1000" dirty="0"/>
                <a:t>#2 Disponibilização da 1ª versão dos 3 </a:t>
              </a:r>
              <a:r>
                <a:rPr lang="pt-PT" sz="1000" i="1" dirty="0"/>
                <a:t>outputs</a:t>
              </a:r>
              <a:r>
                <a:rPr lang="pt-PT" sz="1000" dirty="0"/>
                <a:t> a enviar para a equipa de imparidade e BDR para testes de integração;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</a:t>
              </a:r>
              <a:r>
                <a:rPr lang="pt-PT" sz="14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</a:t>
              </a:r>
              <a:endParaRPr lang="pt-PT" sz="1400" dirty="0"/>
            </a:p>
            <a:p>
              <a:r>
                <a:rPr lang="pt-PT" sz="1000" dirty="0"/>
                <a:t>#3 Disponibilização da 2ª versão dos 3 </a:t>
              </a:r>
              <a:r>
                <a:rPr lang="pt-PT" sz="1000" i="1" dirty="0"/>
                <a:t>outputs</a:t>
              </a:r>
              <a:r>
                <a:rPr lang="pt-PT" sz="1000" dirty="0"/>
                <a:t> a enviar para a equipa de imparidade e BDR para testes de integração e conteúdo;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</a:t>
              </a:r>
              <a:endParaRPr lang="pt-PT" sz="1000" dirty="0"/>
            </a:p>
            <a:p>
              <a:r>
                <a:rPr lang="pt-PT" sz="1000" dirty="0"/>
                <a:t>#4 Carga na BDR2 e disponibilização de novos </a:t>
              </a:r>
              <a:r>
                <a:rPr lang="pt-PT" sz="1000" i="1" dirty="0"/>
                <a:t>outputs</a:t>
              </a:r>
              <a:r>
                <a:rPr lang="pt-PT" sz="1000" dirty="0"/>
                <a:t> para a área de imparidade;</a:t>
              </a:r>
              <a:r>
                <a:rPr lang="pt-PT" sz="1000" b="1" dirty="0">
                  <a:solidFill>
                    <a:srgbClr val="92D050"/>
                  </a:solidFill>
                  <a:sym typeface="Wingdings" panose="05000000000000000000" pitchFamily="2" charset="2"/>
                </a:rPr>
                <a:t> </a:t>
              </a:r>
              <a:endParaRPr lang="pt-PT" sz="1000" dirty="0"/>
            </a:p>
            <a:p>
              <a:r>
                <a:rPr lang="pt-PT" sz="1000" dirty="0"/>
                <a:t>#5 Disponibilização de nova versão dos </a:t>
              </a:r>
              <a:r>
                <a:rPr lang="pt-PT" sz="1000" i="1" dirty="0"/>
                <a:t>outputs </a:t>
              </a:r>
              <a:r>
                <a:rPr lang="pt-PT" sz="1000" dirty="0"/>
                <a:t>considerando novas alterações ou correções das validações em curso. </a:t>
              </a:r>
              <a:endParaRPr lang="en-US" sz="1000" dirty="0"/>
            </a:p>
          </p:txBody>
        </p:sp>
        <p:sp>
          <p:nvSpPr>
            <p:cNvPr id="59" name="Diamond 58"/>
            <p:cNvSpPr/>
            <p:nvPr/>
          </p:nvSpPr>
          <p:spPr>
            <a:xfrm>
              <a:off x="997342" y="551141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897944" y="5102294"/>
            <a:ext cx="9758818" cy="229028"/>
            <a:chOff x="897944" y="4107374"/>
            <a:chExt cx="9758818" cy="229028"/>
          </a:xfrm>
        </p:grpSpPr>
        <p:sp>
          <p:nvSpPr>
            <p:cNvPr id="61" name="Text Box 94">
              <a:extLst>
                <a:ext uri="{FF2B5EF4-FFF2-40B4-BE49-F238E27FC236}">
                  <a16:creationId xmlns:a16="http://schemas.microsoft.com/office/drawing/2014/main" id="{551A29D8-2A59-4DC8-BD2D-815823D50337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97944" y="4107374"/>
              <a:ext cx="9758818" cy="2290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ysClr val="window" lastClr="FFFFFF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81055" tIns="40528" rIns="81055" bIns="40528" anchor="ctr"/>
            <a:lstStyle/>
            <a:p>
              <a:pPr defTabSz="679879" eaLnBrk="0">
                <a:defRPr/>
              </a:pPr>
              <a:r>
                <a:rPr lang="pt-PT" sz="1000" b="1" kern="0" dirty="0">
                  <a:solidFill>
                    <a:sysClr val="windowText" lastClr="000000"/>
                  </a:solidFill>
                  <a:cs typeface="Arial" panose="020B0604020202020204" pitchFamily="34" charset="0"/>
                  <a:sym typeface="Helvetica Light"/>
                </a:rPr>
                <a:t>4.Validações com BDR</a:t>
              </a:r>
              <a:endParaRPr lang="en-US" sz="1000" b="1" kern="0" baseline="3000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B85A2B1-D61F-44DD-90E6-F435CF966DEF}"/>
                </a:ext>
              </a:extLst>
            </p:cNvPr>
            <p:cNvSpPr txBox="1"/>
            <p:nvPr/>
          </p:nvSpPr>
          <p:spPr>
            <a:xfrm>
              <a:off x="4098058" y="4114166"/>
              <a:ext cx="9374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45496" fontAlgn="ctr">
                <a:defRPr/>
              </a:pPr>
              <a:r>
                <a:rPr lang="pt-PT" sz="800" b="1" dirty="0">
                  <a:solidFill>
                    <a:schemeClr val="bg1">
                      <a:lumMod val="75000"/>
                    </a:schemeClr>
                  </a:solidFill>
                  <a:sym typeface="Wingdings 3" panose="05040102010807070707" pitchFamily="18" charset="2"/>
                </a:rPr>
                <a:t>●</a:t>
              </a:r>
              <a:r>
                <a:rPr lang="pt-PT" sz="800" b="1" dirty="0">
                  <a:solidFill>
                    <a:srgbClr val="ED7D31"/>
                  </a:solidFill>
                  <a:sym typeface="Wingdings 3" panose="05040102010807070707" pitchFamily="18" charset="2"/>
                </a:rPr>
                <a:t> </a:t>
              </a:r>
              <a:r>
                <a:rPr lang="pt-PT" sz="800" dirty="0"/>
                <a:t>Por iniciar</a:t>
              </a:r>
              <a:endParaRPr lang="pt-PT" sz="800" b="1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9756704" y="2397380"/>
            <a:ext cx="72000" cy="29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639705"/>
            <a:ext cx="1009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plano apresentado têm como objetivo assegurar que as áreas de Imparidade e Capital (integração com a BDR), ainda no ano de 2022, passem a receber informação do modelo consolidado de garantias.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881452" y="5417641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 err="1"/>
                <a:t>Go</a:t>
              </a:r>
              <a:r>
                <a:rPr lang="pt-PT" sz="800" i="1" dirty="0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509349" y="5181080"/>
            <a:ext cx="792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8993049" y="2516208"/>
            <a:ext cx="144000" cy="1745450"/>
            <a:chOff x="9037991" y="1836200"/>
            <a:chExt cx="144000" cy="1625793"/>
          </a:xfrm>
          <a:solidFill>
            <a:srgbClr val="92D050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96" name="Diamond 95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8813462" y="239738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#1</a:t>
            </a:r>
            <a:endParaRPr lang="en-US" sz="5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9051039" y="2708736"/>
            <a:ext cx="144000" cy="1764688"/>
            <a:chOff x="9037991" y="1851157"/>
            <a:chExt cx="144000" cy="1610836"/>
          </a:xfrm>
          <a:solidFill>
            <a:srgbClr val="92D050"/>
          </a:solidFill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92D050"/>
              </a:solidFill>
              <a:prstDash val="lgDash"/>
              <a:miter lim="800000"/>
            </a:ln>
            <a:effectLst/>
          </p:spPr>
        </p:cxnSp>
        <p:sp>
          <p:nvSpPr>
            <p:cNvPr id="72" name="Diamond 71"/>
            <p:cNvSpPr/>
            <p:nvPr/>
          </p:nvSpPr>
          <p:spPr>
            <a:xfrm>
              <a:off x="9037991" y="1851157"/>
              <a:ext cx="144000" cy="128159"/>
            </a:xfrm>
            <a:prstGeom prst="diamond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8838036" y="2588695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#2</a:t>
            </a:r>
            <a:endParaRPr lang="en-US" sz="500" dirty="0"/>
          </a:p>
        </p:txBody>
      </p:sp>
      <p:grpSp>
        <p:nvGrpSpPr>
          <p:cNvPr id="100" name="Group 99"/>
          <p:cNvGrpSpPr/>
          <p:nvPr/>
        </p:nvGrpSpPr>
        <p:grpSpPr>
          <a:xfrm>
            <a:off x="9874307" y="2687705"/>
            <a:ext cx="144000" cy="1836000"/>
            <a:chOff x="9037991" y="1818924"/>
            <a:chExt cx="144000" cy="164306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102" name="Diamond 101"/>
            <p:cNvSpPr/>
            <p:nvPr/>
          </p:nvSpPr>
          <p:spPr>
            <a:xfrm>
              <a:off x="9037991" y="1818924"/>
              <a:ext cx="144000" cy="144000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9701503" y="257788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#5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04803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até ao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64893"/>
              </p:ext>
            </p:extLst>
          </p:nvPr>
        </p:nvGraphicFramePr>
        <p:xfrm>
          <a:off x="1561993" y="1945535"/>
          <a:ext cx="8676000" cy="650615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  <a:gridCol w="1095849">
                  <a:extLst>
                    <a:ext uri="{9D8B030D-6E8A-4147-A177-3AD203B41FA5}">
                      <a16:colId xmlns:a16="http://schemas.microsoft.com/office/drawing/2014/main" val="1603534624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Data Objetivo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 a granularidade das responsabilidades ao nível das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ICs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10.11.2022</a:t>
                      </a: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15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871270"/>
              </p:ext>
            </p:extLst>
          </p:nvPr>
        </p:nvGraphicFramePr>
        <p:xfrm>
          <a:off x="722243" y="4651439"/>
          <a:ext cx="8172375" cy="1153560"/>
        </p:xfrm>
        <a:graphic>
          <a:graphicData uri="http://schemas.openxmlformats.org/drawingml/2006/table">
            <a:tbl>
              <a:tblPr firstRow="1" firstCol="1" bandRow="1"/>
              <a:tblGrid>
                <a:gridCol w="13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4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975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69 890 321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5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45 451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0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27 650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3 460 304 777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5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36 571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3 183 124 521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425 035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36 093 061 168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5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336 697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78 855 720 068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8 565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752 998 226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5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8 216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1 484 300 077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375 526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57 882 806 898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5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373 587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3751" rtl="0" eaLnBrk="1" fontAlgn="ctr" latinLnBrk="0" hangingPunct="1">
                        <a:spcAft>
                          <a:spcPts val="0"/>
                        </a:spcAft>
                      </a:pPr>
                      <a:r>
                        <a:rPr lang="pt-PT" sz="9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56 858 723 880</a:t>
                      </a:r>
                    </a:p>
                  </a:txBody>
                  <a:tcPr marL="43200" marR="4320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Outros**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388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476 975 412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075666"/>
            <a:ext cx="6814686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*</a:t>
            </a:r>
            <a:r>
              <a:rPr lang="pt-BR" sz="800" dirty="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** </a:t>
            </a:r>
            <a:r>
              <a:rPr kumimoji="0" lang="pt-PT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Casos cujos pressupostos definidos não permitem o mapeamento direto das tipologias de garantia presentes no BIYR9500 (casos em análise)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028" y="4338190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Comparação de universo e montantes de avaliações (dados de agosto 2022):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202181"/>
          <a:ext cx="9936402" cy="1431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3716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9422686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</a:tblGrid>
              <a:tr h="123477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contempladas responsabilidades/processos com bens associados.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r>
                        <a:rPr lang="pt-PT" sz="800" b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NEW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62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243" y="1992456"/>
          <a:ext cx="9645107" cy="2115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314 516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115 926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27 011 591 952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27 011 591 952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9 683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-170 660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30 105 802 381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1 804 226 280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28 301 576 101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324 199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57 117 394 333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28 815 818 233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28 301 576 101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Correções concluídas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8 505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-16 199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19 752 945 019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3 993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-84 335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1 985 380 716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12 498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21 738 325 735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Correções concluídas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(body)"/>
                        </a:rPr>
                        <a:t>28 097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3 015 159 920,86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(body)"/>
                        </a:rPr>
                        <a:t>2 601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192 538 973,35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(body)"/>
                        </a:rPr>
                        <a:t>70 138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45927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4 069 544 041,08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(body)"/>
                        </a:rPr>
                        <a:t>100 836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7 277 242 935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139144"/>
            <a:ext cx="4214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144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645107" cy="168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4 371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4 371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351 525 309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351 525 309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3 823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1 132 774 768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373 166 254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759 608 515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8 194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1 484 300 077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724 691 563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759 608 515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Correções concluídas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-1 072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-4 480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48 613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28 258 050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28 306 663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0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028" y="6100079"/>
            <a:ext cx="20681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endParaRPr lang="en-US" sz="800" i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645107" cy="201990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180 630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32 739 268 812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32 739 268 812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189 083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188 898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23 204 277 971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22 424 813 442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779 464 530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69 000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22 843 223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-22 774 223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3 603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-192 513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915 078 097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839 570 147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75 507 950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373 506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56 858 693 880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56 026 495 623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832 198 257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Correções concluídas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-28 002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155 519 078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651 727 995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1 049 064 202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1 856 311 275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47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Imparidade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18.288</a:t>
            </a:r>
            <a:r>
              <a:rPr lang="pt-PT" sz="1000" dirty="0"/>
              <a:t> (face à versão anterior houve um aumento de 9.809 contratos com diferenças de provisão)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40;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Impactos no apuramento da imparidade: </a:t>
            </a:r>
            <a:r>
              <a:rPr lang="pt-PT" sz="1000" b="1" dirty="0"/>
              <a:t>-389k€ </a:t>
            </a:r>
            <a:r>
              <a:rPr lang="pt-PT" sz="1000" dirty="0"/>
              <a:t>(face à versão anterior houve um aumento de imparidade de aproximadamente 540k€)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19345"/>
              </p:ext>
            </p:extLst>
          </p:nvPr>
        </p:nvGraphicFramePr>
        <p:xfrm>
          <a:off x="711028" y="3155233"/>
          <a:ext cx="10634895" cy="1795139"/>
        </p:xfrm>
        <a:graphic>
          <a:graphicData uri="http://schemas.openxmlformats.org/drawingml/2006/table">
            <a:tbl>
              <a:tblPr/>
              <a:tblGrid>
                <a:gridCol w="68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72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01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5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01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929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23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193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274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375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578716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470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103349">
                <a:tc>
                  <a:txBody>
                    <a:bodyPr/>
                    <a:lstStyle/>
                    <a:p>
                      <a:pPr algn="ctr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Stage 2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Stage 3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Portfólio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Drawn Balance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Undrawn Balance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EAD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Colective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Final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Drawn Balance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Undrawn Balance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EAD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Colective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Final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Drawn Balance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Undrawn Balance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EAD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Colective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Final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Drawn Balance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Undrawn Balance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EAD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Colective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Final Provision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Hipotecas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6 731 981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-15 500 971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-8 768 990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-409 719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-409 719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-6 731 981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15 500 971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8 768 990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-954 979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-954 979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142 484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142 484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-1 222 213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-1 222 213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Encarteiradas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84 632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84 632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-778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-778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93 334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63 670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177 187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147 524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Negócios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43 171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43 171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58 887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58 887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369 715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369 715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471 774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471 774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GCB bancos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GCB corporate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GCB soberano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GCB corporate finance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GCB outras EEFF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Promotores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86 739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86 739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86 739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86 739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Consumo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-6 594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-6 594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-18 292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-18 292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9 720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9 720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-15 166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-15 166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Resto Retail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32 003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32 003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58 094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58 094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21 159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20 826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111 256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110 923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Cartões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Câmaras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8855"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751" marR="2751" marT="27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9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6 731 981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-15 500 971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-8 768 990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-168 838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-168 838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-6 731 981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15 500 971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8 768 990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-857 068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-857 068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636 412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606 415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-389 495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-419 491</a:t>
                      </a:r>
                    </a:p>
                  </a:txBody>
                  <a:tcPr marL="2751" marR="2751" marT="27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1028" y="5306994"/>
            <a:ext cx="8511177" cy="93871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/>
              <a:t>Outros temas identificados :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00" dirty="0"/>
              <a:t>Operações de Leasing com temas de qualidade de informação nos campos de identificador de garantia e tipologia de garantia;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00" dirty="0"/>
              <a:t>Redução de o número de garantias e montante de garantias face ao último ficheiro disponibilizado.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Principais</a:t>
            </a:r>
            <a:r>
              <a:rPr lang="es-ES"/>
              <a:t> riscos e </a:t>
            </a:r>
            <a:r>
              <a:rPr lang="es-ES" i="1" err="1"/>
              <a:t>issues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1599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4. </a:t>
            </a:r>
            <a:r>
              <a:rPr lang="es-ES" sz="2000" dirty="0" err="1"/>
              <a:t>Principais</a:t>
            </a:r>
            <a:r>
              <a:rPr lang="es-ES" sz="2000" dirty="0"/>
              <a:t> riscos e </a:t>
            </a:r>
            <a:r>
              <a:rPr lang="es-ES" sz="2000" i="1" dirty="0" err="1"/>
              <a:t>issues</a:t>
            </a:r>
            <a:endParaRPr lang="es-ES" sz="2000" i="1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4088" y="6403285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3ECD55-8AC5-4B6F-9D78-1E86A88D3CA8}"/>
              </a:ext>
            </a:extLst>
          </p:cNvPr>
          <p:cNvSpPr txBox="1"/>
          <p:nvPr/>
        </p:nvSpPr>
        <p:spPr>
          <a:xfrm>
            <a:off x="547533" y="787184"/>
            <a:ext cx="10758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pt-PT" dirty="0"/>
              <a:t>O projeto apresenta alguns riscos e </a:t>
            </a:r>
            <a:r>
              <a:rPr lang="pt-PT" i="1" dirty="0" err="1"/>
              <a:t>issues</a:t>
            </a:r>
            <a:r>
              <a:rPr lang="pt-PT" dirty="0"/>
              <a:t> que põem em causa o </a:t>
            </a:r>
            <a:r>
              <a:rPr lang="pt-PT" i="1" dirty="0" err="1"/>
              <a:t>milestone</a:t>
            </a:r>
            <a:r>
              <a:rPr lang="pt-PT" dirty="0"/>
              <a:t> de final do projeto.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494560"/>
              </p:ext>
            </p:extLst>
          </p:nvPr>
        </p:nvGraphicFramePr>
        <p:xfrm>
          <a:off x="695215" y="1219800"/>
          <a:ext cx="10368000" cy="4209449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381135037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18621688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  <a:gridCol w="7524000">
                  <a:extLst>
                    <a:ext uri="{9D8B030D-6E8A-4147-A177-3AD203B41FA5}">
                      <a16:colId xmlns:a16="http://schemas.microsoft.com/office/drawing/2014/main" val="1603534624"/>
                    </a:ext>
                  </a:extLst>
                </a:gridCol>
              </a:tblGrid>
              <a:tr h="21973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Riscos/ </a:t>
                      </a:r>
                      <a:r>
                        <a:rPr lang="pt-PT" sz="1200" b="1" i="1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Issues</a:t>
                      </a:r>
                      <a:endParaRPr lang="pt-PT" sz="1200" b="1" i="1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Classificação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Descrição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720894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1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endParaRPr lang="pt-PT" sz="1200" b="0" i="1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Verifica-se</a:t>
                      </a:r>
                      <a:r>
                        <a:rPr lang="pt-PT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problemas de qualidade importantes de informação nos sistemas core do banco relativo a bens imóveis (Falta de bens imóveis carregados em sistema, erros nos carregamentos de informação sobre as avaliações, entre outros). </a:t>
                      </a:r>
                      <a:r>
                        <a:rPr lang="pt-PT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 referir que este </a:t>
                      </a:r>
                      <a:r>
                        <a:rPr lang="pt-PT" sz="1200" b="1" i="1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r>
                        <a:rPr lang="pt-PT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tem um impacto alto no que respeita a montantes de cobertura, nomeadamente nos LTV calculados.</a:t>
                      </a:r>
                      <a:endParaRPr lang="pt-PT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69476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endParaRPr lang="pt-PT" sz="12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Baixo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 forma a colmatar gaps de informação das garantias imóveis, são gerados na BDR bens fictícios. 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Diretamente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relacionado com o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issue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anterior e que gerará também diferenças no calculo de LTV e consequente montante coberto.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720894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Disponibilização dos ficheiros de </a:t>
                      </a:r>
                      <a:r>
                        <a:rPr lang="pt-PT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para a BDR para o rácio de Outubro (1ª semana de Novembro) para realização de testes.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risco, dado a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timeline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do projeto, pode não ser possível de ser cumprido colocando em causa o tempo para a BDR adaptar os seus processos e a realização de testes e identificação de impactos.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664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o aumento das validações que estão a ser realizados aos </a:t>
                      </a:r>
                      <a:r>
                        <a:rPr lang="pt-PT" sz="12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inputs 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 dados produzidos para envio para as várias áreas, estão a ser identificados cada vez mais inconsistências e problemas de informação nos sistema core.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risco, dado a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timeline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do projeto, pode comprometer os </a:t>
                      </a:r>
                      <a:r>
                        <a:rPr lang="pt-PT" sz="12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deadlines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definidos e implica a definição de mais requisitos.</a:t>
                      </a:r>
                      <a:endParaRPr lang="pt-PT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ctr"/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664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948" marR="5948" marT="59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Risco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Alta</a:t>
                      </a:r>
                      <a:endParaRPr lang="pt-PT" sz="1200" b="1" i="1" u="none" strike="noStrike" dirty="0">
                        <a:solidFill>
                          <a:srgbClr val="ED7D3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 o aumento do número de análises e testes por parte da equipa funcional</a:t>
                      </a:r>
                      <a:r>
                        <a:rPr lang="pt-PT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está a revelar-se mais desafiante do que o previsto, dado a complexidade do modelo e do elevado número de casuísticas dos vários lados. </a:t>
                      </a:r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Este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risco, dado a </a:t>
                      </a:r>
                      <a:r>
                        <a:rPr lang="pt-PT" sz="1200" b="1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timeline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do projeto, pode comprometer os </a:t>
                      </a:r>
                      <a:r>
                        <a:rPr lang="pt-PT" sz="12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deadlines</a:t>
                      </a:r>
                      <a:r>
                        <a:rPr lang="pt-PT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definidos.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3530" marR="5948" marT="5948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9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O </a:t>
            </a:r>
            <a:r>
              <a:rPr lang="pt-PT" i="1" dirty="0" err="1"/>
              <a:t>Go</a:t>
            </a:r>
            <a:r>
              <a:rPr lang="pt-PT" i="1" dirty="0"/>
              <a:t> Live</a:t>
            </a:r>
            <a:r>
              <a:rPr lang="pt-PT" dirty="0"/>
              <a:t> será realizado no inicio de Dezembro 2022 sobre o rácio de Novembro de 2022;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/>
              <a:t>A CRC não será alterada no ano de 2022.</a:t>
            </a:r>
            <a:endParaRPr lang="en-US" dirty="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Notas/Pressupostos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944" y="1547773"/>
            <a:ext cx="5730701" cy="198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41342" y="1124713"/>
            <a:ext cx="95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Principais Atividades em Curso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22243" y="1865800"/>
            <a:ext cx="9937499" cy="1798160"/>
            <a:chOff x="722243" y="1865800"/>
            <a:chExt cx="9937499" cy="1798160"/>
          </a:xfrm>
        </p:grpSpPr>
        <p:sp>
          <p:nvSpPr>
            <p:cNvPr id="8" name="TextBox 7"/>
            <p:cNvSpPr txBox="1"/>
            <p:nvPr/>
          </p:nvSpPr>
          <p:spPr>
            <a:xfrm>
              <a:off x="722243" y="1955800"/>
              <a:ext cx="9937499" cy="170816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aos problemas de qualidade de informação nos sistemas core do banco</a:t>
              </a:r>
              <a:r>
                <a:rPr lang="pt-PT" sz="1000" dirty="0"/>
                <a:t>: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Processos sem garantias associadas em sistema;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Garantias sem avaliações;</a:t>
              </a:r>
            </a:p>
            <a:p>
              <a:pPr marL="74262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1000" dirty="0"/>
                <a:t>Garantias com múltiplas informações de avaliação para a mesma data;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ao processo de geração de bens fictícios na BDR;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Análise e identificação de fontes adicionais às tabelas de avaliação;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vários conceitos especificados para o repositório de garantias</a:t>
              </a:r>
              <a:r>
                <a:rPr lang="pt-PT" sz="1000" dirty="0"/>
                <a:t>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22243" y="1865800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Base</a:t>
              </a:r>
              <a:endParaRPr lang="en-US" sz="11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22243" y="4316774"/>
            <a:ext cx="9937499" cy="874830"/>
            <a:chOff x="722243" y="4450038"/>
            <a:chExt cx="9937499" cy="874830"/>
          </a:xfrm>
        </p:grpSpPr>
        <p:sp>
          <p:nvSpPr>
            <p:cNvPr id="10" name="TextBox 9"/>
            <p:cNvSpPr txBox="1"/>
            <p:nvPr/>
          </p:nvSpPr>
          <p:spPr>
            <a:xfrm>
              <a:off x="722243" y="4540038"/>
              <a:ext cx="9937499" cy="78483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BR" sz="1000" b="1" dirty="0"/>
                <a:t>Análise e identificação de possíveis </a:t>
              </a:r>
              <a:r>
                <a:rPr lang="pt-BR" sz="1000" b="1" i="1" dirty="0"/>
                <a:t>gaps</a:t>
              </a:r>
              <a:r>
                <a:rPr lang="pt-BR" sz="1000" b="1" dirty="0"/>
                <a:t> entre informação proveniente do modelo de garantias e informação presente no biyr;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vários conceitos especificados para o repositório de garantias;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Testes à tabela produzida.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22243" y="4450038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União</a:t>
              </a:r>
              <a:endParaRPr lang="en-US" sz="11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11028" y="6042372"/>
            <a:ext cx="10302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Nota: As áreas da Contabilidade e de ALM irão continuar a utilizar os ficheiros disponibilizados pela BDR, pelo que não irão carecer de desenvolvimentos específicos mas apenas </a:t>
            </a:r>
          </a:p>
          <a:p>
            <a:r>
              <a:rPr lang="pt-PT" sz="1000" dirty="0"/>
              <a:t>de validações das equipas..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353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41342" y="1124713"/>
            <a:ext cx="95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Principais Atividades em Curso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22243" y="1865800"/>
            <a:ext cx="9937499" cy="874830"/>
            <a:chOff x="722243" y="1865800"/>
            <a:chExt cx="9937499" cy="874830"/>
          </a:xfrm>
        </p:grpSpPr>
        <p:sp>
          <p:nvSpPr>
            <p:cNvPr id="8" name="TextBox 7"/>
            <p:cNvSpPr txBox="1"/>
            <p:nvPr/>
          </p:nvSpPr>
          <p:spPr>
            <a:xfrm>
              <a:off x="722243" y="1955800"/>
              <a:ext cx="9937499" cy="78483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Implementação de IT sobre os 3 ficheiros necessários disponibilizar à área de imparidade e BDR;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Disponibilização, para a área de Imparidade, dos ficheiros necessários para validação técnica e conciliação;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pt-PT" sz="1000" b="1" dirty="0"/>
                <a:t>Disponibilização, para a BDR, dos ficheiros necessários para validação técnica.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22243" y="1865800"/>
              <a:ext cx="1957457" cy="180000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 dirty="0"/>
                <a:t>Módulo Exportação</a:t>
              </a:r>
              <a:endParaRPr lang="en-US" sz="1100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11028" y="6042372"/>
            <a:ext cx="10302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Nota: As áreas da Contabilidade e de ALM irão continuar a utilizar os ficheiros disponibilizados pela BDR, pelo que não irão carecer de desenvolvimentos específicos mas apenas </a:t>
            </a:r>
          </a:p>
          <a:p>
            <a:r>
              <a:rPr lang="pt-PT" sz="1000" dirty="0"/>
              <a:t>de validações das equipas..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955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5. Anexos -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5.3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- pós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08399"/>
              </p:ext>
            </p:extLst>
          </p:nvPr>
        </p:nvGraphicFramePr>
        <p:xfrm>
          <a:off x="1561993" y="1945535"/>
          <a:ext cx="7580151" cy="4187367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Rotinar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processos de carga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BC725A-0B6D-4C11-891B-B9C7ACDC980F}"/>
</file>

<file path=customXml/itemProps3.xml><?xml version="1.0" encoding="utf-8"?>
<ds:datastoreItem xmlns:ds="http://schemas.openxmlformats.org/officeDocument/2006/customXml" ds:itemID="{45B6808E-2F30-4A3E-86D7-9BE6F24DF713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eef631-8f1e-4c1a-be60-1d5dcae54efd"/>
    <ds:schemaRef ds:uri="http://purl.org/dc/elements/1.1/"/>
    <ds:schemaRef ds:uri="621ea064-9f67-4017-b065-3d285bfa18a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2749</Words>
  <Application>Microsoft Office PowerPoint</Application>
  <PresentationFormat>Custom</PresentationFormat>
  <Paragraphs>845</Paragraphs>
  <Slides>21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Arial(body)</vt:lpstr>
      <vt:lpstr>Calibri</vt:lpstr>
      <vt:lpstr>Muli </vt:lpstr>
      <vt:lpstr>Times New Roman</vt:lpstr>
      <vt:lpstr>Wingdings</vt:lpstr>
      <vt:lpstr>Tema de Office</vt:lpstr>
      <vt:lpstr>1_Tema de Office</vt:lpstr>
      <vt:lpstr>2_Tema de Office</vt:lpstr>
      <vt:lpstr>Diapositiva de think-cell</vt:lpstr>
      <vt:lpstr>Projeto Repositório Consolidado de Garantias</vt:lpstr>
      <vt:lpstr>PowerPoint Presentation</vt:lpstr>
      <vt:lpstr>PowerPoint Presentation</vt:lpstr>
      <vt:lpstr>Repositório Consolidado de Garantias – Finding de OSI do Banco Central Europeu</vt:lpstr>
      <vt:lpstr>PowerPoint Presentation</vt:lpstr>
      <vt:lpstr>Plano e status do projeto </vt:lpstr>
      <vt:lpstr>3.1</vt:lpstr>
      <vt:lpstr>3.2</vt:lpstr>
      <vt:lpstr>3.3</vt:lpstr>
      <vt:lpstr>3.3</vt:lpstr>
      <vt:lpstr>3.3</vt:lpstr>
      <vt:lpstr>3.3</vt:lpstr>
      <vt:lpstr>3.3</vt:lpstr>
      <vt:lpstr>Principais riscos e issues</vt:lpstr>
      <vt:lpstr>PowerPoint Presentation</vt:lpstr>
      <vt:lpstr>Anexos</vt:lpstr>
      <vt:lpstr>5.1</vt:lpstr>
      <vt:lpstr>5.2</vt:lpstr>
      <vt:lpstr>5.2</vt:lpstr>
      <vt:lpstr>5.3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158</cp:revision>
  <dcterms:created xsi:type="dcterms:W3CDTF">2018-03-19T11:10:43Z</dcterms:created>
  <dcterms:modified xsi:type="dcterms:W3CDTF">2022-11-09T14:50:09Z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2022-11-09T14:49:44Z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67f8a3a7-0048-4ef9-bb26-3d4a9ba72a6e</vt:lpwstr>
  </property>
  <property fmtid="{D5CDD505-2E9C-101B-9397-08002B2CF9AE}" pid="10" name="MSIP_Label_3c41c091-3cbc-4dba-8b59-ce62f19500db_ContentBits">
    <vt:lpwstr>1</vt:lpwstr>
  </property>
</Properties>
</file>