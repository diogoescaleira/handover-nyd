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drawings/drawing1.xml" ContentType="application/vnd.openxmlformats-officedocument.drawingml.chartshape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6" r:id="rId5"/>
    <p:sldMasterId id="2147483678" r:id="rId6"/>
  </p:sldMasterIdLst>
  <p:notesMasterIdLst>
    <p:notesMasterId r:id="rId24"/>
  </p:notesMasterIdLst>
  <p:handoutMasterIdLst>
    <p:handoutMasterId r:id="rId25"/>
  </p:handoutMasterIdLst>
  <p:sldIdLst>
    <p:sldId id="256" r:id="rId7"/>
    <p:sldId id="306" r:id="rId8"/>
    <p:sldId id="350" r:id="rId9"/>
    <p:sldId id="351" r:id="rId10"/>
    <p:sldId id="353" r:id="rId11"/>
    <p:sldId id="354" r:id="rId12"/>
    <p:sldId id="355" r:id="rId13"/>
    <p:sldId id="356" r:id="rId14"/>
    <p:sldId id="357" r:id="rId15"/>
    <p:sldId id="330" r:id="rId16"/>
    <p:sldId id="338" r:id="rId17"/>
    <p:sldId id="324" r:id="rId18"/>
    <p:sldId id="349" r:id="rId19"/>
    <p:sldId id="348" r:id="rId20"/>
    <p:sldId id="325" r:id="rId21"/>
    <p:sldId id="326" r:id="rId22"/>
    <p:sldId id="267" r:id="rId23"/>
  </p:sldIdLst>
  <p:sldSz cx="12192000" cy="7092950"/>
  <p:notesSz cx="6858000" cy="9144000"/>
  <p:defaultTextStyle>
    <a:defPPr>
      <a:defRPr lang="es-ES"/>
    </a:defPPr>
    <a:lvl1pPr marL="0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6876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3751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0624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7498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4377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1250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8124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4998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223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oxo, Dora Silva" initials="RDS" lastIdx="27" clrIdx="0">
    <p:extLst>
      <p:ext uri="{19B8F6BF-5375-455C-9EA6-DF929625EA0E}">
        <p15:presenceInfo xmlns:p15="http://schemas.microsoft.com/office/powerpoint/2012/main" userId="S::droxo@epimetheus.pt::d97429f7-5259-4f73-a74a-65d4c655fa50" providerId="AD"/>
      </p:ext>
    </p:extLst>
  </p:cmAuthor>
  <p:cmAuthor id="2" name="Hugo Alexandre" initials="HA" lastIdx="8" clrIdx="1">
    <p:extLst>
      <p:ext uri="{19B8F6BF-5375-455C-9EA6-DF929625EA0E}">
        <p15:presenceInfo xmlns:p15="http://schemas.microsoft.com/office/powerpoint/2012/main" userId="S::hreia@epimetheus.pt::dee69c61-2ac7-4b82-bc09-1c91e89a6358" providerId="AD"/>
      </p:ext>
    </p:extLst>
  </p:cmAuthor>
  <p:cmAuthor id="3" name="Mónica Filipa Cunha Guerreiro" initials="MFCG" lastIdx="4" clrIdx="2">
    <p:extLst>
      <p:ext uri="{19B8F6BF-5375-455C-9EA6-DF929625EA0E}">
        <p15:presenceInfo xmlns:p15="http://schemas.microsoft.com/office/powerpoint/2012/main" userId="S-1-5-21-478741036-1442749419-1446792091-19144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7575"/>
    <a:srgbClr val="C00000"/>
    <a:srgbClr val="3B3838"/>
    <a:srgbClr val="9ECFDE"/>
    <a:srgbClr val="7F7F7F"/>
    <a:srgbClr val="D9D9D9"/>
    <a:srgbClr val="13868C"/>
    <a:srgbClr val="EB0000"/>
    <a:srgbClr val="DEEDF2"/>
    <a:srgbClr val="3C3C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946" y="48"/>
      </p:cViewPr>
      <p:guideLst>
        <p:guide orient="horz" pos="2160"/>
        <p:guide pos="3840"/>
        <p:guide orient="horz" pos="2234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slide" Target="slides/slide15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viewProps" Target="viewProp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5" Type="http://schemas.openxmlformats.org/officeDocument/2006/relationships/chartUserShapes" Target="../drawings/drawing1.xml"/><Relationship Id="rId4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Vermelho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2"/>
                <c:pt idx="0">
                  <c:v>Novembro (Mês Ini)</c:v>
                </c:pt>
                <c:pt idx="1">
                  <c:v>Dezembro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FBA-40EA-9156-5775D8117C3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Laranja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2"/>
                <c:pt idx="0">
                  <c:v>Novembro (Mês Ini)</c:v>
                </c:pt>
                <c:pt idx="1">
                  <c:v>Dezembro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FBA-40EA-9156-5775D8117C3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Amarelo</c:v>
                </c:pt>
              </c:strCache>
            </c:strRef>
          </c:tx>
          <c:spPr>
            <a:solidFill>
              <a:srgbClr val="FFFF00"/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2"/>
                <c:pt idx="0">
                  <c:v>Novembro (Mês Ini)</c:v>
                </c:pt>
                <c:pt idx="1">
                  <c:v>Dezembro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5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FBA-40EA-9156-5775D8117C3D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Ok</c:v>
                </c:pt>
              </c:strCache>
            </c:strRef>
          </c:tx>
          <c:spPr>
            <a:solidFill>
              <a:srgbClr val="92D050"/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2"/>
                <c:pt idx="0">
                  <c:v>Novembro (Mês Ini)</c:v>
                </c:pt>
                <c:pt idx="1">
                  <c:v>Dezembro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61</c:v>
                </c:pt>
                <c:pt idx="1">
                  <c:v>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1FBA-40EA-9156-5775D8117C3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723456160"/>
        <c:axId val="723456552"/>
      </c:barChart>
      <c:catAx>
        <c:axId val="7234561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antander Text" panose="020B0504020201020104" pitchFamily="34" charset="0"/>
                <a:ea typeface="+mn-ea"/>
                <a:cs typeface="+mn-cs"/>
              </a:defRPr>
            </a:pPr>
            <a:endParaRPr lang="pt-PT"/>
          </a:p>
        </c:txPr>
        <c:crossAx val="723456552"/>
        <c:crosses val="autoZero"/>
        <c:auto val="1"/>
        <c:lblAlgn val="ctr"/>
        <c:lblOffset val="100"/>
        <c:noMultiLvlLbl val="0"/>
      </c:catAx>
      <c:valAx>
        <c:axId val="72345655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antander Text" panose="020B0504020201020104" pitchFamily="34" charset="0"/>
                <a:ea typeface="+mn-ea"/>
                <a:cs typeface="+mn-cs"/>
              </a:defRPr>
            </a:pPr>
            <a:endParaRPr lang="pt-PT"/>
          </a:p>
        </c:txPr>
        <c:crossAx val="72345616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32643026570473344"/>
          <c:y val="0.12969357453219796"/>
          <c:w val="0.3316197782861165"/>
          <c:h val="0.1006648775172525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Santander Text" panose="020B0504020201020104" pitchFamily="34" charset="0"/>
              <a:ea typeface="+mn-ea"/>
              <a:cs typeface="+mn-cs"/>
            </a:defRPr>
          </a:pPr>
          <a:endParaRPr lang="pt-PT"/>
        </a:p>
      </c:txPr>
    </c:legend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>
          <a:latin typeface="Santander Text" panose="020B0504020201020104" pitchFamily="34" charset="0"/>
        </a:defRPr>
      </a:pPr>
      <a:endParaRPr lang="pt-PT"/>
    </a:p>
  </c:txPr>
  <c:externalData r:id="rId4">
    <c:autoUpdate val="0"/>
  </c:externalData>
  <c:userShapes r:id="rId5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0.15249</cdr:x>
      <cdr:y>0.74449</cdr:y>
    </cdr:from>
    <cdr:to>
      <cdr:x>0.24841</cdr:x>
      <cdr:y>0.84298</cdr:y>
    </cdr:to>
    <cdr:sp macro="" textlink="">
      <cdr:nvSpPr>
        <cdr:cNvPr id="9" name="Rectangle 8">
          <a:extLst xmlns:a="http://schemas.openxmlformats.org/drawingml/2006/main">
            <a:ext uri="{FF2B5EF4-FFF2-40B4-BE49-F238E27FC236}">
              <a16:creationId xmlns:a16="http://schemas.microsoft.com/office/drawing/2014/main" id="{0F919E79-806B-4690-8603-777BDB4B56B9}"/>
            </a:ext>
          </a:extLst>
        </cdr:cNvPr>
        <cdr:cNvSpPr/>
      </cdr:nvSpPr>
      <cdr:spPr>
        <a:xfrm xmlns:a="http://schemas.openxmlformats.org/drawingml/2006/main">
          <a:off x="1083234" y="1770975"/>
          <a:ext cx="681392" cy="234287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noFill/>
        </a:ln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lvl1pPr marL="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pt-PT" sz="800" b="1" dirty="0">
              <a:solidFill>
                <a:srgbClr val="FF0000"/>
              </a:solidFill>
              <a:latin typeface="Santander Text" panose="020B0504020201020104" pitchFamily="34" charset="0"/>
            </a:rPr>
            <a:t>4 (6%) </a:t>
          </a:r>
        </a:p>
      </cdr:txBody>
    </cdr:sp>
  </cdr:relSizeAnchor>
  <cdr:relSizeAnchor xmlns:cdr="http://schemas.openxmlformats.org/drawingml/2006/chartDrawing">
    <cdr:from>
      <cdr:x>0.30591</cdr:x>
      <cdr:y>0.74449</cdr:y>
    </cdr:from>
    <cdr:to>
      <cdr:x>0.40183</cdr:x>
      <cdr:y>0.84298</cdr:y>
    </cdr:to>
    <cdr:sp macro="" textlink="">
      <cdr:nvSpPr>
        <cdr:cNvPr id="6" name="Rectangle 5">
          <a:extLst xmlns:a="http://schemas.openxmlformats.org/drawingml/2006/main">
            <a:ext uri="{FF2B5EF4-FFF2-40B4-BE49-F238E27FC236}">
              <a16:creationId xmlns:a16="http://schemas.microsoft.com/office/drawing/2014/main" id="{000B30B4-7B9E-402A-9E29-2EE921BB066F}"/>
            </a:ext>
          </a:extLst>
        </cdr:cNvPr>
        <cdr:cNvSpPr/>
      </cdr:nvSpPr>
      <cdr:spPr>
        <a:xfrm xmlns:a="http://schemas.openxmlformats.org/drawingml/2006/main">
          <a:off x="2173108" y="1770981"/>
          <a:ext cx="681392" cy="234286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noFill/>
        </a:ln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lvl1pPr marL="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pt-PT" sz="800" b="1" dirty="0">
              <a:solidFill>
                <a:srgbClr val="FF0000"/>
              </a:solidFill>
              <a:latin typeface="Santander Text" panose="020B0504020201020104" pitchFamily="34" charset="0"/>
            </a:rPr>
            <a:t>3 (4%) </a:t>
          </a:r>
        </a:p>
      </cdr:txBody>
    </cdr:sp>
  </cdr:relSizeAnchor>
  <cdr:relSizeAnchor xmlns:cdr="http://schemas.openxmlformats.org/drawingml/2006/chartDrawing">
    <cdr:from>
      <cdr:x>0.46082</cdr:x>
      <cdr:y>0.74449</cdr:y>
    </cdr:from>
    <cdr:to>
      <cdr:x>0.55674</cdr:x>
      <cdr:y>0.84298</cdr:y>
    </cdr:to>
    <cdr:sp macro="" textlink="">
      <cdr:nvSpPr>
        <cdr:cNvPr id="11" name="Rectangle 10">
          <a:extLst xmlns:a="http://schemas.openxmlformats.org/drawingml/2006/main">
            <a:ext uri="{FF2B5EF4-FFF2-40B4-BE49-F238E27FC236}">
              <a16:creationId xmlns:a16="http://schemas.microsoft.com/office/drawing/2014/main" id="{8419D4B2-0DBF-4215-8850-FA03E4D96833}"/>
            </a:ext>
          </a:extLst>
        </cdr:cNvPr>
        <cdr:cNvSpPr/>
      </cdr:nvSpPr>
      <cdr:spPr>
        <a:xfrm xmlns:a="http://schemas.openxmlformats.org/drawingml/2006/main">
          <a:off x="3273533" y="1770975"/>
          <a:ext cx="681392" cy="234287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noFill/>
        </a:ln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lvl1pPr marL="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pt-PT" sz="800" b="1" dirty="0">
              <a:solidFill>
                <a:schemeClr val="bg1"/>
              </a:solidFill>
              <a:latin typeface="Santander Text" panose="020B0504020201020104" pitchFamily="34" charset="0"/>
            </a:rPr>
            <a:t>10 (7%)</a:t>
          </a:r>
        </a:p>
      </cdr:txBody>
    </cdr:sp>
  </cdr:relSizeAnchor>
  <cdr:relSizeAnchor xmlns:cdr="http://schemas.openxmlformats.org/drawingml/2006/chartDrawing">
    <cdr:from>
      <cdr:x>0.61424</cdr:x>
      <cdr:y>0.74449</cdr:y>
    </cdr:from>
    <cdr:to>
      <cdr:x>0.71016</cdr:x>
      <cdr:y>0.84298</cdr:y>
    </cdr:to>
    <cdr:sp macro="" textlink="">
      <cdr:nvSpPr>
        <cdr:cNvPr id="12" name="Rectangle 11">
          <a:extLst xmlns:a="http://schemas.openxmlformats.org/drawingml/2006/main">
            <a:ext uri="{FF2B5EF4-FFF2-40B4-BE49-F238E27FC236}">
              <a16:creationId xmlns:a16="http://schemas.microsoft.com/office/drawing/2014/main" id="{F3B32EAE-92E1-44CF-9F48-866D7A5E54DE}"/>
            </a:ext>
          </a:extLst>
        </cdr:cNvPr>
        <cdr:cNvSpPr/>
      </cdr:nvSpPr>
      <cdr:spPr>
        <a:xfrm xmlns:a="http://schemas.openxmlformats.org/drawingml/2006/main">
          <a:off x="4363391" y="1770975"/>
          <a:ext cx="681391" cy="234287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noFill/>
        </a:ln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lvl1pPr marL="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pt-PT" sz="800" b="1" dirty="0">
              <a:solidFill>
                <a:schemeClr val="bg1"/>
              </a:solidFill>
              <a:latin typeface="Santander Text" panose="020B0504020201020104" pitchFamily="34" charset="0"/>
            </a:rPr>
            <a:t>9 (6%) </a:t>
          </a:r>
        </a:p>
      </cdr:txBody>
    </cdr:sp>
  </cdr:relSizeAnchor>
  <cdr:relSizeAnchor xmlns:cdr="http://schemas.openxmlformats.org/drawingml/2006/chartDrawing">
    <cdr:from>
      <cdr:x>0.76766</cdr:x>
      <cdr:y>0.74449</cdr:y>
    </cdr:from>
    <cdr:to>
      <cdr:x>0.86358</cdr:x>
      <cdr:y>0.84298</cdr:y>
    </cdr:to>
    <cdr:sp macro="" textlink="">
      <cdr:nvSpPr>
        <cdr:cNvPr id="13" name="Rectangle 12">
          <a:extLst xmlns:a="http://schemas.openxmlformats.org/drawingml/2006/main">
            <a:ext uri="{FF2B5EF4-FFF2-40B4-BE49-F238E27FC236}">
              <a16:creationId xmlns:a16="http://schemas.microsoft.com/office/drawing/2014/main" id="{4883EC3B-D499-48FD-9A4F-14679DDD9096}"/>
            </a:ext>
          </a:extLst>
        </cdr:cNvPr>
        <cdr:cNvSpPr/>
      </cdr:nvSpPr>
      <cdr:spPr>
        <a:xfrm xmlns:a="http://schemas.openxmlformats.org/drawingml/2006/main">
          <a:off x="5453248" y="1770975"/>
          <a:ext cx="681392" cy="234287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noFill/>
        </a:ln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lvl1pPr marL="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pt-PT" sz="800" b="1" dirty="0">
              <a:solidFill>
                <a:schemeClr val="bg1"/>
              </a:solidFill>
              <a:latin typeface="Santander Text" panose="020B0504020201020104" pitchFamily="34" charset="0"/>
            </a:rPr>
            <a:t>6 (4%) </a:t>
          </a:r>
        </a:p>
      </cdr:txBody>
    </cdr:sp>
  </cdr:relSizeAnchor>
</c:userShape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60B1AF7E-5BC2-4D30-87FE-E1B659CA154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1D35212-2950-4BB8-B0AA-EE773689934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A5188B-02CB-4126-A12E-C27940239E67}" type="datetimeFigureOut">
              <a:rPr lang="es-ES" smtClean="0"/>
              <a:t>19/01/2023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6FAF009-7545-4A39-A198-6416D3420CD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B8A1D82-08B5-4B1F-860C-695167F2EE1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54CB31-C4D0-4176-AC65-C48107E42122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268674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81D6FC-8B18-4D83-81FA-5ECA9E5C1AAF}" type="datetimeFigureOut">
              <a:rPr lang="es-ES" smtClean="0"/>
              <a:t>19/01/2023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776288" y="1143000"/>
            <a:ext cx="53054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78D618-BBD3-4FF5-9218-0E9FEB4B2F82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463157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6876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3751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0624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7498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4377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1250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8124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4998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78D618-BBD3-4FF5-9218-0E9FEB4B2F82}" type="slidenum">
              <a:rPr lang="es-ES" smtClean="0"/>
              <a:t>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544703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12.jpe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F305A9-DE4B-49AF-BCD4-43A65F7EB5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1745" y="1134056"/>
            <a:ext cx="4937184" cy="1455207"/>
          </a:xfrm>
        </p:spPr>
        <p:txBody>
          <a:bodyPr anchor="t">
            <a:normAutofit/>
          </a:bodyPr>
          <a:lstStyle>
            <a:lvl1pPr algn="l">
              <a:lnSpc>
                <a:spcPct val="90000"/>
              </a:lnSpc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pt-PT"/>
              <a:t>título do Modelo Global</a:t>
            </a:r>
            <a:endParaRPr lang="es-E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AB17398-CAA7-49B6-868C-44D053E7EA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4623" y="2815401"/>
            <a:ext cx="4934309" cy="2519924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tx2"/>
                </a:solidFill>
              </a:defRPr>
            </a:lvl1pPr>
            <a:lvl2pPr marL="456876" indent="0" algn="ctr">
              <a:buNone/>
              <a:defRPr sz="2000"/>
            </a:lvl2pPr>
            <a:lvl3pPr marL="913751" indent="0" algn="ctr">
              <a:buNone/>
              <a:defRPr sz="1800"/>
            </a:lvl3pPr>
            <a:lvl4pPr marL="1370624" indent="0" algn="ctr">
              <a:buNone/>
              <a:defRPr sz="1600"/>
            </a:lvl4pPr>
            <a:lvl5pPr marL="1827498" indent="0" algn="ctr">
              <a:buNone/>
              <a:defRPr sz="1600"/>
            </a:lvl5pPr>
            <a:lvl6pPr marL="2284377" indent="0" algn="ctr">
              <a:buNone/>
              <a:defRPr sz="1600"/>
            </a:lvl6pPr>
            <a:lvl7pPr marL="2741250" indent="0" algn="ctr">
              <a:buNone/>
              <a:defRPr sz="1600"/>
            </a:lvl7pPr>
            <a:lvl8pPr marL="3198124" indent="0" algn="ctr">
              <a:buNone/>
              <a:defRPr sz="1600"/>
            </a:lvl8pPr>
            <a:lvl9pPr marL="3654998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9012236B-6821-499F-B6D4-F11EC0EF0C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979" y="5923620"/>
            <a:ext cx="1896592" cy="343982"/>
          </a:xfrm>
          <a:prstGeom prst="rect">
            <a:avLst/>
          </a:prstGeom>
        </p:spPr>
      </p:pic>
      <p:sp>
        <p:nvSpPr>
          <p:cNvPr id="7" name="Forma libre: forma 6">
            <a:extLst>
              <a:ext uri="{FF2B5EF4-FFF2-40B4-BE49-F238E27FC236}">
                <a16:creationId xmlns:a16="http://schemas.microsoft.com/office/drawing/2014/main" id="{AB9931BC-B448-4EA6-A35A-56AF5C4C24E5}"/>
              </a:ext>
            </a:extLst>
          </p:cNvPr>
          <p:cNvSpPr/>
          <p:nvPr userDrawn="1"/>
        </p:nvSpPr>
        <p:spPr>
          <a:xfrm>
            <a:off x="6" y="5409102"/>
            <a:ext cx="12196689" cy="1683855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73" tIns="45686" rIns="91373" bIns="4568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/>
          </a:p>
        </p:txBody>
      </p:sp>
      <p:sp>
        <p:nvSpPr>
          <p:cNvPr id="17" name="Marcador de texto 16">
            <a:extLst>
              <a:ext uri="{FF2B5EF4-FFF2-40B4-BE49-F238E27FC236}">
                <a16:creationId xmlns:a16="http://schemas.microsoft.com/office/drawing/2014/main" id="{F5E5F18D-70E6-495C-A384-2EDAE003093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9655" y="345082"/>
            <a:ext cx="11177551" cy="433458"/>
          </a:xfrm>
        </p:spPr>
        <p:txBody>
          <a:bodyPr>
            <a:noAutofit/>
          </a:bodyPr>
          <a:lstStyle>
            <a:lvl1pPr marL="0" indent="0">
              <a:buNone/>
              <a:defRPr sz="1300">
                <a:solidFill>
                  <a:schemeClr val="tx2"/>
                </a:solidFill>
              </a:defRPr>
            </a:lvl1pPr>
            <a:lvl2pPr marL="456876" indent="0">
              <a:buNone/>
              <a:defRPr sz="1300">
                <a:solidFill>
                  <a:schemeClr val="tx2"/>
                </a:solidFill>
              </a:defRPr>
            </a:lvl2pPr>
            <a:lvl3pPr marL="913751" indent="0">
              <a:buNone/>
              <a:defRPr sz="1300">
                <a:solidFill>
                  <a:schemeClr val="tx2"/>
                </a:solidFill>
              </a:defRPr>
            </a:lvl3pPr>
            <a:lvl4pPr marL="1370624" indent="0">
              <a:buNone/>
              <a:defRPr sz="1300">
                <a:solidFill>
                  <a:schemeClr val="tx2"/>
                </a:solidFill>
              </a:defRPr>
            </a:lvl4pPr>
            <a:lvl5pPr marL="1827498" indent="0"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880952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Índ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0B320C-F93D-45A7-B5CC-5C18ED1F8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AC1B0227-D6EB-4F05-832D-EB54916F79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B3950534-FF56-4FD6-A098-D625BC54F0FA}"/>
              </a:ext>
            </a:extLst>
          </p:cNvPr>
          <p:cNvSpPr txBox="1"/>
          <p:nvPr userDrawn="1"/>
        </p:nvSpPr>
        <p:spPr>
          <a:xfrm>
            <a:off x="722533" y="322971"/>
            <a:ext cx="1849821" cy="292319"/>
          </a:xfrm>
          <a:prstGeom prst="rect">
            <a:avLst/>
          </a:prstGeom>
          <a:noFill/>
        </p:spPr>
        <p:txBody>
          <a:bodyPr wrap="square" lIns="91373" tIns="45686" rIns="91373" bIns="45686" rtlCol="0">
            <a:spAutoFit/>
          </a:bodyPr>
          <a:lstStyle/>
          <a:p>
            <a:r>
              <a:rPr lang="es-ES" sz="1300">
                <a:solidFill>
                  <a:schemeClr val="accent1"/>
                </a:solidFill>
              </a:rPr>
              <a:t>Índice</a:t>
            </a:r>
          </a:p>
        </p:txBody>
      </p:sp>
      <p:sp>
        <p:nvSpPr>
          <p:cNvPr id="14" name="Marcador de texto 11">
            <a:extLst>
              <a:ext uri="{FF2B5EF4-FFF2-40B4-BE49-F238E27FC236}">
                <a16:creationId xmlns:a16="http://schemas.microsoft.com/office/drawing/2014/main" id="{0CC57AA0-6C3B-4C80-BF6B-C321A960A9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2641" y="1137934"/>
            <a:ext cx="10635843" cy="5074764"/>
          </a:xfrm>
        </p:spPr>
        <p:txBody>
          <a:bodyPr>
            <a:normAutofit/>
          </a:bodyPr>
          <a:lstStyle>
            <a:lvl1pPr marL="431692" indent="-395719">
              <a:buClr>
                <a:schemeClr val="accent1"/>
              </a:buClr>
              <a:buSzPct val="45000"/>
              <a:buFont typeface="+mj-lt"/>
              <a:buAutoNum type="arabicPeriod"/>
              <a:defRPr lang="es-ES" sz="4000" b="1" kern="1200" dirty="0" smtClean="0">
                <a:solidFill>
                  <a:srgbClr val="3C3C3B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None/>
              <a:defRPr/>
            </a:lvl2pPr>
          </a:lstStyle>
          <a:p>
            <a:pPr lvl="0"/>
            <a:r>
              <a:rPr lang="pt-PT"/>
              <a:t>Título de seção</a:t>
            </a:r>
          </a:p>
        </p:txBody>
      </p:sp>
    </p:spTree>
    <p:extLst>
      <p:ext uri="{BB962C8B-B14F-4D97-AF65-F5344CB8AC3E}">
        <p14:creationId xmlns:p14="http://schemas.microsoft.com/office/powerpoint/2010/main" val="3010683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de cap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45CB15-1F44-40E1-909E-6233010BC1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518" y="647833"/>
            <a:ext cx="4386195" cy="2950470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o estilo de título do Modelo </a:t>
            </a:r>
            <a:br>
              <a:rPr lang="pt-PT"/>
            </a:br>
            <a:r>
              <a:rPr lang="pt-PT"/>
              <a:t>Global</a:t>
            </a:r>
            <a:endParaRPr lang="es-ES"/>
          </a:p>
        </p:txBody>
      </p:sp>
      <p:sp>
        <p:nvSpPr>
          <p:cNvPr id="5" name="Forma libre: forma 6">
            <a:extLst>
              <a:ext uri="{FF2B5EF4-FFF2-40B4-BE49-F238E27FC236}">
                <a16:creationId xmlns:a16="http://schemas.microsoft.com/office/drawing/2014/main" id="{14147011-41AD-4D71-ABCD-072B7EE84809}"/>
              </a:ext>
            </a:extLst>
          </p:cNvPr>
          <p:cNvSpPr/>
          <p:nvPr userDrawn="1"/>
        </p:nvSpPr>
        <p:spPr>
          <a:xfrm>
            <a:off x="8925343" y="0"/>
            <a:ext cx="3266660" cy="7092950"/>
          </a:xfrm>
          <a:custGeom>
            <a:avLst/>
            <a:gdLst>
              <a:gd name="connsiteX0" fmla="*/ 1630018 w 3266660"/>
              <a:gd name="connsiteY0" fmla="*/ 0 h 6858000"/>
              <a:gd name="connsiteX1" fmla="*/ 3266660 w 3266660"/>
              <a:gd name="connsiteY1" fmla="*/ 0 h 6858000"/>
              <a:gd name="connsiteX2" fmla="*/ 3266660 w 3266660"/>
              <a:gd name="connsiteY2" fmla="*/ 6858000 h 6858000"/>
              <a:gd name="connsiteX3" fmla="*/ 0 w 3266660"/>
              <a:gd name="connsiteY3" fmla="*/ 6858000 h 6858000"/>
              <a:gd name="connsiteX4" fmla="*/ 0 w 3266660"/>
              <a:gd name="connsiteY4" fmla="*/ 2822713 h 6858000"/>
              <a:gd name="connsiteX5" fmla="*/ 1630018 w 3266660"/>
              <a:gd name="connsiteY5" fmla="*/ 282271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66660" h="6858000">
                <a:moveTo>
                  <a:pt x="1630018" y="0"/>
                </a:moveTo>
                <a:lnTo>
                  <a:pt x="3266660" y="0"/>
                </a:lnTo>
                <a:lnTo>
                  <a:pt x="3266660" y="6858000"/>
                </a:lnTo>
                <a:lnTo>
                  <a:pt x="0" y="6858000"/>
                </a:lnTo>
                <a:lnTo>
                  <a:pt x="0" y="2822713"/>
                </a:lnTo>
                <a:lnTo>
                  <a:pt x="1630018" y="2822713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73" tIns="45686" rIns="91373" bIns="4568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/>
          </a:p>
        </p:txBody>
      </p:sp>
      <p:sp>
        <p:nvSpPr>
          <p:cNvPr id="6" name="Marcador de texto 13">
            <a:extLst>
              <a:ext uri="{FF2B5EF4-FFF2-40B4-BE49-F238E27FC236}">
                <a16:creationId xmlns:a16="http://schemas.microsoft.com/office/drawing/2014/main" id="{CF711B63-7C0F-4649-B7F0-A207C8B6C42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945217" y="3382579"/>
            <a:ext cx="2958755" cy="2445983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6600">
                <a:solidFill>
                  <a:schemeClr val="bg1"/>
                </a:solidFill>
              </a:defRPr>
            </a:lvl1pPr>
            <a:lvl2pPr>
              <a:defRPr sz="13800">
                <a:solidFill>
                  <a:schemeClr val="tx1"/>
                </a:solidFill>
              </a:defRPr>
            </a:lvl2pPr>
            <a:lvl3pPr>
              <a:defRPr sz="11500">
                <a:solidFill>
                  <a:schemeClr val="tx1"/>
                </a:solidFill>
              </a:defRPr>
            </a:lvl3pPr>
            <a:lvl4pPr>
              <a:defRPr sz="9600">
                <a:solidFill>
                  <a:schemeClr val="tx1"/>
                </a:solidFill>
              </a:defRPr>
            </a:lvl4pPr>
            <a:lvl5pPr>
              <a:defRPr sz="9600">
                <a:solidFill>
                  <a:schemeClr val="tx1"/>
                </a:solidFill>
              </a:defRPr>
            </a:lvl5pPr>
          </a:lstStyle>
          <a:p>
            <a:pPr lvl="0"/>
            <a:r>
              <a:rPr lang="es-E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2324528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e conteúd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4" y="1124720"/>
            <a:ext cx="5297557" cy="1661069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 do Modelo Global</a:t>
            </a:r>
            <a:endParaRPr lang="es-ES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6876" indent="0">
              <a:buFontTx/>
              <a:buNone/>
              <a:defRPr sz="1100"/>
            </a:lvl2pPr>
            <a:lvl3pPr marL="913751" indent="0">
              <a:buFontTx/>
              <a:buNone/>
              <a:defRPr sz="1100"/>
            </a:lvl3pPr>
            <a:lvl4pPr marL="1370624" indent="0">
              <a:buFontTx/>
              <a:buNone/>
              <a:defRPr sz="900"/>
            </a:lvl4pPr>
            <a:lvl5pPr marL="1827498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8" name="Marcador de texto 16">
            <a:extLst>
              <a:ext uri="{FF2B5EF4-FFF2-40B4-BE49-F238E27FC236}">
                <a16:creationId xmlns:a16="http://schemas.microsoft.com/office/drawing/2014/main" id="{07C8BA77-3119-41AC-B33B-745A751CC06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1025" y="3199548"/>
            <a:ext cx="5308776" cy="318903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20" name="Marcador de texto 16">
            <a:extLst>
              <a:ext uri="{FF2B5EF4-FFF2-40B4-BE49-F238E27FC236}">
                <a16:creationId xmlns:a16="http://schemas.microsoft.com/office/drawing/2014/main" id="{81AA2FC0-CE4E-483D-AF92-BEA6CD796B9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99971" y="1124713"/>
            <a:ext cx="5081004" cy="5263869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4291901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e conteúd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3" y="1124713"/>
            <a:ext cx="10758733" cy="1885466"/>
          </a:xfrm>
        </p:spPr>
        <p:txBody>
          <a:bodyPr anchor="t">
            <a:no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 do Modelo Global</a:t>
            </a:r>
            <a:endParaRPr lang="es-ES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6876" indent="0">
              <a:buFontTx/>
              <a:buNone/>
              <a:defRPr sz="1100"/>
            </a:lvl2pPr>
            <a:lvl3pPr marL="913751" indent="0">
              <a:buFontTx/>
              <a:buNone/>
              <a:defRPr sz="1100"/>
            </a:lvl3pPr>
            <a:lvl4pPr marL="1370624" indent="0">
              <a:buFontTx/>
              <a:buNone/>
              <a:defRPr sz="900"/>
            </a:lvl4pPr>
            <a:lvl5pPr marL="1827498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1028" y="3199548"/>
            <a:ext cx="10758733" cy="3189036"/>
          </a:xfrm>
        </p:spPr>
        <p:txBody>
          <a:bodyPr numCol="2" spcCol="719487"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2956698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ta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1978" y="1147780"/>
            <a:ext cx="3801119" cy="5223722"/>
          </a:xfrm>
        </p:spPr>
        <p:txBody>
          <a:bodyPr anchor="t">
            <a:noAutofit/>
          </a:bodyPr>
          <a:lstStyle>
            <a:lvl1pPr>
              <a:defRPr sz="26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pt-PT"/>
              <a:t>Editar os estilos </a:t>
            </a:r>
            <a:br>
              <a:rPr lang="pt-PT"/>
            </a:br>
            <a:r>
              <a:rPr lang="pt-PT"/>
              <a:t>de texto do Modelo Global</a:t>
            </a:r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6876" indent="0">
              <a:buFontTx/>
              <a:buNone/>
              <a:defRPr sz="1100"/>
            </a:lvl2pPr>
            <a:lvl3pPr marL="913751" indent="0">
              <a:buFontTx/>
              <a:buNone/>
              <a:defRPr sz="1100"/>
            </a:lvl3pPr>
            <a:lvl4pPr marL="1370624" indent="0">
              <a:buFontTx/>
              <a:buNone/>
              <a:defRPr sz="900"/>
            </a:lvl4pPr>
            <a:lvl5pPr marL="1827498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72725" y="1164858"/>
            <a:ext cx="6697035" cy="5223724"/>
          </a:xfrm>
        </p:spPr>
        <p:txBody>
          <a:bodyPr numCol="1" spcCol="0"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1770703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6876" indent="0">
              <a:buFontTx/>
              <a:buNone/>
              <a:defRPr sz="1100"/>
            </a:lvl2pPr>
            <a:lvl3pPr marL="913751" indent="0">
              <a:buFontTx/>
              <a:buNone/>
              <a:defRPr sz="1100"/>
            </a:lvl3pPr>
            <a:lvl4pPr marL="1370624" indent="0">
              <a:buFontTx/>
              <a:buNone/>
              <a:defRPr sz="900"/>
            </a:lvl4pPr>
            <a:lvl5pPr marL="1827498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3AABE934-895B-422A-B16D-773558A762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50" y="1124721"/>
            <a:ext cx="3911401" cy="1223665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</a:t>
            </a:r>
            <a:endParaRPr lang="es-ES"/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32" y="2603405"/>
            <a:ext cx="3911401" cy="3785177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6" name="Marcador de gráfico 5">
            <a:extLst>
              <a:ext uri="{FF2B5EF4-FFF2-40B4-BE49-F238E27FC236}">
                <a16:creationId xmlns:a16="http://schemas.microsoft.com/office/drawing/2014/main" id="{2444BFBF-CC97-48FB-BE66-A28460A7384B}"/>
              </a:ext>
            </a:extLst>
          </p:cNvPr>
          <p:cNvSpPr>
            <a:spLocks noGrp="1"/>
          </p:cNvSpPr>
          <p:nvPr>
            <p:ph type="chart" sz="quarter" idx="17" hasCustomPrompt="1"/>
          </p:nvPr>
        </p:nvSpPr>
        <p:spPr>
          <a:xfrm>
            <a:off x="4797431" y="1124693"/>
            <a:ext cx="6683551" cy="5298367"/>
          </a:xfrm>
        </p:spPr>
        <p:txBody>
          <a:bodyPr>
            <a:normAutofit/>
          </a:bodyPr>
          <a:lstStyle>
            <a:lvl1pPr marL="0" indent="0" algn="ctr">
              <a:buNone/>
              <a:defRPr lang="es-ES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MX" err="1"/>
              <a:t>Insira</a:t>
            </a:r>
            <a:r>
              <a:rPr lang="es-MX"/>
              <a:t> </a:t>
            </a:r>
            <a:r>
              <a:rPr lang="es-MX" err="1"/>
              <a:t>aqui</a:t>
            </a:r>
            <a:r>
              <a:rPr lang="es-MX"/>
              <a:t> </a:t>
            </a:r>
            <a:r>
              <a:rPr lang="es-MX" err="1"/>
              <a:t>seu</a:t>
            </a:r>
            <a:r>
              <a:rPr lang="es-MX"/>
              <a:t> gráfico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57120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6876" indent="0">
              <a:buFontTx/>
              <a:buNone/>
              <a:defRPr sz="1100"/>
            </a:lvl2pPr>
            <a:lvl3pPr marL="913751" indent="0">
              <a:buFontTx/>
              <a:buNone/>
              <a:defRPr sz="1100"/>
            </a:lvl3pPr>
            <a:lvl4pPr marL="1370624" indent="0">
              <a:buFontTx/>
              <a:buNone/>
              <a:defRPr sz="900"/>
            </a:lvl4pPr>
            <a:lvl5pPr marL="1827498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32" y="1232631"/>
            <a:ext cx="3911401" cy="5155951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abla 4">
            <a:extLst>
              <a:ext uri="{FF2B5EF4-FFF2-40B4-BE49-F238E27FC236}">
                <a16:creationId xmlns:a16="http://schemas.microsoft.com/office/drawing/2014/main" id="{DF826A4E-1A0C-46D7-8327-402D7A34DE68}"/>
              </a:ext>
            </a:extLst>
          </p:cNvPr>
          <p:cNvSpPr>
            <a:spLocks noGrp="1"/>
          </p:cNvSpPr>
          <p:nvPr>
            <p:ph type="tbl" sz="quarter" idx="18" hasCustomPrompt="1"/>
          </p:nvPr>
        </p:nvSpPr>
        <p:spPr>
          <a:xfrm>
            <a:off x="4867835" y="1766289"/>
            <a:ext cx="6612965" cy="4656777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sua</a:t>
            </a:r>
            <a:r>
              <a:rPr lang="es-ES"/>
              <a:t> </a:t>
            </a:r>
            <a:r>
              <a:rPr lang="es-ES" err="1"/>
              <a:t>tabela</a:t>
            </a:r>
            <a:endParaRPr lang="es-ES"/>
          </a:p>
        </p:txBody>
      </p:sp>
      <p:sp>
        <p:nvSpPr>
          <p:cNvPr id="14" name="Marcador de texto 16">
            <a:extLst>
              <a:ext uri="{FF2B5EF4-FFF2-40B4-BE49-F238E27FC236}">
                <a16:creationId xmlns:a16="http://schemas.microsoft.com/office/drawing/2014/main" id="{C96F8991-1F66-478E-8C12-FB0275A2F29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867835" y="1232632"/>
            <a:ext cx="6587576" cy="39457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2808262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 3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6876" indent="0">
              <a:buFontTx/>
              <a:buNone/>
              <a:defRPr sz="1100"/>
            </a:lvl2pPr>
            <a:lvl3pPr marL="913751" indent="0">
              <a:buFontTx/>
              <a:buNone/>
              <a:defRPr sz="1100"/>
            </a:lvl3pPr>
            <a:lvl4pPr marL="1370624" indent="0">
              <a:buFontTx/>
              <a:buNone/>
              <a:defRPr sz="900"/>
            </a:lvl4pPr>
            <a:lvl5pPr marL="1827498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32" y="1232635"/>
            <a:ext cx="3911401" cy="680072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9" name="Marcador de texto 16">
            <a:extLst>
              <a:ext uri="{FF2B5EF4-FFF2-40B4-BE49-F238E27FC236}">
                <a16:creationId xmlns:a16="http://schemas.microsoft.com/office/drawing/2014/main" id="{714DD14E-5956-4FB9-8BE1-1064DD29319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024069" y="1232635"/>
            <a:ext cx="6456737" cy="680072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6" name="Marcador de gráfico 4">
            <a:extLst>
              <a:ext uri="{FF2B5EF4-FFF2-40B4-BE49-F238E27FC236}">
                <a16:creationId xmlns:a16="http://schemas.microsoft.com/office/drawing/2014/main" id="{9BA63F5F-FC37-4202-A6A3-A0F3EFAC9EB6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711200" y="2062210"/>
            <a:ext cx="3911600" cy="372932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300">
                <a:solidFill>
                  <a:schemeClr val="tx2"/>
                </a:solidFill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seu</a:t>
            </a:r>
            <a:r>
              <a:rPr lang="es-ES"/>
              <a:t> gráfico</a:t>
            </a:r>
          </a:p>
        </p:txBody>
      </p:sp>
      <p:sp>
        <p:nvSpPr>
          <p:cNvPr id="17" name="Marcador de gráfico 4">
            <a:extLst>
              <a:ext uri="{FF2B5EF4-FFF2-40B4-BE49-F238E27FC236}">
                <a16:creationId xmlns:a16="http://schemas.microsoft.com/office/drawing/2014/main" id="{0CABFB2C-905F-4A94-BBC0-7C32FA7695A4}"/>
              </a:ext>
            </a:extLst>
          </p:cNvPr>
          <p:cNvSpPr>
            <a:spLocks noGrp="1"/>
          </p:cNvSpPr>
          <p:nvPr>
            <p:ph type="chart" sz="quarter" idx="21" hasCustomPrompt="1"/>
          </p:nvPr>
        </p:nvSpPr>
        <p:spPr>
          <a:xfrm>
            <a:off x="5024068" y="2062210"/>
            <a:ext cx="6472719" cy="372932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300">
                <a:solidFill>
                  <a:schemeClr val="tx2"/>
                </a:solidFill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seu</a:t>
            </a:r>
            <a:r>
              <a:rPr lang="es-ES"/>
              <a:t> gráfico</a:t>
            </a:r>
          </a:p>
        </p:txBody>
      </p:sp>
      <p:sp>
        <p:nvSpPr>
          <p:cNvPr id="18" name="Forma libre: forma 17">
            <a:extLst>
              <a:ext uri="{FF2B5EF4-FFF2-40B4-BE49-F238E27FC236}">
                <a16:creationId xmlns:a16="http://schemas.microsoft.com/office/drawing/2014/main" id="{AEAA6F10-C407-4622-AF96-B2605139D86B}"/>
              </a:ext>
            </a:extLst>
          </p:cNvPr>
          <p:cNvSpPr/>
          <p:nvPr userDrawn="1"/>
        </p:nvSpPr>
        <p:spPr>
          <a:xfrm>
            <a:off x="4742402" y="3811316"/>
            <a:ext cx="187151" cy="214151"/>
          </a:xfrm>
          <a:custGeom>
            <a:avLst/>
            <a:gdLst/>
            <a:ahLst/>
            <a:cxnLst/>
            <a:rect l="l" t="t" r="r" b="b"/>
            <a:pathLst>
              <a:path w="187151" h="207057">
                <a:moveTo>
                  <a:pt x="0" y="0"/>
                </a:moveTo>
                <a:lnTo>
                  <a:pt x="187151" y="80925"/>
                </a:lnTo>
                <a:lnTo>
                  <a:pt x="187151" y="125574"/>
                </a:lnTo>
                <a:lnTo>
                  <a:pt x="0" y="207057"/>
                </a:lnTo>
                <a:lnTo>
                  <a:pt x="0" y="154409"/>
                </a:lnTo>
                <a:lnTo>
                  <a:pt x="130596" y="103064"/>
                </a:lnTo>
                <a:lnTo>
                  <a:pt x="0" y="5227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73" tIns="45686" rIns="91373" bIns="45686"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69925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rigado - Cont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rma libre: forma 18">
            <a:extLst>
              <a:ext uri="{FF2B5EF4-FFF2-40B4-BE49-F238E27FC236}">
                <a16:creationId xmlns:a16="http://schemas.microsoft.com/office/drawing/2014/main" id="{B61CF4CC-ED27-4967-A11A-B838DFD4D9A3}"/>
              </a:ext>
            </a:extLst>
          </p:cNvPr>
          <p:cNvSpPr/>
          <p:nvPr userDrawn="1"/>
        </p:nvSpPr>
        <p:spPr>
          <a:xfrm>
            <a:off x="0" y="5409102"/>
            <a:ext cx="12192000" cy="1683855"/>
          </a:xfrm>
          <a:custGeom>
            <a:avLst/>
            <a:gdLst>
              <a:gd name="connsiteX0" fmla="*/ 8943278 w 12192000"/>
              <a:gd name="connsiteY0" fmla="*/ 0 h 1628078"/>
              <a:gd name="connsiteX1" fmla="*/ 12192000 w 12192000"/>
              <a:gd name="connsiteY1" fmla="*/ 0 h 1628078"/>
              <a:gd name="connsiteX2" fmla="*/ 12192000 w 12192000"/>
              <a:gd name="connsiteY2" fmla="*/ 1628078 h 1628078"/>
              <a:gd name="connsiteX3" fmla="*/ 0 w 12192000"/>
              <a:gd name="connsiteY3" fmla="*/ 1628078 h 1628078"/>
              <a:gd name="connsiteX4" fmla="*/ 0 w 12192000"/>
              <a:gd name="connsiteY4" fmla="*/ 1226634 h 1628078"/>
              <a:gd name="connsiteX5" fmla="*/ 8943278 w 12192000"/>
              <a:gd name="connsiteY5" fmla="*/ 1226634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1628078">
                <a:moveTo>
                  <a:pt x="8943278" y="0"/>
                </a:moveTo>
                <a:lnTo>
                  <a:pt x="12192000" y="0"/>
                </a:lnTo>
                <a:lnTo>
                  <a:pt x="12192000" y="1628078"/>
                </a:lnTo>
                <a:lnTo>
                  <a:pt x="0" y="1628078"/>
                </a:lnTo>
                <a:lnTo>
                  <a:pt x="0" y="1226634"/>
                </a:lnTo>
                <a:lnTo>
                  <a:pt x="8943278" y="1226634"/>
                </a:lnTo>
                <a:close/>
              </a:path>
            </a:pathLst>
          </a:cu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73" tIns="45686" rIns="91373" bIns="45686" rtlCol="0" anchor="ctr"/>
          <a:lstStyle/>
          <a:p>
            <a:pPr algn="ctr"/>
            <a:endParaRPr lang="es-ES"/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67F54544-030A-41BD-9896-574241C718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979" y="5923620"/>
            <a:ext cx="1896592" cy="343982"/>
          </a:xfrm>
          <a:prstGeom prst="rect">
            <a:avLst/>
          </a:prstGeom>
        </p:spPr>
      </p:pic>
      <p:pic>
        <p:nvPicPr>
          <p:cNvPr id="1026" name="Picture 2" descr="Resultado de imagen de DJSI Member Log">
            <a:extLst>
              <a:ext uri="{FF2B5EF4-FFF2-40B4-BE49-F238E27FC236}">
                <a16:creationId xmlns:a16="http://schemas.microsoft.com/office/drawing/2014/main" id="{892B8B9E-DEBC-4365-A4A8-EB9654BA309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917" y="5764076"/>
            <a:ext cx="1347483" cy="471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Grupo 19">
            <a:extLst>
              <a:ext uri="{FF2B5EF4-FFF2-40B4-BE49-F238E27FC236}">
                <a16:creationId xmlns:a16="http://schemas.microsoft.com/office/drawing/2014/main" id="{246620ED-93B0-4966-8E36-4B883B49E634}"/>
              </a:ext>
            </a:extLst>
          </p:cNvPr>
          <p:cNvGrpSpPr/>
          <p:nvPr userDrawn="1"/>
        </p:nvGrpSpPr>
        <p:grpSpPr>
          <a:xfrm>
            <a:off x="7612561" y="5764523"/>
            <a:ext cx="578707" cy="470606"/>
            <a:chOff x="2203451" y="-4230356"/>
            <a:chExt cx="6896100" cy="5422158"/>
          </a:xfrm>
        </p:grpSpPr>
        <p:pic>
          <p:nvPicPr>
            <p:cNvPr id="22" name="Imagen 21" descr="Imagen relacionada">
              <a:extLst>
                <a:ext uri="{FF2B5EF4-FFF2-40B4-BE49-F238E27FC236}">
                  <a16:creationId xmlns:a16="http://schemas.microsoft.com/office/drawing/2014/main" id="{E4D48186-AF8E-4052-97D2-CCAFD0E1AC76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544" t="3352" r="22378" b="28229"/>
            <a:stretch>
              <a:fillRect/>
            </a:stretch>
          </p:blipFill>
          <p:spPr bwMode="auto">
            <a:xfrm>
              <a:off x="3758085" y="-4230356"/>
              <a:ext cx="3798276" cy="3838472"/>
            </a:xfrm>
            <a:custGeom>
              <a:avLst/>
              <a:gdLst>
                <a:gd name="connsiteX0" fmla="*/ 1899138 w 3798276"/>
                <a:gd name="connsiteY0" fmla="*/ 0 h 3838472"/>
                <a:gd name="connsiteX1" fmla="*/ 3798276 w 3798276"/>
                <a:gd name="connsiteY1" fmla="*/ 1919236 h 3838472"/>
                <a:gd name="connsiteX2" fmla="*/ 1899138 w 3798276"/>
                <a:gd name="connsiteY2" fmla="*/ 3838472 h 3838472"/>
                <a:gd name="connsiteX3" fmla="*/ 0 w 3798276"/>
                <a:gd name="connsiteY3" fmla="*/ 1919236 h 3838472"/>
                <a:gd name="connsiteX4" fmla="*/ 1899138 w 3798276"/>
                <a:gd name="connsiteY4" fmla="*/ 0 h 3838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8276" h="3838472">
                  <a:moveTo>
                    <a:pt x="1899138" y="0"/>
                  </a:moveTo>
                  <a:cubicBezTo>
                    <a:pt x="2948003" y="0"/>
                    <a:pt x="3798276" y="859271"/>
                    <a:pt x="3798276" y="1919236"/>
                  </a:cubicBezTo>
                  <a:cubicBezTo>
                    <a:pt x="3798276" y="2979201"/>
                    <a:pt x="2948003" y="3838472"/>
                    <a:pt x="1899138" y="3838472"/>
                  </a:cubicBezTo>
                  <a:cubicBezTo>
                    <a:pt x="850273" y="3838472"/>
                    <a:pt x="0" y="2979201"/>
                    <a:pt x="0" y="1919236"/>
                  </a:cubicBezTo>
                  <a:cubicBezTo>
                    <a:pt x="0" y="859271"/>
                    <a:pt x="850273" y="0"/>
                    <a:pt x="1899138" y="0"/>
                  </a:cubicBez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Imagen 23" descr="Imagen relacionada">
              <a:extLst>
                <a:ext uri="{FF2B5EF4-FFF2-40B4-BE49-F238E27FC236}">
                  <a16:creationId xmlns:a16="http://schemas.microsoft.com/office/drawing/2014/main" id="{411507B2-E393-4DDC-B151-70751F9943C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8757"/>
            <a:stretch>
              <a:fillRect/>
            </a:stretch>
          </p:blipFill>
          <p:spPr bwMode="auto">
            <a:xfrm>
              <a:off x="2203451" y="0"/>
              <a:ext cx="6896100" cy="1191802"/>
            </a:xfrm>
            <a:custGeom>
              <a:avLst/>
              <a:gdLst>
                <a:gd name="connsiteX0" fmla="*/ 0 w 6896100"/>
                <a:gd name="connsiteY0" fmla="*/ 0 h 1191802"/>
                <a:gd name="connsiteX1" fmla="*/ 6896100 w 6896100"/>
                <a:gd name="connsiteY1" fmla="*/ 0 h 1191802"/>
                <a:gd name="connsiteX2" fmla="*/ 6896100 w 6896100"/>
                <a:gd name="connsiteY2" fmla="*/ 1191802 h 1191802"/>
                <a:gd name="connsiteX3" fmla="*/ 0 w 6896100"/>
                <a:gd name="connsiteY3" fmla="*/ 1191802 h 1191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96100" h="1191802">
                  <a:moveTo>
                    <a:pt x="0" y="0"/>
                  </a:moveTo>
                  <a:lnTo>
                    <a:pt x="6896100" y="0"/>
                  </a:lnTo>
                  <a:lnTo>
                    <a:pt x="6896100" y="1191802"/>
                  </a:lnTo>
                  <a:lnTo>
                    <a:pt x="0" y="1191802"/>
                  </a:ln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3" name="CuadroTexto 22">
            <a:extLst>
              <a:ext uri="{FF2B5EF4-FFF2-40B4-BE49-F238E27FC236}">
                <a16:creationId xmlns:a16="http://schemas.microsoft.com/office/drawing/2014/main" id="{B163354C-97AE-4FC8-BF01-B7FCA9B2C7C0}"/>
              </a:ext>
            </a:extLst>
          </p:cNvPr>
          <p:cNvSpPr txBox="1"/>
          <p:nvPr userDrawn="1"/>
        </p:nvSpPr>
        <p:spPr>
          <a:xfrm>
            <a:off x="719288" y="2012309"/>
            <a:ext cx="3365479" cy="1292593"/>
          </a:xfrm>
          <a:prstGeom prst="rect">
            <a:avLst/>
          </a:prstGeom>
          <a:noFill/>
        </p:spPr>
        <p:txBody>
          <a:bodyPr wrap="square" lIns="91373" tIns="45686" rIns="91373" bIns="45686" rtlCol="0">
            <a:spAutoFit/>
          </a:bodyPr>
          <a:lstStyle/>
          <a:p>
            <a:r>
              <a:rPr lang="pt-PT" sz="1300">
                <a:solidFill>
                  <a:schemeClr val="tx2"/>
                </a:solidFill>
              </a:rPr>
              <a:t>A nossa missão é contribuir para o desenvolvimento das pessoas e das empresas.</a:t>
            </a:r>
          </a:p>
          <a:p>
            <a:endParaRPr lang="pt-PT" sz="1300">
              <a:solidFill>
                <a:schemeClr val="tx2"/>
              </a:solidFill>
            </a:endParaRPr>
          </a:p>
          <a:p>
            <a:r>
              <a:rPr lang="pt-PT" sz="1300">
                <a:solidFill>
                  <a:schemeClr val="tx2"/>
                </a:solidFill>
              </a:rPr>
              <a:t>A nossa cultura baseia-se no princípio</a:t>
            </a:r>
            <a:r>
              <a:rPr lang="pt-PT" sz="1300" baseline="0">
                <a:solidFill>
                  <a:schemeClr val="tx2"/>
                </a:solidFill>
              </a:rPr>
              <a:t> </a:t>
            </a:r>
            <a:r>
              <a:rPr lang="pt-PT" sz="1300">
                <a:solidFill>
                  <a:schemeClr val="tx2"/>
                </a:solidFill>
              </a:rPr>
              <a:t>de que tudo</a:t>
            </a:r>
            <a:r>
              <a:rPr lang="pt-PT" sz="1300" baseline="0">
                <a:solidFill>
                  <a:schemeClr val="tx2"/>
                </a:solidFill>
              </a:rPr>
              <a:t> o </a:t>
            </a:r>
            <a:r>
              <a:rPr lang="pt-PT" sz="1300">
                <a:solidFill>
                  <a:schemeClr val="tx2"/>
                </a:solidFill>
              </a:rPr>
              <a:t>que fazemos deve ser 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68E35268-345F-47C7-ADB2-CE92421E8EED}"/>
              </a:ext>
            </a:extLst>
          </p:cNvPr>
          <p:cNvSpPr txBox="1"/>
          <p:nvPr userDrawn="1"/>
        </p:nvSpPr>
        <p:spPr>
          <a:xfrm>
            <a:off x="721511" y="649714"/>
            <a:ext cx="3365479" cy="732138"/>
          </a:xfrm>
          <a:prstGeom prst="rect">
            <a:avLst/>
          </a:prstGeom>
          <a:noFill/>
        </p:spPr>
        <p:txBody>
          <a:bodyPr wrap="square" lIns="91373" tIns="45686" rIns="91373" bIns="45686" rtlCol="0">
            <a:spAutoFit/>
          </a:bodyPr>
          <a:lstStyle/>
          <a:p>
            <a:r>
              <a:rPr lang="es-ES" sz="4000" err="1">
                <a:solidFill>
                  <a:schemeClr val="accent1"/>
                </a:solidFill>
              </a:rPr>
              <a:t>Obrigado</a:t>
            </a:r>
            <a:r>
              <a:rPr lang="es-ES" sz="4000">
                <a:solidFill>
                  <a:schemeClr val="accent1"/>
                </a:solidFill>
              </a:rPr>
              <a:t>.</a:t>
            </a:r>
          </a:p>
        </p:txBody>
      </p:sp>
      <p:sp>
        <p:nvSpPr>
          <p:cNvPr id="31" name="Forma libre: forma 30">
            <a:extLst>
              <a:ext uri="{FF2B5EF4-FFF2-40B4-BE49-F238E27FC236}">
                <a16:creationId xmlns:a16="http://schemas.microsoft.com/office/drawing/2014/main" id="{073BDF73-2FC7-4E8C-B95B-B68B9F5D3BE9}"/>
              </a:ext>
            </a:extLst>
          </p:cNvPr>
          <p:cNvSpPr/>
          <p:nvPr userDrawn="1"/>
        </p:nvSpPr>
        <p:spPr>
          <a:xfrm>
            <a:off x="6" y="5409102"/>
            <a:ext cx="12196689" cy="1683855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73" tIns="45686" rIns="91373" bIns="4568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/>
          </a:p>
        </p:txBody>
      </p:sp>
      <p:pic>
        <p:nvPicPr>
          <p:cNvPr id="13" name="Picture 2" descr="G:\Com_MarketingCorp\Pastas\Mudança de Imagem\2018\Logos\Simples Próximo Justo\FA_Simples Próximo Justo_RGB\JPG\FA_SANTANDER_Simples Próximo Justo_POS_RGB.jpg"/>
          <p:cNvPicPr>
            <a:picLocks noChangeAspect="1" noChangeArrowheads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37" t="30228" r="7698" b="19124"/>
          <a:stretch/>
        </p:blipFill>
        <p:spPr bwMode="auto">
          <a:xfrm>
            <a:off x="731018" y="3540414"/>
            <a:ext cx="2785913" cy="413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1639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F305A9-DE4B-49AF-BCD4-43A65F7EB5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1745" y="1134058"/>
            <a:ext cx="4937184" cy="1455207"/>
          </a:xfrm>
        </p:spPr>
        <p:txBody>
          <a:bodyPr anchor="t">
            <a:normAutofit/>
          </a:bodyPr>
          <a:lstStyle>
            <a:lvl1pPr algn="l">
              <a:lnSpc>
                <a:spcPct val="90000"/>
              </a:lnSpc>
              <a:defRPr sz="4200">
                <a:solidFill>
                  <a:schemeClr val="accent1"/>
                </a:solidFill>
              </a:defRPr>
            </a:lvl1pPr>
          </a:lstStyle>
          <a:p>
            <a:r>
              <a:rPr lang="pt-PT"/>
              <a:t>título do Modelo Global</a:t>
            </a:r>
            <a:endParaRPr lang="es-E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AB17398-CAA7-49B6-868C-44D053E7EA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4620" y="2815400"/>
            <a:ext cx="4934309" cy="2519926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1215"/>
              </a:spcAft>
              <a:buNone/>
              <a:defRPr sz="2000">
                <a:solidFill>
                  <a:schemeClr val="tx2"/>
                </a:solidFill>
              </a:defRPr>
            </a:lvl1pPr>
            <a:lvl2pPr marL="462483" indent="0" algn="ctr">
              <a:buNone/>
              <a:defRPr sz="2000"/>
            </a:lvl2pPr>
            <a:lvl3pPr marL="924967" indent="0" algn="ctr">
              <a:buNone/>
              <a:defRPr sz="1800"/>
            </a:lvl3pPr>
            <a:lvl4pPr marL="1387450" indent="0" algn="ctr">
              <a:buNone/>
              <a:defRPr sz="1600"/>
            </a:lvl4pPr>
            <a:lvl5pPr marL="1849933" indent="0" algn="ctr">
              <a:buNone/>
              <a:defRPr sz="1600"/>
            </a:lvl5pPr>
            <a:lvl6pPr marL="2312414" indent="0" algn="ctr">
              <a:buNone/>
              <a:defRPr sz="1600"/>
            </a:lvl6pPr>
            <a:lvl7pPr marL="2774901" indent="0" algn="ctr">
              <a:buNone/>
              <a:defRPr sz="1600"/>
            </a:lvl7pPr>
            <a:lvl8pPr marL="3237382" indent="0" algn="ctr">
              <a:buNone/>
              <a:defRPr sz="1600"/>
            </a:lvl8pPr>
            <a:lvl9pPr marL="3699865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9012236B-6821-499F-B6D4-F11EC0EF0C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979" y="5923620"/>
            <a:ext cx="1896592" cy="343982"/>
          </a:xfrm>
          <a:prstGeom prst="rect">
            <a:avLst/>
          </a:prstGeom>
        </p:spPr>
      </p:pic>
      <p:sp>
        <p:nvSpPr>
          <p:cNvPr id="7" name="Forma libre: forma 6">
            <a:extLst>
              <a:ext uri="{FF2B5EF4-FFF2-40B4-BE49-F238E27FC236}">
                <a16:creationId xmlns:a16="http://schemas.microsoft.com/office/drawing/2014/main" id="{AB9931BC-B448-4EA6-A35A-56AF5C4C24E5}"/>
              </a:ext>
            </a:extLst>
          </p:cNvPr>
          <p:cNvSpPr/>
          <p:nvPr userDrawn="1"/>
        </p:nvSpPr>
        <p:spPr>
          <a:xfrm>
            <a:off x="7" y="5409102"/>
            <a:ext cx="12196689" cy="1683855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2495" tIns="46247" rIns="92495" bIns="4624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233288"/>
            <a:endParaRPr lang="es-ES">
              <a:solidFill>
                <a:prstClr val="white"/>
              </a:solidFill>
            </a:endParaRPr>
          </a:p>
        </p:txBody>
      </p:sp>
      <p:sp>
        <p:nvSpPr>
          <p:cNvPr id="17" name="Marcador de texto 16">
            <a:extLst>
              <a:ext uri="{FF2B5EF4-FFF2-40B4-BE49-F238E27FC236}">
                <a16:creationId xmlns:a16="http://schemas.microsoft.com/office/drawing/2014/main" id="{F5E5F18D-70E6-495C-A384-2EDAE003093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9657" y="345082"/>
            <a:ext cx="11177551" cy="433458"/>
          </a:xfrm>
        </p:spPr>
        <p:txBody>
          <a:bodyPr>
            <a:noAutofit/>
          </a:bodyPr>
          <a:lstStyle>
            <a:lvl1pPr marL="0" indent="0">
              <a:buNone/>
              <a:defRPr sz="1300">
                <a:solidFill>
                  <a:schemeClr val="tx2"/>
                </a:solidFill>
              </a:defRPr>
            </a:lvl1pPr>
            <a:lvl2pPr marL="462483" indent="0">
              <a:buNone/>
              <a:defRPr sz="1300">
                <a:solidFill>
                  <a:schemeClr val="tx2"/>
                </a:solidFill>
              </a:defRPr>
            </a:lvl2pPr>
            <a:lvl3pPr marL="924967" indent="0">
              <a:buNone/>
              <a:defRPr sz="1300">
                <a:solidFill>
                  <a:schemeClr val="tx2"/>
                </a:solidFill>
              </a:defRPr>
            </a:lvl3pPr>
            <a:lvl4pPr marL="1387450" indent="0">
              <a:buNone/>
              <a:defRPr sz="1300">
                <a:solidFill>
                  <a:schemeClr val="tx2"/>
                </a:solidFill>
              </a:defRPr>
            </a:lvl4pPr>
            <a:lvl5pPr marL="1849933" indent="0"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3072362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Índ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0B320C-F93D-45A7-B5CC-5C18ED1F8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AC1B0227-D6EB-4F05-832D-EB54916F79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B3950534-FF56-4FD6-A098-D625BC54F0FA}"/>
              </a:ext>
            </a:extLst>
          </p:cNvPr>
          <p:cNvSpPr txBox="1"/>
          <p:nvPr userDrawn="1"/>
        </p:nvSpPr>
        <p:spPr>
          <a:xfrm>
            <a:off x="722533" y="322972"/>
            <a:ext cx="1849821" cy="324591"/>
          </a:xfrm>
          <a:prstGeom prst="rect">
            <a:avLst/>
          </a:prstGeom>
          <a:noFill/>
        </p:spPr>
        <p:txBody>
          <a:bodyPr wrap="square" lIns="123329" tIns="61666" rIns="123329" bIns="61666" rtlCol="0">
            <a:spAutoFit/>
          </a:bodyPr>
          <a:lstStyle/>
          <a:p>
            <a:pPr defTabSz="1233288"/>
            <a:r>
              <a:rPr lang="es-ES" sz="1300">
                <a:solidFill>
                  <a:srgbClr val="EB0000"/>
                </a:solidFill>
              </a:rPr>
              <a:t>Índice</a:t>
            </a:r>
          </a:p>
        </p:txBody>
      </p:sp>
      <p:sp>
        <p:nvSpPr>
          <p:cNvPr id="14" name="Marcador de texto 11">
            <a:extLst>
              <a:ext uri="{FF2B5EF4-FFF2-40B4-BE49-F238E27FC236}">
                <a16:creationId xmlns:a16="http://schemas.microsoft.com/office/drawing/2014/main" id="{0CC57AA0-6C3B-4C80-BF6B-C321A960A9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2641" y="1137934"/>
            <a:ext cx="10635843" cy="5074764"/>
          </a:xfrm>
        </p:spPr>
        <p:txBody>
          <a:bodyPr>
            <a:normAutofit/>
          </a:bodyPr>
          <a:lstStyle>
            <a:lvl1pPr marL="436992" indent="-400577">
              <a:buClr>
                <a:schemeClr val="accent1"/>
              </a:buClr>
              <a:buSzPct val="45000"/>
              <a:buFont typeface="+mj-lt"/>
              <a:buAutoNum type="arabicPeriod"/>
              <a:defRPr lang="es-ES" sz="4000" b="1" kern="1200" dirty="0" smtClean="0">
                <a:solidFill>
                  <a:srgbClr val="3C3C3B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None/>
              <a:defRPr/>
            </a:lvl2pPr>
          </a:lstStyle>
          <a:p>
            <a:pPr lvl="0"/>
            <a:r>
              <a:rPr lang="pt-PT"/>
              <a:t>Título de seção</a:t>
            </a:r>
          </a:p>
        </p:txBody>
      </p:sp>
    </p:spTree>
    <p:extLst>
      <p:ext uri="{BB962C8B-B14F-4D97-AF65-F5344CB8AC3E}">
        <p14:creationId xmlns:p14="http://schemas.microsoft.com/office/powerpoint/2010/main" val="8671414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e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0B320C-F93D-45A7-B5CC-5C18ED1F8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AC1B0227-D6EB-4F05-832D-EB54916F79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577125" y="82637"/>
            <a:ext cx="10515600" cy="721375"/>
          </a:xfrm>
        </p:spPr>
        <p:txBody>
          <a:bodyPr vert="horz" lIns="123329" tIns="61666" rIns="123329" bIns="61666" rtlCol="0" anchor="t">
            <a:noAutofit/>
          </a:bodyPr>
          <a:lstStyle>
            <a:lvl1pPr>
              <a:defRPr lang="pt-PT" sz="36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11" name="Marcador de texto 16">
            <a:extLst>
              <a:ext uri="{FF2B5EF4-FFF2-40B4-BE49-F238E27FC236}">
                <a16:creationId xmlns:a16="http://schemas.microsoft.com/office/drawing/2014/main" id="{81AA2FC0-CE4E-483D-AF92-BEA6CD796B9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77127" y="1124713"/>
            <a:ext cx="10903849" cy="5263869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2618524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de cap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45CB15-1F44-40E1-909E-6233010BC1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518" y="647833"/>
            <a:ext cx="4386195" cy="2950470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o estilo de título do Modelo </a:t>
            </a:r>
            <a:br>
              <a:rPr lang="pt-PT"/>
            </a:br>
            <a:r>
              <a:rPr lang="pt-PT"/>
              <a:t>Global</a:t>
            </a:r>
            <a:endParaRPr lang="es-ES"/>
          </a:p>
        </p:txBody>
      </p:sp>
      <p:sp>
        <p:nvSpPr>
          <p:cNvPr id="5" name="Forma libre: forma 6">
            <a:extLst>
              <a:ext uri="{FF2B5EF4-FFF2-40B4-BE49-F238E27FC236}">
                <a16:creationId xmlns:a16="http://schemas.microsoft.com/office/drawing/2014/main" id="{14147011-41AD-4D71-ABCD-072B7EE84809}"/>
              </a:ext>
            </a:extLst>
          </p:cNvPr>
          <p:cNvSpPr/>
          <p:nvPr userDrawn="1"/>
        </p:nvSpPr>
        <p:spPr>
          <a:xfrm>
            <a:off x="8925343" y="0"/>
            <a:ext cx="3266660" cy="7092950"/>
          </a:xfrm>
          <a:custGeom>
            <a:avLst/>
            <a:gdLst>
              <a:gd name="connsiteX0" fmla="*/ 1630018 w 3266660"/>
              <a:gd name="connsiteY0" fmla="*/ 0 h 6858000"/>
              <a:gd name="connsiteX1" fmla="*/ 3266660 w 3266660"/>
              <a:gd name="connsiteY1" fmla="*/ 0 h 6858000"/>
              <a:gd name="connsiteX2" fmla="*/ 3266660 w 3266660"/>
              <a:gd name="connsiteY2" fmla="*/ 6858000 h 6858000"/>
              <a:gd name="connsiteX3" fmla="*/ 0 w 3266660"/>
              <a:gd name="connsiteY3" fmla="*/ 6858000 h 6858000"/>
              <a:gd name="connsiteX4" fmla="*/ 0 w 3266660"/>
              <a:gd name="connsiteY4" fmla="*/ 2822713 h 6858000"/>
              <a:gd name="connsiteX5" fmla="*/ 1630018 w 3266660"/>
              <a:gd name="connsiteY5" fmla="*/ 282271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66660" h="6858000">
                <a:moveTo>
                  <a:pt x="1630018" y="0"/>
                </a:moveTo>
                <a:lnTo>
                  <a:pt x="3266660" y="0"/>
                </a:lnTo>
                <a:lnTo>
                  <a:pt x="3266660" y="6858000"/>
                </a:lnTo>
                <a:lnTo>
                  <a:pt x="0" y="6858000"/>
                </a:lnTo>
                <a:lnTo>
                  <a:pt x="0" y="2822713"/>
                </a:lnTo>
                <a:lnTo>
                  <a:pt x="1630018" y="2822713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2495" tIns="46247" rIns="92495" bIns="4624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233288"/>
            <a:endParaRPr lang="es-ES">
              <a:solidFill>
                <a:prstClr val="white"/>
              </a:solidFill>
            </a:endParaRPr>
          </a:p>
        </p:txBody>
      </p:sp>
      <p:sp>
        <p:nvSpPr>
          <p:cNvPr id="6" name="Marcador de texto 13">
            <a:extLst>
              <a:ext uri="{FF2B5EF4-FFF2-40B4-BE49-F238E27FC236}">
                <a16:creationId xmlns:a16="http://schemas.microsoft.com/office/drawing/2014/main" id="{CF711B63-7C0F-4649-B7F0-A207C8B6C42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945217" y="3382580"/>
            <a:ext cx="2958755" cy="2445983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6700">
                <a:solidFill>
                  <a:schemeClr val="bg1"/>
                </a:solidFill>
              </a:defRPr>
            </a:lvl1pPr>
            <a:lvl2pPr>
              <a:defRPr sz="14000">
                <a:solidFill>
                  <a:schemeClr val="tx1"/>
                </a:solidFill>
              </a:defRPr>
            </a:lvl2pPr>
            <a:lvl3pPr>
              <a:defRPr sz="11600">
                <a:solidFill>
                  <a:schemeClr val="tx1"/>
                </a:solidFill>
              </a:defRPr>
            </a:lvl3pPr>
            <a:lvl4pPr>
              <a:defRPr sz="9700">
                <a:solidFill>
                  <a:schemeClr val="tx1"/>
                </a:solidFill>
              </a:defRPr>
            </a:lvl4pPr>
            <a:lvl5pPr>
              <a:defRPr sz="9700">
                <a:solidFill>
                  <a:schemeClr val="tx1"/>
                </a:solidFill>
              </a:defRPr>
            </a:lvl5pPr>
          </a:lstStyle>
          <a:p>
            <a:pPr lvl="0"/>
            <a:r>
              <a:rPr lang="es-E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4009380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e conteúd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4" y="1124720"/>
            <a:ext cx="5297557" cy="1661069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 do Modelo Global</a:t>
            </a:r>
            <a:endParaRPr lang="es-ES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62483" indent="0">
              <a:buFontTx/>
              <a:buNone/>
              <a:defRPr sz="1100"/>
            </a:lvl2pPr>
            <a:lvl3pPr marL="924967" indent="0">
              <a:buFontTx/>
              <a:buNone/>
              <a:defRPr sz="1100"/>
            </a:lvl3pPr>
            <a:lvl4pPr marL="1387450" indent="0">
              <a:buFontTx/>
              <a:buNone/>
              <a:defRPr sz="900"/>
            </a:lvl4pPr>
            <a:lvl5pPr marL="1849933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8" name="Marcador de texto 16">
            <a:extLst>
              <a:ext uri="{FF2B5EF4-FFF2-40B4-BE49-F238E27FC236}">
                <a16:creationId xmlns:a16="http://schemas.microsoft.com/office/drawing/2014/main" id="{07C8BA77-3119-41AC-B33B-745A751CC06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1025" y="3199548"/>
            <a:ext cx="5308776" cy="318903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20" name="Marcador de texto 16">
            <a:extLst>
              <a:ext uri="{FF2B5EF4-FFF2-40B4-BE49-F238E27FC236}">
                <a16:creationId xmlns:a16="http://schemas.microsoft.com/office/drawing/2014/main" id="{81AA2FC0-CE4E-483D-AF92-BEA6CD796B9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99971" y="1124713"/>
            <a:ext cx="5081004" cy="5263869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89003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e conteúd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3" y="1124713"/>
            <a:ext cx="10758733" cy="1885466"/>
          </a:xfrm>
        </p:spPr>
        <p:txBody>
          <a:bodyPr anchor="t">
            <a:no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 do Modelo Global</a:t>
            </a:r>
            <a:endParaRPr lang="es-ES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62483" indent="0">
              <a:buFontTx/>
              <a:buNone/>
              <a:defRPr sz="1100"/>
            </a:lvl2pPr>
            <a:lvl3pPr marL="924967" indent="0">
              <a:buFontTx/>
              <a:buNone/>
              <a:defRPr sz="1100"/>
            </a:lvl3pPr>
            <a:lvl4pPr marL="1387450" indent="0">
              <a:buFontTx/>
              <a:buNone/>
              <a:defRPr sz="900"/>
            </a:lvl4pPr>
            <a:lvl5pPr marL="1849933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1024" y="3199548"/>
            <a:ext cx="10758733" cy="3189036"/>
          </a:xfrm>
        </p:spPr>
        <p:txBody>
          <a:bodyPr numCol="2" spcCol="971090"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1507820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ta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1978" y="1147780"/>
            <a:ext cx="3801119" cy="5223722"/>
          </a:xfrm>
        </p:spPr>
        <p:txBody>
          <a:bodyPr anchor="t">
            <a:noAutofit/>
          </a:bodyPr>
          <a:lstStyle>
            <a:lvl1pPr>
              <a:defRPr sz="26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pt-PT"/>
              <a:t>Editar os estilos </a:t>
            </a:r>
            <a:br>
              <a:rPr lang="pt-PT"/>
            </a:br>
            <a:r>
              <a:rPr lang="pt-PT"/>
              <a:t>de texto do Modelo Global</a:t>
            </a:r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62483" indent="0">
              <a:buFontTx/>
              <a:buNone/>
              <a:defRPr sz="1100"/>
            </a:lvl2pPr>
            <a:lvl3pPr marL="924967" indent="0">
              <a:buFontTx/>
              <a:buNone/>
              <a:defRPr sz="1100"/>
            </a:lvl3pPr>
            <a:lvl4pPr marL="1387450" indent="0">
              <a:buFontTx/>
              <a:buNone/>
              <a:defRPr sz="900"/>
            </a:lvl4pPr>
            <a:lvl5pPr marL="1849933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72725" y="1164858"/>
            <a:ext cx="6697035" cy="5223724"/>
          </a:xfrm>
        </p:spPr>
        <p:txBody>
          <a:bodyPr numCol="1" spcCol="0"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4048666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62483" indent="0">
              <a:buFontTx/>
              <a:buNone/>
              <a:defRPr sz="1100"/>
            </a:lvl2pPr>
            <a:lvl3pPr marL="924967" indent="0">
              <a:buFontTx/>
              <a:buNone/>
              <a:defRPr sz="1100"/>
            </a:lvl3pPr>
            <a:lvl4pPr marL="1387450" indent="0">
              <a:buFontTx/>
              <a:buNone/>
              <a:defRPr sz="900"/>
            </a:lvl4pPr>
            <a:lvl5pPr marL="1849933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3AABE934-895B-422A-B16D-773558A762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51" y="1124722"/>
            <a:ext cx="3911401" cy="1223665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</a:t>
            </a:r>
            <a:endParaRPr lang="es-ES"/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33" y="2603405"/>
            <a:ext cx="3911401" cy="3785177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6" name="Marcador de gráfico 5">
            <a:extLst>
              <a:ext uri="{FF2B5EF4-FFF2-40B4-BE49-F238E27FC236}">
                <a16:creationId xmlns:a16="http://schemas.microsoft.com/office/drawing/2014/main" id="{2444BFBF-CC97-48FB-BE66-A28460A7384B}"/>
              </a:ext>
            </a:extLst>
          </p:cNvPr>
          <p:cNvSpPr>
            <a:spLocks noGrp="1"/>
          </p:cNvSpPr>
          <p:nvPr>
            <p:ph type="chart" sz="quarter" idx="17" hasCustomPrompt="1"/>
          </p:nvPr>
        </p:nvSpPr>
        <p:spPr>
          <a:xfrm>
            <a:off x="4797433" y="1124694"/>
            <a:ext cx="6683551" cy="5298368"/>
          </a:xfrm>
        </p:spPr>
        <p:txBody>
          <a:bodyPr>
            <a:normAutofit/>
          </a:bodyPr>
          <a:lstStyle>
            <a:lvl1pPr marL="0" indent="0" algn="ctr">
              <a:buNone/>
              <a:defRPr lang="es-ES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MX" err="1"/>
              <a:t>Insira</a:t>
            </a:r>
            <a:r>
              <a:rPr lang="es-MX"/>
              <a:t> </a:t>
            </a:r>
            <a:r>
              <a:rPr lang="es-MX" err="1"/>
              <a:t>aqui</a:t>
            </a:r>
            <a:r>
              <a:rPr lang="es-MX"/>
              <a:t> </a:t>
            </a:r>
            <a:r>
              <a:rPr lang="es-MX" err="1"/>
              <a:t>seu</a:t>
            </a:r>
            <a:r>
              <a:rPr lang="es-MX"/>
              <a:t> gráfico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06695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62483" indent="0">
              <a:buFontTx/>
              <a:buNone/>
              <a:defRPr sz="1100"/>
            </a:lvl2pPr>
            <a:lvl3pPr marL="924967" indent="0">
              <a:buFontTx/>
              <a:buNone/>
              <a:defRPr sz="1100"/>
            </a:lvl3pPr>
            <a:lvl4pPr marL="1387450" indent="0">
              <a:buFontTx/>
              <a:buNone/>
              <a:defRPr sz="900"/>
            </a:lvl4pPr>
            <a:lvl5pPr marL="1849933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33" y="1232631"/>
            <a:ext cx="3911401" cy="5155951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abla 4">
            <a:extLst>
              <a:ext uri="{FF2B5EF4-FFF2-40B4-BE49-F238E27FC236}">
                <a16:creationId xmlns:a16="http://schemas.microsoft.com/office/drawing/2014/main" id="{DF826A4E-1A0C-46D7-8327-402D7A34DE68}"/>
              </a:ext>
            </a:extLst>
          </p:cNvPr>
          <p:cNvSpPr>
            <a:spLocks noGrp="1"/>
          </p:cNvSpPr>
          <p:nvPr>
            <p:ph type="tbl" sz="quarter" idx="18" hasCustomPrompt="1"/>
          </p:nvPr>
        </p:nvSpPr>
        <p:spPr>
          <a:xfrm>
            <a:off x="4867835" y="1766291"/>
            <a:ext cx="6612965" cy="4656777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sua</a:t>
            </a:r>
            <a:r>
              <a:rPr lang="es-ES"/>
              <a:t> </a:t>
            </a:r>
            <a:r>
              <a:rPr lang="es-ES" err="1"/>
              <a:t>tabela</a:t>
            </a:r>
            <a:endParaRPr lang="es-ES"/>
          </a:p>
        </p:txBody>
      </p:sp>
      <p:sp>
        <p:nvSpPr>
          <p:cNvPr id="14" name="Marcador de texto 16">
            <a:extLst>
              <a:ext uri="{FF2B5EF4-FFF2-40B4-BE49-F238E27FC236}">
                <a16:creationId xmlns:a16="http://schemas.microsoft.com/office/drawing/2014/main" id="{C96F8991-1F66-478E-8C12-FB0275A2F29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867835" y="1232633"/>
            <a:ext cx="6587576" cy="39457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3464199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 3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62483" indent="0">
              <a:buFontTx/>
              <a:buNone/>
              <a:defRPr sz="1100"/>
            </a:lvl2pPr>
            <a:lvl3pPr marL="924967" indent="0">
              <a:buFontTx/>
              <a:buNone/>
              <a:defRPr sz="1100"/>
            </a:lvl3pPr>
            <a:lvl4pPr marL="1387450" indent="0">
              <a:buFontTx/>
              <a:buNone/>
              <a:defRPr sz="900"/>
            </a:lvl4pPr>
            <a:lvl5pPr marL="1849933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33" y="1232631"/>
            <a:ext cx="3911401" cy="68007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9" name="Marcador de texto 16">
            <a:extLst>
              <a:ext uri="{FF2B5EF4-FFF2-40B4-BE49-F238E27FC236}">
                <a16:creationId xmlns:a16="http://schemas.microsoft.com/office/drawing/2014/main" id="{714DD14E-5956-4FB9-8BE1-1064DD29319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024070" y="1232631"/>
            <a:ext cx="6456737" cy="68007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6" name="Marcador de gráfico 4">
            <a:extLst>
              <a:ext uri="{FF2B5EF4-FFF2-40B4-BE49-F238E27FC236}">
                <a16:creationId xmlns:a16="http://schemas.microsoft.com/office/drawing/2014/main" id="{9BA63F5F-FC37-4202-A6A3-A0F3EFAC9EB6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711200" y="2062210"/>
            <a:ext cx="3911600" cy="372932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300">
                <a:solidFill>
                  <a:schemeClr val="tx2"/>
                </a:solidFill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seu</a:t>
            </a:r>
            <a:r>
              <a:rPr lang="es-ES"/>
              <a:t> gráfico</a:t>
            </a:r>
          </a:p>
        </p:txBody>
      </p:sp>
      <p:sp>
        <p:nvSpPr>
          <p:cNvPr id="17" name="Marcador de gráfico 4">
            <a:extLst>
              <a:ext uri="{FF2B5EF4-FFF2-40B4-BE49-F238E27FC236}">
                <a16:creationId xmlns:a16="http://schemas.microsoft.com/office/drawing/2014/main" id="{0CABFB2C-905F-4A94-BBC0-7C32FA7695A4}"/>
              </a:ext>
            </a:extLst>
          </p:cNvPr>
          <p:cNvSpPr>
            <a:spLocks noGrp="1"/>
          </p:cNvSpPr>
          <p:nvPr>
            <p:ph type="chart" sz="quarter" idx="21" hasCustomPrompt="1"/>
          </p:nvPr>
        </p:nvSpPr>
        <p:spPr>
          <a:xfrm>
            <a:off x="5024068" y="2062210"/>
            <a:ext cx="6472719" cy="372932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300">
                <a:solidFill>
                  <a:schemeClr val="tx2"/>
                </a:solidFill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seu</a:t>
            </a:r>
            <a:r>
              <a:rPr lang="es-ES"/>
              <a:t> gráfico</a:t>
            </a:r>
          </a:p>
        </p:txBody>
      </p:sp>
      <p:sp>
        <p:nvSpPr>
          <p:cNvPr id="18" name="Forma libre: forma 17">
            <a:extLst>
              <a:ext uri="{FF2B5EF4-FFF2-40B4-BE49-F238E27FC236}">
                <a16:creationId xmlns:a16="http://schemas.microsoft.com/office/drawing/2014/main" id="{AEAA6F10-C407-4622-AF96-B2605139D86B}"/>
              </a:ext>
            </a:extLst>
          </p:cNvPr>
          <p:cNvSpPr/>
          <p:nvPr userDrawn="1"/>
        </p:nvSpPr>
        <p:spPr>
          <a:xfrm>
            <a:off x="4742403" y="3811316"/>
            <a:ext cx="187151" cy="214151"/>
          </a:xfrm>
          <a:custGeom>
            <a:avLst/>
            <a:gdLst/>
            <a:ahLst/>
            <a:cxnLst/>
            <a:rect l="l" t="t" r="r" b="b"/>
            <a:pathLst>
              <a:path w="187151" h="207057">
                <a:moveTo>
                  <a:pt x="0" y="0"/>
                </a:moveTo>
                <a:lnTo>
                  <a:pt x="187151" y="80925"/>
                </a:lnTo>
                <a:lnTo>
                  <a:pt x="187151" y="125574"/>
                </a:lnTo>
                <a:lnTo>
                  <a:pt x="0" y="207057"/>
                </a:lnTo>
                <a:lnTo>
                  <a:pt x="0" y="154409"/>
                </a:lnTo>
                <a:lnTo>
                  <a:pt x="130596" y="103064"/>
                </a:lnTo>
                <a:lnTo>
                  <a:pt x="0" y="5227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3329" tIns="61666" rIns="123329" bIns="61666" rtlCol="0" anchor="ctr"/>
          <a:lstStyle/>
          <a:p>
            <a:pPr algn="ctr" defTabSz="1233288"/>
            <a:endParaRPr lang="es-E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4794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rigado - Cont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rma libre: forma 18">
            <a:extLst>
              <a:ext uri="{FF2B5EF4-FFF2-40B4-BE49-F238E27FC236}">
                <a16:creationId xmlns:a16="http://schemas.microsoft.com/office/drawing/2014/main" id="{B61CF4CC-ED27-4967-A11A-B838DFD4D9A3}"/>
              </a:ext>
            </a:extLst>
          </p:cNvPr>
          <p:cNvSpPr/>
          <p:nvPr userDrawn="1"/>
        </p:nvSpPr>
        <p:spPr>
          <a:xfrm>
            <a:off x="0" y="5409102"/>
            <a:ext cx="12192000" cy="1683855"/>
          </a:xfrm>
          <a:custGeom>
            <a:avLst/>
            <a:gdLst>
              <a:gd name="connsiteX0" fmla="*/ 8943278 w 12192000"/>
              <a:gd name="connsiteY0" fmla="*/ 0 h 1628078"/>
              <a:gd name="connsiteX1" fmla="*/ 12192000 w 12192000"/>
              <a:gd name="connsiteY1" fmla="*/ 0 h 1628078"/>
              <a:gd name="connsiteX2" fmla="*/ 12192000 w 12192000"/>
              <a:gd name="connsiteY2" fmla="*/ 1628078 h 1628078"/>
              <a:gd name="connsiteX3" fmla="*/ 0 w 12192000"/>
              <a:gd name="connsiteY3" fmla="*/ 1628078 h 1628078"/>
              <a:gd name="connsiteX4" fmla="*/ 0 w 12192000"/>
              <a:gd name="connsiteY4" fmla="*/ 1226634 h 1628078"/>
              <a:gd name="connsiteX5" fmla="*/ 8943278 w 12192000"/>
              <a:gd name="connsiteY5" fmla="*/ 1226634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1628078">
                <a:moveTo>
                  <a:pt x="8943278" y="0"/>
                </a:moveTo>
                <a:lnTo>
                  <a:pt x="12192000" y="0"/>
                </a:lnTo>
                <a:lnTo>
                  <a:pt x="12192000" y="1628078"/>
                </a:lnTo>
                <a:lnTo>
                  <a:pt x="0" y="1628078"/>
                </a:lnTo>
                <a:lnTo>
                  <a:pt x="0" y="1226634"/>
                </a:lnTo>
                <a:lnTo>
                  <a:pt x="8943278" y="1226634"/>
                </a:lnTo>
                <a:close/>
              </a:path>
            </a:pathLst>
          </a:cu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3329" tIns="61666" rIns="123329" bIns="61666" rtlCol="0" anchor="ctr"/>
          <a:lstStyle/>
          <a:p>
            <a:pPr algn="ctr" defTabSz="1233288"/>
            <a:endParaRPr lang="es-ES">
              <a:solidFill>
                <a:prstClr val="white"/>
              </a:solidFill>
            </a:endParaRPr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67F54544-030A-41BD-9896-574241C718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979" y="5923620"/>
            <a:ext cx="1896592" cy="343982"/>
          </a:xfrm>
          <a:prstGeom prst="rect">
            <a:avLst/>
          </a:prstGeom>
        </p:spPr>
      </p:pic>
      <p:pic>
        <p:nvPicPr>
          <p:cNvPr id="1026" name="Picture 2" descr="Resultado de imagen de DJSI Member Log">
            <a:extLst>
              <a:ext uri="{FF2B5EF4-FFF2-40B4-BE49-F238E27FC236}">
                <a16:creationId xmlns:a16="http://schemas.microsoft.com/office/drawing/2014/main" id="{892B8B9E-DEBC-4365-A4A8-EB9654BA309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917" y="5764083"/>
            <a:ext cx="1347483" cy="471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Grupo 19">
            <a:extLst>
              <a:ext uri="{FF2B5EF4-FFF2-40B4-BE49-F238E27FC236}">
                <a16:creationId xmlns:a16="http://schemas.microsoft.com/office/drawing/2014/main" id="{246620ED-93B0-4966-8E36-4B883B49E634}"/>
              </a:ext>
            </a:extLst>
          </p:cNvPr>
          <p:cNvGrpSpPr/>
          <p:nvPr userDrawn="1"/>
        </p:nvGrpSpPr>
        <p:grpSpPr>
          <a:xfrm>
            <a:off x="7612561" y="5764523"/>
            <a:ext cx="578707" cy="470606"/>
            <a:chOff x="2203451" y="-4230356"/>
            <a:chExt cx="6896100" cy="5422158"/>
          </a:xfrm>
        </p:grpSpPr>
        <p:pic>
          <p:nvPicPr>
            <p:cNvPr id="22" name="Imagen 21" descr="Imagen relacionada">
              <a:extLst>
                <a:ext uri="{FF2B5EF4-FFF2-40B4-BE49-F238E27FC236}">
                  <a16:creationId xmlns:a16="http://schemas.microsoft.com/office/drawing/2014/main" id="{E4D48186-AF8E-4052-97D2-CCAFD0E1AC76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544" t="3352" r="22378" b="28229"/>
            <a:stretch>
              <a:fillRect/>
            </a:stretch>
          </p:blipFill>
          <p:spPr bwMode="auto">
            <a:xfrm>
              <a:off x="3758085" y="-4230356"/>
              <a:ext cx="3798276" cy="3838472"/>
            </a:xfrm>
            <a:custGeom>
              <a:avLst/>
              <a:gdLst>
                <a:gd name="connsiteX0" fmla="*/ 1899138 w 3798276"/>
                <a:gd name="connsiteY0" fmla="*/ 0 h 3838472"/>
                <a:gd name="connsiteX1" fmla="*/ 3798276 w 3798276"/>
                <a:gd name="connsiteY1" fmla="*/ 1919236 h 3838472"/>
                <a:gd name="connsiteX2" fmla="*/ 1899138 w 3798276"/>
                <a:gd name="connsiteY2" fmla="*/ 3838472 h 3838472"/>
                <a:gd name="connsiteX3" fmla="*/ 0 w 3798276"/>
                <a:gd name="connsiteY3" fmla="*/ 1919236 h 3838472"/>
                <a:gd name="connsiteX4" fmla="*/ 1899138 w 3798276"/>
                <a:gd name="connsiteY4" fmla="*/ 0 h 3838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8276" h="3838472">
                  <a:moveTo>
                    <a:pt x="1899138" y="0"/>
                  </a:moveTo>
                  <a:cubicBezTo>
                    <a:pt x="2948003" y="0"/>
                    <a:pt x="3798276" y="859271"/>
                    <a:pt x="3798276" y="1919236"/>
                  </a:cubicBezTo>
                  <a:cubicBezTo>
                    <a:pt x="3798276" y="2979201"/>
                    <a:pt x="2948003" y="3838472"/>
                    <a:pt x="1899138" y="3838472"/>
                  </a:cubicBezTo>
                  <a:cubicBezTo>
                    <a:pt x="850273" y="3838472"/>
                    <a:pt x="0" y="2979201"/>
                    <a:pt x="0" y="1919236"/>
                  </a:cubicBezTo>
                  <a:cubicBezTo>
                    <a:pt x="0" y="859271"/>
                    <a:pt x="850273" y="0"/>
                    <a:pt x="1899138" y="0"/>
                  </a:cubicBez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Imagen 23" descr="Imagen relacionada">
              <a:extLst>
                <a:ext uri="{FF2B5EF4-FFF2-40B4-BE49-F238E27FC236}">
                  <a16:creationId xmlns:a16="http://schemas.microsoft.com/office/drawing/2014/main" id="{411507B2-E393-4DDC-B151-70751F9943C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8757"/>
            <a:stretch>
              <a:fillRect/>
            </a:stretch>
          </p:blipFill>
          <p:spPr bwMode="auto">
            <a:xfrm>
              <a:off x="2203451" y="0"/>
              <a:ext cx="6896100" cy="1191802"/>
            </a:xfrm>
            <a:custGeom>
              <a:avLst/>
              <a:gdLst>
                <a:gd name="connsiteX0" fmla="*/ 0 w 6896100"/>
                <a:gd name="connsiteY0" fmla="*/ 0 h 1191802"/>
                <a:gd name="connsiteX1" fmla="*/ 6896100 w 6896100"/>
                <a:gd name="connsiteY1" fmla="*/ 0 h 1191802"/>
                <a:gd name="connsiteX2" fmla="*/ 6896100 w 6896100"/>
                <a:gd name="connsiteY2" fmla="*/ 1191802 h 1191802"/>
                <a:gd name="connsiteX3" fmla="*/ 0 w 6896100"/>
                <a:gd name="connsiteY3" fmla="*/ 1191802 h 1191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96100" h="1191802">
                  <a:moveTo>
                    <a:pt x="0" y="0"/>
                  </a:moveTo>
                  <a:lnTo>
                    <a:pt x="6896100" y="0"/>
                  </a:lnTo>
                  <a:lnTo>
                    <a:pt x="6896100" y="1191802"/>
                  </a:lnTo>
                  <a:lnTo>
                    <a:pt x="0" y="1191802"/>
                  </a:ln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3" name="CuadroTexto 22">
            <a:extLst>
              <a:ext uri="{FF2B5EF4-FFF2-40B4-BE49-F238E27FC236}">
                <a16:creationId xmlns:a16="http://schemas.microsoft.com/office/drawing/2014/main" id="{B163354C-97AE-4FC8-BF01-B7FCA9B2C7C0}"/>
              </a:ext>
            </a:extLst>
          </p:cNvPr>
          <p:cNvSpPr txBox="1"/>
          <p:nvPr userDrawn="1"/>
        </p:nvSpPr>
        <p:spPr>
          <a:xfrm>
            <a:off x="719288" y="2012310"/>
            <a:ext cx="3365479" cy="1324865"/>
          </a:xfrm>
          <a:prstGeom prst="rect">
            <a:avLst/>
          </a:prstGeom>
          <a:noFill/>
        </p:spPr>
        <p:txBody>
          <a:bodyPr wrap="square" lIns="123329" tIns="61666" rIns="123329" bIns="61666" rtlCol="0">
            <a:spAutoFit/>
          </a:bodyPr>
          <a:lstStyle/>
          <a:p>
            <a:pPr defTabSz="1233288"/>
            <a:r>
              <a:rPr lang="pt-PT" sz="1300">
                <a:solidFill>
                  <a:srgbClr val="6E7678"/>
                </a:solidFill>
              </a:rPr>
              <a:t>A nossa missão é contribuir para o desenvolvimento das pessoas e das empresas.</a:t>
            </a:r>
          </a:p>
          <a:p>
            <a:pPr defTabSz="1233288"/>
            <a:endParaRPr lang="pt-PT" sz="1300">
              <a:solidFill>
                <a:srgbClr val="6E7678"/>
              </a:solidFill>
            </a:endParaRPr>
          </a:p>
          <a:p>
            <a:pPr defTabSz="1233288"/>
            <a:r>
              <a:rPr lang="pt-PT" sz="1300">
                <a:solidFill>
                  <a:srgbClr val="6E7678"/>
                </a:solidFill>
              </a:rPr>
              <a:t>A nossa cultura baseia-se no princípio de que tudo o que fazemos deve ser 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68E35268-345F-47C7-ADB2-CE92421E8EED}"/>
              </a:ext>
            </a:extLst>
          </p:cNvPr>
          <p:cNvSpPr txBox="1"/>
          <p:nvPr userDrawn="1"/>
        </p:nvSpPr>
        <p:spPr>
          <a:xfrm>
            <a:off x="721513" y="649715"/>
            <a:ext cx="3365479" cy="763970"/>
          </a:xfrm>
          <a:prstGeom prst="rect">
            <a:avLst/>
          </a:prstGeom>
          <a:noFill/>
        </p:spPr>
        <p:txBody>
          <a:bodyPr wrap="square" lIns="123329" tIns="61666" rIns="123329" bIns="61666" rtlCol="0">
            <a:spAutoFit/>
          </a:bodyPr>
          <a:lstStyle/>
          <a:p>
            <a:pPr defTabSz="1233288"/>
            <a:r>
              <a:rPr lang="es-ES" sz="4000" err="1">
                <a:solidFill>
                  <a:srgbClr val="EB0000"/>
                </a:solidFill>
              </a:rPr>
              <a:t>Obrigado</a:t>
            </a:r>
            <a:r>
              <a:rPr lang="es-ES" sz="4000">
                <a:solidFill>
                  <a:srgbClr val="EB0000"/>
                </a:solidFill>
              </a:rPr>
              <a:t>.</a:t>
            </a:r>
          </a:p>
        </p:txBody>
      </p:sp>
      <p:sp>
        <p:nvSpPr>
          <p:cNvPr id="31" name="Forma libre: forma 30">
            <a:extLst>
              <a:ext uri="{FF2B5EF4-FFF2-40B4-BE49-F238E27FC236}">
                <a16:creationId xmlns:a16="http://schemas.microsoft.com/office/drawing/2014/main" id="{073BDF73-2FC7-4E8C-B95B-B68B9F5D3BE9}"/>
              </a:ext>
            </a:extLst>
          </p:cNvPr>
          <p:cNvSpPr/>
          <p:nvPr userDrawn="1"/>
        </p:nvSpPr>
        <p:spPr>
          <a:xfrm>
            <a:off x="7" y="5409102"/>
            <a:ext cx="12196689" cy="1683855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2495" tIns="46247" rIns="92495" bIns="4624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233288"/>
            <a:endParaRPr lang="es-ES">
              <a:solidFill>
                <a:prstClr val="white"/>
              </a:solidFill>
            </a:endParaRPr>
          </a:p>
        </p:txBody>
      </p:sp>
      <p:pic>
        <p:nvPicPr>
          <p:cNvPr id="14" name="Imagen 6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256" y="3576683"/>
            <a:ext cx="3046637" cy="301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620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F305A9-DE4B-49AF-BCD4-43A65F7EB5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1745" y="1134051"/>
            <a:ext cx="4937184" cy="1455207"/>
          </a:xfrm>
        </p:spPr>
        <p:txBody>
          <a:bodyPr anchor="t">
            <a:normAutofit/>
          </a:bodyPr>
          <a:lstStyle>
            <a:lvl1pPr algn="l">
              <a:lnSpc>
                <a:spcPct val="90000"/>
              </a:lnSpc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pt-PT"/>
              <a:t>título do Modelo Global</a:t>
            </a:r>
            <a:endParaRPr lang="es-E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AB17398-CAA7-49B6-868C-44D053E7EA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4622" y="2815401"/>
            <a:ext cx="4934309" cy="2519924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tx2"/>
                </a:solidFill>
              </a:defRPr>
            </a:lvl1pPr>
            <a:lvl2pPr marL="457135" indent="0" algn="ctr">
              <a:buNone/>
              <a:defRPr sz="2000"/>
            </a:lvl2pPr>
            <a:lvl3pPr marL="914271" indent="0" algn="ctr">
              <a:buNone/>
              <a:defRPr sz="1800"/>
            </a:lvl3pPr>
            <a:lvl4pPr marL="1371405" indent="0" algn="ctr">
              <a:buNone/>
              <a:defRPr sz="1600"/>
            </a:lvl4pPr>
            <a:lvl5pPr marL="1828540" indent="0" algn="ctr">
              <a:buNone/>
              <a:defRPr sz="1600"/>
            </a:lvl5pPr>
            <a:lvl6pPr marL="2285675" indent="0" algn="ctr">
              <a:buNone/>
              <a:defRPr sz="1600"/>
            </a:lvl6pPr>
            <a:lvl7pPr marL="2742810" indent="0" algn="ctr">
              <a:buNone/>
              <a:defRPr sz="1600"/>
            </a:lvl7pPr>
            <a:lvl8pPr marL="3199944" indent="0" algn="ctr">
              <a:buNone/>
              <a:defRPr sz="1600"/>
            </a:lvl8pPr>
            <a:lvl9pPr marL="3657080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9012236B-6821-499F-B6D4-F11EC0EF0C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979" y="5923619"/>
            <a:ext cx="1896592" cy="343982"/>
          </a:xfrm>
          <a:prstGeom prst="rect">
            <a:avLst/>
          </a:prstGeom>
        </p:spPr>
      </p:pic>
      <p:sp>
        <p:nvSpPr>
          <p:cNvPr id="7" name="Forma libre: forma 6">
            <a:extLst>
              <a:ext uri="{FF2B5EF4-FFF2-40B4-BE49-F238E27FC236}">
                <a16:creationId xmlns:a16="http://schemas.microsoft.com/office/drawing/2014/main" id="{AB9931BC-B448-4EA6-A35A-56AF5C4C24E5}"/>
              </a:ext>
            </a:extLst>
          </p:cNvPr>
          <p:cNvSpPr/>
          <p:nvPr userDrawn="1"/>
        </p:nvSpPr>
        <p:spPr>
          <a:xfrm>
            <a:off x="1" y="5409097"/>
            <a:ext cx="12196689" cy="1683855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27" tIns="45713" rIns="91427" bIns="4571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271"/>
            <a:endParaRPr lang="es-ES">
              <a:solidFill>
                <a:prstClr val="white"/>
              </a:solidFill>
            </a:endParaRPr>
          </a:p>
        </p:txBody>
      </p:sp>
      <p:sp>
        <p:nvSpPr>
          <p:cNvPr id="17" name="Marcador de texto 16">
            <a:extLst>
              <a:ext uri="{FF2B5EF4-FFF2-40B4-BE49-F238E27FC236}">
                <a16:creationId xmlns:a16="http://schemas.microsoft.com/office/drawing/2014/main" id="{F5E5F18D-70E6-495C-A384-2EDAE003093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9650" y="345082"/>
            <a:ext cx="11177551" cy="433458"/>
          </a:xfrm>
        </p:spPr>
        <p:txBody>
          <a:bodyPr>
            <a:noAutofit/>
          </a:bodyPr>
          <a:lstStyle>
            <a:lvl1pPr marL="0" indent="0">
              <a:buNone/>
              <a:defRPr sz="1300">
                <a:solidFill>
                  <a:schemeClr val="tx2"/>
                </a:solidFill>
              </a:defRPr>
            </a:lvl1pPr>
            <a:lvl2pPr marL="457135" indent="0">
              <a:buNone/>
              <a:defRPr sz="1300">
                <a:solidFill>
                  <a:schemeClr val="tx2"/>
                </a:solidFill>
              </a:defRPr>
            </a:lvl2pPr>
            <a:lvl3pPr marL="914271" indent="0">
              <a:buNone/>
              <a:defRPr sz="1300">
                <a:solidFill>
                  <a:schemeClr val="tx2"/>
                </a:solidFill>
              </a:defRPr>
            </a:lvl3pPr>
            <a:lvl4pPr marL="1371405" indent="0">
              <a:buNone/>
              <a:defRPr sz="1300">
                <a:solidFill>
                  <a:schemeClr val="tx2"/>
                </a:solidFill>
              </a:defRPr>
            </a:lvl4pPr>
            <a:lvl5pPr marL="1828540" indent="0"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3642383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Índ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0B320C-F93D-45A7-B5CC-5C18ED1F8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AC1B0227-D6EB-4F05-832D-EB54916F79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B3950534-FF56-4FD6-A098-D625BC54F0FA}"/>
              </a:ext>
            </a:extLst>
          </p:cNvPr>
          <p:cNvSpPr txBox="1"/>
          <p:nvPr userDrawn="1"/>
        </p:nvSpPr>
        <p:spPr>
          <a:xfrm>
            <a:off x="722533" y="322967"/>
            <a:ext cx="1849821" cy="292374"/>
          </a:xfrm>
          <a:prstGeom prst="rect">
            <a:avLst/>
          </a:prstGeom>
          <a:noFill/>
        </p:spPr>
        <p:txBody>
          <a:bodyPr wrap="square" lIns="91427" tIns="45713" rIns="91427" bIns="45713" rtlCol="0">
            <a:spAutoFit/>
          </a:bodyPr>
          <a:lstStyle/>
          <a:p>
            <a:pPr defTabSz="914271"/>
            <a:r>
              <a:rPr lang="es-ES" sz="1300">
                <a:solidFill>
                  <a:srgbClr val="EB0000"/>
                </a:solidFill>
              </a:rPr>
              <a:t>Índice</a:t>
            </a:r>
          </a:p>
        </p:txBody>
      </p:sp>
      <p:sp>
        <p:nvSpPr>
          <p:cNvPr id="14" name="Marcador de texto 11">
            <a:extLst>
              <a:ext uri="{FF2B5EF4-FFF2-40B4-BE49-F238E27FC236}">
                <a16:creationId xmlns:a16="http://schemas.microsoft.com/office/drawing/2014/main" id="{0CC57AA0-6C3B-4C80-BF6B-C321A960A9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2641" y="1137934"/>
            <a:ext cx="10635843" cy="5074764"/>
          </a:xfrm>
        </p:spPr>
        <p:txBody>
          <a:bodyPr>
            <a:normAutofit/>
          </a:bodyPr>
          <a:lstStyle>
            <a:lvl1pPr marL="431939" indent="-395944">
              <a:buClr>
                <a:schemeClr val="accent1"/>
              </a:buClr>
              <a:buSzPct val="45000"/>
              <a:buFont typeface="+mj-lt"/>
              <a:buAutoNum type="arabicPeriod"/>
              <a:defRPr lang="es-ES" sz="4000" b="1" kern="1200" dirty="0" smtClean="0">
                <a:solidFill>
                  <a:srgbClr val="3C3C3B"/>
                </a:solidFill>
                <a:latin typeface="+mn-lt"/>
                <a:ea typeface="+mn-ea"/>
                <a:cs typeface="+mn-cs"/>
              </a:defRPr>
            </a:lvl1pPr>
            <a:lvl2pPr marL="457135" indent="0">
              <a:buNone/>
              <a:defRPr/>
            </a:lvl2pPr>
          </a:lstStyle>
          <a:p>
            <a:pPr lvl="0"/>
            <a:r>
              <a:rPr lang="pt-PT"/>
              <a:t>Título de seção</a:t>
            </a:r>
          </a:p>
        </p:txBody>
      </p:sp>
    </p:spTree>
    <p:extLst>
      <p:ext uri="{BB962C8B-B14F-4D97-AF65-F5344CB8AC3E}">
        <p14:creationId xmlns:p14="http://schemas.microsoft.com/office/powerpoint/2010/main" val="281052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de cap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45CB15-1F44-40E1-909E-6233010BC1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518" y="647833"/>
            <a:ext cx="4386195" cy="2950470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o estilo de título do Modelo </a:t>
            </a:r>
            <a:br>
              <a:rPr lang="pt-PT"/>
            </a:br>
            <a:r>
              <a:rPr lang="pt-PT"/>
              <a:t>Global</a:t>
            </a:r>
            <a:endParaRPr lang="es-ES"/>
          </a:p>
        </p:txBody>
      </p:sp>
      <p:sp>
        <p:nvSpPr>
          <p:cNvPr id="5" name="Forma libre: forma 6">
            <a:extLst>
              <a:ext uri="{FF2B5EF4-FFF2-40B4-BE49-F238E27FC236}">
                <a16:creationId xmlns:a16="http://schemas.microsoft.com/office/drawing/2014/main" id="{14147011-41AD-4D71-ABCD-072B7EE84809}"/>
              </a:ext>
            </a:extLst>
          </p:cNvPr>
          <p:cNvSpPr/>
          <p:nvPr userDrawn="1"/>
        </p:nvSpPr>
        <p:spPr>
          <a:xfrm>
            <a:off x="8925341" y="0"/>
            <a:ext cx="3266660" cy="7092950"/>
          </a:xfrm>
          <a:custGeom>
            <a:avLst/>
            <a:gdLst>
              <a:gd name="connsiteX0" fmla="*/ 1630018 w 3266660"/>
              <a:gd name="connsiteY0" fmla="*/ 0 h 6858000"/>
              <a:gd name="connsiteX1" fmla="*/ 3266660 w 3266660"/>
              <a:gd name="connsiteY1" fmla="*/ 0 h 6858000"/>
              <a:gd name="connsiteX2" fmla="*/ 3266660 w 3266660"/>
              <a:gd name="connsiteY2" fmla="*/ 6858000 h 6858000"/>
              <a:gd name="connsiteX3" fmla="*/ 0 w 3266660"/>
              <a:gd name="connsiteY3" fmla="*/ 6858000 h 6858000"/>
              <a:gd name="connsiteX4" fmla="*/ 0 w 3266660"/>
              <a:gd name="connsiteY4" fmla="*/ 2822713 h 6858000"/>
              <a:gd name="connsiteX5" fmla="*/ 1630018 w 3266660"/>
              <a:gd name="connsiteY5" fmla="*/ 282271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66660" h="6858000">
                <a:moveTo>
                  <a:pt x="1630018" y="0"/>
                </a:moveTo>
                <a:lnTo>
                  <a:pt x="3266660" y="0"/>
                </a:lnTo>
                <a:lnTo>
                  <a:pt x="3266660" y="6858000"/>
                </a:lnTo>
                <a:lnTo>
                  <a:pt x="0" y="6858000"/>
                </a:lnTo>
                <a:lnTo>
                  <a:pt x="0" y="2822713"/>
                </a:lnTo>
                <a:lnTo>
                  <a:pt x="1630018" y="2822713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27" tIns="45713" rIns="91427" bIns="4571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271"/>
            <a:endParaRPr lang="es-ES">
              <a:solidFill>
                <a:prstClr val="white"/>
              </a:solidFill>
            </a:endParaRPr>
          </a:p>
        </p:txBody>
      </p:sp>
      <p:sp>
        <p:nvSpPr>
          <p:cNvPr id="6" name="Marcador de texto 13">
            <a:extLst>
              <a:ext uri="{FF2B5EF4-FFF2-40B4-BE49-F238E27FC236}">
                <a16:creationId xmlns:a16="http://schemas.microsoft.com/office/drawing/2014/main" id="{CF711B63-7C0F-4649-B7F0-A207C8B6C42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945217" y="3382573"/>
            <a:ext cx="2958755" cy="2445983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6600">
                <a:solidFill>
                  <a:schemeClr val="bg1"/>
                </a:solidFill>
              </a:defRPr>
            </a:lvl1pPr>
            <a:lvl2pPr>
              <a:defRPr sz="13800">
                <a:solidFill>
                  <a:schemeClr val="tx1"/>
                </a:solidFill>
              </a:defRPr>
            </a:lvl2pPr>
            <a:lvl3pPr>
              <a:defRPr sz="11500">
                <a:solidFill>
                  <a:schemeClr val="tx1"/>
                </a:solidFill>
              </a:defRPr>
            </a:lvl3pPr>
            <a:lvl4pPr>
              <a:defRPr sz="9600">
                <a:solidFill>
                  <a:schemeClr val="tx1"/>
                </a:solidFill>
              </a:defRPr>
            </a:lvl4pPr>
            <a:lvl5pPr>
              <a:defRPr sz="9600">
                <a:solidFill>
                  <a:schemeClr val="tx1"/>
                </a:solidFill>
              </a:defRPr>
            </a:lvl5pPr>
          </a:lstStyle>
          <a:p>
            <a:pPr lvl="0"/>
            <a:r>
              <a:rPr lang="es-E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2840998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e conteúd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4" y="1124715"/>
            <a:ext cx="5297557" cy="1661069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 do Modelo Global</a:t>
            </a:r>
            <a:endParaRPr lang="es-ES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5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135" indent="0">
              <a:buFontTx/>
              <a:buNone/>
              <a:defRPr sz="1100"/>
            </a:lvl2pPr>
            <a:lvl3pPr marL="914271" indent="0">
              <a:buFontTx/>
              <a:buNone/>
              <a:defRPr sz="1100"/>
            </a:lvl3pPr>
            <a:lvl4pPr marL="1371405" indent="0">
              <a:buFontTx/>
              <a:buNone/>
              <a:defRPr sz="900"/>
            </a:lvl4pPr>
            <a:lvl5pPr marL="1828540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8" name="Marcador de texto 16">
            <a:extLst>
              <a:ext uri="{FF2B5EF4-FFF2-40B4-BE49-F238E27FC236}">
                <a16:creationId xmlns:a16="http://schemas.microsoft.com/office/drawing/2014/main" id="{07C8BA77-3119-41AC-B33B-745A751CC06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1025" y="3199547"/>
            <a:ext cx="5308776" cy="318903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35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27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405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54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20" name="Marcador de texto 16">
            <a:extLst>
              <a:ext uri="{FF2B5EF4-FFF2-40B4-BE49-F238E27FC236}">
                <a16:creationId xmlns:a16="http://schemas.microsoft.com/office/drawing/2014/main" id="{81AA2FC0-CE4E-483D-AF92-BEA6CD796B9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99971" y="1124713"/>
            <a:ext cx="5081004" cy="5263869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35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27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405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54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902793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e conteúd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3" y="1124713"/>
            <a:ext cx="10758733" cy="1885466"/>
          </a:xfrm>
        </p:spPr>
        <p:txBody>
          <a:bodyPr anchor="t">
            <a:no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 do Modelo Global</a:t>
            </a:r>
            <a:endParaRPr lang="es-ES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5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135" indent="0">
              <a:buFontTx/>
              <a:buNone/>
              <a:defRPr sz="1100"/>
            </a:lvl2pPr>
            <a:lvl3pPr marL="914271" indent="0">
              <a:buFontTx/>
              <a:buNone/>
              <a:defRPr sz="1100"/>
            </a:lvl3pPr>
            <a:lvl4pPr marL="1371405" indent="0">
              <a:buFontTx/>
              <a:buNone/>
              <a:defRPr sz="900"/>
            </a:lvl4pPr>
            <a:lvl5pPr marL="1828540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1026" y="3199547"/>
            <a:ext cx="10758733" cy="3189036"/>
          </a:xfrm>
        </p:spPr>
        <p:txBody>
          <a:bodyPr numCol="2" spcCol="719898"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35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27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405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54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3736067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ta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1973" y="1147780"/>
            <a:ext cx="3801119" cy="5223722"/>
          </a:xfrm>
        </p:spPr>
        <p:txBody>
          <a:bodyPr anchor="t">
            <a:noAutofit/>
          </a:bodyPr>
          <a:lstStyle>
            <a:lvl1pPr>
              <a:defRPr sz="26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pt-PT"/>
              <a:t>Editar os estilos </a:t>
            </a:r>
            <a:br>
              <a:rPr lang="pt-PT"/>
            </a:br>
            <a:r>
              <a:rPr lang="pt-PT"/>
              <a:t>de texto do Modelo Global</a:t>
            </a:r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5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135" indent="0">
              <a:buFontTx/>
              <a:buNone/>
              <a:defRPr sz="1100"/>
            </a:lvl2pPr>
            <a:lvl3pPr marL="914271" indent="0">
              <a:buFontTx/>
              <a:buNone/>
              <a:defRPr sz="1100"/>
            </a:lvl3pPr>
            <a:lvl4pPr marL="1371405" indent="0">
              <a:buFontTx/>
              <a:buNone/>
              <a:defRPr sz="900"/>
            </a:lvl4pPr>
            <a:lvl5pPr marL="1828540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72724" y="1164858"/>
            <a:ext cx="6697035" cy="5223724"/>
          </a:xfrm>
        </p:spPr>
        <p:txBody>
          <a:bodyPr numCol="1" spcCol="0"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35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27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405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54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2607973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5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135" indent="0">
              <a:buFontTx/>
              <a:buNone/>
              <a:defRPr sz="1100"/>
            </a:lvl2pPr>
            <a:lvl3pPr marL="914271" indent="0">
              <a:buFontTx/>
              <a:buNone/>
              <a:defRPr sz="1100"/>
            </a:lvl3pPr>
            <a:lvl4pPr marL="1371405" indent="0">
              <a:buFontTx/>
              <a:buNone/>
              <a:defRPr sz="900"/>
            </a:lvl4pPr>
            <a:lvl5pPr marL="1828540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3AABE934-895B-422A-B16D-773558A762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5" y="1124715"/>
            <a:ext cx="3911401" cy="1223665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</a:t>
            </a:r>
            <a:endParaRPr lang="es-ES"/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26" y="2603405"/>
            <a:ext cx="3911401" cy="3785177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35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27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405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54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6" name="Marcador de gráfico 5">
            <a:extLst>
              <a:ext uri="{FF2B5EF4-FFF2-40B4-BE49-F238E27FC236}">
                <a16:creationId xmlns:a16="http://schemas.microsoft.com/office/drawing/2014/main" id="{2444BFBF-CC97-48FB-BE66-A28460A7384B}"/>
              </a:ext>
            </a:extLst>
          </p:cNvPr>
          <p:cNvSpPr>
            <a:spLocks noGrp="1"/>
          </p:cNvSpPr>
          <p:nvPr>
            <p:ph type="chart" sz="quarter" idx="17" hasCustomPrompt="1"/>
          </p:nvPr>
        </p:nvSpPr>
        <p:spPr>
          <a:xfrm>
            <a:off x="4797426" y="1124693"/>
            <a:ext cx="6683551" cy="5298367"/>
          </a:xfrm>
        </p:spPr>
        <p:txBody>
          <a:bodyPr>
            <a:normAutofit/>
          </a:bodyPr>
          <a:lstStyle>
            <a:lvl1pPr marL="0" indent="0" algn="ctr">
              <a:buNone/>
              <a:defRPr lang="es-ES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MX" err="1"/>
              <a:t>Insira</a:t>
            </a:r>
            <a:r>
              <a:rPr lang="es-MX"/>
              <a:t> </a:t>
            </a:r>
            <a:r>
              <a:rPr lang="es-MX" err="1"/>
              <a:t>aqui</a:t>
            </a:r>
            <a:r>
              <a:rPr lang="es-MX"/>
              <a:t> </a:t>
            </a:r>
            <a:r>
              <a:rPr lang="es-MX" err="1"/>
              <a:t>seu</a:t>
            </a:r>
            <a:r>
              <a:rPr lang="es-MX"/>
              <a:t> gráfico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80023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5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135" indent="0">
              <a:buFontTx/>
              <a:buNone/>
              <a:defRPr sz="1100"/>
            </a:lvl2pPr>
            <a:lvl3pPr marL="914271" indent="0">
              <a:buFontTx/>
              <a:buNone/>
              <a:defRPr sz="1100"/>
            </a:lvl3pPr>
            <a:lvl4pPr marL="1371405" indent="0">
              <a:buFontTx/>
              <a:buNone/>
              <a:defRPr sz="900"/>
            </a:lvl4pPr>
            <a:lvl5pPr marL="1828540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26" y="1232631"/>
            <a:ext cx="3911401" cy="5155951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35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27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405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54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abla 4">
            <a:extLst>
              <a:ext uri="{FF2B5EF4-FFF2-40B4-BE49-F238E27FC236}">
                <a16:creationId xmlns:a16="http://schemas.microsoft.com/office/drawing/2014/main" id="{DF826A4E-1A0C-46D7-8327-402D7A34DE68}"/>
              </a:ext>
            </a:extLst>
          </p:cNvPr>
          <p:cNvSpPr>
            <a:spLocks noGrp="1"/>
          </p:cNvSpPr>
          <p:nvPr>
            <p:ph type="tbl" sz="quarter" idx="18" hasCustomPrompt="1"/>
          </p:nvPr>
        </p:nvSpPr>
        <p:spPr>
          <a:xfrm>
            <a:off x="4867835" y="1766284"/>
            <a:ext cx="6612965" cy="4656777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sua</a:t>
            </a:r>
            <a:r>
              <a:rPr lang="es-ES"/>
              <a:t> </a:t>
            </a:r>
            <a:r>
              <a:rPr lang="es-ES" err="1"/>
              <a:t>tabela</a:t>
            </a:r>
            <a:endParaRPr lang="es-ES"/>
          </a:p>
        </p:txBody>
      </p:sp>
      <p:sp>
        <p:nvSpPr>
          <p:cNvPr id="14" name="Marcador de texto 16">
            <a:extLst>
              <a:ext uri="{FF2B5EF4-FFF2-40B4-BE49-F238E27FC236}">
                <a16:creationId xmlns:a16="http://schemas.microsoft.com/office/drawing/2014/main" id="{C96F8991-1F66-478E-8C12-FB0275A2F29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867835" y="1232632"/>
            <a:ext cx="6587576" cy="39457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35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27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405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54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160378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 3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5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135" indent="0">
              <a:buFontTx/>
              <a:buNone/>
              <a:defRPr sz="1100"/>
            </a:lvl2pPr>
            <a:lvl3pPr marL="914271" indent="0">
              <a:buFontTx/>
              <a:buNone/>
              <a:defRPr sz="1100"/>
            </a:lvl3pPr>
            <a:lvl4pPr marL="1371405" indent="0">
              <a:buFontTx/>
              <a:buNone/>
              <a:defRPr sz="900"/>
            </a:lvl4pPr>
            <a:lvl5pPr marL="1828540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26" y="1232634"/>
            <a:ext cx="3911401" cy="680072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35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27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405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54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9" name="Marcador de texto 16">
            <a:extLst>
              <a:ext uri="{FF2B5EF4-FFF2-40B4-BE49-F238E27FC236}">
                <a16:creationId xmlns:a16="http://schemas.microsoft.com/office/drawing/2014/main" id="{714DD14E-5956-4FB9-8BE1-1064DD29319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024064" y="1232634"/>
            <a:ext cx="6456737" cy="680072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35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27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405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54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6" name="Marcador de gráfico 4">
            <a:extLst>
              <a:ext uri="{FF2B5EF4-FFF2-40B4-BE49-F238E27FC236}">
                <a16:creationId xmlns:a16="http://schemas.microsoft.com/office/drawing/2014/main" id="{9BA63F5F-FC37-4202-A6A3-A0F3EFAC9EB6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711200" y="2062210"/>
            <a:ext cx="3911600" cy="372932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300">
                <a:solidFill>
                  <a:schemeClr val="tx2"/>
                </a:solidFill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seu</a:t>
            </a:r>
            <a:r>
              <a:rPr lang="es-ES"/>
              <a:t> gráfico</a:t>
            </a:r>
          </a:p>
        </p:txBody>
      </p:sp>
      <p:sp>
        <p:nvSpPr>
          <p:cNvPr id="17" name="Marcador de gráfico 4">
            <a:extLst>
              <a:ext uri="{FF2B5EF4-FFF2-40B4-BE49-F238E27FC236}">
                <a16:creationId xmlns:a16="http://schemas.microsoft.com/office/drawing/2014/main" id="{0CABFB2C-905F-4A94-BBC0-7C32FA7695A4}"/>
              </a:ext>
            </a:extLst>
          </p:cNvPr>
          <p:cNvSpPr>
            <a:spLocks noGrp="1"/>
          </p:cNvSpPr>
          <p:nvPr>
            <p:ph type="chart" sz="quarter" idx="21" hasCustomPrompt="1"/>
          </p:nvPr>
        </p:nvSpPr>
        <p:spPr>
          <a:xfrm>
            <a:off x="5024063" y="2062210"/>
            <a:ext cx="6472719" cy="372932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300">
                <a:solidFill>
                  <a:schemeClr val="tx2"/>
                </a:solidFill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seu</a:t>
            </a:r>
            <a:r>
              <a:rPr lang="es-ES"/>
              <a:t> gráfico</a:t>
            </a:r>
          </a:p>
        </p:txBody>
      </p:sp>
      <p:sp>
        <p:nvSpPr>
          <p:cNvPr id="18" name="Forma libre: forma 17">
            <a:extLst>
              <a:ext uri="{FF2B5EF4-FFF2-40B4-BE49-F238E27FC236}">
                <a16:creationId xmlns:a16="http://schemas.microsoft.com/office/drawing/2014/main" id="{AEAA6F10-C407-4622-AF96-B2605139D86B}"/>
              </a:ext>
            </a:extLst>
          </p:cNvPr>
          <p:cNvSpPr/>
          <p:nvPr userDrawn="1"/>
        </p:nvSpPr>
        <p:spPr>
          <a:xfrm>
            <a:off x="4742397" y="3811311"/>
            <a:ext cx="187151" cy="214151"/>
          </a:xfrm>
          <a:custGeom>
            <a:avLst/>
            <a:gdLst/>
            <a:ahLst/>
            <a:cxnLst/>
            <a:rect l="l" t="t" r="r" b="b"/>
            <a:pathLst>
              <a:path w="187151" h="207057">
                <a:moveTo>
                  <a:pt x="0" y="0"/>
                </a:moveTo>
                <a:lnTo>
                  <a:pt x="187151" y="80925"/>
                </a:lnTo>
                <a:lnTo>
                  <a:pt x="187151" y="125574"/>
                </a:lnTo>
                <a:lnTo>
                  <a:pt x="0" y="207057"/>
                </a:lnTo>
                <a:lnTo>
                  <a:pt x="0" y="154409"/>
                </a:lnTo>
                <a:lnTo>
                  <a:pt x="130596" y="103064"/>
                </a:lnTo>
                <a:lnTo>
                  <a:pt x="0" y="5227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7" tIns="45713" rIns="91427" bIns="45713" rtlCol="0" anchor="ctr"/>
          <a:lstStyle/>
          <a:p>
            <a:pPr algn="ctr" defTabSz="914271"/>
            <a:endParaRPr lang="es-E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9466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rigado - Cont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rma libre: forma 18">
            <a:extLst>
              <a:ext uri="{FF2B5EF4-FFF2-40B4-BE49-F238E27FC236}">
                <a16:creationId xmlns:a16="http://schemas.microsoft.com/office/drawing/2014/main" id="{B61CF4CC-ED27-4967-A11A-B838DFD4D9A3}"/>
              </a:ext>
            </a:extLst>
          </p:cNvPr>
          <p:cNvSpPr/>
          <p:nvPr userDrawn="1"/>
        </p:nvSpPr>
        <p:spPr>
          <a:xfrm>
            <a:off x="0" y="5409097"/>
            <a:ext cx="12192000" cy="1683855"/>
          </a:xfrm>
          <a:custGeom>
            <a:avLst/>
            <a:gdLst>
              <a:gd name="connsiteX0" fmla="*/ 8943278 w 12192000"/>
              <a:gd name="connsiteY0" fmla="*/ 0 h 1628078"/>
              <a:gd name="connsiteX1" fmla="*/ 12192000 w 12192000"/>
              <a:gd name="connsiteY1" fmla="*/ 0 h 1628078"/>
              <a:gd name="connsiteX2" fmla="*/ 12192000 w 12192000"/>
              <a:gd name="connsiteY2" fmla="*/ 1628078 h 1628078"/>
              <a:gd name="connsiteX3" fmla="*/ 0 w 12192000"/>
              <a:gd name="connsiteY3" fmla="*/ 1628078 h 1628078"/>
              <a:gd name="connsiteX4" fmla="*/ 0 w 12192000"/>
              <a:gd name="connsiteY4" fmla="*/ 1226634 h 1628078"/>
              <a:gd name="connsiteX5" fmla="*/ 8943278 w 12192000"/>
              <a:gd name="connsiteY5" fmla="*/ 1226634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1628078">
                <a:moveTo>
                  <a:pt x="8943278" y="0"/>
                </a:moveTo>
                <a:lnTo>
                  <a:pt x="12192000" y="0"/>
                </a:lnTo>
                <a:lnTo>
                  <a:pt x="12192000" y="1628078"/>
                </a:lnTo>
                <a:lnTo>
                  <a:pt x="0" y="1628078"/>
                </a:lnTo>
                <a:lnTo>
                  <a:pt x="0" y="1226634"/>
                </a:lnTo>
                <a:lnTo>
                  <a:pt x="8943278" y="1226634"/>
                </a:lnTo>
                <a:close/>
              </a:path>
            </a:pathLst>
          </a:cu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7" tIns="45713" rIns="91427" bIns="45713" rtlCol="0" anchor="ctr"/>
          <a:lstStyle/>
          <a:p>
            <a:pPr algn="ctr" defTabSz="914271"/>
            <a:endParaRPr lang="es-ES">
              <a:solidFill>
                <a:prstClr val="white"/>
              </a:solidFill>
            </a:endParaRPr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67F54544-030A-41BD-9896-574241C718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979" y="5923619"/>
            <a:ext cx="1896592" cy="343982"/>
          </a:xfrm>
          <a:prstGeom prst="rect">
            <a:avLst/>
          </a:prstGeom>
        </p:spPr>
      </p:pic>
      <p:pic>
        <p:nvPicPr>
          <p:cNvPr id="1026" name="Picture 2" descr="Resultado de imagen de DJSI Member Log">
            <a:extLst>
              <a:ext uri="{FF2B5EF4-FFF2-40B4-BE49-F238E27FC236}">
                <a16:creationId xmlns:a16="http://schemas.microsoft.com/office/drawing/2014/main" id="{892B8B9E-DEBC-4365-A4A8-EB9654BA309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917" y="5764076"/>
            <a:ext cx="1347483" cy="471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Grupo 19">
            <a:extLst>
              <a:ext uri="{FF2B5EF4-FFF2-40B4-BE49-F238E27FC236}">
                <a16:creationId xmlns:a16="http://schemas.microsoft.com/office/drawing/2014/main" id="{246620ED-93B0-4966-8E36-4B883B49E634}"/>
              </a:ext>
            </a:extLst>
          </p:cNvPr>
          <p:cNvGrpSpPr/>
          <p:nvPr userDrawn="1"/>
        </p:nvGrpSpPr>
        <p:grpSpPr>
          <a:xfrm>
            <a:off x="7612561" y="5764523"/>
            <a:ext cx="578707" cy="470606"/>
            <a:chOff x="2203451" y="-4230356"/>
            <a:chExt cx="6896100" cy="5422158"/>
          </a:xfrm>
        </p:grpSpPr>
        <p:pic>
          <p:nvPicPr>
            <p:cNvPr id="22" name="Imagen 21" descr="Imagen relacionada">
              <a:extLst>
                <a:ext uri="{FF2B5EF4-FFF2-40B4-BE49-F238E27FC236}">
                  <a16:creationId xmlns:a16="http://schemas.microsoft.com/office/drawing/2014/main" id="{E4D48186-AF8E-4052-97D2-CCAFD0E1AC76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544" t="3352" r="22378" b="28229"/>
            <a:stretch>
              <a:fillRect/>
            </a:stretch>
          </p:blipFill>
          <p:spPr bwMode="auto">
            <a:xfrm>
              <a:off x="3758085" y="-4230356"/>
              <a:ext cx="3798276" cy="3838472"/>
            </a:xfrm>
            <a:custGeom>
              <a:avLst/>
              <a:gdLst>
                <a:gd name="connsiteX0" fmla="*/ 1899138 w 3798276"/>
                <a:gd name="connsiteY0" fmla="*/ 0 h 3838472"/>
                <a:gd name="connsiteX1" fmla="*/ 3798276 w 3798276"/>
                <a:gd name="connsiteY1" fmla="*/ 1919236 h 3838472"/>
                <a:gd name="connsiteX2" fmla="*/ 1899138 w 3798276"/>
                <a:gd name="connsiteY2" fmla="*/ 3838472 h 3838472"/>
                <a:gd name="connsiteX3" fmla="*/ 0 w 3798276"/>
                <a:gd name="connsiteY3" fmla="*/ 1919236 h 3838472"/>
                <a:gd name="connsiteX4" fmla="*/ 1899138 w 3798276"/>
                <a:gd name="connsiteY4" fmla="*/ 0 h 3838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8276" h="3838472">
                  <a:moveTo>
                    <a:pt x="1899138" y="0"/>
                  </a:moveTo>
                  <a:cubicBezTo>
                    <a:pt x="2948003" y="0"/>
                    <a:pt x="3798276" y="859271"/>
                    <a:pt x="3798276" y="1919236"/>
                  </a:cubicBezTo>
                  <a:cubicBezTo>
                    <a:pt x="3798276" y="2979201"/>
                    <a:pt x="2948003" y="3838472"/>
                    <a:pt x="1899138" y="3838472"/>
                  </a:cubicBezTo>
                  <a:cubicBezTo>
                    <a:pt x="850273" y="3838472"/>
                    <a:pt x="0" y="2979201"/>
                    <a:pt x="0" y="1919236"/>
                  </a:cubicBezTo>
                  <a:cubicBezTo>
                    <a:pt x="0" y="859271"/>
                    <a:pt x="850273" y="0"/>
                    <a:pt x="1899138" y="0"/>
                  </a:cubicBez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Imagen 23" descr="Imagen relacionada">
              <a:extLst>
                <a:ext uri="{FF2B5EF4-FFF2-40B4-BE49-F238E27FC236}">
                  <a16:creationId xmlns:a16="http://schemas.microsoft.com/office/drawing/2014/main" id="{411507B2-E393-4DDC-B151-70751F9943C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8757"/>
            <a:stretch>
              <a:fillRect/>
            </a:stretch>
          </p:blipFill>
          <p:spPr bwMode="auto">
            <a:xfrm>
              <a:off x="2203451" y="0"/>
              <a:ext cx="6896100" cy="1191802"/>
            </a:xfrm>
            <a:custGeom>
              <a:avLst/>
              <a:gdLst>
                <a:gd name="connsiteX0" fmla="*/ 0 w 6896100"/>
                <a:gd name="connsiteY0" fmla="*/ 0 h 1191802"/>
                <a:gd name="connsiteX1" fmla="*/ 6896100 w 6896100"/>
                <a:gd name="connsiteY1" fmla="*/ 0 h 1191802"/>
                <a:gd name="connsiteX2" fmla="*/ 6896100 w 6896100"/>
                <a:gd name="connsiteY2" fmla="*/ 1191802 h 1191802"/>
                <a:gd name="connsiteX3" fmla="*/ 0 w 6896100"/>
                <a:gd name="connsiteY3" fmla="*/ 1191802 h 1191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96100" h="1191802">
                  <a:moveTo>
                    <a:pt x="0" y="0"/>
                  </a:moveTo>
                  <a:lnTo>
                    <a:pt x="6896100" y="0"/>
                  </a:lnTo>
                  <a:lnTo>
                    <a:pt x="6896100" y="1191802"/>
                  </a:lnTo>
                  <a:lnTo>
                    <a:pt x="0" y="1191802"/>
                  </a:ln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3" name="CuadroTexto 22">
            <a:extLst>
              <a:ext uri="{FF2B5EF4-FFF2-40B4-BE49-F238E27FC236}">
                <a16:creationId xmlns:a16="http://schemas.microsoft.com/office/drawing/2014/main" id="{B163354C-97AE-4FC8-BF01-B7FCA9B2C7C0}"/>
              </a:ext>
            </a:extLst>
          </p:cNvPr>
          <p:cNvSpPr txBox="1"/>
          <p:nvPr userDrawn="1"/>
        </p:nvSpPr>
        <p:spPr>
          <a:xfrm>
            <a:off x="719288" y="2012306"/>
            <a:ext cx="3365479" cy="1292647"/>
          </a:xfrm>
          <a:prstGeom prst="rect">
            <a:avLst/>
          </a:prstGeom>
          <a:noFill/>
        </p:spPr>
        <p:txBody>
          <a:bodyPr wrap="square" lIns="91427" tIns="45713" rIns="91427" bIns="45713" rtlCol="0">
            <a:spAutoFit/>
          </a:bodyPr>
          <a:lstStyle/>
          <a:p>
            <a:pPr defTabSz="914271"/>
            <a:r>
              <a:rPr lang="pt-PT" sz="1300">
                <a:solidFill>
                  <a:srgbClr val="6E7678"/>
                </a:solidFill>
              </a:rPr>
              <a:t>A nossa missão é contribuir para o desenvolvimento das pessoas e das empresas.</a:t>
            </a:r>
          </a:p>
          <a:p>
            <a:pPr defTabSz="914271"/>
            <a:endParaRPr lang="pt-PT" sz="1300">
              <a:solidFill>
                <a:srgbClr val="6E7678"/>
              </a:solidFill>
            </a:endParaRPr>
          </a:p>
          <a:p>
            <a:pPr defTabSz="914271"/>
            <a:r>
              <a:rPr lang="pt-PT" sz="1300">
                <a:solidFill>
                  <a:srgbClr val="6E7678"/>
                </a:solidFill>
              </a:rPr>
              <a:t>A nossa cultura baseia-se no princípio de que tudo o que fazemos deve ser 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68E35268-345F-47C7-ADB2-CE92421E8EED}"/>
              </a:ext>
            </a:extLst>
          </p:cNvPr>
          <p:cNvSpPr txBox="1"/>
          <p:nvPr userDrawn="1"/>
        </p:nvSpPr>
        <p:spPr>
          <a:xfrm>
            <a:off x="721506" y="649714"/>
            <a:ext cx="3365479" cy="732138"/>
          </a:xfrm>
          <a:prstGeom prst="rect">
            <a:avLst/>
          </a:prstGeom>
          <a:noFill/>
        </p:spPr>
        <p:txBody>
          <a:bodyPr wrap="square" lIns="91427" tIns="45713" rIns="91427" bIns="45713" rtlCol="0">
            <a:spAutoFit/>
          </a:bodyPr>
          <a:lstStyle/>
          <a:p>
            <a:pPr defTabSz="914271"/>
            <a:r>
              <a:rPr lang="es-ES" sz="4000" err="1">
                <a:solidFill>
                  <a:srgbClr val="EB0000"/>
                </a:solidFill>
              </a:rPr>
              <a:t>Obrigado</a:t>
            </a:r>
            <a:r>
              <a:rPr lang="es-ES" sz="4000">
                <a:solidFill>
                  <a:srgbClr val="EB0000"/>
                </a:solidFill>
              </a:rPr>
              <a:t>.</a:t>
            </a:r>
          </a:p>
        </p:txBody>
      </p:sp>
      <p:sp>
        <p:nvSpPr>
          <p:cNvPr id="31" name="Forma libre: forma 30">
            <a:extLst>
              <a:ext uri="{FF2B5EF4-FFF2-40B4-BE49-F238E27FC236}">
                <a16:creationId xmlns:a16="http://schemas.microsoft.com/office/drawing/2014/main" id="{073BDF73-2FC7-4E8C-B95B-B68B9F5D3BE9}"/>
              </a:ext>
            </a:extLst>
          </p:cNvPr>
          <p:cNvSpPr/>
          <p:nvPr userDrawn="1"/>
        </p:nvSpPr>
        <p:spPr>
          <a:xfrm>
            <a:off x="1" y="5409097"/>
            <a:ext cx="12196689" cy="1683855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27" tIns="45713" rIns="91427" bIns="4571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271"/>
            <a:endParaRPr lang="es-ES">
              <a:solidFill>
                <a:prstClr val="white"/>
              </a:solidFill>
            </a:endParaRPr>
          </a:p>
        </p:txBody>
      </p:sp>
      <p:pic>
        <p:nvPicPr>
          <p:cNvPr id="13" name="Picture 2" descr="G:\Com_MarketingCorp\Pastas\Mudança de Imagem\2018\Logos\Simples Próximo Justo\FA_Simples Próximo Justo_RGB\JPG\FA_SANTANDER_Simples Próximo Justo_POS_RGB.jpg"/>
          <p:cNvPicPr>
            <a:picLocks noChangeAspect="1" noChangeArrowheads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37" t="30228" r="7698" b="19124"/>
          <a:stretch/>
        </p:blipFill>
        <p:spPr bwMode="auto">
          <a:xfrm>
            <a:off x="731013" y="3540414"/>
            <a:ext cx="2785913" cy="413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9157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7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31.xml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508141E-100E-4635-9FC3-353399DFC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7634"/>
            <a:ext cx="10515600" cy="1370975"/>
          </a:xfrm>
          <a:prstGeom prst="rect">
            <a:avLst/>
          </a:prstGeom>
        </p:spPr>
        <p:txBody>
          <a:bodyPr vert="horz" lIns="91373" tIns="45686" rIns="91373" bIns="45686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  <a:endParaRPr lang="es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0BD3726-4CCC-4808-AF74-D4FC34B77C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88169"/>
            <a:ext cx="10515600" cy="4500412"/>
          </a:xfrm>
          <a:prstGeom prst="rect">
            <a:avLst/>
          </a:prstGeom>
        </p:spPr>
        <p:txBody>
          <a:bodyPr vert="horz" lIns="91373" tIns="45686" rIns="91373" bIns="45686" rtlCol="0">
            <a:normAutofit/>
          </a:bodyPr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89DA10A-F167-488F-8E2B-A0FE565022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74115"/>
            <a:ext cx="2743200" cy="377634"/>
          </a:xfrm>
          <a:prstGeom prst="rect">
            <a:avLst/>
          </a:prstGeom>
        </p:spPr>
        <p:txBody>
          <a:bodyPr vert="horz" lIns="91373" tIns="45686" rIns="91373" bIns="45686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C937220-A8C8-4E71-8BA2-4260C5636D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74115"/>
            <a:ext cx="4114800" cy="377634"/>
          </a:xfrm>
          <a:prstGeom prst="rect">
            <a:avLst/>
          </a:prstGeom>
        </p:spPr>
        <p:txBody>
          <a:bodyPr vert="horz" lIns="91373" tIns="45686" rIns="91373" bIns="45686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s-ES"/>
              <a:t>asas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5E98D6-3F4E-4F5E-9BFB-DDFD9AC1E7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574115"/>
            <a:ext cx="2743200" cy="377634"/>
          </a:xfrm>
          <a:prstGeom prst="rect">
            <a:avLst/>
          </a:prstGeom>
        </p:spPr>
        <p:txBody>
          <a:bodyPr vert="horz" lIns="91373" tIns="45686" rIns="91373" bIns="45686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0D97B6-E32F-4D7D-B839-7C3B51F2640F}" type="slidenum">
              <a:rPr lang="es-ES" smtClean="0"/>
              <a:t>‹#›</a:t>
            </a:fld>
            <a:endParaRPr lang="es-ES"/>
          </a:p>
        </p:txBody>
      </p:sp>
      <p:sp>
        <p:nvSpPr>
          <p:cNvPr id="8" name="MSIPCMContentMarking" descr="{&quot;HashCode&quot;:-665463564,&quot;Placement&quot;:&quot;Header&quot;,&quot;Top&quot;:0.0,&quot;Left&quot;:0.0,&quot;SlideWidth&quot;:960,&quot;SlideHeight&quot;:558}"/>
          <p:cNvSpPr txBox="1"/>
          <p:nvPr userDrawn="1"/>
        </p:nvSpPr>
        <p:spPr>
          <a:xfrm>
            <a:off x="0" y="0"/>
            <a:ext cx="907183" cy="26234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rgbClr val="000000"/>
                </a:solidFill>
                <a:latin typeface="Calibri" panose="020F0502020204030204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3804683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</p:sldLayoutIdLst>
  <p:hf hdr="0" dt="0"/>
  <p:txStyles>
    <p:titleStyle>
      <a:lvl1pPr algn="l" defTabSz="913751" rtl="0" eaLnBrk="1" latinLnBrk="0" hangingPunct="1">
        <a:lnSpc>
          <a:spcPct val="90000"/>
        </a:lnSpc>
        <a:spcBef>
          <a:spcPct val="0"/>
        </a:spcBef>
        <a:buNone/>
        <a:defRPr sz="45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438" indent="-228438" algn="l" defTabSz="913751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313" indent="-228438" algn="l" defTabSz="91375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189" indent="-228438" algn="l" defTabSz="91375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061" indent="-228438" algn="l" defTabSz="91375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5937" indent="-228438" algn="l" defTabSz="91375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2812" indent="-228438" algn="l" defTabSz="91375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69687" indent="-228438" algn="l" defTabSz="91375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6563" indent="-228438" algn="l" defTabSz="91375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3438" indent="-228438" algn="l" defTabSz="91375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876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751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624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7498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4377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1250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8124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4998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508141E-100E-4635-9FC3-353399DFC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7634"/>
            <a:ext cx="10515600" cy="1370975"/>
          </a:xfrm>
          <a:prstGeom prst="rect">
            <a:avLst/>
          </a:prstGeom>
        </p:spPr>
        <p:txBody>
          <a:bodyPr vert="horz" lIns="123329" tIns="61666" rIns="123329" bIns="61666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  <a:endParaRPr lang="es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0BD3726-4CCC-4808-AF74-D4FC34B77C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88170"/>
            <a:ext cx="10515600" cy="4500412"/>
          </a:xfrm>
          <a:prstGeom prst="rect">
            <a:avLst/>
          </a:prstGeom>
        </p:spPr>
        <p:txBody>
          <a:bodyPr vert="horz" lIns="123329" tIns="61666" rIns="123329" bIns="61666" rtlCol="0">
            <a:normAutofit/>
          </a:bodyPr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89DA10A-F167-488F-8E2B-A0FE565022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74115"/>
            <a:ext cx="2743200" cy="377634"/>
          </a:xfrm>
          <a:prstGeom prst="rect">
            <a:avLst/>
          </a:prstGeom>
        </p:spPr>
        <p:txBody>
          <a:bodyPr vert="horz" lIns="123329" tIns="61666" rIns="123329" bIns="61666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33288"/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C937220-A8C8-4E71-8BA2-4260C5636D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74115"/>
            <a:ext cx="4114800" cy="377634"/>
          </a:xfrm>
          <a:prstGeom prst="rect">
            <a:avLst/>
          </a:prstGeom>
        </p:spPr>
        <p:txBody>
          <a:bodyPr vert="horz" lIns="123329" tIns="61666" rIns="123329" bIns="61666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33288"/>
            <a:r>
              <a:rPr lang="es-ES">
                <a:solidFill>
                  <a:prstClr val="black">
                    <a:tint val="75000"/>
                  </a:prstClr>
                </a:solidFill>
              </a:rPr>
              <a:t>asas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5E98D6-3F4E-4F5E-9BFB-DDFD9AC1E7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574115"/>
            <a:ext cx="2743200" cy="377634"/>
          </a:xfrm>
          <a:prstGeom prst="rect">
            <a:avLst/>
          </a:prstGeom>
        </p:spPr>
        <p:txBody>
          <a:bodyPr vert="horz" lIns="123329" tIns="61666" rIns="123329" bIns="61666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33288"/>
            <a:fld id="{BC0D97B6-E32F-4D7D-B839-7C3B51F2640F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 defTabSz="1233288"/>
              <a:t>‹#›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MSIPCMContentMarking" descr="{&quot;HashCode&quot;:-665463564,&quot;Placement&quot;:&quot;Header&quot;,&quot;Top&quot;:0.0,&quot;Left&quot;:0.0,&quot;SlideWidth&quot;:960,&quot;SlideHeight&quot;:558}"/>
          <p:cNvSpPr txBox="1"/>
          <p:nvPr userDrawn="1"/>
        </p:nvSpPr>
        <p:spPr>
          <a:xfrm>
            <a:off x="0" y="0"/>
            <a:ext cx="907183" cy="26234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rgbClr val="000000"/>
                </a:solidFill>
                <a:latin typeface="Calibri" panose="020F0502020204030204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195304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hf hdr="0" dt="0"/>
  <p:txStyles>
    <p:titleStyle>
      <a:lvl1pPr algn="l" defTabSz="924967" rtl="0" eaLnBrk="1" latinLnBrk="0" hangingPunct="1">
        <a:lnSpc>
          <a:spcPct val="90000"/>
        </a:lnSpc>
        <a:spcBef>
          <a:spcPct val="0"/>
        </a:spcBef>
        <a:buNone/>
        <a:defRPr sz="45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31243" indent="-231243" algn="l" defTabSz="924967" rtl="0" eaLnBrk="1" latinLnBrk="0" hangingPunct="1">
        <a:lnSpc>
          <a:spcPct val="90000"/>
        </a:lnSpc>
        <a:spcBef>
          <a:spcPts val="1012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93726" indent="-231243" algn="l" defTabSz="924967" rtl="0" eaLnBrk="1" latinLnBrk="0" hangingPunct="1">
        <a:lnSpc>
          <a:spcPct val="90000"/>
        </a:lnSpc>
        <a:spcBef>
          <a:spcPts val="506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56207" indent="-231243" algn="l" defTabSz="924967" rtl="0" eaLnBrk="1" latinLnBrk="0" hangingPunct="1">
        <a:lnSpc>
          <a:spcPct val="90000"/>
        </a:lnSpc>
        <a:spcBef>
          <a:spcPts val="506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18691" indent="-231243" algn="l" defTabSz="924967" rtl="0" eaLnBrk="1" latinLnBrk="0" hangingPunct="1">
        <a:lnSpc>
          <a:spcPct val="90000"/>
        </a:lnSpc>
        <a:spcBef>
          <a:spcPts val="506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81174" indent="-231243" algn="l" defTabSz="924967" rtl="0" eaLnBrk="1" latinLnBrk="0" hangingPunct="1">
        <a:lnSpc>
          <a:spcPct val="90000"/>
        </a:lnSpc>
        <a:spcBef>
          <a:spcPts val="506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43658" indent="-231243" algn="l" defTabSz="924967" rtl="0" eaLnBrk="1" latinLnBrk="0" hangingPunct="1">
        <a:lnSpc>
          <a:spcPct val="90000"/>
        </a:lnSpc>
        <a:spcBef>
          <a:spcPts val="506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3006140" indent="-231243" algn="l" defTabSz="924967" rtl="0" eaLnBrk="1" latinLnBrk="0" hangingPunct="1">
        <a:lnSpc>
          <a:spcPct val="90000"/>
        </a:lnSpc>
        <a:spcBef>
          <a:spcPts val="506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68621" indent="-231243" algn="l" defTabSz="924967" rtl="0" eaLnBrk="1" latinLnBrk="0" hangingPunct="1">
        <a:lnSpc>
          <a:spcPct val="90000"/>
        </a:lnSpc>
        <a:spcBef>
          <a:spcPts val="506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931105" indent="-231243" algn="l" defTabSz="924967" rtl="0" eaLnBrk="1" latinLnBrk="0" hangingPunct="1">
        <a:lnSpc>
          <a:spcPct val="90000"/>
        </a:lnSpc>
        <a:spcBef>
          <a:spcPts val="506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2483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24967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87450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49933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12414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74901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37382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99865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508141E-100E-4635-9FC3-353399DFC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7634"/>
            <a:ext cx="10515600" cy="1370975"/>
          </a:xfrm>
          <a:prstGeom prst="rect">
            <a:avLst/>
          </a:prstGeom>
        </p:spPr>
        <p:txBody>
          <a:bodyPr vert="horz" lIns="91427" tIns="45713" rIns="91427" bIns="45713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  <a:endParaRPr lang="es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0BD3726-4CCC-4808-AF74-D4FC34B77C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88169"/>
            <a:ext cx="10515600" cy="4500412"/>
          </a:xfrm>
          <a:prstGeom prst="rect">
            <a:avLst/>
          </a:prstGeom>
        </p:spPr>
        <p:txBody>
          <a:bodyPr vert="horz" lIns="91427" tIns="45713" rIns="91427" bIns="45713" rtlCol="0">
            <a:normAutofit/>
          </a:bodyPr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89DA10A-F167-488F-8E2B-A0FE565022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74115"/>
            <a:ext cx="2743200" cy="377634"/>
          </a:xfrm>
          <a:prstGeom prst="rect">
            <a:avLst/>
          </a:prstGeom>
        </p:spPr>
        <p:txBody>
          <a:bodyPr vert="horz" lIns="91427" tIns="45713" rIns="91427" bIns="45713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271"/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C937220-A8C8-4E71-8BA2-4260C5636D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74115"/>
            <a:ext cx="4114800" cy="377634"/>
          </a:xfrm>
          <a:prstGeom prst="rect">
            <a:avLst/>
          </a:prstGeom>
        </p:spPr>
        <p:txBody>
          <a:bodyPr vert="horz" lIns="91427" tIns="45713" rIns="91427" bIns="45713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271"/>
            <a:r>
              <a:rPr lang="es-ES">
                <a:solidFill>
                  <a:prstClr val="black">
                    <a:tint val="75000"/>
                  </a:prstClr>
                </a:solidFill>
              </a:rPr>
              <a:t>asas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5E98D6-3F4E-4F5E-9BFB-DDFD9AC1E7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574115"/>
            <a:ext cx="2743200" cy="377634"/>
          </a:xfrm>
          <a:prstGeom prst="rect">
            <a:avLst/>
          </a:prstGeom>
        </p:spPr>
        <p:txBody>
          <a:bodyPr vert="horz" lIns="91427" tIns="45713" rIns="91427" bIns="45713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271"/>
            <a:fld id="{BC0D97B6-E32F-4D7D-B839-7C3B51F2640F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 defTabSz="914271"/>
              <a:t>‹#›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MSIPCMContentMarking" descr="{&quot;HashCode&quot;:-665463564,&quot;Placement&quot;:&quot;Header&quot;,&quot;Top&quot;:0.0,&quot;Left&quot;:0.0,&quot;SlideWidth&quot;:960,&quot;SlideHeight&quot;:558}"/>
          <p:cNvSpPr txBox="1"/>
          <p:nvPr userDrawn="1"/>
        </p:nvSpPr>
        <p:spPr>
          <a:xfrm>
            <a:off x="0" y="0"/>
            <a:ext cx="907183" cy="26234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rgbClr val="000000"/>
                </a:solidFill>
                <a:latin typeface="Calibri" panose="020F0502020204030204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34390446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</p:sldLayoutIdLst>
  <p:hf hdr="0" dt="0"/>
  <p:txStyles>
    <p:titleStyle>
      <a:lvl1pPr algn="l" defTabSz="914271" rtl="0" eaLnBrk="1" latinLnBrk="0" hangingPunct="1">
        <a:lnSpc>
          <a:spcPct val="90000"/>
        </a:lnSpc>
        <a:spcBef>
          <a:spcPct val="0"/>
        </a:spcBef>
        <a:buNone/>
        <a:defRPr sz="45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68" indent="-228568" algn="l" defTabSz="914271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03" indent="-228568" algn="l" defTabSz="91427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837" indent="-228568" algn="l" defTabSz="91427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972" indent="-228568" algn="l" defTabSz="91427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107" indent="-228568" algn="l" defTabSz="91427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243" indent="-228568" algn="l" defTabSz="91427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377" indent="-228568" algn="l" defTabSz="91427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512" indent="-228568" algn="l" defTabSz="91427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647" indent="-228568" algn="l" defTabSz="91427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2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35" algn="l" defTabSz="9142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71" algn="l" defTabSz="9142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05" algn="l" defTabSz="9142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40" algn="l" defTabSz="9142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675" algn="l" defTabSz="9142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810" algn="l" defTabSz="9142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944" algn="l" defTabSz="9142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080" algn="l" defTabSz="9142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slideLayout" Target="../slideLayouts/slideLayout5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.e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40447380-3E61-4E42-AFCA-CAF1866AAF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1748" y="1546412"/>
            <a:ext cx="11340264" cy="645459"/>
          </a:xfrm>
        </p:spPr>
        <p:txBody>
          <a:bodyPr>
            <a:normAutofit/>
          </a:bodyPr>
          <a:lstStyle/>
          <a:p>
            <a:r>
              <a:rPr lang="es-ES" dirty="0" err="1"/>
              <a:t>Projeto</a:t>
            </a:r>
            <a:r>
              <a:rPr lang="es-ES" dirty="0"/>
              <a:t> </a:t>
            </a:r>
            <a:r>
              <a:rPr lang="es-ES" dirty="0" err="1"/>
              <a:t>Repositório</a:t>
            </a:r>
            <a:r>
              <a:rPr lang="es-ES" dirty="0"/>
              <a:t> Consolidado de </a:t>
            </a:r>
            <a:r>
              <a:rPr lang="es-ES" dirty="0" err="1"/>
              <a:t>Garantias</a:t>
            </a:r>
            <a:endParaRPr lang="es-ES" dirty="0"/>
          </a:p>
        </p:txBody>
      </p:sp>
      <p:sp>
        <p:nvSpPr>
          <p:cNvPr id="5" name="CuadroTexto 7"/>
          <p:cNvSpPr txBox="1"/>
          <p:nvPr/>
        </p:nvSpPr>
        <p:spPr>
          <a:xfrm>
            <a:off x="5031441" y="365329"/>
            <a:ext cx="6855759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300" dirty="0">
                <a:solidFill>
                  <a:schemeClr val="bg2">
                    <a:lumMod val="50000"/>
                  </a:schemeClr>
                </a:solidFill>
              </a:rPr>
              <a:t>Para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</a:rPr>
              <a:t>conhecimento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</a:rPr>
              <a:t>   </a:t>
            </a:r>
          </a:p>
        </p:txBody>
      </p:sp>
      <p:sp>
        <p:nvSpPr>
          <p:cNvPr id="8" name="CuadroTexto 11"/>
          <p:cNvSpPr txBox="1"/>
          <p:nvPr/>
        </p:nvSpPr>
        <p:spPr>
          <a:xfrm>
            <a:off x="928689" y="815696"/>
            <a:ext cx="10958512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300" dirty="0" err="1">
                <a:solidFill>
                  <a:schemeClr val="bg2">
                    <a:lumMod val="50000"/>
                  </a:schemeClr>
                </a:solidFill>
              </a:rPr>
              <a:t>Confidencial</a:t>
            </a:r>
            <a:endParaRPr lang="en-US" sz="13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06189" y="2680456"/>
            <a:ext cx="9964598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pt-PT" sz="2000" dirty="0">
                <a:solidFill>
                  <a:schemeClr val="tx2"/>
                </a:solidFill>
              </a:rPr>
              <a:t>Ponto de Situação</a:t>
            </a:r>
          </a:p>
          <a:p>
            <a:pPr>
              <a:spcAft>
                <a:spcPts val="1200"/>
              </a:spcAft>
            </a:pPr>
            <a:r>
              <a:rPr lang="pt-PT" sz="1600" dirty="0">
                <a:solidFill>
                  <a:schemeClr val="tx2"/>
                </a:solidFill>
              </a:rPr>
              <a:t>12 de Janeiro de 2023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5657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3E78DA-069E-4823-8E49-CBFF8D792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Plano e </a:t>
            </a:r>
            <a:r>
              <a:rPr lang="pt-PT" i="1"/>
              <a:t>status</a:t>
            </a:r>
            <a:r>
              <a:rPr lang="pt-PT"/>
              <a:t> do projeto</a:t>
            </a:r>
            <a:br>
              <a:rPr lang="pt-PT"/>
            </a:br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6DCEE02-D34D-4F11-9432-3B5DE7C3D5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dirty="0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215426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BR" sz="2000" dirty="0"/>
              <a:t>1. Plano e status do projeto</a:t>
            </a:r>
            <a:endParaRPr lang="es-ES" sz="2000" dirty="0"/>
          </a:p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3</a:t>
            </a:fld>
            <a:endParaRPr lang="es-ES"/>
          </a:p>
        </p:txBody>
      </p:sp>
      <p:sp>
        <p:nvSpPr>
          <p:cNvPr id="135" name="Text Box 94">
            <a:extLst>
              <a:ext uri="{FF2B5EF4-FFF2-40B4-BE49-F238E27FC236}">
                <a16:creationId xmlns:a16="http://schemas.microsoft.com/office/drawing/2014/main" id="{25C840E4-CC1E-4688-B78A-DC480A52211B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3749862" y="3084385"/>
            <a:ext cx="684000" cy="216000"/>
          </a:xfrm>
          <a:prstGeom prst="rect">
            <a:avLst/>
          </a:prstGeom>
          <a:solidFill>
            <a:schemeClr val="accent1"/>
          </a:solidFill>
          <a:ln w="3175" cap="flat" cmpd="sng" algn="ctr">
            <a:solidFill>
              <a:sysClr val="window" lastClr="FFFFFF"/>
            </a:solidFill>
            <a:prstDash val="solid"/>
            <a:miter lim="800000"/>
            <a:headEnd/>
            <a:tailEnd/>
          </a:ln>
          <a:effectLst/>
        </p:spPr>
        <p:txBody>
          <a:bodyPr lIns="81055" tIns="40528" rIns="81055" bIns="40528" anchor="ctr"/>
          <a:lstStyle/>
          <a:p>
            <a:pPr algn="ctr" defTabSz="679879" eaLnBrk="0">
              <a:defRPr/>
            </a:pPr>
            <a:r>
              <a:rPr lang="pt-PT" sz="750" b="1" i="1" kern="0" dirty="0">
                <a:solidFill>
                  <a:srgbClr val="FFFFFF"/>
                </a:solidFill>
                <a:latin typeface="+mj-lt"/>
                <a:cs typeface="Arial" panose="020B0604020202020204" pitchFamily="34" charset="0"/>
                <a:sym typeface="Helvetica Light"/>
              </a:rPr>
              <a:t>Status</a:t>
            </a:r>
            <a:endParaRPr lang="en-US" sz="750" b="1" i="1" kern="0" dirty="0">
              <a:solidFill>
                <a:srgbClr val="FFFFFF"/>
              </a:solidFill>
              <a:latin typeface="+mj-lt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36" name="Text Box 94">
            <a:extLst>
              <a:ext uri="{FF2B5EF4-FFF2-40B4-BE49-F238E27FC236}">
                <a16:creationId xmlns:a16="http://schemas.microsoft.com/office/drawing/2014/main" id="{01999297-3A9B-4C6E-8420-F5CD63A1C6DC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4470213" y="3084385"/>
            <a:ext cx="1368000" cy="216000"/>
          </a:xfrm>
          <a:prstGeom prst="rect">
            <a:avLst/>
          </a:prstGeom>
          <a:solidFill>
            <a:schemeClr val="accent1"/>
          </a:solidFill>
          <a:ln w="3175" cap="flat" cmpd="sng" algn="ctr">
            <a:solidFill>
              <a:sysClr val="window" lastClr="FFFFFF"/>
            </a:solidFill>
            <a:prstDash val="solid"/>
            <a:miter lim="800000"/>
            <a:headEnd/>
            <a:tailEnd/>
          </a:ln>
          <a:effectLst/>
        </p:spPr>
        <p:txBody>
          <a:bodyPr lIns="81055" tIns="40528" rIns="81055" bIns="40528" anchor="ctr"/>
          <a:lstStyle/>
          <a:p>
            <a:pPr algn="ctr" defTabSz="679879" eaLnBrk="0">
              <a:defRPr/>
            </a:pPr>
            <a:r>
              <a:rPr lang="pt-PT" sz="750" b="1" kern="0" dirty="0" err="1">
                <a:solidFill>
                  <a:srgbClr val="FFFFFF"/>
                </a:solidFill>
                <a:latin typeface="+mj-lt"/>
                <a:cs typeface="Arial" panose="020B0604020202020204" pitchFamily="34" charset="0"/>
                <a:sym typeface="Helvetica Light"/>
              </a:rPr>
              <a:t>jan</a:t>
            </a:r>
            <a:r>
              <a:rPr lang="pt-PT" sz="750" b="1" kern="0" dirty="0">
                <a:solidFill>
                  <a:srgbClr val="FFFFFF"/>
                </a:solidFill>
                <a:latin typeface="+mj-lt"/>
                <a:cs typeface="Arial" panose="020B0604020202020204" pitchFamily="34" charset="0"/>
                <a:sym typeface="Helvetica Light"/>
              </a:rPr>
              <a:t> 23</a:t>
            </a:r>
            <a:endParaRPr lang="en-US" sz="750" b="1" kern="0" dirty="0">
              <a:solidFill>
                <a:srgbClr val="FFFFFF"/>
              </a:solidFill>
              <a:latin typeface="+mj-lt"/>
              <a:cs typeface="Arial" panose="020B0604020202020204" pitchFamily="34" charset="0"/>
              <a:sym typeface="Helvetica Light"/>
            </a:endParaRPr>
          </a:p>
        </p:txBody>
      </p:sp>
      <p:grpSp>
        <p:nvGrpSpPr>
          <p:cNvPr id="252" name="Group 251">
            <a:extLst>
              <a:ext uri="{FF2B5EF4-FFF2-40B4-BE49-F238E27FC236}">
                <a16:creationId xmlns:a16="http://schemas.microsoft.com/office/drawing/2014/main" id="{E4DDDBC2-4D7A-445E-A24A-F5F15EA338CD}"/>
              </a:ext>
            </a:extLst>
          </p:cNvPr>
          <p:cNvGrpSpPr/>
          <p:nvPr/>
        </p:nvGrpSpPr>
        <p:grpSpPr>
          <a:xfrm>
            <a:off x="8694856" y="5432377"/>
            <a:ext cx="1140614" cy="215444"/>
            <a:chOff x="3461156" y="6486804"/>
            <a:chExt cx="1140614" cy="215444"/>
          </a:xfrm>
        </p:grpSpPr>
        <p:sp>
          <p:nvSpPr>
            <p:cNvPr id="253" name="Rectangle 252">
              <a:extLst>
                <a:ext uri="{FF2B5EF4-FFF2-40B4-BE49-F238E27FC236}">
                  <a16:creationId xmlns:a16="http://schemas.microsoft.com/office/drawing/2014/main" id="{80459E86-D8CF-4152-A6ED-6E5A97A27607}"/>
                </a:ext>
              </a:extLst>
            </p:cNvPr>
            <p:cNvSpPr/>
            <p:nvPr/>
          </p:nvSpPr>
          <p:spPr>
            <a:xfrm>
              <a:off x="3461156" y="6540526"/>
              <a:ext cx="108000" cy="108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54" name="TextBox 253">
              <a:extLst>
                <a:ext uri="{FF2B5EF4-FFF2-40B4-BE49-F238E27FC236}">
                  <a16:creationId xmlns:a16="http://schemas.microsoft.com/office/drawing/2014/main" id="{ABEC3A2D-048D-4727-9DC2-337BC18E71AA}"/>
                </a:ext>
              </a:extLst>
            </p:cNvPr>
            <p:cNvSpPr txBox="1"/>
            <p:nvPr/>
          </p:nvSpPr>
          <p:spPr>
            <a:xfrm>
              <a:off x="3569156" y="6486804"/>
              <a:ext cx="1032614" cy="21544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pt-PT" sz="800" dirty="0"/>
                <a:t>Duração prevista</a:t>
              </a:r>
            </a:p>
          </p:txBody>
        </p:sp>
      </p:grpSp>
      <p:sp>
        <p:nvSpPr>
          <p:cNvPr id="76" name="Text Box 94">
            <a:extLst>
              <a:ext uri="{FF2B5EF4-FFF2-40B4-BE49-F238E27FC236}">
                <a16:creationId xmlns:a16="http://schemas.microsoft.com/office/drawing/2014/main" id="{8E445FB6-2507-4532-860F-6EFEB7F34719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855659" y="3383125"/>
            <a:ext cx="9792000" cy="229028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 cap="flat" cmpd="sng" algn="ctr">
            <a:solidFill>
              <a:sysClr val="window" lastClr="FFFFFF"/>
            </a:solidFill>
            <a:prstDash val="solid"/>
            <a:miter lim="800000"/>
            <a:headEnd/>
            <a:tailEnd/>
          </a:ln>
          <a:effectLst/>
        </p:spPr>
        <p:txBody>
          <a:bodyPr lIns="81055" tIns="40528" rIns="81055" bIns="40528" anchor="ctr"/>
          <a:lstStyle/>
          <a:p>
            <a:pPr marL="0" marR="0" lvl="0" indent="0" defTabSz="679879" eaLnBrk="0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1000" b="1" kern="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  <a:sym typeface="Helvetica Light"/>
              </a:rPr>
              <a:t>1. Análise e Especificação</a:t>
            </a:r>
            <a:endParaRPr kumimoji="0" lang="en-US" sz="1000" b="1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B85A2B1-D61F-44DD-90E6-F435CF966DEF}"/>
              </a:ext>
            </a:extLst>
          </p:cNvPr>
          <p:cNvSpPr txBox="1"/>
          <p:nvPr/>
        </p:nvSpPr>
        <p:spPr>
          <a:xfrm>
            <a:off x="3673768" y="3389917"/>
            <a:ext cx="83618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ctr"/>
            <a:r>
              <a:rPr lang="pt-PT" sz="800" b="1" dirty="0">
                <a:solidFill>
                  <a:srgbClr val="ED7D31"/>
                </a:solidFill>
                <a:sym typeface="Wingdings 3" panose="05040102010807070707" pitchFamily="18" charset="2"/>
              </a:rPr>
              <a:t> </a:t>
            </a:r>
            <a:r>
              <a:rPr lang="pt-PT" sz="800" dirty="0"/>
              <a:t>Em curso</a:t>
            </a:r>
            <a:endParaRPr lang="pt-PT" sz="800" i="0" u="none" strike="noStrike" dirty="0">
              <a:solidFill>
                <a:srgbClr val="404033"/>
              </a:solidFill>
              <a:effectLst/>
            </a:endParaRPr>
          </a:p>
        </p:txBody>
      </p:sp>
      <p:sp>
        <p:nvSpPr>
          <p:cNvPr id="158" name="Text Box 94">
            <a:extLst>
              <a:ext uri="{FF2B5EF4-FFF2-40B4-BE49-F238E27FC236}">
                <a16:creationId xmlns:a16="http://schemas.microsoft.com/office/drawing/2014/main" id="{551A29D8-2A59-4DC8-BD2D-815823D50337}"/>
              </a:ext>
            </a:extLst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855659" y="4002861"/>
            <a:ext cx="9792000" cy="229028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 cap="flat" cmpd="sng" algn="ctr">
            <a:solidFill>
              <a:sysClr val="window" lastClr="FFFFFF"/>
            </a:solidFill>
            <a:prstDash val="solid"/>
            <a:miter lim="800000"/>
            <a:headEnd/>
            <a:tailEnd/>
          </a:ln>
          <a:effectLst/>
        </p:spPr>
        <p:txBody>
          <a:bodyPr lIns="81055" tIns="40528" rIns="81055" bIns="40528" anchor="ctr"/>
          <a:lstStyle/>
          <a:p>
            <a:pPr defTabSz="679879" eaLnBrk="0">
              <a:defRPr/>
            </a:pPr>
            <a:r>
              <a:rPr lang="pt-PT" sz="1000" b="1" kern="0" dirty="0">
                <a:solidFill>
                  <a:sysClr val="windowText" lastClr="000000"/>
                </a:solidFill>
                <a:cs typeface="Arial" panose="020B0604020202020204" pitchFamily="34" charset="0"/>
                <a:sym typeface="Helvetica Light"/>
              </a:rPr>
              <a:t>3.Validações com BDR</a:t>
            </a:r>
            <a:endParaRPr lang="en-US" sz="1000" b="1" kern="0" baseline="30000" dirty="0">
              <a:solidFill>
                <a:sysClr val="windowText" lastClr="000000"/>
              </a:solidFill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66" name="Text Box 94">
            <a:extLst>
              <a:ext uri="{FF2B5EF4-FFF2-40B4-BE49-F238E27FC236}">
                <a16:creationId xmlns:a16="http://schemas.microsoft.com/office/drawing/2014/main" id="{BECE4A3A-F8BF-4121-B485-62456EE1E664}"/>
              </a:ext>
            </a:extLst>
          </p:cNvPr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5140554" y="4061566"/>
            <a:ext cx="2196000" cy="10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6350" cap="flat" cmpd="sng" algn="ctr">
            <a:solidFill>
              <a:sysClr val="window" lastClr="FFFFFF"/>
            </a:solidFill>
            <a:prstDash val="solid"/>
            <a:miter lim="800000"/>
            <a:headEnd/>
            <a:tailEnd/>
          </a:ln>
          <a:effectLst/>
        </p:spPr>
        <p:txBody>
          <a:bodyPr lIns="81055" tIns="40528" rIns="81055" bIns="40528" anchor="ctr"/>
          <a:lstStyle/>
          <a:p>
            <a:pPr marL="0" marR="0" lvl="0" indent="0" defTabSz="679879" eaLnBrk="0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75" b="1" i="1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Muli "/>
              <a:ea typeface="+mn-ea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 dirty="0">
                <a:solidFill>
                  <a:schemeClr val="bg1"/>
                </a:solidFill>
              </a:rPr>
              <a:t>1.1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dirty="0">
                <a:solidFill>
                  <a:schemeClr val="tx1"/>
                </a:solidFill>
              </a:rPr>
              <a:t>Plano BDR (2/2)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82" name="Text Box 94">
            <a:extLst>
              <a:ext uri="{FF2B5EF4-FFF2-40B4-BE49-F238E27FC236}">
                <a16:creationId xmlns:a16="http://schemas.microsoft.com/office/drawing/2014/main" id="{01999297-3A9B-4C6E-8420-F5CD63A1C6DC}"/>
              </a:ext>
            </a:extLst>
          </p:cNvPr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5874564" y="3085187"/>
            <a:ext cx="1368000" cy="216000"/>
          </a:xfrm>
          <a:prstGeom prst="rect">
            <a:avLst/>
          </a:prstGeom>
          <a:solidFill>
            <a:schemeClr val="accent1"/>
          </a:solidFill>
          <a:ln w="3175" cap="flat" cmpd="sng" algn="ctr">
            <a:solidFill>
              <a:sysClr val="window" lastClr="FFFFFF"/>
            </a:solidFill>
            <a:prstDash val="solid"/>
            <a:miter lim="800000"/>
            <a:headEnd/>
            <a:tailEnd/>
          </a:ln>
          <a:effectLst/>
        </p:spPr>
        <p:txBody>
          <a:bodyPr lIns="81055" tIns="40528" rIns="81055" bIns="40528" anchor="ctr"/>
          <a:lstStyle/>
          <a:p>
            <a:pPr algn="ctr" defTabSz="679879" eaLnBrk="0">
              <a:defRPr/>
            </a:pPr>
            <a:r>
              <a:rPr lang="pt-PT" sz="750" b="1" kern="0" dirty="0" err="1">
                <a:solidFill>
                  <a:srgbClr val="FFFFFF"/>
                </a:solidFill>
                <a:latin typeface="+mj-lt"/>
                <a:cs typeface="Arial" panose="020B0604020202020204" pitchFamily="34" charset="0"/>
                <a:sym typeface="Helvetica Light"/>
              </a:rPr>
              <a:t>fev</a:t>
            </a:r>
            <a:r>
              <a:rPr lang="pt-PT" sz="750" b="1" kern="0" dirty="0">
                <a:solidFill>
                  <a:srgbClr val="FFFFFF"/>
                </a:solidFill>
                <a:latin typeface="+mj-lt"/>
                <a:cs typeface="Arial" panose="020B0604020202020204" pitchFamily="34" charset="0"/>
                <a:sym typeface="Helvetica Light"/>
              </a:rPr>
              <a:t> 23</a:t>
            </a:r>
            <a:endParaRPr lang="en-US" sz="750" b="1" kern="0" dirty="0">
              <a:solidFill>
                <a:srgbClr val="FFFFFF"/>
              </a:solidFill>
              <a:latin typeface="+mj-lt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83" name="Text Box 94">
            <a:extLst>
              <a:ext uri="{FF2B5EF4-FFF2-40B4-BE49-F238E27FC236}">
                <a16:creationId xmlns:a16="http://schemas.microsoft.com/office/drawing/2014/main" id="{01999297-3A9B-4C6E-8420-F5CD63A1C6DC}"/>
              </a:ext>
            </a:extLst>
          </p:cNvPr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7278916" y="3079657"/>
            <a:ext cx="1368000" cy="216000"/>
          </a:xfrm>
          <a:prstGeom prst="rect">
            <a:avLst/>
          </a:prstGeom>
          <a:solidFill>
            <a:schemeClr val="accent1"/>
          </a:solidFill>
          <a:ln w="3175" cap="flat" cmpd="sng" algn="ctr">
            <a:solidFill>
              <a:sysClr val="window" lastClr="FFFFFF"/>
            </a:solidFill>
            <a:prstDash val="solid"/>
            <a:miter lim="800000"/>
            <a:headEnd/>
            <a:tailEnd/>
          </a:ln>
          <a:effectLst/>
        </p:spPr>
        <p:txBody>
          <a:bodyPr lIns="81055" tIns="40528" rIns="81055" bIns="40528" anchor="ctr"/>
          <a:lstStyle/>
          <a:p>
            <a:pPr algn="ctr" defTabSz="679879" eaLnBrk="0">
              <a:defRPr/>
            </a:pPr>
            <a:r>
              <a:rPr lang="pt-PT" sz="750" b="1" kern="0" dirty="0">
                <a:solidFill>
                  <a:srgbClr val="FFFFFF"/>
                </a:solidFill>
                <a:latin typeface="+mj-lt"/>
                <a:cs typeface="Arial" panose="020B0604020202020204" pitchFamily="34" charset="0"/>
                <a:sym typeface="Helvetica Light"/>
              </a:rPr>
              <a:t>mar 23</a:t>
            </a:r>
            <a:endParaRPr lang="en-US" sz="750" b="1" kern="0" dirty="0">
              <a:solidFill>
                <a:srgbClr val="FFFFFF"/>
              </a:solidFill>
              <a:latin typeface="+mj-lt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93" name="Text Box 94">
            <a:extLst>
              <a:ext uri="{FF2B5EF4-FFF2-40B4-BE49-F238E27FC236}">
                <a16:creationId xmlns:a16="http://schemas.microsoft.com/office/drawing/2014/main" id="{A8599BBE-100B-41AF-BB0B-82FA8778B596}"/>
              </a:ext>
            </a:extLst>
          </p:cNvPr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4484578" y="3439894"/>
            <a:ext cx="6084000" cy="1069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6350" cap="flat" cmpd="sng" algn="ctr">
            <a:solidFill>
              <a:sysClr val="window" lastClr="FFFFFF"/>
            </a:solidFill>
            <a:prstDash val="solid"/>
            <a:miter lim="800000"/>
            <a:headEnd/>
            <a:tailEnd/>
          </a:ln>
          <a:effectLst/>
        </p:spPr>
        <p:txBody>
          <a:bodyPr lIns="81055" tIns="40528" rIns="81055" bIns="40528" anchor="ctr"/>
          <a:lstStyle/>
          <a:p>
            <a:pPr marL="0" marR="0" lvl="0" indent="0" defTabSz="679879" eaLnBrk="0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75" b="1" i="1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Muli "/>
              <a:ea typeface="+mn-ea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53" name="Text Box 94">
            <a:extLst>
              <a:ext uri="{FF2B5EF4-FFF2-40B4-BE49-F238E27FC236}">
                <a16:creationId xmlns:a16="http://schemas.microsoft.com/office/drawing/2014/main" id="{8E445FB6-2507-4532-860F-6EFEB7F34719}"/>
              </a:ext>
            </a:extLst>
          </p:cNvPr>
          <p:cNvSpPr txBox="1"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855659" y="3682068"/>
            <a:ext cx="9792000" cy="229028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 cap="flat" cmpd="sng" algn="ctr">
            <a:solidFill>
              <a:sysClr val="window" lastClr="FFFFFF"/>
            </a:solidFill>
            <a:prstDash val="solid"/>
            <a:miter lim="800000"/>
            <a:headEnd/>
            <a:tailEnd/>
          </a:ln>
          <a:effectLst/>
        </p:spPr>
        <p:txBody>
          <a:bodyPr lIns="81055" tIns="40528" rIns="81055" bIns="40528" anchor="ctr"/>
          <a:lstStyle/>
          <a:p>
            <a:pPr marL="0" marR="0" lvl="0" indent="0" defTabSz="679879" eaLnBrk="0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1000" b="1" kern="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  <a:sym typeface="Helvetica Light"/>
              </a:rPr>
              <a:t>2. Implementação IT</a:t>
            </a:r>
            <a:endParaRPr kumimoji="0" lang="en-US" sz="1000" b="1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Helvetica Light"/>
            </a:endParaRPr>
          </a:p>
        </p:txBody>
      </p:sp>
      <p:grpSp>
        <p:nvGrpSpPr>
          <p:cNvPr id="28" name="Group 27"/>
          <p:cNvGrpSpPr/>
          <p:nvPr/>
        </p:nvGrpSpPr>
        <p:grpSpPr>
          <a:xfrm>
            <a:off x="7850682" y="5442154"/>
            <a:ext cx="1116124" cy="215444"/>
            <a:chOff x="8508024" y="4687884"/>
            <a:chExt cx="1116124" cy="215444"/>
          </a:xfrm>
        </p:grpSpPr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ABEC3A2D-048D-4727-9DC2-337BC18E71AA}"/>
                </a:ext>
              </a:extLst>
            </p:cNvPr>
            <p:cNvSpPr txBox="1"/>
            <p:nvPr/>
          </p:nvSpPr>
          <p:spPr>
            <a:xfrm>
              <a:off x="8591534" y="4687884"/>
              <a:ext cx="1032614" cy="21544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pt-PT" sz="800" i="1" dirty="0"/>
                <a:t>Milestone</a:t>
              </a:r>
            </a:p>
          </p:txBody>
        </p:sp>
        <p:sp>
          <p:nvSpPr>
            <p:cNvPr id="144" name="Diamond 143"/>
            <p:cNvSpPr/>
            <p:nvPr/>
          </p:nvSpPr>
          <p:spPr>
            <a:xfrm>
              <a:off x="8508024" y="4724617"/>
              <a:ext cx="144000" cy="141978"/>
            </a:xfrm>
            <a:prstGeom prst="diamond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897944" y="5501450"/>
            <a:ext cx="7662486" cy="400110"/>
            <a:chOff x="897944" y="5420680"/>
            <a:chExt cx="7078341" cy="400110"/>
          </a:xfrm>
        </p:grpSpPr>
        <p:sp>
          <p:nvSpPr>
            <p:cNvPr id="2" name="TextBox 1"/>
            <p:cNvSpPr txBox="1"/>
            <p:nvPr/>
          </p:nvSpPr>
          <p:spPr>
            <a:xfrm>
              <a:off x="897944" y="5420680"/>
              <a:ext cx="7078341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pt-PT" sz="1000" i="1" dirty="0"/>
                <a:t>      </a:t>
              </a:r>
              <a:r>
                <a:rPr lang="pt-PT" sz="1000" i="1" dirty="0" err="1"/>
                <a:t>Milestones</a:t>
              </a:r>
              <a:endParaRPr lang="pt-PT" sz="1000" i="1" dirty="0"/>
            </a:p>
            <a:p>
              <a:r>
                <a:rPr lang="pt-PT" sz="1000" dirty="0"/>
                <a:t>#1 Envio de ficheiros relativos ao fecho 31 de Dezembro para carga na BDR2</a:t>
              </a:r>
            </a:p>
          </p:txBody>
        </p:sp>
        <p:sp>
          <p:nvSpPr>
            <p:cNvPr id="59" name="Diamond 58"/>
            <p:cNvSpPr/>
            <p:nvPr/>
          </p:nvSpPr>
          <p:spPr>
            <a:xfrm>
              <a:off x="972676" y="5468643"/>
              <a:ext cx="144000" cy="141978"/>
            </a:xfrm>
            <a:prstGeom prst="diamond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01" name="Group 200">
            <a:extLst>
              <a:ext uri="{FF2B5EF4-FFF2-40B4-BE49-F238E27FC236}">
                <a16:creationId xmlns:a16="http://schemas.microsoft.com/office/drawing/2014/main" id="{58460DDC-2A11-4BED-9BC2-A49D694C5113}"/>
              </a:ext>
            </a:extLst>
          </p:cNvPr>
          <p:cNvGrpSpPr/>
          <p:nvPr/>
        </p:nvGrpSpPr>
        <p:grpSpPr>
          <a:xfrm>
            <a:off x="4900525" y="2202386"/>
            <a:ext cx="72000" cy="2016000"/>
            <a:chOff x="8591931" y="882133"/>
            <a:chExt cx="69623" cy="4351041"/>
          </a:xfrm>
        </p:grpSpPr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5A81E6C7-D8F9-444C-BAA5-110C252522CA}"/>
                </a:ext>
              </a:extLst>
            </p:cNvPr>
            <p:cNvCxnSpPr>
              <a:cxnSpLocks/>
            </p:cNvCxnSpPr>
            <p:nvPr/>
          </p:nvCxnSpPr>
          <p:spPr>
            <a:xfrm>
              <a:off x="8626743" y="882133"/>
              <a:ext cx="0" cy="4351041"/>
            </a:xfrm>
            <a:prstGeom prst="line">
              <a:avLst/>
            </a:prstGeom>
            <a:solidFill>
              <a:schemeClr val="accent1"/>
            </a:solidFill>
            <a:ln w="6350" cap="flat" cmpd="sng" algn="ctr">
              <a:solidFill>
                <a:schemeClr val="accent1"/>
              </a:solidFill>
              <a:prstDash val="solid"/>
              <a:miter lim="800000"/>
            </a:ln>
            <a:effectLst/>
          </p:spPr>
        </p:cxnSp>
        <p:sp>
          <p:nvSpPr>
            <p:cNvPr id="133" name="Oval 132">
              <a:extLst>
                <a:ext uri="{FF2B5EF4-FFF2-40B4-BE49-F238E27FC236}">
                  <a16:creationId xmlns:a16="http://schemas.microsoft.com/office/drawing/2014/main" id="{B3314BCB-D6F4-4EAC-AD52-975CC69FEC30}"/>
                </a:ext>
              </a:extLst>
            </p:cNvPr>
            <p:cNvSpPr/>
            <p:nvPr/>
          </p:nvSpPr>
          <p:spPr>
            <a:xfrm>
              <a:off x="8591931" y="882135"/>
              <a:ext cx="69623" cy="95770"/>
            </a:xfrm>
            <a:prstGeom prst="ellipse">
              <a:avLst/>
            </a:prstGeom>
            <a:solidFill>
              <a:schemeClr val="accent1"/>
            </a:solidFill>
            <a:ln w="12700" cap="flat" cmpd="sng" algn="ctr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05568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179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Helvetica Light"/>
              </a:endParaRPr>
            </a:p>
          </p:txBody>
        </p:sp>
      </p:grpSp>
      <p:sp>
        <p:nvSpPr>
          <p:cNvPr id="4" name="TextBox 3"/>
          <p:cNvSpPr txBox="1"/>
          <p:nvPr/>
        </p:nvSpPr>
        <p:spPr>
          <a:xfrm>
            <a:off x="722243" y="1512018"/>
            <a:ext cx="100951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 dirty="0"/>
              <a:t>O plano apresentado têm como objetivo assegurar que a BDR, passe a receber informação do modelo consolidado de garantias.</a:t>
            </a:r>
            <a:endParaRPr lang="en-US" sz="1400" dirty="0"/>
          </a:p>
        </p:txBody>
      </p:sp>
      <p:grpSp>
        <p:nvGrpSpPr>
          <p:cNvPr id="9" name="Group 8"/>
          <p:cNvGrpSpPr/>
          <p:nvPr/>
        </p:nvGrpSpPr>
        <p:grpSpPr>
          <a:xfrm>
            <a:off x="6993269" y="5422610"/>
            <a:ext cx="856499" cy="219258"/>
            <a:chOff x="6845932" y="5406463"/>
            <a:chExt cx="1169076" cy="215444"/>
          </a:xfrm>
        </p:grpSpPr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ABEC3A2D-048D-4727-9DC2-337BC18E71AA}"/>
                </a:ext>
              </a:extLst>
            </p:cNvPr>
            <p:cNvSpPr txBox="1"/>
            <p:nvPr/>
          </p:nvSpPr>
          <p:spPr>
            <a:xfrm>
              <a:off x="6982394" y="5406463"/>
              <a:ext cx="1032614" cy="21544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pt-PT" sz="800" i="1" dirty="0" err="1"/>
                <a:t>Go</a:t>
              </a:r>
              <a:r>
                <a:rPr lang="pt-PT" sz="800" i="1" dirty="0"/>
                <a:t> Live</a:t>
              </a:r>
            </a:p>
          </p:txBody>
        </p:sp>
        <p:sp>
          <p:nvSpPr>
            <p:cNvPr id="8" name="Wave 7"/>
            <p:cNvSpPr/>
            <p:nvPr/>
          </p:nvSpPr>
          <p:spPr>
            <a:xfrm>
              <a:off x="6845932" y="5455373"/>
              <a:ext cx="152292" cy="117625"/>
            </a:xfrm>
            <a:prstGeom prst="wave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6" name="Text Box 94">
            <a:extLst>
              <a:ext uri="{FF2B5EF4-FFF2-40B4-BE49-F238E27FC236}">
                <a16:creationId xmlns:a16="http://schemas.microsoft.com/office/drawing/2014/main" id="{A8599BBE-100B-41AF-BB0B-82FA8778B596}"/>
              </a:ext>
            </a:extLst>
          </p:cNvPr>
          <p:cNvSpPr txBox="1"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4497574" y="3741478"/>
            <a:ext cx="6048000" cy="1069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6350" cap="flat" cmpd="sng" algn="ctr">
            <a:solidFill>
              <a:sysClr val="window" lastClr="FFFFFF"/>
            </a:solidFill>
            <a:prstDash val="solid"/>
            <a:miter lim="800000"/>
            <a:headEnd/>
            <a:tailEnd/>
          </a:ln>
          <a:effectLst/>
        </p:spPr>
        <p:txBody>
          <a:bodyPr lIns="81055" tIns="40528" rIns="81055" bIns="40528" anchor="ctr"/>
          <a:lstStyle/>
          <a:p>
            <a:pPr marL="0" marR="0" lvl="0" indent="0" defTabSz="679879" eaLnBrk="0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75" b="1" i="1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Muli "/>
              <a:ea typeface="+mn-ea"/>
              <a:cs typeface="Arial" panose="020B0604020202020204" pitchFamily="34" charset="0"/>
              <a:sym typeface="Helvetica Light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7442209" y="2624624"/>
            <a:ext cx="197635" cy="1584000"/>
            <a:chOff x="10285957" y="2624624"/>
            <a:chExt cx="197635" cy="2493762"/>
          </a:xfrm>
          <a:solidFill>
            <a:srgbClr val="92D050"/>
          </a:solidFill>
        </p:grpSpPr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5A81E6C7-D8F9-444C-BAA5-110C252522CA}"/>
                </a:ext>
              </a:extLst>
            </p:cNvPr>
            <p:cNvCxnSpPr>
              <a:cxnSpLocks/>
            </p:cNvCxnSpPr>
            <p:nvPr/>
          </p:nvCxnSpPr>
          <p:spPr>
            <a:xfrm>
              <a:off x="10292618" y="2741318"/>
              <a:ext cx="0" cy="2377068"/>
            </a:xfrm>
            <a:prstGeom prst="line">
              <a:avLst/>
            </a:prstGeom>
            <a:grpFill/>
            <a:ln w="6350" cap="flat" cmpd="sng" algn="ctr">
              <a:solidFill>
                <a:srgbClr val="FFC000"/>
              </a:solidFill>
              <a:prstDash val="lgDash"/>
              <a:miter lim="800000"/>
            </a:ln>
            <a:effectLst/>
          </p:spPr>
        </p:cxnSp>
        <p:sp>
          <p:nvSpPr>
            <p:cNvPr id="6" name="Wave 5"/>
            <p:cNvSpPr/>
            <p:nvPr/>
          </p:nvSpPr>
          <p:spPr>
            <a:xfrm>
              <a:off x="10285957" y="2624624"/>
              <a:ext cx="197635" cy="186544"/>
            </a:xfrm>
            <a:prstGeom prst="wave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E4DDDBC2-4D7A-445E-A24A-F5F15EA338CD}"/>
              </a:ext>
            </a:extLst>
          </p:cNvPr>
          <p:cNvGrpSpPr/>
          <p:nvPr/>
        </p:nvGrpSpPr>
        <p:grpSpPr>
          <a:xfrm>
            <a:off x="9721297" y="5441127"/>
            <a:ext cx="1140614" cy="215444"/>
            <a:chOff x="3461156" y="6486804"/>
            <a:chExt cx="1140614" cy="215444"/>
          </a:xfrm>
        </p:grpSpPr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80459E86-D8CF-4152-A6ED-6E5A97A27607}"/>
                </a:ext>
              </a:extLst>
            </p:cNvPr>
            <p:cNvSpPr/>
            <p:nvPr/>
          </p:nvSpPr>
          <p:spPr>
            <a:xfrm>
              <a:off x="3461156" y="6540526"/>
              <a:ext cx="108000" cy="108000"/>
            </a:xfrm>
            <a:prstGeom prst="rect">
              <a:avLst/>
            </a:prstGeom>
            <a:pattFill prst="ltUp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ABEC3A2D-048D-4727-9DC2-337BC18E71AA}"/>
                </a:ext>
              </a:extLst>
            </p:cNvPr>
            <p:cNvSpPr txBox="1"/>
            <p:nvPr/>
          </p:nvSpPr>
          <p:spPr>
            <a:xfrm>
              <a:off x="3569156" y="6486804"/>
              <a:ext cx="1032614" cy="21544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pt-PT" sz="800" dirty="0"/>
                <a:t>Em atraso</a:t>
              </a:r>
            </a:p>
          </p:txBody>
        </p:sp>
      </p:grpSp>
      <p:sp>
        <p:nvSpPr>
          <p:cNvPr id="127" name="TextBox 126">
            <a:extLst>
              <a:ext uri="{FF2B5EF4-FFF2-40B4-BE49-F238E27FC236}">
                <a16:creationId xmlns:a16="http://schemas.microsoft.com/office/drawing/2014/main" id="{1B85A2B1-D61F-44DD-90E6-F435CF966DEF}"/>
              </a:ext>
            </a:extLst>
          </p:cNvPr>
          <p:cNvSpPr txBox="1"/>
          <p:nvPr/>
        </p:nvSpPr>
        <p:spPr>
          <a:xfrm>
            <a:off x="3673768" y="4026834"/>
            <a:ext cx="9406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445496" fontAlgn="ctr">
              <a:defRPr/>
            </a:pPr>
            <a:r>
              <a:rPr lang="pt-PT" sz="800" b="1" dirty="0">
                <a:solidFill>
                  <a:schemeClr val="bg1">
                    <a:lumMod val="75000"/>
                  </a:schemeClr>
                </a:solidFill>
                <a:sym typeface="Wingdings 3" panose="05040102010807070707" pitchFamily="18" charset="2"/>
              </a:rPr>
              <a:t>●</a:t>
            </a:r>
            <a:r>
              <a:rPr lang="pt-PT" sz="800" b="1" dirty="0">
                <a:solidFill>
                  <a:srgbClr val="ED7D31"/>
                </a:solidFill>
                <a:sym typeface="Wingdings 3" panose="05040102010807070707" pitchFamily="18" charset="2"/>
              </a:rPr>
              <a:t> </a:t>
            </a:r>
            <a:r>
              <a:rPr lang="pt-PT" sz="800" dirty="0"/>
              <a:t>Por iniciar</a:t>
            </a:r>
            <a:endParaRPr lang="pt-PT" sz="800" b="1" dirty="0"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1B85A2B1-D61F-44DD-90E6-F435CF966DEF}"/>
              </a:ext>
            </a:extLst>
          </p:cNvPr>
          <p:cNvSpPr txBox="1"/>
          <p:nvPr/>
        </p:nvSpPr>
        <p:spPr>
          <a:xfrm>
            <a:off x="3678709" y="3708376"/>
            <a:ext cx="83618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ctr"/>
            <a:r>
              <a:rPr lang="pt-PT" sz="800" b="1" dirty="0">
                <a:solidFill>
                  <a:srgbClr val="ED7D31"/>
                </a:solidFill>
                <a:sym typeface="Wingdings 3" panose="05040102010807070707" pitchFamily="18" charset="2"/>
              </a:rPr>
              <a:t> </a:t>
            </a:r>
            <a:r>
              <a:rPr lang="pt-PT" sz="800" dirty="0"/>
              <a:t>Em curso</a:t>
            </a:r>
            <a:endParaRPr lang="pt-PT" sz="800" i="0" u="none" strike="noStrike" dirty="0">
              <a:solidFill>
                <a:srgbClr val="404033"/>
              </a:solidFill>
              <a:effectLst/>
            </a:endParaRPr>
          </a:p>
        </p:txBody>
      </p:sp>
      <p:sp>
        <p:nvSpPr>
          <p:cNvPr id="137" name="TextBox 136"/>
          <p:cNvSpPr txBox="1"/>
          <p:nvPr/>
        </p:nvSpPr>
        <p:spPr>
          <a:xfrm>
            <a:off x="9775297" y="265908"/>
            <a:ext cx="1854934" cy="346249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spcBef>
                <a:spcPts val="600"/>
              </a:spcBef>
            </a:pPr>
            <a:r>
              <a:rPr lang="pt-PT" sz="1100" b="1" dirty="0"/>
              <a:t>TBD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30688" y="2439417"/>
            <a:ext cx="61908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800" dirty="0"/>
              <a:t>Live BDR</a:t>
            </a:r>
            <a:endParaRPr lang="en-US" sz="800" dirty="0"/>
          </a:p>
        </p:txBody>
      </p:sp>
      <p:sp>
        <p:nvSpPr>
          <p:cNvPr id="43" name="Text Box 94">
            <a:extLst>
              <a:ext uri="{FF2B5EF4-FFF2-40B4-BE49-F238E27FC236}">
                <a16:creationId xmlns:a16="http://schemas.microsoft.com/office/drawing/2014/main" id="{01999297-3A9B-4C6E-8420-F5CD63A1C6DC}"/>
              </a:ext>
            </a:extLst>
          </p:cNvPr>
          <p:cNvSpPr txBox="1"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8683267" y="3082109"/>
            <a:ext cx="1368000" cy="216000"/>
          </a:xfrm>
          <a:prstGeom prst="rect">
            <a:avLst/>
          </a:prstGeom>
          <a:solidFill>
            <a:schemeClr val="accent1"/>
          </a:solidFill>
          <a:ln w="3175" cap="flat" cmpd="sng" algn="ctr">
            <a:solidFill>
              <a:sysClr val="window" lastClr="FFFFFF"/>
            </a:solidFill>
            <a:prstDash val="solid"/>
            <a:miter lim="800000"/>
            <a:headEnd/>
            <a:tailEnd/>
          </a:ln>
          <a:effectLst/>
        </p:spPr>
        <p:txBody>
          <a:bodyPr lIns="81055" tIns="40528" rIns="81055" bIns="40528" anchor="ctr"/>
          <a:lstStyle/>
          <a:p>
            <a:pPr algn="ctr" defTabSz="679879" eaLnBrk="0">
              <a:defRPr/>
            </a:pPr>
            <a:r>
              <a:rPr lang="pt-PT" sz="750" b="1" kern="0" dirty="0">
                <a:solidFill>
                  <a:srgbClr val="FFFFFF"/>
                </a:solidFill>
                <a:latin typeface="+mj-lt"/>
                <a:cs typeface="Arial" panose="020B0604020202020204" pitchFamily="34" charset="0"/>
                <a:sym typeface="Helvetica Light"/>
              </a:rPr>
              <a:t>Abril 23</a:t>
            </a:r>
            <a:endParaRPr lang="en-US" sz="750" b="1" kern="0" dirty="0">
              <a:solidFill>
                <a:srgbClr val="FFFFFF"/>
              </a:solidFill>
              <a:latin typeface="+mj-lt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44" name="Text Box 94">
            <a:extLst>
              <a:ext uri="{FF2B5EF4-FFF2-40B4-BE49-F238E27FC236}">
                <a16:creationId xmlns:a16="http://schemas.microsoft.com/office/drawing/2014/main" id="{01999297-3A9B-4C6E-8420-F5CD63A1C6DC}"/>
              </a:ext>
            </a:extLst>
          </p:cNvPr>
          <p:cNvSpPr txBox="1"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10081383" y="3078811"/>
            <a:ext cx="576000" cy="216000"/>
          </a:xfrm>
          <a:prstGeom prst="rect">
            <a:avLst/>
          </a:prstGeom>
          <a:solidFill>
            <a:schemeClr val="accent1"/>
          </a:solidFill>
          <a:ln w="3175" cap="flat" cmpd="sng" algn="ctr">
            <a:solidFill>
              <a:sysClr val="window" lastClr="FFFFFF"/>
            </a:solidFill>
            <a:prstDash val="solid"/>
            <a:miter lim="800000"/>
            <a:headEnd/>
            <a:tailEnd/>
          </a:ln>
          <a:effectLst/>
        </p:spPr>
        <p:txBody>
          <a:bodyPr lIns="81055" tIns="40528" rIns="81055" bIns="40528" anchor="ctr"/>
          <a:lstStyle/>
          <a:p>
            <a:pPr algn="ctr" defTabSz="679879" eaLnBrk="0">
              <a:defRPr/>
            </a:pPr>
            <a:r>
              <a:rPr lang="pt-PT" sz="750" b="1" kern="0" dirty="0">
                <a:solidFill>
                  <a:srgbClr val="FFFFFF"/>
                </a:solidFill>
                <a:latin typeface="+mj-lt"/>
                <a:cs typeface="Arial" panose="020B0604020202020204" pitchFamily="34" charset="0"/>
                <a:sym typeface="Helvetica Light"/>
              </a:rPr>
              <a:t>…</a:t>
            </a:r>
            <a:endParaRPr lang="en-US" sz="750" b="1" kern="0" dirty="0">
              <a:solidFill>
                <a:srgbClr val="FFFFFF"/>
              </a:solidFill>
              <a:latin typeface="+mj-lt"/>
              <a:cs typeface="Arial" panose="020B0604020202020204" pitchFamily="34" charset="0"/>
              <a:sym typeface="Helvetica Light"/>
            </a:endParaRPr>
          </a:p>
        </p:txBody>
      </p:sp>
      <p:grpSp>
        <p:nvGrpSpPr>
          <p:cNvPr id="45" name="Group 44"/>
          <p:cNvGrpSpPr/>
          <p:nvPr/>
        </p:nvGrpSpPr>
        <p:grpSpPr>
          <a:xfrm>
            <a:off x="5067681" y="2532735"/>
            <a:ext cx="144000" cy="1692000"/>
            <a:chOff x="9037991" y="1836200"/>
            <a:chExt cx="144000" cy="1625793"/>
          </a:xfrm>
          <a:solidFill>
            <a:srgbClr val="92D050"/>
          </a:solidFill>
        </p:grpSpPr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5A81E6C7-D8F9-444C-BAA5-110C252522CA}"/>
                </a:ext>
              </a:extLst>
            </p:cNvPr>
            <p:cNvCxnSpPr>
              <a:cxnSpLocks/>
            </p:cNvCxnSpPr>
            <p:nvPr/>
          </p:nvCxnSpPr>
          <p:spPr>
            <a:xfrm>
              <a:off x="9109991" y="1975811"/>
              <a:ext cx="0" cy="1486182"/>
            </a:xfrm>
            <a:prstGeom prst="line">
              <a:avLst/>
            </a:prstGeom>
            <a:grpFill/>
            <a:ln w="6350" cap="flat" cmpd="sng" algn="ctr">
              <a:solidFill>
                <a:srgbClr val="FFC000"/>
              </a:solidFill>
              <a:prstDash val="lgDash"/>
              <a:miter lim="800000"/>
            </a:ln>
            <a:effectLst/>
          </p:spPr>
        </p:cxnSp>
        <p:sp>
          <p:nvSpPr>
            <p:cNvPr id="47" name="Diamond 46"/>
            <p:cNvSpPr/>
            <p:nvPr/>
          </p:nvSpPr>
          <p:spPr>
            <a:xfrm>
              <a:off x="9037991" y="1836200"/>
              <a:ext cx="144000" cy="130775"/>
            </a:xfrm>
            <a:prstGeom prst="diamond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48" name="TextBox 47"/>
          <p:cNvSpPr txBox="1"/>
          <p:nvPr/>
        </p:nvSpPr>
        <p:spPr>
          <a:xfrm>
            <a:off x="4900126" y="2413910"/>
            <a:ext cx="555344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500" i="1" dirty="0"/>
              <a:t>Milestone</a:t>
            </a:r>
            <a:r>
              <a:rPr lang="pt-PT" sz="500" dirty="0"/>
              <a:t> #1</a:t>
            </a:r>
            <a:endParaRPr lang="en-US" sz="500" dirty="0"/>
          </a:p>
        </p:txBody>
      </p:sp>
    </p:spTree>
    <p:extLst>
      <p:ext uri="{BB962C8B-B14F-4D97-AF65-F5344CB8AC3E}">
        <p14:creationId xmlns:p14="http://schemas.microsoft.com/office/powerpoint/2010/main" val="3811271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BR" sz="2000" dirty="0"/>
              <a:t>1. Plano e status do projeto</a:t>
            </a:r>
            <a:endParaRPr lang="es-ES" sz="2000" dirty="0"/>
          </a:p>
          <a:p>
            <a:endParaRPr lang="es-ES" sz="2000" dirty="0"/>
          </a:p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4</a:t>
            </a:fld>
            <a:endParaRPr lang="es-ES" dirty="0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 dirty="0">
                <a:solidFill>
                  <a:schemeClr val="bg1"/>
                </a:solidFill>
              </a:rPr>
              <a:t>1.2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dirty="0">
                <a:solidFill>
                  <a:schemeClr val="tx1"/>
                </a:solidFill>
              </a:rPr>
              <a:t>Quadro Resumo de Controlos e Resultados (relativo a 31 de Dezembro 2022)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22243" y="1637202"/>
            <a:ext cx="1957457" cy="163005"/>
          </a:xfrm>
          <a:prstGeom prst="round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100" dirty="0"/>
              <a:t>CDO</a:t>
            </a:r>
            <a:endParaRPr lang="en-US" sz="1100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F17E78E-41EA-4899-8FEE-94E9E4145CC9}"/>
              </a:ext>
            </a:extLst>
          </p:cNvPr>
          <p:cNvGraphicFramePr>
            <a:graphicFrameLocks noGrp="1"/>
          </p:cNvGraphicFramePr>
          <p:nvPr/>
        </p:nvGraphicFramePr>
        <p:xfrm>
          <a:off x="722242" y="2202181"/>
          <a:ext cx="10003785" cy="391020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272">
                  <a:extLst>
                    <a:ext uri="{9D8B030D-6E8A-4147-A177-3AD203B41FA5}">
                      <a16:colId xmlns:a16="http://schemas.microsoft.com/office/drawing/2014/main" val="2195827580"/>
                    </a:ext>
                  </a:extLst>
                </a:gridCol>
                <a:gridCol w="6149513">
                  <a:extLst>
                    <a:ext uri="{9D8B030D-6E8A-4147-A177-3AD203B41FA5}">
                      <a16:colId xmlns:a16="http://schemas.microsoft.com/office/drawing/2014/main" val="3847489052"/>
                    </a:ext>
                  </a:extLst>
                </a:gridCol>
                <a:gridCol w="1836000">
                  <a:extLst>
                    <a:ext uri="{9D8B030D-6E8A-4147-A177-3AD203B41FA5}">
                      <a16:colId xmlns:a16="http://schemas.microsoft.com/office/drawing/2014/main" val="688265970"/>
                    </a:ext>
                  </a:extLst>
                </a:gridCol>
                <a:gridCol w="1836000">
                  <a:extLst>
                    <a:ext uri="{9D8B030D-6E8A-4147-A177-3AD203B41FA5}">
                      <a16:colId xmlns:a16="http://schemas.microsoft.com/office/drawing/2014/main" val="3311303509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ID</a:t>
                      </a:r>
                      <a:endParaRPr lang="pt-PT" sz="950" b="1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b="1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Temas</a:t>
                      </a:r>
                      <a:endParaRPr lang="pt-PT" sz="950" b="1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# Responsabilidade/ Processo</a:t>
                      </a:r>
                    </a:p>
                  </a:txBody>
                  <a:tcPr marL="7620" marR="7620" marT="7620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Diferenças de MAVALIAA</a:t>
                      </a:r>
                    </a:p>
                  </a:txBody>
                  <a:tcPr marL="7620" marR="7620" marT="7620" marB="0"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3911135"/>
                  </a:ext>
                </a:extLst>
              </a:tr>
              <a:tr h="309379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u="none" strike="noStrike" dirty="0">
                          <a:effectLst/>
                          <a:latin typeface="+mj-lt"/>
                        </a:rPr>
                        <a:t>1</a:t>
                      </a:r>
                      <a:endParaRPr lang="pt-PT" sz="95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u="none" strike="noStrike" dirty="0">
                          <a:effectLst/>
                          <a:latin typeface="+mj-lt"/>
                        </a:rPr>
                        <a:t>Apenas serão contempladas responsabilidades/processos com bens associados e com datas de vencimento válidas (exceto bens com origem </a:t>
                      </a:r>
                      <a:r>
                        <a:rPr lang="pt-PT" sz="950" i="1" u="none" strike="noStrike" dirty="0">
                          <a:effectLst/>
                          <a:latin typeface="+mj-lt"/>
                        </a:rPr>
                        <a:t>leasing</a:t>
                      </a:r>
                      <a:r>
                        <a:rPr lang="pt-PT" sz="950" u="none" strike="noStrike" dirty="0">
                          <a:effectLst/>
                          <a:latin typeface="+mj-lt"/>
                        </a:rPr>
                        <a:t>).</a:t>
                      </a:r>
                      <a:endParaRPr lang="pt-PT" sz="950" b="0" i="0" u="none" strike="noStrike" dirty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2 317</a:t>
                      </a:r>
                      <a:endParaRPr lang="pt-PT" sz="95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37" marR="3937" marT="3937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-827 246 890</a:t>
                      </a:r>
                      <a:endParaRPr lang="pt-PT" sz="95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37" marR="3937" marT="3937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1395443"/>
                  </a:ext>
                </a:extLst>
              </a:tr>
              <a:tr h="309379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u="none" strike="noStrike" dirty="0">
                          <a:effectLst/>
                          <a:latin typeface="+mj-lt"/>
                        </a:rPr>
                        <a:t>2</a:t>
                      </a:r>
                      <a:endParaRPr lang="pt-PT" sz="95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u="none" strike="noStrike" dirty="0">
                          <a:effectLst/>
                          <a:latin typeface="+mj-lt"/>
                        </a:rPr>
                        <a:t>Todos os titulares, utilizados atualmente como garantias pessoais, serão excluídos.</a:t>
                      </a:r>
                      <a:endParaRPr lang="pt-PT" sz="95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62 653</a:t>
                      </a:r>
                      <a:r>
                        <a:rPr lang="pt-PT" sz="900" b="0" baseline="30000" dirty="0">
                          <a:solidFill>
                            <a:schemeClr val="tx1"/>
                          </a:solidFill>
                        </a:rPr>
                        <a:t>1 </a:t>
                      </a:r>
                      <a:endParaRPr lang="pt-PT" sz="95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37" marR="3937" marT="3937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-4 153 168 305</a:t>
                      </a:r>
                      <a:endParaRPr lang="pt-PT" sz="95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37" marR="3937" marT="3937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6875890"/>
                  </a:ext>
                </a:extLst>
              </a:tr>
              <a:tr h="309379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u="none" strike="noStrike" dirty="0">
                          <a:effectLst/>
                          <a:latin typeface="+mj-lt"/>
                        </a:rPr>
                        <a:t>3</a:t>
                      </a:r>
                      <a:endParaRPr lang="pt-PT" sz="95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u="none" strike="noStrike" dirty="0">
                          <a:effectLst/>
                          <a:latin typeface="+mj-lt"/>
                        </a:rPr>
                        <a:t>O algoritmos de apuramento de saldos das responsabilidades, relevantes para a distribuição dos montantes das garantias, passará a contemplar contas contabilisticas de juros e despesas vencidas.</a:t>
                      </a:r>
                      <a:endParaRPr lang="pt-PT" sz="95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pt-PT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Por quantificar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r" fontAlgn="ctr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9200727"/>
                  </a:ext>
                </a:extLst>
              </a:tr>
              <a:tr h="309379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u="none" strike="noStrike" dirty="0">
                          <a:effectLst/>
                          <a:latin typeface="+mj-lt"/>
                        </a:rPr>
                        <a:t>4</a:t>
                      </a:r>
                      <a:endParaRPr lang="pt-PT" sz="95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u="none" strike="noStrike" dirty="0">
                          <a:effectLst/>
                          <a:latin typeface="+mj-lt"/>
                        </a:rPr>
                        <a:t>A metodologia de aprovisionamento de montantes de avaliação para fomentos à construção e IFRRUs, manter-se-á como no BIYR9500. A mesma será revista após o rácio de Novembro.</a:t>
                      </a:r>
                      <a:endParaRPr lang="pt-PT" sz="95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pt-PT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n/a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7057866"/>
                  </a:ext>
                </a:extLst>
              </a:tr>
              <a:tr h="309379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u="none" strike="noStrike" dirty="0">
                          <a:effectLst/>
                          <a:latin typeface="+mj-lt"/>
                        </a:rPr>
                        <a:t>5</a:t>
                      </a:r>
                      <a:endParaRPr lang="pt-PT" sz="95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u="none" strike="noStrike" dirty="0">
                          <a:effectLst/>
                          <a:latin typeface="+mj-lt"/>
                        </a:rPr>
                        <a:t>O montante considerado em garantias pessoais deve ser o da responsabilidade e não o do processo. </a:t>
                      </a:r>
                      <a:endParaRPr lang="pt-PT" sz="950" b="1" i="0" u="none" strike="noStrike" dirty="0">
                        <a:solidFill>
                          <a:srgbClr val="00B05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pt-PT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Por quantificar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6077517"/>
                  </a:ext>
                </a:extLst>
              </a:tr>
              <a:tr h="456412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6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u="none" strike="noStrike">
                          <a:effectLst/>
                          <a:latin typeface="+mj-lt"/>
                        </a:rPr>
                        <a:t>No caso das garantias financeiras, serão descartadas as garantias cuja data de vencimento seja inferior à data do rácio, mesmo tendo uma data de cativo válida (uma vez que a data de cativo pode ser referente à DO e não ao bem contratualizado incialmente com o cliente). Metodologia que será aplicada após quantificação de impactos. </a:t>
                      </a:r>
                      <a:endParaRPr lang="pt-PT" sz="950" b="1" i="0" u="none" strike="noStrike">
                        <a:solidFill>
                          <a:srgbClr val="00B05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pt-PT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Por quantificar 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9576559"/>
                  </a:ext>
                </a:extLst>
              </a:tr>
              <a:tr h="309379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7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u="none" strike="noStrike">
                          <a:effectLst/>
                          <a:latin typeface="+mj-lt"/>
                        </a:rPr>
                        <a:t>Apenas serão contemplados bens com datas de avaliação válidas (exceto bens com origem </a:t>
                      </a:r>
                      <a:r>
                        <a:rPr lang="pt-PT" sz="950" i="1" u="none" strike="noStrike">
                          <a:effectLst/>
                          <a:latin typeface="+mj-lt"/>
                        </a:rPr>
                        <a:t>leasing</a:t>
                      </a:r>
                      <a:r>
                        <a:rPr lang="pt-PT" sz="950" u="none" strike="noStrike">
                          <a:effectLst/>
                          <a:latin typeface="+mj-lt"/>
                        </a:rPr>
                        <a:t>). </a:t>
                      </a:r>
                      <a:endParaRPr lang="pt-PT" sz="950" b="0" i="0" u="none" strike="noStrike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302</a:t>
                      </a:r>
                      <a:endParaRPr lang="pt-PT" sz="95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37" marR="3937" marT="3937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-73 561 152</a:t>
                      </a:r>
                      <a:endParaRPr lang="pt-PT" sz="95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37" marR="3937" marT="3937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340860"/>
                  </a:ext>
                </a:extLst>
              </a:tr>
              <a:tr h="309379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8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u="none" strike="noStrike" dirty="0">
                          <a:effectLst/>
                          <a:latin typeface="+mj-lt"/>
                        </a:rPr>
                        <a:t>A metodologia de aprovisionamento de montantes/datas de avaliação aplicada a Fomentos à Construção deve ser igual para todas as origens. </a:t>
                      </a:r>
                      <a:endParaRPr lang="pt-PT" sz="950" b="0" i="0" u="none" strike="noStrike" dirty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  <a:endParaRPr lang="pt-PT" sz="95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37" marR="3937" marT="3937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-154 228 026</a:t>
                      </a:r>
                      <a:endParaRPr lang="pt-PT" sz="95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37" marR="3937" marT="3937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4316186"/>
                  </a:ext>
                </a:extLst>
              </a:tr>
              <a:tr h="309379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9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u="none" strike="noStrike" dirty="0">
                          <a:effectLst/>
                          <a:latin typeface="+mj-lt"/>
                        </a:rPr>
                        <a:t>O rateio dos bens pelos processos/responsabilidades deve ser feito independentemente da origem.</a:t>
                      </a:r>
                      <a:endParaRPr lang="pt-PT" sz="950" b="0" i="0" u="none" strike="noStrike" dirty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93</a:t>
                      </a:r>
                      <a:endParaRPr lang="pt-PT" sz="95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37" marR="3937" marT="3937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-286 114 515</a:t>
                      </a:r>
                      <a:endParaRPr lang="pt-PT" sz="95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37" marR="3937" marT="3937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3737352"/>
                  </a:ext>
                </a:extLst>
              </a:tr>
              <a:tr h="309379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10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u="none" strike="noStrike" dirty="0">
                          <a:effectLst/>
                          <a:latin typeface="+mj-lt"/>
                        </a:rPr>
                        <a:t>Saldos de bens financeiros utilizados no modelo apresentam lag de um dia face ao BIYR (BIYR utiliza saldos de D+1). </a:t>
                      </a:r>
                      <a:endParaRPr lang="pt-PT" sz="950" b="0" i="0" u="none" strike="noStrike" dirty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3 083</a:t>
                      </a:r>
                      <a:endParaRPr lang="pt-PT" sz="95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37" marR="3937" marT="3937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690 906</a:t>
                      </a:r>
                      <a:endParaRPr lang="pt-PT" sz="95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37" marR="3937" marT="3937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0796925"/>
                  </a:ext>
                </a:extLst>
              </a:tr>
              <a:tr h="309379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11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São consideradas todas as garantias financeiras válidas dentro da mesma caução, independentemente da sua tipologia (exemplo, DO e TT).</a:t>
                      </a:r>
                      <a:r>
                        <a:rPr lang="pt-PT" sz="950" b="1" u="none" strike="noStrike" kern="1200" dirty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pt-PT" sz="95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  <a:endParaRPr lang="pt-PT" sz="95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37" marR="3937" marT="3937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367 626</a:t>
                      </a:r>
                      <a:endParaRPr lang="pt-PT" sz="95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37" marR="3937" marT="3937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2613097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5E391C80-8503-526C-1599-9EAA37A0065B}"/>
              </a:ext>
            </a:extLst>
          </p:cNvPr>
          <p:cNvSpPr txBox="1"/>
          <p:nvPr/>
        </p:nvSpPr>
        <p:spPr>
          <a:xfrm>
            <a:off x="711028" y="1837443"/>
            <a:ext cx="994761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pt-PT" sz="1100" dirty="0"/>
              <a:t>Os temas abaixo identificados, representam alterações que foram realizadas no modelo face à situação que existe atualmente e cuja sua alteração têm impacto nos resultados:</a:t>
            </a:r>
            <a:endParaRPr lang="en-US" sz="1100" dirty="0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8253D2F7-582B-9495-0091-F9EDA507B9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028" y="6098749"/>
            <a:ext cx="4185761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PT" sz="800" dirty="0"/>
              <a:t>1</a:t>
            </a:r>
            <a:r>
              <a:rPr lang="pt-BR" sz="800" dirty="0"/>
              <a:t> A granularidade utilizada para análise foi ao nivel do bem (garantia pessoal – Cliente)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PT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18599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BR" sz="2000" dirty="0"/>
              <a:t>1. Plano e status do projeto</a:t>
            </a:r>
            <a:endParaRPr lang="es-ES" sz="2000" dirty="0"/>
          </a:p>
          <a:p>
            <a:endParaRPr lang="es-ES" sz="2000" dirty="0"/>
          </a:p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5</a:t>
            </a:fld>
            <a:endParaRPr lang="es-ES" dirty="0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 dirty="0">
                <a:solidFill>
                  <a:schemeClr val="bg1"/>
                </a:solidFill>
              </a:rPr>
              <a:t>1.2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dirty="0">
                <a:solidFill>
                  <a:schemeClr val="tx1"/>
                </a:solidFill>
              </a:rPr>
              <a:t>Quadro Resumo de Controlos e Resultados (relativo a 31 de Dezembro 2022)</a:t>
            </a:r>
            <a:endParaRPr lang="en-US" sz="1000" b="1" dirty="0">
              <a:solidFill>
                <a:schemeClr val="tx1"/>
              </a:solidFill>
            </a:endParaRPr>
          </a:p>
          <a:p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722243" y="1631508"/>
            <a:ext cx="1957457" cy="2279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dirty="0">
                <a:solidFill>
                  <a:schemeClr val="tx1"/>
                </a:solidFill>
              </a:rPr>
              <a:t>Garantias Pessoais</a:t>
            </a:r>
            <a:r>
              <a:rPr lang="pt-PT" sz="1000" b="1" baseline="30000" dirty="0">
                <a:solidFill>
                  <a:schemeClr val="tx1"/>
                </a:solidFill>
              </a:rPr>
              <a:t>1 2</a:t>
            </a:r>
            <a:endParaRPr lang="en-US" sz="1000" b="1" baseline="30000" dirty="0">
              <a:solidFill>
                <a:schemeClr val="tx1"/>
              </a:solidFill>
            </a:endParaRP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722243" y="1992456"/>
          <a:ext cx="9174866" cy="2199652"/>
        </p:xfrm>
        <a:graphic>
          <a:graphicData uri="http://schemas.openxmlformats.org/drawingml/2006/table">
            <a:tbl>
              <a:tblPr firstRow="1" firstCol="1" bandRow="1"/>
              <a:tblGrid>
                <a:gridCol w="158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866">
                  <a:extLst>
                    <a:ext uri="{9D8B030D-6E8A-4147-A177-3AD203B41FA5}">
                      <a16:colId xmlns:a16="http://schemas.microsoft.com/office/drawing/2014/main" val="3037039246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4719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Universos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Casuística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# Responsabilidade/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Processo/ Cliente </a:t>
                      </a:r>
                      <a:r>
                        <a:rPr lang="pt-PT" sz="900" b="1" baseline="30000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3</a:t>
                      </a:r>
                      <a:endParaRPr lang="pt-PT" sz="900" baseline="300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MAVALIAA - Novo Modelo de garantias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MAVALIAA - BIYR9500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Diferenças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476">
                <a:tc rowSpan="3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 1) </a:t>
                      </a:r>
                      <a:r>
                        <a:rPr lang="en-US" sz="10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Universo</a:t>
                      </a: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</a:t>
                      </a:r>
                      <a:r>
                        <a:rPr lang="en-US" sz="10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Comum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Sem diferenças de mavaliaa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29 833</a:t>
                      </a:r>
                      <a:endParaRPr lang="pt-PT" sz="900" b="0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2 189 852 894</a:t>
                      </a:r>
                      <a:endParaRPr lang="pt-PT" sz="900" b="0" i="0" u="none" strike="noStrike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2 189 852 894</a:t>
                      </a:r>
                      <a:endParaRPr lang="pt-PT" sz="900" b="0" i="0" u="none" strike="noStrike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pt-PT" sz="900" b="0" i="0" u="none" strike="noStrike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47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321 751</a:t>
                      </a:r>
                      <a:endParaRPr lang="pt-PT" sz="900" b="0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20 095 079 690</a:t>
                      </a:r>
                      <a:endParaRPr lang="pt-PT" sz="900" b="0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27 567 617 666</a:t>
                      </a:r>
                      <a:endParaRPr lang="pt-PT" sz="900" b="0" i="0" u="none" strike="noStrike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-7 472 537 977</a:t>
                      </a:r>
                      <a:endParaRPr lang="pt-PT" sz="900" b="0" i="0" u="none" strike="noStrike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351 584</a:t>
                      </a:r>
                      <a:endParaRPr lang="pt-PT" sz="1000" b="1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22 284 932 583</a:t>
                      </a:r>
                      <a:endParaRPr lang="pt-PT" sz="1000" b="1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29 757 470 560</a:t>
                      </a:r>
                      <a:endParaRPr lang="pt-PT" sz="1000" b="1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-7 472 537 977</a:t>
                      </a:r>
                      <a:endParaRPr lang="pt-PT" sz="1000" b="1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476">
                <a:tc rowSpan="3">
                  <a:txBody>
                    <a:bodyPr/>
                    <a:lstStyle/>
                    <a:p>
                      <a:r>
                        <a:rPr lang="pt-PT" sz="1000" b="1" dirty="0"/>
                        <a:t>2) Exclusivo Novo Modelo de Garantias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resolução - definição de requisitos em curso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8 315</a:t>
                      </a:r>
                      <a:endParaRPr lang="pt-PT" sz="900" b="0" i="0" u="none" strike="noStrike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531 162 011</a:t>
                      </a:r>
                      <a:endParaRPr lang="pt-PT" sz="900" b="0" i="0" u="none" strike="noStrike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pt-PT" sz="900" b="0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531 162 011</a:t>
                      </a:r>
                      <a:endParaRPr lang="pt-PT" sz="900" b="0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7718942"/>
                  </a:ext>
                </a:extLst>
              </a:tr>
              <a:tr h="18247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1 428</a:t>
                      </a:r>
                      <a:endParaRPr lang="pt-PT" sz="900" b="0" i="0" u="none" strike="noStrike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153 556 851</a:t>
                      </a:r>
                      <a:endParaRPr lang="pt-PT" sz="900" b="0" i="0" u="none" strike="noStrike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pt-PT" sz="900" b="0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153 556 851</a:t>
                      </a:r>
                      <a:endParaRPr lang="pt-PT" sz="900" b="0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9 743</a:t>
                      </a:r>
                      <a:endParaRPr lang="pt-PT" sz="1000" b="1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684 718 861</a:t>
                      </a:r>
                      <a:endParaRPr lang="pt-PT" sz="1000" b="1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pt-PT" sz="1000" b="1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684 718 861</a:t>
                      </a:r>
                      <a:endParaRPr lang="pt-PT" sz="1000" b="1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2476">
                <a:tc rowSpan="4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3) </a:t>
                      </a:r>
                      <a:r>
                        <a:rPr lang="en-US" sz="10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Exclusivo</a:t>
                      </a: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BIYR9500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Diferenças de metodologia*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63 696</a:t>
                      </a:r>
                      <a:endParaRPr lang="pt-PT" sz="900" b="0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pt-PT" sz="900" b="0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4 277 405 650</a:t>
                      </a:r>
                      <a:endParaRPr lang="pt-PT" sz="900" b="0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-4 277 405 650</a:t>
                      </a:r>
                      <a:endParaRPr lang="pt-PT" sz="900" b="0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2476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resolução - definição de requisitos em curso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3 181</a:t>
                      </a:r>
                      <a:endParaRPr lang="pt-PT" sz="900" b="0" i="0" u="none" strike="noStrike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pt-PT" sz="900" b="0" i="0" u="none" strike="noStrike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241 835 372</a:t>
                      </a:r>
                      <a:endParaRPr lang="pt-PT" sz="900" b="0" i="0" u="none" strike="noStrike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-241 835 372</a:t>
                      </a:r>
                      <a:endParaRPr lang="pt-PT" sz="900" b="0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6310498"/>
                  </a:ext>
                </a:extLst>
              </a:tr>
              <a:tr h="18247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214</a:t>
                      </a:r>
                      <a:endParaRPr lang="pt-PT" sz="900" b="0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pt-PT" sz="900" b="0" i="0" u="none" strike="noStrike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720 467 913</a:t>
                      </a:r>
                      <a:endParaRPr lang="pt-PT" sz="900" b="0" i="0" u="none" strike="noStrike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-720 467 913</a:t>
                      </a:r>
                      <a:endParaRPr lang="pt-PT" sz="900" b="0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67 091</a:t>
                      </a:r>
                      <a:endParaRPr lang="pt-PT" sz="1000" b="1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pt-PT" sz="1000" b="1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5 239 708 934</a:t>
                      </a:r>
                      <a:endParaRPr lang="pt-PT" sz="1000" b="1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-5 239 708 934</a:t>
                      </a:r>
                      <a:endParaRPr lang="pt-PT" sz="1000" b="1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711028" y="6072469"/>
            <a:ext cx="43428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800" dirty="0"/>
              <a:t>1. A análise exclui o universo de </a:t>
            </a:r>
            <a:r>
              <a:rPr lang="pt-BR" sz="800" i="1" dirty="0"/>
              <a:t>Leasing</a:t>
            </a:r>
            <a:r>
              <a:rPr lang="pt-BR" sz="800" dirty="0"/>
              <a:t> e </a:t>
            </a:r>
            <a:r>
              <a:rPr lang="pt-BR" sz="800" i="1" dirty="0"/>
              <a:t>Factoring</a:t>
            </a:r>
          </a:p>
          <a:p>
            <a:r>
              <a:rPr lang="pt-BR" sz="800" dirty="0"/>
              <a:t>2. A granularidade utilizada para análise foi ao nivel do bem (garantia pessoal – Cliente)</a:t>
            </a:r>
          </a:p>
          <a:p>
            <a:r>
              <a:rPr lang="pt-BR" sz="800" dirty="0"/>
              <a:t>3. A granularidade apresentada é a do Novo Modelo de Garantias (granularidade de IC’s)</a:t>
            </a:r>
            <a:endParaRPr lang="en-US" sz="8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AAF56CD-ED3D-EFF2-896B-D465D8A8C9A8}"/>
              </a:ext>
            </a:extLst>
          </p:cNvPr>
          <p:cNvSpPr/>
          <p:nvPr/>
        </p:nvSpPr>
        <p:spPr>
          <a:xfrm>
            <a:off x="722243" y="4594860"/>
            <a:ext cx="9645107" cy="13733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pt-PT" sz="900" b="1" dirty="0">
                <a:solidFill>
                  <a:schemeClr val="accent4"/>
                </a:solidFill>
                <a:latin typeface="+mj-lt"/>
              </a:rPr>
              <a:t>*Diferenças de metodologia refletidas:</a:t>
            </a:r>
          </a:p>
          <a:p>
            <a:endParaRPr lang="pt-PT" sz="900" dirty="0">
              <a:solidFill>
                <a:schemeClr val="tx1"/>
              </a:solidFill>
              <a:latin typeface="+mj-lt"/>
            </a:endParaRPr>
          </a:p>
          <a:p>
            <a:pPr marL="228600" indent="-228600">
              <a:buFont typeface="+mj-lt"/>
              <a:buAutoNum type="arabicPeriod"/>
            </a:pPr>
            <a:r>
              <a:rPr lang="pt-PT" sz="900" u="sng" dirty="0">
                <a:solidFill>
                  <a:schemeClr val="tx1"/>
                </a:solidFill>
                <a:latin typeface="+mj-lt"/>
              </a:rPr>
              <a:t>Todos os titulares</a:t>
            </a:r>
            <a:r>
              <a:rPr lang="pt-PT" sz="900" dirty="0">
                <a:solidFill>
                  <a:schemeClr val="tx1"/>
                </a:solidFill>
                <a:latin typeface="+mj-lt"/>
              </a:rPr>
              <a:t>, utilizados atualmente como garantias pessoais, </a:t>
            </a:r>
            <a:r>
              <a:rPr lang="pt-PT" sz="900" u="sng" dirty="0">
                <a:solidFill>
                  <a:schemeClr val="tx1"/>
                </a:solidFill>
                <a:latin typeface="+mj-lt"/>
              </a:rPr>
              <a:t>serão excluídos</a:t>
            </a:r>
            <a:r>
              <a:rPr lang="pt-PT" sz="900" dirty="0">
                <a:solidFill>
                  <a:schemeClr val="tx1"/>
                </a:solidFill>
                <a:latin typeface="+mj-lt"/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pt-PT" sz="900" dirty="0">
                <a:solidFill>
                  <a:schemeClr val="tx1"/>
                </a:solidFill>
                <a:latin typeface="+mj-lt"/>
              </a:rPr>
              <a:t>Apenas serão contempladas responsabilidades/processos </a:t>
            </a:r>
            <a:r>
              <a:rPr lang="pt-PT" sz="900" u="sng" dirty="0">
                <a:solidFill>
                  <a:schemeClr val="tx1"/>
                </a:solidFill>
                <a:latin typeface="+mj-lt"/>
              </a:rPr>
              <a:t>com bens associados</a:t>
            </a:r>
            <a:r>
              <a:rPr lang="pt-PT" sz="900" dirty="0">
                <a:solidFill>
                  <a:schemeClr val="tx1"/>
                </a:solidFill>
                <a:latin typeface="+mj-lt"/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endParaRPr lang="pt-PT" sz="900" dirty="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211747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BR" sz="2000" dirty="0"/>
              <a:t>1. Plano e status do projeto</a:t>
            </a:r>
            <a:endParaRPr lang="es-ES" sz="2000" dirty="0"/>
          </a:p>
          <a:p>
            <a:endParaRPr lang="es-ES" sz="2000" dirty="0"/>
          </a:p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6</a:t>
            </a:fld>
            <a:endParaRPr lang="es-ES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 dirty="0">
                <a:solidFill>
                  <a:schemeClr val="bg1"/>
                </a:solidFill>
              </a:rPr>
              <a:t>1.2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dirty="0">
                <a:solidFill>
                  <a:schemeClr val="tx1"/>
                </a:solidFill>
              </a:rPr>
              <a:t>Quadro Resumo de Controlos e Resultados (relativo a 31 de Dezembro 2022)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13" name="Title 1"/>
          <p:cNvSpPr txBox="1">
            <a:spLocks/>
          </p:cNvSpPr>
          <p:nvPr/>
        </p:nvSpPr>
        <p:spPr>
          <a:xfrm>
            <a:off x="722243" y="1631508"/>
            <a:ext cx="1957457" cy="2279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dirty="0">
                <a:solidFill>
                  <a:schemeClr val="tx1"/>
                </a:solidFill>
              </a:rPr>
              <a:t>Garantias Financeiras</a:t>
            </a:r>
            <a:endParaRPr lang="en-US" sz="1000" b="1" dirty="0">
              <a:solidFill>
                <a:schemeClr val="tx1"/>
              </a:solidFill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3DBE921F-5189-2684-9605-7881F2DD0E5E}"/>
              </a:ext>
            </a:extLst>
          </p:cNvPr>
          <p:cNvGraphicFramePr>
            <a:graphicFrameLocks noGrp="1"/>
          </p:cNvGraphicFramePr>
          <p:nvPr/>
        </p:nvGraphicFramePr>
        <p:xfrm>
          <a:off x="722243" y="1992456"/>
          <a:ext cx="9174866" cy="2362560"/>
        </p:xfrm>
        <a:graphic>
          <a:graphicData uri="http://schemas.openxmlformats.org/drawingml/2006/table">
            <a:tbl>
              <a:tblPr firstRow="1" firstCol="1" bandRow="1"/>
              <a:tblGrid>
                <a:gridCol w="158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866">
                  <a:extLst>
                    <a:ext uri="{9D8B030D-6E8A-4147-A177-3AD203B41FA5}">
                      <a16:colId xmlns:a16="http://schemas.microsoft.com/office/drawing/2014/main" val="3037039246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891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Universos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Casuística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# Responsabilidade/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Processo </a:t>
                      </a:r>
                      <a:r>
                        <a:rPr lang="pt-PT" sz="900" b="1" baseline="30000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1</a:t>
                      </a:r>
                      <a:endParaRPr lang="pt-PT" sz="900" baseline="300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MAVALIAA - Novo Modelo de garantias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MAVALIAA - BIYR9500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Diferenças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">
                <a:tc rowSpan="5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 1) </a:t>
                      </a:r>
                      <a:r>
                        <a:rPr lang="en-US" sz="10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Universo</a:t>
                      </a: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</a:t>
                      </a:r>
                      <a:r>
                        <a:rPr lang="en-US" sz="10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Comum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Sem diferenças de mavaliaa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4 689</a:t>
                      </a:r>
                      <a:endParaRPr lang="pt-PT" sz="900" b="0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414 957 418</a:t>
                      </a:r>
                      <a:endParaRPr lang="pt-PT" sz="900" b="0" i="0" u="none" strike="noStrike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414 957 418</a:t>
                      </a:r>
                      <a:endParaRPr lang="pt-PT" sz="900" b="0" i="0" u="none" strike="noStrike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pt-PT" sz="900" b="0" i="0" u="none" strike="noStrike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Diferenças de metodologia*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3 136</a:t>
                      </a:r>
                      <a:endParaRPr lang="pt-PT" sz="900" b="0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299 400 575</a:t>
                      </a:r>
                      <a:endParaRPr lang="pt-PT" sz="900" b="0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298 342 043</a:t>
                      </a:r>
                      <a:endParaRPr lang="pt-PT" sz="900" b="0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1 058 532</a:t>
                      </a:r>
                      <a:endParaRPr lang="pt-PT" sz="900" b="0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117869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resolução - requisitos definidos e planificados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0F1E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21</a:t>
                      </a:r>
                      <a:endParaRPr lang="pt-PT" sz="900" b="0" i="0" u="none" strike="noStrike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0F1E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5 734 519</a:t>
                      </a:r>
                      <a:endParaRPr lang="pt-PT" sz="900" b="0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0F1E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5 731 617</a:t>
                      </a:r>
                      <a:endParaRPr lang="pt-PT" sz="900" b="0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0F1E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2 902</a:t>
                      </a:r>
                      <a:endParaRPr lang="pt-PT" sz="900" b="0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0F1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5510670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159</a:t>
                      </a:r>
                      <a:endParaRPr lang="pt-PT" sz="900" b="0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14 288 689</a:t>
                      </a:r>
                      <a:endParaRPr lang="pt-PT" sz="900" b="0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11 522 432</a:t>
                      </a:r>
                      <a:endParaRPr lang="pt-PT" sz="900" b="0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2 766 258</a:t>
                      </a:r>
                      <a:endParaRPr lang="pt-PT" sz="900" b="0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Total</a:t>
                      </a:r>
                      <a:endParaRPr lang="en-US" sz="1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8 005</a:t>
                      </a:r>
                      <a:endParaRPr lang="pt-PT" sz="1000" b="1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734 381 201</a:t>
                      </a:r>
                      <a:endParaRPr lang="pt-PT" sz="1000" b="1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730 553 509</a:t>
                      </a:r>
                      <a:endParaRPr lang="pt-PT" sz="1000" b="1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3 827 692</a:t>
                      </a:r>
                      <a:endParaRPr lang="pt-PT" sz="1000" b="1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000">
                <a:tc rowSpan="2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000" b="1" dirty="0"/>
                        <a:t>2) Exclusivo Novo Modelo de Garantias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29</a:t>
                      </a:r>
                      <a:endParaRPr lang="pt-PT" sz="900" b="0" i="0" u="none" strike="noStrike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528 449</a:t>
                      </a:r>
                      <a:endParaRPr lang="pt-PT" sz="900" b="0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pt-PT" sz="900" b="0" i="0" u="none" strike="noStrike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528 449</a:t>
                      </a:r>
                      <a:endParaRPr lang="pt-PT" sz="900" b="0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Total</a:t>
                      </a:r>
                      <a:endParaRPr lang="en-US" sz="1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29</a:t>
                      </a:r>
                      <a:endParaRPr lang="pt-PT" sz="1000" b="1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528 449</a:t>
                      </a:r>
                      <a:endParaRPr lang="pt-PT" sz="1000" b="1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pt-PT" sz="1000" b="1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528 449</a:t>
                      </a:r>
                      <a:endParaRPr lang="pt-PT" sz="1000" b="1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0000">
                <a:tc rowSpan="4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3) </a:t>
                      </a:r>
                      <a:r>
                        <a:rPr lang="en-US" sz="10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Exclusivo</a:t>
                      </a: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BIYR9500</a:t>
                      </a:r>
                      <a:endParaRPr lang="en-US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Diferenças de metodologia*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391</a:t>
                      </a:r>
                      <a:endParaRPr lang="pt-PT" sz="900" b="0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pt-PT" sz="900" b="0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523 304 145</a:t>
                      </a:r>
                      <a:endParaRPr lang="pt-PT" sz="900" b="0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-523 304 145</a:t>
                      </a:r>
                      <a:endParaRPr lang="pt-PT" sz="900" b="0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resolução - requisitos definidos e planificados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</a:t>
                      </a:r>
                      <a:endParaRPr lang="pt-PT" sz="900" b="0" i="0" u="none" strike="noStrike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pt-PT" sz="900" b="0" i="0" u="none" strike="noStrike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48 101</a:t>
                      </a:r>
                      <a:endParaRPr lang="pt-PT" sz="900" b="0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-48 101</a:t>
                      </a:r>
                      <a:endParaRPr lang="pt-PT" sz="900" b="0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</a:t>
                      </a:r>
                      <a:endParaRPr lang="pt-PT" sz="900" b="0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pt-PT" sz="900" b="0" i="0" u="none" strike="noStrike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198 006</a:t>
                      </a:r>
                      <a:endParaRPr lang="pt-PT" sz="900" b="0" i="0" u="none" strike="noStrike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-198 006</a:t>
                      </a:r>
                      <a:endParaRPr lang="pt-PT" sz="900" b="0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Total</a:t>
                      </a:r>
                      <a:endParaRPr lang="en-US" sz="1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405</a:t>
                      </a:r>
                      <a:endParaRPr lang="pt-PT" sz="1000" b="1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pt-PT" sz="1000" b="1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523 550 252</a:t>
                      </a:r>
                      <a:endParaRPr lang="pt-PT" sz="1000" b="1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-523 550 252</a:t>
                      </a:r>
                      <a:endParaRPr lang="pt-PT" sz="1000" b="1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D9B12163-7231-98A4-752B-C91842F7088D}"/>
              </a:ext>
            </a:extLst>
          </p:cNvPr>
          <p:cNvSpPr/>
          <p:nvPr/>
        </p:nvSpPr>
        <p:spPr>
          <a:xfrm>
            <a:off x="711028" y="4594860"/>
            <a:ext cx="9645107" cy="13733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pt-PT" sz="900" b="1" dirty="0">
                <a:solidFill>
                  <a:schemeClr val="accent4"/>
                </a:solidFill>
                <a:latin typeface="+mj-lt"/>
              </a:rPr>
              <a:t>*Diferenças de metodologia refletidas:</a:t>
            </a:r>
          </a:p>
          <a:p>
            <a:endParaRPr lang="pt-PT" sz="900" dirty="0">
              <a:solidFill>
                <a:schemeClr val="tx1"/>
              </a:solidFill>
              <a:latin typeface="+mj-lt"/>
            </a:endParaRPr>
          </a:p>
          <a:p>
            <a:pPr marL="228600" indent="-228600">
              <a:buFont typeface="+mj-lt"/>
              <a:buAutoNum type="arabicPeriod"/>
            </a:pPr>
            <a:r>
              <a:rPr lang="pt-PT" sz="900" dirty="0">
                <a:solidFill>
                  <a:schemeClr val="tx1"/>
                </a:solidFill>
                <a:latin typeface="+mj-lt"/>
              </a:rPr>
              <a:t>Saldos de bens financeiros utilizados no modelo apresentam </a:t>
            </a:r>
            <a:r>
              <a:rPr lang="pt-PT" sz="900" i="1" u="sng" dirty="0">
                <a:solidFill>
                  <a:schemeClr val="tx1"/>
                </a:solidFill>
                <a:latin typeface="+mj-lt"/>
              </a:rPr>
              <a:t>lag</a:t>
            </a:r>
            <a:r>
              <a:rPr lang="pt-PT" sz="900" u="sng" dirty="0">
                <a:solidFill>
                  <a:schemeClr val="tx1"/>
                </a:solidFill>
                <a:latin typeface="+mj-lt"/>
              </a:rPr>
              <a:t> de um dia </a:t>
            </a:r>
            <a:r>
              <a:rPr lang="pt-PT" sz="900" dirty="0">
                <a:solidFill>
                  <a:schemeClr val="tx1"/>
                </a:solidFill>
                <a:latin typeface="+mj-lt"/>
              </a:rPr>
              <a:t>face ao BIYR (BIYR utiliza saldos de D+1).</a:t>
            </a:r>
          </a:p>
          <a:p>
            <a:pPr marL="228600" indent="-228600">
              <a:buFont typeface="+mj-lt"/>
              <a:buAutoNum type="arabicPeriod"/>
            </a:pPr>
            <a:r>
              <a:rPr lang="pt-PT" sz="900" dirty="0">
                <a:solidFill>
                  <a:schemeClr val="tx1"/>
                </a:solidFill>
                <a:latin typeface="+mj-lt"/>
              </a:rPr>
              <a:t>Apenas serão contempladas responsabilidades/processos </a:t>
            </a:r>
            <a:r>
              <a:rPr lang="pt-PT" sz="900" u="sng" dirty="0">
                <a:solidFill>
                  <a:schemeClr val="tx1"/>
                </a:solidFill>
                <a:latin typeface="+mj-lt"/>
              </a:rPr>
              <a:t>com bens associados </a:t>
            </a:r>
            <a:r>
              <a:rPr lang="pt-PT" sz="900" dirty="0">
                <a:solidFill>
                  <a:schemeClr val="tx1"/>
                </a:solidFill>
                <a:latin typeface="+mj-lt"/>
              </a:rPr>
              <a:t>e com </a:t>
            </a:r>
            <a:r>
              <a:rPr lang="pt-PT" sz="900" u="sng" dirty="0">
                <a:solidFill>
                  <a:schemeClr val="tx1"/>
                </a:solidFill>
                <a:latin typeface="+mj-lt"/>
              </a:rPr>
              <a:t>datas de vencimento válidas</a:t>
            </a:r>
            <a:r>
              <a:rPr lang="pt-PT" sz="900" dirty="0">
                <a:solidFill>
                  <a:schemeClr val="tx1"/>
                </a:solidFill>
                <a:latin typeface="+mj-lt"/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pt-PT" sz="900" b="0" i="0" u="none" strike="noStrike" dirty="0">
                <a:solidFill>
                  <a:schemeClr val="tx1"/>
                </a:solidFill>
                <a:effectLst/>
                <a:latin typeface="+mj-lt"/>
              </a:rPr>
              <a:t>São consideradas todas as </a:t>
            </a:r>
            <a:r>
              <a:rPr lang="pt-PT" sz="900" b="0" i="0" u="sng" strike="noStrike" dirty="0">
                <a:solidFill>
                  <a:schemeClr val="tx1"/>
                </a:solidFill>
                <a:effectLst/>
                <a:latin typeface="+mj-lt"/>
              </a:rPr>
              <a:t>garantias financeiras válidas dentro da mesma caução</a:t>
            </a:r>
            <a:r>
              <a:rPr lang="pt-PT" sz="900" b="0" i="0" u="none" strike="noStrike" dirty="0">
                <a:solidFill>
                  <a:schemeClr val="tx1"/>
                </a:solidFill>
                <a:effectLst/>
                <a:latin typeface="+mj-lt"/>
              </a:rPr>
              <a:t>, independentemente da sua tipologia (exemplo, DO e TT)</a:t>
            </a:r>
            <a:endParaRPr lang="pt-PT" sz="9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D0D770-CF7C-B3A4-7476-7F7C8EE33F02}"/>
              </a:ext>
            </a:extLst>
          </p:cNvPr>
          <p:cNvSpPr txBox="1"/>
          <p:nvPr/>
        </p:nvSpPr>
        <p:spPr>
          <a:xfrm>
            <a:off x="711028" y="6072469"/>
            <a:ext cx="434285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800" dirty="0"/>
              <a:t>1. A granularidade apresentada é a do Novo Modelo de Garantias (granularidade de IC’s) 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213494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BR" sz="2000" dirty="0"/>
              <a:t>1. Plano e status do projeto</a:t>
            </a:r>
            <a:endParaRPr lang="es-ES" sz="2000" dirty="0"/>
          </a:p>
          <a:p>
            <a:endParaRPr lang="es-ES" sz="2000" dirty="0"/>
          </a:p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7</a:t>
            </a:fld>
            <a:endParaRPr lang="es-ES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 dirty="0">
                <a:solidFill>
                  <a:schemeClr val="bg1"/>
                </a:solidFill>
              </a:rPr>
              <a:t>1.2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dirty="0">
                <a:solidFill>
                  <a:schemeClr val="tx1"/>
                </a:solidFill>
              </a:rPr>
              <a:t>Quadro Resumo de Controlos e Resultados (relativo a 31 de Dezembro 2022)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722243" y="1631508"/>
            <a:ext cx="1957457" cy="2279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dirty="0">
                <a:solidFill>
                  <a:schemeClr val="tx1"/>
                </a:solidFill>
              </a:rPr>
              <a:t>Garantias Imóveis</a:t>
            </a:r>
            <a:r>
              <a:rPr lang="pt-PT" sz="1000" b="1" baseline="30000" dirty="0">
                <a:solidFill>
                  <a:schemeClr val="tx1"/>
                </a:solidFill>
              </a:rPr>
              <a:t>1</a:t>
            </a:r>
            <a:endParaRPr lang="en-US" sz="1000" b="1" baseline="30000" dirty="0">
              <a:solidFill>
                <a:schemeClr val="tx1"/>
              </a:solidFill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94EF0D11-64A1-95A7-5896-603B980711CC}"/>
              </a:ext>
            </a:extLst>
          </p:cNvPr>
          <p:cNvGraphicFramePr>
            <a:graphicFrameLocks noGrp="1"/>
          </p:cNvGraphicFramePr>
          <p:nvPr/>
        </p:nvGraphicFramePr>
        <p:xfrm>
          <a:off x="722243" y="1992456"/>
          <a:ext cx="9174866" cy="2362320"/>
        </p:xfrm>
        <a:graphic>
          <a:graphicData uri="http://schemas.openxmlformats.org/drawingml/2006/table">
            <a:tbl>
              <a:tblPr firstRow="1" firstCol="1" bandRow="1"/>
              <a:tblGrid>
                <a:gridCol w="158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866">
                  <a:extLst>
                    <a:ext uri="{9D8B030D-6E8A-4147-A177-3AD203B41FA5}">
                      <a16:colId xmlns:a16="http://schemas.microsoft.com/office/drawing/2014/main" val="3037039246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891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Universos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Casuística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# Responsabilidade/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Processo </a:t>
                      </a:r>
                      <a:r>
                        <a:rPr lang="pt-PT" sz="900" b="1" baseline="30000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2</a:t>
                      </a:r>
                      <a:endParaRPr lang="pt-PT" sz="900" baseline="300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MAVALIAA - Novo Modelo de garantias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MAVALIAA - BIYR9500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Diferenças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">
                <a:tc rowSpan="5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 1) </a:t>
                      </a:r>
                      <a:r>
                        <a:rPr lang="en-US" sz="10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Universo</a:t>
                      </a: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</a:t>
                      </a:r>
                      <a:r>
                        <a:rPr lang="en-US" sz="10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Comum</a:t>
                      </a:r>
                      <a:endParaRPr lang="en-US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Sem diferenças de mavaliaa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205 667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40 565 773 113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+mj-lt"/>
                        </a:rPr>
                        <a:t>40 565 773 113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+mj-lt"/>
                        </a:rPr>
                        <a:t>0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Diferenças de metodologia*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103</a:t>
                      </a:r>
                      <a:endParaRPr lang="pt-PT" sz="900" b="0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290 735 185</a:t>
                      </a:r>
                      <a:endParaRPr lang="pt-PT" sz="900" b="0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731 077 726</a:t>
                      </a:r>
                      <a:endParaRPr lang="pt-PT" sz="900" b="0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-440 342 541</a:t>
                      </a:r>
                      <a:endParaRPr lang="pt-PT" sz="900" b="0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5115583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Em resolução - requisitos definidos e planificados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37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93 016 157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54 031 550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38 984 607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4210713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179 971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16 771 513 933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16 761 614 868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9 899 066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panose="020F0502020204030204" pitchFamily="34" charset="0"/>
                        </a:rPr>
                        <a:t> Total</a:t>
                      </a:r>
                      <a:endParaRPr lang="en-US" sz="1000" b="1" dirty="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u="none" strike="noStrike" dirty="0">
                          <a:effectLst/>
                          <a:latin typeface="+mj-lt"/>
                        </a:rPr>
                        <a:t>385 778</a:t>
                      </a:r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u="none" strike="noStrike" dirty="0">
                          <a:effectLst/>
                          <a:latin typeface="+mj-lt"/>
                        </a:rPr>
                        <a:t>57 721 038 388</a:t>
                      </a:r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u="none" strike="noStrike" dirty="0">
                          <a:effectLst/>
                          <a:latin typeface="+mj-lt"/>
                        </a:rPr>
                        <a:t>58 112 497 257</a:t>
                      </a:r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u="none" strike="noStrike" dirty="0">
                          <a:effectLst/>
                          <a:latin typeface="+mj-lt"/>
                        </a:rPr>
                        <a:t>-391 458 868</a:t>
                      </a:r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000">
                <a:tc rowSpan="2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2) </a:t>
                      </a:r>
                      <a:r>
                        <a:rPr lang="en-US" sz="10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Exclusivo</a:t>
                      </a: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Novo </a:t>
                      </a:r>
                    </a:p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</a:t>
                      </a:r>
                      <a:r>
                        <a:rPr lang="en-US" sz="10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Modelo</a:t>
                      </a: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de </a:t>
                      </a:r>
                      <a:r>
                        <a:rPr lang="en-US" sz="10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Garantias</a:t>
                      </a:r>
                      <a:endParaRPr lang="en-US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Em análise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9530" marR="6627" marT="662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104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650 556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u="none" strike="noStrike" dirty="0">
                          <a:effectLst/>
                          <a:latin typeface="+mj-lt"/>
                        </a:rPr>
                        <a:t> 650 556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660737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+mj-lt"/>
                        </a:rPr>
                        <a:t>Total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u="none" strike="noStrike" dirty="0">
                          <a:effectLst/>
                          <a:latin typeface="+mj-lt"/>
                        </a:rPr>
                        <a:t>104</a:t>
                      </a:r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u="none" strike="noStrike" dirty="0">
                          <a:effectLst/>
                          <a:latin typeface="+mj-lt"/>
                        </a:rPr>
                        <a:t>650 556</a:t>
                      </a:r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b="1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000" b="1" u="none" strike="noStrike" dirty="0">
                          <a:effectLst/>
                          <a:latin typeface="+mj-lt"/>
                        </a:rPr>
                        <a:t> 650 556</a:t>
                      </a:r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0049901"/>
                  </a:ext>
                </a:extLst>
              </a:tr>
              <a:tr h="180000">
                <a:tc rowSpan="4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 3) </a:t>
                      </a:r>
                      <a:r>
                        <a:rPr lang="en-US" sz="10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Exclusivo</a:t>
                      </a: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BIYR9500</a:t>
                      </a:r>
                      <a:endParaRPr lang="en-US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Diferenças de metodologia*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1 185</a:t>
                      </a:r>
                      <a:endParaRPr lang="pt-PT" sz="900" b="0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253 266 552</a:t>
                      </a:r>
                      <a:endParaRPr lang="pt-PT" sz="900" b="0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-253 266 552</a:t>
                      </a:r>
                      <a:endParaRPr lang="pt-PT" sz="900" b="0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Em resolução - requisitos definidos e planificados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2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93 193 964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-93 193 964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240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+mj-lt"/>
                        </a:rPr>
                        <a:t>36 160 605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-36 160 605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panose="020F0502020204030204" pitchFamily="34" charset="0"/>
                        </a:rPr>
                        <a:t> Total</a:t>
                      </a:r>
                      <a:endParaRPr lang="en-US" sz="1000" b="1" dirty="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u="none" strike="noStrike" dirty="0">
                          <a:effectLst/>
                          <a:latin typeface="+mj-lt"/>
                        </a:rPr>
                        <a:t>1 427</a:t>
                      </a:r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b="1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u="none" strike="noStrike" dirty="0">
                          <a:effectLst/>
                          <a:latin typeface="+mj-lt"/>
                        </a:rPr>
                        <a:t>382 621 120</a:t>
                      </a:r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u="none" strike="noStrike" dirty="0">
                          <a:effectLst/>
                          <a:latin typeface="+mj-lt"/>
                        </a:rPr>
                        <a:t>-382 621 120</a:t>
                      </a:r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73A208F6-5AB8-A553-3145-F5362921AE62}"/>
              </a:ext>
            </a:extLst>
          </p:cNvPr>
          <p:cNvSpPr/>
          <p:nvPr/>
        </p:nvSpPr>
        <p:spPr>
          <a:xfrm>
            <a:off x="722243" y="4594860"/>
            <a:ext cx="9645107" cy="13733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pt-PT" sz="900" b="1" dirty="0">
                <a:solidFill>
                  <a:schemeClr val="accent4"/>
                </a:solidFill>
                <a:latin typeface="+mj-lt"/>
              </a:rPr>
              <a:t>*Diferenças de metodologia refletidas:</a:t>
            </a:r>
          </a:p>
          <a:p>
            <a:endParaRPr lang="pt-PT" sz="900" dirty="0">
              <a:solidFill>
                <a:schemeClr val="tx1"/>
              </a:solidFill>
              <a:latin typeface="+mj-lt"/>
            </a:endParaRPr>
          </a:p>
          <a:p>
            <a:pPr marL="228600" indent="-228600">
              <a:buFont typeface="+mj-lt"/>
              <a:buAutoNum type="arabicPeriod"/>
            </a:pPr>
            <a:r>
              <a:rPr lang="pt-PT" sz="900" dirty="0">
                <a:solidFill>
                  <a:schemeClr val="tx1"/>
                </a:solidFill>
                <a:latin typeface="+mj-lt"/>
              </a:rPr>
              <a:t>Apenas serão contempladas responsabilidades/processos </a:t>
            </a:r>
            <a:r>
              <a:rPr lang="pt-PT" sz="900" u="sng" dirty="0">
                <a:solidFill>
                  <a:schemeClr val="tx1"/>
                </a:solidFill>
                <a:latin typeface="+mj-lt"/>
              </a:rPr>
              <a:t>com bens associados</a:t>
            </a:r>
            <a:r>
              <a:rPr lang="pt-PT" sz="900" dirty="0">
                <a:solidFill>
                  <a:schemeClr val="tx1"/>
                </a:solidFill>
                <a:latin typeface="+mj-lt"/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pt-PT" sz="900" dirty="0">
                <a:solidFill>
                  <a:schemeClr val="tx1"/>
                </a:solidFill>
                <a:latin typeface="+mj-lt"/>
              </a:rPr>
              <a:t>Apenas serão contemplados bens com </a:t>
            </a:r>
            <a:r>
              <a:rPr lang="pt-PT" sz="900" u="sng" dirty="0">
                <a:solidFill>
                  <a:schemeClr val="tx1"/>
                </a:solidFill>
                <a:latin typeface="+mj-lt"/>
              </a:rPr>
              <a:t>datas de avaliação válidas</a:t>
            </a:r>
            <a:r>
              <a:rPr lang="pt-PT" sz="900" dirty="0">
                <a:solidFill>
                  <a:schemeClr val="tx1"/>
                </a:solidFill>
                <a:latin typeface="+mj-lt"/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pt-PT" sz="900" u="none" strike="noStrike" dirty="0">
                <a:solidFill>
                  <a:schemeClr val="tx1"/>
                </a:solidFill>
                <a:effectLst/>
                <a:latin typeface="+mj-lt"/>
              </a:rPr>
              <a:t>A metodologia de aprovisionamento </a:t>
            </a:r>
            <a:r>
              <a:rPr lang="pt-PT" sz="900" u="sng" strike="noStrike" dirty="0">
                <a:solidFill>
                  <a:schemeClr val="tx1"/>
                </a:solidFill>
                <a:effectLst/>
                <a:latin typeface="+mj-lt"/>
              </a:rPr>
              <a:t>de montantes/datas de avaliação </a:t>
            </a:r>
            <a:r>
              <a:rPr lang="pt-PT" sz="900" u="none" strike="noStrike" dirty="0">
                <a:solidFill>
                  <a:schemeClr val="tx1"/>
                </a:solidFill>
                <a:effectLst/>
                <a:latin typeface="+mj-lt"/>
              </a:rPr>
              <a:t>aplicada a Fomentos à Construção </a:t>
            </a:r>
            <a:r>
              <a:rPr lang="pt-PT" sz="900" u="sng" strike="noStrike" dirty="0">
                <a:solidFill>
                  <a:schemeClr val="tx1"/>
                </a:solidFill>
                <a:effectLst/>
                <a:latin typeface="+mj-lt"/>
              </a:rPr>
              <a:t>deve ser igual para todas as origens</a:t>
            </a:r>
            <a:r>
              <a:rPr lang="pt-PT" sz="900" u="none" strike="noStrike" dirty="0">
                <a:solidFill>
                  <a:schemeClr val="tx1"/>
                </a:solidFill>
                <a:effectLst/>
                <a:latin typeface="+mj-lt"/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pt-PT" sz="900" u="none" strike="noStrike" dirty="0">
                <a:solidFill>
                  <a:schemeClr val="tx1"/>
                </a:solidFill>
                <a:effectLst/>
                <a:latin typeface="+mj-lt"/>
              </a:rPr>
              <a:t>O </a:t>
            </a:r>
            <a:r>
              <a:rPr lang="pt-PT" sz="900" u="sng" strike="noStrike" dirty="0">
                <a:solidFill>
                  <a:schemeClr val="tx1"/>
                </a:solidFill>
                <a:effectLst/>
                <a:latin typeface="+mj-lt"/>
              </a:rPr>
              <a:t>rateio dos bens </a:t>
            </a:r>
            <a:r>
              <a:rPr lang="pt-PT" sz="900" u="none" strike="noStrike" dirty="0">
                <a:solidFill>
                  <a:schemeClr val="tx1"/>
                </a:solidFill>
                <a:effectLst/>
                <a:latin typeface="+mj-lt"/>
              </a:rPr>
              <a:t>pelos processos/responsabilidades deve ser feito </a:t>
            </a:r>
            <a:r>
              <a:rPr lang="pt-PT" sz="900" u="sng" strike="noStrike" dirty="0">
                <a:solidFill>
                  <a:schemeClr val="tx1"/>
                </a:solidFill>
                <a:effectLst/>
                <a:latin typeface="+mj-lt"/>
              </a:rPr>
              <a:t>independentemente da origem</a:t>
            </a:r>
            <a:r>
              <a:rPr lang="pt-PT" sz="900" u="none" strike="noStrike" dirty="0">
                <a:solidFill>
                  <a:schemeClr val="tx1"/>
                </a:solidFill>
                <a:effectLst/>
                <a:latin typeface="+mj-lt"/>
              </a:rPr>
              <a:t>. </a:t>
            </a:r>
            <a:endParaRPr lang="pt-PT" sz="900" dirty="0">
              <a:solidFill>
                <a:schemeClr val="tx1"/>
              </a:solidFill>
              <a:latin typeface="+mj-lt"/>
            </a:endParaRPr>
          </a:p>
          <a:p>
            <a:pPr marL="228600" indent="-228600">
              <a:buFont typeface="+mj-lt"/>
              <a:buAutoNum type="arabicPeriod"/>
            </a:pPr>
            <a:endParaRPr lang="pt-PT" sz="9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E7CA54-E9D4-15E2-B844-863EF76FF921}"/>
              </a:ext>
            </a:extLst>
          </p:cNvPr>
          <p:cNvSpPr txBox="1"/>
          <p:nvPr/>
        </p:nvSpPr>
        <p:spPr>
          <a:xfrm>
            <a:off x="711028" y="6072469"/>
            <a:ext cx="43428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800" dirty="0"/>
              <a:t>1. A análise exclui o universo de </a:t>
            </a:r>
            <a:r>
              <a:rPr lang="pt-BR" sz="800" i="1" dirty="0"/>
              <a:t>Leasing</a:t>
            </a:r>
          </a:p>
          <a:p>
            <a:r>
              <a:rPr lang="pt-BR" sz="800" dirty="0"/>
              <a:t>2. A granularidade apresentada é a do Novo Modelo de Garantias (granularidade de IC’s) 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691828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BR" sz="2000" dirty="0"/>
              <a:t>1. Plano e status do projeto</a:t>
            </a:r>
            <a:endParaRPr lang="es-ES" sz="2000" dirty="0"/>
          </a:p>
          <a:p>
            <a:endParaRPr lang="es-ES" sz="2000" dirty="0"/>
          </a:p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8</a:t>
            </a:fld>
            <a:endParaRPr lang="es-ES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 dirty="0">
                <a:solidFill>
                  <a:schemeClr val="bg1"/>
                </a:solidFill>
              </a:rPr>
              <a:t>1.2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dirty="0">
                <a:solidFill>
                  <a:schemeClr val="tx1"/>
                </a:solidFill>
              </a:rPr>
              <a:t>Quadro Resumo de Controlos e Resultados (relativo a 31 de Dezembro 2022)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722243" y="1631508"/>
            <a:ext cx="1957457" cy="2279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i="1" dirty="0">
                <a:solidFill>
                  <a:schemeClr val="tx1"/>
                </a:solidFill>
              </a:rPr>
              <a:t>Leasing</a:t>
            </a:r>
            <a:r>
              <a:rPr lang="pt-PT" sz="1000" b="1" dirty="0">
                <a:solidFill>
                  <a:schemeClr val="tx1"/>
                </a:solidFill>
              </a:rPr>
              <a:t> Imóveis</a:t>
            </a:r>
            <a:endParaRPr lang="en-US" sz="1000" b="1" baseline="30000" dirty="0">
              <a:solidFill>
                <a:schemeClr val="tx1"/>
              </a:solidFill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09F8BDE-9239-AD09-EF31-CC46E4FB8645}"/>
              </a:ext>
            </a:extLst>
          </p:cNvPr>
          <p:cNvGraphicFramePr>
            <a:graphicFrameLocks noGrp="1"/>
          </p:cNvGraphicFramePr>
          <p:nvPr/>
        </p:nvGraphicFramePr>
        <p:xfrm>
          <a:off x="722243" y="1992456"/>
          <a:ext cx="9174866" cy="1426320"/>
        </p:xfrm>
        <a:graphic>
          <a:graphicData uri="http://schemas.openxmlformats.org/drawingml/2006/table">
            <a:tbl>
              <a:tblPr firstRow="1" firstCol="1" bandRow="1"/>
              <a:tblGrid>
                <a:gridCol w="158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866">
                  <a:extLst>
                    <a:ext uri="{9D8B030D-6E8A-4147-A177-3AD203B41FA5}">
                      <a16:colId xmlns:a16="http://schemas.microsoft.com/office/drawing/2014/main" val="3037039246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891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Universos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Casuística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# Responsabilidade/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Processo </a:t>
                      </a:r>
                      <a:r>
                        <a:rPr lang="pt-PT" sz="900" b="1" baseline="30000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2</a:t>
                      </a:r>
                      <a:endParaRPr lang="pt-PT" sz="900" baseline="300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MAVALIAA - Novo Modelo de garantias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MAVALIAA - BIYR9500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Diferenças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">
                <a:tc rowSpan="3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 1) </a:t>
                      </a:r>
                      <a:r>
                        <a:rPr lang="en-US" sz="10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Universo</a:t>
                      </a: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</a:t>
                      </a:r>
                      <a:r>
                        <a:rPr lang="en-US" sz="10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Comum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Sem diferenças de mavaliaa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4 872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1 496 365 853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1 496 365 853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2 628 496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975 300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1 653 196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1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4 889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1 498 994 348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1 497 341 153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1 653 196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000">
                <a:tc rowSpan="3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3) </a:t>
                      </a:r>
                      <a:r>
                        <a:rPr lang="en-US" sz="10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Exclusivo</a:t>
                      </a: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BIYR9500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resolução - requisitos definidos e planificados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0F1E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325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0F1E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68 169 352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0F1E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-68 169 352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14 615 421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-14 615 421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2859858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485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82 784 774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-82 784 774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4" name="Title 1">
            <a:extLst>
              <a:ext uri="{FF2B5EF4-FFF2-40B4-BE49-F238E27FC236}">
                <a16:creationId xmlns:a16="http://schemas.microsoft.com/office/drawing/2014/main" id="{4B7515AF-BE8F-166D-017D-FFA2E7258BC8}"/>
              </a:ext>
            </a:extLst>
          </p:cNvPr>
          <p:cNvSpPr txBox="1">
            <a:spLocks/>
          </p:cNvSpPr>
          <p:nvPr/>
        </p:nvSpPr>
        <p:spPr>
          <a:xfrm>
            <a:off x="722243" y="4001414"/>
            <a:ext cx="1957457" cy="2279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i="1" dirty="0">
                <a:solidFill>
                  <a:schemeClr val="tx1"/>
                </a:solidFill>
              </a:rPr>
              <a:t>Leasing </a:t>
            </a:r>
            <a:r>
              <a:rPr lang="pt-PT" sz="1000" b="1" dirty="0">
                <a:solidFill>
                  <a:schemeClr val="tx1"/>
                </a:solidFill>
              </a:rPr>
              <a:t>Pessoais</a:t>
            </a:r>
            <a:r>
              <a:rPr lang="pt-PT" sz="1000" b="1" baseline="30000" dirty="0">
                <a:solidFill>
                  <a:schemeClr val="tx1"/>
                </a:solidFill>
              </a:rPr>
              <a:t> 1</a:t>
            </a:r>
            <a:endParaRPr lang="en-US" sz="1000" b="1" baseline="30000" dirty="0">
              <a:solidFill>
                <a:schemeClr val="tx1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AB80F0A-E11B-61FA-EFAD-1E764024BFDF}"/>
              </a:ext>
            </a:extLst>
          </p:cNvPr>
          <p:cNvGraphicFramePr>
            <a:graphicFrameLocks noGrp="1"/>
          </p:cNvGraphicFramePr>
          <p:nvPr/>
        </p:nvGraphicFramePr>
        <p:xfrm>
          <a:off x="722243" y="4370854"/>
          <a:ext cx="9174866" cy="1642560"/>
        </p:xfrm>
        <a:graphic>
          <a:graphicData uri="http://schemas.openxmlformats.org/drawingml/2006/table">
            <a:tbl>
              <a:tblPr firstRow="1" firstCol="1" bandRow="1"/>
              <a:tblGrid>
                <a:gridCol w="158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866">
                  <a:extLst>
                    <a:ext uri="{9D8B030D-6E8A-4147-A177-3AD203B41FA5}">
                      <a16:colId xmlns:a16="http://schemas.microsoft.com/office/drawing/2014/main" val="3037039246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891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Universos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Casuística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# Responsabilidade/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Processo/Cliente </a:t>
                      </a:r>
                      <a:r>
                        <a:rPr lang="pt-PT" sz="900" b="1" baseline="30000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2</a:t>
                      </a:r>
                      <a:endParaRPr lang="pt-PT" sz="900" baseline="300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MAVALIAA - Novo Modelo de garantias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MAVALIAA - BIYR9500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Diferenças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">
                <a:tc rowSpan="3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+mn-cs"/>
                        </a:rPr>
                        <a:t> 1) </a:t>
                      </a:r>
                      <a:r>
                        <a:rPr lang="en-US" sz="1000" b="1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+mn-cs"/>
                        </a:rPr>
                        <a:t>Universo</a:t>
                      </a:r>
                      <a:r>
                        <a:rPr lang="en-US" sz="1000" b="1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+mn-cs"/>
                        </a:rPr>
                        <a:t> </a:t>
                      </a:r>
                      <a:r>
                        <a:rPr lang="en-US" sz="1000" b="1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+mn-cs"/>
                        </a:rPr>
                        <a:t>Comum</a:t>
                      </a:r>
                      <a:endParaRPr lang="en-US" sz="1000" b="1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Sem diferenças de mavaliaa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32 533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161 393 098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1 605 912 981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-1 444 519 884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082715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32 533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161 393 098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1 605 912 981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-1 444 519 884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000">
                <a:tc rowSpan="2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2) </a:t>
                      </a:r>
                      <a:r>
                        <a:rPr lang="en-US" sz="10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Exclusivo</a:t>
                      </a: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Novo </a:t>
                      </a:r>
                      <a:r>
                        <a:rPr lang="en-US" sz="10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Modelo</a:t>
                      </a: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de </a:t>
                      </a:r>
                      <a:r>
                        <a:rPr lang="en-US" sz="10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Garantias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2 028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2 028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2 028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2 028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0000">
                <a:tc rowSpan="2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3) </a:t>
                      </a:r>
                      <a:r>
                        <a:rPr lang="en-US" sz="10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Exclusivo</a:t>
                      </a: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BIYR9500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6 226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103 324 010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-103 324 010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6 226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103 324 010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-103 324 010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B88421B6-A6DF-B07E-F687-FF291458F5AF}"/>
              </a:ext>
            </a:extLst>
          </p:cNvPr>
          <p:cNvSpPr txBox="1"/>
          <p:nvPr/>
        </p:nvSpPr>
        <p:spPr>
          <a:xfrm>
            <a:off x="711028" y="6072469"/>
            <a:ext cx="42851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800" dirty="0"/>
              <a:t>1. A granularidade utilizada para análise foi ao nivel do bem (garantia pessoal – Cliente)</a:t>
            </a:r>
          </a:p>
          <a:p>
            <a:r>
              <a:rPr lang="pt-BR" sz="800" dirty="0"/>
              <a:t>2. A granularidade apresentada é a do Novo Modelo de Garantias (granularidade de IC’s)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794762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BR" sz="2000" dirty="0"/>
              <a:t>1. Plano e status do projeto</a:t>
            </a:r>
            <a:endParaRPr lang="es-ES" sz="2000" dirty="0"/>
          </a:p>
          <a:p>
            <a:endParaRPr lang="es-ES" sz="2000" dirty="0"/>
          </a:p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9</a:t>
            </a:fld>
            <a:endParaRPr lang="es-ES" dirty="0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 dirty="0">
                <a:solidFill>
                  <a:schemeClr val="bg1"/>
                </a:solidFill>
              </a:rPr>
              <a:t>1.2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dirty="0">
                <a:solidFill>
                  <a:schemeClr val="tx1"/>
                </a:solidFill>
              </a:rPr>
              <a:t>Quadro Resumo de Controlos e Resultados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722243" y="1631508"/>
            <a:ext cx="1957457" cy="2279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dirty="0">
                <a:solidFill>
                  <a:schemeClr val="tx1"/>
                </a:solidFill>
              </a:rPr>
              <a:t>Impactos Capital</a:t>
            </a:r>
            <a:r>
              <a:rPr lang="pt-PT" sz="1000" b="1" baseline="30000" dirty="0">
                <a:solidFill>
                  <a:schemeClr val="tx1"/>
                </a:solidFill>
              </a:rPr>
              <a:t>1 </a:t>
            </a:r>
            <a:endParaRPr lang="en-US" sz="1000" b="1" baseline="30000" dirty="0">
              <a:solidFill>
                <a:schemeClr val="tx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11028" y="5981029"/>
            <a:ext cx="579838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28600" indent="-228600">
              <a:buAutoNum type="arabicPeriod"/>
            </a:pPr>
            <a:r>
              <a:rPr lang="pt-BR" sz="800" dirty="0"/>
              <a:t>Análise com base na execução do dia 17 de novembro, referente à informação de garantias e contratos de setembro.</a:t>
            </a:r>
          </a:p>
          <a:p>
            <a:pPr marL="228600" indent="-228600">
              <a:buAutoNum type="arabicPeriod"/>
            </a:pPr>
            <a:r>
              <a:rPr lang="pt-PT" sz="800" dirty="0"/>
              <a:t>Universo definido com base na combinação entre o método de cálculo de capital, segmento e contrato BDR.</a:t>
            </a:r>
            <a:r>
              <a:rPr lang="pt-BR" sz="800" dirty="0"/>
              <a:t> </a:t>
            </a:r>
          </a:p>
          <a:p>
            <a:pPr marL="228600" indent="-228600">
              <a:buAutoNum type="arabicPeriod"/>
            </a:pPr>
            <a:r>
              <a:rPr lang="pt-PT" sz="800" dirty="0"/>
              <a:t>BDR1 resulta do processo atual do BIYR9500.</a:t>
            </a:r>
          </a:p>
          <a:p>
            <a:pPr marL="228600" indent="-228600">
              <a:buAutoNum type="arabicPeriod"/>
            </a:pPr>
            <a:r>
              <a:rPr lang="pt-PT" sz="800" dirty="0"/>
              <a:t>BDR2 resulta do processo utilizando o Novo Modelo de Garantias.</a:t>
            </a:r>
            <a:endParaRPr lang="pt-BR" sz="8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AAF56CD-ED3D-EFF2-896B-D465D8A8C9A8}"/>
              </a:ext>
            </a:extLst>
          </p:cNvPr>
          <p:cNvSpPr/>
          <p:nvPr/>
        </p:nvSpPr>
        <p:spPr>
          <a:xfrm>
            <a:off x="722243" y="4594860"/>
            <a:ext cx="9645107" cy="13733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pt-PT" sz="900" dirty="0">
                <a:solidFill>
                  <a:schemeClr val="tx1"/>
                </a:solidFill>
                <a:latin typeface="+mj-lt"/>
              </a:rPr>
              <a:t>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D5AD34C-9F22-0F96-ADAD-0463A56024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1757425"/>
              </p:ext>
            </p:extLst>
          </p:nvPr>
        </p:nvGraphicFramePr>
        <p:xfrm>
          <a:off x="722244" y="1995488"/>
          <a:ext cx="10044976" cy="40238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88320">
                  <a:extLst>
                    <a:ext uri="{9D8B030D-6E8A-4147-A177-3AD203B41FA5}">
                      <a16:colId xmlns:a16="http://schemas.microsoft.com/office/drawing/2014/main" val="3950466940"/>
                    </a:ext>
                  </a:extLst>
                </a:gridCol>
                <a:gridCol w="816320">
                  <a:extLst>
                    <a:ext uri="{9D8B030D-6E8A-4147-A177-3AD203B41FA5}">
                      <a16:colId xmlns:a16="http://schemas.microsoft.com/office/drawing/2014/main" val="1285549034"/>
                    </a:ext>
                  </a:extLst>
                </a:gridCol>
                <a:gridCol w="2556000">
                  <a:extLst>
                    <a:ext uri="{9D8B030D-6E8A-4147-A177-3AD203B41FA5}">
                      <a16:colId xmlns:a16="http://schemas.microsoft.com/office/drawing/2014/main" val="2840638076"/>
                    </a:ext>
                  </a:extLst>
                </a:gridCol>
                <a:gridCol w="806358">
                  <a:extLst>
                    <a:ext uri="{9D8B030D-6E8A-4147-A177-3AD203B41FA5}">
                      <a16:colId xmlns:a16="http://schemas.microsoft.com/office/drawing/2014/main" val="1156208378"/>
                    </a:ext>
                  </a:extLst>
                </a:gridCol>
                <a:gridCol w="879663">
                  <a:extLst>
                    <a:ext uri="{9D8B030D-6E8A-4147-A177-3AD203B41FA5}">
                      <a16:colId xmlns:a16="http://schemas.microsoft.com/office/drawing/2014/main" val="975938831"/>
                    </a:ext>
                  </a:extLst>
                </a:gridCol>
                <a:gridCol w="879663">
                  <a:extLst>
                    <a:ext uri="{9D8B030D-6E8A-4147-A177-3AD203B41FA5}">
                      <a16:colId xmlns:a16="http://schemas.microsoft.com/office/drawing/2014/main" val="3198698529"/>
                    </a:ext>
                  </a:extLst>
                </a:gridCol>
                <a:gridCol w="879663">
                  <a:extLst>
                    <a:ext uri="{9D8B030D-6E8A-4147-A177-3AD203B41FA5}">
                      <a16:colId xmlns:a16="http://schemas.microsoft.com/office/drawing/2014/main" val="719171195"/>
                    </a:ext>
                  </a:extLst>
                </a:gridCol>
                <a:gridCol w="879663">
                  <a:extLst>
                    <a:ext uri="{9D8B030D-6E8A-4147-A177-3AD203B41FA5}">
                      <a16:colId xmlns:a16="http://schemas.microsoft.com/office/drawing/2014/main" val="2734526999"/>
                    </a:ext>
                  </a:extLst>
                </a:gridCol>
                <a:gridCol w="879663">
                  <a:extLst>
                    <a:ext uri="{9D8B030D-6E8A-4147-A177-3AD203B41FA5}">
                      <a16:colId xmlns:a16="http://schemas.microsoft.com/office/drawing/2014/main" val="3705975520"/>
                    </a:ext>
                  </a:extLst>
                </a:gridCol>
                <a:gridCol w="879663">
                  <a:extLst>
                    <a:ext uri="{9D8B030D-6E8A-4147-A177-3AD203B41FA5}">
                      <a16:colId xmlns:a16="http://schemas.microsoft.com/office/drawing/2014/main" val="395914557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RWA</a:t>
                      </a:r>
                      <a:endParaRPr lang="pt-PT" sz="1000" b="1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EAD</a:t>
                      </a:r>
                      <a:endParaRPr lang="pt-PT" sz="1000" b="1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4958829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Método</a:t>
                      </a:r>
                      <a:endParaRPr lang="pt-PT" sz="1000" b="1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Universo</a:t>
                      </a:r>
                      <a:r>
                        <a:rPr lang="pt-PT" sz="1000" b="1" u="none" strike="noStrike" baseline="30000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2</a:t>
                      </a:r>
                      <a:endParaRPr lang="pt-PT" sz="1000" b="1" i="0" u="none" strike="noStrike" baseline="30000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Casuistica</a:t>
                      </a:r>
                      <a:endParaRPr lang="pt-PT" sz="1000" b="1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# Registos</a:t>
                      </a:r>
                      <a:endParaRPr lang="pt-PT" sz="1000" b="1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 dirty="0">
                          <a:effectLst/>
                          <a:latin typeface="+mj-lt"/>
                        </a:rPr>
                        <a:t>BDR2</a:t>
                      </a:r>
                      <a:r>
                        <a:rPr lang="pt-PT" sz="1000" b="1" u="none" strike="noStrike" baseline="30000" dirty="0">
                          <a:effectLst/>
                          <a:latin typeface="+mj-lt"/>
                        </a:rPr>
                        <a:t>4</a:t>
                      </a:r>
                      <a:endParaRPr lang="pt-PT" sz="1000" b="1" i="0" u="none" strike="noStrike" baseline="3000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 dirty="0">
                          <a:effectLst/>
                          <a:latin typeface="+mj-lt"/>
                        </a:rPr>
                        <a:t>BDR1</a:t>
                      </a:r>
                      <a:r>
                        <a:rPr lang="pt-PT" sz="1000" b="1" u="none" strike="noStrike" baseline="30000" dirty="0">
                          <a:effectLst/>
                          <a:latin typeface="+mj-lt"/>
                        </a:rPr>
                        <a:t>3</a:t>
                      </a:r>
                      <a:endParaRPr lang="pt-PT" sz="1000" b="1" i="0" u="none" strike="noStrike" baseline="3000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 dirty="0">
                          <a:effectLst/>
                          <a:latin typeface="+mj-lt"/>
                        </a:rPr>
                        <a:t>Impactos</a:t>
                      </a:r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 dirty="0">
                          <a:effectLst/>
                          <a:latin typeface="+mj-lt"/>
                        </a:rPr>
                        <a:t>BDR2</a:t>
                      </a:r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 dirty="0">
                          <a:effectLst/>
                          <a:latin typeface="+mj-lt"/>
                        </a:rPr>
                        <a:t>BDR1</a:t>
                      </a:r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 dirty="0">
                          <a:effectLst/>
                          <a:latin typeface="+mj-lt"/>
                        </a:rPr>
                        <a:t>Impactos</a:t>
                      </a:r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7378503"/>
                  </a:ext>
                </a:extLst>
              </a:tr>
              <a:tr h="180000">
                <a:tc rowSpan="7"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 dirty="0">
                          <a:effectLst/>
                          <a:latin typeface="+mj-lt"/>
                        </a:rPr>
                        <a:t>IRB</a:t>
                      </a:r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l" fontAlgn="ctr"/>
                      <a:r>
                        <a:rPr lang="pt-PT" sz="900" b="1" u="none" strike="noStrike" dirty="0">
                          <a:effectLst/>
                          <a:latin typeface="+mj-lt"/>
                        </a:rPr>
                        <a:t>Comum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Em resolução - requisitos definidos e planificados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235 797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4 002 146 696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2 362 944 594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1 639 202 102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16 895 036 943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16 895 036 943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0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0661802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Impactos não inerentes a garantias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1 144 038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3 378 025 079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3 176 950 409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201 074 670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+mj-lt"/>
                        </a:rPr>
                        <a:t>7 043 720 668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+mj-lt"/>
                        </a:rPr>
                        <a:t>7 036 372 923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+mj-lt"/>
                        </a:rPr>
                        <a:t>7 347 744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8647418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Impactos não significativos (threshold = 1)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2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186 165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2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1 138 476 198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2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1 138 471 598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2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4 600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2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3 062 244 401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2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3 062 244 400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2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1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2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3581279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Em análise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108 745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+mj-lt"/>
                        </a:rPr>
                        <a:t>3 087 973 270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2 295 486 345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+mj-lt"/>
                        </a:rPr>
                        <a:t>792 486 925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6 739 882 496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6 700 677 270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39 205 226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2822018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1" u="none" strike="noStrike" dirty="0">
                          <a:effectLst/>
                          <a:latin typeface="+mj-lt"/>
                        </a:rPr>
                        <a:t>Exclusivo BDR1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Em análise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103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+mj-lt"/>
                        </a:rPr>
                        <a:t>2 410 473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-2 410 473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+mj-lt"/>
                        </a:rPr>
                        <a:t>428 521 704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-428 521 704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9403010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1" u="none" strike="noStrike" dirty="0">
                          <a:effectLst/>
                          <a:latin typeface="+mj-lt"/>
                        </a:rPr>
                        <a:t>Exclusivo BDR2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Em análise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192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289 851 034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289 851 034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442 383 914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442 383 914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5298460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r" fontAlgn="ctr"/>
                      <a:r>
                        <a:rPr lang="pt-PT" sz="1000" b="1" u="none" strike="noStrike" dirty="0">
                          <a:effectLst/>
                          <a:latin typeface="+mj-lt"/>
                        </a:rPr>
                        <a:t>Total</a:t>
                      </a:r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1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1" u="none" strike="noStrike" dirty="0">
                          <a:effectLst/>
                          <a:latin typeface="+mj-lt"/>
                        </a:rPr>
                        <a:t>11 896 472 277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1" u="none" strike="noStrike" dirty="0">
                          <a:effectLst/>
                          <a:latin typeface="+mj-lt"/>
                        </a:rPr>
                        <a:t>8 976 263 419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1" u="none" strike="noStrike" dirty="0">
                          <a:effectLst/>
                          <a:latin typeface="+mj-lt"/>
                        </a:rPr>
                        <a:t>2 920 208 858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1" u="none" strike="noStrike" dirty="0">
                          <a:effectLst/>
                          <a:latin typeface="+mj-lt"/>
                        </a:rPr>
                        <a:t>34 183 268 421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1" u="none" strike="noStrike" dirty="0">
                          <a:effectLst/>
                          <a:latin typeface="+mj-lt"/>
                        </a:rPr>
                        <a:t>34 122 853 240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1" u="none" strike="noStrike" dirty="0">
                          <a:effectLst/>
                          <a:latin typeface="+mj-lt"/>
                        </a:rPr>
                        <a:t>60 415 181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3003828"/>
                  </a:ext>
                </a:extLst>
              </a:tr>
              <a:tr h="72000">
                <a:tc>
                  <a:txBody>
                    <a:bodyPr/>
                    <a:lstStyle/>
                    <a:p>
                      <a:pPr algn="ctr" fontAlgn="ctr"/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0010675"/>
                  </a:ext>
                </a:extLst>
              </a:tr>
              <a:tr h="180000">
                <a:tc rowSpan="8"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 dirty="0">
                          <a:effectLst/>
                          <a:latin typeface="+mj-lt"/>
                        </a:rPr>
                        <a:t>STD</a:t>
                      </a:r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 fontAlgn="ctr"/>
                      <a:r>
                        <a:rPr lang="pt-PT" sz="900" b="1" u="none" strike="noStrike" dirty="0">
                          <a:effectLst/>
                          <a:latin typeface="+mj-lt"/>
                        </a:rPr>
                        <a:t>Comum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Impactos não inerentes a garantias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5 810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+mj-lt"/>
                        </a:rPr>
                        <a:t>1 148 028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+mj-lt"/>
                        </a:rPr>
                        <a:t>44 276 451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+mj-lt"/>
                        </a:rPr>
                        <a:t>-43 128 423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+mj-lt"/>
                        </a:rPr>
                        <a:t>13 508 902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40 688 729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-27 179 827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9788856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Impactos não significativos (threshold = 1)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2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137 383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2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554 750 800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2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554 750 801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2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-1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2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18 144 128 274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2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18 144 128 257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2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16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2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3733465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Em análise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11 367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30 415 901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45 890 830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-15 474 929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673 407 208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605 552 745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67 854 462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7583717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l" fontAlgn="ctr"/>
                      <a:r>
                        <a:rPr lang="pt-PT" sz="900" b="1" u="none" strike="noStrike" dirty="0">
                          <a:effectLst/>
                          <a:latin typeface="+mj-lt"/>
                        </a:rPr>
                        <a:t>Exclusivo BDR1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Diferenças de Reconciliação (</a:t>
                      </a:r>
                      <a:r>
                        <a:rPr lang="pt-PT" sz="900" u="none" strike="noStrike" dirty="0" err="1">
                          <a:effectLst/>
                          <a:latin typeface="+mj-lt"/>
                        </a:rPr>
                        <a:t>Cont</a:t>
                      </a:r>
                      <a:r>
                        <a:rPr lang="pt-PT" sz="900" u="none" strike="noStrike" dirty="0">
                          <a:effectLst/>
                          <a:latin typeface="+mj-lt"/>
                        </a:rPr>
                        <a:t>/</a:t>
                      </a:r>
                      <a:r>
                        <a:rPr lang="pt-PT" sz="900" u="none" strike="noStrike" dirty="0" err="1">
                          <a:effectLst/>
                          <a:latin typeface="+mj-lt"/>
                        </a:rPr>
                        <a:t>Cargabal</a:t>
                      </a:r>
                      <a:r>
                        <a:rPr lang="pt-PT" sz="900" u="none" strike="noStrike" dirty="0">
                          <a:effectLst/>
                          <a:latin typeface="+mj-lt"/>
                        </a:rPr>
                        <a:t>) + Exposições não contratuais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123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9 968 040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-9 968 040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320 745 104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-320 745 104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2597905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Em análise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59 102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1 103 370 931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-1 103 370 931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3 367 772 451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-3 367 772 451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1892986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l" fontAlgn="ctr"/>
                      <a:r>
                        <a:rPr lang="pt-PT" sz="900" b="1" u="none" strike="noStrike" dirty="0">
                          <a:effectLst/>
                          <a:latin typeface="+mj-lt"/>
                        </a:rPr>
                        <a:t>Exclusivo BDR2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Exposições </a:t>
                      </a:r>
                      <a:r>
                        <a:rPr lang="pt-PT" sz="900" u="none" strike="noStrike">
                          <a:effectLst/>
                          <a:latin typeface="+mj-lt"/>
                        </a:rPr>
                        <a:t>não contratuais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21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+mj-lt"/>
                        </a:rPr>
                        <a:t>5 502 659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5 502 659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5 451 281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+mj-lt"/>
                        </a:rPr>
                        <a:t>5 451 281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0028161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Em análise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66 062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2 242 965 790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2 242 965 790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3 700 100 977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3 700 100 977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6455430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r" fontAlgn="ctr"/>
                      <a:r>
                        <a:rPr lang="pt-PT" sz="1000" b="1" u="none" strike="noStrike" dirty="0">
                          <a:effectLst/>
                          <a:latin typeface="+mj-lt"/>
                        </a:rPr>
                        <a:t>Total</a:t>
                      </a:r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1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1" u="none" strike="noStrike" dirty="0">
                          <a:effectLst/>
                          <a:latin typeface="+mj-lt"/>
                        </a:rPr>
                        <a:t>2 834 783 179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1" u="none" strike="noStrike" dirty="0">
                          <a:effectLst/>
                          <a:latin typeface="+mj-lt"/>
                        </a:rPr>
                        <a:t>1 758 257 053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1" u="none" strike="noStrike" dirty="0">
                          <a:effectLst/>
                          <a:latin typeface="+mj-lt"/>
                        </a:rPr>
                        <a:t>1 076 526 126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1" u="none" strike="noStrike" dirty="0">
                          <a:effectLst/>
                          <a:latin typeface="+mj-lt"/>
                        </a:rPr>
                        <a:t>22 536 596 641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1" u="none" strike="noStrike" dirty="0">
                          <a:effectLst/>
                          <a:latin typeface="+mj-lt"/>
                        </a:rPr>
                        <a:t>22 478 887 287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1" u="none" strike="noStrike" dirty="0">
                          <a:effectLst/>
                          <a:latin typeface="+mj-lt"/>
                        </a:rPr>
                        <a:t>57 709 354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563848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1355479"/>
                  </a:ext>
                </a:extLst>
              </a:tr>
              <a:tr h="180000">
                <a:tc gridSpan="4">
                  <a:txBody>
                    <a:bodyPr/>
                    <a:lstStyle/>
                    <a:p>
                      <a:pPr algn="ctr" fontAlgn="b"/>
                      <a:r>
                        <a:rPr lang="pt-PT" sz="1000" b="1" u="none" strike="noStrike" dirty="0">
                          <a:effectLst/>
                          <a:latin typeface="+mj-lt"/>
                        </a:rPr>
                        <a:t>Impacto Global</a:t>
                      </a:r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1" u="none" strike="noStrike" dirty="0">
                          <a:effectLst/>
                          <a:latin typeface="+mj-lt"/>
                        </a:rPr>
                        <a:t>14 731 255 457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1" u="none" strike="noStrike" dirty="0">
                          <a:effectLst/>
                          <a:latin typeface="+mj-lt"/>
                        </a:rPr>
                        <a:t>10 734 520 473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1" u="none" strike="noStrike" dirty="0">
                          <a:effectLst/>
                          <a:latin typeface="+mj-lt"/>
                        </a:rPr>
                        <a:t>3 996 734 984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1" u="none" strike="noStrike" dirty="0">
                          <a:effectLst/>
                          <a:latin typeface="+mj-lt"/>
                        </a:rPr>
                        <a:t>56 719 865 061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1" u="none" strike="noStrike" dirty="0">
                          <a:effectLst/>
                          <a:latin typeface="+mj-lt"/>
                        </a:rPr>
                        <a:t>56 601 740 527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1" u="none" strike="noStrike" dirty="0">
                          <a:effectLst/>
                          <a:latin typeface="+mj-lt"/>
                        </a:rPr>
                        <a:t>118 124 534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54840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00949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BR" sz="2000" dirty="0"/>
              <a:t>1. Plano e status do projeto</a:t>
            </a:r>
            <a:endParaRPr lang="es-ES" sz="2000" dirty="0"/>
          </a:p>
          <a:p>
            <a:endParaRPr lang="es-ES" sz="2000" dirty="0"/>
          </a:p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10</a:t>
            </a:fld>
            <a:endParaRPr lang="es-ES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 dirty="0">
                <a:solidFill>
                  <a:schemeClr val="bg1"/>
                </a:solidFill>
              </a:rPr>
              <a:t>1.3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dirty="0">
                <a:solidFill>
                  <a:schemeClr val="tx1"/>
                </a:solidFill>
              </a:rPr>
              <a:t>Quadro Resumo de Controlos e Resultados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22243" y="1637202"/>
            <a:ext cx="1957457" cy="163005"/>
          </a:xfrm>
          <a:prstGeom prst="round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100" dirty="0"/>
              <a:t>Imparidade</a:t>
            </a:r>
            <a:endParaRPr lang="en-US" sz="1100" dirty="0"/>
          </a:p>
        </p:txBody>
      </p:sp>
      <p:sp>
        <p:nvSpPr>
          <p:cNvPr id="12" name="TextBox 11"/>
          <p:cNvSpPr txBox="1"/>
          <p:nvPr/>
        </p:nvSpPr>
        <p:spPr>
          <a:xfrm>
            <a:off x="722243" y="1876930"/>
            <a:ext cx="9598916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pt-PT" sz="1000" dirty="0"/>
              <a:t>Total de contratos com diferenças de provisão: </a:t>
            </a:r>
            <a:r>
              <a:rPr lang="pt-PT" sz="1000" b="1" dirty="0"/>
              <a:t>3.494</a:t>
            </a:r>
            <a:r>
              <a:rPr lang="pt-PT" sz="1000" baseline="30000" dirty="0"/>
              <a:t>1</a:t>
            </a:r>
            <a:r>
              <a:rPr lang="pt-PT" sz="1000" b="1" dirty="0"/>
              <a:t>;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pt-PT" sz="1000" dirty="0"/>
              <a:t>Total de garantias duplicadas: </a:t>
            </a:r>
            <a:r>
              <a:rPr lang="pt-PT" sz="1000" b="1" dirty="0"/>
              <a:t>0;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pt-PT" sz="1000" dirty="0"/>
              <a:t>Aumento na provisão apurada a 31 de Dezembro de 2022: </a:t>
            </a:r>
            <a:r>
              <a:rPr lang="pt-PT" sz="1000" b="1" dirty="0"/>
              <a:t>+651k€</a:t>
            </a:r>
            <a:endParaRPr lang="pt-PT" sz="1000" dirty="0"/>
          </a:p>
        </p:txBody>
      </p:sp>
      <p:sp>
        <p:nvSpPr>
          <p:cNvPr id="11" name="TextBox 10"/>
          <p:cNvSpPr txBox="1"/>
          <p:nvPr/>
        </p:nvSpPr>
        <p:spPr>
          <a:xfrm>
            <a:off x="722243" y="3418031"/>
            <a:ext cx="8511177" cy="559064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pt-PT" sz="900" dirty="0"/>
              <a:t>Outros temas identificados :</a:t>
            </a:r>
          </a:p>
          <a:p>
            <a:pPr marL="171450" indent="-1714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PT" sz="900" dirty="0"/>
              <a:t>Operações de Leasing com temas de qualidade de informação nos campos de identificador de garantia e tipologia de garantia;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722243" y="5999625"/>
            <a:ext cx="800860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800" baseline="30000" dirty="0"/>
              <a:t>1</a:t>
            </a:r>
            <a:r>
              <a:rPr lang="pt-PT" sz="800" dirty="0"/>
              <a:t> Valor considera todos os contratos com diferenças de provisão, </a:t>
            </a:r>
            <a:r>
              <a:rPr lang="pt-PT" sz="800"/>
              <a:t>cujo total das </a:t>
            </a:r>
            <a:r>
              <a:rPr lang="pt-PT" sz="800" dirty="0"/>
              <a:t>diferenças podem não estar todas relacionadas com o </a:t>
            </a:r>
            <a:r>
              <a:rPr lang="pt-PT" sz="800" i="1" dirty="0" err="1"/>
              <a:t>go</a:t>
            </a:r>
            <a:r>
              <a:rPr lang="pt-PT" sz="800" i="1" dirty="0"/>
              <a:t> live</a:t>
            </a:r>
            <a:r>
              <a:rPr lang="pt-PT" sz="800" dirty="0"/>
              <a:t> do modelo de garantias. 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269730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BR" sz="2000" dirty="0"/>
              <a:t>1. Plano e status do projeto</a:t>
            </a:r>
            <a:endParaRPr lang="es-ES" sz="2000" dirty="0"/>
          </a:p>
          <a:p>
            <a:endParaRPr lang="es-ES" sz="2000" dirty="0"/>
          </a:p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11</a:t>
            </a:fld>
            <a:endParaRPr lang="es-ES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 dirty="0">
                <a:solidFill>
                  <a:schemeClr val="bg1"/>
                </a:solidFill>
              </a:rPr>
              <a:t>1.4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dirty="0">
                <a:solidFill>
                  <a:schemeClr val="tx1"/>
                </a:solidFill>
              </a:rPr>
              <a:t>Módulo de Controlos Garantias – Dezembro 2022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200FFCA-F1CF-419D-B201-55015DE975D0}"/>
              </a:ext>
            </a:extLst>
          </p:cNvPr>
          <p:cNvSpPr txBox="1"/>
          <p:nvPr/>
        </p:nvSpPr>
        <p:spPr>
          <a:xfrm>
            <a:off x="849870" y="6222363"/>
            <a:ext cx="8814222" cy="631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800" b="1" baseline="30000" dirty="0">
                <a:latin typeface="Santander Text" panose="020B0504020201020104" pitchFamily="34" charset="0"/>
              </a:rPr>
              <a:t>1  </a:t>
            </a:r>
            <a:r>
              <a:rPr lang="pt-PT" sz="800" dirty="0">
                <a:latin typeface="Santander Text" panose="020B0504020201020104" pitchFamily="34" charset="0"/>
              </a:rPr>
              <a:t>O universo dos controlos tem como base o universo do novo Modelo único de Garantias, mesmo quando a informação relativa a determinado atributo não se encontra no Modelo.</a:t>
            </a:r>
          </a:p>
          <a:p>
            <a:endParaRPr lang="pt-PT" sz="800" dirty="0">
              <a:latin typeface="Santander Text" panose="020B0504020201020104" pitchFamily="34" charset="0"/>
            </a:endParaRPr>
          </a:p>
          <a:p>
            <a:endParaRPr lang="pt-PT" sz="800" dirty="0">
              <a:latin typeface="Santander Text" panose="020B0504020201020104" pitchFamily="34" charset="0"/>
            </a:endParaRPr>
          </a:p>
          <a:p>
            <a:endParaRPr lang="pt-PT" sz="11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26AC62E-4EFC-4A96-8B1F-E2B5046500E5}"/>
              </a:ext>
            </a:extLst>
          </p:cNvPr>
          <p:cNvSpPr/>
          <p:nvPr/>
        </p:nvSpPr>
        <p:spPr>
          <a:xfrm>
            <a:off x="10886848" y="3787539"/>
            <a:ext cx="681392" cy="2342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PT" sz="800" b="1" dirty="0">
                <a:solidFill>
                  <a:schemeClr val="bg1"/>
                </a:solidFill>
                <a:latin typeface="Santander Text" panose="020B0504020201020104" pitchFamily="34" charset="0"/>
              </a:rPr>
              <a:t>8 (5%) 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2599055"/>
              </p:ext>
            </p:extLst>
          </p:nvPr>
        </p:nvGraphicFramePr>
        <p:xfrm>
          <a:off x="732962" y="2083823"/>
          <a:ext cx="3374743" cy="1999059"/>
        </p:xfrm>
        <a:graphic>
          <a:graphicData uri="http://schemas.openxmlformats.org/drawingml/2006/table">
            <a:tbl>
              <a:tblPr/>
              <a:tblGrid>
                <a:gridCol w="11139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04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04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0464">
                <a:tc>
                  <a:txBody>
                    <a:bodyPr/>
                    <a:lstStyle/>
                    <a:p>
                      <a:pPr algn="l" fontAlgn="b"/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1200" b="0" i="0" u="none" strike="noStrike" kern="1200" dirty="0" err="1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Dezembro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5811">
                <a:tc>
                  <a:txBody>
                    <a:bodyPr/>
                    <a:lstStyle/>
                    <a:p>
                      <a:pPr algn="ctr" fontAlgn="b"/>
                      <a:r>
                        <a:rPr lang="pt-PT" sz="1200" b="0" i="0" u="none" strike="noStrike" noProof="0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Resultado do Controlo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200" b="0" i="0" u="none" strike="noStrike" noProof="0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Num Controlos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% </a:t>
                      </a:r>
                      <a:r>
                        <a:rPr lang="pt-PT" sz="1200" b="0" i="0" u="none" strike="noStrike" noProof="0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Controlos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46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Santander Text" panose="020B0504020201020104" pitchFamily="34" charset="0"/>
                        </a:rPr>
                        <a:t>VERMELHO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011" rtl="0" eaLnBrk="1" fontAlgn="b" latinLnBrk="0" hangingPunct="1"/>
                      <a:r>
                        <a:rPr lang="pt-PT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4%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046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ED7D31"/>
                          </a:solidFill>
                          <a:effectLst/>
                          <a:latin typeface="Santander Text" panose="020B0504020201020104" pitchFamily="34" charset="0"/>
                        </a:rPr>
                        <a:t>LARANJA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011" rtl="0" eaLnBrk="1" fontAlgn="b" latinLnBrk="0" hangingPunct="1"/>
                      <a:r>
                        <a:rPr lang="pt-PT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3%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046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FFC000"/>
                          </a:solidFill>
                          <a:effectLst/>
                          <a:latin typeface="Santander Text" panose="020B0504020201020104" pitchFamily="34" charset="0"/>
                        </a:rPr>
                        <a:t>AMARELO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011" rtl="0" eaLnBrk="1" fontAlgn="b" latinLnBrk="0" hangingPunct="1"/>
                      <a:r>
                        <a:rPr lang="pt-PT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4%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046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70AD47"/>
                          </a:solidFill>
                          <a:effectLst/>
                          <a:latin typeface="Santander Text" panose="020B0504020201020104" pitchFamily="34" charset="0"/>
                        </a:rPr>
                        <a:t>OK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68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011" rtl="0" eaLnBrk="1" fontAlgn="b" latinLnBrk="0" hangingPunct="1"/>
                      <a:r>
                        <a:rPr lang="pt-PT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89%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046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808080"/>
                          </a:solidFill>
                          <a:effectLst/>
                          <a:latin typeface="Santander Text" panose="020B0504020201020104" pitchFamily="34" charset="0"/>
                        </a:rPr>
                        <a:t>SEM DADOS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011" rtl="0" eaLnBrk="1" fontAlgn="b" latinLnBrk="0" hangingPunct="1"/>
                      <a:r>
                        <a:rPr lang="pt-PT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0%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046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TOTAL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76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011" rtl="0" eaLnBrk="1" fontAlgn="b" latinLnBrk="0" hangingPunct="1"/>
                      <a:r>
                        <a:rPr lang="pt-PT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100%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29B6B899-6ACA-41AB-914A-76573652C8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800267"/>
              </p:ext>
            </p:extLst>
          </p:nvPr>
        </p:nvGraphicFramePr>
        <p:xfrm>
          <a:off x="742487" y="4563014"/>
          <a:ext cx="10608249" cy="1398708"/>
        </p:xfrm>
        <a:graphic>
          <a:graphicData uri="http://schemas.openxmlformats.org/drawingml/2006/table">
            <a:tbl>
              <a:tblPr/>
              <a:tblGrid>
                <a:gridCol w="4331393">
                  <a:extLst>
                    <a:ext uri="{9D8B030D-6E8A-4147-A177-3AD203B41FA5}">
                      <a16:colId xmlns:a16="http://schemas.microsoft.com/office/drawing/2014/main" val="3404390578"/>
                    </a:ext>
                  </a:extLst>
                </a:gridCol>
                <a:gridCol w="834680">
                  <a:extLst>
                    <a:ext uri="{9D8B030D-6E8A-4147-A177-3AD203B41FA5}">
                      <a16:colId xmlns:a16="http://schemas.microsoft.com/office/drawing/2014/main" val="1914649429"/>
                    </a:ext>
                  </a:extLst>
                </a:gridCol>
                <a:gridCol w="1073160">
                  <a:extLst>
                    <a:ext uri="{9D8B030D-6E8A-4147-A177-3AD203B41FA5}">
                      <a16:colId xmlns:a16="http://schemas.microsoft.com/office/drawing/2014/main" val="2263703599"/>
                    </a:ext>
                  </a:extLst>
                </a:gridCol>
                <a:gridCol w="2648831">
                  <a:extLst>
                    <a:ext uri="{9D8B030D-6E8A-4147-A177-3AD203B41FA5}">
                      <a16:colId xmlns:a16="http://schemas.microsoft.com/office/drawing/2014/main" val="1099477314"/>
                    </a:ext>
                  </a:extLst>
                </a:gridCol>
                <a:gridCol w="757221">
                  <a:extLst>
                    <a:ext uri="{9D8B030D-6E8A-4147-A177-3AD203B41FA5}">
                      <a16:colId xmlns:a16="http://schemas.microsoft.com/office/drawing/2014/main" val="877178562"/>
                    </a:ext>
                  </a:extLst>
                </a:gridCol>
                <a:gridCol w="962964">
                  <a:extLst>
                    <a:ext uri="{9D8B030D-6E8A-4147-A177-3AD203B41FA5}">
                      <a16:colId xmlns:a16="http://schemas.microsoft.com/office/drawing/2014/main" val="659895237"/>
                    </a:ext>
                  </a:extLst>
                </a:gridCol>
              </a:tblGrid>
              <a:tr h="426664">
                <a:tc>
                  <a:txBody>
                    <a:bodyPr/>
                    <a:lstStyle/>
                    <a:p>
                      <a:pPr marL="0" algn="ctr" defTabSz="914011" rtl="0" eaLnBrk="1" fontAlgn="ctr" latinLnBrk="0" hangingPunct="1"/>
                      <a:r>
                        <a:rPr lang="pt-PT" sz="1100" b="1" kern="1200" dirty="0">
                          <a:solidFill>
                            <a:schemeClr val="bg1"/>
                          </a:solidFill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Descrição</a:t>
                      </a:r>
                    </a:p>
                  </a:txBody>
                  <a:tcPr marL="9524" marR="9524" marT="95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01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100" b="1" dirty="0">
                          <a:solidFill>
                            <a:schemeClr val="bg1"/>
                          </a:solidFill>
                          <a:latin typeface="Santander Text" panose="020B0504020201020104" pitchFamily="34" charset="0"/>
                        </a:rPr>
                        <a:t>Data Início</a:t>
                      </a:r>
                    </a:p>
                  </a:txBody>
                  <a:tcPr marL="91428" marR="91428" marT="45714" marB="45714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100" b="1" dirty="0">
                          <a:solidFill>
                            <a:schemeClr val="bg1"/>
                          </a:solidFill>
                          <a:latin typeface="Santander Text" panose="020B0504020201020104" pitchFamily="34" charset="0"/>
                        </a:rPr>
                        <a:t>Nº de Incidências</a:t>
                      </a:r>
                    </a:p>
                  </a:txBody>
                  <a:tcPr marL="91428" marR="91428" marT="45714" marB="45714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100" b="1" dirty="0">
                          <a:solidFill>
                            <a:schemeClr val="bg1"/>
                          </a:solidFill>
                          <a:latin typeface="Santander Text" panose="020B0504020201020104" pitchFamily="34" charset="0"/>
                        </a:rPr>
                        <a:t>Plano de Remediação</a:t>
                      </a:r>
                    </a:p>
                  </a:txBody>
                  <a:tcPr marL="91428" marR="91428" marT="45714" marB="45714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Headline" panose="020B0504020201020104" pitchFamily="34" charset="0"/>
                        </a:rPr>
                        <a:t>Data Fim</a:t>
                      </a:r>
                      <a:br>
                        <a:rPr lang="pt-PT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Headline" panose="020B0504020201020104" pitchFamily="34" charset="0"/>
                        </a:rPr>
                      </a:br>
                      <a:r>
                        <a:rPr lang="pt-PT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Headline" panose="020B0504020201020104" pitchFamily="34" charset="0"/>
                        </a:rPr>
                        <a:t>(previsão)</a:t>
                      </a:r>
                    </a:p>
                  </a:txBody>
                  <a:tcPr marL="9524" marR="9524" marT="95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100" b="1" dirty="0">
                          <a:solidFill>
                            <a:schemeClr val="bg1"/>
                          </a:solidFill>
                          <a:latin typeface="Santander Text" panose="020B0504020201020104" pitchFamily="34" charset="0"/>
                        </a:rPr>
                        <a:t>Responsável</a:t>
                      </a:r>
                    </a:p>
                  </a:txBody>
                  <a:tcPr marL="91428" marR="91428" marT="45714" marB="45714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980829"/>
                  </a:ext>
                </a:extLst>
              </a:tr>
              <a:tr h="194400">
                <a:tc>
                  <a:txBody>
                    <a:bodyPr/>
                    <a:lstStyle/>
                    <a:p>
                      <a:pPr algn="l" rtl="0" fontAlgn="ctr"/>
                      <a:r>
                        <a:rPr lang="pt-PT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Wingdings" panose="05000000000000000000" pitchFamily="2" charset="2"/>
                        </a:rPr>
                        <a:t>l</a:t>
                      </a:r>
                      <a:r>
                        <a:rPr lang="pt-PT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Santander Text" panose="020B0504020201020104" pitchFamily="34" charset="0"/>
                        </a:rPr>
                        <a:t>     </a:t>
                      </a:r>
                      <a:r>
                        <a:rPr lang="pt-PT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Garantias</a:t>
                      </a:r>
                      <a:r>
                        <a:rPr lang="pt-PT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 imobiliárias com código postal do imóvel com formato incorreto </a:t>
                      </a:r>
                      <a:endParaRPr lang="pt-PT" sz="900" b="0" i="0" u="none" strike="noStrike" dirty="0">
                        <a:solidFill>
                          <a:srgbClr val="FF0000"/>
                        </a:solidFill>
                        <a:effectLst/>
                        <a:latin typeface="Wingdings" panose="05000000000000000000" pitchFamily="2" charset="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Nov</a:t>
                      </a:r>
                      <a:r>
                        <a:rPr kumimoji="0" lang="pt-PT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/22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/>
                      <a:r>
                        <a:rPr lang="pt-PT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1494 (0,52%)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Em</a:t>
                      </a:r>
                      <a:r>
                        <a:rPr lang="pt-PT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análise por CDO 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TBD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CDO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4573088"/>
                  </a:ext>
                </a:extLst>
              </a:tr>
              <a:tr h="194400">
                <a:tc>
                  <a:txBody>
                    <a:bodyPr/>
                    <a:lstStyle/>
                    <a:p>
                      <a:pPr algn="l" rtl="0" fontAlgn="ctr"/>
                      <a:r>
                        <a:rPr lang="pt-PT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Wingdings" panose="05000000000000000000" pitchFamily="2" charset="2"/>
                        </a:rPr>
                        <a:t>l</a:t>
                      </a:r>
                      <a:r>
                        <a:rPr lang="pt-PT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Santander Text" panose="020B0504020201020104" pitchFamily="34" charset="0"/>
                        </a:rPr>
                        <a:t>     </a:t>
                      </a:r>
                      <a:r>
                        <a:rPr lang="pt-PT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Garantias</a:t>
                      </a:r>
                      <a:r>
                        <a:rPr lang="pt-PT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 pessoais com percentagem de cobertura com formato incorreto (igual a 0) </a:t>
                      </a:r>
                      <a:endParaRPr lang="pt-PT" sz="900" b="0" i="0" u="none" strike="noStrike" dirty="0">
                        <a:solidFill>
                          <a:srgbClr val="FF0000"/>
                        </a:solidFill>
                        <a:effectLst/>
                        <a:latin typeface="Wingdings" panose="05000000000000000000" pitchFamily="2" charset="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Nov/22</a:t>
                      </a:r>
                      <a:endParaRPr kumimoji="0" lang="pt-PT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5951 (1,47%)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Em análise por CDO e Operações</a:t>
                      </a:r>
                      <a:r>
                        <a:rPr lang="pt-PT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Serviço de Crédito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TBD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CDO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3938399"/>
                  </a:ext>
                </a:extLst>
              </a:tr>
              <a:tr h="194400">
                <a:tc>
                  <a:txBody>
                    <a:bodyPr/>
                    <a:lstStyle/>
                    <a:p>
                      <a:pPr algn="l" rtl="0" fontAlgn="ctr"/>
                      <a:r>
                        <a:rPr lang="pt-PT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Wingdings" panose="05000000000000000000" pitchFamily="2" charset="2"/>
                        </a:rPr>
                        <a:t>l </a:t>
                      </a:r>
                      <a:r>
                        <a:rPr lang="pt-PT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Títulos</a:t>
                      </a:r>
                      <a:r>
                        <a:rPr lang="pt-PT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 com código do depositário de títulos com valores fora do catálogo </a:t>
                      </a:r>
                      <a:endParaRPr lang="pt-PT" sz="900" b="0" i="0" u="none" strike="noStrike" dirty="0">
                        <a:solidFill>
                          <a:srgbClr val="FF0000"/>
                        </a:solidFill>
                        <a:effectLst/>
                        <a:latin typeface="Wingdings" panose="05000000000000000000" pitchFamily="2" charset="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Nov</a:t>
                      </a:r>
                      <a:r>
                        <a:rPr kumimoji="0" lang="pt-PT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/22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(1,19%)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Em</a:t>
                      </a:r>
                      <a:r>
                        <a:rPr lang="pt-PT" sz="900" b="0" i="0" u="none" strike="noStrike" baseline="0" noProof="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análise por CDO</a:t>
                      </a:r>
                      <a:endParaRPr lang="pt-PT" sz="900" b="0" i="0" u="none" strike="noStrike" noProof="0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01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TBD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01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CDO</a:t>
                      </a:r>
                      <a:endParaRPr kumimoji="0" lang="pt-PT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0524967"/>
                  </a:ext>
                </a:extLst>
              </a:tr>
              <a:tr h="194400">
                <a:tc>
                  <a:txBody>
                    <a:bodyPr/>
                    <a:lstStyle/>
                    <a:p>
                      <a:pPr marL="0" marR="0" lvl="0" indent="0" algn="l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>
                          <a:solidFill>
                            <a:srgbClr val="FFC000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</a:t>
                      </a:r>
                      <a:r>
                        <a:rPr lang="pt-PT" sz="900" b="0" i="0" u="none" strike="noStrike">
                          <a:solidFill>
                            <a:srgbClr val="FF0000"/>
                          </a:solidFill>
                          <a:effectLst/>
                          <a:latin typeface="Wingdings" panose="05000000000000000000" pitchFamily="2" charset="2"/>
                        </a:rPr>
                        <a:t> </a:t>
                      </a:r>
                      <a:r>
                        <a:rPr lang="pt-PT" sz="900" b="0" i="0" u="none" strike="noStrike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# DPs</a:t>
                      </a:r>
                      <a:r>
                        <a:rPr lang="pt-PT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 </a:t>
                      </a:r>
                      <a:r>
                        <a:rPr lang="pt-PT" sz="900" b="0" i="0" u="none" strike="noStrike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cativos sem saldo disponível ou que não cobre a o montante cativo de garantia </a:t>
                      </a:r>
                      <a:endParaRPr lang="pt-PT" sz="900" b="0" i="0" u="none" strike="noStrike" dirty="0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Nov</a:t>
                      </a:r>
                      <a:r>
                        <a:rPr kumimoji="0" lang="pt-PT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/22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52 </a:t>
                      </a:r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(2,01%)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Em análise por CDO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01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TBD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01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CDO</a:t>
                      </a:r>
                      <a:endParaRPr kumimoji="0" lang="pt-PT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40976"/>
                  </a:ext>
                </a:extLst>
              </a:tr>
              <a:tr h="194400">
                <a:tc>
                  <a:txBody>
                    <a:bodyPr/>
                    <a:lstStyle/>
                    <a:p>
                      <a:pPr marL="0" marR="0" lvl="0" indent="0" algn="l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dirty="0">
                          <a:solidFill>
                            <a:srgbClr val="FFC000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 </a:t>
                      </a:r>
                      <a:r>
                        <a:rPr lang="pt-PT" sz="900" b="0" i="0" u="none" strike="noStrike" baseline="0" dirty="0">
                          <a:solidFill>
                            <a:srgbClr val="FFC000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    </a:t>
                      </a:r>
                      <a:r>
                        <a:rPr lang="pt-PT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Garantias cuja moeda é diferente de euro e que não foram </a:t>
                      </a:r>
                      <a:r>
                        <a:rPr lang="pt-PT" sz="900" b="0" i="0" u="none" strike="noStrike" baseline="0" dirty="0" err="1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contravaloradas</a:t>
                      </a:r>
                      <a:r>
                        <a:rPr lang="pt-PT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 </a:t>
                      </a:r>
                      <a:endParaRPr lang="pt-PT" sz="900" b="0" i="0" u="none" strike="noStrike" noProof="0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Nov</a:t>
                      </a:r>
                      <a:r>
                        <a:rPr kumimoji="0" lang="pt-PT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/22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11</a:t>
                      </a:r>
                      <a:r>
                        <a:rPr 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(3,42%)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Em</a:t>
                      </a:r>
                      <a:r>
                        <a:rPr lang="pt-PT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análise por CDO e equipa do projeto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TBD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CDO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1010054"/>
                  </a:ext>
                </a:extLst>
              </a:tr>
            </a:tbl>
          </a:graphicData>
        </a:graphic>
      </p:graphicFrame>
      <p:graphicFrame>
        <p:nvGraphicFramePr>
          <p:cNvPr id="17" name="Chart 16">
            <a:extLst>
              <a:ext uri="{FF2B5EF4-FFF2-40B4-BE49-F238E27FC236}">
                <a16:creationId xmlns:a16="http://schemas.microsoft.com/office/drawing/2014/main" id="{94AC1FE0-D361-443B-ABF4-50B691DDE09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33353225"/>
              </p:ext>
            </p:extLst>
          </p:nvPr>
        </p:nvGraphicFramePr>
        <p:xfrm>
          <a:off x="4353701" y="2085434"/>
          <a:ext cx="7103750" cy="23787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2" name="Rounded Rectangle 36">
            <a:extLst>
              <a:ext uri="{FF2B5EF4-FFF2-40B4-BE49-F238E27FC236}">
                <a16:creationId xmlns:a16="http://schemas.microsoft.com/office/drawing/2014/main" id="{5D600705-A4E0-4A2F-A381-D4482B0082EC}"/>
              </a:ext>
            </a:extLst>
          </p:cNvPr>
          <p:cNvSpPr/>
          <p:nvPr/>
        </p:nvSpPr>
        <p:spPr>
          <a:xfrm>
            <a:off x="4368424" y="2083067"/>
            <a:ext cx="6972787" cy="234284"/>
          </a:xfrm>
          <a:prstGeom prst="round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28" tIns="45714" rIns="91428" bIns="4571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PT" sz="1400" dirty="0">
                <a:solidFill>
                  <a:prstClr val="white"/>
                </a:solidFill>
                <a:latin typeface="Santander Text" panose="020B0504020201020104" pitchFamily="34" charset="0"/>
              </a:rPr>
              <a:t>Evolução Temporal</a:t>
            </a:r>
            <a:endParaRPr lang="en-US" sz="1400" dirty="0">
              <a:solidFill>
                <a:prstClr val="white"/>
              </a:solidFill>
              <a:latin typeface="Santander Text" panose="020B0504020201020104" pitchFamily="34" charset="0"/>
            </a:endParaRPr>
          </a:p>
        </p:txBody>
      </p:sp>
      <p:graphicFrame>
        <p:nvGraphicFramePr>
          <p:cNvPr id="23" name="Object 22">
            <a:extLst>
              <a:ext uri="{FF2B5EF4-FFF2-40B4-BE49-F238E27FC236}">
                <a16:creationId xmlns:a16="http://schemas.microsoft.com/office/drawing/2014/main" id="{644C12CA-C815-405D-A669-1C04E68F012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3539107"/>
              </p:ext>
            </p:extLst>
          </p:nvPr>
        </p:nvGraphicFramePr>
        <p:xfrm>
          <a:off x="10658645" y="1584088"/>
          <a:ext cx="479425" cy="1011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showAsIcon="1" r:id="rId3" imgW="380753" imgH="806311" progId="Excel.Sheet.12">
                  <p:embed/>
                </p:oleObj>
              </mc:Choice>
              <mc:Fallback>
                <p:oleObj name="Worksheet" showAsIcon="1" r:id="rId3" imgW="380753" imgH="806311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658645" y="1584088"/>
                        <a:ext cx="479425" cy="10112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07518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3E78DA-069E-4823-8E49-CBFF8D792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Próximos </a:t>
            </a:r>
            <a:r>
              <a:rPr lang="es-ES" dirty="0" err="1"/>
              <a:t>Passos</a:t>
            </a:r>
            <a:endParaRPr lang="es-ES" i="1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6DCEE02-D34D-4F11-9432-3B5DE7C3D5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dirty="0"/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757026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sz="2000" dirty="0"/>
              <a:t>2. Próximos </a:t>
            </a:r>
            <a:r>
              <a:rPr lang="es-ES" sz="2000" dirty="0" err="1"/>
              <a:t>Passos</a:t>
            </a:r>
            <a:endParaRPr lang="es-ES" sz="2000" dirty="0"/>
          </a:p>
          <a:p>
            <a:endParaRPr lang="es-ES" sz="2000" dirty="0"/>
          </a:p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13</a:t>
            </a:fld>
            <a:endParaRPr lang="es-E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C86AB67-257B-4A72-BCFC-E86455F3F0AC}"/>
              </a:ext>
            </a:extLst>
          </p:cNvPr>
          <p:cNvSpPr txBox="1"/>
          <p:nvPr/>
        </p:nvSpPr>
        <p:spPr>
          <a:xfrm>
            <a:off x="547532" y="792666"/>
            <a:ext cx="10758734" cy="24776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pt-PT" dirty="0"/>
              <a:t>Análise e especificação das necessidades de envio de informação para a BDR</a:t>
            </a:r>
            <a:r>
              <a:rPr lang="pt-PT" b="1" dirty="0"/>
              <a:t>;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pt-PT" dirty="0"/>
              <a:t>Implementação de novos requisitos/melhorias identificadas no processo;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pt-BR" dirty="0"/>
              <a:t>Calenderização do re-apontar a CRC e porfolios de securitização para o novo modelo de garantias;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pt-BR" dirty="0"/>
              <a:t>Contínuo acompanhamento das diferenças entre o modelo único e o processo antigo;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pt-BR" dirty="0"/>
              <a:t>Implementação de controlos de Qualidade de Dados.</a:t>
            </a:r>
            <a:endParaRPr lang="pt-PT" b="1" dirty="0"/>
          </a:p>
        </p:txBody>
      </p:sp>
    </p:spTree>
    <p:extLst>
      <p:ext uri="{BB962C8B-B14F-4D97-AF65-F5344CB8AC3E}">
        <p14:creationId xmlns:p14="http://schemas.microsoft.com/office/powerpoint/2010/main" val="3371953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3E78DA-069E-4823-8E49-CBFF8D792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Anexos</a:t>
            </a:r>
            <a:endParaRPr lang="es-ES" i="1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6DCEE02-D34D-4F11-9432-3B5DE7C3D5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dirty="0"/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2537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BR" sz="2000" dirty="0"/>
              <a:t>3. Anexos - Plano e status do projeto</a:t>
            </a:r>
            <a:endParaRPr lang="es-ES" sz="2000" dirty="0"/>
          </a:p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15</a:t>
            </a:fld>
            <a:endParaRPr lang="es-ES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 dirty="0">
                <a:solidFill>
                  <a:schemeClr val="bg1"/>
                </a:solidFill>
              </a:rPr>
              <a:t>3.1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dirty="0">
                <a:solidFill>
                  <a:schemeClr val="tx1"/>
                </a:solidFill>
              </a:rPr>
              <a:t>Plano (1/2)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11028" y="3723049"/>
            <a:ext cx="9947617" cy="26776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PT" sz="1600" dirty="0"/>
              <a:t>O </a:t>
            </a:r>
            <a:r>
              <a:rPr lang="pt-PT" sz="1600" i="1" dirty="0" err="1"/>
              <a:t>Go</a:t>
            </a:r>
            <a:r>
              <a:rPr lang="pt-PT" sz="1600" i="1" dirty="0"/>
              <a:t> Live</a:t>
            </a:r>
            <a:r>
              <a:rPr lang="pt-PT" sz="1600" dirty="0"/>
              <a:t> será realizado no inicio de Janeiro 2023 sobre o rácio de Dezembro de 2022, apenas para a área de Imparidade;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PT" sz="1600" dirty="0"/>
              <a:t>Apesar da alteração na BDR, isto não terá qualquer impacto quer nos seus processos ou de IT das áreas da Contabilidade e ALM que são consumidoras desta informação;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PT" sz="1600" dirty="0"/>
              <a:t>As equipas de Imparidade, Capital, Contabilidade e ALM terão que testar as suas partes, para assegurar o correto funcionamento e impactos das alterações realizadas;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PT" sz="1600" dirty="0"/>
              <a:t>A CRC não será alterada no ano de 2022.</a:t>
            </a:r>
            <a:endParaRPr lang="en-US" sz="1600" dirty="0"/>
          </a:p>
        </p:txBody>
      </p:sp>
      <p:sp>
        <p:nvSpPr>
          <p:cNvPr id="99" name="Rounded Rectangle 98"/>
          <p:cNvSpPr/>
          <p:nvPr/>
        </p:nvSpPr>
        <p:spPr>
          <a:xfrm>
            <a:off x="711028" y="3558056"/>
            <a:ext cx="2160000" cy="288000"/>
          </a:xfrm>
          <a:prstGeom prst="round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600" dirty="0"/>
              <a:t>Notas/Pressupostos</a:t>
            </a:r>
            <a:endParaRPr lang="en-US" sz="16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3874" y="1786689"/>
            <a:ext cx="4604771" cy="1485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12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BR" sz="2000" dirty="0"/>
              <a:t>3. Anexos - Plano e status do projeto</a:t>
            </a:r>
            <a:endParaRPr lang="es-ES" sz="2000" dirty="0"/>
          </a:p>
          <a:p>
            <a:endParaRPr lang="es-ES" sz="2000" dirty="0"/>
          </a:p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16</a:t>
            </a:fld>
            <a:endParaRPr lang="es-ES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 dirty="0">
                <a:solidFill>
                  <a:schemeClr val="bg1"/>
                </a:solidFill>
              </a:rPr>
              <a:t>3.2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dirty="0">
                <a:solidFill>
                  <a:schemeClr val="tx1"/>
                </a:solidFill>
              </a:rPr>
              <a:t>Plano de Correções - pós rácio de Novembro</a:t>
            </a:r>
            <a:endParaRPr lang="en-US" sz="1000" b="1" dirty="0">
              <a:solidFill>
                <a:schemeClr val="tx1"/>
              </a:solidFill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0247B87-3ACD-4942-89CE-E986034A17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9208399"/>
              </p:ext>
            </p:extLst>
          </p:nvPr>
        </p:nvGraphicFramePr>
        <p:xfrm>
          <a:off x="1561993" y="1945535"/>
          <a:ext cx="7580151" cy="4187367"/>
        </p:xfrm>
        <a:graphic>
          <a:graphicData uri="http://schemas.openxmlformats.org/drawingml/2006/table">
            <a:tbl>
              <a:tblPr/>
              <a:tblGrid>
                <a:gridCol w="7580151">
                  <a:extLst>
                    <a:ext uri="{9D8B030D-6E8A-4147-A177-3AD203B41FA5}">
                      <a16:colId xmlns:a16="http://schemas.microsoft.com/office/drawing/2014/main" val="3344114568"/>
                    </a:ext>
                  </a:extLst>
                </a:gridCol>
              </a:tblGrid>
              <a:tr h="208521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Tarefa</a:t>
                      </a:r>
                    </a:p>
                  </a:txBody>
                  <a:tcPr marL="5948" marR="5948" marT="594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9279611"/>
                  </a:ext>
                </a:extLst>
              </a:tr>
              <a:tr h="442094">
                <a:tc>
                  <a:txBody>
                    <a:bodyPr/>
                    <a:lstStyle/>
                    <a:p>
                      <a:pPr algn="l" fontAlgn="ctr"/>
                      <a:r>
                        <a:rPr lang="pt-PT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Criação de campos adicionais (</a:t>
                      </a:r>
                      <a:r>
                        <a:rPr lang="pt-PT" sz="12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dtproc_orig</a:t>
                      </a:r>
                      <a:r>
                        <a:rPr lang="pt-PT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)</a:t>
                      </a:r>
                    </a:p>
                  </a:txBody>
                  <a:tcPr marL="5948" marR="5948" marT="594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80929282"/>
                  </a:ext>
                </a:extLst>
              </a:tr>
              <a:tr h="442094">
                <a:tc>
                  <a:txBody>
                    <a:bodyPr/>
                    <a:lstStyle/>
                    <a:p>
                      <a:pPr marL="0" algn="l" defTabSz="913751" rtl="0" eaLnBrk="1" fontAlgn="ctr" latinLnBrk="0" hangingPunct="1"/>
                      <a:r>
                        <a:rPr lang="pt-PT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Criação da parametrização via </a:t>
                      </a:r>
                      <a:r>
                        <a:rPr lang="pt-PT" sz="1200" b="0" i="1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front</a:t>
                      </a:r>
                      <a:endParaRPr lang="pt-PT" sz="1200" b="0" i="1" u="none" strike="noStrike" kern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5948" marR="5948" marT="594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29408115"/>
                  </a:ext>
                </a:extLst>
              </a:tr>
              <a:tr h="442094">
                <a:tc>
                  <a:txBody>
                    <a:bodyPr/>
                    <a:lstStyle/>
                    <a:p>
                      <a:pPr marL="0" algn="l" defTabSz="913751" rtl="0" eaLnBrk="1" fontAlgn="ctr" latinLnBrk="0" hangingPunct="1"/>
                      <a:r>
                        <a:rPr lang="pt-PT" sz="12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Re-apontar</a:t>
                      </a:r>
                      <a:r>
                        <a:rPr lang="pt-PT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 a CRC para o novo modelo</a:t>
                      </a:r>
                    </a:p>
                  </a:txBody>
                  <a:tcPr marL="5948" marR="5948" marT="594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2094">
                <a:tc>
                  <a:txBody>
                    <a:bodyPr/>
                    <a:lstStyle/>
                    <a:p>
                      <a:pPr marL="0" algn="l" defTabSz="913751" rtl="0" eaLnBrk="1" fontAlgn="ctr" latinLnBrk="0" hangingPunct="1"/>
                      <a:r>
                        <a:rPr lang="pt-PT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Baixar</a:t>
                      </a:r>
                      <a:r>
                        <a:rPr lang="pt-PT" sz="12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 a granularidade para bens ma BDR/IFRS9/Contabilidade e ALM</a:t>
                      </a:r>
                      <a:endParaRPr lang="pt-PT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5948" marR="5948" marT="594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2094">
                <a:tc>
                  <a:txBody>
                    <a:bodyPr/>
                    <a:lstStyle/>
                    <a:p>
                      <a:pPr marL="0" algn="l" defTabSz="913751" rtl="0" eaLnBrk="1" fontAlgn="ctr" latinLnBrk="0" hangingPunct="1"/>
                      <a:r>
                        <a:rPr lang="pt-PT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Ligar garantias CS com produtos </a:t>
                      </a:r>
                      <a:r>
                        <a:rPr lang="pt-PT" sz="12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Sigom</a:t>
                      </a:r>
                      <a:endParaRPr lang="pt-PT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5948" marR="5948" marT="594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2094">
                <a:tc>
                  <a:txBody>
                    <a:bodyPr/>
                    <a:lstStyle/>
                    <a:p>
                      <a:pPr marL="0" algn="l" defTabSz="913751" rtl="0" eaLnBrk="1" fontAlgn="ctr" latinLnBrk="0" hangingPunct="1"/>
                      <a:r>
                        <a:rPr lang="pt-PT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Correção de casuísticas de avaliações imóveis</a:t>
                      </a:r>
                    </a:p>
                  </a:txBody>
                  <a:tcPr marL="5948" marR="5948" marT="594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2094">
                <a:tc>
                  <a:txBody>
                    <a:bodyPr/>
                    <a:lstStyle/>
                    <a:p>
                      <a:pPr marL="0" algn="l" defTabSz="913751" rtl="0" eaLnBrk="1" fontAlgn="ctr" latinLnBrk="0" hangingPunct="1"/>
                      <a:r>
                        <a:rPr lang="pt-PT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Mapeamento de campos de</a:t>
                      </a:r>
                      <a:r>
                        <a:rPr lang="pt-PT" sz="12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 informação não aprovisionada em Datalake</a:t>
                      </a:r>
                      <a:endParaRPr lang="pt-PT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5948" marR="5948" marT="594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2094">
                <a:tc>
                  <a:txBody>
                    <a:bodyPr/>
                    <a:lstStyle/>
                    <a:p>
                      <a:pPr marL="0" algn="l" defTabSz="913751" rtl="0" eaLnBrk="1" fontAlgn="ctr" latinLnBrk="0" hangingPunct="1"/>
                      <a:r>
                        <a:rPr lang="pt-PT" sz="12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Rotinar</a:t>
                      </a:r>
                      <a:r>
                        <a:rPr lang="pt-PT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 processos de carga</a:t>
                      </a:r>
                    </a:p>
                  </a:txBody>
                  <a:tcPr marL="5948" marR="5948" marT="594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42094">
                <a:tc>
                  <a:txBody>
                    <a:bodyPr/>
                    <a:lstStyle/>
                    <a:p>
                      <a:pPr marL="0" algn="l" defTabSz="913751" rtl="0" eaLnBrk="1" fontAlgn="ctr" latinLnBrk="0" hangingPunct="1"/>
                      <a:r>
                        <a:rPr lang="pt-PT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Remediar</a:t>
                      </a:r>
                      <a:r>
                        <a:rPr lang="pt-PT" sz="12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 lacunas ou incoerências de dados nas diversas aplicações origem</a:t>
                      </a:r>
                      <a:endParaRPr lang="pt-PT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5948" marR="5948" marT="594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4307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5498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IvdVVqQxkyNYjDsiIlzmA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IvdVVqQxkyNYjDsiIlzmA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IvdVVqQxkyNYjDsiIlzm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IvdVVqQxkyNYjDsiIlzmA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IvdVVqQxkyNYjDsiIlzmA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IvdVVqQxkyNYjDsiIlzmA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IvdVVqQxkyNYjDsiIlzmA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IvdVVqQxkyNYjDsiIlzmA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IvdVVqQxkyNYjDsiIlzmA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IvdVVqQxkyNYjDsiIlzmA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IvdVVqQxkyNYjDsiIlzmA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IvdVVqQxkyNYjDsiIlzmA"/>
</p:tagLst>
</file>

<file path=ppt/theme/theme1.xml><?xml version="1.0" encoding="utf-8"?>
<a:theme xmlns:a="http://schemas.openxmlformats.org/drawingml/2006/main" name="Tema de Office">
  <a:themeElements>
    <a:clrScheme name="Personalizado 3">
      <a:dk1>
        <a:sysClr val="windowText" lastClr="000000"/>
      </a:dk1>
      <a:lt1>
        <a:sysClr val="window" lastClr="FFFFFF"/>
      </a:lt1>
      <a:dk2>
        <a:srgbClr val="6E7678"/>
      </a:dk2>
      <a:lt2>
        <a:srgbClr val="E7E6E6"/>
      </a:lt2>
      <a:accent1>
        <a:srgbClr val="EB0000"/>
      </a:accent1>
      <a:accent2>
        <a:srgbClr val="DEEDF1"/>
      </a:accent2>
      <a:accent3>
        <a:srgbClr val="9D3566"/>
      </a:accent3>
      <a:accent4>
        <a:srgbClr val="62B967"/>
      </a:accent4>
      <a:accent5>
        <a:srgbClr val="1AB2BB"/>
      </a:accent5>
      <a:accent6>
        <a:srgbClr val="FFCB32"/>
      </a:accent6>
      <a:hlink>
        <a:srgbClr val="3265FF"/>
      </a:hlink>
      <a:folHlink>
        <a:srgbClr val="954F72"/>
      </a:folHlink>
    </a:clrScheme>
    <a:fontScheme name="Personalizado 66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ema de Office">
  <a:themeElements>
    <a:clrScheme name="Personalizado 3">
      <a:dk1>
        <a:sysClr val="windowText" lastClr="000000"/>
      </a:dk1>
      <a:lt1>
        <a:sysClr val="window" lastClr="FFFFFF"/>
      </a:lt1>
      <a:dk2>
        <a:srgbClr val="6E7678"/>
      </a:dk2>
      <a:lt2>
        <a:srgbClr val="E7E6E6"/>
      </a:lt2>
      <a:accent1>
        <a:srgbClr val="EB0000"/>
      </a:accent1>
      <a:accent2>
        <a:srgbClr val="DEEDF1"/>
      </a:accent2>
      <a:accent3>
        <a:srgbClr val="9D3566"/>
      </a:accent3>
      <a:accent4>
        <a:srgbClr val="62B967"/>
      </a:accent4>
      <a:accent5>
        <a:srgbClr val="1AB2BB"/>
      </a:accent5>
      <a:accent6>
        <a:srgbClr val="FFCB32"/>
      </a:accent6>
      <a:hlink>
        <a:srgbClr val="3265FF"/>
      </a:hlink>
      <a:folHlink>
        <a:srgbClr val="954F72"/>
      </a:folHlink>
    </a:clrScheme>
    <a:fontScheme name="Personalizado 66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Tema de Office">
  <a:themeElements>
    <a:clrScheme name="Personalizado 3">
      <a:dk1>
        <a:sysClr val="windowText" lastClr="000000"/>
      </a:dk1>
      <a:lt1>
        <a:sysClr val="window" lastClr="FFFFFF"/>
      </a:lt1>
      <a:dk2>
        <a:srgbClr val="6E7678"/>
      </a:dk2>
      <a:lt2>
        <a:srgbClr val="E7E6E6"/>
      </a:lt2>
      <a:accent1>
        <a:srgbClr val="EB0000"/>
      </a:accent1>
      <a:accent2>
        <a:srgbClr val="DEEDF1"/>
      </a:accent2>
      <a:accent3>
        <a:srgbClr val="9D3566"/>
      </a:accent3>
      <a:accent4>
        <a:srgbClr val="62B967"/>
      </a:accent4>
      <a:accent5>
        <a:srgbClr val="1AB2BB"/>
      </a:accent5>
      <a:accent6>
        <a:srgbClr val="FFCB32"/>
      </a:accent6>
      <a:hlink>
        <a:srgbClr val="3265FF"/>
      </a:hlink>
      <a:folHlink>
        <a:srgbClr val="954F72"/>
      </a:folHlink>
    </a:clrScheme>
    <a:fontScheme name="Personalizado 66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6D051AEB2C48B458F82B58F7F6D9A00" ma:contentTypeVersion="14" ma:contentTypeDescription="Criar um novo documento." ma:contentTypeScope="" ma:versionID="21b3148052822e609950cc8d6e1216fc">
  <xsd:schema xmlns:xsd="http://www.w3.org/2001/XMLSchema" xmlns:xs="http://www.w3.org/2001/XMLSchema" xmlns:p="http://schemas.microsoft.com/office/2006/metadata/properties" xmlns:ns1="http://schemas.microsoft.com/sharepoint/v3" xmlns:ns2="a9b50dc7-8f72-473c-8b7e-4a8c46ecad32" xmlns:ns3="7b1ec8e5-5652-48eb-8550-a56a35f5f817" targetNamespace="http://schemas.microsoft.com/office/2006/metadata/properties" ma:root="true" ma:fieldsID="5081dca7d93d65f94f936cf4dfc14f7b" ns1:_="" ns2:_="" ns3:_="">
    <xsd:import namespace="http://schemas.microsoft.com/sharepoint/v3"/>
    <xsd:import namespace="a9b50dc7-8f72-473c-8b7e-4a8c46ecad32"/>
    <xsd:import namespace="7b1ec8e5-5652-48eb-8550-a56a35f5f81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1:_ip_UnifiedCompliancePolicyProperties" minOccurs="0"/>
                <xsd:element ref="ns1:_ip_UnifiedCompliancePolicyUIActio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8" nillable="true" ma:displayName="Propriedades da Política de Conformidade Unificada" ma:hidden="true" ma:internalName="_ip_UnifiedCompliancePolicyProperties">
      <xsd:simpleType>
        <xsd:restriction base="dms:Note"/>
      </xsd:simpleType>
    </xsd:element>
    <xsd:element name="_ip_UnifiedCompliancePolicyUIAction" ma:index="19" nillable="true" ma:displayName="Ação de IU da Política de Conformidade Unificada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9b50dc7-8f72-473c-8b7e-4a8c46ecad3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Etiquetas de Imagem" ma:readOnly="false" ma:fieldId="{5cf76f15-5ced-4ddc-b409-7134ff3c332f}" ma:taxonomyMulti="true" ma:sspId="e471ada5-31db-43fa-8830-84ca9293ff4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b1ec8e5-5652-48eb-8550-a56a35f5f817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hes de 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d1a5ce08-dc66-4f05-9d75-293f82016f98}" ma:internalName="TaxCatchAll" ma:showField="CatchAllData" ma:web="7b1ec8e5-5652-48eb-8550-a56a35f5f81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lcf76f155ced4ddcb4097134ff3c332f xmlns="a9b50dc7-8f72-473c-8b7e-4a8c46ecad32">
      <Terms xmlns="http://schemas.microsoft.com/office/infopath/2007/PartnerControls"/>
    </lcf76f155ced4ddcb4097134ff3c332f>
    <TaxCatchAll xmlns="7b1ec8e5-5652-48eb-8550-a56a35f5f817" xsi:nil="true"/>
    <_ip_UnifiedCompliancePolicyProperties xmlns="http://schemas.microsoft.com/sharepoint/v3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955C244-6315-402D-A5A0-697CEF7ECE0A}"/>
</file>

<file path=customXml/itemProps2.xml><?xml version="1.0" encoding="utf-8"?>
<ds:datastoreItem xmlns:ds="http://schemas.openxmlformats.org/officeDocument/2006/customXml" ds:itemID="{45B6808E-2F30-4A3E-86D7-9BE6F24DF713}">
  <ds:schemaRefs>
    <ds:schemaRef ds:uri="http://schemas.microsoft.com/office/2006/metadata/properties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7beef631-8f1e-4c1a-be60-1d5dcae54efd"/>
    <ds:schemaRef ds:uri="http://purl.org/dc/elements/1.1/"/>
    <ds:schemaRef ds:uri="621ea064-9f67-4017-b065-3d285bfa18a7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4977CA2D-DDA6-4B62-8B11-431A258D07F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3990</TotalTime>
  <Words>2792</Words>
  <Application>Microsoft Office PowerPoint</Application>
  <PresentationFormat>Custom</PresentationFormat>
  <Paragraphs>677</Paragraphs>
  <Slides>17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7" baseType="lpstr">
      <vt:lpstr>Arial</vt:lpstr>
      <vt:lpstr>Calibri</vt:lpstr>
      <vt:lpstr>Muli </vt:lpstr>
      <vt:lpstr>Santander Headline</vt:lpstr>
      <vt:lpstr>Santander Text</vt:lpstr>
      <vt:lpstr>Wingdings</vt:lpstr>
      <vt:lpstr>Tema de Office</vt:lpstr>
      <vt:lpstr>1_Tema de Office</vt:lpstr>
      <vt:lpstr>2_Tema de Office</vt:lpstr>
      <vt:lpstr>Worksheet</vt:lpstr>
      <vt:lpstr>Projeto Repositório Consolidado de Garantias</vt:lpstr>
      <vt:lpstr>Plano e status do projeto </vt:lpstr>
      <vt:lpstr>1.1</vt:lpstr>
      <vt:lpstr>1.2</vt:lpstr>
      <vt:lpstr>1.2</vt:lpstr>
      <vt:lpstr>1.2</vt:lpstr>
      <vt:lpstr>1.2</vt:lpstr>
      <vt:lpstr>1.2</vt:lpstr>
      <vt:lpstr>1.2</vt:lpstr>
      <vt:lpstr>1.3</vt:lpstr>
      <vt:lpstr>1.4</vt:lpstr>
      <vt:lpstr>Próximos Passos</vt:lpstr>
      <vt:lpstr>PowerPoint Presentation</vt:lpstr>
      <vt:lpstr>Anexos</vt:lpstr>
      <vt:lpstr>3.1</vt:lpstr>
      <vt:lpstr>3.2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Power Point SANTANDER</dc:title>
  <dc:creator>Presentalia (info@presentalia.com)</dc:creator>
  <cp:lastModifiedBy>Nádia Genebra Ahmad</cp:lastModifiedBy>
  <cp:revision>221</cp:revision>
  <dcterms:created xsi:type="dcterms:W3CDTF">2018-03-19T11:10:43Z</dcterms:created>
  <dcterms:modified xsi:type="dcterms:W3CDTF">2023-01-19T10:27:36Z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0x010100C6D051AEB2C48B458F82B58F7F6D9A00</vt:lpwstr>
  </property>
  <property fmtid="{D5CDD505-2E9C-101B-9397-08002B2CF9AE}" pid="3" name="MediaServiceImageTags">
    <vt:lpwstr/>
  </property>
  <property fmtid="{D5CDD505-2E9C-101B-9397-08002B2CF9AE}" pid="4" name="MSIP_Label_3c41c091-3cbc-4dba-8b59-ce62f19500db_Enabled">
    <vt:lpwstr>true</vt:lpwstr>
  </property>
  <property fmtid="{D5CDD505-2E9C-101B-9397-08002B2CF9AE}" pid="5" name="MSIP_Label_3c41c091-3cbc-4dba-8b59-ce62f19500db_SetDate">
    <vt:lpwstr>2023-01-19T10:27:23Z</vt:lpwstr>
  </property>
  <property fmtid="{D5CDD505-2E9C-101B-9397-08002B2CF9AE}" pid="6" name="MSIP_Label_3c41c091-3cbc-4dba-8b59-ce62f19500db_Method">
    <vt:lpwstr>Privileged</vt:lpwstr>
  </property>
  <property fmtid="{D5CDD505-2E9C-101B-9397-08002B2CF9AE}" pid="7" name="MSIP_Label_3c41c091-3cbc-4dba-8b59-ce62f19500db_Name">
    <vt:lpwstr>Confidential_0_1</vt:lpwstr>
  </property>
  <property fmtid="{D5CDD505-2E9C-101B-9397-08002B2CF9AE}" pid="8" name="MSIP_Label_3c41c091-3cbc-4dba-8b59-ce62f19500db_SiteId">
    <vt:lpwstr>35595a02-4d6d-44ac-99e1-f9ab4cd872db</vt:lpwstr>
  </property>
  <property fmtid="{D5CDD505-2E9C-101B-9397-08002B2CF9AE}" pid="9" name="MSIP_Label_3c41c091-3cbc-4dba-8b59-ce62f19500db_ActionId">
    <vt:lpwstr>35ba7f7c-778d-4922-affb-f2cfbb36ac3c</vt:lpwstr>
  </property>
  <property fmtid="{D5CDD505-2E9C-101B-9397-08002B2CF9AE}" pid="10" name="MSIP_Label_3c41c091-3cbc-4dba-8b59-ce62f19500db_ContentBits">
    <vt:lpwstr>1</vt:lpwstr>
  </property>
</Properties>
</file>