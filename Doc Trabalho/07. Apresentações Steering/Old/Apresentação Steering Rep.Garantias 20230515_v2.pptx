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drawings/drawing1.xml" ContentType="application/vnd.openxmlformats-officedocument.drawingml.chartshape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6" r:id="rId5"/>
  </p:sldMasterIdLst>
  <p:notesMasterIdLst>
    <p:notesMasterId r:id="rId29"/>
  </p:notesMasterIdLst>
  <p:handoutMasterIdLst>
    <p:handoutMasterId r:id="rId30"/>
  </p:handoutMasterIdLst>
  <p:sldIdLst>
    <p:sldId id="256" r:id="rId6"/>
    <p:sldId id="306" r:id="rId7"/>
    <p:sldId id="367" r:id="rId8"/>
    <p:sldId id="368" r:id="rId9"/>
    <p:sldId id="338" r:id="rId10"/>
    <p:sldId id="369" r:id="rId11"/>
    <p:sldId id="370" r:id="rId12"/>
    <p:sldId id="371" r:id="rId13"/>
    <p:sldId id="372" r:id="rId14"/>
    <p:sldId id="375" r:id="rId15"/>
    <p:sldId id="365" r:id="rId16"/>
    <p:sldId id="373" r:id="rId17"/>
    <p:sldId id="361" r:id="rId18"/>
    <p:sldId id="374" r:id="rId19"/>
    <p:sldId id="330" r:id="rId20"/>
    <p:sldId id="358" r:id="rId21"/>
    <p:sldId id="376" r:id="rId22"/>
    <p:sldId id="392" r:id="rId23"/>
    <p:sldId id="379" r:id="rId24"/>
    <p:sldId id="390" r:id="rId25"/>
    <p:sldId id="386" r:id="rId26"/>
    <p:sldId id="387" r:id="rId27"/>
    <p:sldId id="267" r:id="rId28"/>
  </p:sldIdLst>
  <p:sldSz cx="12192000" cy="7092950"/>
  <p:notesSz cx="6858000" cy="9144000"/>
  <p:defaultTextStyle>
    <a:defPPr>
      <a:defRPr lang="es-ES"/>
    </a:defPPr>
    <a:lvl1pPr marL="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xo, Dora Silva" initials="RDS" lastIdx="27" clrIdx="0">
    <p:extLst>
      <p:ext uri="{19B8F6BF-5375-455C-9EA6-DF929625EA0E}">
        <p15:presenceInfo xmlns:p15="http://schemas.microsoft.com/office/powerpoint/2012/main" userId="S::droxo@epimetheus.pt::d97429f7-5259-4f73-a74a-65d4c655fa50" providerId="AD"/>
      </p:ext>
    </p:extLst>
  </p:cmAuthor>
  <p:cmAuthor id="2" name="Hugo Alexandre" initials="HA" lastIdx="8" clrIdx="1">
    <p:extLst>
      <p:ext uri="{19B8F6BF-5375-455C-9EA6-DF929625EA0E}">
        <p15:presenceInfo xmlns:p15="http://schemas.microsoft.com/office/powerpoint/2012/main" userId="S::hreia@epimetheus.pt::dee69c61-2ac7-4b82-bc09-1c91e89a6358" providerId="AD"/>
      </p:ext>
    </p:extLst>
  </p:cmAuthor>
  <p:cmAuthor id="3" name="Mónica Filipa Cunha Guerreiro" initials="MFCG" lastIdx="4" clrIdx="2">
    <p:extLst>
      <p:ext uri="{19B8F6BF-5375-455C-9EA6-DF929625EA0E}">
        <p15:presenceInfo xmlns:p15="http://schemas.microsoft.com/office/powerpoint/2012/main" userId="S-1-5-21-478741036-1442749419-1446792091-1914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E4D6"/>
    <a:srgbClr val="FFD9D9"/>
    <a:srgbClr val="D7D7D7"/>
    <a:srgbClr val="FF7575"/>
    <a:srgbClr val="C00000"/>
    <a:srgbClr val="3B3838"/>
    <a:srgbClr val="9ECFDE"/>
    <a:srgbClr val="7F7F7F"/>
    <a:srgbClr val="D9D9D9"/>
    <a:srgbClr val="1386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AC12BF-1F58-406A-A1C4-EE991A95FB27}" v="20" dt="2023-05-17T09:27:45.9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  <p:guide orient="horz" pos="22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ádia Genebra Ahmad" userId="36126275-cace-419f-8e9b-04679c4f8ea6" providerId="ADAL" clId="{BBAC12BF-1F58-406A-A1C4-EE991A95FB27}"/>
    <pc:docChg chg="undo custSel delSld modSld">
      <pc:chgData name="Nádia Genebra Ahmad" userId="36126275-cace-419f-8e9b-04679c4f8ea6" providerId="ADAL" clId="{BBAC12BF-1F58-406A-A1C4-EE991A95FB27}" dt="2023-05-17T09:53:36.377" v="290" actId="47"/>
      <pc:docMkLst>
        <pc:docMk/>
      </pc:docMkLst>
      <pc:sldChg chg="modSp mod">
        <pc:chgData name="Nádia Genebra Ahmad" userId="36126275-cace-419f-8e9b-04679c4f8ea6" providerId="ADAL" clId="{BBAC12BF-1F58-406A-A1C4-EE991A95FB27}" dt="2023-05-17T08:12:12.134" v="3" actId="20577"/>
        <pc:sldMkLst>
          <pc:docMk/>
          <pc:sldMk cId="4215426283" sldId="306"/>
        </pc:sldMkLst>
        <pc:spChg chg="mod">
          <ac:chgData name="Nádia Genebra Ahmad" userId="36126275-cace-419f-8e9b-04679c4f8ea6" providerId="ADAL" clId="{BBAC12BF-1F58-406A-A1C4-EE991A95FB27}" dt="2023-05-17T08:12:12.134" v="3" actId="20577"/>
          <ac:spMkLst>
            <pc:docMk/>
            <pc:sldMk cId="4215426283" sldId="306"/>
            <ac:spMk id="2" creationId="{6D3E78DA-069E-4823-8E49-CBFF8D792C2E}"/>
          </ac:spMkLst>
        </pc:spChg>
      </pc:sldChg>
      <pc:sldChg chg="del">
        <pc:chgData name="Nádia Genebra Ahmad" userId="36126275-cace-419f-8e9b-04679c4f8ea6" providerId="ADAL" clId="{BBAC12BF-1F58-406A-A1C4-EE991A95FB27}" dt="2023-05-17T09:53:36.377" v="290" actId="47"/>
        <pc:sldMkLst>
          <pc:docMk/>
          <pc:sldMk cId="3757026652" sldId="324"/>
        </pc:sldMkLst>
      </pc:sldChg>
      <pc:sldChg chg="modSp">
        <pc:chgData name="Nádia Genebra Ahmad" userId="36126275-cace-419f-8e9b-04679c4f8ea6" providerId="ADAL" clId="{BBAC12BF-1F58-406A-A1C4-EE991A95FB27}" dt="2023-05-17T08:12:07.845" v="0"/>
        <pc:sldMkLst>
          <pc:docMk/>
          <pc:sldMk cId="326973016" sldId="330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326973016" sldId="330"/>
            <ac:spMk id="3" creationId="{E125DFD4-F75B-4CEF-A4D7-EA79824B5320}"/>
          </ac:spMkLst>
        </pc:spChg>
      </pc:sldChg>
      <pc:sldChg chg="modSp">
        <pc:chgData name="Nádia Genebra Ahmad" userId="36126275-cace-419f-8e9b-04679c4f8ea6" providerId="ADAL" clId="{BBAC12BF-1F58-406A-A1C4-EE991A95FB27}" dt="2023-05-17T08:12:07.845" v="0"/>
        <pc:sldMkLst>
          <pc:docMk/>
          <pc:sldMk cId="1865004159" sldId="338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1865004159" sldId="338"/>
            <ac:spMk id="3" creationId="{E125DFD4-F75B-4CEF-A4D7-EA79824B5320}"/>
          </ac:spMkLst>
        </pc:spChg>
      </pc:sldChg>
      <pc:sldChg chg="modSp">
        <pc:chgData name="Nádia Genebra Ahmad" userId="36126275-cace-419f-8e9b-04679c4f8ea6" providerId="ADAL" clId="{BBAC12BF-1F58-406A-A1C4-EE991A95FB27}" dt="2023-05-17T08:12:07.845" v="0"/>
        <pc:sldMkLst>
          <pc:docMk/>
          <pc:sldMk cId="2088130186" sldId="358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2088130186" sldId="358"/>
            <ac:spMk id="3" creationId="{E125DFD4-F75B-4CEF-A4D7-EA79824B5320}"/>
          </ac:spMkLst>
        </pc:spChg>
      </pc:sldChg>
      <pc:sldChg chg="modSp">
        <pc:chgData name="Nádia Genebra Ahmad" userId="36126275-cace-419f-8e9b-04679c4f8ea6" providerId="ADAL" clId="{BBAC12BF-1F58-406A-A1C4-EE991A95FB27}" dt="2023-05-17T08:12:07.845" v="0"/>
        <pc:sldMkLst>
          <pc:docMk/>
          <pc:sldMk cId="3537588073" sldId="361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3537588073" sldId="361"/>
            <ac:spMk id="3" creationId="{E125DFD4-F75B-4CEF-A4D7-EA79824B5320}"/>
          </ac:spMkLst>
        </pc:spChg>
      </pc:sldChg>
      <pc:sldChg chg="del">
        <pc:chgData name="Nádia Genebra Ahmad" userId="36126275-cace-419f-8e9b-04679c4f8ea6" providerId="ADAL" clId="{BBAC12BF-1F58-406A-A1C4-EE991A95FB27}" dt="2023-05-17T09:53:36.377" v="290" actId="47"/>
        <pc:sldMkLst>
          <pc:docMk/>
          <pc:sldMk cId="4208994639" sldId="364"/>
        </pc:sldMkLst>
      </pc:sldChg>
      <pc:sldChg chg="modSp">
        <pc:chgData name="Nádia Genebra Ahmad" userId="36126275-cace-419f-8e9b-04679c4f8ea6" providerId="ADAL" clId="{BBAC12BF-1F58-406A-A1C4-EE991A95FB27}" dt="2023-05-17T08:12:07.845" v="0"/>
        <pc:sldMkLst>
          <pc:docMk/>
          <pc:sldMk cId="1215262335" sldId="365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1215262335" sldId="365"/>
            <ac:spMk id="3" creationId="{E125DFD4-F75B-4CEF-A4D7-EA79824B5320}"/>
          </ac:spMkLst>
        </pc:spChg>
      </pc:sldChg>
      <pc:sldChg chg="modSp">
        <pc:chgData name="Nádia Genebra Ahmad" userId="36126275-cace-419f-8e9b-04679c4f8ea6" providerId="ADAL" clId="{BBAC12BF-1F58-406A-A1C4-EE991A95FB27}" dt="2023-05-17T08:12:07.845" v="0"/>
        <pc:sldMkLst>
          <pc:docMk/>
          <pc:sldMk cId="111535585" sldId="367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111535585" sldId="367"/>
            <ac:spMk id="3" creationId="{E125DFD4-F75B-4CEF-A4D7-EA79824B5320}"/>
          </ac:spMkLst>
        </pc:spChg>
      </pc:sldChg>
      <pc:sldChg chg="modSp">
        <pc:chgData name="Nádia Genebra Ahmad" userId="36126275-cace-419f-8e9b-04679c4f8ea6" providerId="ADAL" clId="{BBAC12BF-1F58-406A-A1C4-EE991A95FB27}" dt="2023-05-17T08:12:07.845" v="0"/>
        <pc:sldMkLst>
          <pc:docMk/>
          <pc:sldMk cId="304460049" sldId="368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304460049" sldId="368"/>
            <ac:spMk id="3" creationId="{E125DFD4-F75B-4CEF-A4D7-EA79824B5320}"/>
          </ac:spMkLst>
        </pc:spChg>
      </pc:sldChg>
      <pc:sldChg chg="modSp">
        <pc:chgData name="Nádia Genebra Ahmad" userId="36126275-cace-419f-8e9b-04679c4f8ea6" providerId="ADAL" clId="{BBAC12BF-1F58-406A-A1C4-EE991A95FB27}" dt="2023-05-17T08:12:07.845" v="0"/>
        <pc:sldMkLst>
          <pc:docMk/>
          <pc:sldMk cId="3156286407" sldId="369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3156286407" sldId="369"/>
            <ac:spMk id="3" creationId="{E125DFD4-F75B-4CEF-A4D7-EA79824B5320}"/>
          </ac:spMkLst>
        </pc:spChg>
      </pc:sldChg>
      <pc:sldChg chg="modSp">
        <pc:chgData name="Nádia Genebra Ahmad" userId="36126275-cace-419f-8e9b-04679c4f8ea6" providerId="ADAL" clId="{BBAC12BF-1F58-406A-A1C4-EE991A95FB27}" dt="2023-05-17T08:12:07.845" v="0"/>
        <pc:sldMkLst>
          <pc:docMk/>
          <pc:sldMk cId="1965639224" sldId="370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1965639224" sldId="370"/>
            <ac:spMk id="3" creationId="{E125DFD4-F75B-4CEF-A4D7-EA79824B5320}"/>
          </ac:spMkLst>
        </pc:spChg>
      </pc:sldChg>
      <pc:sldChg chg="modSp">
        <pc:chgData name="Nádia Genebra Ahmad" userId="36126275-cace-419f-8e9b-04679c4f8ea6" providerId="ADAL" clId="{BBAC12BF-1F58-406A-A1C4-EE991A95FB27}" dt="2023-05-17T08:12:07.845" v="0"/>
        <pc:sldMkLst>
          <pc:docMk/>
          <pc:sldMk cId="932530539" sldId="371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932530539" sldId="371"/>
            <ac:spMk id="3" creationId="{E125DFD4-F75B-4CEF-A4D7-EA79824B5320}"/>
          </ac:spMkLst>
        </pc:spChg>
      </pc:sldChg>
      <pc:sldChg chg="modSp">
        <pc:chgData name="Nádia Genebra Ahmad" userId="36126275-cace-419f-8e9b-04679c4f8ea6" providerId="ADAL" clId="{BBAC12BF-1F58-406A-A1C4-EE991A95FB27}" dt="2023-05-17T08:12:07.845" v="0"/>
        <pc:sldMkLst>
          <pc:docMk/>
          <pc:sldMk cId="331773752" sldId="372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331773752" sldId="372"/>
            <ac:spMk id="3" creationId="{E125DFD4-F75B-4CEF-A4D7-EA79824B5320}"/>
          </ac:spMkLst>
        </pc:spChg>
      </pc:sldChg>
      <pc:sldChg chg="modSp mod">
        <pc:chgData name="Nádia Genebra Ahmad" userId="36126275-cace-419f-8e9b-04679c4f8ea6" providerId="ADAL" clId="{BBAC12BF-1F58-406A-A1C4-EE991A95FB27}" dt="2023-05-17T09:23:20.541" v="125"/>
        <pc:sldMkLst>
          <pc:docMk/>
          <pc:sldMk cId="230364981" sldId="373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230364981" sldId="373"/>
            <ac:spMk id="3" creationId="{E125DFD4-F75B-4CEF-A4D7-EA79824B5320}"/>
          </ac:spMkLst>
        </pc:spChg>
        <pc:graphicFrameChg chg="mod modGraphic">
          <ac:chgData name="Nádia Genebra Ahmad" userId="36126275-cace-419f-8e9b-04679c4f8ea6" providerId="ADAL" clId="{BBAC12BF-1F58-406A-A1C4-EE991A95FB27}" dt="2023-05-17T09:23:20.541" v="125"/>
          <ac:graphicFrameMkLst>
            <pc:docMk/>
            <pc:sldMk cId="230364981" sldId="373"/>
            <ac:graphicFrameMk id="8" creationId="{37790DD7-7A57-A5DD-1BF3-EDD100B3CFCB}"/>
          </ac:graphicFrameMkLst>
        </pc:graphicFrameChg>
      </pc:sldChg>
      <pc:sldChg chg="modSp">
        <pc:chgData name="Nádia Genebra Ahmad" userId="36126275-cace-419f-8e9b-04679c4f8ea6" providerId="ADAL" clId="{BBAC12BF-1F58-406A-A1C4-EE991A95FB27}" dt="2023-05-17T08:12:07.845" v="0"/>
        <pc:sldMkLst>
          <pc:docMk/>
          <pc:sldMk cId="3809727174" sldId="374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3809727174" sldId="374"/>
            <ac:spMk id="3" creationId="{E125DFD4-F75B-4CEF-A4D7-EA79824B5320}"/>
          </ac:spMkLst>
        </pc:spChg>
      </pc:sldChg>
      <pc:sldChg chg="modSp">
        <pc:chgData name="Nádia Genebra Ahmad" userId="36126275-cace-419f-8e9b-04679c4f8ea6" providerId="ADAL" clId="{BBAC12BF-1F58-406A-A1C4-EE991A95FB27}" dt="2023-05-17T08:12:07.845" v="0"/>
        <pc:sldMkLst>
          <pc:docMk/>
          <pc:sldMk cId="1271757370" sldId="375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1271757370" sldId="375"/>
            <ac:spMk id="3" creationId="{E125DFD4-F75B-4CEF-A4D7-EA79824B5320}"/>
          </ac:spMkLst>
        </pc:spChg>
      </pc:sldChg>
      <pc:sldChg chg="modSp mod">
        <pc:chgData name="Nádia Genebra Ahmad" userId="36126275-cace-419f-8e9b-04679c4f8ea6" providerId="ADAL" clId="{BBAC12BF-1F58-406A-A1C4-EE991A95FB27}" dt="2023-05-17T09:25:02.777" v="133" actId="27636"/>
        <pc:sldMkLst>
          <pc:docMk/>
          <pc:sldMk cId="474606317" sldId="376"/>
        </pc:sldMkLst>
        <pc:spChg chg="mod">
          <ac:chgData name="Nádia Genebra Ahmad" userId="36126275-cace-419f-8e9b-04679c4f8ea6" providerId="ADAL" clId="{BBAC12BF-1F58-406A-A1C4-EE991A95FB27}" dt="2023-05-17T09:25:02.777" v="133" actId="27636"/>
          <ac:spMkLst>
            <pc:docMk/>
            <pc:sldMk cId="474606317" sldId="376"/>
            <ac:spMk id="2" creationId="{6D3E78DA-069E-4823-8E49-CBFF8D792C2E}"/>
          </ac:spMkLst>
        </pc:spChg>
      </pc:sldChg>
      <pc:sldChg chg="modSp mod">
        <pc:chgData name="Nádia Genebra Ahmad" userId="36126275-cace-419f-8e9b-04679c4f8ea6" providerId="ADAL" clId="{BBAC12BF-1F58-406A-A1C4-EE991A95FB27}" dt="2023-05-17T09:26:33.890" v="197" actId="1036"/>
        <pc:sldMkLst>
          <pc:docMk/>
          <pc:sldMk cId="3272146824" sldId="379"/>
        </pc:sldMkLst>
        <pc:spChg chg="mod">
          <ac:chgData name="Nádia Genebra Ahmad" userId="36126275-cace-419f-8e9b-04679c4f8ea6" providerId="ADAL" clId="{BBAC12BF-1F58-406A-A1C4-EE991A95FB27}" dt="2023-05-17T09:25:37.101" v="135"/>
          <ac:spMkLst>
            <pc:docMk/>
            <pc:sldMk cId="3272146824" sldId="379"/>
            <ac:spMk id="7" creationId="{9BE11D50-696C-5DDD-4966-1C3C1D320FEF}"/>
          </ac:spMkLst>
        </pc:spChg>
        <pc:spChg chg="mod">
          <ac:chgData name="Nádia Genebra Ahmad" userId="36126275-cace-419f-8e9b-04679c4f8ea6" providerId="ADAL" clId="{BBAC12BF-1F58-406A-A1C4-EE991A95FB27}" dt="2023-05-17T09:26:33.890" v="197" actId="1036"/>
          <ac:spMkLst>
            <pc:docMk/>
            <pc:sldMk cId="3272146824" sldId="379"/>
            <ac:spMk id="16" creationId="{5C09F791-28D5-D0F7-5FDB-D39E2D4A32CD}"/>
          </ac:spMkLst>
        </pc:spChg>
        <pc:picChg chg="mod modCrop">
          <ac:chgData name="Nádia Genebra Ahmad" userId="36126275-cace-419f-8e9b-04679c4f8ea6" providerId="ADAL" clId="{BBAC12BF-1F58-406A-A1C4-EE991A95FB27}" dt="2023-05-17T09:26:33.890" v="197" actId="1036"/>
          <ac:picMkLst>
            <pc:docMk/>
            <pc:sldMk cId="3272146824" sldId="379"/>
            <ac:picMk id="15" creationId="{6A21EA30-DFE1-DA31-8977-D13539E4F5FD}"/>
          </ac:picMkLst>
        </pc:picChg>
      </pc:sldChg>
      <pc:sldChg chg="addSp delSp modSp mod">
        <pc:chgData name="Nádia Genebra Ahmad" userId="36126275-cace-419f-8e9b-04679c4f8ea6" providerId="ADAL" clId="{BBAC12BF-1F58-406A-A1C4-EE991A95FB27}" dt="2023-05-17T09:27:38.206" v="285" actId="1035"/>
        <pc:sldMkLst>
          <pc:docMk/>
          <pc:sldMk cId="53204883" sldId="386"/>
        </pc:sldMkLst>
        <pc:spChg chg="add mod">
          <ac:chgData name="Nádia Genebra Ahmad" userId="36126275-cace-419f-8e9b-04679c4f8ea6" providerId="ADAL" clId="{BBAC12BF-1F58-406A-A1C4-EE991A95FB27}" dt="2023-05-17T09:27:34.724" v="283" actId="14100"/>
          <ac:spMkLst>
            <pc:docMk/>
            <pc:sldMk cId="53204883" sldId="386"/>
            <ac:spMk id="3" creationId="{193B487F-E8A5-AD20-DBA2-88F6BEA44FAA}"/>
          </ac:spMkLst>
        </pc:spChg>
        <pc:spChg chg="add mod">
          <ac:chgData name="Nádia Genebra Ahmad" userId="36126275-cace-419f-8e9b-04679c4f8ea6" providerId="ADAL" clId="{BBAC12BF-1F58-406A-A1C4-EE991A95FB27}" dt="2023-05-17T09:27:38.206" v="285" actId="1035"/>
          <ac:spMkLst>
            <pc:docMk/>
            <pc:sldMk cId="53204883" sldId="386"/>
            <ac:spMk id="4" creationId="{1BDD73CE-A9D9-82FE-1A38-F853A5AE8679}"/>
          </ac:spMkLst>
        </pc:spChg>
        <pc:spChg chg="mod">
          <ac:chgData name="Nádia Genebra Ahmad" userId="36126275-cace-419f-8e9b-04679c4f8ea6" providerId="ADAL" clId="{BBAC12BF-1F58-406A-A1C4-EE991A95FB27}" dt="2023-05-17T09:25:37.101" v="135"/>
          <ac:spMkLst>
            <pc:docMk/>
            <pc:sldMk cId="53204883" sldId="386"/>
            <ac:spMk id="14" creationId="{F1CBC589-FA16-696D-1407-5680FB9143DB}"/>
          </ac:spMkLst>
        </pc:spChg>
        <pc:spChg chg="del">
          <ac:chgData name="Nádia Genebra Ahmad" userId="36126275-cace-419f-8e9b-04679c4f8ea6" providerId="ADAL" clId="{BBAC12BF-1F58-406A-A1C4-EE991A95FB27}" dt="2023-05-17T09:27:27.258" v="281" actId="478"/>
          <ac:spMkLst>
            <pc:docMk/>
            <pc:sldMk cId="53204883" sldId="386"/>
            <ac:spMk id="17" creationId="{4E685FE0-18BA-914A-DA15-67FD97CB5025}"/>
          </ac:spMkLst>
        </pc:spChg>
        <pc:spChg chg="del">
          <ac:chgData name="Nádia Genebra Ahmad" userId="36126275-cace-419f-8e9b-04679c4f8ea6" providerId="ADAL" clId="{BBAC12BF-1F58-406A-A1C4-EE991A95FB27}" dt="2023-05-17T09:27:27.258" v="281" actId="478"/>
          <ac:spMkLst>
            <pc:docMk/>
            <pc:sldMk cId="53204883" sldId="386"/>
            <ac:spMk id="18" creationId="{B313032E-B0CA-0C55-74A5-C990AF71A65E}"/>
          </ac:spMkLst>
        </pc:spChg>
        <pc:picChg chg="add mod">
          <ac:chgData name="Nádia Genebra Ahmad" userId="36126275-cace-419f-8e9b-04679c4f8ea6" providerId="ADAL" clId="{BBAC12BF-1F58-406A-A1C4-EE991A95FB27}" dt="2023-05-17T09:27:28.122" v="282"/>
          <ac:picMkLst>
            <pc:docMk/>
            <pc:sldMk cId="53204883" sldId="386"/>
            <ac:picMk id="2" creationId="{F64BAA2B-F28B-CB4D-2A2F-4AACC3125ADC}"/>
          </ac:picMkLst>
        </pc:picChg>
        <pc:picChg chg="del">
          <ac:chgData name="Nádia Genebra Ahmad" userId="36126275-cace-419f-8e9b-04679c4f8ea6" providerId="ADAL" clId="{BBAC12BF-1F58-406A-A1C4-EE991A95FB27}" dt="2023-05-17T09:27:27.258" v="281" actId="478"/>
          <ac:picMkLst>
            <pc:docMk/>
            <pc:sldMk cId="53204883" sldId="386"/>
            <ac:picMk id="16" creationId="{654D6E51-B0C0-901A-9FF4-0069418770FC}"/>
          </ac:picMkLst>
        </pc:picChg>
      </pc:sldChg>
      <pc:sldChg chg="addSp delSp modSp mod">
        <pc:chgData name="Nádia Genebra Ahmad" userId="36126275-cace-419f-8e9b-04679c4f8ea6" providerId="ADAL" clId="{BBAC12BF-1F58-406A-A1C4-EE991A95FB27}" dt="2023-05-17T09:27:55.384" v="289" actId="14100"/>
        <pc:sldMkLst>
          <pc:docMk/>
          <pc:sldMk cId="3633615114" sldId="387"/>
        </pc:sldMkLst>
        <pc:spChg chg="add del mod">
          <ac:chgData name="Nádia Genebra Ahmad" userId="36126275-cace-419f-8e9b-04679c4f8ea6" providerId="ADAL" clId="{BBAC12BF-1F58-406A-A1C4-EE991A95FB27}" dt="2023-05-17T09:27:51.400" v="288" actId="478"/>
          <ac:spMkLst>
            <pc:docMk/>
            <pc:sldMk cId="3633615114" sldId="387"/>
            <ac:spMk id="3" creationId="{0B2DAB74-F3CE-9C16-99E0-E2663142C67D}"/>
          </ac:spMkLst>
        </pc:spChg>
        <pc:spChg chg="add mod">
          <ac:chgData name="Nádia Genebra Ahmad" userId="36126275-cace-419f-8e9b-04679c4f8ea6" providerId="ADAL" clId="{BBAC12BF-1F58-406A-A1C4-EE991A95FB27}" dt="2023-05-17T09:27:55.384" v="289" actId="14100"/>
          <ac:spMkLst>
            <pc:docMk/>
            <pc:sldMk cId="3633615114" sldId="387"/>
            <ac:spMk id="4" creationId="{043D269C-FF76-6552-458C-28CC9803C4C9}"/>
          </ac:spMkLst>
        </pc:spChg>
        <pc:spChg chg="mod">
          <ac:chgData name="Nádia Genebra Ahmad" userId="36126275-cace-419f-8e9b-04679c4f8ea6" providerId="ADAL" clId="{BBAC12BF-1F58-406A-A1C4-EE991A95FB27}" dt="2023-05-17T09:25:37.101" v="135"/>
          <ac:spMkLst>
            <pc:docMk/>
            <pc:sldMk cId="3633615114" sldId="387"/>
            <ac:spMk id="8" creationId="{CC505BCC-0D73-2805-BCFB-AD5348869F10}"/>
          </ac:spMkLst>
        </pc:spChg>
        <pc:spChg chg="del">
          <ac:chgData name="Nádia Genebra Ahmad" userId="36126275-cace-419f-8e9b-04679c4f8ea6" providerId="ADAL" clId="{BBAC12BF-1F58-406A-A1C4-EE991A95FB27}" dt="2023-05-17T09:27:45.101" v="286" actId="478"/>
          <ac:spMkLst>
            <pc:docMk/>
            <pc:sldMk cId="3633615114" sldId="387"/>
            <ac:spMk id="23" creationId="{4DEC1544-1F5B-0E9C-9C6D-3F8451CAACE7}"/>
          </ac:spMkLst>
        </pc:spChg>
        <pc:spChg chg="del">
          <ac:chgData name="Nádia Genebra Ahmad" userId="36126275-cace-419f-8e9b-04679c4f8ea6" providerId="ADAL" clId="{BBAC12BF-1F58-406A-A1C4-EE991A95FB27}" dt="2023-05-17T09:27:45.101" v="286" actId="478"/>
          <ac:spMkLst>
            <pc:docMk/>
            <pc:sldMk cId="3633615114" sldId="387"/>
            <ac:spMk id="24" creationId="{EE65E50A-6314-87D4-EA3E-88CA886FA6B7}"/>
          </ac:spMkLst>
        </pc:spChg>
        <pc:picChg chg="add mod">
          <ac:chgData name="Nádia Genebra Ahmad" userId="36126275-cace-419f-8e9b-04679c4f8ea6" providerId="ADAL" clId="{BBAC12BF-1F58-406A-A1C4-EE991A95FB27}" dt="2023-05-17T09:27:45.952" v="287"/>
          <ac:picMkLst>
            <pc:docMk/>
            <pc:sldMk cId="3633615114" sldId="387"/>
            <ac:picMk id="2" creationId="{E3420929-B696-862F-143E-E9276F10A857}"/>
          </ac:picMkLst>
        </pc:picChg>
        <pc:picChg chg="del">
          <ac:chgData name="Nádia Genebra Ahmad" userId="36126275-cace-419f-8e9b-04679c4f8ea6" providerId="ADAL" clId="{BBAC12BF-1F58-406A-A1C4-EE991A95FB27}" dt="2023-05-17T09:27:45.101" v="286" actId="478"/>
          <ac:picMkLst>
            <pc:docMk/>
            <pc:sldMk cId="3633615114" sldId="387"/>
            <ac:picMk id="22" creationId="{A8ABBD43-D6A2-9313-0CBD-D47CC4704CBE}"/>
          </ac:picMkLst>
        </pc:picChg>
      </pc:sldChg>
      <pc:sldChg chg="addSp delSp modSp mod">
        <pc:chgData name="Nádia Genebra Ahmad" userId="36126275-cace-419f-8e9b-04679c4f8ea6" providerId="ADAL" clId="{BBAC12BF-1F58-406A-A1C4-EE991A95FB27}" dt="2023-05-17T09:27:16.284" v="280" actId="478"/>
        <pc:sldMkLst>
          <pc:docMk/>
          <pc:sldMk cId="3743191074" sldId="390"/>
        </pc:sldMkLst>
        <pc:spChg chg="add mod">
          <ac:chgData name="Nádia Genebra Ahmad" userId="36126275-cace-419f-8e9b-04679c4f8ea6" providerId="ADAL" clId="{BBAC12BF-1F58-406A-A1C4-EE991A95FB27}" dt="2023-05-17T09:26:57.463" v="204" actId="1035"/>
          <ac:spMkLst>
            <pc:docMk/>
            <pc:sldMk cId="3743191074" sldId="390"/>
            <ac:spMk id="3" creationId="{7EBE5684-F81C-8B42-186A-E425180B2489}"/>
          </ac:spMkLst>
        </pc:spChg>
        <pc:spChg chg="mod">
          <ac:chgData name="Nádia Genebra Ahmad" userId="36126275-cace-419f-8e9b-04679c4f8ea6" providerId="ADAL" clId="{BBAC12BF-1F58-406A-A1C4-EE991A95FB27}" dt="2023-05-17T09:25:37.101" v="135"/>
          <ac:spMkLst>
            <pc:docMk/>
            <pc:sldMk cId="3743191074" sldId="390"/>
            <ac:spMk id="7" creationId="{301585F9-CBF7-C70C-3A7B-0AF5597D1295}"/>
          </ac:spMkLst>
        </pc:spChg>
        <pc:spChg chg="del">
          <ac:chgData name="Nádia Genebra Ahmad" userId="36126275-cace-419f-8e9b-04679c4f8ea6" providerId="ADAL" clId="{BBAC12BF-1F58-406A-A1C4-EE991A95FB27}" dt="2023-05-17T09:26:46.342" v="198" actId="478"/>
          <ac:spMkLst>
            <pc:docMk/>
            <pc:sldMk cId="3743191074" sldId="390"/>
            <ac:spMk id="19" creationId="{704DAE10-C827-4138-8CDB-7C1EC8D203D9}"/>
          </ac:spMkLst>
        </pc:spChg>
        <pc:spChg chg="mod ord">
          <ac:chgData name="Nádia Genebra Ahmad" userId="36126275-cace-419f-8e9b-04679c4f8ea6" providerId="ADAL" clId="{BBAC12BF-1F58-406A-A1C4-EE991A95FB27}" dt="2023-05-17T09:27:13.229" v="279" actId="166"/>
          <ac:spMkLst>
            <pc:docMk/>
            <pc:sldMk cId="3743191074" sldId="390"/>
            <ac:spMk id="20" creationId="{6C4A0C4F-C09D-C24B-88F3-124DB4F8F41C}"/>
          </ac:spMkLst>
        </pc:spChg>
        <pc:picChg chg="add mod">
          <ac:chgData name="Nádia Genebra Ahmad" userId="36126275-cace-419f-8e9b-04679c4f8ea6" providerId="ADAL" clId="{BBAC12BF-1F58-406A-A1C4-EE991A95FB27}" dt="2023-05-17T09:26:52.347" v="201" actId="14100"/>
          <ac:picMkLst>
            <pc:docMk/>
            <pc:sldMk cId="3743191074" sldId="390"/>
            <ac:picMk id="2" creationId="{FCA04899-F7F5-A70D-B2AD-C987729FECDC}"/>
          </ac:picMkLst>
        </pc:picChg>
        <pc:picChg chg="del">
          <ac:chgData name="Nádia Genebra Ahmad" userId="36126275-cace-419f-8e9b-04679c4f8ea6" providerId="ADAL" clId="{BBAC12BF-1F58-406A-A1C4-EE991A95FB27}" dt="2023-05-17T09:27:16.284" v="280" actId="478"/>
          <ac:picMkLst>
            <pc:docMk/>
            <pc:sldMk cId="3743191074" sldId="390"/>
            <ac:picMk id="18" creationId="{FB8145D8-B0FE-6776-7562-1CD51954DF46}"/>
          </ac:picMkLst>
        </pc:picChg>
      </pc:sldChg>
      <pc:sldChg chg="delSp modSp mod">
        <pc:chgData name="Nádia Genebra Ahmad" userId="36126275-cace-419f-8e9b-04679c4f8ea6" providerId="ADAL" clId="{BBAC12BF-1F58-406A-A1C4-EE991A95FB27}" dt="2023-05-17T09:25:56.419" v="136" actId="478"/>
        <pc:sldMkLst>
          <pc:docMk/>
          <pc:sldMk cId="519216741" sldId="392"/>
        </pc:sldMkLst>
        <pc:spChg chg="mod">
          <ac:chgData name="Nádia Genebra Ahmad" userId="36126275-cace-419f-8e9b-04679c4f8ea6" providerId="ADAL" clId="{BBAC12BF-1F58-406A-A1C4-EE991A95FB27}" dt="2023-05-17T09:25:37.101" v="135"/>
          <ac:spMkLst>
            <pc:docMk/>
            <pc:sldMk cId="519216741" sldId="392"/>
            <ac:spMk id="7" creationId="{9BE11D50-696C-5DDD-4966-1C3C1D320FEF}"/>
          </ac:spMkLst>
        </pc:spChg>
        <pc:grpChg chg="del">
          <ac:chgData name="Nádia Genebra Ahmad" userId="36126275-cace-419f-8e9b-04679c4f8ea6" providerId="ADAL" clId="{BBAC12BF-1F58-406A-A1C4-EE991A95FB27}" dt="2023-05-17T09:25:56.419" v="136" actId="478"/>
          <ac:grpSpMkLst>
            <pc:docMk/>
            <pc:sldMk cId="519216741" sldId="392"/>
            <ac:grpSpMk id="44" creationId="{E4F20B05-B04A-807D-D587-7CE181F54288}"/>
          </ac:grpSpMkLst>
        </pc:grpChg>
        <pc:grpChg chg="del">
          <ac:chgData name="Nádia Genebra Ahmad" userId="36126275-cace-419f-8e9b-04679c4f8ea6" providerId="ADAL" clId="{BBAC12BF-1F58-406A-A1C4-EE991A95FB27}" dt="2023-05-17T09:25:56.419" v="136" actId="478"/>
          <ac:grpSpMkLst>
            <pc:docMk/>
            <pc:sldMk cId="519216741" sldId="392"/>
            <ac:grpSpMk id="45" creationId="{CF90E3A2-0029-EA1C-AC40-7FD0CCD45E87}"/>
          </ac:grpSpMkLst>
        </pc:gr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5850689862660854E-2"/>
          <c:y val="0.19402974409586171"/>
          <c:w val="0.58485067930623136"/>
          <c:h val="0.596322381545243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Vermelho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3">
                  <c:v>Novembro (Mês Ini)</c:v>
                </c:pt>
                <c:pt idx="4">
                  <c:v>Dezembro</c:v>
                </c:pt>
                <c:pt idx="5">
                  <c:v>Janeiro</c:v>
                </c:pt>
                <c:pt idx="6">
                  <c:v>Fevereiro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</c:v>
                </c:pt>
                <c:pt idx="4">
                  <c:v>3</c:v>
                </c:pt>
                <c:pt idx="5">
                  <c:v>3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8E-4A9C-ADCE-B02334F4CA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Laranja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3">
                  <c:v>Novembro (Mês Ini)</c:v>
                </c:pt>
                <c:pt idx="4">
                  <c:v>Dezembro</c:v>
                </c:pt>
                <c:pt idx="5">
                  <c:v>Janeiro</c:v>
                </c:pt>
                <c:pt idx="6">
                  <c:v>Fevereiro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  <c:pt idx="5">
                  <c:v>3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8E-4A9C-ADCE-B02334F4CA3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Amarelo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3">
                  <c:v>Novembro (Mês Ini)</c:v>
                </c:pt>
                <c:pt idx="4">
                  <c:v>Dezembro</c:v>
                </c:pt>
                <c:pt idx="5">
                  <c:v>Janeiro</c:v>
                </c:pt>
                <c:pt idx="6">
                  <c:v>Fevereiro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</c:v>
                </c:pt>
                <c:pt idx="4">
                  <c:v>4</c:v>
                </c:pt>
                <c:pt idx="5">
                  <c:v>6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A8E-4A9C-ADCE-B02334F4CA3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3">
                  <c:v>Novembro (Mês Ini)</c:v>
                </c:pt>
                <c:pt idx="4">
                  <c:v>Dezembro</c:v>
                </c:pt>
                <c:pt idx="5">
                  <c:v>Janeiro</c:v>
                </c:pt>
                <c:pt idx="6">
                  <c:v>Fevereiro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61</c:v>
                </c:pt>
                <c:pt idx="4">
                  <c:v>69</c:v>
                </c:pt>
                <c:pt idx="5">
                  <c:v>86</c:v>
                </c:pt>
                <c:pt idx="6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A8E-4A9C-ADCE-B02334F4CA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3462536"/>
        <c:axId val="443460968"/>
      </c:barChart>
      <c:catAx>
        <c:axId val="443462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0968"/>
        <c:crosses val="autoZero"/>
        <c:auto val="1"/>
        <c:lblAlgn val="ctr"/>
        <c:lblOffset val="100"/>
        <c:noMultiLvlLbl val="0"/>
      </c:catAx>
      <c:valAx>
        <c:axId val="443460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253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32643026570473344"/>
          <c:y val="0.12969357453219796"/>
          <c:w val="0.3316197782861165"/>
          <c:h val="0.10066487751725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5850689862660854E-2"/>
          <c:y val="0.19402974409586171"/>
          <c:w val="0.91952148054590044"/>
          <c:h val="0.596322381545243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Vermelho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Novembro (Mês Ini)</c:v>
                </c:pt>
                <c:pt idx="2">
                  <c:v>Dezembro</c:v>
                </c:pt>
                <c:pt idx="3">
                  <c:v>Janeiro</c:v>
                </c:pt>
                <c:pt idx="4">
                  <c:v>Fevereiro</c:v>
                </c:pt>
                <c:pt idx="5">
                  <c:v>Março</c:v>
                </c:pt>
                <c:pt idx="6">
                  <c:v>Abril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5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8E-4A9C-ADCE-B02334F4CA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Laranja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Novembro (Mês Ini)</c:v>
                </c:pt>
                <c:pt idx="2">
                  <c:v>Dezembro</c:v>
                </c:pt>
                <c:pt idx="3">
                  <c:v>Janeiro</c:v>
                </c:pt>
                <c:pt idx="4">
                  <c:v>Fevereiro</c:v>
                </c:pt>
                <c:pt idx="5">
                  <c:v>Março</c:v>
                </c:pt>
                <c:pt idx="6">
                  <c:v>Abril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1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8E-4A9C-ADCE-B02334F4CA3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Amarelo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Novembro (Mês Ini)</c:v>
                </c:pt>
                <c:pt idx="2">
                  <c:v>Dezembro</c:v>
                </c:pt>
                <c:pt idx="3">
                  <c:v>Janeiro</c:v>
                </c:pt>
                <c:pt idx="4">
                  <c:v>Fevereiro</c:v>
                </c:pt>
                <c:pt idx="5">
                  <c:v>Março</c:v>
                </c:pt>
                <c:pt idx="6">
                  <c:v>Abril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5</c:v>
                </c:pt>
                <c:pt idx="2">
                  <c:v>4</c:v>
                </c:pt>
                <c:pt idx="3">
                  <c:v>6</c:v>
                </c:pt>
                <c:pt idx="4">
                  <c:v>7</c:v>
                </c:pt>
                <c:pt idx="5">
                  <c:v>11</c:v>
                </c:pt>
                <c:pt idx="6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A8E-4A9C-ADCE-B02334F4CA3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Novembro (Mês Ini)</c:v>
                </c:pt>
                <c:pt idx="2">
                  <c:v>Dezembro</c:v>
                </c:pt>
                <c:pt idx="3">
                  <c:v>Janeiro</c:v>
                </c:pt>
                <c:pt idx="4">
                  <c:v>Fevereiro</c:v>
                </c:pt>
                <c:pt idx="5">
                  <c:v>Março</c:v>
                </c:pt>
                <c:pt idx="6">
                  <c:v>Abril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61</c:v>
                </c:pt>
                <c:pt idx="2">
                  <c:v>69</c:v>
                </c:pt>
                <c:pt idx="3">
                  <c:v>86</c:v>
                </c:pt>
                <c:pt idx="4">
                  <c:v>97</c:v>
                </c:pt>
                <c:pt idx="5">
                  <c:v>95</c:v>
                </c:pt>
                <c:pt idx="6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A8E-4A9C-ADCE-B02334F4CA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3462536"/>
        <c:axId val="443460968"/>
      </c:barChart>
      <c:catAx>
        <c:axId val="443462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0968"/>
        <c:crosses val="autoZero"/>
        <c:auto val="1"/>
        <c:lblAlgn val="ctr"/>
        <c:lblOffset val="100"/>
        <c:noMultiLvlLbl val="0"/>
      </c:catAx>
      <c:valAx>
        <c:axId val="443460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253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32643026570473344"/>
          <c:y val="0.12969357453219796"/>
          <c:w val="0.3316197782861165"/>
          <c:h val="0.10066487751725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4">
    <c:autoUpdate val="0"/>
  </c:externalData>
  <c:userShapes r:id="rId5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0.52973</cdr:x>
      <cdr:y>0.703</cdr:y>
    </cdr:from>
    <cdr:to>
      <cdr:x>0.62743</cdr:x>
      <cdr:y>0.80149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24DB13A8-4E32-40F1-9F47-C855D21B4BD8}"/>
            </a:ext>
          </a:extLst>
        </cdr:cNvPr>
        <cdr:cNvSpPr/>
      </cdr:nvSpPr>
      <cdr:spPr>
        <a:xfrm xmlns:a="http://schemas.openxmlformats.org/drawingml/2006/main">
          <a:off x="3695007" y="1672503"/>
          <a:ext cx="681484" cy="23431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s-ES"/>
          </a:defPPr>
          <a:lvl1pPr marL="0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6876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3751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0624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7498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4377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1250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98124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4998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PT" sz="800" b="1" dirty="0">
              <a:solidFill>
                <a:srgbClr val="FF0000"/>
              </a:solidFill>
              <a:latin typeface="Santander Text" panose="020B0504020201020104" pitchFamily="34" charset="0"/>
            </a:rPr>
            <a:t>3 (3%) </a:t>
          </a:r>
        </a:p>
      </cdr:txBody>
    </cdr:sp>
  </cdr:relSizeAnchor>
  <cdr:relSizeAnchor xmlns:cdr="http://schemas.openxmlformats.org/drawingml/2006/chartDrawing">
    <cdr:from>
      <cdr:x>0.27228</cdr:x>
      <cdr:y>0.703</cdr:y>
    </cdr:from>
    <cdr:to>
      <cdr:x>0.36998</cdr:x>
      <cdr:y>0.80149</cdr:y>
    </cdr:to>
    <cdr:sp macro="" textlink="">
      <cdr:nvSpPr>
        <cdr:cNvPr id="3" name="Rectangle 2">
          <a:extLst xmlns:a="http://schemas.openxmlformats.org/drawingml/2006/main">
            <a:ext uri="{FF2B5EF4-FFF2-40B4-BE49-F238E27FC236}">
              <a16:creationId xmlns:a16="http://schemas.microsoft.com/office/drawing/2014/main" id="{24DB13A8-4E32-40F1-9F47-C855D21B4BD8}"/>
            </a:ext>
          </a:extLst>
        </cdr:cNvPr>
        <cdr:cNvSpPr/>
      </cdr:nvSpPr>
      <cdr:spPr>
        <a:xfrm xmlns:a="http://schemas.openxmlformats.org/drawingml/2006/main">
          <a:off x="1899225" y="1672503"/>
          <a:ext cx="681484" cy="23431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s-ES"/>
          </a:defPPr>
          <a:lvl1pPr marL="0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6876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3751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0624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7498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4377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1250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98124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4998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PT" sz="800" b="1" dirty="0">
              <a:solidFill>
                <a:srgbClr val="FF0000"/>
              </a:solidFill>
              <a:latin typeface="Santander Text" panose="020B0504020201020104" pitchFamily="34" charset="0"/>
            </a:rPr>
            <a:t>5 (7%) 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17/05/2023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17/05/2023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6288" y="1143000"/>
            <a:ext cx="5305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1857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2904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8012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2460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207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6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3" y="2815401"/>
            <a:ext cx="4934309" cy="25199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6876" indent="0" algn="ctr">
              <a:buNone/>
              <a:defRPr sz="2000"/>
            </a:lvl2pPr>
            <a:lvl3pPr marL="913751" indent="0" algn="ctr">
              <a:buNone/>
              <a:defRPr sz="1800"/>
            </a:lvl3pPr>
            <a:lvl4pPr marL="1370624" indent="0" algn="ctr">
              <a:buNone/>
              <a:defRPr sz="1600"/>
            </a:lvl4pPr>
            <a:lvl5pPr marL="1827498" indent="0" algn="ctr">
              <a:buNone/>
              <a:defRPr sz="1600"/>
            </a:lvl5pPr>
            <a:lvl6pPr marL="2284377" indent="0" algn="ctr">
              <a:buNone/>
              <a:defRPr sz="1600"/>
            </a:lvl6pPr>
            <a:lvl7pPr marL="2741250" indent="0" algn="ctr">
              <a:buNone/>
              <a:defRPr sz="1600"/>
            </a:lvl7pPr>
            <a:lvl8pPr marL="3198124" indent="0" algn="ctr">
              <a:buNone/>
              <a:defRPr sz="1600"/>
            </a:lvl8pPr>
            <a:lvl9pPr marL="3654998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5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6876" indent="0">
              <a:buNone/>
              <a:defRPr sz="1300">
                <a:solidFill>
                  <a:schemeClr val="tx2"/>
                </a:solidFill>
              </a:defRPr>
            </a:lvl2pPr>
            <a:lvl3pPr marL="913751" indent="0">
              <a:buNone/>
              <a:defRPr sz="1300">
                <a:solidFill>
                  <a:schemeClr val="tx2"/>
                </a:solidFill>
              </a:defRPr>
            </a:lvl3pPr>
            <a:lvl4pPr marL="1370624" indent="0">
              <a:buNone/>
              <a:defRPr sz="1300">
                <a:solidFill>
                  <a:schemeClr val="tx2"/>
                </a:solidFill>
              </a:defRPr>
            </a:lvl4pPr>
            <a:lvl5pPr marL="182749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1"/>
            <a:ext cx="1849821" cy="292319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1692" indent="-395719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79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8" y="3199548"/>
            <a:ext cx="10758733" cy="3189036"/>
          </a:xfrm>
        </p:spPr>
        <p:txBody>
          <a:bodyPr numCol="2" spcCol="719487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0" y="1124721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1" y="1124693"/>
            <a:ext cx="6683551" cy="5298367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/>
              <a:t>Insira aqui seu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89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2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5"/>
            <a:ext cx="3911401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9" y="1232635"/>
            <a:ext cx="6456737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2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76"/>
            <a:ext cx="1347483" cy="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09"/>
            <a:ext cx="3365479" cy="1292593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pt-PT" sz="13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300">
              <a:solidFill>
                <a:schemeClr val="tx2"/>
              </a:solidFill>
            </a:endParaRPr>
          </a:p>
          <a:p>
            <a:r>
              <a:rPr lang="pt-PT" sz="1300">
                <a:solidFill>
                  <a:schemeClr val="tx2"/>
                </a:solidFill>
              </a:rPr>
              <a:t>A nossa cultura baseia-se no princípio</a:t>
            </a:r>
            <a:r>
              <a:rPr lang="pt-PT" sz="1300" baseline="0">
                <a:solidFill>
                  <a:schemeClr val="tx2"/>
                </a:solidFill>
              </a:rPr>
              <a:t> </a:t>
            </a:r>
            <a:r>
              <a:rPr lang="pt-PT" sz="1300">
                <a:solidFill>
                  <a:schemeClr val="tx2"/>
                </a:solidFill>
              </a:rPr>
              <a:t>de que tudo</a:t>
            </a:r>
            <a:r>
              <a:rPr lang="pt-PT" sz="1300" baseline="0">
                <a:solidFill>
                  <a:schemeClr val="tx2"/>
                </a:solidFill>
              </a:rPr>
              <a:t> o </a:t>
            </a:r>
            <a:r>
              <a:rPr lang="pt-PT" sz="13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1" y="649714"/>
            <a:ext cx="3365479" cy="732138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4000" err="1">
                <a:solidFill>
                  <a:schemeClr val="accent1"/>
                </a:solidFill>
              </a:rPr>
              <a:t>Obrigado</a:t>
            </a:r>
            <a:r>
              <a:rPr lang="es-ES" sz="400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8" y="3540414"/>
            <a:ext cx="2785913" cy="4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8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815400"/>
            <a:ext cx="4934309" cy="251992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15"/>
              </a:spcAft>
              <a:buNone/>
              <a:defRPr sz="2000">
                <a:solidFill>
                  <a:schemeClr val="tx2"/>
                </a:solidFill>
              </a:defRPr>
            </a:lvl1pPr>
            <a:lvl2pPr marL="462483" indent="0" algn="ctr">
              <a:buNone/>
              <a:defRPr sz="2000"/>
            </a:lvl2pPr>
            <a:lvl3pPr marL="924967" indent="0" algn="ctr">
              <a:buNone/>
              <a:defRPr sz="1800"/>
            </a:lvl3pPr>
            <a:lvl4pPr marL="1387450" indent="0" algn="ctr">
              <a:buNone/>
              <a:defRPr sz="1600"/>
            </a:lvl4pPr>
            <a:lvl5pPr marL="1849933" indent="0" algn="ctr">
              <a:buNone/>
              <a:defRPr sz="1600"/>
            </a:lvl5pPr>
            <a:lvl6pPr marL="2312414" indent="0" algn="ctr">
              <a:buNone/>
              <a:defRPr sz="1600"/>
            </a:lvl6pPr>
            <a:lvl7pPr marL="2774901" indent="0" algn="ctr">
              <a:buNone/>
              <a:defRPr sz="1600"/>
            </a:lvl7pPr>
            <a:lvl8pPr marL="3237382" indent="0" algn="ctr">
              <a:buNone/>
              <a:defRPr sz="1600"/>
            </a:lvl8pPr>
            <a:lvl9pPr marL="3699865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7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62483" indent="0">
              <a:buNone/>
              <a:defRPr sz="1300">
                <a:solidFill>
                  <a:schemeClr val="tx2"/>
                </a:solidFill>
              </a:defRPr>
            </a:lvl2pPr>
            <a:lvl3pPr marL="924967" indent="0">
              <a:buNone/>
              <a:defRPr sz="1300">
                <a:solidFill>
                  <a:schemeClr val="tx2"/>
                </a:solidFill>
              </a:defRPr>
            </a:lvl3pPr>
            <a:lvl4pPr marL="1387450" indent="0">
              <a:buNone/>
              <a:defRPr sz="1300">
                <a:solidFill>
                  <a:schemeClr val="tx2"/>
                </a:solidFill>
              </a:defRPr>
            </a:lvl4pPr>
            <a:lvl5pPr marL="1849933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7236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2"/>
            <a:ext cx="1849821" cy="324591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1300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6992" indent="-400577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86714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77125" y="82637"/>
            <a:ext cx="10515600" cy="721375"/>
          </a:xfrm>
        </p:spPr>
        <p:txBody>
          <a:bodyPr vert="horz" lIns="123329" tIns="61666" rIns="123329" bIns="61666" rtlCol="0" anchor="t">
            <a:noAutofit/>
          </a:bodyPr>
          <a:lstStyle>
            <a:lvl1pPr>
              <a:defRPr lang="pt-PT"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11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7127" y="1124713"/>
            <a:ext cx="10903849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1852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80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4000">
                <a:solidFill>
                  <a:schemeClr val="tx1"/>
                </a:solidFill>
              </a:defRPr>
            </a:lvl2pPr>
            <a:lvl3pPr>
              <a:defRPr sz="11600">
                <a:solidFill>
                  <a:schemeClr val="tx1"/>
                </a:solidFill>
              </a:defRPr>
            </a:lvl3pPr>
            <a:lvl4pPr>
              <a:defRPr sz="9700">
                <a:solidFill>
                  <a:schemeClr val="tx1"/>
                </a:solidFill>
              </a:defRPr>
            </a:lvl4pPr>
            <a:lvl5pPr>
              <a:defRPr sz="97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00938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900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199548"/>
            <a:ext cx="10758733" cy="3189036"/>
          </a:xfrm>
        </p:spPr>
        <p:txBody>
          <a:bodyPr numCol="2" spcCol="97109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50782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04866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1" y="1124722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3" y="1124694"/>
            <a:ext cx="6683551" cy="5298368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/>
              <a:t>Insira aqui seu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69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91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3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46419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0" y="1232631"/>
            <a:ext cx="6456737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3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79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83"/>
            <a:ext cx="1347483" cy="47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10"/>
            <a:ext cx="3365479" cy="1324865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pt-PT" sz="1300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1233288"/>
            <a:endParaRPr lang="pt-PT" sz="1300">
              <a:solidFill>
                <a:srgbClr val="6E7678"/>
              </a:solidFill>
            </a:endParaRPr>
          </a:p>
          <a:p>
            <a:pPr defTabSz="1233288"/>
            <a:r>
              <a:rPr lang="pt-PT" sz="1300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3" y="649715"/>
            <a:ext cx="3365479" cy="763970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4000" err="1">
                <a:solidFill>
                  <a:srgbClr val="EB0000"/>
                </a:solidFill>
              </a:rPr>
              <a:t>Obrigado</a:t>
            </a:r>
            <a:r>
              <a:rPr lang="es-ES" sz="400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56" y="3576683"/>
            <a:ext cx="3046637" cy="30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2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91373" tIns="45686" rIns="91373" bIns="4568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69"/>
            <a:ext cx="10515600" cy="4500412"/>
          </a:xfrm>
          <a:prstGeom prst="rect">
            <a:avLst/>
          </a:prstGeom>
        </p:spPr>
        <p:txBody>
          <a:bodyPr vert="horz" lIns="91373" tIns="45686" rIns="91373" bIns="4568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hf hdr="0" dt="0"/>
  <p:txStyles>
    <p:titleStyle>
      <a:lvl1pPr algn="l" defTabSz="91375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38" indent="-228438" algn="l" defTabSz="91375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31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189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061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93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2812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68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56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438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76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51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6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4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377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5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1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9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123329" tIns="61666" rIns="123329" bIns="6166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70"/>
            <a:ext cx="10515600" cy="4500412"/>
          </a:xfrm>
          <a:prstGeom prst="rect">
            <a:avLst/>
          </a:prstGeom>
        </p:spPr>
        <p:txBody>
          <a:bodyPr vert="horz" lIns="123329" tIns="61666" rIns="123329" bIns="6166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r>
              <a:rPr lang="es-ES">
                <a:solidFill>
                  <a:prstClr val="black">
                    <a:tint val="75000"/>
                  </a:prstClr>
                </a:solidFill>
              </a:rPr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1233288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530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924967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243" indent="-231243" algn="l" defTabSz="924967" rtl="0" eaLnBrk="1" latinLnBrk="0" hangingPunct="1">
        <a:lnSpc>
          <a:spcPct val="90000"/>
        </a:lnSpc>
        <a:spcBef>
          <a:spcPts val="1012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3726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56207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1869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81174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658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06140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6862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931105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248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24967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8745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93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12414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74901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37382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99865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sv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6.emf"/><Relationship Id="rId4" Type="http://schemas.openxmlformats.org/officeDocument/2006/relationships/oleObject" Target="../embeddings/oleObject2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748" y="1546412"/>
            <a:ext cx="11340264" cy="645459"/>
          </a:xfrm>
        </p:spPr>
        <p:txBody>
          <a:bodyPr>
            <a:normAutofit/>
          </a:bodyPr>
          <a:lstStyle/>
          <a:p>
            <a:r>
              <a:rPr lang="es-ES"/>
              <a:t>Projeto Repositório Consolidado de Garantias</a:t>
            </a:r>
          </a:p>
        </p:txBody>
      </p:sp>
      <p:sp>
        <p:nvSpPr>
          <p:cNvPr id="5" name="CuadroTexto 7"/>
          <p:cNvSpPr txBox="1"/>
          <p:nvPr/>
        </p:nvSpPr>
        <p:spPr>
          <a:xfrm>
            <a:off x="5031441" y="365329"/>
            <a:ext cx="68557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>
                <a:solidFill>
                  <a:schemeClr val="bg2">
                    <a:lumMod val="50000"/>
                  </a:schemeClr>
                </a:solidFill>
              </a:rPr>
              <a:t>Para conhecimento   </a:t>
            </a:r>
          </a:p>
        </p:txBody>
      </p:sp>
      <p:sp>
        <p:nvSpPr>
          <p:cNvPr id="8" name="CuadroTexto 11"/>
          <p:cNvSpPr txBox="1"/>
          <p:nvPr/>
        </p:nvSpPr>
        <p:spPr>
          <a:xfrm>
            <a:off x="928689" y="815696"/>
            <a:ext cx="1095851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>
                <a:solidFill>
                  <a:schemeClr val="bg2">
                    <a:lumMod val="50000"/>
                  </a:schemeClr>
                </a:solidFill>
              </a:rPr>
              <a:t>Confidencial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6189" y="2680456"/>
            <a:ext cx="996459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PT" sz="2000" dirty="0">
                <a:solidFill>
                  <a:schemeClr val="tx2"/>
                </a:solidFill>
              </a:rPr>
              <a:t>Ponto de Situação</a:t>
            </a:r>
          </a:p>
          <a:p>
            <a:pPr>
              <a:spcAft>
                <a:spcPts val="1200"/>
              </a:spcAft>
            </a:pPr>
            <a:r>
              <a:rPr lang="pt-PT" sz="1600" dirty="0">
                <a:solidFill>
                  <a:schemeClr val="tx2"/>
                </a:solidFill>
              </a:rPr>
              <a:t>15 de Maio de 2023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65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18" y="647833"/>
            <a:ext cx="6879009" cy="2950470"/>
          </a:xfrm>
        </p:spPr>
        <p:txBody>
          <a:bodyPr>
            <a:normAutofit fontScale="90000"/>
          </a:bodyPr>
          <a:lstStyle/>
          <a:p>
            <a:r>
              <a:rPr lang="pt-PT" dirty="0"/>
              <a:t>Análise e testes de Modelo em produção a 30 Abril 2023, com respeito à data re-simulada de 28 Fevereiro 2023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15426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1.1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17E78E-41EA-4899-8FEE-94E9E4145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159263"/>
              </p:ext>
            </p:extLst>
          </p:nvPr>
        </p:nvGraphicFramePr>
        <p:xfrm>
          <a:off x="722242" y="2202181"/>
          <a:ext cx="9518400" cy="31146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6422400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ID</a:t>
                      </a:r>
                      <a:endParaRPr lang="pt-PT" sz="95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Temas</a:t>
                      </a:r>
                      <a:endParaRPr lang="pt-PT" sz="95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Apenas serão contempladas responsabilidades/processos com bens associados e com datas de vencimento válidas (exceto bens com origem </a:t>
                      </a:r>
                      <a:r>
                        <a:rPr lang="pt-PT" sz="95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).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2 506</a:t>
                      </a:r>
                    </a:p>
                  </a:txBody>
                  <a:tcPr marL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-886 937 308</a:t>
                      </a:r>
                    </a:p>
                  </a:txBody>
                  <a:tcPr marL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395443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Todos os titulares, utilizados atualmente como garantias pessoais, serão excluídos.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65 461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-4 683 472 503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75890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 algoritmos de apuramento de saldos das responsabilidades, relevantes para a distribuição dos montantes das garantias, passará a contemplar contas contabilisticas de juros e despesas vencidas.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188 298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21 626 230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20072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 metodologia de aprovisionamento de montantes de avaliação para fomentos à construção e IFRRUs, manter-se-á como no BIYR9500, à exceção da percentagem de avaliação atribuida ao BST (será como base o financiamento inicial do IFRRU e não no saldo em dívida atual). A mesma será revista após o rácio de Abril.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233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47 114 506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057866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Santander Text" panose="020B0504020201020104" pitchFamily="34" charset="0"/>
                        </a:rPr>
                        <a:t>5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 montante considerado em garantias pessoais deve ser o da responsabilidade e não o do processo.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149 237</a:t>
                      </a:r>
                      <a:r>
                        <a:rPr lang="pt-PT" sz="95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-6 376 406 165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77517"/>
                  </a:ext>
                </a:extLst>
              </a:tr>
              <a:tr h="456412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No caso das garantias financeiras, serão descartadas as garantias cuja data de vencimento seja inferior à data do rácio, mesmo tendo uma data de cativo válida (uma vez que a data de cativo pode ser referente à DO e não ao bem contratualizado incialmente com o cliente). Metodologia que será aplicada após quantificação de impactos. 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Por quantificar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5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576559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Apenas serão contemplados bens com datas de avaliação válidas (exceto bens com origem </a:t>
                      </a:r>
                      <a:r>
                        <a:rPr lang="pt-PT" sz="95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329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-90 881 145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40860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 metodologia de aprovisionamento de montantes/datas de avaliação aplicada a Fomentos à Construção deve ser igual para todas as origens.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-159 517 354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31618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391C80-8503-526C-1599-9EAA37A0065B}"/>
              </a:ext>
            </a:extLst>
          </p:cNvPr>
          <p:cNvSpPr txBox="1"/>
          <p:nvPr/>
        </p:nvSpPr>
        <p:spPr>
          <a:xfrm>
            <a:off x="711028" y="1837443"/>
            <a:ext cx="99476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 dirty="0">
                <a:effectLst/>
                <a:latin typeface="Santander Text" panose="020B0504020201020104" pitchFamily="34" charset="0"/>
                <a:ea typeface="Times New Roman" panose="02020603050405020304" pitchFamily="18" charset="0"/>
              </a:rPr>
              <a:t>Alterações que foram realizadas no modelo face à situação que existe atualmente no BIYR2500 com impacto nos resultados (1/2):</a:t>
            </a:r>
            <a:endParaRPr lang="en-US" sz="1100" dirty="0">
              <a:latin typeface="Santander Text" panose="020B05040202010201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253D2F7-582B-9495-0091-F9EDA507B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037194"/>
            <a:ext cx="39565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16 de abril.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800" dirty="0">
                <a:latin typeface="Santander Text" panose="020B0504020201020104" pitchFamily="34" charset="0"/>
              </a:rPr>
              <a:t>2. A granularidade utilizada para análise foi ao nivel do bem (garantia pessoal – Cliente)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ntander Text" panose="020B0504020201020104" pitchFamily="34" charset="0"/>
              <a:ea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8C708A-8BD1-AC1B-BB7B-66FE96C4AC15}"/>
              </a:ext>
            </a:extLst>
          </p:cNvPr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Controlos e Resultados (relativo a 28 de Fevereiro 2023)</a:t>
            </a:r>
            <a:r>
              <a:rPr lang="pt-PT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1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Resumo de diferenças no Novo Modelo de Garantias</a:t>
            </a:r>
            <a:endParaRPr lang="en-US" sz="12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3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1.1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Controlos e Resultados (relativo a 28 de Fevereiro 2023)</a:t>
            </a:r>
            <a:r>
              <a:rPr lang="pt-PT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1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Resumo de diferenças no Novo Modelo de Garantias</a:t>
            </a:r>
            <a:endParaRPr lang="en-US" sz="12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17E78E-41EA-4899-8FEE-94E9E4145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090519"/>
              </p:ext>
            </p:extLst>
          </p:nvPr>
        </p:nvGraphicFramePr>
        <p:xfrm>
          <a:off x="722242" y="2202181"/>
          <a:ext cx="9518400" cy="28350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6422400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ID</a:t>
                      </a:r>
                      <a:endParaRPr lang="pt-PT" sz="95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Temas</a:t>
                      </a:r>
                      <a:endParaRPr lang="pt-PT" sz="95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 rateio dos bens pelos processos/responsabilidades deve ser feito independentemente da origem e deve ser realizado com base no valor atual da responsabilidade e não pela percentagem de cobertura calculada no momento da contratação.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279</a:t>
                      </a:r>
                    </a:p>
                  </a:txBody>
                  <a:tcPr marL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-189 418 866</a:t>
                      </a:r>
                    </a:p>
                  </a:txBody>
                  <a:tcPr marL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737352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Saldos de bens financeiros utilizados no modelo apresentam lag de um dia face ao BIYR (BIYR utiliza saldos de D+1).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3 079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1 081 239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79692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São consideradas todas as garantias financeiras válidas dentro da mesma caução, independentemente da sua tipologia (exemplo, DO e TT).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118 763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61309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Apenas serão contempladas garantias manuais de PPC com caução carregada para o respetivo emitente/programa. Nos títulos as cauções são as mesmas.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73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-198 447 882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64744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 montante das garantias pessoais será o resultado após a multiplicação do valor da responsabilidade pela percentagem de cobertura do cliente (bem).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149 237</a:t>
                      </a:r>
                      <a:r>
                        <a:rPr lang="pt-PT" sz="95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-953 149 145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48268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Deve ser considerado o valor de avaliação mais recente, independentemente do seu montante (inclusão de avaliações com montante igual a zero).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55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-16 258 323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15891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Apenas serão contemplados empréstimos e processos formalizados.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-1 621 716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473621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Cauções de garantias manuais de PPC selecionadas de acordo com a nova parametrização (cauções mais recentes carregadas por emitente/programa).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73</a:t>
                      </a:r>
                      <a:r>
                        <a:rPr lang="pt-PT" sz="95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95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25 968 613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80488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391C80-8503-526C-1599-9EAA37A0065B}"/>
              </a:ext>
            </a:extLst>
          </p:cNvPr>
          <p:cNvSpPr txBox="1"/>
          <p:nvPr/>
        </p:nvSpPr>
        <p:spPr>
          <a:xfrm>
            <a:off x="711028" y="1837443"/>
            <a:ext cx="99476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 dirty="0">
                <a:effectLst/>
                <a:latin typeface="Santander Text" panose="020B0504020201020104" pitchFamily="34" charset="0"/>
                <a:ea typeface="Times New Roman" panose="02020603050405020304" pitchFamily="18" charset="0"/>
              </a:rPr>
              <a:t>Alterações que foram realizadas no modelo face à situação que existe atualmente no BIYR2500 com impacto nos resultados (2/2):</a:t>
            </a:r>
            <a:endParaRPr lang="en-US" sz="1100" dirty="0">
              <a:latin typeface="Santander Text" panose="020B05040202010201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81D586-B3A4-FFE9-CA88-29DE168AE118}"/>
              </a:ext>
            </a:extLst>
          </p:cNvPr>
          <p:cNvSpPr/>
          <p:nvPr/>
        </p:nvSpPr>
        <p:spPr>
          <a:xfrm>
            <a:off x="-24384" y="4419307"/>
            <a:ext cx="827024" cy="315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PT" sz="700" b="1" dirty="0">
                <a:solidFill>
                  <a:srgbClr val="00B050"/>
                </a:solidFill>
              </a:rPr>
              <a:t>NOVO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5D750DF-A697-68D7-B1BD-D2D54EDCD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037194"/>
            <a:ext cx="39565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16 de abril.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800" dirty="0">
                <a:latin typeface="Santander Text" panose="020B0504020201020104" pitchFamily="34" charset="0"/>
              </a:rPr>
              <a:t>2. A granularidade utilizada para análise foi ao nivel do bem (garantia pessoal – Cliente)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ntander Text" panose="020B0504020201020104" pitchFamily="34" charset="0"/>
              <a:ea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BAEF15-400D-8CE6-5DB7-EEF0E96B4230}"/>
              </a:ext>
            </a:extLst>
          </p:cNvPr>
          <p:cNvSpPr/>
          <p:nvPr/>
        </p:nvSpPr>
        <p:spPr>
          <a:xfrm>
            <a:off x="-24384" y="4728724"/>
            <a:ext cx="827024" cy="315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PT" sz="700" b="1" dirty="0">
                <a:solidFill>
                  <a:srgbClr val="00B050"/>
                </a:solidFill>
              </a:rPr>
              <a:t>NOVO</a:t>
            </a:r>
          </a:p>
        </p:txBody>
      </p:sp>
    </p:spTree>
    <p:extLst>
      <p:ext uri="{BB962C8B-B14F-4D97-AF65-F5344CB8AC3E}">
        <p14:creationId xmlns:p14="http://schemas.microsoft.com/office/powerpoint/2010/main" val="304460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1.1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264425"/>
              </p:ext>
            </p:extLst>
          </p:nvPr>
        </p:nvGraphicFramePr>
        <p:xfrm>
          <a:off x="722242" y="2455200"/>
          <a:ext cx="9936401" cy="2625600"/>
        </p:xfrm>
        <a:graphic>
          <a:graphicData uri="http://schemas.openxmlformats.org/drawingml/2006/table">
            <a:tbl>
              <a:tblPr firstRow="1" firstCol="1" bandRow="1"/>
              <a:tblGrid>
                <a:gridCol w="1477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1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4093056714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87639265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BIYR2500 (1)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Novo Modelo de Garantias (2)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1000" b="1" i="1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∆ </a:t>
                      </a:r>
                      <a:r>
                        <a:rPr lang="pt-PT" sz="1000" b="1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(2-1)</a:t>
                      </a:r>
                      <a:r>
                        <a:rPr lang="pt-PT" sz="1000" b="1" i="1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endParaRPr lang="en-US" sz="1000" b="1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Tipo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Factoring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89 756 471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9 041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89 757 971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8 133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Pessoais 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1000" b="0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 e Factoring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)</a:t>
                      </a:r>
                      <a:r>
                        <a:rPr lang="en-US" sz="1000" b="0" baseline="3000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401 166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35 128 682 521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365 599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22 755 708 277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-35 567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-12 372 974 245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Financeiras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7 828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1 223 879 325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7 797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689 000 109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-534 879 216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506073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Imóveis 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1000" b="0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)</a:t>
                      </a: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369 230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57 924 831 957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404 834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57 290 731 815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35 604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-634 100 142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Pessoais </a:t>
                      </a:r>
                      <a:r>
                        <a:rPr lang="en-US" sz="1000" b="0" baseline="3000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38 217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1 670 926 407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33 731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1 589 008 761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-4 486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-81 917 646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31953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Imóveis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5 224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1 527 943 327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5 005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1 503 824 682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-219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-24 118 645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997582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822 573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97 566 020 010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826 007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83 918 031 616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3 434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-13 647 988 394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3636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1028" y="1837443"/>
            <a:ext cx="85111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>
                <a:latin typeface="Santander Text" panose="020B0504020201020104" pitchFamily="34" charset="0"/>
              </a:rPr>
              <a:t>Comparação de universo e montantes de avaliações:</a:t>
            </a:r>
            <a:endParaRPr lang="en-US" sz="1100">
              <a:latin typeface="Santander Text" panose="020B05040202010201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395CC0C-E4E9-D409-255D-6A32BEE35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037194"/>
            <a:ext cx="39565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16 de abril.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800" dirty="0">
                <a:latin typeface="Santander Text" panose="020B0504020201020104" pitchFamily="34" charset="0"/>
              </a:rPr>
              <a:t>2. A granularidade utilizada para análise foi ao nivel do bem (garantia pessoal – Cliente)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ntander Text" panose="020B0504020201020104" pitchFamily="34" charset="0"/>
              <a:ea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714F8A-1CCA-0BE0-DD1C-FDBAED35AF07}"/>
              </a:ext>
            </a:extLst>
          </p:cNvPr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Controlos e Resultados (relativo a 28 de Fevereiro 2023)</a:t>
            </a:r>
            <a:r>
              <a:rPr lang="pt-PT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1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Resumo de diferenças no Novo Modelo de Garantias</a:t>
            </a:r>
            <a:endParaRPr lang="en-US" sz="12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00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1.2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Controlos e Resultados (relativo a 28 de Fevereiro 2023)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Detalhe por tipologia de garantia</a:t>
            </a:r>
            <a:endParaRPr lang="en-US" sz="12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Garantias Pessoais</a:t>
            </a:r>
            <a:r>
              <a:rPr lang="pt-PT" sz="1000" b="1" baseline="30000">
                <a:solidFill>
                  <a:schemeClr val="tx1"/>
                </a:solidFill>
                <a:latin typeface="Santander Text" panose="020B0504020201020104" pitchFamily="34" charset="0"/>
              </a:rPr>
              <a:t>1 2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209315"/>
              </p:ext>
            </p:extLst>
          </p:nvPr>
        </p:nvGraphicFramePr>
        <p:xfrm>
          <a:off x="722243" y="1992456"/>
          <a:ext cx="9063850" cy="3112032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1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Processo/ Cliente </a:t>
                      </a:r>
                      <a:r>
                        <a:rPr lang="pt-PT" sz="900" b="1" baseline="30000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</a:t>
                      </a:r>
                      <a:endParaRPr lang="pt-PT" sz="900" baseline="30000" noProof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476">
                <a:tc row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1) Universo Comum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26 962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1 978 657 023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1 978 657 023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337 535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20 501 400 928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27 809 330 008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-7 307 929 080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58791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1 037 387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877 638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159 749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037319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15 662 211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15 657 244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4 967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364 524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22 496 757 549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29 804 521 913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-7 307 764 364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476">
                <a:tc rowSpan="5">
                  <a:txBody>
                    <a:bodyPr/>
                    <a:lstStyle/>
                    <a:p>
                      <a:pPr algn="l"/>
                      <a:r>
                        <a:rPr lang="pt-PT" sz="1000" b="1">
                          <a:latin typeface="Santander Text" panose="020B0504020201020104" pitchFamily="34" charset="0"/>
                        </a:rPr>
                        <a:t>2) Exclusivo Novo Modelo de Garantias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159 334 780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159 334 780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197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26 759 366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26 759 366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298044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261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51 894 748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51 894 748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969398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20 961 833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20 961 833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1 075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258 950 728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258 950 728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476">
                <a:tc rowSpan="5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3) Exclusivo BIYR2500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62 346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5 085 273 875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-5 085 273 875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2 465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ysClr val="windowText" lastClr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182 294 039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-182 294 039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551771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48 504 637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-48 504 637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10498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8 088 057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-8 088 057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65 347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5 324 160 608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-5 324 160 608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23268" y="6499188"/>
            <a:ext cx="3972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Santander Text" panose="020B0504020201020104" pitchFamily="34" charset="0"/>
              </a:rPr>
              <a:t>1. A análise exclui o universo de </a:t>
            </a:r>
            <a:r>
              <a:rPr lang="pt-BR" sz="800" i="1" dirty="0">
                <a:latin typeface="Santander Text" panose="020B0504020201020104" pitchFamily="34" charset="0"/>
              </a:rPr>
              <a:t>Leasing</a:t>
            </a:r>
            <a:r>
              <a:rPr lang="pt-BR" sz="800" dirty="0">
                <a:latin typeface="Santander Text" panose="020B0504020201020104" pitchFamily="34" charset="0"/>
              </a:rPr>
              <a:t> e </a:t>
            </a:r>
            <a:r>
              <a:rPr lang="pt-BR" sz="800" i="1" dirty="0">
                <a:latin typeface="Santander Text" panose="020B0504020201020104" pitchFamily="34" charset="0"/>
              </a:rPr>
              <a:t>Factoring</a:t>
            </a:r>
          </a:p>
          <a:p>
            <a:r>
              <a:rPr lang="pt-BR" sz="800" dirty="0">
                <a:latin typeface="Santander Text" panose="020B0504020201020104" pitchFamily="34" charset="0"/>
              </a:rPr>
              <a:t>2. A granularidade utilizada para análise foi ao nivel do bem (garantia pessoal – Cliente)</a:t>
            </a:r>
          </a:p>
          <a:p>
            <a:r>
              <a:rPr lang="pt-BR" sz="800" dirty="0">
                <a:latin typeface="Santander Text" panose="020B0504020201020104" pitchFamily="34" charset="0"/>
              </a:rPr>
              <a:t>3. A granularidade apresentada é a do Novo Modelo de Garantias (granularidade de IC’s)</a:t>
            </a:r>
            <a:endParaRPr lang="en-US" sz="800" dirty="0">
              <a:latin typeface="Santander Text" panose="020B05040202010201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F56CD-ED3D-EFF2-896B-D465D8A8C9A8}"/>
              </a:ext>
            </a:extLst>
          </p:cNvPr>
          <p:cNvSpPr/>
          <p:nvPr/>
        </p:nvSpPr>
        <p:spPr>
          <a:xfrm>
            <a:off x="722243" y="5056456"/>
            <a:ext cx="7710557" cy="12642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1) Universo Comum: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Montante da garantia pessoal reflete o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valor da reponsabilidade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 e não o do processo.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Montante da garantia resulta da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multiplicação do valor da responsabilidade pela percentagem de cobertura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 do cliente.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O saldo das responsabilidades passará a contemplar contas contabilisticas de juros e despesas vencidas.</a:t>
            </a:r>
          </a:p>
          <a:p>
            <a:pPr marL="228600" indent="-228600">
              <a:buFont typeface="+mj-lt"/>
              <a:buAutoNum type="arabicPeriod"/>
            </a:pPr>
            <a:endParaRPr lang="pt-PT" sz="900" u="sng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3) Exclusivo BIYR2500:</a:t>
            </a:r>
            <a:endParaRPr lang="pt-PT" sz="900" u="sng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Todos os titulares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, utilizados atualmente como garantias pessoais,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serão excluídos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com bens associados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contempladas garantias manuais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com cauções carregadas pora o respetivo emitente/programa.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Cauções de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garantias manuais de PPC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selecionadas de acordo com a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nova parametrização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(cauções mais recentes carregadas por emitente/programa).</a:t>
            </a:r>
          </a:p>
          <a:p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33524D-FE29-441D-4EBA-6582676B972E}"/>
              </a:ext>
            </a:extLst>
          </p:cNvPr>
          <p:cNvSpPr/>
          <p:nvPr/>
        </p:nvSpPr>
        <p:spPr>
          <a:xfrm>
            <a:off x="6991927" y="5056456"/>
            <a:ext cx="4197927" cy="12642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2) Exclusivo Novo Modelo de Garantias:</a:t>
            </a:r>
            <a:endParaRPr lang="pt-PT" sz="900" b="1" u="sng" dirty="0">
              <a:solidFill>
                <a:schemeClr val="accent4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Cauções de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garantias manuais de PPC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selecionadas de acordo com a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nova parametrização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(cauções mais recentes carregadas por emitente/programa).</a:t>
            </a: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286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7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1.2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Controlos e Resultados (relativo a 28 de Fevereiro 2023)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Detalhe por tipologia de garantia</a:t>
            </a:r>
            <a:endParaRPr lang="en-US" sz="12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Garantias Financeiras</a:t>
            </a:r>
            <a:endParaRPr lang="en-US" sz="1000" b="1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DBE921F-5189-2684-9605-7881F2DD0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427162"/>
              </p:ext>
            </p:extLst>
          </p:nvPr>
        </p:nvGraphicFramePr>
        <p:xfrm>
          <a:off x="722243" y="1992456"/>
          <a:ext cx="9063850" cy="218256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1</a:t>
                      </a:r>
                      <a:endParaRPr lang="pt-PT" sz="900" baseline="300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1) Universo Comum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4 421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399 888 684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399 888 684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3 149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262 774 328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261 574 326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1 200 002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1786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8 360 586,24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8 360 925,44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-339,20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51067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16 743 636,27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14 338 634,24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2 405 002,03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7 764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687 767 235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684 162 570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3 604 665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>
                          <a:latin typeface="Santander Text" panose="020B0504020201020104" pitchFamily="34" charset="0"/>
                        </a:rPr>
                        <a:t>2) Exclusivo Novo Modelo de Garantias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1 232 875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1 232 875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1 232 875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1 232 875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3) Exclusivo BIYR2500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539 713 422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-539 713 422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3 333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-3 333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539 716 755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-539 716 755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D9B12163-7231-98A4-752B-C91842F7088D}"/>
              </a:ext>
            </a:extLst>
          </p:cNvPr>
          <p:cNvSpPr/>
          <p:nvPr/>
        </p:nvSpPr>
        <p:spPr>
          <a:xfrm>
            <a:off x="711028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1) Universo Comum:</a:t>
            </a:r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Saldos de bens financeiros utilizados no modelo apresentam </a:t>
            </a:r>
            <a:r>
              <a:rPr lang="pt-PT" sz="900" i="1" u="sng">
                <a:solidFill>
                  <a:schemeClr val="tx1"/>
                </a:solidFill>
                <a:latin typeface="Santander Text" panose="020B0504020201020104" pitchFamily="34" charset="0"/>
              </a:rPr>
              <a:t>lag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 de um dia 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face ao BIYR (BIYR utiliza saldos de D+1).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b="0" i="0" u="none" strike="noStrike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São consideradas todas as </a:t>
            </a:r>
            <a:r>
              <a:rPr lang="pt-PT" sz="900" b="0" i="0" u="sng" strike="noStrike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garantias financeiras válidas dentro da mesma caução</a:t>
            </a:r>
            <a:r>
              <a:rPr lang="pt-PT" sz="900" b="0" i="0" u="none" strike="noStrike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, independentemente da sua tipologia (exemplo, DO e TT)</a:t>
            </a:r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r>
              <a:rPr lang="pt-PT" sz="900" b="1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3) Exclusivo BIYR2500:</a:t>
            </a:r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contempladas responsabilidades/processos 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com bens associados 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e com 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datas de vencimento válidas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D0D770-CF7C-B3A4-7476-7F7C8EE33F02}"/>
              </a:ext>
            </a:extLst>
          </p:cNvPr>
          <p:cNvSpPr txBox="1"/>
          <p:nvPr/>
        </p:nvSpPr>
        <p:spPr>
          <a:xfrm>
            <a:off x="711028" y="6072469"/>
            <a:ext cx="39950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>
                <a:latin typeface="Santander Text" panose="020B0504020201020104" pitchFamily="34" charset="0"/>
              </a:rPr>
              <a:t>1. A granularidade apresentada é a do Novo Modelo de Garantias (granularidade de IC’s) </a:t>
            </a:r>
            <a:endParaRPr lang="en-US" sz="800"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63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8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1.2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Controlos e Resultados (relativo a 28 de Fevereiro 2023)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Detalhe por tipologia de garantia</a:t>
            </a:r>
            <a:endParaRPr lang="en-US" sz="12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Garantias Imóveis</a:t>
            </a:r>
            <a:r>
              <a:rPr lang="pt-PT" sz="1000" b="1" baseline="30000">
                <a:solidFill>
                  <a:schemeClr val="tx1"/>
                </a:solidFill>
                <a:latin typeface="Santander Text" panose="020B0504020201020104" pitchFamily="34" charset="0"/>
              </a:rPr>
              <a:t>1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4EF0D11-64A1-95A7-5896-603B98071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117764"/>
              </p:ext>
            </p:extLst>
          </p:nvPr>
        </p:nvGraphicFramePr>
        <p:xfrm>
          <a:off x="722243" y="1992456"/>
          <a:ext cx="9063850" cy="2182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1) Universo Comum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249 864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43 265 584 690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43 265 584 690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132 607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12 912 284 035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13 227 714 323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-315 430 288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11558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22 232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1 099 716 635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1 099 697 582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19 053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44698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11 559 126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11 567 373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-8 247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25974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1 013 108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1 294 777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-281 669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404 726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57 290 157 594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57 605 858 745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-315 701 151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2) Exclusivo Novo </a:t>
                      </a:r>
                    </a:p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Modelo de Garantias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9530" marR="6627" marT="662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574 221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574 221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60737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ysClr val="windowText" lastClr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574 221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574 221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049901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3)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1 262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318 973 212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-318 973 212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1 262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318 973 212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-318 973 212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3A208F6-5AB8-A553-3145-F5362921AE62}"/>
              </a:ext>
            </a:extLst>
          </p:cNvPr>
          <p:cNvSpPr/>
          <p:nvPr/>
        </p:nvSpPr>
        <p:spPr>
          <a:xfrm>
            <a:off x="722243" y="4594860"/>
            <a:ext cx="9645107" cy="16673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1) Universo Comum:</a:t>
            </a: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A metodologia de aprovisionamento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de montantes/datas de avaliação 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aplicada a Fomentos à Construção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deve ser igual para todas as origens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rateio dos bens 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pelos processos/responsabilidades deve ser feito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independentemente da origem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 e deve ser realizado com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base no valor atual da responsabilidade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e não pela percentagem de cobertura calculada no momento da contratação.</a:t>
            </a:r>
            <a:endParaRPr lang="pt-PT" sz="900" u="none" strike="noStrike" dirty="0">
              <a:solidFill>
                <a:schemeClr val="tx1"/>
              </a:solidFill>
              <a:effectLst/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percentagem de avaliação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atribuida ao BST no que respeita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IFRRUs,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terá como base o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financiamento inicial do IFRRU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e não o saldo em dívida atual.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Deve ser considerado o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valor de avaliação mais recente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, independentemente do seu montante (inclusão de avaliações com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montante igual a zero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).</a:t>
            </a:r>
          </a:p>
          <a:p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3) Exclusivo BIYR9500: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com bens associados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contemplados bens com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datas de avaliação válidas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contemplados empréstimos e processos formalizados.</a:t>
            </a:r>
          </a:p>
          <a:p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7CA54-E9D4-15E2-B844-863EF76FF921}"/>
              </a:ext>
            </a:extLst>
          </p:cNvPr>
          <p:cNvSpPr txBox="1"/>
          <p:nvPr/>
        </p:nvSpPr>
        <p:spPr>
          <a:xfrm>
            <a:off x="2095391" y="6427283"/>
            <a:ext cx="39950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>
                <a:latin typeface="Santander Text" panose="020B0504020201020104" pitchFamily="34" charset="0"/>
              </a:rPr>
              <a:t>1. A análise exclui o universo de </a:t>
            </a:r>
            <a:r>
              <a:rPr lang="pt-BR" sz="800" i="1">
                <a:latin typeface="Santander Text" panose="020B0504020201020104" pitchFamily="34" charset="0"/>
              </a:rPr>
              <a:t>Leasing</a:t>
            </a:r>
          </a:p>
          <a:p>
            <a:r>
              <a:rPr lang="pt-BR" sz="800">
                <a:latin typeface="Santander Text" panose="020B0504020201020104" pitchFamily="34" charset="0"/>
              </a:rPr>
              <a:t>2. A granularidade apresentada é a do Novo Modelo de Garantias (granularidade de IC’s) </a:t>
            </a:r>
            <a:endParaRPr lang="en-US" sz="800"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53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9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1.2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Controlos e Resultados (relativo a 28 de Fevereiro 2023)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 | Detalhe por tipologia de garantia</a:t>
            </a:r>
            <a:endParaRPr lang="en-US" sz="12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>
                <a:solidFill>
                  <a:schemeClr val="tx1"/>
                </a:solidFill>
                <a:latin typeface="Santander Text" panose="020B0504020201020104" pitchFamily="34" charset="0"/>
              </a:rPr>
              <a:t>Leasing</a:t>
            </a:r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 Imóveis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F8BDE-9239-AD09-EF31-CC46E4FB8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64763"/>
              </p:ext>
            </p:extLst>
          </p:nvPr>
        </p:nvGraphicFramePr>
        <p:xfrm>
          <a:off x="722243" y="1992456"/>
          <a:ext cx="9063850" cy="1426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1</a:t>
                      </a:r>
                      <a:endParaRPr lang="pt-PT" sz="900" baseline="300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1) Universo Comum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4 991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1 502 274 186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1 502 274 186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1 550 496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70 000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1 480 496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5 005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1 503 824 682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1 502 344 186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1 480 496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BIYR2500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23 403 006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-23 403 006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2 196 135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-2 196 135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1044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219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25 599 141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-25 599 141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39725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>
                <a:latin typeface="Santander Text" panose="020B0504020201020104" pitchFamily="34" charset="0"/>
              </a:rPr>
              <a:t>1. A granularidade apresentada é a do Novo Modelo de Garantias (granularidade de IC’s)</a:t>
            </a:r>
            <a:endParaRPr lang="en-US" sz="800"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7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10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1.2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Controlos e Resultados (relativo a 28 de Fevereiro 2023)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Detalhe por tipologia de garantia</a:t>
            </a:r>
            <a:endParaRPr lang="en-US" sz="12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B7515AF-BE8F-166D-017D-FFA2E7258BC8}"/>
              </a:ext>
            </a:extLst>
          </p:cNvPr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>
                <a:solidFill>
                  <a:schemeClr val="tx1"/>
                </a:solidFill>
                <a:latin typeface="Santander Text" panose="020B0504020201020104" pitchFamily="34" charset="0"/>
              </a:rPr>
              <a:t>Leasing </a:t>
            </a:r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Pessoais</a:t>
            </a:r>
            <a:r>
              <a:rPr lang="pt-PT" sz="1000" b="1" baseline="30000">
                <a:solidFill>
                  <a:schemeClr val="tx1"/>
                </a:solidFill>
                <a:latin typeface="Santander Text" panose="020B0504020201020104" pitchFamily="34" charset="0"/>
              </a:rPr>
              <a:t> 1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B80F0A-E11B-61FA-EFAD-1E764024B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400065"/>
              </p:ext>
            </p:extLst>
          </p:nvPr>
        </p:nvGraphicFramePr>
        <p:xfrm>
          <a:off x="722243" y="1992456"/>
          <a:ext cx="9063850" cy="200256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Processo/Cliente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  <a:cs typeface="+mn-cs"/>
                        </a:rPr>
                        <a:t> 1) Universo Comum</a:t>
                      </a:r>
                      <a:endParaRPr lang="en-US" sz="1000" b="1" kern="12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2 413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22 657 023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22 657 023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30 142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1 442 913 682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1 439 712 189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3 201 493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69802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1 175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123 437 780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113 344 027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10 093 753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9329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33 730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1 589 008 485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1 575 713 239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13 295 246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ysClr val="windowText" lastClr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BIYR2500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4 455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95 212 268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-95 212 268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-900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0124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4 487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95 213 168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-95 213 168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39725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>
                <a:latin typeface="Santander Text" panose="020B0504020201020104" pitchFamily="34" charset="0"/>
              </a:rPr>
              <a:t>1. A granularidade utilizada para análise foi ao nivel do bem (garantia pessoal – Cliente)</a:t>
            </a:r>
          </a:p>
          <a:p>
            <a:r>
              <a:rPr lang="pt-BR" sz="800">
                <a:latin typeface="Santander Text" panose="020B0504020201020104" pitchFamily="34" charset="0"/>
              </a:rPr>
              <a:t>2. A granularidade apresentada é a do Novo Modelo de Garantias (granularidade de IC’s)</a:t>
            </a:r>
            <a:endParaRPr lang="en-US" sz="800">
              <a:latin typeface="Santander Text" panose="020B05040202010201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460541-F1A5-22A6-3107-8623D4A2824A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1) Universo Comum:</a:t>
            </a: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O saldo das responsabilidades passará a contemplar contas contabilisticas de juros e despesas vencidas.</a:t>
            </a: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3) Exclusivo BIYR9500: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Todos os titulares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, utilizados atualmente como garantias pessoais,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serão excluídos</a:t>
            </a: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757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11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1.2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Controlos e Resultados (relativo a 28 de Fevereiro 2023)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Detalhe por tipologia de garantia</a:t>
            </a:r>
            <a:endParaRPr lang="en-US" sz="12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>
                <a:solidFill>
                  <a:schemeClr val="tx1"/>
                </a:solidFill>
                <a:latin typeface="Santander Text" panose="020B0504020201020104" pitchFamily="34" charset="0"/>
              </a:rPr>
              <a:t>Factoring</a:t>
            </a:r>
            <a:r>
              <a:rPr lang="pt-PT" sz="1000" b="1" baseline="30000">
                <a:solidFill>
                  <a:schemeClr val="tx1"/>
                </a:solidFill>
                <a:latin typeface="Santander Text" panose="020B0504020201020104" pitchFamily="34" charset="0"/>
              </a:rPr>
              <a:t>1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F8BDE-9239-AD09-EF31-CC46E4FB8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389539"/>
              </p:ext>
            </p:extLst>
          </p:nvPr>
        </p:nvGraphicFramePr>
        <p:xfrm>
          <a:off x="722243" y="1992456"/>
          <a:ext cx="9063850" cy="1462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Processo/Cliente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1) Universo Comum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9 039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89 756 471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89 756 471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9 039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89 756 471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89 756 471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2) Exclusivo Novo</a:t>
                      </a:r>
                    </a:p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Modelo de Garantias</a:t>
                      </a:r>
                      <a:endParaRPr lang="en-US" sz="11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84169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78739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3) Exclusivo BIYR2500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39725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>
                <a:latin typeface="Santander Text" panose="020B0504020201020104" pitchFamily="34" charset="0"/>
              </a:rPr>
              <a:t>1. A granularidade utilizada para análise foi ao nivel do bem (garantia pessoal – Cliente)</a:t>
            </a:r>
          </a:p>
          <a:p>
            <a:r>
              <a:rPr lang="pt-BR" sz="800">
                <a:latin typeface="Santander Text" panose="020B0504020201020104" pitchFamily="34" charset="0"/>
              </a:rPr>
              <a:t>2. A granularidade apresentada é a do Novo Modelo de Garantias (granularidade de IC’s)</a:t>
            </a:r>
            <a:endParaRPr lang="en-US" sz="800">
              <a:latin typeface="Santander Text" panose="020B05040202010201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43CEB4-3F97-6292-8DF9-FED5B9D3721D}"/>
              </a:ext>
            </a:extLst>
          </p:cNvPr>
          <p:cNvSpPr/>
          <p:nvPr/>
        </p:nvSpPr>
        <p:spPr>
          <a:xfrm>
            <a:off x="722243" y="3752023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3) Exclusivo BIYR9500: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Apenas consideradas responsabilidades/faturas 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com saldo</a:t>
            </a:r>
          </a:p>
          <a:p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26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12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1.3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Resultados da Área de Capital (relativo a 28 de Fevereiro 2023)</a:t>
            </a:r>
            <a:r>
              <a:rPr lang="pt-PT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1</a:t>
            </a:r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Validação de processo </a:t>
            </a:r>
            <a:r>
              <a:rPr lang="pt-PT" sz="1200" i="1" dirty="0">
                <a:solidFill>
                  <a:schemeClr val="tx1"/>
                </a:solidFill>
                <a:latin typeface="Santander Headline" panose="020B0504020201020104" pitchFamily="34" charset="0"/>
              </a:rPr>
              <a:t>end-to-end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(BDR)</a:t>
            </a:r>
            <a:endParaRPr lang="en-US" sz="1200" baseline="300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Modelo VS JM_GARANT_CTO</a:t>
            </a:r>
            <a:endParaRPr lang="en-US" sz="1000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790DD7-7A57-A5DD-1BF3-EDD100B3C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892560"/>
              </p:ext>
            </p:extLst>
          </p:nvPr>
        </p:nvGraphicFramePr>
        <p:xfrm>
          <a:off x="722243" y="2038432"/>
          <a:ext cx="10562903" cy="107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4647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1226608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1226608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1226608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1226608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1226608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1226608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567590336"/>
                    </a:ext>
                  </a:extLst>
                </a:gridCol>
                <a:gridCol w="1226608">
                  <a:extLst>
                    <a:ext uri="{9D8B030D-6E8A-4147-A177-3AD203B41FA5}">
                      <a16:colId xmlns:a16="http://schemas.microsoft.com/office/drawing/2014/main" val="3497693630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 Registos</a:t>
                      </a: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Valor de avaliação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PT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Status de resolução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PT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Owner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Tipologia</a:t>
                      </a:r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Novo Modelo Garantias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JM_GARANT_CTO</a:t>
                      </a:r>
                      <a:r>
                        <a:rPr lang="pt-PT" sz="900" b="1" u="none" strike="noStrike" baseline="3000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Novo Modelo Garantias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JM_GARANT_CTO</a:t>
                      </a:r>
                      <a:r>
                        <a:rPr lang="pt-PT" sz="900" b="1" u="none" strike="noStrike" baseline="3000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 dirty="0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Status de resolução</a:t>
                      </a: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Owner</a:t>
                      </a: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>
                          <a:effectLst/>
                          <a:latin typeface="Santander Text" panose="020B0504020201020104" pitchFamily="34" charset="0"/>
                        </a:rPr>
                        <a:t> Financeira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8 489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8 488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689 000 109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688 999 955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-154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Def. de requisitos em curso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CDO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Imóvel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373 081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373 081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58 794 556 497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58 794 556 497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n/a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n/a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9612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>
                          <a:effectLst/>
                          <a:latin typeface="Santander Text" panose="020B0504020201020104" pitchFamily="34" charset="0"/>
                        </a:rPr>
                        <a:t> Pessoais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371 199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371 190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24 434 475 009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24 434 368 942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-106 067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</a:t>
                      </a: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IT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752 769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752 760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83 918 031 616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83 917 925 394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-106 221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BB4D737-4769-DA22-3EBA-563EBC6CDD40}"/>
              </a:ext>
            </a:extLst>
          </p:cNvPr>
          <p:cNvSpPr txBox="1"/>
          <p:nvPr/>
        </p:nvSpPr>
        <p:spPr>
          <a:xfrm>
            <a:off x="711028" y="6072469"/>
            <a:ext cx="5208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27 de abril.</a:t>
            </a:r>
          </a:p>
          <a:p>
            <a:r>
              <a:rPr lang="pt-PT" sz="800" dirty="0">
                <a:latin typeface="Santander Text" panose="020B0504020201020104" pitchFamily="34" charset="0"/>
              </a:rPr>
              <a:t>2. Tabela JM_GARANT_CTO carregada na BDR2 e resulta do processo utilizando o Novo Modelo de Garantias (GT015).</a:t>
            </a:r>
            <a:endParaRPr lang="pt-BR" sz="800" dirty="0">
              <a:latin typeface="Santander Text" panose="020B05040202010201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ECC50B-117E-FC80-C5A0-31682E40DD74}"/>
              </a:ext>
            </a:extLst>
          </p:cNvPr>
          <p:cNvSpPr/>
          <p:nvPr/>
        </p:nvSpPr>
        <p:spPr>
          <a:xfrm>
            <a:off x="722242" y="4649462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1"/>
                </a:solidFill>
                <a:latin typeface="Santander Text" panose="020B0504020201020104" pitchFamily="34" charset="0"/>
              </a:rPr>
              <a:t>Exemplo de Garantias Pessoais:</a:t>
            </a:r>
            <a:endParaRPr lang="pt-PT" sz="900" b="1" dirty="0">
              <a:solidFill>
                <a:schemeClr val="accent4"/>
              </a:solidFill>
              <a:latin typeface="Santander Text" panose="020B0504020201020104" pitchFamily="34" charset="0"/>
            </a:endParaRPr>
          </a:p>
          <a:p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O tratamento da escolha do cliente/ caução atribuído por responsabilidade do modelo não está a ser corretamente aprovisionado. A BDR não observa a chave de cauções para garantias pessoais, considerando que 1 responsabilidade com 2 cauções e o mesmo cliente são registos duplicados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descartando aleatoriamente um dos registos por chave primária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349DF03-51C3-E098-A4B4-331DEF7F0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262180"/>
              </p:ext>
            </p:extLst>
          </p:nvPr>
        </p:nvGraphicFramePr>
        <p:xfrm>
          <a:off x="875124" y="5160890"/>
          <a:ext cx="7381596" cy="721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19263788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63106051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50983181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66169592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4279995539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046986175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398016343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783516918"/>
                    </a:ext>
                  </a:extLst>
                </a:gridCol>
                <a:gridCol w="793596">
                  <a:extLst>
                    <a:ext uri="{9D8B030D-6E8A-4147-A177-3AD203B41FA5}">
                      <a16:colId xmlns:a16="http://schemas.microsoft.com/office/drawing/2014/main" val="458466323"/>
                    </a:ext>
                  </a:extLst>
                </a:gridCol>
              </a:tblGrid>
              <a:tr h="180975">
                <a:tc gridSpan="9">
                  <a:txBody>
                    <a:bodyPr/>
                    <a:lstStyle/>
                    <a:p>
                      <a:pPr algn="ctr"/>
                      <a:r>
                        <a:rPr lang="pt-PT" sz="900" b="1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GT015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91714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tipologia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origem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mavaliaa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cempresa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ckbalcao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cknumcta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zdeposit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processo</a:t>
                      </a:r>
                      <a:endParaRPr lang="pt-PT" sz="900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zcliente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15074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PES</a:t>
                      </a:r>
                      <a:endParaRPr lang="pt-PT" sz="9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CS</a:t>
                      </a:r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12306.18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862304880273620</a:t>
                      </a:r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0008019759320810000000009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2100189981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72251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PES</a:t>
                      </a:r>
                      <a:endParaRPr lang="pt-PT" sz="9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CS</a:t>
                      </a:r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12306.18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862304880273620</a:t>
                      </a:r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0008019759320810000000001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2100189981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747491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B5110827-6A0C-3EB9-5778-7CC7F8E958DE}"/>
              </a:ext>
            </a:extLst>
          </p:cNvPr>
          <p:cNvSpPr/>
          <p:nvPr/>
        </p:nvSpPr>
        <p:spPr>
          <a:xfrm>
            <a:off x="722242" y="3270720"/>
            <a:ext cx="9645107" cy="1256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1"/>
                </a:solidFill>
                <a:latin typeface="Santander Text" panose="020B0504020201020104" pitchFamily="34" charset="0"/>
              </a:rPr>
              <a:t>Exemplo de Garantias Financeiras:</a:t>
            </a:r>
            <a:endParaRPr lang="pt-PT" sz="900" b="1" dirty="0">
              <a:solidFill>
                <a:schemeClr val="accent4"/>
              </a:solidFill>
              <a:latin typeface="Santander Text" panose="020B0504020201020104" pitchFamily="34" charset="0"/>
            </a:endParaRPr>
          </a:p>
          <a:p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O tratamento da chaves da responsabilidade do modelo para a tabela output </a:t>
            </a:r>
            <a:r>
              <a:rPr lang="pt-PT" sz="900" b="1" dirty="0">
                <a:solidFill>
                  <a:schemeClr val="tx1"/>
                </a:solidFill>
                <a:latin typeface="Santander Text" panose="020B0504020201020104" pitchFamily="34" charset="0"/>
              </a:rPr>
              <a:t>gt015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 não está a ser refletido no código de </a:t>
            </a:r>
            <a:r>
              <a:rPr lang="pt-PT" sz="900" b="1" dirty="0">
                <a:solidFill>
                  <a:schemeClr val="tx1"/>
                </a:solidFill>
                <a:latin typeface="Santander Text" panose="020B0504020201020104" pitchFamily="34" charset="0"/>
              </a:rPr>
              <a:t>produto/subproduto da responsabilidade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, duplicando registos.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A BDR descarta aleatoriamente um dos registos duplicados por chave primária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1D7B62E-0BC4-AE03-FF27-D6E7004AE5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361268"/>
              </p:ext>
            </p:extLst>
          </p:nvPr>
        </p:nvGraphicFramePr>
        <p:xfrm>
          <a:off x="875124" y="3774527"/>
          <a:ext cx="6409596" cy="721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8396">
                  <a:extLst>
                    <a:ext uri="{9D8B030D-6E8A-4147-A177-3AD203B41FA5}">
                      <a16:colId xmlns:a16="http://schemas.microsoft.com/office/drawing/2014/main" val="1028419816"/>
                    </a:ext>
                  </a:extLst>
                </a:gridCol>
                <a:gridCol w="556260">
                  <a:extLst>
                    <a:ext uri="{9D8B030D-6E8A-4147-A177-3AD203B41FA5}">
                      <a16:colId xmlns:a16="http://schemas.microsoft.com/office/drawing/2014/main" val="1908497701"/>
                    </a:ext>
                  </a:extLst>
                </a:gridCol>
                <a:gridCol w="601980">
                  <a:extLst>
                    <a:ext uri="{9D8B030D-6E8A-4147-A177-3AD203B41FA5}">
                      <a16:colId xmlns:a16="http://schemas.microsoft.com/office/drawing/2014/main" val="419162840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3980163432"/>
                    </a:ext>
                  </a:extLst>
                </a:gridCol>
                <a:gridCol w="693420">
                  <a:extLst>
                    <a:ext uri="{9D8B030D-6E8A-4147-A177-3AD203B41FA5}">
                      <a16:colId xmlns:a16="http://schemas.microsoft.com/office/drawing/2014/main" val="372968277"/>
                    </a:ext>
                  </a:extLst>
                </a:gridCol>
                <a:gridCol w="815340">
                  <a:extLst>
                    <a:ext uri="{9D8B030D-6E8A-4147-A177-3AD203B41FA5}">
                      <a16:colId xmlns:a16="http://schemas.microsoft.com/office/drawing/2014/main" val="299334362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340000135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783516918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458466323"/>
                    </a:ext>
                  </a:extLst>
                </a:gridCol>
              </a:tblGrid>
              <a:tr h="180975">
                <a:tc gridSpan="9">
                  <a:txBody>
                    <a:bodyPr/>
                    <a:lstStyle/>
                    <a:p>
                      <a:pPr algn="ctr" fontAlgn="b"/>
                      <a:r>
                        <a:rPr lang="pt-PT" sz="9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GT015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pt-PT" sz="9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GT015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85517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tipologia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origem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mavaliaa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cempresa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ckbalcao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cknumcta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zdeposit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ckprodut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cksubpro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15074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FIN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154.22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00826406001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000000000000000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 dirty="0">
                          <a:solidFill>
                            <a:schemeClr val="accent1"/>
                          </a:solidFill>
                          <a:effectLst/>
                          <a:latin typeface="Santander Text" panose="020B0504020201020104" pitchFamily="34" charset="0"/>
                        </a:rPr>
                        <a:t>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72251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FIN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444.34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00826406001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000000000000000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 dirty="0">
                          <a:solidFill>
                            <a:schemeClr val="accent1"/>
                          </a:solidFill>
                          <a:effectLst/>
                          <a:latin typeface="Santander Text" panose="020B0504020201020104" pitchFamily="34" charset="0"/>
                        </a:rPr>
                        <a:t>170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747491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CD585925-A3F8-83DE-F85D-65C7D98656F2}"/>
              </a:ext>
            </a:extLst>
          </p:cNvPr>
          <p:cNvGrpSpPr/>
          <p:nvPr/>
        </p:nvGrpSpPr>
        <p:grpSpPr>
          <a:xfrm>
            <a:off x="7284720" y="4238625"/>
            <a:ext cx="3526325" cy="297857"/>
            <a:chOff x="7224264" y="4229100"/>
            <a:chExt cx="3175301" cy="297857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1B1DA16-FF52-8FA8-A00F-F66DC2D4B380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7224264" y="4378029"/>
              <a:ext cx="1089156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B8B0167-9E94-4E0E-9F4A-A0B3B210ACC7}"/>
                </a:ext>
              </a:extLst>
            </p:cNvPr>
            <p:cNvSpPr/>
            <p:nvPr/>
          </p:nvSpPr>
          <p:spPr>
            <a:xfrm>
              <a:off x="8313420" y="4229100"/>
              <a:ext cx="2086145" cy="2978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800" b="1">
                  <a:solidFill>
                    <a:srgbClr val="C00000"/>
                  </a:solidFill>
                  <a:latin typeface="Santander Text" panose="020B0504020201020104" pitchFamily="34" charset="0"/>
                </a:rPr>
                <a:t>Registo eliminado pela processo da BDR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EA76A0D-D2C9-81FC-334A-F979CDA30ED4}"/>
              </a:ext>
            </a:extLst>
          </p:cNvPr>
          <p:cNvGrpSpPr/>
          <p:nvPr/>
        </p:nvGrpSpPr>
        <p:grpSpPr>
          <a:xfrm>
            <a:off x="8313420" y="5459730"/>
            <a:ext cx="2497625" cy="297857"/>
            <a:chOff x="7901940" y="4229100"/>
            <a:chExt cx="2497625" cy="297857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881EE9A-7708-CD11-0E53-A73542568215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>
              <a:off x="7901940" y="4378029"/>
              <a:ext cx="411480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5249DB2-AB51-3A3A-3CD5-98E67E069580}"/>
                </a:ext>
              </a:extLst>
            </p:cNvPr>
            <p:cNvSpPr/>
            <p:nvPr/>
          </p:nvSpPr>
          <p:spPr>
            <a:xfrm>
              <a:off x="8313420" y="4229100"/>
              <a:ext cx="2086145" cy="2978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800" b="1" dirty="0">
                  <a:solidFill>
                    <a:srgbClr val="C00000"/>
                  </a:solidFill>
                  <a:latin typeface="Santander Text" panose="020B0504020201020104" pitchFamily="34" charset="0"/>
                </a:rPr>
                <a:t>Registo eliminado pela processo da BDR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364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1752600" y="3403875"/>
            <a:ext cx="7905751" cy="252626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Santander Text" panose="020B05040202010201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13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  <a:latin typeface="Santander Headline" panose="020B0504020201020104" pitchFamily="34" charset="0"/>
              </a:rPr>
              <a:t>1.4</a:t>
            </a:r>
            <a:endParaRPr lang="en-US" sz="1000" b="1" dirty="0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Resultados da Área de Capital (relativo a 28 de Fevereiro 2023)</a:t>
            </a:r>
            <a:r>
              <a:rPr lang="pt-PT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1</a:t>
            </a:r>
            <a:r>
              <a:rPr lang="en-US" sz="1200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Impactos Capital</a:t>
            </a:r>
            <a:endParaRPr lang="en-US" sz="1200" baseline="300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Impactos Capital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938631"/>
              </p:ext>
            </p:extLst>
          </p:nvPr>
        </p:nvGraphicFramePr>
        <p:xfrm>
          <a:off x="2085975" y="3443247"/>
          <a:ext cx="7030616" cy="1455110"/>
        </p:xfrm>
        <a:graphic>
          <a:graphicData uri="http://schemas.openxmlformats.org/drawingml/2006/table">
            <a:tbl>
              <a:tblPr/>
              <a:tblGrid>
                <a:gridCol w="3352322">
                  <a:extLst>
                    <a:ext uri="{9D8B030D-6E8A-4147-A177-3AD203B41FA5}">
                      <a16:colId xmlns:a16="http://schemas.microsoft.com/office/drawing/2014/main" val="2525455244"/>
                    </a:ext>
                  </a:extLst>
                </a:gridCol>
                <a:gridCol w="762294">
                  <a:extLst>
                    <a:ext uri="{9D8B030D-6E8A-4147-A177-3AD203B41FA5}">
                      <a16:colId xmlns:a16="http://schemas.microsoft.com/office/drawing/2014/main" val="741639320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42864794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14102646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392995825"/>
                    </a:ext>
                  </a:extLst>
                </a:gridCol>
              </a:tblGrid>
              <a:tr h="186805"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RWA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428216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Casuística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# Registos</a:t>
                      </a:r>
                      <a:r>
                        <a:rPr lang="pt-PT" sz="1000" b="1" i="0" u="none" strike="noStrike" baseline="3000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effectLst/>
                          <a:latin typeface="Santander Text" panose="020B0504020201020104" pitchFamily="34" charset="0"/>
                        </a:rPr>
                        <a:t>IRB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effectLst/>
                          <a:latin typeface="Santander Text" panose="020B0504020201020104" pitchFamily="34" charset="0"/>
                        </a:rPr>
                        <a:t>STD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53125"/>
                  </a:ext>
                </a:extLst>
              </a:tr>
              <a:tr h="1872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62B96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3 769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-2 593 801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-706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-2 594 507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13864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effectLst/>
                          <a:latin typeface="Santander Text" panose="020B0504020201020104" pitchFamily="34" charset="0"/>
                        </a:rPr>
                        <a:t>Em resolução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187 188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187 268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2269089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-1 791 715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-19 738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-1 811 454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03822"/>
                  </a:ext>
                </a:extLst>
              </a:tr>
              <a:tr h="18680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effectLst/>
                          <a:latin typeface="Santander Text" panose="020B0504020201020104" pitchFamily="34" charset="0"/>
                        </a:rPr>
                        <a:t>Impacto Global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-4 198 328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-20 365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-4 218 692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453271"/>
                  </a:ext>
                </a:extLst>
              </a:tr>
              <a:tr h="144000">
                <a:tc gridSpan="5">
                  <a:txBody>
                    <a:bodyPr/>
                    <a:lstStyle/>
                    <a:p>
                      <a:pPr algn="ctr" fontAlgn="ctr"/>
                      <a:endParaRPr lang="pt-PT" sz="900" b="1" i="0" u="none" strike="noStrike" dirty="0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237777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  Outras</a:t>
                      </a:r>
                      <a:r>
                        <a:rPr lang="pt-PT" sz="900" b="0" i="0" u="none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 Diferenças *</a:t>
                      </a:r>
                      <a:endParaRPr lang="pt-PT" sz="9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-139 548 439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-2 228 185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-141 776 624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11716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037186" y="5050029"/>
            <a:ext cx="572568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* Foram identificadas </a:t>
            </a:r>
            <a:r>
              <a:rPr lang="pt-PT" sz="900" b="1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diferenças não inerentes ao novo modelo de garantias</a:t>
            </a: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, que se desagregam em: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Erros do motor (falha na identificação do cliente – IDNUMCLI = 0) | - 130M €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Alteração de marcação de reestruturados | - 10M €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Diferenças de Reconciliação que são apenas calculadas na BDR1 | -1M €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Outras diferenças | -0.1M €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1D5AD34C-9F22-0F96-ADAD-0463A5602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475856"/>
              </p:ext>
            </p:extLst>
          </p:nvPr>
        </p:nvGraphicFramePr>
        <p:xfrm>
          <a:off x="722243" y="2038432"/>
          <a:ext cx="6479999" cy="89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3789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RWA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EAD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Método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BDR2</a:t>
                      </a:r>
                      <a:r>
                        <a:rPr lang="pt-PT" sz="1000" b="1" u="none" strike="noStrike" baseline="30000" dirty="0"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BDR1</a:t>
                      </a:r>
                      <a:r>
                        <a:rPr lang="pt-PT" sz="1000" b="1" u="none" strike="noStrike" baseline="30000" dirty="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BDR2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BDR1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IRB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10 838 337 267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10 982 084 034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-143 746 767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34 092 453 552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34 607 992 164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-515 538 612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STD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1 313 080 337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1 315 328 886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-2 248 550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16 509 804 582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17 114 429 698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-604 625 116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12 151 417 604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12 297 412 921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-145 995 317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50 602 258 134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51 722 421 862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-1 120 163 728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711028" y="5981029"/>
            <a:ext cx="49391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27 de abril.</a:t>
            </a:r>
          </a:p>
          <a:p>
            <a:r>
              <a:rPr lang="pt-PT" sz="800" dirty="0">
                <a:latin typeface="Santander Text" panose="020B0504020201020104" pitchFamily="34" charset="0"/>
              </a:rPr>
              <a:t>2. BDR1 resulta do processo atual do BIYR9500.</a:t>
            </a:r>
          </a:p>
          <a:p>
            <a:r>
              <a:rPr lang="pt-PT" sz="800" dirty="0">
                <a:latin typeface="Santander Text" panose="020B0504020201020104" pitchFamily="34" charset="0"/>
              </a:rPr>
              <a:t>3. BDR2 resulta do processo utilizando o Novo Modelo de Garantias.</a:t>
            </a:r>
          </a:p>
          <a:p>
            <a:r>
              <a:rPr lang="pt-PT" sz="800" dirty="0">
                <a:latin typeface="Santander Text" panose="020B0504020201020104" pitchFamily="34" charset="0"/>
              </a:rPr>
              <a:t>4. Universo definido com base na combinação entre o método de cálculo de capital, segmento e contrato BDR.</a:t>
            </a:r>
            <a:r>
              <a:rPr lang="pt-BR" sz="800" dirty="0">
                <a:latin typeface="Santander Text" panose="020B0504020201020104" pitchFamily="34" charset="0"/>
              </a:rPr>
              <a:t>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7382" y="2152651"/>
            <a:ext cx="987423" cy="849140"/>
          </a:xfrm>
          <a:prstGeom prst="rect">
            <a:avLst/>
          </a:prstGeom>
          <a:solidFill>
            <a:srgbClr val="C00000">
              <a:alpha val="10000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Santander Text" panose="020B0504020201020104" pitchFamily="34" charset="0"/>
            </a:endParaRPr>
          </a:p>
        </p:txBody>
      </p:sp>
      <p:cxnSp>
        <p:nvCxnSpPr>
          <p:cNvPr id="38" name="Elbow Connector 37"/>
          <p:cNvCxnSpPr>
            <a:cxnSpLocks/>
            <a:stCxn id="36" idx="2"/>
            <a:endCxn id="44" idx="0"/>
          </p:cNvCxnSpPr>
          <p:nvPr/>
        </p:nvCxnSpPr>
        <p:spPr>
          <a:xfrm rot="16200000" flipH="1">
            <a:off x="4547243" y="2245642"/>
            <a:ext cx="402084" cy="1914382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58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14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  <a:latin typeface="Santander Headline" panose="020B0504020201020104" pitchFamily="34" charset="0"/>
              </a:rPr>
              <a:t>1.5</a:t>
            </a:r>
            <a:endParaRPr lang="en-US" sz="1000" b="1" dirty="0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Resultados da Área de Imparidade (relativo a 28 de Fevereiro 2023)</a:t>
            </a:r>
            <a:r>
              <a:rPr lang="pt-PT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1</a:t>
            </a:r>
            <a:r>
              <a:rPr lang="en-US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Validação de processo </a:t>
            </a:r>
            <a:r>
              <a:rPr lang="pt-PT" sz="1200" i="1" dirty="0">
                <a:solidFill>
                  <a:schemeClr val="tx1"/>
                </a:solidFill>
                <a:latin typeface="Santander Headline" panose="020B0504020201020104" pitchFamily="34" charset="0"/>
              </a:rPr>
              <a:t>end-to-end 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(</a:t>
            </a:r>
            <a:r>
              <a:rPr lang="pt-PT" sz="1200" i="1" dirty="0">
                <a:solidFill>
                  <a:schemeClr val="tx1"/>
                </a:solidFill>
                <a:latin typeface="Santander Headline" panose="020B0504020201020104" pitchFamily="34" charset="0"/>
              </a:rPr>
              <a:t>Input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de Imparidade)</a:t>
            </a:r>
            <a:endParaRPr lang="en-US" sz="1200" baseline="300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  <a:latin typeface="Santander Text" panose="020B0504020201020104" pitchFamily="34" charset="0"/>
              </a:rPr>
              <a:t>Modelo VS Input Imparidade</a:t>
            </a:r>
            <a:endParaRPr lang="en-US" sz="1000" baseline="300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790DD7-7A57-A5DD-1BF3-EDD100B3C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531434"/>
              </p:ext>
            </p:extLst>
          </p:nvPr>
        </p:nvGraphicFramePr>
        <p:xfrm>
          <a:off x="722243" y="2038432"/>
          <a:ext cx="9540000" cy="161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 Registos</a:t>
                      </a: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Valor de avaliação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Tipologia</a:t>
                      </a:r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Novo Modelo Garantias</a:t>
                      </a:r>
                      <a:r>
                        <a:rPr lang="pt-PT" sz="900" b="1" u="none" strike="noStrike" baseline="3000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Input Imparidade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Novo Modelo Garantias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Input Imparidade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 dirty="0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>
                          <a:effectLst/>
                          <a:latin typeface="Santander Text" panose="020B0504020201020104" pitchFamily="34" charset="0"/>
                        </a:rPr>
                        <a:t> Financeira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7 465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7 465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689 000 109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689 000 109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Imóveis (exc </a:t>
                      </a:r>
                      <a:r>
                        <a:rPr lang="pt-PT" sz="100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)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368 076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368 076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57 290 731 815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57 290 731 815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9612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Imóveis </a:t>
                      </a:r>
                      <a:r>
                        <a:rPr lang="pt-PT" sz="100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5 005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5 005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1 503 824 682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1 503 824 682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Pessoais (exc </a:t>
                      </a:r>
                      <a:r>
                        <a:rPr lang="pt-PT" sz="100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Leasing&amp;Factoring</a:t>
                      </a:r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)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336 870</a:t>
                      </a:r>
                      <a:endParaRPr lang="pt-PT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336 870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22 755 708 277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22 755 708 277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47097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Pessoais </a:t>
                      </a:r>
                      <a:r>
                        <a:rPr lang="pt-PT" sz="100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33 731</a:t>
                      </a:r>
                      <a:endParaRPr lang="pt-PT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33 731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1 589 008 761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1 589 008 761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31371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Pessoais </a:t>
                      </a:r>
                      <a:r>
                        <a:rPr lang="pt-PT" sz="100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Factoring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9 039</a:t>
                      </a:r>
                      <a:endParaRPr lang="pt-PT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119 204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-110 165</a:t>
                      </a:r>
                      <a:endParaRPr lang="pt-PT" sz="18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89 757 971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22 713 516 495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-22 623 758 524</a:t>
                      </a:r>
                      <a:endParaRPr lang="pt-PT" sz="18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13539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760 186</a:t>
                      </a:r>
                      <a:endParaRPr lang="pt-PT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870 351</a:t>
                      </a:r>
                      <a:endParaRPr lang="pt-PT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-110 165</a:t>
                      </a:r>
                      <a:endParaRPr lang="pt-PT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83 918 031 615</a:t>
                      </a:r>
                      <a:endParaRPr lang="pt-PT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106 541 790 139</a:t>
                      </a:r>
                      <a:endParaRPr lang="pt-PT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-22 623 758 524</a:t>
                      </a:r>
                      <a:endParaRPr lang="pt-PT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BB4D737-4769-DA22-3EBA-563EBC6CDD40}"/>
              </a:ext>
            </a:extLst>
          </p:cNvPr>
          <p:cNvSpPr txBox="1"/>
          <p:nvPr/>
        </p:nvSpPr>
        <p:spPr>
          <a:xfrm>
            <a:off x="711028" y="6162004"/>
            <a:ext cx="63930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20 de março(imparidade) e 16 de abril (Modelo).</a:t>
            </a:r>
          </a:p>
          <a:p>
            <a:r>
              <a:rPr lang="pt-PT" sz="800" dirty="0">
                <a:latin typeface="Santander Text" panose="020B0504020201020104" pitchFamily="34" charset="0"/>
              </a:rPr>
              <a:t>2. Granularidade do Modelo de Garantias  foi convertida para a granularidade de contract_id/guarantee_id de imparidade para facilitar a análise.</a:t>
            </a:r>
            <a:endParaRPr lang="pt-BR" sz="800" dirty="0">
              <a:latin typeface="Santander Text" panose="020B05040202010201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ECC50B-117E-FC80-C5A0-31682E40DD74}"/>
              </a:ext>
            </a:extLst>
          </p:cNvPr>
          <p:cNvSpPr/>
          <p:nvPr/>
        </p:nvSpPr>
        <p:spPr>
          <a:xfrm>
            <a:off x="679993" y="4030194"/>
            <a:ext cx="9645107" cy="20654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 Diferenças identificadas:</a:t>
            </a:r>
          </a:p>
          <a:p>
            <a:pPr lvl="1"/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r>
              <a:rPr lang="pt-PT" sz="900" b="1" i="1" dirty="0">
                <a:solidFill>
                  <a:schemeClr val="tx1"/>
                </a:solidFill>
                <a:latin typeface="Santander Text" panose="020B0504020201020104" pitchFamily="34" charset="0"/>
              </a:rPr>
              <a:t>Factoring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:</a:t>
            </a:r>
          </a:p>
          <a:p>
            <a:pPr marL="685476" lvl="1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Abertura da chave agregada pelo processo de Imparidade (ex: inclusão de faturas sem recurso, desmultiplicação do saldo)</a:t>
            </a:r>
          </a:p>
        </p:txBody>
      </p:sp>
    </p:spTree>
    <p:extLst>
      <p:ext uri="{BB962C8B-B14F-4D97-AF65-F5344CB8AC3E}">
        <p14:creationId xmlns:p14="http://schemas.microsoft.com/office/powerpoint/2010/main" val="3809727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15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  <a:latin typeface="Santander Headline" panose="020B0504020201020104" pitchFamily="34" charset="0"/>
              </a:rPr>
              <a:t>1.6</a:t>
            </a:r>
            <a:endParaRPr lang="en-US" sz="1000" b="1" dirty="0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Resultados da Área de Imparidade (relativo a 28 de Fevereiro 2023)</a:t>
            </a:r>
            <a:r>
              <a:rPr lang="pt-PT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1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Impactos provisões</a:t>
            </a:r>
            <a:endParaRPr lang="en-US" sz="1200" baseline="300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2243" y="1876930"/>
            <a:ext cx="9598916" cy="1375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pt-PT" sz="1000" dirty="0">
                <a:latin typeface="Santander Text" panose="020B0504020201020104" pitchFamily="34" charset="0"/>
              </a:rPr>
              <a:t>Foi realizada uma comparação entre provisões calculadas em produção e provisões calculadas utilizando o </a:t>
            </a:r>
            <a:r>
              <a:rPr lang="pt-PT" sz="1000" i="1" dirty="0">
                <a:latin typeface="Santander Text" panose="020B0504020201020104" pitchFamily="34" charset="0"/>
              </a:rPr>
              <a:t>input</a:t>
            </a:r>
            <a:r>
              <a:rPr lang="pt-PT" sz="1000" dirty="0">
                <a:latin typeface="Santander Text" panose="020B0504020201020104" pitchFamily="34" charset="0"/>
              </a:rPr>
              <a:t> com as correções mais recentes e foram obtidos os seguintes resultados: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 dirty="0">
                <a:latin typeface="Santander Text" panose="020B0504020201020104" pitchFamily="34" charset="0"/>
              </a:rPr>
              <a:t>Total de contratos com diferenças de provisão: </a:t>
            </a:r>
            <a:r>
              <a:rPr lang="pt-PT" sz="1000" b="1" dirty="0">
                <a:latin typeface="Santander Text" panose="020B0504020201020104" pitchFamily="34" charset="0"/>
              </a:rPr>
              <a:t>762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 dirty="0">
                <a:latin typeface="Santander Text" panose="020B0504020201020104" pitchFamily="34" charset="0"/>
              </a:rPr>
              <a:t>Aumento na provisão, da Análise Coletiva, apurada face ao rácio de Janeiro de 2023 em produção: </a:t>
            </a:r>
            <a:r>
              <a:rPr lang="pt-PT" sz="1000" b="1" dirty="0">
                <a:latin typeface="Santander Text" panose="020B0504020201020104" pitchFamily="34" charset="0"/>
              </a:rPr>
              <a:t>+33k€. Todas as alterações estão relacionadas com correções implementadas no Modelo:</a:t>
            </a:r>
            <a:endParaRPr lang="pt-PT" sz="1000" dirty="0">
              <a:latin typeface="Santander Text" panose="020B05040202010201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6E1D030-109C-9A49-378B-6C82B5FF0708}"/>
              </a:ext>
            </a:extLst>
          </p:cNvPr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Input produção vs Input atualizado</a:t>
            </a:r>
            <a:endParaRPr lang="en-US" sz="1000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7CBBE27-E806-7F25-9E76-FE3304FE8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36803"/>
              </p:ext>
            </p:extLst>
          </p:nvPr>
        </p:nvGraphicFramePr>
        <p:xfrm>
          <a:off x="722241" y="3357201"/>
          <a:ext cx="10600416" cy="21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9902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2557478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1135759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  <a:gridCol w="1135759">
                  <a:extLst>
                    <a:ext uri="{9D8B030D-6E8A-4147-A177-3AD203B41FA5}">
                      <a16:colId xmlns:a16="http://schemas.microsoft.com/office/drawing/2014/main" val="1378513955"/>
                    </a:ext>
                  </a:extLst>
                </a:gridCol>
                <a:gridCol w="1135759">
                  <a:extLst>
                    <a:ext uri="{9D8B030D-6E8A-4147-A177-3AD203B41FA5}">
                      <a16:colId xmlns:a16="http://schemas.microsoft.com/office/drawing/2014/main" val="3364552637"/>
                    </a:ext>
                  </a:extLst>
                </a:gridCol>
                <a:gridCol w="1135759">
                  <a:extLst>
                    <a:ext uri="{9D8B030D-6E8A-4147-A177-3AD203B41FA5}">
                      <a16:colId xmlns:a16="http://schemas.microsoft.com/office/drawing/2014/main" val="1750181681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Justificação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Impacto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#Contratos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Provisão Simulada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Provisão Produção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 1. Correção do Asset Class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Perda e redução do valor de colaterais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358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955 992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879 211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76 781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 2. Alteração do mapeamento do valor do imóvel da GPT39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Redução do valor de colaterais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28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6 617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3 628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2 989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9612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 3. Alteração do mapeamento do saldo da responsabilidade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Alteração do rateio dos colaterais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99 764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99 859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-95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 4. Correção no universo de </a:t>
                      </a:r>
                      <a:r>
                        <a:rPr lang="pt-PT" sz="900" i="1" u="none" strike="noStrike"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 Imobiliário 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Inclusão de novos colaterais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19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9 285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17 795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-8 510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47097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 5. Inclusão do universo de responsabilidades das Carteiras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Inclusão de novos colaterais e alteração do rateio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68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171 465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176 987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-5 522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31371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 6. Correção da renumeração dos zdeposit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Inclusão de novos colaterais e aumento de valor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41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30 402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59 321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-28 919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13539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7. Dependência do</a:t>
                      </a:r>
                      <a:r>
                        <a:rPr lang="pt-PT" sz="900" b="0" i="1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job</a:t>
                      </a: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da tabela de contratos/intervenientes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Inclusão de novos colaterais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34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217614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216540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1 074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85513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8. Correção da avaliação proveniente da GPT26 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Alteração do rateio dos colaterais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16511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12733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3 778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8323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9. Correção dos arredodamentos nos cálculos intermédios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Alteração do rateio dos colaterais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39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39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64367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10. Correção em confirmação por IT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Inclusão de novos colaterais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160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11096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19343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-8 247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1126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762</a:t>
                      </a:r>
                      <a:endParaRPr lang="pt-PT" sz="1000" b="1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1 518 785</a:t>
                      </a:r>
                      <a:endParaRPr lang="pt-PT" sz="1000" b="1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1 485 456</a:t>
                      </a:r>
                      <a:endParaRPr lang="pt-PT" sz="1000" b="1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33 329</a:t>
                      </a:r>
                      <a:endParaRPr lang="pt-PT" sz="1000" b="1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6C6B63B-CDB2-98E0-54E2-768992CCD6F5}"/>
              </a:ext>
            </a:extLst>
          </p:cNvPr>
          <p:cNvSpPr txBox="1"/>
          <p:nvPr/>
        </p:nvSpPr>
        <p:spPr>
          <a:xfrm>
            <a:off x="711028" y="6162004"/>
            <a:ext cx="47355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20 de março (imparidade) e 16 de abril (Modelo)</a:t>
            </a:r>
          </a:p>
        </p:txBody>
      </p:sp>
    </p:spTree>
    <p:extLst>
      <p:ext uri="{BB962C8B-B14F-4D97-AF65-F5344CB8AC3E}">
        <p14:creationId xmlns:p14="http://schemas.microsoft.com/office/powerpoint/2010/main" val="326973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16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  <a:latin typeface="Santander Headline" panose="020B0504020201020104" pitchFamily="34" charset="0"/>
              </a:rPr>
              <a:t>1.7</a:t>
            </a:r>
            <a:endParaRPr lang="en-US" sz="1000" b="1" dirty="0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767037"/>
              </p:ext>
            </p:extLst>
          </p:nvPr>
        </p:nvGraphicFramePr>
        <p:xfrm>
          <a:off x="646337" y="1908000"/>
          <a:ext cx="3375182" cy="1999319"/>
        </p:xfrm>
        <a:graphic>
          <a:graphicData uri="http://schemas.openxmlformats.org/drawingml/2006/table">
            <a:tbl>
              <a:tblPr/>
              <a:tblGrid>
                <a:gridCol w="1114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494">
                <a:tc>
                  <a:txBody>
                    <a:bodyPr/>
                    <a:lstStyle/>
                    <a:p>
                      <a:pPr algn="l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Fevereiro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61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Resultado do Controlo </a:t>
                      </a:r>
                      <a:r>
                        <a:rPr lang="pt-PT" sz="1000" b="1" i="0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Num 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 </a:t>
                      </a:r>
                      <a:r>
                        <a:rPr lang="pt-PT" sz="1000" b="1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VERMELHO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ED7D31"/>
                          </a:solidFill>
                          <a:effectLst/>
                          <a:latin typeface="Santander Text" panose="020B0504020201020104" pitchFamily="34" charset="0"/>
                        </a:rPr>
                        <a:t>LARANJA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</a:rPr>
                        <a:t>AMARELO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70AD47"/>
                          </a:solidFill>
                          <a:effectLst/>
                          <a:latin typeface="Santander Text" panose="020B0504020201020104" pitchFamily="34" charset="0"/>
                        </a:rPr>
                        <a:t>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89%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SEM DADOS</a:t>
                      </a:r>
                      <a:endParaRPr lang="en-US" sz="10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0" name="Chart 49">
            <a:extLst>
              <a:ext uri="{FF2B5EF4-FFF2-40B4-BE49-F238E27FC236}">
                <a16:creationId xmlns:a16="http://schemas.microsoft.com/office/drawing/2014/main" id="{65AC3D7A-0F4B-4606-AFA3-9FCD304916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7729338"/>
              </p:ext>
            </p:extLst>
          </p:nvPr>
        </p:nvGraphicFramePr>
        <p:xfrm>
          <a:off x="4280703" y="1907243"/>
          <a:ext cx="7104675" cy="2379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1" name="Rounded Rectangle 36">
            <a:extLst>
              <a:ext uri="{FF2B5EF4-FFF2-40B4-BE49-F238E27FC236}">
                <a16:creationId xmlns:a16="http://schemas.microsoft.com/office/drawing/2014/main" id="{6A436EC5-7AD1-4622-9D4D-836200569CBB}"/>
              </a:ext>
            </a:extLst>
          </p:cNvPr>
          <p:cNvSpPr/>
          <p:nvPr/>
        </p:nvSpPr>
        <p:spPr>
          <a:xfrm>
            <a:off x="4282273" y="1907243"/>
            <a:ext cx="6973695" cy="234315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1100" b="1">
                <a:solidFill>
                  <a:prstClr val="white"/>
                </a:solidFill>
                <a:latin typeface="Santander Text" panose="020B0504020201020104" pitchFamily="34" charset="0"/>
              </a:rPr>
              <a:t>Evolução Temporal</a:t>
            </a:r>
            <a:endParaRPr lang="en-US" sz="1100" b="1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9DD8DEA-13F3-4183-9376-B9E57DFDA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37" y="4131609"/>
            <a:ext cx="213137" cy="283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CEF6F44-A6B1-4A9F-A96A-C1F135FD6C3A}"/>
              </a:ext>
            </a:extLst>
          </p:cNvPr>
          <p:cNvSpPr txBox="1"/>
          <p:nvPr/>
        </p:nvSpPr>
        <p:spPr>
          <a:xfrm>
            <a:off x="766146" y="4135278"/>
            <a:ext cx="6204965" cy="246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b="1">
                <a:latin typeface="Santander Text" panose="020B0504020201020104" pitchFamily="34" charset="0"/>
              </a:rPr>
              <a:t>Controlos corrigidos face ao mês anterior: 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179B468-5618-35D8-E774-9BDD9C0B39BC}"/>
              </a:ext>
            </a:extLst>
          </p:cNvPr>
          <p:cNvGrpSpPr/>
          <p:nvPr/>
        </p:nvGrpSpPr>
        <p:grpSpPr>
          <a:xfrm>
            <a:off x="6701538" y="3544243"/>
            <a:ext cx="2529850" cy="234318"/>
            <a:chOff x="7977888" y="3544243"/>
            <a:chExt cx="2529850" cy="234318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4DB13A8-4E32-40F1-9F47-C855D21B4BD8}"/>
                </a:ext>
              </a:extLst>
            </p:cNvPr>
            <p:cNvSpPr/>
            <p:nvPr/>
          </p:nvSpPr>
          <p:spPr>
            <a:xfrm>
              <a:off x="7977888" y="3544243"/>
              <a:ext cx="681481" cy="2343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PT" sz="800" b="1">
                  <a:solidFill>
                    <a:srgbClr val="FF0000"/>
                  </a:solidFill>
                  <a:latin typeface="Santander Text" panose="020B0504020201020104" pitchFamily="34" charset="0"/>
                </a:rPr>
                <a:t>4 (6%) 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970F823-2E01-4308-B014-187F8759B064}"/>
                </a:ext>
              </a:extLst>
            </p:cNvPr>
            <p:cNvSpPr/>
            <p:nvPr/>
          </p:nvSpPr>
          <p:spPr>
            <a:xfrm>
              <a:off x="8597739" y="3544243"/>
              <a:ext cx="681480" cy="2343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PT" sz="800" b="1">
                  <a:solidFill>
                    <a:srgbClr val="FF0000"/>
                  </a:solidFill>
                  <a:latin typeface="Santander Text" panose="020B0504020201020104" pitchFamily="34" charset="0"/>
                </a:rPr>
                <a:t>3 (4%) 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04B33CD-064E-46A4-B7B2-4E1F42332B5A}"/>
                </a:ext>
              </a:extLst>
            </p:cNvPr>
            <p:cNvSpPr/>
            <p:nvPr/>
          </p:nvSpPr>
          <p:spPr>
            <a:xfrm>
              <a:off x="9178111" y="3544243"/>
              <a:ext cx="681481" cy="2343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PT" sz="800" b="1">
                  <a:solidFill>
                    <a:srgbClr val="FF0000"/>
                  </a:solidFill>
                  <a:latin typeface="Santander Text" panose="020B0504020201020104" pitchFamily="34" charset="0"/>
                </a:rPr>
                <a:t>3 (3%) 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9CE0D7D-E475-486C-84CA-5212474003E6}"/>
                </a:ext>
              </a:extLst>
            </p:cNvPr>
            <p:cNvSpPr/>
            <p:nvPr/>
          </p:nvSpPr>
          <p:spPr>
            <a:xfrm>
              <a:off x="9826257" y="3544243"/>
              <a:ext cx="681481" cy="2343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PT" sz="800" b="1">
                  <a:solidFill>
                    <a:srgbClr val="FF0000"/>
                  </a:solidFill>
                  <a:latin typeface="Santander Text" panose="020B0504020201020104" pitchFamily="34" charset="0"/>
                </a:rPr>
                <a:t>4 (4%) </a:t>
              </a:r>
            </a:p>
          </p:txBody>
        </p:sp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B27E4F2-1BB6-421D-A899-460BD3DA6CCD}"/>
              </a:ext>
            </a:extLst>
          </p:cNvPr>
          <p:cNvCxnSpPr>
            <a:cxnSpLocks/>
          </p:cNvCxnSpPr>
          <p:nvPr/>
        </p:nvCxnSpPr>
        <p:spPr>
          <a:xfrm>
            <a:off x="4704067" y="2287789"/>
            <a:ext cx="0" cy="167500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29B6B899-6ACA-41AB-914A-76573652C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09235"/>
              </p:ext>
            </p:extLst>
          </p:nvPr>
        </p:nvGraphicFramePr>
        <p:xfrm>
          <a:off x="646337" y="4600916"/>
          <a:ext cx="10609631" cy="1398889"/>
        </p:xfrm>
        <a:graphic>
          <a:graphicData uri="http://schemas.openxmlformats.org/drawingml/2006/table">
            <a:tbl>
              <a:tblPr/>
              <a:tblGrid>
                <a:gridCol w="4331957">
                  <a:extLst>
                    <a:ext uri="{9D8B030D-6E8A-4147-A177-3AD203B41FA5}">
                      <a16:colId xmlns:a16="http://schemas.microsoft.com/office/drawing/2014/main" val="3404390578"/>
                    </a:ext>
                  </a:extLst>
                </a:gridCol>
                <a:gridCol w="834789">
                  <a:extLst>
                    <a:ext uri="{9D8B030D-6E8A-4147-A177-3AD203B41FA5}">
                      <a16:colId xmlns:a16="http://schemas.microsoft.com/office/drawing/2014/main" val="1914649429"/>
                    </a:ext>
                  </a:extLst>
                </a:gridCol>
                <a:gridCol w="1073300">
                  <a:extLst>
                    <a:ext uri="{9D8B030D-6E8A-4147-A177-3AD203B41FA5}">
                      <a16:colId xmlns:a16="http://schemas.microsoft.com/office/drawing/2014/main" val="2263703599"/>
                    </a:ext>
                  </a:extLst>
                </a:gridCol>
                <a:gridCol w="2649176">
                  <a:extLst>
                    <a:ext uri="{9D8B030D-6E8A-4147-A177-3AD203B41FA5}">
                      <a16:colId xmlns:a16="http://schemas.microsoft.com/office/drawing/2014/main" val="1099477314"/>
                    </a:ext>
                  </a:extLst>
                </a:gridCol>
                <a:gridCol w="757320">
                  <a:extLst>
                    <a:ext uri="{9D8B030D-6E8A-4147-A177-3AD203B41FA5}">
                      <a16:colId xmlns:a16="http://schemas.microsoft.com/office/drawing/2014/main" val="877178562"/>
                    </a:ext>
                  </a:extLst>
                </a:gridCol>
                <a:gridCol w="963089">
                  <a:extLst>
                    <a:ext uri="{9D8B030D-6E8A-4147-A177-3AD203B41FA5}">
                      <a16:colId xmlns:a16="http://schemas.microsoft.com/office/drawing/2014/main" val="659895237"/>
                    </a:ext>
                  </a:extLst>
                </a:gridCol>
              </a:tblGrid>
              <a:tr h="426764">
                <a:tc>
                  <a:txBody>
                    <a:bodyPr/>
                    <a:lstStyle/>
                    <a:p>
                      <a:pPr marL="0" algn="ctr" defTabSz="914011" rtl="0" eaLnBrk="1" fontAlgn="ctr" latinLnBrk="0" hangingPunct="1"/>
                      <a:r>
                        <a:rPr lang="pt-PT" sz="1000" b="1" kern="120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Data Início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Nº de Incidências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Plano de Remediação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Data Fim</a:t>
                      </a:r>
                      <a:b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</a:br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(previsão)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Responsável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0829"/>
                  </a:ext>
                </a:extLst>
              </a:tr>
              <a:tr h="194425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  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Garantias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imobiliárias com código postal do imóvel com formato incorreto </a:t>
                      </a:r>
                      <a:endParaRPr lang="pt-PT" sz="900" b="0" i="0" u="none" strike="noStrike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1377 (0,49%)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</a:t>
                      </a:r>
                      <a:r>
                        <a:rPr lang="pt-PT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CDO e IT de Empréstimos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573088"/>
                  </a:ext>
                </a:extLst>
              </a:tr>
              <a:tr h="194425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  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Garantias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pessoais com percentagem de cobertura com formato incorreto (igual a 0) </a:t>
                      </a:r>
                      <a:endParaRPr lang="pt-PT" sz="900" b="0" i="0" u="none" strike="noStrike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5670</a:t>
                      </a:r>
                      <a:r>
                        <a:rPr lang="pt-PT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(1,45%)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com Operações de Serviço de Crédito</a:t>
                      </a:r>
                      <a:endParaRPr lang="pt-PT" sz="900" b="0" i="0" u="none" strike="noStrike" baseline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938399"/>
                  </a:ext>
                </a:extLst>
              </a:tr>
              <a:tr h="194425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baseline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Títulos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com código do depositário de títulos com valores fora do catálogo </a:t>
                      </a:r>
                      <a:endParaRPr lang="pt-PT" sz="900" b="0" i="0" u="none" strike="noStrike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(1,37%)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Análise e correção manual dos casos</a:t>
                      </a:r>
                      <a:r>
                        <a:rPr lang="pt-PT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por</a:t>
                      </a:r>
                      <a:r>
                        <a:rPr lang="pt-PT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operações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1" marR="6351" marT="63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524967"/>
                  </a:ext>
                </a:extLst>
              </a:tr>
              <a:tr h="194425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baseline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Garantias cuja moeda é diferente de euro e que não foram </a:t>
                      </a:r>
                      <a:r>
                        <a:rPr lang="pt-PT" sz="9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contravaloradas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endParaRPr lang="pt-PT" sz="900" b="0" i="0" u="none" strike="noStrike" noProof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</a:t>
                      </a:r>
                      <a:r>
                        <a:rPr 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(7,09%)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 CDO e equipa IT do projeto</a:t>
                      </a:r>
                    </a:p>
                  </a:txBody>
                  <a:tcPr marL="6351" marR="6351" marT="63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0976"/>
                  </a:ext>
                </a:extLst>
              </a:tr>
              <a:tr h="194425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   </a:t>
                      </a:r>
                      <a:r>
                        <a:rPr lang="pt-PT" sz="900" b="0" i="0" u="none" strike="noStrike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Resp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no modelo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que não se encontram na tabela de </a:t>
                      </a:r>
                      <a:r>
                        <a:rPr lang="pt-PT" sz="900" b="0" i="0" u="none" strike="noStrike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interv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nem em contabilidade</a:t>
                      </a:r>
                      <a:endParaRPr lang="pt-PT" sz="900" b="0" i="0" u="none" strike="noStrike" noProof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2917</a:t>
                      </a:r>
                      <a:r>
                        <a:rPr 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(0,59%)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Resolvido</a:t>
                      </a:r>
                      <a:r>
                        <a:rPr lang="pt-PT" sz="9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em versão de testes do modelo de garantias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CDO, IT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511283"/>
                  </a:ext>
                </a:extLst>
              </a:tr>
            </a:tbl>
          </a:graphicData>
        </a:graphic>
      </p:graphicFrame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E92542DC-4893-4427-B718-6CFDC057A1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8847195"/>
              </p:ext>
            </p:extLst>
          </p:nvPr>
        </p:nvGraphicFramePr>
        <p:xfrm>
          <a:off x="10938497" y="1484712"/>
          <a:ext cx="381050" cy="806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4" imgW="380753" imgH="806311" progId="Excel.Sheet.12">
                  <p:embed/>
                </p:oleObj>
              </mc:Choice>
              <mc:Fallback>
                <p:oleObj name="Worksheet" showAsIcon="1" r:id="rId4" imgW="380753" imgH="806311" progId="Excel.Sheet.12">
                  <p:embed/>
                  <p:pic>
                    <p:nvPicPr>
                      <p:cNvPr id="61" name="Object 60">
                        <a:extLst>
                          <a:ext uri="{FF2B5EF4-FFF2-40B4-BE49-F238E27FC236}">
                            <a16:creationId xmlns:a16="http://schemas.microsoft.com/office/drawing/2014/main" id="{E92542DC-4893-4427-B718-6CFDC057A1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938497" y="1484712"/>
                        <a:ext cx="381050" cy="8065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7200FFCA-F1CF-419D-B201-55015DE975D0}"/>
              </a:ext>
            </a:extLst>
          </p:cNvPr>
          <p:cNvSpPr txBox="1"/>
          <p:nvPr/>
        </p:nvSpPr>
        <p:spPr>
          <a:xfrm>
            <a:off x="646337" y="6180729"/>
            <a:ext cx="8814222" cy="63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b="1" baseline="30000">
                <a:latin typeface="Santander Text" panose="020B0504020201020104" pitchFamily="34" charset="0"/>
              </a:rPr>
              <a:t>1  </a:t>
            </a:r>
            <a:r>
              <a:rPr lang="pt-PT" sz="800">
                <a:latin typeface="Santander Text" panose="020B0504020201020104" pitchFamily="34" charset="0"/>
              </a:rPr>
              <a:t>O universo dos controlos tem como base o universo do novo Modelo único de Garantias, mesmo quando a informação relativa a determinado atributo não se encontra no Modelo.</a:t>
            </a:r>
          </a:p>
          <a:p>
            <a:endParaRPr lang="pt-PT" sz="800">
              <a:latin typeface="Santander Text" panose="020B0504020201020104" pitchFamily="34" charset="0"/>
            </a:endParaRPr>
          </a:p>
          <a:p>
            <a:endParaRPr lang="pt-PT" sz="800">
              <a:latin typeface="Santander Text" panose="020B0504020201020104" pitchFamily="34" charset="0"/>
            </a:endParaRPr>
          </a:p>
          <a:p>
            <a:endParaRPr lang="pt-PT" sz="11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6A9DF7-FCEA-317F-D8F1-0A59CE0B31A5}"/>
              </a:ext>
            </a:extLst>
          </p:cNvPr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Módulo de Controlos Garantias (relativo a 28 de Fevereiro 2023)</a:t>
            </a:r>
            <a:r>
              <a:rPr lang="pt-PT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1</a:t>
            </a:r>
            <a:endParaRPr lang="en-US" sz="1200" baseline="300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130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18" y="647833"/>
            <a:ext cx="6879009" cy="2950470"/>
          </a:xfrm>
        </p:spPr>
        <p:txBody>
          <a:bodyPr>
            <a:normAutofit/>
          </a:bodyPr>
          <a:lstStyle/>
          <a:p>
            <a:r>
              <a:rPr lang="pt-PT" dirty="0"/>
              <a:t>Análise e testes de Modelo em produção a 30 Abril 2023, com respeito a 30 Abril 2023 real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4606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18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  <a:latin typeface="Santander Headline" panose="020B0504020201020104" pitchFamily="34" charset="0"/>
              </a:rPr>
              <a:t>2.1</a:t>
            </a:r>
            <a:endParaRPr lang="en-US" sz="1000" b="1" dirty="0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Resultados (relativo a 30 de Abril 2023)</a:t>
            </a:r>
            <a:r>
              <a:rPr lang="pt-PT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1</a:t>
            </a:r>
            <a:endParaRPr lang="en-US" sz="1200" b="1" baseline="300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028" y="1689663"/>
            <a:ext cx="85111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 dirty="0">
                <a:latin typeface="Santander Text" panose="020B0504020201020104" pitchFamily="34" charset="0"/>
              </a:rPr>
              <a:t>Apresentação de análises/resultados sobre a entrada em produção na data de referência 30 de Abril 2023:</a:t>
            </a:r>
            <a:endParaRPr lang="en-US" sz="1100" dirty="0">
              <a:latin typeface="Santander Text" panose="020B0504020201020104" pitchFamily="34" charset="0"/>
            </a:endParaRP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9BE11D50-696C-5DDD-4966-1C3C1D320F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/>
          <a:lstStyle/>
          <a:p>
            <a:r>
              <a:rPr lang="pt-PT" sz="2000" dirty="0"/>
              <a:t>2. Análise e testes de Modelo em produção a 30 Abril 2023, com respeito a 30 Abril 2023 real</a:t>
            </a:r>
            <a:endParaRPr lang="es-ES" sz="20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C6B89FD-012C-B4B1-757F-1BB25E317108}"/>
              </a:ext>
            </a:extLst>
          </p:cNvPr>
          <p:cNvGrpSpPr/>
          <p:nvPr/>
        </p:nvGrpSpPr>
        <p:grpSpPr>
          <a:xfrm>
            <a:off x="722243" y="2140870"/>
            <a:ext cx="9936402" cy="417600"/>
            <a:chOff x="722243" y="2140870"/>
            <a:chExt cx="9936402" cy="4176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8A4C0AC-C1C1-2BD3-B4F3-60FCB1BB7AAD}"/>
                </a:ext>
              </a:extLst>
            </p:cNvPr>
            <p:cNvSpPr/>
            <p:nvPr/>
          </p:nvSpPr>
          <p:spPr>
            <a:xfrm>
              <a:off x="1221004" y="2142834"/>
              <a:ext cx="8929759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Aquando da comparação entre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Modelo de Garantias e BIYR9500,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observam-se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resultados semelhantes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aos observados em âmbito de testes e em produção, para as datas de referência de Fevereiro e Abril, respetivamente.</a:t>
              </a:r>
              <a:endParaRPr lang="pt-PT" sz="1050" b="1" dirty="0">
                <a:solidFill>
                  <a:sysClr val="windowText" lastClr="000000"/>
                </a:solidFill>
                <a:latin typeface="Santander Headline" panose="020B05040202010201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5151D2D-DD3C-E9D4-BC7B-FB1062C18011}"/>
                </a:ext>
              </a:extLst>
            </p:cNvPr>
            <p:cNvSpPr/>
            <p:nvPr/>
          </p:nvSpPr>
          <p:spPr>
            <a:xfrm>
              <a:off x="722243" y="2142834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A</a:t>
              </a:r>
            </a:p>
          </p:txBody>
        </p:sp>
        <p:pic>
          <p:nvPicPr>
            <p:cNvPr id="31" name="Graphic 30" descr="Badge Tick1 with solid fill">
              <a:extLst>
                <a:ext uri="{FF2B5EF4-FFF2-40B4-BE49-F238E27FC236}">
                  <a16:creationId xmlns:a16="http://schemas.microsoft.com/office/drawing/2014/main" id="{6B70F46B-7F60-F9F5-1450-0E7EAB4FA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045" y="2140870"/>
              <a:ext cx="417600" cy="417600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B3AF82-602D-680C-ECEB-DF82C7752B43}"/>
              </a:ext>
            </a:extLst>
          </p:cNvPr>
          <p:cNvGrpSpPr/>
          <p:nvPr/>
        </p:nvGrpSpPr>
        <p:grpSpPr>
          <a:xfrm>
            <a:off x="722243" y="2637201"/>
            <a:ext cx="9936402" cy="418657"/>
            <a:chOff x="722243" y="2631686"/>
            <a:chExt cx="9936402" cy="41865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708F1A8-1D8C-A1F0-C902-282CBEFA5B4F}"/>
                </a:ext>
              </a:extLst>
            </p:cNvPr>
            <p:cNvSpPr/>
            <p:nvPr/>
          </p:nvSpPr>
          <p:spPr>
            <a:xfrm>
              <a:off x="1221005" y="2634707"/>
              <a:ext cx="8929758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As variações verificadas entre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Modelo de Garantias FEVEREIRO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 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ABRIL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não foram significativas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, justificando-se pelas variações inerentes a uma nova data de referência. Adicionalmente, verificam-se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resultados semelhantes</a:t>
              </a:r>
              <a:r>
                <a:rPr lang="pt-PT" sz="1050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no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módulo de controlos de garantias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nas 2 datas de referência.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441E906-DCB1-7A73-7000-8A8CD610653E}"/>
                </a:ext>
              </a:extLst>
            </p:cNvPr>
            <p:cNvSpPr/>
            <p:nvPr/>
          </p:nvSpPr>
          <p:spPr>
            <a:xfrm>
              <a:off x="722243" y="2632013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B</a:t>
              </a:r>
            </a:p>
          </p:txBody>
        </p:sp>
        <p:pic>
          <p:nvPicPr>
            <p:cNvPr id="33" name="Graphic 32" descr="Badge Tick1 with solid fill">
              <a:extLst>
                <a:ext uri="{FF2B5EF4-FFF2-40B4-BE49-F238E27FC236}">
                  <a16:creationId xmlns:a16="http://schemas.microsoft.com/office/drawing/2014/main" id="{C3D68227-E489-6BAF-C55C-12B469593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045" y="2631686"/>
              <a:ext cx="417600" cy="417600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BDADC44-951B-D0C7-A74F-21AF3ABE9C5D}"/>
              </a:ext>
            </a:extLst>
          </p:cNvPr>
          <p:cNvGrpSpPr/>
          <p:nvPr/>
        </p:nvGrpSpPr>
        <p:grpSpPr>
          <a:xfrm>
            <a:off x="722243" y="3134589"/>
            <a:ext cx="9936402" cy="421678"/>
            <a:chOff x="722243" y="3134589"/>
            <a:chExt cx="9936402" cy="42167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970300B-3F16-62E0-B176-A654F1E8F84B}"/>
                </a:ext>
              </a:extLst>
            </p:cNvPr>
            <p:cNvSpPr/>
            <p:nvPr/>
          </p:nvSpPr>
          <p:spPr>
            <a:xfrm>
              <a:off x="1221005" y="3140631"/>
              <a:ext cx="8929758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As casuisticas e nº de registos descartados na BDR a Abril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encontram-se em linha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com o identificado na data de referência de Fevereiro (análise de fluxo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Modelo de Garantias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 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JM_GARANT_CTO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)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DF891E3-ABD8-40BA-666D-F5A156D510FD}"/>
                </a:ext>
              </a:extLst>
            </p:cNvPr>
            <p:cNvSpPr/>
            <p:nvPr/>
          </p:nvSpPr>
          <p:spPr>
            <a:xfrm>
              <a:off x="722243" y="3135243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C</a:t>
              </a:r>
            </a:p>
          </p:txBody>
        </p:sp>
        <p:pic>
          <p:nvPicPr>
            <p:cNvPr id="32" name="Graphic 31" descr="Badge Tick1 with solid fill">
              <a:extLst>
                <a:ext uri="{FF2B5EF4-FFF2-40B4-BE49-F238E27FC236}">
                  <a16:creationId xmlns:a16="http://schemas.microsoft.com/office/drawing/2014/main" id="{0571C37F-4C0F-C347-BA26-2B9D93805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045" y="3134589"/>
              <a:ext cx="417600" cy="41760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88C9818-06B9-725C-FBFC-EA4BBF5E0343}"/>
              </a:ext>
            </a:extLst>
          </p:cNvPr>
          <p:cNvGrpSpPr/>
          <p:nvPr/>
        </p:nvGrpSpPr>
        <p:grpSpPr>
          <a:xfrm>
            <a:off x="722243" y="3634998"/>
            <a:ext cx="9936402" cy="419678"/>
            <a:chOff x="722243" y="3634998"/>
            <a:chExt cx="9936402" cy="41967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2C1822E-1C76-E6B6-F137-4C52A2A8CC9E}"/>
                </a:ext>
              </a:extLst>
            </p:cNvPr>
            <p:cNvSpPr/>
            <p:nvPr/>
          </p:nvSpPr>
          <p:spPr>
            <a:xfrm>
              <a:off x="1221005" y="3639040"/>
              <a:ext cx="8929758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variação de impactos em capital (RWA)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entre as datas de referência de Março e Abril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foram semelhantes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aos impactos calculados na data de referência de Fevereiro (estes impactos dizem respeito </a:t>
              </a:r>
              <a:r>
                <a:rPr lang="pt-PT" sz="1050" u="sng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apenas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 a efeitos resultantes do novo modelo de garantias). 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3E9EF19-0320-C1F9-9F88-215D7524B957}"/>
                </a:ext>
              </a:extLst>
            </p:cNvPr>
            <p:cNvSpPr/>
            <p:nvPr/>
          </p:nvSpPr>
          <p:spPr>
            <a:xfrm>
              <a:off x="722243" y="3634998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D</a:t>
              </a:r>
            </a:p>
          </p:txBody>
        </p:sp>
        <p:pic>
          <p:nvPicPr>
            <p:cNvPr id="40" name="Graphic 39" descr="Badge Tick1 with solid fill">
              <a:extLst>
                <a:ext uri="{FF2B5EF4-FFF2-40B4-BE49-F238E27FC236}">
                  <a16:creationId xmlns:a16="http://schemas.microsoft.com/office/drawing/2014/main" id="{AD8F52F2-00E0-A0DD-46FE-A3C94790EA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045" y="3637076"/>
              <a:ext cx="417600" cy="417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9216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19</a:t>
            </a:fld>
            <a:endParaRPr lang="es-E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107288"/>
              </p:ext>
            </p:extLst>
          </p:nvPr>
        </p:nvGraphicFramePr>
        <p:xfrm>
          <a:off x="722241" y="2455200"/>
          <a:ext cx="10390900" cy="2642400"/>
        </p:xfrm>
        <a:graphic>
          <a:graphicData uri="http://schemas.openxmlformats.org/drawingml/2006/table">
            <a:tbl>
              <a:tblPr firstRow="1" firstCol="1" bandRow="1"/>
              <a:tblGrid>
                <a:gridCol w="12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6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4093056714"/>
                    </a:ext>
                  </a:extLst>
                </a:gridCol>
                <a:gridCol w="1076120">
                  <a:extLst>
                    <a:ext uri="{9D8B030D-6E8A-4147-A177-3AD203B41FA5}">
                      <a16:colId xmlns:a16="http://schemas.microsoft.com/office/drawing/2014/main" val="2876392654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3367374250"/>
                    </a:ext>
                  </a:extLst>
                </a:gridCol>
                <a:gridCol w="1076120">
                  <a:extLst>
                    <a:ext uri="{9D8B030D-6E8A-4147-A177-3AD203B41FA5}">
                      <a16:colId xmlns:a16="http://schemas.microsoft.com/office/drawing/2014/main" val="4166007057"/>
                    </a:ext>
                  </a:extLst>
                </a:gridCol>
                <a:gridCol w="1076120">
                  <a:extLst>
                    <a:ext uri="{9D8B030D-6E8A-4147-A177-3AD203B41FA5}">
                      <a16:colId xmlns:a16="http://schemas.microsoft.com/office/drawing/2014/main" val="376790381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BIYR2500 (1)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Novo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Garantias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 (2)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1000" b="1" i="1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∆ </a:t>
                      </a:r>
                      <a:r>
                        <a:rPr lang="pt-PT" sz="1000" b="1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(2-1)</a:t>
                      </a:r>
                      <a:r>
                        <a:rPr lang="pt-PT" sz="1000" b="1" i="1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endParaRPr lang="en-US" sz="1000" b="1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i="1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% </a:t>
                      </a:r>
                      <a:r>
                        <a:rPr lang="pt-PT" sz="1000" b="1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 (MAVALIAA)</a:t>
                      </a:r>
                      <a:endParaRPr lang="en-US" sz="1000" b="1" i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 b="1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Tipo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Abril</a:t>
                      </a:r>
                      <a:endParaRPr lang="en-US" sz="100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err="1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Fevereiro</a:t>
                      </a:r>
                      <a:endParaRPr lang="en-US" sz="100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Factoring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931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105 997 481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11 174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105 997 395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u="none" strike="noStrike">
                          <a:effectLst/>
                          <a:latin typeface="Santander Text" panose="020B0504020201020104" pitchFamily="34" charset="0"/>
                        </a:rPr>
                        <a:t>10 243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-86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Pessoais 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1000" b="0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 e Factoring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)</a:t>
                      </a:r>
                      <a:r>
                        <a:rPr lang="en-US" sz="1000" b="0" baseline="3000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393 158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33 810 921 535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358 877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22 339 424 470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u="none" strike="noStrike">
                          <a:effectLst/>
                          <a:latin typeface="Santander Text" panose="020B0504020201020104" pitchFamily="34" charset="0"/>
                        </a:rPr>
                        <a:t>-34 281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-11 471 497 065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-34%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-35%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Financeiras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7 515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1 224 624 975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7 419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679 782 825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u="none" strike="noStrike">
                          <a:effectLst/>
                          <a:latin typeface="Santander Text" panose="020B0504020201020104" pitchFamily="34" charset="0"/>
                        </a:rPr>
                        <a:t>-96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-544 842 150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-44%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-44%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506073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Imóveis 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1000" b="0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)</a:t>
                      </a: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365 635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58 242 381 158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400 688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57 540 767 658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u="none" strike="noStrike">
                          <a:effectLst/>
                          <a:latin typeface="Santander Text" panose="020B0504020201020104" pitchFamily="34" charset="0"/>
                        </a:rPr>
                        <a:t>35 053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-701 613 499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Pessoais </a:t>
                      </a:r>
                      <a:r>
                        <a:rPr lang="en-US" sz="1000" b="0" baseline="3000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37 874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1 644 913 876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33 492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1 586 399 717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u="none" strike="noStrike">
                          <a:effectLst/>
                          <a:latin typeface="Santander Text" panose="020B0504020201020104" pitchFamily="34" charset="0"/>
                        </a:rPr>
                        <a:t>-4 382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-58 514 159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31953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Imóveis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5 155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1 516 393 961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4 941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1 492 878 316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u="none" strike="noStrike">
                          <a:effectLst/>
                          <a:latin typeface="Santander Text" panose="020B0504020201020104" pitchFamily="34" charset="0"/>
                        </a:rPr>
                        <a:t>-214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-23 515 645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997582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810 268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96 545 232 985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816 591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83 745 250 380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6 323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-12 799 982 605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36366"/>
                  </a:ext>
                </a:extLst>
              </a:tr>
            </a:tbl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1395CC0C-E4E9-D409-255D-6A32BEE35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037194"/>
            <a:ext cx="39565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16 de abril.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800" dirty="0">
                <a:latin typeface="Santander Text" panose="020B0504020201020104" pitchFamily="34" charset="0"/>
              </a:rPr>
              <a:t>2. A granularidade utilizada para análise foi ao nivel do bem (garantia pessoal – Cliente)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ntander Text" panose="020B0504020201020104" pitchFamily="34" charset="0"/>
              <a:ea typeface="Calibri" panose="020F0502020204030204" pitchFamily="34" charset="0"/>
            </a:endParaRP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9BE11D50-696C-5DDD-4966-1C3C1D320F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/>
          <a:lstStyle/>
          <a:p>
            <a:r>
              <a:rPr lang="pt-PT" sz="2000" dirty="0"/>
              <a:t>2. Análise e testes de Modelo em produção a 30 Abril 2023, com respeito a 30 Abril 2023 real</a:t>
            </a:r>
            <a:endParaRPr lang="es-ES" sz="2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B94E07-820D-1FA4-0C00-AE02ECD5FCF5}"/>
              </a:ext>
            </a:extLst>
          </p:cNvPr>
          <p:cNvSpPr/>
          <p:nvPr/>
        </p:nvSpPr>
        <p:spPr>
          <a:xfrm>
            <a:off x="722241" y="1164141"/>
            <a:ext cx="1863643" cy="193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pt-PT" sz="1200" u="sng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Detalhe: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DBA7960-CD0F-27A9-8BE9-CC6F479224FE}"/>
              </a:ext>
            </a:extLst>
          </p:cNvPr>
          <p:cNvGrpSpPr/>
          <p:nvPr/>
        </p:nvGrpSpPr>
        <p:grpSpPr>
          <a:xfrm>
            <a:off x="722243" y="1605526"/>
            <a:ext cx="9936402" cy="417600"/>
            <a:chOff x="722243" y="2140870"/>
            <a:chExt cx="9936402" cy="4176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672FCA5-D5E0-40A2-938D-9BB2F9AF2333}"/>
                </a:ext>
              </a:extLst>
            </p:cNvPr>
            <p:cNvSpPr/>
            <p:nvPr/>
          </p:nvSpPr>
          <p:spPr>
            <a:xfrm>
              <a:off x="1221004" y="2142834"/>
              <a:ext cx="8929759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Aquando da comparação entre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Modelo de Garantias e BIYR9500,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observam-se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resultados semelhantes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aos observados em âmbito de testes e em produção, para as datas de referência de Fevereiro e Abril, respetivamente.</a:t>
              </a:r>
              <a:endParaRPr lang="pt-PT" sz="1050" b="1" dirty="0">
                <a:solidFill>
                  <a:sysClr val="windowText" lastClr="000000"/>
                </a:solidFill>
                <a:latin typeface="Santander Headline" panose="020B05040202010201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13C64E7-F4E4-A8FA-2C6E-9D3FE8BEC150}"/>
                </a:ext>
              </a:extLst>
            </p:cNvPr>
            <p:cNvSpPr/>
            <p:nvPr/>
          </p:nvSpPr>
          <p:spPr>
            <a:xfrm>
              <a:off x="722243" y="2142834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A</a:t>
              </a:r>
            </a:p>
          </p:txBody>
        </p:sp>
        <p:pic>
          <p:nvPicPr>
            <p:cNvPr id="14" name="Graphic 13" descr="Badge Tick1 with solid fill">
              <a:extLst>
                <a:ext uri="{FF2B5EF4-FFF2-40B4-BE49-F238E27FC236}">
                  <a16:creationId xmlns:a16="http://schemas.microsoft.com/office/drawing/2014/main" id="{7AE910BC-4D33-9421-40FF-5F8D342E1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045" y="2140870"/>
              <a:ext cx="417600" cy="417600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6A21EA30-DFE1-DA31-8977-D13539E4F5F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" b="32811"/>
          <a:stretch/>
        </p:blipFill>
        <p:spPr>
          <a:xfrm>
            <a:off x="10032965" y="985087"/>
            <a:ext cx="1787318" cy="35861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C09F791-28D5-D0F7-5FDB-D39E2D4A32CD}"/>
              </a:ext>
            </a:extLst>
          </p:cNvPr>
          <p:cNvSpPr/>
          <p:nvPr/>
        </p:nvSpPr>
        <p:spPr>
          <a:xfrm>
            <a:off x="9965531" y="1068430"/>
            <a:ext cx="1955007" cy="29051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14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20</a:t>
            </a:fld>
            <a:endParaRPr lang="es-ES"/>
          </a:p>
        </p:txBody>
      </p:sp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42111"/>
              </p:ext>
            </p:extLst>
          </p:nvPr>
        </p:nvGraphicFramePr>
        <p:xfrm>
          <a:off x="646337" y="2476961"/>
          <a:ext cx="3375182" cy="1684867"/>
        </p:xfrm>
        <a:graphic>
          <a:graphicData uri="http://schemas.openxmlformats.org/drawingml/2006/table">
            <a:tbl>
              <a:tblPr/>
              <a:tblGrid>
                <a:gridCol w="1235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4242">
                <a:tc>
                  <a:txBody>
                    <a:bodyPr/>
                    <a:lstStyle/>
                    <a:p>
                      <a:pPr algn="l" fontAlgn="b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900" b="1" i="0" u="none" strike="noStrike" kern="120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Abril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73"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b="1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Resultado do Controlo </a:t>
                      </a:r>
                      <a:r>
                        <a:rPr lang="pt-PT" sz="900" b="1" i="0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b="1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Num 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 </a:t>
                      </a:r>
                      <a:r>
                        <a:rPr lang="pt-PT" sz="900" b="1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2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VERMELHO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2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ED7D31"/>
                          </a:solidFill>
                          <a:effectLst/>
                          <a:latin typeface="Santander Text" panose="020B0504020201020104" pitchFamily="34" charset="0"/>
                        </a:rPr>
                        <a:t>LARANJA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2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</a:rPr>
                        <a:t>AMARELO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2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70AD47"/>
                          </a:solidFill>
                          <a:effectLst/>
                          <a:latin typeface="Santander Text" panose="020B0504020201020104" pitchFamily="34" charset="0"/>
                        </a:rPr>
                        <a:t>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89%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2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SEM DADOS</a:t>
                      </a:r>
                      <a:endParaRPr lang="en-US" sz="9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2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0" name="Chart 49">
            <a:extLst>
              <a:ext uri="{FF2B5EF4-FFF2-40B4-BE49-F238E27FC236}">
                <a16:creationId xmlns:a16="http://schemas.microsoft.com/office/drawing/2014/main" id="{65AC3D7A-0F4B-4606-AFA3-9FCD304916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2564179"/>
              </p:ext>
            </p:extLst>
          </p:nvPr>
        </p:nvGraphicFramePr>
        <p:xfrm>
          <a:off x="4280703" y="2476203"/>
          <a:ext cx="6975265" cy="19993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1" name="Rounded Rectangle 36">
            <a:extLst>
              <a:ext uri="{FF2B5EF4-FFF2-40B4-BE49-F238E27FC236}">
                <a16:creationId xmlns:a16="http://schemas.microsoft.com/office/drawing/2014/main" id="{6A436EC5-7AD1-4622-9D4D-836200569CBB}"/>
              </a:ext>
            </a:extLst>
          </p:cNvPr>
          <p:cNvSpPr/>
          <p:nvPr/>
        </p:nvSpPr>
        <p:spPr>
          <a:xfrm>
            <a:off x="4282273" y="2476203"/>
            <a:ext cx="6973695" cy="234315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1100" b="1">
                <a:solidFill>
                  <a:prstClr val="white"/>
                </a:solidFill>
                <a:latin typeface="Santander Text" panose="020B0504020201020104" pitchFamily="34" charset="0"/>
              </a:rPr>
              <a:t>Evolução Temporal</a:t>
            </a:r>
            <a:endParaRPr lang="en-US" sz="1100" b="1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9DD8DEA-13F3-4183-9376-B9E57DFDA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37" y="4304329"/>
            <a:ext cx="213137" cy="283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CEF6F44-A6B1-4A9F-A96A-C1F135FD6C3A}"/>
              </a:ext>
            </a:extLst>
          </p:cNvPr>
          <p:cNvSpPr txBox="1"/>
          <p:nvPr/>
        </p:nvSpPr>
        <p:spPr>
          <a:xfrm>
            <a:off x="766146" y="4307998"/>
            <a:ext cx="6204965" cy="246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b="1">
                <a:latin typeface="Santander Text" panose="020B0504020201020104" pitchFamily="34" charset="0"/>
              </a:rPr>
              <a:t>Controlos corrigidos face ao mês anterior: 0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4DB13A8-4E32-40F1-9F47-C855D21B4BD8}"/>
              </a:ext>
            </a:extLst>
          </p:cNvPr>
          <p:cNvSpPr/>
          <p:nvPr/>
        </p:nvSpPr>
        <p:spPr>
          <a:xfrm>
            <a:off x="7086854" y="3862952"/>
            <a:ext cx="681481" cy="234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8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3 (4%) 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970F823-2E01-4308-B014-187F8759B064}"/>
              </a:ext>
            </a:extLst>
          </p:cNvPr>
          <p:cNvSpPr/>
          <p:nvPr/>
        </p:nvSpPr>
        <p:spPr>
          <a:xfrm>
            <a:off x="8884648" y="3862952"/>
            <a:ext cx="681480" cy="234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8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4 (4%) 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04B33CD-064E-46A4-B7B2-4E1F42332B5A}"/>
              </a:ext>
            </a:extLst>
          </p:cNvPr>
          <p:cNvSpPr/>
          <p:nvPr/>
        </p:nvSpPr>
        <p:spPr>
          <a:xfrm>
            <a:off x="9757187" y="3862952"/>
            <a:ext cx="681481" cy="234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8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4 (4%) 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9CE0D7D-E475-486C-84CA-5212474003E6}"/>
              </a:ext>
            </a:extLst>
          </p:cNvPr>
          <p:cNvSpPr/>
          <p:nvPr/>
        </p:nvSpPr>
        <p:spPr>
          <a:xfrm>
            <a:off x="10709117" y="3862952"/>
            <a:ext cx="681481" cy="234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8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3 (3%) 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B27E4F2-1BB6-421D-A899-460BD3DA6CCD}"/>
              </a:ext>
            </a:extLst>
          </p:cNvPr>
          <p:cNvCxnSpPr>
            <a:cxnSpLocks/>
          </p:cNvCxnSpPr>
          <p:nvPr/>
        </p:nvCxnSpPr>
        <p:spPr>
          <a:xfrm>
            <a:off x="4694834" y="2884456"/>
            <a:ext cx="0" cy="1403064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E92542DC-4893-4427-B718-6CFDC057A1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521699"/>
              </p:ext>
            </p:extLst>
          </p:nvPr>
        </p:nvGraphicFramePr>
        <p:xfrm>
          <a:off x="10938497" y="2053672"/>
          <a:ext cx="381050" cy="806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4" imgW="380753" imgH="806311" progId="Excel.Sheet.12">
                  <p:embed/>
                </p:oleObj>
              </mc:Choice>
              <mc:Fallback>
                <p:oleObj name="Worksheet" showAsIcon="1" r:id="rId4" imgW="380753" imgH="806311" progId="Excel.Sheet.12">
                  <p:embed/>
                  <p:pic>
                    <p:nvPicPr>
                      <p:cNvPr id="61" name="Object 60">
                        <a:extLst>
                          <a:ext uri="{FF2B5EF4-FFF2-40B4-BE49-F238E27FC236}">
                            <a16:creationId xmlns:a16="http://schemas.microsoft.com/office/drawing/2014/main" id="{E92542DC-4893-4427-B718-6CFDC057A1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938497" y="2053672"/>
                        <a:ext cx="381050" cy="8065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7200FFCA-F1CF-419D-B201-55015DE975D0}"/>
              </a:ext>
            </a:extLst>
          </p:cNvPr>
          <p:cNvSpPr txBox="1"/>
          <p:nvPr/>
        </p:nvSpPr>
        <p:spPr>
          <a:xfrm>
            <a:off x="646337" y="6180729"/>
            <a:ext cx="8814222" cy="63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b="1" baseline="30000">
                <a:latin typeface="Santander Text" panose="020B0504020201020104" pitchFamily="34" charset="0"/>
              </a:rPr>
              <a:t>1  </a:t>
            </a:r>
            <a:r>
              <a:rPr lang="pt-PT" sz="800">
                <a:latin typeface="Santander Text" panose="020B0504020201020104" pitchFamily="34" charset="0"/>
              </a:rPr>
              <a:t>O universo dos controlos tem como base o universo do novo Modelo único de Garantias, mesmo quando a informação relativa a determinado atributo não se encontra no Modelo.</a:t>
            </a:r>
          </a:p>
          <a:p>
            <a:endParaRPr lang="pt-PT" sz="800">
              <a:latin typeface="Santander Text" panose="020B0504020201020104" pitchFamily="34" charset="0"/>
            </a:endParaRPr>
          </a:p>
          <a:p>
            <a:endParaRPr lang="pt-PT" sz="800">
              <a:latin typeface="Santander Text" panose="020B0504020201020104" pitchFamily="34" charset="0"/>
            </a:endParaRPr>
          </a:p>
          <a:p>
            <a:endParaRPr lang="pt-PT" sz="1100"/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301585F9-CBF7-C70C-3A7B-0AF5597D12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/>
          <a:lstStyle/>
          <a:p>
            <a:r>
              <a:rPr lang="pt-PT" sz="2000" dirty="0"/>
              <a:t>2. Análise e testes de Modelo em produção a 30 Abril 2023, com respeito a 30 Abril 2023 real</a:t>
            </a:r>
            <a:endParaRPr lang="es-ES" sz="2000" dirty="0"/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29B6B899-6ACA-41AB-914A-76573652C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864404"/>
              </p:ext>
            </p:extLst>
          </p:nvPr>
        </p:nvGraphicFramePr>
        <p:xfrm>
          <a:off x="722243" y="4657610"/>
          <a:ext cx="10608249" cy="1368228"/>
        </p:xfrm>
        <a:graphic>
          <a:graphicData uri="http://schemas.openxmlformats.org/drawingml/2006/table">
            <a:tbl>
              <a:tblPr/>
              <a:tblGrid>
                <a:gridCol w="4331393">
                  <a:extLst>
                    <a:ext uri="{9D8B030D-6E8A-4147-A177-3AD203B41FA5}">
                      <a16:colId xmlns:a16="http://schemas.microsoft.com/office/drawing/2014/main" val="3404390578"/>
                    </a:ext>
                  </a:extLst>
                </a:gridCol>
                <a:gridCol w="834680">
                  <a:extLst>
                    <a:ext uri="{9D8B030D-6E8A-4147-A177-3AD203B41FA5}">
                      <a16:colId xmlns:a16="http://schemas.microsoft.com/office/drawing/2014/main" val="1914649429"/>
                    </a:ext>
                  </a:extLst>
                </a:gridCol>
                <a:gridCol w="1073160">
                  <a:extLst>
                    <a:ext uri="{9D8B030D-6E8A-4147-A177-3AD203B41FA5}">
                      <a16:colId xmlns:a16="http://schemas.microsoft.com/office/drawing/2014/main" val="2263703599"/>
                    </a:ext>
                  </a:extLst>
                </a:gridCol>
                <a:gridCol w="2648831">
                  <a:extLst>
                    <a:ext uri="{9D8B030D-6E8A-4147-A177-3AD203B41FA5}">
                      <a16:colId xmlns:a16="http://schemas.microsoft.com/office/drawing/2014/main" val="1099477314"/>
                    </a:ext>
                  </a:extLst>
                </a:gridCol>
                <a:gridCol w="757221">
                  <a:extLst>
                    <a:ext uri="{9D8B030D-6E8A-4147-A177-3AD203B41FA5}">
                      <a16:colId xmlns:a16="http://schemas.microsoft.com/office/drawing/2014/main" val="877178562"/>
                    </a:ext>
                  </a:extLst>
                </a:gridCol>
                <a:gridCol w="962964">
                  <a:extLst>
                    <a:ext uri="{9D8B030D-6E8A-4147-A177-3AD203B41FA5}">
                      <a16:colId xmlns:a16="http://schemas.microsoft.com/office/drawing/2014/main" val="65989523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algn="ctr" defTabSz="914011" rtl="0" eaLnBrk="1" fontAlgn="ctr" latinLnBrk="0" hangingPunct="1"/>
                      <a:r>
                        <a:rPr lang="pt-PT" sz="1000" b="1" kern="1200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Data Início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Nº de Incidências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Plano de Remediação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Data Fim</a:t>
                      </a:r>
                      <a:br>
                        <a:rPr lang="pt-PT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</a:br>
                      <a:r>
                        <a:rPr lang="pt-PT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(previsão)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Responsável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082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  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Garantias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imobiliárias com código postal do imóvel com formato incorreto </a:t>
                      </a:r>
                      <a:endParaRPr lang="pt-PT" sz="900" b="0" i="0" u="none" strike="noStrike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1414 (0,50%)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</a:t>
                      </a: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CDO e IT de Empréstimos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CDO, IT </a:t>
                      </a: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Emp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.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573088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  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Garantias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pessoais com percentagem de cobertura com formato incorreto (igual a 0) </a:t>
                      </a:r>
                      <a:endParaRPr lang="pt-PT" sz="900" b="0" i="0" u="none" strike="noStrike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3590 </a:t>
                      </a: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(0,95%)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com Operações de Serviço de Crédito</a:t>
                      </a:r>
                      <a:endParaRPr lang="pt-PT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CDO, Op. CS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93839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baseline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Títulos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com código do depositário de títulos com valores fora do catálogo </a:t>
                      </a:r>
                      <a:endParaRPr lang="pt-PT" sz="900" b="0" i="0" u="none" strike="noStrike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Abr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(1,21%)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Plano</a:t>
                      </a: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de correção definido por IT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CDO, 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524967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</a:t>
                      </a:r>
                      <a:r>
                        <a:rPr lang="pt-PT" sz="900" b="0" i="0" u="none" strike="noStrike" baseline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Garantias cuja moeda é diferente de euro e que não foram </a:t>
                      </a:r>
                      <a:r>
                        <a:rPr lang="pt-PT" sz="9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contravaloradas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endParaRPr lang="pt-PT" sz="900" b="0" i="0" u="none" strike="noStrike" noProof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</a:t>
                      </a:r>
                      <a:r>
                        <a:rPr 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(3,33%)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 CDO e equipa IT do projeto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CDO, IT modelo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0976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  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CC, TT ou FU dados como garantia com saldo </a:t>
                      </a:r>
                      <a:r>
                        <a:rPr lang="pt-PT" sz="900" b="0" i="0" u="none" strike="noStrike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contab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. &lt; ao montante cativo total</a:t>
                      </a:r>
                      <a:endParaRPr lang="pt-PT" sz="900" b="0" i="0" u="none" strike="noStrike" noProof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139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(2,17%)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 CDO e Operações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CDO, Op.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511283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D0082875-905A-E50D-8E41-50C72A4EB936}"/>
              </a:ext>
            </a:extLst>
          </p:cNvPr>
          <p:cNvGrpSpPr/>
          <p:nvPr/>
        </p:nvGrpSpPr>
        <p:grpSpPr>
          <a:xfrm>
            <a:off x="722243" y="1605526"/>
            <a:ext cx="9936402" cy="418657"/>
            <a:chOff x="722243" y="2631686"/>
            <a:chExt cx="9936402" cy="41865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24ACF1D-4A7D-68CE-826F-7734F8BD6091}"/>
                </a:ext>
              </a:extLst>
            </p:cNvPr>
            <p:cNvSpPr/>
            <p:nvPr/>
          </p:nvSpPr>
          <p:spPr>
            <a:xfrm>
              <a:off x="1221005" y="2634707"/>
              <a:ext cx="8929758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As variações verificadas entre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Modelo de Garantias FEVEREIRO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 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ABRIL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não foram significativas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, justificando-se pelas variações inerentes a uma nova data de referência. Adicionalmente, verificam-se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resultados semelhantes</a:t>
              </a:r>
              <a:r>
                <a:rPr lang="pt-PT" sz="1050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no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módulo de controlos de garantias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nas 2 datas de referência.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1437763-29FD-6D0B-49B8-2BCF47357F5A}"/>
                </a:ext>
              </a:extLst>
            </p:cNvPr>
            <p:cNvSpPr/>
            <p:nvPr/>
          </p:nvSpPr>
          <p:spPr>
            <a:xfrm>
              <a:off x="722243" y="2632013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B</a:t>
              </a:r>
            </a:p>
          </p:txBody>
        </p:sp>
        <p:pic>
          <p:nvPicPr>
            <p:cNvPr id="16" name="Graphic 15" descr="Badge Tick1 with solid fill">
              <a:extLst>
                <a:ext uri="{FF2B5EF4-FFF2-40B4-BE49-F238E27FC236}">
                  <a16:creationId xmlns:a16="http://schemas.microsoft.com/office/drawing/2014/main" id="{53F549F0-4FFE-BDE5-B1AC-B28B9C446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241045" y="2631686"/>
              <a:ext cx="417600" cy="417600"/>
            </a:xfrm>
            <a:prstGeom prst="rect">
              <a:avLst/>
            </a:prstGeom>
          </p:spPr>
        </p:pic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C0A401FF-3034-07B1-E595-F5E03262B360}"/>
              </a:ext>
            </a:extLst>
          </p:cNvPr>
          <p:cNvSpPr/>
          <p:nvPr/>
        </p:nvSpPr>
        <p:spPr>
          <a:xfrm>
            <a:off x="722241" y="1164141"/>
            <a:ext cx="1863643" cy="193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pt-PT" sz="1200" u="sng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Detalhe: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A04899-F7F5-A70D-B2AD-C987729FECD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-1" b="32811"/>
          <a:stretch/>
        </p:blipFill>
        <p:spPr>
          <a:xfrm>
            <a:off x="10032965" y="985087"/>
            <a:ext cx="1787318" cy="35861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EBE5684-F81C-8B42-186A-E425180B2489}"/>
              </a:ext>
            </a:extLst>
          </p:cNvPr>
          <p:cNvSpPr/>
          <p:nvPr/>
        </p:nvSpPr>
        <p:spPr>
          <a:xfrm>
            <a:off x="9965531" y="1160330"/>
            <a:ext cx="1955007" cy="194801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alpha val="70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4A0C4F-C09D-C24B-88F3-124DB4F8F41C}"/>
              </a:ext>
            </a:extLst>
          </p:cNvPr>
          <p:cNvSpPr/>
          <p:nvPr/>
        </p:nvSpPr>
        <p:spPr>
          <a:xfrm>
            <a:off x="9965531" y="976125"/>
            <a:ext cx="1955007" cy="9040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191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21</a:t>
            </a:fld>
            <a:endParaRPr lang="es-E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790DD7-7A57-A5DD-1BF3-EDD100B3C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43200"/>
              </p:ext>
            </p:extLst>
          </p:nvPr>
        </p:nvGraphicFramePr>
        <p:xfrm>
          <a:off x="722243" y="2566752"/>
          <a:ext cx="9176402" cy="107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0872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 Registos</a:t>
                      </a: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Valor de avaliação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Tipologia</a:t>
                      </a:r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Novo Modelo Garantias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JM_GARANT_CTO</a:t>
                      </a:r>
                      <a:r>
                        <a:rPr lang="pt-PT" sz="900" b="1" u="none" strike="noStrike" baseline="3000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Novo Modelo Garantias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JM_GARANT_CTO</a:t>
                      </a:r>
                      <a:r>
                        <a:rPr lang="pt-PT" sz="900" b="1" u="none" strike="noStrike" baseline="3000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>
                          <a:effectLst/>
                          <a:latin typeface="Santander Text" panose="020B0504020201020104" pitchFamily="34" charset="0"/>
                        </a:rPr>
                        <a:t> Financeira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8 141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8 140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679 782 825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679 782 516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-308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Imóvel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369 444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369 444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59 033 645 974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59 033 645 974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9612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>
                          <a:effectLst/>
                          <a:latin typeface="Santander Text" panose="020B0504020201020104" pitchFamily="34" charset="0"/>
                        </a:rPr>
                        <a:t> Pessoais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371 199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371 190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24 031 821 582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24 031 715 515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-106 067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748 784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748 774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83 745 250 380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83 745 144 005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-106 375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BB4D737-4769-DA22-3EBA-563EBC6CDD40}"/>
              </a:ext>
            </a:extLst>
          </p:cNvPr>
          <p:cNvSpPr txBox="1"/>
          <p:nvPr/>
        </p:nvSpPr>
        <p:spPr>
          <a:xfrm>
            <a:off x="711028" y="6072469"/>
            <a:ext cx="5208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27 de abril.</a:t>
            </a:r>
          </a:p>
          <a:p>
            <a:r>
              <a:rPr lang="pt-PT" sz="800" dirty="0">
                <a:latin typeface="Santander Text" panose="020B0504020201020104" pitchFamily="34" charset="0"/>
              </a:rPr>
              <a:t>2. Tabela JM_GARANT_CTO carregada na BDR2 e resulta do processo utilizando o Novo Modelo de Garantias (GT015).</a:t>
            </a:r>
            <a:endParaRPr lang="pt-BR" sz="800" dirty="0">
              <a:latin typeface="Santander Text" panose="020B0504020201020104" pitchFamily="34" charset="0"/>
            </a:endParaRPr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1CBC589-FA16-696D-1407-5680FB9143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/>
          <a:lstStyle/>
          <a:p>
            <a:r>
              <a:rPr lang="pt-PT" sz="2000" dirty="0"/>
              <a:t>2. Análise e testes de Modelo em produção a 30 Abril 2023, com respeito a 30 Abril 2023 real</a:t>
            </a:r>
            <a:endParaRPr lang="es-ES" sz="20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4CE682D-103F-5171-BF55-9310C09ACCB3}"/>
              </a:ext>
            </a:extLst>
          </p:cNvPr>
          <p:cNvGrpSpPr/>
          <p:nvPr/>
        </p:nvGrpSpPr>
        <p:grpSpPr>
          <a:xfrm>
            <a:off x="722243" y="1605526"/>
            <a:ext cx="9936402" cy="421678"/>
            <a:chOff x="722243" y="3134589"/>
            <a:chExt cx="9936402" cy="42167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AB2D82-96EB-6D14-45CF-6586A77CBC3E}"/>
                </a:ext>
              </a:extLst>
            </p:cNvPr>
            <p:cNvSpPr/>
            <p:nvPr/>
          </p:nvSpPr>
          <p:spPr>
            <a:xfrm>
              <a:off x="1221005" y="3140631"/>
              <a:ext cx="8929758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As casuisticas e nº de registos descartados na BDR a Abril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encontram-se em linha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com o identificado na data de referência de Fevereiro (análise de fluxo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Modelo de Garantias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 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JM_GARANT_CTO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10AE760-643C-FE50-1DC2-21768DE7F98C}"/>
                </a:ext>
              </a:extLst>
            </p:cNvPr>
            <p:cNvSpPr/>
            <p:nvPr/>
          </p:nvSpPr>
          <p:spPr>
            <a:xfrm>
              <a:off x="722243" y="3135243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C</a:t>
              </a:r>
            </a:p>
          </p:txBody>
        </p:sp>
        <p:pic>
          <p:nvPicPr>
            <p:cNvPr id="12" name="Graphic 11" descr="Badge Tick1 with solid fill">
              <a:extLst>
                <a:ext uri="{FF2B5EF4-FFF2-40B4-BE49-F238E27FC236}">
                  <a16:creationId xmlns:a16="http://schemas.microsoft.com/office/drawing/2014/main" id="{4578BCA4-3B06-49D3-65F6-3A42682676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41045" y="3134589"/>
              <a:ext cx="417600" cy="417600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4A861E3C-DF78-831A-6B4E-F19807F35844}"/>
              </a:ext>
            </a:extLst>
          </p:cNvPr>
          <p:cNvSpPr/>
          <p:nvPr/>
        </p:nvSpPr>
        <p:spPr>
          <a:xfrm>
            <a:off x="722241" y="1164141"/>
            <a:ext cx="1863643" cy="193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pt-PT" sz="1200" u="sng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Detalhe: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4BAA2B-F28B-CB4D-2A2F-4AACC3125AD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-1" b="32811"/>
          <a:stretch/>
        </p:blipFill>
        <p:spPr>
          <a:xfrm>
            <a:off x="10032965" y="985087"/>
            <a:ext cx="1787318" cy="35861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93B487F-E8A5-AD20-DBA2-88F6BEA44FAA}"/>
              </a:ext>
            </a:extLst>
          </p:cNvPr>
          <p:cNvSpPr/>
          <p:nvPr/>
        </p:nvSpPr>
        <p:spPr>
          <a:xfrm>
            <a:off x="9965531" y="1243965"/>
            <a:ext cx="1955007" cy="11116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alpha val="7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DD73CE-A9D9-82FE-1A38-F853A5AE8679}"/>
              </a:ext>
            </a:extLst>
          </p:cNvPr>
          <p:cNvSpPr/>
          <p:nvPr/>
        </p:nvSpPr>
        <p:spPr>
          <a:xfrm>
            <a:off x="9965531" y="974220"/>
            <a:ext cx="1955007" cy="1880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04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699648" y="3403875"/>
            <a:ext cx="10891987" cy="276785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Santander Text" panose="020B0504020201020104" pitchFamily="34" charset="0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22</a:t>
            </a:fld>
            <a:endParaRPr lang="es-E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134385"/>
              </p:ext>
            </p:extLst>
          </p:nvPr>
        </p:nvGraphicFramePr>
        <p:xfrm>
          <a:off x="1033024" y="3443247"/>
          <a:ext cx="5478294" cy="2578310"/>
        </p:xfrm>
        <a:graphic>
          <a:graphicData uri="http://schemas.openxmlformats.org/drawingml/2006/table">
            <a:tbl>
              <a:tblPr/>
              <a:tblGrid>
                <a:gridCol w="1800000">
                  <a:extLst>
                    <a:ext uri="{9D8B030D-6E8A-4147-A177-3AD203B41FA5}">
                      <a16:colId xmlns:a16="http://schemas.microsoft.com/office/drawing/2014/main" val="2525455244"/>
                    </a:ext>
                  </a:extLst>
                </a:gridCol>
                <a:gridCol w="762294">
                  <a:extLst>
                    <a:ext uri="{9D8B030D-6E8A-4147-A177-3AD203B41FA5}">
                      <a16:colId xmlns:a16="http://schemas.microsoft.com/office/drawing/2014/main" val="741639320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42864794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14102646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392995825"/>
                    </a:ext>
                  </a:extLst>
                </a:gridCol>
              </a:tblGrid>
              <a:tr h="186805"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RWA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428216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Casuística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# Registos</a:t>
                      </a:r>
                      <a:r>
                        <a:rPr lang="pt-PT" sz="1000" b="1" i="0" u="none" strike="noStrike" baseline="3000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effectLst/>
                          <a:latin typeface="Santander Text" panose="020B0504020201020104" pitchFamily="34" charset="0"/>
                        </a:rPr>
                        <a:t>IRB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effectLst/>
                          <a:latin typeface="Santander Text" panose="020B0504020201020104" pitchFamily="34" charset="0"/>
                        </a:rPr>
                        <a:t>STD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53125"/>
                  </a:ext>
                </a:extLst>
              </a:tr>
              <a:tr h="1872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62B96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123 031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-4 256 526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-2 328 469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-6 584 994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13864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effectLst/>
                          <a:latin typeface="Santander Text" panose="020B0504020201020104" pitchFamily="34" charset="0"/>
                        </a:rPr>
                        <a:t>Em resolução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13 492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-2 495 169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-368 051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-2 863 220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2269089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6 018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2 375 903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4 952 780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7 328 683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03822"/>
                  </a:ext>
                </a:extLst>
              </a:tr>
              <a:tr h="18680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effectLst/>
                          <a:latin typeface="Santander Text" panose="020B0504020201020104" pitchFamily="34" charset="0"/>
                        </a:rPr>
                        <a:t>Impacto inerentes a garantias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-4 375 791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2 256 260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-2 119 531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453271"/>
                  </a:ext>
                </a:extLst>
              </a:tr>
              <a:tr h="144000">
                <a:tc gridSpan="5">
                  <a:txBody>
                    <a:bodyPr/>
                    <a:lstStyle/>
                    <a:p>
                      <a:pPr algn="ctr" fontAlgn="ctr"/>
                      <a:endParaRPr lang="pt-PT" sz="900" b="1" i="0" u="none" strike="noStrike" dirty="0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237777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Reconciliação (Cont/Cargabal)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19 099 624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19 099 624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117167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Alteração PD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30 110 172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30 110 172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383772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Alteração LGD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-1 787 311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-1 787 311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514737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Variações de Universo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-28 156 740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-5 242 416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-33 399 157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660024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Mudanças no rácio atual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-16 508 261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-14 901 741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-31 410 002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526707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Impactos não inerentes – ENC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13 090 879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13 090 879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521463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Outras Diferenças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-150 845 531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20 982 025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 dirty="0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-129 863 507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41248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99163" y="3403875"/>
            <a:ext cx="499247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u="sng" dirty="0">
                <a:latin typeface="Santander Text" panose="020B0504020201020104" pitchFamily="34" charset="0"/>
              </a:rPr>
              <a:t>Notas adicionais:</a:t>
            </a:r>
          </a:p>
          <a:p>
            <a:endParaRPr lang="pt-PT" sz="900" dirty="0">
              <a:latin typeface="Santander Text" panose="020B0504020201020104" pitchFamily="34" charset="0"/>
            </a:endParaRPr>
          </a:p>
          <a:p>
            <a:pPr marL="228600" indent="-228600">
              <a:spcBef>
                <a:spcPts val="300"/>
              </a:spcBef>
              <a:buFont typeface="+mj-lt"/>
              <a:buAutoNum type="arabicPeriod"/>
            </a:pPr>
            <a:r>
              <a:rPr lang="pt-PT" sz="900" dirty="0">
                <a:latin typeface="Santander Text" panose="020B0504020201020104" pitchFamily="34" charset="0"/>
              </a:rPr>
              <a:t>Para os </a:t>
            </a:r>
            <a:r>
              <a:rPr lang="pt-PT" sz="900" b="1" dirty="0">
                <a:latin typeface="Santander Text" panose="020B0504020201020104" pitchFamily="34" charset="0"/>
              </a:rPr>
              <a:t>impactos inerentes a garantias</a:t>
            </a:r>
            <a:r>
              <a:rPr lang="pt-PT" sz="900" dirty="0">
                <a:latin typeface="Santander Text" panose="020B0504020201020104" pitchFamily="34" charset="0"/>
              </a:rPr>
              <a:t> não foi possível isolar o efeito de variações "normais" de mudança de rácio, incluindo, por exemplo, variações na EAD; </a:t>
            </a:r>
          </a:p>
          <a:p>
            <a:pPr marL="228600" indent="-228600">
              <a:spcBef>
                <a:spcPts val="300"/>
              </a:spcBef>
              <a:buFont typeface="+mj-lt"/>
              <a:buAutoNum type="arabicPeriod"/>
            </a:pPr>
            <a:r>
              <a:rPr lang="pt-PT" sz="900" dirty="0">
                <a:latin typeface="Santander Text" panose="020B0504020201020104" pitchFamily="34" charset="0"/>
              </a:rPr>
              <a:t>As </a:t>
            </a:r>
            <a:r>
              <a:rPr lang="pt-PT" sz="900" b="1" dirty="0">
                <a:latin typeface="Santander Text" panose="020B0504020201020104" pitchFamily="34" charset="0"/>
              </a:rPr>
              <a:t>restantes diferenças </a:t>
            </a:r>
            <a:r>
              <a:rPr lang="pt-PT" sz="900" dirty="0">
                <a:latin typeface="Santander Text" panose="020B0504020201020104" pitchFamily="34" charset="0"/>
              </a:rPr>
              <a:t>dizem respeito a contratos para os quais:</a:t>
            </a:r>
          </a:p>
          <a:p>
            <a:pPr marL="685476" lvl="1" indent="-228600">
              <a:spcBef>
                <a:spcPts val="300"/>
              </a:spcBef>
              <a:buFont typeface="+mj-lt"/>
              <a:buAutoNum type="alphaLcParenR"/>
            </a:pPr>
            <a:r>
              <a:rPr lang="pt-PT" sz="900" dirty="0">
                <a:latin typeface="Santander Text" panose="020B0504020201020104" pitchFamily="34" charset="0"/>
              </a:rPr>
              <a:t>Não existe garantia associada em nenhum dos rácios;</a:t>
            </a:r>
          </a:p>
          <a:p>
            <a:pPr marL="685476" lvl="1" indent="-228600">
              <a:spcBef>
                <a:spcPts val="300"/>
              </a:spcBef>
              <a:buFont typeface="+mj-lt"/>
              <a:buAutoNum type="alphaLcParenR"/>
            </a:pPr>
            <a:r>
              <a:rPr lang="pt-PT" sz="900" dirty="0">
                <a:latin typeface="Santander Text" panose="020B0504020201020104" pitchFamily="34" charset="0"/>
              </a:rPr>
              <a:t>Existe garantia(s) associada(s) em pelo menos um dos rácios, no entanto existe o descarte das mesmas;</a:t>
            </a:r>
          </a:p>
          <a:p>
            <a:pPr marL="685476" lvl="1" indent="-228600">
              <a:spcBef>
                <a:spcPts val="300"/>
              </a:spcBef>
              <a:buFont typeface="+mj-lt"/>
              <a:buAutoNum type="alphaLcParenR"/>
            </a:pPr>
            <a:r>
              <a:rPr lang="pt-PT" sz="900" dirty="0">
                <a:latin typeface="Santander Text" panose="020B0504020201020104" pitchFamily="34" charset="0"/>
              </a:rPr>
              <a:t>A(s) garantia(s) utilizada(s) são exatamente iguais entre os rácios.</a:t>
            </a:r>
          </a:p>
          <a:p>
            <a:pPr marL="228600" indent="-228600">
              <a:spcBef>
                <a:spcPts val="300"/>
              </a:spcBef>
              <a:buFont typeface="+mj-lt"/>
              <a:buAutoNum type="arabicPeriod"/>
            </a:pPr>
            <a:r>
              <a:rPr lang="pt-PT" sz="900" dirty="0">
                <a:latin typeface="Santander Text" panose="020B0504020201020104" pitchFamily="34" charset="0"/>
              </a:rPr>
              <a:t>A casuistica "</a:t>
            </a:r>
            <a:r>
              <a:rPr lang="pt-PT" sz="900" b="1" dirty="0">
                <a:latin typeface="Santander Text" panose="020B0504020201020104" pitchFamily="34" charset="0"/>
              </a:rPr>
              <a:t>Variações de Universo</a:t>
            </a:r>
            <a:r>
              <a:rPr lang="pt-PT" sz="900" dirty="0">
                <a:latin typeface="Santander Text" panose="020B0504020201020104" pitchFamily="34" charset="0"/>
              </a:rPr>
              <a:t>" engloba as seguintes situações: variações de EAD, novos contratos, contratos desaparecidos ou Diferenças no valor do LTV.</a:t>
            </a:r>
          </a:p>
          <a:p>
            <a:pPr marL="228600" indent="-228600">
              <a:spcBef>
                <a:spcPts val="300"/>
              </a:spcBef>
              <a:buFont typeface="+mj-lt"/>
              <a:buAutoNum type="arabicPeriod"/>
            </a:pPr>
            <a:r>
              <a:rPr lang="pt-PT" sz="900" dirty="0">
                <a:latin typeface="Santander Text" panose="020B0504020201020104" pitchFamily="34" charset="0"/>
              </a:rPr>
              <a:t>A casuistica "</a:t>
            </a:r>
            <a:r>
              <a:rPr lang="pt-PT" sz="900" b="1" dirty="0">
                <a:latin typeface="Santander Text" panose="020B0504020201020104" pitchFamily="34" charset="0"/>
              </a:rPr>
              <a:t>Mudanças no rácio atual</a:t>
            </a:r>
            <a:r>
              <a:rPr lang="pt-PT" sz="900" dirty="0">
                <a:latin typeface="Santander Text" panose="020B0504020201020104" pitchFamily="34" charset="0"/>
              </a:rPr>
              <a:t>" diz respeito a contratos para os quais a garantia era descartada em março e a abril é utilizada. </a:t>
            </a:r>
          </a:p>
          <a:p>
            <a:pPr marL="228600" indent="-228600">
              <a:spcBef>
                <a:spcPts val="300"/>
              </a:spcBef>
              <a:buFont typeface="+mj-lt"/>
              <a:buAutoNum type="arabicPeriod"/>
            </a:pPr>
            <a:r>
              <a:rPr lang="pt-PT" sz="900" dirty="0">
                <a:latin typeface="Santander Text" panose="020B0504020201020104" pitchFamily="34" charset="0"/>
              </a:rPr>
              <a:t>Para a casuistica "</a:t>
            </a:r>
            <a:r>
              <a:rPr lang="pt-PT" sz="900" b="1" dirty="0">
                <a:latin typeface="Santander Text" panose="020B0504020201020104" pitchFamily="34" charset="0"/>
              </a:rPr>
              <a:t>Outras Diferenças</a:t>
            </a:r>
            <a:r>
              <a:rPr lang="pt-PT" sz="900" dirty="0">
                <a:latin typeface="Santander Text" panose="020B0504020201020104" pitchFamily="34" charset="0"/>
              </a:rPr>
              <a:t>" não foi possível aferir a razão da variação verificada no montante de RWA, uma vez que os contratos em questão cumprem todos os requisitos identificados no ponto 2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1D5AD34C-9F22-0F96-ADAD-0463A5602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708147"/>
              </p:ext>
            </p:extLst>
          </p:nvPr>
        </p:nvGraphicFramePr>
        <p:xfrm>
          <a:off x="722243" y="2247176"/>
          <a:ext cx="6479999" cy="89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3789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RWA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EAD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Método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Abril</a:t>
                      </a:r>
                      <a:r>
                        <a:rPr lang="pt-PT" sz="1000" b="1" u="none" strike="noStrike" baseline="30000" dirty="0"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Março</a:t>
                      </a:r>
                      <a:r>
                        <a:rPr lang="pt-PT" sz="1000" b="1" u="none" strike="noStrike" baseline="30000" dirty="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Abril</a:t>
                      </a:r>
                      <a:r>
                        <a:rPr lang="pt-PT" sz="1000" b="1" u="none" strike="noStrike" baseline="30000" dirty="0"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Março</a:t>
                      </a:r>
                      <a:r>
                        <a:rPr lang="pt-PT" sz="1000" b="1" u="none" strike="noStrike" baseline="30000" dirty="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IRB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10 231 633 092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10 403 196 555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-171 563 463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32 535 752 617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32 911 360 189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-375 607 572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STD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1 310 323 255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1 275 038 624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35 284 631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16 509 804 582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17 974 054 454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-1 464 249 872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11 541 956 347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11 678 235 179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-136 278 831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49 045 557 199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50 885 414 643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-1 839 857 444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2059536" y="6193464"/>
            <a:ext cx="66672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27 de abril.</a:t>
            </a:r>
          </a:p>
          <a:p>
            <a:r>
              <a:rPr lang="pt-PT" sz="800" dirty="0">
                <a:latin typeface="Santander Text" panose="020B0504020201020104" pitchFamily="34" charset="0"/>
              </a:rPr>
              <a:t>2. Resultados obtidos à data de referência de Março resultam do processo do BIYR9500 (</a:t>
            </a:r>
            <a:r>
              <a:rPr lang="pt-PT" sz="800" b="1" dirty="0">
                <a:latin typeface="Santander Text" panose="020B0504020201020104" pitchFamily="34" charset="0"/>
              </a:rPr>
              <a:t>antes</a:t>
            </a:r>
            <a:r>
              <a:rPr lang="pt-PT" sz="800" dirty="0">
                <a:latin typeface="Santander Text" panose="020B0504020201020104" pitchFamily="34" charset="0"/>
              </a:rPr>
              <a:t> da entrada em produção do Novo Modelo de Garantias).</a:t>
            </a:r>
          </a:p>
          <a:p>
            <a:r>
              <a:rPr lang="pt-PT" sz="800" dirty="0">
                <a:latin typeface="Santander Text" panose="020B0504020201020104" pitchFamily="34" charset="0"/>
              </a:rPr>
              <a:t>3. Resultados obtidos à data de referência de Abril resultam do processo do BIYR9500 (</a:t>
            </a:r>
            <a:r>
              <a:rPr lang="pt-PT" sz="800" b="1" dirty="0">
                <a:latin typeface="Santander Text" panose="020B0504020201020104" pitchFamily="34" charset="0"/>
              </a:rPr>
              <a:t>após</a:t>
            </a:r>
            <a:r>
              <a:rPr lang="pt-PT" sz="800" dirty="0">
                <a:latin typeface="Santander Text" panose="020B0504020201020104" pitchFamily="34" charset="0"/>
              </a:rPr>
              <a:t> a entrada em produção do Novo Modelo de Garantias).</a:t>
            </a:r>
          </a:p>
          <a:p>
            <a:r>
              <a:rPr lang="pt-PT" sz="800" dirty="0">
                <a:latin typeface="Santander Text" panose="020B0504020201020104" pitchFamily="34" charset="0"/>
              </a:rPr>
              <a:t>4. Universo definido com base na combinação entre o método de cálculo de capital, segmento e contrato BDR.</a:t>
            </a:r>
            <a:r>
              <a:rPr lang="pt-BR" sz="800" dirty="0">
                <a:latin typeface="Santander Text" panose="020B0504020201020104" pitchFamily="34" charset="0"/>
              </a:rPr>
              <a:t>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7382" y="2361395"/>
            <a:ext cx="987423" cy="849140"/>
          </a:xfrm>
          <a:prstGeom prst="rect">
            <a:avLst/>
          </a:prstGeom>
          <a:solidFill>
            <a:srgbClr val="C00000">
              <a:alpha val="10000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Santander Text" panose="020B0504020201020104" pitchFamily="34" charset="0"/>
            </a:endParaRPr>
          </a:p>
        </p:txBody>
      </p:sp>
      <p:cxnSp>
        <p:nvCxnSpPr>
          <p:cNvPr id="38" name="Elbow Connector 37"/>
          <p:cNvCxnSpPr>
            <a:cxnSpLocks/>
            <a:stCxn id="36" idx="2"/>
            <a:endCxn id="44" idx="0"/>
          </p:cNvCxnSpPr>
          <p:nvPr/>
        </p:nvCxnSpPr>
        <p:spPr>
          <a:xfrm rot="16200000" flipH="1">
            <a:off x="4871698" y="2129931"/>
            <a:ext cx="193340" cy="2354548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CC505BCC-0D73-2805-BCFB-AD5348869F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/>
          <a:lstStyle/>
          <a:p>
            <a:r>
              <a:rPr lang="pt-PT" sz="2000" dirty="0"/>
              <a:t>2. Análise e testes de Modelo em produção a 30 Abril 2023, com respeito a 30 Abril 2023 real</a:t>
            </a:r>
            <a:endParaRPr lang="es-ES" sz="2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A68072B-86A9-9C49-1295-509349EFE934}"/>
              </a:ext>
            </a:extLst>
          </p:cNvPr>
          <p:cNvGrpSpPr/>
          <p:nvPr/>
        </p:nvGrpSpPr>
        <p:grpSpPr>
          <a:xfrm>
            <a:off x="722243" y="1605526"/>
            <a:ext cx="9936402" cy="419678"/>
            <a:chOff x="722243" y="3634998"/>
            <a:chExt cx="9936402" cy="41967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DDF18D8-3EEA-3FE3-992A-19C820E10ABB}"/>
                </a:ext>
              </a:extLst>
            </p:cNvPr>
            <p:cNvSpPr/>
            <p:nvPr/>
          </p:nvSpPr>
          <p:spPr>
            <a:xfrm>
              <a:off x="1221005" y="3639040"/>
              <a:ext cx="8929758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variação de impactos em capital (RWA)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entre as datas de referência de Março e Abril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foram semelhantes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aos impactos calculados na data de referência de Fevereiro (estes impactos dizem respeito </a:t>
              </a:r>
              <a:r>
                <a:rPr lang="pt-PT" sz="1050" u="sng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apenas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 a efeitos resultantes do novo modelo de garantias). 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B86829D-0761-4D4B-97EC-846D67163A20}"/>
                </a:ext>
              </a:extLst>
            </p:cNvPr>
            <p:cNvSpPr/>
            <p:nvPr/>
          </p:nvSpPr>
          <p:spPr>
            <a:xfrm>
              <a:off x="722243" y="3634998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D</a:t>
              </a:r>
            </a:p>
          </p:txBody>
        </p:sp>
        <p:pic>
          <p:nvPicPr>
            <p:cNvPr id="16" name="Graphic 15" descr="Badge Tick1 with solid fill">
              <a:extLst>
                <a:ext uri="{FF2B5EF4-FFF2-40B4-BE49-F238E27FC236}">
                  <a16:creationId xmlns:a16="http://schemas.microsoft.com/office/drawing/2014/main" id="{5EB6F6B1-4797-5724-27FB-2BF0375A51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41045" y="3637076"/>
              <a:ext cx="417600" cy="417600"/>
            </a:xfrm>
            <a:prstGeom prst="rect">
              <a:avLst/>
            </a:prstGeom>
          </p:spPr>
        </p:pic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6481B16D-51F6-2D9C-D91B-FEABB084552C}"/>
              </a:ext>
            </a:extLst>
          </p:cNvPr>
          <p:cNvSpPr/>
          <p:nvPr/>
        </p:nvSpPr>
        <p:spPr>
          <a:xfrm>
            <a:off x="722241" y="1164141"/>
            <a:ext cx="1863643" cy="193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pt-PT" sz="1200" u="sng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Detalhe: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420929-B696-862F-143E-E9276F10A85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-1" b="32811"/>
          <a:stretch/>
        </p:blipFill>
        <p:spPr>
          <a:xfrm>
            <a:off x="10032965" y="985087"/>
            <a:ext cx="1787318" cy="35861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3D269C-FF76-6552-458C-28CC9803C4C9}"/>
              </a:ext>
            </a:extLst>
          </p:cNvPr>
          <p:cNvSpPr/>
          <p:nvPr/>
        </p:nvSpPr>
        <p:spPr>
          <a:xfrm>
            <a:off x="9965531" y="976125"/>
            <a:ext cx="1955007" cy="26974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61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5498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D051AEB2C48B458F82B58F7F6D9A00" ma:contentTypeVersion="14" ma:contentTypeDescription="Create a new document." ma:contentTypeScope="" ma:versionID="bc2757bd4c151ee688c369fdfdc5da1d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49cf35f77f191e8ab7b2974270a8c8bd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b50dc7-8f72-473c-8b7e-4a8c46ecad32">
      <Terms xmlns="http://schemas.microsoft.com/office/infopath/2007/PartnerControls"/>
    </lcf76f155ced4ddcb4097134ff3c332f>
    <TaxCatchAll xmlns="7b1ec8e5-5652-48eb-8550-a56a35f5f817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D9FA900-5C72-4994-AE90-1750353D7A31}"/>
</file>

<file path=customXml/itemProps2.xml><?xml version="1.0" encoding="utf-8"?>
<ds:datastoreItem xmlns:ds="http://schemas.openxmlformats.org/officeDocument/2006/customXml" ds:itemID="{45B6808E-2F30-4A3E-86D7-9BE6F24DF713}">
  <ds:schemaRefs>
    <ds:schemaRef ds:uri="7b1ec8e5-5652-48eb-8550-a56a35f5f817"/>
    <ds:schemaRef ds:uri="a9b50dc7-8f72-473c-8b7e-4a8c46ecad3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977CA2D-DDA6-4B62-8B11-431A258D07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1500</TotalTime>
  <Words>6229</Words>
  <Application>Microsoft Office PowerPoint</Application>
  <PresentationFormat>Custom</PresentationFormat>
  <Paragraphs>1307</Paragraphs>
  <Slides>23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Santander Headline</vt:lpstr>
      <vt:lpstr>Santander Text</vt:lpstr>
      <vt:lpstr>Wingdings</vt:lpstr>
      <vt:lpstr>Tema de Office</vt:lpstr>
      <vt:lpstr>1_Tema de Office</vt:lpstr>
      <vt:lpstr>Worksheet</vt:lpstr>
      <vt:lpstr>Projeto Repositório Consolidado de Garantias</vt:lpstr>
      <vt:lpstr>Análise e testes de Modelo em produção a 30 Abril 2023, com respeito à data re-simulada de 28 Fevereiro 2023</vt:lpstr>
      <vt:lpstr>1.1</vt:lpstr>
      <vt:lpstr>1.1</vt:lpstr>
      <vt:lpstr>1.1</vt:lpstr>
      <vt:lpstr>1.2</vt:lpstr>
      <vt:lpstr>1.2</vt:lpstr>
      <vt:lpstr>1.2</vt:lpstr>
      <vt:lpstr>1.2</vt:lpstr>
      <vt:lpstr>1.2</vt:lpstr>
      <vt:lpstr>1.2</vt:lpstr>
      <vt:lpstr>1.3</vt:lpstr>
      <vt:lpstr>1.4</vt:lpstr>
      <vt:lpstr>1.5</vt:lpstr>
      <vt:lpstr>1.6</vt:lpstr>
      <vt:lpstr>1.7</vt:lpstr>
      <vt:lpstr>Análise e testes de Modelo em produção a 30 Abril 2023, com respeito a 30 Abril 2023 real</vt:lpstr>
      <vt:lpstr>2.1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Nádia Genebra Ahmad</cp:lastModifiedBy>
  <cp:revision>2</cp:revision>
  <dcterms:created xsi:type="dcterms:W3CDTF">2018-03-19T11:10:43Z</dcterms:created>
  <dcterms:modified xsi:type="dcterms:W3CDTF">2023-05-17T09:53:46Z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0x010100C6D051AEB2C48B458F82B58F7F6D9A00</vt:lpwstr>
  </property>
  <property fmtid="{D5CDD505-2E9C-101B-9397-08002B2CF9AE}" pid="3" name="MediaServiceImageTags">
    <vt:lpwstr/>
  </property>
  <property fmtid="{D5CDD505-2E9C-101B-9397-08002B2CF9AE}" pid="4" name="MSIP_Label_3c41c091-3cbc-4dba-8b59-ce62f19500db_Enabled">
    <vt:lpwstr>true</vt:lpwstr>
  </property>
  <property fmtid="{D5CDD505-2E9C-101B-9397-08002B2CF9AE}" pid="5" name="MSIP_Label_3c41c091-3cbc-4dba-8b59-ce62f19500db_SetDate">
    <vt:lpwstr>2023-02-22T10:31:56Z</vt:lpwstr>
  </property>
  <property fmtid="{D5CDD505-2E9C-101B-9397-08002B2CF9AE}" pid="6" name="MSIP_Label_3c41c091-3cbc-4dba-8b59-ce62f19500db_Method">
    <vt:lpwstr>Privileged</vt:lpwstr>
  </property>
  <property fmtid="{D5CDD505-2E9C-101B-9397-08002B2CF9AE}" pid="7" name="MSIP_Label_3c41c091-3cbc-4dba-8b59-ce62f19500db_Name">
    <vt:lpwstr>Confidential_0_1</vt:lpwstr>
  </property>
  <property fmtid="{D5CDD505-2E9C-101B-9397-08002B2CF9AE}" pid="8" name="MSIP_Label_3c41c091-3cbc-4dba-8b59-ce62f19500db_SiteId">
    <vt:lpwstr>35595a02-4d6d-44ac-99e1-f9ab4cd872db</vt:lpwstr>
  </property>
  <property fmtid="{D5CDD505-2E9C-101B-9397-08002B2CF9AE}" pid="9" name="MSIP_Label_3c41c091-3cbc-4dba-8b59-ce62f19500db_ActionId">
    <vt:lpwstr>173c60c3-cb47-4784-b350-e5b95560702d</vt:lpwstr>
  </property>
  <property fmtid="{D5CDD505-2E9C-101B-9397-08002B2CF9AE}" pid="10" name="MSIP_Label_3c41c091-3cbc-4dba-8b59-ce62f19500db_ContentBits">
    <vt:lpwstr>1</vt:lpwstr>
  </property>
</Properties>
</file>