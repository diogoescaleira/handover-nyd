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8" r:id="rId6"/>
  </p:sldMasterIdLst>
  <p:notesMasterIdLst>
    <p:notesMasterId r:id="rId31"/>
  </p:notesMasterIdLst>
  <p:handoutMasterIdLst>
    <p:handoutMasterId r:id="rId32"/>
  </p:handoutMasterIdLst>
  <p:sldIdLst>
    <p:sldId id="256" r:id="rId7"/>
    <p:sldId id="306" r:id="rId8"/>
    <p:sldId id="350" r:id="rId9"/>
    <p:sldId id="367" r:id="rId10"/>
    <p:sldId id="368" r:id="rId11"/>
    <p:sldId id="338" r:id="rId12"/>
    <p:sldId id="369" r:id="rId13"/>
    <p:sldId id="370" r:id="rId14"/>
    <p:sldId id="371" r:id="rId15"/>
    <p:sldId id="372" r:id="rId16"/>
    <p:sldId id="365" r:id="rId17"/>
    <p:sldId id="363" r:id="rId18"/>
    <p:sldId id="373" r:id="rId19"/>
    <p:sldId id="361" r:id="rId20"/>
    <p:sldId id="330" r:id="rId21"/>
    <p:sldId id="358" r:id="rId22"/>
    <p:sldId id="324" r:id="rId23"/>
    <p:sldId id="364" r:id="rId24"/>
    <p:sldId id="349" r:id="rId25"/>
    <p:sldId id="359" r:id="rId26"/>
    <p:sldId id="348" r:id="rId27"/>
    <p:sldId id="325" r:id="rId28"/>
    <p:sldId id="326" r:id="rId29"/>
    <p:sldId id="267" r:id="rId30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  <a:srgbClr val="C00000"/>
    <a:srgbClr val="3B3838"/>
    <a:srgbClr val="9ECFDE"/>
    <a:srgbClr val="7F7F7F"/>
    <a:srgbClr val="D9D9D9"/>
    <a:srgbClr val="13868C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A08BB-76E3-4E10-84FD-7CDC70F63DAE}" v="2" dt="2024-06-18T01:13:42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56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a da Silva Roxo" userId="b6f39d0a-b38b-4c97-850c-dbcbfac2b4dd" providerId="ADAL" clId="{6236F3CE-FE5E-44C6-90F9-4CA0F2855B17}"/>
    <pc:docChg chg="undo custSel addSld modSld">
      <pc:chgData name="Dora da Silva Roxo" userId="b6f39d0a-b38b-4c97-850c-dbcbfac2b4dd" providerId="ADAL" clId="{6236F3CE-FE5E-44C6-90F9-4CA0F2855B17}" dt="2023-03-31T18:11:09.777" v="441" actId="115"/>
      <pc:docMkLst>
        <pc:docMk/>
      </pc:docMkLst>
      <pc:sldChg chg="addSp delSp modSp add mod">
        <pc:chgData name="Dora da Silva Roxo" userId="b6f39d0a-b38b-4c97-850c-dbcbfac2b4dd" providerId="ADAL" clId="{6236F3CE-FE5E-44C6-90F9-4CA0F2855B17}" dt="2023-03-31T18:11:09.777" v="441" actId="115"/>
        <pc:sldMkLst>
          <pc:docMk/>
          <pc:sldMk cId="230364981" sldId="373"/>
        </pc:sldMkLst>
        <pc:spChg chg="add mod">
          <ac:chgData name="Dora da Silva Roxo" userId="b6f39d0a-b38b-4c97-850c-dbcbfac2b4dd" providerId="ADAL" clId="{6236F3CE-FE5E-44C6-90F9-4CA0F2855B17}" dt="2023-03-31T17:54:21.141" v="10" actId="20577"/>
          <ac:spMkLst>
            <pc:docMk/>
            <pc:sldMk cId="230364981" sldId="373"/>
            <ac:spMk id="2" creationId="{1DF90A05-396F-15DB-CA88-C7CF672A1A53}"/>
          </ac:spMkLst>
        </pc:spChg>
        <pc:spChg chg="add del">
          <ac:chgData name="Dora da Silva Roxo" userId="b6f39d0a-b38b-4c97-850c-dbcbfac2b4dd" providerId="ADAL" clId="{6236F3CE-FE5E-44C6-90F9-4CA0F2855B17}" dt="2023-03-31T17:54:42.103" v="12" actId="478"/>
          <ac:spMkLst>
            <pc:docMk/>
            <pc:sldMk cId="230364981" sldId="373"/>
            <ac:spMk id="6" creationId="{E1253939-5964-9233-AB80-25EF497FF247}"/>
          </ac:spMkLst>
        </pc:spChg>
        <pc:spChg chg="add mod">
          <ac:chgData name="Dora da Silva Roxo" userId="b6f39d0a-b38b-4c97-850c-dbcbfac2b4dd" providerId="ADAL" clId="{6236F3CE-FE5E-44C6-90F9-4CA0F2855B17}" dt="2023-03-31T18:11:09.777" v="441" actId="115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Dora da Silva Roxo" userId="b6f39d0a-b38b-4c97-850c-dbcbfac2b4dd" providerId="ADAL" clId="{6236F3CE-FE5E-44C6-90F9-4CA0F2855B17}" dt="2023-03-31T18:10:23.705" v="404" actId="1036"/>
          <ac:spMkLst>
            <pc:docMk/>
            <pc:sldMk cId="230364981" sldId="373"/>
            <ac:spMk id="9" creationId="{EBB4D737-4769-DA22-3EBA-563EBC6CDD40}"/>
          </ac:spMkLst>
        </pc:spChg>
        <pc:spChg chg="add mod">
          <ac:chgData name="Dora da Silva Roxo" userId="b6f39d0a-b38b-4c97-850c-dbcbfac2b4dd" providerId="ADAL" clId="{6236F3CE-FE5E-44C6-90F9-4CA0F2855B17}" dt="2023-03-31T18:10:20.288" v="394" actId="1035"/>
          <ac:spMkLst>
            <pc:docMk/>
            <pc:sldMk cId="230364981" sldId="373"/>
            <ac:spMk id="11" creationId="{B5110827-6A0C-3EB9-5778-7CC7F8E958DE}"/>
          </ac:spMkLst>
        </pc:spChg>
        <pc:graphicFrameChg chg="mod modGraphic">
          <ac:chgData name="Dora da Silva Roxo" userId="b6f39d0a-b38b-4c97-850c-dbcbfac2b4dd" providerId="ADAL" clId="{6236F3CE-FE5E-44C6-90F9-4CA0F2855B17}" dt="2023-03-31T17:54:11.611" v="6" actId="404"/>
          <ac:graphicFrameMkLst>
            <pc:docMk/>
            <pc:sldMk cId="230364981" sldId="373"/>
            <ac:graphicFrameMk id="8" creationId="{37790DD7-7A57-A5DD-1BF3-EDD100B3CFCB}"/>
          </ac:graphicFrameMkLst>
        </pc:graphicFrameChg>
        <pc:graphicFrameChg chg="add mod modGraphic">
          <ac:chgData name="Dora da Silva Roxo" userId="b6f39d0a-b38b-4c97-850c-dbcbfac2b4dd" providerId="ADAL" clId="{6236F3CE-FE5E-44C6-90F9-4CA0F2855B17}" dt="2023-03-31T18:10:34.267" v="434" actId="1036"/>
          <ac:graphicFrameMkLst>
            <pc:docMk/>
            <pc:sldMk cId="230364981" sldId="373"/>
            <ac:graphicFrameMk id="10" creationId="{5349DF03-51C3-E098-A4B4-331DEF7F0FBB}"/>
          </ac:graphicFrameMkLst>
        </pc:graphicFrameChg>
        <pc:graphicFrameChg chg="add mod modGraphic">
          <ac:chgData name="Dora da Silva Roxo" userId="b6f39d0a-b38b-4c97-850c-dbcbfac2b4dd" providerId="ADAL" clId="{6236F3CE-FE5E-44C6-90F9-4CA0F2855B17}" dt="2023-03-31T18:10:39.330" v="440" actId="1035"/>
          <ac:graphicFrameMkLst>
            <pc:docMk/>
            <pc:sldMk cId="230364981" sldId="373"/>
            <ac:graphicFrameMk id="12" creationId="{F1D7B62E-0BC4-AE03-FF27-D6E7004AE5D8}"/>
          </ac:graphicFrameMkLst>
        </pc:graphicFrameChg>
      </pc:sldChg>
    </pc:docChg>
  </pc:docChgLst>
  <pc:docChgLst>
    <pc:chgData name="Nádia Genebra Ahmad" userId="36126275-cace-419f-8e9b-04679c4f8ea6" providerId="ADAL" clId="{CA6BA6E9-3CFE-433D-BE38-B074DF5869FE}"/>
    <pc:docChg chg="modSld">
      <pc:chgData name="Nádia Genebra Ahmad" userId="36126275-cace-419f-8e9b-04679c4f8ea6" providerId="ADAL" clId="{CA6BA6E9-3CFE-433D-BE38-B074DF5869FE}" dt="2023-03-31T18:13:35.909" v="7" actId="20577"/>
      <pc:docMkLst>
        <pc:docMk/>
      </pc:docMkLst>
      <pc:sldChg chg="modSp mod">
        <pc:chgData name="Nádia Genebra Ahmad" userId="36126275-cace-419f-8e9b-04679c4f8ea6" providerId="ADAL" clId="{CA6BA6E9-3CFE-433D-BE38-B074DF5869FE}" dt="2023-03-31T18:13:35.909" v="7" actId="20577"/>
        <pc:sldMkLst>
          <pc:docMk/>
          <pc:sldMk cId="230364981" sldId="373"/>
        </pc:sldMkLst>
        <pc:spChg chg="mod">
          <ac:chgData name="Nádia Genebra Ahmad" userId="36126275-cace-419f-8e9b-04679c4f8ea6" providerId="ADAL" clId="{CA6BA6E9-3CFE-433D-BE38-B074DF5869FE}" dt="2023-03-31T18:13:26.521" v="0" actId="6549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CA6BA6E9-3CFE-433D-BE38-B074DF5869FE}" dt="2023-03-31T18:13:35.909" v="7" actId="20577"/>
          <ac:spMkLst>
            <pc:docMk/>
            <pc:sldMk cId="230364981" sldId="373"/>
            <ac:spMk id="8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22-4DF1-95B0-FB73BC46F6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22-4DF1-95B0-FB73BC46F6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22-4DF1-95B0-FB73BC46F6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5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2">
                  <c:v>Novembro (Mês Ini)</c:v>
                </c:pt>
                <c:pt idx="3">
                  <c:v>Dezembro</c:v>
                </c:pt>
                <c:pt idx="4">
                  <c:v>Janeiro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61</c:v>
                </c:pt>
                <c:pt idx="3">
                  <c:v>69</c:v>
                </c:pt>
                <c:pt idx="4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22-4DF1-95B0-FB73BC46F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1905360"/>
        <c:axId val="451904184"/>
      </c:barChart>
      <c:catAx>
        <c:axId val="451905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51904184"/>
        <c:crosses val="autoZero"/>
        <c:auto val="1"/>
        <c:lblAlgn val="ctr"/>
        <c:lblOffset val="100"/>
        <c:noMultiLvlLbl val="0"/>
      </c:catAx>
      <c:valAx>
        <c:axId val="4519041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5190536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18/06/2024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18/06/2024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799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857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1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2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35" indent="0" algn="ctr">
              <a:buNone/>
              <a:defRPr sz="2000"/>
            </a:lvl2pPr>
            <a:lvl3pPr marL="914271" indent="0" algn="ctr">
              <a:buNone/>
              <a:defRPr sz="1800"/>
            </a:lvl3pPr>
            <a:lvl4pPr marL="1371405" indent="0" algn="ctr">
              <a:buNone/>
              <a:defRPr sz="1600"/>
            </a:lvl4pPr>
            <a:lvl5pPr marL="1828540" indent="0" algn="ctr">
              <a:buNone/>
              <a:defRPr sz="1600"/>
            </a:lvl5pPr>
            <a:lvl6pPr marL="2285675" indent="0" algn="ctr">
              <a:buNone/>
              <a:defRPr sz="1600"/>
            </a:lvl6pPr>
            <a:lvl7pPr marL="2742810" indent="0" algn="ctr">
              <a:buNone/>
              <a:defRPr sz="1600"/>
            </a:lvl7pPr>
            <a:lvl8pPr marL="3199944" indent="0" algn="ctr">
              <a:buNone/>
              <a:defRPr sz="1600"/>
            </a:lvl8pPr>
            <a:lvl9pPr marL="365708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35" indent="0">
              <a:buNone/>
              <a:defRPr sz="1300">
                <a:solidFill>
                  <a:schemeClr val="tx2"/>
                </a:solidFill>
              </a:defRPr>
            </a:lvl2pPr>
            <a:lvl3pPr marL="914271" indent="0">
              <a:buNone/>
              <a:defRPr sz="1300">
                <a:solidFill>
                  <a:schemeClr val="tx2"/>
                </a:solidFill>
              </a:defRPr>
            </a:lvl3pPr>
            <a:lvl4pPr marL="1371405" indent="0">
              <a:buNone/>
              <a:defRPr sz="1300">
                <a:solidFill>
                  <a:schemeClr val="tx2"/>
                </a:solidFill>
              </a:defRPr>
            </a:lvl4pPr>
            <a:lvl5pPr marL="182854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64238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67"/>
            <a:ext cx="1849821" cy="292374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939" indent="-395944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2810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1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3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4099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5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7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027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6" y="3199547"/>
            <a:ext cx="10758733" cy="3189036"/>
          </a:xfrm>
        </p:spPr>
        <p:txBody>
          <a:bodyPr numCol="2" spcCol="719898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3606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3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4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0797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124715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6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002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4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6037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35" indent="0">
              <a:buFontTx/>
              <a:buNone/>
              <a:defRPr sz="1100"/>
            </a:lvl2pPr>
            <a:lvl3pPr marL="914271" indent="0">
              <a:buFontTx/>
              <a:buNone/>
              <a:defRPr sz="1100"/>
            </a:lvl3pPr>
            <a:lvl4pPr marL="1371405" indent="0">
              <a:buFontTx/>
              <a:buNone/>
              <a:defRPr sz="900"/>
            </a:lvl4pPr>
            <a:lvl5pPr marL="1828540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6" y="1232634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4" y="1232634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3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27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405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54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7" y="3811311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6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097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7" tIns="45713" rIns="91427" bIns="45713" rtlCol="0" anchor="ctr"/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19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6"/>
            <a:ext cx="3365479" cy="1292647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914271"/>
            <a:endParaRPr lang="pt-PT" sz="1300">
              <a:solidFill>
                <a:srgbClr val="6E7678"/>
              </a:solidFill>
            </a:endParaRPr>
          </a:p>
          <a:p>
            <a:pPr defTabSz="914271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49714"/>
            <a:ext cx="3365479" cy="732138"/>
          </a:xfrm>
          <a:prstGeom prst="rect">
            <a:avLst/>
          </a:prstGeom>
          <a:noFill/>
        </p:spPr>
        <p:txBody>
          <a:bodyPr wrap="square" lIns="91427" tIns="45713" rIns="91427" bIns="45713" rtlCol="0">
            <a:spAutoFit/>
          </a:bodyPr>
          <a:lstStyle/>
          <a:p>
            <a:pPr defTabSz="914271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409097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7" tIns="45713" rIns="91427" bIns="4571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271"/>
            <a:endParaRPr lang="es-ES">
              <a:solidFill>
                <a:prstClr val="white"/>
              </a:solidFill>
            </a:endParaRPr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3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15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427" tIns="45713" rIns="91427" bIns="45713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71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914271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3904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l" defTabSz="91427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68" indent="-228568" algn="l" defTabSz="9142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3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0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3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7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12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47" indent="-228568" algn="l" defTabSz="91427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5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 err="1"/>
              <a:t>Projeto</a:t>
            </a:r>
            <a:r>
              <a:rPr lang="es-ES"/>
              <a:t> </a:t>
            </a:r>
            <a:r>
              <a:rPr lang="es-ES" err="1"/>
              <a:t>Repositório</a:t>
            </a:r>
            <a:r>
              <a:rPr lang="es-ES"/>
              <a:t> Consolidado de </a:t>
            </a:r>
            <a:r>
              <a:rPr lang="es-ES" err="1"/>
              <a:t>Garantias</a:t>
            </a:r>
            <a:endParaRPr lang="es-ES"/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Para </a:t>
            </a:r>
            <a:r>
              <a:rPr lang="en-US" sz="1300" err="1">
                <a:solidFill>
                  <a:schemeClr val="bg2">
                    <a:lumMod val="50000"/>
                  </a:schemeClr>
                </a:solidFill>
              </a:rPr>
              <a:t>conhecimento</a:t>
            </a:r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err="1">
                <a:solidFill>
                  <a:schemeClr val="bg2">
                    <a:lumMod val="50000"/>
                  </a:schemeClr>
                </a:solidFill>
              </a:rPr>
              <a:t>Confidencial</a:t>
            </a:r>
            <a:endParaRPr lang="en-US" sz="13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>
                <a:solidFill>
                  <a:schemeClr val="tx2"/>
                </a:solidFill>
              </a:rPr>
              <a:t>22 de Fevereiro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Plano e </a:t>
            </a:r>
            <a:r>
              <a:rPr lang="pt-PT" i="1"/>
              <a:t>status</a:t>
            </a:r>
            <a:r>
              <a:rPr lang="pt-PT"/>
              <a:t> do projeto</a:t>
            </a:r>
            <a:br>
              <a:rPr lang="pt-PT"/>
            </a:b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135" name="Text Box 94">
            <a:extLst>
              <a:ext uri="{FF2B5EF4-FFF2-40B4-BE49-F238E27FC236}">
                <a16:creationId xmlns:a16="http://schemas.microsoft.com/office/drawing/2014/main" id="{25C840E4-CC1E-4688-B78A-DC480A52211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49862" y="3084385"/>
            <a:ext cx="684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i="1" kern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Status</a:t>
            </a:r>
            <a:endParaRPr lang="en-US" sz="750" b="1" i="1" kern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70213" y="3084385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jan</a:t>
            </a:r>
            <a:r>
              <a:rPr lang="pt-PT" sz="750" b="1" kern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8694856" y="5432377"/>
            <a:ext cx="1140614" cy="215444"/>
            <a:chOff x="3461156" y="6486804"/>
            <a:chExt cx="1140614" cy="21544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/>
                <a:t>Duração prevista</a:t>
              </a:r>
            </a:p>
          </p:txBody>
        </p:sp>
      </p:grpSp>
      <p:sp>
        <p:nvSpPr>
          <p:cNvPr id="76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5659" y="3383125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1. Análise e Especificação</a:t>
            </a:r>
            <a:endParaRPr kumimoji="0" lang="en-US" sz="1000" b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3389917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/>
              <a:t>Em curso</a:t>
            </a:r>
            <a:endParaRPr lang="pt-PT" sz="800" i="0" u="none" strike="noStrike">
              <a:solidFill>
                <a:srgbClr val="404033"/>
              </a:solidFill>
              <a:effectLst/>
            </a:endParaRPr>
          </a:p>
        </p:txBody>
      </p:sp>
      <p:sp>
        <p:nvSpPr>
          <p:cNvPr id="158" name="Text Box 94">
            <a:extLst>
              <a:ext uri="{FF2B5EF4-FFF2-40B4-BE49-F238E27FC236}">
                <a16:creationId xmlns:a16="http://schemas.microsoft.com/office/drawing/2014/main" id="{551A29D8-2A59-4DC8-BD2D-815823D5033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55659" y="4002861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defTabSz="679879" eaLnBrk="0">
              <a:defRPr/>
            </a:pPr>
            <a:r>
              <a:rPr lang="pt-PT" sz="1000" b="1" kern="0">
                <a:solidFill>
                  <a:sysClr val="windowText" lastClr="000000"/>
                </a:solidFill>
                <a:cs typeface="Arial" panose="020B0604020202020204" pitchFamily="34" charset="0"/>
                <a:sym typeface="Helvetica Light"/>
              </a:rPr>
              <a:t>3.Validações com BDR</a:t>
            </a:r>
            <a:endParaRPr lang="en-US" sz="1000" b="1" kern="0" baseline="30000">
              <a:solidFill>
                <a:sysClr val="windowText" lastClr="000000"/>
              </a:solidFill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6" name="Text Box 94">
            <a:extLst>
              <a:ext uri="{FF2B5EF4-FFF2-40B4-BE49-F238E27FC236}">
                <a16:creationId xmlns:a16="http://schemas.microsoft.com/office/drawing/2014/main" id="{BECE4A3A-F8BF-4121-B485-62456EE1E664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40554" y="4061566"/>
            <a:ext cx="2196000" cy="10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1.1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Plano BDR (2/2)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82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74564" y="308518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 err="1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fev</a:t>
            </a:r>
            <a:r>
              <a:rPr lang="pt-PT" sz="750" b="1" kern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 23</a:t>
            </a:r>
            <a:endParaRPr lang="en-US" sz="750" b="1" kern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278916" y="3079657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mar 23</a:t>
            </a:r>
            <a:endParaRPr lang="en-US" sz="750" b="1" kern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3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84578" y="3439894"/>
            <a:ext cx="6084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3" name="Text Box 94">
            <a:extLst>
              <a:ext uri="{FF2B5EF4-FFF2-40B4-BE49-F238E27FC236}">
                <a16:creationId xmlns:a16="http://schemas.microsoft.com/office/drawing/2014/main" id="{8E445FB6-2507-4532-860F-6EFEB7F34719}"/>
              </a:ext>
            </a:extLst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55659" y="3682068"/>
            <a:ext cx="9792000" cy="229028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b="1" kern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  <a:sym typeface="Helvetica Light"/>
              </a:rPr>
              <a:t>2. Implementação IT</a:t>
            </a:r>
            <a:endParaRPr kumimoji="0" lang="en-US" sz="1000" b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7850682" y="5442154"/>
            <a:ext cx="1116124" cy="215444"/>
            <a:chOff x="8508024" y="4687884"/>
            <a:chExt cx="1116124" cy="21544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8591534" y="468788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/>
                <a:t>Milestone</a:t>
              </a:r>
            </a:p>
          </p:txBody>
        </p:sp>
        <p:sp>
          <p:nvSpPr>
            <p:cNvPr id="144" name="Diamond 143"/>
            <p:cNvSpPr/>
            <p:nvPr/>
          </p:nvSpPr>
          <p:spPr>
            <a:xfrm>
              <a:off x="8508024" y="4724617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97944" y="5501450"/>
            <a:ext cx="7662486" cy="707886"/>
            <a:chOff x="897944" y="5420680"/>
            <a:chExt cx="7078341" cy="707886"/>
          </a:xfrm>
        </p:grpSpPr>
        <p:sp>
          <p:nvSpPr>
            <p:cNvPr id="2" name="TextBox 1"/>
            <p:cNvSpPr txBox="1"/>
            <p:nvPr/>
          </p:nvSpPr>
          <p:spPr>
            <a:xfrm>
              <a:off x="897944" y="5420680"/>
              <a:ext cx="7078341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PT" sz="1000" i="1"/>
                <a:t>      </a:t>
              </a:r>
              <a:r>
                <a:rPr lang="pt-PT" sz="1000" i="1" err="1"/>
                <a:t>Milestones</a:t>
              </a:r>
              <a:endParaRPr lang="pt-PT" sz="1000" i="1"/>
            </a:p>
            <a:p>
              <a:r>
                <a:rPr lang="pt-PT" sz="1000"/>
                <a:t>#1/2/3 Envio de ficheiros relativos ao fecho 31 de Dezembro para carga na BDR2</a:t>
              </a:r>
            </a:p>
            <a:p>
              <a:r>
                <a:rPr lang="pt-PT" sz="1000"/>
                <a:t>#4 Envio de ficheiros relativos ao fecho 31 de Janeiro 2023 para carga na BDR2</a:t>
              </a:r>
            </a:p>
            <a:p>
              <a:endParaRPr lang="pt-PT" sz="1000"/>
            </a:p>
          </p:txBody>
        </p:sp>
        <p:sp>
          <p:nvSpPr>
            <p:cNvPr id="59" name="Diamond 58"/>
            <p:cNvSpPr/>
            <p:nvPr/>
          </p:nvSpPr>
          <p:spPr>
            <a:xfrm>
              <a:off x="972676" y="5468643"/>
              <a:ext cx="144000" cy="141978"/>
            </a:xfrm>
            <a:prstGeom prst="diamond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8460DDC-2A11-4BED-9BC2-A49D694C5113}"/>
              </a:ext>
            </a:extLst>
          </p:cNvPr>
          <p:cNvGrpSpPr/>
          <p:nvPr/>
        </p:nvGrpSpPr>
        <p:grpSpPr>
          <a:xfrm>
            <a:off x="6963946" y="2202386"/>
            <a:ext cx="72000" cy="2016000"/>
            <a:chOff x="8591931" y="882133"/>
            <a:chExt cx="69623" cy="4351041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8626743" y="882133"/>
              <a:ext cx="0" cy="4351041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314BCB-D6F4-4EAC-AD52-975CC69FEC30}"/>
                </a:ext>
              </a:extLst>
            </p:cNvPr>
            <p:cNvSpPr/>
            <p:nvPr/>
          </p:nvSpPr>
          <p:spPr>
            <a:xfrm>
              <a:off x="8591931" y="882135"/>
              <a:ext cx="69623" cy="9577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05568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217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22243" y="1512018"/>
            <a:ext cx="10095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/>
              <a:t>O plano apresentado têm como objetivo assegurar que a BDR, passe a receber informação do modelo consolidado de garantias.</a:t>
            </a:r>
            <a:endParaRPr lang="en-US" sz="1400"/>
          </a:p>
        </p:txBody>
      </p:sp>
      <p:grpSp>
        <p:nvGrpSpPr>
          <p:cNvPr id="9" name="Group 8"/>
          <p:cNvGrpSpPr/>
          <p:nvPr/>
        </p:nvGrpSpPr>
        <p:grpSpPr>
          <a:xfrm>
            <a:off x="6993269" y="5422610"/>
            <a:ext cx="856499" cy="219258"/>
            <a:chOff x="6845932" y="5406463"/>
            <a:chExt cx="1169076" cy="21544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6982394" y="5406463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 i="1" err="1"/>
                <a:t>Go</a:t>
              </a:r>
              <a:r>
                <a:rPr lang="pt-PT" sz="800" i="1"/>
                <a:t> Live</a:t>
              </a:r>
            </a:p>
          </p:txBody>
        </p:sp>
        <p:sp>
          <p:nvSpPr>
            <p:cNvPr id="8" name="Wave 7"/>
            <p:cNvSpPr/>
            <p:nvPr/>
          </p:nvSpPr>
          <p:spPr>
            <a:xfrm>
              <a:off x="6845932" y="5455373"/>
              <a:ext cx="152292" cy="117625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6" name="Text Box 94">
            <a:extLst>
              <a:ext uri="{FF2B5EF4-FFF2-40B4-BE49-F238E27FC236}">
                <a16:creationId xmlns:a16="http://schemas.microsoft.com/office/drawing/2014/main" id="{A8599BBE-100B-41AF-BB0B-82FA8778B596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497574" y="3741478"/>
            <a:ext cx="6048000" cy="106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marL="0" marR="0" lvl="0" indent="0" defTabSz="679879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75" b="1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uli 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442209" y="2624624"/>
            <a:ext cx="197635" cy="1584000"/>
            <a:chOff x="10285957" y="2624624"/>
            <a:chExt cx="197635" cy="2493762"/>
          </a:xfrm>
          <a:solidFill>
            <a:srgbClr val="92D050"/>
          </a:solidFill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10292618" y="2741318"/>
              <a:ext cx="0" cy="2377068"/>
            </a:xfrm>
            <a:prstGeom prst="line">
              <a:avLst/>
            </a:prstGeom>
            <a:grpFill/>
            <a:ln w="6350" cap="flat" cmpd="sng" algn="ctr">
              <a:solidFill>
                <a:srgbClr val="FFC000"/>
              </a:solidFill>
              <a:prstDash val="lgDash"/>
              <a:miter lim="800000"/>
            </a:ln>
            <a:effectLst/>
          </p:spPr>
        </p:cxnSp>
        <p:sp>
          <p:nvSpPr>
            <p:cNvPr id="6" name="Wave 5"/>
            <p:cNvSpPr/>
            <p:nvPr/>
          </p:nvSpPr>
          <p:spPr>
            <a:xfrm>
              <a:off x="10285957" y="2624624"/>
              <a:ext cx="197635" cy="186544"/>
            </a:xfrm>
            <a:prstGeom prst="wav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4DDDBC2-4D7A-445E-A24A-F5F15EA338CD}"/>
              </a:ext>
            </a:extLst>
          </p:cNvPr>
          <p:cNvGrpSpPr/>
          <p:nvPr/>
        </p:nvGrpSpPr>
        <p:grpSpPr>
          <a:xfrm>
            <a:off x="9721297" y="5441127"/>
            <a:ext cx="1140614" cy="215444"/>
            <a:chOff x="3461156" y="6486804"/>
            <a:chExt cx="1140614" cy="215444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0459E86-D8CF-4152-A6ED-6E5A97A27607}"/>
                </a:ext>
              </a:extLst>
            </p:cNvPr>
            <p:cNvSpPr/>
            <p:nvPr/>
          </p:nvSpPr>
          <p:spPr>
            <a:xfrm>
              <a:off x="3461156" y="6540526"/>
              <a:ext cx="108000" cy="108000"/>
            </a:xfrm>
            <a:prstGeom prst="rect">
              <a:avLst/>
            </a:prstGeom>
            <a:pattFill prst="ltUp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BEC3A2D-048D-4727-9DC2-337BC18E71AA}"/>
                </a:ext>
              </a:extLst>
            </p:cNvPr>
            <p:cNvSpPr txBox="1"/>
            <p:nvPr/>
          </p:nvSpPr>
          <p:spPr>
            <a:xfrm>
              <a:off x="3569156" y="6486804"/>
              <a:ext cx="1032614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pt-PT" sz="800"/>
                <a:t>Em atraso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3768" y="4026834"/>
            <a:ext cx="940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45496" fontAlgn="ctr">
              <a:defRPr/>
            </a:pPr>
            <a:r>
              <a:rPr lang="pt-PT" sz="800" b="1">
                <a:solidFill>
                  <a:schemeClr val="bg1">
                    <a:lumMod val="75000"/>
                  </a:schemeClr>
                </a:solidFill>
                <a:sym typeface="Wingdings 3" panose="05040102010807070707" pitchFamily="18" charset="2"/>
              </a:rPr>
              <a:t>●</a:t>
            </a:r>
            <a:r>
              <a:rPr lang="pt-PT" sz="800" b="1">
                <a:solidFill>
                  <a:srgbClr val="ED7D31"/>
                </a:solidFill>
                <a:sym typeface="Wingdings 3" panose="05040102010807070707" pitchFamily="18" charset="2"/>
              </a:rPr>
              <a:t> </a:t>
            </a:r>
            <a:r>
              <a:rPr lang="pt-PT" sz="800"/>
              <a:t>Por iniciar</a:t>
            </a:r>
            <a:endParaRPr lang="pt-PT" sz="800" b="1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B85A2B1-D61F-44DD-90E6-F435CF966DEF}"/>
              </a:ext>
            </a:extLst>
          </p:cNvPr>
          <p:cNvSpPr txBox="1"/>
          <p:nvPr/>
        </p:nvSpPr>
        <p:spPr>
          <a:xfrm>
            <a:off x="3678709" y="3708376"/>
            <a:ext cx="836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pt-PT" sz="800" b="1">
                <a:solidFill>
                  <a:srgbClr val="ED7D31"/>
                </a:solidFill>
                <a:sym typeface="Wingdings 3" panose="05040102010807070707" pitchFamily="18" charset="2"/>
              </a:rPr>
              <a:t> </a:t>
            </a:r>
            <a:r>
              <a:rPr lang="pt-PT" sz="800"/>
              <a:t>Em curso</a:t>
            </a:r>
            <a:endParaRPr lang="pt-PT" sz="800" i="0" u="none" strike="noStrike">
              <a:solidFill>
                <a:srgbClr val="404033"/>
              </a:solidFill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30688" y="2439417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/>
              <a:t>Live BDR</a:t>
            </a:r>
            <a:endParaRPr lang="en-US" sz="800"/>
          </a:p>
        </p:txBody>
      </p:sp>
      <p:sp>
        <p:nvSpPr>
          <p:cNvPr id="43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683267" y="3082109"/>
            <a:ext cx="1368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Abril 23</a:t>
            </a:r>
            <a:endParaRPr lang="en-US" sz="750" b="1" kern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 Box 94">
            <a:extLst>
              <a:ext uri="{FF2B5EF4-FFF2-40B4-BE49-F238E27FC236}">
                <a16:creationId xmlns:a16="http://schemas.microsoft.com/office/drawing/2014/main" id="{01999297-3A9B-4C6E-8420-F5CD63A1C6DC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081383" y="3078811"/>
            <a:ext cx="576000" cy="216000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ysClr val="window" lastClr="FFFFFF"/>
            </a:solidFill>
            <a:prstDash val="solid"/>
            <a:miter lim="800000"/>
            <a:headEnd/>
            <a:tailEnd/>
          </a:ln>
          <a:effectLst/>
        </p:spPr>
        <p:txBody>
          <a:bodyPr lIns="81055" tIns="40528" rIns="81055" bIns="40528" anchor="ctr"/>
          <a:lstStyle/>
          <a:p>
            <a:pPr algn="ctr" defTabSz="679879" eaLnBrk="0">
              <a:defRPr/>
            </a:pPr>
            <a:r>
              <a:rPr lang="pt-PT" sz="750" b="1" kern="0">
                <a:solidFill>
                  <a:srgbClr val="FFFFFF"/>
                </a:solidFill>
                <a:latin typeface="+mj-lt"/>
                <a:cs typeface="Arial" panose="020B0604020202020204" pitchFamily="34" charset="0"/>
                <a:sym typeface="Helvetica Light"/>
              </a:rPr>
              <a:t>…</a:t>
            </a:r>
            <a:endParaRPr lang="en-US" sz="750" b="1" kern="0">
              <a:solidFill>
                <a:srgbClr val="FFFFFF"/>
              </a:solidFill>
              <a:latin typeface="+mj-lt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5067681" y="2532735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47" name="Diamond 46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>
                <a:solidFill>
                  <a:schemeClr val="tx1"/>
                </a:solidFill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4900126" y="241391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/>
              <a:t>Milestone</a:t>
            </a:r>
            <a:r>
              <a:rPr lang="pt-PT" sz="500"/>
              <a:t> #1</a:t>
            </a:r>
            <a:endParaRPr lang="en-US" sz="500"/>
          </a:p>
        </p:txBody>
      </p:sp>
      <p:grpSp>
        <p:nvGrpSpPr>
          <p:cNvPr id="49" name="Group 48"/>
          <p:cNvGrpSpPr/>
          <p:nvPr/>
        </p:nvGrpSpPr>
        <p:grpSpPr>
          <a:xfrm>
            <a:off x="6878897" y="2545266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51" name="Diamond 50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>
                <a:solidFill>
                  <a:schemeClr val="tx1"/>
                </a:solidFill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711342" y="242644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err="1"/>
              <a:t>Milestone</a:t>
            </a:r>
            <a:r>
              <a:rPr lang="pt-PT" sz="500"/>
              <a:t> #4</a:t>
            </a:r>
            <a:endParaRPr lang="en-US" sz="500"/>
          </a:p>
        </p:txBody>
      </p:sp>
      <p:grpSp>
        <p:nvGrpSpPr>
          <p:cNvPr id="53" name="Group 52"/>
          <p:cNvGrpSpPr/>
          <p:nvPr/>
        </p:nvGrpSpPr>
        <p:grpSpPr>
          <a:xfrm>
            <a:off x="6670930" y="2483165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55" name="Diamond 54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6503375" y="2364340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err="1"/>
              <a:t>Milestone</a:t>
            </a:r>
            <a:r>
              <a:rPr lang="pt-PT" sz="500"/>
              <a:t> #3</a:t>
            </a:r>
            <a:endParaRPr lang="en-US" sz="500"/>
          </a:p>
        </p:txBody>
      </p:sp>
      <p:grpSp>
        <p:nvGrpSpPr>
          <p:cNvPr id="57" name="Group 56"/>
          <p:cNvGrpSpPr/>
          <p:nvPr/>
        </p:nvGrpSpPr>
        <p:grpSpPr>
          <a:xfrm>
            <a:off x="5965110" y="2526386"/>
            <a:ext cx="144000" cy="1692000"/>
            <a:chOff x="9037991" y="1836200"/>
            <a:chExt cx="144000" cy="1625793"/>
          </a:xfrm>
          <a:solidFill>
            <a:schemeClr val="accent4"/>
          </a:solidFill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A81E6C7-D8F9-444C-BAA5-110C252522CA}"/>
                </a:ext>
              </a:extLst>
            </p:cNvPr>
            <p:cNvCxnSpPr>
              <a:cxnSpLocks/>
            </p:cNvCxnSpPr>
            <p:nvPr/>
          </p:nvCxnSpPr>
          <p:spPr>
            <a:xfrm>
              <a:off x="9109991" y="1975811"/>
              <a:ext cx="0" cy="1486182"/>
            </a:xfrm>
            <a:prstGeom prst="line">
              <a:avLst/>
            </a:prstGeom>
            <a:grpFill/>
            <a:ln w="6350" cap="flat" cmpd="sng" algn="ctr">
              <a:solidFill>
                <a:schemeClr val="accent4"/>
              </a:solidFill>
              <a:prstDash val="lgDash"/>
              <a:miter lim="800000"/>
            </a:ln>
            <a:effectLst/>
          </p:spPr>
        </p:cxnSp>
        <p:sp>
          <p:nvSpPr>
            <p:cNvPr id="60" name="Diamond 59"/>
            <p:cNvSpPr/>
            <p:nvPr/>
          </p:nvSpPr>
          <p:spPr>
            <a:xfrm>
              <a:off x="9037991" y="1836200"/>
              <a:ext cx="144000" cy="130775"/>
            </a:xfrm>
            <a:prstGeom prst="diamond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b="1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5797555" y="2407561"/>
            <a:ext cx="5553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00" i="1" err="1"/>
              <a:t>Milestone</a:t>
            </a:r>
            <a:r>
              <a:rPr lang="pt-PT" sz="500"/>
              <a:t> #2</a:t>
            </a:r>
            <a:endParaRPr lang="en-US" sz="500"/>
          </a:p>
        </p:txBody>
      </p:sp>
    </p:spTree>
    <p:extLst>
      <p:ext uri="{BB962C8B-B14F-4D97-AF65-F5344CB8AC3E}">
        <p14:creationId xmlns:p14="http://schemas.microsoft.com/office/powerpoint/2010/main" val="381127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/>
        </p:nvGraphicFramePr>
        <p:xfrm>
          <a:off x="722242" y="2202181"/>
          <a:ext cx="10003785" cy="3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975750986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42577957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1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2 317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-827 246 890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2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63 610</a:t>
                      </a:r>
                      <a:r>
                        <a:rPr lang="pt-PT" sz="95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(957)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-4 416 223 401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(-263 055 095)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3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188 882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(188 882)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17 428 497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(17 428 497)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4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Fevereiro.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(237)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25 941 693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(25 941 693)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+mj-lt"/>
                        </a:rPr>
                        <a:t>5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177 739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(177 739)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-5 753 154 056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(-5 753 154 056)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-74 632 852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(-1 071 700)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(3)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-169 529 027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(-15 301 001)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effectLst/>
                <a:ea typeface="Times New Roman" panose="02020603050405020304" pitchFamily="18" charset="0"/>
              </a:rPr>
              <a:t>alterações que foram realizadas no modelo face à situação existe atualmente no BIYR2500 com impacto nos resultados:</a:t>
            </a:r>
            <a:endParaRPr lang="en-US" sz="11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1</a:t>
            </a:r>
            <a:r>
              <a:rPr lang="pt-BR" sz="80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05A9D1-3D25-764B-470C-41E1E3DFF445}"/>
              </a:ext>
            </a:extLst>
          </p:cNvPr>
          <p:cNvSpPr/>
          <p:nvPr/>
        </p:nvSpPr>
        <p:spPr>
          <a:xfrm>
            <a:off x="-24384" y="355663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>
                <a:solidFill>
                  <a:srgbClr val="FFC000"/>
                </a:solidFill>
              </a:rPr>
              <a:t>ATUALIZADO</a:t>
            </a:r>
          </a:p>
        </p:txBody>
      </p:sp>
    </p:spTree>
    <p:extLst>
      <p:ext uri="{BB962C8B-B14F-4D97-AF65-F5344CB8AC3E}">
        <p14:creationId xmlns:p14="http://schemas.microsoft.com/office/powerpoint/2010/main" val="1115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/>
        </p:nvGraphicFramePr>
        <p:xfrm>
          <a:off x="722242" y="2202181"/>
          <a:ext cx="10003785" cy="19068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026657748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  <a:gridCol w="918000">
                  <a:extLst>
                    <a:ext uri="{9D8B030D-6E8A-4147-A177-3AD203B41FA5}">
                      <a16:colId xmlns:a16="http://schemas.microsoft.com/office/drawing/2014/main" val="3150223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O rateio dos bens pelos processos/responsabilidades deve ser feito independentemente da origem.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-286 686 773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(-572 258)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(27)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691 118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(212)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950" b="1" u="none" strike="noStrike" kern="120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95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367 626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(76)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-199 933 900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(-199 933 900)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63 508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(63 508)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-1 005 187 095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(-1 005 187 095)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effectLst/>
                <a:ea typeface="Times New Roman" panose="02020603050405020304" pitchFamily="18" charset="0"/>
              </a:rPr>
              <a:t>alterações que foram realizadas no modelo face à situação existe atualmente no BIYR2500 com impacto nos resultados:</a:t>
            </a:r>
            <a:endParaRPr lang="en-US" sz="11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1</a:t>
            </a:r>
            <a:r>
              <a:rPr lang="pt-BR" sz="80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819E3-7C99-EDCC-E06D-A812AF7F6974}"/>
              </a:ext>
            </a:extLst>
          </p:cNvPr>
          <p:cNvSpPr/>
          <p:nvPr/>
        </p:nvSpPr>
        <p:spPr>
          <a:xfrm>
            <a:off x="-24384" y="349567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DA675-2166-5710-9060-2789DFBAC0DE}"/>
              </a:ext>
            </a:extLst>
          </p:cNvPr>
          <p:cNvSpPr/>
          <p:nvPr/>
        </p:nvSpPr>
        <p:spPr>
          <a:xfrm>
            <a:off x="-24384" y="3800475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>
                <a:solidFill>
                  <a:srgbClr val="00B050"/>
                </a:solidFill>
              </a:rPr>
              <a:t>NOVO</a:t>
            </a:r>
          </a:p>
        </p:txBody>
      </p:sp>
    </p:spTree>
    <p:extLst>
      <p:ext uri="{BB962C8B-B14F-4D97-AF65-F5344CB8AC3E}">
        <p14:creationId xmlns:p14="http://schemas.microsoft.com/office/powerpoint/2010/main" val="30446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(2)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78 435 758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4 205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44 715 312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-33 720 446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410 173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34 997 179 494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370 068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24 273 233 037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-40 105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-10 723 946 458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8 196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1 254 103 761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8 095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735 152 008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-518 951 753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10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373 867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58 495 118 376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406 438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57 755 557 052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-739 561 325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38 759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1 709 236 992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33 420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161 728 449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-5 339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-1 547 508 542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5 374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1 580 125 926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1 530 155 865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-49 970 061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lt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837 377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98 114 200 308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827 258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84 500 541 722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-10 119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-13 613 658 586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/>
              <a:t>Comparação de universo e montantes de avaliações (dados de dezembro 2022):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Garantias Pessoais</a:t>
            </a:r>
            <a:r>
              <a:rPr lang="pt-PT" sz="1000" b="1" baseline="30000">
                <a:solidFill>
                  <a:schemeClr val="tx1"/>
                </a:solidFill>
              </a:rPr>
              <a:t>1 2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243" y="1992456"/>
          <a:ext cx="10251850" cy="311203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598786217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baseline="0" noProof="0">
                          <a:solidFill>
                            <a:schemeClr val="bg1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∆ Follow-up</a:t>
                      </a: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27 233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-2 600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1 974 112 045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1 974 112 045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339 388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339 388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21 049 160 744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27 790 073 398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-6 740 912 654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879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1 521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-320 230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14 091 691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13 987 674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104 017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368 142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16 558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23 037 364 480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29 778 173 117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-6 740 808 637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algn="l"/>
                      <a:r>
                        <a:rPr lang="pt-PT" sz="1000" b="1"/>
                        <a:t>2) Exclusivo Novo Modelo de Garantias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Resolvido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367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935 955 730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935 955 730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399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205 328 848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205 328 848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8044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199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-8 116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27 834 261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27 834 261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693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961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66 749 718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66 749 718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1 926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-7 817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1 235 868 557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1 235 868 557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6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64 729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1 033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4 740 394 645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-4 740 394 645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Resolvido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50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131 675 240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-131 675 240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981715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134 160 977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-134 160 977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92237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2 710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186 349 466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-186 349 466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79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26 426 050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-26 426 050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67 757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5 219 006 377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-5 219 006 377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3268" y="639758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análise exclui o universo de </a:t>
            </a:r>
            <a:r>
              <a:rPr lang="pt-BR" sz="800" i="1"/>
              <a:t>Leasing</a:t>
            </a:r>
            <a:r>
              <a:rPr lang="pt-BR" sz="800"/>
              <a:t> e </a:t>
            </a:r>
            <a:r>
              <a:rPr lang="pt-BR" sz="800" i="1"/>
              <a:t>Factoring</a:t>
            </a:r>
          </a:p>
          <a:p>
            <a:r>
              <a:rPr lang="pt-BR" sz="800"/>
              <a:t>2. A granularidade utilizada para análise foi ao nivel do bem (garantia pessoal – Cliente)</a:t>
            </a:r>
          </a:p>
          <a:p>
            <a:r>
              <a:rPr lang="pt-BR" sz="800"/>
              <a:t>3. A granularidade apresentada é a do Novo Modelo de Garantias (granularidade de IC’s)</a:t>
            </a:r>
            <a:endParaRPr lang="en-US" sz="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5091377"/>
            <a:ext cx="9645107" cy="866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Montante da garantia pessoal reflete o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valor da reponsabilidade</a:t>
            </a:r>
            <a:r>
              <a:rPr lang="pt-PT" sz="900">
                <a:solidFill>
                  <a:schemeClr val="tx1"/>
                </a:solidFill>
                <a:latin typeface="+mj-lt"/>
              </a:rPr>
              <a:t> e não o do processo.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Montante da garantia resulta da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multiplicação do valor da responsabilidade pela percentagem de cobertura</a:t>
            </a:r>
            <a:r>
              <a:rPr lang="pt-PT" sz="900">
                <a:solidFill>
                  <a:schemeClr val="tx1"/>
                </a:solidFill>
                <a:latin typeface="+mj-lt"/>
              </a:rPr>
              <a:t> do cliente.</a:t>
            </a:r>
          </a:p>
          <a:p>
            <a:pPr marL="228600" indent="-228600">
              <a:buFont typeface="+mj-lt"/>
              <a:buAutoNum type="arabicPeriod"/>
            </a:pPr>
            <a:endParaRPr lang="pt-PT" sz="900" u="sng">
              <a:solidFill>
                <a:schemeClr val="tx1"/>
              </a:solidFill>
              <a:latin typeface="+mj-lt"/>
            </a:endParaRPr>
          </a:p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 | 3) Exclusivo BIYR2500:</a:t>
            </a:r>
          </a:p>
          <a:p>
            <a:pPr marL="228600" indent="-228600">
              <a:buFont typeface="+mj-lt"/>
              <a:buAutoNum type="arabicPeriod"/>
            </a:pPr>
            <a:endParaRPr lang="pt-PT" sz="900" u="sng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com bens associados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contempladas garantias manuais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com cauções carregadas pora o respetivo emitente/programa.</a:t>
            </a: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62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Garantias Financeiras</a:t>
            </a:r>
            <a:endParaRPr lang="en-US" sz="1000" b="1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10251850" cy="218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029540360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4 723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414 975 605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414 975 605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3 165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299 668 568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298 609 824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1 058 744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5 678 265,49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5 675 363,27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2 902,22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14 301 120,90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11 535 490,26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2 765 630,64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8 066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734 623 559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730 796 282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3 827 277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528 449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523 304 145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-523 304 145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523 307 479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-523 307 479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 | 1) Universo Comum:</a:t>
            </a:r>
          </a:p>
          <a:p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+mj-lt"/>
            </a:endParaRPr>
          </a:p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 | 3) Exclusivo BIYR2500:</a:t>
            </a:r>
            <a:endParaRPr lang="pt-PT" sz="900" b="1">
              <a:solidFill>
                <a:schemeClr val="tx1"/>
              </a:solidFill>
              <a:latin typeface="+mj-lt"/>
            </a:endParaRPr>
          </a:p>
          <a:p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granularidade apresentada é a do Novo Modelo de Garantias (granularidade de IC’s)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96563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Garantias Imóveis</a:t>
            </a:r>
            <a:r>
              <a:rPr lang="pt-PT" sz="1000" b="1" baseline="30000">
                <a:solidFill>
                  <a:schemeClr val="tx1"/>
                </a:solidFill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10251850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178368914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215 126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9 459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430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327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1 734 391 534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2 164 665 641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-430 274 107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190 778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10 807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15 441 792 449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15 485 671 203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-43 878 754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406 334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57 754 906 496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58 229 059 357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-474 152 861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2)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 | 1) Universo Comum:</a:t>
            </a:r>
          </a:p>
          <a:p>
            <a:endParaRPr lang="pt-PT" sz="90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A metodologia de aprovisionamento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+mj-lt"/>
              </a:rPr>
              <a:t>de montantes/datas de avaliação </a:t>
            </a: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aplicada a Fomentos à Construção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+mj-lt"/>
              </a:rPr>
              <a:t>deve ser igual para todas as origens</a:t>
            </a: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+mj-lt"/>
              </a:rPr>
              <a:t>rateio dos bens </a:t>
            </a: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pelos processos/responsabilidades deve ser feito </a:t>
            </a:r>
            <a:r>
              <a:rPr lang="pt-PT" sz="900" u="sng" strike="noStrike">
                <a:solidFill>
                  <a:schemeClr val="tx1"/>
                </a:solidFill>
                <a:effectLst/>
                <a:latin typeface="+mj-lt"/>
              </a:rPr>
              <a:t>independentemente da origem</a:t>
            </a:r>
            <a:r>
              <a:rPr lang="pt-PT" sz="900" u="none" strike="noStrike"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percentagem de avaliação </a:t>
            </a:r>
            <a:r>
              <a:rPr lang="pt-PT" sz="900">
                <a:solidFill>
                  <a:schemeClr val="tx1"/>
                </a:solidFill>
                <a:latin typeface="+mj-lt"/>
              </a:rPr>
              <a:t>atribuida ao BST no que respeita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IFRRUs, </a:t>
            </a:r>
            <a:r>
              <a:rPr lang="pt-PT" sz="900">
                <a:solidFill>
                  <a:schemeClr val="tx1"/>
                </a:solidFill>
                <a:latin typeface="+mj-lt"/>
              </a:rPr>
              <a:t>terá como base o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financiamento inicial do IFRRU </a:t>
            </a:r>
            <a:r>
              <a:rPr lang="pt-PT" sz="900">
                <a:solidFill>
                  <a:schemeClr val="tx1"/>
                </a:solidFill>
                <a:latin typeface="+mj-lt"/>
              </a:rPr>
              <a:t>e não o saldo em dívida atual.</a:t>
            </a:r>
          </a:p>
          <a:p>
            <a:endParaRPr lang="pt-PT" sz="900">
              <a:solidFill>
                <a:schemeClr val="tx1"/>
              </a:solidFill>
              <a:latin typeface="+mj-lt"/>
            </a:endParaRPr>
          </a:p>
          <a:p>
            <a:r>
              <a:rPr lang="pt-PT" sz="900" b="1">
                <a:solidFill>
                  <a:schemeClr val="accent4"/>
                </a:solidFill>
                <a:latin typeface="+mj-lt"/>
              </a:rPr>
              <a:t>*Diferenças de metodologia refletidas | 3) Exclusivo BIYR9500:</a:t>
            </a:r>
          </a:p>
          <a:p>
            <a:endParaRPr lang="pt-PT" sz="900" b="1">
              <a:solidFill>
                <a:schemeClr val="accent4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.</a:t>
            </a:r>
          </a:p>
          <a:p>
            <a:endParaRPr lang="pt-PT" sz="9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análise exclui o universo de </a:t>
            </a:r>
            <a:r>
              <a:rPr lang="pt-BR" sz="800" i="1"/>
              <a:t>Leasing</a:t>
            </a:r>
          </a:p>
          <a:p>
            <a:r>
              <a:rPr lang="pt-BR" sz="800"/>
              <a:t>2. A granularidade apresentada é a do Novo Modelo de Garantias (granularidade de IC’s) 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32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</a:rPr>
              <a:t>Leasing</a:t>
            </a:r>
            <a:r>
              <a:rPr lang="pt-PT" sz="1000" b="1">
                <a:solidFill>
                  <a:schemeClr val="tx1"/>
                </a:solidFill>
              </a:rPr>
              <a:t> Imóveis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10251850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230561210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5 116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1 551 374 926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1 551 374 926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2 628 496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975 300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5 133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1 554 003 422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1 552 350 226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  <a:endParaRPr lang="pt-PT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-27 775 701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3746973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</a:rPr>
              <a:t>Leasing </a:t>
            </a:r>
            <a:r>
              <a:rPr lang="pt-PT" sz="1000" b="1">
                <a:solidFill>
                  <a:schemeClr val="tx1"/>
                </a:solidFill>
              </a:rPr>
              <a:t>Pessoais</a:t>
            </a:r>
            <a:r>
              <a:rPr lang="pt-PT" sz="1000" b="1" baseline="30000">
                <a:solidFill>
                  <a:schemeClr val="tx1"/>
                </a:solidFill>
              </a:rPr>
              <a:t> 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4116413"/>
          <a:ext cx="10251850" cy="164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13395681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10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0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10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33 396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33 396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161 690 161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1 603 163 439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-1 441 473 278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329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33 419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33 419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161 690 161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1 603 163 439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-1 441 473 278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38 288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5 340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106 073 552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-106 073 552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5 340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106 073 552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-106 073 552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granularidade utilizada para análise foi ao nivel do bem (garantia pessoal – Cliente)</a:t>
            </a:r>
          </a:p>
          <a:p>
            <a:r>
              <a:rPr lang="pt-BR" sz="800"/>
              <a:t>2. A granularidade apresentada é a do Novo Modelo de Garantias (granularidade de IC’s)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3177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</a:rPr>
              <a:t>Factoring</a:t>
            </a:r>
            <a:r>
              <a:rPr lang="pt-PT" sz="1000" b="1" baseline="3000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10251850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28658769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900" b="1" kern="1200" baseline="0" noProof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∆ Follow-up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1 692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18 812 663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18 812 663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2 513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25 902 649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42 750 553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-16 847 904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4 205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4 205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44 715 312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61 563 216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-16 847 904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655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16 872 542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n-lt"/>
                        </a:rPr>
                        <a:t>-16 872 542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655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16 872 542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  <a:latin typeface="+mn-lt"/>
                        </a:rPr>
                        <a:t>-16 872 542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/>
              <a:t>1. A granularidade utilizada para análise foi ao nivel do bem (garantia pessoal – Cliente)</a:t>
            </a:r>
          </a:p>
          <a:p>
            <a:r>
              <a:rPr lang="pt-BR" sz="800"/>
              <a:t>2. A granularidade apresentada é a do Novo Modelo de Garantias (granularidade de IC’s)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2152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– Impactos Área de Capital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Modelo VS JM_GARANT_CTO</a:t>
            </a:r>
            <a:endParaRPr lang="en-US" sz="1000" baseline="3000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203843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+mj-lt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9 043,00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9 042,00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752 650 981,03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752 650 816,91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377 707,00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377 707,00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59 960 655 257,64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59 960 655 257,64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+mj-lt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378 071,00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377 872,00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-199,00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24 479 678 455,82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24 107 771 322,35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-371 907 133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764 821,00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764 621,00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-200,00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85 192 984 694,49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84 821 077 396,90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-371 907 298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5981029"/>
            <a:ext cx="53351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/>
              <a:t>1. Tabela JM_GARANT_CTO carregada na BDR2 e resulta do processo utilizando o Novo Modelo de Garantias.</a:t>
            </a:r>
            <a:endParaRPr lang="pt-BR" sz="800"/>
          </a:p>
        </p:txBody>
      </p:sp>
    </p:spTree>
    <p:extLst>
      <p:ext uri="{BB962C8B-B14F-4D97-AF65-F5344CB8AC3E}">
        <p14:creationId xmlns:p14="http://schemas.microsoft.com/office/powerpoint/2010/main" val="359176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– Impactos Área de Capital (relativo a 31 de Janeiro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Modelo VS JM_GARANT_CTO</a:t>
            </a:r>
            <a:endParaRPr lang="en-US" sz="1000" baseline="30000">
              <a:solidFill>
                <a:schemeClr val="tx1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671770"/>
              </p:ext>
            </p:extLst>
          </p:nvPr>
        </p:nvGraphicFramePr>
        <p:xfrm>
          <a:off x="722243" y="203843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+mj-lt"/>
                        </a:rPr>
                        <a:t>1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+mj-lt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8 643,00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8 642,00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712 263 989,42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712 263 546,36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-443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375 304,00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375 304,00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59 029 483 062,33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59 029 483 062,33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+mj-lt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374 392,00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374 320,00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-72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23 258 116 333,14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23 256 901 898,66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-1 214 434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758 339,00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758 266,00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82 999 863 384,89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82 998 648 507,35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-1 214 878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162004"/>
            <a:ext cx="53351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/>
              <a:t>1. Tabela JM_GARANT_CTO carregada na BDR2 e resulta do processo utilizando o Novo Modelo de Garantias.</a:t>
            </a:r>
            <a:endParaRPr lang="pt-BR" sz="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F90A05-396F-15DB-CA88-C7CF672A1A53}"/>
              </a:ext>
            </a:extLst>
          </p:cNvPr>
          <p:cNvSpPr/>
          <p:nvPr/>
        </p:nvSpPr>
        <p:spPr>
          <a:xfrm>
            <a:off x="9505950" y="447675"/>
            <a:ext cx="819150" cy="21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new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546643" y="4779002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1"/>
                </a:solidFill>
                <a:latin typeface="+mj-lt"/>
              </a:rPr>
              <a:t>Pessoais:</a:t>
            </a:r>
          </a:p>
          <a:p>
            <a:endParaRPr lang="pt-PT" sz="900" b="1">
              <a:solidFill>
                <a:schemeClr val="accent4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Após a última execução do Modelo, e já com a incorporação dos </a:t>
            </a:r>
            <a:r>
              <a:rPr lang="pt-PT" sz="900" i="1">
                <a:solidFill>
                  <a:schemeClr val="tx1"/>
                </a:solidFill>
                <a:latin typeface="+mj-lt"/>
              </a:rPr>
              <a:t>cgarants</a:t>
            </a:r>
            <a:r>
              <a:rPr lang="pt-PT" sz="900">
                <a:solidFill>
                  <a:schemeClr val="tx1"/>
                </a:solidFill>
                <a:latin typeface="+mj-lt"/>
              </a:rPr>
              <a:t> de </a:t>
            </a:r>
            <a:r>
              <a:rPr lang="pt-PT" sz="900" i="1" u="sng">
                <a:solidFill>
                  <a:schemeClr val="tx1"/>
                </a:solidFill>
                <a:latin typeface="+mj-lt"/>
              </a:rPr>
              <a:t>leasing</a:t>
            </a:r>
            <a:r>
              <a:rPr lang="pt-PT" sz="900">
                <a:solidFill>
                  <a:schemeClr val="tx1"/>
                </a:solidFill>
                <a:latin typeface="+mj-lt"/>
              </a:rPr>
              <a:t> que não estavam a ser incluídos, ocorreu um erro de desdobramento por cgarant para casos em que existe apenas um zcliente por responsabilidade.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49DF03-51C3-E098-A4B4-331DEF7F0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634463"/>
              </p:ext>
            </p:extLst>
          </p:nvPr>
        </p:nvGraphicFramePr>
        <p:xfrm>
          <a:off x="875124" y="5446640"/>
          <a:ext cx="8568000" cy="540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9263788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310605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5098318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616959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27999553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04698617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296827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99334362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34000013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mavaliaa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cempresa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ckbalcao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cknumcta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zdeposit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cbalcao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cnumcta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zcaucao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cgarant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zcliente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10 763,72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000420000572694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accent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501</a:t>
                      </a:r>
                      <a:endParaRPr lang="pt-PT" sz="900">
                        <a:solidFill>
                          <a:schemeClr val="accent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LEA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10 763,72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000420000572694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00000244180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accent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198</a:t>
                      </a:r>
                      <a:endParaRPr lang="pt-PT" sz="900">
                        <a:solidFill>
                          <a:schemeClr val="accent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8014793193</a:t>
                      </a:r>
                      <a:endParaRPr lang="pt-PT" sz="9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5110827-6A0C-3EB9-5778-7CC7F8E958DE}"/>
              </a:ext>
            </a:extLst>
          </p:cNvPr>
          <p:cNvSpPr/>
          <p:nvPr/>
        </p:nvSpPr>
        <p:spPr>
          <a:xfrm>
            <a:off x="546643" y="3270719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1"/>
                </a:solidFill>
                <a:latin typeface="+mj-lt"/>
              </a:rPr>
              <a:t>Financeiras:</a:t>
            </a:r>
          </a:p>
          <a:p>
            <a:endParaRPr lang="pt-PT" sz="900" b="1">
              <a:solidFill>
                <a:schemeClr val="accent4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+mj-lt"/>
              </a:rPr>
              <a:t>O tratamento da chaves da responsabilidade do modelo para a tabela output gt015 não está a ser refletido no código de produto/subproduto da responsabilidade, duplicando registos.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D7B62E-0BC4-AE03-FF27-D6E7004AE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181125"/>
              </p:ext>
            </p:extLst>
          </p:nvPr>
        </p:nvGraphicFramePr>
        <p:xfrm>
          <a:off x="875124" y="3919307"/>
          <a:ext cx="9132000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000">
                  <a:extLst>
                    <a:ext uri="{9D8B030D-6E8A-4147-A177-3AD203B41FA5}">
                      <a16:colId xmlns:a16="http://schemas.microsoft.com/office/drawing/2014/main" val="1926378817"/>
                    </a:ext>
                  </a:extLst>
                </a:gridCol>
                <a:gridCol w="714000">
                  <a:extLst>
                    <a:ext uri="{9D8B030D-6E8A-4147-A177-3AD203B41FA5}">
                      <a16:colId xmlns:a16="http://schemas.microsoft.com/office/drawing/2014/main" val="363106051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50983181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661695928"/>
                    </a:ext>
                  </a:extLst>
                </a:gridCol>
                <a:gridCol w="714000">
                  <a:extLst>
                    <a:ext uri="{9D8B030D-6E8A-4147-A177-3AD203B41FA5}">
                      <a16:colId xmlns:a16="http://schemas.microsoft.com/office/drawing/2014/main" val="4279995539"/>
                    </a:ext>
                  </a:extLst>
                </a:gridCol>
                <a:gridCol w="714000">
                  <a:extLst>
                    <a:ext uri="{9D8B030D-6E8A-4147-A177-3AD203B41FA5}">
                      <a16:colId xmlns:a16="http://schemas.microsoft.com/office/drawing/2014/main" val="3046986175"/>
                    </a:ext>
                  </a:extLst>
                </a:gridCol>
                <a:gridCol w="71400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714000">
                  <a:extLst>
                    <a:ext uri="{9D8B030D-6E8A-4147-A177-3AD203B41FA5}">
                      <a16:colId xmlns:a16="http://schemas.microsoft.com/office/drawing/2014/main" val="37296827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93343626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340000135"/>
                    </a:ext>
                  </a:extLst>
                </a:gridCol>
                <a:gridCol w="71400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14000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55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cempresp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ckbalres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ckctares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ckrefresp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ckprdresp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cksubpresp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cempresa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ckbalcao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cknumcta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zdeposit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ckprodut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cksubpro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00826406001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008264060010000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chemeClr val="accent1"/>
                          </a:solidFill>
                          <a:effectLst/>
                          <a:latin typeface="+mj-lt"/>
                        </a:rPr>
                        <a:t>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00826406001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000000000000000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chemeClr val="accent1"/>
                          </a:solidFill>
                          <a:effectLst/>
                          <a:latin typeface="+mj-lt"/>
                        </a:rPr>
                        <a:t>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00826406001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000000000000000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chemeClr val="accent1"/>
                          </a:solidFill>
                          <a:effectLst/>
                          <a:latin typeface="+mj-lt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00826406001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000000000000000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chemeClr val="accent1"/>
                          </a:solidFill>
                          <a:effectLst/>
                          <a:latin typeface="+mj-lt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3114675" y="3441975"/>
            <a:ext cx="6543676" cy="23301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 – Impactos Área de Capital (relativo a 31 de Dezembro 2022)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Impactos Capital</a:t>
            </a:r>
            <a:r>
              <a:rPr lang="pt-PT" sz="1000" b="1" baseline="30000">
                <a:solidFill>
                  <a:schemeClr val="tx1"/>
                </a:solidFill>
              </a:rPr>
              <a:t> </a:t>
            </a:r>
            <a:endParaRPr lang="en-US" sz="1000" b="1" baseline="3000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6436" y="3576597"/>
          <a:ext cx="5460155" cy="1412305"/>
        </p:xfrm>
        <a:graphic>
          <a:graphicData uri="http://schemas.openxmlformats.org/drawingml/2006/table">
            <a:tbl>
              <a:tblPr/>
              <a:tblGrid>
                <a:gridCol w="1781861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477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9 247 573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6 647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effectLst/>
                          <a:latin typeface="+mj-lt"/>
                        </a:rPr>
                        <a:t>9 254 219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43 708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46 691 409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103 817 908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effectLst/>
                          <a:latin typeface="+mj-lt"/>
                        </a:rPr>
                        <a:t>150 509 316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effectLst/>
                          <a:latin typeface="+mj-lt"/>
                        </a:rPr>
                        <a:t>Dos</a:t>
                      </a:r>
                      <a:r>
                        <a:rPr lang="pt-PT" sz="800" b="0" i="0" u="none" strike="noStrike" baseline="0">
                          <a:effectLst/>
                          <a:latin typeface="+mj-lt"/>
                        </a:rPr>
                        <a:t> quais: </a:t>
                      </a:r>
                      <a:r>
                        <a:rPr lang="pt-PT" sz="800" b="0" i="0" u="none" strike="noStrike">
                          <a:effectLst/>
                          <a:latin typeface="+mj-lt"/>
                        </a:rPr>
                        <a:t>Pessoais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effectLst/>
                          <a:latin typeface="+mj-lt"/>
                        </a:rPr>
                        <a:t>10 088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effectLst/>
                          <a:latin typeface="+mj-lt"/>
                        </a:rPr>
                        <a:t>18 927 079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effectLst/>
                          <a:latin typeface="+mj-lt"/>
                        </a:rPr>
                        <a:t>103 626 611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effectLst/>
                          <a:latin typeface="+mj-lt"/>
                        </a:rPr>
                        <a:t>122 553 690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105388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55 938 981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103 824 554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159 763 535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 Outras</a:t>
                      </a:r>
                      <a:r>
                        <a:rPr lang="pt-PT" sz="900" b="0" i="0" u="none" strike="noStrike" baseline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Diferenças *</a:t>
                      </a:r>
                      <a:endParaRPr lang="pt-PT" sz="900" b="0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251 197 783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-1 815 984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249 381 800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6436" y="5047431"/>
            <a:ext cx="5725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>
                <a:solidFill>
                  <a:schemeClr val="bg1">
                    <a:lumMod val="50000"/>
                  </a:schemeClr>
                </a:solidFill>
                <a:latin typeface="+mj-lt"/>
              </a:rPr>
              <a:t>* Foram identificadas </a:t>
            </a:r>
            <a:r>
              <a:rPr lang="pt-PT" sz="900" b="1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não inerentes ao novo modelo de garantias</a:t>
            </a: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+mj-lt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+mj-lt"/>
              </a:rPr>
              <a:t>Alteração da maturidade ao nível do motor (carteiras de Foundation IRB)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+mj-lt"/>
              </a:rPr>
              <a:t>Cálculo do LTV diferente entre motores (utilização de montante de avaliação atual vs inicial)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no motor NDD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2038432"/>
          <a:ext cx="6420320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>
                          <a:effectLst/>
                          <a:latin typeface="+mj-lt"/>
                        </a:rPr>
                        <a:t>4</a:t>
                      </a:r>
                      <a:endParaRPr lang="pt-PT" sz="10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9 387 813 312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9 694 950 076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307 136 764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32 286 779 303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32 195 009 517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-91 769 786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1 704 824 158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1 806 832 729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102 008 571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21 423 368 106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21 015 833 210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>
                          <a:effectLst/>
                          <a:latin typeface="+mj-lt"/>
                        </a:rPr>
                        <a:t>-407 534 897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11 092 637 470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11 501 782 805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409 145 335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53 710 147 409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53 210 842 727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-499 304 682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5295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/>
              <a:t>1. Universo definido com base na combinação entre o método de cálculo de capital, segmento e contrato BDR.</a:t>
            </a:r>
            <a:r>
              <a:rPr lang="pt-BR" sz="800"/>
              <a:t> </a:t>
            </a:r>
          </a:p>
          <a:p>
            <a:r>
              <a:rPr lang="pt-PT" sz="800"/>
              <a:t>2. BDR1 resulta do processo atual do BIYR9500.</a:t>
            </a:r>
          </a:p>
          <a:p>
            <a:r>
              <a:rPr lang="pt-PT" sz="800"/>
              <a:t>3. BDR2 resulta do processo utilizando o Novo Modelo de Garantias.</a:t>
            </a:r>
            <a:endParaRPr lang="pt-BR" sz="800"/>
          </a:p>
        </p:txBody>
      </p:sp>
      <p:sp>
        <p:nvSpPr>
          <p:cNvPr id="36" name="Rectangle 35"/>
          <p:cNvSpPr/>
          <p:nvPr/>
        </p:nvSpPr>
        <p:spPr>
          <a:xfrm>
            <a:off x="3228975" y="2152651"/>
            <a:ext cx="1028700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844827" y="1900289"/>
            <a:ext cx="440184" cy="264318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Imparidade</a:t>
            </a:r>
            <a:endParaRPr lang="en-US" sz="1100"/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/>
              <a:t>Foi realizada uma simulação no dia </a:t>
            </a:r>
            <a:r>
              <a:rPr lang="pt-PT" sz="1000" b="1" u="sng"/>
              <a:t>13 de Janeiro</a:t>
            </a:r>
            <a:r>
              <a:rPr lang="pt-PT" sz="1000"/>
              <a:t>, com todas as correções realizadas até a data e foram obtidos os seguintes resultados: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/>
              <a:t>Total de contratos com diferenças de provisão: </a:t>
            </a:r>
            <a:r>
              <a:rPr lang="pt-PT" sz="1000" b="1"/>
              <a:t>2.159</a:t>
            </a:r>
            <a:r>
              <a:rPr lang="pt-PT" sz="1000" baseline="30000"/>
              <a:t>1</a:t>
            </a:r>
            <a:r>
              <a:rPr lang="pt-PT" sz="1000" b="1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/>
              <a:t>Total de garantias duplicadas: </a:t>
            </a:r>
            <a:r>
              <a:rPr lang="pt-PT" sz="1000" b="1"/>
              <a:t>0;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/>
              <a:t>Aumento na provisão, da Análise Coletiva, apurada face ao rácio de Dezembro de 2022: </a:t>
            </a:r>
            <a:r>
              <a:rPr lang="pt-PT" sz="1000" b="1"/>
              <a:t>+1.965 milhões€ (em valores consolidados com Análise Individual representa um aumento de +947k€)</a:t>
            </a:r>
            <a:endParaRPr lang="pt-PT" sz="1000"/>
          </a:p>
        </p:txBody>
      </p:sp>
      <p:sp>
        <p:nvSpPr>
          <p:cNvPr id="2" name="TextBox 1"/>
          <p:cNvSpPr txBox="1"/>
          <p:nvPr/>
        </p:nvSpPr>
        <p:spPr>
          <a:xfrm>
            <a:off x="722243" y="5999625"/>
            <a:ext cx="8008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aseline="30000"/>
              <a:t>1</a:t>
            </a:r>
            <a:r>
              <a:rPr lang="pt-PT" sz="800"/>
              <a:t> Valor considera todos os contratos com diferenças de provisão, cujo total das diferenças podem não estar todas relacionadas com o </a:t>
            </a:r>
            <a:r>
              <a:rPr lang="pt-PT" sz="800" i="1" err="1"/>
              <a:t>go</a:t>
            </a:r>
            <a:r>
              <a:rPr lang="pt-PT" sz="800" i="1"/>
              <a:t> live</a:t>
            </a:r>
            <a:r>
              <a:rPr lang="pt-PT" sz="800"/>
              <a:t> do modelo de garantias.</a:t>
            </a: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1.4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Módulo de Controlos Garantias – Dezembro 2022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817972" y="6295641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644C12CA-C815-405D-A669-1C04E68F0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8645" y="1584088"/>
          <a:ext cx="4794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380753" imgH="806311" progId="Excel.Sheet.12">
                  <p:embed/>
                </p:oleObj>
              </mc:Choice>
              <mc:Fallback>
                <p:oleObj name="Worksheet" showAsIcon="1" r:id="rId2" imgW="380753" imgH="806311" progId="Excel.Sheet.12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644C12CA-C815-405D-A669-1C04E68F01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58645" y="1584088"/>
                        <a:ext cx="479425" cy="101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11028" y="2006816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Dezembro</a:t>
                      </a:r>
                      <a:endParaRPr lang="en-US" sz="1200" b="0" i="0" u="none" strike="noStrike" kern="120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200" b="0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2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/>
        </p:nvGraphicFramePr>
        <p:xfrm>
          <a:off x="4344921" y="2006060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346490" y="2006060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400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40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61B9C1-7B97-46CD-8226-E9048CCC1254}"/>
              </a:ext>
            </a:extLst>
          </p:cNvPr>
          <p:cNvSpPr/>
          <p:nvPr/>
        </p:nvSpPr>
        <p:spPr>
          <a:xfrm>
            <a:off x="7099704" y="3643041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>
                <a:solidFill>
                  <a:srgbClr val="FF0000"/>
                </a:solidFill>
                <a:latin typeface="Santander Text" panose="020B0504020201020104" pitchFamily="34" charset="0"/>
              </a:rPr>
              <a:t>4 (6%)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8041625" y="3649968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>
                <a:solidFill>
                  <a:srgbClr val="FF0000"/>
                </a:solidFill>
                <a:latin typeface="Santander Text" panose="020B0504020201020104" pitchFamily="34" charset="0"/>
              </a:rPr>
              <a:t>3 (4%)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975679" y="3643040"/>
            <a:ext cx="681391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>
                <a:solidFill>
                  <a:srgbClr val="FF0000"/>
                </a:solidFill>
                <a:latin typeface="Santander Text" panose="020B0504020201020104" pitchFamily="34" charset="0"/>
              </a:rPr>
              <a:t>3 (3%)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917878" y="3642846"/>
            <a:ext cx="681392" cy="234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>
                <a:solidFill>
                  <a:schemeClr val="bg1"/>
                </a:solidFill>
                <a:latin typeface="Santander Text" panose="020B0504020201020104" pitchFamily="34" charset="0"/>
              </a:rPr>
              <a:t>2 (2%) 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6784380" y="2571256"/>
            <a:ext cx="0" cy="167478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/>
        </p:nvGraphicFramePr>
        <p:xfrm>
          <a:off x="711028" y="4699382"/>
          <a:ext cx="10608249" cy="15931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1494 (0,52%)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5951 (1,47%)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Serviço de Crédito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(1,19%)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DPs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cativos sem saldo disponível ou que não cobre a o montante cativo de garantia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(2,01%)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(3,42%)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e equipa do projeto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10054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CC, TT ou FU dados como garantia com saldo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inferior ao montante cativo total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Jan/23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140 (2,04%)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13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Próximos </a:t>
            </a:r>
            <a:r>
              <a:rPr lang="es-ES" err="1"/>
              <a:t>Passos</a:t>
            </a:r>
            <a:endParaRPr lang="es-ES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2. Próximos Passos (1/3)</a:t>
            </a:r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B88808-D1A1-0551-AFD9-87ABBF80E762}"/>
              </a:ext>
            </a:extLst>
          </p:cNvPr>
          <p:cNvGraphicFramePr>
            <a:graphicFrameLocks noGrp="1"/>
          </p:cNvGraphicFramePr>
          <p:nvPr/>
        </p:nvGraphicFramePr>
        <p:xfrm>
          <a:off x="722242" y="1744981"/>
          <a:ext cx="10440001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72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5422476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1815613397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618935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Área responsável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+mj-lt"/>
                        </a:rPr>
                        <a:t>1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u="none" strike="noStrike">
                          <a:effectLst/>
                          <a:latin typeface="+mj-lt"/>
                        </a:rPr>
                        <a:t>Análise de impactos na ótica da </a:t>
                      </a:r>
                      <a:r>
                        <a:rPr lang="pt-PT" sz="1100" b="1" u="none" strike="noStrike">
                          <a:effectLst/>
                          <a:latin typeface="+mj-lt"/>
                        </a:rPr>
                        <a:t>área de Modelos</a:t>
                      </a:r>
                      <a:endParaRPr lang="pt-PT" sz="1100" b="1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Modelos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n/a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95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effectLst/>
                          <a:latin typeface="+mj-lt"/>
                        </a:rPr>
                        <a:t>2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u="none" strike="noStrike">
                          <a:effectLst/>
                          <a:latin typeface="+mj-lt"/>
                        </a:rPr>
                        <a:t>Análise de diferenças de montantes de avaliação do universo de </a:t>
                      </a:r>
                      <a:r>
                        <a:rPr lang="pt-PT" sz="1100" b="1" u="none" strike="noStrike">
                          <a:effectLst/>
                          <a:latin typeface="+mj-lt"/>
                        </a:rPr>
                        <a:t>garantias Imobiliárias</a:t>
                      </a:r>
                      <a:endParaRPr lang="pt-PT" sz="11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190 888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>
                          <a:effectLst/>
                          <a:latin typeface="+mj-lt"/>
                        </a:rPr>
                        <a:t>55 599 522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Definição de metodologia para aprovisionamento das avaliações de </a:t>
                      </a:r>
                      <a:r>
                        <a:rPr lang="pt-PT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 Imobiliário </a:t>
                      </a:r>
                      <a:r>
                        <a:rPr lang="pt-PT" sz="1100" b="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que “regressaram” da aplicação de contencioso</a:t>
                      </a:r>
                      <a:r>
                        <a:rPr lang="pt-PT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  <a:endParaRPr lang="pt-PT" sz="1100" b="1" i="0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 / </a:t>
                      </a:r>
                      <a:r>
                        <a:rPr lang="pt-PT" sz="1100" b="0" i="1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241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>
                          <a:effectLst/>
                          <a:latin typeface="+mj-lt"/>
                        </a:rPr>
                        <a:t>27 775 701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725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de diferenças de montantes de avaliação do universo de </a:t>
                      </a:r>
                      <a:r>
                        <a:rPr lang="pt-PT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garantias Pessoais, incluindo </a:t>
                      </a:r>
                      <a:r>
                        <a:rPr lang="pt-PT" sz="1100" b="1" i="1" u="none" strike="noStrike" kern="120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Leasing.</a:t>
                      </a:r>
                      <a:endParaRPr lang="pt-PT" sz="1100" b="1" i="1" u="none" strike="noStrike" kern="12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/>
                        <a:t>6 381</a:t>
                      </a:r>
                      <a:r>
                        <a:rPr lang="pt-PT" sz="1100" baseline="30000"/>
                        <a:t>1</a:t>
                      </a:r>
                      <a:endParaRPr lang="pt-PT" sz="1100" b="0" i="0" u="none" strike="noStrike" kern="1200" baseline="3000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/>
                        <a:t>199 287 609</a:t>
                      </a:r>
                      <a:endParaRPr lang="pt-PT" sz="1100" b="0" i="0" u="none" strike="noStrike">
                        <a:effectLst/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894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e resolução de diferenças entre o </a:t>
                      </a:r>
                      <a:r>
                        <a:rPr lang="pt-PT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Modelo Base de Garantias </a:t>
                      </a: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(GT018) e as </a:t>
                      </a:r>
                      <a:r>
                        <a:rPr lang="pt-PT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100" b="1" i="1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(GT015)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CDO / IT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Análise e resolução de diferenças entre as </a:t>
                      </a:r>
                      <a:r>
                        <a:rPr lang="pt-PT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100" b="1" i="1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do Modelo de Garantias </a:t>
                      </a: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(GT015) e </a:t>
                      </a:r>
                      <a:r>
                        <a:rPr lang="pt-PT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BDR</a:t>
                      </a: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(JM_GARANT_CTO)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>
                          <a:effectLst/>
                          <a:latin typeface="+mj-lt"/>
                        </a:rPr>
                        <a:t>CDO / 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>
                          <a:effectLst/>
                          <a:latin typeface="+mj-lt"/>
                        </a:rPr>
                        <a:t>200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>
                          <a:effectLst/>
                          <a:latin typeface="+mj-lt"/>
                        </a:rPr>
                        <a:t>371 907 298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Continuação da análise de impactos na ótica da </a:t>
                      </a:r>
                      <a:r>
                        <a:rPr lang="pt-PT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área de Capital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100" b="0" i="0" u="none" strike="noStrike">
                          <a:effectLst/>
                          <a:latin typeface="+mj-lt"/>
                        </a:rPr>
                        <a:t>CDO / Capital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0" i="0" u="none" strike="noStrike"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516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ABDB758-49D6-DF64-0640-787254D8C769}"/>
              </a:ext>
            </a:extLst>
          </p:cNvPr>
          <p:cNvSpPr txBox="1"/>
          <p:nvPr/>
        </p:nvSpPr>
        <p:spPr>
          <a:xfrm>
            <a:off x="547532" y="792666"/>
            <a:ext cx="10758734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/>
              <a:t>Atividades </a:t>
            </a:r>
            <a:r>
              <a:rPr lang="pt-PT" i="1" u="sng"/>
              <a:t>WIP</a:t>
            </a:r>
            <a:r>
              <a:rPr lang="pt-PT" u="sng"/>
              <a:t> com impacto no </a:t>
            </a:r>
            <a:r>
              <a:rPr lang="pt-PT" i="1" u="sng"/>
              <a:t>Go Live</a:t>
            </a:r>
            <a:r>
              <a:rPr lang="pt-PT" u="sng"/>
              <a:t> para rácio de Fevereiro 2023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510AB86-A3F2-3CD8-18B7-E2E5E383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99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2. Próximos Passos (2/3)</a:t>
            </a:r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/>
              <a:t>Atividades com impacto no </a:t>
            </a:r>
            <a:r>
              <a:rPr lang="pt-PT" i="1" u="sng" err="1"/>
              <a:t>Go</a:t>
            </a:r>
            <a:r>
              <a:rPr lang="pt-PT" i="1" u="sng"/>
              <a:t> Live</a:t>
            </a:r>
            <a:r>
              <a:rPr lang="pt-PT" u="sng"/>
              <a:t> para rácio de Fevereiro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/>
              <a:t>Ingestas de tabelas de Factoring que foram recentemente adicionadas ao processo e ainda encontram-se a ser carregadas manualmente;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/>
              <a:t>Automatização do processo de envio dos ficheiros produzidos para BDR;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/>
              <a:t>Desativar o processo atual de geração dos ficheiros do lado da BDR de forma a receberem os novos ficheiros sem interferências;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/>
              <a:t>Alteração do processo de envio das garantias </a:t>
            </a:r>
            <a:r>
              <a:rPr lang="pt-PT" sz="1400" err="1"/>
              <a:t>Cargabal</a:t>
            </a:r>
            <a:r>
              <a:rPr lang="pt-PT" sz="1400"/>
              <a:t> para a Contabilidade, para serem adaptados a incorporar os novos ficheiros. 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pt-PT" sz="1400"/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pt-PT"/>
          </a:p>
        </p:txBody>
      </p:sp>
      <p:grpSp>
        <p:nvGrpSpPr>
          <p:cNvPr id="7" name="Group 6"/>
          <p:cNvGrpSpPr/>
          <p:nvPr/>
        </p:nvGrpSpPr>
        <p:grpSpPr>
          <a:xfrm>
            <a:off x="547532" y="4547139"/>
            <a:ext cx="10430214" cy="995281"/>
            <a:chOff x="547532" y="4547139"/>
            <a:chExt cx="10430214" cy="995281"/>
          </a:xfrm>
        </p:grpSpPr>
        <p:sp>
          <p:nvSpPr>
            <p:cNvPr id="4" name="Rectangle 3"/>
            <p:cNvSpPr/>
            <p:nvPr/>
          </p:nvSpPr>
          <p:spPr>
            <a:xfrm>
              <a:off x="547532" y="4547139"/>
              <a:ext cx="10430214" cy="980574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7532" y="4588313"/>
              <a:ext cx="1042561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400"/>
                <a:t>Tendo em consideração os temas que ainda faltam concluir e que têm impacto para o rácio de Fevereiro, não consideramos que </a:t>
              </a:r>
            </a:p>
            <a:p>
              <a:r>
                <a:rPr lang="pt-PT" sz="1400"/>
                <a:t>seja viável o </a:t>
              </a:r>
              <a:r>
                <a:rPr lang="pt-PT" sz="1400" i="1" err="1"/>
                <a:t>go</a:t>
              </a:r>
              <a:r>
                <a:rPr lang="pt-PT" sz="1400" i="1"/>
                <a:t> live </a:t>
              </a:r>
              <a:r>
                <a:rPr lang="pt-PT" sz="1400"/>
                <a:t> da BDR acontecer no rácio de Fevereiro de 2023. </a:t>
              </a:r>
            </a:p>
            <a:p>
              <a:endParaRPr lang="pt-PT" sz="1400"/>
            </a:p>
            <a:p>
              <a:r>
                <a:rPr lang="pt-PT" sz="1400" b="1"/>
                <a:t>Propomos, que o </a:t>
              </a:r>
              <a:r>
                <a:rPr lang="pt-PT" sz="1400" b="1" i="1" err="1"/>
                <a:t>go</a:t>
              </a:r>
              <a:r>
                <a:rPr lang="pt-PT" sz="1400" b="1" i="1"/>
                <a:t> live</a:t>
              </a:r>
              <a:r>
                <a:rPr lang="pt-PT" sz="1400" b="1"/>
                <a:t> aconteça no rácio de Abril de 2023. </a:t>
              </a:r>
              <a:endParaRPr lang="en-US" sz="1400" b="1"/>
            </a:p>
          </p:txBody>
        </p:sp>
      </p:grpSp>
    </p:spTree>
    <p:extLst>
      <p:ext uri="{BB962C8B-B14F-4D97-AF65-F5344CB8AC3E}">
        <p14:creationId xmlns:p14="http://schemas.microsoft.com/office/powerpoint/2010/main" val="337195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2. Próximos Passos (3/3)</a:t>
            </a:r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u="sng"/>
              <a:t>Atividades sem impacto no </a:t>
            </a:r>
            <a:r>
              <a:rPr lang="pt-PT" i="1" u="sng" err="1"/>
              <a:t>Go</a:t>
            </a:r>
            <a:r>
              <a:rPr lang="pt-PT" i="1" u="sng"/>
              <a:t> Live</a:t>
            </a:r>
            <a:r>
              <a:rPr lang="pt-PT" u="sng"/>
              <a:t> para rácio de Fevereiro 2023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PT" sz="1400"/>
              <a:t>Implementação de novos requisitos/melhorias identificadas no processo;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/>
              <a:t>Calenderização do re-apontar a CRC e porfolios de securitização para o novo modelo de garantias;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/>
              <a:t>Contínuo acompanhamento das diferenças entre o modelo único e o processo antigo;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400"/>
              <a:t>Implementação de controlos de Qualidade de Dados.</a:t>
            </a:r>
            <a:endParaRPr lang="pt-PT" sz="1400" b="1"/>
          </a:p>
        </p:txBody>
      </p:sp>
    </p:spTree>
    <p:extLst>
      <p:ext uri="{BB962C8B-B14F-4D97-AF65-F5344CB8AC3E}">
        <p14:creationId xmlns:p14="http://schemas.microsoft.com/office/powerpoint/2010/main" val="294140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Anexos</a:t>
            </a:r>
            <a:endParaRPr lang="es-ES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53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3. Anexos - Plano e status do projeto</a:t>
            </a:r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3.1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Plano (1/2)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3723049"/>
            <a:ext cx="9947617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/>
              <a:t>O </a:t>
            </a:r>
            <a:r>
              <a:rPr lang="pt-PT" sz="1600" i="1" err="1"/>
              <a:t>Go</a:t>
            </a:r>
            <a:r>
              <a:rPr lang="pt-PT" sz="1600" i="1"/>
              <a:t> Live</a:t>
            </a:r>
            <a:r>
              <a:rPr lang="pt-PT" sz="1600"/>
              <a:t> será realizado no inicio de Janeiro 2023 sobre o rácio de Dezembro de 2022, apenas para a área de Imparidade;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/>
              <a:t>Apesar da alteração na BDR, isto não terá qualquer impacto quer nos seus processos ou de IT das áreas da Contabilidade e ALM que são consumidoras desta informação;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/>
              <a:t>As equipas de Imparidade, Capital, Contabilidade e ALM terão que testar as suas partes, para assegurar o correto funcionamento e impactos das alterações realizadas;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600"/>
              <a:t>A CRC não será alterada no ano de 2022.</a:t>
            </a:r>
            <a:endParaRPr lang="en-US" sz="1600"/>
          </a:p>
        </p:txBody>
      </p:sp>
      <p:sp>
        <p:nvSpPr>
          <p:cNvPr id="99" name="Rounded Rectangle 98"/>
          <p:cNvSpPr/>
          <p:nvPr/>
        </p:nvSpPr>
        <p:spPr>
          <a:xfrm>
            <a:off x="711028" y="3558056"/>
            <a:ext cx="2160000" cy="28800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/>
              <a:t>Notas/Pressupostos</a:t>
            </a:r>
            <a:endParaRPr lang="en-US"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874" y="1786689"/>
            <a:ext cx="4604771" cy="148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3. Anexos -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3.2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Plano de Correções - pós rácio de Novembro</a:t>
            </a:r>
            <a:endParaRPr lang="en-US" sz="1000" b="1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47B87-3ACD-4942-89CE-E986034A1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138990"/>
              </p:ext>
            </p:extLst>
          </p:nvPr>
        </p:nvGraphicFramePr>
        <p:xfrm>
          <a:off x="1561993" y="1945535"/>
          <a:ext cx="7580151" cy="3745273"/>
        </p:xfrm>
        <a:graphic>
          <a:graphicData uri="http://schemas.openxmlformats.org/drawingml/2006/table">
            <a:tbl>
              <a:tblPr/>
              <a:tblGrid>
                <a:gridCol w="7580151">
                  <a:extLst>
                    <a:ext uri="{9D8B030D-6E8A-4147-A177-3AD203B41FA5}">
                      <a16:colId xmlns:a16="http://schemas.microsoft.com/office/drawing/2014/main" val="3344114568"/>
                    </a:ext>
                  </a:extLst>
                </a:gridCol>
              </a:tblGrid>
              <a:tr h="20852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Tarefa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279611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algn="l" fontAlgn="ctr"/>
                      <a:r>
                        <a:rPr lang="pt-PT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Criação de campos adicionais (</a:t>
                      </a:r>
                      <a:r>
                        <a:rPr lang="pt-PT" sz="1200" b="0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dtproc_orig</a:t>
                      </a:r>
                      <a:r>
                        <a:rPr lang="pt-PT" sz="12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29282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Criação da parametrização via </a:t>
                      </a:r>
                      <a:r>
                        <a:rPr lang="pt-PT" sz="1200" b="0" i="1" u="none" strike="noStrike" kern="120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front</a:t>
                      </a:r>
                      <a:endParaRPr lang="pt-PT" sz="1200" b="0" i="1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940811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Re-apontar</a:t>
                      </a:r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CRC para o novo modelo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Baixar</a:t>
                      </a:r>
                      <a:r>
                        <a:rPr lang="pt-PT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a granularidade para bens ma BDR/IFRS9/Contabilidade e ALM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Ligar garantias CS com produtos </a:t>
                      </a:r>
                      <a:r>
                        <a:rPr lang="pt-PT" sz="12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Sigom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Correção de casuísticas de avaliações imóveis</a:t>
                      </a: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Mapeamento de campos de</a:t>
                      </a:r>
                      <a:r>
                        <a:rPr lang="pt-PT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informação não aprovisionada em Datalake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2094">
                <a:tc>
                  <a:txBody>
                    <a:bodyPr/>
                    <a:lstStyle/>
                    <a:p>
                      <a:pPr marL="0" algn="l" defTabSz="913751" rtl="0" eaLnBrk="1" fontAlgn="ctr" latinLnBrk="0" hangingPunct="1"/>
                      <a:r>
                        <a:rPr lang="pt-PT" sz="12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Remediar</a:t>
                      </a:r>
                      <a:r>
                        <a:rPr lang="pt-PT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lacunas ou incoerências de dados nas diversas aplicações origem</a:t>
                      </a:r>
                      <a:endParaRPr lang="pt-PT" sz="1200" b="0" i="0" u="none" strike="noStrike" kern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948" marR="5948" marT="594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vdVVqQxkyNYjDsiIlzmA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1ec8e5-5652-48eb-8550-a56a35f5f817"/>
    <ds:schemaRef ds:uri="7beef631-8f1e-4c1a-be60-1d5dcae54efd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69276AF-D99E-44CE-873F-103A40E21B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9b50dc7-8f72-473c-8b7e-4a8c46ecad32"/>
    <ds:schemaRef ds:uri="7b1ec8e5-5652-48eb-8550-a56a35f5f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4320</Words>
  <Application>Microsoft Office PowerPoint</Application>
  <PresentationFormat>Custom</PresentationFormat>
  <Paragraphs>1056</Paragraphs>
  <Slides>24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Muli </vt:lpstr>
      <vt:lpstr>Santander Headline</vt:lpstr>
      <vt:lpstr>Santander Text</vt:lpstr>
      <vt:lpstr>Times New Roman</vt:lpstr>
      <vt:lpstr>Wingdings</vt:lpstr>
      <vt:lpstr>Tema de Office</vt:lpstr>
      <vt:lpstr>1_Tema de Office</vt:lpstr>
      <vt:lpstr>2_Tema de Office</vt:lpstr>
      <vt:lpstr>Worksheet</vt:lpstr>
      <vt:lpstr>Projeto Repositório Consolidado de Garantias</vt:lpstr>
      <vt:lpstr>Plano e status do projeto </vt:lpstr>
      <vt:lpstr>1.1</vt:lpstr>
      <vt:lpstr>1.2</vt:lpstr>
      <vt:lpstr>1.2</vt:lpstr>
      <vt:lpstr>3.3</vt:lpstr>
      <vt:lpstr>1.2</vt:lpstr>
      <vt:lpstr>1.2</vt:lpstr>
      <vt:lpstr>1.2</vt:lpstr>
      <vt:lpstr>1.2</vt:lpstr>
      <vt:lpstr>1.2</vt:lpstr>
      <vt:lpstr>1.3</vt:lpstr>
      <vt:lpstr>1.3</vt:lpstr>
      <vt:lpstr>1.3</vt:lpstr>
      <vt:lpstr>1.3</vt:lpstr>
      <vt:lpstr>1.4</vt:lpstr>
      <vt:lpstr>Próximos Passos</vt:lpstr>
      <vt:lpstr>PowerPoint Presentation</vt:lpstr>
      <vt:lpstr>PowerPoint Presentation</vt:lpstr>
      <vt:lpstr>PowerPoint Presentation</vt:lpstr>
      <vt:lpstr>Anexos</vt:lpstr>
      <vt:lpstr>3.1</vt:lpstr>
      <vt:lpstr>3.2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1</cp:revision>
  <dcterms:created xsi:type="dcterms:W3CDTF">2018-03-19T11:10:43Z</dcterms:created>
  <dcterms:modified xsi:type="dcterms:W3CDTF">2024-06-18T01:13:51Z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2023-02-22T10:31:56Z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173c60c3-cb47-4784-b350-e5b95560702d</vt:lpwstr>
  </property>
  <property fmtid="{D5CDD505-2E9C-101B-9397-08002B2CF9AE}" pid="10" name="MSIP_Label_3c41c091-3cbc-4dba-8b59-ce62f19500db_ContentBits">
    <vt:lpwstr>1</vt:lpwstr>
  </property>
</Properties>
</file>