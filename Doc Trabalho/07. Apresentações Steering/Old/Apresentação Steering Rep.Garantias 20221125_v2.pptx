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  <p:sldMasterId id="2147483678" r:id="rId6"/>
  </p:sldMasterIdLst>
  <p:notesMasterIdLst>
    <p:notesMasterId r:id="rId30"/>
  </p:notesMasterIdLst>
  <p:handoutMasterIdLst>
    <p:handoutMasterId r:id="rId31"/>
  </p:handoutMasterIdLst>
  <p:sldIdLst>
    <p:sldId id="256" r:id="rId7"/>
    <p:sldId id="268" r:id="rId8"/>
    <p:sldId id="269" r:id="rId9"/>
    <p:sldId id="307" r:id="rId10"/>
    <p:sldId id="281" r:id="rId11"/>
    <p:sldId id="306" r:id="rId12"/>
    <p:sldId id="284" r:id="rId13"/>
    <p:sldId id="322" r:id="rId14"/>
    <p:sldId id="331" r:id="rId15"/>
    <p:sldId id="332" r:id="rId16"/>
    <p:sldId id="333" r:id="rId17"/>
    <p:sldId id="336" r:id="rId18"/>
    <p:sldId id="334" r:id="rId19"/>
    <p:sldId id="335" r:id="rId20"/>
    <p:sldId id="330" r:id="rId21"/>
    <p:sldId id="291" r:id="rId22"/>
    <p:sldId id="314" r:id="rId23"/>
    <p:sldId id="324" r:id="rId24"/>
    <p:sldId id="325" r:id="rId25"/>
    <p:sldId id="320" r:id="rId26"/>
    <p:sldId id="321" r:id="rId27"/>
    <p:sldId id="326" r:id="rId28"/>
    <p:sldId id="267" r:id="rId29"/>
  </p:sldIdLst>
  <p:sldSz cx="12192000" cy="7092950"/>
  <p:notesSz cx="6858000" cy="9144000"/>
  <p:defaultTextStyle>
    <a:defPPr>
      <a:defRPr lang="es-ES"/>
    </a:defPPr>
    <a:lvl1pPr marL="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47A316B-2292-4BF9-81AC-16B9DBF18C28}">
          <p14:sldIdLst>
            <p14:sldId id="256"/>
            <p14:sldId id="268"/>
            <p14:sldId id="269"/>
            <p14:sldId id="307"/>
            <p14:sldId id="281"/>
            <p14:sldId id="306"/>
            <p14:sldId id="284"/>
            <p14:sldId id="322"/>
          </p14:sldIdLst>
        </p14:section>
        <p14:section name="Untitled Section" id="{302B9EA8-A14A-459E-AD43-DB325DBEFFAF}">
          <p14:sldIdLst/>
        </p14:section>
        <p14:section name="Untitled Section" id="{E46BB9A7-573F-48DC-B429-02CEC7A84303}">
          <p14:sldIdLst>
            <p14:sldId id="331"/>
            <p14:sldId id="332"/>
            <p14:sldId id="333"/>
            <p14:sldId id="336"/>
            <p14:sldId id="334"/>
            <p14:sldId id="335"/>
            <p14:sldId id="330"/>
            <p14:sldId id="291"/>
            <p14:sldId id="314"/>
            <p14:sldId id="324"/>
            <p14:sldId id="325"/>
            <p14:sldId id="320"/>
            <p14:sldId id="321"/>
            <p14:sldId id="32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xo, Dora Silva" initials="RDS" lastIdx="27" clrIdx="0">
    <p:extLst>
      <p:ext uri="{19B8F6BF-5375-455C-9EA6-DF929625EA0E}">
        <p15:presenceInfo xmlns:p15="http://schemas.microsoft.com/office/powerpoint/2012/main" userId="S::droxo@epimetheus.pt::d97429f7-5259-4f73-a74a-65d4c655fa50" providerId="AD"/>
      </p:ext>
    </p:extLst>
  </p:cmAuthor>
  <p:cmAuthor id="2" name="Hugo Alexandre" initials="HA" lastIdx="8" clrIdx="1">
    <p:extLst>
      <p:ext uri="{19B8F6BF-5375-455C-9EA6-DF929625EA0E}">
        <p15:presenceInfo xmlns:p15="http://schemas.microsoft.com/office/powerpoint/2012/main" userId="S::hreia@epimetheus.pt::dee69c61-2ac7-4b82-bc09-1c91e89a6358" providerId="AD"/>
      </p:ext>
    </p:extLst>
  </p:cmAuthor>
  <p:cmAuthor id="3" name="Mónica Filipa Cunha Guerreiro" initials="MFCG" lastIdx="4" clrIdx="2">
    <p:extLst>
      <p:ext uri="{19B8F6BF-5375-455C-9EA6-DF929625EA0E}">
        <p15:presenceInfo xmlns:p15="http://schemas.microsoft.com/office/powerpoint/2012/main" userId="S-1-5-21-478741036-1442749419-1446792091-1914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F1E1"/>
    <a:srgbClr val="FF7575"/>
    <a:srgbClr val="C00000"/>
    <a:srgbClr val="3B3838"/>
    <a:srgbClr val="9ECFDE"/>
    <a:srgbClr val="7F7F7F"/>
    <a:srgbClr val="D9D9D9"/>
    <a:srgbClr val="13868C"/>
    <a:srgbClr val="EB0000"/>
    <a:srgbClr val="DEED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2B9395-70C9-4C33-B2CD-46A75CA98A72}" v="22" dt="2022-12-21T22:55:25.3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40" y="-844"/>
      </p:cViewPr>
      <p:guideLst>
        <p:guide orient="horz" pos="2160"/>
        <p:guide pos="3840"/>
        <p:guide orient="horz" pos="22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haryta Synchak" userId="18542655-04ec-4b42-8aad-fd81f81ee43b" providerId="ADAL" clId="{2D2B9395-70C9-4C33-B2CD-46A75CA98A72}"/>
    <pc:docChg chg="undo custSel addSld modSld sldOrd addSection delSection modSection">
      <pc:chgData name="Marharyta Synchak" userId="18542655-04ec-4b42-8aad-fd81f81ee43b" providerId="ADAL" clId="{2D2B9395-70C9-4C33-B2CD-46A75CA98A72}" dt="2022-12-21T22:55:25.366" v="1370"/>
      <pc:docMkLst>
        <pc:docMk/>
      </pc:docMkLst>
      <pc:sldChg chg="modSp mod">
        <pc:chgData name="Marharyta Synchak" userId="18542655-04ec-4b42-8aad-fd81f81ee43b" providerId="ADAL" clId="{2D2B9395-70C9-4C33-B2CD-46A75CA98A72}" dt="2022-12-21T21:35:00.154" v="29"/>
        <pc:sldMkLst>
          <pc:docMk/>
          <pc:sldMk cId="2511839246" sldId="331"/>
        </pc:sldMkLst>
        <pc:graphicFrameChg chg="mod modGraphic">
          <ac:chgData name="Marharyta Synchak" userId="18542655-04ec-4b42-8aad-fd81f81ee43b" providerId="ADAL" clId="{2D2B9395-70C9-4C33-B2CD-46A75CA98A72}" dt="2022-12-21T21:35:00.154" v="29"/>
          <ac:graphicFrameMkLst>
            <pc:docMk/>
            <pc:sldMk cId="2511839246" sldId="331"/>
            <ac:graphicFrameMk id="9" creationId="{00000000-0000-0000-0000-000000000000}"/>
          </ac:graphicFrameMkLst>
        </pc:graphicFrameChg>
      </pc:sldChg>
      <pc:sldChg chg="modSp mod">
        <pc:chgData name="Marharyta Synchak" userId="18542655-04ec-4b42-8aad-fd81f81ee43b" providerId="ADAL" clId="{2D2B9395-70C9-4C33-B2CD-46A75CA98A72}" dt="2022-12-21T21:40:36.252" v="64" actId="20577"/>
        <pc:sldMkLst>
          <pc:docMk/>
          <pc:sldMk cId="3667396156" sldId="332"/>
        </pc:sldMkLst>
        <pc:spChg chg="mod">
          <ac:chgData name="Marharyta Synchak" userId="18542655-04ec-4b42-8aad-fd81f81ee43b" providerId="ADAL" clId="{2D2B9395-70C9-4C33-B2CD-46A75CA98A72}" dt="2022-12-21T21:40:36.252" v="64" actId="20577"/>
          <ac:spMkLst>
            <pc:docMk/>
            <pc:sldMk cId="3667396156" sldId="332"/>
            <ac:spMk id="7" creationId="{6AAF56CD-ED3D-EFF2-896B-D465D8A8C9A8}"/>
          </ac:spMkLst>
        </pc:spChg>
        <pc:graphicFrameChg chg="mod modGraphic">
          <ac:chgData name="Marharyta Synchak" userId="18542655-04ec-4b42-8aad-fd81f81ee43b" providerId="ADAL" clId="{2D2B9395-70C9-4C33-B2CD-46A75CA98A72}" dt="2022-12-21T21:39:38.035" v="51" actId="207"/>
          <ac:graphicFrameMkLst>
            <pc:docMk/>
            <pc:sldMk cId="3667396156" sldId="332"/>
            <ac:graphicFrameMk id="14" creationId="{00000000-0000-0000-0000-000000000000}"/>
          </ac:graphicFrameMkLst>
        </pc:graphicFrameChg>
      </pc:sldChg>
      <pc:sldChg chg="modSp mod">
        <pc:chgData name="Marharyta Synchak" userId="18542655-04ec-4b42-8aad-fd81f81ee43b" providerId="ADAL" clId="{2D2B9395-70C9-4C33-B2CD-46A75CA98A72}" dt="2022-12-21T22:54:48.962" v="1365" actId="114"/>
        <pc:sldMkLst>
          <pc:docMk/>
          <pc:sldMk cId="3960319929" sldId="333"/>
        </pc:sldMkLst>
        <pc:spChg chg="mod">
          <ac:chgData name="Marharyta Synchak" userId="18542655-04ec-4b42-8aad-fd81f81ee43b" providerId="ADAL" clId="{2D2B9395-70C9-4C33-B2CD-46A75CA98A72}" dt="2022-12-21T22:54:48.962" v="1365" actId="114"/>
          <ac:spMkLst>
            <pc:docMk/>
            <pc:sldMk cId="3960319929" sldId="333"/>
            <ac:spMk id="2" creationId="{D9B12163-7231-98A4-752B-C91842F7088D}"/>
          </ac:spMkLst>
        </pc:spChg>
        <pc:graphicFrameChg chg="mod modGraphic">
          <ac:chgData name="Marharyta Synchak" userId="18542655-04ec-4b42-8aad-fd81f81ee43b" providerId="ADAL" clId="{2D2B9395-70C9-4C33-B2CD-46A75CA98A72}" dt="2022-12-21T22:45:35.906" v="93" actId="255"/>
          <ac:graphicFrameMkLst>
            <pc:docMk/>
            <pc:sldMk cId="3960319929" sldId="333"/>
            <ac:graphicFrameMk id="20" creationId="{3DBE921F-5189-2684-9605-7881F2DD0E5E}"/>
          </ac:graphicFrameMkLst>
        </pc:graphicFrameChg>
      </pc:sldChg>
      <pc:sldChg chg="addSp delSp modSp new mod ord">
        <pc:chgData name="Marharyta Synchak" userId="18542655-04ec-4b42-8aad-fd81f81ee43b" providerId="ADAL" clId="{2D2B9395-70C9-4C33-B2CD-46A75CA98A72}" dt="2022-12-21T22:55:25.366" v="1370"/>
        <pc:sldMkLst>
          <pc:docMk/>
          <pc:sldMk cId="2971637634" sldId="336"/>
        </pc:sldMkLst>
        <pc:spChg chg="del">
          <ac:chgData name="Marharyta Synchak" userId="18542655-04ec-4b42-8aad-fd81f81ee43b" providerId="ADAL" clId="{2D2B9395-70C9-4C33-B2CD-46A75CA98A72}" dt="2022-12-21T21:27:27.798" v="9" actId="478"/>
          <ac:spMkLst>
            <pc:docMk/>
            <pc:sldMk cId="2971637634" sldId="336"/>
            <ac:spMk id="2" creationId="{E31C24E1-FB85-40F6-BD8B-CFAE32770014}"/>
          </ac:spMkLst>
        </pc:spChg>
        <pc:spChg chg="del">
          <ac:chgData name="Marharyta Synchak" userId="18542655-04ec-4b42-8aad-fd81f81ee43b" providerId="ADAL" clId="{2D2B9395-70C9-4C33-B2CD-46A75CA98A72}" dt="2022-12-21T21:27:27.798" v="9" actId="478"/>
          <ac:spMkLst>
            <pc:docMk/>
            <pc:sldMk cId="2971637634" sldId="336"/>
            <ac:spMk id="4" creationId="{AAABC7F8-491F-47DF-9ECD-3E25439D4875}"/>
          </ac:spMkLst>
        </pc:spChg>
        <pc:spChg chg="del">
          <ac:chgData name="Marharyta Synchak" userId="18542655-04ec-4b42-8aad-fd81f81ee43b" providerId="ADAL" clId="{2D2B9395-70C9-4C33-B2CD-46A75CA98A72}" dt="2022-12-21T21:27:27.798" v="9" actId="478"/>
          <ac:spMkLst>
            <pc:docMk/>
            <pc:sldMk cId="2971637634" sldId="336"/>
            <ac:spMk id="5" creationId="{AB8AA961-8134-4CAB-8213-F524F9EC3DCC}"/>
          </ac:spMkLst>
        </pc:spChg>
        <pc:graphicFrameChg chg="add del mod modGraphic">
          <ac:chgData name="Marharyta Synchak" userId="18542655-04ec-4b42-8aad-fd81f81ee43b" providerId="ADAL" clId="{2D2B9395-70C9-4C33-B2CD-46A75CA98A72}" dt="2022-12-21T21:35:20.251" v="30" actId="478"/>
          <ac:graphicFrameMkLst>
            <pc:docMk/>
            <pc:sldMk cId="2971637634" sldId="336"/>
            <ac:graphicFrameMk id="6" creationId="{2C5295F9-1408-4586-A181-81A36073405D}"/>
          </ac:graphicFrameMkLst>
        </pc:graphicFrameChg>
        <pc:graphicFrameChg chg="add del mod modGraphic">
          <ac:chgData name="Marharyta Synchak" userId="18542655-04ec-4b42-8aad-fd81f81ee43b" providerId="ADAL" clId="{2D2B9395-70C9-4C33-B2CD-46A75CA98A72}" dt="2022-12-21T21:42:26.128" v="67" actId="478"/>
          <ac:graphicFrameMkLst>
            <pc:docMk/>
            <pc:sldMk cId="2971637634" sldId="336"/>
            <ac:graphicFrameMk id="7" creationId="{ADD067CF-F4F8-41AE-BA0A-4AA06CED5DFE}"/>
          </ac:graphicFrameMkLst>
        </pc:graphicFrameChg>
        <pc:graphicFrameChg chg="add del mod modGraphic">
          <ac:chgData name="Marharyta Synchak" userId="18542655-04ec-4b42-8aad-fd81f81ee43b" providerId="ADAL" clId="{2D2B9395-70C9-4C33-B2CD-46A75CA98A72}" dt="2022-12-21T22:55:24.217" v="1369" actId="478"/>
          <ac:graphicFrameMkLst>
            <pc:docMk/>
            <pc:sldMk cId="2971637634" sldId="336"/>
            <ac:graphicFrameMk id="8" creationId="{8F1CF612-51EC-448C-8408-7570C95F0D4B}"/>
          </ac:graphicFrameMkLst>
        </pc:graphicFrameChg>
        <pc:graphicFrameChg chg="add mod">
          <ac:chgData name="Marharyta Synchak" userId="18542655-04ec-4b42-8aad-fd81f81ee43b" providerId="ADAL" clId="{2D2B9395-70C9-4C33-B2CD-46A75CA98A72}" dt="2022-12-21T22:55:25.366" v="1370"/>
          <ac:graphicFrameMkLst>
            <pc:docMk/>
            <pc:sldMk cId="2971637634" sldId="336"/>
            <ac:graphicFrameMk id="9" creationId="{C9BD9C71-3485-4DF5-ABFB-008415C21D29}"/>
          </ac:graphicFrameMkLst>
        </pc:graphicFrameChg>
      </pc:sldChg>
    </pc:docChg>
  </pc:docChgLst>
  <pc:docChgLst>
    <pc:chgData name="Nádia Genebra Ahmad" userId="36126275-cace-419f-8e9b-04679c4f8ea6" providerId="ADAL" clId="{410B7325-C95E-4A97-8B82-3B32443F72F6}"/>
    <pc:docChg chg="undo custSel modSld">
      <pc:chgData name="Nádia Genebra Ahmad" userId="36126275-cace-419f-8e9b-04679c4f8ea6" providerId="ADAL" clId="{410B7325-C95E-4A97-8B82-3B32443F72F6}" dt="2022-11-25T14:55:24.036" v="346" actId="20577"/>
      <pc:docMkLst>
        <pc:docMk/>
      </pc:docMkLst>
      <pc:sldChg chg="modSp mod">
        <pc:chgData name="Nádia Genebra Ahmad" userId="36126275-cace-419f-8e9b-04679c4f8ea6" providerId="ADAL" clId="{410B7325-C95E-4A97-8B82-3B32443F72F6}" dt="2022-11-25T14:55:24.036" v="346" actId="20577"/>
        <pc:sldMkLst>
          <pc:docMk/>
          <pc:sldMk cId="2511839246" sldId="331"/>
        </pc:sldMkLst>
        <pc:spChg chg="mod">
          <ac:chgData name="Nádia Genebra Ahmad" userId="36126275-cace-419f-8e9b-04679c4f8ea6" providerId="ADAL" clId="{410B7325-C95E-4A97-8B82-3B32443F72F6}" dt="2022-11-25T14:50:28.847" v="345" actId="1036"/>
          <ac:spMkLst>
            <pc:docMk/>
            <pc:sldMk cId="2511839246" sldId="331"/>
            <ac:spMk id="12" creationId="{00000000-0000-0000-0000-000000000000}"/>
          </ac:spMkLst>
        </pc:spChg>
        <pc:graphicFrameChg chg="mod modGraphic">
          <ac:chgData name="Nádia Genebra Ahmad" userId="36126275-cace-419f-8e9b-04679c4f8ea6" providerId="ADAL" clId="{410B7325-C95E-4A97-8B82-3B32443F72F6}" dt="2022-11-25T14:55:24.036" v="346" actId="20577"/>
          <ac:graphicFrameMkLst>
            <pc:docMk/>
            <pc:sldMk cId="2511839246" sldId="331"/>
            <ac:graphicFrameMk id="8" creationId="{DF17E78E-41EA-4899-8FEE-94E9E4145CC9}"/>
          </ac:graphicFrameMkLst>
        </pc:graphicFrameChg>
        <pc:graphicFrameChg chg="mod">
          <ac:chgData name="Nádia Genebra Ahmad" userId="36126275-cace-419f-8e9b-04679c4f8ea6" providerId="ADAL" clId="{410B7325-C95E-4A97-8B82-3B32443F72F6}" dt="2022-11-25T14:50:22.749" v="324" actId="1036"/>
          <ac:graphicFrameMkLst>
            <pc:docMk/>
            <pc:sldMk cId="2511839246" sldId="331"/>
            <ac:graphicFrameMk id="9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21/12/2022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21/12/2022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1143000"/>
            <a:ext cx="530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76288" y="1143000"/>
            <a:ext cx="53054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48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7725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6913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9983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6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6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6876" indent="0" algn="ctr">
              <a:buNone/>
              <a:defRPr sz="2000"/>
            </a:lvl2pPr>
            <a:lvl3pPr marL="913751" indent="0" algn="ctr">
              <a:buNone/>
              <a:defRPr sz="1800"/>
            </a:lvl3pPr>
            <a:lvl4pPr marL="1370624" indent="0" algn="ctr">
              <a:buNone/>
              <a:defRPr sz="1600"/>
            </a:lvl4pPr>
            <a:lvl5pPr marL="1827498" indent="0" algn="ctr">
              <a:buNone/>
              <a:defRPr sz="1600"/>
            </a:lvl5pPr>
            <a:lvl6pPr marL="2284377" indent="0" algn="ctr">
              <a:buNone/>
              <a:defRPr sz="1600"/>
            </a:lvl6pPr>
            <a:lvl7pPr marL="2741250" indent="0" algn="ctr">
              <a:buNone/>
              <a:defRPr sz="1600"/>
            </a:lvl7pPr>
            <a:lvl8pPr marL="3198124" indent="0" algn="ctr">
              <a:buNone/>
              <a:defRPr sz="1600"/>
            </a:lvl8pPr>
            <a:lvl9pPr marL="365499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5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6876" indent="0">
              <a:buNone/>
              <a:defRPr sz="1300">
                <a:solidFill>
                  <a:schemeClr val="tx2"/>
                </a:solidFill>
              </a:defRPr>
            </a:lvl2pPr>
            <a:lvl3pPr marL="913751" indent="0">
              <a:buNone/>
              <a:defRPr sz="1300">
                <a:solidFill>
                  <a:schemeClr val="tx2"/>
                </a:solidFill>
              </a:defRPr>
            </a:lvl3pPr>
            <a:lvl4pPr marL="1370624" indent="0">
              <a:buNone/>
              <a:defRPr sz="1300">
                <a:solidFill>
                  <a:schemeClr val="tx2"/>
                </a:solidFill>
              </a:defRPr>
            </a:lvl4pPr>
            <a:lvl5pPr marL="182749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1"/>
            <a:ext cx="1849821" cy="292319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692" indent="-395719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9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8" y="3199548"/>
            <a:ext cx="10758733" cy="3189036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0" y="1124721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1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9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5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9" y="1232635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2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9"/>
            <a:ext cx="3365479" cy="1292593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pt-PT" sz="13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300">
              <a:solidFill>
                <a:schemeClr val="tx2"/>
              </a:solidFill>
            </a:endParaRPr>
          </a:p>
          <a:p>
            <a:r>
              <a:rPr lang="pt-PT" sz="1300">
                <a:solidFill>
                  <a:schemeClr val="tx2"/>
                </a:solidFill>
              </a:rPr>
              <a:t>A nossa cultura baseia-se no princípio</a:t>
            </a:r>
            <a:r>
              <a:rPr lang="pt-PT" sz="1300" baseline="0">
                <a:solidFill>
                  <a:schemeClr val="tx2"/>
                </a:solidFill>
              </a:rPr>
              <a:t> </a:t>
            </a:r>
            <a:r>
              <a:rPr lang="pt-PT" sz="1300">
                <a:solidFill>
                  <a:schemeClr val="tx2"/>
                </a:solidFill>
              </a:rPr>
              <a:t>de que tudo</a:t>
            </a:r>
            <a:r>
              <a:rPr lang="pt-PT" sz="1300" baseline="0">
                <a:solidFill>
                  <a:schemeClr val="tx2"/>
                </a:solidFill>
              </a:rPr>
              <a:t> o </a:t>
            </a:r>
            <a:r>
              <a:rPr lang="pt-PT" sz="13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1" y="649714"/>
            <a:ext cx="3365479" cy="732138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4000" err="1">
                <a:solidFill>
                  <a:schemeClr val="accent1"/>
                </a:solidFill>
              </a:rPr>
              <a:t>Obrigado</a:t>
            </a:r>
            <a:r>
              <a:rPr lang="es-ES" sz="40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8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3279342"/>
              </p:ext>
            </p:extLst>
          </p:nvPr>
        </p:nvGraphicFramePr>
        <p:xfrm>
          <a:off x="1589" y="1643"/>
          <a:ext cx="1587" cy="1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70" imgH="270" progId="TCLayout.ActiveDocument.1">
                  <p:embed/>
                </p:oleObj>
              </mc:Choice>
              <mc:Fallback>
                <p:oleObj name="Diapositiva de think-cell" r:id="rId3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643"/>
                        <a:ext cx="1587" cy="16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13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642" y="6476869"/>
            <a:ext cx="1172108" cy="212585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48649"/>
            <a:ext cx="10758734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6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940589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8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815400"/>
            <a:ext cx="4934309" cy="251992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15"/>
              </a:spcAft>
              <a:buNone/>
              <a:defRPr sz="2000">
                <a:solidFill>
                  <a:schemeClr val="tx2"/>
                </a:solidFill>
              </a:defRPr>
            </a:lvl1pPr>
            <a:lvl2pPr marL="462483" indent="0" algn="ctr">
              <a:buNone/>
              <a:defRPr sz="2000"/>
            </a:lvl2pPr>
            <a:lvl3pPr marL="924967" indent="0" algn="ctr">
              <a:buNone/>
              <a:defRPr sz="1800"/>
            </a:lvl3pPr>
            <a:lvl4pPr marL="1387450" indent="0" algn="ctr">
              <a:buNone/>
              <a:defRPr sz="1600"/>
            </a:lvl4pPr>
            <a:lvl5pPr marL="1849933" indent="0" algn="ctr">
              <a:buNone/>
              <a:defRPr sz="1600"/>
            </a:lvl5pPr>
            <a:lvl6pPr marL="2312414" indent="0" algn="ctr">
              <a:buNone/>
              <a:defRPr sz="1600"/>
            </a:lvl6pPr>
            <a:lvl7pPr marL="2774901" indent="0" algn="ctr">
              <a:buNone/>
              <a:defRPr sz="1600"/>
            </a:lvl7pPr>
            <a:lvl8pPr marL="3237382" indent="0" algn="ctr">
              <a:buNone/>
              <a:defRPr sz="1600"/>
            </a:lvl8pPr>
            <a:lvl9pPr marL="3699865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7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62483" indent="0">
              <a:buNone/>
              <a:defRPr sz="1300">
                <a:solidFill>
                  <a:schemeClr val="tx2"/>
                </a:solidFill>
              </a:defRPr>
            </a:lvl2pPr>
            <a:lvl3pPr marL="924967" indent="0">
              <a:buNone/>
              <a:defRPr sz="1300">
                <a:solidFill>
                  <a:schemeClr val="tx2"/>
                </a:solidFill>
              </a:defRPr>
            </a:lvl3pPr>
            <a:lvl4pPr marL="1387450" indent="0">
              <a:buNone/>
              <a:defRPr sz="1300">
                <a:solidFill>
                  <a:schemeClr val="tx2"/>
                </a:solidFill>
              </a:defRPr>
            </a:lvl4pPr>
            <a:lvl5pPr marL="184993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7236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2"/>
            <a:ext cx="1849821" cy="324591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6992" indent="-400577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86714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7125" y="82637"/>
            <a:ext cx="10515600" cy="721375"/>
          </a:xfrm>
        </p:spPr>
        <p:txBody>
          <a:bodyPr vert="horz" lIns="123329" tIns="61666" rIns="123329" bIns="61666" rtlCol="0" anchor="t">
            <a:noAutofit/>
          </a:bodyPr>
          <a:lstStyle>
            <a:lvl1pPr>
              <a:defRPr lang="pt-PT"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11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7127" y="1124713"/>
            <a:ext cx="10903849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185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80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4000">
                <a:solidFill>
                  <a:schemeClr val="tx1"/>
                </a:solidFill>
              </a:defRPr>
            </a:lvl2pPr>
            <a:lvl3pPr>
              <a:defRPr sz="11600">
                <a:solidFill>
                  <a:schemeClr val="tx1"/>
                </a:solidFill>
              </a:defRPr>
            </a:lvl3pPr>
            <a:lvl4pPr>
              <a:defRPr sz="9700">
                <a:solidFill>
                  <a:schemeClr val="tx1"/>
                </a:solidFill>
              </a:defRPr>
            </a:lvl4pPr>
            <a:lvl5pPr>
              <a:defRPr sz="97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093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90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199548"/>
            <a:ext cx="10758733" cy="3189036"/>
          </a:xfrm>
        </p:spPr>
        <p:txBody>
          <a:bodyPr numCol="2" spcCol="97109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5078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4866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1" y="1124722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3" y="1124694"/>
            <a:ext cx="6683551" cy="529836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69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91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3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6419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0" y="1232631"/>
            <a:ext cx="6456737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3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9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83"/>
            <a:ext cx="1347483" cy="47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10"/>
            <a:ext cx="3365479" cy="1324865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1233288"/>
            <a:endParaRPr lang="pt-PT" sz="1300">
              <a:solidFill>
                <a:srgbClr val="6E7678"/>
              </a:solidFill>
            </a:endParaRPr>
          </a:p>
          <a:p>
            <a:pPr defTabSz="1233288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3" y="649715"/>
            <a:ext cx="3365479" cy="763970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6" y="3576683"/>
            <a:ext cx="3046637" cy="3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2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1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2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135" indent="0" algn="ctr">
              <a:buNone/>
              <a:defRPr sz="2000"/>
            </a:lvl2pPr>
            <a:lvl3pPr marL="914271" indent="0" algn="ctr">
              <a:buNone/>
              <a:defRPr sz="1800"/>
            </a:lvl3pPr>
            <a:lvl4pPr marL="1371405" indent="0" algn="ctr">
              <a:buNone/>
              <a:defRPr sz="1600"/>
            </a:lvl4pPr>
            <a:lvl5pPr marL="1828540" indent="0" algn="ctr">
              <a:buNone/>
              <a:defRPr sz="1600"/>
            </a:lvl5pPr>
            <a:lvl6pPr marL="2285675" indent="0" algn="ctr">
              <a:buNone/>
              <a:defRPr sz="1600"/>
            </a:lvl6pPr>
            <a:lvl7pPr marL="2742810" indent="0" algn="ctr">
              <a:buNone/>
              <a:defRPr sz="1600"/>
            </a:lvl7pPr>
            <a:lvl8pPr marL="3199944" indent="0" algn="ctr">
              <a:buNone/>
              <a:defRPr sz="1600"/>
            </a:lvl8pPr>
            <a:lvl9pPr marL="365708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19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1" y="5409097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7" tIns="45713" rIns="91427" bIns="457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135" indent="0">
              <a:buNone/>
              <a:defRPr sz="1300">
                <a:solidFill>
                  <a:schemeClr val="tx2"/>
                </a:solidFill>
              </a:defRPr>
            </a:lvl2pPr>
            <a:lvl3pPr marL="914271" indent="0">
              <a:buNone/>
              <a:defRPr sz="1300">
                <a:solidFill>
                  <a:schemeClr val="tx2"/>
                </a:solidFill>
              </a:defRPr>
            </a:lvl3pPr>
            <a:lvl4pPr marL="1371405" indent="0">
              <a:buNone/>
              <a:defRPr sz="1300">
                <a:solidFill>
                  <a:schemeClr val="tx2"/>
                </a:solidFill>
              </a:defRPr>
            </a:lvl4pPr>
            <a:lvl5pPr marL="182854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64238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67"/>
            <a:ext cx="1849821" cy="292374"/>
          </a:xfrm>
          <a:prstGeom prst="rect">
            <a:avLst/>
          </a:prstGeom>
          <a:noFill/>
        </p:spPr>
        <p:txBody>
          <a:bodyPr wrap="square" lIns="91427" tIns="45713" rIns="91427" bIns="45713" rtlCol="0">
            <a:spAutoFit/>
          </a:bodyPr>
          <a:lstStyle/>
          <a:p>
            <a:pPr defTabSz="914271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939" indent="-395944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28105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1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7" tIns="45713" rIns="91427" bIns="457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3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84099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15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7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902793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6" y="3199547"/>
            <a:ext cx="10758733" cy="3189036"/>
          </a:xfrm>
        </p:spPr>
        <p:txBody>
          <a:bodyPr numCol="2" spcCol="719898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73606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3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4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0797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5" y="1124715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6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6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002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6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4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6037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6" y="1232634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4" y="1232634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3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397" y="3811311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3" rIns="91427" bIns="45713" rtlCol="0" anchor="ctr"/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46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097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3" rIns="91427" bIns="45713" rtlCol="0" anchor="ctr"/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19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6"/>
            <a:ext cx="3365479" cy="1292647"/>
          </a:xfrm>
          <a:prstGeom prst="rect">
            <a:avLst/>
          </a:prstGeom>
          <a:noFill/>
        </p:spPr>
        <p:txBody>
          <a:bodyPr wrap="square" lIns="91427" tIns="45713" rIns="91427" bIns="45713" rtlCol="0">
            <a:spAutoFit/>
          </a:bodyPr>
          <a:lstStyle/>
          <a:p>
            <a:pPr defTabSz="914271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914271"/>
            <a:endParaRPr lang="pt-PT" sz="1300">
              <a:solidFill>
                <a:srgbClr val="6E7678"/>
              </a:solidFill>
            </a:endParaRPr>
          </a:p>
          <a:p>
            <a:pPr defTabSz="914271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49714"/>
            <a:ext cx="3365479" cy="732138"/>
          </a:xfrm>
          <a:prstGeom prst="rect">
            <a:avLst/>
          </a:prstGeom>
          <a:noFill/>
        </p:spPr>
        <p:txBody>
          <a:bodyPr wrap="square" lIns="91427" tIns="45713" rIns="91427" bIns="45713" rtlCol="0">
            <a:spAutoFit/>
          </a:bodyPr>
          <a:lstStyle/>
          <a:p>
            <a:pPr defTabSz="914271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1" y="5409097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7" tIns="45713" rIns="91427" bIns="457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3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915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89" r:id="rId11"/>
  </p:sldLayoutIdLst>
  <p:hf hdr="0" dt="0"/>
  <p:txStyles>
    <p:titleStyle>
      <a:lvl1pPr algn="l" defTabSz="91375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38" indent="-228438" algn="l" defTabSz="91375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31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189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061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93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12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68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56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38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76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51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4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377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5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9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123329" tIns="61666" rIns="123329" bIns="6166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70"/>
            <a:ext cx="10515600" cy="4500412"/>
          </a:xfrm>
          <a:prstGeom prst="rect">
            <a:avLst/>
          </a:prstGeom>
        </p:spPr>
        <p:txBody>
          <a:bodyPr vert="horz" lIns="123329" tIns="61666" rIns="123329" bIns="6166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233288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30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924967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243" indent="-231243" algn="l" defTabSz="924967" rtl="0" eaLnBrk="1" latinLnBrk="0" hangingPunct="1">
        <a:lnSpc>
          <a:spcPct val="90000"/>
        </a:lnSpc>
        <a:spcBef>
          <a:spcPts val="101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3726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207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69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1174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658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06140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62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31105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8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4967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45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93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414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901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7382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865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427" tIns="45713" rIns="91427" bIns="45713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427" tIns="45713" rIns="91427" bIns="45713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71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71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71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914271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439044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</p:sldLayoutIdLst>
  <p:hf hdr="0" dt="0"/>
  <p:txStyles>
    <p:titleStyle>
      <a:lvl1pPr algn="l" defTabSz="91427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68" indent="-228568" algn="l" defTabSz="91427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3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3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72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0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43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7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12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4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1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4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1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44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8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slideLayout" Target="../slideLayouts/slideLayout5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748" y="1546412"/>
            <a:ext cx="11340264" cy="645459"/>
          </a:xfrm>
        </p:spPr>
        <p:txBody>
          <a:bodyPr>
            <a:normAutofit/>
          </a:bodyPr>
          <a:lstStyle/>
          <a:p>
            <a:r>
              <a:rPr lang="es-ES" dirty="0" err="1"/>
              <a:t>Projeto</a:t>
            </a:r>
            <a:r>
              <a:rPr lang="es-ES" dirty="0"/>
              <a:t> </a:t>
            </a:r>
            <a:r>
              <a:rPr lang="es-ES" dirty="0" err="1"/>
              <a:t>Repositório</a:t>
            </a:r>
            <a:r>
              <a:rPr lang="es-ES" dirty="0"/>
              <a:t> Consolidado de </a:t>
            </a:r>
            <a:r>
              <a:rPr lang="es-ES" dirty="0" err="1"/>
              <a:t>Garantias</a:t>
            </a:r>
            <a:endParaRPr lang="es-ES" dirty="0"/>
          </a:p>
        </p:txBody>
      </p:sp>
      <p:sp>
        <p:nvSpPr>
          <p:cNvPr id="5" name="CuadroTexto 7"/>
          <p:cNvSpPr txBox="1"/>
          <p:nvPr/>
        </p:nvSpPr>
        <p:spPr>
          <a:xfrm>
            <a:off x="5031441" y="365329"/>
            <a:ext cx="68557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Para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conhecimento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   </a:t>
            </a:r>
          </a:p>
        </p:txBody>
      </p:sp>
      <p:sp>
        <p:nvSpPr>
          <p:cNvPr id="8" name="CuadroTexto 11"/>
          <p:cNvSpPr txBox="1"/>
          <p:nvPr/>
        </p:nvSpPr>
        <p:spPr>
          <a:xfrm>
            <a:off x="928689" y="815696"/>
            <a:ext cx="1095851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Confidencial</a:t>
            </a:r>
            <a:endParaRPr lang="en-US" sz="13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189" y="2680456"/>
            <a:ext cx="9964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PT" sz="2000" dirty="0">
                <a:solidFill>
                  <a:schemeClr val="tx2"/>
                </a:solidFill>
              </a:rPr>
              <a:t>25 de Novembro de 2022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65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D7B61F-31A8-4435-8741-CD328CABF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5506" y="1137933"/>
            <a:ext cx="10635843" cy="2492921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s-ES" sz="2400" dirty="0" err="1"/>
              <a:t>Sumário</a:t>
            </a:r>
            <a:r>
              <a:rPr lang="es-ES" sz="2400" dirty="0"/>
              <a:t> Executivo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pt-BR" sz="2400" dirty="0"/>
              <a:t>Repositório Consolidado de Garantias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pt-BR" sz="2400" dirty="0"/>
              <a:t>Plano e </a:t>
            </a:r>
            <a:r>
              <a:rPr lang="pt-BR" sz="2400" i="1" dirty="0"/>
              <a:t>status</a:t>
            </a:r>
            <a:r>
              <a:rPr lang="pt-BR" sz="2400" dirty="0"/>
              <a:t> do projeto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s-ES" sz="2400" dirty="0" err="1"/>
              <a:t>Principais</a:t>
            </a:r>
            <a:r>
              <a:rPr lang="es-ES" sz="2400" dirty="0"/>
              <a:t> </a:t>
            </a:r>
            <a:r>
              <a:rPr lang="es-ES" sz="2400" i="1" dirty="0" err="1"/>
              <a:t>issues</a:t>
            </a:r>
            <a:endParaRPr lang="es-ES" sz="2400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079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7068" y="338620"/>
            <a:ext cx="10758734" cy="315242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err="1"/>
              <a:t>Sumário</a:t>
            </a:r>
            <a:r>
              <a:rPr lang="en-US" sz="2000"/>
              <a:t> </a:t>
            </a:r>
            <a:r>
              <a:rPr lang="en-US" sz="2000" err="1"/>
              <a:t>Executivo</a:t>
            </a:r>
            <a:endParaRPr lang="en-US" sz="2000"/>
          </a:p>
        </p:txBody>
      </p:sp>
      <p:sp>
        <p:nvSpPr>
          <p:cNvPr id="10" name="Rectangle 17"/>
          <p:cNvSpPr/>
          <p:nvPr/>
        </p:nvSpPr>
        <p:spPr bwMode="auto">
          <a:xfrm>
            <a:off x="372801" y="1049267"/>
            <a:ext cx="1470900" cy="720000"/>
          </a:xfrm>
          <a:prstGeom prst="rect">
            <a:avLst/>
          </a:prstGeom>
          <a:solidFill>
            <a:schemeClr val="accent1"/>
          </a:solidFill>
          <a:ln w="19050">
            <a:noFill/>
            <a:headEnd/>
            <a:tailEnd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 err="1"/>
              <a:t>Finalidade</a:t>
            </a:r>
            <a:endParaRPr lang="en-US" sz="1200" dirty="0"/>
          </a:p>
        </p:txBody>
      </p:sp>
      <p:sp>
        <p:nvSpPr>
          <p:cNvPr id="12" name="Rectangle 17"/>
          <p:cNvSpPr/>
          <p:nvPr/>
        </p:nvSpPr>
        <p:spPr bwMode="auto">
          <a:xfrm>
            <a:off x="377068" y="2609292"/>
            <a:ext cx="1470900" cy="720000"/>
          </a:xfrm>
          <a:prstGeom prst="rect">
            <a:avLst/>
          </a:prstGeom>
          <a:solidFill>
            <a:schemeClr val="accent1"/>
          </a:solidFill>
          <a:ln w="19050">
            <a:noFill/>
            <a:headEnd/>
            <a:tailEnd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 err="1"/>
              <a:t>Pontos</a:t>
            </a:r>
            <a:r>
              <a:rPr lang="en-US" sz="1200" dirty="0"/>
              <a:t> </a:t>
            </a:r>
            <a:r>
              <a:rPr lang="en-US" sz="1200" dirty="0" err="1"/>
              <a:t>chave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1893703" y="1270768"/>
            <a:ext cx="98862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lvl="1" indent="-179388"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pt-PT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Fazer um ponto de situação da evolução do Projeto de implementação do repositório consolidado de garantias.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1893702" y="2609292"/>
            <a:ext cx="9242100" cy="774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lvl="1" indent="-179388"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pt-PT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Este projeto decorre de um </a:t>
            </a:r>
            <a:r>
              <a:rPr lang="pt-PT" sz="12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fiding</a:t>
            </a:r>
            <a:r>
              <a:rPr lang="pt-PT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OSI </a:t>
            </a:r>
            <a:r>
              <a:rPr lang="pt-PT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do Banco </a:t>
            </a:r>
            <a:r>
              <a:rPr lang="pt-PT" sz="1200">
                <a:solidFill>
                  <a:schemeClr val="tx1">
                    <a:lumMod val="75000"/>
                    <a:lumOff val="25000"/>
                  </a:schemeClr>
                </a:solidFill>
              </a:rPr>
              <a:t>Central Europeu. </a:t>
            </a:r>
            <a:endParaRPr lang="pt-PT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9388" lvl="1" indent="-179388"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pt-PT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Verifica-se um atraso médio no projeto, decorrente da elevada complexidade do modelo de dados dos sistemas core do banco que suporta a informação não consolidada das garantias.</a:t>
            </a:r>
          </a:p>
        </p:txBody>
      </p:sp>
      <p:sp>
        <p:nvSpPr>
          <p:cNvPr id="20" name="Rectangle 17"/>
          <p:cNvSpPr/>
          <p:nvPr/>
        </p:nvSpPr>
        <p:spPr bwMode="auto">
          <a:xfrm>
            <a:off x="368534" y="4169317"/>
            <a:ext cx="1470900" cy="720000"/>
          </a:xfrm>
          <a:prstGeom prst="rect">
            <a:avLst/>
          </a:prstGeom>
          <a:solidFill>
            <a:schemeClr val="accent1"/>
          </a:solidFill>
          <a:ln w="19050">
            <a:noFill/>
            <a:headEnd/>
            <a:tailEnd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 err="1"/>
              <a:t>Planos</a:t>
            </a:r>
            <a:r>
              <a:rPr lang="en-US" sz="1200" dirty="0"/>
              <a:t> de </a:t>
            </a:r>
            <a:r>
              <a:rPr lang="en-US" sz="1200" dirty="0" err="1"/>
              <a:t>Ação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21" name="Rectángulo 20"/>
          <p:cNvSpPr/>
          <p:nvPr/>
        </p:nvSpPr>
        <p:spPr>
          <a:xfrm>
            <a:off x="1893702" y="4332723"/>
            <a:ext cx="9886296" cy="774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lvl="1" indent="-179388"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pt-PT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Plano de acordo com o detalhado na apresentação.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0188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8" y="647833"/>
            <a:ext cx="5353162" cy="2950470"/>
          </a:xfrm>
        </p:spPr>
        <p:txBody>
          <a:bodyPr>
            <a:normAutofit fontScale="90000"/>
          </a:bodyPr>
          <a:lstStyle/>
          <a:p>
            <a:r>
              <a:rPr lang="pt-PT" sz="4000" dirty="0"/>
              <a:t>Repositório Consolidado de Garantias – </a:t>
            </a:r>
            <a:r>
              <a:rPr lang="pt-PT" sz="4000" i="1" dirty="0" err="1"/>
              <a:t>Finding</a:t>
            </a:r>
            <a:r>
              <a:rPr lang="pt-PT" sz="4000" i="1" dirty="0"/>
              <a:t> de OSI do Banco Central Europeu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48791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2. </a:t>
            </a:r>
            <a:r>
              <a:rPr lang="pt-PT" sz="2000" dirty="0"/>
              <a:t>Repositório Consolidado de Garantias – </a:t>
            </a:r>
            <a:r>
              <a:rPr lang="pt-PT" sz="2000" i="1" dirty="0" err="1"/>
              <a:t>Finding</a:t>
            </a:r>
            <a:r>
              <a:rPr lang="pt-PT" sz="2000" i="1" dirty="0"/>
              <a:t> de OSI do Banco Central Europeu</a:t>
            </a:r>
            <a:r>
              <a:rPr lang="pt-PT" sz="2000" dirty="0"/>
              <a:t> </a:t>
            </a:r>
          </a:p>
          <a:p>
            <a:endParaRPr lang="es-ES" sz="2000" dirty="0">
              <a:solidFill>
                <a:srgbClr val="FF0000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D2C8747-16CC-46F7-8AC4-664E9B00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86AB67-257B-4A72-BCFC-E86455F3F0AC}"/>
              </a:ext>
            </a:extLst>
          </p:cNvPr>
          <p:cNvSpPr txBox="1"/>
          <p:nvPr/>
        </p:nvSpPr>
        <p:spPr>
          <a:xfrm>
            <a:off x="547532" y="792666"/>
            <a:ext cx="107587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/>
              <a:t>O projeto do repositório consolidado de garantias surgiu de um </a:t>
            </a:r>
            <a:r>
              <a:rPr lang="pt-PT" i="1" dirty="0" err="1"/>
              <a:t>finding</a:t>
            </a:r>
            <a:r>
              <a:rPr lang="pt-PT" i="1" dirty="0"/>
              <a:t> </a:t>
            </a:r>
            <a:r>
              <a:rPr lang="pt-PT" dirty="0"/>
              <a:t>de OSI do Banco Central Europeu. Tem como objetivo a </a:t>
            </a:r>
            <a:r>
              <a:rPr lang="pt-PT" b="1" dirty="0"/>
              <a:t>consolidação da informação de garantias dos vários sistemas fonte do Banco </a:t>
            </a:r>
            <a:r>
              <a:rPr lang="pt-PT" dirty="0"/>
              <a:t>para posterior reporte pelas diversas áreas que consomem esta informação.</a:t>
            </a:r>
          </a:p>
        </p:txBody>
      </p:sp>
    </p:spTree>
    <p:extLst>
      <p:ext uri="{BB962C8B-B14F-4D97-AF65-F5344CB8AC3E}">
        <p14:creationId xmlns:p14="http://schemas.microsoft.com/office/powerpoint/2010/main" val="419806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Plano e </a:t>
            </a:r>
            <a:r>
              <a:rPr lang="pt-PT" i="1"/>
              <a:t>status</a:t>
            </a:r>
            <a:r>
              <a:rPr lang="pt-PT"/>
              <a:t> do projeto</a:t>
            </a:r>
            <a:br>
              <a:rPr lang="pt-PT"/>
            </a:b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215426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0285957" y="2624624"/>
            <a:ext cx="197635" cy="2493762"/>
            <a:chOff x="10285957" y="2624624"/>
            <a:chExt cx="197635" cy="2493762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10292618" y="2741318"/>
              <a:ext cx="0" cy="2377068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rgbClr val="FFC000"/>
              </a:solidFill>
              <a:prstDash val="lgDash"/>
              <a:miter lim="800000"/>
            </a:ln>
            <a:effectLst/>
          </p:spPr>
        </p:cxnSp>
        <p:sp>
          <p:nvSpPr>
            <p:cNvPr id="6" name="Wave 5"/>
            <p:cNvSpPr/>
            <p:nvPr/>
          </p:nvSpPr>
          <p:spPr>
            <a:xfrm>
              <a:off x="10285957" y="2624624"/>
              <a:ext cx="197635" cy="186544"/>
            </a:xfrm>
            <a:prstGeom prst="wav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9339557" y="2742632"/>
            <a:ext cx="144000" cy="1764688"/>
            <a:chOff x="9037991" y="1851157"/>
            <a:chExt cx="144000" cy="1610836"/>
          </a:xfrm>
          <a:solidFill>
            <a:srgbClr val="92D050"/>
          </a:solidFill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grpFill/>
            <a:ln w="6350" cap="flat" cmpd="sng" algn="ctr">
              <a:solidFill>
                <a:srgbClr val="92D050"/>
              </a:solidFill>
              <a:prstDash val="lgDash"/>
              <a:miter lim="800000"/>
            </a:ln>
            <a:effectLst/>
          </p:spPr>
        </p:cxnSp>
        <p:sp>
          <p:nvSpPr>
            <p:cNvPr id="131" name="Diamond 130"/>
            <p:cNvSpPr/>
            <p:nvPr/>
          </p:nvSpPr>
          <p:spPr>
            <a:xfrm>
              <a:off x="9037991" y="1851157"/>
              <a:ext cx="144000" cy="128159"/>
            </a:xfrm>
            <a:prstGeom prst="diamon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Group 133"/>
          <p:cNvGrpSpPr/>
          <p:nvPr/>
        </p:nvGrpSpPr>
        <p:grpSpPr>
          <a:xfrm>
            <a:off x="9610590" y="2877214"/>
            <a:ext cx="144000" cy="1620000"/>
            <a:chOff x="9037991" y="1818924"/>
            <a:chExt cx="144000" cy="1643069"/>
          </a:xfrm>
          <a:solidFill>
            <a:srgbClr val="92D050"/>
          </a:solidFill>
        </p:grpSpPr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grpFill/>
            <a:ln w="6350" cap="flat" cmpd="sng" algn="ctr">
              <a:solidFill>
                <a:srgbClr val="92D050"/>
              </a:solidFill>
              <a:prstDash val="lgDash"/>
              <a:miter lim="800000"/>
            </a:ln>
            <a:effectLst/>
          </p:spPr>
        </p:cxnSp>
        <p:sp>
          <p:nvSpPr>
            <p:cNvPr id="143" name="Diamond 142"/>
            <p:cNvSpPr/>
            <p:nvPr/>
          </p:nvSpPr>
          <p:spPr>
            <a:xfrm>
              <a:off x="9037991" y="1818924"/>
              <a:ext cx="144000" cy="144000"/>
            </a:xfrm>
            <a:prstGeom prst="diamond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64" name="Text Box 94">
            <a:extLst>
              <a:ext uri="{FF2B5EF4-FFF2-40B4-BE49-F238E27FC236}">
                <a16:creationId xmlns:a16="http://schemas.microsoft.com/office/drawing/2014/main" id="{C8F8A0B5-9CBC-40F1-BE31-C2B524F61343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560430" y="4247116"/>
            <a:ext cx="1152000" cy="118800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6350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1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uli 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7</a:t>
            </a:fld>
            <a:endParaRPr lang="es-ES"/>
          </a:p>
        </p:txBody>
      </p:sp>
      <p:graphicFrame>
        <p:nvGraphicFramePr>
          <p:cNvPr id="104" name="Table 103">
            <a:extLst>
              <a:ext uri="{FF2B5EF4-FFF2-40B4-BE49-F238E27FC236}">
                <a16:creationId xmlns:a16="http://schemas.microsoft.com/office/drawing/2014/main" id="{157004E4-A871-4A0E-BCE5-F196CDE83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879637"/>
              </p:ext>
            </p:extLst>
          </p:nvPr>
        </p:nvGraphicFramePr>
        <p:xfrm>
          <a:off x="1188000" y="3925748"/>
          <a:ext cx="4320000" cy="756000"/>
        </p:xfrm>
        <a:graphic>
          <a:graphicData uri="http://schemas.openxmlformats.org/drawingml/2006/table">
            <a:tbl>
              <a:tblPr/>
              <a:tblGrid>
                <a:gridCol w="2708959">
                  <a:extLst>
                    <a:ext uri="{9D8B030D-6E8A-4147-A177-3AD203B41FA5}">
                      <a16:colId xmlns:a16="http://schemas.microsoft.com/office/drawing/2014/main" val="1922513522"/>
                    </a:ext>
                  </a:extLst>
                </a:gridCol>
                <a:gridCol w="1611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 gridSpan="2">
                  <a:txBody>
                    <a:bodyPr/>
                    <a:lstStyle>
                      <a:lvl1pPr marL="0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6876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3751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0624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7498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4377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1250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98124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4998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2.1 Módulo Base</a:t>
                      </a:r>
                    </a:p>
                  </a:txBody>
                  <a:tcPr marL="180000" marR="6194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468548"/>
                  </a:ext>
                </a:extLst>
              </a:tr>
              <a:tr h="252000">
                <a:tc>
                  <a:txBody>
                    <a:bodyPr/>
                    <a:lstStyle>
                      <a:lvl1pPr marL="0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6876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3751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0624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7498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4377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1250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98124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4998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2.2 Módulo de União</a:t>
                      </a:r>
                    </a:p>
                  </a:txBody>
                  <a:tcPr marL="180000" marR="6194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45496" rtl="0" eaLnBrk="1" fontAlgn="ctr" latinLnBrk="0" hangingPunct="1"/>
                      <a:endParaRPr lang="pt-PT" sz="100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5821" marR="6194" marT="619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82938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algn="l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 Módulo de Exportação</a:t>
                      </a:r>
                      <a:endParaRPr lang="pt-PT" sz="100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0" marR="6194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45496" rtl="0" eaLnBrk="1" fontAlgn="ctr" latinLnBrk="0" hangingPunct="1"/>
                      <a:endParaRPr lang="pt-PT" sz="100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5821" marR="6194" marT="619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7" name="Table 106">
            <a:extLst>
              <a:ext uri="{FF2B5EF4-FFF2-40B4-BE49-F238E27FC236}">
                <a16:creationId xmlns:a16="http://schemas.microsoft.com/office/drawing/2014/main" id="{D574228F-58E3-47F6-8436-C5D3FD604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469697"/>
              </p:ext>
            </p:extLst>
          </p:nvPr>
        </p:nvGraphicFramePr>
        <p:xfrm>
          <a:off x="4102330" y="3931610"/>
          <a:ext cx="928892" cy="756000"/>
        </p:xfrm>
        <a:graphic>
          <a:graphicData uri="http://schemas.openxmlformats.org/drawingml/2006/table">
            <a:tbl>
              <a:tblPr/>
              <a:tblGrid>
                <a:gridCol w="928892">
                  <a:extLst>
                    <a:ext uri="{9D8B030D-6E8A-4147-A177-3AD203B41FA5}">
                      <a16:colId xmlns:a16="http://schemas.microsoft.com/office/drawing/2014/main" val="1922513522"/>
                    </a:ext>
                  </a:extLst>
                </a:gridCol>
              </a:tblGrid>
              <a:tr h="252000">
                <a:tc>
                  <a:txBody>
                    <a:bodyPr/>
                    <a:lstStyle>
                      <a:lvl1pPr marL="0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6876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3751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0624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7498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4377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1250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98124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4998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7D3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3" panose="05040102010807070707" pitchFamily="18" charset="2"/>
                        </a:rPr>
                        <a:t> </a:t>
                      </a:r>
                      <a:r>
                        <a:rPr kumimoji="0" lang="pt-PT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 curso</a:t>
                      </a:r>
                      <a:endParaRPr kumimoji="0" lang="pt-PT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19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4685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7D3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3" panose="05040102010807070707" pitchFamily="18" charset="2"/>
                        </a:rPr>
                        <a:t> </a:t>
                      </a:r>
                      <a:r>
                        <a:rPr kumimoji="0" lang="pt-PT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 curso</a:t>
                      </a:r>
                      <a:endParaRPr kumimoji="0" lang="pt-PT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19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>
                      <a:lvl1pPr marL="0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6876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3751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0624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7498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4377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1250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98124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4998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7D3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3" panose="05040102010807070707" pitchFamily="18" charset="2"/>
                        </a:rPr>
                        <a:t> </a:t>
                      </a:r>
                      <a:r>
                        <a:rPr kumimoji="0" lang="pt-PT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 curso</a:t>
                      </a:r>
                      <a:endParaRPr kumimoji="0" lang="pt-PT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19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829389"/>
                  </a:ext>
                </a:extLst>
              </a:tr>
            </a:tbl>
          </a:graphicData>
        </a:graphic>
      </p:graphicFrame>
      <p:sp>
        <p:nvSpPr>
          <p:cNvPr id="135" name="Text Box 94">
            <a:extLst>
              <a:ext uri="{FF2B5EF4-FFF2-40B4-BE49-F238E27FC236}">
                <a16:creationId xmlns:a16="http://schemas.microsoft.com/office/drawing/2014/main" id="{25C840E4-CC1E-4688-B78A-DC480A52211B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224776" y="3084385"/>
            <a:ext cx="684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i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Status</a:t>
            </a:r>
            <a:endParaRPr lang="en-US" sz="750" b="1" i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6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919932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 err="1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jan</a:t>
            </a: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E4DDDBC2-4D7A-445E-A24A-F5F15EA338CD}"/>
              </a:ext>
            </a:extLst>
          </p:cNvPr>
          <p:cNvGrpSpPr/>
          <p:nvPr/>
        </p:nvGrpSpPr>
        <p:grpSpPr>
          <a:xfrm>
            <a:off x="9590768" y="5431231"/>
            <a:ext cx="1159375" cy="215444"/>
            <a:chOff x="3461156" y="6486804"/>
            <a:chExt cx="1159375" cy="215444"/>
          </a:xfrm>
        </p:grpSpPr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80459E86-D8CF-4152-A6ED-6E5A97A27607}"/>
                </a:ext>
              </a:extLst>
            </p:cNvPr>
            <p:cNvSpPr/>
            <p:nvPr/>
          </p:nvSpPr>
          <p:spPr>
            <a:xfrm>
              <a:off x="3461156" y="6540526"/>
              <a:ext cx="108000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ABEC3A2D-048D-4727-9DC2-337BC18E71AA}"/>
                </a:ext>
              </a:extLst>
            </p:cNvPr>
            <p:cNvSpPr txBox="1"/>
            <p:nvPr/>
          </p:nvSpPr>
          <p:spPr>
            <a:xfrm>
              <a:off x="3587917" y="6486804"/>
              <a:ext cx="103261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PT" sz="800" dirty="0"/>
                <a:t>Duração prevista</a:t>
              </a:r>
            </a:p>
          </p:txBody>
        </p:sp>
      </p:grpSp>
      <p:sp>
        <p:nvSpPr>
          <p:cNvPr id="76" name="Text Box 94">
            <a:extLst>
              <a:ext uri="{FF2B5EF4-FFF2-40B4-BE49-F238E27FC236}">
                <a16:creationId xmlns:a16="http://schemas.microsoft.com/office/drawing/2014/main" id="{8E445FB6-2507-4532-860F-6EFEB7F34719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99821" y="3383125"/>
            <a:ext cx="9758824" cy="22902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b="1" kern="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  <a:sym typeface="Helvetica Light"/>
              </a:rPr>
              <a:t>1. Análise e Especificação</a:t>
            </a:r>
            <a:endParaRPr kumimoji="0" lang="en-US" sz="1000" b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B85A2B1-D61F-44DD-90E6-F435CF966DEF}"/>
              </a:ext>
            </a:extLst>
          </p:cNvPr>
          <p:cNvSpPr txBox="1"/>
          <p:nvPr/>
        </p:nvSpPr>
        <p:spPr>
          <a:xfrm>
            <a:off x="4148682" y="3389917"/>
            <a:ext cx="8361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pt-PT" sz="800" b="1" dirty="0">
                <a:solidFill>
                  <a:srgbClr val="ED7D31"/>
                </a:solidFill>
                <a:sym typeface="Wingdings 3" panose="05040102010807070707" pitchFamily="18" charset="2"/>
              </a:rPr>
              <a:t> </a:t>
            </a:r>
            <a:r>
              <a:rPr lang="pt-PT" sz="800" dirty="0"/>
              <a:t>Em curso</a:t>
            </a:r>
            <a:endParaRPr lang="pt-PT" sz="800" i="0" u="none" strike="noStrike" dirty="0">
              <a:solidFill>
                <a:srgbClr val="404033"/>
              </a:solidFill>
              <a:effectLst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897945" y="4784070"/>
            <a:ext cx="9758818" cy="229028"/>
            <a:chOff x="897944" y="4107374"/>
            <a:chExt cx="9758818" cy="229028"/>
          </a:xfrm>
        </p:grpSpPr>
        <p:sp>
          <p:nvSpPr>
            <p:cNvPr id="158" name="Text Box 94">
              <a:extLst>
                <a:ext uri="{FF2B5EF4-FFF2-40B4-BE49-F238E27FC236}">
                  <a16:creationId xmlns:a16="http://schemas.microsoft.com/office/drawing/2014/main" id="{551A29D8-2A59-4DC8-BD2D-815823D50337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897944" y="4107374"/>
              <a:ext cx="9758818" cy="2290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cap="flat" cmpd="sng" algn="ctr">
              <a:solidFill>
                <a:sysClr val="window" lastClr="FFFFFF"/>
              </a:solidFill>
              <a:prstDash val="solid"/>
              <a:miter lim="800000"/>
              <a:headEnd/>
              <a:tailEnd/>
            </a:ln>
            <a:effectLst/>
          </p:spPr>
          <p:txBody>
            <a:bodyPr lIns="81055" tIns="40528" rIns="81055" bIns="40528" anchor="ctr"/>
            <a:lstStyle/>
            <a:p>
              <a:pPr defTabSz="679879" eaLnBrk="0">
                <a:defRPr/>
              </a:pPr>
              <a:r>
                <a:rPr lang="pt-PT" sz="1000" b="1" kern="0" dirty="0">
                  <a:solidFill>
                    <a:sysClr val="windowText" lastClr="000000"/>
                  </a:solidFill>
                  <a:cs typeface="Arial" panose="020B0604020202020204" pitchFamily="34" charset="0"/>
                  <a:sym typeface="Helvetica Light"/>
                </a:rPr>
                <a:t>3.Validações com Imparidade</a:t>
              </a:r>
              <a:endParaRPr lang="en-US" sz="1000" b="1" kern="0" dirty="0">
                <a:solidFill>
                  <a:sysClr val="windowText" lastClr="000000"/>
                </a:solidFill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66" name="Text Box 94">
              <a:extLst>
                <a:ext uri="{FF2B5EF4-FFF2-40B4-BE49-F238E27FC236}">
                  <a16:creationId xmlns:a16="http://schemas.microsoft.com/office/drawing/2014/main" id="{BECE4A3A-F8BF-4121-B485-62456EE1E664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9274296" y="4167888"/>
              <a:ext cx="1026000" cy="108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6350" cap="flat" cmpd="sng" algn="ctr">
              <a:solidFill>
                <a:sysClr val="window" lastClr="FFFFFF"/>
              </a:solidFill>
              <a:prstDash val="solid"/>
              <a:miter lim="800000"/>
              <a:headEnd/>
              <a:tailEnd/>
            </a:ln>
            <a:effectLst/>
          </p:spPr>
          <p:txBody>
            <a:bodyPr lIns="81055" tIns="40528" rIns="81055" bIns="40528" anchor="ctr"/>
            <a:lstStyle/>
            <a:p>
              <a:pPr marL="0" marR="0" lvl="0" indent="0" defTabSz="679879" eaLnBrk="0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75" b="1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uli "/>
                <a:ea typeface="+mn-ea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B85A2B1-D61F-44DD-90E6-F435CF966DEF}"/>
                </a:ext>
              </a:extLst>
            </p:cNvPr>
            <p:cNvSpPr txBox="1"/>
            <p:nvPr/>
          </p:nvSpPr>
          <p:spPr>
            <a:xfrm>
              <a:off x="4098058" y="4114166"/>
              <a:ext cx="93743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445496" fontAlgn="ctr">
                <a:defRPr/>
              </a:pPr>
              <a:r>
                <a:rPr lang="pt-PT" sz="800" b="1">
                  <a:solidFill>
                    <a:srgbClr val="ED7D31"/>
                  </a:solidFill>
                  <a:sym typeface="Wingdings 3" panose="05040102010807070707" pitchFamily="18" charset="2"/>
                </a:rPr>
                <a:t> </a:t>
              </a:r>
              <a:r>
                <a:rPr lang="pt-PT" sz="800" dirty="0"/>
                <a:t>Por iniciar</a:t>
              </a:r>
              <a:endParaRPr lang="pt-PT" sz="800" b="1" dirty="0"/>
            </a:p>
          </p:txBody>
        </p:sp>
      </p:grp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3.1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Plano (1/2)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82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99088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 err="1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fev</a:t>
            </a: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3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78244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mar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4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357400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 err="1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abr</a:t>
            </a: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5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836556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 err="1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mai</a:t>
            </a: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6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315712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 err="1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jun</a:t>
            </a: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7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794868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 err="1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jul</a:t>
            </a: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8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8274024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ago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9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8753180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set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0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9232336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out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1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9711492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 err="1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nov</a:t>
            </a: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2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0190645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dez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3" name="Text Box 94">
            <a:extLst>
              <a:ext uri="{FF2B5EF4-FFF2-40B4-BE49-F238E27FC236}">
                <a16:creationId xmlns:a16="http://schemas.microsoft.com/office/drawing/2014/main" id="{A8599BBE-100B-41AF-BB0B-82FA8778B596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4957957" y="3444179"/>
            <a:ext cx="5220000" cy="1069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1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uli 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97945" y="3681057"/>
            <a:ext cx="9758817" cy="444288"/>
            <a:chOff x="897945" y="2878089"/>
            <a:chExt cx="9758817" cy="444288"/>
          </a:xfrm>
        </p:grpSpPr>
        <p:grpSp>
          <p:nvGrpSpPr>
            <p:cNvPr id="16" name="Group 15"/>
            <p:cNvGrpSpPr/>
            <p:nvPr/>
          </p:nvGrpSpPr>
          <p:grpSpPr>
            <a:xfrm>
              <a:off x="897945" y="2878089"/>
              <a:ext cx="9758817" cy="444288"/>
              <a:chOff x="897945" y="2878089"/>
              <a:chExt cx="9758817" cy="444288"/>
            </a:xfrm>
          </p:grpSpPr>
          <p:sp>
            <p:nvSpPr>
              <p:cNvPr id="153" name="Text Box 94">
                <a:extLst>
                  <a:ext uri="{FF2B5EF4-FFF2-40B4-BE49-F238E27FC236}">
                    <a16:creationId xmlns:a16="http://schemas.microsoft.com/office/drawing/2014/main" id="{8E445FB6-2507-4532-860F-6EFEB7F3471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897945" y="2878089"/>
                <a:ext cx="9758817" cy="2290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 cap="flat" cmpd="sng" algn="ctr">
                <a:solidFill>
                  <a:sysClr val="window" lastClr="FFFFFF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lIns="81055" tIns="40528" rIns="81055" bIns="40528" anchor="ctr"/>
              <a:lstStyle/>
              <a:p>
                <a:pPr marL="0" marR="0" lvl="0" indent="0" defTabSz="679879" eaLnBrk="0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PT" sz="1000" b="1" kern="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  <a:sym typeface="Helvetica Light"/>
                  </a:rPr>
                  <a:t>2. Implementação IT</a:t>
                </a:r>
                <a:endParaRPr kumimoji="0" lang="en-US" sz="1000" b="1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lt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163" name="Text Box 94">
                <a:extLst>
                  <a:ext uri="{FF2B5EF4-FFF2-40B4-BE49-F238E27FC236}">
                    <a16:creationId xmlns:a16="http://schemas.microsoft.com/office/drawing/2014/main" id="{38AC262B-C958-4F3D-BD60-2FF33925A3C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4956887" y="3203577"/>
                <a:ext cx="5040000" cy="1188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 cap="flat" cmpd="sng" algn="ctr">
                <a:solidFill>
                  <a:sysClr val="window" lastClr="FFFFFF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lIns="81055" tIns="40528" rIns="81055" bIns="40528" anchor="ctr"/>
              <a:lstStyle/>
              <a:p>
                <a:pPr marL="0" marR="0" lvl="0" indent="0" defTabSz="679879" eaLnBrk="0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75" b="1" i="1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Muli "/>
                  <a:ea typeface="+mn-ea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sp>
          <p:nvSpPr>
            <p:cNvPr id="94" name="Text Box 94">
              <a:extLst>
                <a:ext uri="{FF2B5EF4-FFF2-40B4-BE49-F238E27FC236}">
                  <a16:creationId xmlns:a16="http://schemas.microsoft.com/office/drawing/2014/main" id="{A8599BBE-100B-41AF-BB0B-82FA8778B596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957957" y="2939143"/>
              <a:ext cx="5220000" cy="10692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6350" cap="flat" cmpd="sng" algn="ctr">
              <a:solidFill>
                <a:sysClr val="window" lastClr="FFFFFF"/>
              </a:solidFill>
              <a:prstDash val="solid"/>
              <a:miter lim="800000"/>
              <a:headEnd/>
              <a:tailEnd/>
            </a:ln>
            <a:effectLst/>
          </p:spPr>
          <p:txBody>
            <a:bodyPr lIns="81055" tIns="40528" rIns="81055" bIns="40528" anchor="ctr"/>
            <a:lstStyle/>
            <a:p>
              <a:pPr marL="0" marR="0" lvl="0" indent="0" defTabSz="679879" eaLnBrk="0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75" b="1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uli "/>
                <a:ea typeface="+mn-ea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95" name="Text Box 94">
            <a:extLst>
              <a:ext uri="{FF2B5EF4-FFF2-40B4-BE49-F238E27FC236}">
                <a16:creationId xmlns:a16="http://schemas.microsoft.com/office/drawing/2014/main" id="{C8F8A0B5-9CBC-40F1-BE31-C2B524F61343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8603874" y="4481911"/>
            <a:ext cx="1566000" cy="118800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6350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1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uli 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8741462" y="5441008"/>
            <a:ext cx="1116124" cy="215444"/>
            <a:chOff x="8508024" y="4687884"/>
            <a:chExt cx="1116124" cy="215444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BEC3A2D-048D-4727-9DC2-337BC18E71AA}"/>
                </a:ext>
              </a:extLst>
            </p:cNvPr>
            <p:cNvSpPr txBox="1"/>
            <p:nvPr/>
          </p:nvSpPr>
          <p:spPr>
            <a:xfrm>
              <a:off x="8591534" y="4687884"/>
              <a:ext cx="103261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PT" sz="800" i="1" dirty="0"/>
                <a:t>Milestone</a:t>
              </a:r>
            </a:p>
          </p:txBody>
        </p:sp>
        <p:sp>
          <p:nvSpPr>
            <p:cNvPr id="144" name="Diamond 143"/>
            <p:cNvSpPr/>
            <p:nvPr/>
          </p:nvSpPr>
          <p:spPr>
            <a:xfrm>
              <a:off x="8508024" y="4724617"/>
              <a:ext cx="144000" cy="141978"/>
            </a:xfrm>
            <a:prstGeom prst="diamond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9437786" y="2743531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 dirty="0"/>
              <a:t>Milestone</a:t>
            </a:r>
            <a:r>
              <a:rPr lang="pt-PT" sz="500" dirty="0"/>
              <a:t> #4</a:t>
            </a:r>
            <a:endParaRPr lang="en-US" sz="500" dirty="0"/>
          </a:p>
        </p:txBody>
      </p:sp>
      <p:sp>
        <p:nvSpPr>
          <p:cNvPr id="145" name="TextBox 144"/>
          <p:cNvSpPr txBox="1"/>
          <p:nvPr/>
        </p:nvSpPr>
        <p:spPr>
          <a:xfrm>
            <a:off x="9199873" y="2623596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 dirty="0"/>
              <a:t>Milestone</a:t>
            </a:r>
            <a:r>
              <a:rPr lang="pt-PT" sz="500" dirty="0"/>
              <a:t> #3</a:t>
            </a:r>
            <a:endParaRPr lang="en-US" sz="500" dirty="0"/>
          </a:p>
        </p:txBody>
      </p:sp>
      <p:grpSp>
        <p:nvGrpSpPr>
          <p:cNvPr id="10" name="Group 9"/>
          <p:cNvGrpSpPr/>
          <p:nvPr/>
        </p:nvGrpSpPr>
        <p:grpSpPr>
          <a:xfrm>
            <a:off x="897944" y="5393164"/>
            <a:ext cx="7662486" cy="1138773"/>
            <a:chOff x="897944" y="5420680"/>
            <a:chExt cx="7078341" cy="1138773"/>
          </a:xfrm>
        </p:grpSpPr>
        <p:sp>
          <p:nvSpPr>
            <p:cNvPr id="2" name="TextBox 1"/>
            <p:cNvSpPr txBox="1"/>
            <p:nvPr/>
          </p:nvSpPr>
          <p:spPr>
            <a:xfrm>
              <a:off x="897944" y="5420680"/>
              <a:ext cx="7078341" cy="11387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PT" sz="1000" i="1" dirty="0"/>
                <a:t>      </a:t>
              </a:r>
              <a:r>
                <a:rPr lang="pt-PT" sz="1000" i="1" dirty="0" err="1"/>
                <a:t>Milestones</a:t>
              </a:r>
              <a:endParaRPr lang="pt-PT" sz="1000" i="1" dirty="0"/>
            </a:p>
            <a:p>
              <a:r>
                <a:rPr lang="pt-PT" sz="1000" dirty="0"/>
                <a:t>#1 Disponibilização da 1ª versão da tabela de união (GT018) para validações;</a:t>
              </a:r>
              <a:r>
                <a:rPr lang="pt-PT" sz="1000" dirty="0">
                  <a:sym typeface="Wingdings" panose="05000000000000000000" pitchFamily="2" charset="2"/>
                </a:rPr>
                <a:t> </a:t>
              </a:r>
              <a:r>
                <a:rPr lang="pt-PT" sz="1400" b="1" dirty="0">
                  <a:solidFill>
                    <a:srgbClr val="92D050"/>
                  </a:solidFill>
                  <a:sym typeface="Wingdings" panose="05000000000000000000" pitchFamily="2" charset="2"/>
                </a:rPr>
                <a:t></a:t>
              </a:r>
              <a:endParaRPr lang="pt-PT" sz="1000" b="1" dirty="0">
                <a:solidFill>
                  <a:srgbClr val="92D050"/>
                </a:solidFill>
              </a:endParaRPr>
            </a:p>
            <a:p>
              <a:r>
                <a:rPr lang="pt-PT" sz="1000" dirty="0"/>
                <a:t>#2 Disponibilização da 1ª versão dos 3 </a:t>
              </a:r>
              <a:r>
                <a:rPr lang="pt-PT" sz="1000" i="1" dirty="0"/>
                <a:t>outputs</a:t>
              </a:r>
              <a:r>
                <a:rPr lang="pt-PT" sz="1000" dirty="0"/>
                <a:t> a enviar para a equipa de imparidade e BDR para testes de integração;</a:t>
              </a:r>
              <a:r>
                <a:rPr lang="pt-PT" sz="1000" b="1" dirty="0">
                  <a:solidFill>
                    <a:srgbClr val="92D050"/>
                  </a:solidFill>
                  <a:sym typeface="Wingdings" panose="05000000000000000000" pitchFamily="2" charset="2"/>
                </a:rPr>
                <a:t> </a:t>
              </a:r>
              <a:r>
                <a:rPr lang="pt-PT" sz="1400" b="1" dirty="0">
                  <a:solidFill>
                    <a:srgbClr val="92D050"/>
                  </a:solidFill>
                  <a:sym typeface="Wingdings" panose="05000000000000000000" pitchFamily="2" charset="2"/>
                </a:rPr>
                <a:t></a:t>
              </a:r>
              <a:endParaRPr lang="pt-PT" sz="1400" dirty="0"/>
            </a:p>
            <a:p>
              <a:r>
                <a:rPr lang="pt-PT" sz="1000" dirty="0"/>
                <a:t>#3 Disponibilização da 2ª versão dos 3 </a:t>
              </a:r>
              <a:r>
                <a:rPr lang="pt-PT" sz="1000" i="1" dirty="0"/>
                <a:t>outputs</a:t>
              </a:r>
              <a:r>
                <a:rPr lang="pt-PT" sz="1000" dirty="0"/>
                <a:t> a enviar para a equipa de imparidade e BDR para testes de integração e conteúdo;</a:t>
              </a:r>
              <a:r>
                <a:rPr lang="pt-PT" sz="1000" b="1" dirty="0">
                  <a:solidFill>
                    <a:srgbClr val="92D050"/>
                  </a:solidFill>
                  <a:sym typeface="Wingdings" panose="05000000000000000000" pitchFamily="2" charset="2"/>
                </a:rPr>
                <a:t> </a:t>
              </a:r>
              <a:endParaRPr lang="pt-PT" sz="1000" dirty="0"/>
            </a:p>
            <a:p>
              <a:r>
                <a:rPr lang="pt-PT" sz="1000" dirty="0"/>
                <a:t>#4 Carga na BDR2 e disponibilização de novos </a:t>
              </a:r>
              <a:r>
                <a:rPr lang="pt-PT" sz="1000" i="1" dirty="0"/>
                <a:t>outputs</a:t>
              </a:r>
              <a:r>
                <a:rPr lang="pt-PT" sz="1000" dirty="0"/>
                <a:t> para a área de imparidade;</a:t>
              </a:r>
              <a:r>
                <a:rPr lang="pt-PT" sz="1000" b="1" dirty="0">
                  <a:solidFill>
                    <a:srgbClr val="92D050"/>
                  </a:solidFill>
                  <a:sym typeface="Wingdings" panose="05000000000000000000" pitchFamily="2" charset="2"/>
                </a:rPr>
                <a:t> </a:t>
              </a:r>
              <a:endParaRPr lang="pt-PT" sz="1000" dirty="0"/>
            </a:p>
            <a:p>
              <a:r>
                <a:rPr lang="pt-PT" sz="1000" dirty="0"/>
                <a:t>#5 Disponibilização de nova versão dos </a:t>
              </a:r>
              <a:r>
                <a:rPr lang="pt-PT" sz="1000" i="1" dirty="0"/>
                <a:t>outputs </a:t>
              </a:r>
              <a:r>
                <a:rPr lang="pt-PT" sz="1000" dirty="0"/>
                <a:t>considerando novas alterações ou correções das validações em curso.</a:t>
              </a:r>
              <a:r>
                <a:rPr lang="pt-PT" sz="1000" b="1" dirty="0">
                  <a:solidFill>
                    <a:srgbClr val="92D050"/>
                  </a:solidFill>
                  <a:sym typeface="Wingdings" panose="05000000000000000000" pitchFamily="2" charset="2"/>
                </a:rPr>
                <a:t> </a:t>
              </a:r>
              <a:r>
                <a:rPr lang="pt-PT" sz="1000" dirty="0"/>
                <a:t> </a:t>
              </a:r>
              <a:endParaRPr lang="en-US" sz="1000" dirty="0"/>
            </a:p>
          </p:txBody>
        </p:sp>
        <p:sp>
          <p:nvSpPr>
            <p:cNvPr id="59" name="Diamond 58"/>
            <p:cNvSpPr/>
            <p:nvPr/>
          </p:nvSpPr>
          <p:spPr>
            <a:xfrm>
              <a:off x="997342" y="5511413"/>
              <a:ext cx="144000" cy="141978"/>
            </a:xfrm>
            <a:prstGeom prst="diamond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897944" y="5102294"/>
            <a:ext cx="9758818" cy="229028"/>
            <a:chOff x="897944" y="4107374"/>
            <a:chExt cx="9758818" cy="229028"/>
          </a:xfrm>
        </p:grpSpPr>
        <p:sp>
          <p:nvSpPr>
            <p:cNvPr id="61" name="Text Box 94">
              <a:extLst>
                <a:ext uri="{FF2B5EF4-FFF2-40B4-BE49-F238E27FC236}">
                  <a16:creationId xmlns:a16="http://schemas.microsoft.com/office/drawing/2014/main" id="{551A29D8-2A59-4DC8-BD2D-815823D50337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97944" y="4107374"/>
              <a:ext cx="9758818" cy="2290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cap="flat" cmpd="sng" algn="ctr">
              <a:solidFill>
                <a:sysClr val="window" lastClr="FFFFFF"/>
              </a:solidFill>
              <a:prstDash val="solid"/>
              <a:miter lim="800000"/>
              <a:headEnd/>
              <a:tailEnd/>
            </a:ln>
            <a:effectLst/>
          </p:spPr>
          <p:txBody>
            <a:bodyPr lIns="81055" tIns="40528" rIns="81055" bIns="40528" anchor="ctr"/>
            <a:lstStyle/>
            <a:p>
              <a:pPr defTabSz="679879" eaLnBrk="0">
                <a:defRPr/>
              </a:pPr>
              <a:r>
                <a:rPr lang="pt-PT" sz="1000" b="1" kern="0" dirty="0">
                  <a:solidFill>
                    <a:sysClr val="windowText" lastClr="000000"/>
                  </a:solidFill>
                  <a:cs typeface="Arial" panose="020B0604020202020204" pitchFamily="34" charset="0"/>
                  <a:sym typeface="Helvetica Light"/>
                </a:rPr>
                <a:t>4.Validações com BDR</a:t>
              </a:r>
              <a:endParaRPr lang="en-US" sz="1000" b="1" kern="0" baseline="30000" dirty="0">
                <a:solidFill>
                  <a:sysClr val="windowText" lastClr="000000"/>
                </a:solidFill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B85A2B1-D61F-44DD-90E6-F435CF966DEF}"/>
                </a:ext>
              </a:extLst>
            </p:cNvPr>
            <p:cNvSpPr txBox="1"/>
            <p:nvPr/>
          </p:nvSpPr>
          <p:spPr>
            <a:xfrm>
              <a:off x="4098058" y="4114166"/>
              <a:ext cx="93743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445496" fontAlgn="ctr">
                <a:defRPr/>
              </a:pPr>
              <a:r>
                <a:rPr lang="pt-PT" sz="800" b="1" dirty="0">
                  <a:solidFill>
                    <a:schemeClr val="bg1">
                      <a:lumMod val="75000"/>
                    </a:schemeClr>
                  </a:solidFill>
                  <a:sym typeface="Wingdings 3" panose="05040102010807070707" pitchFamily="18" charset="2"/>
                </a:rPr>
                <a:t>●</a:t>
              </a:r>
              <a:r>
                <a:rPr lang="pt-PT" sz="800" b="1" dirty="0">
                  <a:solidFill>
                    <a:srgbClr val="ED7D31"/>
                  </a:solidFill>
                  <a:sym typeface="Wingdings 3" panose="05040102010807070707" pitchFamily="18" charset="2"/>
                </a:rPr>
                <a:t> </a:t>
              </a:r>
              <a:r>
                <a:rPr lang="pt-PT" sz="800" dirty="0"/>
                <a:t>Por iniciar</a:t>
              </a:r>
              <a:endParaRPr lang="pt-PT" sz="800" b="1" dirty="0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58460DDC-2A11-4BED-9BC2-A49D694C5113}"/>
              </a:ext>
            </a:extLst>
          </p:cNvPr>
          <p:cNvGrpSpPr/>
          <p:nvPr/>
        </p:nvGrpSpPr>
        <p:grpSpPr>
          <a:xfrm>
            <a:off x="10069527" y="2397380"/>
            <a:ext cx="72000" cy="2916000"/>
            <a:chOff x="8591931" y="882133"/>
            <a:chExt cx="69623" cy="4351041"/>
          </a:xfrm>
        </p:grpSpPr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8626743" y="882133"/>
              <a:ext cx="0" cy="4351041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B3314BCB-D6F4-4EAC-AD52-975CC69FEC30}"/>
                </a:ext>
              </a:extLst>
            </p:cNvPr>
            <p:cNvSpPr/>
            <p:nvPr/>
          </p:nvSpPr>
          <p:spPr>
            <a:xfrm>
              <a:off x="8591931" y="882135"/>
              <a:ext cx="69623" cy="9577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05568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179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722243" y="1639705"/>
            <a:ext cx="10095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O plano apresentado têm como objetivo assegurar que as áreas de Imparidade e Capital (integração com a BDR), ainda no ano de 2022, passem a receber informação do modelo consolidado de garantias.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7881452" y="5417641"/>
            <a:ext cx="856499" cy="219258"/>
            <a:chOff x="6845932" y="5406463"/>
            <a:chExt cx="1169076" cy="215444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BEC3A2D-048D-4727-9DC2-337BC18E71AA}"/>
                </a:ext>
              </a:extLst>
            </p:cNvPr>
            <p:cNvSpPr txBox="1"/>
            <p:nvPr/>
          </p:nvSpPr>
          <p:spPr>
            <a:xfrm>
              <a:off x="6982394" y="5406463"/>
              <a:ext cx="103261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PT" sz="800" i="1" dirty="0" err="1"/>
                <a:t>Go</a:t>
              </a:r>
              <a:r>
                <a:rPr lang="pt-PT" sz="800" i="1" dirty="0"/>
                <a:t> Live</a:t>
              </a:r>
            </a:p>
          </p:txBody>
        </p:sp>
        <p:sp>
          <p:nvSpPr>
            <p:cNvPr id="8" name="Wave 7"/>
            <p:cNvSpPr/>
            <p:nvPr/>
          </p:nvSpPr>
          <p:spPr>
            <a:xfrm>
              <a:off x="6845932" y="5455373"/>
              <a:ext cx="152292" cy="117625"/>
            </a:xfrm>
            <a:prstGeom prst="wav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Text Box 94">
            <a:extLst>
              <a:ext uri="{FF2B5EF4-FFF2-40B4-BE49-F238E27FC236}">
                <a16:creationId xmlns:a16="http://schemas.microsoft.com/office/drawing/2014/main" id="{BECE4A3A-F8BF-4121-B485-62456EE1E664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9509349" y="5181080"/>
            <a:ext cx="792000" cy="10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1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uli 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75" name="Group 74"/>
          <p:cNvGrpSpPr/>
          <p:nvPr/>
        </p:nvGrpSpPr>
        <p:grpSpPr>
          <a:xfrm>
            <a:off x="8993049" y="2516208"/>
            <a:ext cx="144000" cy="1745450"/>
            <a:chOff x="9037991" y="1836200"/>
            <a:chExt cx="144000" cy="1625793"/>
          </a:xfrm>
          <a:solidFill>
            <a:srgbClr val="92D050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grpFill/>
            <a:ln w="6350" cap="flat" cmpd="sng" algn="ctr">
              <a:solidFill>
                <a:srgbClr val="92D050"/>
              </a:solidFill>
              <a:prstDash val="lgDash"/>
              <a:miter lim="800000"/>
            </a:ln>
            <a:effectLst/>
          </p:spPr>
        </p:cxnSp>
        <p:sp>
          <p:nvSpPr>
            <p:cNvPr id="96" name="Diamond 95"/>
            <p:cNvSpPr/>
            <p:nvPr/>
          </p:nvSpPr>
          <p:spPr>
            <a:xfrm>
              <a:off x="9037991" y="1836200"/>
              <a:ext cx="144000" cy="130775"/>
            </a:xfrm>
            <a:prstGeom prst="diamond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97" name="TextBox 96"/>
          <p:cNvSpPr txBox="1"/>
          <p:nvPr/>
        </p:nvSpPr>
        <p:spPr>
          <a:xfrm>
            <a:off x="8813462" y="2397380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 dirty="0"/>
              <a:t>Milestone</a:t>
            </a:r>
            <a:r>
              <a:rPr lang="pt-PT" sz="500" dirty="0"/>
              <a:t> #1</a:t>
            </a:r>
            <a:endParaRPr lang="en-US" sz="500" dirty="0"/>
          </a:p>
        </p:txBody>
      </p:sp>
      <p:grpSp>
        <p:nvGrpSpPr>
          <p:cNvPr id="70" name="Group 69"/>
          <p:cNvGrpSpPr/>
          <p:nvPr/>
        </p:nvGrpSpPr>
        <p:grpSpPr>
          <a:xfrm>
            <a:off x="9051039" y="2708736"/>
            <a:ext cx="144000" cy="1764688"/>
            <a:chOff x="9037991" y="1851157"/>
            <a:chExt cx="144000" cy="1610836"/>
          </a:xfrm>
          <a:solidFill>
            <a:srgbClr val="92D050"/>
          </a:solidFill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grpFill/>
            <a:ln w="6350" cap="flat" cmpd="sng" algn="ctr">
              <a:solidFill>
                <a:srgbClr val="92D050"/>
              </a:solidFill>
              <a:prstDash val="lgDash"/>
              <a:miter lim="800000"/>
            </a:ln>
            <a:effectLst/>
          </p:spPr>
        </p:cxnSp>
        <p:sp>
          <p:nvSpPr>
            <p:cNvPr id="72" name="Diamond 71"/>
            <p:cNvSpPr/>
            <p:nvPr/>
          </p:nvSpPr>
          <p:spPr>
            <a:xfrm>
              <a:off x="9037991" y="1851157"/>
              <a:ext cx="144000" cy="128159"/>
            </a:xfrm>
            <a:prstGeom prst="diamond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99" name="TextBox 98"/>
          <p:cNvSpPr txBox="1"/>
          <p:nvPr/>
        </p:nvSpPr>
        <p:spPr>
          <a:xfrm>
            <a:off x="8838036" y="2588695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 dirty="0"/>
              <a:t>Milestone</a:t>
            </a:r>
            <a:r>
              <a:rPr lang="pt-PT" sz="500" dirty="0"/>
              <a:t> #2</a:t>
            </a:r>
            <a:endParaRPr lang="en-US" sz="500" dirty="0"/>
          </a:p>
        </p:txBody>
      </p:sp>
      <p:grpSp>
        <p:nvGrpSpPr>
          <p:cNvPr id="100" name="Group 99"/>
          <p:cNvGrpSpPr/>
          <p:nvPr/>
        </p:nvGrpSpPr>
        <p:grpSpPr>
          <a:xfrm>
            <a:off x="9874307" y="2687705"/>
            <a:ext cx="144000" cy="1836000"/>
            <a:chOff x="9037991" y="1818924"/>
            <a:chExt cx="144000" cy="1643069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rgbClr val="92D050"/>
              </a:solidFill>
              <a:prstDash val="lgDash"/>
              <a:miter lim="800000"/>
            </a:ln>
            <a:effectLst/>
          </p:spPr>
        </p:cxnSp>
        <p:sp>
          <p:nvSpPr>
            <p:cNvPr id="102" name="Diamond 101"/>
            <p:cNvSpPr/>
            <p:nvPr/>
          </p:nvSpPr>
          <p:spPr>
            <a:xfrm>
              <a:off x="9037991" y="1818924"/>
              <a:ext cx="144000" cy="144000"/>
            </a:xfrm>
            <a:prstGeom prst="diamond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03" name="TextBox 102"/>
          <p:cNvSpPr txBox="1"/>
          <p:nvPr/>
        </p:nvSpPr>
        <p:spPr>
          <a:xfrm>
            <a:off x="9701503" y="2577881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 dirty="0" err="1"/>
              <a:t>Milestone</a:t>
            </a:r>
            <a:r>
              <a:rPr lang="pt-PT" sz="500" dirty="0"/>
              <a:t> #5</a:t>
            </a:r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1048031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Plano de Correções até ao rácio de Novembro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0247B87-3ACD-4942-89CE-E986034A1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921809"/>
              </p:ext>
            </p:extLst>
          </p:nvPr>
        </p:nvGraphicFramePr>
        <p:xfrm>
          <a:off x="1561993" y="1945535"/>
          <a:ext cx="8676000" cy="1534803"/>
        </p:xfrm>
        <a:graphic>
          <a:graphicData uri="http://schemas.openxmlformats.org/drawingml/2006/table">
            <a:tbl>
              <a:tblPr/>
              <a:tblGrid>
                <a:gridCol w="7580151">
                  <a:extLst>
                    <a:ext uri="{9D8B030D-6E8A-4147-A177-3AD203B41FA5}">
                      <a16:colId xmlns:a16="http://schemas.microsoft.com/office/drawing/2014/main" val="3344114568"/>
                    </a:ext>
                  </a:extLst>
                </a:gridCol>
                <a:gridCol w="1095849">
                  <a:extLst>
                    <a:ext uri="{9D8B030D-6E8A-4147-A177-3AD203B41FA5}">
                      <a16:colId xmlns:a16="http://schemas.microsoft.com/office/drawing/2014/main" val="1603534624"/>
                    </a:ext>
                  </a:extLst>
                </a:gridCol>
              </a:tblGrid>
              <a:tr h="208521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Tarefa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Data Objetivo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279611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Garantias</a:t>
                      </a:r>
                      <a:r>
                        <a:rPr lang="pt-PT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Hipotecárias – </a:t>
                      </a:r>
                      <a:r>
                        <a:rPr lang="pt-PT" sz="12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Ifrrus</a:t>
                      </a:r>
                      <a:r>
                        <a:rPr lang="pt-PT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e Fomentos à construção</a:t>
                      </a:r>
                      <a:endParaRPr lang="pt-PT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53530" marR="5948" marT="5948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Mapeamento do</a:t>
                      </a:r>
                      <a:r>
                        <a:rPr lang="pt-PT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montante </a:t>
                      </a:r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avaliação inicial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53530" marR="5948" marT="5948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Exclusão de </a:t>
                      </a:r>
                      <a:r>
                        <a:rPr lang="pt-PT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cgarant</a:t>
                      </a:r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identificados a nível das </a:t>
                      </a:r>
                      <a:r>
                        <a:rPr lang="pt-PT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GPs</a:t>
                      </a:r>
                      <a:endParaRPr lang="pt-PT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53530" marR="5948" marT="5948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4156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9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/>
              <a:t>CDO</a:t>
            </a:r>
            <a:endParaRPr lang="en-US" sz="11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897727"/>
              </p:ext>
            </p:extLst>
          </p:nvPr>
        </p:nvGraphicFramePr>
        <p:xfrm>
          <a:off x="722242" y="4803839"/>
          <a:ext cx="9936400" cy="1165080"/>
        </p:xfrm>
        <a:graphic>
          <a:graphicData uri="http://schemas.openxmlformats.org/drawingml/2006/table">
            <a:tbl>
              <a:tblPr firstRow="1" firstCol="1" bandRow="1"/>
              <a:tblGrid>
                <a:gridCol w="2068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BIYR9500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Novo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Tipo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9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  <a:r>
                        <a:rPr lang="en-US" sz="9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9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  <a:r>
                        <a:rPr lang="en-US" sz="9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68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Factoring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69 890 321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u="none" strike="noStrike" dirty="0">
                          <a:effectLst/>
                        </a:rPr>
                        <a:t>51 592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u="none" strike="noStrike" dirty="0">
                          <a:effectLst/>
                        </a:rPr>
                        <a:t>1 351 980 215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Pessoais</a:t>
                      </a: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900" b="0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 e Factoring</a:t>
                      </a:r>
                      <a:r>
                        <a:rPr lang="en-US" sz="9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)</a:t>
                      </a: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*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425 035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36 093 061 168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372 313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24 009 494 267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Financeiras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8 953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1 229 973 638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8 899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760 497 074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506073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Imóveis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900" b="0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9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)</a:t>
                      </a:r>
                      <a:endParaRPr lang="en-US" sz="9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375 526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57 882 806 898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387 985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57 342 224 672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Pessoais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* 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39 922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1 780 782 381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16 594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166 388 845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319531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Imóveis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5 300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1 679 522 396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4 911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1 612 971 553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9975820"/>
                  </a:ext>
                </a:extLst>
              </a:tr>
            </a:tbl>
          </a:graphicData>
        </a:graphic>
      </p:graphicFrame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711028" y="6160304"/>
            <a:ext cx="416812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/>
              <a:t>*</a:t>
            </a:r>
            <a:r>
              <a:rPr lang="pt-BR" sz="800" dirty="0"/>
              <a:t> A granularidade utilizada para análise foi ao nivel do bem (garantia pessoal – Cliente)</a:t>
            </a: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028" y="4543930"/>
            <a:ext cx="8511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000" dirty="0"/>
              <a:t>Comparação de universo e montantes de avaliações (dados de agosto 2022):</a:t>
            </a:r>
            <a:endParaRPr lang="en-US" sz="1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751861"/>
              </p:ext>
            </p:extLst>
          </p:nvPr>
        </p:nvGraphicFramePr>
        <p:xfrm>
          <a:off x="722242" y="2202181"/>
          <a:ext cx="9923673" cy="2204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038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141635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5765817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78857393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ID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Temas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Apenas serão contempladas responsabilidades/processos com bens associados e com datas de vencimento válidas. </a:t>
                      </a:r>
                      <a:r>
                        <a:rPr lang="pt-PT" sz="800" b="1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ATUALIZADO</a:t>
                      </a:r>
                      <a:endParaRPr lang="pt-PT" sz="8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1 295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  (+714)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659 274 841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(+503 755 763)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Todos os titulares, utilizados atualmente como garantias pessoais, serão excluídos.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*68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199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(+68 199)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4 015 141 758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(+4 015 141 758)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3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O algoritmos de apuramento de saldos das responsabilidades, relevantes para a distribuição dos montantes das garantias, passará a contemplar contas contabilisticas de juros e despesas vencidas.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200727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4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A metodologia de aprovisionamento de montantes de avaliação para fomentos à construção e IFRRUs, manter-se-á como no BIYR9500. A mesma será revista após o rácio de Novembro.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57866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5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O montante considerado em garantias pessoais deve ser o da responsabilidade e não o do processo. </a:t>
                      </a:r>
                      <a:endParaRPr lang="pt-PT" sz="800" b="1" i="0" u="none" strike="noStrike" dirty="0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77517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No caso das garantias financeiras, serão descartadas as garantias cuja data de vencimento seja inferior à data do rácio, mesmo tendo uma data de cativo válida (uma vez que a data de cativo pode ser referente à DO e não ao bem contratualizado incialmente com o cliente). Metodologia que será aplicada após quantificação de impactos. </a:t>
                      </a:r>
                      <a:r>
                        <a:rPr lang="pt-PT" sz="800" b="1" u="none" strike="noStrike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NOVO</a:t>
                      </a:r>
                      <a:endParaRPr lang="pt-PT" sz="800" b="1" i="0" u="none" strike="noStrike" dirty="0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Apenas serão contemplados bens com datas de avaliação válidas. </a:t>
                      </a:r>
                      <a:r>
                        <a:rPr lang="pt-PT" sz="8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NOVO</a:t>
                      </a:r>
                      <a:endParaRPr lang="pt-PT" sz="8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(+216)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59 153 125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(+ 59 153 125)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79692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78083"/>
            <a:ext cx="8511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000" dirty="0"/>
              <a:t>Temas relevantes considerados no novo modelo de garantias: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1183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10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Pessoais</a:t>
            </a:r>
            <a:r>
              <a:rPr lang="pt-PT" sz="1000" b="1" baseline="30000" dirty="0">
                <a:solidFill>
                  <a:schemeClr val="tx1"/>
                </a:solidFill>
              </a:rPr>
              <a:t>1 2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550717"/>
              </p:ext>
            </p:extLst>
          </p:nvPr>
        </p:nvGraphicFramePr>
        <p:xfrm>
          <a:off x="722243" y="1992456"/>
          <a:ext cx="9645107" cy="222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 Cliente </a:t>
                      </a:r>
                      <a:r>
                        <a:rPr lang="pt-PT" sz="8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34 521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719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2 290 892 432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2 290 892 432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327 656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24 067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20 983 896 879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28 935 000 664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-7 951 103 785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362 177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24 786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23 274 789 311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31 225 893 096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-7 951 103 785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2)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Exclusivo</a:t>
                      </a: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Novo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Modelo</a:t>
                      </a: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de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Garantias</a:t>
                      </a:r>
                      <a:endParaRPr lang="en-US" sz="800" b="1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8 781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569 335 996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94135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127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12 869 710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1 228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136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152 499 250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10 136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-2 362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734 704 956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36 617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-31 582</a:t>
                      </a:r>
                      <a:endParaRPr lang="pt-PT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3 225 480 935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2 826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-22 773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202 639 730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33 044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31 740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1 439 047 408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72 487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-28 349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4 867 168 072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1028" y="6072469"/>
            <a:ext cx="4342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  <a:r>
              <a:rPr lang="pt-BR" sz="800" dirty="0"/>
              <a:t> e </a:t>
            </a:r>
            <a:r>
              <a:rPr lang="pt-BR" sz="800" i="1" dirty="0"/>
              <a:t>Factoring</a:t>
            </a:r>
          </a:p>
          <a:p>
            <a:r>
              <a:rPr lang="pt-BR" sz="800" dirty="0"/>
              <a:t>2. A granularidade utilizada para análise foi ao nivel do bem (garantia pessoal – Cliente)</a:t>
            </a:r>
          </a:p>
          <a:p>
            <a:r>
              <a:rPr lang="pt-BR" sz="800" dirty="0"/>
              <a:t>3. A granularidade apresentada é a do Novo Modelo de Garantias (granularidade de IC’s)</a:t>
            </a:r>
            <a:endParaRPr lang="en-US" sz="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sng" dirty="0">
                <a:solidFill>
                  <a:schemeClr val="tx1"/>
                </a:solidFill>
                <a:latin typeface="+mj-lt"/>
              </a:rPr>
              <a:t>Todos os titulares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, utilizados atualmente como garantias pessoais,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serão excluídos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7396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Financeiras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DBE921F-5189-2684-9605-7881F2DD0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601625"/>
              </p:ext>
            </p:extLst>
          </p:nvPr>
        </p:nvGraphicFramePr>
        <p:xfrm>
          <a:off x="722243" y="1992456"/>
          <a:ext cx="9645107" cy="240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8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5 206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31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417 630 421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417 630 421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3 465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3 465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323 854 725</a:t>
                      </a:r>
                      <a:endParaRPr lang="pt-PT" sz="700" b="0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319 981 121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3 873 604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1786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1400229,88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1397813,61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2416,27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1067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186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-3 501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16923174,2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13915883,42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3007290,78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7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8 858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-4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759 808 551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752 925 239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6 883 311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377 663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 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310 860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 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41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0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688 523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effectLst/>
                        </a:rPr>
                        <a:t> 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388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476 975 412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48 613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24 373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402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0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effectLst/>
                        </a:rPr>
                        <a:t> 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477 048 398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9B12163-7231-98A4-752B-C91842F7088D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Saldos de bens financeiros utilizados no modelo apresentam </a:t>
            </a:r>
            <a:r>
              <a:rPr lang="pt-PT" sz="900" i="1" dirty="0">
                <a:solidFill>
                  <a:schemeClr val="tx1"/>
                </a:solidFill>
                <a:latin typeface="+mj-lt"/>
              </a:rPr>
              <a:t>lag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 de um dia face ao BIYR (BIYR utiliza saldos de D+1).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e com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datas de vencimento válidas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0D770-CF7C-B3A4-7476-7F7C8EE33F02}"/>
              </a:ext>
            </a:extLst>
          </p:cNvPr>
          <p:cNvSpPr txBox="1"/>
          <p:nvPr/>
        </p:nvSpPr>
        <p:spPr>
          <a:xfrm>
            <a:off x="711028" y="6072469"/>
            <a:ext cx="43428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apresentada é a do Novo Modelo de Garantias (granularidade de IC’s) 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60319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ED305-BDCA-4B0A-A339-46414EFED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12</a:t>
            </a:fld>
            <a:endParaRPr lang="es-E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9BD9C71-3485-4DF5-ABFB-008415C21D2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560638"/>
          <a:ext cx="10515601" cy="1972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7443">
                  <a:extLst>
                    <a:ext uri="{9D8B030D-6E8A-4147-A177-3AD203B41FA5}">
                      <a16:colId xmlns:a16="http://schemas.microsoft.com/office/drawing/2014/main" val="2795776294"/>
                    </a:ext>
                  </a:extLst>
                </a:gridCol>
                <a:gridCol w="1988562">
                  <a:extLst>
                    <a:ext uri="{9D8B030D-6E8A-4147-A177-3AD203B41FA5}">
                      <a16:colId xmlns:a16="http://schemas.microsoft.com/office/drawing/2014/main" val="2574178343"/>
                    </a:ext>
                  </a:extLst>
                </a:gridCol>
                <a:gridCol w="1232044">
                  <a:extLst>
                    <a:ext uri="{9D8B030D-6E8A-4147-A177-3AD203B41FA5}">
                      <a16:colId xmlns:a16="http://schemas.microsoft.com/office/drawing/2014/main" val="3155020769"/>
                    </a:ext>
                  </a:extLst>
                </a:gridCol>
                <a:gridCol w="1350925">
                  <a:extLst>
                    <a:ext uri="{9D8B030D-6E8A-4147-A177-3AD203B41FA5}">
                      <a16:colId xmlns:a16="http://schemas.microsoft.com/office/drawing/2014/main" val="2504492709"/>
                    </a:ext>
                  </a:extLst>
                </a:gridCol>
                <a:gridCol w="108074">
                  <a:extLst>
                    <a:ext uri="{9D8B030D-6E8A-4147-A177-3AD203B41FA5}">
                      <a16:colId xmlns:a16="http://schemas.microsoft.com/office/drawing/2014/main" val="3109429185"/>
                    </a:ext>
                  </a:extLst>
                </a:gridCol>
                <a:gridCol w="1242851">
                  <a:extLst>
                    <a:ext uri="{9D8B030D-6E8A-4147-A177-3AD203B41FA5}">
                      <a16:colId xmlns:a16="http://schemas.microsoft.com/office/drawing/2014/main" val="2186664566"/>
                    </a:ext>
                  </a:extLst>
                </a:gridCol>
                <a:gridCol w="1242851">
                  <a:extLst>
                    <a:ext uri="{9D8B030D-6E8A-4147-A177-3AD203B41FA5}">
                      <a16:colId xmlns:a16="http://schemas.microsoft.com/office/drawing/2014/main" val="2130334711"/>
                    </a:ext>
                  </a:extLst>
                </a:gridCol>
                <a:gridCol w="1242851">
                  <a:extLst>
                    <a:ext uri="{9D8B030D-6E8A-4147-A177-3AD203B41FA5}">
                      <a16:colId xmlns:a16="http://schemas.microsoft.com/office/drawing/2014/main" val="384889612"/>
                    </a:ext>
                  </a:extLst>
                </a:gridCol>
              </a:tblGrid>
              <a:tr h="280992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Universos</a:t>
                      </a:r>
                      <a:endParaRPr lang="pt-PT" sz="9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Casuística</a:t>
                      </a:r>
                      <a:endParaRPr lang="pt-PT" sz="9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# Responsabilidade/</a:t>
                      </a:r>
                      <a:br>
                        <a:rPr lang="pt-PT" sz="900" u="none" strike="noStrike">
                          <a:effectLst/>
                        </a:rPr>
                      </a:br>
                      <a:r>
                        <a:rPr lang="pt-PT" sz="900" u="none" strike="noStrike">
                          <a:effectLst/>
                        </a:rPr>
                        <a:t>Processo</a:t>
                      </a:r>
                      <a:endParaRPr lang="pt-PT" sz="9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u="none" strike="noStrike">
                          <a:effectLst/>
                        </a:rPr>
                        <a:t>∆ Follow up</a:t>
                      </a:r>
                      <a:endParaRPr lang="pt-PT" sz="9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MAVALIAA - Novo Modelo de garantias</a:t>
                      </a:r>
                      <a:endParaRPr lang="pt-PT" sz="9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MAVALIAA - BIYR9500</a:t>
                      </a:r>
                      <a:endParaRPr lang="pt-PT" sz="9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extLst>
                  <a:ext uri="{0D108BD9-81ED-4DB2-BD59-A6C34878D82A}">
                    <a16:rowId xmlns:a16="http://schemas.microsoft.com/office/drawing/2014/main" val="179242522"/>
                  </a:ext>
                </a:extLst>
              </a:tr>
              <a:tr h="156707">
                <a:tc rowSpan="6"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1) Universo Comum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Sem diferenças de mavaliaa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055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205 636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151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40 216 736 384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40 216 736 384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extLst>
                  <a:ext uri="{0D108BD9-81ED-4DB2-BD59-A6C34878D82A}">
                    <a16:rowId xmlns:a16="http://schemas.microsoft.com/office/drawing/2014/main" val="2310896"/>
                  </a:ext>
                </a:extLst>
              </a:tr>
              <a:tr h="156707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Diferenças de metodologia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055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110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110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393 710 455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810 666 452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-416 955 998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extLst>
                  <a:ext uri="{0D108BD9-81ED-4DB2-BD59-A6C34878D82A}">
                    <a16:rowId xmlns:a16="http://schemas.microsoft.com/office/drawing/2014/main" val="1855643788"/>
                  </a:ext>
                </a:extLst>
              </a:tr>
              <a:tr h="21290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Em resolução - requisitos definidos e planificados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055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-516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extLst>
                  <a:ext uri="{0D108BD9-81ED-4DB2-BD59-A6C34878D82A}">
                    <a16:rowId xmlns:a16="http://schemas.microsoft.com/office/drawing/2014/main" val="489256561"/>
                  </a:ext>
                </a:extLst>
              </a:tr>
              <a:tr h="156707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Em resolução - definição de requisitos em curso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055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193 814 387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61 550 651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132 263 736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extLst>
                  <a:ext uri="{0D108BD9-81ED-4DB2-BD59-A6C34878D82A}">
                    <a16:rowId xmlns:a16="http://schemas.microsoft.com/office/drawing/2014/main" val="2930813736"/>
                  </a:ext>
                </a:extLst>
              </a:tr>
              <a:tr h="156707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Em análise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055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182 208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320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16 537 963 446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16 511 328 559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26 634 887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extLst>
                  <a:ext uri="{0D108BD9-81ED-4DB2-BD59-A6C34878D82A}">
                    <a16:rowId xmlns:a16="http://schemas.microsoft.com/office/drawing/2014/main" val="1209735343"/>
                  </a:ext>
                </a:extLst>
              </a:tr>
              <a:tr h="156707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Total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387 985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96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57 342 224 672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57 600 282 046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-258 057 374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extLst>
                  <a:ext uri="{0D108BD9-81ED-4DB2-BD59-A6C34878D82A}">
                    <a16:rowId xmlns:a16="http://schemas.microsoft.com/office/drawing/2014/main" val="2727221293"/>
                  </a:ext>
                </a:extLst>
              </a:tr>
              <a:tr h="156707">
                <a:tc rowSpan="4"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3) Exclusivo BIYR2500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Diferenças de metodologia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055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1 122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241 403 054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extLst>
                  <a:ext uri="{0D108BD9-81ED-4DB2-BD59-A6C34878D82A}">
                    <a16:rowId xmlns:a16="http://schemas.microsoft.com/office/drawing/2014/main" val="966283297"/>
                  </a:ext>
                </a:extLst>
              </a:tr>
              <a:tr h="21290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Em resolução - requisitos definidos e planificados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055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-115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275 000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extLst>
                  <a:ext uri="{0D108BD9-81ED-4DB2-BD59-A6C34878D82A}">
                    <a16:rowId xmlns:a16="http://schemas.microsoft.com/office/drawing/2014/main" val="1336556716"/>
                  </a:ext>
                </a:extLst>
              </a:tr>
              <a:tr h="156707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Em análise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055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225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40 846 797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extLst>
                  <a:ext uri="{0D108BD9-81ED-4DB2-BD59-A6C34878D82A}">
                    <a16:rowId xmlns:a16="http://schemas.microsoft.com/office/drawing/2014/main" val="1973885859"/>
                  </a:ext>
                </a:extLst>
              </a:tr>
              <a:tr h="156707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Total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1 349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-95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 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282 524 851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/>
                </a:tc>
                <a:extLst>
                  <a:ext uri="{0D108BD9-81ED-4DB2-BD59-A6C34878D82A}">
                    <a16:rowId xmlns:a16="http://schemas.microsoft.com/office/drawing/2014/main" val="1877047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637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13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Imóveis</a:t>
            </a:r>
            <a:r>
              <a:rPr lang="pt-PT" sz="1000" b="1" baseline="30000" dirty="0">
                <a:solidFill>
                  <a:schemeClr val="tx1"/>
                </a:solidFill>
              </a:rPr>
              <a:t>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4EF0D11-64A1-95A7-5896-603B980711CC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1992456"/>
          <a:ext cx="9645107" cy="222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8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205 485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24 855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40 239 470 242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40 239 470 242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-188 567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1 747 015 254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962 584 616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784 430 638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21071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78391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181 888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178 285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16 276 850 170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16 269 658 753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7 191 417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387 889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14 383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8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58 263 335 666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57 471 713 611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791 622 055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2)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Exclusivo</a:t>
                      </a: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Novo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Modelo</a:t>
                      </a: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de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Garantias</a:t>
                      </a:r>
                      <a:endParaRPr lang="en-US" sz="800" b="1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8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3)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1 123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241 452 554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-1 267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127 710 551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41 930 182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1 444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-576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8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411 093 286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3A208F6-5AB8-A553-3145-F5362921AE62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contemplados bens com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datas de avaliação válidas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7CA54-E9D4-15E2-B844-863EF76FF921}"/>
              </a:ext>
            </a:extLst>
          </p:cNvPr>
          <p:cNvSpPr txBox="1"/>
          <p:nvPr/>
        </p:nvSpPr>
        <p:spPr>
          <a:xfrm>
            <a:off x="711028" y="6072469"/>
            <a:ext cx="4342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</a:p>
          <a:p>
            <a:r>
              <a:rPr lang="pt-BR" sz="800" dirty="0"/>
              <a:t>2. A granularidade apresentada é a do Novo Modelo de Garantias (granularidade de IC’s) 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8487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14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Leasing</a:t>
            </a:r>
            <a:r>
              <a:rPr lang="pt-PT" sz="1000" b="1" dirty="0">
                <a:solidFill>
                  <a:schemeClr val="tx1"/>
                </a:solidFill>
              </a:rPr>
              <a:t> Imóveis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1992456"/>
          <a:ext cx="9645107" cy="168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8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3 973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1 490 843 247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1 490 843 247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15 954 578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17 899 691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-1 945 113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4 002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1 506 797 825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1 508 742 938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-1 945 113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1 589 624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1 589 624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60 754 871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110 024 587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2523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110 024 587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4B7515AF-BE8F-166D-017D-FFA2E7258BC8}"/>
              </a:ext>
            </a:extLst>
          </p:cNvPr>
          <p:cNvSpPr txBox="1">
            <a:spLocks/>
          </p:cNvSpPr>
          <p:nvPr/>
        </p:nvSpPr>
        <p:spPr>
          <a:xfrm>
            <a:off x="722243" y="4001414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Leasing </a:t>
            </a:r>
            <a:r>
              <a:rPr lang="pt-PT" sz="1000" b="1" dirty="0">
                <a:solidFill>
                  <a:schemeClr val="tx1"/>
                </a:solidFill>
              </a:rPr>
              <a:t>Pessoais</a:t>
            </a:r>
            <a:r>
              <a:rPr lang="pt-PT" sz="1000" b="1" baseline="30000" dirty="0">
                <a:solidFill>
                  <a:schemeClr val="tx1"/>
                </a:solidFill>
              </a:rPr>
              <a:t> 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B80F0A-E11B-61FA-EFAD-1E764024BFDF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4370854"/>
          <a:ext cx="9645107" cy="132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8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1) </a:t>
                      </a:r>
                      <a:r>
                        <a:rPr lang="en-US" sz="8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Universo</a:t>
                      </a:r>
                      <a:r>
                        <a:rPr lang="en-US" sz="8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en-US" sz="8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Comum</a:t>
                      </a:r>
                      <a:endParaRPr lang="en-US" sz="8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32 529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164 210 681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1 637 636 926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-1 473 426 245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32 529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164 210 681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1 637 636 926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-1 473 426 245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396 499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396 499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7 393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143 145 455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7 393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143 145 455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4285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utilizada para análise foi ao nivel do bem (garantia pessoal – Cliente)</a:t>
            </a:r>
          </a:p>
          <a:p>
            <a:r>
              <a:rPr lang="pt-BR" sz="800" dirty="0"/>
              <a:t>2. A granularidade apresentada é a do Novo Modelo de Garantias (granularidade de IC’s)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5660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15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/>
              <a:t>Imparidade</a:t>
            </a:r>
            <a:endParaRPr lang="en-US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722243" y="1876930"/>
            <a:ext cx="959891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/>
              <a:t>Total de contratos com diferenças de provisão: </a:t>
            </a:r>
            <a:r>
              <a:rPr lang="pt-PT" sz="1000" b="1" dirty="0"/>
              <a:t>4.152</a:t>
            </a:r>
            <a:r>
              <a:rPr lang="pt-PT" sz="1000" dirty="0"/>
              <a:t> (face à versão anterior houve uma redução de 14.136 contratos com diferenças de provisão)</a:t>
            </a:r>
            <a:r>
              <a:rPr lang="pt-PT" sz="1000" b="1" dirty="0"/>
              <a:t>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/>
              <a:t>Total de garantias duplicadas: </a:t>
            </a:r>
            <a:r>
              <a:rPr lang="pt-PT" sz="1000" b="1" dirty="0"/>
              <a:t>198;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/>
              <a:t>Impactos no apuramento da imparidade: </a:t>
            </a:r>
            <a:r>
              <a:rPr lang="pt-PT" sz="1000" b="1" dirty="0"/>
              <a:t>+9k€ </a:t>
            </a:r>
            <a:r>
              <a:rPr lang="pt-PT" sz="1000" dirty="0"/>
              <a:t>(face à versão anterior houve um aumento de imparidade de aproximadamente 399k€)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028" y="5306994"/>
            <a:ext cx="8511177" cy="63094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sz="1000" dirty="0"/>
              <a:t>Outros temas identificados :</a:t>
            </a:r>
          </a:p>
          <a:p>
            <a:pPr marL="171450" indent="-1714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000" dirty="0"/>
              <a:t>Operações de Leasing com temas de qualidade de informação nos campos de identificador de garantia e tipologia de garantia;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21" y="3346483"/>
            <a:ext cx="11088102" cy="142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7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Principais</a:t>
            </a:r>
            <a:r>
              <a:rPr lang="es-ES"/>
              <a:t> riscos e </a:t>
            </a:r>
            <a:r>
              <a:rPr lang="es-ES" i="1" err="1"/>
              <a:t>issues</a:t>
            </a:r>
            <a:endParaRPr lang="es-ES" i="1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1599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4. </a:t>
            </a:r>
            <a:r>
              <a:rPr lang="es-ES" sz="2000" dirty="0" err="1"/>
              <a:t>Principais</a:t>
            </a:r>
            <a:r>
              <a:rPr lang="es-ES" sz="2000" dirty="0"/>
              <a:t> riscos e </a:t>
            </a:r>
            <a:r>
              <a:rPr lang="es-ES" sz="2000" i="1" dirty="0" err="1"/>
              <a:t>issues</a:t>
            </a:r>
            <a:endParaRPr lang="es-ES" sz="2000" i="1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4088" y="6403285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17</a:t>
            </a:fld>
            <a:endParaRPr lang="es-E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3ECD55-8AC5-4B6F-9D78-1E86A88D3CA8}"/>
              </a:ext>
            </a:extLst>
          </p:cNvPr>
          <p:cNvSpPr txBox="1"/>
          <p:nvPr/>
        </p:nvSpPr>
        <p:spPr>
          <a:xfrm>
            <a:off x="547533" y="787184"/>
            <a:ext cx="10758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pt-PT" dirty="0"/>
              <a:t>O projeto apresenta alguns riscos e </a:t>
            </a:r>
            <a:r>
              <a:rPr lang="pt-PT" i="1" dirty="0" err="1"/>
              <a:t>issues</a:t>
            </a:r>
            <a:r>
              <a:rPr lang="pt-PT" dirty="0"/>
              <a:t> que põem em causa o </a:t>
            </a:r>
            <a:r>
              <a:rPr lang="pt-PT" i="1" dirty="0" err="1"/>
              <a:t>milestone</a:t>
            </a:r>
            <a:r>
              <a:rPr lang="pt-PT" dirty="0"/>
              <a:t> de final do projeto.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40247B87-3ACD-4942-89CE-E986034A1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089493"/>
              </p:ext>
            </p:extLst>
          </p:nvPr>
        </p:nvGraphicFramePr>
        <p:xfrm>
          <a:off x="695215" y="1219800"/>
          <a:ext cx="10368000" cy="5040656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811350376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3186216886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3344114568"/>
                    </a:ext>
                  </a:extLst>
                </a:gridCol>
                <a:gridCol w="7524000">
                  <a:extLst>
                    <a:ext uri="{9D8B030D-6E8A-4147-A177-3AD203B41FA5}">
                      <a16:colId xmlns:a16="http://schemas.microsoft.com/office/drawing/2014/main" val="1603534624"/>
                    </a:ext>
                  </a:extLst>
                </a:gridCol>
              </a:tblGrid>
              <a:tr h="207841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ID</a:t>
                      </a:r>
                    </a:p>
                  </a:txBody>
                  <a:tcPr marL="5948" marR="5948" marT="59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Riscos/ </a:t>
                      </a:r>
                      <a:r>
                        <a:rPr lang="pt-PT" sz="1200" b="1" i="1" u="none" strike="noStrike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Issues</a:t>
                      </a:r>
                      <a:endParaRPr lang="pt-PT" sz="1200" b="1" i="1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Classificação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Descrição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279611"/>
                  </a:ext>
                </a:extLst>
              </a:tr>
              <a:tr h="70937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948" marR="5948" marT="59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Issue</a:t>
                      </a:r>
                      <a:endParaRPr lang="pt-PT" sz="12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Alta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Verifica-se</a:t>
                      </a:r>
                      <a:r>
                        <a:rPr lang="pt-PT" sz="12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problemas de qualidade importantes de informação nos sistemas core do banco relativo a bens imóveis (Falta de bens imóveis carregados em sistema, erros nos carregamentos de informação sobre as avaliações, entre outros). </a:t>
                      </a:r>
                      <a:r>
                        <a:rPr lang="pt-PT" sz="12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 referir que este </a:t>
                      </a:r>
                      <a:r>
                        <a:rPr lang="pt-PT" sz="1200" b="1" i="1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issue</a:t>
                      </a:r>
                      <a:r>
                        <a:rPr lang="pt-PT" sz="12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tem um impacto alto no que respeita a montantes de cobertura, nomeadamente nos LTV calculados.</a:t>
                      </a:r>
                      <a:endParaRPr lang="pt-PT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3530" marR="5948" marT="5948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929282"/>
                  </a:ext>
                </a:extLst>
              </a:tr>
              <a:tr h="657161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948" marR="5948" marT="59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Issue</a:t>
                      </a:r>
                      <a:endParaRPr lang="pt-PT" sz="12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Baixo</a:t>
                      </a:r>
                      <a:endParaRPr lang="pt-PT" sz="1200" b="1" i="1" u="none" strike="noStrike" dirty="0">
                        <a:solidFill>
                          <a:srgbClr val="ED7D3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 forma a colmatar gaps de informação das garantias imóveis, são gerados na BDR bens fictícios. </a:t>
                      </a:r>
                      <a:r>
                        <a:rPr lang="pt-P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Diretamente</a:t>
                      </a:r>
                      <a:r>
                        <a:rPr lang="pt-PT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relacionado com o </a:t>
                      </a:r>
                      <a:r>
                        <a:rPr lang="pt-PT" sz="1200" b="1" i="1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issue</a:t>
                      </a:r>
                      <a:r>
                        <a:rPr lang="pt-PT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anterior e que gerará também diferenças no calculo de LTV e consequente montante coberto.</a:t>
                      </a:r>
                      <a:endParaRPr lang="pt-PT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3530" marR="5948" marT="5948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9408115"/>
                  </a:ext>
                </a:extLst>
              </a:tr>
              <a:tr h="885282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948" marR="5948" marT="59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Risco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Alta</a:t>
                      </a:r>
                      <a:endParaRPr lang="pt-PT" sz="1200" b="1" i="1" u="none" strike="noStrike" dirty="0">
                        <a:solidFill>
                          <a:srgbClr val="ED7D3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</a:t>
                      </a:r>
                      <a:r>
                        <a:rPr lang="pt-PT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o aumento das validações que estão a ser realizados aos </a:t>
                      </a:r>
                      <a:r>
                        <a:rPr lang="pt-PT" sz="1200" b="0" i="1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inputs </a:t>
                      </a:r>
                      <a:r>
                        <a:rPr lang="pt-PT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 dados produzidos para envio para as várias áreas, estão a ser identificados cada vez mais inconsistências e problemas de informação nos sistema core.</a:t>
                      </a:r>
                      <a:r>
                        <a:rPr lang="pt-P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Este</a:t>
                      </a:r>
                      <a:r>
                        <a:rPr lang="pt-PT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risco, dado a </a:t>
                      </a:r>
                      <a:r>
                        <a:rPr lang="pt-PT" sz="1200" b="1" i="1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timeline</a:t>
                      </a:r>
                      <a:r>
                        <a:rPr lang="pt-PT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do projeto, pode comprometer os </a:t>
                      </a:r>
                      <a:r>
                        <a:rPr lang="pt-PT" sz="1200" b="1" i="1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deadlines</a:t>
                      </a:r>
                      <a:r>
                        <a:rPr lang="pt-PT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definidos e implica a definição de mais requisitos.</a:t>
                      </a:r>
                      <a:endParaRPr lang="pt-PT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3530" marR="5948" marT="5948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0968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948" marR="5948" marT="59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Risco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Alta</a:t>
                      </a:r>
                      <a:endParaRPr lang="pt-PT" sz="1200" b="1" i="1" u="none" strike="noStrike" dirty="0">
                        <a:solidFill>
                          <a:srgbClr val="ED7D3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 o aumento do número de análises e testes por parte da equipa funcional</a:t>
                      </a:r>
                      <a:r>
                        <a:rPr lang="pt-PT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está a revelar-se mais desafiante do que o previsto, dado a complexidade do modelo e do elevado número de casuísticas dos vários lados. </a:t>
                      </a:r>
                      <a:r>
                        <a:rPr lang="pt-P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Este</a:t>
                      </a:r>
                      <a:r>
                        <a:rPr lang="pt-PT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risco, dado a </a:t>
                      </a:r>
                      <a:r>
                        <a:rPr lang="pt-PT" sz="1200" b="1" i="1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timeline</a:t>
                      </a:r>
                      <a:r>
                        <a:rPr lang="pt-PT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do projeto, pode comprometer os </a:t>
                      </a:r>
                      <a:r>
                        <a:rPr lang="pt-PT" sz="1200" b="1" i="1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deadlines</a:t>
                      </a:r>
                      <a:r>
                        <a:rPr lang="pt-PT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definidos.</a:t>
                      </a:r>
                      <a:endParaRPr lang="pt-PT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3530" marR="5948" marT="5948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0968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5948" marR="5948" marT="59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Issue</a:t>
                      </a:r>
                      <a:endParaRPr lang="pt-PT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Médio</a:t>
                      </a:r>
                      <a:endParaRPr lang="pt-PT" sz="1200" b="1" i="1" u="none" strike="noStrike" dirty="0">
                        <a:solidFill>
                          <a:srgbClr val="ED7D3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Não</a:t>
                      </a:r>
                      <a:r>
                        <a:rPr lang="pt-PT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é possível a inclusão no modelo de garantias, a tempo para o rácio de Novembro, a informação relativa ao montante de avaliação inicial das garantias e informação correta das avaliações dos Fomentos à Construção e </a:t>
                      </a:r>
                      <a:r>
                        <a:rPr lang="pt-PT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IFRRUs</a:t>
                      </a:r>
                      <a:r>
                        <a:rPr lang="pt-PT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 </a:t>
                      </a:r>
                      <a:r>
                        <a:rPr lang="pt-PT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Este tema têm impacto na área de Imparidade, para utilização no rácio de Novembro.</a:t>
                      </a:r>
                      <a:r>
                        <a:rPr lang="pt-PT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endParaRPr lang="pt-PT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3530" marR="5948" marT="5948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50968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5948" marR="5948" marT="59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Risco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Alta</a:t>
                      </a:r>
                      <a:endParaRPr lang="pt-PT" sz="1200" b="1" i="1" u="none" strike="noStrike" dirty="0">
                        <a:solidFill>
                          <a:srgbClr val="ED7D3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Identificou-se temas</a:t>
                      </a:r>
                      <a:r>
                        <a:rPr lang="pt-PT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com a geração dos ficheiros disponibilizados pela área de Leasing, após os desenvolvimentos que permitiam disponibilizar o carregamento da informação a D+1. </a:t>
                      </a:r>
                      <a:r>
                        <a:rPr lang="pt-PT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Este risco, caso não seja possível garantir a qualidade do novo ficheiro a tempo do rácio de Novembro, compromete a qualidade da informação gerada para a carteira de Leasing.</a:t>
                      </a:r>
                      <a:endParaRPr lang="pt-PT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3530" marR="5948" marT="5948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991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Anexos</a:t>
            </a:r>
            <a:endParaRPr lang="es-ES" i="1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757026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5. Anexos -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19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5.1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Plano (2/2)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1028" y="3723049"/>
            <a:ext cx="9947617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/>
              <a:t>O </a:t>
            </a:r>
            <a:r>
              <a:rPr lang="pt-PT" i="1" dirty="0" err="1"/>
              <a:t>Go</a:t>
            </a:r>
            <a:r>
              <a:rPr lang="pt-PT" i="1" dirty="0"/>
              <a:t> Live</a:t>
            </a:r>
            <a:r>
              <a:rPr lang="pt-PT" dirty="0"/>
              <a:t> será realizado no inicio de Dezembro 2022 sobre o rácio de Novembro de 2022;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/>
              <a:t>Apesar da alteração na BDR, isto não terá qualquer impacto quer nos seus processos ou de IT das áreas da Contabilidade e ALM que são consumidoras desta informação;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/>
              <a:t>As equipas de Imparidade, Capital, Contabilidade e ALM terão que testar as suas partes, para assegurar o correto funcionamento e impactos das alterações realizadas;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/>
              <a:t>A CRC não será alterada no ano de 2022.</a:t>
            </a:r>
            <a:endParaRPr lang="en-US" dirty="0"/>
          </a:p>
        </p:txBody>
      </p:sp>
      <p:sp>
        <p:nvSpPr>
          <p:cNvPr id="99" name="Rounded Rectangle 98"/>
          <p:cNvSpPr/>
          <p:nvPr/>
        </p:nvSpPr>
        <p:spPr>
          <a:xfrm>
            <a:off x="711028" y="3558056"/>
            <a:ext cx="2160000" cy="28800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Notas/Pressupostos</a:t>
            </a:r>
            <a:endParaRPr lang="en-US" sz="1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056" y="1886348"/>
            <a:ext cx="4596589" cy="165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5.2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20</a:t>
            </a:fld>
            <a:endParaRPr lang="es-E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5. Anexos -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141342" y="1124713"/>
            <a:ext cx="95184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Principais Atividades em Curso (1/2)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722243" y="1865800"/>
            <a:ext cx="9937499" cy="1798160"/>
            <a:chOff x="722243" y="1865800"/>
            <a:chExt cx="9937499" cy="1798160"/>
          </a:xfrm>
        </p:grpSpPr>
        <p:sp>
          <p:nvSpPr>
            <p:cNvPr id="8" name="TextBox 7"/>
            <p:cNvSpPr txBox="1"/>
            <p:nvPr/>
          </p:nvSpPr>
          <p:spPr>
            <a:xfrm>
              <a:off x="722243" y="1955800"/>
              <a:ext cx="9937499" cy="170816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spcBef>
                  <a:spcPts val="600"/>
                </a:spcBef>
                <a:buFont typeface="Wingdings" panose="05000000000000000000" pitchFamily="2" charset="2"/>
                <a:buChar char="Ø"/>
              </a:pPr>
              <a:r>
                <a:rPr lang="pt-PT" sz="1000" b="1" dirty="0"/>
                <a:t>Análise aos problemas de qualidade de informação nos sistemas core do banco</a:t>
              </a:r>
              <a:r>
                <a:rPr lang="pt-PT" sz="1000" dirty="0"/>
                <a:t>:</a:t>
              </a:r>
            </a:p>
            <a:p>
              <a:pPr marL="742626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PT" sz="1000" dirty="0"/>
                <a:t>Processos sem garantias associadas em sistema;</a:t>
              </a:r>
            </a:p>
            <a:p>
              <a:pPr marL="742626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PT" sz="1000" dirty="0"/>
                <a:t>Garantias sem avaliações;</a:t>
              </a:r>
            </a:p>
            <a:p>
              <a:pPr marL="742626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PT" sz="1000" dirty="0"/>
                <a:t>Garantias com múltiplas informações de avaliação para a mesma data;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pt-PT" sz="1000" b="1" dirty="0"/>
                <a:t>Análise ao processo de geração de bens fictícios na BDR;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pt-PT" sz="1000" b="1" dirty="0"/>
                <a:t>Análise e identificação de fontes adicionais às tabelas de avaliação;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pt-PT" sz="1000" b="1" dirty="0"/>
                <a:t>Implementação de IT sobre os vários conceitos especificados para o repositório de garantias</a:t>
              </a:r>
              <a:r>
                <a:rPr lang="pt-PT" sz="1000" dirty="0"/>
                <a:t>.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22243" y="1865800"/>
              <a:ext cx="1957457" cy="180000"/>
            </a:xfrm>
            <a:prstGeom prst="round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100" dirty="0"/>
                <a:t>Módulo Base</a:t>
              </a:r>
              <a:endParaRPr lang="en-US" sz="1100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722243" y="4316774"/>
            <a:ext cx="9937499" cy="874830"/>
            <a:chOff x="722243" y="4450038"/>
            <a:chExt cx="9937499" cy="874830"/>
          </a:xfrm>
        </p:grpSpPr>
        <p:sp>
          <p:nvSpPr>
            <p:cNvPr id="10" name="TextBox 9"/>
            <p:cNvSpPr txBox="1"/>
            <p:nvPr/>
          </p:nvSpPr>
          <p:spPr>
            <a:xfrm>
              <a:off x="722243" y="4540038"/>
              <a:ext cx="9937499" cy="78483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pt-BR" sz="1000" b="1" dirty="0"/>
                <a:t>Análise e identificação de possíveis </a:t>
              </a:r>
              <a:r>
                <a:rPr lang="pt-BR" sz="1000" b="1" i="1" dirty="0"/>
                <a:t>gaps</a:t>
              </a:r>
              <a:r>
                <a:rPr lang="pt-BR" sz="1000" b="1" dirty="0"/>
                <a:t> entre informação proveniente do modelo de garantias e informação presente no biyr;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pt-PT" sz="1000" b="1" dirty="0"/>
                <a:t>Implementação de IT sobre os vários conceitos especificados para o repositório de garantias;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pt-PT" sz="1000" b="1" dirty="0"/>
                <a:t>Testes à tabela produzida.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22243" y="4450038"/>
              <a:ext cx="1957457" cy="180000"/>
            </a:xfrm>
            <a:prstGeom prst="round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100" dirty="0"/>
                <a:t>Módulo União</a:t>
              </a:r>
              <a:endParaRPr lang="en-US" sz="1100" dirty="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711028" y="6042372"/>
            <a:ext cx="10302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/>
              <a:t>Nota: As áreas da Contabilidade e de ALM irão continuar a utilizar os ficheiros disponibilizados pela BDR, pelo que não irão carecer de desenvolvimentos específicos mas apenas </a:t>
            </a:r>
          </a:p>
          <a:p>
            <a:r>
              <a:rPr lang="pt-PT" sz="1000" dirty="0"/>
              <a:t>de validações das equipas..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53539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5.2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21</a:t>
            </a:fld>
            <a:endParaRPr lang="es-E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5. Anexos -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141342" y="1124713"/>
            <a:ext cx="95184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Principais Atividades em Curso (2/2)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722243" y="1865800"/>
            <a:ext cx="9937499" cy="874830"/>
            <a:chOff x="722243" y="1865800"/>
            <a:chExt cx="9937499" cy="874830"/>
          </a:xfrm>
        </p:grpSpPr>
        <p:sp>
          <p:nvSpPr>
            <p:cNvPr id="8" name="TextBox 7"/>
            <p:cNvSpPr txBox="1"/>
            <p:nvPr/>
          </p:nvSpPr>
          <p:spPr>
            <a:xfrm>
              <a:off x="722243" y="1955800"/>
              <a:ext cx="9937499" cy="78483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pt-PT" sz="1000" b="1" dirty="0"/>
                <a:t>Implementação de IT sobre os 3 ficheiros necessários disponibilizar à área de imparidade e BDR;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pt-PT" sz="1000" b="1" dirty="0"/>
                <a:t>Disponibilização, para a área de Imparidade, dos ficheiros necessários para validação técnica e conciliação;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pt-PT" sz="1000" b="1" dirty="0"/>
                <a:t>Disponibilização, para a BDR, dos ficheiros necessários para validação técnica.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22243" y="1865800"/>
              <a:ext cx="1957457" cy="180000"/>
            </a:xfrm>
            <a:prstGeom prst="round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100" dirty="0"/>
                <a:t>Módulo Exportação</a:t>
              </a:r>
              <a:endParaRPr lang="en-US" sz="1100" dirty="0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711028" y="6042372"/>
            <a:ext cx="10302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/>
              <a:t>Nota: As áreas da Contabilidade e de ALM irão continuar a utilizar os ficheiros disponibilizados pela BDR, pelo que não irão carecer de desenvolvimentos específicos mas apenas </a:t>
            </a:r>
          </a:p>
          <a:p>
            <a:r>
              <a:rPr lang="pt-PT" sz="1000" dirty="0"/>
              <a:t>de validações das equipas..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49553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5. Anexos -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22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5.3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Plano de Correções - pós rácio de Novembro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0247B87-3ACD-4942-89CE-E986034A1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208399"/>
              </p:ext>
            </p:extLst>
          </p:nvPr>
        </p:nvGraphicFramePr>
        <p:xfrm>
          <a:off x="1561993" y="1945535"/>
          <a:ext cx="7580151" cy="4187367"/>
        </p:xfrm>
        <a:graphic>
          <a:graphicData uri="http://schemas.openxmlformats.org/drawingml/2006/table">
            <a:tbl>
              <a:tblPr/>
              <a:tblGrid>
                <a:gridCol w="7580151">
                  <a:extLst>
                    <a:ext uri="{9D8B030D-6E8A-4147-A177-3AD203B41FA5}">
                      <a16:colId xmlns:a16="http://schemas.microsoft.com/office/drawing/2014/main" val="3344114568"/>
                    </a:ext>
                  </a:extLst>
                </a:gridCol>
              </a:tblGrid>
              <a:tr h="208521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Tarefa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279611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algn="l" fontAlgn="ctr"/>
                      <a:r>
                        <a:rPr lang="pt-PT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Criação de campos adicionais (</a:t>
                      </a:r>
                      <a:r>
                        <a:rPr lang="pt-PT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dtproc_orig</a:t>
                      </a:r>
                      <a:r>
                        <a:rPr lang="pt-PT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0929282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Criação da parametrização via </a:t>
                      </a:r>
                      <a:r>
                        <a:rPr lang="pt-PT" sz="1200" b="0" i="1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front</a:t>
                      </a:r>
                      <a:endParaRPr lang="pt-PT" sz="1200" b="0" i="1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9408115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Re-apontar</a:t>
                      </a:r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a CRC para o novo modelo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Baixar</a:t>
                      </a:r>
                      <a:r>
                        <a:rPr lang="pt-PT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a granularidade para bens ma BDR/IFRS9/Contabilidade e ALM</a:t>
                      </a:r>
                      <a:endParaRPr lang="pt-PT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Ligar garantias CS com produtos </a:t>
                      </a:r>
                      <a:r>
                        <a:rPr lang="pt-PT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Sigom</a:t>
                      </a:r>
                      <a:endParaRPr lang="pt-PT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Correção de casuísticas de avaliações imóveis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Mapeamento de campos de</a:t>
                      </a:r>
                      <a:r>
                        <a:rPr lang="pt-PT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informação não aprovisionada em Datalake</a:t>
                      </a:r>
                      <a:endParaRPr lang="pt-PT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Rotinar</a:t>
                      </a:r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processos de carga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Remediar</a:t>
                      </a:r>
                      <a:r>
                        <a:rPr lang="pt-PT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lacunas ou incoerências de dados nas diversas aplicações origem</a:t>
                      </a:r>
                      <a:endParaRPr lang="pt-PT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430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49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14" ma:contentTypeDescription="Create a new document." ma:contentTypeScope="" ma:versionID="bc2757bd4c151ee688c369fdfdc5da1d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49cf35f77f191e8ab7b2974270a8c8bd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B6808E-2F30-4A3E-86D7-9BE6F24DF713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beef631-8f1e-4c1a-be60-1d5dcae54efd"/>
    <ds:schemaRef ds:uri="http://purl.org/dc/elements/1.1/"/>
    <ds:schemaRef ds:uri="621ea064-9f67-4017-b065-3d285bfa18a7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1726DB8-9F6A-42F9-B27D-9B84F2C2E1C8}"/>
</file>

<file path=customXml/itemProps3.xml><?xml version="1.0" encoding="utf-8"?>
<ds:datastoreItem xmlns:ds="http://schemas.openxmlformats.org/officeDocument/2006/customXml" ds:itemID="{4977CA2D-DDA6-4B62-8B11-431A258D07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3832</TotalTime>
  <Words>3097</Words>
  <Application>Microsoft Office PowerPoint</Application>
  <PresentationFormat>Custom</PresentationFormat>
  <Paragraphs>713</Paragraphs>
  <Slides>23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Muli </vt:lpstr>
      <vt:lpstr>Times New Roman</vt:lpstr>
      <vt:lpstr>Wingdings</vt:lpstr>
      <vt:lpstr>Tema de Office</vt:lpstr>
      <vt:lpstr>1_Tema de Office</vt:lpstr>
      <vt:lpstr>2_Tema de Office</vt:lpstr>
      <vt:lpstr>Diapositiva de think-cell</vt:lpstr>
      <vt:lpstr>Projeto Repositório Consolidado de Garantias</vt:lpstr>
      <vt:lpstr>PowerPoint Presentation</vt:lpstr>
      <vt:lpstr>PowerPoint Presentation</vt:lpstr>
      <vt:lpstr>Repositório Consolidado de Garantias – Finding de OSI do Banco Central Europeu</vt:lpstr>
      <vt:lpstr>PowerPoint Presentation</vt:lpstr>
      <vt:lpstr>Plano e status do projeto </vt:lpstr>
      <vt:lpstr>3.1</vt:lpstr>
      <vt:lpstr>3.2</vt:lpstr>
      <vt:lpstr>3.3</vt:lpstr>
      <vt:lpstr>3.3</vt:lpstr>
      <vt:lpstr>3.3</vt:lpstr>
      <vt:lpstr>PowerPoint Presentation</vt:lpstr>
      <vt:lpstr>3.3</vt:lpstr>
      <vt:lpstr>3.3</vt:lpstr>
      <vt:lpstr>3.3</vt:lpstr>
      <vt:lpstr>Principais riscos e issues</vt:lpstr>
      <vt:lpstr>PowerPoint Presentation</vt:lpstr>
      <vt:lpstr>Anexos</vt:lpstr>
      <vt:lpstr>5.1</vt:lpstr>
      <vt:lpstr>5.2</vt:lpstr>
      <vt:lpstr>5.2</vt:lpstr>
      <vt:lpstr>5.3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Marharyta Synchak</cp:lastModifiedBy>
  <cp:revision>165</cp:revision>
  <dcterms:created xsi:type="dcterms:W3CDTF">2018-03-19T11:10:43Z</dcterms:created>
  <dcterms:modified xsi:type="dcterms:W3CDTF">2022-12-21T22:55:28Z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ediaServiceImageTags">
    <vt:lpwstr/>
  </property>
  <property fmtid="{D5CDD505-2E9C-101B-9397-08002B2CF9AE}" pid="4" name="MSIP_Label_3c41c091-3cbc-4dba-8b59-ce62f19500db_Enabled">
    <vt:lpwstr>true</vt:lpwstr>
  </property>
  <property fmtid="{D5CDD505-2E9C-101B-9397-08002B2CF9AE}" pid="5" name="MSIP_Label_3c41c091-3cbc-4dba-8b59-ce62f19500db_SetDate">
    <vt:lpwstr>2022-11-25T14:33:26Z</vt:lpwstr>
  </property>
  <property fmtid="{D5CDD505-2E9C-101B-9397-08002B2CF9AE}" pid="6" name="MSIP_Label_3c41c091-3cbc-4dba-8b59-ce62f19500db_Method">
    <vt:lpwstr>Privileged</vt:lpwstr>
  </property>
  <property fmtid="{D5CDD505-2E9C-101B-9397-08002B2CF9AE}" pid="7" name="MSIP_Label_3c41c091-3cbc-4dba-8b59-ce62f19500db_Name">
    <vt:lpwstr>Confidential_0_1</vt:lpwstr>
  </property>
  <property fmtid="{D5CDD505-2E9C-101B-9397-08002B2CF9AE}" pid="8" name="MSIP_Label_3c41c091-3cbc-4dba-8b59-ce62f19500db_SiteId">
    <vt:lpwstr>35595a02-4d6d-44ac-99e1-f9ab4cd872db</vt:lpwstr>
  </property>
  <property fmtid="{D5CDD505-2E9C-101B-9397-08002B2CF9AE}" pid="9" name="MSIP_Label_3c41c091-3cbc-4dba-8b59-ce62f19500db_ActionId">
    <vt:lpwstr>75ced0a5-2e7d-4292-9a2f-8176e3efd260</vt:lpwstr>
  </property>
  <property fmtid="{D5CDD505-2E9C-101B-9397-08002B2CF9AE}" pid="10" name="MSIP_Label_3c41c091-3cbc-4dba-8b59-ce62f19500db_ContentBits">
    <vt:lpwstr>1</vt:lpwstr>
  </property>
</Properties>
</file>