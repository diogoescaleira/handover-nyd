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146846979" r:id="rId5"/>
    <p:sldId id="2146846983" r:id="rId6"/>
    <p:sldId id="257" r:id="rId7"/>
    <p:sldId id="2146846984" r:id="rId8"/>
    <p:sldId id="2146846985" r:id="rId9"/>
  </p:sldIdLst>
  <p:sldSz cx="12192000" cy="6858000"/>
  <p:notesSz cx="6858000" cy="9926638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052007-4DCB-4C2D-9175-F0991BD2B084}" name="Nádia Genebra Ahmad" initials="NGA" userId="S::E800421@corp.santander.pt::36126275-cace-419f-8e9b-04679c4f8ea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0" autoAdjust="0"/>
    <p:restoredTop sz="93870" autoAdjust="0"/>
  </p:normalViewPr>
  <p:slideViewPr>
    <p:cSldViewPr snapToGrid="0">
      <p:cViewPr varScale="1">
        <p:scale>
          <a:sx n="79" d="100"/>
          <a:sy n="79" d="100"/>
        </p:scale>
        <p:origin x="7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2EC50-19F0-4E35-9125-A66A562DCC4A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776788"/>
            <a:ext cx="5486400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9429750"/>
            <a:ext cx="29718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845C8-84B5-4E6B-BA8B-94C27CB832CA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3350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730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Faça clique para editar o estilo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3632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28040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646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125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24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053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3566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16390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3152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48274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3525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6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D5852-A4B5-47A6-9569-F6EE586DBBB4}" type="datetimeFigureOut">
              <a:rPr lang="pt-PT" smtClean="0"/>
              <a:t>28/05/2024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14305-5B69-4F00-8CF8-0ED6BEFEF99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08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adroTexto 86">
            <a:extLst>
              <a:ext uri="{FF2B5EF4-FFF2-40B4-BE49-F238E27FC236}">
                <a16:creationId xmlns:a16="http://schemas.microsoft.com/office/drawing/2014/main" id="{C6CFC82D-B6C9-3525-C01A-B767EC35AE93}"/>
              </a:ext>
            </a:extLst>
          </p:cNvPr>
          <p:cNvSpPr txBox="1"/>
          <p:nvPr/>
        </p:nvSpPr>
        <p:spPr>
          <a:xfrm flipV="1">
            <a:off x="6138000" y="5838982"/>
            <a:ext cx="720000" cy="18971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21" name="CuadroTexto 86">
            <a:extLst>
              <a:ext uri="{FF2B5EF4-FFF2-40B4-BE49-F238E27FC236}">
                <a16:creationId xmlns:a16="http://schemas.microsoft.com/office/drawing/2014/main" id="{3E49F170-3670-7AF4-F32D-823B24B5D1E8}"/>
              </a:ext>
            </a:extLst>
          </p:cNvPr>
          <p:cNvSpPr txBox="1"/>
          <p:nvPr/>
        </p:nvSpPr>
        <p:spPr>
          <a:xfrm flipV="1">
            <a:off x="6137596" y="5185612"/>
            <a:ext cx="720000" cy="18971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2" name="Rectángulo 302">
            <a:extLst>
              <a:ext uri="{FF2B5EF4-FFF2-40B4-BE49-F238E27FC236}">
                <a16:creationId xmlns:a16="http://schemas.microsoft.com/office/drawing/2014/main" id="{8907767C-0417-D7A1-F7E1-F85122BB4D7B}"/>
              </a:ext>
            </a:extLst>
          </p:cNvPr>
          <p:cNvSpPr/>
          <p:nvPr/>
        </p:nvSpPr>
        <p:spPr>
          <a:xfrm>
            <a:off x="5988559" y="4781726"/>
            <a:ext cx="948045" cy="1373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pSp>
        <p:nvGrpSpPr>
          <p:cNvPr id="10" name="Grupo 83">
            <a:extLst>
              <a:ext uri="{FF2B5EF4-FFF2-40B4-BE49-F238E27FC236}">
                <a16:creationId xmlns:a16="http://schemas.microsoft.com/office/drawing/2014/main" id="{BA05E0EA-F378-E25F-32D4-B7F70E97B46B}"/>
              </a:ext>
            </a:extLst>
          </p:cNvPr>
          <p:cNvGrpSpPr/>
          <p:nvPr/>
        </p:nvGrpSpPr>
        <p:grpSpPr>
          <a:xfrm>
            <a:off x="6210000" y="5855740"/>
            <a:ext cx="577911" cy="149353"/>
            <a:chOff x="8038758" y="3835908"/>
            <a:chExt cx="1282700" cy="811519"/>
          </a:xfrm>
          <a:solidFill>
            <a:schemeClr val="accent5"/>
          </a:solidFill>
        </p:grpSpPr>
        <p:sp>
          <p:nvSpPr>
            <p:cNvPr id="12" name="Disco magnético 91">
              <a:extLst>
                <a:ext uri="{FF2B5EF4-FFF2-40B4-BE49-F238E27FC236}">
                  <a16:creationId xmlns:a16="http://schemas.microsoft.com/office/drawing/2014/main" id="{19CEEE5E-B722-7F37-CB7E-5C5BFF541193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3" name="Disco magnético 92">
              <a:extLst>
                <a:ext uri="{FF2B5EF4-FFF2-40B4-BE49-F238E27FC236}">
                  <a16:creationId xmlns:a16="http://schemas.microsoft.com/office/drawing/2014/main" id="{FF3F2436-877D-07E8-7AE7-44713F63E8AB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grpSp>
        <p:nvGrpSpPr>
          <p:cNvPr id="241" name="Grupo 83">
            <a:extLst>
              <a:ext uri="{FF2B5EF4-FFF2-40B4-BE49-F238E27FC236}">
                <a16:creationId xmlns:a16="http://schemas.microsoft.com/office/drawing/2014/main" id="{E72BC7BE-AE91-4E77-A923-232A5323E2FD}"/>
              </a:ext>
            </a:extLst>
          </p:cNvPr>
          <p:cNvGrpSpPr/>
          <p:nvPr/>
        </p:nvGrpSpPr>
        <p:grpSpPr>
          <a:xfrm>
            <a:off x="6208473" y="5208530"/>
            <a:ext cx="577911" cy="149353"/>
            <a:chOff x="8038758" y="3835908"/>
            <a:chExt cx="1282700" cy="811519"/>
          </a:xfrm>
          <a:solidFill>
            <a:schemeClr val="accent2">
              <a:lumMod val="75000"/>
            </a:schemeClr>
          </a:solidFill>
        </p:grpSpPr>
        <p:sp>
          <p:nvSpPr>
            <p:cNvPr id="243" name="Disco magnético 91">
              <a:extLst>
                <a:ext uri="{FF2B5EF4-FFF2-40B4-BE49-F238E27FC236}">
                  <a16:creationId xmlns:a16="http://schemas.microsoft.com/office/drawing/2014/main" id="{55F57002-E509-4BB1-A0F4-B7E9EE468767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44" name="Disco magnético 92">
              <a:extLst>
                <a:ext uri="{FF2B5EF4-FFF2-40B4-BE49-F238E27FC236}">
                  <a16:creationId xmlns:a16="http://schemas.microsoft.com/office/drawing/2014/main" id="{138AF8BD-ECAB-4DAA-94B7-DB33C390CCF4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190" name="Rectángulo 68">
            <a:extLst>
              <a:ext uri="{FF2B5EF4-FFF2-40B4-BE49-F238E27FC236}">
                <a16:creationId xmlns:a16="http://schemas.microsoft.com/office/drawing/2014/main" id="{E78B7A2C-730A-49B7-9847-9BD39C1D53EB}"/>
              </a:ext>
            </a:extLst>
          </p:cNvPr>
          <p:cNvSpPr/>
          <p:nvPr/>
        </p:nvSpPr>
        <p:spPr>
          <a:xfrm>
            <a:off x="1205667" y="4814824"/>
            <a:ext cx="1867671" cy="1586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1205447" y="1759166"/>
            <a:ext cx="1867671" cy="27251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Diapositiva de think-cell" r:id="rId5" imgW="444" imgH="446" progId="TCLayout.ActiveDocument.1">
                  <p:embed/>
                </p:oleObj>
              </mc:Choice>
              <mc:Fallback>
                <p:oleObj name="Diapositiva de think-cell" r:id="rId5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" name="Rectángulo 302"/>
          <p:cNvSpPr/>
          <p:nvPr/>
        </p:nvSpPr>
        <p:spPr>
          <a:xfrm>
            <a:off x="3450044" y="4780816"/>
            <a:ext cx="2274992" cy="13748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306" name="Rectángulo 305"/>
          <p:cNvSpPr/>
          <p:nvPr/>
        </p:nvSpPr>
        <p:spPr>
          <a:xfrm>
            <a:off x="3595506" y="619200"/>
            <a:ext cx="7074000" cy="2544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1204552" y="1606995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Contratos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7EBEFF-2DEC-A186-5A1E-C23F6D4968F6}"/>
              </a:ext>
            </a:extLst>
          </p:cNvPr>
          <p:cNvGrpSpPr/>
          <p:nvPr/>
        </p:nvGrpSpPr>
        <p:grpSpPr>
          <a:xfrm>
            <a:off x="4494986" y="2829133"/>
            <a:ext cx="1262685" cy="521506"/>
            <a:chOff x="4494986" y="2765633"/>
            <a:chExt cx="1262685" cy="521506"/>
          </a:xfrm>
        </p:grpSpPr>
        <p:grpSp>
          <p:nvGrpSpPr>
            <p:cNvPr id="84" name="Grupo 83"/>
            <p:cNvGrpSpPr/>
            <p:nvPr/>
          </p:nvGrpSpPr>
          <p:grpSpPr>
            <a:xfrm>
              <a:off x="4833711" y="3071139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90" name="Disco magnético 89"/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92" name="Disco magnético 91"/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93" name="Disco magnético 92"/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87" name="CuadroTexto 86"/>
            <p:cNvSpPr txBox="1"/>
            <p:nvPr/>
          </p:nvSpPr>
          <p:spPr>
            <a:xfrm>
              <a:off x="4494986" y="2765633"/>
              <a:ext cx="1262685" cy="28879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ICs</a:t>
              </a:r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</a:rPr>
                <a:t>(APMT0100020698)</a:t>
              </a:r>
              <a:endParaRPr lang="pt-PT" sz="700" b="1" dirty="0">
                <a:ln w="0"/>
                <a:solidFill>
                  <a:prstClr val="black"/>
                </a:solidFill>
              </a:endParaRPr>
            </a:p>
          </p:txBody>
        </p:sp>
      </p:grp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1350000" y="36973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Contencioso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1350000" y="2186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1350000" y="42012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1350000" y="3194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690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Empréstimos</a:t>
            </a: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3950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438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1933300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101B43-76E1-BC80-EA89-9517E380C797}"/>
              </a:ext>
            </a:extLst>
          </p:cNvPr>
          <p:cNvGrpSpPr/>
          <p:nvPr/>
        </p:nvGrpSpPr>
        <p:grpSpPr>
          <a:xfrm>
            <a:off x="8463689" y="3207466"/>
            <a:ext cx="720000" cy="380920"/>
            <a:chOff x="8463689" y="3207466"/>
            <a:chExt cx="720000" cy="380920"/>
          </a:xfrm>
        </p:grpSpPr>
        <p:sp>
          <p:nvSpPr>
            <p:cNvPr id="177" name="Disco magnético 89">
              <a:extLst>
                <a:ext uri="{FF2B5EF4-FFF2-40B4-BE49-F238E27FC236}">
                  <a16:creationId xmlns:a16="http://schemas.microsoft.com/office/drawing/2014/main" id="{3E9727DB-8E8C-4A60-9850-3840EF7CF8DD}"/>
                </a:ext>
              </a:extLst>
            </p:cNvPr>
            <p:cNvSpPr/>
            <p:nvPr/>
          </p:nvSpPr>
          <p:spPr>
            <a:xfrm>
              <a:off x="8529890" y="3505681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78" name="Disco magnético 91">
              <a:extLst>
                <a:ext uri="{FF2B5EF4-FFF2-40B4-BE49-F238E27FC236}">
                  <a16:creationId xmlns:a16="http://schemas.microsoft.com/office/drawing/2014/main" id="{3C124332-A42B-42B3-9949-8B88B5706929}"/>
                </a:ext>
              </a:extLst>
            </p:cNvPr>
            <p:cNvSpPr/>
            <p:nvPr/>
          </p:nvSpPr>
          <p:spPr>
            <a:xfrm>
              <a:off x="8529890" y="3439033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81" name="Disco magnético 92">
              <a:extLst>
                <a:ext uri="{FF2B5EF4-FFF2-40B4-BE49-F238E27FC236}">
                  <a16:creationId xmlns:a16="http://schemas.microsoft.com/office/drawing/2014/main" id="{539B75E4-5374-4924-BA76-117CBA9AF277}"/>
                </a:ext>
              </a:extLst>
            </p:cNvPr>
            <p:cNvSpPr/>
            <p:nvPr/>
          </p:nvSpPr>
          <p:spPr>
            <a:xfrm>
              <a:off x="8529890" y="3372386"/>
              <a:ext cx="577911" cy="82705"/>
            </a:xfrm>
            <a:prstGeom prst="flowChartMagneticDisk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174" name="CuadroTexto 86">
              <a:extLst>
                <a:ext uri="{FF2B5EF4-FFF2-40B4-BE49-F238E27FC236}">
                  <a16:creationId xmlns:a16="http://schemas.microsoft.com/office/drawing/2014/main" id="{B6C1EDE6-E352-4766-B1D4-14E567576A89}"/>
                </a:ext>
              </a:extLst>
            </p:cNvPr>
            <p:cNvSpPr txBox="1"/>
            <p:nvPr/>
          </p:nvSpPr>
          <p:spPr>
            <a:xfrm>
              <a:off x="8463689" y="3207466"/>
              <a:ext cx="720000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  <a:latin typeface="Calibri" panose="020F0502020204030204"/>
                </a:rPr>
                <a:t>(APMT0100043831)</a:t>
              </a:r>
              <a:endParaRPr lang="pt-PT" sz="700" b="1" dirty="0">
                <a:ln w="0"/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/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348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4846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GPs 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APMT0100021341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97502632-F029-459D-8F10-FA950A46FF32}"/>
              </a:ext>
            </a:extLst>
          </p:cNvPr>
          <p:cNvSpPr/>
          <p:nvPr/>
        </p:nvSpPr>
        <p:spPr>
          <a:xfrm>
            <a:off x="590378" y="6477446"/>
            <a:ext cx="10908000" cy="25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>
                <a:latin typeface="Santander Text" panose="020B0504020201020104" pitchFamily="34" charset="0"/>
              </a:rPr>
              <a:t>Controlos do Framework Data </a:t>
            </a:r>
            <a:r>
              <a:rPr lang="pt-PT" sz="1200" err="1">
                <a:latin typeface="Santander Text" panose="020B0504020201020104" pitchFamily="34" charset="0"/>
              </a:rPr>
              <a:t>Quality</a:t>
            </a:r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11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3446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2942448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191" name="Rectángulo 69">
            <a:extLst>
              <a:ext uri="{FF2B5EF4-FFF2-40B4-BE49-F238E27FC236}">
                <a16:creationId xmlns:a16="http://schemas.microsoft.com/office/drawing/2014/main" id="{858DD3AE-1B46-4898-95EB-CC9B5DE1B24F}"/>
              </a:ext>
            </a:extLst>
          </p:cNvPr>
          <p:cNvSpPr/>
          <p:nvPr/>
        </p:nvSpPr>
        <p:spPr>
          <a:xfrm>
            <a:off x="1203429" y="4533071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Garantias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92" name="Rectangle 32">
            <a:extLst>
              <a:ext uri="{FF2B5EF4-FFF2-40B4-BE49-F238E27FC236}">
                <a16:creationId xmlns:a16="http://schemas.microsoft.com/office/drawing/2014/main" id="{DB5AB1D7-D0F8-4D35-9F9D-54E9D685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098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CS 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APMT0100021235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193" name="Rectangle 32">
            <a:extLst>
              <a:ext uri="{FF2B5EF4-FFF2-40B4-BE49-F238E27FC236}">
                <a16:creationId xmlns:a16="http://schemas.microsoft.com/office/drawing/2014/main" id="{83365A57-1623-4F58-A1A9-B5D94852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350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Lease 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APMT0100024304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194" name="Rectangle 32">
            <a:extLst>
              <a:ext uri="{FF2B5EF4-FFF2-40B4-BE49-F238E27FC236}">
                <a16:creationId xmlns:a16="http://schemas.microsoft.com/office/drawing/2014/main" id="{45DDA248-D230-4CA8-9E75-A63CC8DB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60227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Eurofac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 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APMT0100024364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sp>
        <p:nvSpPr>
          <p:cNvPr id="211" name="Rectángulo 68">
            <a:extLst>
              <a:ext uri="{FF2B5EF4-FFF2-40B4-BE49-F238E27FC236}">
                <a16:creationId xmlns:a16="http://schemas.microsoft.com/office/drawing/2014/main" id="{6AA448BA-99B6-4AC3-8EE8-AC036B6AEB66}"/>
              </a:ext>
            </a:extLst>
          </p:cNvPr>
          <p:cNvSpPr/>
          <p:nvPr/>
        </p:nvSpPr>
        <p:spPr>
          <a:xfrm>
            <a:off x="1206000" y="802047"/>
            <a:ext cx="1868400" cy="765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216" name="Rectangle 32">
            <a:extLst>
              <a:ext uri="{FF2B5EF4-FFF2-40B4-BE49-F238E27FC236}">
                <a16:creationId xmlns:a16="http://schemas.microsoft.com/office/drawing/2014/main" id="{EDD46D37-5A19-4580-B778-BFDC2D1F9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955069"/>
            <a:ext cx="1548000" cy="58059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BDP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 </a:t>
            </a:r>
          </a:p>
          <a:p>
            <a:pPr algn="ctr"/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(APMT0100020556, APMT0100021072, APMT0100023986) </a:t>
            </a:r>
          </a:p>
        </p:txBody>
      </p:sp>
      <p:sp>
        <p:nvSpPr>
          <p:cNvPr id="220" name="Rectángulo 69">
            <a:extLst>
              <a:ext uri="{FF2B5EF4-FFF2-40B4-BE49-F238E27FC236}">
                <a16:creationId xmlns:a16="http://schemas.microsoft.com/office/drawing/2014/main" id="{A23E207B-5D09-4BB7-9769-CC3F067499EA}"/>
              </a:ext>
            </a:extLst>
          </p:cNvPr>
          <p:cNvSpPr/>
          <p:nvPr/>
        </p:nvSpPr>
        <p:spPr>
          <a:xfrm>
            <a:off x="1206000" y="620498"/>
            <a:ext cx="1868400" cy="28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 dirty="0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dirty="0" err="1">
                <a:solidFill>
                  <a:prstClr val="white"/>
                </a:solidFill>
                <a:latin typeface="Santander Text" panose="020B0504020201020104" pitchFamily="34" charset="0"/>
              </a:rPr>
              <a:t>Clientes</a:t>
            </a:r>
            <a:endParaRPr lang="en-GB" sz="1200" b="1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426710" y="5882686"/>
            <a:ext cx="2274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Santander Text" panose="020B0504020201020104" pitchFamily="34" charset="0"/>
              </a:rPr>
              <a:t>Data </a:t>
            </a:r>
            <a:r>
              <a:rPr lang="pt-PT" sz="1200" b="1" dirty="0" err="1">
                <a:latin typeface="Santander Text" panose="020B0504020201020104" pitchFamily="34" charset="0"/>
              </a:rPr>
              <a:t>Lake</a:t>
            </a:r>
            <a:r>
              <a:rPr lang="pt-PT" sz="1200" b="1" dirty="0">
                <a:latin typeface="Santander Text" panose="020B0504020201020104" pitchFamily="34" charset="0"/>
              </a:rPr>
              <a:t> – MUG </a:t>
            </a:r>
            <a:r>
              <a:rPr lang="pt-PT" sz="800" dirty="0">
                <a:latin typeface="Santander Text" panose="020B0504020201020104" pitchFamily="34" charset="0"/>
              </a:rPr>
              <a:t>(</a:t>
            </a:r>
            <a:r>
              <a:rPr lang="pt-PT" sz="8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APMT0100048766)</a:t>
            </a:r>
            <a:endParaRPr lang="pt-PT" sz="800" dirty="0">
              <a:latin typeface="Santander Text" panose="020B0504020201020104" pitchFamily="34" charset="0"/>
            </a:endParaRPr>
          </a:p>
        </p:txBody>
      </p:sp>
      <p:grpSp>
        <p:nvGrpSpPr>
          <p:cNvPr id="221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3744182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22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0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4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35" name="CuadroTexto 86">
            <a:extLst>
              <a:ext uri="{FF2B5EF4-FFF2-40B4-BE49-F238E27FC236}">
                <a16:creationId xmlns:a16="http://schemas.microsoft.com/office/drawing/2014/main" id="{9BCFA804-45E5-4B33-BE16-C02B3150DB1D}"/>
              </a:ext>
            </a:extLst>
          </p:cNvPr>
          <p:cNvSpPr txBox="1"/>
          <p:nvPr/>
        </p:nvSpPr>
        <p:spPr>
          <a:xfrm>
            <a:off x="3635617" y="5092689"/>
            <a:ext cx="783028" cy="38717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Base de </a:t>
            </a:r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236" name="Grupo 83">
            <a:extLst>
              <a:ext uri="{FF2B5EF4-FFF2-40B4-BE49-F238E27FC236}">
                <a16:creationId xmlns:a16="http://schemas.microsoft.com/office/drawing/2014/main" id="{70415F19-6794-44C3-BAFD-F5736500EA15}"/>
              </a:ext>
            </a:extLst>
          </p:cNvPr>
          <p:cNvGrpSpPr/>
          <p:nvPr/>
        </p:nvGrpSpPr>
        <p:grpSpPr>
          <a:xfrm>
            <a:off x="4832737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37" name="Disco magnético 89">
              <a:extLst>
                <a:ext uri="{FF2B5EF4-FFF2-40B4-BE49-F238E27FC236}">
                  <a16:creationId xmlns:a16="http://schemas.microsoft.com/office/drawing/2014/main" id="{0026513D-3B8B-4CEC-8F24-E15DAA157774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8" name="Disco magnético 91">
              <a:extLst>
                <a:ext uri="{FF2B5EF4-FFF2-40B4-BE49-F238E27FC236}">
                  <a16:creationId xmlns:a16="http://schemas.microsoft.com/office/drawing/2014/main" id="{46B16439-18B1-4413-9B37-ADED57215F4B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9" name="Disco magnético 92">
              <a:extLst>
                <a:ext uri="{FF2B5EF4-FFF2-40B4-BE49-F238E27FC236}">
                  <a16:creationId xmlns:a16="http://schemas.microsoft.com/office/drawing/2014/main" id="{9B5A7D6A-A789-4DAD-95FF-5EABF1559FE4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40" name="CuadroTexto 86">
            <a:extLst>
              <a:ext uri="{FF2B5EF4-FFF2-40B4-BE49-F238E27FC236}">
                <a16:creationId xmlns:a16="http://schemas.microsoft.com/office/drawing/2014/main" id="{C85EAAB3-4537-4B68-B261-ED3E1491BA96}"/>
              </a:ext>
            </a:extLst>
          </p:cNvPr>
          <p:cNvSpPr txBox="1"/>
          <p:nvPr/>
        </p:nvSpPr>
        <p:spPr>
          <a:xfrm>
            <a:off x="4538765" y="4937981"/>
            <a:ext cx="1174391" cy="5113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pt-PT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Relação Responsabilidades e Garantias</a:t>
            </a:r>
          </a:p>
        </p:txBody>
      </p:sp>
      <p:sp>
        <p:nvSpPr>
          <p:cNvPr id="245" name="CuadroTexto 86">
            <a:extLst>
              <a:ext uri="{FF2B5EF4-FFF2-40B4-BE49-F238E27FC236}">
                <a16:creationId xmlns:a16="http://schemas.microsoft.com/office/drawing/2014/main" id="{96399ADE-B287-4A49-A127-BADC0C8BF7D5}"/>
              </a:ext>
            </a:extLst>
          </p:cNvPr>
          <p:cNvSpPr txBox="1"/>
          <p:nvPr/>
        </p:nvSpPr>
        <p:spPr>
          <a:xfrm>
            <a:off x="6020081" y="4835992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Interface para BDR</a:t>
            </a:r>
          </a:p>
        </p:txBody>
      </p:sp>
      <p:cxnSp>
        <p:nvCxnSpPr>
          <p:cNvPr id="246" name="Conector angular 217">
            <a:extLst>
              <a:ext uri="{FF2B5EF4-FFF2-40B4-BE49-F238E27FC236}">
                <a16:creationId xmlns:a16="http://schemas.microsoft.com/office/drawing/2014/main" id="{B63507F2-3CF6-403C-BDFC-1E271A6BAB21}"/>
              </a:ext>
            </a:extLst>
          </p:cNvPr>
          <p:cNvCxnSpPr>
            <a:cxnSpLocks/>
            <a:stCxn id="348" idx="3"/>
            <a:endCxn id="230" idx="2"/>
          </p:cNvCxnSpPr>
          <p:nvPr/>
        </p:nvCxnSpPr>
        <p:spPr>
          <a:xfrm>
            <a:off x="2898000" y="4954277"/>
            <a:ext cx="846182" cy="638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angular 217">
            <a:extLst>
              <a:ext uri="{FF2B5EF4-FFF2-40B4-BE49-F238E27FC236}">
                <a16:creationId xmlns:a16="http://schemas.microsoft.com/office/drawing/2014/main" id="{A279E29D-35B2-4F88-B38A-7216D423647D}"/>
              </a:ext>
            </a:extLst>
          </p:cNvPr>
          <p:cNvCxnSpPr>
            <a:cxnSpLocks/>
            <a:stCxn id="192" idx="3"/>
            <a:endCxn id="230" idx="2"/>
          </p:cNvCxnSpPr>
          <p:nvPr/>
        </p:nvCxnSpPr>
        <p:spPr>
          <a:xfrm>
            <a:off x="2898000" y="5206277"/>
            <a:ext cx="846182" cy="386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ector angular 217">
            <a:extLst>
              <a:ext uri="{FF2B5EF4-FFF2-40B4-BE49-F238E27FC236}">
                <a16:creationId xmlns:a16="http://schemas.microsoft.com/office/drawing/2014/main" id="{50C79502-365C-4467-A84F-AA348FACBF11}"/>
              </a:ext>
            </a:extLst>
          </p:cNvPr>
          <p:cNvCxnSpPr>
            <a:cxnSpLocks/>
            <a:stCxn id="193" idx="3"/>
            <a:endCxn id="230" idx="2"/>
          </p:cNvCxnSpPr>
          <p:nvPr/>
        </p:nvCxnSpPr>
        <p:spPr>
          <a:xfrm>
            <a:off x="2898000" y="5458277"/>
            <a:ext cx="846182" cy="13415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angular 217">
            <a:extLst>
              <a:ext uri="{FF2B5EF4-FFF2-40B4-BE49-F238E27FC236}">
                <a16:creationId xmlns:a16="http://schemas.microsoft.com/office/drawing/2014/main" id="{D03C6D41-E7B9-458B-877E-763948E539E2}"/>
              </a:ext>
            </a:extLst>
          </p:cNvPr>
          <p:cNvCxnSpPr>
            <a:cxnSpLocks/>
            <a:stCxn id="194" idx="3"/>
            <a:endCxn id="230" idx="2"/>
          </p:cNvCxnSpPr>
          <p:nvPr/>
        </p:nvCxnSpPr>
        <p:spPr>
          <a:xfrm flipV="1">
            <a:off x="2898000" y="5592433"/>
            <a:ext cx="846182" cy="11784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 angular 217">
            <a:extLst>
              <a:ext uri="{FF2B5EF4-FFF2-40B4-BE49-F238E27FC236}">
                <a16:creationId xmlns:a16="http://schemas.microsoft.com/office/drawing/2014/main" id="{13B15F23-7D12-4BB6-9462-63E149FAA80C}"/>
              </a:ext>
            </a:extLst>
          </p:cNvPr>
          <p:cNvCxnSpPr>
            <a:cxnSpLocks/>
            <a:stCxn id="230" idx="4"/>
            <a:endCxn id="238" idx="2"/>
          </p:cNvCxnSpPr>
          <p:nvPr/>
        </p:nvCxnSpPr>
        <p:spPr>
          <a:xfrm>
            <a:off x="4322093" y="5592433"/>
            <a:ext cx="510644" cy="12700"/>
          </a:xfrm>
          <a:prstGeom prst="bentConnector3">
            <a:avLst>
              <a:gd name="adj1" fmla="val 50000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ector angular 217">
            <a:extLst>
              <a:ext uri="{FF2B5EF4-FFF2-40B4-BE49-F238E27FC236}">
                <a16:creationId xmlns:a16="http://schemas.microsoft.com/office/drawing/2014/main" id="{D365C45D-0775-46AF-A119-DEEFE3062452}"/>
              </a:ext>
            </a:extLst>
          </p:cNvPr>
          <p:cNvCxnSpPr>
            <a:cxnSpLocks/>
            <a:stCxn id="238" idx="4"/>
            <a:endCxn id="21" idx="1"/>
          </p:cNvCxnSpPr>
          <p:nvPr/>
        </p:nvCxnSpPr>
        <p:spPr>
          <a:xfrm flipV="1">
            <a:off x="5410648" y="5280469"/>
            <a:ext cx="726948" cy="311964"/>
          </a:xfrm>
          <a:prstGeom prst="bentConnector3">
            <a:avLst>
              <a:gd name="adj1" fmla="val 58985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angular 217">
            <a:extLst>
              <a:ext uri="{FF2B5EF4-FFF2-40B4-BE49-F238E27FC236}">
                <a16:creationId xmlns:a16="http://schemas.microsoft.com/office/drawing/2014/main" id="{DC03E10C-FBC0-4A3F-B78F-099E3C182FE5}"/>
              </a:ext>
            </a:extLst>
          </p:cNvPr>
          <p:cNvCxnSpPr>
            <a:cxnSpLocks/>
            <a:stCxn id="69" idx="3"/>
            <a:endCxn id="92" idx="2"/>
          </p:cNvCxnSpPr>
          <p:nvPr/>
        </p:nvCxnSpPr>
        <p:spPr>
          <a:xfrm>
            <a:off x="3073118" y="3121747"/>
            <a:ext cx="1760593" cy="12089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ector angular 217">
            <a:extLst>
              <a:ext uri="{FF2B5EF4-FFF2-40B4-BE49-F238E27FC236}">
                <a16:creationId xmlns:a16="http://schemas.microsoft.com/office/drawing/2014/main" id="{80B76BE8-ED2E-4CBB-B9A9-5C3D213D0E7F}"/>
              </a:ext>
            </a:extLst>
          </p:cNvPr>
          <p:cNvCxnSpPr>
            <a:cxnSpLocks/>
            <a:stCxn id="90" idx="3"/>
            <a:endCxn id="240" idx="0"/>
          </p:cNvCxnSpPr>
          <p:nvPr/>
        </p:nvCxnSpPr>
        <p:spPr>
          <a:xfrm rot="16200000" flipH="1">
            <a:off x="4330643" y="4142663"/>
            <a:ext cx="1587342" cy="329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angular 217">
            <a:extLst>
              <a:ext uri="{FF2B5EF4-FFF2-40B4-BE49-F238E27FC236}">
                <a16:creationId xmlns:a16="http://schemas.microsoft.com/office/drawing/2014/main" id="{56AD04BC-56DA-470E-9646-C6501B7E3B10}"/>
              </a:ext>
            </a:extLst>
          </p:cNvPr>
          <p:cNvCxnSpPr>
            <a:cxnSpLocks/>
            <a:stCxn id="21" idx="3"/>
            <a:endCxn id="107" idx="2"/>
          </p:cNvCxnSpPr>
          <p:nvPr/>
        </p:nvCxnSpPr>
        <p:spPr>
          <a:xfrm flipV="1">
            <a:off x="6857596" y="4484328"/>
            <a:ext cx="670940" cy="796141"/>
          </a:xfrm>
          <a:prstGeom prst="bentConnector2">
            <a:avLst/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angular 217">
            <a:extLst>
              <a:ext uri="{FF2B5EF4-FFF2-40B4-BE49-F238E27FC236}">
                <a16:creationId xmlns:a16="http://schemas.microsoft.com/office/drawing/2014/main" id="{91002FFA-BD88-4E01-A2D8-34A437EECF6E}"/>
              </a:ext>
            </a:extLst>
          </p:cNvPr>
          <p:cNvCxnSpPr>
            <a:cxnSpLocks/>
            <a:stCxn id="92" idx="4"/>
            <a:endCxn id="178" idx="2"/>
          </p:cNvCxnSpPr>
          <p:nvPr/>
        </p:nvCxnSpPr>
        <p:spPr>
          <a:xfrm>
            <a:off x="5411622" y="3242639"/>
            <a:ext cx="3118268" cy="237747"/>
          </a:xfrm>
          <a:prstGeom prst="bentConnector3">
            <a:avLst>
              <a:gd name="adj1" fmla="val 68734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5" name="Grupo 83">
            <a:extLst>
              <a:ext uri="{FF2B5EF4-FFF2-40B4-BE49-F238E27FC236}">
                <a16:creationId xmlns:a16="http://schemas.microsoft.com/office/drawing/2014/main" id="{E398818F-B1BD-43FB-8FB3-D2B85F446B65}"/>
              </a:ext>
            </a:extLst>
          </p:cNvPr>
          <p:cNvGrpSpPr/>
          <p:nvPr/>
        </p:nvGrpSpPr>
        <p:grpSpPr>
          <a:xfrm>
            <a:off x="8529890" y="5436356"/>
            <a:ext cx="577911" cy="216000"/>
            <a:chOff x="8038758" y="3835908"/>
            <a:chExt cx="1282700" cy="1173653"/>
          </a:xfrm>
          <a:solidFill>
            <a:schemeClr val="accent5"/>
          </a:solidFill>
        </p:grpSpPr>
        <p:sp>
          <p:nvSpPr>
            <p:cNvPr id="278" name="Disco magnético 89">
              <a:extLst>
                <a:ext uri="{FF2B5EF4-FFF2-40B4-BE49-F238E27FC236}">
                  <a16:creationId xmlns:a16="http://schemas.microsoft.com/office/drawing/2014/main" id="{1AC6439D-2D39-49C3-8283-C2873F9B9CB2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79" name="Disco magnético 91">
              <a:extLst>
                <a:ext uri="{FF2B5EF4-FFF2-40B4-BE49-F238E27FC236}">
                  <a16:creationId xmlns:a16="http://schemas.microsoft.com/office/drawing/2014/main" id="{0ED41EC7-F337-442F-8ED1-1BBA9C7D0A7D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80" name="Disco magnético 92">
              <a:extLst>
                <a:ext uri="{FF2B5EF4-FFF2-40B4-BE49-F238E27FC236}">
                  <a16:creationId xmlns:a16="http://schemas.microsoft.com/office/drawing/2014/main" id="{D240DBC7-1776-4DB4-BF95-4E1431566F80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81" name="CuadroTexto 86">
            <a:extLst>
              <a:ext uri="{FF2B5EF4-FFF2-40B4-BE49-F238E27FC236}">
                <a16:creationId xmlns:a16="http://schemas.microsoft.com/office/drawing/2014/main" id="{BB5EF559-48E2-4EC3-9240-7AAA67ABF81C}"/>
              </a:ext>
            </a:extLst>
          </p:cNvPr>
          <p:cNvSpPr txBox="1"/>
          <p:nvPr/>
        </p:nvSpPr>
        <p:spPr>
          <a:xfrm>
            <a:off x="8424000" y="5268065"/>
            <a:ext cx="792000" cy="18336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IFRS9</a:t>
            </a:r>
          </a:p>
          <a:p>
            <a:pPr algn="ctr"/>
            <a:r>
              <a:rPr lang="pt-PT" sz="7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(APMT0100024132)</a:t>
            </a:r>
            <a:endParaRPr lang="pt-PT" sz="700" b="1" dirty="0">
              <a:ln w="0"/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ctr"/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E680E1A-5D92-4001-9A5C-3D3CD4281750}"/>
              </a:ext>
            </a:extLst>
          </p:cNvPr>
          <p:cNvSpPr txBox="1"/>
          <p:nvPr/>
        </p:nvSpPr>
        <p:spPr>
          <a:xfrm>
            <a:off x="7128039" y="3907247"/>
            <a:ext cx="800994" cy="57708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050" dirty="0">
                <a:solidFill>
                  <a:schemeClr val="bg1"/>
                </a:solidFill>
              </a:rPr>
              <a:t>Ficheiros BIYR2500/9500</a:t>
            </a:r>
          </a:p>
        </p:txBody>
      </p:sp>
      <p:cxnSp>
        <p:nvCxnSpPr>
          <p:cNvPr id="284" name="Conector angular 217">
            <a:extLst>
              <a:ext uri="{FF2B5EF4-FFF2-40B4-BE49-F238E27FC236}">
                <a16:creationId xmlns:a16="http://schemas.microsoft.com/office/drawing/2014/main" id="{112E5451-9058-4D3C-B4FB-D049602AD204}"/>
              </a:ext>
            </a:extLst>
          </p:cNvPr>
          <p:cNvCxnSpPr>
            <a:cxnSpLocks/>
            <a:stCxn id="107" idx="3"/>
            <a:endCxn id="177" idx="2"/>
          </p:cNvCxnSpPr>
          <p:nvPr/>
        </p:nvCxnSpPr>
        <p:spPr>
          <a:xfrm flipV="1">
            <a:off x="7929033" y="3547034"/>
            <a:ext cx="600857" cy="648754"/>
          </a:xfrm>
          <a:prstGeom prst="bentConnector3">
            <a:avLst>
              <a:gd name="adj1" fmla="val 50000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ángulo 302">
            <a:extLst>
              <a:ext uri="{FF2B5EF4-FFF2-40B4-BE49-F238E27FC236}">
                <a16:creationId xmlns:a16="http://schemas.microsoft.com/office/drawing/2014/main" id="{8A9B3DBE-ACE6-4B81-ADD9-223668AAC958}"/>
              </a:ext>
            </a:extLst>
          </p:cNvPr>
          <p:cNvSpPr/>
          <p:nvPr/>
        </p:nvSpPr>
        <p:spPr>
          <a:xfrm>
            <a:off x="9300573" y="891961"/>
            <a:ext cx="1359400" cy="51757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CE5B003-CA26-4C90-86D9-770DB674D0E1}"/>
              </a:ext>
            </a:extLst>
          </p:cNvPr>
          <p:cNvSpPr txBox="1"/>
          <p:nvPr/>
        </p:nvSpPr>
        <p:spPr>
          <a:xfrm>
            <a:off x="9300573" y="878273"/>
            <a:ext cx="1323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/>
              <a:t>Data </a:t>
            </a:r>
            <a:r>
              <a:rPr lang="pt-PT" sz="1200" b="1" dirty="0" err="1"/>
              <a:t>Lake</a:t>
            </a:r>
            <a:endParaRPr lang="pt-PT" sz="1200" b="1" dirty="0"/>
          </a:p>
        </p:txBody>
      </p:sp>
      <p:grpSp>
        <p:nvGrpSpPr>
          <p:cNvPr id="305" name="Grupo 83">
            <a:extLst>
              <a:ext uri="{FF2B5EF4-FFF2-40B4-BE49-F238E27FC236}">
                <a16:creationId xmlns:a16="http://schemas.microsoft.com/office/drawing/2014/main" id="{FB4264C2-DC89-44B0-ABA0-E4D26497FB79}"/>
              </a:ext>
            </a:extLst>
          </p:cNvPr>
          <p:cNvGrpSpPr/>
          <p:nvPr/>
        </p:nvGrpSpPr>
        <p:grpSpPr>
          <a:xfrm>
            <a:off x="9683286" y="3373052"/>
            <a:ext cx="577911" cy="216000"/>
            <a:chOff x="8038758" y="3835908"/>
            <a:chExt cx="1282700" cy="1173653"/>
          </a:xfrm>
          <a:solidFill>
            <a:schemeClr val="accent2">
              <a:lumMod val="75000"/>
            </a:schemeClr>
          </a:solidFill>
        </p:grpSpPr>
        <p:sp>
          <p:nvSpPr>
            <p:cNvPr id="308" name="Disco magnético 89">
              <a:extLst>
                <a:ext uri="{FF2B5EF4-FFF2-40B4-BE49-F238E27FC236}">
                  <a16:creationId xmlns:a16="http://schemas.microsoft.com/office/drawing/2014/main" id="{A80B077E-6267-4A15-87B3-2120DC78BF07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309" name="Disco magnético 91">
              <a:extLst>
                <a:ext uri="{FF2B5EF4-FFF2-40B4-BE49-F238E27FC236}">
                  <a16:creationId xmlns:a16="http://schemas.microsoft.com/office/drawing/2014/main" id="{3881F410-572B-412C-99C8-FB1F85C37745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>
                <a:solidFill>
                  <a:prstClr val="white"/>
                </a:solidFill>
              </a:endParaRPr>
            </a:p>
          </p:txBody>
        </p:sp>
        <p:sp>
          <p:nvSpPr>
            <p:cNvPr id="310" name="Disco magnético 92">
              <a:extLst>
                <a:ext uri="{FF2B5EF4-FFF2-40B4-BE49-F238E27FC236}">
                  <a16:creationId xmlns:a16="http://schemas.microsoft.com/office/drawing/2014/main" id="{B2009761-AE4A-40DB-B134-14901593C5F7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307" name="CuadroTexto 86">
            <a:extLst>
              <a:ext uri="{FF2B5EF4-FFF2-40B4-BE49-F238E27FC236}">
                <a16:creationId xmlns:a16="http://schemas.microsoft.com/office/drawing/2014/main" id="{27094347-C1ED-44CE-AF8C-E8A4259736EE}"/>
              </a:ext>
            </a:extLst>
          </p:cNvPr>
          <p:cNvSpPr txBox="1"/>
          <p:nvPr/>
        </p:nvSpPr>
        <p:spPr>
          <a:xfrm>
            <a:off x="9522745" y="3157333"/>
            <a:ext cx="917161" cy="18336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DL Capital</a:t>
            </a:r>
          </a:p>
          <a:p>
            <a:pPr algn="ctr"/>
            <a:r>
              <a:rPr lang="pt-PT" sz="7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(APMT0100021718, APMT0100021727)</a:t>
            </a:r>
            <a:endParaRPr lang="pt-PT" sz="700" b="1" dirty="0">
              <a:ln w="0"/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ctr"/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4E5340D9-3EB2-46D2-AE70-123D40D047B2}"/>
              </a:ext>
            </a:extLst>
          </p:cNvPr>
          <p:cNvGrpSpPr/>
          <p:nvPr/>
        </p:nvGrpSpPr>
        <p:grpSpPr>
          <a:xfrm>
            <a:off x="9591468" y="5268178"/>
            <a:ext cx="792000" cy="384291"/>
            <a:chOff x="3739699" y="946501"/>
            <a:chExt cx="792000" cy="384291"/>
          </a:xfrm>
        </p:grpSpPr>
        <p:grpSp>
          <p:nvGrpSpPr>
            <p:cNvPr id="312" name="Grupo 83">
              <a:extLst>
                <a:ext uri="{FF2B5EF4-FFF2-40B4-BE49-F238E27FC236}">
                  <a16:creationId xmlns:a16="http://schemas.microsoft.com/office/drawing/2014/main" id="{55E34630-7608-4907-882F-7DCB1214AE73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314" name="Disco magnético 89">
                <a:extLst>
                  <a:ext uri="{FF2B5EF4-FFF2-40B4-BE49-F238E27FC236}">
                    <a16:creationId xmlns:a16="http://schemas.microsoft.com/office/drawing/2014/main" id="{401EC085-15D5-4DB7-97C2-A917289A88CF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17" name="Disco magnético 91">
                <a:extLst>
                  <a:ext uri="{FF2B5EF4-FFF2-40B4-BE49-F238E27FC236}">
                    <a16:creationId xmlns:a16="http://schemas.microsoft.com/office/drawing/2014/main" id="{D4419042-C3ED-4F1A-B56E-97AA351C8C52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18" name="Disco magnético 92">
                <a:extLst>
                  <a:ext uri="{FF2B5EF4-FFF2-40B4-BE49-F238E27FC236}">
                    <a16:creationId xmlns:a16="http://schemas.microsoft.com/office/drawing/2014/main" id="{A5A9E39A-4EDA-40B6-8DC0-C6FEC85CA266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13" name="CuadroTexto 86">
              <a:extLst>
                <a:ext uri="{FF2B5EF4-FFF2-40B4-BE49-F238E27FC236}">
                  <a16:creationId xmlns:a16="http://schemas.microsoft.com/office/drawing/2014/main" id="{50D25173-385D-4A02-975A-1491793996D3}"/>
                </a:ext>
              </a:extLst>
            </p:cNvPr>
            <p:cNvSpPr txBox="1"/>
            <p:nvPr/>
          </p:nvSpPr>
          <p:spPr>
            <a:xfrm>
              <a:off x="3739699" y="946501"/>
              <a:ext cx="792000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  <a:latin typeface="Santander Text" panose="020B0504020201020104" pitchFamily="34" charset="0"/>
                </a:rPr>
                <a:t>(APMT0100024132)</a:t>
              </a:r>
              <a:endParaRPr lang="pt-PT" sz="700" b="1" dirty="0">
                <a:ln w="0"/>
                <a:solidFill>
                  <a:prstClr val="black"/>
                </a:solidFill>
                <a:latin typeface="Santander Text" panose="020B0504020201020104" pitchFamily="34" charset="0"/>
              </a:endParaRPr>
            </a:p>
            <a:p>
              <a:pPr algn="ctr"/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6C2C969F-BBFC-4190-A631-355424A595F8}"/>
              </a:ext>
            </a:extLst>
          </p:cNvPr>
          <p:cNvGrpSpPr/>
          <p:nvPr/>
        </p:nvGrpSpPr>
        <p:grpSpPr>
          <a:xfrm>
            <a:off x="9481154" y="2202992"/>
            <a:ext cx="1008000" cy="564536"/>
            <a:chOff x="8695341" y="1838889"/>
            <a:chExt cx="1008000" cy="564536"/>
          </a:xfrm>
        </p:grpSpPr>
        <p:grpSp>
          <p:nvGrpSpPr>
            <p:cNvPr id="319" name="Grupo 83">
              <a:extLst>
                <a:ext uri="{FF2B5EF4-FFF2-40B4-BE49-F238E27FC236}">
                  <a16:creationId xmlns:a16="http://schemas.microsoft.com/office/drawing/2014/main" id="{CD157CD5-75F5-4D2D-81A1-2689BB2C0555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321" name="Disco magnético 89">
                <a:extLst>
                  <a:ext uri="{FF2B5EF4-FFF2-40B4-BE49-F238E27FC236}">
                    <a16:creationId xmlns:a16="http://schemas.microsoft.com/office/drawing/2014/main" id="{72F2E607-4249-45A6-AC03-DC0BF4504C6C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22" name="Disco magnético 91">
                <a:extLst>
                  <a:ext uri="{FF2B5EF4-FFF2-40B4-BE49-F238E27FC236}">
                    <a16:creationId xmlns:a16="http://schemas.microsoft.com/office/drawing/2014/main" id="{80D8C3D0-286B-41D5-A8F9-20664DB1878D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23" name="Disco magnético 92">
                <a:extLst>
                  <a:ext uri="{FF2B5EF4-FFF2-40B4-BE49-F238E27FC236}">
                    <a16:creationId xmlns:a16="http://schemas.microsoft.com/office/drawing/2014/main" id="{5781C031-32FD-4991-8A3E-456D53BCF7B8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4" name="CuadroTexto 86">
              <a:extLst>
                <a:ext uri="{FF2B5EF4-FFF2-40B4-BE49-F238E27FC236}">
                  <a16:creationId xmlns:a16="http://schemas.microsoft.com/office/drawing/2014/main" id="{79BBC0CD-7B1C-49E3-9DD5-B4819D137222}"/>
                </a:ext>
              </a:extLst>
            </p:cNvPr>
            <p:cNvSpPr txBox="1"/>
            <p:nvPr/>
          </p:nvSpPr>
          <p:spPr>
            <a:xfrm>
              <a:off x="8695341" y="1838889"/>
              <a:ext cx="1008000" cy="22513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</a:t>
              </a:r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50" b="1" dirty="0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endParaRPr lang="es-ES" sz="1050" b="1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  <a:p>
              <a:pPr algn="ctr"/>
              <a:r>
                <a:rPr lang="pt-PT" sz="700" dirty="0">
                  <a:ln w="0"/>
                  <a:solidFill>
                    <a:prstClr val="black"/>
                  </a:solidFill>
                  <a:latin typeface="Santander Text" panose="020B0504020201020104" pitchFamily="34" charset="0"/>
                </a:rPr>
                <a:t>(APMT0100021723)</a:t>
              </a:r>
              <a:endParaRPr lang="pt-PT" sz="700" b="1" dirty="0">
                <a:ln w="0"/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325" name="Conector angular 217">
            <a:extLst>
              <a:ext uri="{FF2B5EF4-FFF2-40B4-BE49-F238E27FC236}">
                <a16:creationId xmlns:a16="http://schemas.microsoft.com/office/drawing/2014/main" id="{01ED00AC-F51F-49F5-8999-B130A5452739}"/>
              </a:ext>
            </a:extLst>
          </p:cNvPr>
          <p:cNvCxnSpPr>
            <a:cxnSpLocks/>
            <a:stCxn id="92" idx="4"/>
            <a:endCxn id="322" idx="2"/>
          </p:cNvCxnSpPr>
          <p:nvPr/>
        </p:nvCxnSpPr>
        <p:spPr>
          <a:xfrm flipV="1">
            <a:off x="5411622" y="2659528"/>
            <a:ext cx="4288004" cy="583111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ector angular 217">
            <a:extLst>
              <a:ext uri="{FF2B5EF4-FFF2-40B4-BE49-F238E27FC236}">
                <a16:creationId xmlns:a16="http://schemas.microsoft.com/office/drawing/2014/main" id="{DFCCB3C5-1216-4439-9012-4F64B1C2FEA6}"/>
              </a:ext>
            </a:extLst>
          </p:cNvPr>
          <p:cNvCxnSpPr>
            <a:cxnSpLocks/>
            <a:stCxn id="107" idx="3"/>
            <a:endCxn id="321" idx="4"/>
          </p:cNvCxnSpPr>
          <p:nvPr/>
        </p:nvCxnSpPr>
        <p:spPr>
          <a:xfrm flipV="1">
            <a:off x="7929033" y="2726176"/>
            <a:ext cx="2348504" cy="1469612"/>
          </a:xfrm>
          <a:prstGeom prst="bentConnector3">
            <a:avLst>
              <a:gd name="adj1" fmla="val 109734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ector angular 217">
            <a:extLst>
              <a:ext uri="{FF2B5EF4-FFF2-40B4-BE49-F238E27FC236}">
                <a16:creationId xmlns:a16="http://schemas.microsoft.com/office/drawing/2014/main" id="{293E0A6D-770A-41CB-ADF0-410DBEA4F1B8}"/>
              </a:ext>
            </a:extLst>
          </p:cNvPr>
          <p:cNvCxnSpPr>
            <a:cxnSpLocks/>
            <a:stCxn id="178" idx="4"/>
            <a:endCxn id="309" idx="2"/>
          </p:cNvCxnSpPr>
          <p:nvPr/>
        </p:nvCxnSpPr>
        <p:spPr>
          <a:xfrm>
            <a:off x="9107801" y="3480386"/>
            <a:ext cx="575485" cy="66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ector angular 217">
            <a:extLst>
              <a:ext uri="{FF2B5EF4-FFF2-40B4-BE49-F238E27FC236}">
                <a16:creationId xmlns:a16="http://schemas.microsoft.com/office/drawing/2014/main" id="{AE5008DD-2A10-46AE-951C-21055CC15696}"/>
              </a:ext>
            </a:extLst>
          </p:cNvPr>
          <p:cNvCxnSpPr>
            <a:cxnSpLocks/>
            <a:stCxn id="279" idx="4"/>
            <a:endCxn id="317" idx="2"/>
          </p:cNvCxnSpPr>
          <p:nvPr/>
        </p:nvCxnSpPr>
        <p:spPr>
          <a:xfrm>
            <a:off x="9107801" y="5544356"/>
            <a:ext cx="591825" cy="11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3" name="Grupo 83">
            <a:extLst>
              <a:ext uri="{FF2B5EF4-FFF2-40B4-BE49-F238E27FC236}">
                <a16:creationId xmlns:a16="http://schemas.microsoft.com/office/drawing/2014/main" id="{C6AFB5B4-8228-4C71-920B-27542165A9CC}"/>
              </a:ext>
            </a:extLst>
          </p:cNvPr>
          <p:cNvGrpSpPr/>
          <p:nvPr/>
        </p:nvGrpSpPr>
        <p:grpSpPr>
          <a:xfrm>
            <a:off x="9699626" y="1684277"/>
            <a:ext cx="577911" cy="216000"/>
            <a:chOff x="8038758" y="3835908"/>
            <a:chExt cx="1282700" cy="1173653"/>
          </a:xfrm>
          <a:solidFill>
            <a:schemeClr val="accent6">
              <a:lumMod val="75000"/>
            </a:schemeClr>
          </a:solidFill>
        </p:grpSpPr>
        <p:sp>
          <p:nvSpPr>
            <p:cNvPr id="334" name="Disco magnético 89">
              <a:extLst>
                <a:ext uri="{FF2B5EF4-FFF2-40B4-BE49-F238E27FC236}">
                  <a16:creationId xmlns:a16="http://schemas.microsoft.com/office/drawing/2014/main" id="{B464382C-91AF-4D0F-A5E5-EC3E95E667A9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335" name="Disco magnético 91">
              <a:extLst>
                <a:ext uri="{FF2B5EF4-FFF2-40B4-BE49-F238E27FC236}">
                  <a16:creationId xmlns:a16="http://schemas.microsoft.com/office/drawing/2014/main" id="{BE15034B-93F2-431B-9BCB-D36510D52033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336" name="Disco magnético 92">
              <a:extLst>
                <a:ext uri="{FF2B5EF4-FFF2-40B4-BE49-F238E27FC236}">
                  <a16:creationId xmlns:a16="http://schemas.microsoft.com/office/drawing/2014/main" id="{D4287D24-6B11-4CAC-AD09-AC5B4CD1FE9A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337" name="CuadroTexto 86">
            <a:extLst>
              <a:ext uri="{FF2B5EF4-FFF2-40B4-BE49-F238E27FC236}">
                <a16:creationId xmlns:a16="http://schemas.microsoft.com/office/drawing/2014/main" id="{3ED82087-88A8-48E9-842F-E0CB3343458A}"/>
              </a:ext>
            </a:extLst>
          </p:cNvPr>
          <p:cNvSpPr txBox="1"/>
          <p:nvPr/>
        </p:nvSpPr>
        <p:spPr>
          <a:xfrm>
            <a:off x="9599508" y="1454834"/>
            <a:ext cx="792000" cy="162725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DL ALM</a:t>
            </a:r>
            <a:r>
              <a:rPr lang="pt-PT" sz="700" dirty="0">
                <a:ln w="0"/>
                <a:solidFill>
                  <a:prstClr val="black"/>
                </a:solidFill>
                <a:latin typeface="Santander Text" panose="020B0504020201020104" pitchFamily="34" charset="0"/>
              </a:rPr>
              <a:t> (APMT0100021429)</a:t>
            </a:r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339" name="Conector angular 217">
            <a:extLst>
              <a:ext uri="{FF2B5EF4-FFF2-40B4-BE49-F238E27FC236}">
                <a16:creationId xmlns:a16="http://schemas.microsoft.com/office/drawing/2014/main" id="{F7BBAC7F-E160-43BA-A013-184C31AD44B7}"/>
              </a:ext>
            </a:extLst>
          </p:cNvPr>
          <p:cNvCxnSpPr>
            <a:cxnSpLocks/>
            <a:stCxn id="322" idx="4"/>
            <a:endCxn id="334" idx="4"/>
          </p:cNvCxnSpPr>
          <p:nvPr/>
        </p:nvCxnSpPr>
        <p:spPr>
          <a:xfrm flipV="1">
            <a:off x="10277537" y="1858925"/>
            <a:ext cx="12700" cy="800603"/>
          </a:xfrm>
          <a:prstGeom prst="bentConnector3">
            <a:avLst>
              <a:gd name="adj1" fmla="val 180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ector angular 217">
            <a:extLst>
              <a:ext uri="{FF2B5EF4-FFF2-40B4-BE49-F238E27FC236}">
                <a16:creationId xmlns:a16="http://schemas.microsoft.com/office/drawing/2014/main" id="{E3A07E79-583B-4E3B-941B-D5CF2CE88864}"/>
              </a:ext>
            </a:extLst>
          </p:cNvPr>
          <p:cNvCxnSpPr>
            <a:cxnSpLocks/>
            <a:stCxn id="92" idx="4"/>
            <a:endCxn id="335" idx="2"/>
          </p:cNvCxnSpPr>
          <p:nvPr/>
        </p:nvCxnSpPr>
        <p:spPr>
          <a:xfrm flipV="1">
            <a:off x="5411622" y="1792277"/>
            <a:ext cx="4288004" cy="1450362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angular 217">
            <a:extLst>
              <a:ext uri="{FF2B5EF4-FFF2-40B4-BE49-F238E27FC236}">
                <a16:creationId xmlns:a16="http://schemas.microsoft.com/office/drawing/2014/main" id="{6727371E-F3EE-49B2-9EA8-08E3F3E7475A}"/>
              </a:ext>
            </a:extLst>
          </p:cNvPr>
          <p:cNvCxnSpPr>
            <a:cxnSpLocks/>
            <a:stCxn id="211" idx="3"/>
            <a:endCxn id="92" idx="2"/>
          </p:cNvCxnSpPr>
          <p:nvPr/>
        </p:nvCxnSpPr>
        <p:spPr>
          <a:xfrm>
            <a:off x="3074400" y="1185035"/>
            <a:ext cx="1759311" cy="205760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3663437" y="4403707"/>
            <a:ext cx="982327" cy="240407"/>
            <a:chOff x="3608497" y="4223067"/>
            <a:chExt cx="952559" cy="323062"/>
          </a:xfrm>
        </p:grpSpPr>
        <p:sp>
          <p:nvSpPr>
            <p:cNvPr id="111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114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19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8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117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11" idx="2"/>
            <a:endCxn id="235" idx="0"/>
          </p:cNvCxnSpPr>
          <p:nvPr/>
        </p:nvCxnSpPr>
        <p:spPr>
          <a:xfrm rot="16200000" flipH="1">
            <a:off x="3797299" y="4862856"/>
            <a:ext cx="457679" cy="1986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5">
            <a:extLst>
              <a:ext uri="{FF2B5EF4-FFF2-40B4-BE49-F238E27FC236}">
                <a16:creationId xmlns:a16="http://schemas.microsoft.com/office/drawing/2014/main" id="{F9F72A8F-03AA-BC44-AAF8-68A8B4791E2A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Arquitetura de Sistemas e de Produção de Informação – Modelo Único de Garantias no Data </a:t>
            </a:r>
            <a:r>
              <a:rPr lang="pt-PT" sz="2000" b="1" dirty="0" err="1">
                <a:solidFill>
                  <a:srgbClr val="FF0000"/>
                </a:solidFill>
                <a:latin typeface="Santander Text" panose="020B0504020201020104" pitchFamily="34" charset="0"/>
              </a:rPr>
              <a:t>Lake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14" name="CuadroTexto 86">
            <a:extLst>
              <a:ext uri="{FF2B5EF4-FFF2-40B4-BE49-F238E27FC236}">
                <a16:creationId xmlns:a16="http://schemas.microsoft.com/office/drawing/2014/main" id="{3B4247F8-A6BE-D0D2-59A7-17B2614CF9C5}"/>
              </a:ext>
            </a:extLst>
          </p:cNvPr>
          <p:cNvSpPr txBox="1"/>
          <p:nvPr/>
        </p:nvSpPr>
        <p:spPr>
          <a:xfrm>
            <a:off x="6037703" y="5483202"/>
            <a:ext cx="892226" cy="3517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Interface </a:t>
            </a:r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para IFRS9</a:t>
            </a:r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F62AD7FA-518B-6C26-CB3F-380F553D4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5855587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 (</a:t>
            </a:r>
            <a:r>
              <a:rPr lang="pt-PT" sz="800" dirty="0">
                <a:solidFill>
                  <a:prstClr val="black"/>
                </a:solidFill>
                <a:latin typeface="Santander Text" panose="020B0504020201020104" pitchFamily="34" charset="0"/>
              </a:rPr>
              <a:t>APMT0100020939</a:t>
            </a:r>
            <a:r>
              <a:rPr lang="pt-BR" alt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16" name="Conector angular 217">
            <a:extLst>
              <a:ext uri="{FF2B5EF4-FFF2-40B4-BE49-F238E27FC236}">
                <a16:creationId xmlns:a16="http://schemas.microsoft.com/office/drawing/2014/main" id="{46FF64ED-C95C-3F7B-E84C-1996490AEA67}"/>
              </a:ext>
            </a:extLst>
          </p:cNvPr>
          <p:cNvCxnSpPr>
            <a:cxnSpLocks/>
            <a:stCxn id="15" idx="3"/>
            <a:endCxn id="230" idx="2"/>
          </p:cNvCxnSpPr>
          <p:nvPr/>
        </p:nvCxnSpPr>
        <p:spPr>
          <a:xfrm flipV="1">
            <a:off x="2898000" y="5592433"/>
            <a:ext cx="846182" cy="37115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17">
            <a:extLst>
              <a:ext uri="{FF2B5EF4-FFF2-40B4-BE49-F238E27FC236}">
                <a16:creationId xmlns:a16="http://schemas.microsoft.com/office/drawing/2014/main" id="{E1F0D20C-B916-F0D6-F898-D74E3359FEDF}"/>
              </a:ext>
            </a:extLst>
          </p:cNvPr>
          <p:cNvCxnSpPr>
            <a:cxnSpLocks/>
            <a:stCxn id="238" idx="4"/>
            <a:endCxn id="65" idx="1"/>
          </p:cNvCxnSpPr>
          <p:nvPr/>
        </p:nvCxnSpPr>
        <p:spPr>
          <a:xfrm>
            <a:off x="5410648" y="5592433"/>
            <a:ext cx="727352" cy="341406"/>
          </a:xfrm>
          <a:prstGeom prst="bentConnector3">
            <a:avLst>
              <a:gd name="adj1" fmla="val 58929"/>
            </a:avLst>
          </a:prstGeom>
          <a:ln w="952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217">
            <a:extLst>
              <a:ext uri="{FF2B5EF4-FFF2-40B4-BE49-F238E27FC236}">
                <a16:creationId xmlns:a16="http://schemas.microsoft.com/office/drawing/2014/main" id="{C6737D4A-B27B-8B03-444C-AB226D9F6ED1}"/>
              </a:ext>
            </a:extLst>
          </p:cNvPr>
          <p:cNvCxnSpPr>
            <a:cxnSpLocks/>
            <a:stCxn id="65" idx="3"/>
            <a:endCxn id="279" idx="2"/>
          </p:cNvCxnSpPr>
          <p:nvPr/>
        </p:nvCxnSpPr>
        <p:spPr>
          <a:xfrm flipV="1">
            <a:off x="6858000" y="5544356"/>
            <a:ext cx="1671890" cy="38948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32">
            <a:extLst>
              <a:ext uri="{FF2B5EF4-FFF2-40B4-BE49-F238E27FC236}">
                <a16:creationId xmlns:a16="http://schemas.microsoft.com/office/drawing/2014/main" id="{2164FDF7-A988-67CC-ADCD-7CD518AA8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000" y="6113912"/>
            <a:ext cx="1548000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pt-BR" alt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Interv./Contratos </a:t>
            </a:r>
            <a:endParaRPr lang="pt-BR" altLang="pt-PT" sz="8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cxnSp>
        <p:nvCxnSpPr>
          <p:cNvPr id="23" name="Conector angular 217">
            <a:extLst>
              <a:ext uri="{FF2B5EF4-FFF2-40B4-BE49-F238E27FC236}">
                <a16:creationId xmlns:a16="http://schemas.microsoft.com/office/drawing/2014/main" id="{349160EA-CAA3-5D6A-F9A8-3634FA5EA6CC}"/>
              </a:ext>
            </a:extLst>
          </p:cNvPr>
          <p:cNvCxnSpPr>
            <a:cxnSpLocks/>
            <a:stCxn id="22" idx="3"/>
            <a:endCxn id="230" idx="2"/>
          </p:cNvCxnSpPr>
          <p:nvPr/>
        </p:nvCxnSpPr>
        <p:spPr>
          <a:xfrm flipV="1">
            <a:off x="2898000" y="5592433"/>
            <a:ext cx="846182" cy="629479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21" grpId="0"/>
      <p:bldP spid="2" grpId="0" animBg="1"/>
      <p:bldP spid="303" grpId="0" animBg="1"/>
      <p:bldP spid="306" grpId="0" animBg="1"/>
      <p:bldP spid="350" grpId="0" animBg="1"/>
      <p:bldP spid="235" grpId="0"/>
      <p:bldP spid="240" grpId="0"/>
      <p:bldP spid="245" grpId="0"/>
      <p:bldP spid="299" grpId="0" animBg="1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1703287" y="2761112"/>
            <a:ext cx="10341075" cy="3460472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44" name="Retângulo 139">
            <a:extLst>
              <a:ext uri="{FF2B5EF4-FFF2-40B4-BE49-F238E27FC236}">
                <a16:creationId xmlns:a16="http://schemas.microsoft.com/office/drawing/2014/main" id="{C07F424B-D58A-9A01-175A-3E1C92FB353C}"/>
              </a:ext>
            </a:extLst>
          </p:cNvPr>
          <p:cNvSpPr/>
          <p:nvPr/>
        </p:nvSpPr>
        <p:spPr>
          <a:xfrm>
            <a:off x="6004516" y="3204000"/>
            <a:ext cx="1800000" cy="6305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(cempresa… comp_id_gar)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ckrefbem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Garante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zcliente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FFD78AF-9D3C-E2A2-6BDF-C624AD600F59}"/>
              </a:ext>
            </a:extLst>
          </p:cNvPr>
          <p:cNvSpPr txBox="1"/>
          <p:nvPr/>
        </p:nvSpPr>
        <p:spPr>
          <a:xfrm>
            <a:off x="6019747" y="3499022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5C0F206-E45C-05C5-DFCF-F1D80FEE2500}"/>
              </a:ext>
            </a:extLst>
          </p:cNvPr>
          <p:cNvGrpSpPr/>
          <p:nvPr/>
        </p:nvGrpSpPr>
        <p:grpSpPr>
          <a:xfrm>
            <a:off x="1942585" y="4532616"/>
            <a:ext cx="1872000" cy="846506"/>
            <a:chOff x="3119517" y="2080767"/>
            <a:chExt cx="2232495" cy="846506"/>
          </a:xfrm>
        </p:grpSpPr>
        <p:sp>
          <p:nvSpPr>
            <p:cNvPr id="29" name="Retângulo 139">
              <a:extLst>
                <a:ext uri="{FF2B5EF4-FFF2-40B4-BE49-F238E27FC236}">
                  <a16:creationId xmlns:a16="http://schemas.microsoft.com/office/drawing/2014/main" id="{99612816-BD81-2FE1-146F-302739FE8458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7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24925B8-8742-C26F-2070-6B36BF875CB2}"/>
                </a:ext>
              </a:extLst>
            </p:cNvPr>
            <p:cNvSpPr/>
            <p:nvPr/>
          </p:nvSpPr>
          <p:spPr>
            <a:xfrm>
              <a:off x="3119517" y="208076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Crédito VS Processos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(gt001)</a:t>
              </a:r>
            </a:p>
          </p:txBody>
        </p:sp>
      </p:grpSp>
      <p:sp>
        <p:nvSpPr>
          <p:cNvPr id="41" name="Retângulo 139">
            <a:extLst>
              <a:ext uri="{FF2B5EF4-FFF2-40B4-BE49-F238E27FC236}">
                <a16:creationId xmlns:a16="http://schemas.microsoft.com/office/drawing/2014/main" id="{65564008-AD00-4CF3-6A9B-6D2C0DAA6797}"/>
              </a:ext>
            </a:extLst>
          </p:cNvPr>
          <p:cNvSpPr/>
          <p:nvPr/>
        </p:nvSpPr>
        <p:spPr>
          <a:xfrm>
            <a:off x="1942585" y="3204000"/>
            <a:ext cx="2484000" cy="763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ckrefresp_orig)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zseqver_orig)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Destino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(cempresp_dest… ckrefresp_dest)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Destino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(cempresa_dest… comp_id_gar_dest)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D0E1CC-21E2-1C9C-B06A-3AB566E3F8B5}"/>
              </a:ext>
            </a:extLst>
          </p:cNvPr>
          <p:cNvSpPr/>
          <p:nvPr/>
        </p:nvSpPr>
        <p:spPr>
          <a:xfrm>
            <a:off x="1942585" y="2896586"/>
            <a:ext cx="252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</a:t>
            </a:r>
            <a:r>
              <a:rPr lang="pt-PT" sz="1050" b="1" dirty="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 Origem VS </a:t>
            </a:r>
            <a:r>
              <a:rPr lang="pt-PT" sz="1050" b="1" dirty="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Resp</a:t>
            </a:r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/Processos 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(kt_chaves_gt)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08014FB-CFB8-4A6C-EE60-3B6669BF8D8B}"/>
              </a:ext>
            </a:extLst>
          </p:cNvPr>
          <p:cNvSpPr txBox="1"/>
          <p:nvPr/>
        </p:nvSpPr>
        <p:spPr>
          <a:xfrm>
            <a:off x="1951975" y="3363508"/>
            <a:ext cx="24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82BE6C-9401-BC46-503C-D9111BF0AD81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" name="Fluxograma: multidocumentos 2"/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989BD1-F552-98D1-57AD-9430D790891F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5" name="Retângulo 4"/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sp>
        <p:nvSpPr>
          <p:cNvPr id="382" name="CaixaDeTexto 381"/>
          <p:cNvSpPr txBox="1"/>
          <p:nvPr/>
        </p:nvSpPr>
        <p:spPr>
          <a:xfrm>
            <a:off x="1561459" y="893255"/>
            <a:ext cx="84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  <a:endParaRPr lang="en-US" dirty="0"/>
          </a:p>
        </p:txBody>
      </p:sp>
      <p:sp>
        <p:nvSpPr>
          <p:cNvPr id="12" name="CuadroTexto 86">
            <a:extLst>
              <a:ext uri="{FF2B5EF4-FFF2-40B4-BE49-F238E27FC236}">
                <a16:creationId xmlns:a16="http://schemas.microsoft.com/office/drawing/2014/main" id="{2118F98E-20C2-C8BE-4BFE-95CA56D631C6}"/>
              </a:ext>
            </a:extLst>
          </p:cNvPr>
          <p:cNvSpPr txBox="1"/>
          <p:nvPr/>
        </p:nvSpPr>
        <p:spPr>
          <a:xfrm>
            <a:off x="10641580" y="2818864"/>
            <a:ext cx="1352122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Módulo Base </a:t>
            </a:r>
          </a:p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214694-ADEF-2A45-BBCF-0D05E5CF8E11}"/>
              </a:ext>
            </a:extLst>
          </p:cNvPr>
          <p:cNvSpPr/>
          <p:nvPr/>
        </p:nvSpPr>
        <p:spPr>
          <a:xfrm>
            <a:off x="552448" y="614011"/>
            <a:ext cx="11160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 módulo base de garantias é o 1º módulo do Modelo Único de Garantias e tem como objetivo assegurar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granularidade total 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 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completitude horizontal dos 3 pilares principais 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associados às garantias (contratos, processos/cauções, e bens / garantes pessoais) e ainda das 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avaliações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dos bens. Cada pilar ou componente pode ter uma relação de 1x1, 1xn ou nx1 com o(s) pilar(</a:t>
            </a:r>
            <a:r>
              <a:rPr lang="pt-PT" sz="10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) contíguos, havendo, pois, tabelas de traçabilidade entre os mesmos. O seu aprovisionamento </a:t>
            </a:r>
            <a:r>
              <a:rPr lang="pt-PT" sz="10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parte dos dados existentes nas </a:t>
            </a:r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aplicações GP, CS, </a:t>
            </a:r>
            <a:r>
              <a:rPr lang="pt-PT" sz="1000" b="1" dirty="0" err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Lease</a:t>
            </a:r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, </a:t>
            </a:r>
            <a:r>
              <a:rPr lang="pt-PT" sz="1000" b="1" dirty="0" err="1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Eurofac</a:t>
            </a:r>
            <a:r>
              <a:rPr lang="pt-PT" sz="10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 </a:t>
            </a:r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Efeitos </a:t>
            </a:r>
            <a:r>
              <a:rPr lang="pt-PT" sz="1000" dirty="0">
                <a:solidFill>
                  <a:prstClr val="black"/>
                </a:solidFill>
                <a:latin typeface="Santander Text" panose="020B0504020201020104" pitchFamily="34" charset="0"/>
                <a:ea typeface="Times New Roman" panose="02020603050405020304" pitchFamily="18" charset="0"/>
              </a:rPr>
              <a:t>e permite a rastreabilidade com os sistemas de crédito e passivo e base de dados de pessoas (BDP). </a:t>
            </a:r>
            <a:endParaRPr lang="pt-PT" sz="1000" dirty="0">
              <a:solidFill>
                <a:sysClr val="windowText" lastClr="00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 dirty="0">
                <a:solidFill>
                  <a:srgbClr val="FF0000"/>
                </a:solidFill>
                <a:latin typeface="Santander Text" panose="020B0504020201020104" pitchFamily="34" charset="0"/>
              </a:rPr>
              <a:t>| 1 - Módulo Base de Garantias</a:t>
            </a:r>
            <a:endParaRPr lang="pt-PT" sz="2000" dirty="0">
              <a:solidFill>
                <a:srgbClr val="FF0000"/>
              </a:solidFill>
              <a:latin typeface="Santander Text" panose="020B0504020201020104" pitchFamily="34" charset="0"/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FB1C0771-4437-B049-7B8E-1E0C2F073740}"/>
              </a:ext>
            </a:extLst>
          </p:cNvPr>
          <p:cNvSpPr/>
          <p:nvPr/>
        </p:nvSpPr>
        <p:spPr>
          <a:xfrm>
            <a:off x="250216" y="4580062"/>
            <a:ext cx="1311243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Crédito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Empréstimos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Efeitos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Remessas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(…)</a:t>
            </a:r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0ED076EC-8FF4-6418-D9E2-3B1CDB59E97B}"/>
              </a:ext>
            </a:extLst>
          </p:cNvPr>
          <p:cNvSpPr/>
          <p:nvPr/>
        </p:nvSpPr>
        <p:spPr>
          <a:xfrm>
            <a:off x="9005883" y="1490684"/>
            <a:ext cx="1185133" cy="76344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Intervenientes (BDP - Base de dados de clientes)</a:t>
            </a:r>
            <a:endParaRPr lang="pt-PT" sz="900" dirty="0">
              <a:solidFill>
                <a:schemeClr val="bg2">
                  <a:lumMod val="2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2F244F72-2097-8E41-E7FE-1DA97C3B1F44}"/>
              </a:ext>
            </a:extLst>
          </p:cNvPr>
          <p:cNvSpPr/>
          <p:nvPr/>
        </p:nvSpPr>
        <p:spPr>
          <a:xfrm>
            <a:off x="10584156" y="1490684"/>
            <a:ext cx="1275225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Passivo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Fundos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Depósitos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Títulos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Seguros Poupança</a:t>
            </a: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92DA518E-2B07-F31C-F530-A671C41E8F02}"/>
              </a:ext>
            </a:extLst>
          </p:cNvPr>
          <p:cNvSpPr/>
          <p:nvPr/>
        </p:nvSpPr>
        <p:spPr>
          <a:xfrm>
            <a:off x="4779498" y="1490684"/>
            <a:ext cx="1800000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Origem de Garantias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GP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Eurofac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Lease</a:t>
            </a:r>
          </a:p>
        </p:txBody>
      </p:sp>
      <p:sp>
        <p:nvSpPr>
          <p:cNvPr id="35" name="Retângulo 139">
            <a:extLst>
              <a:ext uri="{FF2B5EF4-FFF2-40B4-BE49-F238E27FC236}">
                <a16:creationId xmlns:a16="http://schemas.microsoft.com/office/drawing/2014/main" id="{FC4A5521-AF90-53D3-5580-0ADE96F3C235}"/>
              </a:ext>
            </a:extLst>
          </p:cNvPr>
          <p:cNvSpPr/>
          <p:nvPr/>
        </p:nvSpPr>
        <p:spPr>
          <a:xfrm>
            <a:off x="3973551" y="4853736"/>
            <a:ext cx="1871999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(cempresa… comp_id_gar)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31B072-CD44-D2DB-AF27-CAACB0A0C6A7}"/>
              </a:ext>
            </a:extLst>
          </p:cNvPr>
          <p:cNvSpPr/>
          <p:nvPr/>
        </p:nvSpPr>
        <p:spPr>
          <a:xfrm>
            <a:off x="3973550" y="4596325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Processos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(gt002)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CA0C67-7CA2-4BAA-DAEF-EC27264B37A7}"/>
              </a:ext>
            </a:extLst>
          </p:cNvPr>
          <p:cNvSpPr/>
          <p:nvPr/>
        </p:nvSpPr>
        <p:spPr>
          <a:xfrm>
            <a:off x="6004515" y="2899092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Traçabilidade Processos VS Bens Pessoais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(gt007)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3BC8B1-9346-54B1-E5CC-86DDE74F0CEC}"/>
              </a:ext>
            </a:extLst>
          </p:cNvPr>
          <p:cNvGrpSpPr/>
          <p:nvPr/>
        </p:nvGrpSpPr>
        <p:grpSpPr>
          <a:xfrm>
            <a:off x="6004516" y="4161763"/>
            <a:ext cx="1871585" cy="855471"/>
            <a:chOff x="3119517" y="2025817"/>
            <a:chExt cx="2232000" cy="855471"/>
          </a:xfrm>
        </p:grpSpPr>
        <p:sp>
          <p:nvSpPr>
            <p:cNvPr id="47" name="Retângulo 139">
              <a:extLst>
                <a:ext uri="{FF2B5EF4-FFF2-40B4-BE49-F238E27FC236}">
                  <a16:creationId xmlns:a16="http://schemas.microsoft.com/office/drawing/2014/main" id="{2F0AADAF-0487-C2E1-477A-CB619117E6F7}"/>
                </a:ext>
              </a:extLst>
            </p:cNvPr>
            <p:cNvSpPr/>
            <p:nvPr/>
          </p:nvSpPr>
          <p:spPr>
            <a:xfrm>
              <a:off x="3119518" y="2355902"/>
              <a:ext cx="2146630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8AF87C-FA3C-A4C5-95D6-F1D332A6062E}"/>
                </a:ext>
              </a:extLst>
            </p:cNvPr>
            <p:cNvSpPr/>
            <p:nvPr/>
          </p:nvSpPr>
          <p:spPr>
            <a:xfrm>
              <a:off x="3119517" y="202581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(gt003)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6004516" y="5253834"/>
            <a:ext cx="1871585" cy="851405"/>
            <a:chOff x="3119517" y="2075868"/>
            <a:chExt cx="2232000" cy="851405"/>
          </a:xfrm>
        </p:grpSpPr>
        <p:sp>
          <p:nvSpPr>
            <p:cNvPr id="50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146630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75868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(gt008)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3BBF40A-2B19-938F-1AF0-F944177F062B}"/>
              </a:ext>
            </a:extLst>
          </p:cNvPr>
          <p:cNvGrpSpPr/>
          <p:nvPr/>
        </p:nvGrpSpPr>
        <p:grpSpPr>
          <a:xfrm>
            <a:off x="8087872" y="5284782"/>
            <a:ext cx="1872000" cy="817966"/>
            <a:chOff x="3119517" y="2109307"/>
            <a:chExt cx="2232495" cy="817966"/>
          </a:xfrm>
        </p:grpSpPr>
        <p:sp>
          <p:nvSpPr>
            <p:cNvPr id="53" name="Retângulo 139">
              <a:extLst>
                <a:ext uri="{FF2B5EF4-FFF2-40B4-BE49-F238E27FC236}">
                  <a16:creationId xmlns:a16="http://schemas.microsoft.com/office/drawing/2014/main" id="{CF6C0189-7DEA-085C-13D5-BB231166EDFF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B55CCD-6C1B-DE62-22CB-E7D9748E6FDB}"/>
                </a:ext>
              </a:extLst>
            </p:cNvPr>
            <p:cNvSpPr/>
            <p:nvPr/>
          </p:nvSpPr>
          <p:spPr>
            <a:xfrm>
              <a:off x="3119517" y="21093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(gt009)</a:t>
              </a:r>
            </a:p>
          </p:txBody>
        </p:sp>
      </p:grpSp>
      <p:cxnSp>
        <p:nvCxnSpPr>
          <p:cNvPr id="187" name="Conexão em ângulos retos 186"/>
          <p:cNvCxnSpPr>
            <a:cxnSpLocks/>
            <a:stCxn id="80" idx="1"/>
            <a:endCxn id="64" idx="3"/>
          </p:cNvCxnSpPr>
          <p:nvPr/>
        </p:nvCxnSpPr>
        <p:spPr>
          <a:xfrm rot="10800000" flipV="1">
            <a:off x="3811413" y="4962416"/>
            <a:ext cx="166942" cy="15632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xão em ângulos retos 186">
            <a:extLst>
              <a:ext uri="{FF2B5EF4-FFF2-40B4-BE49-F238E27FC236}">
                <a16:creationId xmlns:a16="http://schemas.microsoft.com/office/drawing/2014/main" id="{E9DED2D5-DBCE-B043-D151-C9CC13709A88}"/>
              </a:ext>
            </a:extLst>
          </p:cNvPr>
          <p:cNvCxnSpPr>
            <a:cxnSpLocks/>
            <a:stCxn id="86" idx="1"/>
            <a:endCxn id="80" idx="3"/>
          </p:cNvCxnSpPr>
          <p:nvPr/>
        </p:nvCxnSpPr>
        <p:spPr>
          <a:xfrm rot="10800000" flipV="1">
            <a:off x="5838528" y="3314074"/>
            <a:ext cx="171059" cy="16483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xão em ângulos retos 186">
            <a:extLst>
              <a:ext uri="{FF2B5EF4-FFF2-40B4-BE49-F238E27FC236}">
                <a16:creationId xmlns:a16="http://schemas.microsoft.com/office/drawing/2014/main" id="{AFF3E2DC-1116-3EA0-A997-CFB1905733B1}"/>
              </a:ext>
            </a:extLst>
          </p:cNvPr>
          <p:cNvCxnSpPr>
            <a:cxnSpLocks/>
            <a:stCxn id="88" idx="1"/>
            <a:endCxn id="80" idx="3"/>
          </p:cNvCxnSpPr>
          <p:nvPr/>
        </p:nvCxnSpPr>
        <p:spPr>
          <a:xfrm rot="10800000" flipV="1">
            <a:off x="5838528" y="4600828"/>
            <a:ext cx="173609" cy="36158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xão em ângulos retos 186">
            <a:extLst>
              <a:ext uri="{FF2B5EF4-FFF2-40B4-BE49-F238E27FC236}">
                <a16:creationId xmlns:a16="http://schemas.microsoft.com/office/drawing/2014/main" id="{CBD0174A-5DEB-EDD0-D2F8-2A5AB7A06C04}"/>
              </a:ext>
            </a:extLst>
          </p:cNvPr>
          <p:cNvCxnSpPr>
            <a:cxnSpLocks/>
            <a:stCxn id="90" idx="1"/>
            <a:endCxn id="80" idx="3"/>
          </p:cNvCxnSpPr>
          <p:nvPr/>
        </p:nvCxnSpPr>
        <p:spPr>
          <a:xfrm rot="10800000">
            <a:off x="5838527" y="4962416"/>
            <a:ext cx="176354" cy="72265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xão em ângulos retos 186">
            <a:extLst>
              <a:ext uri="{FF2B5EF4-FFF2-40B4-BE49-F238E27FC236}">
                <a16:creationId xmlns:a16="http://schemas.microsoft.com/office/drawing/2014/main" id="{21E50F71-05E2-9B8E-DF68-9EF0A57A32F1}"/>
              </a:ext>
            </a:extLst>
          </p:cNvPr>
          <p:cNvCxnSpPr>
            <a:cxnSpLocks/>
            <a:stCxn id="27" idx="1"/>
            <a:endCxn id="21" idx="3"/>
          </p:cNvCxnSpPr>
          <p:nvPr/>
        </p:nvCxnSpPr>
        <p:spPr>
          <a:xfrm rot="10800000" flipV="1">
            <a:off x="7811528" y="5696288"/>
            <a:ext cx="284887" cy="144252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xão em ângulos retos 236">
            <a:extLst>
              <a:ext uri="{FF2B5EF4-FFF2-40B4-BE49-F238E27FC236}">
                <a16:creationId xmlns:a16="http://schemas.microsoft.com/office/drawing/2014/main" id="{04933701-C6AA-4798-60CA-A06FE616895D}"/>
              </a:ext>
            </a:extLst>
          </p:cNvPr>
          <p:cNvCxnSpPr>
            <a:cxnSpLocks/>
            <a:stCxn id="68" idx="1"/>
            <a:endCxn id="8" idx="1"/>
          </p:cNvCxnSpPr>
          <p:nvPr/>
        </p:nvCxnSpPr>
        <p:spPr>
          <a:xfrm rot="10800000">
            <a:off x="1948016" y="3323136"/>
            <a:ext cx="8372" cy="1640891"/>
          </a:xfrm>
          <a:prstGeom prst="bentConnector3">
            <a:avLst>
              <a:gd name="adj1" fmla="val 2329933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xão em ângulos retos 236">
            <a:extLst>
              <a:ext uri="{FF2B5EF4-FFF2-40B4-BE49-F238E27FC236}">
                <a16:creationId xmlns:a16="http://schemas.microsoft.com/office/drawing/2014/main" id="{ABC1938D-7565-6AA0-AE3C-64F2B32DB0D2}"/>
              </a:ext>
            </a:extLst>
          </p:cNvPr>
          <p:cNvCxnSpPr>
            <a:cxnSpLocks/>
            <a:stCxn id="64" idx="1"/>
            <a:endCxn id="240" idx="1"/>
          </p:cNvCxnSpPr>
          <p:nvPr/>
        </p:nvCxnSpPr>
        <p:spPr>
          <a:xfrm rot="10800000" flipH="1">
            <a:off x="1951241" y="3455842"/>
            <a:ext cx="734" cy="1662901"/>
          </a:xfrm>
          <a:prstGeom prst="bentConnector3">
            <a:avLst>
              <a:gd name="adj1" fmla="val -14014986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xão em ângulos retos 206">
            <a:extLst>
              <a:ext uri="{FF2B5EF4-FFF2-40B4-BE49-F238E27FC236}">
                <a16:creationId xmlns:a16="http://schemas.microsoft.com/office/drawing/2014/main" id="{7E32B90B-26CB-1B99-4DDB-D54629F912D2}"/>
              </a:ext>
            </a:extLst>
          </p:cNvPr>
          <p:cNvCxnSpPr>
            <a:cxnSpLocks/>
            <a:stCxn id="354" idx="0"/>
            <a:endCxn id="359" idx="2"/>
          </p:cNvCxnSpPr>
          <p:nvPr/>
        </p:nvCxnSpPr>
        <p:spPr>
          <a:xfrm rot="16200000" flipV="1">
            <a:off x="2743708" y="5551043"/>
            <a:ext cx="270216" cy="147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xão em ângulos retos 186">
            <a:extLst>
              <a:ext uri="{FF2B5EF4-FFF2-40B4-BE49-F238E27FC236}">
                <a16:creationId xmlns:a16="http://schemas.microsoft.com/office/drawing/2014/main" id="{01500A19-9C3D-4956-7CA7-D484E8AC9483}"/>
              </a:ext>
            </a:extLst>
          </p:cNvPr>
          <p:cNvCxnSpPr>
            <a:cxnSpLocks/>
            <a:stCxn id="68" idx="1"/>
            <a:endCxn id="22" idx="0"/>
          </p:cNvCxnSpPr>
          <p:nvPr/>
        </p:nvCxnSpPr>
        <p:spPr>
          <a:xfrm rot="10800000">
            <a:off x="1561460" y="4961788"/>
            <a:ext cx="394929" cy="2239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xão em ângulos retos 206">
            <a:extLst>
              <a:ext uri="{FF2B5EF4-FFF2-40B4-BE49-F238E27FC236}">
                <a16:creationId xmlns:a16="http://schemas.microsoft.com/office/drawing/2014/main" id="{CB361ECB-DC3D-7610-9803-67B9794AB3A7}"/>
              </a:ext>
            </a:extLst>
          </p:cNvPr>
          <p:cNvCxnSpPr>
            <a:cxnSpLocks/>
            <a:stCxn id="109" idx="1"/>
            <a:endCxn id="112" idx="0"/>
          </p:cNvCxnSpPr>
          <p:nvPr/>
        </p:nvCxnSpPr>
        <p:spPr>
          <a:xfrm rot="10800000" flipV="1">
            <a:off x="3822466" y="1907492"/>
            <a:ext cx="898411" cy="812784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A81D15A-4BFD-649F-29EB-E97A11DEBDE4}"/>
              </a:ext>
            </a:extLst>
          </p:cNvPr>
          <p:cNvGrpSpPr/>
          <p:nvPr/>
        </p:nvGrpSpPr>
        <p:grpSpPr>
          <a:xfrm>
            <a:off x="544969" y="2464081"/>
            <a:ext cx="10818347" cy="222815"/>
            <a:chOff x="544969" y="2464081"/>
            <a:chExt cx="10818347" cy="222815"/>
          </a:xfrm>
        </p:grpSpPr>
        <p:sp>
          <p:nvSpPr>
            <p:cNvPr id="130" name="Retângulo 139">
              <a:extLst>
                <a:ext uri="{FF2B5EF4-FFF2-40B4-BE49-F238E27FC236}">
                  <a16:creationId xmlns:a16="http://schemas.microsoft.com/office/drawing/2014/main" id="{5CED7252-7CB5-AF6B-5166-3E8CCC4F6B37}"/>
                </a:ext>
              </a:extLst>
            </p:cNvPr>
            <p:cNvSpPr/>
            <p:nvPr/>
          </p:nvSpPr>
          <p:spPr>
            <a:xfrm>
              <a:off x="544969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1</a:t>
              </a:r>
            </a:p>
          </p:txBody>
        </p:sp>
        <p:sp>
          <p:nvSpPr>
            <p:cNvPr id="133" name="Retângulo 139">
              <a:extLst>
                <a:ext uri="{FF2B5EF4-FFF2-40B4-BE49-F238E27FC236}">
                  <a16:creationId xmlns:a16="http://schemas.microsoft.com/office/drawing/2014/main" id="{EF03D658-5F31-7C49-3BF2-A9DF4449EAA0}"/>
                </a:ext>
              </a:extLst>
            </p:cNvPr>
            <p:cNvSpPr/>
            <p:nvPr/>
          </p:nvSpPr>
          <p:spPr>
            <a:xfrm>
              <a:off x="4416068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2</a:t>
              </a:r>
            </a:p>
          </p:txBody>
        </p:sp>
        <p:sp>
          <p:nvSpPr>
            <p:cNvPr id="134" name="Retângulo 139">
              <a:extLst>
                <a:ext uri="{FF2B5EF4-FFF2-40B4-BE49-F238E27FC236}">
                  <a16:creationId xmlns:a16="http://schemas.microsoft.com/office/drawing/2014/main" id="{40A24796-45FB-E051-0B6C-8C10159D4AF2}"/>
                </a:ext>
              </a:extLst>
            </p:cNvPr>
            <p:cNvSpPr/>
            <p:nvPr/>
          </p:nvSpPr>
          <p:spPr>
            <a:xfrm>
              <a:off x="8610404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3</a:t>
              </a:r>
            </a:p>
          </p:txBody>
        </p:sp>
        <p:sp>
          <p:nvSpPr>
            <p:cNvPr id="234" name="Retângulo 139">
              <a:extLst>
                <a:ext uri="{FF2B5EF4-FFF2-40B4-BE49-F238E27FC236}">
                  <a16:creationId xmlns:a16="http://schemas.microsoft.com/office/drawing/2014/main" id="{ED80C475-FFFA-3E81-1C36-DBEA90105B99}"/>
                </a:ext>
              </a:extLst>
            </p:cNvPr>
            <p:cNvSpPr/>
            <p:nvPr/>
          </p:nvSpPr>
          <p:spPr>
            <a:xfrm>
              <a:off x="10641579" y="2464081"/>
              <a:ext cx="721737" cy="222815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r>
                <a:rPr lang="pt-PT" sz="1200" b="1" dirty="0">
                  <a:solidFill>
                    <a:schemeClr val="bg1">
                      <a:lumMod val="95000"/>
                    </a:schemeClr>
                  </a:solidFill>
                  <a:latin typeface="Santander Text" panose="020B0504020201020104" pitchFamily="34" charset="0"/>
                </a:rPr>
                <a:t>Pilar 4</a:t>
              </a:r>
            </a:p>
          </p:txBody>
        </p:sp>
      </p:grpSp>
      <p:sp>
        <p:nvSpPr>
          <p:cNvPr id="31" name="CaixaDeTexto 251">
            <a:extLst>
              <a:ext uri="{FF2B5EF4-FFF2-40B4-BE49-F238E27FC236}">
                <a16:creationId xmlns:a16="http://schemas.microsoft.com/office/drawing/2014/main" id="{5EC04E0D-8AD6-DCDD-E5E5-6BD3F63E5D29}"/>
              </a:ext>
            </a:extLst>
          </p:cNvPr>
          <p:cNvSpPr txBox="1"/>
          <p:nvPr/>
        </p:nvSpPr>
        <p:spPr>
          <a:xfrm>
            <a:off x="250216" y="6217200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Legenda: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D55446-314D-6CC6-05B4-908A2DA135B0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2" name="Fluxograma: subrotina 238">
              <a:extLst>
                <a:ext uri="{FF2B5EF4-FFF2-40B4-BE49-F238E27FC236}">
                  <a16:creationId xmlns:a16="http://schemas.microsoft.com/office/drawing/2014/main" id="{04F35ABF-E2BF-73A9-102C-4B465FEE8F02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CaixaDeTexto 239">
              <a:extLst>
                <a:ext uri="{FF2B5EF4-FFF2-40B4-BE49-F238E27FC236}">
                  <a16:creationId xmlns:a16="http://schemas.microsoft.com/office/drawing/2014/main" id="{75E40576-19FA-866E-F096-E72B39051EC2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 dirty="0"/>
                <a:t>Parametrização</a:t>
              </a:r>
            </a:p>
          </p:txBody>
        </p:sp>
      </p:grpSp>
      <p:sp>
        <p:nvSpPr>
          <p:cNvPr id="227" name="TextBox 226">
            <a:extLst>
              <a:ext uri="{FF2B5EF4-FFF2-40B4-BE49-F238E27FC236}">
                <a16:creationId xmlns:a16="http://schemas.microsoft.com/office/drawing/2014/main" id="{6832B29E-E8EF-F879-AA82-AD81DE2FED9A}"/>
              </a:ext>
            </a:extLst>
          </p:cNvPr>
          <p:cNvSpPr txBox="1"/>
          <p:nvPr/>
        </p:nvSpPr>
        <p:spPr>
          <a:xfrm>
            <a:off x="5417145" y="1882897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28" name="Conexão em ângulos retos 236">
            <a:extLst>
              <a:ext uri="{FF2B5EF4-FFF2-40B4-BE49-F238E27FC236}">
                <a16:creationId xmlns:a16="http://schemas.microsoft.com/office/drawing/2014/main" id="{AE0439F1-229F-9430-F875-11AD1092E2EA}"/>
              </a:ext>
            </a:extLst>
          </p:cNvPr>
          <p:cNvCxnSpPr>
            <a:cxnSpLocks/>
            <a:stCxn id="227" idx="2"/>
            <a:endCxn id="8" idx="3"/>
          </p:cNvCxnSpPr>
          <p:nvPr/>
        </p:nvCxnSpPr>
        <p:spPr>
          <a:xfrm rot="5400000">
            <a:off x="4464567" y="2219678"/>
            <a:ext cx="1070906" cy="1136008"/>
          </a:xfrm>
          <a:prstGeom prst="bentConnector2">
            <a:avLst/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236">
            <a:extLst>
              <a:ext uri="{FF2B5EF4-FFF2-40B4-BE49-F238E27FC236}">
                <a16:creationId xmlns:a16="http://schemas.microsoft.com/office/drawing/2014/main" id="{5964A4F9-1F01-6488-DF62-A0E5D1467CD3}"/>
              </a:ext>
            </a:extLst>
          </p:cNvPr>
          <p:cNvCxnSpPr>
            <a:cxnSpLocks/>
            <a:stCxn id="61" idx="2"/>
            <a:endCxn id="240" idx="3"/>
          </p:cNvCxnSpPr>
          <p:nvPr/>
        </p:nvCxnSpPr>
        <p:spPr>
          <a:xfrm rot="5400000">
            <a:off x="4459826" y="2227268"/>
            <a:ext cx="1204722" cy="1252424"/>
          </a:xfrm>
          <a:prstGeom prst="bentConnector2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5150EA6-1C1E-BF8D-645A-6754FB0DC2F6}"/>
              </a:ext>
            </a:extLst>
          </p:cNvPr>
          <p:cNvSpPr txBox="1"/>
          <p:nvPr/>
        </p:nvSpPr>
        <p:spPr>
          <a:xfrm>
            <a:off x="5537520" y="1881787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FD70B9-DF8D-0FF5-8577-F9D73A732253}"/>
              </a:ext>
            </a:extLst>
          </p:cNvPr>
          <p:cNvSpPr txBox="1"/>
          <p:nvPr/>
        </p:nvSpPr>
        <p:spPr>
          <a:xfrm>
            <a:off x="1951241" y="4934076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6E6869-0797-9FE5-C2A5-2B774EAA121D}"/>
              </a:ext>
            </a:extLst>
          </p:cNvPr>
          <p:cNvSpPr txBox="1"/>
          <p:nvPr/>
        </p:nvSpPr>
        <p:spPr>
          <a:xfrm>
            <a:off x="1956388" y="4779360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B5937B-74A5-C29C-C8F9-0A9ED9AFE1F8}"/>
              </a:ext>
            </a:extLst>
          </p:cNvPr>
          <p:cNvSpPr txBox="1"/>
          <p:nvPr/>
        </p:nvSpPr>
        <p:spPr>
          <a:xfrm>
            <a:off x="3978355" y="4777750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1D28BF3-4251-660F-650F-741BCC445847}"/>
              </a:ext>
            </a:extLst>
          </p:cNvPr>
          <p:cNvSpPr txBox="1"/>
          <p:nvPr/>
        </p:nvSpPr>
        <p:spPr>
          <a:xfrm>
            <a:off x="6009586" y="3221742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155B2A-CFF2-C4A1-E80A-6A9B5B17D7D9}"/>
              </a:ext>
            </a:extLst>
          </p:cNvPr>
          <p:cNvSpPr txBox="1"/>
          <p:nvPr/>
        </p:nvSpPr>
        <p:spPr>
          <a:xfrm>
            <a:off x="6012136" y="4508495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16212C9-C815-0502-13D6-E1A15A79BB77}"/>
              </a:ext>
            </a:extLst>
          </p:cNvPr>
          <p:cNvSpPr txBox="1"/>
          <p:nvPr/>
        </p:nvSpPr>
        <p:spPr>
          <a:xfrm>
            <a:off x="6014881" y="5500402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99" name="Conexão em ângulos retos 236">
            <a:extLst>
              <a:ext uri="{FF2B5EF4-FFF2-40B4-BE49-F238E27FC236}">
                <a16:creationId xmlns:a16="http://schemas.microsoft.com/office/drawing/2014/main" id="{26FC795D-544D-B99F-D587-6F42DF9CA7EA}"/>
              </a:ext>
            </a:extLst>
          </p:cNvPr>
          <p:cNvCxnSpPr>
            <a:cxnSpLocks/>
            <a:stCxn id="22" idx="2"/>
            <a:endCxn id="23" idx="3"/>
          </p:cNvCxnSpPr>
          <p:nvPr/>
        </p:nvCxnSpPr>
        <p:spPr>
          <a:xfrm rot="10800000" flipH="1">
            <a:off x="250216" y="1490685"/>
            <a:ext cx="9348234" cy="3471103"/>
          </a:xfrm>
          <a:prstGeom prst="bentConnector4">
            <a:avLst>
              <a:gd name="adj1" fmla="val -1365"/>
              <a:gd name="adj2" fmla="val 10343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6F80EEB-CFC6-89FD-AFC4-4D6BFAC889E6}"/>
              </a:ext>
            </a:extLst>
          </p:cNvPr>
          <p:cNvSpPr txBox="1"/>
          <p:nvPr/>
        </p:nvSpPr>
        <p:spPr>
          <a:xfrm>
            <a:off x="4720876" y="172282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7543402-9A22-8A79-4970-234E34FAE61C}"/>
              </a:ext>
            </a:extLst>
          </p:cNvPr>
          <p:cNvSpPr txBox="1"/>
          <p:nvPr/>
        </p:nvSpPr>
        <p:spPr>
          <a:xfrm>
            <a:off x="3671586" y="272027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C1F66A2D-6B9F-B826-F85D-7EA2CD7C2D09}"/>
              </a:ext>
            </a:extLst>
          </p:cNvPr>
          <p:cNvGrpSpPr/>
          <p:nvPr/>
        </p:nvGrpSpPr>
        <p:grpSpPr>
          <a:xfrm>
            <a:off x="2083682" y="5686888"/>
            <a:ext cx="1562072" cy="430680"/>
            <a:chOff x="2045582" y="5686888"/>
            <a:chExt cx="1562072" cy="430680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829F1DA-77D8-DD45-39A4-7A26FC589BB6}"/>
                </a:ext>
              </a:extLst>
            </p:cNvPr>
            <p:cNvGrpSpPr/>
            <p:nvPr/>
          </p:nvGrpSpPr>
          <p:grpSpPr>
            <a:xfrm>
              <a:off x="2045582" y="5871347"/>
              <a:ext cx="1562072" cy="246221"/>
              <a:chOff x="2601544" y="5702096"/>
              <a:chExt cx="1562072" cy="246221"/>
            </a:xfrm>
          </p:grpSpPr>
          <p:sp>
            <p:nvSpPr>
              <p:cNvPr id="122" name="Fluxograma: subrotina 238">
                <a:extLst>
                  <a:ext uri="{FF2B5EF4-FFF2-40B4-BE49-F238E27FC236}">
                    <a16:creationId xmlns:a16="http://schemas.microsoft.com/office/drawing/2014/main" id="{0E79682C-6B67-213F-4582-DAF4C52407B8}"/>
                  </a:ext>
                </a:extLst>
              </p:cNvPr>
              <p:cNvSpPr/>
              <p:nvPr/>
            </p:nvSpPr>
            <p:spPr>
              <a:xfrm>
                <a:off x="2601544" y="5722697"/>
                <a:ext cx="1562072" cy="216000"/>
              </a:xfrm>
              <a:prstGeom prst="flowChartPredefinedProcess">
                <a:avLst/>
              </a:prstGeom>
              <a:solidFill>
                <a:schemeClr val="bg1"/>
              </a:soli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endParaRPr lang="pt-PT" sz="8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03" name="CaixaDeTexto 452">
                <a:extLst>
                  <a:ext uri="{FF2B5EF4-FFF2-40B4-BE49-F238E27FC236}">
                    <a16:creationId xmlns:a16="http://schemas.microsoft.com/office/drawing/2014/main" id="{FCF9275D-0466-C0F5-5153-691B26F88022}"/>
                  </a:ext>
                </a:extLst>
              </p:cNvPr>
              <p:cNvSpPr txBox="1"/>
              <p:nvPr/>
            </p:nvSpPr>
            <p:spPr>
              <a:xfrm>
                <a:off x="2786712" y="5702096"/>
                <a:ext cx="1292137" cy="246221"/>
              </a:xfrm>
              <a:prstGeom prst="rect">
                <a:avLst/>
              </a:prstGeom>
              <a:noFill/>
            </p:spPr>
            <p:txBody>
              <a:bodyPr wrap="square" rIns="36000" rtlCol="0">
                <a:spAutoFit/>
              </a:bodyPr>
              <a:lstStyle/>
              <a:p>
                <a:r>
                  <a:rPr lang="pt-PT" sz="1000" dirty="0">
                    <a:latin typeface="Santander Text" panose="020B0504020201020104" pitchFamily="34" charset="0"/>
                  </a:rPr>
                  <a:t>gt801_gar_sigom</a:t>
                </a:r>
              </a:p>
            </p:txBody>
          </p:sp>
        </p:grpSp>
        <p:sp>
          <p:nvSpPr>
            <p:cNvPr id="354" name="CaixaDeTexto 343">
              <a:extLst>
                <a:ext uri="{FF2B5EF4-FFF2-40B4-BE49-F238E27FC236}">
                  <a16:creationId xmlns:a16="http://schemas.microsoft.com/office/drawing/2014/main" id="{750502EF-AB52-0AA6-837A-BC02EA806D43}"/>
                </a:ext>
              </a:extLst>
            </p:cNvPr>
            <p:cNvSpPr txBox="1"/>
            <p:nvPr/>
          </p:nvSpPr>
          <p:spPr>
            <a:xfrm>
              <a:off x="2127574" y="5686888"/>
              <a:ext cx="1427758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pt-PT" sz="1050" b="1" dirty="0">
                  <a:latin typeface="Santander Text" panose="020B0504020201020104" pitchFamily="34" charset="0"/>
                </a:rPr>
                <a:t>(PA) Garantias Manuais</a:t>
              </a:r>
              <a:endParaRPr lang="pt-PT" sz="900" dirty="0">
                <a:latin typeface="Santander Text" panose="020B0504020201020104" pitchFamily="34" charset="0"/>
              </a:endParaRPr>
            </a:p>
          </p:txBody>
        </p:sp>
      </p:grpSp>
      <p:sp>
        <p:nvSpPr>
          <p:cNvPr id="359" name="TextBox 358">
            <a:extLst>
              <a:ext uri="{FF2B5EF4-FFF2-40B4-BE49-F238E27FC236}">
                <a16:creationId xmlns:a16="http://schemas.microsoft.com/office/drawing/2014/main" id="{BA3FE588-B8D8-7D9A-B85B-E9FC0C6D2083}"/>
              </a:ext>
            </a:extLst>
          </p:cNvPr>
          <p:cNvSpPr txBox="1"/>
          <p:nvPr/>
        </p:nvSpPr>
        <p:spPr>
          <a:xfrm>
            <a:off x="2727200" y="5047340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1FC1A-D0F0-5110-0423-9120CE50E4B3}"/>
              </a:ext>
            </a:extLst>
          </p:cNvPr>
          <p:cNvSpPr txBox="1"/>
          <p:nvPr/>
        </p:nvSpPr>
        <p:spPr>
          <a:xfrm>
            <a:off x="1948016" y="3230802"/>
            <a:ext cx="24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3" name="Retângulo 139">
            <a:extLst>
              <a:ext uri="{FF2B5EF4-FFF2-40B4-BE49-F238E27FC236}">
                <a16:creationId xmlns:a16="http://schemas.microsoft.com/office/drawing/2014/main" id="{EE6A8BAF-A379-FE38-0DD4-928D9D6D6980}"/>
              </a:ext>
            </a:extLst>
          </p:cNvPr>
          <p:cNvSpPr/>
          <p:nvPr/>
        </p:nvSpPr>
        <p:spPr>
          <a:xfrm>
            <a:off x="8096197" y="4506382"/>
            <a:ext cx="1871999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C932D5-3D3B-6657-7205-0BD772BC28F2}"/>
              </a:ext>
            </a:extLst>
          </p:cNvPr>
          <p:cNvSpPr/>
          <p:nvPr/>
        </p:nvSpPr>
        <p:spPr>
          <a:xfrm>
            <a:off x="8096196" y="4239202"/>
            <a:ext cx="1871585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Bens Financeiros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(gt004)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087E83-6D7F-200B-51B5-E9E087FED4BD}"/>
              </a:ext>
            </a:extLst>
          </p:cNvPr>
          <p:cNvSpPr txBox="1"/>
          <p:nvPr/>
        </p:nvSpPr>
        <p:spPr>
          <a:xfrm>
            <a:off x="6011527" y="5748207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34FCDD-38C8-562C-EFDA-B091656E1327}"/>
              </a:ext>
            </a:extLst>
          </p:cNvPr>
          <p:cNvSpPr txBox="1"/>
          <p:nvPr/>
        </p:nvSpPr>
        <p:spPr>
          <a:xfrm>
            <a:off x="8096414" y="5603955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A4F70BC-E61A-D9E4-B56F-D2456486046C}"/>
              </a:ext>
            </a:extLst>
          </p:cNvPr>
          <p:cNvSpPr txBox="1"/>
          <p:nvPr/>
        </p:nvSpPr>
        <p:spPr>
          <a:xfrm>
            <a:off x="8103756" y="4522163"/>
            <a:ext cx="186017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243" name="Conexão em ângulos retos 186">
            <a:extLst>
              <a:ext uri="{FF2B5EF4-FFF2-40B4-BE49-F238E27FC236}">
                <a16:creationId xmlns:a16="http://schemas.microsoft.com/office/drawing/2014/main" id="{52B162A1-F3B1-3745-4698-48E46B88F08A}"/>
              </a:ext>
            </a:extLst>
          </p:cNvPr>
          <p:cNvCxnSpPr>
            <a:cxnSpLocks/>
            <a:stCxn id="233" idx="1"/>
            <a:endCxn id="247" idx="3"/>
          </p:cNvCxnSpPr>
          <p:nvPr/>
        </p:nvCxnSpPr>
        <p:spPr>
          <a:xfrm rot="10800000" flipV="1">
            <a:off x="7813112" y="4614496"/>
            <a:ext cx="290644" cy="145040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>
            <a:extLst>
              <a:ext uri="{FF2B5EF4-FFF2-40B4-BE49-F238E27FC236}">
                <a16:creationId xmlns:a16="http://schemas.microsoft.com/office/drawing/2014/main" id="{2BA5AD3F-3673-BDE7-D439-DF0CC67457B2}"/>
              </a:ext>
            </a:extLst>
          </p:cNvPr>
          <p:cNvSpPr txBox="1"/>
          <p:nvPr/>
        </p:nvSpPr>
        <p:spPr>
          <a:xfrm>
            <a:off x="6013112" y="4667203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9" name="CaixaDeTexto 251">
            <a:extLst>
              <a:ext uri="{FF2B5EF4-FFF2-40B4-BE49-F238E27FC236}">
                <a16:creationId xmlns:a16="http://schemas.microsoft.com/office/drawing/2014/main" id="{892FC72C-1133-D562-167E-5F0F8E1BEE06}"/>
              </a:ext>
            </a:extLst>
          </p:cNvPr>
          <p:cNvSpPr txBox="1"/>
          <p:nvPr/>
        </p:nvSpPr>
        <p:spPr>
          <a:xfrm>
            <a:off x="250216" y="6382800"/>
            <a:ext cx="30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GT: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gerado pelos módulos Garantias ou pelos Interfaces do MUG</a:t>
            </a:r>
            <a:r>
              <a:rPr lang="pt-PT" sz="900" dirty="0">
                <a:latin typeface="Santander Text" panose="020B0504020201020104" pitchFamily="34" charset="0"/>
              </a:rPr>
              <a:t>        </a:t>
            </a:r>
            <a:r>
              <a:rPr lang="pt-PT" sz="900" b="1" dirty="0">
                <a:latin typeface="Santander Text" panose="020B0504020201020104" pitchFamily="34" charset="0"/>
              </a:rPr>
              <a:t>PA: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parametrização</a:t>
            </a:r>
          </a:p>
        </p:txBody>
      </p:sp>
      <p:sp>
        <p:nvSpPr>
          <p:cNvPr id="62" name="Retângulo 139">
            <a:extLst>
              <a:ext uri="{FF2B5EF4-FFF2-40B4-BE49-F238E27FC236}">
                <a16:creationId xmlns:a16="http://schemas.microsoft.com/office/drawing/2014/main" id="{30E0320D-4749-E490-906B-45BCA3F58C71}"/>
              </a:ext>
            </a:extLst>
          </p:cNvPr>
          <p:cNvSpPr/>
          <p:nvPr/>
        </p:nvSpPr>
        <p:spPr>
          <a:xfrm>
            <a:off x="8094791" y="3204000"/>
            <a:ext cx="2160000" cy="763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ckbalcao_orig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… 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zcaucao_orig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zbem_orig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… 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zrefcta_orig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Garante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zcliente_orig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 Destino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cempbem_dest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… </a:t>
            </a:r>
            <a:r>
              <a:rPr lang="pt-PT" sz="7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ckrefbem_dest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4188D1-8837-EBA2-617B-6FA4395A5A79}"/>
              </a:ext>
            </a:extLst>
          </p:cNvPr>
          <p:cNvSpPr/>
          <p:nvPr/>
        </p:nvSpPr>
        <p:spPr>
          <a:xfrm>
            <a:off x="8094791" y="2898000"/>
            <a:ext cx="1871581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</a:t>
            </a:r>
            <a:r>
              <a:rPr lang="pt-PT" sz="1050" b="1" dirty="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 Origem VS Bens 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900" dirty="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kt_chaves_bens_gt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76" name="Conexão em ângulos retos 206">
            <a:extLst>
              <a:ext uri="{FF2B5EF4-FFF2-40B4-BE49-F238E27FC236}">
                <a16:creationId xmlns:a16="http://schemas.microsoft.com/office/drawing/2014/main" id="{27198B41-21F4-9FC1-8A79-3E19C46D483A}"/>
              </a:ext>
            </a:extLst>
          </p:cNvPr>
          <p:cNvCxnSpPr>
            <a:cxnSpLocks/>
            <a:stCxn id="111" idx="1"/>
            <a:endCxn id="138" idx="3"/>
          </p:cNvCxnSpPr>
          <p:nvPr/>
        </p:nvCxnSpPr>
        <p:spPr>
          <a:xfrm rot="10800000">
            <a:off x="7808400" y="3448625"/>
            <a:ext cx="287092" cy="287987"/>
          </a:xfrm>
          <a:prstGeom prst="bentConnector3">
            <a:avLst>
              <a:gd name="adj1" fmla="val 71565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2331A5D4-269B-92FB-B041-BE70096EF8D1}"/>
              </a:ext>
            </a:extLst>
          </p:cNvPr>
          <p:cNvSpPr txBox="1"/>
          <p:nvPr/>
        </p:nvSpPr>
        <p:spPr>
          <a:xfrm>
            <a:off x="8096400" y="3498521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84" name="Conexão em ângulos retos 206">
            <a:extLst>
              <a:ext uri="{FF2B5EF4-FFF2-40B4-BE49-F238E27FC236}">
                <a16:creationId xmlns:a16="http://schemas.microsoft.com/office/drawing/2014/main" id="{46664B6E-5EEF-A6F8-949B-13474B943323}"/>
              </a:ext>
            </a:extLst>
          </p:cNvPr>
          <p:cNvCxnSpPr>
            <a:cxnSpLocks/>
            <a:stCxn id="111" idx="3"/>
            <a:endCxn id="233" idx="3"/>
          </p:cNvCxnSpPr>
          <p:nvPr/>
        </p:nvCxnSpPr>
        <p:spPr>
          <a:xfrm flipH="1">
            <a:off x="9963928" y="3736611"/>
            <a:ext cx="291564" cy="877885"/>
          </a:xfrm>
          <a:prstGeom prst="bentConnector3">
            <a:avLst>
              <a:gd name="adj1" fmla="val -53359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5F621D0-0ED2-E83B-D7E6-6A2175D947CA}"/>
              </a:ext>
            </a:extLst>
          </p:cNvPr>
          <p:cNvSpPr txBox="1"/>
          <p:nvPr/>
        </p:nvSpPr>
        <p:spPr>
          <a:xfrm>
            <a:off x="8100676" y="3355926"/>
            <a:ext cx="223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56" name="Retângulo 139">
            <a:extLst>
              <a:ext uri="{FF2B5EF4-FFF2-40B4-BE49-F238E27FC236}">
                <a16:creationId xmlns:a16="http://schemas.microsoft.com/office/drawing/2014/main" id="{0437531E-9FCF-469D-0B23-B8E239697DD2}"/>
              </a:ext>
            </a:extLst>
          </p:cNvPr>
          <p:cNvSpPr/>
          <p:nvPr/>
        </p:nvSpPr>
        <p:spPr>
          <a:xfrm>
            <a:off x="10583977" y="5577362"/>
            <a:ext cx="1376252" cy="525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(cempbem… ckrefbem)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Davalia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25A128F-CBD7-2B02-F706-510FDF7B89DF}"/>
              </a:ext>
            </a:extLst>
          </p:cNvPr>
          <p:cNvSpPr/>
          <p:nvPr/>
        </p:nvSpPr>
        <p:spPr>
          <a:xfrm>
            <a:off x="10583975" y="5284782"/>
            <a:ext cx="1368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(GT) Avaliações Bens Imóveis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(gt011)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712474A-86A1-38EB-A08C-6B91EDEFF839}"/>
              </a:ext>
            </a:extLst>
          </p:cNvPr>
          <p:cNvSpPr txBox="1"/>
          <p:nvPr/>
        </p:nvSpPr>
        <p:spPr>
          <a:xfrm>
            <a:off x="10589786" y="5602155"/>
            <a:ext cx="1296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70" name="Conexão em ângulos retos 147">
            <a:extLst>
              <a:ext uri="{FF2B5EF4-FFF2-40B4-BE49-F238E27FC236}">
                <a16:creationId xmlns:a16="http://schemas.microsoft.com/office/drawing/2014/main" id="{5B03FDB7-C081-619F-BA5A-2AF3E86CADDC}"/>
              </a:ext>
            </a:extLst>
          </p:cNvPr>
          <p:cNvCxnSpPr>
            <a:cxnSpLocks/>
            <a:stCxn id="27" idx="3"/>
            <a:endCxn id="229" idx="1"/>
          </p:cNvCxnSpPr>
          <p:nvPr/>
        </p:nvCxnSpPr>
        <p:spPr>
          <a:xfrm flipV="1">
            <a:off x="9956586" y="5694488"/>
            <a:ext cx="633200" cy="1800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xão em ângulos retos 147">
            <a:extLst>
              <a:ext uri="{FF2B5EF4-FFF2-40B4-BE49-F238E27FC236}">
                <a16:creationId xmlns:a16="http://schemas.microsoft.com/office/drawing/2014/main" id="{E6BE75E3-50EC-4FB7-CF37-55FED919EFC6}"/>
              </a:ext>
            </a:extLst>
          </p:cNvPr>
          <p:cNvCxnSpPr>
            <a:cxnSpLocks/>
            <a:stCxn id="27" idx="3"/>
            <a:endCxn id="111" idx="3"/>
          </p:cNvCxnSpPr>
          <p:nvPr/>
        </p:nvCxnSpPr>
        <p:spPr>
          <a:xfrm flipV="1">
            <a:off x="9956586" y="3736611"/>
            <a:ext cx="298906" cy="1959677"/>
          </a:xfrm>
          <a:prstGeom prst="bentConnector3">
            <a:avLst>
              <a:gd name="adj1" fmla="val 189225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F0ACBFF-4BD3-C4D3-94DA-50EA72481955}"/>
              </a:ext>
            </a:extLst>
          </p:cNvPr>
          <p:cNvSpPr txBox="1"/>
          <p:nvPr/>
        </p:nvSpPr>
        <p:spPr>
          <a:xfrm>
            <a:off x="8095492" y="3644278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2159902-C8DF-DFCD-BB30-153876A671A9}"/>
              </a:ext>
            </a:extLst>
          </p:cNvPr>
          <p:cNvSpPr txBox="1"/>
          <p:nvPr/>
        </p:nvSpPr>
        <p:spPr>
          <a:xfrm>
            <a:off x="8094758" y="3220585"/>
            <a:ext cx="216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CCAA373-AB64-0A5C-FAA4-2573B921F581}"/>
              </a:ext>
            </a:extLst>
          </p:cNvPr>
          <p:cNvSpPr txBox="1"/>
          <p:nvPr/>
        </p:nvSpPr>
        <p:spPr>
          <a:xfrm>
            <a:off x="8096400" y="3357460"/>
            <a:ext cx="223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121" name="Conexão em ângulos retos 206">
            <a:extLst>
              <a:ext uri="{FF2B5EF4-FFF2-40B4-BE49-F238E27FC236}">
                <a16:creationId xmlns:a16="http://schemas.microsoft.com/office/drawing/2014/main" id="{7638AD20-8069-9CDB-DC1C-7B2FD18FCDA0}"/>
              </a:ext>
            </a:extLst>
          </p:cNvPr>
          <p:cNvCxnSpPr>
            <a:cxnSpLocks/>
            <a:stCxn id="23" idx="0"/>
            <a:endCxn id="81" idx="3"/>
          </p:cNvCxnSpPr>
          <p:nvPr/>
        </p:nvCxnSpPr>
        <p:spPr>
          <a:xfrm>
            <a:off x="10191016" y="1872408"/>
            <a:ext cx="65384" cy="1718446"/>
          </a:xfrm>
          <a:prstGeom prst="bentConnector3">
            <a:avLst>
              <a:gd name="adj1" fmla="val 23111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xão em ângulos retos 206">
            <a:extLst>
              <a:ext uri="{FF2B5EF4-FFF2-40B4-BE49-F238E27FC236}">
                <a16:creationId xmlns:a16="http://schemas.microsoft.com/office/drawing/2014/main" id="{66B83CBF-8EE2-E3D3-E92F-A15E000D1276}"/>
              </a:ext>
            </a:extLst>
          </p:cNvPr>
          <p:cNvCxnSpPr>
            <a:cxnSpLocks/>
            <a:stCxn id="24" idx="2"/>
            <a:endCxn id="111" idx="3"/>
          </p:cNvCxnSpPr>
          <p:nvPr/>
        </p:nvCxnSpPr>
        <p:spPr>
          <a:xfrm rot="10800000" flipV="1">
            <a:off x="10255492" y="1872409"/>
            <a:ext cx="328664" cy="186420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5D1AE20-8BF7-C523-E23F-5417C1F9644E}"/>
              </a:ext>
            </a:extLst>
          </p:cNvPr>
          <p:cNvSpPr txBox="1"/>
          <p:nvPr/>
        </p:nvSpPr>
        <p:spPr>
          <a:xfrm>
            <a:off x="6008400" y="3356291"/>
            <a:ext cx="1800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8CA6AC5-2C33-5977-A22C-8DCDFD50564E}"/>
              </a:ext>
            </a:extLst>
          </p:cNvPr>
          <p:cNvSpPr txBox="1"/>
          <p:nvPr/>
        </p:nvSpPr>
        <p:spPr>
          <a:xfrm>
            <a:off x="6284626" y="1691863"/>
            <a:ext cx="30175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4E54CB3-DB01-EE6D-421D-34E08A6286A1}"/>
              </a:ext>
            </a:extLst>
          </p:cNvPr>
          <p:cNvSpPr txBox="1"/>
          <p:nvPr/>
        </p:nvSpPr>
        <p:spPr>
          <a:xfrm>
            <a:off x="8219299" y="277171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164" name="Conexão em ângulos retos 236">
            <a:extLst>
              <a:ext uri="{FF2B5EF4-FFF2-40B4-BE49-F238E27FC236}">
                <a16:creationId xmlns:a16="http://schemas.microsoft.com/office/drawing/2014/main" id="{A85D3EB4-AC02-230E-979D-5980BEB53D79}"/>
              </a:ext>
            </a:extLst>
          </p:cNvPr>
          <p:cNvCxnSpPr>
            <a:cxnSpLocks/>
            <a:stCxn id="162" idx="3"/>
            <a:endCxn id="125" idx="1"/>
          </p:cNvCxnSpPr>
          <p:nvPr/>
        </p:nvCxnSpPr>
        <p:spPr>
          <a:xfrm>
            <a:off x="6586384" y="1784196"/>
            <a:ext cx="1508374" cy="1528722"/>
          </a:xfrm>
          <a:prstGeom prst="bentConnector3">
            <a:avLst>
              <a:gd name="adj1" fmla="val 94835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86A3C91C-C0BD-EEB8-84CC-F8D4F1F16F9E}"/>
              </a:ext>
            </a:extLst>
          </p:cNvPr>
          <p:cNvSpPr txBox="1"/>
          <p:nvPr/>
        </p:nvSpPr>
        <p:spPr>
          <a:xfrm>
            <a:off x="6284624" y="1810923"/>
            <a:ext cx="30175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176" name="Conexão em ângulos retos 206">
            <a:extLst>
              <a:ext uri="{FF2B5EF4-FFF2-40B4-BE49-F238E27FC236}">
                <a16:creationId xmlns:a16="http://schemas.microsoft.com/office/drawing/2014/main" id="{92A63E33-81D7-2FBC-3B4F-1292897A45FE}"/>
              </a:ext>
            </a:extLst>
          </p:cNvPr>
          <p:cNvCxnSpPr>
            <a:cxnSpLocks/>
            <a:stCxn id="353" idx="1"/>
            <a:endCxn id="173" idx="3"/>
          </p:cNvCxnSpPr>
          <p:nvPr/>
        </p:nvCxnSpPr>
        <p:spPr>
          <a:xfrm rot="10800000">
            <a:off x="6586382" y="1903257"/>
            <a:ext cx="1510018" cy="1546537"/>
          </a:xfrm>
          <a:prstGeom prst="bentConnector3">
            <a:avLst>
              <a:gd name="adj1" fmla="val 7948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xão em ângulos retos 206">
            <a:extLst>
              <a:ext uri="{FF2B5EF4-FFF2-40B4-BE49-F238E27FC236}">
                <a16:creationId xmlns:a16="http://schemas.microsoft.com/office/drawing/2014/main" id="{118A8638-024F-230F-D165-98F4C41BE209}"/>
              </a:ext>
            </a:extLst>
          </p:cNvPr>
          <p:cNvCxnSpPr>
            <a:cxnSpLocks/>
            <a:stCxn id="81" idx="1"/>
            <a:endCxn id="173" idx="3"/>
          </p:cNvCxnSpPr>
          <p:nvPr/>
        </p:nvCxnSpPr>
        <p:spPr>
          <a:xfrm rot="10800000">
            <a:off x="6586382" y="1903256"/>
            <a:ext cx="1510018" cy="1687598"/>
          </a:xfrm>
          <a:prstGeom prst="bentConnector3">
            <a:avLst>
              <a:gd name="adj1" fmla="val 8053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87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tângulo 8">
            <a:extLst>
              <a:ext uri="{FF2B5EF4-FFF2-40B4-BE49-F238E27FC236}">
                <a16:creationId xmlns:a16="http://schemas.microsoft.com/office/drawing/2014/main" id="{15689B98-59F9-6883-F41F-A1982A3A4656}"/>
              </a:ext>
            </a:extLst>
          </p:cNvPr>
          <p:cNvSpPr/>
          <p:nvPr/>
        </p:nvSpPr>
        <p:spPr>
          <a:xfrm>
            <a:off x="5746750" y="1392226"/>
            <a:ext cx="4298949" cy="498317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972773" y="2761112"/>
            <a:ext cx="2827571" cy="2409129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22" name="Rectangle: Diagonal Corners Rounded 21">
            <a:extLst>
              <a:ext uri="{FF2B5EF4-FFF2-40B4-BE49-F238E27FC236}">
                <a16:creationId xmlns:a16="http://schemas.microsoft.com/office/drawing/2014/main" id="{FB1C0771-4437-B049-7B8E-1E0C2F073740}"/>
              </a:ext>
            </a:extLst>
          </p:cNvPr>
          <p:cNvSpPr/>
          <p:nvPr/>
        </p:nvSpPr>
        <p:spPr>
          <a:xfrm>
            <a:off x="250216" y="4001674"/>
            <a:ext cx="1311243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Crédito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Empréstimos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Efeitos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Remessas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(…)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2352344" y="4020740"/>
            <a:ext cx="2448000" cy="961850"/>
            <a:chOff x="3119516" y="2129941"/>
            <a:chExt cx="2919422" cy="961850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9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6" y="2129941"/>
              <a:ext cx="2919422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5B55035-F01D-45E6-0326-672AFFA69C26}"/>
              </a:ext>
            </a:extLst>
          </p:cNvPr>
          <p:cNvGrpSpPr/>
          <p:nvPr/>
        </p:nvGrpSpPr>
        <p:grpSpPr>
          <a:xfrm>
            <a:off x="5922572" y="2899508"/>
            <a:ext cx="1872000" cy="848524"/>
            <a:chOff x="3119517" y="2078749"/>
            <a:chExt cx="2232495" cy="848524"/>
          </a:xfrm>
        </p:grpSpPr>
        <p:sp>
          <p:nvSpPr>
            <p:cNvPr id="44" name="Retângulo 139">
              <a:extLst>
                <a:ext uri="{FF2B5EF4-FFF2-40B4-BE49-F238E27FC236}">
                  <a16:creationId xmlns:a16="http://schemas.microsoft.com/office/drawing/2014/main" id="{C07F424B-D58A-9A01-175A-3E1C92FB353C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BCA0C67-7CA2-4BAA-DAEF-EC27264B37A7}"/>
                </a:ext>
              </a:extLst>
            </p:cNvPr>
            <p:cNvSpPr/>
            <p:nvPr/>
          </p:nvSpPr>
          <p:spPr>
            <a:xfrm>
              <a:off x="3119517" y="2078749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Pessoais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(gt007)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3BC8B1-9346-54B1-E5CC-86DDE74F0CEC}"/>
              </a:ext>
            </a:extLst>
          </p:cNvPr>
          <p:cNvGrpSpPr/>
          <p:nvPr/>
        </p:nvGrpSpPr>
        <p:grpSpPr>
          <a:xfrm>
            <a:off x="5922573" y="4127570"/>
            <a:ext cx="1872000" cy="842722"/>
            <a:chOff x="3119517" y="2084551"/>
            <a:chExt cx="2232495" cy="842722"/>
          </a:xfrm>
        </p:grpSpPr>
        <p:sp>
          <p:nvSpPr>
            <p:cNvPr id="47" name="Retângulo 139">
              <a:extLst>
                <a:ext uri="{FF2B5EF4-FFF2-40B4-BE49-F238E27FC236}">
                  <a16:creationId xmlns:a16="http://schemas.microsoft.com/office/drawing/2014/main" id="{2F0AADAF-0487-C2E1-477A-CB619117E6F7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8AF87C-FA3C-A4C5-95D6-F1D332A6062E}"/>
                </a:ext>
              </a:extLst>
            </p:cNvPr>
            <p:cNvSpPr/>
            <p:nvPr/>
          </p:nvSpPr>
          <p:spPr>
            <a:xfrm>
              <a:off x="3119517" y="2084551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(gt003)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3A49C0-D471-9913-2235-F638537F2854}"/>
              </a:ext>
            </a:extLst>
          </p:cNvPr>
          <p:cNvGrpSpPr/>
          <p:nvPr/>
        </p:nvGrpSpPr>
        <p:grpSpPr>
          <a:xfrm>
            <a:off x="5922573" y="5444134"/>
            <a:ext cx="1872000" cy="839942"/>
            <a:chOff x="3119517" y="2087331"/>
            <a:chExt cx="2232495" cy="839942"/>
          </a:xfrm>
        </p:grpSpPr>
        <p:sp>
          <p:nvSpPr>
            <p:cNvPr id="50" name="Retângulo 139">
              <a:extLst>
                <a:ext uri="{FF2B5EF4-FFF2-40B4-BE49-F238E27FC236}">
                  <a16:creationId xmlns:a16="http://schemas.microsoft.com/office/drawing/2014/main" id="{A5E368BF-EBF1-31B3-53EB-F8438E8742E1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20D048-A3BC-71CC-B85E-B94FD297AAAA}"/>
                </a:ext>
              </a:extLst>
            </p:cNvPr>
            <p:cNvSpPr/>
            <p:nvPr/>
          </p:nvSpPr>
          <p:spPr>
            <a:xfrm>
              <a:off x="3119517" y="2087331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Traçabilidade Processos VS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(gt008)</a:t>
              </a:r>
            </a:p>
          </p:txBody>
        </p:sp>
      </p:grpSp>
      <p:cxnSp>
        <p:nvCxnSpPr>
          <p:cNvPr id="66" name="Conexão em ângulos retos 186">
            <a:extLst>
              <a:ext uri="{FF2B5EF4-FFF2-40B4-BE49-F238E27FC236}">
                <a16:creationId xmlns:a16="http://schemas.microsoft.com/office/drawing/2014/main" id="{CBD0174A-5DEB-EDD0-D2F8-2A5AB7A06C04}"/>
              </a:ext>
            </a:extLst>
          </p:cNvPr>
          <p:cNvCxnSpPr>
            <a:cxnSpLocks/>
            <a:stCxn id="20" idx="1"/>
            <a:endCxn id="6" idx="3"/>
          </p:cNvCxnSpPr>
          <p:nvPr/>
        </p:nvCxnSpPr>
        <p:spPr>
          <a:xfrm rot="10800000">
            <a:off x="4229989" y="4542836"/>
            <a:ext cx="1700853" cy="131559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xão em ângulos retos 186">
            <a:extLst>
              <a:ext uri="{FF2B5EF4-FFF2-40B4-BE49-F238E27FC236}">
                <a16:creationId xmlns:a16="http://schemas.microsoft.com/office/drawing/2014/main" id="{01500A19-9C3D-4956-7CA7-D484E8AC9483}"/>
              </a:ext>
            </a:extLst>
          </p:cNvPr>
          <p:cNvCxnSpPr>
            <a:cxnSpLocks/>
            <a:stCxn id="2" idx="1"/>
            <a:endCxn id="22" idx="0"/>
          </p:cNvCxnSpPr>
          <p:nvPr/>
        </p:nvCxnSpPr>
        <p:spPr>
          <a:xfrm rot="10800000">
            <a:off x="1561460" y="4383400"/>
            <a:ext cx="796715" cy="162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19AECB2F-4349-16CE-3BA2-346C09B302EF}"/>
              </a:ext>
            </a:extLst>
          </p:cNvPr>
          <p:cNvGrpSpPr/>
          <p:nvPr/>
        </p:nvGrpSpPr>
        <p:grpSpPr>
          <a:xfrm>
            <a:off x="5922573" y="1490684"/>
            <a:ext cx="1872000" cy="817966"/>
            <a:chOff x="3119517" y="2109307"/>
            <a:chExt cx="2232495" cy="817966"/>
          </a:xfrm>
        </p:grpSpPr>
        <p:sp>
          <p:nvSpPr>
            <p:cNvPr id="247" name="Retângulo 139">
              <a:extLst>
                <a:ext uri="{FF2B5EF4-FFF2-40B4-BE49-F238E27FC236}">
                  <a16:creationId xmlns:a16="http://schemas.microsoft.com/office/drawing/2014/main" id="{5B329404-1805-1DFB-6C34-C2312CAA8A24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D2BA5C58-DA86-7A9C-1F73-36FE8730BF19}"/>
                </a:ext>
              </a:extLst>
            </p:cNvPr>
            <p:cNvSpPr/>
            <p:nvPr/>
          </p:nvSpPr>
          <p:spPr>
            <a:xfrm>
              <a:off x="3119517" y="21093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Processos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(gt002)</a:t>
              </a:r>
            </a:p>
          </p:txBody>
        </p:sp>
      </p:grpSp>
      <p:cxnSp>
        <p:nvCxnSpPr>
          <p:cNvPr id="261" name="Conexão em ângulos retos 186">
            <a:extLst>
              <a:ext uri="{FF2B5EF4-FFF2-40B4-BE49-F238E27FC236}">
                <a16:creationId xmlns:a16="http://schemas.microsoft.com/office/drawing/2014/main" id="{A2695462-EF00-230A-57B9-B8B61927F9C6}"/>
              </a:ext>
            </a:extLst>
          </p:cNvPr>
          <p:cNvCxnSpPr>
            <a:cxnSpLocks/>
            <a:stCxn id="17" idx="1"/>
            <a:endCxn id="6" idx="3"/>
          </p:cNvCxnSpPr>
          <p:nvPr/>
        </p:nvCxnSpPr>
        <p:spPr>
          <a:xfrm rot="10800000">
            <a:off x="4229989" y="4542837"/>
            <a:ext cx="1701903" cy="315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Conexão em ângulos retos 186">
            <a:extLst>
              <a:ext uri="{FF2B5EF4-FFF2-40B4-BE49-F238E27FC236}">
                <a16:creationId xmlns:a16="http://schemas.microsoft.com/office/drawing/2014/main" id="{3575CEDD-D3D9-080E-D4E6-C27F27ABD963}"/>
              </a:ext>
            </a:extLst>
          </p:cNvPr>
          <p:cNvCxnSpPr>
            <a:cxnSpLocks/>
            <a:stCxn id="13" idx="1"/>
            <a:endCxn id="6" idx="3"/>
          </p:cNvCxnSpPr>
          <p:nvPr/>
        </p:nvCxnSpPr>
        <p:spPr>
          <a:xfrm rot="10800000" flipV="1">
            <a:off x="4229988" y="3333376"/>
            <a:ext cx="1698934" cy="120945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xão em ângulos retos 186">
            <a:extLst>
              <a:ext uri="{FF2B5EF4-FFF2-40B4-BE49-F238E27FC236}">
                <a16:creationId xmlns:a16="http://schemas.microsoft.com/office/drawing/2014/main" id="{E9DED2D5-DBCE-B043-D151-C9CC13709A88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rot="10800000" flipV="1">
            <a:off x="4229988" y="1893472"/>
            <a:ext cx="1686234" cy="26493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Rectangle 284">
            <a:extLst>
              <a:ext uri="{FF2B5EF4-FFF2-40B4-BE49-F238E27FC236}">
                <a16:creationId xmlns:a16="http://schemas.microsoft.com/office/drawing/2014/main" id="{B62D32EB-205D-2A34-4276-9C5E6826BE66}"/>
              </a:ext>
            </a:extLst>
          </p:cNvPr>
          <p:cNvSpPr/>
          <p:nvPr/>
        </p:nvSpPr>
        <p:spPr>
          <a:xfrm>
            <a:off x="554400" y="615600"/>
            <a:ext cx="11160000" cy="68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é o 2º módulo do Modelo Único de Garantias e é composto unicamente pela tabela 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gt018_rateio_aval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. Tem como principal objetivo apresentar ao nível máximo de granularidade a relação completa 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dos 3 pilares principais 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(contratos, processos e bens), incluindo a distribuição dos valores de avaliação atuais dos bens pelas várias responsabilidades. Esta tabela deriva diretamente da combinação do módulo base de garantias com as responsabilidades (aplicação </a:t>
            </a:r>
            <a:r>
              <a:rPr lang="pt-PT" sz="10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ICs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da Contabilidade). Recorrendo aos vários </a:t>
            </a:r>
            <a:r>
              <a:rPr lang="pt-PT" sz="10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(tradutores de chaves), permite a rastreabilidade com quaisquer outros domínios ou repositórios do Banco.</a:t>
            </a:r>
          </a:p>
        </p:txBody>
      </p:sp>
      <p:sp>
        <p:nvSpPr>
          <p:cNvPr id="286" name="Marcador de texto 5">
            <a:extLst>
              <a:ext uri="{FF2B5EF4-FFF2-40B4-BE49-F238E27FC236}">
                <a16:creationId xmlns:a16="http://schemas.microsoft.com/office/drawing/2014/main" id="{27D6B597-D6E5-A39C-6C7F-6E3B8C880092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 dirty="0">
                <a:solidFill>
                  <a:srgbClr val="FF0000"/>
                </a:solidFill>
                <a:latin typeface="Santander Text" panose="020B0504020201020104" pitchFamily="34" charset="0"/>
              </a:rPr>
              <a:t>| 2 - Módulo Relação Responsabilidades e Garantias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DCA1F8-A932-1DE9-A2DB-BAEC238C0555}"/>
              </a:ext>
            </a:extLst>
          </p:cNvPr>
          <p:cNvSpPr txBox="1"/>
          <p:nvPr/>
        </p:nvSpPr>
        <p:spPr>
          <a:xfrm>
            <a:off x="2358174" y="4200354"/>
            <a:ext cx="1860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D327A3-3518-6599-A06B-D81D990EE31E}"/>
              </a:ext>
            </a:extLst>
          </p:cNvPr>
          <p:cNvSpPr txBox="1"/>
          <p:nvPr/>
        </p:nvSpPr>
        <p:spPr>
          <a:xfrm>
            <a:off x="2357988" y="4358170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B8F042-C09E-127C-C46F-138F0332C40B}"/>
              </a:ext>
            </a:extLst>
          </p:cNvPr>
          <p:cNvSpPr txBox="1"/>
          <p:nvPr/>
        </p:nvSpPr>
        <p:spPr>
          <a:xfrm>
            <a:off x="5916222" y="1708807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5C4164-FA9C-7B88-0D64-E3B8E9F79931}"/>
              </a:ext>
            </a:extLst>
          </p:cNvPr>
          <p:cNvSpPr txBox="1"/>
          <p:nvPr/>
        </p:nvSpPr>
        <p:spPr>
          <a:xfrm>
            <a:off x="5928922" y="3148711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4FA77-D389-D95F-0BA5-1576B4F03304}"/>
              </a:ext>
            </a:extLst>
          </p:cNvPr>
          <p:cNvSpPr txBox="1"/>
          <p:nvPr/>
        </p:nvSpPr>
        <p:spPr>
          <a:xfrm>
            <a:off x="5931891" y="4361325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27B56D-505A-4723-0856-0412BD4216A6}"/>
              </a:ext>
            </a:extLst>
          </p:cNvPr>
          <p:cNvSpPr txBox="1"/>
          <p:nvPr/>
        </p:nvSpPr>
        <p:spPr>
          <a:xfrm>
            <a:off x="5930841" y="5673764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758D6A-FE9E-E481-6B24-9075BDE2A5DF}"/>
              </a:ext>
            </a:extLst>
          </p:cNvPr>
          <p:cNvSpPr txBox="1"/>
          <p:nvPr/>
        </p:nvSpPr>
        <p:spPr>
          <a:xfrm>
            <a:off x="1966423" y="2829567"/>
            <a:ext cx="1960448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00E3AE3-89E0-F2D0-31F9-DDBED01B8176}"/>
              </a:ext>
            </a:extLst>
          </p:cNvPr>
          <p:cNvGrpSpPr/>
          <p:nvPr/>
        </p:nvGrpSpPr>
        <p:grpSpPr>
          <a:xfrm>
            <a:off x="8050330" y="5491510"/>
            <a:ext cx="1872000" cy="792566"/>
            <a:chOff x="3119517" y="2134707"/>
            <a:chExt cx="2232495" cy="792566"/>
          </a:xfrm>
        </p:grpSpPr>
        <p:sp>
          <p:nvSpPr>
            <p:cNvPr id="29" name="Retângulo 139">
              <a:extLst>
                <a:ext uri="{FF2B5EF4-FFF2-40B4-BE49-F238E27FC236}">
                  <a16:creationId xmlns:a16="http://schemas.microsoft.com/office/drawing/2014/main" id="{A40B229D-2DEF-96E0-FC2F-56DF488F459D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48DABC-D0F9-67C6-0076-B2912AEF5164}"/>
                </a:ext>
              </a:extLst>
            </p:cNvPr>
            <p:cNvSpPr/>
            <p:nvPr/>
          </p:nvSpPr>
          <p:spPr>
            <a:xfrm>
              <a:off x="3119517" y="21347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Imóveis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(gt009)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BCF8920-442B-7207-21FD-D03F189B81ED}"/>
              </a:ext>
            </a:extLst>
          </p:cNvPr>
          <p:cNvSpPr txBox="1"/>
          <p:nvPr/>
        </p:nvSpPr>
        <p:spPr>
          <a:xfrm>
            <a:off x="8046943" y="5783116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224" name="Conexão em ângulos retos 206">
            <a:extLst>
              <a:ext uri="{FF2B5EF4-FFF2-40B4-BE49-F238E27FC236}">
                <a16:creationId xmlns:a16="http://schemas.microsoft.com/office/drawing/2014/main" id="{4695CEA8-C4D3-885A-9F27-32DA55B7E308}"/>
              </a:ext>
            </a:extLst>
          </p:cNvPr>
          <p:cNvCxnSpPr>
            <a:cxnSpLocks/>
            <a:stCxn id="31" idx="1"/>
            <a:endCxn id="4" idx="3"/>
          </p:cNvCxnSpPr>
          <p:nvPr/>
        </p:nvCxnSpPr>
        <p:spPr>
          <a:xfrm rot="10800000" flipV="1">
            <a:off x="7806141" y="5875449"/>
            <a:ext cx="240803" cy="14119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>
            <a:extLst>
              <a:ext uri="{FF2B5EF4-FFF2-40B4-BE49-F238E27FC236}">
                <a16:creationId xmlns:a16="http://schemas.microsoft.com/office/drawing/2014/main" id="{C02F6B51-81A7-BDFA-1D13-6460D8FF5D97}"/>
              </a:ext>
            </a:extLst>
          </p:cNvPr>
          <p:cNvSpPr txBox="1"/>
          <p:nvPr/>
        </p:nvSpPr>
        <p:spPr>
          <a:xfrm>
            <a:off x="2358696" y="4522248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72" name="Rectangle: Diagonal Corners Rounded 271">
            <a:extLst>
              <a:ext uri="{FF2B5EF4-FFF2-40B4-BE49-F238E27FC236}">
                <a16:creationId xmlns:a16="http://schemas.microsoft.com/office/drawing/2014/main" id="{0303C873-647B-3F3E-861C-345BA45D920F}"/>
              </a:ext>
            </a:extLst>
          </p:cNvPr>
          <p:cNvSpPr/>
          <p:nvPr/>
        </p:nvSpPr>
        <p:spPr>
          <a:xfrm>
            <a:off x="10266603" y="2221580"/>
            <a:ext cx="1800000" cy="763448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Intervenientes (BDP - Base de dados de clientes)</a:t>
            </a:r>
            <a:endParaRPr lang="pt-PT" sz="900" dirty="0">
              <a:solidFill>
                <a:schemeClr val="bg2">
                  <a:lumMod val="2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273" name="Rectangle: Diagonal Corners Rounded 272">
            <a:extLst>
              <a:ext uri="{FF2B5EF4-FFF2-40B4-BE49-F238E27FC236}">
                <a16:creationId xmlns:a16="http://schemas.microsoft.com/office/drawing/2014/main" id="{BFF01C77-A6ED-EC9E-13C3-F2AFF89675EA}"/>
              </a:ext>
            </a:extLst>
          </p:cNvPr>
          <p:cNvSpPr/>
          <p:nvPr/>
        </p:nvSpPr>
        <p:spPr>
          <a:xfrm>
            <a:off x="10266603" y="3594721"/>
            <a:ext cx="1800000" cy="763449"/>
          </a:xfrm>
          <a:prstGeom prst="round2Diag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900" b="1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Sistemas de Passivo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Fundos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Depósitos à Ordem/Prazo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Títulos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900" dirty="0">
                <a:solidFill>
                  <a:schemeClr val="bg2">
                    <a:lumMod val="25000"/>
                  </a:schemeClr>
                </a:solidFill>
                <a:latin typeface="Santander Text" panose="020B0504020201020104" pitchFamily="34" charset="0"/>
              </a:rPr>
              <a:t>Seguros de Poupança</a:t>
            </a:r>
          </a:p>
        </p:txBody>
      </p:sp>
      <p:sp>
        <p:nvSpPr>
          <p:cNvPr id="283" name="CuadroTexto 86">
            <a:extLst>
              <a:ext uri="{FF2B5EF4-FFF2-40B4-BE49-F238E27FC236}">
                <a16:creationId xmlns:a16="http://schemas.microsoft.com/office/drawing/2014/main" id="{E685C697-48C4-20BF-9A02-62DBC8F59E29}"/>
              </a:ext>
            </a:extLst>
          </p:cNvPr>
          <p:cNvSpPr txBox="1"/>
          <p:nvPr/>
        </p:nvSpPr>
        <p:spPr>
          <a:xfrm>
            <a:off x="8442773" y="1432692"/>
            <a:ext cx="160292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 algn="r"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cxnSp>
        <p:nvCxnSpPr>
          <p:cNvPr id="284" name="Conexão em ângulos retos 206">
            <a:extLst>
              <a:ext uri="{FF2B5EF4-FFF2-40B4-BE49-F238E27FC236}">
                <a16:creationId xmlns:a16="http://schemas.microsoft.com/office/drawing/2014/main" id="{C4EBEC14-BD1D-82AF-85FA-C172E744C864}"/>
              </a:ext>
            </a:extLst>
          </p:cNvPr>
          <p:cNvCxnSpPr>
            <a:cxnSpLocks/>
            <a:stCxn id="273" idx="2"/>
            <a:endCxn id="226" idx="3"/>
          </p:cNvCxnSpPr>
          <p:nvPr/>
        </p:nvCxnSpPr>
        <p:spPr>
          <a:xfrm rot="10800000" flipV="1">
            <a:off x="4230697" y="3976446"/>
            <a:ext cx="6035907" cy="730468"/>
          </a:xfrm>
          <a:prstGeom prst="bentConnector3">
            <a:avLst>
              <a:gd name="adj1" fmla="val 81601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xão em ângulos retos 206">
            <a:extLst>
              <a:ext uri="{FF2B5EF4-FFF2-40B4-BE49-F238E27FC236}">
                <a16:creationId xmlns:a16="http://schemas.microsoft.com/office/drawing/2014/main" id="{CD6F4DAA-48C1-EF52-8071-E4530C55D006}"/>
              </a:ext>
            </a:extLst>
          </p:cNvPr>
          <p:cNvCxnSpPr>
            <a:cxnSpLocks/>
            <a:stCxn id="272" idx="2"/>
            <a:endCxn id="226" idx="3"/>
          </p:cNvCxnSpPr>
          <p:nvPr/>
        </p:nvCxnSpPr>
        <p:spPr>
          <a:xfrm rot="10800000" flipV="1">
            <a:off x="4230697" y="2603304"/>
            <a:ext cx="6035907" cy="2103610"/>
          </a:xfrm>
          <a:prstGeom prst="bentConnector3">
            <a:avLst>
              <a:gd name="adj1" fmla="val 81601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xão em ângulos retos 206">
            <a:extLst>
              <a:ext uri="{FF2B5EF4-FFF2-40B4-BE49-F238E27FC236}">
                <a16:creationId xmlns:a16="http://schemas.microsoft.com/office/drawing/2014/main" id="{6E8C6AEA-0AFE-2103-AC45-F2E67515667E}"/>
              </a:ext>
            </a:extLst>
          </p:cNvPr>
          <p:cNvCxnSpPr>
            <a:cxnSpLocks/>
            <a:stCxn id="75" idx="1"/>
            <a:endCxn id="76" idx="0"/>
          </p:cNvCxnSpPr>
          <p:nvPr/>
        </p:nvCxnSpPr>
        <p:spPr>
          <a:xfrm rot="10800000" flipV="1">
            <a:off x="3388294" y="1624366"/>
            <a:ext cx="2291605" cy="1081272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149F05-7B92-6845-E13F-0A00C6C66AD1}"/>
              </a:ext>
            </a:extLst>
          </p:cNvPr>
          <p:cNvSpPr txBox="1"/>
          <p:nvPr/>
        </p:nvSpPr>
        <p:spPr>
          <a:xfrm>
            <a:off x="5679898" y="1439700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EDD828-9D47-E0EB-AAAE-524349ECC0F6}"/>
              </a:ext>
            </a:extLst>
          </p:cNvPr>
          <p:cNvSpPr txBox="1"/>
          <p:nvPr/>
        </p:nvSpPr>
        <p:spPr>
          <a:xfrm>
            <a:off x="3237414" y="27056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80" name="Conexão em ângulos retos 206">
            <a:extLst>
              <a:ext uri="{FF2B5EF4-FFF2-40B4-BE49-F238E27FC236}">
                <a16:creationId xmlns:a16="http://schemas.microsoft.com/office/drawing/2014/main" id="{52740309-3043-BBE6-296A-EB46F9950F33}"/>
              </a:ext>
            </a:extLst>
          </p:cNvPr>
          <p:cNvCxnSpPr>
            <a:cxnSpLocks/>
            <a:stCxn id="81" idx="0"/>
            <a:endCxn id="82" idx="1"/>
          </p:cNvCxnSpPr>
          <p:nvPr/>
        </p:nvCxnSpPr>
        <p:spPr>
          <a:xfrm rot="5400000" flipH="1" flipV="1">
            <a:off x="1176486" y="3172480"/>
            <a:ext cx="487013" cy="1010810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45835ED-89F1-B33D-BA3B-8736CFD81526}"/>
              </a:ext>
            </a:extLst>
          </p:cNvPr>
          <p:cNvSpPr txBox="1"/>
          <p:nvPr/>
        </p:nvSpPr>
        <p:spPr>
          <a:xfrm>
            <a:off x="763708" y="392139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BE17CC5-3786-B5B1-E2FF-47C5ED330584}"/>
              </a:ext>
            </a:extLst>
          </p:cNvPr>
          <p:cNvSpPr txBox="1"/>
          <p:nvPr/>
        </p:nvSpPr>
        <p:spPr>
          <a:xfrm>
            <a:off x="1925397" y="324971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C959ACF-DE76-A044-FFEB-9AC1A7552F70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91" name="Fluxograma: multidocumentos 2">
              <a:extLst>
                <a:ext uri="{FF2B5EF4-FFF2-40B4-BE49-F238E27FC236}">
                  <a16:creationId xmlns:a16="http://schemas.microsoft.com/office/drawing/2014/main" id="{315F40A5-1794-8C86-BE9C-753CD75940AD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92" name="CaixaDeTexto 3">
              <a:extLst>
                <a:ext uri="{FF2B5EF4-FFF2-40B4-BE49-F238E27FC236}">
                  <a16:creationId xmlns:a16="http://schemas.microsoft.com/office/drawing/2014/main" id="{F080C0F7-46FE-D2D5-DB37-2D7AF36DD029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EE354E1-D81B-8EC6-332A-ED5624E22A3C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94" name="Retângulo 4">
              <a:extLst>
                <a:ext uri="{FF2B5EF4-FFF2-40B4-BE49-F238E27FC236}">
                  <a16:creationId xmlns:a16="http://schemas.microsoft.com/office/drawing/2014/main" id="{9DB601E5-9742-71FC-A264-03CC94DE31D6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95" name="CaixaDeTexto 5">
              <a:extLst>
                <a:ext uri="{FF2B5EF4-FFF2-40B4-BE49-F238E27FC236}">
                  <a16:creationId xmlns:a16="http://schemas.microsoft.com/office/drawing/2014/main" id="{20FAC323-4725-3F92-11A7-4FFE28EB9658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sp>
        <p:nvSpPr>
          <p:cNvPr id="97" name="CaixaDeTexto 251">
            <a:extLst>
              <a:ext uri="{FF2B5EF4-FFF2-40B4-BE49-F238E27FC236}">
                <a16:creationId xmlns:a16="http://schemas.microsoft.com/office/drawing/2014/main" id="{B32A8470-8BBB-3938-9291-C06BB1ABA6D0}"/>
              </a:ext>
            </a:extLst>
          </p:cNvPr>
          <p:cNvSpPr txBox="1"/>
          <p:nvPr/>
        </p:nvSpPr>
        <p:spPr>
          <a:xfrm>
            <a:off x="250216" y="6217200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Legenda: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ED7EDC-B022-8798-93BA-B0052C7F4327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99" name="Fluxograma: subrotina 238">
              <a:extLst>
                <a:ext uri="{FF2B5EF4-FFF2-40B4-BE49-F238E27FC236}">
                  <a16:creationId xmlns:a16="http://schemas.microsoft.com/office/drawing/2014/main" id="{685C6A65-D4FA-734F-6C18-660033402AF6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0" name="CaixaDeTexto 239">
              <a:extLst>
                <a:ext uri="{FF2B5EF4-FFF2-40B4-BE49-F238E27FC236}">
                  <a16:creationId xmlns:a16="http://schemas.microsoft.com/office/drawing/2014/main" id="{36CAAB25-8808-1488-331B-B9AC26A395C1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 dirty="0"/>
                <a:t>Parametrização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45B8BC2-69FD-6E37-D118-314B6F924E64}"/>
              </a:ext>
            </a:extLst>
          </p:cNvPr>
          <p:cNvSpPr txBox="1"/>
          <p:nvPr/>
        </p:nvSpPr>
        <p:spPr>
          <a:xfrm>
            <a:off x="5934140" y="5924306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809F1-594C-5CC6-B8AF-3983464B8E7E}"/>
              </a:ext>
            </a:extLst>
          </p:cNvPr>
          <p:cNvGrpSpPr/>
          <p:nvPr/>
        </p:nvGrpSpPr>
        <p:grpSpPr>
          <a:xfrm>
            <a:off x="8046943" y="4177726"/>
            <a:ext cx="1872000" cy="792566"/>
            <a:chOff x="3119517" y="2134707"/>
            <a:chExt cx="2232495" cy="792566"/>
          </a:xfrm>
        </p:grpSpPr>
        <p:sp>
          <p:nvSpPr>
            <p:cNvPr id="11" name="Retângulo 139">
              <a:extLst>
                <a:ext uri="{FF2B5EF4-FFF2-40B4-BE49-F238E27FC236}">
                  <a16:creationId xmlns:a16="http://schemas.microsoft.com/office/drawing/2014/main" id="{066DBF99-1ED7-040D-C901-A4E7E17E14A0}"/>
                </a:ext>
              </a:extLst>
            </p:cNvPr>
            <p:cNvSpPr/>
            <p:nvPr/>
          </p:nvSpPr>
          <p:spPr>
            <a:xfrm>
              <a:off x="3119518" y="2401887"/>
              <a:ext cx="2232494" cy="5253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(cempbem… ckrefbem)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B87E32-977A-89E3-3201-399A1F4F0D55}"/>
                </a:ext>
              </a:extLst>
            </p:cNvPr>
            <p:cNvSpPr/>
            <p:nvPr/>
          </p:nvSpPr>
          <p:spPr>
            <a:xfrm>
              <a:off x="3119517" y="2134707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Bens Financeiros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(gt004)</a:t>
              </a:r>
            </a:p>
          </p:txBody>
        </p:sp>
      </p:grpSp>
      <p:cxnSp>
        <p:nvCxnSpPr>
          <p:cNvPr id="15" name="Conexão em ângulos retos 206">
            <a:extLst>
              <a:ext uri="{FF2B5EF4-FFF2-40B4-BE49-F238E27FC236}">
                <a16:creationId xmlns:a16="http://schemas.microsoft.com/office/drawing/2014/main" id="{7B32764B-25BA-16B6-2BD7-A98798D15DEE}"/>
              </a:ext>
            </a:extLst>
          </p:cNvPr>
          <p:cNvCxnSpPr>
            <a:cxnSpLocks/>
            <a:stCxn id="24" idx="1"/>
            <a:endCxn id="18" idx="3"/>
          </p:cNvCxnSpPr>
          <p:nvPr/>
        </p:nvCxnSpPr>
        <p:spPr>
          <a:xfrm rot="10800000" flipV="1">
            <a:off x="7809193" y="4550069"/>
            <a:ext cx="232451" cy="15731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77F77B-0F01-0FDF-AA8A-6B691FECBD32}"/>
              </a:ext>
            </a:extLst>
          </p:cNvPr>
          <p:cNvSpPr txBox="1"/>
          <p:nvPr/>
        </p:nvSpPr>
        <p:spPr>
          <a:xfrm>
            <a:off x="5937192" y="4615052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6D728-3AD7-BFB6-2045-725966617928}"/>
              </a:ext>
            </a:extLst>
          </p:cNvPr>
          <p:cNvSpPr txBox="1"/>
          <p:nvPr/>
        </p:nvSpPr>
        <p:spPr>
          <a:xfrm>
            <a:off x="8041643" y="4457736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230" name="Conexão em ângulos retos 206">
            <a:extLst>
              <a:ext uri="{FF2B5EF4-FFF2-40B4-BE49-F238E27FC236}">
                <a16:creationId xmlns:a16="http://schemas.microsoft.com/office/drawing/2014/main" id="{4699244F-972B-E4A1-B828-A7A7C135681E}"/>
              </a:ext>
            </a:extLst>
          </p:cNvPr>
          <p:cNvCxnSpPr>
            <a:cxnSpLocks/>
            <a:stCxn id="273" idx="2"/>
            <a:endCxn id="24" idx="3"/>
          </p:cNvCxnSpPr>
          <p:nvPr/>
        </p:nvCxnSpPr>
        <p:spPr>
          <a:xfrm rot="10800000" flipV="1">
            <a:off x="9913643" y="3976445"/>
            <a:ext cx="352960" cy="573623"/>
          </a:xfrm>
          <a:prstGeom prst="bentConnector3">
            <a:avLst>
              <a:gd name="adj1" fmla="val 35158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exão em ângulos retos 206">
            <a:extLst>
              <a:ext uri="{FF2B5EF4-FFF2-40B4-BE49-F238E27FC236}">
                <a16:creationId xmlns:a16="http://schemas.microsoft.com/office/drawing/2014/main" id="{3DA6425D-060C-ACE2-04DB-5228DB80F5B0}"/>
              </a:ext>
            </a:extLst>
          </p:cNvPr>
          <p:cNvCxnSpPr>
            <a:cxnSpLocks/>
            <a:stCxn id="4" idx="1"/>
            <a:endCxn id="226" idx="3"/>
          </p:cNvCxnSpPr>
          <p:nvPr/>
        </p:nvCxnSpPr>
        <p:spPr>
          <a:xfrm rot="10800000">
            <a:off x="4230696" y="4706915"/>
            <a:ext cx="1703444" cy="1309725"/>
          </a:xfrm>
          <a:prstGeom prst="bentConnector3">
            <a:avLst>
              <a:gd name="adj1" fmla="val 34903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206">
            <a:extLst>
              <a:ext uri="{FF2B5EF4-FFF2-40B4-BE49-F238E27FC236}">
                <a16:creationId xmlns:a16="http://schemas.microsoft.com/office/drawing/2014/main" id="{730E917D-30F3-7322-0735-852DBF559EBA}"/>
              </a:ext>
            </a:extLst>
          </p:cNvPr>
          <p:cNvCxnSpPr>
            <a:cxnSpLocks/>
            <a:stCxn id="18" idx="1"/>
            <a:endCxn id="226" idx="3"/>
          </p:cNvCxnSpPr>
          <p:nvPr/>
        </p:nvCxnSpPr>
        <p:spPr>
          <a:xfrm rot="10800000">
            <a:off x="4230696" y="4706915"/>
            <a:ext cx="1706496" cy="47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exão em ângulos retos 206">
            <a:extLst>
              <a:ext uri="{FF2B5EF4-FFF2-40B4-BE49-F238E27FC236}">
                <a16:creationId xmlns:a16="http://schemas.microsoft.com/office/drawing/2014/main" id="{E7F45BD2-07D4-BA8C-DFBF-0E1A28ADAF17}"/>
              </a:ext>
            </a:extLst>
          </p:cNvPr>
          <p:cNvCxnSpPr>
            <a:cxnSpLocks/>
            <a:stCxn id="44" idx="1"/>
            <a:endCxn id="226" idx="3"/>
          </p:cNvCxnSpPr>
          <p:nvPr/>
        </p:nvCxnSpPr>
        <p:spPr>
          <a:xfrm rot="10800000" flipV="1">
            <a:off x="4230697" y="3485338"/>
            <a:ext cx="1691877" cy="1221575"/>
          </a:xfrm>
          <a:prstGeom prst="bentConnector3">
            <a:avLst>
              <a:gd name="adj1" fmla="val 34424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xão em ângulos retos 206">
            <a:extLst>
              <a:ext uri="{FF2B5EF4-FFF2-40B4-BE49-F238E27FC236}">
                <a16:creationId xmlns:a16="http://schemas.microsoft.com/office/drawing/2014/main" id="{9EB6D52B-84B2-4FF6-2EF9-0B9684ADFF5B}"/>
              </a:ext>
            </a:extLst>
          </p:cNvPr>
          <p:cNvCxnSpPr>
            <a:cxnSpLocks/>
            <a:stCxn id="272" idx="2"/>
            <a:endCxn id="44" idx="3"/>
          </p:cNvCxnSpPr>
          <p:nvPr/>
        </p:nvCxnSpPr>
        <p:spPr>
          <a:xfrm rot="10800000" flipV="1">
            <a:off x="7794573" y="2603303"/>
            <a:ext cx="2472031" cy="882035"/>
          </a:xfrm>
          <a:prstGeom prst="bentConnector3">
            <a:avLst>
              <a:gd name="adj1" fmla="val 5304"/>
            </a:avLst>
          </a:prstGeom>
          <a:ln w="6350">
            <a:solidFill>
              <a:schemeClr val="accent1"/>
            </a:solidFill>
            <a:prstDash val="sys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CaixaDeTexto 251">
            <a:extLst>
              <a:ext uri="{FF2B5EF4-FFF2-40B4-BE49-F238E27FC236}">
                <a16:creationId xmlns:a16="http://schemas.microsoft.com/office/drawing/2014/main" id="{9D7DF34E-C0B5-E640-12C6-8839B0285EE5}"/>
              </a:ext>
            </a:extLst>
          </p:cNvPr>
          <p:cNvSpPr txBox="1"/>
          <p:nvPr/>
        </p:nvSpPr>
        <p:spPr>
          <a:xfrm>
            <a:off x="250216" y="6382800"/>
            <a:ext cx="30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GT: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gerado pelos módulos Garantias ou pelos Interfaces do MUG</a:t>
            </a:r>
            <a:r>
              <a:rPr lang="pt-PT" sz="900" dirty="0">
                <a:latin typeface="Santander Text" panose="020B0504020201020104" pitchFamily="34" charset="0"/>
              </a:rPr>
              <a:t>        </a:t>
            </a:r>
            <a:r>
              <a:rPr lang="pt-PT" sz="900" b="1" dirty="0">
                <a:latin typeface="Santander Text" panose="020B0504020201020104" pitchFamily="34" charset="0"/>
              </a:rPr>
              <a:t>PA: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parametrização</a:t>
            </a:r>
          </a:p>
        </p:txBody>
      </p:sp>
    </p:spTree>
    <p:extLst>
      <p:ext uri="{BB962C8B-B14F-4D97-AF65-F5344CB8AC3E}">
        <p14:creationId xmlns:p14="http://schemas.microsoft.com/office/powerpoint/2010/main" val="125916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313">
            <a:extLst>
              <a:ext uri="{FF2B5EF4-FFF2-40B4-BE49-F238E27FC236}">
                <a16:creationId xmlns:a16="http://schemas.microsoft.com/office/drawing/2014/main" id="{E39C4E8B-FE4C-50F6-0BF2-2244C2690EE0}"/>
              </a:ext>
            </a:extLst>
          </p:cNvPr>
          <p:cNvSpPr txBox="1"/>
          <p:nvPr/>
        </p:nvSpPr>
        <p:spPr>
          <a:xfrm>
            <a:off x="10742400" y="495616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" name="Retângulo 8">
            <a:extLst>
              <a:ext uri="{FF2B5EF4-FFF2-40B4-BE49-F238E27FC236}">
                <a16:creationId xmlns:a16="http://schemas.microsoft.com/office/drawing/2014/main" id="{98869449-9511-BE6B-9BF7-CF6590E7F065}"/>
              </a:ext>
            </a:extLst>
          </p:cNvPr>
          <p:cNvSpPr/>
          <p:nvPr/>
        </p:nvSpPr>
        <p:spPr>
          <a:xfrm>
            <a:off x="2628185" y="2456982"/>
            <a:ext cx="7957729" cy="3569750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50" name="Retângulo 8">
            <a:extLst>
              <a:ext uri="{FF2B5EF4-FFF2-40B4-BE49-F238E27FC236}">
                <a16:creationId xmlns:a16="http://schemas.microsoft.com/office/drawing/2014/main" id="{97B8F0A7-8CBA-9317-82C3-7C018F5D188E}"/>
              </a:ext>
            </a:extLst>
          </p:cNvPr>
          <p:cNvSpPr/>
          <p:nvPr/>
        </p:nvSpPr>
        <p:spPr>
          <a:xfrm>
            <a:off x="191366" y="1551538"/>
            <a:ext cx="2184476" cy="51012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51" name="CuadroTexto 86">
            <a:extLst>
              <a:ext uri="{FF2B5EF4-FFF2-40B4-BE49-F238E27FC236}">
                <a16:creationId xmlns:a16="http://schemas.microsoft.com/office/drawing/2014/main" id="{0B79E52D-132C-59F7-9CEF-56CC65EF7C45}"/>
              </a:ext>
            </a:extLst>
          </p:cNvPr>
          <p:cNvSpPr txBox="1"/>
          <p:nvPr/>
        </p:nvSpPr>
        <p:spPr>
          <a:xfrm>
            <a:off x="191365" y="1592004"/>
            <a:ext cx="1570016" cy="48178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1 - Módulo Base </a:t>
            </a:r>
          </a:p>
          <a:p>
            <a:pPr>
              <a:lnSpc>
                <a:spcPts val="1500"/>
              </a:lnSpc>
            </a:pP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</a:t>
            </a: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</a:p>
        </p:txBody>
      </p:sp>
      <p:sp>
        <p:nvSpPr>
          <p:cNvPr id="233" name="Retângulo 8">
            <a:extLst>
              <a:ext uri="{FF2B5EF4-FFF2-40B4-BE49-F238E27FC236}">
                <a16:creationId xmlns:a16="http://schemas.microsoft.com/office/drawing/2014/main" id="{CFA42483-BB22-4FFF-F649-76D287641E93}"/>
              </a:ext>
            </a:extLst>
          </p:cNvPr>
          <p:cNvSpPr/>
          <p:nvPr/>
        </p:nvSpPr>
        <p:spPr>
          <a:xfrm>
            <a:off x="191365" y="2455538"/>
            <a:ext cx="2184476" cy="1882587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200">
              <a:latin typeface="Santander Text" panose="020B05040202010201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E7264D-BD18-FA0A-06E6-BA591E428F7D}"/>
              </a:ext>
            </a:extLst>
          </p:cNvPr>
          <p:cNvGrpSpPr/>
          <p:nvPr/>
        </p:nvGrpSpPr>
        <p:grpSpPr>
          <a:xfrm>
            <a:off x="335294" y="3235558"/>
            <a:ext cx="1872000" cy="1006299"/>
            <a:chOff x="3119517" y="2085492"/>
            <a:chExt cx="2232495" cy="1006299"/>
          </a:xfrm>
        </p:grpSpPr>
        <p:sp>
          <p:nvSpPr>
            <p:cNvPr id="35" name="Retângulo 139">
              <a:extLst>
                <a:ext uri="{FF2B5EF4-FFF2-40B4-BE49-F238E27FC236}">
                  <a16:creationId xmlns:a16="http://schemas.microsoft.com/office/drawing/2014/main" id="{FC4A5521-AF90-53D3-5580-0ADE96F3C235}"/>
                </a:ext>
              </a:extLst>
            </p:cNvPr>
            <p:cNvSpPr/>
            <p:nvPr/>
          </p:nvSpPr>
          <p:spPr>
            <a:xfrm>
              <a:off x="3119518" y="2401886"/>
              <a:ext cx="2232494" cy="68990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(cempresp… ckrefresp)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comp_id_gar)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(cempbem… ckrefbem)</a:t>
              </a:r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B31B072-CD44-D2DB-AF27-CAACB0A0C6A7}"/>
                </a:ext>
              </a:extLst>
            </p:cNvPr>
            <p:cNvSpPr/>
            <p:nvPr/>
          </p:nvSpPr>
          <p:spPr>
            <a:xfrm>
              <a:off x="3119517" y="2085492"/>
              <a:ext cx="2232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Créditos, Processos e 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(gt018)</a:t>
              </a:r>
            </a:p>
          </p:txBody>
        </p:sp>
      </p:grpSp>
      <p:sp>
        <p:nvSpPr>
          <p:cNvPr id="14" name="Retângulo 139">
            <a:extLst>
              <a:ext uri="{FF2B5EF4-FFF2-40B4-BE49-F238E27FC236}">
                <a16:creationId xmlns:a16="http://schemas.microsoft.com/office/drawing/2014/main" id="{680D3C33-B997-9659-57A2-0545205FEF35}"/>
              </a:ext>
            </a:extLst>
          </p:cNvPr>
          <p:cNvSpPr/>
          <p:nvPr/>
        </p:nvSpPr>
        <p:spPr>
          <a:xfrm>
            <a:off x="2853385" y="3335210"/>
            <a:ext cx="2448000" cy="9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(cempresp_orig… ckrefresp_orig)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(cempresa_orig … comp_id_gar_orig)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Bem. Origem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(cempbem_orig… ckrefbem_orig)</a:t>
            </a: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Contrato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(cempresa_dest… zdeposit_dest)</a:t>
            </a:r>
            <a:endParaRPr lang="pt-PT" sz="700" baseline="30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Processo Dest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(cbalcao_dest… cisin)</a:t>
            </a:r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Data </a:t>
            </a:r>
            <a:r>
              <a:rPr lang="pt-PT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(ref_date)</a:t>
            </a:r>
            <a:endParaRPr lang="pt-PT" sz="8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564D2-5BB4-0175-1CFF-CF588C5A34C5}"/>
              </a:ext>
            </a:extLst>
          </p:cNvPr>
          <p:cNvSpPr/>
          <p:nvPr/>
        </p:nvSpPr>
        <p:spPr>
          <a:xfrm>
            <a:off x="2853384" y="2935461"/>
            <a:ext cx="2447999" cy="423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(GT) </a:t>
            </a:r>
            <a:r>
              <a:rPr lang="pt-PT" sz="1050" b="1" dirty="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1050" b="1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 Garantias VS Interface BDR e IFRS9 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(</a:t>
            </a:r>
            <a:r>
              <a:rPr lang="pt-PT" sz="900" dirty="0" err="1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kt_chaves_intrf_grts_biyr</a:t>
            </a:r>
            <a:r>
              <a:rPr lang="pt-PT" sz="900" dirty="0">
                <a:solidFill>
                  <a:schemeClr val="accent1">
                    <a:lumMod val="75000"/>
                  </a:schemeClr>
                </a:solidFill>
                <a:latin typeface="Santander Text" panose="020B0504020201020104" pitchFamily="34" charset="0"/>
              </a:rPr>
              <a:t>)</a:t>
            </a:r>
          </a:p>
        </p:txBody>
      </p:sp>
      <p:cxnSp>
        <p:nvCxnSpPr>
          <p:cNvPr id="21" name="Conexão em ângulos retos 186">
            <a:extLst>
              <a:ext uri="{FF2B5EF4-FFF2-40B4-BE49-F238E27FC236}">
                <a16:creationId xmlns:a16="http://schemas.microsoft.com/office/drawing/2014/main" id="{632AFC2B-ECB8-B292-96C8-8C3366BDD465}"/>
              </a:ext>
            </a:extLst>
          </p:cNvPr>
          <p:cNvCxnSpPr>
            <a:cxnSpLocks/>
            <a:stCxn id="237" idx="1"/>
            <a:endCxn id="235" idx="3"/>
          </p:cNvCxnSpPr>
          <p:nvPr/>
        </p:nvCxnSpPr>
        <p:spPr>
          <a:xfrm rot="10800000" flipV="1">
            <a:off x="2216470" y="3447926"/>
            <a:ext cx="641625" cy="217915"/>
          </a:xfrm>
          <a:prstGeom prst="bentConnector3">
            <a:avLst>
              <a:gd name="adj1" fmla="val 42578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xão em ângulos retos 186">
            <a:extLst>
              <a:ext uri="{FF2B5EF4-FFF2-40B4-BE49-F238E27FC236}">
                <a16:creationId xmlns:a16="http://schemas.microsoft.com/office/drawing/2014/main" id="{9D66B6B9-2F01-1AFB-C5C4-28AFED1921B7}"/>
              </a:ext>
            </a:extLst>
          </p:cNvPr>
          <p:cNvCxnSpPr>
            <a:cxnSpLocks/>
            <a:stCxn id="248" idx="1"/>
            <a:endCxn id="246" idx="3"/>
          </p:cNvCxnSpPr>
          <p:nvPr/>
        </p:nvCxnSpPr>
        <p:spPr>
          <a:xfrm rot="10800000" flipV="1">
            <a:off x="2209682" y="3583496"/>
            <a:ext cx="649561" cy="21835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xão em ângulos retos 186">
            <a:extLst>
              <a:ext uri="{FF2B5EF4-FFF2-40B4-BE49-F238E27FC236}">
                <a16:creationId xmlns:a16="http://schemas.microsoft.com/office/drawing/2014/main" id="{DA040AA6-8BDC-4841-BBBD-36120E6ADFBF}"/>
              </a:ext>
            </a:extLst>
          </p:cNvPr>
          <p:cNvCxnSpPr>
            <a:cxnSpLocks/>
            <a:stCxn id="250" idx="1"/>
            <a:endCxn id="252" idx="3"/>
          </p:cNvCxnSpPr>
          <p:nvPr/>
        </p:nvCxnSpPr>
        <p:spPr>
          <a:xfrm rot="10800000" flipV="1">
            <a:off x="2215028" y="3725211"/>
            <a:ext cx="643066" cy="213551"/>
          </a:xfrm>
          <a:prstGeom prst="bentConnector3">
            <a:avLst>
              <a:gd name="adj1" fmla="val 58147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3D4F678-24EB-835B-E896-1DBA2A1B1470}"/>
              </a:ext>
            </a:extLst>
          </p:cNvPr>
          <p:cNvGrpSpPr/>
          <p:nvPr/>
        </p:nvGrpSpPr>
        <p:grpSpPr>
          <a:xfrm>
            <a:off x="5433894" y="3452686"/>
            <a:ext cx="1584001" cy="782974"/>
            <a:chOff x="6004516" y="5265502"/>
            <a:chExt cx="1584001" cy="782974"/>
          </a:xfrm>
        </p:grpSpPr>
        <p:sp>
          <p:nvSpPr>
            <p:cNvPr id="30" name="Retângulo 139">
              <a:extLst>
                <a:ext uri="{FF2B5EF4-FFF2-40B4-BE49-F238E27FC236}">
                  <a16:creationId xmlns:a16="http://schemas.microsoft.com/office/drawing/2014/main" id="{32EBA3D9-FA7B-075D-6287-0C7F3058F720}"/>
                </a:ext>
              </a:extLst>
            </p:cNvPr>
            <p:cNvSpPr/>
            <p:nvPr/>
          </p:nvSpPr>
          <p:spPr>
            <a:xfrm>
              <a:off x="6004517" y="5562476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(cempresa… zdeposit)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Processo/Bem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(cbalcao… cisin)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B73DCA1-DFF7-8349-C133-BD0C6D0D6876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 - Contratos e Processos/Bens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(gt015)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8C760DF-BF0F-7850-4A91-D9F9E1CF9CBC}"/>
              </a:ext>
            </a:extLst>
          </p:cNvPr>
          <p:cNvGrpSpPr/>
          <p:nvPr/>
        </p:nvGrpSpPr>
        <p:grpSpPr>
          <a:xfrm>
            <a:off x="7162643" y="3449611"/>
            <a:ext cx="1588651" cy="786049"/>
            <a:chOff x="6004516" y="5265502"/>
            <a:chExt cx="1588651" cy="786049"/>
          </a:xfrm>
        </p:grpSpPr>
        <p:sp>
          <p:nvSpPr>
            <p:cNvPr id="37" name="Retângulo 139">
              <a:extLst>
                <a:ext uri="{FF2B5EF4-FFF2-40B4-BE49-F238E27FC236}">
                  <a16:creationId xmlns:a16="http://schemas.microsoft.com/office/drawing/2014/main" id="{278EF5D4-D4C2-35D8-CD4B-4B80E720AE98}"/>
                </a:ext>
              </a:extLst>
            </p:cNvPr>
            <p:cNvSpPr/>
            <p:nvPr/>
          </p:nvSpPr>
          <p:spPr>
            <a:xfrm>
              <a:off x="6009167" y="5565551"/>
              <a:ext cx="1584000" cy="486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Processo/Bem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(cbalcao… cisin)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4C1BAF5-C9F5-CD8E-FA2D-9D3B0AA9297F}"/>
                </a:ext>
              </a:extLst>
            </p:cNvPr>
            <p:cNvSpPr/>
            <p:nvPr/>
          </p:nvSpPr>
          <p:spPr>
            <a:xfrm>
              <a:off x="6004516" y="5265502"/>
              <a:ext cx="1584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i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Output</a:t>
              </a:r>
              <a:r>
                <a:rPr lang="pt-PT" sz="1050" b="1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 – Detalhe Processos/Bens </a:t>
              </a:r>
              <a:r>
                <a:rPr lang="pt-PT" sz="900" dirty="0">
                  <a:solidFill>
                    <a:schemeClr val="tx1"/>
                  </a:solidFill>
                  <a:latin typeface="Santander Text" panose="020B0504020201020104" pitchFamily="34" charset="0"/>
                </a:rPr>
                <a:t>(gt016)</a:t>
              </a:r>
            </a:p>
          </p:txBody>
        </p:sp>
      </p:grpSp>
      <p:cxnSp>
        <p:nvCxnSpPr>
          <p:cNvPr id="54" name="Conexão em ângulos retos 186">
            <a:extLst>
              <a:ext uri="{FF2B5EF4-FFF2-40B4-BE49-F238E27FC236}">
                <a16:creationId xmlns:a16="http://schemas.microsoft.com/office/drawing/2014/main" id="{7E51BF9F-909F-269D-68B9-57CB3F4C9F1D}"/>
              </a:ext>
            </a:extLst>
          </p:cNvPr>
          <p:cNvCxnSpPr>
            <a:cxnSpLocks/>
            <a:stCxn id="82" idx="1"/>
            <a:endCxn id="4" idx="3"/>
          </p:cNvCxnSpPr>
          <p:nvPr/>
        </p:nvCxnSpPr>
        <p:spPr>
          <a:xfrm rot="10800000" flipV="1">
            <a:off x="5306095" y="3869071"/>
            <a:ext cx="130791" cy="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xão em ângulos retos 186">
            <a:extLst>
              <a:ext uri="{FF2B5EF4-FFF2-40B4-BE49-F238E27FC236}">
                <a16:creationId xmlns:a16="http://schemas.microsoft.com/office/drawing/2014/main" id="{E4FAE60A-D165-7C31-7F87-FBA54B765BA8}"/>
              </a:ext>
            </a:extLst>
          </p:cNvPr>
          <p:cNvCxnSpPr>
            <a:cxnSpLocks/>
            <a:stCxn id="84" idx="1"/>
            <a:endCxn id="228" idx="3"/>
          </p:cNvCxnSpPr>
          <p:nvPr/>
        </p:nvCxnSpPr>
        <p:spPr>
          <a:xfrm rot="10800000">
            <a:off x="5305382" y="4007791"/>
            <a:ext cx="131531" cy="168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xão em ângulos retos 186">
            <a:extLst>
              <a:ext uri="{FF2B5EF4-FFF2-40B4-BE49-F238E27FC236}">
                <a16:creationId xmlns:a16="http://schemas.microsoft.com/office/drawing/2014/main" id="{B477DCB9-FD76-F518-CFE0-2B45822EB7A4}"/>
              </a:ext>
            </a:extLst>
          </p:cNvPr>
          <p:cNvCxnSpPr>
            <a:cxnSpLocks/>
            <a:stCxn id="90" idx="1"/>
            <a:endCxn id="84" idx="3"/>
          </p:cNvCxnSpPr>
          <p:nvPr/>
        </p:nvCxnSpPr>
        <p:spPr>
          <a:xfrm rot="10800000" flipV="1">
            <a:off x="7020912" y="3866849"/>
            <a:ext cx="147530" cy="14262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Marcador de texto 5">
            <a:extLst>
              <a:ext uri="{FF2B5EF4-FFF2-40B4-BE49-F238E27FC236}">
                <a16:creationId xmlns:a16="http://schemas.microsoft.com/office/drawing/2014/main" id="{3B11D00A-224C-C60B-44E2-8EA37AC51410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1151355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1800" dirty="0">
                <a:solidFill>
                  <a:srgbClr val="FF0000"/>
                </a:solidFill>
                <a:latin typeface="Santander Text" panose="020B0504020201020104" pitchFamily="34" charset="0"/>
              </a:rPr>
              <a:t>| 3 – Interfaces para a BDR e IFRS9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AE67417-E7DD-70AD-68E0-3CFC1317BE0B}"/>
              </a:ext>
            </a:extLst>
          </p:cNvPr>
          <p:cNvSpPr/>
          <p:nvPr/>
        </p:nvSpPr>
        <p:spPr>
          <a:xfrm>
            <a:off x="554400" y="615599"/>
            <a:ext cx="11160000" cy="8130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Este módulo </a:t>
            </a:r>
            <a:r>
              <a:rPr lang="pt-PT" sz="1000" u="sng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não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é um módulo do MUG, mas sim os interfaces de output para cada caso de uso, neste caso para a BDR e IFRS9. É atualmente composto por 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3 tabelas de </a:t>
            </a:r>
            <a:r>
              <a:rPr lang="pt-PT" sz="1000" b="1" i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output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que servem para adaptar os dados de responsabilidades e garantias dos outros dois módulos ao formato de interface necessário a ser enviado para as </a:t>
            </a:r>
            <a:r>
              <a:rPr lang="pt-PT" sz="1000" b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aplicações BDR e IFRS9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. Estas tabelas geram, depois e respetivamente, 3 e 6 tabelas </a:t>
            </a:r>
            <a:r>
              <a:rPr lang="pt-PT" sz="1000" i="1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views</a:t>
            </a:r>
            <a:r>
              <a:rPr lang="pt-PT" sz="1000" i="1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com o formato exato e final para exportar para a aplicação IFRS9 e BDR. A granularidade dos interfaces está alinhada com a da BDR e da </a:t>
            </a:r>
            <a:r>
              <a:rPr lang="pt-PT" sz="1000" dirty="0" smtClean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IFRS9 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(ao nível do processo) pelo que é um pouco mais agregado do que a granularidade máxima do MUG (ao nível do bem). Para assegurar a rastreabilidade total entre os módulos, bem como com os casos de uso - quando as chaves não sejam diretas -, inclui-se uma tabela </a:t>
            </a:r>
            <a:r>
              <a:rPr lang="pt-PT" sz="10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as tabelas de interface, e ainda um </a:t>
            </a:r>
            <a:r>
              <a:rPr lang="pt-PT" sz="1000" dirty="0" err="1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Rosetta</a:t>
            </a:r>
            <a:r>
              <a:rPr lang="pt-PT" sz="1000" dirty="0">
                <a:solidFill>
                  <a:sysClr val="windowText" lastClr="000000"/>
                </a:solidFill>
                <a:latin typeface="Santander Text" panose="020B0504020201020104" pitchFamily="34" charset="0"/>
              </a:rPr>
              <a:t> entre o MUG e a tabela de garantias da BDR.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21912F-32B0-B6FF-F333-1BE21CE7C264}"/>
              </a:ext>
            </a:extLst>
          </p:cNvPr>
          <p:cNvSpPr txBox="1"/>
          <p:nvPr/>
        </p:nvSpPr>
        <p:spPr>
          <a:xfrm>
            <a:off x="2649341" y="2517921"/>
            <a:ext cx="2995470" cy="28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3 - Interfaces </a:t>
            </a:r>
            <a:r>
              <a:rPr lang="es-ES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para BDR e IFRS9</a:t>
            </a:r>
            <a:endParaRPr lang="pt-PT" sz="160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26" name="CaixaDeTexto 251">
            <a:extLst>
              <a:ext uri="{FF2B5EF4-FFF2-40B4-BE49-F238E27FC236}">
                <a16:creationId xmlns:a16="http://schemas.microsoft.com/office/drawing/2014/main" id="{7F19D6FA-FEF0-69D5-679C-2DDBD35FB818}"/>
              </a:ext>
            </a:extLst>
          </p:cNvPr>
          <p:cNvSpPr txBox="1"/>
          <p:nvPr/>
        </p:nvSpPr>
        <p:spPr>
          <a:xfrm>
            <a:off x="250216" y="6382517"/>
            <a:ext cx="305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GT: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gerado pelos módulos Garantias ou pelos Interfaces do MUG.</a:t>
            </a:r>
            <a:r>
              <a:rPr lang="pt-PT" sz="900" dirty="0">
                <a:latin typeface="Santander Text" panose="020B0504020201020104" pitchFamily="34" charset="0"/>
              </a:rPr>
              <a:t>        </a:t>
            </a:r>
            <a:r>
              <a:rPr lang="pt-PT" sz="900" b="1" dirty="0">
                <a:latin typeface="Santander Text" panose="020B0504020201020104" pitchFamily="34" charset="0"/>
              </a:rPr>
              <a:t>PA:</a:t>
            </a:r>
            <a:r>
              <a:rPr lang="pt-PT" sz="900" dirty="0">
                <a:latin typeface="Santander Text" panose="020B0504020201020104" pitchFamily="34" charset="0"/>
              </a:rPr>
              <a:t> </a:t>
            </a:r>
            <a:r>
              <a:rPr lang="pt-PT" sz="800" dirty="0">
                <a:latin typeface="Santander Text" panose="020B0504020201020104" pitchFamily="34" charset="0"/>
              </a:rPr>
              <a:t>parametrização.</a:t>
            </a:r>
          </a:p>
        </p:txBody>
      </p:sp>
      <p:sp>
        <p:nvSpPr>
          <p:cNvPr id="27" name="CaixaDeTexto 251">
            <a:extLst>
              <a:ext uri="{FF2B5EF4-FFF2-40B4-BE49-F238E27FC236}">
                <a16:creationId xmlns:a16="http://schemas.microsoft.com/office/drawing/2014/main" id="{D5F6BA4B-E388-6A67-6F8B-A7376F047077}"/>
              </a:ext>
            </a:extLst>
          </p:cNvPr>
          <p:cNvSpPr txBox="1"/>
          <p:nvPr/>
        </p:nvSpPr>
        <p:spPr>
          <a:xfrm>
            <a:off x="250216" y="6216135"/>
            <a:ext cx="8152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>
                <a:latin typeface="Santander Text" panose="020B0504020201020104" pitchFamily="34" charset="0"/>
              </a:rPr>
              <a:t>Legenda:</a:t>
            </a:r>
            <a:endParaRPr lang="pt-PT" sz="900" dirty="0">
              <a:latin typeface="Santander Text" panose="020B0504020201020104" pitchFamily="34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CA0E4593-0F26-F9BA-A21E-3CFEEBEBF2C2}"/>
              </a:ext>
            </a:extLst>
          </p:cNvPr>
          <p:cNvSpPr txBox="1"/>
          <p:nvPr/>
        </p:nvSpPr>
        <p:spPr>
          <a:xfrm>
            <a:off x="2857381" y="3915457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14D0500E-8230-C9AB-CCAB-EE6ACC4F47AF}"/>
              </a:ext>
            </a:extLst>
          </p:cNvPr>
          <p:cNvSpPr txBox="1"/>
          <p:nvPr/>
        </p:nvSpPr>
        <p:spPr>
          <a:xfrm>
            <a:off x="2860693" y="4239413"/>
            <a:ext cx="18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8678000A-C5DB-7B0B-09DB-DFDB3F2924B6}"/>
              </a:ext>
            </a:extLst>
          </p:cNvPr>
          <p:cNvSpPr txBox="1"/>
          <p:nvPr/>
        </p:nvSpPr>
        <p:spPr>
          <a:xfrm>
            <a:off x="185015" y="2480440"/>
            <a:ext cx="1918666" cy="680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pt-PT" sz="1600" b="1" dirty="0">
                <a:solidFill>
                  <a:prstClr val="black"/>
                </a:solidFill>
                <a:latin typeface="Santander Text" panose="020B0504020201020104" pitchFamily="34" charset="0"/>
              </a:rPr>
              <a:t>2 - Módulo Relação Responsabilidades e Garantias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0F29EA1-34BE-C02E-DC59-939F2FD59B3A}"/>
              </a:ext>
            </a:extLst>
          </p:cNvPr>
          <p:cNvSpPr txBox="1"/>
          <p:nvPr/>
        </p:nvSpPr>
        <p:spPr>
          <a:xfrm>
            <a:off x="344469" y="3573509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7DA29B63-1564-4087-7A30-67C5408683ED}"/>
              </a:ext>
            </a:extLst>
          </p:cNvPr>
          <p:cNvSpPr txBox="1"/>
          <p:nvPr/>
        </p:nvSpPr>
        <p:spPr>
          <a:xfrm>
            <a:off x="2858094" y="335559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551FEFCE-3D37-E106-0FE3-2ADC32A6B3C6}"/>
              </a:ext>
            </a:extLst>
          </p:cNvPr>
          <p:cNvSpPr txBox="1"/>
          <p:nvPr/>
        </p:nvSpPr>
        <p:spPr>
          <a:xfrm>
            <a:off x="337681" y="3709515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6D20724-57FA-941C-0AFD-F671714E4C6A}"/>
              </a:ext>
            </a:extLst>
          </p:cNvPr>
          <p:cNvSpPr txBox="1"/>
          <p:nvPr/>
        </p:nvSpPr>
        <p:spPr>
          <a:xfrm>
            <a:off x="2859242" y="3491164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898954A-38E7-2A45-1740-2DF7A7856734}"/>
              </a:ext>
            </a:extLst>
          </p:cNvPr>
          <p:cNvSpPr txBox="1"/>
          <p:nvPr/>
        </p:nvSpPr>
        <p:spPr>
          <a:xfrm>
            <a:off x="2858094" y="3632879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DCA2F7BB-56CB-B2B9-D48B-843DE1209F06}"/>
              </a:ext>
            </a:extLst>
          </p:cNvPr>
          <p:cNvSpPr txBox="1"/>
          <p:nvPr/>
        </p:nvSpPr>
        <p:spPr>
          <a:xfrm>
            <a:off x="343028" y="3846430"/>
            <a:ext cx="1872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41" name="Conexão em ângulos retos 206">
            <a:extLst>
              <a:ext uri="{FF2B5EF4-FFF2-40B4-BE49-F238E27FC236}">
                <a16:creationId xmlns:a16="http://schemas.microsoft.com/office/drawing/2014/main" id="{84E28105-878B-AFF1-A0E6-C871BC5BED2C}"/>
              </a:ext>
            </a:extLst>
          </p:cNvPr>
          <p:cNvCxnSpPr>
            <a:cxnSpLocks/>
            <a:stCxn id="44" idx="0"/>
            <a:endCxn id="43" idx="0"/>
          </p:cNvCxnSpPr>
          <p:nvPr/>
        </p:nvCxnSpPr>
        <p:spPr>
          <a:xfrm rot="5400000" flipH="1" flipV="1">
            <a:off x="4284525" y="-558575"/>
            <a:ext cx="12700" cy="5956227"/>
          </a:xfrm>
          <a:prstGeom prst="bentConnector3">
            <a:avLst>
              <a:gd name="adj1" fmla="val 180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7850538-3000-8C9C-238C-BC4B22ECE84A}"/>
              </a:ext>
            </a:extLst>
          </p:cNvPr>
          <p:cNvSpPr txBox="1"/>
          <p:nvPr/>
        </p:nvSpPr>
        <p:spPr>
          <a:xfrm>
            <a:off x="7111760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57079-96E4-5178-2F43-4A5A199D385E}"/>
              </a:ext>
            </a:extLst>
          </p:cNvPr>
          <p:cNvSpPr txBox="1"/>
          <p:nvPr/>
        </p:nvSpPr>
        <p:spPr>
          <a:xfrm>
            <a:off x="1155533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31F9F5D-2513-D7E7-4423-F5A4F5C4FA90}"/>
              </a:ext>
            </a:extLst>
          </p:cNvPr>
          <p:cNvSpPr txBox="1"/>
          <p:nvPr/>
        </p:nvSpPr>
        <p:spPr>
          <a:xfrm>
            <a:off x="2138129" y="1665905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57" name="Conexão em ângulos retos 206">
            <a:extLst>
              <a:ext uri="{FF2B5EF4-FFF2-40B4-BE49-F238E27FC236}">
                <a16:creationId xmlns:a16="http://schemas.microsoft.com/office/drawing/2014/main" id="{1574D00F-CDE9-D684-8D15-BDAE831B60A3}"/>
              </a:ext>
            </a:extLst>
          </p:cNvPr>
          <p:cNvCxnSpPr>
            <a:cxnSpLocks/>
            <a:stCxn id="55" idx="3"/>
            <a:endCxn id="60" idx="0"/>
          </p:cNvCxnSpPr>
          <p:nvPr/>
        </p:nvCxnSpPr>
        <p:spPr>
          <a:xfrm>
            <a:off x="2439887" y="1850571"/>
            <a:ext cx="5281531" cy="568967"/>
          </a:xfrm>
          <a:prstGeom prst="bentConnector2">
            <a:avLst/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88E118-62BD-6FB0-C83F-42C473790F96}"/>
              </a:ext>
            </a:extLst>
          </p:cNvPr>
          <p:cNvSpPr txBox="1"/>
          <p:nvPr/>
        </p:nvSpPr>
        <p:spPr>
          <a:xfrm>
            <a:off x="7570539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A19699-13C6-F716-8608-4207F8E2AAFA}"/>
              </a:ext>
            </a:extLst>
          </p:cNvPr>
          <p:cNvSpPr txBox="1"/>
          <p:nvPr/>
        </p:nvSpPr>
        <p:spPr>
          <a:xfrm>
            <a:off x="506962" y="1771791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72" name="Conexão em ângulos retos 206">
            <a:extLst>
              <a:ext uri="{FF2B5EF4-FFF2-40B4-BE49-F238E27FC236}">
                <a16:creationId xmlns:a16="http://schemas.microsoft.com/office/drawing/2014/main" id="{47C50375-EEC7-D167-41E1-359C93096A13}"/>
              </a:ext>
            </a:extLst>
          </p:cNvPr>
          <p:cNvCxnSpPr>
            <a:cxnSpLocks/>
            <a:stCxn id="66" idx="2"/>
            <a:endCxn id="79" idx="0"/>
          </p:cNvCxnSpPr>
          <p:nvPr/>
        </p:nvCxnSpPr>
        <p:spPr>
          <a:xfrm rot="16200000" flipH="1">
            <a:off x="518684" y="2280280"/>
            <a:ext cx="278415" cy="10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F2ACCFC-D67B-5FFA-9D45-80A14E3C3E8B}"/>
              </a:ext>
            </a:extLst>
          </p:cNvPr>
          <p:cNvSpPr txBox="1"/>
          <p:nvPr/>
        </p:nvSpPr>
        <p:spPr>
          <a:xfrm>
            <a:off x="507062" y="2419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F713B5D-9DE0-DBC4-7506-FF4625A7E75B}"/>
              </a:ext>
            </a:extLst>
          </p:cNvPr>
          <p:cNvSpPr txBox="1"/>
          <p:nvPr/>
        </p:nvSpPr>
        <p:spPr>
          <a:xfrm>
            <a:off x="5436885" y="3776738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51CDB8B-F898-9EB3-4C68-0058B9D2E13D}"/>
              </a:ext>
            </a:extLst>
          </p:cNvPr>
          <p:cNvSpPr txBox="1"/>
          <p:nvPr/>
        </p:nvSpPr>
        <p:spPr>
          <a:xfrm>
            <a:off x="5436912" y="3917138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9525781-CD3E-A7FB-D3BA-CBAB78605748}"/>
              </a:ext>
            </a:extLst>
          </p:cNvPr>
          <p:cNvSpPr txBox="1"/>
          <p:nvPr/>
        </p:nvSpPr>
        <p:spPr>
          <a:xfrm>
            <a:off x="7168442" y="3774516"/>
            <a:ext cx="1584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EE096079-2A3A-954E-AB00-24296CC720D6}"/>
              </a:ext>
            </a:extLst>
          </p:cNvPr>
          <p:cNvGrpSpPr/>
          <p:nvPr/>
        </p:nvGrpSpPr>
        <p:grpSpPr>
          <a:xfrm>
            <a:off x="8893845" y="3428509"/>
            <a:ext cx="1585380" cy="807151"/>
            <a:chOff x="9638871" y="3276971"/>
            <a:chExt cx="1585380" cy="80715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7BAF768-333F-D866-B128-8D68E0A9C383}"/>
                </a:ext>
              </a:extLst>
            </p:cNvPr>
            <p:cNvGrpSpPr/>
            <p:nvPr/>
          </p:nvGrpSpPr>
          <p:grpSpPr>
            <a:xfrm>
              <a:off x="9638871" y="3276971"/>
              <a:ext cx="1584001" cy="807151"/>
              <a:chOff x="6004516" y="5258468"/>
              <a:chExt cx="1584001" cy="807151"/>
            </a:xfrm>
          </p:grpSpPr>
          <p:sp>
            <p:nvSpPr>
              <p:cNvPr id="52" name="Retângulo 139">
                <a:extLst>
                  <a:ext uri="{FF2B5EF4-FFF2-40B4-BE49-F238E27FC236}">
                    <a16:creationId xmlns:a16="http://schemas.microsoft.com/office/drawing/2014/main" id="{97CC7C10-173C-456C-907D-B066C2E9B68D}"/>
                  </a:ext>
                </a:extLst>
              </p:cNvPr>
              <p:cNvSpPr/>
              <p:nvPr/>
            </p:nvSpPr>
            <p:spPr>
              <a:xfrm>
                <a:off x="6004517" y="5579619"/>
                <a:ext cx="1584000" cy="486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r>
                  <a:rPr lang="pt-PT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Processo/Bem</a:t>
                </a:r>
                <a:r>
                  <a:rPr lang="pt-PT" sz="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 (cbalcao… cisin)</a:t>
                </a:r>
              </a:p>
              <a:p>
                <a:r>
                  <a:rPr lang="pt-PT" sz="9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Data </a:t>
                </a:r>
                <a:r>
                  <a:rPr lang="pt-PT" sz="7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antander Text" panose="020B0504020201020104" pitchFamily="34" charset="0"/>
                  </a:rPr>
                  <a:t>(ref_date)</a:t>
                </a:r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0B10C9F-D29C-9F2F-6BF6-DCCB8FF5393E}"/>
                  </a:ext>
                </a:extLst>
              </p:cNvPr>
              <p:cNvSpPr/>
              <p:nvPr/>
            </p:nvSpPr>
            <p:spPr>
              <a:xfrm>
                <a:off x="6004516" y="5258468"/>
                <a:ext cx="1584000" cy="25636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r>
                  <a:rPr lang="pt-PT" sz="1050" b="1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(GT) </a:t>
                </a:r>
                <a:r>
                  <a:rPr lang="pt-PT" sz="1050" b="1" i="1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Output</a:t>
                </a:r>
                <a:r>
                  <a:rPr lang="pt-PT" sz="1050" b="1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 – Avaliações Processos/Bens </a:t>
                </a:r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(gt017)</a:t>
                </a: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68606D8-1BBE-AE57-1FB8-DC3ADB32AB62}"/>
                </a:ext>
              </a:extLst>
            </p:cNvPr>
            <p:cNvSpPr txBox="1"/>
            <p:nvPr/>
          </p:nvSpPr>
          <p:spPr>
            <a:xfrm>
              <a:off x="9640251" y="3621600"/>
              <a:ext cx="1584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89552B7-0DCC-AF4C-93AC-422BAA0513B9}"/>
              </a:ext>
            </a:extLst>
          </p:cNvPr>
          <p:cNvGrpSpPr/>
          <p:nvPr/>
        </p:nvGrpSpPr>
        <p:grpSpPr>
          <a:xfrm>
            <a:off x="10779922" y="5237327"/>
            <a:ext cx="1310681" cy="722951"/>
            <a:chOff x="306222" y="4891908"/>
            <a:chExt cx="1310681" cy="722951"/>
          </a:xfrm>
        </p:grpSpPr>
        <p:sp>
          <p:nvSpPr>
            <p:cNvPr id="232" name="Rectangle: Diagonal Corners Rounded 231">
              <a:extLst>
                <a:ext uri="{FF2B5EF4-FFF2-40B4-BE49-F238E27FC236}">
                  <a16:creationId xmlns:a16="http://schemas.microsoft.com/office/drawing/2014/main" id="{50EF105B-6E36-7885-1172-4F88E198C170}"/>
                </a:ext>
              </a:extLst>
            </p:cNvPr>
            <p:cNvSpPr/>
            <p:nvPr/>
          </p:nvSpPr>
          <p:spPr>
            <a:xfrm>
              <a:off x="330013" y="5117627"/>
              <a:ext cx="1286890" cy="497232"/>
            </a:xfrm>
            <a:prstGeom prst="round2Diag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(s1emp, contra1)</a:t>
              </a:r>
            </a:p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Garantia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(biengar1, </a:t>
              </a:r>
              <a:r>
                <a:rPr lang="pt-PT" sz="700" dirty="0" err="1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tip_gara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feoperac</a:t>
              </a:r>
              <a:r>
                <a:rPr lang="pt-PT" sz="700" dirty="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F4507E1-9A7E-A199-3C7D-583ADD594C2D}"/>
                </a:ext>
              </a:extLst>
            </p:cNvPr>
            <p:cNvSpPr/>
            <p:nvPr/>
          </p:nvSpPr>
          <p:spPr>
            <a:xfrm>
              <a:off x="306222" y="4891908"/>
              <a:ext cx="1260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900" dirty="0" err="1">
                  <a:solidFill>
                    <a:schemeClr val="tx1"/>
                  </a:solidFill>
                  <a:latin typeface="Santander Text" panose="020B0504020201020104" pitchFamily="34" charset="0"/>
                </a:rPr>
                <a:t>jm_garant_cto</a:t>
              </a:r>
              <a:endParaRPr lang="pt-PT" sz="900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258" name="TextBox 257">
            <a:extLst>
              <a:ext uri="{FF2B5EF4-FFF2-40B4-BE49-F238E27FC236}">
                <a16:creationId xmlns:a16="http://schemas.microsoft.com/office/drawing/2014/main" id="{48EEF8AD-37F5-FF5F-E4C1-9CDA786F3F5A}"/>
              </a:ext>
            </a:extLst>
          </p:cNvPr>
          <p:cNvSpPr txBox="1"/>
          <p:nvPr/>
        </p:nvSpPr>
        <p:spPr>
          <a:xfrm>
            <a:off x="10808823" y="5486047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2E68CD3-BFB0-AEE7-82AF-78846D28D127}"/>
              </a:ext>
            </a:extLst>
          </p:cNvPr>
          <p:cNvSpPr txBox="1"/>
          <p:nvPr/>
        </p:nvSpPr>
        <p:spPr>
          <a:xfrm>
            <a:off x="10810800" y="5620356"/>
            <a:ext cx="12888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5B670DF7-35B6-E806-0AB0-BC4529D20AB9}"/>
              </a:ext>
            </a:extLst>
          </p:cNvPr>
          <p:cNvGrpSpPr/>
          <p:nvPr/>
        </p:nvGrpSpPr>
        <p:grpSpPr>
          <a:xfrm>
            <a:off x="2852788" y="4745138"/>
            <a:ext cx="2449519" cy="1201002"/>
            <a:chOff x="2852788" y="4614471"/>
            <a:chExt cx="2449519" cy="1201002"/>
          </a:xfrm>
        </p:grpSpPr>
        <p:sp>
          <p:nvSpPr>
            <p:cNvPr id="9" name="Retângulo 139">
              <a:extLst>
                <a:ext uri="{FF2B5EF4-FFF2-40B4-BE49-F238E27FC236}">
                  <a16:creationId xmlns:a16="http://schemas.microsoft.com/office/drawing/2014/main" id="{39F1FC01-DB84-FA1C-61EC-1082033A9CF8}"/>
                </a:ext>
              </a:extLst>
            </p:cNvPr>
            <p:cNvSpPr/>
            <p:nvPr/>
          </p:nvSpPr>
          <p:spPr>
            <a:xfrm>
              <a:off x="2853385" y="4915473"/>
              <a:ext cx="2448000" cy="90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ckrefresp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  <a:endPara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Processo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cempresa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comp_id_gar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Bem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cempbem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…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ckrefbem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Contrato BDR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(s1emp, contra1)</a:t>
              </a:r>
              <a:endParaRPr lang="pt-PT" sz="70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Garantia BDR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 (biengar1, </a:t>
              </a:r>
              <a:r>
                <a:rPr lang="pt-PT" sz="7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tip_gara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  <a:p>
              <a:r>
                <a:rPr lang="pt-PT" sz="9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Data </a:t>
              </a:r>
              <a:r>
                <a:rPr lang="pt-PT" sz="7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rPr>
                <a:t>(ref_date)</a:t>
              </a:r>
              <a:endParaRPr lang="pt-PT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B5C39D-A4B1-845F-7009-F2A379A10ADC}"/>
                </a:ext>
              </a:extLst>
            </p:cNvPr>
            <p:cNvSpPr/>
            <p:nvPr/>
          </p:nvSpPr>
          <p:spPr>
            <a:xfrm>
              <a:off x="2853384" y="4614471"/>
              <a:ext cx="2448000" cy="2563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b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(GT) </a:t>
              </a:r>
              <a:r>
                <a:rPr lang="pt-PT" sz="1050" b="1" dirty="0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Rosetta</a:t>
              </a:r>
              <a:r>
                <a:rPr lang="pt-PT" sz="1050" b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 </a:t>
              </a:r>
              <a:r>
                <a:rPr lang="pt-PT" sz="1050" b="1" dirty="0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Resp</a:t>
              </a:r>
              <a:r>
                <a:rPr lang="pt-PT" sz="1050" b="1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/Processos VS BDR </a:t>
              </a:r>
              <a:r>
                <a:rPr lang="pt-PT" sz="900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(</a:t>
              </a:r>
              <a:r>
                <a:rPr lang="pt-PT" sz="900" dirty="0" err="1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kt_chaves_bdr_biengar</a:t>
              </a:r>
              <a:r>
                <a:rPr lang="pt-PT" sz="900" dirty="0">
                  <a:solidFill>
                    <a:schemeClr val="accent1">
                      <a:lumMod val="75000"/>
                    </a:schemeClr>
                  </a:solidFill>
                  <a:latin typeface="Santander Text" panose="020B0504020201020104" pitchFamily="34" charset="0"/>
                </a:rPr>
                <a:t>)</a:t>
              </a: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901B846B-BED1-3C6F-2E5E-F4243E073587}"/>
                </a:ext>
              </a:extLst>
            </p:cNvPr>
            <p:cNvSpPr txBox="1"/>
            <p:nvPr/>
          </p:nvSpPr>
          <p:spPr>
            <a:xfrm>
              <a:off x="2858094" y="493264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B60A76A-226D-EDD5-C0DA-09A117E6994A}"/>
                </a:ext>
              </a:extLst>
            </p:cNvPr>
            <p:cNvSpPr txBox="1"/>
            <p:nvPr/>
          </p:nvSpPr>
          <p:spPr>
            <a:xfrm>
              <a:off x="2858094" y="5067402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057BA7B-8FCC-2668-C112-220FBCB89FEB}"/>
                </a:ext>
              </a:extLst>
            </p:cNvPr>
            <p:cNvSpPr txBox="1"/>
            <p:nvPr/>
          </p:nvSpPr>
          <p:spPr>
            <a:xfrm>
              <a:off x="2858094" y="5212516"/>
              <a:ext cx="1872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F55B48DF-B728-7B6C-C697-43616C7E9412}"/>
                </a:ext>
              </a:extLst>
            </p:cNvPr>
            <p:cNvSpPr txBox="1"/>
            <p:nvPr/>
          </p:nvSpPr>
          <p:spPr>
            <a:xfrm>
              <a:off x="2854307" y="5356071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8B95DCD7-51AB-DBF7-800A-F201CA04AE42}"/>
                </a:ext>
              </a:extLst>
            </p:cNvPr>
            <p:cNvSpPr txBox="1"/>
            <p:nvPr/>
          </p:nvSpPr>
          <p:spPr>
            <a:xfrm>
              <a:off x="2852788" y="5489856"/>
              <a:ext cx="24480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600" dirty="0"/>
                <a:t>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4B1DB1-6FBF-A0CC-40C7-2F39ECBD5749}"/>
              </a:ext>
            </a:extLst>
          </p:cNvPr>
          <p:cNvSpPr txBox="1"/>
          <p:nvPr/>
        </p:nvSpPr>
        <p:spPr>
          <a:xfrm>
            <a:off x="2858094" y="3776740"/>
            <a:ext cx="2448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600" dirty="0"/>
              <a:t> </a:t>
            </a:r>
          </a:p>
        </p:txBody>
      </p:sp>
      <p:cxnSp>
        <p:nvCxnSpPr>
          <p:cNvPr id="61" name="Conexão em ângulos retos 147">
            <a:extLst>
              <a:ext uri="{FF2B5EF4-FFF2-40B4-BE49-F238E27FC236}">
                <a16:creationId xmlns:a16="http://schemas.microsoft.com/office/drawing/2014/main" id="{F17768E8-E855-5D65-B1D0-05B78E5A2A66}"/>
              </a:ext>
            </a:extLst>
          </p:cNvPr>
          <p:cNvCxnSpPr>
            <a:cxnSpLocks/>
            <a:stCxn id="90" idx="3"/>
            <a:endCxn id="92" idx="1"/>
          </p:cNvCxnSpPr>
          <p:nvPr/>
        </p:nvCxnSpPr>
        <p:spPr>
          <a:xfrm flipV="1">
            <a:off x="8752442" y="3865471"/>
            <a:ext cx="142783" cy="137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xão em ângulos retos 206">
            <a:extLst>
              <a:ext uri="{FF2B5EF4-FFF2-40B4-BE49-F238E27FC236}">
                <a16:creationId xmlns:a16="http://schemas.microsoft.com/office/drawing/2014/main" id="{3D558A3D-9707-4689-3C51-6BC1244B8BDA}"/>
              </a:ext>
            </a:extLst>
          </p:cNvPr>
          <p:cNvCxnSpPr>
            <a:cxnSpLocks/>
            <a:stCxn id="264" idx="2"/>
            <a:endCxn id="261" idx="0"/>
          </p:cNvCxnSpPr>
          <p:nvPr/>
        </p:nvCxnSpPr>
        <p:spPr>
          <a:xfrm rot="5400000">
            <a:off x="6122952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7F34710B-7ED7-B451-86BF-391DBC0439DB}"/>
              </a:ext>
            </a:extLst>
          </p:cNvPr>
          <p:cNvSpPr txBox="1"/>
          <p:nvPr/>
        </p:nvSpPr>
        <p:spPr>
          <a:xfrm>
            <a:off x="6075014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CEAD6A31-6FE4-3FBA-E89D-6420E8305F72}"/>
              </a:ext>
            </a:extLst>
          </p:cNvPr>
          <p:cNvSpPr txBox="1"/>
          <p:nvPr/>
        </p:nvSpPr>
        <p:spPr>
          <a:xfrm>
            <a:off x="6075799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82" name="Conexão em ângulos retos 206">
            <a:extLst>
              <a:ext uri="{FF2B5EF4-FFF2-40B4-BE49-F238E27FC236}">
                <a16:creationId xmlns:a16="http://schemas.microsoft.com/office/drawing/2014/main" id="{E6CD7148-EB30-4BB0-61AB-A85E7E64E3CF}"/>
              </a:ext>
            </a:extLst>
          </p:cNvPr>
          <p:cNvCxnSpPr>
            <a:cxnSpLocks/>
            <a:stCxn id="284" idx="2"/>
            <a:endCxn id="283" idx="0"/>
          </p:cNvCxnSpPr>
          <p:nvPr/>
        </p:nvCxnSpPr>
        <p:spPr>
          <a:xfrm rot="5400000">
            <a:off x="784881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9AB67C91-39D6-937B-E99F-5C8D32E8064F}"/>
              </a:ext>
            </a:extLst>
          </p:cNvPr>
          <p:cNvSpPr txBox="1"/>
          <p:nvPr/>
        </p:nvSpPr>
        <p:spPr>
          <a:xfrm>
            <a:off x="780087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466A431-D95B-485C-6F57-B20843584995}"/>
              </a:ext>
            </a:extLst>
          </p:cNvPr>
          <p:cNvSpPr txBox="1"/>
          <p:nvPr/>
        </p:nvSpPr>
        <p:spPr>
          <a:xfrm>
            <a:off x="780165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285" name="Conexão em ângulos retos 206">
            <a:extLst>
              <a:ext uri="{FF2B5EF4-FFF2-40B4-BE49-F238E27FC236}">
                <a16:creationId xmlns:a16="http://schemas.microsoft.com/office/drawing/2014/main" id="{AF27B1CA-0159-E6C3-0543-04941707EFD5}"/>
              </a:ext>
            </a:extLst>
          </p:cNvPr>
          <p:cNvCxnSpPr>
            <a:cxnSpLocks/>
            <a:stCxn id="287" idx="2"/>
            <a:endCxn id="286" idx="0"/>
          </p:cNvCxnSpPr>
          <p:nvPr/>
        </p:nvCxnSpPr>
        <p:spPr>
          <a:xfrm rot="5400000">
            <a:off x="9562160" y="4367812"/>
            <a:ext cx="206668" cy="78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48DF33A9-E154-C9B1-8547-E2FAC019BBAF}"/>
              </a:ext>
            </a:extLst>
          </p:cNvPr>
          <p:cNvSpPr txBox="1"/>
          <p:nvPr/>
        </p:nvSpPr>
        <p:spPr>
          <a:xfrm>
            <a:off x="9514222" y="4471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C7CCAE7B-3406-8027-FC02-85788CBC7071}"/>
              </a:ext>
            </a:extLst>
          </p:cNvPr>
          <p:cNvSpPr txBox="1"/>
          <p:nvPr/>
        </p:nvSpPr>
        <p:spPr>
          <a:xfrm>
            <a:off x="9515007" y="3895538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8A7DB7F-E4DB-6907-27B2-E1C378DD1E02}"/>
              </a:ext>
            </a:extLst>
          </p:cNvPr>
          <p:cNvGrpSpPr/>
          <p:nvPr/>
        </p:nvGrpSpPr>
        <p:grpSpPr>
          <a:xfrm>
            <a:off x="5373833" y="5007264"/>
            <a:ext cx="5141928" cy="450000"/>
            <a:chOff x="5539739" y="5250757"/>
            <a:chExt cx="5141928" cy="450000"/>
          </a:xfrm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70B62A49-291D-B69F-1402-BBF728FDCAA0}"/>
                </a:ext>
              </a:extLst>
            </p:cNvPr>
            <p:cNvGrpSpPr/>
            <p:nvPr/>
          </p:nvGrpSpPr>
          <p:grpSpPr>
            <a:xfrm>
              <a:off x="5599799" y="5285631"/>
              <a:ext cx="1584001" cy="182337"/>
              <a:chOff x="5599799" y="4468398"/>
              <a:chExt cx="1584001" cy="182337"/>
            </a:xfrm>
          </p:grpSpPr>
          <p:sp>
            <p:nvSpPr>
              <p:cNvPr id="243" name="Retângulo 139">
                <a:extLst>
                  <a:ext uri="{FF2B5EF4-FFF2-40B4-BE49-F238E27FC236}">
                    <a16:creationId xmlns:a16="http://schemas.microsoft.com/office/drawing/2014/main" id="{7B7BE689-D1AA-F226-9D29-A32939B9B09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68ED55A0-641B-E946-1599-55559A7433FC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gt015_report_biyr9500_bst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F7D963-03EA-A737-7C57-E742CE9E89E9}"/>
                </a:ext>
              </a:extLst>
            </p:cNvPr>
            <p:cNvGrpSpPr/>
            <p:nvPr/>
          </p:nvGrpSpPr>
          <p:grpSpPr>
            <a:xfrm>
              <a:off x="5599799" y="5490488"/>
              <a:ext cx="1584001" cy="182337"/>
              <a:chOff x="5599799" y="4468398"/>
              <a:chExt cx="1584001" cy="182337"/>
            </a:xfrm>
          </p:grpSpPr>
          <p:sp>
            <p:nvSpPr>
              <p:cNvPr id="48" name="Retângulo 139">
                <a:extLst>
                  <a:ext uri="{FF2B5EF4-FFF2-40B4-BE49-F238E27FC236}">
                    <a16:creationId xmlns:a16="http://schemas.microsoft.com/office/drawing/2014/main" id="{28EBDFE0-1FF7-FC54-D4CD-28D7BA0F1178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B40D3EE-BE23-81EE-749A-328F9DE5B8E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gt015_report_biyr9500_ific</a:t>
                </a:r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A3649EA7-63F7-3E41-7AD9-860A63181FE9}"/>
                </a:ext>
              </a:extLst>
            </p:cNvPr>
            <p:cNvGrpSpPr/>
            <p:nvPr/>
          </p:nvGrpSpPr>
          <p:grpSpPr>
            <a:xfrm>
              <a:off x="7328549" y="5285631"/>
              <a:ext cx="1588651" cy="182337"/>
              <a:chOff x="5599799" y="4468398"/>
              <a:chExt cx="1588651" cy="182337"/>
            </a:xfrm>
          </p:grpSpPr>
          <p:sp>
            <p:nvSpPr>
              <p:cNvPr id="267" name="Retângulo 139">
                <a:extLst>
                  <a:ext uri="{FF2B5EF4-FFF2-40B4-BE49-F238E27FC236}">
                    <a16:creationId xmlns:a16="http://schemas.microsoft.com/office/drawing/2014/main" id="{454EC72D-CFA7-0221-FD9A-5C2F0C9209E6}"/>
                  </a:ext>
                </a:extLst>
              </p:cNvPr>
              <p:cNvSpPr/>
              <p:nvPr/>
            </p:nvSpPr>
            <p:spPr>
              <a:xfrm>
                <a:off x="560445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540411AD-F8D1-2B21-491E-12A57AFAD07E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gt016_report_biyr9510_bst</a:t>
                </a:r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3AA662E7-4DFC-ED29-3C53-B07A899C9A92}"/>
                </a:ext>
              </a:extLst>
            </p:cNvPr>
            <p:cNvGrpSpPr/>
            <p:nvPr/>
          </p:nvGrpSpPr>
          <p:grpSpPr>
            <a:xfrm>
              <a:off x="7328550" y="5490488"/>
              <a:ext cx="1588650" cy="182337"/>
              <a:chOff x="5599800" y="4468398"/>
              <a:chExt cx="1588650" cy="182337"/>
            </a:xfrm>
          </p:grpSpPr>
          <p:sp>
            <p:nvSpPr>
              <p:cNvPr id="272" name="Retângulo 139">
                <a:extLst>
                  <a:ext uri="{FF2B5EF4-FFF2-40B4-BE49-F238E27FC236}">
                    <a16:creationId xmlns:a16="http://schemas.microsoft.com/office/drawing/2014/main" id="{D420CE8D-EA02-7A0A-CD27-0FC09BCF91C4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2069ECCC-1797-3219-E7C1-E50EBA974601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gt016_report_biyr9510_ific</a:t>
                </a:r>
              </a:p>
            </p:txBody>
          </p:sp>
        </p:grp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293418DE-2BE0-44EE-5714-DAF75EA29551}"/>
                </a:ext>
              </a:extLst>
            </p:cNvPr>
            <p:cNvGrpSpPr/>
            <p:nvPr/>
          </p:nvGrpSpPr>
          <p:grpSpPr>
            <a:xfrm>
              <a:off x="9059750" y="5285808"/>
              <a:ext cx="1584001" cy="182337"/>
              <a:chOff x="5599799" y="4468398"/>
              <a:chExt cx="1584001" cy="182337"/>
            </a:xfrm>
          </p:grpSpPr>
          <p:sp>
            <p:nvSpPr>
              <p:cNvPr id="277" name="Retângulo 139">
                <a:extLst>
                  <a:ext uri="{FF2B5EF4-FFF2-40B4-BE49-F238E27FC236}">
                    <a16:creationId xmlns:a16="http://schemas.microsoft.com/office/drawing/2014/main" id="{D56EDB80-08C0-5024-6623-B770EEF7D841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283D8110-97F9-0EC4-41D6-BCDE3EEAE274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gt017_report_biyr9520_bst</a:t>
                </a:r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2D3120A5-C1E1-E770-47A7-F00172E8DD7B}"/>
                </a:ext>
              </a:extLst>
            </p:cNvPr>
            <p:cNvGrpSpPr/>
            <p:nvPr/>
          </p:nvGrpSpPr>
          <p:grpSpPr>
            <a:xfrm>
              <a:off x="9059750" y="5491008"/>
              <a:ext cx="1584001" cy="182337"/>
              <a:chOff x="5599799" y="4468398"/>
              <a:chExt cx="1584001" cy="182337"/>
            </a:xfrm>
          </p:grpSpPr>
          <p:sp>
            <p:nvSpPr>
              <p:cNvPr id="280" name="Retângulo 139">
                <a:extLst>
                  <a:ext uri="{FF2B5EF4-FFF2-40B4-BE49-F238E27FC236}">
                    <a16:creationId xmlns:a16="http://schemas.microsoft.com/office/drawing/2014/main" id="{C93C85F9-14A1-4EDB-C4D9-BC9CB66B19F5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E2852CFC-C0BB-963A-162F-4845F403C42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gt017_report_biyr9520_ific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85A16B5-6929-27D5-D915-B6C6E3A4E117}"/>
                </a:ext>
              </a:extLst>
            </p:cNvPr>
            <p:cNvSpPr/>
            <p:nvPr/>
          </p:nvSpPr>
          <p:spPr>
            <a:xfrm>
              <a:off x="5539739" y="5250757"/>
              <a:ext cx="5141928" cy="450000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=""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63B7A6A-4F6C-3072-AA1A-3ECF76D44686}"/>
              </a:ext>
            </a:extLst>
          </p:cNvPr>
          <p:cNvGrpSpPr/>
          <p:nvPr/>
        </p:nvGrpSpPr>
        <p:grpSpPr>
          <a:xfrm>
            <a:off x="5380787" y="4500748"/>
            <a:ext cx="5141928" cy="263875"/>
            <a:chOff x="5546693" y="4844258"/>
            <a:chExt cx="5141928" cy="263875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C23053D3-0A59-9A03-8C18-5F85F2E9979E}"/>
                </a:ext>
              </a:extLst>
            </p:cNvPr>
            <p:cNvGrpSpPr/>
            <p:nvPr/>
          </p:nvGrpSpPr>
          <p:grpSpPr>
            <a:xfrm>
              <a:off x="5599799" y="4883060"/>
              <a:ext cx="1584001" cy="182337"/>
              <a:chOff x="5599799" y="4468398"/>
              <a:chExt cx="1584001" cy="182337"/>
            </a:xfrm>
          </p:grpSpPr>
          <p:sp>
            <p:nvSpPr>
              <p:cNvPr id="62" name="Retângulo 139">
                <a:extLst>
                  <a:ext uri="{FF2B5EF4-FFF2-40B4-BE49-F238E27FC236}">
                    <a16:creationId xmlns:a16="http://schemas.microsoft.com/office/drawing/2014/main" id="{DE743E8F-2F10-5E58-5A1B-F75B9BE1BA5F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FB88775-D5DD-851E-5490-D483BA5C7E35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gt015_report_biyr9500_ifrs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FF23FE9-FB15-3D34-B7E4-9E5A8514DF08}"/>
                </a:ext>
              </a:extLst>
            </p:cNvPr>
            <p:cNvGrpSpPr/>
            <p:nvPr/>
          </p:nvGrpSpPr>
          <p:grpSpPr>
            <a:xfrm>
              <a:off x="7328550" y="4885802"/>
              <a:ext cx="1588650" cy="182337"/>
              <a:chOff x="5599800" y="4468398"/>
              <a:chExt cx="1588650" cy="182337"/>
            </a:xfrm>
          </p:grpSpPr>
          <p:sp>
            <p:nvSpPr>
              <p:cNvPr id="67" name="Retângulo 139">
                <a:extLst>
                  <a:ext uri="{FF2B5EF4-FFF2-40B4-BE49-F238E27FC236}">
                    <a16:creationId xmlns:a16="http://schemas.microsoft.com/office/drawing/2014/main" id="{214F230B-7179-F87E-5CF1-30E074AA0C39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5795CE5-2FA2-ECCE-A95E-A48CED371CBD}"/>
                  </a:ext>
                </a:extLst>
              </p:cNvPr>
              <p:cNvSpPr/>
              <p:nvPr/>
            </p:nvSpPr>
            <p:spPr>
              <a:xfrm>
                <a:off x="5604450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gt016_report_biyr9510_ifrs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8051A45-0A1F-DE47-B1D0-586391BC6D78}"/>
                </a:ext>
              </a:extLst>
            </p:cNvPr>
            <p:cNvGrpSpPr/>
            <p:nvPr/>
          </p:nvGrpSpPr>
          <p:grpSpPr>
            <a:xfrm>
              <a:off x="9059750" y="4883465"/>
              <a:ext cx="1584001" cy="182337"/>
              <a:chOff x="5599799" y="4468398"/>
              <a:chExt cx="1584001" cy="182337"/>
            </a:xfrm>
          </p:grpSpPr>
          <p:sp>
            <p:nvSpPr>
              <p:cNvPr id="70" name="Retângulo 139">
                <a:extLst>
                  <a:ext uri="{FF2B5EF4-FFF2-40B4-BE49-F238E27FC236}">
                    <a16:creationId xmlns:a16="http://schemas.microsoft.com/office/drawing/2014/main" id="{EA66DA17-921F-666F-FA8E-46C65BC6E167}"/>
                  </a:ext>
                </a:extLst>
              </p:cNvPr>
              <p:cNvSpPr/>
              <p:nvPr/>
            </p:nvSpPr>
            <p:spPr>
              <a:xfrm>
                <a:off x="5599800" y="4468398"/>
                <a:ext cx="1584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endParaRPr lang="pt-PT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antander Text" panose="020B0504020201020104" pitchFamily="34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8580ED7-CBE6-6725-2F57-B71D70031E76}"/>
                  </a:ext>
                </a:extLst>
              </p:cNvPr>
              <p:cNvSpPr/>
              <p:nvPr/>
            </p:nvSpPr>
            <p:spPr>
              <a:xfrm>
                <a:off x="5599799" y="4470735"/>
                <a:ext cx="1584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r>
                  <a:rPr lang="pt-PT" sz="900" dirty="0">
                    <a:solidFill>
                      <a:schemeClr val="tx1"/>
                    </a:solidFill>
                    <a:latin typeface="Santander Text" panose="020B0504020201020104" pitchFamily="34" charset="0"/>
                  </a:rPr>
                  <a:t>gt017_report_biyr9520_ifrs</a:t>
                </a:r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DB21DC0-6F6C-F935-4441-70BFCBC6DF94}"/>
                </a:ext>
              </a:extLst>
            </p:cNvPr>
            <p:cNvSpPr/>
            <p:nvPr/>
          </p:nvSpPr>
          <p:spPr>
            <a:xfrm>
              <a:off x="5546693" y="4844258"/>
              <a:ext cx="5141928" cy="263875"/>
            </a:xfrm>
            <a:prstGeom prst="rect">
              <a:avLst/>
            </a:prstGeom>
            <a:noFill/>
            <a:ln w="6350">
              <a:solidFill>
                <a:schemeClr val="bg1">
                  <a:lumMod val="50000"/>
                </a:schemeClr>
              </a:solidFill>
              <a:prstDash val="dash"/>
              <a:extLst>
                <a:ext uri="{C807C97D-BFC1-408E-A445-0C87EB9F89A2}">
                  <ask:lineSketchStyleProps xmlns="" xmlns:ask="http://schemas.microsoft.com/office/drawing/2018/sketchyshapes" sd="1219033472">
                    <a:custGeom>
                      <a:avLst/>
                      <a:gdLst>
                        <a:gd name="connsiteX0" fmla="*/ 0 w 5141928"/>
                        <a:gd name="connsiteY0" fmla="*/ 0 h 444743"/>
                        <a:gd name="connsiteX1" fmla="*/ 468487 w 5141928"/>
                        <a:gd name="connsiteY1" fmla="*/ 0 h 444743"/>
                        <a:gd name="connsiteX2" fmla="*/ 988393 w 5141928"/>
                        <a:gd name="connsiteY2" fmla="*/ 0 h 444743"/>
                        <a:gd name="connsiteX3" fmla="*/ 1456880 w 5141928"/>
                        <a:gd name="connsiteY3" fmla="*/ 0 h 444743"/>
                        <a:gd name="connsiteX4" fmla="*/ 2079624 w 5141928"/>
                        <a:gd name="connsiteY4" fmla="*/ 0 h 444743"/>
                        <a:gd name="connsiteX5" fmla="*/ 2650950 w 5141928"/>
                        <a:gd name="connsiteY5" fmla="*/ 0 h 444743"/>
                        <a:gd name="connsiteX6" fmla="*/ 3222275 w 5141928"/>
                        <a:gd name="connsiteY6" fmla="*/ 0 h 444743"/>
                        <a:gd name="connsiteX7" fmla="*/ 3896439 w 5141928"/>
                        <a:gd name="connsiteY7" fmla="*/ 0 h 444743"/>
                        <a:gd name="connsiteX8" fmla="*/ 4519183 w 5141928"/>
                        <a:gd name="connsiteY8" fmla="*/ 0 h 444743"/>
                        <a:gd name="connsiteX9" fmla="*/ 5141928 w 5141928"/>
                        <a:gd name="connsiteY9" fmla="*/ 0 h 444743"/>
                        <a:gd name="connsiteX10" fmla="*/ 5141928 w 5141928"/>
                        <a:gd name="connsiteY10" fmla="*/ 444743 h 444743"/>
                        <a:gd name="connsiteX11" fmla="*/ 4724861 w 5141928"/>
                        <a:gd name="connsiteY11" fmla="*/ 444743 h 444743"/>
                        <a:gd name="connsiteX12" fmla="*/ 4256374 w 5141928"/>
                        <a:gd name="connsiteY12" fmla="*/ 444743 h 444743"/>
                        <a:gd name="connsiteX13" fmla="*/ 3633629 w 5141928"/>
                        <a:gd name="connsiteY13" fmla="*/ 444743 h 444743"/>
                        <a:gd name="connsiteX14" fmla="*/ 2959465 w 5141928"/>
                        <a:gd name="connsiteY14" fmla="*/ 444743 h 444743"/>
                        <a:gd name="connsiteX15" fmla="*/ 2439559 w 5141928"/>
                        <a:gd name="connsiteY15" fmla="*/ 444743 h 444743"/>
                        <a:gd name="connsiteX16" fmla="*/ 1765395 w 5141928"/>
                        <a:gd name="connsiteY16" fmla="*/ 444743 h 444743"/>
                        <a:gd name="connsiteX17" fmla="*/ 1296909 w 5141928"/>
                        <a:gd name="connsiteY17" fmla="*/ 444743 h 444743"/>
                        <a:gd name="connsiteX18" fmla="*/ 879841 w 5141928"/>
                        <a:gd name="connsiteY18" fmla="*/ 444743 h 444743"/>
                        <a:gd name="connsiteX19" fmla="*/ 0 w 5141928"/>
                        <a:gd name="connsiteY19" fmla="*/ 444743 h 444743"/>
                        <a:gd name="connsiteX20" fmla="*/ 0 w 5141928"/>
                        <a:gd name="connsiteY20" fmla="*/ 0 h 444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5141928" h="444743" fill="none" extrusionOk="0">
                          <a:moveTo>
                            <a:pt x="0" y="0"/>
                          </a:moveTo>
                          <a:cubicBezTo>
                            <a:pt x="147630" y="-35984"/>
                            <a:pt x="309985" y="18077"/>
                            <a:pt x="468487" y="0"/>
                          </a:cubicBezTo>
                          <a:cubicBezTo>
                            <a:pt x="626989" y="-18077"/>
                            <a:pt x="731005" y="17881"/>
                            <a:pt x="988393" y="0"/>
                          </a:cubicBezTo>
                          <a:cubicBezTo>
                            <a:pt x="1245781" y="-17881"/>
                            <a:pt x="1347880" y="12551"/>
                            <a:pt x="1456880" y="0"/>
                          </a:cubicBezTo>
                          <a:cubicBezTo>
                            <a:pt x="1565880" y="-12551"/>
                            <a:pt x="1908881" y="60058"/>
                            <a:pt x="2079624" y="0"/>
                          </a:cubicBezTo>
                          <a:cubicBezTo>
                            <a:pt x="2250367" y="-60058"/>
                            <a:pt x="2518224" y="2667"/>
                            <a:pt x="2650950" y="0"/>
                          </a:cubicBezTo>
                          <a:cubicBezTo>
                            <a:pt x="2783676" y="-2667"/>
                            <a:pt x="3086935" y="68502"/>
                            <a:pt x="3222275" y="0"/>
                          </a:cubicBezTo>
                          <a:cubicBezTo>
                            <a:pt x="3357615" y="-68502"/>
                            <a:pt x="3572563" y="49448"/>
                            <a:pt x="3896439" y="0"/>
                          </a:cubicBezTo>
                          <a:cubicBezTo>
                            <a:pt x="4220315" y="-49448"/>
                            <a:pt x="4367573" y="29685"/>
                            <a:pt x="4519183" y="0"/>
                          </a:cubicBezTo>
                          <a:cubicBezTo>
                            <a:pt x="4670793" y="-29685"/>
                            <a:pt x="4992545" y="10872"/>
                            <a:pt x="5141928" y="0"/>
                          </a:cubicBezTo>
                          <a:cubicBezTo>
                            <a:pt x="5150111" y="141146"/>
                            <a:pt x="5137259" y="266757"/>
                            <a:pt x="5141928" y="444743"/>
                          </a:cubicBezTo>
                          <a:cubicBezTo>
                            <a:pt x="5057225" y="447694"/>
                            <a:pt x="4887404" y="397334"/>
                            <a:pt x="4724861" y="444743"/>
                          </a:cubicBezTo>
                          <a:cubicBezTo>
                            <a:pt x="4562318" y="492152"/>
                            <a:pt x="4424552" y="417439"/>
                            <a:pt x="4256374" y="444743"/>
                          </a:cubicBezTo>
                          <a:cubicBezTo>
                            <a:pt x="4088196" y="472047"/>
                            <a:pt x="3892114" y="381239"/>
                            <a:pt x="3633629" y="444743"/>
                          </a:cubicBezTo>
                          <a:cubicBezTo>
                            <a:pt x="3375144" y="508247"/>
                            <a:pt x="3181236" y="437533"/>
                            <a:pt x="2959465" y="444743"/>
                          </a:cubicBezTo>
                          <a:cubicBezTo>
                            <a:pt x="2737694" y="451953"/>
                            <a:pt x="2662635" y="393903"/>
                            <a:pt x="2439559" y="444743"/>
                          </a:cubicBezTo>
                          <a:cubicBezTo>
                            <a:pt x="2216483" y="495583"/>
                            <a:pt x="1976386" y="404605"/>
                            <a:pt x="1765395" y="444743"/>
                          </a:cubicBezTo>
                          <a:cubicBezTo>
                            <a:pt x="1554404" y="484881"/>
                            <a:pt x="1390898" y="439424"/>
                            <a:pt x="1296909" y="444743"/>
                          </a:cubicBezTo>
                          <a:cubicBezTo>
                            <a:pt x="1202920" y="450062"/>
                            <a:pt x="1034704" y="431824"/>
                            <a:pt x="879841" y="444743"/>
                          </a:cubicBezTo>
                          <a:cubicBezTo>
                            <a:pt x="724978" y="457662"/>
                            <a:pt x="211525" y="356585"/>
                            <a:pt x="0" y="444743"/>
                          </a:cubicBezTo>
                          <a:cubicBezTo>
                            <a:pt x="-46286" y="344381"/>
                            <a:pt x="35684" y="122784"/>
                            <a:pt x="0" y="0"/>
                          </a:cubicBezTo>
                          <a:close/>
                        </a:path>
                        <a:path w="5141928" h="444743" stroke="0" extrusionOk="0">
                          <a:moveTo>
                            <a:pt x="0" y="0"/>
                          </a:moveTo>
                          <a:cubicBezTo>
                            <a:pt x="226199" y="-55421"/>
                            <a:pt x="388165" y="5282"/>
                            <a:pt x="519906" y="0"/>
                          </a:cubicBezTo>
                          <a:cubicBezTo>
                            <a:pt x="651647" y="-5282"/>
                            <a:pt x="736328" y="18639"/>
                            <a:pt x="936974" y="0"/>
                          </a:cubicBezTo>
                          <a:cubicBezTo>
                            <a:pt x="1137620" y="-18639"/>
                            <a:pt x="1362212" y="10386"/>
                            <a:pt x="1611137" y="0"/>
                          </a:cubicBezTo>
                          <a:cubicBezTo>
                            <a:pt x="1860062" y="-10386"/>
                            <a:pt x="1980440" y="21342"/>
                            <a:pt x="2131043" y="0"/>
                          </a:cubicBezTo>
                          <a:cubicBezTo>
                            <a:pt x="2281646" y="-21342"/>
                            <a:pt x="2456658" y="1459"/>
                            <a:pt x="2650950" y="0"/>
                          </a:cubicBezTo>
                          <a:cubicBezTo>
                            <a:pt x="2845242" y="-1459"/>
                            <a:pt x="2997257" y="42813"/>
                            <a:pt x="3325113" y="0"/>
                          </a:cubicBezTo>
                          <a:cubicBezTo>
                            <a:pt x="3652969" y="-42813"/>
                            <a:pt x="3635658" y="53073"/>
                            <a:pt x="3793600" y="0"/>
                          </a:cubicBezTo>
                          <a:cubicBezTo>
                            <a:pt x="3951542" y="-53073"/>
                            <a:pt x="4171948" y="64378"/>
                            <a:pt x="4467764" y="0"/>
                          </a:cubicBezTo>
                          <a:cubicBezTo>
                            <a:pt x="4763580" y="-64378"/>
                            <a:pt x="4915090" y="2170"/>
                            <a:pt x="5141928" y="0"/>
                          </a:cubicBezTo>
                          <a:cubicBezTo>
                            <a:pt x="5154869" y="122439"/>
                            <a:pt x="5111581" y="255022"/>
                            <a:pt x="5141928" y="444743"/>
                          </a:cubicBezTo>
                          <a:cubicBezTo>
                            <a:pt x="4933529" y="453827"/>
                            <a:pt x="4733580" y="389037"/>
                            <a:pt x="4570603" y="444743"/>
                          </a:cubicBezTo>
                          <a:cubicBezTo>
                            <a:pt x="4407627" y="500449"/>
                            <a:pt x="4220827" y="413842"/>
                            <a:pt x="4050697" y="444743"/>
                          </a:cubicBezTo>
                          <a:cubicBezTo>
                            <a:pt x="3880567" y="475644"/>
                            <a:pt x="3705180" y="427059"/>
                            <a:pt x="3376533" y="444743"/>
                          </a:cubicBezTo>
                          <a:cubicBezTo>
                            <a:pt x="3047886" y="462427"/>
                            <a:pt x="3022432" y="387729"/>
                            <a:pt x="2702369" y="444743"/>
                          </a:cubicBezTo>
                          <a:cubicBezTo>
                            <a:pt x="2382306" y="501757"/>
                            <a:pt x="2365341" y="390499"/>
                            <a:pt x="2233882" y="444743"/>
                          </a:cubicBezTo>
                          <a:cubicBezTo>
                            <a:pt x="2102423" y="498987"/>
                            <a:pt x="1898036" y="432407"/>
                            <a:pt x="1662557" y="444743"/>
                          </a:cubicBezTo>
                          <a:cubicBezTo>
                            <a:pt x="1427079" y="457079"/>
                            <a:pt x="1261410" y="444528"/>
                            <a:pt x="988393" y="444743"/>
                          </a:cubicBezTo>
                          <a:cubicBezTo>
                            <a:pt x="715376" y="444958"/>
                            <a:pt x="410759" y="389474"/>
                            <a:pt x="0" y="444743"/>
                          </a:cubicBezTo>
                          <a:cubicBezTo>
                            <a:pt x="-23554" y="290266"/>
                            <a:pt x="15512" y="124665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56FAFDB-6A5C-1ECE-E24E-E1665694473C}"/>
              </a:ext>
            </a:extLst>
          </p:cNvPr>
          <p:cNvSpPr/>
          <p:nvPr/>
        </p:nvSpPr>
        <p:spPr>
          <a:xfrm>
            <a:off x="10766425" y="5007264"/>
            <a:ext cx="1368000" cy="1019468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164B1E82-4582-E4F8-185A-0EBB790B01ED}"/>
              </a:ext>
            </a:extLst>
          </p:cNvPr>
          <p:cNvSpPr/>
          <p:nvPr/>
        </p:nvSpPr>
        <p:spPr>
          <a:xfrm>
            <a:off x="10721101" y="5010233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BDR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9830C120-B238-53C3-3812-F9DB692EE7AB}"/>
              </a:ext>
            </a:extLst>
          </p:cNvPr>
          <p:cNvSpPr/>
          <p:nvPr/>
        </p:nvSpPr>
        <p:spPr>
          <a:xfrm>
            <a:off x="10767600" y="4500625"/>
            <a:ext cx="1368000" cy="2628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  <a:extLst>
              <a:ext uri="{C807C97D-BFC1-408E-A445-0C87EB9F89A2}">
                <ask:lineSketchStyleProps xmlns="" xmlns:ask="http://schemas.microsoft.com/office/drawing/2018/sketchyshapes" sd="1219033472">
                  <a:custGeom>
                    <a:avLst/>
                    <a:gdLst>
                      <a:gd name="connsiteX0" fmla="*/ 0 w 5141928"/>
                      <a:gd name="connsiteY0" fmla="*/ 0 h 444743"/>
                      <a:gd name="connsiteX1" fmla="*/ 468487 w 5141928"/>
                      <a:gd name="connsiteY1" fmla="*/ 0 h 444743"/>
                      <a:gd name="connsiteX2" fmla="*/ 988393 w 5141928"/>
                      <a:gd name="connsiteY2" fmla="*/ 0 h 444743"/>
                      <a:gd name="connsiteX3" fmla="*/ 1456880 w 5141928"/>
                      <a:gd name="connsiteY3" fmla="*/ 0 h 444743"/>
                      <a:gd name="connsiteX4" fmla="*/ 2079624 w 5141928"/>
                      <a:gd name="connsiteY4" fmla="*/ 0 h 444743"/>
                      <a:gd name="connsiteX5" fmla="*/ 2650950 w 5141928"/>
                      <a:gd name="connsiteY5" fmla="*/ 0 h 444743"/>
                      <a:gd name="connsiteX6" fmla="*/ 3222275 w 5141928"/>
                      <a:gd name="connsiteY6" fmla="*/ 0 h 444743"/>
                      <a:gd name="connsiteX7" fmla="*/ 3896439 w 5141928"/>
                      <a:gd name="connsiteY7" fmla="*/ 0 h 444743"/>
                      <a:gd name="connsiteX8" fmla="*/ 4519183 w 5141928"/>
                      <a:gd name="connsiteY8" fmla="*/ 0 h 444743"/>
                      <a:gd name="connsiteX9" fmla="*/ 5141928 w 5141928"/>
                      <a:gd name="connsiteY9" fmla="*/ 0 h 444743"/>
                      <a:gd name="connsiteX10" fmla="*/ 5141928 w 5141928"/>
                      <a:gd name="connsiteY10" fmla="*/ 444743 h 444743"/>
                      <a:gd name="connsiteX11" fmla="*/ 4724861 w 5141928"/>
                      <a:gd name="connsiteY11" fmla="*/ 444743 h 444743"/>
                      <a:gd name="connsiteX12" fmla="*/ 4256374 w 5141928"/>
                      <a:gd name="connsiteY12" fmla="*/ 444743 h 444743"/>
                      <a:gd name="connsiteX13" fmla="*/ 3633629 w 5141928"/>
                      <a:gd name="connsiteY13" fmla="*/ 444743 h 444743"/>
                      <a:gd name="connsiteX14" fmla="*/ 2959465 w 5141928"/>
                      <a:gd name="connsiteY14" fmla="*/ 444743 h 444743"/>
                      <a:gd name="connsiteX15" fmla="*/ 2439559 w 5141928"/>
                      <a:gd name="connsiteY15" fmla="*/ 444743 h 444743"/>
                      <a:gd name="connsiteX16" fmla="*/ 1765395 w 5141928"/>
                      <a:gd name="connsiteY16" fmla="*/ 444743 h 444743"/>
                      <a:gd name="connsiteX17" fmla="*/ 1296909 w 5141928"/>
                      <a:gd name="connsiteY17" fmla="*/ 444743 h 444743"/>
                      <a:gd name="connsiteX18" fmla="*/ 879841 w 5141928"/>
                      <a:gd name="connsiteY18" fmla="*/ 444743 h 444743"/>
                      <a:gd name="connsiteX19" fmla="*/ 0 w 5141928"/>
                      <a:gd name="connsiteY19" fmla="*/ 444743 h 444743"/>
                      <a:gd name="connsiteX20" fmla="*/ 0 w 5141928"/>
                      <a:gd name="connsiteY20" fmla="*/ 0 h 444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5141928" h="444743" fill="none" extrusionOk="0">
                        <a:moveTo>
                          <a:pt x="0" y="0"/>
                        </a:moveTo>
                        <a:cubicBezTo>
                          <a:pt x="147630" y="-35984"/>
                          <a:pt x="309985" y="18077"/>
                          <a:pt x="468487" y="0"/>
                        </a:cubicBezTo>
                        <a:cubicBezTo>
                          <a:pt x="626989" y="-18077"/>
                          <a:pt x="731005" y="17881"/>
                          <a:pt x="988393" y="0"/>
                        </a:cubicBezTo>
                        <a:cubicBezTo>
                          <a:pt x="1245781" y="-17881"/>
                          <a:pt x="1347880" y="12551"/>
                          <a:pt x="1456880" y="0"/>
                        </a:cubicBezTo>
                        <a:cubicBezTo>
                          <a:pt x="1565880" y="-12551"/>
                          <a:pt x="1908881" y="60058"/>
                          <a:pt x="2079624" y="0"/>
                        </a:cubicBezTo>
                        <a:cubicBezTo>
                          <a:pt x="2250367" y="-60058"/>
                          <a:pt x="2518224" y="2667"/>
                          <a:pt x="2650950" y="0"/>
                        </a:cubicBezTo>
                        <a:cubicBezTo>
                          <a:pt x="2783676" y="-2667"/>
                          <a:pt x="3086935" y="68502"/>
                          <a:pt x="3222275" y="0"/>
                        </a:cubicBezTo>
                        <a:cubicBezTo>
                          <a:pt x="3357615" y="-68502"/>
                          <a:pt x="3572563" y="49448"/>
                          <a:pt x="3896439" y="0"/>
                        </a:cubicBezTo>
                        <a:cubicBezTo>
                          <a:pt x="4220315" y="-49448"/>
                          <a:pt x="4367573" y="29685"/>
                          <a:pt x="4519183" y="0"/>
                        </a:cubicBezTo>
                        <a:cubicBezTo>
                          <a:pt x="4670793" y="-29685"/>
                          <a:pt x="4992545" y="10872"/>
                          <a:pt x="5141928" y="0"/>
                        </a:cubicBezTo>
                        <a:cubicBezTo>
                          <a:pt x="5150111" y="141146"/>
                          <a:pt x="5137259" y="266757"/>
                          <a:pt x="5141928" y="444743"/>
                        </a:cubicBezTo>
                        <a:cubicBezTo>
                          <a:pt x="5057225" y="447694"/>
                          <a:pt x="4887404" y="397334"/>
                          <a:pt x="4724861" y="444743"/>
                        </a:cubicBezTo>
                        <a:cubicBezTo>
                          <a:pt x="4562318" y="492152"/>
                          <a:pt x="4424552" y="417439"/>
                          <a:pt x="4256374" y="444743"/>
                        </a:cubicBezTo>
                        <a:cubicBezTo>
                          <a:pt x="4088196" y="472047"/>
                          <a:pt x="3892114" y="381239"/>
                          <a:pt x="3633629" y="444743"/>
                        </a:cubicBezTo>
                        <a:cubicBezTo>
                          <a:pt x="3375144" y="508247"/>
                          <a:pt x="3181236" y="437533"/>
                          <a:pt x="2959465" y="444743"/>
                        </a:cubicBezTo>
                        <a:cubicBezTo>
                          <a:pt x="2737694" y="451953"/>
                          <a:pt x="2662635" y="393903"/>
                          <a:pt x="2439559" y="444743"/>
                        </a:cubicBezTo>
                        <a:cubicBezTo>
                          <a:pt x="2216483" y="495583"/>
                          <a:pt x="1976386" y="404605"/>
                          <a:pt x="1765395" y="444743"/>
                        </a:cubicBezTo>
                        <a:cubicBezTo>
                          <a:pt x="1554404" y="484881"/>
                          <a:pt x="1390898" y="439424"/>
                          <a:pt x="1296909" y="444743"/>
                        </a:cubicBezTo>
                        <a:cubicBezTo>
                          <a:pt x="1202920" y="450062"/>
                          <a:pt x="1034704" y="431824"/>
                          <a:pt x="879841" y="444743"/>
                        </a:cubicBezTo>
                        <a:cubicBezTo>
                          <a:pt x="724978" y="457662"/>
                          <a:pt x="211525" y="356585"/>
                          <a:pt x="0" y="444743"/>
                        </a:cubicBezTo>
                        <a:cubicBezTo>
                          <a:pt x="-46286" y="344381"/>
                          <a:pt x="35684" y="122784"/>
                          <a:pt x="0" y="0"/>
                        </a:cubicBezTo>
                        <a:close/>
                      </a:path>
                      <a:path w="5141928" h="444743" stroke="0" extrusionOk="0">
                        <a:moveTo>
                          <a:pt x="0" y="0"/>
                        </a:moveTo>
                        <a:cubicBezTo>
                          <a:pt x="226199" y="-55421"/>
                          <a:pt x="388165" y="5282"/>
                          <a:pt x="519906" y="0"/>
                        </a:cubicBezTo>
                        <a:cubicBezTo>
                          <a:pt x="651647" y="-5282"/>
                          <a:pt x="736328" y="18639"/>
                          <a:pt x="936974" y="0"/>
                        </a:cubicBezTo>
                        <a:cubicBezTo>
                          <a:pt x="1137620" y="-18639"/>
                          <a:pt x="1362212" y="10386"/>
                          <a:pt x="1611137" y="0"/>
                        </a:cubicBezTo>
                        <a:cubicBezTo>
                          <a:pt x="1860062" y="-10386"/>
                          <a:pt x="1980440" y="21342"/>
                          <a:pt x="2131043" y="0"/>
                        </a:cubicBezTo>
                        <a:cubicBezTo>
                          <a:pt x="2281646" y="-21342"/>
                          <a:pt x="2456658" y="1459"/>
                          <a:pt x="2650950" y="0"/>
                        </a:cubicBezTo>
                        <a:cubicBezTo>
                          <a:pt x="2845242" y="-1459"/>
                          <a:pt x="2997257" y="42813"/>
                          <a:pt x="3325113" y="0"/>
                        </a:cubicBezTo>
                        <a:cubicBezTo>
                          <a:pt x="3652969" y="-42813"/>
                          <a:pt x="3635658" y="53073"/>
                          <a:pt x="3793600" y="0"/>
                        </a:cubicBezTo>
                        <a:cubicBezTo>
                          <a:pt x="3951542" y="-53073"/>
                          <a:pt x="4171948" y="64378"/>
                          <a:pt x="4467764" y="0"/>
                        </a:cubicBezTo>
                        <a:cubicBezTo>
                          <a:pt x="4763580" y="-64378"/>
                          <a:pt x="4915090" y="2170"/>
                          <a:pt x="5141928" y="0"/>
                        </a:cubicBezTo>
                        <a:cubicBezTo>
                          <a:pt x="5154869" y="122439"/>
                          <a:pt x="5111581" y="255022"/>
                          <a:pt x="5141928" y="444743"/>
                        </a:cubicBezTo>
                        <a:cubicBezTo>
                          <a:pt x="4933529" y="453827"/>
                          <a:pt x="4733580" y="389037"/>
                          <a:pt x="4570603" y="444743"/>
                        </a:cubicBezTo>
                        <a:cubicBezTo>
                          <a:pt x="4407627" y="500449"/>
                          <a:pt x="4220827" y="413842"/>
                          <a:pt x="4050697" y="444743"/>
                        </a:cubicBezTo>
                        <a:cubicBezTo>
                          <a:pt x="3880567" y="475644"/>
                          <a:pt x="3705180" y="427059"/>
                          <a:pt x="3376533" y="444743"/>
                        </a:cubicBezTo>
                        <a:cubicBezTo>
                          <a:pt x="3047886" y="462427"/>
                          <a:pt x="3022432" y="387729"/>
                          <a:pt x="2702369" y="444743"/>
                        </a:cubicBezTo>
                        <a:cubicBezTo>
                          <a:pt x="2382306" y="501757"/>
                          <a:pt x="2365341" y="390499"/>
                          <a:pt x="2233882" y="444743"/>
                        </a:cubicBezTo>
                        <a:cubicBezTo>
                          <a:pt x="2102423" y="498987"/>
                          <a:pt x="1898036" y="432407"/>
                          <a:pt x="1662557" y="444743"/>
                        </a:cubicBezTo>
                        <a:cubicBezTo>
                          <a:pt x="1427079" y="457079"/>
                          <a:pt x="1261410" y="444528"/>
                          <a:pt x="988393" y="444743"/>
                        </a:cubicBezTo>
                        <a:cubicBezTo>
                          <a:pt x="715376" y="444958"/>
                          <a:pt x="410759" y="389474"/>
                          <a:pt x="0" y="444743"/>
                        </a:cubicBezTo>
                        <a:cubicBezTo>
                          <a:pt x="-23554" y="290266"/>
                          <a:pt x="15512" y="12466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pt-PT" sz="9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4FA7BB80-98E1-658C-3265-271D37921B58}"/>
              </a:ext>
            </a:extLst>
          </p:cNvPr>
          <p:cNvSpPr/>
          <p:nvPr/>
        </p:nvSpPr>
        <p:spPr>
          <a:xfrm>
            <a:off x="10722700" y="4505862"/>
            <a:ext cx="1260000" cy="2563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sz="1050" b="1" dirty="0">
                <a:solidFill>
                  <a:schemeClr val="tx1"/>
                </a:solidFill>
                <a:latin typeface="Santander Text" panose="020B0504020201020104" pitchFamily="34" charset="0"/>
              </a:rPr>
              <a:t>IFRS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341B515C-5B20-8B3E-63E4-CE4FBEAC3D87}"/>
              </a:ext>
            </a:extLst>
          </p:cNvPr>
          <p:cNvSpPr txBox="1"/>
          <p:nvPr/>
        </p:nvSpPr>
        <p:spPr>
          <a:xfrm>
            <a:off x="10725737" y="4465726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1BD82A23-5A1C-7CD9-E89D-D49E2537EC88}"/>
              </a:ext>
            </a:extLst>
          </p:cNvPr>
          <p:cNvSpPr txBox="1"/>
          <p:nvPr/>
        </p:nvSpPr>
        <p:spPr>
          <a:xfrm>
            <a:off x="10247292" y="4448292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311" name="Conexão em ângulos retos 206">
            <a:extLst>
              <a:ext uri="{FF2B5EF4-FFF2-40B4-BE49-F238E27FC236}">
                <a16:creationId xmlns:a16="http://schemas.microsoft.com/office/drawing/2014/main" id="{01EC7865-BAC9-12A2-1872-A21CA2DD4BEF}"/>
              </a:ext>
            </a:extLst>
          </p:cNvPr>
          <p:cNvCxnSpPr>
            <a:cxnSpLocks/>
            <a:stCxn id="310" idx="3"/>
            <a:endCxn id="309" idx="1"/>
          </p:cNvCxnSpPr>
          <p:nvPr/>
        </p:nvCxnSpPr>
        <p:spPr>
          <a:xfrm>
            <a:off x="10549050" y="4632958"/>
            <a:ext cx="176687" cy="17434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69727135-AF5B-9832-DE59-11B49EE6743B}"/>
              </a:ext>
            </a:extLst>
          </p:cNvPr>
          <p:cNvSpPr txBox="1"/>
          <p:nvPr/>
        </p:nvSpPr>
        <p:spPr>
          <a:xfrm>
            <a:off x="10249200" y="4954519"/>
            <a:ext cx="301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 </a:t>
            </a:r>
          </a:p>
        </p:txBody>
      </p:sp>
      <p:cxnSp>
        <p:nvCxnSpPr>
          <p:cNvPr id="316" name="Conexão em ângulos retos 206">
            <a:extLst>
              <a:ext uri="{FF2B5EF4-FFF2-40B4-BE49-F238E27FC236}">
                <a16:creationId xmlns:a16="http://schemas.microsoft.com/office/drawing/2014/main" id="{FC22EAA1-9A46-FF70-1565-66DBFBC937A0}"/>
              </a:ext>
            </a:extLst>
          </p:cNvPr>
          <p:cNvCxnSpPr>
            <a:cxnSpLocks/>
            <a:stCxn id="315" idx="3"/>
            <a:endCxn id="314" idx="1"/>
          </p:cNvCxnSpPr>
          <p:nvPr/>
        </p:nvCxnSpPr>
        <p:spPr>
          <a:xfrm>
            <a:off x="10550958" y="5139185"/>
            <a:ext cx="191442" cy="1646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exão em ângulos retos 186">
            <a:extLst>
              <a:ext uri="{FF2B5EF4-FFF2-40B4-BE49-F238E27FC236}">
                <a16:creationId xmlns:a16="http://schemas.microsoft.com/office/drawing/2014/main" id="{3F3961DA-FFBB-8701-A0F0-6719EFC35B12}"/>
              </a:ext>
            </a:extLst>
          </p:cNvPr>
          <p:cNvCxnSpPr>
            <a:cxnSpLocks/>
            <a:stCxn id="270" idx="3"/>
            <a:endCxn id="258" idx="1"/>
          </p:cNvCxnSpPr>
          <p:nvPr/>
        </p:nvCxnSpPr>
        <p:spPr>
          <a:xfrm flipV="1">
            <a:off x="5302307" y="5578380"/>
            <a:ext cx="5506516" cy="69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exão em ângulos retos 186">
            <a:extLst>
              <a:ext uri="{FF2B5EF4-FFF2-40B4-BE49-F238E27FC236}">
                <a16:creationId xmlns:a16="http://schemas.microsoft.com/office/drawing/2014/main" id="{B536B7BC-B4E5-F5D9-327B-73DBD3E64B66}"/>
              </a:ext>
            </a:extLst>
          </p:cNvPr>
          <p:cNvCxnSpPr>
            <a:cxnSpLocks/>
            <a:stCxn id="276" idx="3"/>
            <a:endCxn id="260" idx="1"/>
          </p:cNvCxnSpPr>
          <p:nvPr/>
        </p:nvCxnSpPr>
        <p:spPr>
          <a:xfrm flipV="1">
            <a:off x="5300788" y="5712689"/>
            <a:ext cx="5510012" cy="16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xão em ângulos retos 186">
            <a:extLst>
              <a:ext uri="{FF2B5EF4-FFF2-40B4-BE49-F238E27FC236}">
                <a16:creationId xmlns:a16="http://schemas.microsoft.com/office/drawing/2014/main" id="{351ACAAA-6859-0CF5-31DC-9EF8ABC680F6}"/>
              </a:ext>
            </a:extLst>
          </p:cNvPr>
          <p:cNvCxnSpPr>
            <a:cxnSpLocks/>
            <a:stCxn id="236" idx="1"/>
            <a:endCxn id="235" idx="3"/>
          </p:cNvCxnSpPr>
          <p:nvPr/>
        </p:nvCxnSpPr>
        <p:spPr>
          <a:xfrm rot="10800000">
            <a:off x="2216470" y="3665842"/>
            <a:ext cx="641625" cy="1489804"/>
          </a:xfrm>
          <a:prstGeom prst="bentConnector3">
            <a:avLst>
              <a:gd name="adj1" fmla="val 42874"/>
            </a:avLst>
          </a:prstGeom>
          <a:ln>
            <a:solidFill>
              <a:srgbClr val="FF0000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xão em ângulos retos 186">
            <a:extLst>
              <a:ext uri="{FF2B5EF4-FFF2-40B4-BE49-F238E27FC236}">
                <a16:creationId xmlns:a16="http://schemas.microsoft.com/office/drawing/2014/main" id="{CA578120-D87C-91CC-9A1C-C3AFFFE0F0D9}"/>
              </a:ext>
            </a:extLst>
          </p:cNvPr>
          <p:cNvCxnSpPr>
            <a:cxnSpLocks/>
            <a:stCxn id="238" idx="1"/>
            <a:endCxn id="246" idx="3"/>
          </p:cNvCxnSpPr>
          <p:nvPr/>
        </p:nvCxnSpPr>
        <p:spPr>
          <a:xfrm rot="10800000">
            <a:off x="2209682" y="3801848"/>
            <a:ext cx="648413" cy="14885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xão em ângulos retos 186">
            <a:extLst>
              <a:ext uri="{FF2B5EF4-FFF2-40B4-BE49-F238E27FC236}">
                <a16:creationId xmlns:a16="http://schemas.microsoft.com/office/drawing/2014/main" id="{862C0AC8-5EAD-DD2F-DC4A-601F94BAF05B}"/>
              </a:ext>
            </a:extLst>
          </p:cNvPr>
          <p:cNvCxnSpPr>
            <a:cxnSpLocks/>
            <a:stCxn id="39" idx="1"/>
            <a:endCxn id="252" idx="3"/>
          </p:cNvCxnSpPr>
          <p:nvPr/>
        </p:nvCxnSpPr>
        <p:spPr>
          <a:xfrm rot="10800000">
            <a:off x="2215028" y="3938764"/>
            <a:ext cx="643066" cy="1496753"/>
          </a:xfrm>
          <a:prstGeom prst="bentConnector3">
            <a:avLst>
              <a:gd name="adj1" fmla="val 58294"/>
            </a:avLst>
          </a:prstGeom>
          <a:ln>
            <a:solidFill>
              <a:schemeClr val="accent1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" name="Graphic 336" descr="Eye outline">
            <a:extLst>
              <a:ext uri="{FF2B5EF4-FFF2-40B4-BE49-F238E27FC236}">
                <a16:creationId xmlns:a16="http://schemas.microsoft.com/office/drawing/2014/main" id="{2714FE83-4729-C7B4-4D37-58FE266B8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271" y="4369411"/>
            <a:ext cx="216000" cy="216000"/>
          </a:xfrm>
          <a:prstGeom prst="rect">
            <a:avLst/>
          </a:prstGeom>
        </p:spPr>
      </p:pic>
      <p:pic>
        <p:nvPicPr>
          <p:cNvPr id="338" name="Graphic 337" descr="Eye outline">
            <a:extLst>
              <a:ext uri="{FF2B5EF4-FFF2-40B4-BE49-F238E27FC236}">
                <a16:creationId xmlns:a16="http://schemas.microsoft.com/office/drawing/2014/main" id="{8E76C191-7187-B52C-3FC7-D7935C7FC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4800" y="4874384"/>
            <a:ext cx="216000" cy="216000"/>
          </a:xfrm>
          <a:prstGeom prst="rect">
            <a:avLst/>
          </a:prstGeom>
        </p:spPr>
      </p:pic>
      <p:pic>
        <p:nvPicPr>
          <p:cNvPr id="339" name="Graphic 338" descr="Eye outline">
            <a:extLst>
              <a:ext uri="{FF2B5EF4-FFF2-40B4-BE49-F238E27FC236}">
                <a16:creationId xmlns:a16="http://schemas.microsoft.com/office/drawing/2014/main" id="{E532B956-4901-4E77-EBA7-FAD43737C8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444" y="6382431"/>
            <a:ext cx="216000" cy="216000"/>
          </a:xfrm>
          <a:prstGeom prst="rect">
            <a:avLst/>
          </a:prstGeom>
        </p:spPr>
      </p:pic>
      <p:sp>
        <p:nvSpPr>
          <p:cNvPr id="342" name="CaixaDeTexto 251">
            <a:extLst>
              <a:ext uri="{FF2B5EF4-FFF2-40B4-BE49-F238E27FC236}">
                <a16:creationId xmlns:a16="http://schemas.microsoft.com/office/drawing/2014/main" id="{13C5B192-F86F-B52A-18FF-EBD718CF66C7}"/>
              </a:ext>
            </a:extLst>
          </p:cNvPr>
          <p:cNvSpPr txBox="1"/>
          <p:nvPr/>
        </p:nvSpPr>
        <p:spPr>
          <a:xfrm>
            <a:off x="3477497" y="6382517"/>
            <a:ext cx="3729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 Estas tabelas são </a:t>
            </a:r>
            <a:r>
              <a:rPr lang="pt-PT" sz="800" i="1" dirty="0" err="1">
                <a:latin typeface="Santander Text" panose="020B0504020201020104" pitchFamily="34" charset="0"/>
              </a:rPr>
              <a:t>views</a:t>
            </a:r>
            <a:r>
              <a:rPr lang="pt-PT" sz="800" dirty="0">
                <a:latin typeface="Santander Text" panose="020B0504020201020104" pitchFamily="34" charset="0"/>
              </a:rPr>
              <a:t> no Data </a:t>
            </a:r>
            <a:r>
              <a:rPr lang="pt-PT" sz="800" dirty="0" err="1">
                <a:latin typeface="Santander Text" panose="020B0504020201020104" pitchFamily="34" charset="0"/>
              </a:rPr>
              <a:t>Lake</a:t>
            </a:r>
            <a:r>
              <a:rPr lang="pt-PT" sz="800" dirty="0">
                <a:latin typeface="Santander Text" panose="020B0504020201020104" pitchFamily="34" charset="0"/>
              </a:rPr>
              <a:t>. São quase iguais às tabelas origem, exceto por na BDR se distribuir os registos entre o que é BST e o que é IFIC (Leasing e Factoring), e por em IFRS9 se eliminarem campos desnecessários.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02B64480-735E-3BCC-D55B-73181131C2C3}"/>
              </a:ext>
            </a:extLst>
          </p:cNvPr>
          <p:cNvGrpSpPr/>
          <p:nvPr/>
        </p:nvGrpSpPr>
        <p:grpSpPr>
          <a:xfrm>
            <a:off x="8957279" y="6468751"/>
            <a:ext cx="1343412" cy="215444"/>
            <a:chOff x="8846213" y="1252284"/>
            <a:chExt cx="1343412" cy="215444"/>
          </a:xfrm>
        </p:grpSpPr>
        <p:sp>
          <p:nvSpPr>
            <p:cNvPr id="344" name="Fluxograma: multidocumentos 2">
              <a:extLst>
                <a:ext uri="{FF2B5EF4-FFF2-40B4-BE49-F238E27FC236}">
                  <a16:creationId xmlns:a16="http://schemas.microsoft.com/office/drawing/2014/main" id="{104BA047-3D54-7DDE-020C-BAAD99EF4F70}"/>
                </a:ext>
              </a:extLst>
            </p:cNvPr>
            <p:cNvSpPr/>
            <p:nvPr/>
          </p:nvSpPr>
          <p:spPr>
            <a:xfrm>
              <a:off x="8846213" y="1306006"/>
              <a:ext cx="504000" cy="108000"/>
            </a:xfrm>
            <a:prstGeom prst="flowChartMultidocumen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="1" baseline="30000">
                <a:solidFill>
                  <a:schemeClr val="bg1"/>
                </a:solidFill>
                <a:effectLst/>
                <a:latin typeface="Santander Text" panose="020B0504020201020104" pitchFamily="34" charset="0"/>
              </a:endParaRPr>
            </a:p>
          </p:txBody>
        </p:sp>
        <p:sp>
          <p:nvSpPr>
            <p:cNvPr id="345" name="CaixaDeTexto 3">
              <a:extLst>
                <a:ext uri="{FF2B5EF4-FFF2-40B4-BE49-F238E27FC236}">
                  <a16:creationId xmlns:a16="http://schemas.microsoft.com/office/drawing/2014/main" id="{786A8016-DA9F-C833-A603-7DCD6CA5B79D}"/>
                </a:ext>
              </a:extLst>
            </p:cNvPr>
            <p:cNvSpPr txBox="1"/>
            <p:nvPr/>
          </p:nvSpPr>
          <p:spPr>
            <a:xfrm>
              <a:off x="9361625" y="1252284"/>
              <a:ext cx="82800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Carga manual</a:t>
              </a:r>
            </a:p>
          </p:txBody>
        </p:sp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0539CAD2-00B1-B139-93A5-1CEA19B3CF86}"/>
              </a:ext>
            </a:extLst>
          </p:cNvPr>
          <p:cNvGrpSpPr/>
          <p:nvPr/>
        </p:nvGrpSpPr>
        <p:grpSpPr>
          <a:xfrm>
            <a:off x="10380765" y="6468751"/>
            <a:ext cx="1250009" cy="215444"/>
            <a:chOff x="10462235" y="1247232"/>
            <a:chExt cx="1250009" cy="215444"/>
          </a:xfrm>
        </p:grpSpPr>
        <p:sp>
          <p:nvSpPr>
            <p:cNvPr id="347" name="Retângulo 4">
              <a:extLst>
                <a:ext uri="{FF2B5EF4-FFF2-40B4-BE49-F238E27FC236}">
                  <a16:creationId xmlns:a16="http://schemas.microsoft.com/office/drawing/2014/main" id="{59086919-A182-83A4-77C9-47AA08CA8797}"/>
                </a:ext>
              </a:extLst>
            </p:cNvPr>
            <p:cNvSpPr/>
            <p:nvPr/>
          </p:nvSpPr>
          <p:spPr>
            <a:xfrm>
              <a:off x="10462235" y="1300954"/>
              <a:ext cx="504000" cy="10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 anchorCtr="0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pt-PT" sz="800" b="1" dirty="0">
                <a:solidFill>
                  <a:schemeClr val="tx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348" name="CaixaDeTexto 5">
              <a:extLst>
                <a:ext uri="{FF2B5EF4-FFF2-40B4-BE49-F238E27FC236}">
                  <a16:creationId xmlns:a16="http://schemas.microsoft.com/office/drawing/2014/main" id="{21351BB5-8AAC-CF0A-09CB-DC510622BAA0}"/>
                </a:ext>
              </a:extLst>
            </p:cNvPr>
            <p:cNvSpPr txBox="1"/>
            <p:nvPr/>
          </p:nvSpPr>
          <p:spPr>
            <a:xfrm>
              <a:off x="10983074" y="1247232"/>
              <a:ext cx="729170" cy="21544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800" dirty="0">
                  <a:latin typeface="Santander Text" panose="020B0504020201020104" pitchFamily="34" charset="0"/>
                </a:rPr>
                <a:t>Automático</a:t>
              </a:r>
            </a:p>
          </p:txBody>
        </p:sp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F752FA68-CCFC-C805-37D4-8D4B3C0A1508}"/>
              </a:ext>
            </a:extLst>
          </p:cNvPr>
          <p:cNvGrpSpPr/>
          <p:nvPr/>
        </p:nvGrpSpPr>
        <p:grpSpPr>
          <a:xfrm>
            <a:off x="7403100" y="6469200"/>
            <a:ext cx="1429711" cy="246221"/>
            <a:chOff x="7403100" y="6469200"/>
            <a:chExt cx="1429711" cy="246221"/>
          </a:xfrm>
        </p:grpSpPr>
        <p:sp>
          <p:nvSpPr>
            <p:cNvPr id="350" name="Fluxograma: subrotina 238">
              <a:extLst>
                <a:ext uri="{FF2B5EF4-FFF2-40B4-BE49-F238E27FC236}">
                  <a16:creationId xmlns:a16="http://schemas.microsoft.com/office/drawing/2014/main" id="{BC8F6C7B-811F-2C04-079A-5940D195602C}"/>
                </a:ext>
              </a:extLst>
            </p:cNvPr>
            <p:cNvSpPr/>
            <p:nvPr/>
          </p:nvSpPr>
          <p:spPr>
            <a:xfrm>
              <a:off x="7403100" y="6523200"/>
              <a:ext cx="504000" cy="108000"/>
            </a:xfrm>
            <a:prstGeom prst="flowChartPredefinedProcess">
              <a:avLst/>
            </a:prstGeom>
            <a:solidFill>
              <a:schemeClr val="bg1"/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endParaRPr lang="pt-PT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1" name="CaixaDeTexto 239">
              <a:extLst>
                <a:ext uri="{FF2B5EF4-FFF2-40B4-BE49-F238E27FC236}">
                  <a16:creationId xmlns:a16="http://schemas.microsoft.com/office/drawing/2014/main" id="{65A438F1-AA00-FF88-CA0D-A413930679D5}"/>
                </a:ext>
              </a:extLst>
            </p:cNvPr>
            <p:cNvSpPr txBox="1"/>
            <p:nvPr/>
          </p:nvSpPr>
          <p:spPr>
            <a:xfrm>
              <a:off x="7921815" y="6469200"/>
              <a:ext cx="910996" cy="246221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lang="pt-PT" sz="1000" dirty="0"/>
                <a:t>Parametrização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75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5">
            <a:extLst>
              <a:ext uri="{FF2B5EF4-FFF2-40B4-BE49-F238E27FC236}">
                <a16:creationId xmlns:a16="http://schemas.microsoft.com/office/drawing/2014/main" id="{BA8365F4-6A76-E075-937F-7D0AC6B54647}"/>
              </a:ext>
            </a:extLst>
          </p:cNvPr>
          <p:cNvSpPr txBox="1">
            <a:spLocks/>
          </p:cNvSpPr>
          <p:nvPr/>
        </p:nvSpPr>
        <p:spPr>
          <a:xfrm>
            <a:off x="465927" y="232754"/>
            <a:ext cx="9343511" cy="30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PT" sz="20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Modelo Relacional - Modelo Único de Garantias </a:t>
            </a:r>
            <a:r>
              <a:rPr lang="pt-PT" sz="2000" dirty="0">
                <a:solidFill>
                  <a:srgbClr val="FF0000"/>
                </a:solidFill>
                <a:latin typeface="Santander Text" panose="020B0504020201020104" pitchFamily="34" charset="0"/>
              </a:rPr>
              <a:t>| Descrição funcional das tabelas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D4E5DD2D-8CA8-D1DB-E413-E167E0B48D2F}"/>
              </a:ext>
            </a:extLst>
          </p:cNvPr>
          <p:cNvGrpSpPr/>
          <p:nvPr/>
        </p:nvGrpSpPr>
        <p:grpSpPr>
          <a:xfrm>
            <a:off x="465927" y="694367"/>
            <a:ext cx="11260146" cy="304800"/>
            <a:chOff x="465927" y="1019737"/>
            <a:chExt cx="11260146" cy="304800"/>
          </a:xfrm>
        </p:grpSpPr>
        <p:sp>
          <p:nvSpPr>
            <p:cNvPr id="3" name="Retângulo 139">
              <a:extLst>
                <a:ext uri="{FF2B5EF4-FFF2-40B4-BE49-F238E27FC236}">
                  <a16:creationId xmlns:a16="http://schemas.microsoft.com/office/drawing/2014/main" id="{25DE6898-5E7E-D74D-E565-D62646AB8737}"/>
                </a:ext>
              </a:extLst>
            </p:cNvPr>
            <p:cNvSpPr/>
            <p:nvPr/>
          </p:nvSpPr>
          <p:spPr>
            <a:xfrm>
              <a:off x="465927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Módulo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4" name="Retângulo 139">
              <a:extLst>
                <a:ext uri="{FF2B5EF4-FFF2-40B4-BE49-F238E27FC236}">
                  <a16:creationId xmlns:a16="http://schemas.microsoft.com/office/drawing/2014/main" id="{2EBA1D04-5CBC-6A32-E7E4-29A94819D688}"/>
                </a:ext>
              </a:extLst>
            </p:cNvPr>
            <p:cNvSpPr/>
            <p:nvPr/>
          </p:nvSpPr>
          <p:spPr>
            <a:xfrm>
              <a:off x="2438335" y="1019737"/>
              <a:ext cx="1871999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Tabelas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  <p:sp>
          <p:nvSpPr>
            <p:cNvPr id="5" name="Retângulo 139">
              <a:extLst>
                <a:ext uri="{FF2B5EF4-FFF2-40B4-BE49-F238E27FC236}">
                  <a16:creationId xmlns:a16="http://schemas.microsoft.com/office/drawing/2014/main" id="{805C2999-2864-FC94-E362-7AB5B677472A}"/>
                </a:ext>
              </a:extLst>
            </p:cNvPr>
            <p:cNvSpPr/>
            <p:nvPr/>
          </p:nvSpPr>
          <p:spPr>
            <a:xfrm>
              <a:off x="4410743" y="1019737"/>
              <a:ext cx="7315330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pt-PT" sz="1200" b="1" dirty="0">
                  <a:solidFill>
                    <a:schemeClr val="bg1"/>
                  </a:solidFill>
                  <a:latin typeface="Santander Text" panose="020B0504020201020104" pitchFamily="34" charset="0"/>
                </a:rPr>
                <a:t>Descritivo</a:t>
              </a:r>
              <a:endParaRPr lang="pt-PT" sz="1100" b="1" dirty="0">
                <a:solidFill>
                  <a:schemeClr val="bg1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55" name="Retângulo 139">
            <a:extLst>
              <a:ext uri="{FF2B5EF4-FFF2-40B4-BE49-F238E27FC236}">
                <a16:creationId xmlns:a16="http://schemas.microsoft.com/office/drawing/2014/main" id="{2EAE9630-EC69-9646-CC61-F89F715410C1}"/>
              </a:ext>
            </a:extLst>
          </p:cNvPr>
          <p:cNvSpPr/>
          <p:nvPr/>
        </p:nvSpPr>
        <p:spPr>
          <a:xfrm>
            <a:off x="465927" y="1037998"/>
            <a:ext cx="1871999" cy="30790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</a:rPr>
              <a:t>Modelo Base de Garantias</a:t>
            </a:r>
          </a:p>
        </p:txBody>
      </p:sp>
      <p:sp>
        <p:nvSpPr>
          <p:cNvPr id="57" name="Retângulo 139">
            <a:extLst>
              <a:ext uri="{FF2B5EF4-FFF2-40B4-BE49-F238E27FC236}">
                <a16:creationId xmlns:a16="http://schemas.microsoft.com/office/drawing/2014/main" id="{27623F51-7720-356C-D38E-FE8B00D7D99E}"/>
              </a:ext>
            </a:extLst>
          </p:cNvPr>
          <p:cNvSpPr/>
          <p:nvPr/>
        </p:nvSpPr>
        <p:spPr>
          <a:xfrm>
            <a:off x="2438335" y="1037998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/>
                </a:solidFill>
                <a:latin typeface="Santander Text" panose="020B0504020201020104" pitchFamily="34" charset="0"/>
              </a:rPr>
              <a:t>kt_chaves_gt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58" name="Retângulo 139">
            <a:extLst>
              <a:ext uri="{FF2B5EF4-FFF2-40B4-BE49-F238E27FC236}">
                <a16:creationId xmlns:a16="http://schemas.microsoft.com/office/drawing/2014/main" id="{38AD5B68-39C4-71E6-4834-C72C6C5D470E}"/>
              </a:ext>
            </a:extLst>
          </p:cNvPr>
          <p:cNvSpPr/>
          <p:nvPr/>
        </p:nvSpPr>
        <p:spPr>
          <a:xfrm>
            <a:off x="4410743" y="1037998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, </a:t>
            </a:r>
            <a:r>
              <a:rPr lang="pt-PT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ie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tradutor entre a rastreabilidade das chaves dos contrato e das chaves dos processos provenientes dos sistemas de origem; e a rastreabilidade das chaves dos contratos e das chaves dos processos na tabela gt001 do modelo único de garantias.</a:t>
            </a:r>
          </a:p>
        </p:txBody>
      </p:sp>
      <p:sp>
        <p:nvSpPr>
          <p:cNvPr id="66" name="Retângulo 139">
            <a:extLst>
              <a:ext uri="{FF2B5EF4-FFF2-40B4-BE49-F238E27FC236}">
                <a16:creationId xmlns:a16="http://schemas.microsoft.com/office/drawing/2014/main" id="{BF4AD1A4-B877-861B-F4A3-4141064EA5B7}"/>
              </a:ext>
            </a:extLst>
          </p:cNvPr>
          <p:cNvSpPr/>
          <p:nvPr/>
        </p:nvSpPr>
        <p:spPr>
          <a:xfrm>
            <a:off x="2438335" y="16560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gt001_trz_rsp_gt</a:t>
            </a:r>
          </a:p>
        </p:txBody>
      </p:sp>
      <p:sp>
        <p:nvSpPr>
          <p:cNvPr id="72" name="Retângulo 139">
            <a:extLst>
              <a:ext uri="{FF2B5EF4-FFF2-40B4-BE49-F238E27FC236}">
                <a16:creationId xmlns:a16="http://schemas.microsoft.com/office/drawing/2014/main" id="{EBAB3498-0D32-980F-59CE-5559C60C40EF}"/>
              </a:ext>
            </a:extLst>
          </p:cNvPr>
          <p:cNvSpPr/>
          <p:nvPr/>
        </p:nvSpPr>
        <p:spPr>
          <a:xfrm>
            <a:off x="4410743" y="16560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contratos e as chaves dos processos no modelo único de garantias, e os respetivos atributos desta relação.</a:t>
            </a:r>
          </a:p>
        </p:txBody>
      </p:sp>
      <p:sp>
        <p:nvSpPr>
          <p:cNvPr id="75" name="Retângulo 139">
            <a:extLst>
              <a:ext uri="{FF2B5EF4-FFF2-40B4-BE49-F238E27FC236}">
                <a16:creationId xmlns:a16="http://schemas.microsoft.com/office/drawing/2014/main" id="{05B0D31F-BB83-EF2F-8A6E-CCD043A0847C}"/>
              </a:ext>
            </a:extLst>
          </p:cNvPr>
          <p:cNvSpPr/>
          <p:nvPr/>
        </p:nvSpPr>
        <p:spPr>
          <a:xfrm>
            <a:off x="2438335" y="19656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gt002_grnt_prc</a:t>
            </a:r>
          </a:p>
        </p:txBody>
      </p:sp>
      <p:sp>
        <p:nvSpPr>
          <p:cNvPr id="76" name="Retângulo 139">
            <a:extLst>
              <a:ext uri="{FF2B5EF4-FFF2-40B4-BE49-F238E27FC236}">
                <a16:creationId xmlns:a16="http://schemas.microsoft.com/office/drawing/2014/main" id="{1E78990A-4C43-D9AE-D2C9-A47C0EBD04FC}"/>
              </a:ext>
            </a:extLst>
          </p:cNvPr>
          <p:cNvSpPr/>
          <p:nvPr/>
        </p:nvSpPr>
        <p:spPr>
          <a:xfrm>
            <a:off x="4410743" y="19656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Detalhe de informação relativa aos processos (pilar 2).</a:t>
            </a:r>
          </a:p>
        </p:txBody>
      </p:sp>
      <p:sp>
        <p:nvSpPr>
          <p:cNvPr id="79" name="Retângulo 139">
            <a:extLst>
              <a:ext uri="{FF2B5EF4-FFF2-40B4-BE49-F238E27FC236}">
                <a16:creationId xmlns:a16="http://schemas.microsoft.com/office/drawing/2014/main" id="{7C0CA060-72E3-3252-E74B-CC7D6EE6C23F}"/>
              </a:ext>
            </a:extLst>
          </p:cNvPr>
          <p:cNvSpPr/>
          <p:nvPr/>
        </p:nvSpPr>
        <p:spPr>
          <a:xfrm>
            <a:off x="2438335" y="22752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gt003_trz_gt_fin</a:t>
            </a:r>
          </a:p>
        </p:txBody>
      </p:sp>
      <p:sp>
        <p:nvSpPr>
          <p:cNvPr id="80" name="Retângulo 139">
            <a:extLst>
              <a:ext uri="{FF2B5EF4-FFF2-40B4-BE49-F238E27FC236}">
                <a16:creationId xmlns:a16="http://schemas.microsoft.com/office/drawing/2014/main" id="{95FE5204-65D1-4396-CF0C-295C730E7CEC}"/>
              </a:ext>
            </a:extLst>
          </p:cNvPr>
          <p:cNvSpPr/>
          <p:nvPr/>
        </p:nvSpPr>
        <p:spPr>
          <a:xfrm>
            <a:off x="4410743" y="22752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dos bens financeiros, bem como os respetivos atributos desta relação (por exemplo, montantes e datas de cativo).</a:t>
            </a:r>
          </a:p>
        </p:txBody>
      </p:sp>
      <p:sp>
        <p:nvSpPr>
          <p:cNvPr id="83" name="Retângulo 139">
            <a:extLst>
              <a:ext uri="{FF2B5EF4-FFF2-40B4-BE49-F238E27FC236}">
                <a16:creationId xmlns:a16="http://schemas.microsoft.com/office/drawing/2014/main" id="{23AA12A6-DED7-EB74-D529-9FC97261A7E6}"/>
              </a:ext>
            </a:extLst>
          </p:cNvPr>
          <p:cNvSpPr/>
          <p:nvPr/>
        </p:nvSpPr>
        <p:spPr>
          <a:xfrm>
            <a:off x="2438335" y="28944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gt007_trz_gt_pes</a:t>
            </a:r>
          </a:p>
        </p:txBody>
      </p:sp>
      <p:sp>
        <p:nvSpPr>
          <p:cNvPr id="84" name="Retângulo 139">
            <a:extLst>
              <a:ext uri="{FF2B5EF4-FFF2-40B4-BE49-F238E27FC236}">
                <a16:creationId xmlns:a16="http://schemas.microsoft.com/office/drawing/2014/main" id="{69426EC5-EE59-1312-1CB9-D8126ADBC472}"/>
              </a:ext>
            </a:extLst>
          </p:cNvPr>
          <p:cNvSpPr/>
          <p:nvPr/>
        </p:nvSpPr>
        <p:spPr>
          <a:xfrm>
            <a:off x="4410743" y="28944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das garantias pessoais, bem como os respetivos atributos desta relação (por exemplo tipologia de interveniente e % de cobertura). A garantia pessoal, </a:t>
            </a:r>
            <a:r>
              <a:rPr lang="pt-PT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ie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, o id de cliente, é reconhecido pelas base de dados de clientes do banco.</a:t>
            </a:r>
          </a:p>
        </p:txBody>
      </p:sp>
      <p:sp>
        <p:nvSpPr>
          <p:cNvPr id="87" name="Retângulo 139">
            <a:extLst>
              <a:ext uri="{FF2B5EF4-FFF2-40B4-BE49-F238E27FC236}">
                <a16:creationId xmlns:a16="http://schemas.microsoft.com/office/drawing/2014/main" id="{C60AAB56-284B-2014-2FA4-762AF856F278}"/>
              </a:ext>
            </a:extLst>
          </p:cNvPr>
          <p:cNvSpPr/>
          <p:nvPr/>
        </p:nvSpPr>
        <p:spPr>
          <a:xfrm>
            <a:off x="2438335" y="32040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gt008_trz_gt_imv</a:t>
            </a:r>
          </a:p>
        </p:txBody>
      </p:sp>
      <p:sp>
        <p:nvSpPr>
          <p:cNvPr id="88" name="Retângulo 139">
            <a:extLst>
              <a:ext uri="{FF2B5EF4-FFF2-40B4-BE49-F238E27FC236}">
                <a16:creationId xmlns:a16="http://schemas.microsoft.com/office/drawing/2014/main" id="{C9AA3E49-B549-0413-E3B1-F6C28E897FB2}"/>
              </a:ext>
            </a:extLst>
          </p:cNvPr>
          <p:cNvSpPr/>
          <p:nvPr/>
        </p:nvSpPr>
        <p:spPr>
          <a:xfrm>
            <a:off x="4410743" y="32040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Rastreabilidade entre as chaves dos processos e as chaves dos bens imóveis, bem como os respetivos atributos desta relação (por exemplo, % de cobertura).</a:t>
            </a:r>
          </a:p>
        </p:txBody>
      </p:sp>
      <p:sp>
        <p:nvSpPr>
          <p:cNvPr id="91" name="Retângulo 139">
            <a:extLst>
              <a:ext uri="{FF2B5EF4-FFF2-40B4-BE49-F238E27FC236}">
                <a16:creationId xmlns:a16="http://schemas.microsoft.com/office/drawing/2014/main" id="{7AFB4588-BCA4-B29F-23E5-43547A0424EE}"/>
              </a:ext>
            </a:extLst>
          </p:cNvPr>
          <p:cNvSpPr/>
          <p:nvPr/>
        </p:nvSpPr>
        <p:spPr>
          <a:xfrm>
            <a:off x="2438335" y="35136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gt009_bens_imov</a:t>
            </a:r>
          </a:p>
        </p:txBody>
      </p:sp>
      <p:sp>
        <p:nvSpPr>
          <p:cNvPr id="92" name="Retângulo 139">
            <a:extLst>
              <a:ext uri="{FF2B5EF4-FFF2-40B4-BE49-F238E27FC236}">
                <a16:creationId xmlns:a16="http://schemas.microsoft.com/office/drawing/2014/main" id="{9B7F1700-20A0-7B9C-7881-B78C38C8C3E8}"/>
              </a:ext>
            </a:extLst>
          </p:cNvPr>
          <p:cNvSpPr/>
          <p:nvPr/>
        </p:nvSpPr>
        <p:spPr>
          <a:xfrm>
            <a:off x="4410743" y="35136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Informação relativa aos bens imóveis (por exemplo, data, montante, percentagens de obra e construção, localização) (pilar 3).</a:t>
            </a:r>
          </a:p>
        </p:txBody>
      </p:sp>
      <p:sp>
        <p:nvSpPr>
          <p:cNvPr id="95" name="Retângulo 139">
            <a:extLst>
              <a:ext uri="{FF2B5EF4-FFF2-40B4-BE49-F238E27FC236}">
                <a16:creationId xmlns:a16="http://schemas.microsoft.com/office/drawing/2014/main" id="{A6B9963C-A932-41F6-B43C-6B46C0EC70DC}"/>
              </a:ext>
            </a:extLst>
          </p:cNvPr>
          <p:cNvSpPr/>
          <p:nvPr/>
        </p:nvSpPr>
        <p:spPr>
          <a:xfrm>
            <a:off x="2438335" y="38232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gt011_avalc_imov</a:t>
            </a:r>
          </a:p>
        </p:txBody>
      </p:sp>
      <p:sp>
        <p:nvSpPr>
          <p:cNvPr id="96" name="Retângulo 139">
            <a:extLst>
              <a:ext uri="{FF2B5EF4-FFF2-40B4-BE49-F238E27FC236}">
                <a16:creationId xmlns:a16="http://schemas.microsoft.com/office/drawing/2014/main" id="{7A99052A-6CCB-1E48-53AF-1D0085732734}"/>
              </a:ext>
            </a:extLst>
          </p:cNvPr>
          <p:cNvSpPr/>
          <p:nvPr/>
        </p:nvSpPr>
        <p:spPr>
          <a:xfrm>
            <a:off x="4410743" y="38232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Histórico de avaliações dos bens imóveis (incluíndo a </a:t>
            </a:r>
            <a:r>
              <a:rPr lang="pt-PT" sz="90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fonte de aprovisionamento e tipo de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avaliação).</a:t>
            </a:r>
          </a:p>
        </p:txBody>
      </p:sp>
      <p:sp>
        <p:nvSpPr>
          <p:cNvPr id="98" name="Retângulo 139">
            <a:extLst>
              <a:ext uri="{FF2B5EF4-FFF2-40B4-BE49-F238E27FC236}">
                <a16:creationId xmlns:a16="http://schemas.microsoft.com/office/drawing/2014/main" id="{D201D275-63C3-A8E9-8E04-E5A2DDAB3636}"/>
              </a:ext>
            </a:extLst>
          </p:cNvPr>
          <p:cNvSpPr/>
          <p:nvPr/>
        </p:nvSpPr>
        <p:spPr>
          <a:xfrm>
            <a:off x="465927" y="4155902"/>
            <a:ext cx="1871999" cy="3509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>
                <a:solidFill>
                  <a:prstClr val="black"/>
                </a:solidFill>
                <a:latin typeface="Santander Text" panose="020B0504020201020104" pitchFamily="34" charset="0"/>
              </a:rPr>
              <a:t>Relação Responsabilidades e Garantias</a:t>
            </a:r>
          </a:p>
        </p:txBody>
      </p:sp>
      <p:sp>
        <p:nvSpPr>
          <p:cNvPr id="99" name="Retângulo 139">
            <a:extLst>
              <a:ext uri="{FF2B5EF4-FFF2-40B4-BE49-F238E27FC236}">
                <a16:creationId xmlns:a16="http://schemas.microsoft.com/office/drawing/2014/main" id="{A1FC5762-E87D-1900-598E-589EDAE70B2A}"/>
              </a:ext>
            </a:extLst>
          </p:cNvPr>
          <p:cNvSpPr/>
          <p:nvPr/>
        </p:nvSpPr>
        <p:spPr>
          <a:xfrm>
            <a:off x="2438335" y="418769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gt018_rateio_aval</a:t>
            </a:r>
          </a:p>
        </p:txBody>
      </p:sp>
      <p:sp>
        <p:nvSpPr>
          <p:cNvPr id="100" name="Retângulo 139">
            <a:extLst>
              <a:ext uri="{FF2B5EF4-FFF2-40B4-BE49-F238E27FC236}">
                <a16:creationId xmlns:a16="http://schemas.microsoft.com/office/drawing/2014/main" id="{3C4B0310-7494-ADB7-34A5-CDC870D02C7F}"/>
              </a:ext>
            </a:extLst>
          </p:cNvPr>
          <p:cNvSpPr/>
          <p:nvPr/>
        </p:nvSpPr>
        <p:spPr>
          <a:xfrm>
            <a:off x="4410743" y="418769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Relação completa dos contratos, processos e bens, bem como as datas e montantes de avaliação atual e inicial pro-rata destas relações. Adicionalmente, são apresentadas as % de cobertura dos bens pelas relações contrato/processo, bem como vários outros dados.</a:t>
            </a:r>
          </a:p>
        </p:txBody>
      </p:sp>
      <p:sp>
        <p:nvSpPr>
          <p:cNvPr id="102" name="Retângulo 139">
            <a:extLst>
              <a:ext uri="{FF2B5EF4-FFF2-40B4-BE49-F238E27FC236}">
                <a16:creationId xmlns:a16="http://schemas.microsoft.com/office/drawing/2014/main" id="{6A9687E0-EA2C-354B-02ED-6F970FC60806}"/>
              </a:ext>
            </a:extLst>
          </p:cNvPr>
          <p:cNvSpPr/>
          <p:nvPr/>
        </p:nvSpPr>
        <p:spPr>
          <a:xfrm>
            <a:off x="465927" y="4545641"/>
            <a:ext cx="1871999" cy="15185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Interfaces para BDR e IFRS9</a:t>
            </a:r>
          </a:p>
        </p:txBody>
      </p:sp>
      <p:sp>
        <p:nvSpPr>
          <p:cNvPr id="103" name="Retângulo 139">
            <a:extLst>
              <a:ext uri="{FF2B5EF4-FFF2-40B4-BE49-F238E27FC236}">
                <a16:creationId xmlns:a16="http://schemas.microsoft.com/office/drawing/2014/main" id="{FEDC6B89-EF04-D8B0-35F7-D4EA660F1AE4}"/>
              </a:ext>
            </a:extLst>
          </p:cNvPr>
          <p:cNvSpPr/>
          <p:nvPr/>
        </p:nvSpPr>
        <p:spPr>
          <a:xfrm>
            <a:off x="2438335" y="45433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kt_chaves_intrf_grts_biyr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104" name="Retângulo 139">
            <a:extLst>
              <a:ext uri="{FF2B5EF4-FFF2-40B4-BE49-F238E27FC236}">
                <a16:creationId xmlns:a16="http://schemas.microsoft.com/office/drawing/2014/main" id="{ECBABA03-58ED-1729-DAD5-78D096648D21}"/>
              </a:ext>
            </a:extLst>
          </p:cNvPr>
          <p:cNvSpPr/>
          <p:nvPr/>
        </p:nvSpPr>
        <p:spPr>
          <a:xfrm>
            <a:off x="4410743" y="45433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entre as chaves de contrato/processos/bens provenientes do modelo único de garantias e as chaves de reporte nos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outputs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a enviar para IFRS e BDR.</a:t>
            </a:r>
          </a:p>
        </p:txBody>
      </p:sp>
      <p:sp>
        <p:nvSpPr>
          <p:cNvPr id="107" name="Retângulo 139">
            <a:extLst>
              <a:ext uri="{FF2B5EF4-FFF2-40B4-BE49-F238E27FC236}">
                <a16:creationId xmlns:a16="http://schemas.microsoft.com/office/drawing/2014/main" id="{BA5207FD-792F-A714-4A63-D0F844B8B638}"/>
              </a:ext>
            </a:extLst>
          </p:cNvPr>
          <p:cNvSpPr/>
          <p:nvPr/>
        </p:nvSpPr>
        <p:spPr>
          <a:xfrm>
            <a:off x="2438335" y="51625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gt015_report_biyr9500</a:t>
            </a:r>
          </a:p>
        </p:txBody>
      </p:sp>
      <p:sp>
        <p:nvSpPr>
          <p:cNvPr id="108" name="Retângulo 139">
            <a:extLst>
              <a:ext uri="{FF2B5EF4-FFF2-40B4-BE49-F238E27FC236}">
                <a16:creationId xmlns:a16="http://schemas.microsoft.com/office/drawing/2014/main" id="{1DC0DED7-239F-73B0-B0B5-572C913E68C4}"/>
              </a:ext>
            </a:extLst>
          </p:cNvPr>
          <p:cNvSpPr/>
          <p:nvPr/>
        </p:nvSpPr>
        <p:spPr>
          <a:xfrm>
            <a:off x="4410743" y="51625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a relação entre as chaves dos contratos e a chave dos processos/bens bem como os respetivos atributos desta relação.</a:t>
            </a:r>
          </a:p>
        </p:txBody>
      </p:sp>
      <p:sp>
        <p:nvSpPr>
          <p:cNvPr id="111" name="Retângulo 139">
            <a:extLst>
              <a:ext uri="{FF2B5EF4-FFF2-40B4-BE49-F238E27FC236}">
                <a16:creationId xmlns:a16="http://schemas.microsoft.com/office/drawing/2014/main" id="{47BCF856-EDC7-20B6-BC22-378DFD143A5F}"/>
              </a:ext>
            </a:extLst>
          </p:cNvPr>
          <p:cNvSpPr/>
          <p:nvPr/>
        </p:nvSpPr>
        <p:spPr>
          <a:xfrm>
            <a:off x="2438335" y="54721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gt016_report_biyr9510</a:t>
            </a:r>
          </a:p>
        </p:txBody>
      </p:sp>
      <p:sp>
        <p:nvSpPr>
          <p:cNvPr id="112" name="Retângulo 139">
            <a:extLst>
              <a:ext uri="{FF2B5EF4-FFF2-40B4-BE49-F238E27FC236}">
                <a16:creationId xmlns:a16="http://schemas.microsoft.com/office/drawing/2014/main" id="{6AF5E38F-4171-7C09-AFD0-8CF6020F0C6A}"/>
              </a:ext>
            </a:extLst>
          </p:cNvPr>
          <p:cNvSpPr/>
          <p:nvPr/>
        </p:nvSpPr>
        <p:spPr>
          <a:xfrm>
            <a:off x="4410743" y="54721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atributos sobre os processos de bens reais, i.e., financeiros e imóveis.</a:t>
            </a:r>
          </a:p>
        </p:txBody>
      </p:sp>
      <p:sp>
        <p:nvSpPr>
          <p:cNvPr id="115" name="Retângulo 139">
            <a:extLst>
              <a:ext uri="{FF2B5EF4-FFF2-40B4-BE49-F238E27FC236}">
                <a16:creationId xmlns:a16="http://schemas.microsoft.com/office/drawing/2014/main" id="{570FB717-1278-9A93-E1EA-E739E3D527B1}"/>
              </a:ext>
            </a:extLst>
          </p:cNvPr>
          <p:cNvSpPr/>
          <p:nvPr/>
        </p:nvSpPr>
        <p:spPr>
          <a:xfrm>
            <a:off x="2438335" y="57817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gt017_report_biyr9520</a:t>
            </a:r>
          </a:p>
        </p:txBody>
      </p:sp>
      <p:sp>
        <p:nvSpPr>
          <p:cNvPr id="116" name="Retângulo 139">
            <a:extLst>
              <a:ext uri="{FF2B5EF4-FFF2-40B4-BE49-F238E27FC236}">
                <a16:creationId xmlns:a16="http://schemas.microsoft.com/office/drawing/2014/main" id="{211D4702-2B15-4EBE-F748-5914CE51A285}"/>
              </a:ext>
            </a:extLst>
          </p:cNvPr>
          <p:cNvSpPr/>
          <p:nvPr/>
        </p:nvSpPr>
        <p:spPr>
          <a:xfrm>
            <a:off x="4410743" y="57817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Tabela de </a:t>
            </a:r>
            <a:r>
              <a:rPr lang="pt-PT" sz="9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output 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com o detalhe da avaliação mais recente dos processos de bens reais, i.e., financeiros e imóveis.</a:t>
            </a:r>
          </a:p>
        </p:txBody>
      </p:sp>
      <p:sp>
        <p:nvSpPr>
          <p:cNvPr id="2" name="Retângulo 139">
            <a:extLst>
              <a:ext uri="{FF2B5EF4-FFF2-40B4-BE49-F238E27FC236}">
                <a16:creationId xmlns:a16="http://schemas.microsoft.com/office/drawing/2014/main" id="{D8BAC977-F8C6-ED4E-6C8D-B720177043DD}"/>
              </a:ext>
            </a:extLst>
          </p:cNvPr>
          <p:cNvSpPr/>
          <p:nvPr/>
        </p:nvSpPr>
        <p:spPr>
          <a:xfrm>
            <a:off x="2438335" y="4852973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kt_chaves_bdr_biengar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Retângulo 139">
            <a:extLst>
              <a:ext uri="{FF2B5EF4-FFF2-40B4-BE49-F238E27FC236}">
                <a16:creationId xmlns:a16="http://schemas.microsoft.com/office/drawing/2014/main" id="{8699BF3C-8916-3B88-1503-2E40590CF72A}"/>
              </a:ext>
            </a:extLst>
          </p:cNvPr>
          <p:cNvSpPr/>
          <p:nvPr/>
        </p:nvSpPr>
        <p:spPr>
          <a:xfrm>
            <a:off x="4410743" y="4852973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entre as chaves de contrato/processos no MUG e diretamente as da BDR (tabela </a:t>
            </a:r>
            <a:r>
              <a:rPr lang="pt-PT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jm_garan_cto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).</a:t>
            </a:r>
          </a:p>
        </p:txBody>
      </p:sp>
      <p:sp>
        <p:nvSpPr>
          <p:cNvPr id="7" name="Retângulo 139">
            <a:extLst>
              <a:ext uri="{FF2B5EF4-FFF2-40B4-BE49-F238E27FC236}">
                <a16:creationId xmlns:a16="http://schemas.microsoft.com/office/drawing/2014/main" id="{419C0185-DF68-63B3-862D-D5AA7BBD5211}"/>
              </a:ext>
            </a:extLst>
          </p:cNvPr>
          <p:cNvSpPr/>
          <p:nvPr/>
        </p:nvSpPr>
        <p:spPr>
          <a:xfrm>
            <a:off x="2438335" y="1346628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kt_chaves_bens_gt</a:t>
            </a:r>
            <a:endParaRPr lang="pt-PT" sz="1000" dirty="0">
              <a:solidFill>
                <a:schemeClr val="tx1">
                  <a:lumMod val="95000"/>
                  <a:lumOff val="5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Retângulo 139">
            <a:extLst>
              <a:ext uri="{FF2B5EF4-FFF2-40B4-BE49-F238E27FC236}">
                <a16:creationId xmlns:a16="http://schemas.microsoft.com/office/drawing/2014/main" id="{DDE8DCD1-AF8A-4014-DD07-4F2322EFFEB7}"/>
              </a:ext>
            </a:extLst>
          </p:cNvPr>
          <p:cNvSpPr/>
          <p:nvPr/>
        </p:nvSpPr>
        <p:spPr>
          <a:xfrm>
            <a:off x="4410743" y="1346628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Rosetta</a:t>
            </a:r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 entre os bens provenientes dos sistemas de origem; e os bens/garantes nas várias tabelas do MUG.</a:t>
            </a:r>
          </a:p>
        </p:txBody>
      </p:sp>
      <p:sp>
        <p:nvSpPr>
          <p:cNvPr id="9" name="Retângulo 139">
            <a:extLst>
              <a:ext uri="{FF2B5EF4-FFF2-40B4-BE49-F238E27FC236}">
                <a16:creationId xmlns:a16="http://schemas.microsoft.com/office/drawing/2014/main" id="{322C3431-5415-658A-F43C-E66DF50ECEC4}"/>
              </a:ext>
            </a:extLst>
          </p:cNvPr>
          <p:cNvSpPr/>
          <p:nvPr/>
        </p:nvSpPr>
        <p:spPr>
          <a:xfrm>
            <a:off x="2438335" y="2584800"/>
            <a:ext cx="1871999" cy="28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pt-PT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gt004_bens_fin</a:t>
            </a:r>
          </a:p>
        </p:txBody>
      </p:sp>
      <p:sp>
        <p:nvSpPr>
          <p:cNvPr id="10" name="Retângulo 139">
            <a:extLst>
              <a:ext uri="{FF2B5EF4-FFF2-40B4-BE49-F238E27FC236}">
                <a16:creationId xmlns:a16="http://schemas.microsoft.com/office/drawing/2014/main" id="{0F7D4194-A313-515A-85BE-AFA81C31B520}"/>
              </a:ext>
            </a:extLst>
          </p:cNvPr>
          <p:cNvSpPr/>
          <p:nvPr/>
        </p:nvSpPr>
        <p:spPr>
          <a:xfrm>
            <a:off x="4410743" y="2584800"/>
            <a:ext cx="7315330" cy="28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 anchorCtr="0"/>
          <a:lstStyle/>
          <a:p>
            <a:r>
              <a:rPr lang="pt-PT" sz="900" dirty="0">
                <a:solidFill>
                  <a:schemeClr val="tx1">
                    <a:lumMod val="95000"/>
                    <a:lumOff val="5000"/>
                  </a:schemeClr>
                </a:solidFill>
                <a:latin typeface="Santander Text" panose="020B0504020201020104" pitchFamily="34" charset="0"/>
              </a:rPr>
              <a:t>Informação de garantias relativa aos bens financeiros.</a:t>
            </a:r>
          </a:p>
        </p:txBody>
      </p:sp>
    </p:spTree>
    <p:extLst>
      <p:ext uri="{BB962C8B-B14F-4D97-AF65-F5344CB8AC3E}">
        <p14:creationId xmlns:p14="http://schemas.microsoft.com/office/powerpoint/2010/main" val="1641005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>
              <a:lumMod val="50000"/>
            </a:schemeClr>
          </a:solidFill>
        </a:ln>
      </a:spPr>
      <a:bodyPr rtlCol="0" anchor="t" anchorCtr="0"/>
      <a:lstStyle>
        <a:defPPr algn="l">
          <a:defRPr sz="900" dirty="0">
            <a:solidFill>
              <a:schemeClr val="tx1">
                <a:lumMod val="95000"/>
                <a:lumOff val="5000"/>
              </a:schemeClr>
            </a:solidFill>
            <a:latin typeface="Santander Text" panose="020B05040202010201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15" ma:contentTypeDescription="Criar um novo documento." ma:contentTypeScope="" ma:versionID="8db3e51ff383a43861a5d1f07e667c34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bcb8704c57621d9f6e4b3e5704f28dd7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7CB2EE5-A812-4D02-8801-B86592DCB2A7}"/>
</file>

<file path=customXml/itemProps2.xml><?xml version="1.0" encoding="utf-8"?>
<ds:datastoreItem xmlns:ds="http://schemas.openxmlformats.org/officeDocument/2006/customXml" ds:itemID="{A8078B1A-6734-41A6-835A-A81F504B6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234115-B5C9-42A5-AB96-FCB1B2BFF1B1}">
  <ds:schemaRefs>
    <ds:schemaRef ds:uri="http://schemas.microsoft.com/office/infopath/2007/PartnerControls"/>
    <ds:schemaRef ds:uri="http://www.w3.org/XML/1998/namespace"/>
    <ds:schemaRef ds:uri="a9b50dc7-8f72-473c-8b7e-4a8c46ecad32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7b1ec8e5-5652-48eb-8550-a56a35f5f817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2576</TotalTime>
  <Words>2003</Words>
  <Application>Microsoft Office PowerPoint</Application>
  <PresentationFormat>Widescreen</PresentationFormat>
  <Paragraphs>343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Santander Text</vt:lpstr>
      <vt:lpstr>Times New Roman</vt:lpstr>
      <vt:lpstr>Tema do Office</vt:lpstr>
      <vt:lpstr>Diapositiva de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Luis Afonso Capitão-Mor Costa Silva</dc:creator>
  <cp:lastModifiedBy>Marta Rafaela Teixeira Nunes</cp:lastModifiedBy>
  <cp:revision>250</cp:revision>
  <cp:lastPrinted>2019-07-25T17:04:52Z</cp:lastPrinted>
  <dcterms:created xsi:type="dcterms:W3CDTF">2019-07-14T08:20:24Z</dcterms:created>
  <dcterms:modified xsi:type="dcterms:W3CDTF">2024-05-28T08:58:25Z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2023-05-04T13:45:21Z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edabaa88-6ee1-4b74-b5a2-841c6fd05250</vt:lpwstr>
  </property>
  <property fmtid="{D5CDD505-2E9C-101B-9397-08002B2CF9AE}" pid="9" name="MSIP_Label_0c2abd79-57a9-4473-8700-c843f76a1e37_ContentBits">
    <vt:lpwstr>0</vt:lpwstr>
  </property>
  <property fmtid="{D5CDD505-2E9C-101B-9397-08002B2CF9AE}" pid="10" name="MediaServiceImageTags">
    <vt:lpwstr/>
  </property>
</Properties>
</file>