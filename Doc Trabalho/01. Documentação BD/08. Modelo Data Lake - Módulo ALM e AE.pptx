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app.xml" ContentType="application/vnd.openxmlformats-officedocument.extended-properties+xml"/>
  <Override PartName="/ppt/tags/tag3.xml" ContentType="application/vnd.openxmlformats-officedocument.presentationml.tag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ags/tag4.xml" ContentType="application/vnd.openxmlformats-officedocument.presentationml.tag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  <p:sldMasterId id="2147483648" r:id="rId2"/>
  </p:sldMasterIdLst>
  <p:notesMasterIdLst>
    <p:notesMasterId r:id="rId10"/>
  </p:notesMasterIdLst>
  <p:sldIdLst>
    <p:sldId id="256" r:id="rId3"/>
    <p:sldId id="261" r:id="rId4"/>
    <p:sldId id="257" r:id="rId5"/>
    <p:sldId id="260" r:id="rId6"/>
    <p:sldId id="262" r:id="rId7"/>
    <p:sldId id="263" r:id="rId8"/>
    <p:sldId id="2146846986" r:id="rId9"/>
  </p:sldIdLst>
  <p:sldSz cx="12192000" cy="6858000"/>
  <p:notesSz cx="6858000" cy="9926638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7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82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439C3D-7140-4AC1-B89C-7A2D8353CAF0}" type="datetimeFigureOut">
              <a:rPr lang="pt-PT" smtClean="0"/>
              <a:t>07/01/2023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76788"/>
            <a:ext cx="5486400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BBE38-930C-43F4-9C27-5836F7E5E90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7000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4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730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5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860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6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891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4.sv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07/01/2023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363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07/01/2023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2804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07/01/2023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646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07/01/2023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125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07/01/2023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24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07/01/2023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053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07/01/2023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566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07/01/2023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639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07/01/2023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3152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07/01/2023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4827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07/01/2023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3525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 dirty="0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456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90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087459"/>
            <a:ext cx="5297557" cy="1606047"/>
          </a:xfrm>
        </p:spPr>
        <p:txBody>
          <a:bodyPr anchor="t">
            <a:normAutofit/>
          </a:bodyPr>
          <a:lstStyle>
            <a:lvl1pPr>
              <a:defRPr sz="3481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3" y="6262328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79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2070" indent="0">
              <a:buFontTx/>
              <a:buNone/>
              <a:defRPr sz="1064"/>
            </a:lvl2pPr>
            <a:lvl3pPr marL="884139" indent="0">
              <a:buFontTx/>
              <a:buNone/>
              <a:defRPr sz="1015"/>
            </a:lvl3pPr>
            <a:lvl4pPr marL="1326209" indent="0">
              <a:buFontTx/>
              <a:buNone/>
              <a:defRPr sz="967"/>
            </a:lvl4pPr>
            <a:lvl5pPr marL="1768278" indent="0">
              <a:buFontTx/>
              <a:buNone/>
              <a:defRPr sz="967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3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07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13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20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278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2" y="1087458"/>
            <a:ext cx="5081004" cy="50895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07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13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20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278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5813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D5852-A4B5-47A6-9569-F6EE586DBBB4}" type="datetimeFigureOut">
              <a:rPr lang="pt-PT" smtClean="0"/>
              <a:t>07/01/2023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08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/>
              <a:t>Editar os estilos de texto do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1.svg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sv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1.svg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sv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1.svg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sv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tângulo 331"/>
          <p:cNvSpPr/>
          <p:nvPr/>
        </p:nvSpPr>
        <p:spPr>
          <a:xfrm>
            <a:off x="2893345" y="424983"/>
            <a:ext cx="9117489" cy="5975121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cxnSp>
        <p:nvCxnSpPr>
          <p:cNvPr id="409" name="Conexão em ângulos retos 408"/>
          <p:cNvCxnSpPr>
            <a:stCxn id="244" idx="3"/>
            <a:endCxn id="412" idx="3"/>
          </p:cNvCxnSpPr>
          <p:nvPr/>
        </p:nvCxnSpPr>
        <p:spPr>
          <a:xfrm flipV="1">
            <a:off x="7065561" y="2976730"/>
            <a:ext cx="224083" cy="321036"/>
          </a:xfrm>
          <a:prstGeom prst="bentConnector3">
            <a:avLst>
              <a:gd name="adj1" fmla="val 217982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onexão em ângulos retos 317"/>
          <p:cNvCxnSpPr>
            <a:stCxn id="222" idx="1"/>
            <a:endCxn id="412" idx="3"/>
          </p:cNvCxnSpPr>
          <p:nvPr/>
        </p:nvCxnSpPr>
        <p:spPr>
          <a:xfrm rot="10800000">
            <a:off x="7289645" y="2976730"/>
            <a:ext cx="399603" cy="1950206"/>
          </a:xfrm>
          <a:prstGeom prst="bentConnector3">
            <a:avLst>
              <a:gd name="adj1" fmla="val 34035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exão em ângulos retos 177"/>
          <p:cNvCxnSpPr>
            <a:stCxn id="95" idx="3"/>
            <a:endCxn id="200" idx="2"/>
          </p:cNvCxnSpPr>
          <p:nvPr/>
        </p:nvCxnSpPr>
        <p:spPr>
          <a:xfrm flipV="1">
            <a:off x="2384587" y="3082537"/>
            <a:ext cx="6289577" cy="1062533"/>
          </a:xfrm>
          <a:prstGeom prst="bentConnector2">
            <a:avLst/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exão em ângulos retos 281"/>
          <p:cNvCxnSpPr>
            <a:stCxn id="95" idx="3"/>
            <a:endCxn id="228" idx="2"/>
          </p:cNvCxnSpPr>
          <p:nvPr/>
        </p:nvCxnSpPr>
        <p:spPr>
          <a:xfrm flipV="1">
            <a:off x="2384587" y="3084123"/>
            <a:ext cx="8493715" cy="1060947"/>
          </a:xfrm>
          <a:prstGeom prst="bentConnector2">
            <a:avLst/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Conexão em ângulos retos 400"/>
          <p:cNvCxnSpPr>
            <a:stCxn id="252" idx="3"/>
          </p:cNvCxnSpPr>
          <p:nvPr/>
        </p:nvCxnSpPr>
        <p:spPr>
          <a:xfrm flipV="1">
            <a:off x="2458637" y="2847932"/>
            <a:ext cx="2828912" cy="245433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 6"/>
          <p:cNvSpPr/>
          <p:nvPr/>
        </p:nvSpPr>
        <p:spPr>
          <a:xfrm>
            <a:off x="7494986" y="2925889"/>
            <a:ext cx="2311602" cy="7270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6" name="Grupo 15"/>
          <p:cNvGrpSpPr/>
          <p:nvPr/>
        </p:nvGrpSpPr>
        <p:grpSpPr>
          <a:xfrm>
            <a:off x="5312523" y="1907337"/>
            <a:ext cx="1980003" cy="1186382"/>
            <a:chOff x="7152198" y="2278064"/>
            <a:chExt cx="1980003" cy="1186382"/>
          </a:xfrm>
        </p:grpSpPr>
        <p:sp>
          <p:nvSpPr>
            <p:cNvPr id="4" name="Retângulo 3"/>
            <p:cNvSpPr/>
            <p:nvPr/>
          </p:nvSpPr>
          <p:spPr>
            <a:xfrm>
              <a:off x="7152201" y="2587352"/>
              <a:ext cx="1980000" cy="8770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7152200" y="2278064"/>
              <a:ext cx="189011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(AL) Core ms. </a:t>
              </a:r>
              <a:r>
                <a:rPr lang="pt-PT" sz="1000" dirty="0"/>
                <a:t>(al029)</a:t>
              </a:r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7152198" y="2587600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/>
                <a:t>Contrato ALM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27" name="CaixaDeTexto 26"/>
            <p:cNvSpPr txBox="1"/>
            <p:nvPr/>
          </p:nvSpPr>
          <p:spPr>
            <a:xfrm>
              <a:off x="7152199" y="2787954"/>
              <a:ext cx="1972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8" name="CaixaDeTexto 27"/>
            <p:cNvSpPr txBox="1"/>
            <p:nvPr/>
          </p:nvSpPr>
          <p:spPr>
            <a:xfrm>
              <a:off x="7152199" y="2984200"/>
              <a:ext cx="1972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Tipo Balanço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tipo_balanco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7152199" y="3182698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sp>
        <p:nvSpPr>
          <p:cNvPr id="95" name="CaixaDeTexto 94"/>
          <p:cNvSpPr txBox="1"/>
          <p:nvPr/>
        </p:nvSpPr>
        <p:spPr>
          <a:xfrm>
            <a:off x="156758" y="3991181"/>
            <a:ext cx="222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grpSp>
        <p:nvGrpSpPr>
          <p:cNvPr id="38" name="Grupo 37"/>
          <p:cNvGrpSpPr/>
          <p:nvPr/>
        </p:nvGrpSpPr>
        <p:grpSpPr>
          <a:xfrm>
            <a:off x="7676738" y="494035"/>
            <a:ext cx="1531223" cy="992223"/>
            <a:chOff x="7549736" y="781901"/>
            <a:chExt cx="1531223" cy="992223"/>
          </a:xfrm>
        </p:grpSpPr>
        <p:sp>
          <p:nvSpPr>
            <p:cNvPr id="355" name="Retângulo 354"/>
            <p:cNvSpPr/>
            <p:nvPr/>
          </p:nvSpPr>
          <p:spPr>
            <a:xfrm>
              <a:off x="7549736" y="788440"/>
              <a:ext cx="1531223" cy="985684"/>
            </a:xfrm>
            <a:prstGeom prst="rect">
              <a:avLst/>
            </a:prstGeom>
            <a:solidFill>
              <a:schemeClr val="bg1">
                <a:lumMod val="5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/>
            </a:p>
          </p:txBody>
        </p:sp>
        <p:sp>
          <p:nvSpPr>
            <p:cNvPr id="375" name="Retângulo 374"/>
            <p:cNvSpPr/>
            <p:nvPr/>
          </p:nvSpPr>
          <p:spPr>
            <a:xfrm>
              <a:off x="7733523" y="1075432"/>
              <a:ext cx="1143021" cy="5926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78" name="CaixaDeTexto 377"/>
            <p:cNvSpPr txBox="1"/>
            <p:nvPr/>
          </p:nvSpPr>
          <p:spPr>
            <a:xfrm>
              <a:off x="7733432" y="1060816"/>
              <a:ext cx="104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Entidade</a:t>
              </a:r>
            </a:p>
          </p:txBody>
        </p:sp>
        <p:sp>
          <p:nvSpPr>
            <p:cNvPr id="379" name="CaixaDeTexto 378"/>
            <p:cNvSpPr txBox="1"/>
            <p:nvPr/>
          </p:nvSpPr>
          <p:spPr>
            <a:xfrm>
              <a:off x="7733432" y="1240340"/>
              <a:ext cx="104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Perímetro</a:t>
              </a:r>
            </a:p>
          </p:txBody>
        </p:sp>
        <p:sp>
          <p:nvSpPr>
            <p:cNvPr id="380" name="CaixaDeTexto 379"/>
            <p:cNvSpPr txBox="1"/>
            <p:nvPr/>
          </p:nvSpPr>
          <p:spPr>
            <a:xfrm>
              <a:off x="7735037" y="1420816"/>
              <a:ext cx="104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</a:p>
          </p:txBody>
        </p:sp>
        <p:sp>
          <p:nvSpPr>
            <p:cNvPr id="376" name="CaixaDeTexto 375"/>
            <p:cNvSpPr txBox="1"/>
            <p:nvPr/>
          </p:nvSpPr>
          <p:spPr>
            <a:xfrm>
              <a:off x="7770896" y="781901"/>
              <a:ext cx="1074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Filtros</a:t>
              </a:r>
            </a:p>
          </p:txBody>
        </p:sp>
      </p:grpSp>
      <p:grpSp>
        <p:nvGrpSpPr>
          <p:cNvPr id="107" name="Grupo 106"/>
          <p:cNvGrpSpPr/>
          <p:nvPr/>
        </p:nvGrpSpPr>
        <p:grpSpPr>
          <a:xfrm>
            <a:off x="577336" y="2263406"/>
            <a:ext cx="1903643" cy="782951"/>
            <a:chOff x="577336" y="1514244"/>
            <a:chExt cx="1903643" cy="782951"/>
          </a:xfrm>
        </p:grpSpPr>
        <p:sp>
          <p:nvSpPr>
            <p:cNvPr id="86" name="Retângulo 85"/>
            <p:cNvSpPr/>
            <p:nvPr/>
          </p:nvSpPr>
          <p:spPr>
            <a:xfrm>
              <a:off x="578282" y="1824071"/>
              <a:ext cx="1854000" cy="447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87" name="CaixaDeTexto 86"/>
            <p:cNvSpPr txBox="1"/>
            <p:nvPr/>
          </p:nvSpPr>
          <p:spPr>
            <a:xfrm>
              <a:off x="577336" y="1514244"/>
              <a:ext cx="19036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(AU) Clientes </a:t>
              </a:r>
              <a:r>
                <a:rPr lang="pt-PT" sz="1000" dirty="0"/>
                <a:t>(ct003)</a:t>
              </a:r>
            </a:p>
          </p:txBody>
        </p:sp>
        <p:sp>
          <p:nvSpPr>
            <p:cNvPr id="88" name="CaixaDeTexto 87"/>
            <p:cNvSpPr txBox="1"/>
            <p:nvPr/>
          </p:nvSpPr>
          <p:spPr>
            <a:xfrm>
              <a:off x="577688" y="1821771"/>
              <a:ext cx="185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Cliente Universo </a:t>
              </a:r>
              <a:r>
                <a:rPr lang="pt-PT" sz="1200" baseline="30000" dirty="0"/>
                <a:t>(1)</a:t>
              </a:r>
              <a:r>
                <a:rPr lang="pt-PT" sz="800" dirty="0"/>
                <a:t> (</a:t>
              </a:r>
              <a:r>
                <a:rPr lang="pt-PT" sz="800" dirty="0" err="1"/>
                <a:t>zcliente</a:t>
              </a:r>
              <a:r>
                <a:rPr lang="pt-PT" sz="800" dirty="0"/>
                <a:t>)</a:t>
              </a:r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577687" y="2020196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sp>
        <p:nvSpPr>
          <p:cNvPr id="102" name="CaixaDeTexto 101"/>
          <p:cNvSpPr txBox="1"/>
          <p:nvPr/>
        </p:nvSpPr>
        <p:spPr>
          <a:xfrm>
            <a:off x="2895608" y="6400104"/>
            <a:ext cx="892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aseline="30000" dirty="0"/>
              <a:t>(1)</a:t>
            </a:r>
            <a:r>
              <a:rPr lang="pt-PT" sz="1200" dirty="0"/>
              <a:t> Um contrato ALM pode corresponder a um ou mais contratos do universo, e vice-versa; havendo pois relações 1x1, 1xn e nx1. </a:t>
            </a:r>
            <a:endParaRPr lang="pt-PT" sz="1200" baseline="30000" dirty="0"/>
          </a:p>
        </p:txBody>
      </p:sp>
      <p:sp>
        <p:nvSpPr>
          <p:cNvPr id="127" name="CaixaDeTexto 126"/>
          <p:cNvSpPr txBox="1"/>
          <p:nvPr/>
        </p:nvSpPr>
        <p:spPr>
          <a:xfrm>
            <a:off x="245912" y="0"/>
            <a:ext cx="662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FF0000"/>
                </a:solidFill>
              </a:rPr>
              <a:t>MODELO RELACIONAL - ALM (DATA LAKE) – Módulo Core (Mensal)</a:t>
            </a:r>
          </a:p>
        </p:txBody>
      </p:sp>
      <p:grpSp>
        <p:nvGrpSpPr>
          <p:cNvPr id="106" name="Grupo 105"/>
          <p:cNvGrpSpPr/>
          <p:nvPr/>
        </p:nvGrpSpPr>
        <p:grpSpPr>
          <a:xfrm>
            <a:off x="3005692" y="1449543"/>
            <a:ext cx="2240442" cy="973043"/>
            <a:chOff x="3005692" y="2237560"/>
            <a:chExt cx="2240442" cy="973043"/>
          </a:xfrm>
        </p:grpSpPr>
        <p:sp>
          <p:nvSpPr>
            <p:cNvPr id="231" name="Retângulo 230"/>
            <p:cNvSpPr/>
            <p:nvPr/>
          </p:nvSpPr>
          <p:spPr>
            <a:xfrm>
              <a:off x="3005966" y="2546944"/>
              <a:ext cx="1998230" cy="6481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32" name="CaixaDeTexto 231"/>
            <p:cNvSpPr txBox="1"/>
            <p:nvPr/>
          </p:nvSpPr>
          <p:spPr>
            <a:xfrm>
              <a:off x="3005966" y="2237560"/>
              <a:ext cx="2240168" cy="307777"/>
            </a:xfrm>
            <a:prstGeom prst="rect">
              <a:avLst/>
            </a:prstGeom>
            <a:noFill/>
          </p:spPr>
          <p:txBody>
            <a:bodyPr wrap="square" lIns="36000" rIns="0" rtlCol="0">
              <a:spAutoFit/>
            </a:bodyPr>
            <a:lstStyle/>
            <a:p>
              <a:r>
                <a:rPr lang="pt-PT" sz="1400" b="1" dirty="0"/>
                <a:t>(AL) Tradutor </a:t>
              </a:r>
              <a:r>
                <a:rPr lang="pt-PT" sz="1000" dirty="0"/>
                <a:t>(</a:t>
              </a:r>
              <a:r>
                <a:rPr lang="pt-PT" sz="1000" dirty="0" err="1"/>
                <a:t>kt_chaves_alm_m</a:t>
              </a:r>
              <a:r>
                <a:rPr lang="pt-PT" sz="1000" dirty="0"/>
                <a:t>)</a:t>
              </a:r>
            </a:p>
          </p:txBody>
        </p:sp>
        <p:sp>
          <p:nvSpPr>
            <p:cNvPr id="233" name="CaixaDeTexto 232"/>
            <p:cNvSpPr txBox="1"/>
            <p:nvPr/>
          </p:nvSpPr>
          <p:spPr>
            <a:xfrm>
              <a:off x="3005965" y="2538382"/>
              <a:ext cx="1990800" cy="277200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 err="1"/>
                <a:t>Contr</a:t>
              </a:r>
              <a:r>
                <a:rPr lang="pt-PT" sz="1200" dirty="0"/>
                <a:t>. ALM </a:t>
              </a:r>
              <a:r>
                <a:rPr lang="pt-PT" sz="1200" baseline="30000" dirty="0"/>
                <a:t>(1)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234" name="CaixaDeTexto 233"/>
            <p:cNvSpPr txBox="1"/>
            <p:nvPr/>
          </p:nvSpPr>
          <p:spPr>
            <a:xfrm>
              <a:off x="3005965" y="2933604"/>
              <a:ext cx="1447812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35" name="CaixaDeTexto 234"/>
            <p:cNvSpPr txBox="1"/>
            <p:nvPr/>
          </p:nvSpPr>
          <p:spPr>
            <a:xfrm>
              <a:off x="3005692" y="2735604"/>
              <a:ext cx="2016000" cy="277200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Contr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Univ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cempresa_master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… 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zdep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.)</a:t>
              </a:r>
            </a:p>
          </p:txBody>
        </p:sp>
      </p:grpSp>
      <p:cxnSp>
        <p:nvCxnSpPr>
          <p:cNvPr id="310" name="Conexão em ângulos retos 309"/>
          <p:cNvCxnSpPr>
            <a:stCxn id="26" idx="1"/>
            <a:endCxn id="233" idx="3"/>
          </p:cNvCxnSpPr>
          <p:nvPr/>
        </p:nvCxnSpPr>
        <p:spPr>
          <a:xfrm rot="10800000">
            <a:off x="4996765" y="1888965"/>
            <a:ext cx="315758" cy="46640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upo 163"/>
          <p:cNvGrpSpPr/>
          <p:nvPr/>
        </p:nvGrpSpPr>
        <p:grpSpPr>
          <a:xfrm>
            <a:off x="576000" y="3196658"/>
            <a:ext cx="1854003" cy="1365661"/>
            <a:chOff x="580789" y="3810640"/>
            <a:chExt cx="1854003" cy="1365661"/>
          </a:xfrm>
        </p:grpSpPr>
        <p:sp>
          <p:nvSpPr>
            <p:cNvPr id="339" name="Retângulo 338"/>
            <p:cNvSpPr/>
            <p:nvPr/>
          </p:nvSpPr>
          <p:spPr>
            <a:xfrm>
              <a:off x="580792" y="4126845"/>
              <a:ext cx="1854000" cy="101547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40" name="CaixaDeTexto 339"/>
            <p:cNvSpPr txBox="1"/>
            <p:nvPr/>
          </p:nvSpPr>
          <p:spPr>
            <a:xfrm>
              <a:off x="584986" y="3810640"/>
              <a:ext cx="18015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(UN) Saldos ms. </a:t>
              </a:r>
              <a:r>
                <a:rPr lang="pt-PT" sz="1000" dirty="0"/>
                <a:t>(ct001)</a:t>
              </a:r>
            </a:p>
          </p:txBody>
        </p:sp>
        <p:sp>
          <p:nvSpPr>
            <p:cNvPr id="341" name="CaixaDeTexto 340"/>
            <p:cNvSpPr txBox="1"/>
            <p:nvPr/>
          </p:nvSpPr>
          <p:spPr>
            <a:xfrm>
              <a:off x="580789" y="4106435"/>
              <a:ext cx="1854000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 err="1"/>
                <a:t>Contr</a:t>
              </a:r>
              <a:r>
                <a:rPr lang="pt-PT" sz="1200" dirty="0"/>
                <a:t>. </a:t>
              </a:r>
              <a:r>
                <a:rPr lang="pt-PT" sz="1200" dirty="0" err="1"/>
                <a:t>Univ</a:t>
              </a:r>
              <a:r>
                <a:rPr lang="pt-PT" sz="1200" dirty="0"/>
                <a:t>.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342" name="CaixaDeTexto 341"/>
            <p:cNvSpPr txBox="1"/>
            <p:nvPr/>
          </p:nvSpPr>
          <p:spPr>
            <a:xfrm>
              <a:off x="580789" y="4305302"/>
              <a:ext cx="185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 Universo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343" name="CaixaDeTexto 342"/>
            <p:cNvSpPr txBox="1"/>
            <p:nvPr/>
          </p:nvSpPr>
          <p:spPr>
            <a:xfrm>
              <a:off x="580789" y="4899302"/>
              <a:ext cx="17608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344" name="CaixaDeTexto 343"/>
            <p:cNvSpPr txBox="1"/>
            <p:nvPr/>
          </p:nvSpPr>
          <p:spPr>
            <a:xfrm>
              <a:off x="580797" y="4503302"/>
              <a:ext cx="17645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Conta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contab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ccontab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_*)</a:t>
              </a:r>
            </a:p>
          </p:txBody>
        </p:sp>
        <p:sp>
          <p:nvSpPr>
            <p:cNvPr id="345" name="CaixaDeTexto 344"/>
            <p:cNvSpPr txBox="1"/>
            <p:nvPr/>
          </p:nvSpPr>
          <p:spPr>
            <a:xfrm>
              <a:off x="580827" y="4701302"/>
              <a:ext cx="1759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Sociedade_contraparte</a:t>
              </a:r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cxnSp>
        <p:nvCxnSpPr>
          <p:cNvPr id="347" name="Conexão em ângulos retos 346"/>
          <p:cNvCxnSpPr>
            <a:stCxn id="341" idx="3"/>
            <a:endCxn id="235" idx="1"/>
          </p:cNvCxnSpPr>
          <p:nvPr/>
        </p:nvCxnSpPr>
        <p:spPr>
          <a:xfrm flipV="1">
            <a:off x="2430000" y="2086187"/>
            <a:ext cx="575692" cy="154476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Retângulo 403"/>
          <p:cNvSpPr/>
          <p:nvPr/>
        </p:nvSpPr>
        <p:spPr>
          <a:xfrm>
            <a:off x="7269092" y="3572187"/>
            <a:ext cx="338603" cy="436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1" name="Grupo 10"/>
          <p:cNvGrpSpPr/>
          <p:nvPr/>
        </p:nvGrpSpPr>
        <p:grpSpPr>
          <a:xfrm>
            <a:off x="577336" y="1278505"/>
            <a:ext cx="2102378" cy="977530"/>
            <a:chOff x="577336" y="1472877"/>
            <a:chExt cx="2102378" cy="977530"/>
          </a:xfrm>
        </p:grpSpPr>
        <p:sp>
          <p:nvSpPr>
            <p:cNvPr id="301" name="Retângulo 300"/>
            <p:cNvSpPr/>
            <p:nvPr/>
          </p:nvSpPr>
          <p:spPr>
            <a:xfrm>
              <a:off x="577336" y="1781935"/>
              <a:ext cx="1854000" cy="64518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02" name="CaixaDeTexto 301"/>
            <p:cNvSpPr txBox="1"/>
            <p:nvPr/>
          </p:nvSpPr>
          <p:spPr>
            <a:xfrm>
              <a:off x="588248" y="1472877"/>
              <a:ext cx="20914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(UN) Contratos ms. </a:t>
              </a:r>
              <a:r>
                <a:rPr lang="pt-PT" sz="1000" dirty="0"/>
                <a:t>(ct004)</a:t>
              </a:r>
            </a:p>
          </p:txBody>
        </p:sp>
        <p:sp>
          <p:nvSpPr>
            <p:cNvPr id="303" name="CaixaDeTexto 302"/>
            <p:cNvSpPr txBox="1"/>
            <p:nvPr/>
          </p:nvSpPr>
          <p:spPr>
            <a:xfrm>
              <a:off x="577662" y="1776293"/>
              <a:ext cx="1854000" cy="27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 err="1"/>
                <a:t>Contr</a:t>
              </a:r>
              <a:r>
                <a:rPr lang="pt-PT" sz="1200" dirty="0"/>
                <a:t>. </a:t>
              </a:r>
              <a:r>
                <a:rPr lang="pt-PT" sz="1200" dirty="0" err="1"/>
                <a:t>Univ</a:t>
              </a:r>
              <a:r>
                <a:rPr lang="pt-PT" sz="800" dirty="0"/>
                <a:t>.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304" name="CaixaDeTexto 303"/>
            <p:cNvSpPr txBox="1"/>
            <p:nvPr/>
          </p:nvSpPr>
          <p:spPr>
            <a:xfrm>
              <a:off x="578926" y="2173408"/>
              <a:ext cx="185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457" name="CaixaDeTexto 456"/>
            <p:cNvSpPr txBox="1"/>
            <p:nvPr/>
          </p:nvSpPr>
          <p:spPr>
            <a:xfrm>
              <a:off x="577555" y="1975408"/>
              <a:ext cx="185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 Universo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461" name="Conexão em ângulos retos 460"/>
          <p:cNvCxnSpPr>
            <a:stCxn id="342" idx="1"/>
            <a:endCxn id="88" idx="1"/>
          </p:cNvCxnSpPr>
          <p:nvPr/>
        </p:nvCxnSpPr>
        <p:spPr>
          <a:xfrm rot="10800000" flipH="1">
            <a:off x="576000" y="2709434"/>
            <a:ext cx="1688" cy="1120387"/>
          </a:xfrm>
          <a:prstGeom prst="bentConnector3">
            <a:avLst>
              <a:gd name="adj1" fmla="val -13542654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CaixaDeTexto 125"/>
          <p:cNvSpPr txBox="1"/>
          <p:nvPr/>
        </p:nvSpPr>
        <p:spPr>
          <a:xfrm>
            <a:off x="2893345" y="6570174"/>
            <a:ext cx="5729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/>
              <a:t>Nota</a:t>
            </a:r>
            <a:r>
              <a:rPr lang="pt-PT" sz="1200" dirty="0"/>
              <a:t>: apesar de não se apresentar essa ligação, o campo Data deve ser ligado ou fixado.</a:t>
            </a:r>
          </a:p>
        </p:txBody>
      </p:sp>
      <p:sp>
        <p:nvSpPr>
          <p:cNvPr id="154" name="CaixaDeTexto 153"/>
          <p:cNvSpPr txBox="1"/>
          <p:nvPr/>
        </p:nvSpPr>
        <p:spPr>
          <a:xfrm>
            <a:off x="7713290" y="4045960"/>
            <a:ext cx="3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59" name="CaixaDeTexto 158"/>
          <p:cNvSpPr txBox="1"/>
          <p:nvPr/>
        </p:nvSpPr>
        <p:spPr>
          <a:xfrm>
            <a:off x="7363442" y="4163724"/>
            <a:ext cx="3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81" name="CaixaDeTexto 180"/>
          <p:cNvSpPr txBox="1"/>
          <p:nvPr/>
        </p:nvSpPr>
        <p:spPr>
          <a:xfrm>
            <a:off x="5288180" y="4629898"/>
            <a:ext cx="3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84" name="CaixaDeTexto 183"/>
          <p:cNvSpPr txBox="1"/>
          <p:nvPr/>
        </p:nvSpPr>
        <p:spPr>
          <a:xfrm>
            <a:off x="6917940" y="4601450"/>
            <a:ext cx="3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87" name="CaixaDeTexto 186"/>
          <p:cNvSpPr txBox="1"/>
          <p:nvPr/>
        </p:nvSpPr>
        <p:spPr>
          <a:xfrm>
            <a:off x="4235900" y="5845428"/>
            <a:ext cx="3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210" name="CaixaDeTexto 209"/>
          <p:cNvSpPr txBox="1"/>
          <p:nvPr/>
        </p:nvSpPr>
        <p:spPr>
          <a:xfrm>
            <a:off x="8829180" y="2987499"/>
            <a:ext cx="3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86" name="Fluxograma: multidocumentos 185"/>
          <p:cNvSpPr/>
          <p:nvPr/>
        </p:nvSpPr>
        <p:spPr>
          <a:xfrm>
            <a:off x="9117849" y="171322"/>
            <a:ext cx="504000" cy="108000"/>
          </a:xfrm>
          <a:prstGeom prst="flowChartMultidocumen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PT" sz="800" baseline="30000">
              <a:solidFill>
                <a:schemeClr val="bg1"/>
              </a:solidFill>
              <a:effectLst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9633261" y="93094"/>
            <a:ext cx="82800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Carga manual</a:t>
            </a:r>
          </a:p>
        </p:txBody>
      </p:sp>
      <p:sp>
        <p:nvSpPr>
          <p:cNvPr id="188" name="Retângulo 187"/>
          <p:cNvSpPr/>
          <p:nvPr/>
        </p:nvSpPr>
        <p:spPr>
          <a:xfrm>
            <a:off x="10733871" y="154152"/>
            <a:ext cx="504000" cy="10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 sz="800" b="0">
              <a:solidFill>
                <a:schemeClr val="tx1"/>
              </a:solidFill>
            </a:endParaRPr>
          </a:p>
        </p:txBody>
      </p:sp>
      <p:sp>
        <p:nvSpPr>
          <p:cNvPr id="191" name="CaixaDeTexto 190"/>
          <p:cNvSpPr txBox="1"/>
          <p:nvPr/>
        </p:nvSpPr>
        <p:spPr>
          <a:xfrm>
            <a:off x="11254710" y="88042"/>
            <a:ext cx="72917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Automático</a:t>
            </a:r>
          </a:p>
        </p:txBody>
      </p:sp>
      <p:sp>
        <p:nvSpPr>
          <p:cNvPr id="239" name="Fluxograma: subrotina 238"/>
          <p:cNvSpPr/>
          <p:nvPr/>
        </p:nvSpPr>
        <p:spPr>
          <a:xfrm>
            <a:off x="7295755" y="158948"/>
            <a:ext cx="504000" cy="108000"/>
          </a:xfrm>
          <a:prstGeom prst="flowChartPredefined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endParaRPr lang="pt-PT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0" name="CaixaDeTexto 239"/>
          <p:cNvSpPr txBox="1"/>
          <p:nvPr/>
        </p:nvSpPr>
        <p:spPr>
          <a:xfrm>
            <a:off x="7814470" y="90157"/>
            <a:ext cx="910996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Parametrização</a:t>
            </a:r>
          </a:p>
        </p:txBody>
      </p:sp>
      <p:sp>
        <p:nvSpPr>
          <p:cNvPr id="241" name="CaixaDeTexto 240"/>
          <p:cNvSpPr txBox="1"/>
          <p:nvPr/>
        </p:nvSpPr>
        <p:spPr>
          <a:xfrm>
            <a:off x="2941190" y="470489"/>
            <a:ext cx="1847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/>
              <a:t>Parametrizações</a:t>
            </a:r>
            <a:endParaRPr lang="pt-PT" sz="1000" dirty="0"/>
          </a:p>
        </p:txBody>
      </p:sp>
      <p:sp>
        <p:nvSpPr>
          <p:cNvPr id="45" name="Fluxograma: subrotina 44"/>
          <p:cNvSpPr/>
          <p:nvPr/>
        </p:nvSpPr>
        <p:spPr>
          <a:xfrm>
            <a:off x="3010554" y="776555"/>
            <a:ext cx="1548000" cy="108000"/>
          </a:xfrm>
          <a:prstGeom prst="flowChartPredefined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ct805 Matriz contas</a:t>
            </a:r>
          </a:p>
        </p:txBody>
      </p:sp>
      <p:sp>
        <p:nvSpPr>
          <p:cNvPr id="205" name="Fluxograma: subrotina 204"/>
          <p:cNvSpPr/>
          <p:nvPr/>
        </p:nvSpPr>
        <p:spPr>
          <a:xfrm>
            <a:off x="3011082" y="885002"/>
            <a:ext cx="1548000" cy="108000"/>
          </a:xfrm>
          <a:prstGeom prst="flowChartPredefinedProcess">
            <a:avLst/>
          </a:prstGeom>
          <a:solidFill>
            <a:schemeClr val="bg1"/>
          </a:solidFill>
          <a:ln w="6350" cap="flat"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al806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Rastr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calc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tx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orig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sp>
        <p:nvSpPr>
          <p:cNvPr id="206" name="Fluxograma: subrotina 205"/>
          <p:cNvSpPr/>
          <p:nvPr/>
        </p:nvSpPr>
        <p:spPr>
          <a:xfrm>
            <a:off x="3010400" y="1321007"/>
            <a:ext cx="1548000" cy="108000"/>
          </a:xfrm>
          <a:prstGeom prst="flowChartPredefinedProcess">
            <a:avLst/>
          </a:prstGeom>
          <a:solidFill>
            <a:schemeClr val="bg1"/>
          </a:solidFill>
          <a:ln w="6350" cap="flat"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al820 Saldos regras</a:t>
            </a:r>
          </a:p>
        </p:txBody>
      </p:sp>
      <p:sp>
        <p:nvSpPr>
          <p:cNvPr id="208" name="Fluxograma: subrotina 207"/>
          <p:cNvSpPr/>
          <p:nvPr/>
        </p:nvSpPr>
        <p:spPr>
          <a:xfrm>
            <a:off x="3011106" y="994217"/>
            <a:ext cx="1548000" cy="108000"/>
          </a:xfrm>
          <a:prstGeom prst="flowChartPredefinedProcess">
            <a:avLst/>
          </a:prstGeom>
          <a:solidFill>
            <a:schemeClr val="bg1"/>
          </a:solidFill>
          <a:ln w="6350" cap="flat"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al812 Exclusões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univ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ALM</a:t>
            </a:r>
          </a:p>
        </p:txBody>
      </p:sp>
      <p:sp>
        <p:nvSpPr>
          <p:cNvPr id="209" name="Fluxograma: subrotina 208"/>
          <p:cNvSpPr/>
          <p:nvPr/>
        </p:nvSpPr>
        <p:spPr>
          <a:xfrm>
            <a:off x="3011788" y="1103373"/>
            <a:ext cx="1548000" cy="108000"/>
          </a:xfrm>
          <a:prstGeom prst="flowChartPredefinedProcess">
            <a:avLst/>
          </a:prstGeom>
          <a:solidFill>
            <a:schemeClr val="bg1"/>
          </a:solidFill>
          <a:ln w="6350" cap="flat"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al814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Rastr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tx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ref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/origem</a:t>
            </a:r>
          </a:p>
        </p:txBody>
      </p:sp>
      <p:sp>
        <p:nvSpPr>
          <p:cNvPr id="195" name="Retângulo 194"/>
          <p:cNvSpPr/>
          <p:nvPr/>
        </p:nvSpPr>
        <p:spPr>
          <a:xfrm>
            <a:off x="7687766" y="2216885"/>
            <a:ext cx="1980000" cy="8770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6" name="CaixaDeTexto 195"/>
          <p:cNvSpPr txBox="1"/>
          <p:nvPr/>
        </p:nvSpPr>
        <p:spPr>
          <a:xfrm>
            <a:off x="7687765" y="1907597"/>
            <a:ext cx="2222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/>
              <a:t>(AL) Core Saldos € ms. </a:t>
            </a:r>
            <a:r>
              <a:rPr lang="pt-PT" sz="1000" dirty="0"/>
              <a:t>(al030)</a:t>
            </a:r>
          </a:p>
        </p:txBody>
      </p:sp>
      <p:sp>
        <p:nvSpPr>
          <p:cNvPr id="197" name="CaixaDeTexto 196"/>
          <p:cNvSpPr txBox="1"/>
          <p:nvPr/>
        </p:nvSpPr>
        <p:spPr>
          <a:xfrm>
            <a:off x="7687764" y="2217133"/>
            <a:ext cx="1972800" cy="277200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pt-PT" sz="1200" dirty="0"/>
              <a:t>Contrato ALM</a:t>
            </a:r>
            <a:r>
              <a:rPr lang="pt-PT" sz="800" dirty="0"/>
              <a:t> (</a:t>
            </a:r>
            <a:r>
              <a:rPr lang="pt-PT" sz="800" dirty="0" err="1"/>
              <a:t>cempresa</a:t>
            </a:r>
            <a:r>
              <a:rPr lang="pt-PT" sz="800" dirty="0"/>
              <a:t> … </a:t>
            </a:r>
            <a:r>
              <a:rPr lang="pt-PT" sz="800" dirty="0" err="1"/>
              <a:t>zdeposit</a:t>
            </a:r>
            <a:r>
              <a:rPr lang="pt-PT" sz="800" dirty="0"/>
              <a:t>)</a:t>
            </a:r>
          </a:p>
        </p:txBody>
      </p:sp>
      <p:sp>
        <p:nvSpPr>
          <p:cNvPr id="198" name="CaixaDeTexto 197"/>
          <p:cNvSpPr txBox="1"/>
          <p:nvPr/>
        </p:nvSpPr>
        <p:spPr>
          <a:xfrm>
            <a:off x="7687764" y="2417487"/>
            <a:ext cx="197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chemeClr val="bg2">
                    <a:lumMod val="25000"/>
                  </a:schemeClr>
                </a:solidFill>
              </a:rPr>
              <a:t>Cliente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pt-PT" sz="800" dirty="0" err="1">
                <a:solidFill>
                  <a:schemeClr val="bg2">
                    <a:lumMod val="25000"/>
                  </a:schemeClr>
                </a:solidFill>
              </a:rPr>
              <a:t>zcliente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sp>
        <p:nvSpPr>
          <p:cNvPr id="199" name="CaixaDeTexto 198"/>
          <p:cNvSpPr txBox="1"/>
          <p:nvPr/>
        </p:nvSpPr>
        <p:spPr>
          <a:xfrm>
            <a:off x="7687764" y="2613733"/>
            <a:ext cx="1972800" cy="276999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pt-PT" sz="1200" dirty="0">
                <a:solidFill>
                  <a:schemeClr val="bg2">
                    <a:lumMod val="25000"/>
                  </a:schemeClr>
                </a:solidFill>
              </a:rPr>
              <a:t>Tipo Balanço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pt-PT" sz="800" dirty="0" err="1">
                <a:solidFill>
                  <a:schemeClr val="bg2">
                    <a:lumMod val="25000"/>
                  </a:schemeClr>
                </a:solidFill>
              </a:rPr>
              <a:t>tipo_balanco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sp>
        <p:nvSpPr>
          <p:cNvPr id="200" name="CaixaDeTexto 199"/>
          <p:cNvSpPr txBox="1"/>
          <p:nvPr/>
        </p:nvSpPr>
        <p:spPr>
          <a:xfrm>
            <a:off x="7687764" y="2805538"/>
            <a:ext cx="1972800" cy="276999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pt-PT" sz="1200" dirty="0">
                <a:solidFill>
                  <a:schemeClr val="bg2">
                    <a:lumMod val="25000"/>
                  </a:schemeClr>
                </a:solidFill>
              </a:rPr>
              <a:t>Data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pt-PT" sz="800" dirty="0" err="1">
                <a:solidFill>
                  <a:schemeClr val="bg2">
                    <a:lumMod val="25000"/>
                  </a:schemeClr>
                </a:solidFill>
              </a:rPr>
              <a:t>ref_date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cxnSp>
        <p:nvCxnSpPr>
          <p:cNvPr id="317" name="Conexão em ângulos retos 316"/>
          <p:cNvCxnSpPr>
            <a:stCxn id="197" idx="1"/>
            <a:endCxn id="26" idx="3"/>
          </p:cNvCxnSpPr>
          <p:nvPr/>
        </p:nvCxnSpPr>
        <p:spPr>
          <a:xfrm rot="10800000">
            <a:off x="7285324" y="2355373"/>
            <a:ext cx="402441" cy="3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exão em ângulos retos 216"/>
          <p:cNvCxnSpPr>
            <a:stCxn id="199" idx="1"/>
            <a:endCxn id="28" idx="3"/>
          </p:cNvCxnSpPr>
          <p:nvPr/>
        </p:nvCxnSpPr>
        <p:spPr>
          <a:xfrm rot="10800000">
            <a:off x="7285324" y="2751973"/>
            <a:ext cx="402440" cy="2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8" name="Grupo 217"/>
          <p:cNvGrpSpPr/>
          <p:nvPr/>
        </p:nvGrpSpPr>
        <p:grpSpPr>
          <a:xfrm>
            <a:off x="9872852" y="1909183"/>
            <a:ext cx="2268000" cy="1186382"/>
            <a:chOff x="7133149" y="2278064"/>
            <a:chExt cx="2268000" cy="1186382"/>
          </a:xfrm>
        </p:grpSpPr>
        <p:sp>
          <p:nvSpPr>
            <p:cNvPr id="223" name="Retângulo 222"/>
            <p:cNvSpPr/>
            <p:nvPr/>
          </p:nvSpPr>
          <p:spPr>
            <a:xfrm>
              <a:off x="7152201" y="2587352"/>
              <a:ext cx="1980000" cy="8770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24" name="CaixaDeTexto 223"/>
            <p:cNvSpPr txBox="1"/>
            <p:nvPr/>
          </p:nvSpPr>
          <p:spPr>
            <a:xfrm>
              <a:off x="7133149" y="2278064"/>
              <a:ext cx="2268000" cy="307777"/>
            </a:xfrm>
            <a:prstGeom prst="rect">
              <a:avLst/>
            </a:prstGeom>
            <a:noFill/>
          </p:spPr>
          <p:txBody>
            <a:bodyPr wrap="square" lIns="36000" rIns="0" rtlCol="0">
              <a:spAutoFit/>
            </a:bodyPr>
            <a:lstStyle/>
            <a:p>
              <a:r>
                <a:rPr lang="pt-PT" sz="1400" b="1" dirty="0"/>
                <a:t>(AL) Core Saldos Out ms. </a:t>
              </a:r>
              <a:r>
                <a:rPr lang="pt-PT" sz="1000" dirty="0"/>
                <a:t>(al034)</a:t>
              </a:r>
            </a:p>
          </p:txBody>
        </p:sp>
        <p:sp>
          <p:nvSpPr>
            <p:cNvPr id="225" name="CaixaDeTexto 224"/>
            <p:cNvSpPr txBox="1"/>
            <p:nvPr/>
          </p:nvSpPr>
          <p:spPr>
            <a:xfrm>
              <a:off x="7152199" y="2587600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/>
                <a:t>Contrato ALM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226" name="CaixaDeTexto 225"/>
            <p:cNvSpPr txBox="1"/>
            <p:nvPr/>
          </p:nvSpPr>
          <p:spPr>
            <a:xfrm>
              <a:off x="7152199" y="2787954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27" name="CaixaDeTexto 226"/>
            <p:cNvSpPr txBox="1"/>
            <p:nvPr/>
          </p:nvSpPr>
          <p:spPr>
            <a:xfrm>
              <a:off x="7152199" y="2984200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Tipo Balanço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tipo_balanco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28" name="CaixaDeTexto 227"/>
            <p:cNvSpPr txBox="1"/>
            <p:nvPr/>
          </p:nvSpPr>
          <p:spPr>
            <a:xfrm>
              <a:off x="7152199" y="3176005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229" name="Conexão em ângulos retos 228"/>
          <p:cNvCxnSpPr>
            <a:stCxn id="225" idx="1"/>
            <a:endCxn id="197" idx="3"/>
          </p:cNvCxnSpPr>
          <p:nvPr/>
        </p:nvCxnSpPr>
        <p:spPr>
          <a:xfrm rot="10800000">
            <a:off x="9660564" y="2355733"/>
            <a:ext cx="231338" cy="14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exão em ângulos retos 188"/>
          <p:cNvCxnSpPr>
            <a:stCxn id="227" idx="1"/>
            <a:endCxn id="199" idx="3"/>
          </p:cNvCxnSpPr>
          <p:nvPr/>
        </p:nvCxnSpPr>
        <p:spPr>
          <a:xfrm rot="10800000">
            <a:off x="9660564" y="2752233"/>
            <a:ext cx="231338" cy="15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o 16"/>
          <p:cNvGrpSpPr/>
          <p:nvPr/>
        </p:nvGrpSpPr>
        <p:grpSpPr>
          <a:xfrm>
            <a:off x="5311450" y="455894"/>
            <a:ext cx="2103721" cy="1315105"/>
            <a:chOff x="7151534" y="465418"/>
            <a:chExt cx="2103721" cy="1315105"/>
          </a:xfrm>
        </p:grpSpPr>
        <p:sp>
          <p:nvSpPr>
            <p:cNvPr id="116" name="Retângulo 115"/>
            <p:cNvSpPr/>
            <p:nvPr/>
          </p:nvSpPr>
          <p:spPr>
            <a:xfrm>
              <a:off x="7153418" y="797324"/>
              <a:ext cx="1980000" cy="96256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17" name="CaixaDeTexto 116"/>
            <p:cNvSpPr txBox="1"/>
            <p:nvPr/>
          </p:nvSpPr>
          <p:spPr>
            <a:xfrm>
              <a:off x="7153416" y="465418"/>
              <a:ext cx="21018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(AL) Perímetros ms. </a:t>
              </a:r>
              <a:r>
                <a:rPr lang="pt-PT" sz="1000" dirty="0"/>
                <a:t>(al031)</a:t>
              </a:r>
            </a:p>
          </p:txBody>
        </p:sp>
        <p:sp>
          <p:nvSpPr>
            <p:cNvPr id="118" name="CaixaDeTexto 117"/>
            <p:cNvSpPr txBox="1"/>
            <p:nvPr/>
          </p:nvSpPr>
          <p:spPr>
            <a:xfrm>
              <a:off x="7153417" y="1143524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/>
                <a:t>Contrato ALM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119" name="CaixaDeTexto 118"/>
            <p:cNvSpPr txBox="1"/>
            <p:nvPr/>
          </p:nvSpPr>
          <p:spPr>
            <a:xfrm>
              <a:off x="7153416" y="783524"/>
              <a:ext cx="19800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Entidade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(entidade)</a:t>
              </a:r>
            </a:p>
          </p:txBody>
        </p:sp>
        <p:sp>
          <p:nvSpPr>
            <p:cNvPr id="120" name="CaixaDeTexto 119"/>
            <p:cNvSpPr txBox="1"/>
            <p:nvPr/>
          </p:nvSpPr>
          <p:spPr>
            <a:xfrm>
              <a:off x="7153416" y="963524"/>
              <a:ext cx="19800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Perímetro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nome_perímetro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21" name="CaixaDeTexto 120"/>
            <p:cNvSpPr txBox="1"/>
            <p:nvPr/>
          </p:nvSpPr>
          <p:spPr>
            <a:xfrm>
              <a:off x="7153200" y="1503524"/>
              <a:ext cx="19080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93" name="CaixaDeTexto 192"/>
            <p:cNvSpPr txBox="1"/>
            <p:nvPr/>
          </p:nvSpPr>
          <p:spPr>
            <a:xfrm>
              <a:off x="7151534" y="1323524"/>
              <a:ext cx="198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201" name="Conexão em ângulos retos 200"/>
          <p:cNvCxnSpPr>
            <a:stCxn id="118" idx="1"/>
            <a:endCxn id="233" idx="3"/>
          </p:cNvCxnSpPr>
          <p:nvPr/>
        </p:nvCxnSpPr>
        <p:spPr>
          <a:xfrm rot="10800000" flipV="1">
            <a:off x="4996765" y="1272499"/>
            <a:ext cx="316568" cy="6164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CaixaDeTexto 243"/>
          <p:cNvSpPr txBox="1"/>
          <p:nvPr/>
        </p:nvSpPr>
        <p:spPr>
          <a:xfrm>
            <a:off x="5317208" y="3143877"/>
            <a:ext cx="1748353" cy="307777"/>
          </a:xfrm>
          <a:prstGeom prst="rect">
            <a:avLst/>
          </a:prstGeom>
          <a:noFill/>
        </p:spPr>
        <p:txBody>
          <a:bodyPr wrap="square" lIns="72000" rIns="36000" rtlCol="0">
            <a:spAutoFit/>
          </a:bodyPr>
          <a:lstStyle/>
          <a:p>
            <a:r>
              <a:rPr lang="pt-PT" sz="1400" b="1" dirty="0"/>
              <a:t>(AL) Tabelas Satélite</a:t>
            </a:r>
            <a:endParaRPr lang="pt-PT" sz="1000" dirty="0"/>
          </a:p>
        </p:txBody>
      </p:sp>
      <p:grpSp>
        <p:nvGrpSpPr>
          <p:cNvPr id="62" name="Grupo 61"/>
          <p:cNvGrpSpPr/>
          <p:nvPr/>
        </p:nvGrpSpPr>
        <p:grpSpPr>
          <a:xfrm>
            <a:off x="5317208" y="3438599"/>
            <a:ext cx="1980002" cy="276999"/>
            <a:chOff x="5247358" y="3438599"/>
            <a:chExt cx="1980002" cy="276999"/>
          </a:xfrm>
        </p:grpSpPr>
        <p:sp>
          <p:nvSpPr>
            <p:cNvPr id="238" name="Retângulo 237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45" name="CaixaDeTexto 244"/>
            <p:cNvSpPr txBox="1"/>
            <p:nvPr/>
          </p:nvSpPr>
          <p:spPr>
            <a:xfrm>
              <a:off x="5247358" y="3438599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al004 Money </a:t>
              </a:r>
              <a:r>
                <a:rPr lang="pt-PT" sz="1200" dirty="0" err="1"/>
                <a:t>Market</a:t>
              </a:r>
              <a:endParaRPr lang="pt-PT" sz="1200" dirty="0"/>
            </a:p>
          </p:txBody>
        </p:sp>
      </p:grpSp>
      <p:grpSp>
        <p:nvGrpSpPr>
          <p:cNvPr id="249" name="Grupo 248"/>
          <p:cNvGrpSpPr/>
          <p:nvPr/>
        </p:nvGrpSpPr>
        <p:grpSpPr>
          <a:xfrm>
            <a:off x="5316577" y="3690726"/>
            <a:ext cx="1980002" cy="276999"/>
            <a:chOff x="5247358" y="3438599"/>
            <a:chExt cx="1980002" cy="276999"/>
          </a:xfrm>
        </p:grpSpPr>
        <p:sp>
          <p:nvSpPr>
            <p:cNvPr id="250" name="Retângulo 249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51" name="CaixaDeTexto 250"/>
            <p:cNvSpPr txBox="1"/>
            <p:nvPr/>
          </p:nvSpPr>
          <p:spPr>
            <a:xfrm>
              <a:off x="5247358" y="3438599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al005 </a:t>
              </a:r>
              <a:r>
                <a:rPr lang="pt-PT" sz="1200" dirty="0" err="1"/>
                <a:t>Flow</a:t>
              </a:r>
              <a:r>
                <a:rPr lang="pt-PT" sz="1200" dirty="0"/>
                <a:t> FX</a:t>
              </a:r>
            </a:p>
          </p:txBody>
        </p:sp>
      </p:grpSp>
      <p:grpSp>
        <p:nvGrpSpPr>
          <p:cNvPr id="253" name="Grupo 252"/>
          <p:cNvGrpSpPr/>
          <p:nvPr/>
        </p:nvGrpSpPr>
        <p:grpSpPr>
          <a:xfrm>
            <a:off x="5315699" y="4194000"/>
            <a:ext cx="1980002" cy="276999"/>
            <a:chOff x="5247358" y="3436049"/>
            <a:chExt cx="1980002" cy="276999"/>
          </a:xfrm>
        </p:grpSpPr>
        <p:sp>
          <p:nvSpPr>
            <p:cNvPr id="254" name="Retângulo 253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55" name="CaixaDeTexto 254"/>
            <p:cNvSpPr txBox="1"/>
            <p:nvPr/>
          </p:nvSpPr>
          <p:spPr>
            <a:xfrm>
              <a:off x="5247358" y="3436049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al006 Emissões PPC</a:t>
              </a:r>
            </a:p>
          </p:txBody>
        </p:sp>
      </p:grpSp>
      <p:grpSp>
        <p:nvGrpSpPr>
          <p:cNvPr id="69" name="Grupo 68"/>
          <p:cNvGrpSpPr/>
          <p:nvPr/>
        </p:nvGrpSpPr>
        <p:grpSpPr>
          <a:xfrm>
            <a:off x="7687450" y="4205511"/>
            <a:ext cx="1980002" cy="276999"/>
            <a:chOff x="7430400" y="3951516"/>
            <a:chExt cx="1980002" cy="276999"/>
          </a:xfrm>
        </p:grpSpPr>
        <p:sp>
          <p:nvSpPr>
            <p:cNvPr id="257" name="Retângulo 256"/>
            <p:cNvSpPr/>
            <p:nvPr/>
          </p:nvSpPr>
          <p:spPr>
            <a:xfrm>
              <a:off x="7430402" y="3994731"/>
              <a:ext cx="198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58" name="CaixaDeTexto 257"/>
            <p:cNvSpPr txBox="1"/>
            <p:nvPr/>
          </p:nvSpPr>
          <p:spPr>
            <a:xfrm>
              <a:off x="7430400" y="3951516"/>
              <a:ext cx="1908000" cy="276999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pt-PT" sz="1200" dirty="0"/>
                <a:t>al007 Programas PPC</a:t>
              </a:r>
            </a:p>
          </p:txBody>
        </p:sp>
      </p:grpSp>
      <p:cxnSp>
        <p:nvCxnSpPr>
          <p:cNvPr id="259" name="Conexão em ângulos retos 258"/>
          <p:cNvCxnSpPr>
            <a:stCxn id="257" idx="1"/>
            <a:endCxn id="254" idx="3"/>
          </p:cNvCxnSpPr>
          <p:nvPr/>
        </p:nvCxnSpPr>
        <p:spPr>
          <a:xfrm rot="10800000">
            <a:off x="7295702" y="4337116"/>
            <a:ext cx="391751" cy="16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2" name="Grupo 261"/>
          <p:cNvGrpSpPr/>
          <p:nvPr/>
        </p:nvGrpSpPr>
        <p:grpSpPr>
          <a:xfrm>
            <a:off x="5315984" y="3942315"/>
            <a:ext cx="1980002" cy="276999"/>
            <a:chOff x="5247358" y="3438599"/>
            <a:chExt cx="1980002" cy="276999"/>
          </a:xfrm>
        </p:grpSpPr>
        <p:sp>
          <p:nvSpPr>
            <p:cNvPr id="267" name="Retângulo 266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70" name="CaixaDeTexto 269"/>
            <p:cNvSpPr txBox="1"/>
            <p:nvPr/>
          </p:nvSpPr>
          <p:spPr>
            <a:xfrm>
              <a:off x="5247358" y="3438599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al011 Derivados</a:t>
              </a:r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7687450" y="3815856"/>
            <a:ext cx="1980002" cy="276999"/>
            <a:chOff x="7431654" y="3700711"/>
            <a:chExt cx="1980002" cy="276999"/>
          </a:xfrm>
        </p:grpSpPr>
        <p:sp>
          <p:nvSpPr>
            <p:cNvPr id="272" name="Retângulo 271"/>
            <p:cNvSpPr/>
            <p:nvPr/>
          </p:nvSpPr>
          <p:spPr>
            <a:xfrm>
              <a:off x="7431656" y="3747316"/>
              <a:ext cx="198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73" name="CaixaDeTexto 272"/>
            <p:cNvSpPr txBox="1"/>
            <p:nvPr/>
          </p:nvSpPr>
          <p:spPr>
            <a:xfrm>
              <a:off x="7431654" y="3700711"/>
              <a:ext cx="1908000" cy="276999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pt-PT" sz="1200" dirty="0"/>
                <a:t>al012 Contratos-Quadro</a:t>
              </a:r>
            </a:p>
          </p:txBody>
        </p:sp>
      </p:grpSp>
      <p:cxnSp>
        <p:nvCxnSpPr>
          <p:cNvPr id="274" name="Conexão em ângulos retos 273"/>
          <p:cNvCxnSpPr>
            <a:stCxn id="273" idx="1"/>
            <a:endCxn id="250" idx="3"/>
          </p:cNvCxnSpPr>
          <p:nvPr/>
        </p:nvCxnSpPr>
        <p:spPr>
          <a:xfrm rot="10800000">
            <a:off x="7296580" y="3831292"/>
            <a:ext cx="390871" cy="12306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exão em ângulos retos 274"/>
          <p:cNvCxnSpPr>
            <a:stCxn id="273" idx="1"/>
            <a:endCxn id="267" idx="3"/>
          </p:cNvCxnSpPr>
          <p:nvPr/>
        </p:nvCxnSpPr>
        <p:spPr>
          <a:xfrm rot="10800000" flipV="1">
            <a:off x="7295986" y="3954355"/>
            <a:ext cx="391464" cy="12852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exão em ângulos retos 276"/>
          <p:cNvCxnSpPr>
            <a:stCxn id="233" idx="3"/>
            <a:endCxn id="245" idx="1"/>
          </p:cNvCxnSpPr>
          <p:nvPr/>
        </p:nvCxnSpPr>
        <p:spPr>
          <a:xfrm>
            <a:off x="4996765" y="1888965"/>
            <a:ext cx="320443" cy="16881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Conexão em ângulos retos 277"/>
          <p:cNvCxnSpPr>
            <a:stCxn id="233" idx="3"/>
            <a:endCxn id="251" idx="1"/>
          </p:cNvCxnSpPr>
          <p:nvPr/>
        </p:nvCxnSpPr>
        <p:spPr>
          <a:xfrm>
            <a:off x="4996765" y="1888965"/>
            <a:ext cx="319812" cy="194026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Conexão em ângulos retos 278"/>
          <p:cNvCxnSpPr>
            <a:stCxn id="233" idx="3"/>
            <a:endCxn id="270" idx="1"/>
          </p:cNvCxnSpPr>
          <p:nvPr/>
        </p:nvCxnSpPr>
        <p:spPr>
          <a:xfrm>
            <a:off x="4996765" y="1888965"/>
            <a:ext cx="319219" cy="219185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exão em ângulos retos 279"/>
          <p:cNvCxnSpPr>
            <a:stCxn id="233" idx="3"/>
            <a:endCxn id="255" idx="1"/>
          </p:cNvCxnSpPr>
          <p:nvPr/>
        </p:nvCxnSpPr>
        <p:spPr>
          <a:xfrm>
            <a:off x="4996765" y="1888965"/>
            <a:ext cx="318934" cy="24435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exão em ângulos retos 289"/>
          <p:cNvCxnSpPr>
            <a:stCxn id="27" idx="3"/>
            <a:endCxn id="193" idx="3"/>
          </p:cNvCxnSpPr>
          <p:nvPr/>
        </p:nvCxnSpPr>
        <p:spPr>
          <a:xfrm flipV="1">
            <a:off x="7285324" y="1452500"/>
            <a:ext cx="6126" cy="1103227"/>
          </a:xfrm>
          <a:prstGeom prst="bentConnector3">
            <a:avLst>
              <a:gd name="adj1" fmla="val 2182778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exão em ângulos retos 295"/>
          <p:cNvCxnSpPr>
            <a:stCxn id="88" idx="1"/>
            <a:endCxn id="457" idx="1"/>
          </p:cNvCxnSpPr>
          <p:nvPr/>
        </p:nvCxnSpPr>
        <p:spPr>
          <a:xfrm rot="10800000">
            <a:off x="577556" y="1919537"/>
            <a:ext cx="133" cy="789897"/>
          </a:xfrm>
          <a:prstGeom prst="bentConnector3">
            <a:avLst>
              <a:gd name="adj1" fmla="val 171979699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6" name="Grupo 315"/>
          <p:cNvGrpSpPr/>
          <p:nvPr/>
        </p:nvGrpSpPr>
        <p:grpSpPr>
          <a:xfrm>
            <a:off x="7685981" y="4773047"/>
            <a:ext cx="2197493" cy="1382482"/>
            <a:chOff x="5194800" y="4534017"/>
            <a:chExt cx="2197493" cy="1382482"/>
          </a:xfrm>
        </p:grpSpPr>
        <p:grpSp>
          <p:nvGrpSpPr>
            <p:cNvPr id="133" name="Grupo 132"/>
            <p:cNvGrpSpPr/>
            <p:nvPr/>
          </p:nvGrpSpPr>
          <p:grpSpPr>
            <a:xfrm>
              <a:off x="5194892" y="4806851"/>
              <a:ext cx="1980000" cy="285414"/>
              <a:chOff x="5194892" y="4806851"/>
              <a:chExt cx="1980000" cy="285414"/>
            </a:xfrm>
          </p:grpSpPr>
          <p:sp>
            <p:nvSpPr>
              <p:cNvPr id="177" name="Fluxograma: multidocumentos 176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219" name="CaixaDeTexto 218"/>
              <p:cNvSpPr txBox="1"/>
              <p:nvPr/>
            </p:nvSpPr>
            <p:spPr>
              <a:xfrm>
                <a:off x="5198066" y="481526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al600 Manual geral</a:t>
                </a:r>
              </a:p>
            </p:txBody>
          </p:sp>
        </p:grpSp>
        <p:sp>
          <p:nvSpPr>
            <p:cNvPr id="222" name="CaixaDeTexto 221"/>
            <p:cNvSpPr txBox="1"/>
            <p:nvPr/>
          </p:nvSpPr>
          <p:spPr>
            <a:xfrm>
              <a:off x="5198066" y="4534017"/>
              <a:ext cx="2194227" cy="307777"/>
            </a:xfrm>
            <a:prstGeom prst="rect">
              <a:avLst/>
            </a:prstGeom>
            <a:noFill/>
          </p:spPr>
          <p:txBody>
            <a:bodyPr wrap="square" lIns="36000" rIns="0" rtlCol="0">
              <a:spAutoFit/>
            </a:bodyPr>
            <a:lstStyle/>
            <a:p>
              <a:r>
                <a:rPr lang="pt-PT" sz="1400" b="1" dirty="0"/>
                <a:t>(MA) Inputs manuais Core</a:t>
              </a:r>
              <a:endParaRPr lang="pt-PT" sz="1000" dirty="0"/>
            </a:p>
          </p:txBody>
        </p:sp>
        <p:grpSp>
          <p:nvGrpSpPr>
            <p:cNvPr id="305" name="Grupo 304"/>
            <p:cNvGrpSpPr/>
            <p:nvPr/>
          </p:nvGrpSpPr>
          <p:grpSpPr>
            <a:xfrm>
              <a:off x="5194800" y="5083653"/>
              <a:ext cx="1980000" cy="279064"/>
              <a:chOff x="5194892" y="4806851"/>
              <a:chExt cx="1980000" cy="279064"/>
            </a:xfrm>
          </p:grpSpPr>
          <p:sp>
            <p:nvSpPr>
              <p:cNvPr id="306" name="Fluxograma: multidocumentos 305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308" name="CaixaDeTexto 307"/>
              <p:cNvSpPr txBox="1"/>
              <p:nvPr/>
            </p:nvSpPr>
            <p:spPr>
              <a:xfrm>
                <a:off x="5198066" y="480891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al602 </a:t>
                </a:r>
                <a:r>
                  <a:rPr lang="pt-PT" sz="1200" dirty="0" err="1"/>
                  <a:t>Repos</a:t>
                </a:r>
                <a:endParaRPr lang="pt-PT" sz="1200" dirty="0"/>
              </a:p>
            </p:txBody>
          </p:sp>
        </p:grpSp>
        <p:grpSp>
          <p:nvGrpSpPr>
            <p:cNvPr id="309" name="Grupo 308"/>
            <p:cNvGrpSpPr/>
            <p:nvPr/>
          </p:nvGrpSpPr>
          <p:grpSpPr>
            <a:xfrm>
              <a:off x="5194800" y="5360235"/>
              <a:ext cx="1980000" cy="279064"/>
              <a:chOff x="5194892" y="4806851"/>
              <a:chExt cx="1980000" cy="279064"/>
            </a:xfrm>
          </p:grpSpPr>
          <p:sp>
            <p:nvSpPr>
              <p:cNvPr id="311" name="Fluxograma: multidocumentos 310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312" name="CaixaDeTexto 311"/>
              <p:cNvSpPr txBox="1"/>
              <p:nvPr/>
            </p:nvSpPr>
            <p:spPr>
              <a:xfrm>
                <a:off x="5198066" y="480891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al611 Derivados</a:t>
                </a:r>
              </a:p>
            </p:txBody>
          </p:sp>
        </p:grpSp>
        <p:grpSp>
          <p:nvGrpSpPr>
            <p:cNvPr id="313" name="Grupo 312"/>
            <p:cNvGrpSpPr/>
            <p:nvPr/>
          </p:nvGrpSpPr>
          <p:grpSpPr>
            <a:xfrm>
              <a:off x="5194800" y="5637435"/>
              <a:ext cx="1980000" cy="279064"/>
              <a:chOff x="5194892" y="4806851"/>
              <a:chExt cx="1980000" cy="279064"/>
            </a:xfrm>
          </p:grpSpPr>
          <p:sp>
            <p:nvSpPr>
              <p:cNvPr id="314" name="Fluxograma: multidocumentos 313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315" name="CaixaDeTexto 314"/>
              <p:cNvSpPr txBox="1"/>
              <p:nvPr/>
            </p:nvSpPr>
            <p:spPr>
              <a:xfrm>
                <a:off x="5198066" y="480891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al613 </a:t>
                </a:r>
                <a:r>
                  <a:rPr lang="pt-PT" sz="1200" dirty="0" err="1"/>
                  <a:t>Flow</a:t>
                </a:r>
                <a:r>
                  <a:rPr lang="pt-PT" sz="1200" dirty="0"/>
                  <a:t> FX</a:t>
                </a:r>
              </a:p>
            </p:txBody>
          </p:sp>
        </p:grpSp>
      </p:grpSp>
      <p:grpSp>
        <p:nvGrpSpPr>
          <p:cNvPr id="10" name="Grupo 9"/>
          <p:cNvGrpSpPr/>
          <p:nvPr/>
        </p:nvGrpSpPr>
        <p:grpSpPr>
          <a:xfrm>
            <a:off x="579600" y="300719"/>
            <a:ext cx="1854946" cy="973719"/>
            <a:chOff x="579600" y="300719"/>
            <a:chExt cx="1854946" cy="973719"/>
          </a:xfrm>
        </p:grpSpPr>
        <p:sp>
          <p:nvSpPr>
            <p:cNvPr id="335" name="Retângulo 334"/>
            <p:cNvSpPr/>
            <p:nvPr/>
          </p:nvSpPr>
          <p:spPr>
            <a:xfrm>
              <a:off x="580546" y="610546"/>
              <a:ext cx="1854000" cy="65292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36" name="CaixaDeTexto 335"/>
            <p:cNvSpPr txBox="1"/>
            <p:nvPr/>
          </p:nvSpPr>
          <p:spPr>
            <a:xfrm>
              <a:off x="579600" y="300719"/>
              <a:ext cx="161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(FG) FGD </a:t>
              </a:r>
              <a:r>
                <a:rPr lang="pt-PT" sz="1000" dirty="0"/>
                <a:t>(fg001)</a:t>
              </a:r>
            </a:p>
          </p:txBody>
        </p:sp>
        <p:sp>
          <p:nvSpPr>
            <p:cNvPr id="337" name="CaixaDeTexto 336"/>
            <p:cNvSpPr txBox="1"/>
            <p:nvPr/>
          </p:nvSpPr>
          <p:spPr>
            <a:xfrm>
              <a:off x="579952" y="601306"/>
              <a:ext cx="1854000" cy="27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 err="1"/>
                <a:t>Contr</a:t>
              </a:r>
              <a:r>
                <a:rPr lang="pt-PT" sz="1200" dirty="0"/>
                <a:t>. </a:t>
              </a:r>
              <a:r>
                <a:rPr lang="pt-PT" sz="1200" dirty="0" err="1"/>
                <a:t>Univ</a:t>
              </a:r>
              <a:r>
                <a:rPr lang="pt-PT" sz="1200" dirty="0"/>
                <a:t>.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 </a:t>
              </a:r>
              <a:endParaRPr lang="pt-PT" sz="800" baseline="30000" dirty="0"/>
            </a:p>
          </p:txBody>
        </p:sp>
        <p:sp>
          <p:nvSpPr>
            <p:cNvPr id="338" name="CaixaDeTexto 337"/>
            <p:cNvSpPr txBox="1"/>
            <p:nvPr/>
          </p:nvSpPr>
          <p:spPr>
            <a:xfrm>
              <a:off x="579951" y="799731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 Universo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346" name="CaixaDeTexto 345"/>
            <p:cNvSpPr txBox="1"/>
            <p:nvPr/>
          </p:nvSpPr>
          <p:spPr>
            <a:xfrm>
              <a:off x="579953" y="997439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358" name="Conexão em ângulos retos 357"/>
          <p:cNvCxnSpPr>
            <a:stCxn id="338" idx="1"/>
            <a:endCxn id="88" idx="1"/>
          </p:cNvCxnSpPr>
          <p:nvPr/>
        </p:nvCxnSpPr>
        <p:spPr>
          <a:xfrm rot="10800000" flipV="1">
            <a:off x="577689" y="938231"/>
            <a:ext cx="2263" cy="1771202"/>
          </a:xfrm>
          <a:prstGeom prst="bentConnector3">
            <a:avLst>
              <a:gd name="adj1" fmla="val 10201635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4" name="Grupo 383"/>
          <p:cNvGrpSpPr/>
          <p:nvPr/>
        </p:nvGrpSpPr>
        <p:grpSpPr>
          <a:xfrm>
            <a:off x="5315703" y="4446000"/>
            <a:ext cx="1980002" cy="276999"/>
            <a:chOff x="5247358" y="3435465"/>
            <a:chExt cx="1980002" cy="276999"/>
          </a:xfrm>
        </p:grpSpPr>
        <p:sp>
          <p:nvSpPr>
            <p:cNvPr id="385" name="Retângulo 384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86" name="CaixaDeTexto 385"/>
            <p:cNvSpPr txBox="1"/>
            <p:nvPr/>
          </p:nvSpPr>
          <p:spPr>
            <a:xfrm>
              <a:off x="5247358" y="3435465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al003 </a:t>
              </a:r>
              <a:r>
                <a:rPr lang="pt-PT" sz="1200" dirty="0" err="1"/>
                <a:t>Complem</a:t>
              </a:r>
              <a:r>
                <a:rPr lang="pt-PT" sz="1200" dirty="0"/>
                <a:t>. Outros</a:t>
              </a:r>
            </a:p>
          </p:txBody>
        </p:sp>
      </p:grpSp>
      <p:grpSp>
        <p:nvGrpSpPr>
          <p:cNvPr id="387" name="Grupo 386"/>
          <p:cNvGrpSpPr/>
          <p:nvPr/>
        </p:nvGrpSpPr>
        <p:grpSpPr>
          <a:xfrm>
            <a:off x="5315701" y="4698000"/>
            <a:ext cx="1980002" cy="276999"/>
            <a:chOff x="5247358" y="3435733"/>
            <a:chExt cx="1980002" cy="276999"/>
          </a:xfrm>
        </p:grpSpPr>
        <p:sp>
          <p:nvSpPr>
            <p:cNvPr id="388" name="Retângulo 387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89" name="CaixaDeTexto 388"/>
            <p:cNvSpPr txBox="1"/>
            <p:nvPr/>
          </p:nvSpPr>
          <p:spPr>
            <a:xfrm>
              <a:off x="5247358" y="3435733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al026 </a:t>
              </a:r>
              <a:r>
                <a:rPr lang="pt-PT" sz="1200" dirty="0" err="1"/>
                <a:t>Cond</a:t>
              </a:r>
              <a:r>
                <a:rPr lang="pt-PT" sz="1200" dirty="0"/>
                <a:t>. </a:t>
              </a:r>
              <a:r>
                <a:rPr lang="pt-PT" sz="1200" dirty="0" err="1"/>
                <a:t>Empréstim</a:t>
              </a:r>
              <a:endParaRPr lang="pt-PT" sz="1200" dirty="0"/>
            </a:p>
          </p:txBody>
        </p:sp>
      </p:grpSp>
      <p:cxnSp>
        <p:nvCxnSpPr>
          <p:cNvPr id="390" name="Conexão em ângulos retos 389"/>
          <p:cNvCxnSpPr>
            <a:stCxn id="233" idx="3"/>
            <a:endCxn id="386" idx="1"/>
          </p:cNvCxnSpPr>
          <p:nvPr/>
        </p:nvCxnSpPr>
        <p:spPr>
          <a:xfrm>
            <a:off x="4996765" y="1888965"/>
            <a:ext cx="318938" cy="26955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onexão em ângulos retos 390"/>
          <p:cNvCxnSpPr>
            <a:stCxn id="233" idx="3"/>
            <a:endCxn id="389" idx="1"/>
          </p:cNvCxnSpPr>
          <p:nvPr/>
        </p:nvCxnSpPr>
        <p:spPr>
          <a:xfrm>
            <a:off x="4996765" y="1888965"/>
            <a:ext cx="318936" cy="29475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onexão em ângulos retos 306"/>
          <p:cNvCxnSpPr>
            <a:stCxn id="303" idx="3"/>
            <a:endCxn id="235" idx="1"/>
          </p:cNvCxnSpPr>
          <p:nvPr/>
        </p:nvCxnSpPr>
        <p:spPr>
          <a:xfrm>
            <a:off x="2431662" y="1720521"/>
            <a:ext cx="574030" cy="36566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CaixaDeTexto 411"/>
          <p:cNvSpPr txBox="1"/>
          <p:nvPr/>
        </p:nvSpPr>
        <p:spPr>
          <a:xfrm>
            <a:off x="5871398" y="2822841"/>
            <a:ext cx="1418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grpSp>
        <p:nvGrpSpPr>
          <p:cNvPr id="179" name="Grupo 178"/>
          <p:cNvGrpSpPr/>
          <p:nvPr/>
        </p:nvGrpSpPr>
        <p:grpSpPr>
          <a:xfrm>
            <a:off x="5315577" y="4950000"/>
            <a:ext cx="1980002" cy="276999"/>
            <a:chOff x="5247358" y="3434914"/>
            <a:chExt cx="1980002" cy="276999"/>
          </a:xfrm>
        </p:grpSpPr>
        <p:sp>
          <p:nvSpPr>
            <p:cNvPr id="180" name="Retângulo 179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82" name="CaixaDeTexto 181"/>
            <p:cNvSpPr txBox="1"/>
            <p:nvPr/>
          </p:nvSpPr>
          <p:spPr>
            <a:xfrm>
              <a:off x="5247358" y="3434914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al027 Plano </a:t>
              </a:r>
              <a:r>
                <a:rPr lang="pt-PT" sz="1200" dirty="0" err="1"/>
                <a:t>Amortizaç</a:t>
              </a:r>
              <a:r>
                <a:rPr lang="pt-PT" sz="1200" dirty="0"/>
                <a:t>.</a:t>
              </a:r>
            </a:p>
          </p:txBody>
        </p:sp>
      </p:grpSp>
      <p:cxnSp>
        <p:nvCxnSpPr>
          <p:cNvPr id="183" name="Conexão em ângulos retos 182"/>
          <p:cNvCxnSpPr>
            <a:stCxn id="233" idx="3"/>
            <a:endCxn id="182" idx="1"/>
          </p:cNvCxnSpPr>
          <p:nvPr/>
        </p:nvCxnSpPr>
        <p:spPr>
          <a:xfrm>
            <a:off x="4996765" y="1888965"/>
            <a:ext cx="318812" cy="31995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upo 191"/>
          <p:cNvGrpSpPr/>
          <p:nvPr/>
        </p:nvGrpSpPr>
        <p:grpSpPr>
          <a:xfrm>
            <a:off x="9885276" y="5046889"/>
            <a:ext cx="1980000" cy="285414"/>
            <a:chOff x="5194892" y="4806851"/>
            <a:chExt cx="1980000" cy="285414"/>
          </a:xfrm>
        </p:grpSpPr>
        <p:sp>
          <p:nvSpPr>
            <p:cNvPr id="221" name="Fluxograma: multidocumentos 220"/>
            <p:cNvSpPr/>
            <p:nvPr/>
          </p:nvSpPr>
          <p:spPr>
            <a:xfrm>
              <a:off x="5194892" y="4806851"/>
              <a:ext cx="1980000" cy="252000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aseline="30000" dirty="0"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230" name="CaixaDeTexto 229"/>
            <p:cNvSpPr txBox="1"/>
            <p:nvPr/>
          </p:nvSpPr>
          <p:spPr>
            <a:xfrm>
              <a:off x="5198066" y="4815266"/>
              <a:ext cx="19080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/>
                <a:t>al804 Curvas </a:t>
              </a:r>
              <a:r>
                <a:rPr lang="pt-PT" sz="1200" dirty="0" err="1"/>
                <a:t>tx</a:t>
              </a:r>
              <a:r>
                <a:rPr lang="pt-PT" sz="1200" dirty="0"/>
                <a:t> juro</a:t>
              </a:r>
            </a:p>
          </p:txBody>
        </p:sp>
      </p:grpSp>
      <p:sp>
        <p:nvSpPr>
          <p:cNvPr id="202" name="CaixaDeTexto 201"/>
          <p:cNvSpPr txBox="1"/>
          <p:nvPr/>
        </p:nvSpPr>
        <p:spPr>
          <a:xfrm>
            <a:off x="9888450" y="4776215"/>
            <a:ext cx="2259552" cy="307777"/>
          </a:xfrm>
          <a:prstGeom prst="rect">
            <a:avLst/>
          </a:prstGeom>
          <a:noFill/>
        </p:spPr>
        <p:txBody>
          <a:bodyPr wrap="square" lIns="36000" rIns="0" rtlCol="0">
            <a:spAutoFit/>
          </a:bodyPr>
          <a:lstStyle/>
          <a:p>
            <a:r>
              <a:rPr lang="pt-PT" sz="1400" b="1" dirty="0"/>
              <a:t>(MA) Outros Inputs manuais</a:t>
            </a:r>
            <a:endParaRPr lang="pt-PT" sz="1000" dirty="0"/>
          </a:p>
        </p:txBody>
      </p:sp>
      <p:sp>
        <p:nvSpPr>
          <p:cNvPr id="236" name="CaixaDeTexto 235"/>
          <p:cNvSpPr txBox="1"/>
          <p:nvPr/>
        </p:nvSpPr>
        <p:spPr>
          <a:xfrm>
            <a:off x="551863" y="5633082"/>
            <a:ext cx="133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/>
              <a:t>Outras Tabelas</a:t>
            </a:r>
            <a:endParaRPr lang="pt-PT" sz="1000" dirty="0"/>
          </a:p>
        </p:txBody>
      </p:sp>
      <p:sp>
        <p:nvSpPr>
          <p:cNvPr id="242" name="Retângulo 241"/>
          <p:cNvSpPr/>
          <p:nvPr/>
        </p:nvSpPr>
        <p:spPr>
          <a:xfrm>
            <a:off x="551864" y="5942370"/>
            <a:ext cx="1854000" cy="25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3" name="CaixaDeTexto 242"/>
          <p:cNvSpPr txBox="1"/>
          <p:nvPr/>
        </p:nvSpPr>
        <p:spPr>
          <a:xfrm>
            <a:off x="551862" y="5927806"/>
            <a:ext cx="1744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/>
              <a:t>vi001 Vinculação</a:t>
            </a:r>
          </a:p>
        </p:txBody>
      </p:sp>
      <p:sp>
        <p:nvSpPr>
          <p:cNvPr id="247" name="Retângulo 246"/>
          <p:cNvSpPr/>
          <p:nvPr/>
        </p:nvSpPr>
        <p:spPr>
          <a:xfrm>
            <a:off x="551233" y="6194497"/>
            <a:ext cx="1854000" cy="25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8" name="CaixaDeTexto 247"/>
          <p:cNvSpPr txBox="1"/>
          <p:nvPr/>
        </p:nvSpPr>
        <p:spPr>
          <a:xfrm>
            <a:off x="551231" y="6179933"/>
            <a:ext cx="1644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/>
              <a:t>ct081 </a:t>
            </a:r>
            <a:r>
              <a:rPr lang="pt-PT" sz="1200" dirty="0" err="1"/>
              <a:t>Finrep</a:t>
            </a:r>
            <a:endParaRPr lang="pt-PT" sz="1200" dirty="0"/>
          </a:p>
        </p:txBody>
      </p:sp>
      <p:sp>
        <p:nvSpPr>
          <p:cNvPr id="256" name="Retângulo 255"/>
          <p:cNvSpPr/>
          <p:nvPr/>
        </p:nvSpPr>
        <p:spPr>
          <a:xfrm>
            <a:off x="550640" y="6446086"/>
            <a:ext cx="1854000" cy="25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60" name="CaixaDeTexto 259"/>
          <p:cNvSpPr txBox="1"/>
          <p:nvPr/>
        </p:nvSpPr>
        <p:spPr>
          <a:xfrm>
            <a:off x="550638" y="6431522"/>
            <a:ext cx="1678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/>
              <a:t>ct063 Retalho / </a:t>
            </a:r>
            <a:r>
              <a:rPr lang="pt-PT" sz="1200" dirty="0" err="1"/>
              <a:t>PMEs</a:t>
            </a:r>
            <a:endParaRPr lang="pt-PT" sz="1200" dirty="0"/>
          </a:p>
        </p:txBody>
      </p:sp>
      <p:cxnSp>
        <p:nvCxnSpPr>
          <p:cNvPr id="453" name="Conexão em ângulos retos 452"/>
          <p:cNvCxnSpPr>
            <a:stCxn id="341" idx="1"/>
            <a:endCxn id="303" idx="1"/>
          </p:cNvCxnSpPr>
          <p:nvPr/>
        </p:nvCxnSpPr>
        <p:spPr>
          <a:xfrm rot="10800000" flipH="1">
            <a:off x="576000" y="1720521"/>
            <a:ext cx="1662" cy="1910432"/>
          </a:xfrm>
          <a:prstGeom prst="bentConnector3">
            <a:avLst>
              <a:gd name="adj1" fmla="val -26076294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exão em ângulos retos 189"/>
          <p:cNvCxnSpPr>
            <a:stCxn id="27" idx="3"/>
            <a:endCxn id="198" idx="1"/>
          </p:cNvCxnSpPr>
          <p:nvPr/>
        </p:nvCxnSpPr>
        <p:spPr>
          <a:xfrm>
            <a:off x="7285324" y="2555727"/>
            <a:ext cx="402440" cy="26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xão em ângulos retos 202"/>
          <p:cNvCxnSpPr>
            <a:stCxn id="226" idx="1"/>
            <a:endCxn id="198" idx="3"/>
          </p:cNvCxnSpPr>
          <p:nvPr/>
        </p:nvCxnSpPr>
        <p:spPr>
          <a:xfrm rot="10800000">
            <a:off x="9660564" y="2555987"/>
            <a:ext cx="231338" cy="158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" name="Grupo 214"/>
          <p:cNvGrpSpPr/>
          <p:nvPr/>
        </p:nvGrpSpPr>
        <p:grpSpPr>
          <a:xfrm>
            <a:off x="557228" y="4606998"/>
            <a:ext cx="2289770" cy="1005172"/>
            <a:chOff x="4270643" y="6772921"/>
            <a:chExt cx="2289770" cy="1005172"/>
          </a:xfrm>
        </p:grpSpPr>
        <p:sp>
          <p:nvSpPr>
            <p:cNvPr id="220" name="Fluxograma: multidocumentos 219"/>
            <p:cNvSpPr/>
            <p:nvPr/>
          </p:nvSpPr>
          <p:spPr>
            <a:xfrm>
              <a:off x="4277675" y="7055259"/>
              <a:ext cx="1854000" cy="698493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aseline="30000" dirty="0"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237" name="CaixaDeTexto 236"/>
            <p:cNvSpPr txBox="1"/>
            <p:nvPr/>
          </p:nvSpPr>
          <p:spPr>
            <a:xfrm>
              <a:off x="4286860" y="7148890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Contrato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246" name="CaixaDeTexto 245"/>
            <p:cNvSpPr txBox="1"/>
            <p:nvPr/>
          </p:nvSpPr>
          <p:spPr>
            <a:xfrm>
              <a:off x="4288124" y="7501094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52" name="CaixaDeTexto 251"/>
            <p:cNvSpPr txBox="1"/>
            <p:nvPr/>
          </p:nvSpPr>
          <p:spPr>
            <a:xfrm>
              <a:off x="4287345" y="7329688"/>
              <a:ext cx="18847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Emitente </a:t>
              </a:r>
              <a:r>
                <a:rPr lang="pt-PT" sz="800" dirty="0"/>
                <a:t>(</a:t>
              </a:r>
              <a:r>
                <a:rPr lang="pt-PT" sz="800" dirty="0" err="1"/>
                <a:t>zcliente_emitente</a:t>
              </a:r>
              <a:r>
                <a:rPr lang="pt-PT" sz="800" dirty="0"/>
                <a:t>)</a:t>
              </a:r>
            </a:p>
          </p:txBody>
        </p:sp>
        <p:sp>
          <p:nvSpPr>
            <p:cNvPr id="263" name="CaixaDeTexto 262"/>
            <p:cNvSpPr txBox="1"/>
            <p:nvPr/>
          </p:nvSpPr>
          <p:spPr>
            <a:xfrm>
              <a:off x="4270643" y="6772921"/>
              <a:ext cx="22897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(MA) Dicionário títulos </a:t>
              </a:r>
              <a:r>
                <a:rPr lang="pt-PT" sz="1000" dirty="0"/>
                <a:t>(ct610)</a:t>
              </a:r>
            </a:p>
          </p:txBody>
        </p:sp>
      </p:grpSp>
      <p:cxnSp>
        <p:nvCxnSpPr>
          <p:cNvPr id="261" name="Conexão em ângulos retos 260"/>
          <p:cNvCxnSpPr>
            <a:stCxn id="88" idx="1"/>
            <a:endCxn id="252" idx="1"/>
          </p:cNvCxnSpPr>
          <p:nvPr/>
        </p:nvCxnSpPr>
        <p:spPr>
          <a:xfrm rot="10800000" flipV="1">
            <a:off x="573930" y="2709433"/>
            <a:ext cx="3758" cy="2592832"/>
          </a:xfrm>
          <a:prstGeom prst="bentConnector3">
            <a:avLst>
              <a:gd name="adj1" fmla="val 6183023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exão em ângulos retos 282"/>
          <p:cNvCxnSpPr>
            <a:stCxn id="27" idx="1"/>
            <a:endCxn id="88" idx="3"/>
          </p:cNvCxnSpPr>
          <p:nvPr/>
        </p:nvCxnSpPr>
        <p:spPr>
          <a:xfrm rot="10800000" flipV="1">
            <a:off x="2431688" y="2555727"/>
            <a:ext cx="2880836" cy="15370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exão em ângulos retos 280"/>
          <p:cNvCxnSpPr>
            <a:stCxn id="119" idx="3"/>
            <a:endCxn id="378" idx="1"/>
          </p:cNvCxnSpPr>
          <p:nvPr/>
        </p:nvCxnSpPr>
        <p:spPr>
          <a:xfrm flipV="1">
            <a:off x="7293332" y="911450"/>
            <a:ext cx="567102" cy="1050"/>
          </a:xfrm>
          <a:prstGeom prst="bentConnector3">
            <a:avLst>
              <a:gd name="adj1" fmla="val 50000"/>
            </a:avLst>
          </a:prstGeom>
          <a:ln w="19050">
            <a:solidFill>
              <a:srgbClr val="00B0F0">
                <a:alpha val="50000"/>
              </a:srgb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onexão em ângulos retos 288"/>
          <p:cNvCxnSpPr>
            <a:stCxn id="120" idx="3"/>
            <a:endCxn id="379" idx="1"/>
          </p:cNvCxnSpPr>
          <p:nvPr/>
        </p:nvCxnSpPr>
        <p:spPr>
          <a:xfrm flipV="1">
            <a:off x="7293332" y="1090974"/>
            <a:ext cx="567102" cy="1526"/>
          </a:xfrm>
          <a:prstGeom prst="bentConnector3">
            <a:avLst>
              <a:gd name="adj1" fmla="val 50000"/>
            </a:avLst>
          </a:prstGeom>
          <a:ln w="19050">
            <a:solidFill>
              <a:srgbClr val="00B0F0">
                <a:alpha val="50000"/>
              </a:srgb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exão em ângulos retos 263"/>
          <p:cNvCxnSpPr>
            <a:stCxn id="237" idx="1"/>
            <a:endCxn id="341" idx="1"/>
          </p:cNvCxnSpPr>
          <p:nvPr/>
        </p:nvCxnSpPr>
        <p:spPr>
          <a:xfrm rot="10800000" flipH="1">
            <a:off x="573444" y="3630953"/>
            <a:ext cx="2555" cy="1490514"/>
          </a:xfrm>
          <a:prstGeom prst="bentConnector3">
            <a:avLst>
              <a:gd name="adj1" fmla="val -1677593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exão em ângulos retos 264"/>
          <p:cNvCxnSpPr>
            <a:stCxn id="303" idx="1"/>
            <a:endCxn id="337" idx="1"/>
          </p:cNvCxnSpPr>
          <p:nvPr/>
        </p:nvCxnSpPr>
        <p:spPr>
          <a:xfrm rot="10800000" flipH="1">
            <a:off x="577662" y="739907"/>
            <a:ext cx="2290" cy="980615"/>
          </a:xfrm>
          <a:prstGeom prst="bentConnector3">
            <a:avLst>
              <a:gd name="adj1" fmla="val -18509301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Fluxograma: subrotina 208">
            <a:extLst>
              <a:ext uri="{FF2B5EF4-FFF2-40B4-BE49-F238E27FC236}">
                <a16:creationId xmlns:a16="http://schemas.microsoft.com/office/drawing/2014/main" id="{7E1CF79D-317E-427E-AE83-EC0DE42AF519}"/>
              </a:ext>
            </a:extLst>
          </p:cNvPr>
          <p:cNvSpPr/>
          <p:nvPr/>
        </p:nvSpPr>
        <p:spPr>
          <a:xfrm>
            <a:off x="3010400" y="1211602"/>
            <a:ext cx="1548000" cy="108000"/>
          </a:xfrm>
          <a:prstGeom prst="flowChartPredefinedProcess">
            <a:avLst/>
          </a:prstGeom>
          <a:solidFill>
            <a:schemeClr val="bg1"/>
          </a:solidFill>
          <a:ln w="6350" cap="flat"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al816 Param. tipo balanco</a:t>
            </a:r>
          </a:p>
        </p:txBody>
      </p:sp>
      <p:grpSp>
        <p:nvGrpSpPr>
          <p:cNvPr id="204" name="Grupo 15">
            <a:extLst>
              <a:ext uri="{FF2B5EF4-FFF2-40B4-BE49-F238E27FC236}">
                <a16:creationId xmlns:a16="http://schemas.microsoft.com/office/drawing/2014/main" id="{5F7E7F8A-A3EA-457B-81F6-8328DF241CAD}"/>
              </a:ext>
            </a:extLst>
          </p:cNvPr>
          <p:cNvGrpSpPr/>
          <p:nvPr/>
        </p:nvGrpSpPr>
        <p:grpSpPr>
          <a:xfrm>
            <a:off x="5310097" y="5311838"/>
            <a:ext cx="2264002" cy="989592"/>
            <a:chOff x="7152198" y="2278064"/>
            <a:chExt cx="2264002" cy="989592"/>
          </a:xfrm>
        </p:grpSpPr>
        <p:sp>
          <p:nvSpPr>
            <p:cNvPr id="207" name="Retângulo 3">
              <a:extLst>
                <a:ext uri="{FF2B5EF4-FFF2-40B4-BE49-F238E27FC236}">
                  <a16:creationId xmlns:a16="http://schemas.microsoft.com/office/drawing/2014/main" id="{CAB2B5B9-88DF-4CAA-9785-DEDD1E3CB9E2}"/>
                </a:ext>
              </a:extLst>
            </p:cNvPr>
            <p:cNvSpPr/>
            <p:nvPr/>
          </p:nvSpPr>
          <p:spPr>
            <a:xfrm>
              <a:off x="7152201" y="2587352"/>
              <a:ext cx="1980000" cy="6803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11" name="CaixaDeTexto 24">
              <a:extLst>
                <a:ext uri="{FF2B5EF4-FFF2-40B4-BE49-F238E27FC236}">
                  <a16:creationId xmlns:a16="http://schemas.microsoft.com/office/drawing/2014/main" id="{27F729AD-FAB7-40CA-ACEB-B3559054D0D9}"/>
                </a:ext>
              </a:extLst>
            </p:cNvPr>
            <p:cNvSpPr txBox="1"/>
            <p:nvPr/>
          </p:nvSpPr>
          <p:spPr>
            <a:xfrm>
              <a:off x="7152199" y="2278064"/>
              <a:ext cx="2264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(AL) </a:t>
              </a:r>
              <a:r>
                <a:rPr lang="pt-PT" sz="1400" b="1" dirty="0" err="1"/>
                <a:t>Trz</a:t>
              </a:r>
              <a:r>
                <a:rPr lang="pt-PT" sz="1400" b="1" dirty="0"/>
                <a:t>. </a:t>
              </a:r>
              <a:r>
                <a:rPr lang="pt-PT" sz="1400" b="1" dirty="0" err="1"/>
                <a:t>Contr</a:t>
              </a:r>
              <a:r>
                <a:rPr lang="pt-PT" sz="1400" b="1" dirty="0"/>
                <a:t>. / </a:t>
              </a:r>
              <a:r>
                <a:rPr lang="pt-PT" sz="1400" b="1" dirty="0" err="1"/>
                <a:t>Colat</a:t>
              </a:r>
              <a:r>
                <a:rPr lang="pt-PT" sz="1400" b="1" dirty="0"/>
                <a:t> </a:t>
              </a:r>
              <a:r>
                <a:rPr lang="pt-PT" sz="1000" dirty="0"/>
                <a:t>(al036)</a:t>
              </a:r>
            </a:p>
          </p:txBody>
        </p:sp>
        <p:sp>
          <p:nvSpPr>
            <p:cNvPr id="212" name="CaixaDeTexto 25">
              <a:extLst>
                <a:ext uri="{FF2B5EF4-FFF2-40B4-BE49-F238E27FC236}">
                  <a16:creationId xmlns:a16="http://schemas.microsoft.com/office/drawing/2014/main" id="{C98965DF-9045-450E-8993-309364C44BF7}"/>
                </a:ext>
              </a:extLst>
            </p:cNvPr>
            <p:cNvSpPr txBox="1"/>
            <p:nvPr/>
          </p:nvSpPr>
          <p:spPr>
            <a:xfrm>
              <a:off x="7152198" y="2587600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/>
                <a:t>Contrato ALM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213" name="CaixaDeTexto 26">
              <a:extLst>
                <a:ext uri="{FF2B5EF4-FFF2-40B4-BE49-F238E27FC236}">
                  <a16:creationId xmlns:a16="http://schemas.microsoft.com/office/drawing/2014/main" id="{DEC857B2-E197-4608-906D-991626EE9C89}"/>
                </a:ext>
              </a:extLst>
            </p:cNvPr>
            <p:cNvSpPr txBox="1"/>
            <p:nvPr/>
          </p:nvSpPr>
          <p:spPr>
            <a:xfrm>
              <a:off x="7152199" y="2787954"/>
              <a:ext cx="20533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Colateral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cempresa_col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… 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zdeposit_col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16" name="CaixaDeTexto 28">
              <a:extLst>
                <a:ext uri="{FF2B5EF4-FFF2-40B4-BE49-F238E27FC236}">
                  <a16:creationId xmlns:a16="http://schemas.microsoft.com/office/drawing/2014/main" id="{6930FA96-070F-4971-B6E7-35CD75D30DB4}"/>
                </a:ext>
              </a:extLst>
            </p:cNvPr>
            <p:cNvSpPr txBox="1"/>
            <p:nvPr/>
          </p:nvSpPr>
          <p:spPr>
            <a:xfrm>
              <a:off x="7152199" y="2985373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266" name="Grupo 15">
            <a:extLst>
              <a:ext uri="{FF2B5EF4-FFF2-40B4-BE49-F238E27FC236}">
                <a16:creationId xmlns:a16="http://schemas.microsoft.com/office/drawing/2014/main" id="{F8C0B1D3-2156-4208-A877-86CA936B5E3D}"/>
              </a:ext>
            </a:extLst>
          </p:cNvPr>
          <p:cNvGrpSpPr/>
          <p:nvPr/>
        </p:nvGrpSpPr>
        <p:grpSpPr>
          <a:xfrm>
            <a:off x="3029706" y="5504670"/>
            <a:ext cx="2053344" cy="806553"/>
            <a:chOff x="7152199" y="2278064"/>
            <a:chExt cx="2053344" cy="806553"/>
          </a:xfrm>
        </p:grpSpPr>
        <p:sp>
          <p:nvSpPr>
            <p:cNvPr id="268" name="Retângulo 3">
              <a:extLst>
                <a:ext uri="{FF2B5EF4-FFF2-40B4-BE49-F238E27FC236}">
                  <a16:creationId xmlns:a16="http://schemas.microsoft.com/office/drawing/2014/main" id="{08A92178-43D3-4581-A6CC-F78209F717E4}"/>
                </a:ext>
              </a:extLst>
            </p:cNvPr>
            <p:cNvSpPr/>
            <p:nvPr/>
          </p:nvSpPr>
          <p:spPr>
            <a:xfrm>
              <a:off x="7152201" y="2587352"/>
              <a:ext cx="2052000" cy="49726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69" name="CaixaDeTexto 24">
              <a:extLst>
                <a:ext uri="{FF2B5EF4-FFF2-40B4-BE49-F238E27FC236}">
                  <a16:creationId xmlns:a16="http://schemas.microsoft.com/office/drawing/2014/main" id="{747F551B-778B-4B30-B4C8-56865B2A1568}"/>
                </a:ext>
              </a:extLst>
            </p:cNvPr>
            <p:cNvSpPr txBox="1"/>
            <p:nvPr/>
          </p:nvSpPr>
          <p:spPr>
            <a:xfrm>
              <a:off x="7152199" y="2278064"/>
              <a:ext cx="1836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(AL) Colaterais </a:t>
              </a:r>
              <a:r>
                <a:rPr lang="pt-PT" sz="1000" dirty="0"/>
                <a:t>(al035)</a:t>
              </a:r>
            </a:p>
          </p:txBody>
        </p:sp>
        <p:sp>
          <p:nvSpPr>
            <p:cNvPr id="276" name="CaixaDeTexto 26">
              <a:extLst>
                <a:ext uri="{FF2B5EF4-FFF2-40B4-BE49-F238E27FC236}">
                  <a16:creationId xmlns:a16="http://schemas.microsoft.com/office/drawing/2014/main" id="{E5957DB4-B2FF-4649-9C3F-803A051A3581}"/>
                </a:ext>
              </a:extLst>
            </p:cNvPr>
            <p:cNvSpPr txBox="1"/>
            <p:nvPr/>
          </p:nvSpPr>
          <p:spPr>
            <a:xfrm>
              <a:off x="7152199" y="2594776"/>
              <a:ext cx="20533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Colateral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cempresa_col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… 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zdeposit_col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84" name="CaixaDeTexto 28">
              <a:extLst>
                <a:ext uri="{FF2B5EF4-FFF2-40B4-BE49-F238E27FC236}">
                  <a16:creationId xmlns:a16="http://schemas.microsoft.com/office/drawing/2014/main" id="{1CEF30B6-6033-4053-B272-E1E3AD952439}"/>
                </a:ext>
              </a:extLst>
            </p:cNvPr>
            <p:cNvSpPr txBox="1"/>
            <p:nvPr/>
          </p:nvSpPr>
          <p:spPr>
            <a:xfrm>
              <a:off x="7152199" y="2792195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285" name="Conexão em ângulos retos 182">
            <a:extLst>
              <a:ext uri="{FF2B5EF4-FFF2-40B4-BE49-F238E27FC236}">
                <a16:creationId xmlns:a16="http://schemas.microsoft.com/office/drawing/2014/main" id="{ED76438B-60D3-416A-8909-CAB7CF001620}"/>
              </a:ext>
            </a:extLst>
          </p:cNvPr>
          <p:cNvCxnSpPr>
            <a:cxnSpLocks/>
            <a:stCxn id="276" idx="3"/>
            <a:endCxn id="213" idx="1"/>
          </p:cNvCxnSpPr>
          <p:nvPr/>
        </p:nvCxnSpPr>
        <p:spPr>
          <a:xfrm>
            <a:off x="5083050" y="5959882"/>
            <a:ext cx="227048" cy="34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onexão em ângulos retos 182">
            <a:extLst>
              <a:ext uri="{FF2B5EF4-FFF2-40B4-BE49-F238E27FC236}">
                <a16:creationId xmlns:a16="http://schemas.microsoft.com/office/drawing/2014/main" id="{60D59D72-7821-4BB9-B1A2-D62B0D6B759F}"/>
              </a:ext>
            </a:extLst>
          </p:cNvPr>
          <p:cNvCxnSpPr>
            <a:cxnSpLocks/>
            <a:stCxn id="26" idx="1"/>
            <a:endCxn id="212" idx="1"/>
          </p:cNvCxnSpPr>
          <p:nvPr/>
        </p:nvCxnSpPr>
        <p:spPr>
          <a:xfrm rot="10800000" flipV="1">
            <a:off x="5310097" y="2355372"/>
            <a:ext cx="2426" cy="3404501"/>
          </a:xfrm>
          <a:prstGeom prst="bentConnector3">
            <a:avLst>
              <a:gd name="adj1" fmla="val 6603174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31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tângulo 331"/>
          <p:cNvSpPr/>
          <p:nvPr/>
        </p:nvSpPr>
        <p:spPr>
          <a:xfrm>
            <a:off x="2893345" y="424983"/>
            <a:ext cx="9117489" cy="5975121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cxnSp>
        <p:nvCxnSpPr>
          <p:cNvPr id="409" name="Conexão em ângulos retos 408"/>
          <p:cNvCxnSpPr>
            <a:stCxn id="244" idx="3"/>
            <a:endCxn id="412" idx="3"/>
          </p:cNvCxnSpPr>
          <p:nvPr/>
        </p:nvCxnSpPr>
        <p:spPr>
          <a:xfrm flipV="1">
            <a:off x="7065561" y="2976730"/>
            <a:ext cx="224083" cy="321036"/>
          </a:xfrm>
          <a:prstGeom prst="bentConnector3">
            <a:avLst>
              <a:gd name="adj1" fmla="val 217982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onexão em ângulos retos 317"/>
          <p:cNvCxnSpPr>
            <a:stCxn id="222" idx="1"/>
            <a:endCxn id="412" idx="3"/>
          </p:cNvCxnSpPr>
          <p:nvPr/>
        </p:nvCxnSpPr>
        <p:spPr>
          <a:xfrm rot="10800000">
            <a:off x="7289645" y="2976730"/>
            <a:ext cx="399603" cy="1950206"/>
          </a:xfrm>
          <a:prstGeom prst="bentConnector3">
            <a:avLst>
              <a:gd name="adj1" fmla="val 34035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exão em ângulos retos 177"/>
          <p:cNvCxnSpPr>
            <a:stCxn id="95" idx="3"/>
            <a:endCxn id="200" idx="2"/>
          </p:cNvCxnSpPr>
          <p:nvPr/>
        </p:nvCxnSpPr>
        <p:spPr>
          <a:xfrm flipV="1">
            <a:off x="2384587" y="3082537"/>
            <a:ext cx="6289577" cy="1062533"/>
          </a:xfrm>
          <a:prstGeom prst="bentConnector2">
            <a:avLst/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exão em ângulos retos 281"/>
          <p:cNvCxnSpPr>
            <a:stCxn id="95" idx="3"/>
            <a:endCxn id="228" idx="2"/>
          </p:cNvCxnSpPr>
          <p:nvPr/>
        </p:nvCxnSpPr>
        <p:spPr>
          <a:xfrm flipV="1">
            <a:off x="2384587" y="3084123"/>
            <a:ext cx="8493715" cy="1060947"/>
          </a:xfrm>
          <a:prstGeom prst="bentConnector2">
            <a:avLst/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Conexão em ângulos retos 400"/>
          <p:cNvCxnSpPr>
            <a:stCxn id="252" idx="3"/>
          </p:cNvCxnSpPr>
          <p:nvPr/>
        </p:nvCxnSpPr>
        <p:spPr>
          <a:xfrm flipV="1">
            <a:off x="2458637" y="2847932"/>
            <a:ext cx="2828912" cy="245433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 6"/>
          <p:cNvSpPr/>
          <p:nvPr/>
        </p:nvSpPr>
        <p:spPr>
          <a:xfrm>
            <a:off x="7494986" y="2925889"/>
            <a:ext cx="2311602" cy="7270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6" name="Grupo 15"/>
          <p:cNvGrpSpPr/>
          <p:nvPr/>
        </p:nvGrpSpPr>
        <p:grpSpPr>
          <a:xfrm>
            <a:off x="5312523" y="1907337"/>
            <a:ext cx="1980003" cy="1186382"/>
            <a:chOff x="7152198" y="2278064"/>
            <a:chExt cx="1980003" cy="1186382"/>
          </a:xfrm>
        </p:grpSpPr>
        <p:sp>
          <p:nvSpPr>
            <p:cNvPr id="4" name="Retângulo 3"/>
            <p:cNvSpPr/>
            <p:nvPr/>
          </p:nvSpPr>
          <p:spPr>
            <a:xfrm>
              <a:off x="7152201" y="2587352"/>
              <a:ext cx="1980000" cy="8770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7152200" y="2278064"/>
              <a:ext cx="189011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(AL) Core ms. </a:t>
              </a:r>
              <a:r>
                <a:rPr lang="pt-PT" sz="1000" dirty="0"/>
                <a:t>(al001)</a:t>
              </a:r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7152198" y="2587600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/>
                <a:t>Contrato ALM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27" name="CaixaDeTexto 26"/>
            <p:cNvSpPr txBox="1"/>
            <p:nvPr/>
          </p:nvSpPr>
          <p:spPr>
            <a:xfrm>
              <a:off x="7152199" y="2787954"/>
              <a:ext cx="1972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8" name="CaixaDeTexto 27"/>
            <p:cNvSpPr txBox="1"/>
            <p:nvPr/>
          </p:nvSpPr>
          <p:spPr>
            <a:xfrm>
              <a:off x="7152199" y="2984200"/>
              <a:ext cx="1972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Tipo Balanço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tipo_balanco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7152199" y="3182698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sp>
        <p:nvSpPr>
          <p:cNvPr id="95" name="CaixaDeTexto 94"/>
          <p:cNvSpPr txBox="1"/>
          <p:nvPr/>
        </p:nvSpPr>
        <p:spPr>
          <a:xfrm>
            <a:off x="156758" y="3991181"/>
            <a:ext cx="2227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grpSp>
        <p:nvGrpSpPr>
          <p:cNvPr id="38" name="Grupo 37"/>
          <p:cNvGrpSpPr/>
          <p:nvPr/>
        </p:nvGrpSpPr>
        <p:grpSpPr>
          <a:xfrm>
            <a:off x="7676738" y="494035"/>
            <a:ext cx="1531223" cy="992223"/>
            <a:chOff x="7549736" y="781901"/>
            <a:chExt cx="1531223" cy="992223"/>
          </a:xfrm>
        </p:grpSpPr>
        <p:sp>
          <p:nvSpPr>
            <p:cNvPr id="355" name="Retângulo 354"/>
            <p:cNvSpPr/>
            <p:nvPr/>
          </p:nvSpPr>
          <p:spPr>
            <a:xfrm>
              <a:off x="7549736" y="788440"/>
              <a:ext cx="1531223" cy="985684"/>
            </a:xfrm>
            <a:prstGeom prst="rect">
              <a:avLst/>
            </a:prstGeom>
            <a:solidFill>
              <a:schemeClr val="bg1">
                <a:lumMod val="5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/>
            </a:p>
          </p:txBody>
        </p:sp>
        <p:sp>
          <p:nvSpPr>
            <p:cNvPr id="375" name="Retângulo 374"/>
            <p:cNvSpPr/>
            <p:nvPr/>
          </p:nvSpPr>
          <p:spPr>
            <a:xfrm>
              <a:off x="7733523" y="1075432"/>
              <a:ext cx="1143021" cy="5926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78" name="CaixaDeTexto 377"/>
            <p:cNvSpPr txBox="1"/>
            <p:nvPr/>
          </p:nvSpPr>
          <p:spPr>
            <a:xfrm>
              <a:off x="7733432" y="1060816"/>
              <a:ext cx="104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Entidade</a:t>
              </a:r>
            </a:p>
          </p:txBody>
        </p:sp>
        <p:sp>
          <p:nvSpPr>
            <p:cNvPr id="379" name="CaixaDeTexto 378"/>
            <p:cNvSpPr txBox="1"/>
            <p:nvPr/>
          </p:nvSpPr>
          <p:spPr>
            <a:xfrm>
              <a:off x="7733432" y="1240340"/>
              <a:ext cx="104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Perímetro</a:t>
              </a:r>
            </a:p>
          </p:txBody>
        </p:sp>
        <p:sp>
          <p:nvSpPr>
            <p:cNvPr id="380" name="CaixaDeTexto 379"/>
            <p:cNvSpPr txBox="1"/>
            <p:nvPr/>
          </p:nvSpPr>
          <p:spPr>
            <a:xfrm>
              <a:off x="7735037" y="1420816"/>
              <a:ext cx="104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</a:p>
          </p:txBody>
        </p:sp>
        <p:sp>
          <p:nvSpPr>
            <p:cNvPr id="376" name="CaixaDeTexto 375"/>
            <p:cNvSpPr txBox="1"/>
            <p:nvPr/>
          </p:nvSpPr>
          <p:spPr>
            <a:xfrm>
              <a:off x="7770896" y="781901"/>
              <a:ext cx="1074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Filtros</a:t>
              </a:r>
            </a:p>
          </p:txBody>
        </p:sp>
      </p:grpSp>
      <p:grpSp>
        <p:nvGrpSpPr>
          <p:cNvPr id="107" name="Grupo 106"/>
          <p:cNvGrpSpPr/>
          <p:nvPr/>
        </p:nvGrpSpPr>
        <p:grpSpPr>
          <a:xfrm>
            <a:off x="577336" y="2263406"/>
            <a:ext cx="1903643" cy="782951"/>
            <a:chOff x="577336" y="1514244"/>
            <a:chExt cx="1903643" cy="782951"/>
          </a:xfrm>
        </p:grpSpPr>
        <p:sp>
          <p:nvSpPr>
            <p:cNvPr id="86" name="Retângulo 85"/>
            <p:cNvSpPr/>
            <p:nvPr/>
          </p:nvSpPr>
          <p:spPr>
            <a:xfrm>
              <a:off x="578282" y="1824071"/>
              <a:ext cx="1854000" cy="4471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87" name="CaixaDeTexto 86"/>
            <p:cNvSpPr txBox="1"/>
            <p:nvPr/>
          </p:nvSpPr>
          <p:spPr>
            <a:xfrm>
              <a:off x="577336" y="1514244"/>
              <a:ext cx="19036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(AU) Clientes </a:t>
              </a:r>
              <a:r>
                <a:rPr lang="pt-PT" sz="1000" dirty="0"/>
                <a:t>(ct084)</a:t>
              </a:r>
            </a:p>
          </p:txBody>
        </p:sp>
        <p:sp>
          <p:nvSpPr>
            <p:cNvPr id="88" name="CaixaDeTexto 87"/>
            <p:cNvSpPr txBox="1"/>
            <p:nvPr/>
          </p:nvSpPr>
          <p:spPr>
            <a:xfrm>
              <a:off x="577688" y="1821771"/>
              <a:ext cx="185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Cliente Universo </a:t>
              </a:r>
              <a:r>
                <a:rPr lang="pt-PT" sz="1200" baseline="30000" dirty="0"/>
                <a:t>(1)</a:t>
              </a:r>
              <a:r>
                <a:rPr lang="pt-PT" sz="800" dirty="0"/>
                <a:t> (</a:t>
              </a:r>
              <a:r>
                <a:rPr lang="pt-PT" sz="800" dirty="0" err="1"/>
                <a:t>zcliente</a:t>
              </a:r>
              <a:r>
                <a:rPr lang="pt-PT" sz="800" dirty="0"/>
                <a:t>)</a:t>
              </a:r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577687" y="2020196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sp>
        <p:nvSpPr>
          <p:cNvPr id="102" name="CaixaDeTexto 101"/>
          <p:cNvSpPr txBox="1"/>
          <p:nvPr/>
        </p:nvSpPr>
        <p:spPr>
          <a:xfrm>
            <a:off x="2895608" y="6400104"/>
            <a:ext cx="892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aseline="30000" dirty="0"/>
              <a:t>(1)</a:t>
            </a:r>
            <a:r>
              <a:rPr lang="pt-PT" sz="1200" dirty="0"/>
              <a:t> Um contrato ALM pode corresponder a um ou mais contratos do universo, e vice-versa; havendo pois relações 1x1, 1xn e nx1. </a:t>
            </a:r>
            <a:endParaRPr lang="pt-PT" sz="1200" baseline="30000" dirty="0"/>
          </a:p>
        </p:txBody>
      </p:sp>
      <p:sp>
        <p:nvSpPr>
          <p:cNvPr id="127" name="CaixaDeTexto 126"/>
          <p:cNvSpPr txBox="1"/>
          <p:nvPr/>
        </p:nvSpPr>
        <p:spPr>
          <a:xfrm>
            <a:off x="245912" y="0"/>
            <a:ext cx="662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FF0000"/>
                </a:solidFill>
              </a:rPr>
              <a:t>MODELO RELACIONAL - ALM (DATA LAKE) – Módulo Core (Diário)</a:t>
            </a:r>
          </a:p>
        </p:txBody>
      </p:sp>
      <p:grpSp>
        <p:nvGrpSpPr>
          <p:cNvPr id="106" name="Grupo 105"/>
          <p:cNvGrpSpPr/>
          <p:nvPr/>
        </p:nvGrpSpPr>
        <p:grpSpPr>
          <a:xfrm>
            <a:off x="3005692" y="1449543"/>
            <a:ext cx="2240442" cy="973043"/>
            <a:chOff x="3005692" y="2237560"/>
            <a:chExt cx="2240442" cy="973043"/>
          </a:xfrm>
        </p:grpSpPr>
        <p:sp>
          <p:nvSpPr>
            <p:cNvPr id="231" name="Retângulo 230"/>
            <p:cNvSpPr/>
            <p:nvPr/>
          </p:nvSpPr>
          <p:spPr>
            <a:xfrm>
              <a:off x="3005966" y="2546944"/>
              <a:ext cx="1998230" cy="6481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32" name="CaixaDeTexto 231"/>
            <p:cNvSpPr txBox="1"/>
            <p:nvPr/>
          </p:nvSpPr>
          <p:spPr>
            <a:xfrm>
              <a:off x="3005966" y="2237560"/>
              <a:ext cx="2240168" cy="307777"/>
            </a:xfrm>
            <a:prstGeom prst="rect">
              <a:avLst/>
            </a:prstGeom>
            <a:noFill/>
          </p:spPr>
          <p:txBody>
            <a:bodyPr wrap="square" lIns="36000" rIns="0" rtlCol="0">
              <a:spAutoFit/>
            </a:bodyPr>
            <a:lstStyle/>
            <a:p>
              <a:r>
                <a:rPr lang="pt-PT" sz="1400" b="1" dirty="0"/>
                <a:t>(AL) Tradutor </a:t>
              </a:r>
              <a:r>
                <a:rPr lang="pt-PT" sz="1000" dirty="0"/>
                <a:t>(</a:t>
              </a:r>
              <a:r>
                <a:rPr lang="pt-PT" sz="1000" dirty="0" err="1"/>
                <a:t>kt_chaves_alm</a:t>
              </a:r>
              <a:r>
                <a:rPr lang="pt-PT" sz="1000" dirty="0"/>
                <a:t>)</a:t>
              </a:r>
            </a:p>
          </p:txBody>
        </p:sp>
        <p:sp>
          <p:nvSpPr>
            <p:cNvPr id="233" name="CaixaDeTexto 232"/>
            <p:cNvSpPr txBox="1"/>
            <p:nvPr/>
          </p:nvSpPr>
          <p:spPr>
            <a:xfrm>
              <a:off x="3005965" y="2538382"/>
              <a:ext cx="1990800" cy="277200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 err="1"/>
                <a:t>Contr</a:t>
              </a:r>
              <a:r>
                <a:rPr lang="pt-PT" sz="1200" dirty="0"/>
                <a:t>. ALM </a:t>
              </a:r>
              <a:r>
                <a:rPr lang="pt-PT" sz="1200" baseline="30000" dirty="0"/>
                <a:t>(1)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234" name="CaixaDeTexto 233"/>
            <p:cNvSpPr txBox="1"/>
            <p:nvPr/>
          </p:nvSpPr>
          <p:spPr>
            <a:xfrm>
              <a:off x="3005965" y="2933604"/>
              <a:ext cx="1447812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35" name="CaixaDeTexto 234"/>
            <p:cNvSpPr txBox="1"/>
            <p:nvPr/>
          </p:nvSpPr>
          <p:spPr>
            <a:xfrm>
              <a:off x="3005692" y="2735604"/>
              <a:ext cx="2016000" cy="277200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Contr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Univ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cempresa_master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… 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zdep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.)</a:t>
              </a:r>
            </a:p>
          </p:txBody>
        </p:sp>
      </p:grpSp>
      <p:cxnSp>
        <p:nvCxnSpPr>
          <p:cNvPr id="310" name="Conexão em ângulos retos 309"/>
          <p:cNvCxnSpPr>
            <a:stCxn id="26" idx="1"/>
            <a:endCxn id="233" idx="3"/>
          </p:cNvCxnSpPr>
          <p:nvPr/>
        </p:nvCxnSpPr>
        <p:spPr>
          <a:xfrm rot="10800000">
            <a:off x="4996765" y="1888965"/>
            <a:ext cx="315758" cy="46640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upo 163"/>
          <p:cNvGrpSpPr/>
          <p:nvPr/>
        </p:nvGrpSpPr>
        <p:grpSpPr>
          <a:xfrm>
            <a:off x="576000" y="3196658"/>
            <a:ext cx="1854003" cy="1365661"/>
            <a:chOff x="580789" y="3810640"/>
            <a:chExt cx="1854003" cy="1365661"/>
          </a:xfrm>
        </p:grpSpPr>
        <p:sp>
          <p:nvSpPr>
            <p:cNvPr id="339" name="Retângulo 338"/>
            <p:cNvSpPr/>
            <p:nvPr/>
          </p:nvSpPr>
          <p:spPr>
            <a:xfrm>
              <a:off x="580792" y="4126845"/>
              <a:ext cx="1854000" cy="101547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40" name="CaixaDeTexto 339"/>
            <p:cNvSpPr txBox="1"/>
            <p:nvPr/>
          </p:nvSpPr>
          <p:spPr>
            <a:xfrm>
              <a:off x="584986" y="3810640"/>
              <a:ext cx="18015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(UN) Saldos ms. </a:t>
              </a:r>
              <a:r>
                <a:rPr lang="pt-PT" sz="1000" dirty="0"/>
                <a:t>(ct083)</a:t>
              </a:r>
            </a:p>
          </p:txBody>
        </p:sp>
        <p:sp>
          <p:nvSpPr>
            <p:cNvPr id="341" name="CaixaDeTexto 340"/>
            <p:cNvSpPr txBox="1"/>
            <p:nvPr/>
          </p:nvSpPr>
          <p:spPr>
            <a:xfrm>
              <a:off x="580789" y="4106435"/>
              <a:ext cx="1854000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 err="1"/>
                <a:t>Contr</a:t>
              </a:r>
              <a:r>
                <a:rPr lang="pt-PT" sz="1200" dirty="0"/>
                <a:t>. </a:t>
              </a:r>
              <a:r>
                <a:rPr lang="pt-PT" sz="1200" dirty="0" err="1"/>
                <a:t>Univ</a:t>
              </a:r>
              <a:r>
                <a:rPr lang="pt-PT" sz="1200" dirty="0"/>
                <a:t>.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342" name="CaixaDeTexto 341"/>
            <p:cNvSpPr txBox="1"/>
            <p:nvPr/>
          </p:nvSpPr>
          <p:spPr>
            <a:xfrm>
              <a:off x="580789" y="4305302"/>
              <a:ext cx="185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 Universo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343" name="CaixaDeTexto 342"/>
            <p:cNvSpPr txBox="1"/>
            <p:nvPr/>
          </p:nvSpPr>
          <p:spPr>
            <a:xfrm>
              <a:off x="580789" y="4899302"/>
              <a:ext cx="17608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344" name="CaixaDeTexto 343"/>
            <p:cNvSpPr txBox="1"/>
            <p:nvPr/>
          </p:nvSpPr>
          <p:spPr>
            <a:xfrm>
              <a:off x="580797" y="4503302"/>
              <a:ext cx="17645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Conta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contab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ccontab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_*)</a:t>
              </a:r>
            </a:p>
          </p:txBody>
        </p:sp>
        <p:sp>
          <p:nvSpPr>
            <p:cNvPr id="345" name="CaixaDeTexto 344"/>
            <p:cNvSpPr txBox="1"/>
            <p:nvPr/>
          </p:nvSpPr>
          <p:spPr>
            <a:xfrm>
              <a:off x="580827" y="4701302"/>
              <a:ext cx="1759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Sociedade_contraparte</a:t>
              </a:r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cxnSp>
        <p:nvCxnSpPr>
          <p:cNvPr id="347" name="Conexão em ângulos retos 346"/>
          <p:cNvCxnSpPr>
            <a:stCxn id="341" idx="3"/>
            <a:endCxn id="235" idx="1"/>
          </p:cNvCxnSpPr>
          <p:nvPr/>
        </p:nvCxnSpPr>
        <p:spPr>
          <a:xfrm flipV="1">
            <a:off x="2430000" y="2086187"/>
            <a:ext cx="575692" cy="154476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Retângulo 403"/>
          <p:cNvSpPr/>
          <p:nvPr/>
        </p:nvSpPr>
        <p:spPr>
          <a:xfrm>
            <a:off x="7269092" y="3572187"/>
            <a:ext cx="338603" cy="436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1" name="Grupo 10"/>
          <p:cNvGrpSpPr/>
          <p:nvPr/>
        </p:nvGrpSpPr>
        <p:grpSpPr>
          <a:xfrm>
            <a:off x="577336" y="1278505"/>
            <a:ext cx="2102378" cy="977530"/>
            <a:chOff x="577336" y="1472877"/>
            <a:chExt cx="2102378" cy="977530"/>
          </a:xfrm>
        </p:grpSpPr>
        <p:sp>
          <p:nvSpPr>
            <p:cNvPr id="301" name="Retângulo 300"/>
            <p:cNvSpPr/>
            <p:nvPr/>
          </p:nvSpPr>
          <p:spPr>
            <a:xfrm>
              <a:off x="577336" y="1781935"/>
              <a:ext cx="1854000" cy="64518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02" name="CaixaDeTexto 301"/>
            <p:cNvSpPr txBox="1"/>
            <p:nvPr/>
          </p:nvSpPr>
          <p:spPr>
            <a:xfrm>
              <a:off x="588248" y="1472877"/>
              <a:ext cx="20914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(UN) Contratos ms. </a:t>
              </a:r>
              <a:r>
                <a:rPr lang="pt-PT" sz="1000" dirty="0"/>
                <a:t>(ct085)</a:t>
              </a:r>
            </a:p>
          </p:txBody>
        </p:sp>
        <p:sp>
          <p:nvSpPr>
            <p:cNvPr id="303" name="CaixaDeTexto 302"/>
            <p:cNvSpPr txBox="1"/>
            <p:nvPr/>
          </p:nvSpPr>
          <p:spPr>
            <a:xfrm>
              <a:off x="577662" y="1776293"/>
              <a:ext cx="1854000" cy="27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 err="1"/>
                <a:t>Contr</a:t>
              </a:r>
              <a:r>
                <a:rPr lang="pt-PT" sz="1200" dirty="0"/>
                <a:t>. </a:t>
              </a:r>
              <a:r>
                <a:rPr lang="pt-PT" sz="1200" dirty="0" err="1"/>
                <a:t>Univ</a:t>
              </a:r>
              <a:r>
                <a:rPr lang="pt-PT" sz="800" dirty="0"/>
                <a:t>.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304" name="CaixaDeTexto 303"/>
            <p:cNvSpPr txBox="1"/>
            <p:nvPr/>
          </p:nvSpPr>
          <p:spPr>
            <a:xfrm>
              <a:off x="578926" y="2173408"/>
              <a:ext cx="185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457" name="CaixaDeTexto 456"/>
            <p:cNvSpPr txBox="1"/>
            <p:nvPr/>
          </p:nvSpPr>
          <p:spPr>
            <a:xfrm>
              <a:off x="577555" y="1975408"/>
              <a:ext cx="185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 Universo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461" name="Conexão em ângulos retos 460"/>
          <p:cNvCxnSpPr>
            <a:stCxn id="342" idx="1"/>
            <a:endCxn id="88" idx="1"/>
          </p:cNvCxnSpPr>
          <p:nvPr/>
        </p:nvCxnSpPr>
        <p:spPr>
          <a:xfrm rot="10800000" flipH="1">
            <a:off x="576000" y="2709434"/>
            <a:ext cx="1688" cy="1120387"/>
          </a:xfrm>
          <a:prstGeom prst="bentConnector3">
            <a:avLst>
              <a:gd name="adj1" fmla="val -13542654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CaixaDeTexto 125"/>
          <p:cNvSpPr txBox="1"/>
          <p:nvPr/>
        </p:nvSpPr>
        <p:spPr>
          <a:xfrm>
            <a:off x="2893345" y="6570174"/>
            <a:ext cx="5729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/>
              <a:t>Nota</a:t>
            </a:r>
            <a:r>
              <a:rPr lang="pt-PT" sz="1200" dirty="0"/>
              <a:t>: apesar de não se apresentar essa ligação, o campo Data deve ser ligado ou fixado.</a:t>
            </a:r>
          </a:p>
        </p:txBody>
      </p:sp>
      <p:sp>
        <p:nvSpPr>
          <p:cNvPr id="154" name="CaixaDeTexto 153"/>
          <p:cNvSpPr txBox="1"/>
          <p:nvPr/>
        </p:nvSpPr>
        <p:spPr>
          <a:xfrm>
            <a:off x="7713290" y="4045960"/>
            <a:ext cx="3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59" name="CaixaDeTexto 158"/>
          <p:cNvSpPr txBox="1"/>
          <p:nvPr/>
        </p:nvSpPr>
        <p:spPr>
          <a:xfrm>
            <a:off x="7363442" y="4163724"/>
            <a:ext cx="3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81" name="CaixaDeTexto 180"/>
          <p:cNvSpPr txBox="1"/>
          <p:nvPr/>
        </p:nvSpPr>
        <p:spPr>
          <a:xfrm>
            <a:off x="5288180" y="4629898"/>
            <a:ext cx="3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84" name="CaixaDeTexto 183"/>
          <p:cNvSpPr txBox="1"/>
          <p:nvPr/>
        </p:nvSpPr>
        <p:spPr>
          <a:xfrm>
            <a:off x="6917940" y="4601450"/>
            <a:ext cx="3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87" name="CaixaDeTexto 186"/>
          <p:cNvSpPr txBox="1"/>
          <p:nvPr/>
        </p:nvSpPr>
        <p:spPr>
          <a:xfrm>
            <a:off x="4235900" y="5845428"/>
            <a:ext cx="3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210" name="CaixaDeTexto 209"/>
          <p:cNvSpPr txBox="1"/>
          <p:nvPr/>
        </p:nvSpPr>
        <p:spPr>
          <a:xfrm>
            <a:off x="8829180" y="2987499"/>
            <a:ext cx="38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86" name="Fluxograma: multidocumentos 185"/>
          <p:cNvSpPr/>
          <p:nvPr/>
        </p:nvSpPr>
        <p:spPr>
          <a:xfrm>
            <a:off x="9117849" y="171322"/>
            <a:ext cx="504000" cy="108000"/>
          </a:xfrm>
          <a:prstGeom prst="flowChartMultidocumen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PT" sz="800" baseline="30000">
              <a:solidFill>
                <a:schemeClr val="bg1"/>
              </a:solidFill>
              <a:effectLst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9633261" y="93094"/>
            <a:ext cx="82800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Carga manual</a:t>
            </a:r>
          </a:p>
        </p:txBody>
      </p:sp>
      <p:sp>
        <p:nvSpPr>
          <p:cNvPr id="188" name="Retângulo 187"/>
          <p:cNvSpPr/>
          <p:nvPr/>
        </p:nvSpPr>
        <p:spPr>
          <a:xfrm>
            <a:off x="10733871" y="154152"/>
            <a:ext cx="504000" cy="10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 sz="800" b="0">
              <a:solidFill>
                <a:schemeClr val="tx1"/>
              </a:solidFill>
            </a:endParaRPr>
          </a:p>
        </p:txBody>
      </p:sp>
      <p:sp>
        <p:nvSpPr>
          <p:cNvPr id="191" name="CaixaDeTexto 190"/>
          <p:cNvSpPr txBox="1"/>
          <p:nvPr/>
        </p:nvSpPr>
        <p:spPr>
          <a:xfrm>
            <a:off x="11254710" y="88042"/>
            <a:ext cx="72917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Automático</a:t>
            </a:r>
          </a:p>
        </p:txBody>
      </p:sp>
      <p:sp>
        <p:nvSpPr>
          <p:cNvPr id="239" name="Fluxograma: subrotina 238"/>
          <p:cNvSpPr/>
          <p:nvPr/>
        </p:nvSpPr>
        <p:spPr>
          <a:xfrm>
            <a:off x="7295755" y="158948"/>
            <a:ext cx="504000" cy="108000"/>
          </a:xfrm>
          <a:prstGeom prst="flowChartPredefined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endParaRPr lang="pt-PT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0" name="CaixaDeTexto 239"/>
          <p:cNvSpPr txBox="1"/>
          <p:nvPr/>
        </p:nvSpPr>
        <p:spPr>
          <a:xfrm>
            <a:off x="7814470" y="90157"/>
            <a:ext cx="910996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Parametrização</a:t>
            </a:r>
          </a:p>
        </p:txBody>
      </p:sp>
      <p:sp>
        <p:nvSpPr>
          <p:cNvPr id="241" name="CaixaDeTexto 240"/>
          <p:cNvSpPr txBox="1"/>
          <p:nvPr/>
        </p:nvSpPr>
        <p:spPr>
          <a:xfrm>
            <a:off x="2941190" y="470489"/>
            <a:ext cx="1847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/>
              <a:t>Parametrizações</a:t>
            </a:r>
            <a:endParaRPr lang="pt-PT" sz="1000" dirty="0"/>
          </a:p>
        </p:txBody>
      </p:sp>
      <p:sp>
        <p:nvSpPr>
          <p:cNvPr id="45" name="Fluxograma: subrotina 44"/>
          <p:cNvSpPr/>
          <p:nvPr/>
        </p:nvSpPr>
        <p:spPr>
          <a:xfrm>
            <a:off x="3010554" y="776555"/>
            <a:ext cx="1548000" cy="108000"/>
          </a:xfrm>
          <a:prstGeom prst="flowChartPredefined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ct805 Matriz contas</a:t>
            </a:r>
          </a:p>
        </p:txBody>
      </p:sp>
      <p:sp>
        <p:nvSpPr>
          <p:cNvPr id="205" name="Fluxograma: subrotina 204"/>
          <p:cNvSpPr/>
          <p:nvPr/>
        </p:nvSpPr>
        <p:spPr>
          <a:xfrm>
            <a:off x="3011082" y="885002"/>
            <a:ext cx="1548000" cy="108000"/>
          </a:xfrm>
          <a:prstGeom prst="flowChartPredefinedProcess">
            <a:avLst/>
          </a:prstGeom>
          <a:solidFill>
            <a:schemeClr val="bg1"/>
          </a:solidFill>
          <a:ln w="6350" cap="flat"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al806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Rastr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calc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tx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orig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sp>
        <p:nvSpPr>
          <p:cNvPr id="206" name="Fluxograma: subrotina 205"/>
          <p:cNvSpPr/>
          <p:nvPr/>
        </p:nvSpPr>
        <p:spPr>
          <a:xfrm>
            <a:off x="3010400" y="1321007"/>
            <a:ext cx="1548000" cy="108000"/>
          </a:xfrm>
          <a:prstGeom prst="flowChartPredefinedProcess">
            <a:avLst/>
          </a:prstGeom>
          <a:solidFill>
            <a:schemeClr val="bg1"/>
          </a:solidFill>
          <a:ln w="6350" cap="flat"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al820 Saldos regras</a:t>
            </a:r>
          </a:p>
        </p:txBody>
      </p:sp>
      <p:sp>
        <p:nvSpPr>
          <p:cNvPr id="208" name="Fluxograma: subrotina 207"/>
          <p:cNvSpPr/>
          <p:nvPr/>
        </p:nvSpPr>
        <p:spPr>
          <a:xfrm>
            <a:off x="3011106" y="994217"/>
            <a:ext cx="1548000" cy="108000"/>
          </a:xfrm>
          <a:prstGeom prst="flowChartPredefinedProcess">
            <a:avLst/>
          </a:prstGeom>
          <a:solidFill>
            <a:schemeClr val="bg1"/>
          </a:solidFill>
          <a:ln w="6350" cap="flat"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al812 Exclusões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univ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ALM</a:t>
            </a:r>
          </a:p>
        </p:txBody>
      </p:sp>
      <p:sp>
        <p:nvSpPr>
          <p:cNvPr id="209" name="Fluxograma: subrotina 208"/>
          <p:cNvSpPr/>
          <p:nvPr/>
        </p:nvSpPr>
        <p:spPr>
          <a:xfrm>
            <a:off x="3011788" y="1103373"/>
            <a:ext cx="1548000" cy="108000"/>
          </a:xfrm>
          <a:prstGeom prst="flowChartPredefinedProcess">
            <a:avLst/>
          </a:prstGeom>
          <a:solidFill>
            <a:schemeClr val="bg1"/>
          </a:solidFill>
          <a:ln w="6350" cap="flat"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al814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Rastr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tx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ref</a:t>
            </a:r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/origem</a:t>
            </a:r>
          </a:p>
        </p:txBody>
      </p:sp>
      <p:sp>
        <p:nvSpPr>
          <p:cNvPr id="195" name="Retângulo 194"/>
          <p:cNvSpPr/>
          <p:nvPr/>
        </p:nvSpPr>
        <p:spPr>
          <a:xfrm>
            <a:off x="7687766" y="2216885"/>
            <a:ext cx="1980000" cy="8770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6" name="CaixaDeTexto 195"/>
          <p:cNvSpPr txBox="1"/>
          <p:nvPr/>
        </p:nvSpPr>
        <p:spPr>
          <a:xfrm>
            <a:off x="7687765" y="1907597"/>
            <a:ext cx="2222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/>
              <a:t>(AL) Core Saldos € ms. </a:t>
            </a:r>
            <a:r>
              <a:rPr lang="pt-PT" sz="1000" dirty="0"/>
              <a:t>(al002)</a:t>
            </a:r>
          </a:p>
        </p:txBody>
      </p:sp>
      <p:sp>
        <p:nvSpPr>
          <p:cNvPr id="197" name="CaixaDeTexto 196"/>
          <p:cNvSpPr txBox="1"/>
          <p:nvPr/>
        </p:nvSpPr>
        <p:spPr>
          <a:xfrm>
            <a:off x="7687764" y="2217133"/>
            <a:ext cx="1972800" cy="277200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pt-PT" sz="1200" dirty="0"/>
              <a:t>Contrato ALM</a:t>
            </a:r>
            <a:r>
              <a:rPr lang="pt-PT" sz="800" dirty="0"/>
              <a:t> (</a:t>
            </a:r>
            <a:r>
              <a:rPr lang="pt-PT" sz="800" dirty="0" err="1"/>
              <a:t>cempresa</a:t>
            </a:r>
            <a:r>
              <a:rPr lang="pt-PT" sz="800" dirty="0"/>
              <a:t> … </a:t>
            </a:r>
            <a:r>
              <a:rPr lang="pt-PT" sz="800" dirty="0" err="1"/>
              <a:t>zdeposit</a:t>
            </a:r>
            <a:r>
              <a:rPr lang="pt-PT" sz="800" dirty="0"/>
              <a:t>)</a:t>
            </a:r>
          </a:p>
        </p:txBody>
      </p:sp>
      <p:sp>
        <p:nvSpPr>
          <p:cNvPr id="198" name="CaixaDeTexto 197"/>
          <p:cNvSpPr txBox="1"/>
          <p:nvPr/>
        </p:nvSpPr>
        <p:spPr>
          <a:xfrm>
            <a:off x="7687764" y="2417487"/>
            <a:ext cx="197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chemeClr val="bg2">
                    <a:lumMod val="25000"/>
                  </a:schemeClr>
                </a:solidFill>
              </a:rPr>
              <a:t>Cliente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pt-PT" sz="800" dirty="0" err="1">
                <a:solidFill>
                  <a:schemeClr val="bg2">
                    <a:lumMod val="25000"/>
                  </a:schemeClr>
                </a:solidFill>
              </a:rPr>
              <a:t>zcliente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sp>
        <p:nvSpPr>
          <p:cNvPr id="199" name="CaixaDeTexto 198"/>
          <p:cNvSpPr txBox="1"/>
          <p:nvPr/>
        </p:nvSpPr>
        <p:spPr>
          <a:xfrm>
            <a:off x="7687764" y="2613733"/>
            <a:ext cx="1972800" cy="276999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pt-PT" sz="1200" dirty="0">
                <a:solidFill>
                  <a:schemeClr val="bg2">
                    <a:lumMod val="25000"/>
                  </a:schemeClr>
                </a:solidFill>
              </a:rPr>
              <a:t>Tipo Balanço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pt-PT" sz="800" dirty="0" err="1">
                <a:solidFill>
                  <a:schemeClr val="bg2">
                    <a:lumMod val="25000"/>
                  </a:schemeClr>
                </a:solidFill>
              </a:rPr>
              <a:t>tipo_balanco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sp>
        <p:nvSpPr>
          <p:cNvPr id="200" name="CaixaDeTexto 199"/>
          <p:cNvSpPr txBox="1"/>
          <p:nvPr/>
        </p:nvSpPr>
        <p:spPr>
          <a:xfrm>
            <a:off x="7687764" y="2805538"/>
            <a:ext cx="1972800" cy="276999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pt-PT" sz="1200" dirty="0">
                <a:solidFill>
                  <a:schemeClr val="bg2">
                    <a:lumMod val="25000"/>
                  </a:schemeClr>
                </a:solidFill>
              </a:rPr>
              <a:t>Data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pt-PT" sz="800" dirty="0" err="1">
                <a:solidFill>
                  <a:schemeClr val="bg2">
                    <a:lumMod val="25000"/>
                  </a:schemeClr>
                </a:solidFill>
              </a:rPr>
              <a:t>ref_date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cxnSp>
        <p:nvCxnSpPr>
          <p:cNvPr id="317" name="Conexão em ângulos retos 316"/>
          <p:cNvCxnSpPr>
            <a:stCxn id="197" idx="1"/>
            <a:endCxn id="26" idx="3"/>
          </p:cNvCxnSpPr>
          <p:nvPr/>
        </p:nvCxnSpPr>
        <p:spPr>
          <a:xfrm rot="10800000">
            <a:off x="7285324" y="2355373"/>
            <a:ext cx="402441" cy="3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exão em ângulos retos 216"/>
          <p:cNvCxnSpPr>
            <a:stCxn id="199" idx="1"/>
            <a:endCxn id="28" idx="3"/>
          </p:cNvCxnSpPr>
          <p:nvPr/>
        </p:nvCxnSpPr>
        <p:spPr>
          <a:xfrm rot="10800000">
            <a:off x="7285324" y="2751973"/>
            <a:ext cx="402440" cy="2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8" name="Grupo 217"/>
          <p:cNvGrpSpPr/>
          <p:nvPr/>
        </p:nvGrpSpPr>
        <p:grpSpPr>
          <a:xfrm>
            <a:off x="9872852" y="1909183"/>
            <a:ext cx="2268000" cy="1186382"/>
            <a:chOff x="7133149" y="2278064"/>
            <a:chExt cx="2268000" cy="1186382"/>
          </a:xfrm>
        </p:grpSpPr>
        <p:sp>
          <p:nvSpPr>
            <p:cNvPr id="223" name="Retângulo 222"/>
            <p:cNvSpPr/>
            <p:nvPr/>
          </p:nvSpPr>
          <p:spPr>
            <a:xfrm>
              <a:off x="7152201" y="2587352"/>
              <a:ext cx="1980000" cy="8770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24" name="CaixaDeTexto 223"/>
            <p:cNvSpPr txBox="1"/>
            <p:nvPr/>
          </p:nvSpPr>
          <p:spPr>
            <a:xfrm>
              <a:off x="7133149" y="2278064"/>
              <a:ext cx="2268000" cy="307777"/>
            </a:xfrm>
            <a:prstGeom prst="rect">
              <a:avLst/>
            </a:prstGeom>
            <a:noFill/>
          </p:spPr>
          <p:txBody>
            <a:bodyPr wrap="square" lIns="36000" rIns="0" rtlCol="0">
              <a:spAutoFit/>
            </a:bodyPr>
            <a:lstStyle/>
            <a:p>
              <a:r>
                <a:rPr lang="pt-PT" sz="1400" b="1" dirty="0"/>
                <a:t>(AL) Core Saldos Out ms. </a:t>
              </a:r>
              <a:r>
                <a:rPr lang="pt-PT" sz="1000" dirty="0"/>
                <a:t>(al033)</a:t>
              </a:r>
            </a:p>
          </p:txBody>
        </p:sp>
        <p:sp>
          <p:nvSpPr>
            <p:cNvPr id="225" name="CaixaDeTexto 224"/>
            <p:cNvSpPr txBox="1"/>
            <p:nvPr/>
          </p:nvSpPr>
          <p:spPr>
            <a:xfrm>
              <a:off x="7152199" y="2587600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/>
                <a:t>Contrato ALM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226" name="CaixaDeTexto 225"/>
            <p:cNvSpPr txBox="1"/>
            <p:nvPr/>
          </p:nvSpPr>
          <p:spPr>
            <a:xfrm>
              <a:off x="7152199" y="2787954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27" name="CaixaDeTexto 226"/>
            <p:cNvSpPr txBox="1"/>
            <p:nvPr/>
          </p:nvSpPr>
          <p:spPr>
            <a:xfrm>
              <a:off x="7152199" y="2984200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Tipo Balanço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tipo_balanco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28" name="CaixaDeTexto 227"/>
            <p:cNvSpPr txBox="1"/>
            <p:nvPr/>
          </p:nvSpPr>
          <p:spPr>
            <a:xfrm>
              <a:off x="7152199" y="3176005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229" name="Conexão em ângulos retos 228"/>
          <p:cNvCxnSpPr>
            <a:stCxn id="225" idx="1"/>
            <a:endCxn id="197" idx="3"/>
          </p:cNvCxnSpPr>
          <p:nvPr/>
        </p:nvCxnSpPr>
        <p:spPr>
          <a:xfrm rot="10800000">
            <a:off x="9660564" y="2355733"/>
            <a:ext cx="231338" cy="14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exão em ângulos retos 188"/>
          <p:cNvCxnSpPr>
            <a:stCxn id="227" idx="1"/>
            <a:endCxn id="199" idx="3"/>
          </p:cNvCxnSpPr>
          <p:nvPr/>
        </p:nvCxnSpPr>
        <p:spPr>
          <a:xfrm rot="10800000">
            <a:off x="9660564" y="2752233"/>
            <a:ext cx="231338" cy="15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o 16"/>
          <p:cNvGrpSpPr/>
          <p:nvPr/>
        </p:nvGrpSpPr>
        <p:grpSpPr>
          <a:xfrm>
            <a:off x="5311450" y="455894"/>
            <a:ext cx="2103721" cy="1315105"/>
            <a:chOff x="7151534" y="465418"/>
            <a:chExt cx="2103721" cy="1315105"/>
          </a:xfrm>
        </p:grpSpPr>
        <p:sp>
          <p:nvSpPr>
            <p:cNvPr id="116" name="Retângulo 115"/>
            <p:cNvSpPr/>
            <p:nvPr/>
          </p:nvSpPr>
          <p:spPr>
            <a:xfrm>
              <a:off x="7153418" y="797324"/>
              <a:ext cx="1980000" cy="96256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17" name="CaixaDeTexto 116"/>
            <p:cNvSpPr txBox="1"/>
            <p:nvPr/>
          </p:nvSpPr>
          <p:spPr>
            <a:xfrm>
              <a:off x="7153416" y="465418"/>
              <a:ext cx="21018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(AL) Perímetros ms. </a:t>
              </a:r>
              <a:r>
                <a:rPr lang="pt-PT" sz="1000" dirty="0"/>
                <a:t>(al008)</a:t>
              </a:r>
            </a:p>
          </p:txBody>
        </p:sp>
        <p:sp>
          <p:nvSpPr>
            <p:cNvPr id="118" name="CaixaDeTexto 117"/>
            <p:cNvSpPr txBox="1"/>
            <p:nvPr/>
          </p:nvSpPr>
          <p:spPr>
            <a:xfrm>
              <a:off x="7153417" y="1143524"/>
              <a:ext cx="19728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/>
                <a:t>Contrato ALM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119" name="CaixaDeTexto 118"/>
            <p:cNvSpPr txBox="1"/>
            <p:nvPr/>
          </p:nvSpPr>
          <p:spPr>
            <a:xfrm>
              <a:off x="7153416" y="783524"/>
              <a:ext cx="19800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Entidade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(entidade)</a:t>
              </a:r>
            </a:p>
          </p:txBody>
        </p:sp>
        <p:sp>
          <p:nvSpPr>
            <p:cNvPr id="120" name="CaixaDeTexto 119"/>
            <p:cNvSpPr txBox="1"/>
            <p:nvPr/>
          </p:nvSpPr>
          <p:spPr>
            <a:xfrm>
              <a:off x="7153416" y="963524"/>
              <a:ext cx="19800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Perímetro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nome_perímetro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21" name="CaixaDeTexto 120"/>
            <p:cNvSpPr txBox="1"/>
            <p:nvPr/>
          </p:nvSpPr>
          <p:spPr>
            <a:xfrm>
              <a:off x="7153200" y="1503524"/>
              <a:ext cx="19080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93" name="CaixaDeTexto 192"/>
            <p:cNvSpPr txBox="1"/>
            <p:nvPr/>
          </p:nvSpPr>
          <p:spPr>
            <a:xfrm>
              <a:off x="7151534" y="1323524"/>
              <a:ext cx="198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201" name="Conexão em ângulos retos 200"/>
          <p:cNvCxnSpPr>
            <a:stCxn id="118" idx="1"/>
            <a:endCxn id="233" idx="3"/>
          </p:cNvCxnSpPr>
          <p:nvPr/>
        </p:nvCxnSpPr>
        <p:spPr>
          <a:xfrm rot="10800000" flipV="1">
            <a:off x="4996765" y="1272499"/>
            <a:ext cx="316568" cy="6164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CaixaDeTexto 243"/>
          <p:cNvSpPr txBox="1"/>
          <p:nvPr/>
        </p:nvSpPr>
        <p:spPr>
          <a:xfrm>
            <a:off x="5317208" y="3143877"/>
            <a:ext cx="1748353" cy="307777"/>
          </a:xfrm>
          <a:prstGeom prst="rect">
            <a:avLst/>
          </a:prstGeom>
          <a:noFill/>
        </p:spPr>
        <p:txBody>
          <a:bodyPr wrap="square" lIns="72000" rIns="36000" rtlCol="0">
            <a:spAutoFit/>
          </a:bodyPr>
          <a:lstStyle/>
          <a:p>
            <a:r>
              <a:rPr lang="pt-PT" sz="1400" b="1" dirty="0"/>
              <a:t>(AL) Tabelas Satélite</a:t>
            </a:r>
            <a:endParaRPr lang="pt-PT" sz="1000" dirty="0"/>
          </a:p>
        </p:txBody>
      </p:sp>
      <p:grpSp>
        <p:nvGrpSpPr>
          <p:cNvPr id="62" name="Grupo 61"/>
          <p:cNvGrpSpPr/>
          <p:nvPr/>
        </p:nvGrpSpPr>
        <p:grpSpPr>
          <a:xfrm>
            <a:off x="5317208" y="3438599"/>
            <a:ext cx="1980002" cy="276999"/>
            <a:chOff x="5247358" y="3438599"/>
            <a:chExt cx="1980002" cy="276999"/>
          </a:xfrm>
        </p:grpSpPr>
        <p:sp>
          <p:nvSpPr>
            <p:cNvPr id="238" name="Retângulo 237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45" name="CaixaDeTexto 244"/>
            <p:cNvSpPr txBox="1"/>
            <p:nvPr/>
          </p:nvSpPr>
          <p:spPr>
            <a:xfrm>
              <a:off x="5247358" y="3438599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al004 Money </a:t>
              </a:r>
              <a:r>
                <a:rPr lang="pt-PT" sz="1200" dirty="0" err="1"/>
                <a:t>Market</a:t>
              </a:r>
              <a:endParaRPr lang="pt-PT" sz="1200" dirty="0"/>
            </a:p>
          </p:txBody>
        </p:sp>
      </p:grpSp>
      <p:grpSp>
        <p:nvGrpSpPr>
          <p:cNvPr id="249" name="Grupo 248"/>
          <p:cNvGrpSpPr/>
          <p:nvPr/>
        </p:nvGrpSpPr>
        <p:grpSpPr>
          <a:xfrm>
            <a:off x="5316577" y="3690726"/>
            <a:ext cx="1980002" cy="276999"/>
            <a:chOff x="5247358" y="3438599"/>
            <a:chExt cx="1980002" cy="276999"/>
          </a:xfrm>
        </p:grpSpPr>
        <p:sp>
          <p:nvSpPr>
            <p:cNvPr id="250" name="Retângulo 249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51" name="CaixaDeTexto 250"/>
            <p:cNvSpPr txBox="1"/>
            <p:nvPr/>
          </p:nvSpPr>
          <p:spPr>
            <a:xfrm>
              <a:off x="5247358" y="3438599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al005 </a:t>
              </a:r>
              <a:r>
                <a:rPr lang="pt-PT" sz="1200" dirty="0" err="1"/>
                <a:t>Flow</a:t>
              </a:r>
              <a:r>
                <a:rPr lang="pt-PT" sz="1200" dirty="0"/>
                <a:t> FX</a:t>
              </a:r>
            </a:p>
          </p:txBody>
        </p:sp>
      </p:grpSp>
      <p:grpSp>
        <p:nvGrpSpPr>
          <p:cNvPr id="253" name="Grupo 252"/>
          <p:cNvGrpSpPr/>
          <p:nvPr/>
        </p:nvGrpSpPr>
        <p:grpSpPr>
          <a:xfrm>
            <a:off x="5315699" y="4194000"/>
            <a:ext cx="1980002" cy="276999"/>
            <a:chOff x="5247358" y="3436049"/>
            <a:chExt cx="1980002" cy="276999"/>
          </a:xfrm>
        </p:grpSpPr>
        <p:sp>
          <p:nvSpPr>
            <p:cNvPr id="254" name="Retângulo 253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55" name="CaixaDeTexto 254"/>
            <p:cNvSpPr txBox="1"/>
            <p:nvPr/>
          </p:nvSpPr>
          <p:spPr>
            <a:xfrm>
              <a:off x="5247358" y="3436049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al006 Emissões PPC</a:t>
              </a:r>
            </a:p>
          </p:txBody>
        </p:sp>
      </p:grpSp>
      <p:grpSp>
        <p:nvGrpSpPr>
          <p:cNvPr id="69" name="Grupo 68"/>
          <p:cNvGrpSpPr/>
          <p:nvPr/>
        </p:nvGrpSpPr>
        <p:grpSpPr>
          <a:xfrm>
            <a:off x="7687450" y="4205511"/>
            <a:ext cx="1980002" cy="276999"/>
            <a:chOff x="7430400" y="3951516"/>
            <a:chExt cx="1980002" cy="276999"/>
          </a:xfrm>
        </p:grpSpPr>
        <p:sp>
          <p:nvSpPr>
            <p:cNvPr id="257" name="Retângulo 256"/>
            <p:cNvSpPr/>
            <p:nvPr/>
          </p:nvSpPr>
          <p:spPr>
            <a:xfrm>
              <a:off x="7430402" y="3994731"/>
              <a:ext cx="198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58" name="CaixaDeTexto 257"/>
            <p:cNvSpPr txBox="1"/>
            <p:nvPr/>
          </p:nvSpPr>
          <p:spPr>
            <a:xfrm>
              <a:off x="7430400" y="3951516"/>
              <a:ext cx="1908000" cy="276999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pt-PT" sz="1200" dirty="0"/>
                <a:t>al007 Programas PPC</a:t>
              </a:r>
            </a:p>
          </p:txBody>
        </p:sp>
      </p:grpSp>
      <p:cxnSp>
        <p:nvCxnSpPr>
          <p:cNvPr id="259" name="Conexão em ângulos retos 258"/>
          <p:cNvCxnSpPr>
            <a:stCxn id="257" idx="1"/>
            <a:endCxn id="254" idx="3"/>
          </p:cNvCxnSpPr>
          <p:nvPr/>
        </p:nvCxnSpPr>
        <p:spPr>
          <a:xfrm rot="10800000">
            <a:off x="7295702" y="4337116"/>
            <a:ext cx="391751" cy="16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2" name="Grupo 261"/>
          <p:cNvGrpSpPr/>
          <p:nvPr/>
        </p:nvGrpSpPr>
        <p:grpSpPr>
          <a:xfrm>
            <a:off x="5315984" y="3942315"/>
            <a:ext cx="1980002" cy="276999"/>
            <a:chOff x="5247358" y="3438599"/>
            <a:chExt cx="1980002" cy="276999"/>
          </a:xfrm>
        </p:grpSpPr>
        <p:sp>
          <p:nvSpPr>
            <p:cNvPr id="267" name="Retângulo 266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70" name="CaixaDeTexto 269"/>
            <p:cNvSpPr txBox="1"/>
            <p:nvPr/>
          </p:nvSpPr>
          <p:spPr>
            <a:xfrm>
              <a:off x="5247358" y="3438599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al011 Derivados</a:t>
              </a:r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7687450" y="3815856"/>
            <a:ext cx="1980002" cy="276999"/>
            <a:chOff x="7431654" y="3700711"/>
            <a:chExt cx="1980002" cy="276999"/>
          </a:xfrm>
        </p:grpSpPr>
        <p:sp>
          <p:nvSpPr>
            <p:cNvPr id="272" name="Retângulo 271"/>
            <p:cNvSpPr/>
            <p:nvPr/>
          </p:nvSpPr>
          <p:spPr>
            <a:xfrm>
              <a:off x="7431656" y="3747316"/>
              <a:ext cx="1980000" cy="18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73" name="CaixaDeTexto 272"/>
            <p:cNvSpPr txBox="1"/>
            <p:nvPr/>
          </p:nvSpPr>
          <p:spPr>
            <a:xfrm>
              <a:off x="7431654" y="3700711"/>
              <a:ext cx="1908000" cy="276999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pt-PT" sz="1200" dirty="0"/>
                <a:t>al012 Contratos-Quadro</a:t>
              </a:r>
            </a:p>
          </p:txBody>
        </p:sp>
      </p:grpSp>
      <p:cxnSp>
        <p:nvCxnSpPr>
          <p:cNvPr id="274" name="Conexão em ângulos retos 273"/>
          <p:cNvCxnSpPr>
            <a:stCxn id="273" idx="1"/>
            <a:endCxn id="250" idx="3"/>
          </p:cNvCxnSpPr>
          <p:nvPr/>
        </p:nvCxnSpPr>
        <p:spPr>
          <a:xfrm rot="10800000">
            <a:off x="7296580" y="3831292"/>
            <a:ext cx="390871" cy="12306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exão em ângulos retos 274"/>
          <p:cNvCxnSpPr>
            <a:stCxn id="273" idx="1"/>
            <a:endCxn id="267" idx="3"/>
          </p:cNvCxnSpPr>
          <p:nvPr/>
        </p:nvCxnSpPr>
        <p:spPr>
          <a:xfrm rot="10800000" flipV="1">
            <a:off x="7295986" y="3954355"/>
            <a:ext cx="391464" cy="12852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exão em ângulos retos 276"/>
          <p:cNvCxnSpPr>
            <a:stCxn id="233" idx="3"/>
            <a:endCxn id="245" idx="1"/>
          </p:cNvCxnSpPr>
          <p:nvPr/>
        </p:nvCxnSpPr>
        <p:spPr>
          <a:xfrm>
            <a:off x="4996765" y="1888965"/>
            <a:ext cx="320443" cy="16881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Conexão em ângulos retos 277"/>
          <p:cNvCxnSpPr>
            <a:stCxn id="233" idx="3"/>
            <a:endCxn id="251" idx="1"/>
          </p:cNvCxnSpPr>
          <p:nvPr/>
        </p:nvCxnSpPr>
        <p:spPr>
          <a:xfrm>
            <a:off x="4996765" y="1888965"/>
            <a:ext cx="319812" cy="194026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Conexão em ângulos retos 278"/>
          <p:cNvCxnSpPr>
            <a:stCxn id="233" idx="3"/>
            <a:endCxn id="270" idx="1"/>
          </p:cNvCxnSpPr>
          <p:nvPr/>
        </p:nvCxnSpPr>
        <p:spPr>
          <a:xfrm>
            <a:off x="4996765" y="1888965"/>
            <a:ext cx="319219" cy="219185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exão em ângulos retos 279"/>
          <p:cNvCxnSpPr>
            <a:stCxn id="233" idx="3"/>
            <a:endCxn id="255" idx="1"/>
          </p:cNvCxnSpPr>
          <p:nvPr/>
        </p:nvCxnSpPr>
        <p:spPr>
          <a:xfrm>
            <a:off x="4996765" y="1888965"/>
            <a:ext cx="318934" cy="24435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exão em ângulos retos 289"/>
          <p:cNvCxnSpPr>
            <a:stCxn id="27" idx="3"/>
            <a:endCxn id="193" idx="3"/>
          </p:cNvCxnSpPr>
          <p:nvPr/>
        </p:nvCxnSpPr>
        <p:spPr>
          <a:xfrm flipV="1">
            <a:off x="7285324" y="1452500"/>
            <a:ext cx="6126" cy="1103227"/>
          </a:xfrm>
          <a:prstGeom prst="bentConnector3">
            <a:avLst>
              <a:gd name="adj1" fmla="val 2182778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exão em ângulos retos 295"/>
          <p:cNvCxnSpPr>
            <a:stCxn id="88" idx="1"/>
            <a:endCxn id="457" idx="1"/>
          </p:cNvCxnSpPr>
          <p:nvPr/>
        </p:nvCxnSpPr>
        <p:spPr>
          <a:xfrm rot="10800000">
            <a:off x="577556" y="1919537"/>
            <a:ext cx="133" cy="789897"/>
          </a:xfrm>
          <a:prstGeom prst="bentConnector3">
            <a:avLst>
              <a:gd name="adj1" fmla="val 171979699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6" name="Grupo 315"/>
          <p:cNvGrpSpPr/>
          <p:nvPr/>
        </p:nvGrpSpPr>
        <p:grpSpPr>
          <a:xfrm>
            <a:off x="7685981" y="4773047"/>
            <a:ext cx="2197493" cy="1382482"/>
            <a:chOff x="5194800" y="4534017"/>
            <a:chExt cx="2197493" cy="1382482"/>
          </a:xfrm>
        </p:grpSpPr>
        <p:grpSp>
          <p:nvGrpSpPr>
            <p:cNvPr id="133" name="Grupo 132"/>
            <p:cNvGrpSpPr/>
            <p:nvPr/>
          </p:nvGrpSpPr>
          <p:grpSpPr>
            <a:xfrm>
              <a:off x="5194892" y="4806851"/>
              <a:ext cx="1980000" cy="285414"/>
              <a:chOff x="5194892" y="4806851"/>
              <a:chExt cx="1980000" cy="285414"/>
            </a:xfrm>
          </p:grpSpPr>
          <p:sp>
            <p:nvSpPr>
              <p:cNvPr id="177" name="Fluxograma: multidocumentos 176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219" name="CaixaDeTexto 218"/>
              <p:cNvSpPr txBox="1"/>
              <p:nvPr/>
            </p:nvSpPr>
            <p:spPr>
              <a:xfrm>
                <a:off x="5198066" y="481526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al600 Manual geral</a:t>
                </a:r>
              </a:p>
            </p:txBody>
          </p:sp>
        </p:grpSp>
        <p:sp>
          <p:nvSpPr>
            <p:cNvPr id="222" name="CaixaDeTexto 221"/>
            <p:cNvSpPr txBox="1"/>
            <p:nvPr/>
          </p:nvSpPr>
          <p:spPr>
            <a:xfrm>
              <a:off x="5198066" y="4534017"/>
              <a:ext cx="2194227" cy="307777"/>
            </a:xfrm>
            <a:prstGeom prst="rect">
              <a:avLst/>
            </a:prstGeom>
            <a:noFill/>
          </p:spPr>
          <p:txBody>
            <a:bodyPr wrap="square" lIns="36000" rIns="0" rtlCol="0">
              <a:spAutoFit/>
            </a:bodyPr>
            <a:lstStyle/>
            <a:p>
              <a:r>
                <a:rPr lang="pt-PT" sz="1400" b="1" dirty="0"/>
                <a:t>(MA) Inputs manuais Core</a:t>
              </a:r>
              <a:endParaRPr lang="pt-PT" sz="1000" dirty="0"/>
            </a:p>
          </p:txBody>
        </p:sp>
        <p:grpSp>
          <p:nvGrpSpPr>
            <p:cNvPr id="305" name="Grupo 304"/>
            <p:cNvGrpSpPr/>
            <p:nvPr/>
          </p:nvGrpSpPr>
          <p:grpSpPr>
            <a:xfrm>
              <a:off x="5194800" y="5083653"/>
              <a:ext cx="1980000" cy="279064"/>
              <a:chOff x="5194892" y="4806851"/>
              <a:chExt cx="1980000" cy="279064"/>
            </a:xfrm>
          </p:grpSpPr>
          <p:sp>
            <p:nvSpPr>
              <p:cNvPr id="306" name="Fluxograma: multidocumentos 305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308" name="CaixaDeTexto 307"/>
              <p:cNvSpPr txBox="1"/>
              <p:nvPr/>
            </p:nvSpPr>
            <p:spPr>
              <a:xfrm>
                <a:off x="5198066" y="480891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al602 </a:t>
                </a:r>
                <a:r>
                  <a:rPr lang="pt-PT" sz="1200" dirty="0" err="1"/>
                  <a:t>Repos</a:t>
                </a:r>
                <a:endParaRPr lang="pt-PT" sz="1200" dirty="0"/>
              </a:p>
            </p:txBody>
          </p:sp>
        </p:grpSp>
        <p:grpSp>
          <p:nvGrpSpPr>
            <p:cNvPr id="309" name="Grupo 308"/>
            <p:cNvGrpSpPr/>
            <p:nvPr/>
          </p:nvGrpSpPr>
          <p:grpSpPr>
            <a:xfrm>
              <a:off x="5194800" y="5360235"/>
              <a:ext cx="1980000" cy="279064"/>
              <a:chOff x="5194892" y="4806851"/>
              <a:chExt cx="1980000" cy="279064"/>
            </a:xfrm>
          </p:grpSpPr>
          <p:sp>
            <p:nvSpPr>
              <p:cNvPr id="311" name="Fluxograma: multidocumentos 310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312" name="CaixaDeTexto 311"/>
              <p:cNvSpPr txBox="1"/>
              <p:nvPr/>
            </p:nvSpPr>
            <p:spPr>
              <a:xfrm>
                <a:off x="5198066" y="480891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al611 Derivados</a:t>
                </a:r>
              </a:p>
            </p:txBody>
          </p:sp>
        </p:grpSp>
        <p:grpSp>
          <p:nvGrpSpPr>
            <p:cNvPr id="313" name="Grupo 312"/>
            <p:cNvGrpSpPr/>
            <p:nvPr/>
          </p:nvGrpSpPr>
          <p:grpSpPr>
            <a:xfrm>
              <a:off x="5194800" y="5637435"/>
              <a:ext cx="1980000" cy="279064"/>
              <a:chOff x="5194892" y="4806851"/>
              <a:chExt cx="1980000" cy="279064"/>
            </a:xfrm>
          </p:grpSpPr>
          <p:sp>
            <p:nvSpPr>
              <p:cNvPr id="314" name="Fluxograma: multidocumentos 313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315" name="CaixaDeTexto 314"/>
              <p:cNvSpPr txBox="1"/>
              <p:nvPr/>
            </p:nvSpPr>
            <p:spPr>
              <a:xfrm>
                <a:off x="5198066" y="480891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al613 </a:t>
                </a:r>
                <a:r>
                  <a:rPr lang="pt-PT" sz="1200" dirty="0" err="1"/>
                  <a:t>Flow</a:t>
                </a:r>
                <a:r>
                  <a:rPr lang="pt-PT" sz="1200" dirty="0"/>
                  <a:t> FX</a:t>
                </a:r>
              </a:p>
            </p:txBody>
          </p:sp>
        </p:grpSp>
      </p:grpSp>
      <p:grpSp>
        <p:nvGrpSpPr>
          <p:cNvPr id="10" name="Grupo 9"/>
          <p:cNvGrpSpPr/>
          <p:nvPr/>
        </p:nvGrpSpPr>
        <p:grpSpPr>
          <a:xfrm>
            <a:off x="579600" y="300719"/>
            <a:ext cx="1854946" cy="973719"/>
            <a:chOff x="579600" y="300719"/>
            <a:chExt cx="1854946" cy="973719"/>
          </a:xfrm>
        </p:grpSpPr>
        <p:sp>
          <p:nvSpPr>
            <p:cNvPr id="335" name="Retângulo 334"/>
            <p:cNvSpPr/>
            <p:nvPr/>
          </p:nvSpPr>
          <p:spPr>
            <a:xfrm>
              <a:off x="580546" y="610546"/>
              <a:ext cx="1854000" cy="65292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36" name="CaixaDeTexto 335"/>
            <p:cNvSpPr txBox="1"/>
            <p:nvPr/>
          </p:nvSpPr>
          <p:spPr>
            <a:xfrm>
              <a:off x="579600" y="300719"/>
              <a:ext cx="161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(FG) FGD </a:t>
              </a:r>
              <a:r>
                <a:rPr lang="pt-PT" sz="1000" dirty="0"/>
                <a:t>(fg001)</a:t>
              </a:r>
            </a:p>
          </p:txBody>
        </p:sp>
        <p:sp>
          <p:nvSpPr>
            <p:cNvPr id="337" name="CaixaDeTexto 336"/>
            <p:cNvSpPr txBox="1"/>
            <p:nvPr/>
          </p:nvSpPr>
          <p:spPr>
            <a:xfrm>
              <a:off x="579952" y="601306"/>
              <a:ext cx="1854000" cy="27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 err="1"/>
                <a:t>Contr</a:t>
              </a:r>
              <a:r>
                <a:rPr lang="pt-PT" sz="1200" dirty="0"/>
                <a:t>. </a:t>
              </a:r>
              <a:r>
                <a:rPr lang="pt-PT" sz="1200" dirty="0" err="1"/>
                <a:t>Univ</a:t>
              </a:r>
              <a:r>
                <a:rPr lang="pt-PT" sz="1200" dirty="0"/>
                <a:t>.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 </a:t>
              </a:r>
              <a:endParaRPr lang="pt-PT" sz="800" baseline="30000" dirty="0"/>
            </a:p>
          </p:txBody>
        </p:sp>
        <p:sp>
          <p:nvSpPr>
            <p:cNvPr id="338" name="CaixaDeTexto 337"/>
            <p:cNvSpPr txBox="1"/>
            <p:nvPr/>
          </p:nvSpPr>
          <p:spPr>
            <a:xfrm>
              <a:off x="579951" y="799731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 Universo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346" name="CaixaDeTexto 345"/>
            <p:cNvSpPr txBox="1"/>
            <p:nvPr/>
          </p:nvSpPr>
          <p:spPr>
            <a:xfrm>
              <a:off x="579953" y="997439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358" name="Conexão em ângulos retos 357"/>
          <p:cNvCxnSpPr>
            <a:stCxn id="338" idx="1"/>
            <a:endCxn id="88" idx="1"/>
          </p:cNvCxnSpPr>
          <p:nvPr/>
        </p:nvCxnSpPr>
        <p:spPr>
          <a:xfrm rot="10800000" flipV="1">
            <a:off x="577689" y="938231"/>
            <a:ext cx="2263" cy="1771202"/>
          </a:xfrm>
          <a:prstGeom prst="bentConnector3">
            <a:avLst>
              <a:gd name="adj1" fmla="val 10201635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4" name="Grupo 383"/>
          <p:cNvGrpSpPr/>
          <p:nvPr/>
        </p:nvGrpSpPr>
        <p:grpSpPr>
          <a:xfrm>
            <a:off x="5315703" y="4446000"/>
            <a:ext cx="1980002" cy="276999"/>
            <a:chOff x="5247358" y="3435465"/>
            <a:chExt cx="1980002" cy="276999"/>
          </a:xfrm>
        </p:grpSpPr>
        <p:sp>
          <p:nvSpPr>
            <p:cNvPr id="385" name="Retângulo 384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86" name="CaixaDeTexto 385"/>
            <p:cNvSpPr txBox="1"/>
            <p:nvPr/>
          </p:nvSpPr>
          <p:spPr>
            <a:xfrm>
              <a:off x="5247358" y="3435465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al003 </a:t>
              </a:r>
              <a:r>
                <a:rPr lang="pt-PT" sz="1200" dirty="0" err="1"/>
                <a:t>Complem</a:t>
              </a:r>
              <a:r>
                <a:rPr lang="pt-PT" sz="1200" dirty="0"/>
                <a:t>. Outros</a:t>
              </a:r>
            </a:p>
          </p:txBody>
        </p:sp>
      </p:grpSp>
      <p:grpSp>
        <p:nvGrpSpPr>
          <p:cNvPr id="387" name="Grupo 386"/>
          <p:cNvGrpSpPr/>
          <p:nvPr/>
        </p:nvGrpSpPr>
        <p:grpSpPr>
          <a:xfrm>
            <a:off x="5315701" y="4698000"/>
            <a:ext cx="1980002" cy="276999"/>
            <a:chOff x="5247358" y="3435733"/>
            <a:chExt cx="1980002" cy="276999"/>
          </a:xfrm>
        </p:grpSpPr>
        <p:sp>
          <p:nvSpPr>
            <p:cNvPr id="388" name="Retângulo 387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89" name="CaixaDeTexto 388"/>
            <p:cNvSpPr txBox="1"/>
            <p:nvPr/>
          </p:nvSpPr>
          <p:spPr>
            <a:xfrm>
              <a:off x="5247358" y="3435733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al026 </a:t>
              </a:r>
              <a:r>
                <a:rPr lang="pt-PT" sz="1200" dirty="0" err="1"/>
                <a:t>Cond</a:t>
              </a:r>
              <a:r>
                <a:rPr lang="pt-PT" sz="1200" dirty="0"/>
                <a:t>. </a:t>
              </a:r>
              <a:r>
                <a:rPr lang="pt-PT" sz="1200" dirty="0" err="1"/>
                <a:t>Empréstim</a:t>
              </a:r>
              <a:endParaRPr lang="pt-PT" sz="1200" dirty="0"/>
            </a:p>
          </p:txBody>
        </p:sp>
      </p:grpSp>
      <p:cxnSp>
        <p:nvCxnSpPr>
          <p:cNvPr id="390" name="Conexão em ângulos retos 389"/>
          <p:cNvCxnSpPr>
            <a:stCxn id="233" idx="3"/>
            <a:endCxn id="386" idx="1"/>
          </p:cNvCxnSpPr>
          <p:nvPr/>
        </p:nvCxnSpPr>
        <p:spPr>
          <a:xfrm>
            <a:off x="4996765" y="1888965"/>
            <a:ext cx="318938" cy="26955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onexão em ângulos retos 390"/>
          <p:cNvCxnSpPr>
            <a:stCxn id="233" idx="3"/>
            <a:endCxn id="389" idx="1"/>
          </p:cNvCxnSpPr>
          <p:nvPr/>
        </p:nvCxnSpPr>
        <p:spPr>
          <a:xfrm>
            <a:off x="4996765" y="1888965"/>
            <a:ext cx="318936" cy="29475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onexão em ângulos retos 306"/>
          <p:cNvCxnSpPr>
            <a:stCxn id="303" idx="3"/>
            <a:endCxn id="235" idx="1"/>
          </p:cNvCxnSpPr>
          <p:nvPr/>
        </p:nvCxnSpPr>
        <p:spPr>
          <a:xfrm>
            <a:off x="2431662" y="1720521"/>
            <a:ext cx="574030" cy="36566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CaixaDeTexto 411"/>
          <p:cNvSpPr txBox="1"/>
          <p:nvPr/>
        </p:nvSpPr>
        <p:spPr>
          <a:xfrm>
            <a:off x="5871398" y="2822841"/>
            <a:ext cx="1418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grpSp>
        <p:nvGrpSpPr>
          <p:cNvPr id="179" name="Grupo 178"/>
          <p:cNvGrpSpPr/>
          <p:nvPr/>
        </p:nvGrpSpPr>
        <p:grpSpPr>
          <a:xfrm>
            <a:off x="5315577" y="4950000"/>
            <a:ext cx="1980002" cy="276999"/>
            <a:chOff x="5247358" y="3434914"/>
            <a:chExt cx="1980002" cy="276999"/>
          </a:xfrm>
        </p:grpSpPr>
        <p:sp>
          <p:nvSpPr>
            <p:cNvPr id="180" name="Retângulo 179"/>
            <p:cNvSpPr/>
            <p:nvPr/>
          </p:nvSpPr>
          <p:spPr>
            <a:xfrm>
              <a:off x="5247360" y="3453165"/>
              <a:ext cx="1980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82" name="CaixaDeTexto 181"/>
            <p:cNvSpPr txBox="1"/>
            <p:nvPr/>
          </p:nvSpPr>
          <p:spPr>
            <a:xfrm>
              <a:off x="5247358" y="3434914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al027 Plano </a:t>
              </a:r>
              <a:r>
                <a:rPr lang="pt-PT" sz="1200" dirty="0" err="1"/>
                <a:t>Amortizaç</a:t>
              </a:r>
              <a:r>
                <a:rPr lang="pt-PT" sz="1200" dirty="0"/>
                <a:t>.</a:t>
              </a:r>
            </a:p>
          </p:txBody>
        </p:sp>
      </p:grpSp>
      <p:cxnSp>
        <p:nvCxnSpPr>
          <p:cNvPr id="183" name="Conexão em ângulos retos 182"/>
          <p:cNvCxnSpPr>
            <a:stCxn id="233" idx="3"/>
            <a:endCxn id="182" idx="1"/>
          </p:cNvCxnSpPr>
          <p:nvPr/>
        </p:nvCxnSpPr>
        <p:spPr>
          <a:xfrm>
            <a:off x="4996765" y="1888965"/>
            <a:ext cx="318812" cy="31995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upo 191"/>
          <p:cNvGrpSpPr/>
          <p:nvPr/>
        </p:nvGrpSpPr>
        <p:grpSpPr>
          <a:xfrm>
            <a:off x="9885276" y="5046889"/>
            <a:ext cx="1980000" cy="285414"/>
            <a:chOff x="5194892" y="4806851"/>
            <a:chExt cx="1980000" cy="285414"/>
          </a:xfrm>
        </p:grpSpPr>
        <p:sp>
          <p:nvSpPr>
            <p:cNvPr id="221" name="Fluxograma: multidocumentos 220"/>
            <p:cNvSpPr/>
            <p:nvPr/>
          </p:nvSpPr>
          <p:spPr>
            <a:xfrm>
              <a:off x="5194892" y="4806851"/>
              <a:ext cx="1980000" cy="252000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aseline="30000" dirty="0"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230" name="CaixaDeTexto 229"/>
            <p:cNvSpPr txBox="1"/>
            <p:nvPr/>
          </p:nvSpPr>
          <p:spPr>
            <a:xfrm>
              <a:off x="5198066" y="4815266"/>
              <a:ext cx="1908000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/>
                <a:t>al804 Curvas </a:t>
              </a:r>
              <a:r>
                <a:rPr lang="pt-PT" sz="1200" dirty="0" err="1"/>
                <a:t>tx</a:t>
              </a:r>
              <a:r>
                <a:rPr lang="pt-PT" sz="1200" dirty="0"/>
                <a:t> juro</a:t>
              </a:r>
            </a:p>
          </p:txBody>
        </p:sp>
      </p:grpSp>
      <p:sp>
        <p:nvSpPr>
          <p:cNvPr id="202" name="CaixaDeTexto 201"/>
          <p:cNvSpPr txBox="1"/>
          <p:nvPr/>
        </p:nvSpPr>
        <p:spPr>
          <a:xfrm>
            <a:off x="9888450" y="4776215"/>
            <a:ext cx="2259552" cy="307777"/>
          </a:xfrm>
          <a:prstGeom prst="rect">
            <a:avLst/>
          </a:prstGeom>
          <a:noFill/>
        </p:spPr>
        <p:txBody>
          <a:bodyPr wrap="square" lIns="36000" rIns="0" rtlCol="0">
            <a:spAutoFit/>
          </a:bodyPr>
          <a:lstStyle/>
          <a:p>
            <a:r>
              <a:rPr lang="pt-PT" sz="1400" b="1" dirty="0"/>
              <a:t>(MA) Outros Inputs manuais</a:t>
            </a:r>
            <a:endParaRPr lang="pt-PT" sz="1000" dirty="0"/>
          </a:p>
        </p:txBody>
      </p:sp>
      <p:sp>
        <p:nvSpPr>
          <p:cNvPr id="236" name="CaixaDeTexto 235"/>
          <p:cNvSpPr txBox="1"/>
          <p:nvPr/>
        </p:nvSpPr>
        <p:spPr>
          <a:xfrm>
            <a:off x="551863" y="5633082"/>
            <a:ext cx="133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/>
              <a:t>Outras Tabelas</a:t>
            </a:r>
            <a:endParaRPr lang="pt-PT" sz="1000" dirty="0"/>
          </a:p>
        </p:txBody>
      </p:sp>
      <p:sp>
        <p:nvSpPr>
          <p:cNvPr id="242" name="Retângulo 241"/>
          <p:cNvSpPr/>
          <p:nvPr/>
        </p:nvSpPr>
        <p:spPr>
          <a:xfrm>
            <a:off x="551864" y="5942370"/>
            <a:ext cx="1854000" cy="25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3" name="CaixaDeTexto 242"/>
          <p:cNvSpPr txBox="1"/>
          <p:nvPr/>
        </p:nvSpPr>
        <p:spPr>
          <a:xfrm>
            <a:off x="551862" y="5927806"/>
            <a:ext cx="1744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/>
              <a:t>vi001 Vinculação</a:t>
            </a:r>
          </a:p>
        </p:txBody>
      </p:sp>
      <p:sp>
        <p:nvSpPr>
          <p:cNvPr id="247" name="Retângulo 246"/>
          <p:cNvSpPr/>
          <p:nvPr/>
        </p:nvSpPr>
        <p:spPr>
          <a:xfrm>
            <a:off x="551233" y="6194497"/>
            <a:ext cx="1854000" cy="25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8" name="CaixaDeTexto 247"/>
          <p:cNvSpPr txBox="1"/>
          <p:nvPr/>
        </p:nvSpPr>
        <p:spPr>
          <a:xfrm>
            <a:off x="551231" y="6179933"/>
            <a:ext cx="1644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/>
              <a:t>ct063 Retalho / PMEs</a:t>
            </a:r>
          </a:p>
        </p:txBody>
      </p:sp>
      <p:cxnSp>
        <p:nvCxnSpPr>
          <p:cNvPr id="453" name="Conexão em ângulos retos 452"/>
          <p:cNvCxnSpPr>
            <a:stCxn id="341" idx="1"/>
            <a:endCxn id="303" idx="1"/>
          </p:cNvCxnSpPr>
          <p:nvPr/>
        </p:nvCxnSpPr>
        <p:spPr>
          <a:xfrm rot="10800000" flipH="1">
            <a:off x="576000" y="1720521"/>
            <a:ext cx="1662" cy="1910432"/>
          </a:xfrm>
          <a:prstGeom prst="bentConnector3">
            <a:avLst>
              <a:gd name="adj1" fmla="val -26076294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exão em ângulos retos 189"/>
          <p:cNvCxnSpPr>
            <a:stCxn id="27" idx="3"/>
            <a:endCxn id="198" idx="1"/>
          </p:cNvCxnSpPr>
          <p:nvPr/>
        </p:nvCxnSpPr>
        <p:spPr>
          <a:xfrm>
            <a:off x="7285324" y="2555727"/>
            <a:ext cx="402440" cy="26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xão em ângulos retos 202"/>
          <p:cNvCxnSpPr>
            <a:stCxn id="226" idx="1"/>
            <a:endCxn id="198" idx="3"/>
          </p:cNvCxnSpPr>
          <p:nvPr/>
        </p:nvCxnSpPr>
        <p:spPr>
          <a:xfrm rot="10800000">
            <a:off x="9660564" y="2555987"/>
            <a:ext cx="231338" cy="158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" name="Grupo 214"/>
          <p:cNvGrpSpPr/>
          <p:nvPr/>
        </p:nvGrpSpPr>
        <p:grpSpPr>
          <a:xfrm>
            <a:off x="557228" y="4606998"/>
            <a:ext cx="2289770" cy="1005172"/>
            <a:chOff x="4270643" y="6772921"/>
            <a:chExt cx="2289770" cy="1005172"/>
          </a:xfrm>
        </p:grpSpPr>
        <p:sp>
          <p:nvSpPr>
            <p:cNvPr id="220" name="Fluxograma: multidocumentos 219"/>
            <p:cNvSpPr/>
            <p:nvPr/>
          </p:nvSpPr>
          <p:spPr>
            <a:xfrm>
              <a:off x="4277675" y="7055259"/>
              <a:ext cx="1854000" cy="698493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aseline="30000" dirty="0"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237" name="CaixaDeTexto 236"/>
            <p:cNvSpPr txBox="1"/>
            <p:nvPr/>
          </p:nvSpPr>
          <p:spPr>
            <a:xfrm>
              <a:off x="4286860" y="7148890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Contrato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246" name="CaixaDeTexto 245"/>
            <p:cNvSpPr txBox="1"/>
            <p:nvPr/>
          </p:nvSpPr>
          <p:spPr>
            <a:xfrm>
              <a:off x="4288124" y="7501094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52" name="CaixaDeTexto 251"/>
            <p:cNvSpPr txBox="1"/>
            <p:nvPr/>
          </p:nvSpPr>
          <p:spPr>
            <a:xfrm>
              <a:off x="4287345" y="7329688"/>
              <a:ext cx="18847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Emitente </a:t>
              </a:r>
              <a:r>
                <a:rPr lang="pt-PT" sz="800" dirty="0"/>
                <a:t>(</a:t>
              </a:r>
              <a:r>
                <a:rPr lang="pt-PT" sz="800" dirty="0" err="1"/>
                <a:t>zcliente_emitente</a:t>
              </a:r>
              <a:r>
                <a:rPr lang="pt-PT" sz="800" dirty="0"/>
                <a:t>)</a:t>
              </a:r>
            </a:p>
          </p:txBody>
        </p:sp>
        <p:sp>
          <p:nvSpPr>
            <p:cNvPr id="263" name="CaixaDeTexto 262"/>
            <p:cNvSpPr txBox="1"/>
            <p:nvPr/>
          </p:nvSpPr>
          <p:spPr>
            <a:xfrm>
              <a:off x="4270643" y="6772921"/>
              <a:ext cx="22897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(MA) Dicionário títulos </a:t>
              </a:r>
              <a:r>
                <a:rPr lang="pt-PT" sz="1000" dirty="0"/>
                <a:t>(ct610)</a:t>
              </a:r>
            </a:p>
          </p:txBody>
        </p:sp>
      </p:grpSp>
      <p:cxnSp>
        <p:nvCxnSpPr>
          <p:cNvPr id="261" name="Conexão em ângulos retos 260"/>
          <p:cNvCxnSpPr>
            <a:stCxn id="88" idx="1"/>
            <a:endCxn id="252" idx="1"/>
          </p:cNvCxnSpPr>
          <p:nvPr/>
        </p:nvCxnSpPr>
        <p:spPr>
          <a:xfrm rot="10800000" flipV="1">
            <a:off x="573930" y="2709433"/>
            <a:ext cx="3758" cy="2592832"/>
          </a:xfrm>
          <a:prstGeom prst="bentConnector3">
            <a:avLst>
              <a:gd name="adj1" fmla="val 6183023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exão em ângulos retos 282"/>
          <p:cNvCxnSpPr>
            <a:stCxn id="27" idx="1"/>
            <a:endCxn id="88" idx="3"/>
          </p:cNvCxnSpPr>
          <p:nvPr/>
        </p:nvCxnSpPr>
        <p:spPr>
          <a:xfrm rot="10800000" flipV="1">
            <a:off x="2431688" y="2555727"/>
            <a:ext cx="2880836" cy="15370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exão em ângulos retos 280"/>
          <p:cNvCxnSpPr>
            <a:stCxn id="119" idx="3"/>
            <a:endCxn id="378" idx="1"/>
          </p:cNvCxnSpPr>
          <p:nvPr/>
        </p:nvCxnSpPr>
        <p:spPr>
          <a:xfrm flipV="1">
            <a:off x="7293332" y="911450"/>
            <a:ext cx="567102" cy="1050"/>
          </a:xfrm>
          <a:prstGeom prst="bentConnector3">
            <a:avLst>
              <a:gd name="adj1" fmla="val 50000"/>
            </a:avLst>
          </a:prstGeom>
          <a:ln w="19050">
            <a:solidFill>
              <a:srgbClr val="00B0F0">
                <a:alpha val="50000"/>
              </a:srgb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onexão em ângulos retos 288"/>
          <p:cNvCxnSpPr>
            <a:stCxn id="120" idx="3"/>
            <a:endCxn id="379" idx="1"/>
          </p:cNvCxnSpPr>
          <p:nvPr/>
        </p:nvCxnSpPr>
        <p:spPr>
          <a:xfrm flipV="1">
            <a:off x="7293332" y="1090974"/>
            <a:ext cx="567102" cy="1526"/>
          </a:xfrm>
          <a:prstGeom prst="bentConnector3">
            <a:avLst>
              <a:gd name="adj1" fmla="val 50000"/>
            </a:avLst>
          </a:prstGeom>
          <a:ln w="19050">
            <a:solidFill>
              <a:srgbClr val="00B0F0">
                <a:alpha val="50000"/>
              </a:srgb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exão em ângulos retos 263"/>
          <p:cNvCxnSpPr>
            <a:stCxn id="237" idx="1"/>
            <a:endCxn id="341" idx="1"/>
          </p:cNvCxnSpPr>
          <p:nvPr/>
        </p:nvCxnSpPr>
        <p:spPr>
          <a:xfrm rot="10800000" flipH="1">
            <a:off x="573444" y="3630953"/>
            <a:ext cx="2555" cy="1490514"/>
          </a:xfrm>
          <a:prstGeom prst="bentConnector3">
            <a:avLst>
              <a:gd name="adj1" fmla="val -1677593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exão em ângulos retos 264"/>
          <p:cNvCxnSpPr>
            <a:stCxn id="303" idx="1"/>
            <a:endCxn id="337" idx="1"/>
          </p:cNvCxnSpPr>
          <p:nvPr/>
        </p:nvCxnSpPr>
        <p:spPr>
          <a:xfrm rot="10800000" flipH="1">
            <a:off x="577662" y="739907"/>
            <a:ext cx="2290" cy="980615"/>
          </a:xfrm>
          <a:prstGeom prst="bentConnector3">
            <a:avLst>
              <a:gd name="adj1" fmla="val -18509301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Fluxograma: subrotina 208">
            <a:extLst>
              <a:ext uri="{FF2B5EF4-FFF2-40B4-BE49-F238E27FC236}">
                <a16:creationId xmlns:a16="http://schemas.microsoft.com/office/drawing/2014/main" id="{7E1CF79D-317E-427E-AE83-EC0DE42AF519}"/>
              </a:ext>
            </a:extLst>
          </p:cNvPr>
          <p:cNvSpPr/>
          <p:nvPr/>
        </p:nvSpPr>
        <p:spPr>
          <a:xfrm>
            <a:off x="3010400" y="1211602"/>
            <a:ext cx="1548000" cy="108000"/>
          </a:xfrm>
          <a:prstGeom prst="flowChartPredefinedProcess">
            <a:avLst/>
          </a:prstGeom>
          <a:solidFill>
            <a:schemeClr val="bg1"/>
          </a:solidFill>
          <a:ln w="6350" cap="flat"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al816 Param. tipo balanco</a:t>
            </a:r>
          </a:p>
        </p:txBody>
      </p:sp>
    </p:spTree>
    <p:extLst>
      <p:ext uri="{BB962C8B-B14F-4D97-AF65-F5344CB8AC3E}">
        <p14:creationId xmlns:p14="http://schemas.microsoft.com/office/powerpoint/2010/main" val="254703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Conexão em ângulos retos 79"/>
          <p:cNvCxnSpPr>
            <a:stCxn id="37" idx="0"/>
            <a:endCxn id="48" idx="2"/>
          </p:cNvCxnSpPr>
          <p:nvPr/>
        </p:nvCxnSpPr>
        <p:spPr>
          <a:xfrm rot="16200000" flipV="1">
            <a:off x="3832622" y="3751994"/>
            <a:ext cx="471302" cy="23891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exão em ângulos retos 261"/>
          <p:cNvCxnSpPr>
            <a:stCxn id="265" idx="1"/>
            <a:endCxn id="261" idx="3"/>
          </p:cNvCxnSpPr>
          <p:nvPr/>
        </p:nvCxnSpPr>
        <p:spPr>
          <a:xfrm rot="10800000">
            <a:off x="4975802" y="4896568"/>
            <a:ext cx="1518506" cy="485811"/>
          </a:xfrm>
          <a:prstGeom prst="bentConnector3">
            <a:avLst>
              <a:gd name="adj1" fmla="val 11110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exão em ângulos retos 142"/>
          <p:cNvCxnSpPr>
            <a:stCxn id="193" idx="1"/>
            <a:endCxn id="261" idx="3"/>
          </p:cNvCxnSpPr>
          <p:nvPr/>
        </p:nvCxnSpPr>
        <p:spPr>
          <a:xfrm rot="10800000" flipV="1">
            <a:off x="4975802" y="4054777"/>
            <a:ext cx="1526182" cy="841790"/>
          </a:xfrm>
          <a:prstGeom prst="bentConnector3">
            <a:avLst>
              <a:gd name="adj1" fmla="val 11305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exão em ângulos retos 155"/>
          <p:cNvCxnSpPr>
            <a:stCxn id="146" idx="1"/>
            <a:endCxn id="261" idx="3"/>
          </p:cNvCxnSpPr>
          <p:nvPr/>
        </p:nvCxnSpPr>
        <p:spPr>
          <a:xfrm rot="10800000" flipV="1">
            <a:off x="4975803" y="2067555"/>
            <a:ext cx="1519555" cy="2829011"/>
          </a:xfrm>
          <a:prstGeom prst="bentConnector3">
            <a:avLst>
              <a:gd name="adj1" fmla="val 26807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exão em ângulos retos 164"/>
          <p:cNvCxnSpPr>
            <a:stCxn id="166" idx="1"/>
            <a:endCxn id="261" idx="3"/>
          </p:cNvCxnSpPr>
          <p:nvPr/>
        </p:nvCxnSpPr>
        <p:spPr>
          <a:xfrm rot="10800000" flipV="1">
            <a:off x="4975803" y="2758659"/>
            <a:ext cx="1508069" cy="2137908"/>
          </a:xfrm>
          <a:prstGeom prst="bentConnector3">
            <a:avLst>
              <a:gd name="adj1" fmla="val 18420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xão em ângulos retos 120"/>
          <p:cNvCxnSpPr>
            <a:stCxn id="90" idx="2"/>
            <a:endCxn id="48" idx="2"/>
          </p:cNvCxnSpPr>
          <p:nvPr/>
        </p:nvCxnSpPr>
        <p:spPr>
          <a:xfrm rot="16200000" flipH="1">
            <a:off x="2341521" y="2028503"/>
            <a:ext cx="587910" cy="2626682"/>
          </a:xfrm>
          <a:prstGeom prst="bentConnector3">
            <a:avLst>
              <a:gd name="adj1" fmla="val 138884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exão em ângulos retos 174"/>
          <p:cNvCxnSpPr>
            <a:stCxn id="160" idx="1"/>
            <a:endCxn id="189" idx="1"/>
          </p:cNvCxnSpPr>
          <p:nvPr/>
        </p:nvCxnSpPr>
        <p:spPr>
          <a:xfrm rot="10800000" flipH="1">
            <a:off x="685620" y="5386736"/>
            <a:ext cx="2309274" cy="714948"/>
          </a:xfrm>
          <a:prstGeom prst="bentConnector3">
            <a:avLst>
              <a:gd name="adj1" fmla="val -9899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xão em ângulos retos 99"/>
          <p:cNvCxnSpPr>
            <a:stCxn id="90" idx="2"/>
            <a:endCxn id="189" idx="1"/>
          </p:cNvCxnSpPr>
          <p:nvPr/>
        </p:nvCxnSpPr>
        <p:spPr>
          <a:xfrm rot="16200000" flipH="1">
            <a:off x="989091" y="3380932"/>
            <a:ext cx="2338847" cy="1672759"/>
          </a:xfrm>
          <a:prstGeom prst="bentConnector2">
            <a:avLst/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xão em ângulos retos 152"/>
          <p:cNvCxnSpPr>
            <a:stCxn id="184" idx="2"/>
            <a:endCxn id="41" idx="2"/>
          </p:cNvCxnSpPr>
          <p:nvPr/>
        </p:nvCxnSpPr>
        <p:spPr>
          <a:xfrm rot="5400000" flipH="1">
            <a:off x="6862866" y="2573679"/>
            <a:ext cx="838268" cy="6664217"/>
          </a:xfrm>
          <a:prstGeom prst="bentConnector3">
            <a:avLst>
              <a:gd name="adj1" fmla="val -27271"/>
            </a:avLst>
          </a:prstGeom>
          <a:ln w="190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/>
          <p:cNvSpPr/>
          <p:nvPr/>
        </p:nvSpPr>
        <p:spPr>
          <a:xfrm>
            <a:off x="203578" y="425577"/>
            <a:ext cx="9117489" cy="5975121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sp>
        <p:nvSpPr>
          <p:cNvPr id="4" name="CaixaDeTexto 3"/>
          <p:cNvSpPr txBox="1"/>
          <p:nvPr/>
        </p:nvSpPr>
        <p:spPr>
          <a:xfrm>
            <a:off x="245912" y="0"/>
            <a:ext cx="698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FF0000"/>
                </a:solidFill>
              </a:rPr>
              <a:t>MODELO RELACIONAL - ALM (DATA LAKE) – Módulo </a:t>
            </a:r>
            <a:r>
              <a:rPr lang="pt-PT" b="1" i="1" dirty="0" err="1">
                <a:solidFill>
                  <a:srgbClr val="FF0000"/>
                </a:solidFill>
              </a:rPr>
              <a:t>Asset</a:t>
            </a:r>
            <a:r>
              <a:rPr lang="pt-PT" b="1" i="1" dirty="0">
                <a:solidFill>
                  <a:srgbClr val="FF0000"/>
                </a:solidFill>
              </a:rPr>
              <a:t> </a:t>
            </a:r>
            <a:r>
              <a:rPr lang="pt-PT" b="1" i="1" dirty="0" err="1">
                <a:solidFill>
                  <a:srgbClr val="FF0000"/>
                </a:solidFill>
              </a:rPr>
              <a:t>Encumbrance</a:t>
            </a:r>
            <a:endParaRPr lang="pt-PT" b="1" i="1" dirty="0">
              <a:solidFill>
                <a:srgbClr val="FF0000"/>
              </a:solidFill>
            </a:endParaRPr>
          </a:p>
        </p:txBody>
      </p:sp>
      <p:grpSp>
        <p:nvGrpSpPr>
          <p:cNvPr id="26" name="Grupo 25"/>
          <p:cNvGrpSpPr/>
          <p:nvPr/>
        </p:nvGrpSpPr>
        <p:grpSpPr>
          <a:xfrm>
            <a:off x="237208" y="470489"/>
            <a:ext cx="1847176" cy="850124"/>
            <a:chOff x="2941190" y="470489"/>
            <a:chExt cx="1847176" cy="850124"/>
          </a:xfrm>
        </p:grpSpPr>
        <p:sp>
          <p:nvSpPr>
            <p:cNvPr id="13" name="CaixaDeTexto 12"/>
            <p:cNvSpPr txBox="1"/>
            <p:nvPr/>
          </p:nvSpPr>
          <p:spPr>
            <a:xfrm>
              <a:off x="2941190" y="470489"/>
              <a:ext cx="1847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Parametrizações</a:t>
              </a:r>
              <a:endParaRPr lang="pt-PT" sz="1000" dirty="0"/>
            </a:p>
          </p:txBody>
        </p:sp>
        <p:sp>
          <p:nvSpPr>
            <p:cNvPr id="23" name="Fluxograma: subrotina 22"/>
            <p:cNvSpPr/>
            <p:nvPr/>
          </p:nvSpPr>
          <p:spPr>
            <a:xfrm>
              <a:off x="3012303" y="779206"/>
              <a:ext cx="1548000" cy="108000"/>
            </a:xfrm>
            <a:prstGeom prst="flowChartPredefinedProcess">
              <a:avLst/>
            </a:prstGeom>
            <a:solidFill>
              <a:schemeClr val="bg1"/>
            </a:solidFill>
            <a:ln w="6350" cap="flat"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al807 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Cod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 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prop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 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ind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 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disp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</a:t>
              </a:r>
            </a:p>
          </p:txBody>
        </p:sp>
        <p:sp>
          <p:nvSpPr>
            <p:cNvPr id="24" name="Fluxograma: subrotina 23"/>
            <p:cNvSpPr/>
            <p:nvPr/>
          </p:nvSpPr>
          <p:spPr>
            <a:xfrm>
              <a:off x="3010361" y="887542"/>
              <a:ext cx="1548000" cy="108000"/>
            </a:xfrm>
            <a:prstGeom prst="flowChartPredefinedProcess">
              <a:avLst/>
            </a:prstGeom>
            <a:solidFill>
              <a:schemeClr val="bg1"/>
            </a:solidFill>
            <a:ln w="6350" cap="flat"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al808 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Cod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 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prop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 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descrit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</a:t>
              </a:r>
            </a:p>
          </p:txBody>
        </p:sp>
        <p:sp>
          <p:nvSpPr>
            <p:cNvPr id="25" name="Fluxograma: subrotina 24"/>
            <p:cNvSpPr/>
            <p:nvPr/>
          </p:nvSpPr>
          <p:spPr>
            <a:xfrm>
              <a:off x="3011952" y="995865"/>
              <a:ext cx="1548000" cy="108000"/>
            </a:xfrm>
            <a:prstGeom prst="flowChartPredefinedProcess">
              <a:avLst/>
            </a:prstGeom>
            <a:solidFill>
              <a:schemeClr val="bg1"/>
            </a:solidFill>
            <a:ln w="6350" cap="flat"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al810 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Rastr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 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clt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./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cntr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/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prop</a:t>
              </a:r>
              <a:endParaRPr lang="pt-PT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6" name="Fluxograma: subrotina 15"/>
            <p:cNvSpPr/>
            <p:nvPr/>
          </p:nvSpPr>
          <p:spPr>
            <a:xfrm>
              <a:off x="3012479" y="1104644"/>
              <a:ext cx="1548000" cy="108000"/>
            </a:xfrm>
            <a:prstGeom prst="flowChartPredefinedProcess">
              <a:avLst/>
            </a:prstGeom>
            <a:solidFill>
              <a:schemeClr val="bg1"/>
            </a:solidFill>
            <a:ln w="6350" cap="flat"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al813 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Rastr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 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cntr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/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prop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 AE</a:t>
              </a:r>
            </a:p>
          </p:txBody>
        </p:sp>
        <p:sp>
          <p:nvSpPr>
            <p:cNvPr id="17" name="Fluxograma: subrotina 16"/>
            <p:cNvSpPr/>
            <p:nvPr/>
          </p:nvSpPr>
          <p:spPr>
            <a:xfrm>
              <a:off x="3013012" y="1212613"/>
              <a:ext cx="1548000" cy="108000"/>
            </a:xfrm>
            <a:prstGeom prst="flowChartPredefinedProcess">
              <a:avLst/>
            </a:prstGeom>
            <a:solidFill>
              <a:schemeClr val="bg1"/>
            </a:solidFill>
            <a:ln w="6350" cap="flat"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al815 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Aprov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 </a:t>
              </a:r>
              <a:r>
                <a:rPr lang="pt-PT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prop</a:t>
              </a:r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 AE</a:t>
              </a:r>
            </a:p>
          </p:txBody>
        </p:sp>
      </p:grpSp>
      <p:sp>
        <p:nvSpPr>
          <p:cNvPr id="27" name="CaixaDeTexto 26"/>
          <p:cNvSpPr txBox="1"/>
          <p:nvPr/>
        </p:nvSpPr>
        <p:spPr>
          <a:xfrm>
            <a:off x="189363" y="6570174"/>
            <a:ext cx="5091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/>
              <a:t>Nota</a:t>
            </a:r>
            <a:r>
              <a:rPr lang="pt-PT" sz="1200" dirty="0"/>
              <a:t>: apesar de não se apresentar, o campo Data deve ser ligado ou fixado.</a:t>
            </a:r>
          </a:p>
        </p:txBody>
      </p:sp>
      <p:grpSp>
        <p:nvGrpSpPr>
          <p:cNvPr id="28" name="Grupo 27"/>
          <p:cNvGrpSpPr/>
          <p:nvPr/>
        </p:nvGrpSpPr>
        <p:grpSpPr>
          <a:xfrm>
            <a:off x="2994817" y="745342"/>
            <a:ext cx="1531223" cy="1068539"/>
            <a:chOff x="7549736" y="781901"/>
            <a:chExt cx="1531223" cy="1068539"/>
          </a:xfrm>
        </p:grpSpPr>
        <p:sp>
          <p:nvSpPr>
            <p:cNvPr id="29" name="Retângulo 28"/>
            <p:cNvSpPr/>
            <p:nvPr/>
          </p:nvSpPr>
          <p:spPr>
            <a:xfrm>
              <a:off x="7549736" y="788440"/>
              <a:ext cx="1531223" cy="1062000"/>
            </a:xfrm>
            <a:prstGeom prst="rect">
              <a:avLst/>
            </a:prstGeom>
            <a:solidFill>
              <a:schemeClr val="bg1">
                <a:lumMod val="5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/>
            </a:p>
          </p:txBody>
        </p:sp>
        <p:sp>
          <p:nvSpPr>
            <p:cNvPr id="30" name="Retângulo 29"/>
            <p:cNvSpPr/>
            <p:nvPr/>
          </p:nvSpPr>
          <p:spPr>
            <a:xfrm>
              <a:off x="7733523" y="1075432"/>
              <a:ext cx="1143021" cy="6652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7733432" y="1076685"/>
              <a:ext cx="104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Entidade</a:t>
              </a:r>
            </a:p>
          </p:txBody>
        </p:sp>
        <p:sp>
          <p:nvSpPr>
            <p:cNvPr id="32" name="CaixaDeTexto 31"/>
            <p:cNvSpPr txBox="1"/>
            <p:nvPr/>
          </p:nvSpPr>
          <p:spPr>
            <a:xfrm>
              <a:off x="7733432" y="1278442"/>
              <a:ext cx="104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Perímetro</a:t>
              </a:r>
            </a:p>
          </p:txBody>
        </p:sp>
        <p:sp>
          <p:nvSpPr>
            <p:cNvPr id="33" name="CaixaDeTexto 32"/>
            <p:cNvSpPr txBox="1"/>
            <p:nvPr/>
          </p:nvSpPr>
          <p:spPr>
            <a:xfrm>
              <a:off x="7735037" y="1480675"/>
              <a:ext cx="104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</a:p>
          </p:txBody>
        </p:sp>
        <p:sp>
          <p:nvSpPr>
            <p:cNvPr id="34" name="CaixaDeTexto 33"/>
            <p:cNvSpPr txBox="1"/>
            <p:nvPr/>
          </p:nvSpPr>
          <p:spPr>
            <a:xfrm>
              <a:off x="7770896" y="781901"/>
              <a:ext cx="1074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Filtros</a:t>
              </a:r>
            </a:p>
          </p:txBody>
        </p:sp>
      </p:grpSp>
      <p:sp>
        <p:nvSpPr>
          <p:cNvPr id="43" name="Retângulo 42"/>
          <p:cNvSpPr/>
          <p:nvPr/>
        </p:nvSpPr>
        <p:spPr>
          <a:xfrm>
            <a:off x="2994819" y="2170781"/>
            <a:ext cx="1980000" cy="14650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2994817" y="1861493"/>
            <a:ext cx="2383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/>
              <a:t>Ativos Finais Onerados </a:t>
            </a:r>
            <a:r>
              <a:rPr lang="pt-PT" sz="1000" dirty="0"/>
              <a:t>(al015)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2994817" y="2171029"/>
            <a:ext cx="1980000" cy="276999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pt-PT" sz="1200" dirty="0"/>
              <a:t>Contrato ALM</a:t>
            </a:r>
            <a:r>
              <a:rPr lang="pt-PT" sz="800" dirty="0"/>
              <a:t> (</a:t>
            </a:r>
            <a:r>
              <a:rPr lang="pt-PT" sz="800" dirty="0" err="1"/>
              <a:t>cempresa</a:t>
            </a:r>
            <a:r>
              <a:rPr lang="pt-PT" sz="800" dirty="0"/>
              <a:t> … </a:t>
            </a:r>
            <a:r>
              <a:rPr lang="pt-PT" sz="800" dirty="0" err="1"/>
              <a:t>zdeposit</a:t>
            </a:r>
            <a:r>
              <a:rPr lang="pt-PT" sz="800" dirty="0"/>
              <a:t>)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2994817" y="2371383"/>
            <a:ext cx="19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chemeClr val="bg2">
                    <a:lumMod val="25000"/>
                  </a:schemeClr>
                </a:solidFill>
              </a:rPr>
              <a:t>Cliente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pt-PT" sz="800" dirty="0" err="1">
                <a:solidFill>
                  <a:schemeClr val="bg2">
                    <a:lumMod val="25000"/>
                  </a:schemeClr>
                </a:solidFill>
              </a:rPr>
              <a:t>zcliente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2994817" y="2567629"/>
            <a:ext cx="19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chemeClr val="bg2">
                    <a:lumMod val="25000"/>
                  </a:schemeClr>
                </a:solidFill>
              </a:rPr>
              <a:t>Tipo Balanço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pt-PT" sz="800" dirty="0" err="1">
                <a:solidFill>
                  <a:schemeClr val="bg2">
                    <a:lumMod val="25000"/>
                  </a:schemeClr>
                </a:solidFill>
              </a:rPr>
              <a:t>tipo_balanco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2994817" y="3358800"/>
            <a:ext cx="19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chemeClr val="bg2">
                    <a:lumMod val="25000"/>
                  </a:schemeClr>
                </a:solidFill>
              </a:rPr>
              <a:t>Data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pt-PT" sz="800" dirty="0" err="1">
                <a:solidFill>
                  <a:schemeClr val="bg2">
                    <a:lumMod val="25000"/>
                  </a:schemeClr>
                </a:solidFill>
              </a:rPr>
              <a:t>ref_date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2994817" y="2764800"/>
            <a:ext cx="190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 err="1">
                <a:solidFill>
                  <a:schemeClr val="bg2">
                    <a:lumMod val="25000"/>
                  </a:schemeClr>
                </a:solidFill>
              </a:rPr>
              <a:t>Cod</a:t>
            </a:r>
            <a:r>
              <a:rPr lang="pt-PT" sz="1200" dirty="0">
                <a:solidFill>
                  <a:schemeClr val="bg2">
                    <a:lumMod val="25000"/>
                  </a:schemeClr>
                </a:solidFill>
              </a:rPr>
              <a:t>. </a:t>
            </a:r>
            <a:r>
              <a:rPr lang="pt-PT" sz="1200" dirty="0" err="1">
                <a:solidFill>
                  <a:schemeClr val="bg2">
                    <a:lumMod val="25000"/>
                  </a:schemeClr>
                </a:solidFill>
              </a:rPr>
              <a:t>Prop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pt-PT" sz="800" dirty="0" err="1">
                <a:solidFill>
                  <a:schemeClr val="bg2">
                    <a:lumMod val="25000"/>
                  </a:schemeClr>
                </a:solidFill>
              </a:rPr>
              <a:t>cod_prop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2994817" y="2962800"/>
            <a:ext cx="198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chemeClr val="bg2">
                    <a:lumMod val="25000"/>
                  </a:schemeClr>
                </a:solidFill>
              </a:rPr>
              <a:t>Entidade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 (entidade)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2994817" y="3160800"/>
            <a:ext cx="198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chemeClr val="bg2">
                    <a:lumMod val="25000"/>
                  </a:schemeClr>
                </a:solidFill>
              </a:rPr>
              <a:t>Perímetros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pt-PT" sz="800" dirty="0" err="1">
                <a:solidFill>
                  <a:schemeClr val="bg2">
                    <a:lumMod val="25000"/>
                  </a:schemeClr>
                </a:solidFill>
              </a:rPr>
              <a:t>nome_perímetro</a:t>
            </a:r>
            <a:r>
              <a:rPr lang="pt-PT" sz="8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cxnSp>
        <p:nvCxnSpPr>
          <p:cNvPr id="56" name="Conexão em ângulos retos 55"/>
          <p:cNvCxnSpPr>
            <a:stCxn id="54" idx="3"/>
            <a:endCxn id="31" idx="3"/>
          </p:cNvCxnSpPr>
          <p:nvPr/>
        </p:nvCxnSpPr>
        <p:spPr>
          <a:xfrm flipH="1" flipV="1">
            <a:off x="4222513" y="1178626"/>
            <a:ext cx="752304" cy="1922674"/>
          </a:xfrm>
          <a:prstGeom prst="bentConnector3">
            <a:avLst>
              <a:gd name="adj1" fmla="val -47479"/>
            </a:avLst>
          </a:prstGeom>
          <a:ln w="19050">
            <a:solidFill>
              <a:srgbClr val="00B0F0">
                <a:alpha val="50000"/>
              </a:srgb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xão em ângulos retos 58"/>
          <p:cNvCxnSpPr>
            <a:stCxn id="55" idx="3"/>
            <a:endCxn id="32" idx="3"/>
          </p:cNvCxnSpPr>
          <p:nvPr/>
        </p:nvCxnSpPr>
        <p:spPr>
          <a:xfrm flipH="1" flipV="1">
            <a:off x="4222513" y="1380383"/>
            <a:ext cx="752304" cy="1918917"/>
          </a:xfrm>
          <a:prstGeom prst="bentConnector3">
            <a:avLst>
              <a:gd name="adj1" fmla="val -30387"/>
            </a:avLst>
          </a:prstGeom>
          <a:ln w="19050">
            <a:solidFill>
              <a:srgbClr val="00B0F0">
                <a:alpha val="50000"/>
              </a:srgb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upo 103"/>
          <p:cNvGrpSpPr/>
          <p:nvPr/>
        </p:nvGrpSpPr>
        <p:grpSpPr>
          <a:xfrm>
            <a:off x="2994817" y="4107101"/>
            <a:ext cx="2384749" cy="1379552"/>
            <a:chOff x="5698799" y="3836647"/>
            <a:chExt cx="2384749" cy="1379552"/>
          </a:xfrm>
        </p:grpSpPr>
        <p:sp>
          <p:nvSpPr>
            <p:cNvPr id="36" name="Retângulo 35"/>
            <p:cNvSpPr/>
            <p:nvPr/>
          </p:nvSpPr>
          <p:spPr>
            <a:xfrm>
              <a:off x="5699875" y="4145935"/>
              <a:ext cx="1980000" cy="10658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5699873" y="3836647"/>
              <a:ext cx="23836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Ativos Diretos Onerados </a:t>
              </a:r>
              <a:r>
                <a:rPr lang="pt-PT" sz="1000" dirty="0"/>
                <a:t>(al014)</a:t>
              </a:r>
            </a:p>
          </p:txBody>
        </p:sp>
        <p:sp>
          <p:nvSpPr>
            <p:cNvPr id="38" name="CaixaDeTexto 37"/>
            <p:cNvSpPr txBox="1"/>
            <p:nvPr/>
          </p:nvSpPr>
          <p:spPr>
            <a:xfrm>
              <a:off x="5699873" y="4146183"/>
              <a:ext cx="1908000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/>
                <a:t>Contrato ALM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5699873" y="4346537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5699873" y="4542783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Tipo Balanço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tipo_balanco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5699873" y="4939200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66" name="CaixaDeTexto 65"/>
            <p:cNvSpPr txBox="1"/>
            <p:nvPr/>
          </p:nvSpPr>
          <p:spPr>
            <a:xfrm>
              <a:off x="5698799" y="4741200"/>
              <a:ext cx="19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Cod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Prop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cod_prop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70" name="Conexão em ângulos retos 69"/>
          <p:cNvCxnSpPr>
            <a:stCxn id="39" idx="1"/>
            <a:endCxn id="46" idx="1"/>
          </p:cNvCxnSpPr>
          <p:nvPr/>
        </p:nvCxnSpPr>
        <p:spPr>
          <a:xfrm rot="10800000">
            <a:off x="2994817" y="2509883"/>
            <a:ext cx="1074" cy="2245608"/>
          </a:xfrm>
          <a:prstGeom prst="bentConnector3">
            <a:avLst>
              <a:gd name="adj1" fmla="val 13403073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upo 83"/>
          <p:cNvGrpSpPr/>
          <p:nvPr/>
        </p:nvGrpSpPr>
        <p:grpSpPr>
          <a:xfrm>
            <a:off x="332135" y="1866256"/>
            <a:ext cx="1980002" cy="1186382"/>
            <a:chOff x="7152199" y="2278064"/>
            <a:chExt cx="1980002" cy="1186382"/>
          </a:xfrm>
        </p:grpSpPr>
        <p:sp>
          <p:nvSpPr>
            <p:cNvPr id="85" name="Retângulo 84"/>
            <p:cNvSpPr/>
            <p:nvPr/>
          </p:nvSpPr>
          <p:spPr>
            <a:xfrm>
              <a:off x="7152201" y="2587352"/>
              <a:ext cx="1980000" cy="8770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86" name="CaixaDeTexto 85"/>
            <p:cNvSpPr txBox="1"/>
            <p:nvPr/>
          </p:nvSpPr>
          <p:spPr>
            <a:xfrm>
              <a:off x="7152200" y="2278064"/>
              <a:ext cx="189011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Core Saldos € (M) </a:t>
              </a:r>
              <a:r>
                <a:rPr lang="pt-PT" sz="1000" dirty="0"/>
                <a:t>(al030)</a:t>
              </a:r>
            </a:p>
          </p:txBody>
        </p:sp>
        <p:sp>
          <p:nvSpPr>
            <p:cNvPr id="87" name="CaixaDeTexto 86"/>
            <p:cNvSpPr txBox="1"/>
            <p:nvPr/>
          </p:nvSpPr>
          <p:spPr>
            <a:xfrm>
              <a:off x="7152199" y="2587600"/>
              <a:ext cx="1980000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/>
                <a:t>Contrato ALM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88" name="CaixaDeTexto 87"/>
            <p:cNvSpPr txBox="1"/>
            <p:nvPr/>
          </p:nvSpPr>
          <p:spPr>
            <a:xfrm>
              <a:off x="7152199" y="2787954"/>
              <a:ext cx="198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7152199" y="2984200"/>
              <a:ext cx="198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Tipo Balanço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tipo_balanco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7152199" y="3182698"/>
              <a:ext cx="198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91" name="Conexão em ângulos retos 90"/>
          <p:cNvCxnSpPr>
            <a:stCxn id="45" idx="1"/>
            <a:endCxn id="87" idx="3"/>
          </p:cNvCxnSpPr>
          <p:nvPr/>
        </p:nvCxnSpPr>
        <p:spPr>
          <a:xfrm rot="10800000" flipV="1">
            <a:off x="2312135" y="2309528"/>
            <a:ext cx="682682" cy="476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xão em ângulos retos 93"/>
          <p:cNvCxnSpPr>
            <a:stCxn id="47" idx="1"/>
            <a:endCxn id="89" idx="3"/>
          </p:cNvCxnSpPr>
          <p:nvPr/>
        </p:nvCxnSpPr>
        <p:spPr>
          <a:xfrm rot="10800000" flipV="1">
            <a:off x="2312135" y="2706128"/>
            <a:ext cx="682682" cy="476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xão em ângulos retos 96"/>
          <p:cNvCxnSpPr>
            <a:stCxn id="88" idx="3"/>
            <a:endCxn id="46" idx="1"/>
          </p:cNvCxnSpPr>
          <p:nvPr/>
        </p:nvCxnSpPr>
        <p:spPr>
          <a:xfrm flipV="1">
            <a:off x="2312135" y="2509883"/>
            <a:ext cx="682682" cy="476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upo 141"/>
          <p:cNvGrpSpPr/>
          <p:nvPr/>
        </p:nvGrpSpPr>
        <p:grpSpPr>
          <a:xfrm>
            <a:off x="6494400" y="3223758"/>
            <a:ext cx="1995206" cy="1667109"/>
            <a:chOff x="8691643" y="3269342"/>
            <a:chExt cx="1995206" cy="1667109"/>
          </a:xfrm>
        </p:grpSpPr>
        <p:grpSp>
          <p:nvGrpSpPr>
            <p:cNvPr id="125" name="Grupo 124"/>
            <p:cNvGrpSpPr/>
            <p:nvPr/>
          </p:nvGrpSpPr>
          <p:grpSpPr>
            <a:xfrm>
              <a:off x="8691735" y="3542674"/>
              <a:ext cx="1980000" cy="285416"/>
              <a:chOff x="5194892" y="4806851"/>
              <a:chExt cx="1980000" cy="285416"/>
            </a:xfrm>
          </p:grpSpPr>
          <p:sp>
            <p:nvSpPr>
              <p:cNvPr id="136" name="Fluxograma: multidocumentos 135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137" name="CaixaDeTexto 136"/>
              <p:cNvSpPr txBox="1"/>
              <p:nvPr/>
            </p:nvSpPr>
            <p:spPr>
              <a:xfrm>
                <a:off x="5198066" y="4815268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al603 </a:t>
                </a:r>
                <a:r>
                  <a:rPr lang="pt-PT" sz="1200" dirty="0" err="1"/>
                  <a:t>Clt</a:t>
                </a:r>
                <a:r>
                  <a:rPr lang="pt-PT" sz="1200" dirty="0"/>
                  <a:t> BEI</a:t>
                </a:r>
              </a:p>
            </p:txBody>
          </p:sp>
        </p:grpSp>
        <p:sp>
          <p:nvSpPr>
            <p:cNvPr id="126" name="CaixaDeTexto 125"/>
            <p:cNvSpPr txBox="1"/>
            <p:nvPr/>
          </p:nvSpPr>
          <p:spPr>
            <a:xfrm>
              <a:off x="8694910" y="3269342"/>
              <a:ext cx="1800248" cy="308276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400" b="1" dirty="0"/>
                <a:t>Inputs Colateral </a:t>
              </a:r>
              <a:r>
                <a:rPr lang="pt-PT" sz="1400" b="1" dirty="0" err="1"/>
                <a:t>Prop</a:t>
              </a:r>
              <a:r>
                <a:rPr lang="pt-PT" sz="1400" b="1" dirty="0"/>
                <a:t>.</a:t>
              </a:r>
              <a:endParaRPr lang="pt-PT" sz="1000" dirty="0"/>
            </a:p>
          </p:txBody>
        </p:sp>
        <p:grpSp>
          <p:nvGrpSpPr>
            <p:cNvPr id="127" name="Grupo 126"/>
            <p:cNvGrpSpPr/>
            <p:nvPr/>
          </p:nvGrpSpPr>
          <p:grpSpPr>
            <a:xfrm>
              <a:off x="8691643" y="3819476"/>
              <a:ext cx="1980000" cy="285416"/>
              <a:chOff x="5194892" y="4806851"/>
              <a:chExt cx="1980000" cy="285416"/>
            </a:xfrm>
          </p:grpSpPr>
          <p:sp>
            <p:nvSpPr>
              <p:cNvPr id="134" name="Fluxograma: multidocumentos 133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135" name="CaixaDeTexto 134"/>
              <p:cNvSpPr txBox="1"/>
              <p:nvPr/>
            </p:nvSpPr>
            <p:spPr>
              <a:xfrm>
                <a:off x="5198066" y="4815268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al606 </a:t>
                </a:r>
                <a:r>
                  <a:rPr lang="pt-PT" sz="1200" dirty="0" err="1"/>
                  <a:t>Clt</a:t>
                </a:r>
                <a:r>
                  <a:rPr lang="pt-PT" sz="1200" dirty="0"/>
                  <a:t> </a:t>
                </a:r>
                <a:r>
                  <a:rPr lang="pt-PT" sz="1200" dirty="0" err="1"/>
                  <a:t>Eurosistema</a:t>
                </a:r>
                <a:endParaRPr lang="pt-PT" sz="1200" dirty="0"/>
              </a:p>
            </p:txBody>
          </p:sp>
        </p:grpSp>
        <p:grpSp>
          <p:nvGrpSpPr>
            <p:cNvPr id="128" name="Grupo 127"/>
            <p:cNvGrpSpPr/>
            <p:nvPr/>
          </p:nvGrpSpPr>
          <p:grpSpPr>
            <a:xfrm>
              <a:off x="8691643" y="4096058"/>
              <a:ext cx="1995206" cy="285416"/>
              <a:chOff x="5194892" y="4806851"/>
              <a:chExt cx="1995206" cy="285416"/>
            </a:xfrm>
          </p:grpSpPr>
          <p:sp>
            <p:nvSpPr>
              <p:cNvPr id="132" name="Fluxograma: multidocumentos 131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133" name="CaixaDeTexto 132"/>
              <p:cNvSpPr txBox="1"/>
              <p:nvPr/>
            </p:nvSpPr>
            <p:spPr>
              <a:xfrm>
                <a:off x="5198066" y="4815268"/>
                <a:ext cx="1992032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al609 </a:t>
                </a:r>
                <a:r>
                  <a:rPr lang="pt-PT" sz="1200" dirty="0" err="1"/>
                  <a:t>Clt</a:t>
                </a:r>
                <a:r>
                  <a:rPr lang="pt-PT" sz="1200" dirty="0"/>
                  <a:t> I. </a:t>
                </a:r>
                <a:r>
                  <a:rPr lang="pt-PT" sz="1200" dirty="0" err="1"/>
                  <a:t>Marg</a:t>
                </a:r>
                <a:r>
                  <a:rPr lang="pt-PT" sz="1200" dirty="0"/>
                  <a:t> </a:t>
                </a:r>
                <a:r>
                  <a:rPr lang="pt-PT" sz="800" dirty="0"/>
                  <a:t>(</a:t>
                </a:r>
                <a:r>
                  <a:rPr lang="pt-PT" sz="800" dirty="0">
                    <a:sym typeface="Wingdings" panose="05000000000000000000" pitchFamily="2" charset="2"/>
                  </a:rPr>
                  <a:t></a:t>
                </a:r>
                <a:r>
                  <a:rPr lang="pt-PT" sz="800" dirty="0"/>
                  <a:t> al703)</a:t>
                </a:r>
              </a:p>
            </p:txBody>
          </p:sp>
        </p:grpSp>
        <p:grpSp>
          <p:nvGrpSpPr>
            <p:cNvPr id="129" name="Grupo 128"/>
            <p:cNvGrpSpPr/>
            <p:nvPr/>
          </p:nvGrpSpPr>
          <p:grpSpPr>
            <a:xfrm>
              <a:off x="8691643" y="4373258"/>
              <a:ext cx="1980000" cy="285416"/>
              <a:chOff x="5194892" y="4806851"/>
              <a:chExt cx="1980000" cy="285416"/>
            </a:xfrm>
          </p:grpSpPr>
          <p:sp>
            <p:nvSpPr>
              <p:cNvPr id="130" name="Fluxograma: multidocumentos 129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131" name="CaixaDeTexto 130"/>
              <p:cNvSpPr txBox="1"/>
              <p:nvPr/>
            </p:nvSpPr>
            <p:spPr>
              <a:xfrm>
                <a:off x="5198066" y="4815268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al612 </a:t>
                </a:r>
                <a:r>
                  <a:rPr lang="pt-PT" sz="1200" dirty="0" err="1"/>
                  <a:t>Clt</a:t>
                </a:r>
                <a:r>
                  <a:rPr lang="pt-PT" sz="1200" dirty="0"/>
                  <a:t> SII </a:t>
                </a:r>
                <a:r>
                  <a:rPr lang="pt-PT" sz="800" dirty="0"/>
                  <a:t>(</a:t>
                </a:r>
                <a:r>
                  <a:rPr lang="pt-PT" sz="800" dirty="0">
                    <a:sym typeface="Wingdings" panose="05000000000000000000" pitchFamily="2" charset="2"/>
                  </a:rPr>
                  <a:t></a:t>
                </a:r>
                <a:r>
                  <a:rPr lang="pt-PT" sz="800" dirty="0"/>
                  <a:t> fg701)</a:t>
                </a:r>
              </a:p>
            </p:txBody>
          </p:sp>
        </p:grpSp>
        <p:grpSp>
          <p:nvGrpSpPr>
            <p:cNvPr id="138" name="Grupo 137"/>
            <p:cNvGrpSpPr/>
            <p:nvPr/>
          </p:nvGrpSpPr>
          <p:grpSpPr>
            <a:xfrm>
              <a:off x="8693114" y="4651035"/>
              <a:ext cx="1980000" cy="285416"/>
              <a:chOff x="5194892" y="4806851"/>
              <a:chExt cx="1980000" cy="285416"/>
            </a:xfrm>
          </p:grpSpPr>
          <p:sp>
            <p:nvSpPr>
              <p:cNvPr id="139" name="Fluxograma: multidocumentos 138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140" name="CaixaDeTexto 139"/>
              <p:cNvSpPr txBox="1"/>
              <p:nvPr/>
            </p:nvSpPr>
            <p:spPr>
              <a:xfrm>
                <a:off x="5198066" y="4815268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fg601 </a:t>
                </a:r>
                <a:r>
                  <a:rPr lang="pt-PT" sz="1200" dirty="0" err="1"/>
                  <a:t>Clt</a:t>
                </a:r>
                <a:r>
                  <a:rPr lang="pt-PT" sz="1200" dirty="0"/>
                  <a:t> FGD </a:t>
                </a:r>
                <a:r>
                  <a:rPr lang="pt-PT" sz="800" dirty="0"/>
                  <a:t>(</a:t>
                </a:r>
                <a:r>
                  <a:rPr lang="pt-PT" sz="800" dirty="0">
                    <a:sym typeface="Wingdings" panose="05000000000000000000" pitchFamily="2" charset="2"/>
                  </a:rPr>
                  <a:t></a:t>
                </a:r>
                <a:r>
                  <a:rPr lang="pt-PT" sz="800" dirty="0"/>
                  <a:t> fg701)</a:t>
                </a:r>
              </a:p>
            </p:txBody>
          </p:sp>
        </p:grpSp>
      </p:grpSp>
      <p:grpSp>
        <p:nvGrpSpPr>
          <p:cNvPr id="159" name="Grupo 158"/>
          <p:cNvGrpSpPr/>
          <p:nvPr/>
        </p:nvGrpSpPr>
        <p:grpSpPr>
          <a:xfrm>
            <a:off x="684674" y="5545831"/>
            <a:ext cx="1797346" cy="801879"/>
            <a:chOff x="577336" y="1514244"/>
            <a:chExt cx="1797346" cy="801879"/>
          </a:xfrm>
        </p:grpSpPr>
        <p:sp>
          <p:nvSpPr>
            <p:cNvPr id="160" name="Retângulo 159"/>
            <p:cNvSpPr/>
            <p:nvPr/>
          </p:nvSpPr>
          <p:spPr>
            <a:xfrm>
              <a:off x="578282" y="1824070"/>
              <a:ext cx="1796400" cy="49205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61" name="CaixaDeTexto 160"/>
            <p:cNvSpPr txBox="1"/>
            <p:nvPr/>
          </p:nvSpPr>
          <p:spPr>
            <a:xfrm>
              <a:off x="577336" y="1514244"/>
              <a:ext cx="17973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Cotações Ativos </a:t>
              </a:r>
              <a:r>
                <a:rPr lang="pt-PT" sz="1000" dirty="0"/>
                <a:t>(al605)</a:t>
              </a:r>
            </a:p>
          </p:txBody>
        </p:sp>
        <p:sp>
          <p:nvSpPr>
            <p:cNvPr id="162" name="CaixaDeTexto 161"/>
            <p:cNvSpPr txBox="1"/>
            <p:nvPr/>
          </p:nvSpPr>
          <p:spPr>
            <a:xfrm>
              <a:off x="577688" y="1832999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ISIN</a:t>
              </a:r>
              <a:r>
                <a:rPr lang="pt-PT" sz="800" dirty="0"/>
                <a:t> (</a:t>
              </a:r>
              <a:r>
                <a:rPr lang="pt-PT" sz="800" dirty="0" err="1"/>
                <a:t>cisin</a:t>
              </a:r>
              <a:r>
                <a:rPr lang="pt-PT" sz="800" dirty="0"/>
                <a:t>)</a:t>
              </a:r>
              <a:endParaRPr lang="pt-PT" sz="800" baseline="30000" dirty="0"/>
            </a:p>
          </p:txBody>
        </p:sp>
        <p:sp>
          <p:nvSpPr>
            <p:cNvPr id="163" name="CaixaDeTexto 162"/>
            <p:cNvSpPr txBox="1"/>
            <p:nvPr/>
          </p:nvSpPr>
          <p:spPr>
            <a:xfrm>
              <a:off x="577687" y="2031424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sp>
        <p:nvSpPr>
          <p:cNvPr id="189" name="CaixaDeTexto 188"/>
          <p:cNvSpPr txBox="1"/>
          <p:nvPr/>
        </p:nvSpPr>
        <p:spPr>
          <a:xfrm>
            <a:off x="2994894" y="5202070"/>
            <a:ext cx="1261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193" name="CaixaDeTexto 192"/>
          <p:cNvSpPr txBox="1"/>
          <p:nvPr/>
        </p:nvSpPr>
        <p:spPr>
          <a:xfrm>
            <a:off x="6501984" y="3870111"/>
            <a:ext cx="1193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61" name="CaixaDeTexto 260"/>
          <p:cNvSpPr txBox="1"/>
          <p:nvPr/>
        </p:nvSpPr>
        <p:spPr>
          <a:xfrm>
            <a:off x="3852863" y="4711901"/>
            <a:ext cx="1122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65" name="CaixaDeTexto 264"/>
          <p:cNvSpPr txBox="1"/>
          <p:nvPr/>
        </p:nvSpPr>
        <p:spPr>
          <a:xfrm>
            <a:off x="6494308" y="5197712"/>
            <a:ext cx="262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grpSp>
        <p:nvGrpSpPr>
          <p:cNvPr id="117" name="Grupo 116"/>
          <p:cNvGrpSpPr/>
          <p:nvPr/>
        </p:nvGrpSpPr>
        <p:grpSpPr>
          <a:xfrm>
            <a:off x="6495282" y="432956"/>
            <a:ext cx="1971197" cy="801879"/>
            <a:chOff x="577336" y="1514244"/>
            <a:chExt cx="1971197" cy="801879"/>
          </a:xfrm>
        </p:grpSpPr>
        <p:sp>
          <p:nvSpPr>
            <p:cNvPr id="118" name="Retângulo 117"/>
            <p:cNvSpPr/>
            <p:nvPr/>
          </p:nvSpPr>
          <p:spPr>
            <a:xfrm>
              <a:off x="578282" y="1824070"/>
              <a:ext cx="1796400" cy="49205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19" name="CaixaDeTexto 118"/>
            <p:cNvSpPr txBox="1"/>
            <p:nvPr/>
          </p:nvSpPr>
          <p:spPr>
            <a:xfrm>
              <a:off x="577336" y="1514244"/>
              <a:ext cx="19711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Pools </a:t>
              </a:r>
              <a:r>
                <a:rPr lang="pt-PT" sz="1400" b="1" dirty="0" err="1"/>
                <a:t>Eurosistema</a:t>
              </a:r>
              <a:r>
                <a:rPr lang="pt-PT" sz="1400" b="1" dirty="0"/>
                <a:t> </a:t>
              </a:r>
              <a:r>
                <a:rPr lang="pt-PT" sz="1000" dirty="0"/>
                <a:t>(al023)</a:t>
              </a:r>
            </a:p>
          </p:txBody>
        </p:sp>
        <p:sp>
          <p:nvSpPr>
            <p:cNvPr id="120" name="CaixaDeTexto 119"/>
            <p:cNvSpPr txBox="1"/>
            <p:nvPr/>
          </p:nvSpPr>
          <p:spPr>
            <a:xfrm>
              <a:off x="577688" y="1832999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Código Pool</a:t>
              </a:r>
              <a:r>
                <a:rPr lang="pt-PT" sz="800" dirty="0"/>
                <a:t> (</a:t>
              </a:r>
              <a:r>
                <a:rPr lang="pt-PT" sz="800" dirty="0" err="1"/>
                <a:t>nseqpool</a:t>
              </a:r>
              <a:r>
                <a:rPr lang="pt-PT" sz="800" dirty="0"/>
                <a:t>)</a:t>
              </a:r>
              <a:endParaRPr lang="pt-PT" sz="800" baseline="30000" dirty="0"/>
            </a:p>
          </p:txBody>
        </p:sp>
        <p:sp>
          <p:nvSpPr>
            <p:cNvPr id="122" name="CaixaDeTexto 121"/>
            <p:cNvSpPr txBox="1"/>
            <p:nvPr/>
          </p:nvSpPr>
          <p:spPr>
            <a:xfrm>
              <a:off x="577687" y="2031424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227" name="Grupo 226"/>
          <p:cNvGrpSpPr/>
          <p:nvPr/>
        </p:nvGrpSpPr>
        <p:grpSpPr>
          <a:xfrm>
            <a:off x="6495282" y="1212254"/>
            <a:ext cx="2627311" cy="1003089"/>
            <a:chOff x="6055200" y="1299198"/>
            <a:chExt cx="2627311" cy="1003089"/>
          </a:xfrm>
        </p:grpSpPr>
        <p:sp>
          <p:nvSpPr>
            <p:cNvPr id="124" name="Retângulo 123"/>
            <p:cNvSpPr/>
            <p:nvPr/>
          </p:nvSpPr>
          <p:spPr>
            <a:xfrm>
              <a:off x="6056146" y="1609024"/>
              <a:ext cx="1796400" cy="6932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41" name="CaixaDeTexto 140"/>
            <p:cNvSpPr txBox="1"/>
            <p:nvPr/>
          </p:nvSpPr>
          <p:spPr>
            <a:xfrm>
              <a:off x="6055200" y="1299198"/>
              <a:ext cx="26273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Detalhe Pools </a:t>
              </a:r>
              <a:r>
                <a:rPr lang="pt-PT" sz="1400" b="1" dirty="0" err="1"/>
                <a:t>Eurosistema</a:t>
              </a:r>
              <a:r>
                <a:rPr lang="pt-PT" sz="1400" b="1" dirty="0"/>
                <a:t> </a:t>
              </a:r>
              <a:r>
                <a:rPr lang="pt-PT" sz="1000" dirty="0"/>
                <a:t>(al024)</a:t>
              </a:r>
            </a:p>
          </p:txBody>
        </p:sp>
        <p:sp>
          <p:nvSpPr>
            <p:cNvPr id="144" name="CaixaDeTexto 143"/>
            <p:cNvSpPr txBox="1"/>
            <p:nvPr/>
          </p:nvSpPr>
          <p:spPr>
            <a:xfrm>
              <a:off x="6055552" y="1617953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Código Pool </a:t>
              </a:r>
              <a:r>
                <a:rPr lang="pt-PT" sz="800" dirty="0"/>
                <a:t>(</a:t>
              </a:r>
              <a:r>
                <a:rPr lang="pt-PT" sz="800" dirty="0" err="1"/>
                <a:t>nseqpool</a:t>
              </a:r>
              <a:r>
                <a:rPr lang="pt-PT" sz="800" dirty="0"/>
                <a:t>)</a:t>
              </a:r>
              <a:endParaRPr lang="pt-PT" sz="800" baseline="30000" dirty="0"/>
            </a:p>
          </p:txBody>
        </p:sp>
        <p:sp>
          <p:nvSpPr>
            <p:cNvPr id="145" name="CaixaDeTexto 144"/>
            <p:cNvSpPr txBox="1"/>
            <p:nvPr/>
          </p:nvSpPr>
          <p:spPr>
            <a:xfrm>
              <a:off x="6055551" y="1816378"/>
              <a:ext cx="1792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Contrato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cempresa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… 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zdeposit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46" name="CaixaDeTexto 145"/>
            <p:cNvSpPr txBox="1"/>
            <p:nvPr/>
          </p:nvSpPr>
          <p:spPr>
            <a:xfrm>
              <a:off x="6055275" y="2016000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147" name="Conexão em ângulos retos 146"/>
          <p:cNvCxnSpPr>
            <a:stCxn id="120" idx="1"/>
            <a:endCxn id="144" idx="1"/>
          </p:cNvCxnSpPr>
          <p:nvPr/>
        </p:nvCxnSpPr>
        <p:spPr>
          <a:xfrm rot="10800000" flipV="1">
            <a:off x="6495634" y="890211"/>
            <a:ext cx="12700" cy="779298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xão em ângulos retos 63"/>
          <p:cNvCxnSpPr>
            <a:stCxn id="53" idx="1"/>
            <a:endCxn id="66" idx="1"/>
          </p:cNvCxnSpPr>
          <p:nvPr/>
        </p:nvCxnSpPr>
        <p:spPr>
          <a:xfrm rot="10800000" flipV="1">
            <a:off x="2994817" y="2903300"/>
            <a:ext cx="12700" cy="2246854"/>
          </a:xfrm>
          <a:prstGeom prst="bentConnector3">
            <a:avLst>
              <a:gd name="adj1" fmla="val 2062504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xão em ângulos retos 48"/>
          <p:cNvCxnSpPr>
            <a:stCxn id="45" idx="1"/>
            <a:endCxn id="38" idx="1"/>
          </p:cNvCxnSpPr>
          <p:nvPr/>
        </p:nvCxnSpPr>
        <p:spPr>
          <a:xfrm rot="10800000" flipH="1" flipV="1">
            <a:off x="2994817" y="2309529"/>
            <a:ext cx="1074" cy="2245608"/>
          </a:xfrm>
          <a:prstGeom prst="bentConnector3">
            <a:avLst>
              <a:gd name="adj1" fmla="val -32370857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exão em ângulos retos 163"/>
          <p:cNvCxnSpPr>
            <a:stCxn id="45" idx="3"/>
            <a:endCxn id="145" idx="1"/>
          </p:cNvCxnSpPr>
          <p:nvPr/>
        </p:nvCxnSpPr>
        <p:spPr>
          <a:xfrm flipV="1">
            <a:off x="4974817" y="1867934"/>
            <a:ext cx="1520816" cy="44159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CaixaDeTexto 169"/>
          <p:cNvSpPr txBox="1"/>
          <p:nvPr/>
        </p:nvSpPr>
        <p:spPr>
          <a:xfrm>
            <a:off x="7227066" y="1899032"/>
            <a:ext cx="441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174" name="Fluxograma: multidocumentos 173"/>
          <p:cNvSpPr/>
          <p:nvPr/>
        </p:nvSpPr>
        <p:spPr>
          <a:xfrm>
            <a:off x="9117849" y="171322"/>
            <a:ext cx="504000" cy="108000"/>
          </a:xfrm>
          <a:prstGeom prst="flowChartMultidocumen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PT" sz="800" baseline="30000">
              <a:solidFill>
                <a:schemeClr val="bg1"/>
              </a:solidFill>
              <a:effectLst/>
            </a:endParaRPr>
          </a:p>
        </p:txBody>
      </p:sp>
      <p:sp>
        <p:nvSpPr>
          <p:cNvPr id="176" name="CaixaDeTexto 175"/>
          <p:cNvSpPr txBox="1"/>
          <p:nvPr/>
        </p:nvSpPr>
        <p:spPr>
          <a:xfrm>
            <a:off x="9633261" y="93094"/>
            <a:ext cx="82800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Carga manual</a:t>
            </a:r>
          </a:p>
        </p:txBody>
      </p:sp>
      <p:sp>
        <p:nvSpPr>
          <p:cNvPr id="177" name="Retângulo 176"/>
          <p:cNvSpPr/>
          <p:nvPr/>
        </p:nvSpPr>
        <p:spPr>
          <a:xfrm>
            <a:off x="10733871" y="154152"/>
            <a:ext cx="504000" cy="10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 sz="800" b="0">
              <a:solidFill>
                <a:schemeClr val="tx1"/>
              </a:solidFill>
            </a:endParaRPr>
          </a:p>
        </p:txBody>
      </p:sp>
      <p:sp>
        <p:nvSpPr>
          <p:cNvPr id="178" name="CaixaDeTexto 177"/>
          <p:cNvSpPr txBox="1"/>
          <p:nvPr/>
        </p:nvSpPr>
        <p:spPr>
          <a:xfrm>
            <a:off x="11254710" y="88042"/>
            <a:ext cx="72917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Automático</a:t>
            </a:r>
          </a:p>
        </p:txBody>
      </p:sp>
      <p:sp>
        <p:nvSpPr>
          <p:cNvPr id="179" name="Fluxograma: subrotina 178"/>
          <p:cNvSpPr/>
          <p:nvPr/>
        </p:nvSpPr>
        <p:spPr>
          <a:xfrm>
            <a:off x="7295755" y="158948"/>
            <a:ext cx="504000" cy="108000"/>
          </a:xfrm>
          <a:prstGeom prst="flowChartPredefined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endParaRPr lang="pt-PT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0" name="CaixaDeTexto 179"/>
          <p:cNvSpPr txBox="1"/>
          <p:nvPr/>
        </p:nvSpPr>
        <p:spPr>
          <a:xfrm>
            <a:off x="7814470" y="90157"/>
            <a:ext cx="910996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Parametrização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6494400" y="4845249"/>
            <a:ext cx="1980000" cy="1119093"/>
            <a:chOff x="6300000" y="4145532"/>
            <a:chExt cx="1980000" cy="1119093"/>
          </a:xfrm>
        </p:grpSpPr>
        <p:grpSp>
          <p:nvGrpSpPr>
            <p:cNvPr id="240" name="Grupo 239"/>
            <p:cNvGrpSpPr/>
            <p:nvPr/>
          </p:nvGrpSpPr>
          <p:grpSpPr>
            <a:xfrm>
              <a:off x="6300000" y="4418864"/>
              <a:ext cx="1980000" cy="285416"/>
              <a:chOff x="5194892" y="4806851"/>
              <a:chExt cx="1980000" cy="285416"/>
            </a:xfrm>
          </p:grpSpPr>
          <p:sp>
            <p:nvSpPr>
              <p:cNvPr id="254" name="Fluxograma: multidocumentos 253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255" name="CaixaDeTexto 254"/>
              <p:cNvSpPr txBox="1"/>
              <p:nvPr/>
            </p:nvSpPr>
            <p:spPr>
              <a:xfrm>
                <a:off x="5198066" y="4815268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al601 </a:t>
                </a:r>
                <a:r>
                  <a:rPr lang="pt-PT" sz="1200" dirty="0" err="1"/>
                  <a:t>Reserv</a:t>
                </a:r>
                <a:r>
                  <a:rPr lang="pt-PT" sz="1200" dirty="0"/>
                  <a:t>. Exced.</a:t>
                </a:r>
              </a:p>
            </p:txBody>
          </p:sp>
        </p:grpSp>
        <p:sp>
          <p:nvSpPr>
            <p:cNvPr id="241" name="CaixaDeTexto 240"/>
            <p:cNvSpPr txBox="1"/>
            <p:nvPr/>
          </p:nvSpPr>
          <p:spPr>
            <a:xfrm>
              <a:off x="6313286" y="4145532"/>
              <a:ext cx="1800248" cy="307777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400" b="1" dirty="0"/>
                <a:t>Outros Inputs</a:t>
              </a:r>
              <a:endParaRPr lang="pt-PT" sz="1000" dirty="0"/>
            </a:p>
          </p:txBody>
        </p:sp>
        <p:grpSp>
          <p:nvGrpSpPr>
            <p:cNvPr id="259" name="Grupo 258"/>
            <p:cNvGrpSpPr/>
            <p:nvPr/>
          </p:nvGrpSpPr>
          <p:grpSpPr>
            <a:xfrm>
              <a:off x="6300000" y="4696765"/>
              <a:ext cx="1980000" cy="285416"/>
              <a:chOff x="6836036" y="3545739"/>
              <a:chExt cx="1980000" cy="285416"/>
            </a:xfrm>
          </p:grpSpPr>
          <p:sp>
            <p:nvSpPr>
              <p:cNvPr id="257" name="Fluxograma: multidocumentos 256"/>
              <p:cNvSpPr/>
              <p:nvPr/>
            </p:nvSpPr>
            <p:spPr>
              <a:xfrm>
                <a:off x="6836036" y="3545739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258" name="CaixaDeTexto 257"/>
              <p:cNvSpPr txBox="1"/>
              <p:nvPr/>
            </p:nvSpPr>
            <p:spPr>
              <a:xfrm>
                <a:off x="6839210" y="355415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al602 </a:t>
                </a:r>
                <a:r>
                  <a:rPr lang="pt-PT" sz="1200" dirty="0" err="1"/>
                  <a:t>Repos</a:t>
                </a:r>
                <a:endParaRPr lang="pt-PT" sz="1200" dirty="0"/>
              </a:p>
            </p:txBody>
          </p:sp>
        </p:grpSp>
        <p:grpSp>
          <p:nvGrpSpPr>
            <p:cNvPr id="123" name="Grupo 122"/>
            <p:cNvGrpSpPr/>
            <p:nvPr/>
          </p:nvGrpSpPr>
          <p:grpSpPr>
            <a:xfrm>
              <a:off x="6300000" y="4979209"/>
              <a:ext cx="1980000" cy="285416"/>
              <a:chOff x="6836036" y="3545739"/>
              <a:chExt cx="1980000" cy="285416"/>
            </a:xfrm>
          </p:grpSpPr>
          <p:sp>
            <p:nvSpPr>
              <p:cNvPr id="154" name="Fluxograma: multidocumentos 153"/>
              <p:cNvSpPr/>
              <p:nvPr/>
            </p:nvSpPr>
            <p:spPr>
              <a:xfrm>
                <a:off x="6836036" y="3545739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158" name="CaixaDeTexto 157"/>
              <p:cNvSpPr txBox="1"/>
              <p:nvPr/>
            </p:nvSpPr>
            <p:spPr>
              <a:xfrm>
                <a:off x="6839210" y="355415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al614 Derivados </a:t>
                </a:r>
                <a:r>
                  <a:rPr lang="pt-PT" sz="1200" dirty="0" err="1"/>
                  <a:t>Clt</a:t>
                </a:r>
                <a:r>
                  <a:rPr lang="pt-PT" sz="1200" dirty="0"/>
                  <a:t>.</a:t>
                </a:r>
              </a:p>
            </p:txBody>
          </p:sp>
        </p:grpSp>
      </p:grpSp>
      <p:grpSp>
        <p:nvGrpSpPr>
          <p:cNvPr id="182" name="Grupo 181"/>
          <p:cNvGrpSpPr/>
          <p:nvPr/>
        </p:nvGrpSpPr>
        <p:grpSpPr>
          <a:xfrm>
            <a:off x="9714627" y="5081780"/>
            <a:ext cx="2289770" cy="1267037"/>
            <a:chOff x="5375243" y="1437208"/>
            <a:chExt cx="2289770" cy="1267037"/>
          </a:xfrm>
        </p:grpSpPr>
        <p:grpSp>
          <p:nvGrpSpPr>
            <p:cNvPr id="183" name="Grupo 182"/>
            <p:cNvGrpSpPr/>
            <p:nvPr/>
          </p:nvGrpSpPr>
          <p:grpSpPr>
            <a:xfrm>
              <a:off x="5375243" y="1437208"/>
              <a:ext cx="2289770" cy="1267037"/>
              <a:chOff x="4270643" y="6703071"/>
              <a:chExt cx="2289770" cy="1267037"/>
            </a:xfrm>
          </p:grpSpPr>
          <p:sp>
            <p:nvSpPr>
              <p:cNvPr id="185" name="Fluxograma: multidocumentos 184"/>
              <p:cNvSpPr/>
              <p:nvPr/>
            </p:nvSpPr>
            <p:spPr>
              <a:xfrm>
                <a:off x="4277675" y="6998108"/>
                <a:ext cx="1796400" cy="97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186" name="CaixaDeTexto 185"/>
              <p:cNvSpPr txBox="1"/>
              <p:nvPr/>
            </p:nvSpPr>
            <p:spPr>
              <a:xfrm>
                <a:off x="4286860" y="7129838"/>
                <a:ext cx="1640530" cy="276999"/>
              </a:xfrm>
              <a:prstGeom prst="rect">
                <a:avLst/>
              </a:prstGeom>
              <a:noFill/>
            </p:spPr>
            <p:txBody>
              <a:bodyPr wrap="square" rIns="0" rtlCol="0">
                <a:spAutoFit/>
              </a:bodyPr>
              <a:lstStyle/>
              <a:p>
                <a:r>
                  <a:rPr lang="pt-PT" sz="1200" dirty="0"/>
                  <a:t>Contrato</a:t>
                </a:r>
                <a:r>
                  <a:rPr lang="pt-PT" sz="800" dirty="0"/>
                  <a:t> (</a:t>
                </a:r>
                <a:r>
                  <a:rPr lang="pt-PT" sz="800" dirty="0" err="1"/>
                  <a:t>cempresa</a:t>
                </a:r>
                <a:r>
                  <a:rPr lang="pt-PT" sz="800" dirty="0"/>
                  <a:t> … </a:t>
                </a:r>
                <a:r>
                  <a:rPr lang="pt-PT" sz="800" dirty="0" err="1"/>
                  <a:t>zdeposit</a:t>
                </a:r>
                <a:r>
                  <a:rPr lang="pt-PT" sz="800" dirty="0"/>
                  <a:t>)</a:t>
                </a:r>
              </a:p>
            </p:txBody>
          </p:sp>
          <p:sp>
            <p:nvSpPr>
              <p:cNvPr id="187" name="CaixaDeTexto 186"/>
              <p:cNvSpPr txBox="1"/>
              <p:nvPr/>
            </p:nvSpPr>
            <p:spPr>
              <a:xfrm>
                <a:off x="4288124" y="7489213"/>
                <a:ext cx="1764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ISIN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isin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188" name="CaixaDeTexto 187"/>
              <p:cNvSpPr txBox="1"/>
              <p:nvPr/>
            </p:nvSpPr>
            <p:spPr>
              <a:xfrm>
                <a:off x="4280996" y="7310636"/>
                <a:ext cx="1764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Cliente</a:t>
                </a:r>
                <a:r>
                  <a:rPr lang="pt-PT" sz="800" dirty="0"/>
                  <a:t> (</a:t>
                </a:r>
                <a:r>
                  <a:rPr lang="pt-PT" sz="800" dirty="0" err="1"/>
                  <a:t>zcliente</a:t>
                </a:r>
                <a:r>
                  <a:rPr lang="pt-PT" sz="800" dirty="0"/>
                  <a:t>)</a:t>
                </a:r>
              </a:p>
            </p:txBody>
          </p:sp>
          <p:sp>
            <p:nvSpPr>
              <p:cNvPr id="190" name="CaixaDeTexto 189"/>
              <p:cNvSpPr txBox="1"/>
              <p:nvPr/>
            </p:nvSpPr>
            <p:spPr>
              <a:xfrm>
                <a:off x="4270643" y="6703071"/>
                <a:ext cx="228977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(MA) Dicionário títulos </a:t>
                </a:r>
                <a:r>
                  <a:rPr lang="pt-PT" sz="1000" dirty="0"/>
                  <a:t>(ct610)</a:t>
                </a:r>
              </a:p>
            </p:txBody>
          </p:sp>
        </p:grpSp>
        <p:sp>
          <p:nvSpPr>
            <p:cNvPr id="184" name="CaixaDeTexto 183"/>
            <p:cNvSpPr txBox="1"/>
            <p:nvPr/>
          </p:nvSpPr>
          <p:spPr>
            <a:xfrm>
              <a:off x="5392724" y="2403350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169" name="Conexão em ângulos retos 168"/>
          <p:cNvCxnSpPr>
            <a:stCxn id="162" idx="3"/>
            <a:endCxn id="187" idx="1"/>
          </p:cNvCxnSpPr>
          <p:nvPr/>
        </p:nvCxnSpPr>
        <p:spPr>
          <a:xfrm>
            <a:off x="2449026" y="6003086"/>
            <a:ext cx="7283082" cy="33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CaixaDeTexto 165"/>
          <p:cNvSpPr txBox="1"/>
          <p:nvPr/>
        </p:nvSpPr>
        <p:spPr>
          <a:xfrm>
            <a:off x="6483871" y="2573993"/>
            <a:ext cx="1935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171" name="Conexão em ângulos retos 170"/>
          <p:cNvCxnSpPr>
            <a:stCxn id="145" idx="3"/>
            <a:endCxn id="186" idx="1"/>
          </p:cNvCxnSpPr>
          <p:nvPr/>
        </p:nvCxnSpPr>
        <p:spPr>
          <a:xfrm>
            <a:off x="8288433" y="1867934"/>
            <a:ext cx="1442411" cy="377911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1" name="Grupo 180"/>
          <p:cNvGrpSpPr/>
          <p:nvPr/>
        </p:nvGrpSpPr>
        <p:grpSpPr>
          <a:xfrm>
            <a:off x="6501218" y="2190391"/>
            <a:ext cx="2627311" cy="1003089"/>
            <a:chOff x="6055200" y="1299198"/>
            <a:chExt cx="2627311" cy="1003089"/>
          </a:xfrm>
        </p:grpSpPr>
        <p:sp>
          <p:nvSpPr>
            <p:cNvPr id="191" name="Retângulo 190"/>
            <p:cNvSpPr/>
            <p:nvPr/>
          </p:nvSpPr>
          <p:spPr>
            <a:xfrm>
              <a:off x="6056146" y="1609024"/>
              <a:ext cx="1796400" cy="6932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2" name="CaixaDeTexto 191"/>
            <p:cNvSpPr txBox="1"/>
            <p:nvPr/>
          </p:nvSpPr>
          <p:spPr>
            <a:xfrm>
              <a:off x="6055200" y="1299198"/>
              <a:ext cx="26273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Empréstimos </a:t>
              </a:r>
              <a:r>
                <a:rPr lang="pt-PT" sz="1400" b="1" dirty="0" err="1"/>
                <a:t>Eurosistema</a:t>
              </a:r>
              <a:r>
                <a:rPr lang="pt-PT" sz="1400" b="1" dirty="0"/>
                <a:t> </a:t>
              </a:r>
              <a:r>
                <a:rPr lang="pt-PT" sz="1000" dirty="0"/>
                <a:t>(al032)</a:t>
              </a:r>
            </a:p>
          </p:txBody>
        </p:sp>
        <p:sp>
          <p:nvSpPr>
            <p:cNvPr id="194" name="CaixaDeTexto 193"/>
            <p:cNvSpPr txBox="1"/>
            <p:nvPr/>
          </p:nvSpPr>
          <p:spPr>
            <a:xfrm>
              <a:off x="6055551" y="1617953"/>
              <a:ext cx="18556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Código Empréstimo </a:t>
              </a:r>
              <a:r>
                <a:rPr lang="pt-PT" sz="800" dirty="0"/>
                <a:t>(</a:t>
              </a:r>
              <a:r>
                <a:rPr lang="pt-PT" sz="800" dirty="0" err="1"/>
                <a:t>cidempb</a:t>
              </a:r>
              <a:r>
                <a:rPr lang="pt-PT" sz="800" dirty="0"/>
                <a:t>)</a:t>
              </a:r>
              <a:endParaRPr lang="pt-PT" sz="800" baseline="30000" dirty="0"/>
            </a:p>
          </p:txBody>
        </p:sp>
        <p:sp>
          <p:nvSpPr>
            <p:cNvPr id="195" name="CaixaDeTexto 194"/>
            <p:cNvSpPr txBox="1"/>
            <p:nvPr/>
          </p:nvSpPr>
          <p:spPr>
            <a:xfrm>
              <a:off x="6055551" y="1816378"/>
              <a:ext cx="1792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Contrato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ckbalcao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, 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cknumcta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96" name="CaixaDeTexto 195"/>
            <p:cNvSpPr txBox="1"/>
            <p:nvPr/>
          </p:nvSpPr>
          <p:spPr>
            <a:xfrm>
              <a:off x="6055275" y="2016000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197" name="Conexão em ângulos retos 196"/>
          <p:cNvCxnSpPr>
            <a:stCxn id="45" idx="3"/>
            <a:endCxn id="195" idx="1"/>
          </p:cNvCxnSpPr>
          <p:nvPr/>
        </p:nvCxnSpPr>
        <p:spPr>
          <a:xfrm>
            <a:off x="4974817" y="2309529"/>
            <a:ext cx="1526752" cy="53654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975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ángulo 302"/>
          <p:cNvSpPr/>
          <p:nvPr/>
        </p:nvSpPr>
        <p:spPr>
          <a:xfrm>
            <a:off x="3928458" y="792963"/>
            <a:ext cx="6545468" cy="6060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193" name="Rectángulo 302">
            <a:extLst>
              <a:ext uri="{FF2B5EF4-FFF2-40B4-BE49-F238E27FC236}">
                <a16:creationId xmlns:a16="http://schemas.microsoft.com/office/drawing/2014/main" id="{F911961E-CA0E-46BB-91ED-01550769FC11}"/>
              </a:ext>
            </a:extLst>
          </p:cNvPr>
          <p:cNvSpPr/>
          <p:nvPr/>
        </p:nvSpPr>
        <p:spPr>
          <a:xfrm>
            <a:off x="4051262" y="2688010"/>
            <a:ext cx="6235738" cy="414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600" name="Rectángulo 302">
            <a:extLst>
              <a:ext uri="{FF2B5EF4-FFF2-40B4-BE49-F238E27FC236}">
                <a16:creationId xmlns:a16="http://schemas.microsoft.com/office/drawing/2014/main" id="{4B63AA00-E4E3-4E93-A2EE-400292351E05}"/>
              </a:ext>
            </a:extLst>
          </p:cNvPr>
          <p:cNvSpPr/>
          <p:nvPr/>
        </p:nvSpPr>
        <p:spPr>
          <a:xfrm>
            <a:off x="7128957" y="1133735"/>
            <a:ext cx="3158043" cy="154782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35DF0D3B-FBEF-430B-A90C-A83FED23E4C5}"/>
              </a:ext>
            </a:extLst>
          </p:cNvPr>
          <p:cNvCxnSpPr/>
          <p:nvPr/>
        </p:nvCxnSpPr>
        <p:spPr>
          <a:xfrm>
            <a:off x="7130147" y="2685027"/>
            <a:ext cx="3168000" cy="0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Rectángulo 302">
            <a:extLst>
              <a:ext uri="{FF2B5EF4-FFF2-40B4-BE49-F238E27FC236}">
                <a16:creationId xmlns:a16="http://schemas.microsoft.com/office/drawing/2014/main" id="{9D222B56-2565-4A9D-BA33-1355A7CD25D0}"/>
              </a:ext>
            </a:extLst>
          </p:cNvPr>
          <p:cNvSpPr/>
          <p:nvPr/>
        </p:nvSpPr>
        <p:spPr>
          <a:xfrm>
            <a:off x="4051262" y="1647821"/>
            <a:ext cx="3016288" cy="986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pic>
        <p:nvPicPr>
          <p:cNvPr id="402" name="Graphic 401" descr="Saw blade with solid fill">
            <a:extLst>
              <a:ext uri="{FF2B5EF4-FFF2-40B4-BE49-F238E27FC236}">
                <a16:creationId xmlns:a16="http://schemas.microsoft.com/office/drawing/2014/main" id="{33EFCD4D-A6AD-42EC-9774-ED6C4B47A2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8226" y="4331827"/>
            <a:ext cx="914400" cy="914400"/>
          </a:xfrm>
          <a:prstGeom prst="rect">
            <a:avLst/>
          </a:prstGeom>
        </p:spPr>
      </p:pic>
      <p:sp>
        <p:nvSpPr>
          <p:cNvPr id="322" name="Rectángulo 68">
            <a:extLst>
              <a:ext uri="{FF2B5EF4-FFF2-40B4-BE49-F238E27FC236}">
                <a16:creationId xmlns:a16="http://schemas.microsoft.com/office/drawing/2014/main" id="{AB797238-0DFD-4439-A38A-5557CA6A063B}"/>
              </a:ext>
            </a:extLst>
          </p:cNvPr>
          <p:cNvSpPr/>
          <p:nvPr/>
        </p:nvSpPr>
        <p:spPr>
          <a:xfrm>
            <a:off x="600708" y="5467101"/>
            <a:ext cx="1610733" cy="13411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69" name="Rectángulo 68"/>
          <p:cNvSpPr/>
          <p:nvPr/>
        </p:nvSpPr>
        <p:spPr>
          <a:xfrm>
            <a:off x="601173" y="792963"/>
            <a:ext cx="1570528" cy="4158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" name="Diapositiva de think-cell" r:id="rId7" imgW="444" imgH="446" progId="TCLayout.ActiveDocument.1">
                  <p:embed/>
                </p:oleObj>
              </mc:Choice>
              <mc:Fallback>
                <p:oleObj name="Diapositiva de think-cell" r:id="rId7" imgW="444" imgH="446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" name="Rectángulo 305"/>
          <p:cNvSpPr/>
          <p:nvPr/>
        </p:nvSpPr>
        <p:spPr>
          <a:xfrm>
            <a:off x="2569317" y="510376"/>
            <a:ext cx="7956000" cy="2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Repositórios e Motores de SI</a:t>
            </a:r>
          </a:p>
        </p:txBody>
      </p:sp>
      <p:sp>
        <p:nvSpPr>
          <p:cNvPr id="70" name="Rectángulo 69"/>
          <p:cNvSpPr/>
          <p:nvPr/>
        </p:nvSpPr>
        <p:spPr>
          <a:xfrm>
            <a:off x="565979" y="503992"/>
            <a:ext cx="1682025" cy="2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Sistemas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Operacionais</a:t>
            </a:r>
            <a:endParaRPr lang="en-GB" sz="1200" b="1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73" name="Rectángulo 72"/>
          <p:cNvSpPr/>
          <p:nvPr/>
        </p:nvSpPr>
        <p:spPr>
          <a:xfrm>
            <a:off x="7871516" y="900000"/>
            <a:ext cx="176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Output Motor</a:t>
            </a:r>
          </a:p>
        </p:txBody>
      </p:sp>
      <p:sp>
        <p:nvSpPr>
          <p:cNvPr id="159" name="Rectangle 18"/>
          <p:cNvSpPr>
            <a:spLocks noChangeArrowheads="1"/>
          </p:cNvSpPr>
          <p:nvPr/>
        </p:nvSpPr>
        <p:spPr bwMode="auto">
          <a:xfrm>
            <a:off x="695067" y="1151992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Empréstimos CH</a:t>
            </a:r>
          </a:p>
        </p:txBody>
      </p:sp>
      <p:sp>
        <p:nvSpPr>
          <p:cNvPr id="161" name="Rectangle 32"/>
          <p:cNvSpPr>
            <a:spLocks noChangeArrowheads="1"/>
          </p:cNvSpPr>
          <p:nvPr/>
        </p:nvSpPr>
        <p:spPr bwMode="auto">
          <a:xfrm>
            <a:off x="695067" y="1440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Confirming</a:t>
            </a:r>
          </a:p>
        </p:txBody>
      </p:sp>
      <p:sp>
        <p:nvSpPr>
          <p:cNvPr id="147" name="Rectangle 30"/>
          <p:cNvSpPr>
            <a:spLocks noChangeArrowheads="1"/>
          </p:cNvSpPr>
          <p:nvPr/>
        </p:nvSpPr>
        <p:spPr bwMode="auto">
          <a:xfrm>
            <a:off x="695067" y="4032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Clientes</a:t>
            </a:r>
          </a:p>
        </p:txBody>
      </p:sp>
      <p:sp>
        <p:nvSpPr>
          <p:cNvPr id="219" name="Rectangle 18"/>
          <p:cNvSpPr>
            <a:spLocks noChangeArrowheads="1"/>
          </p:cNvSpPr>
          <p:nvPr/>
        </p:nvSpPr>
        <p:spPr bwMode="auto">
          <a:xfrm>
            <a:off x="695067" y="2304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Leasing</a:t>
            </a:r>
          </a:p>
        </p:txBody>
      </p:sp>
      <p:sp>
        <p:nvSpPr>
          <p:cNvPr id="128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926" y="91414"/>
            <a:ext cx="10008000" cy="304800"/>
          </a:xfrm>
        </p:spPr>
        <p:txBody>
          <a:bodyPr/>
          <a:lstStyle/>
          <a:p>
            <a:r>
              <a:rPr lang="pt-PT" sz="1800" b="1" dirty="0">
                <a:latin typeface="+mj-lt"/>
              </a:rPr>
              <a:t>Arquitetura de Sistemas e Rastreabilidade - Motor de Contratos/Saldos Mensal ALM</a:t>
            </a:r>
            <a:endParaRPr lang="pt-PT" sz="1800" dirty="0">
              <a:latin typeface="+mj-lt"/>
            </a:endParaRPr>
          </a:p>
        </p:txBody>
      </p:sp>
      <p:sp>
        <p:nvSpPr>
          <p:cNvPr id="106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2907183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Títulos</a:t>
            </a:r>
          </a:p>
        </p:txBody>
      </p:sp>
      <p:sp>
        <p:nvSpPr>
          <p:cNvPr id="109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3168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Empréstimos</a:t>
            </a:r>
          </a:p>
        </p:txBody>
      </p:sp>
      <p:sp>
        <p:nvSpPr>
          <p:cNvPr id="110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1728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Cartões</a:t>
            </a:r>
          </a:p>
        </p:txBody>
      </p:sp>
      <p:sp>
        <p:nvSpPr>
          <p:cNvPr id="112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69" y="4655504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Sigom</a:t>
            </a:r>
          </a:p>
        </p:txBody>
      </p: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967C1D61-9E9D-4ADE-927F-1DED7DFA498E}"/>
              </a:ext>
            </a:extLst>
          </p:cNvPr>
          <p:cNvGrpSpPr/>
          <p:nvPr/>
        </p:nvGrpSpPr>
        <p:grpSpPr>
          <a:xfrm>
            <a:off x="3087453" y="1089180"/>
            <a:ext cx="577911" cy="389759"/>
            <a:chOff x="3049353" y="1004826"/>
            <a:chExt cx="577911" cy="389759"/>
          </a:xfrm>
        </p:grpSpPr>
        <p:grpSp>
          <p:nvGrpSpPr>
            <p:cNvPr id="133" name="Grupo 83">
              <a:extLst>
                <a:ext uri="{FF2B5EF4-FFF2-40B4-BE49-F238E27FC236}">
                  <a16:creationId xmlns:a16="http://schemas.microsoft.com/office/drawing/2014/main" id="{73DC59CC-6D93-47A5-A21E-6252B3DB8685}"/>
                </a:ext>
              </a:extLst>
            </p:cNvPr>
            <p:cNvGrpSpPr/>
            <p:nvPr/>
          </p:nvGrpSpPr>
          <p:grpSpPr>
            <a:xfrm>
              <a:off x="3049353" y="1178585"/>
              <a:ext cx="577911" cy="216000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151" name="Disco magnético 89">
                <a:extLst>
                  <a:ext uri="{FF2B5EF4-FFF2-40B4-BE49-F238E27FC236}">
                    <a16:creationId xmlns:a16="http://schemas.microsoft.com/office/drawing/2014/main" id="{D610D8EF-F2A6-4C16-9580-47B11E06A6E3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55" name="Disco magnético 91">
                <a:extLst>
                  <a:ext uri="{FF2B5EF4-FFF2-40B4-BE49-F238E27FC236}">
                    <a16:creationId xmlns:a16="http://schemas.microsoft.com/office/drawing/2014/main" id="{E8389DEA-F98E-4D34-92D3-F2E59B696DE3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60" name="Disco magnético 92">
                <a:extLst>
                  <a:ext uri="{FF2B5EF4-FFF2-40B4-BE49-F238E27FC236}">
                    <a16:creationId xmlns:a16="http://schemas.microsoft.com/office/drawing/2014/main" id="{FE49225C-E784-4CE9-BD07-65D5F5925909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49" name="CuadroTexto 86">
              <a:extLst>
                <a:ext uri="{FF2B5EF4-FFF2-40B4-BE49-F238E27FC236}">
                  <a16:creationId xmlns:a16="http://schemas.microsoft.com/office/drawing/2014/main" id="{A326B3BF-BFC3-403E-B696-C9BACEFAF78E}"/>
                </a:ext>
              </a:extLst>
            </p:cNvPr>
            <p:cNvSpPr txBox="1"/>
            <p:nvPr/>
          </p:nvSpPr>
          <p:spPr>
            <a:xfrm>
              <a:off x="3054915" y="1004826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MIS</a:t>
              </a:r>
            </a:p>
          </p:txBody>
        </p:sp>
      </p:grpSp>
      <p:sp>
        <p:nvSpPr>
          <p:cNvPr id="233" name="CuadroTexto 86">
            <a:extLst>
              <a:ext uri="{FF2B5EF4-FFF2-40B4-BE49-F238E27FC236}">
                <a16:creationId xmlns:a16="http://schemas.microsoft.com/office/drawing/2014/main" id="{A9EAC402-F68D-4899-B549-5F64F61232C6}"/>
              </a:ext>
            </a:extLst>
          </p:cNvPr>
          <p:cNvSpPr txBox="1"/>
          <p:nvPr/>
        </p:nvSpPr>
        <p:spPr>
          <a:xfrm>
            <a:off x="4212000" y="2901252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miyrn063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344" name="CuadroTexto 86">
            <a:extLst>
              <a:ext uri="{FF2B5EF4-FFF2-40B4-BE49-F238E27FC236}">
                <a16:creationId xmlns:a16="http://schemas.microsoft.com/office/drawing/2014/main" id="{B0F22338-2836-485E-971F-3DFFCD39CEB0}"/>
              </a:ext>
            </a:extLst>
          </p:cNvPr>
          <p:cNvSpPr txBox="1"/>
          <p:nvPr/>
        </p:nvSpPr>
        <p:spPr>
          <a:xfrm>
            <a:off x="2174577" y="2900673"/>
            <a:ext cx="912876" cy="204313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s-ES" sz="105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Ficheiros</a:t>
            </a:r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 GEY</a:t>
            </a:r>
          </a:p>
        </p:txBody>
      </p:sp>
      <p:sp>
        <p:nvSpPr>
          <p:cNvPr id="348" name="Rectangle 32">
            <a:extLst>
              <a:ext uri="{FF2B5EF4-FFF2-40B4-BE49-F238E27FC236}">
                <a16:creationId xmlns:a16="http://schemas.microsoft.com/office/drawing/2014/main" id="{BFC0B3F2-8F7B-4A66-9D50-FB282639A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2016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GPs/CSs</a:t>
            </a:r>
          </a:p>
        </p:txBody>
      </p:sp>
      <p:sp>
        <p:nvSpPr>
          <p:cNvPr id="142" name="CuadroTexto 86">
            <a:extLst>
              <a:ext uri="{FF2B5EF4-FFF2-40B4-BE49-F238E27FC236}">
                <a16:creationId xmlns:a16="http://schemas.microsoft.com/office/drawing/2014/main" id="{08283CAA-7CAF-4146-BF36-A0055DE7CA47}"/>
              </a:ext>
            </a:extLst>
          </p:cNvPr>
          <p:cNvSpPr txBox="1"/>
          <p:nvPr/>
        </p:nvSpPr>
        <p:spPr>
          <a:xfrm>
            <a:off x="3893156" y="795704"/>
            <a:ext cx="970263" cy="26866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Datalake</a:t>
            </a:r>
          </a:p>
        </p:txBody>
      </p:sp>
      <p:sp>
        <p:nvSpPr>
          <p:cNvPr id="119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2592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Factoring</a:t>
            </a:r>
          </a:p>
        </p:txBody>
      </p:sp>
      <p:cxnSp>
        <p:nvCxnSpPr>
          <p:cNvPr id="157" name="Conector angular 217">
            <a:extLst>
              <a:ext uri="{FF2B5EF4-FFF2-40B4-BE49-F238E27FC236}">
                <a16:creationId xmlns:a16="http://schemas.microsoft.com/office/drawing/2014/main" id="{ECCC3A0A-8A17-4F76-B17C-589236DE142D}"/>
              </a:ext>
            </a:extLst>
          </p:cNvPr>
          <p:cNvCxnSpPr>
            <a:cxnSpLocks/>
            <a:stCxn id="69" idx="3"/>
            <a:endCxn id="155" idx="2"/>
          </p:cNvCxnSpPr>
          <p:nvPr/>
        </p:nvCxnSpPr>
        <p:spPr>
          <a:xfrm flipV="1">
            <a:off x="2171701" y="1370939"/>
            <a:ext cx="915752" cy="1501190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angular 217">
            <a:extLst>
              <a:ext uri="{FF2B5EF4-FFF2-40B4-BE49-F238E27FC236}">
                <a16:creationId xmlns:a16="http://schemas.microsoft.com/office/drawing/2014/main" id="{67E74C72-DF26-4C79-8A60-0583F36CD76E}"/>
              </a:ext>
            </a:extLst>
          </p:cNvPr>
          <p:cNvCxnSpPr>
            <a:cxnSpLocks/>
            <a:stCxn id="69" idx="3"/>
            <a:endCxn id="233" idx="1"/>
          </p:cNvCxnSpPr>
          <p:nvPr/>
        </p:nvCxnSpPr>
        <p:spPr>
          <a:xfrm>
            <a:off x="2171701" y="2872129"/>
            <a:ext cx="2040299" cy="137123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69" y="3728449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Efeitos</a:t>
            </a:r>
          </a:p>
        </p:txBody>
      </p:sp>
      <p:sp>
        <p:nvSpPr>
          <p:cNvPr id="452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764" y="3456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Contas</a:t>
            </a:r>
          </a:p>
        </p:txBody>
      </p:sp>
      <p:sp>
        <p:nvSpPr>
          <p:cNvPr id="192" name="CuadroTexto 86">
            <a:extLst>
              <a:ext uri="{FF2B5EF4-FFF2-40B4-BE49-F238E27FC236}">
                <a16:creationId xmlns:a16="http://schemas.microsoft.com/office/drawing/2014/main" id="{CE493FCD-08C9-4F4D-9628-32B9B9169190}"/>
              </a:ext>
            </a:extLst>
          </p:cNvPr>
          <p:cNvSpPr txBox="1"/>
          <p:nvPr/>
        </p:nvSpPr>
        <p:spPr>
          <a:xfrm>
            <a:off x="5605884" y="2904080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al017_cnt_dep</a:t>
            </a:r>
          </a:p>
        </p:txBody>
      </p:sp>
      <p:sp>
        <p:nvSpPr>
          <p:cNvPr id="200" name="CuadroTexto 86">
            <a:extLst>
              <a:ext uri="{FF2B5EF4-FFF2-40B4-BE49-F238E27FC236}">
                <a16:creationId xmlns:a16="http://schemas.microsoft.com/office/drawing/2014/main" id="{A220B995-D748-4035-8276-6EACB300E3AB}"/>
              </a:ext>
            </a:extLst>
          </p:cNvPr>
          <p:cNvSpPr txBox="1"/>
          <p:nvPr/>
        </p:nvSpPr>
        <p:spPr>
          <a:xfrm>
            <a:off x="5605884" y="3141799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al018_cnt_cred</a:t>
            </a:r>
          </a:p>
        </p:txBody>
      </p:sp>
      <p:cxnSp>
        <p:nvCxnSpPr>
          <p:cNvPr id="167" name="Conector angular 217">
            <a:extLst>
              <a:ext uri="{FF2B5EF4-FFF2-40B4-BE49-F238E27FC236}">
                <a16:creationId xmlns:a16="http://schemas.microsoft.com/office/drawing/2014/main" id="{3A2BEB1F-55C5-4B74-B2CF-F2D11374534B}"/>
              </a:ext>
            </a:extLst>
          </p:cNvPr>
          <p:cNvCxnSpPr>
            <a:cxnSpLocks/>
            <a:stCxn id="233" idx="3"/>
            <a:endCxn id="200" idx="1"/>
          </p:cNvCxnSpPr>
          <p:nvPr/>
        </p:nvCxnSpPr>
        <p:spPr>
          <a:xfrm>
            <a:off x="5148000" y="3009252"/>
            <a:ext cx="457884" cy="240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ector angular 217">
            <a:extLst>
              <a:ext uri="{FF2B5EF4-FFF2-40B4-BE49-F238E27FC236}">
                <a16:creationId xmlns:a16="http://schemas.microsoft.com/office/drawing/2014/main" id="{A728EEAB-8A14-4568-8B45-32040DF883DF}"/>
              </a:ext>
            </a:extLst>
          </p:cNvPr>
          <p:cNvCxnSpPr>
            <a:cxnSpLocks/>
            <a:stCxn id="233" idx="3"/>
            <a:endCxn id="192" idx="1"/>
          </p:cNvCxnSpPr>
          <p:nvPr/>
        </p:nvCxnSpPr>
        <p:spPr>
          <a:xfrm>
            <a:off x="5148000" y="3009252"/>
            <a:ext cx="457884" cy="2828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CuadroTexto 86">
            <a:extLst>
              <a:ext uri="{FF2B5EF4-FFF2-40B4-BE49-F238E27FC236}">
                <a16:creationId xmlns:a16="http://schemas.microsoft.com/office/drawing/2014/main" id="{2F36E1DC-E60D-4C7B-A483-2A5E387042A3}"/>
              </a:ext>
            </a:extLst>
          </p:cNvPr>
          <p:cNvSpPr txBox="1"/>
          <p:nvPr/>
        </p:nvSpPr>
        <p:spPr>
          <a:xfrm>
            <a:off x="7957054" y="3005143"/>
            <a:ext cx="1576800" cy="37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36000" bIns="36000" rtlCol="0" anchor="t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al029_cnt_core_m </a:t>
            </a:r>
            <a:r>
              <a:rPr lang="es-ES" sz="1200" b="1" baseline="30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(1)</a:t>
            </a:r>
            <a:endParaRPr lang="es-ES" sz="900" baseline="30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lvl="1" indent="6350"/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Rectángulo 110">
            <a:extLst>
              <a:ext uri="{FF2B5EF4-FFF2-40B4-BE49-F238E27FC236}">
                <a16:creationId xmlns:a16="http://schemas.microsoft.com/office/drawing/2014/main" id="{D2BB03CD-3CFE-4A0C-B74F-A62B5A0FC6FD}"/>
              </a:ext>
            </a:extLst>
          </p:cNvPr>
          <p:cNvSpPr/>
          <p:nvPr/>
        </p:nvSpPr>
        <p:spPr>
          <a:xfrm>
            <a:off x="8054657" y="3267780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</a:t>
            </a:r>
          </a:p>
        </p:txBody>
      </p:sp>
      <p:sp>
        <p:nvSpPr>
          <p:cNvPr id="220" name="Rectángulo 110">
            <a:extLst>
              <a:ext uri="{FF2B5EF4-FFF2-40B4-BE49-F238E27FC236}">
                <a16:creationId xmlns:a16="http://schemas.microsoft.com/office/drawing/2014/main" id="{373D6D60-88D0-4AFC-8475-874D250430AF}"/>
              </a:ext>
            </a:extLst>
          </p:cNvPr>
          <p:cNvSpPr/>
          <p:nvPr/>
        </p:nvSpPr>
        <p:spPr>
          <a:xfrm>
            <a:off x="8054657" y="3485040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</a:t>
            </a:r>
          </a:p>
        </p:txBody>
      </p:sp>
      <p:sp>
        <p:nvSpPr>
          <p:cNvPr id="230" name="Rectángulo 110">
            <a:extLst>
              <a:ext uri="{FF2B5EF4-FFF2-40B4-BE49-F238E27FC236}">
                <a16:creationId xmlns:a16="http://schemas.microsoft.com/office/drawing/2014/main" id="{575BBCAF-5270-4B34-961B-0633CE25376E}"/>
              </a:ext>
            </a:extLst>
          </p:cNvPr>
          <p:cNvSpPr/>
          <p:nvPr/>
        </p:nvSpPr>
        <p:spPr>
          <a:xfrm>
            <a:off x="8054657" y="3702775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COMPL_*</a:t>
            </a:r>
          </a:p>
        </p:txBody>
      </p:sp>
      <p:sp>
        <p:nvSpPr>
          <p:cNvPr id="235" name="Rectángulo 110">
            <a:extLst>
              <a:ext uri="{FF2B5EF4-FFF2-40B4-BE49-F238E27FC236}">
                <a16:creationId xmlns:a16="http://schemas.microsoft.com/office/drawing/2014/main" id="{790E0AED-C90D-41F3-9424-89C386C48F48}"/>
              </a:ext>
            </a:extLst>
          </p:cNvPr>
          <p:cNvSpPr/>
          <p:nvPr/>
        </p:nvSpPr>
        <p:spPr>
          <a:xfrm>
            <a:off x="8046736" y="4130374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MM</a:t>
            </a:r>
          </a:p>
        </p:txBody>
      </p:sp>
      <p:sp>
        <p:nvSpPr>
          <p:cNvPr id="236" name="CuadroTexto 86">
            <a:extLst>
              <a:ext uri="{FF2B5EF4-FFF2-40B4-BE49-F238E27FC236}">
                <a16:creationId xmlns:a16="http://schemas.microsoft.com/office/drawing/2014/main" id="{71BE0EDD-CA7B-4374-B839-C2C218F77B4A}"/>
              </a:ext>
            </a:extLst>
          </p:cNvPr>
          <p:cNvSpPr txBox="1"/>
          <p:nvPr/>
        </p:nvSpPr>
        <p:spPr>
          <a:xfrm>
            <a:off x="4212000" y="4115934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pt-PT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sigom_mm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37" name="Conector angular 217">
            <a:extLst>
              <a:ext uri="{FF2B5EF4-FFF2-40B4-BE49-F238E27FC236}">
                <a16:creationId xmlns:a16="http://schemas.microsoft.com/office/drawing/2014/main" id="{8CAE09C5-A642-4AA0-8017-2B8F0E071A48}"/>
              </a:ext>
            </a:extLst>
          </p:cNvPr>
          <p:cNvCxnSpPr>
            <a:cxnSpLocks/>
            <a:stCxn id="112" idx="3"/>
            <a:endCxn id="236" idx="1"/>
          </p:cNvCxnSpPr>
          <p:nvPr/>
        </p:nvCxnSpPr>
        <p:spPr>
          <a:xfrm flipV="1">
            <a:off x="2047161" y="4223934"/>
            <a:ext cx="2164839" cy="521570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ector angular 217">
            <a:extLst>
              <a:ext uri="{FF2B5EF4-FFF2-40B4-BE49-F238E27FC236}">
                <a16:creationId xmlns:a16="http://schemas.microsoft.com/office/drawing/2014/main" id="{FABC631A-2713-4BDA-8D75-A9444067E570}"/>
              </a:ext>
            </a:extLst>
          </p:cNvPr>
          <p:cNvCxnSpPr>
            <a:cxnSpLocks/>
            <a:stCxn id="112" idx="3"/>
            <a:endCxn id="255" idx="1"/>
          </p:cNvCxnSpPr>
          <p:nvPr/>
        </p:nvCxnSpPr>
        <p:spPr>
          <a:xfrm>
            <a:off x="2047161" y="4745504"/>
            <a:ext cx="2164839" cy="207961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CuadroTexto 86">
            <a:extLst>
              <a:ext uri="{FF2B5EF4-FFF2-40B4-BE49-F238E27FC236}">
                <a16:creationId xmlns:a16="http://schemas.microsoft.com/office/drawing/2014/main" id="{7F5C8241-57F3-412B-B11C-C92BCA1D1B32}"/>
              </a:ext>
            </a:extLst>
          </p:cNvPr>
          <p:cNvSpPr txBox="1"/>
          <p:nvPr/>
        </p:nvSpPr>
        <p:spPr>
          <a:xfrm>
            <a:off x="5605884" y="4112920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al004_det_mm</a:t>
            </a:r>
          </a:p>
        </p:txBody>
      </p:sp>
      <p:cxnSp>
        <p:nvCxnSpPr>
          <p:cNvPr id="241" name="Conector angular 217">
            <a:extLst>
              <a:ext uri="{FF2B5EF4-FFF2-40B4-BE49-F238E27FC236}">
                <a16:creationId xmlns:a16="http://schemas.microsoft.com/office/drawing/2014/main" id="{7D634FD8-ED7C-4A71-A286-F45FC3815C0F}"/>
              </a:ext>
            </a:extLst>
          </p:cNvPr>
          <p:cNvCxnSpPr>
            <a:cxnSpLocks/>
            <a:stCxn id="236" idx="3"/>
            <a:endCxn id="239" idx="1"/>
          </p:cNvCxnSpPr>
          <p:nvPr/>
        </p:nvCxnSpPr>
        <p:spPr>
          <a:xfrm flipV="1">
            <a:off x="5148000" y="4220920"/>
            <a:ext cx="457884" cy="3014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CuadroTexto 86">
            <a:extLst>
              <a:ext uri="{FF2B5EF4-FFF2-40B4-BE49-F238E27FC236}">
                <a16:creationId xmlns:a16="http://schemas.microsoft.com/office/drawing/2014/main" id="{51BFEA00-885B-4272-863E-5F57449B4569}"/>
              </a:ext>
            </a:extLst>
          </p:cNvPr>
          <p:cNvSpPr txBox="1"/>
          <p:nvPr/>
        </p:nvSpPr>
        <p:spPr>
          <a:xfrm>
            <a:off x="4212000" y="4845465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pt-PT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sigom_cib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258" name="CuadroTexto 86">
            <a:extLst>
              <a:ext uri="{FF2B5EF4-FFF2-40B4-BE49-F238E27FC236}">
                <a16:creationId xmlns:a16="http://schemas.microsoft.com/office/drawing/2014/main" id="{2D5978AA-F9C6-4555-BB61-5A38109C2CCB}"/>
              </a:ext>
            </a:extLst>
          </p:cNvPr>
          <p:cNvSpPr txBox="1"/>
          <p:nvPr/>
        </p:nvSpPr>
        <p:spPr>
          <a:xfrm>
            <a:off x="5605884" y="4605757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al010_loandepos</a:t>
            </a:r>
          </a:p>
        </p:txBody>
      </p:sp>
      <p:cxnSp>
        <p:nvCxnSpPr>
          <p:cNvPr id="259" name="Conector angular 217">
            <a:extLst>
              <a:ext uri="{FF2B5EF4-FFF2-40B4-BE49-F238E27FC236}">
                <a16:creationId xmlns:a16="http://schemas.microsoft.com/office/drawing/2014/main" id="{2C8675B6-7A87-4686-B08E-BAF134D73ADF}"/>
              </a:ext>
            </a:extLst>
          </p:cNvPr>
          <p:cNvCxnSpPr>
            <a:cxnSpLocks/>
            <a:stCxn id="255" idx="3"/>
            <a:endCxn id="258" idx="1"/>
          </p:cNvCxnSpPr>
          <p:nvPr/>
        </p:nvCxnSpPr>
        <p:spPr>
          <a:xfrm flipV="1">
            <a:off x="5148000" y="4713757"/>
            <a:ext cx="457884" cy="239708"/>
          </a:xfrm>
          <a:prstGeom prst="bentConnector3">
            <a:avLst>
              <a:gd name="adj1" fmla="val 34745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Rectángulo 110">
            <a:extLst>
              <a:ext uri="{FF2B5EF4-FFF2-40B4-BE49-F238E27FC236}">
                <a16:creationId xmlns:a16="http://schemas.microsoft.com/office/drawing/2014/main" id="{9F25AD6D-9DF0-4193-99B4-9DFAE600BF5A}"/>
              </a:ext>
            </a:extLst>
          </p:cNvPr>
          <p:cNvSpPr/>
          <p:nvPr/>
        </p:nvSpPr>
        <p:spPr>
          <a:xfrm>
            <a:off x="8048316" y="4624182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DEPOSIT &amp; LOAN</a:t>
            </a:r>
          </a:p>
        </p:txBody>
      </p:sp>
      <p:sp>
        <p:nvSpPr>
          <p:cNvPr id="274" name="CuadroTexto 86">
            <a:extLst>
              <a:ext uri="{FF2B5EF4-FFF2-40B4-BE49-F238E27FC236}">
                <a16:creationId xmlns:a16="http://schemas.microsoft.com/office/drawing/2014/main" id="{0980EABA-F7C0-4104-A649-EAA3A9C2D70C}"/>
              </a:ext>
            </a:extLst>
          </p:cNvPr>
          <p:cNvSpPr txBox="1"/>
          <p:nvPr/>
        </p:nvSpPr>
        <p:spPr>
          <a:xfrm>
            <a:off x="5605884" y="4845176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al011_derivados</a:t>
            </a:r>
          </a:p>
        </p:txBody>
      </p:sp>
      <p:cxnSp>
        <p:nvCxnSpPr>
          <p:cNvPr id="275" name="Conector angular 217">
            <a:extLst>
              <a:ext uri="{FF2B5EF4-FFF2-40B4-BE49-F238E27FC236}">
                <a16:creationId xmlns:a16="http://schemas.microsoft.com/office/drawing/2014/main" id="{302D4C9F-8FF1-4F09-B80E-97D58E958855}"/>
              </a:ext>
            </a:extLst>
          </p:cNvPr>
          <p:cNvCxnSpPr>
            <a:cxnSpLocks/>
            <a:stCxn id="255" idx="3"/>
            <a:endCxn id="808" idx="1"/>
          </p:cNvCxnSpPr>
          <p:nvPr/>
        </p:nvCxnSpPr>
        <p:spPr>
          <a:xfrm flipV="1">
            <a:off x="5148000" y="4893081"/>
            <a:ext cx="460720" cy="60384"/>
          </a:xfrm>
          <a:prstGeom prst="bentConnector3">
            <a:avLst>
              <a:gd name="adj1" fmla="val 3415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Rectángulo 110">
            <a:extLst>
              <a:ext uri="{FF2B5EF4-FFF2-40B4-BE49-F238E27FC236}">
                <a16:creationId xmlns:a16="http://schemas.microsoft.com/office/drawing/2014/main" id="{FC2ABD69-AE9F-4BEE-BA29-53F28279C273}"/>
              </a:ext>
            </a:extLst>
          </p:cNvPr>
          <p:cNvSpPr/>
          <p:nvPr/>
        </p:nvSpPr>
        <p:spPr>
          <a:xfrm>
            <a:off x="8051443" y="4863728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DERIVADOS</a:t>
            </a:r>
          </a:p>
        </p:txBody>
      </p:sp>
      <p:sp>
        <p:nvSpPr>
          <p:cNvPr id="280" name="CuadroTexto 86">
            <a:extLst>
              <a:ext uri="{FF2B5EF4-FFF2-40B4-BE49-F238E27FC236}">
                <a16:creationId xmlns:a16="http://schemas.microsoft.com/office/drawing/2014/main" id="{4AB19BE5-F31B-4843-A538-A71A2F3F5140}"/>
              </a:ext>
            </a:extLst>
          </p:cNvPr>
          <p:cNvSpPr txBox="1"/>
          <p:nvPr/>
        </p:nvSpPr>
        <p:spPr>
          <a:xfrm>
            <a:off x="4212000" y="5090512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pt-PT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sigom_fx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81" name="Conector angular 217">
            <a:extLst>
              <a:ext uri="{FF2B5EF4-FFF2-40B4-BE49-F238E27FC236}">
                <a16:creationId xmlns:a16="http://schemas.microsoft.com/office/drawing/2014/main" id="{E41FA87E-DC8E-445A-9854-FF128AB6FF90}"/>
              </a:ext>
            </a:extLst>
          </p:cNvPr>
          <p:cNvCxnSpPr>
            <a:cxnSpLocks/>
            <a:stCxn id="112" idx="3"/>
            <a:endCxn id="280" idx="1"/>
          </p:cNvCxnSpPr>
          <p:nvPr/>
        </p:nvCxnSpPr>
        <p:spPr>
          <a:xfrm>
            <a:off x="2047161" y="4745504"/>
            <a:ext cx="2164839" cy="453008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Rectángulo 110">
            <a:extLst>
              <a:ext uri="{FF2B5EF4-FFF2-40B4-BE49-F238E27FC236}">
                <a16:creationId xmlns:a16="http://schemas.microsoft.com/office/drawing/2014/main" id="{A6275817-0B88-448C-BC95-2553956C5B59}"/>
              </a:ext>
            </a:extLst>
          </p:cNvPr>
          <p:cNvSpPr/>
          <p:nvPr/>
        </p:nvSpPr>
        <p:spPr>
          <a:xfrm>
            <a:off x="8046736" y="5109947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FX</a:t>
            </a:r>
          </a:p>
        </p:txBody>
      </p:sp>
      <p:sp>
        <p:nvSpPr>
          <p:cNvPr id="283" name="CuadroTexto 86">
            <a:extLst>
              <a:ext uri="{FF2B5EF4-FFF2-40B4-BE49-F238E27FC236}">
                <a16:creationId xmlns:a16="http://schemas.microsoft.com/office/drawing/2014/main" id="{F4A5FCA4-90B8-4080-8EE3-F2F6155516F8}"/>
              </a:ext>
            </a:extLst>
          </p:cNvPr>
          <p:cNvSpPr txBox="1"/>
          <p:nvPr/>
        </p:nvSpPr>
        <p:spPr>
          <a:xfrm>
            <a:off x="5605884" y="5091186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al005_det_swap</a:t>
            </a:r>
          </a:p>
        </p:txBody>
      </p:sp>
      <p:cxnSp>
        <p:nvCxnSpPr>
          <p:cNvPr id="284" name="Conector angular 217">
            <a:extLst>
              <a:ext uri="{FF2B5EF4-FFF2-40B4-BE49-F238E27FC236}">
                <a16:creationId xmlns:a16="http://schemas.microsoft.com/office/drawing/2014/main" id="{BCCDD25B-B6EE-4350-BA93-0CA6215D542A}"/>
              </a:ext>
            </a:extLst>
          </p:cNvPr>
          <p:cNvCxnSpPr>
            <a:cxnSpLocks/>
            <a:stCxn id="280" idx="3"/>
            <a:endCxn id="283" idx="1"/>
          </p:cNvCxnSpPr>
          <p:nvPr/>
        </p:nvCxnSpPr>
        <p:spPr>
          <a:xfrm>
            <a:off x="5148000" y="5198512"/>
            <a:ext cx="457884" cy="674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CuadroTexto 86">
            <a:extLst>
              <a:ext uri="{FF2B5EF4-FFF2-40B4-BE49-F238E27FC236}">
                <a16:creationId xmlns:a16="http://schemas.microsoft.com/office/drawing/2014/main" id="{0CF8DF22-5C0E-405A-80E8-B7739C47535E}"/>
              </a:ext>
            </a:extLst>
          </p:cNvPr>
          <p:cNvSpPr txBox="1"/>
          <p:nvPr/>
        </p:nvSpPr>
        <p:spPr>
          <a:xfrm>
            <a:off x="4212000" y="4356131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pt-PT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sigom_pc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299" name="CuadroTexto 86">
            <a:extLst>
              <a:ext uri="{FF2B5EF4-FFF2-40B4-BE49-F238E27FC236}">
                <a16:creationId xmlns:a16="http://schemas.microsoft.com/office/drawing/2014/main" id="{D84E9BA0-C58C-477F-A840-10856A828C51}"/>
              </a:ext>
            </a:extLst>
          </p:cNvPr>
          <p:cNvSpPr txBox="1"/>
          <p:nvPr/>
        </p:nvSpPr>
        <p:spPr>
          <a:xfrm>
            <a:off x="4212000" y="4596700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pt-PT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sigom_</a:t>
            </a:r>
            <a:r>
              <a:rPr lang="pt-PT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irl_pc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304" name="Rectángulo 110">
            <a:extLst>
              <a:ext uri="{FF2B5EF4-FFF2-40B4-BE49-F238E27FC236}">
                <a16:creationId xmlns:a16="http://schemas.microsoft.com/office/drawing/2014/main" id="{84F44D80-2A91-4D11-BA85-81464C941FE5}"/>
              </a:ext>
            </a:extLst>
          </p:cNvPr>
          <p:cNvSpPr/>
          <p:nvPr/>
        </p:nvSpPr>
        <p:spPr>
          <a:xfrm>
            <a:off x="8052105" y="4361359"/>
            <a:ext cx="1260000" cy="19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PC</a:t>
            </a:r>
          </a:p>
        </p:txBody>
      </p:sp>
      <p:sp>
        <p:nvSpPr>
          <p:cNvPr id="305" name="CuadroTexto 86">
            <a:extLst>
              <a:ext uri="{FF2B5EF4-FFF2-40B4-BE49-F238E27FC236}">
                <a16:creationId xmlns:a16="http://schemas.microsoft.com/office/drawing/2014/main" id="{8C7211CE-D56E-433E-A8B1-C0E3288327D7}"/>
              </a:ext>
            </a:extLst>
          </p:cNvPr>
          <p:cNvSpPr txBox="1"/>
          <p:nvPr/>
        </p:nvSpPr>
        <p:spPr>
          <a:xfrm>
            <a:off x="5605884" y="4356254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al006_saq_ppc</a:t>
            </a:r>
          </a:p>
        </p:txBody>
      </p:sp>
      <p:cxnSp>
        <p:nvCxnSpPr>
          <p:cNvPr id="307" name="Conector angular 217">
            <a:extLst>
              <a:ext uri="{FF2B5EF4-FFF2-40B4-BE49-F238E27FC236}">
                <a16:creationId xmlns:a16="http://schemas.microsoft.com/office/drawing/2014/main" id="{DF17EEF0-76B7-4949-94F1-81E48BBAADA5}"/>
              </a:ext>
            </a:extLst>
          </p:cNvPr>
          <p:cNvCxnSpPr>
            <a:cxnSpLocks/>
            <a:stCxn id="294" idx="3"/>
            <a:endCxn id="305" idx="1"/>
          </p:cNvCxnSpPr>
          <p:nvPr/>
        </p:nvCxnSpPr>
        <p:spPr>
          <a:xfrm>
            <a:off x="5148000" y="4464131"/>
            <a:ext cx="457884" cy="123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angular 217">
            <a:extLst>
              <a:ext uri="{FF2B5EF4-FFF2-40B4-BE49-F238E27FC236}">
                <a16:creationId xmlns:a16="http://schemas.microsoft.com/office/drawing/2014/main" id="{169EF8BB-27B4-4F75-BEB5-C4544E43C4ED}"/>
              </a:ext>
            </a:extLst>
          </p:cNvPr>
          <p:cNvCxnSpPr>
            <a:cxnSpLocks/>
            <a:stCxn id="299" idx="3"/>
            <a:endCxn id="305" idx="1"/>
          </p:cNvCxnSpPr>
          <p:nvPr/>
        </p:nvCxnSpPr>
        <p:spPr>
          <a:xfrm flipV="1">
            <a:off x="5148000" y="4464254"/>
            <a:ext cx="457884" cy="240446"/>
          </a:xfrm>
          <a:prstGeom prst="bentConnector3">
            <a:avLst>
              <a:gd name="adj1" fmla="val 1741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onector angular 217">
            <a:extLst>
              <a:ext uri="{FF2B5EF4-FFF2-40B4-BE49-F238E27FC236}">
                <a16:creationId xmlns:a16="http://schemas.microsoft.com/office/drawing/2014/main" id="{5438C2B6-2AEB-43FB-9FCB-1C03035CAA69}"/>
              </a:ext>
            </a:extLst>
          </p:cNvPr>
          <p:cNvCxnSpPr>
            <a:cxnSpLocks/>
            <a:stCxn id="112" idx="3"/>
            <a:endCxn id="294" idx="1"/>
          </p:cNvCxnSpPr>
          <p:nvPr/>
        </p:nvCxnSpPr>
        <p:spPr>
          <a:xfrm flipV="1">
            <a:off x="2047161" y="4464131"/>
            <a:ext cx="2164839" cy="281373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ector angular 217">
            <a:extLst>
              <a:ext uri="{FF2B5EF4-FFF2-40B4-BE49-F238E27FC236}">
                <a16:creationId xmlns:a16="http://schemas.microsoft.com/office/drawing/2014/main" id="{0C219EB4-E336-4D71-A29C-8754A58AF34B}"/>
              </a:ext>
            </a:extLst>
          </p:cNvPr>
          <p:cNvCxnSpPr>
            <a:cxnSpLocks/>
            <a:stCxn id="112" idx="3"/>
            <a:endCxn id="299" idx="1"/>
          </p:cNvCxnSpPr>
          <p:nvPr/>
        </p:nvCxnSpPr>
        <p:spPr>
          <a:xfrm flipV="1">
            <a:off x="2047161" y="4704700"/>
            <a:ext cx="2164839" cy="40804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Rectángulo 69">
            <a:extLst>
              <a:ext uri="{FF2B5EF4-FFF2-40B4-BE49-F238E27FC236}">
                <a16:creationId xmlns:a16="http://schemas.microsoft.com/office/drawing/2014/main" id="{F815D177-5D3D-4069-A2F2-3D1587A9F51F}"/>
              </a:ext>
            </a:extLst>
          </p:cNvPr>
          <p:cNvSpPr/>
          <p:nvPr/>
        </p:nvSpPr>
        <p:spPr>
          <a:xfrm>
            <a:off x="565200" y="5155605"/>
            <a:ext cx="1682025" cy="2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Front Data Lake</a:t>
            </a:r>
          </a:p>
        </p:txBody>
      </p:sp>
      <p:sp>
        <p:nvSpPr>
          <p:cNvPr id="323" name="Rectangle 32">
            <a:extLst>
              <a:ext uri="{FF2B5EF4-FFF2-40B4-BE49-F238E27FC236}">
                <a16:creationId xmlns:a16="http://schemas.microsoft.com/office/drawing/2014/main" id="{623FF2C9-EC27-4007-B305-2DC5A30D4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95" y="6468690"/>
            <a:ext cx="1363192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Financeira (Liquid.)</a:t>
            </a:r>
          </a:p>
        </p:txBody>
      </p:sp>
      <p:sp>
        <p:nvSpPr>
          <p:cNvPr id="324" name="CuadroTexto 86">
            <a:extLst>
              <a:ext uri="{FF2B5EF4-FFF2-40B4-BE49-F238E27FC236}">
                <a16:creationId xmlns:a16="http://schemas.microsoft.com/office/drawing/2014/main" id="{291A6611-1118-41EA-B1F8-AA42F751B784}"/>
              </a:ext>
            </a:extLst>
          </p:cNvPr>
          <p:cNvSpPr txBox="1"/>
          <p:nvPr/>
        </p:nvSpPr>
        <p:spPr>
          <a:xfrm>
            <a:off x="5605884" y="6484429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pt-P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l602_repos_alm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5" name="Rectángulo 110">
            <a:extLst>
              <a:ext uri="{FF2B5EF4-FFF2-40B4-BE49-F238E27FC236}">
                <a16:creationId xmlns:a16="http://schemas.microsoft.com/office/drawing/2014/main" id="{45D5EFE8-2353-48D7-B844-2EEDBBEF069D}"/>
              </a:ext>
            </a:extLst>
          </p:cNvPr>
          <p:cNvSpPr/>
          <p:nvPr/>
        </p:nvSpPr>
        <p:spPr>
          <a:xfrm>
            <a:off x="8051499" y="6281945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REPO</a:t>
            </a:r>
          </a:p>
        </p:txBody>
      </p:sp>
      <p:cxnSp>
        <p:nvCxnSpPr>
          <p:cNvPr id="333" name="Conector angular 217">
            <a:extLst>
              <a:ext uri="{FF2B5EF4-FFF2-40B4-BE49-F238E27FC236}">
                <a16:creationId xmlns:a16="http://schemas.microsoft.com/office/drawing/2014/main" id="{EDDE0D51-9C05-45BD-A892-730721F098D2}"/>
              </a:ext>
            </a:extLst>
          </p:cNvPr>
          <p:cNvCxnSpPr>
            <a:cxnSpLocks/>
            <a:stCxn id="323" idx="3"/>
            <a:endCxn id="324" idx="1"/>
          </p:cNvCxnSpPr>
          <p:nvPr/>
        </p:nvCxnSpPr>
        <p:spPr>
          <a:xfrm flipV="1">
            <a:off x="2046987" y="6592429"/>
            <a:ext cx="3558897" cy="2261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Rectangle 32">
            <a:extLst>
              <a:ext uri="{FF2B5EF4-FFF2-40B4-BE49-F238E27FC236}">
                <a16:creationId xmlns:a16="http://schemas.microsoft.com/office/drawing/2014/main" id="{03967CB1-6701-4A70-BD24-9E41900B0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00" y="5766312"/>
            <a:ext cx="1363192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Liquidez (R. Merc.)</a:t>
            </a:r>
          </a:p>
        </p:txBody>
      </p:sp>
      <p:sp>
        <p:nvSpPr>
          <p:cNvPr id="337" name="CuadroTexto 86">
            <a:extLst>
              <a:ext uri="{FF2B5EF4-FFF2-40B4-BE49-F238E27FC236}">
                <a16:creationId xmlns:a16="http://schemas.microsoft.com/office/drawing/2014/main" id="{868E211C-31ED-42CB-B2B0-5FCC0730F9EA}"/>
              </a:ext>
            </a:extLst>
          </p:cNvPr>
          <p:cNvSpPr txBox="1"/>
          <p:nvPr/>
        </p:nvSpPr>
        <p:spPr>
          <a:xfrm>
            <a:off x="5605884" y="6157562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ct610_titulos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8" name="Rectángulo 110">
            <a:extLst>
              <a:ext uri="{FF2B5EF4-FFF2-40B4-BE49-F238E27FC236}">
                <a16:creationId xmlns:a16="http://schemas.microsoft.com/office/drawing/2014/main" id="{0BA823EA-8BC7-4EE4-A34F-D159ACF7288D}"/>
              </a:ext>
            </a:extLst>
          </p:cNvPr>
          <p:cNvSpPr/>
          <p:nvPr/>
        </p:nvSpPr>
        <p:spPr>
          <a:xfrm>
            <a:off x="8041549" y="6000798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TITULOS</a:t>
            </a:r>
          </a:p>
        </p:txBody>
      </p:sp>
      <p:cxnSp>
        <p:nvCxnSpPr>
          <p:cNvPr id="340" name="Conector angular 217">
            <a:extLst>
              <a:ext uri="{FF2B5EF4-FFF2-40B4-BE49-F238E27FC236}">
                <a16:creationId xmlns:a16="http://schemas.microsoft.com/office/drawing/2014/main" id="{FC84EC5D-506A-4353-A4B2-032E8DEF0926}"/>
              </a:ext>
            </a:extLst>
          </p:cNvPr>
          <p:cNvCxnSpPr>
            <a:cxnSpLocks/>
            <a:stCxn id="336" idx="3"/>
            <a:endCxn id="337" idx="1"/>
          </p:cNvCxnSpPr>
          <p:nvPr/>
        </p:nvCxnSpPr>
        <p:spPr>
          <a:xfrm>
            <a:off x="2045692" y="5892312"/>
            <a:ext cx="3560192" cy="373250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Rectángulo 110">
            <a:extLst>
              <a:ext uri="{FF2B5EF4-FFF2-40B4-BE49-F238E27FC236}">
                <a16:creationId xmlns:a16="http://schemas.microsoft.com/office/drawing/2014/main" id="{5BE9A7ED-9B0E-4F00-90FC-9AF8BE375103}"/>
              </a:ext>
            </a:extLst>
          </p:cNvPr>
          <p:cNvSpPr/>
          <p:nvPr/>
        </p:nvSpPr>
        <p:spPr>
          <a:xfrm>
            <a:off x="8052105" y="6505179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TITULOS RECEBIDOS</a:t>
            </a:r>
          </a:p>
        </p:txBody>
      </p:sp>
      <p:sp>
        <p:nvSpPr>
          <p:cNvPr id="374" name="CuadroTexto 86">
            <a:extLst>
              <a:ext uri="{FF2B5EF4-FFF2-40B4-BE49-F238E27FC236}">
                <a16:creationId xmlns:a16="http://schemas.microsoft.com/office/drawing/2014/main" id="{B2B538F6-4A28-46FB-99F5-7A5DC2DFE164}"/>
              </a:ext>
            </a:extLst>
          </p:cNvPr>
          <p:cNvSpPr txBox="1"/>
          <p:nvPr/>
        </p:nvSpPr>
        <p:spPr>
          <a:xfrm>
            <a:off x="5606334" y="5891722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al600_cnt_aux</a:t>
            </a:r>
          </a:p>
        </p:txBody>
      </p:sp>
      <p:cxnSp>
        <p:nvCxnSpPr>
          <p:cNvPr id="375" name="Conector angular 217">
            <a:extLst>
              <a:ext uri="{FF2B5EF4-FFF2-40B4-BE49-F238E27FC236}">
                <a16:creationId xmlns:a16="http://schemas.microsoft.com/office/drawing/2014/main" id="{5F3C022C-680A-412C-80CD-7895A1983616}"/>
              </a:ext>
            </a:extLst>
          </p:cNvPr>
          <p:cNvCxnSpPr>
            <a:cxnSpLocks/>
            <a:stCxn id="336" idx="3"/>
            <a:endCxn id="374" idx="1"/>
          </p:cNvCxnSpPr>
          <p:nvPr/>
        </p:nvCxnSpPr>
        <p:spPr>
          <a:xfrm>
            <a:off x="2045692" y="5892312"/>
            <a:ext cx="3560642" cy="107410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Rectángulo 110">
            <a:extLst>
              <a:ext uri="{FF2B5EF4-FFF2-40B4-BE49-F238E27FC236}">
                <a16:creationId xmlns:a16="http://schemas.microsoft.com/office/drawing/2014/main" id="{936122E3-0C97-40EF-9BB6-96B5BEC33947}"/>
              </a:ext>
            </a:extLst>
          </p:cNvPr>
          <p:cNvSpPr/>
          <p:nvPr/>
        </p:nvSpPr>
        <p:spPr>
          <a:xfrm>
            <a:off x="8052105" y="5734635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MANUAL</a:t>
            </a:r>
          </a:p>
        </p:txBody>
      </p:sp>
      <p:sp>
        <p:nvSpPr>
          <p:cNvPr id="398" name="Rectángulo 110">
            <a:extLst>
              <a:ext uri="{FF2B5EF4-FFF2-40B4-BE49-F238E27FC236}">
                <a16:creationId xmlns:a16="http://schemas.microsoft.com/office/drawing/2014/main" id="{7A5304E8-A6B6-4660-BB31-B4C960C8E2D6}"/>
              </a:ext>
            </a:extLst>
          </p:cNvPr>
          <p:cNvSpPr/>
          <p:nvPr/>
        </p:nvSpPr>
        <p:spPr>
          <a:xfrm>
            <a:off x="8051383" y="5418246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SGPS</a:t>
            </a:r>
          </a:p>
        </p:txBody>
      </p:sp>
      <p:cxnSp>
        <p:nvCxnSpPr>
          <p:cNvPr id="129" name="Conexão em ângulos retos 128"/>
          <p:cNvCxnSpPr>
            <a:cxnSpLocks/>
            <a:stCxn id="192" idx="3"/>
            <a:endCxn id="262" idx="1"/>
          </p:cNvCxnSpPr>
          <p:nvPr/>
        </p:nvCxnSpPr>
        <p:spPr>
          <a:xfrm>
            <a:off x="6901884" y="3012080"/>
            <a:ext cx="1152773" cy="34570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exão em ângulos retos 128">
            <a:extLst>
              <a:ext uri="{FF2B5EF4-FFF2-40B4-BE49-F238E27FC236}">
                <a16:creationId xmlns:a16="http://schemas.microsoft.com/office/drawing/2014/main" id="{43CC8063-2A35-4AE4-865D-A38D63C098C1}"/>
              </a:ext>
            </a:extLst>
          </p:cNvPr>
          <p:cNvCxnSpPr>
            <a:cxnSpLocks/>
            <a:stCxn id="200" idx="3"/>
            <a:endCxn id="220" idx="1"/>
          </p:cNvCxnSpPr>
          <p:nvPr/>
        </p:nvCxnSpPr>
        <p:spPr>
          <a:xfrm>
            <a:off x="6901884" y="3249799"/>
            <a:ext cx="1152773" cy="325241"/>
          </a:xfrm>
          <a:prstGeom prst="bentConnector3">
            <a:avLst>
              <a:gd name="adj1" fmla="val 3733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Conexão em ângulos retos 128">
            <a:extLst>
              <a:ext uri="{FF2B5EF4-FFF2-40B4-BE49-F238E27FC236}">
                <a16:creationId xmlns:a16="http://schemas.microsoft.com/office/drawing/2014/main" id="{53D519BF-1597-4D2C-A915-47742C92B0DB}"/>
              </a:ext>
            </a:extLst>
          </p:cNvPr>
          <p:cNvCxnSpPr>
            <a:cxnSpLocks/>
            <a:stCxn id="200" idx="3"/>
            <a:endCxn id="230" idx="1"/>
          </p:cNvCxnSpPr>
          <p:nvPr/>
        </p:nvCxnSpPr>
        <p:spPr>
          <a:xfrm>
            <a:off x="6901884" y="3249799"/>
            <a:ext cx="1152773" cy="542976"/>
          </a:xfrm>
          <a:prstGeom prst="bentConnector3">
            <a:avLst>
              <a:gd name="adj1" fmla="val 37331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Conexão em ângulos retos 128">
            <a:extLst>
              <a:ext uri="{FF2B5EF4-FFF2-40B4-BE49-F238E27FC236}">
                <a16:creationId xmlns:a16="http://schemas.microsoft.com/office/drawing/2014/main" id="{24C34AD0-8757-455C-B64D-FBB339D0A43C}"/>
              </a:ext>
            </a:extLst>
          </p:cNvPr>
          <p:cNvCxnSpPr>
            <a:cxnSpLocks/>
            <a:stCxn id="239" idx="3"/>
            <a:endCxn id="235" idx="1"/>
          </p:cNvCxnSpPr>
          <p:nvPr/>
        </p:nvCxnSpPr>
        <p:spPr>
          <a:xfrm flipV="1">
            <a:off x="6901884" y="4220374"/>
            <a:ext cx="1144852" cy="5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Conexão em ângulos retos 128">
            <a:extLst>
              <a:ext uri="{FF2B5EF4-FFF2-40B4-BE49-F238E27FC236}">
                <a16:creationId xmlns:a16="http://schemas.microsoft.com/office/drawing/2014/main" id="{800E81DF-89A3-4E1C-B636-4FC333A7E126}"/>
              </a:ext>
            </a:extLst>
          </p:cNvPr>
          <p:cNvCxnSpPr>
            <a:cxnSpLocks/>
            <a:stCxn id="258" idx="3"/>
            <a:endCxn id="267" idx="1"/>
          </p:cNvCxnSpPr>
          <p:nvPr/>
        </p:nvCxnSpPr>
        <p:spPr>
          <a:xfrm>
            <a:off x="6901884" y="4713757"/>
            <a:ext cx="1146432" cy="42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Conexão em ângulos retos 128">
            <a:extLst>
              <a:ext uri="{FF2B5EF4-FFF2-40B4-BE49-F238E27FC236}">
                <a16:creationId xmlns:a16="http://schemas.microsoft.com/office/drawing/2014/main" id="{26135D2D-A75D-44FD-8037-159CB14CC703}"/>
              </a:ext>
            </a:extLst>
          </p:cNvPr>
          <p:cNvCxnSpPr>
            <a:cxnSpLocks/>
            <a:stCxn id="274" idx="3"/>
            <a:endCxn id="278" idx="1"/>
          </p:cNvCxnSpPr>
          <p:nvPr/>
        </p:nvCxnSpPr>
        <p:spPr>
          <a:xfrm>
            <a:off x="6901884" y="4953176"/>
            <a:ext cx="1149559" cy="55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Conexão em ângulos retos 128">
            <a:extLst>
              <a:ext uri="{FF2B5EF4-FFF2-40B4-BE49-F238E27FC236}">
                <a16:creationId xmlns:a16="http://schemas.microsoft.com/office/drawing/2014/main" id="{3BF87C7C-8901-40C2-83DD-E58154D11C3B}"/>
              </a:ext>
            </a:extLst>
          </p:cNvPr>
          <p:cNvCxnSpPr>
            <a:cxnSpLocks/>
            <a:stCxn id="283" idx="3"/>
            <a:endCxn id="282" idx="1"/>
          </p:cNvCxnSpPr>
          <p:nvPr/>
        </p:nvCxnSpPr>
        <p:spPr>
          <a:xfrm>
            <a:off x="6901884" y="5199186"/>
            <a:ext cx="1144852" cy="761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Conexão em ângulos retos 128">
            <a:extLst>
              <a:ext uri="{FF2B5EF4-FFF2-40B4-BE49-F238E27FC236}">
                <a16:creationId xmlns:a16="http://schemas.microsoft.com/office/drawing/2014/main" id="{6659FDC4-B257-4447-921D-BA819A70F825}"/>
              </a:ext>
            </a:extLst>
          </p:cNvPr>
          <p:cNvCxnSpPr>
            <a:cxnSpLocks/>
            <a:stCxn id="305" idx="3"/>
            <a:endCxn id="304" idx="1"/>
          </p:cNvCxnSpPr>
          <p:nvPr/>
        </p:nvCxnSpPr>
        <p:spPr>
          <a:xfrm flipV="1">
            <a:off x="6901884" y="4460359"/>
            <a:ext cx="1150221" cy="389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Conexão em ângulos retos 128">
            <a:extLst>
              <a:ext uri="{FF2B5EF4-FFF2-40B4-BE49-F238E27FC236}">
                <a16:creationId xmlns:a16="http://schemas.microsoft.com/office/drawing/2014/main" id="{3A1CA9A4-6D04-460A-9179-B33EF7CAF343}"/>
              </a:ext>
            </a:extLst>
          </p:cNvPr>
          <p:cNvCxnSpPr>
            <a:cxnSpLocks/>
            <a:stCxn id="324" idx="3"/>
            <a:endCxn id="325" idx="1"/>
          </p:cNvCxnSpPr>
          <p:nvPr/>
        </p:nvCxnSpPr>
        <p:spPr>
          <a:xfrm flipV="1">
            <a:off x="6901884" y="6371945"/>
            <a:ext cx="1149615" cy="2204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Conexão em ângulos retos 128">
            <a:extLst>
              <a:ext uri="{FF2B5EF4-FFF2-40B4-BE49-F238E27FC236}">
                <a16:creationId xmlns:a16="http://schemas.microsoft.com/office/drawing/2014/main" id="{B2C98F5D-F818-4C66-B148-5D4DDDC42B7E}"/>
              </a:ext>
            </a:extLst>
          </p:cNvPr>
          <p:cNvCxnSpPr>
            <a:cxnSpLocks/>
            <a:stCxn id="324" idx="3"/>
            <a:endCxn id="354" idx="1"/>
          </p:cNvCxnSpPr>
          <p:nvPr/>
        </p:nvCxnSpPr>
        <p:spPr>
          <a:xfrm>
            <a:off x="6901884" y="6592429"/>
            <a:ext cx="1150221" cy="275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Conexão em ângulos retos 128">
            <a:extLst>
              <a:ext uri="{FF2B5EF4-FFF2-40B4-BE49-F238E27FC236}">
                <a16:creationId xmlns:a16="http://schemas.microsoft.com/office/drawing/2014/main" id="{0CCF6E5B-3318-41F5-AEC3-09A91C552543}"/>
              </a:ext>
            </a:extLst>
          </p:cNvPr>
          <p:cNvCxnSpPr>
            <a:cxnSpLocks/>
            <a:stCxn id="374" idx="3"/>
            <a:endCxn id="378" idx="1"/>
          </p:cNvCxnSpPr>
          <p:nvPr/>
        </p:nvCxnSpPr>
        <p:spPr>
          <a:xfrm flipV="1">
            <a:off x="6902334" y="5824635"/>
            <a:ext cx="1149771" cy="175087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Conexão em ângulos retos 128">
            <a:extLst>
              <a:ext uri="{FF2B5EF4-FFF2-40B4-BE49-F238E27FC236}">
                <a16:creationId xmlns:a16="http://schemas.microsoft.com/office/drawing/2014/main" id="{13ECDEB3-EB95-4D60-A876-60CB9DB8FE73}"/>
              </a:ext>
            </a:extLst>
          </p:cNvPr>
          <p:cNvCxnSpPr>
            <a:cxnSpLocks/>
            <a:stCxn id="337" idx="3"/>
            <a:endCxn id="338" idx="1"/>
          </p:cNvCxnSpPr>
          <p:nvPr/>
        </p:nvCxnSpPr>
        <p:spPr>
          <a:xfrm flipV="1">
            <a:off x="6901884" y="6090798"/>
            <a:ext cx="1139665" cy="174764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CuadroTexto 86">
            <a:extLst>
              <a:ext uri="{FF2B5EF4-FFF2-40B4-BE49-F238E27FC236}">
                <a16:creationId xmlns:a16="http://schemas.microsoft.com/office/drawing/2014/main" id="{C7CC10E6-CF29-4B8B-B27E-22482FDEFD5F}"/>
              </a:ext>
            </a:extLst>
          </p:cNvPr>
          <p:cNvSpPr txBox="1"/>
          <p:nvPr/>
        </p:nvSpPr>
        <p:spPr>
          <a:xfrm>
            <a:off x="7956000" y="2340858"/>
            <a:ext cx="157813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36000" bIns="3600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al030_sld_core_m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51" name="Group 550">
            <a:extLst>
              <a:ext uri="{FF2B5EF4-FFF2-40B4-BE49-F238E27FC236}">
                <a16:creationId xmlns:a16="http://schemas.microsoft.com/office/drawing/2014/main" id="{B53094FF-D878-48D4-9ACC-DA5C5796E084}"/>
              </a:ext>
            </a:extLst>
          </p:cNvPr>
          <p:cNvGrpSpPr/>
          <p:nvPr/>
        </p:nvGrpSpPr>
        <p:grpSpPr>
          <a:xfrm>
            <a:off x="3087453" y="2193941"/>
            <a:ext cx="577911" cy="389759"/>
            <a:chOff x="3049353" y="1735790"/>
            <a:chExt cx="577911" cy="389759"/>
          </a:xfrm>
        </p:grpSpPr>
        <p:grpSp>
          <p:nvGrpSpPr>
            <p:cNvPr id="486" name="Grupo 83">
              <a:extLst>
                <a:ext uri="{FF2B5EF4-FFF2-40B4-BE49-F238E27FC236}">
                  <a16:creationId xmlns:a16="http://schemas.microsoft.com/office/drawing/2014/main" id="{41A328EA-D0CC-4D3F-BB8F-3571929B4DDE}"/>
                </a:ext>
              </a:extLst>
            </p:cNvPr>
            <p:cNvGrpSpPr/>
            <p:nvPr/>
          </p:nvGrpSpPr>
          <p:grpSpPr>
            <a:xfrm>
              <a:off x="3049353" y="1909549"/>
              <a:ext cx="577911" cy="216000"/>
              <a:chOff x="8038758" y="3835908"/>
              <a:chExt cx="1282700" cy="1173653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88" name="Disco magnético 89">
                <a:extLst>
                  <a:ext uri="{FF2B5EF4-FFF2-40B4-BE49-F238E27FC236}">
                    <a16:creationId xmlns:a16="http://schemas.microsoft.com/office/drawing/2014/main" id="{BDCD9707-9F16-441A-BF0C-391691C42980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489" name="Disco magnético 91">
                <a:extLst>
                  <a:ext uri="{FF2B5EF4-FFF2-40B4-BE49-F238E27FC236}">
                    <a16:creationId xmlns:a16="http://schemas.microsoft.com/office/drawing/2014/main" id="{B97A2052-6F44-4AA6-8BAB-0ADFFEE466FA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490" name="Disco magnético 92">
                <a:extLst>
                  <a:ext uri="{FF2B5EF4-FFF2-40B4-BE49-F238E27FC236}">
                    <a16:creationId xmlns:a16="http://schemas.microsoft.com/office/drawing/2014/main" id="{5C6BDE6C-510B-4878-A5D8-6DB4AC3D9C5D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87" name="CuadroTexto 86">
              <a:extLst>
                <a:ext uri="{FF2B5EF4-FFF2-40B4-BE49-F238E27FC236}">
                  <a16:creationId xmlns:a16="http://schemas.microsoft.com/office/drawing/2014/main" id="{3D11C3D0-125D-47E6-9D66-B832BB0722C8}"/>
                </a:ext>
              </a:extLst>
            </p:cNvPr>
            <p:cNvSpPr txBox="1"/>
            <p:nvPr/>
          </p:nvSpPr>
          <p:spPr>
            <a:xfrm>
              <a:off x="3054915" y="1735790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ICs</a:t>
              </a:r>
              <a:endParaRPr lang="es-ES" sz="1050" b="1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491" name="Conector angular 217">
            <a:extLst>
              <a:ext uri="{FF2B5EF4-FFF2-40B4-BE49-F238E27FC236}">
                <a16:creationId xmlns:a16="http://schemas.microsoft.com/office/drawing/2014/main" id="{A8649D79-031E-4EB6-A687-4D7BF7950573}"/>
              </a:ext>
            </a:extLst>
          </p:cNvPr>
          <p:cNvCxnSpPr>
            <a:cxnSpLocks/>
            <a:stCxn id="69" idx="3"/>
            <a:endCxn id="489" idx="2"/>
          </p:cNvCxnSpPr>
          <p:nvPr/>
        </p:nvCxnSpPr>
        <p:spPr>
          <a:xfrm flipV="1">
            <a:off x="2171701" y="2475700"/>
            <a:ext cx="915752" cy="396429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CuadroTexto 86">
            <a:extLst>
              <a:ext uri="{FF2B5EF4-FFF2-40B4-BE49-F238E27FC236}">
                <a16:creationId xmlns:a16="http://schemas.microsoft.com/office/drawing/2014/main" id="{EDD95E2C-9432-4263-81CF-C9793075A440}"/>
              </a:ext>
            </a:extLst>
          </p:cNvPr>
          <p:cNvSpPr txBox="1"/>
          <p:nvPr/>
        </p:nvSpPr>
        <p:spPr>
          <a:xfrm>
            <a:off x="5605884" y="2378769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ct001</a:t>
            </a:r>
            <a:r>
              <a:rPr lang="pt-PT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pt-PT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univ_saldo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8" name="CuadroTexto 86">
            <a:extLst>
              <a:ext uri="{FF2B5EF4-FFF2-40B4-BE49-F238E27FC236}">
                <a16:creationId xmlns:a16="http://schemas.microsoft.com/office/drawing/2014/main" id="{CB296B5D-A4DE-421A-9EEB-073815D01F3C}"/>
              </a:ext>
            </a:extLst>
          </p:cNvPr>
          <p:cNvSpPr txBox="1"/>
          <p:nvPr/>
        </p:nvSpPr>
        <p:spPr>
          <a:xfrm>
            <a:off x="4051261" y="2660348"/>
            <a:ext cx="1440000" cy="268669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ALM 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(</a:t>
            </a:r>
            <a:r>
              <a:rPr lang="es-ES" sz="900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cd_alm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510" name="CuadroTexto 86">
            <a:extLst>
              <a:ext uri="{FF2B5EF4-FFF2-40B4-BE49-F238E27FC236}">
                <a16:creationId xmlns:a16="http://schemas.microsoft.com/office/drawing/2014/main" id="{E96021D2-4333-4B65-B765-E9409AFD8D67}"/>
              </a:ext>
            </a:extLst>
          </p:cNvPr>
          <p:cNvSpPr txBox="1"/>
          <p:nvPr/>
        </p:nvSpPr>
        <p:spPr>
          <a:xfrm>
            <a:off x="4051261" y="1618443"/>
            <a:ext cx="2340000" cy="268669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</a:t>
            </a:r>
            <a:r>
              <a:rPr lang="es-ES" sz="12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Contabilidade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 (</a:t>
            </a:r>
            <a:r>
              <a:rPr lang="es-ES" sz="900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cd_captools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511" name="CuadroTexto 86">
            <a:extLst>
              <a:ext uri="{FF2B5EF4-FFF2-40B4-BE49-F238E27FC236}">
                <a16:creationId xmlns:a16="http://schemas.microsoft.com/office/drawing/2014/main" id="{F3340933-9AE8-48A9-BAE9-B668173CF5C7}"/>
              </a:ext>
            </a:extLst>
          </p:cNvPr>
          <p:cNvSpPr txBox="1"/>
          <p:nvPr/>
        </p:nvSpPr>
        <p:spPr>
          <a:xfrm>
            <a:off x="7956000" y="2556432"/>
            <a:ext cx="157813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36000" bIns="3600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al034_sld_mo_m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39125400-782B-45F2-A027-4FB070BC879B}"/>
              </a:ext>
            </a:extLst>
          </p:cNvPr>
          <p:cNvSpPr txBox="1"/>
          <p:nvPr/>
        </p:nvSpPr>
        <p:spPr>
          <a:xfrm>
            <a:off x="1101882" y="4169067"/>
            <a:ext cx="557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…</a:t>
            </a:r>
          </a:p>
        </p:txBody>
      </p:sp>
      <p:sp>
        <p:nvSpPr>
          <p:cNvPr id="552" name="CuadroTexto 86">
            <a:extLst>
              <a:ext uri="{FF2B5EF4-FFF2-40B4-BE49-F238E27FC236}">
                <a16:creationId xmlns:a16="http://schemas.microsoft.com/office/drawing/2014/main" id="{352E6A85-611B-414D-89D5-0CCE345F7538}"/>
              </a:ext>
            </a:extLst>
          </p:cNvPr>
          <p:cNvSpPr txBox="1"/>
          <p:nvPr/>
        </p:nvSpPr>
        <p:spPr>
          <a:xfrm>
            <a:off x="5602436" y="2132713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ct005</a:t>
            </a:r>
            <a:r>
              <a:rPr lang="pt-PT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pt-PT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univ_perim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54" name="Conexão em ângulos retos 128">
            <a:extLst>
              <a:ext uri="{FF2B5EF4-FFF2-40B4-BE49-F238E27FC236}">
                <a16:creationId xmlns:a16="http://schemas.microsoft.com/office/drawing/2014/main" id="{08DEF575-C77C-459C-AFFB-2D0B41D15294}"/>
              </a:ext>
            </a:extLst>
          </p:cNvPr>
          <p:cNvCxnSpPr>
            <a:cxnSpLocks/>
            <a:stCxn id="504" idx="3"/>
            <a:endCxn id="511" idx="1"/>
          </p:cNvCxnSpPr>
          <p:nvPr/>
        </p:nvCxnSpPr>
        <p:spPr>
          <a:xfrm>
            <a:off x="6901884" y="2486769"/>
            <a:ext cx="1054116" cy="177663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Conector angular 217">
            <a:extLst>
              <a:ext uri="{FF2B5EF4-FFF2-40B4-BE49-F238E27FC236}">
                <a16:creationId xmlns:a16="http://schemas.microsoft.com/office/drawing/2014/main" id="{8D390C88-E93F-43C5-90BD-3C87CBA34D7D}"/>
              </a:ext>
            </a:extLst>
          </p:cNvPr>
          <p:cNvCxnSpPr>
            <a:cxnSpLocks/>
            <a:stCxn id="489" idx="4"/>
            <a:endCxn id="655" idx="1"/>
          </p:cNvCxnSpPr>
          <p:nvPr/>
        </p:nvCxnSpPr>
        <p:spPr>
          <a:xfrm flipV="1">
            <a:off x="3665364" y="2475257"/>
            <a:ext cx="392520" cy="443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Conexão em ângulos retos 128">
            <a:extLst>
              <a:ext uri="{FF2B5EF4-FFF2-40B4-BE49-F238E27FC236}">
                <a16:creationId xmlns:a16="http://schemas.microsoft.com/office/drawing/2014/main" id="{612A7BC7-9737-464A-9108-7F1378C184B1}"/>
              </a:ext>
            </a:extLst>
          </p:cNvPr>
          <p:cNvCxnSpPr>
            <a:cxnSpLocks/>
            <a:stCxn id="504" idx="3"/>
            <a:endCxn id="481" idx="1"/>
          </p:cNvCxnSpPr>
          <p:nvPr/>
        </p:nvCxnSpPr>
        <p:spPr>
          <a:xfrm flipV="1">
            <a:off x="6901884" y="2448858"/>
            <a:ext cx="1054116" cy="37911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6" name="CuadroTexto 86">
            <a:extLst>
              <a:ext uri="{FF2B5EF4-FFF2-40B4-BE49-F238E27FC236}">
                <a16:creationId xmlns:a16="http://schemas.microsoft.com/office/drawing/2014/main" id="{6BC0609C-1F5A-4C41-B648-6EB4D5EBB6D8}"/>
              </a:ext>
            </a:extLst>
          </p:cNvPr>
          <p:cNvSpPr txBox="1"/>
          <p:nvPr/>
        </p:nvSpPr>
        <p:spPr>
          <a:xfrm>
            <a:off x="7956000" y="2048640"/>
            <a:ext cx="157813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36000" bIns="3600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al031_perim_alm_m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07" name="Conexão em ângulos retos 128">
            <a:extLst>
              <a:ext uri="{FF2B5EF4-FFF2-40B4-BE49-F238E27FC236}">
                <a16:creationId xmlns:a16="http://schemas.microsoft.com/office/drawing/2014/main" id="{ABF8C9F1-DF5D-456F-8A34-0BDC4F24CDED}"/>
              </a:ext>
            </a:extLst>
          </p:cNvPr>
          <p:cNvCxnSpPr>
            <a:cxnSpLocks/>
            <a:stCxn id="552" idx="3"/>
            <a:endCxn id="606" idx="1"/>
          </p:cNvCxnSpPr>
          <p:nvPr/>
        </p:nvCxnSpPr>
        <p:spPr>
          <a:xfrm flipV="1">
            <a:off x="6898436" y="2156640"/>
            <a:ext cx="1057564" cy="840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0" name="CuadroTexto 86">
            <a:extLst>
              <a:ext uri="{FF2B5EF4-FFF2-40B4-BE49-F238E27FC236}">
                <a16:creationId xmlns:a16="http://schemas.microsoft.com/office/drawing/2014/main" id="{64774C14-6CA4-4197-BF85-63F88283865D}"/>
              </a:ext>
            </a:extLst>
          </p:cNvPr>
          <p:cNvSpPr txBox="1"/>
          <p:nvPr/>
        </p:nvSpPr>
        <p:spPr>
          <a:xfrm>
            <a:off x="7956000" y="1222051"/>
            <a:ext cx="157813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36000" bIns="36000" rtlCol="0" anchor="ctr" anchorCtr="0">
            <a:noAutofit/>
          </a:bodyPr>
          <a:lstStyle/>
          <a:p>
            <a:r>
              <a:rPr lang="es-ES" sz="12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kt_chaves_alm_m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12" name="Conexão em ângulos retos 128">
            <a:extLst>
              <a:ext uri="{FF2B5EF4-FFF2-40B4-BE49-F238E27FC236}">
                <a16:creationId xmlns:a16="http://schemas.microsoft.com/office/drawing/2014/main" id="{77C8EFA7-D711-4C10-81FB-8955E99E588A}"/>
              </a:ext>
            </a:extLst>
          </p:cNvPr>
          <p:cNvCxnSpPr>
            <a:cxnSpLocks/>
            <a:stCxn id="610" idx="3"/>
            <a:endCxn id="606" idx="3"/>
          </p:cNvCxnSpPr>
          <p:nvPr/>
        </p:nvCxnSpPr>
        <p:spPr>
          <a:xfrm>
            <a:off x="9534130" y="1330051"/>
            <a:ext cx="12700" cy="826589"/>
          </a:xfrm>
          <a:prstGeom prst="bentConnector3">
            <a:avLst>
              <a:gd name="adj1" fmla="val 2875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2" name="Rectángulo 302">
            <a:extLst>
              <a:ext uri="{FF2B5EF4-FFF2-40B4-BE49-F238E27FC236}">
                <a16:creationId xmlns:a16="http://schemas.microsoft.com/office/drawing/2014/main" id="{E9D0B64A-4D75-461E-BE54-2D9925C7A96E}"/>
              </a:ext>
            </a:extLst>
          </p:cNvPr>
          <p:cNvSpPr/>
          <p:nvPr/>
        </p:nvSpPr>
        <p:spPr>
          <a:xfrm>
            <a:off x="4051262" y="1134146"/>
            <a:ext cx="3016288" cy="46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625" name="CuadroTexto 86">
            <a:extLst>
              <a:ext uri="{FF2B5EF4-FFF2-40B4-BE49-F238E27FC236}">
                <a16:creationId xmlns:a16="http://schemas.microsoft.com/office/drawing/2014/main" id="{1B98FB02-2947-4954-B345-5F7194DE5606}"/>
              </a:ext>
            </a:extLst>
          </p:cNvPr>
          <p:cNvSpPr txBox="1"/>
          <p:nvPr/>
        </p:nvSpPr>
        <p:spPr>
          <a:xfrm>
            <a:off x="4057884" y="1103562"/>
            <a:ext cx="2448000" cy="268669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</a:t>
            </a:r>
            <a:r>
              <a:rPr lang="es-ES" sz="12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Rentabilidade</a:t>
            </a:r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(</a:t>
            </a:r>
            <a:r>
              <a:rPr lang="es-ES" sz="900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cd_captools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626" name="TextBox 625">
            <a:extLst>
              <a:ext uri="{FF2B5EF4-FFF2-40B4-BE49-F238E27FC236}">
                <a16:creationId xmlns:a16="http://schemas.microsoft.com/office/drawing/2014/main" id="{17CA68B8-744F-447B-9880-E6CB4721E7AF}"/>
              </a:ext>
            </a:extLst>
          </p:cNvPr>
          <p:cNvSpPr txBox="1"/>
          <p:nvPr/>
        </p:nvSpPr>
        <p:spPr>
          <a:xfrm>
            <a:off x="4549728" y="2195939"/>
            <a:ext cx="557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…</a:t>
            </a:r>
          </a:p>
        </p:txBody>
      </p:sp>
      <p:sp>
        <p:nvSpPr>
          <p:cNvPr id="621" name="CuadroTexto 86">
            <a:extLst>
              <a:ext uri="{FF2B5EF4-FFF2-40B4-BE49-F238E27FC236}">
                <a16:creationId xmlns:a16="http://schemas.microsoft.com/office/drawing/2014/main" id="{59C0BEBB-8713-4902-B2F2-7AE0D693C370}"/>
              </a:ext>
            </a:extLst>
          </p:cNvPr>
          <p:cNvSpPr txBox="1"/>
          <p:nvPr/>
        </p:nvSpPr>
        <p:spPr>
          <a:xfrm>
            <a:off x="5609795" y="1350486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36000" bIns="36000" rtlCol="0" anchor="ctr" anchorCtr="0">
            <a:noAutofit/>
          </a:bodyPr>
          <a:lstStyle/>
          <a:p>
            <a:r>
              <a:rPr lang="es-ES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kt_chaves_mis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99B266FF-EEE4-43B6-A00F-E5681E4EE829}"/>
              </a:ext>
            </a:extLst>
          </p:cNvPr>
          <p:cNvSpPr txBox="1"/>
          <p:nvPr/>
        </p:nvSpPr>
        <p:spPr>
          <a:xfrm>
            <a:off x="4527894" y="1232095"/>
            <a:ext cx="557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…</a:t>
            </a:r>
          </a:p>
        </p:txBody>
      </p:sp>
      <p:cxnSp>
        <p:nvCxnSpPr>
          <p:cNvPr id="628" name="Conexão em ângulos retos 128">
            <a:extLst>
              <a:ext uri="{FF2B5EF4-FFF2-40B4-BE49-F238E27FC236}">
                <a16:creationId xmlns:a16="http://schemas.microsoft.com/office/drawing/2014/main" id="{9B3E48C5-24F4-40D1-A4E8-1053D0FCCDFF}"/>
              </a:ext>
            </a:extLst>
          </p:cNvPr>
          <p:cNvCxnSpPr>
            <a:cxnSpLocks/>
            <a:stCxn id="621" idx="3"/>
            <a:endCxn id="610" idx="1"/>
          </p:cNvCxnSpPr>
          <p:nvPr/>
        </p:nvCxnSpPr>
        <p:spPr>
          <a:xfrm flipV="1">
            <a:off x="6905795" y="1330051"/>
            <a:ext cx="1050205" cy="12843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Rectángulo 72">
            <a:extLst>
              <a:ext uri="{FF2B5EF4-FFF2-40B4-BE49-F238E27FC236}">
                <a16:creationId xmlns:a16="http://schemas.microsoft.com/office/drawing/2014/main" id="{CE3BC4BB-CDB8-4A90-8E1D-0B1869422C12}"/>
              </a:ext>
            </a:extLst>
          </p:cNvPr>
          <p:cNvSpPr/>
          <p:nvPr/>
        </p:nvSpPr>
        <p:spPr>
          <a:xfrm>
            <a:off x="4938390" y="900000"/>
            <a:ext cx="176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Input Motor</a:t>
            </a:r>
          </a:p>
        </p:txBody>
      </p:sp>
      <p:cxnSp>
        <p:nvCxnSpPr>
          <p:cNvPr id="632" name="Conector angular 217">
            <a:extLst>
              <a:ext uri="{FF2B5EF4-FFF2-40B4-BE49-F238E27FC236}">
                <a16:creationId xmlns:a16="http://schemas.microsoft.com/office/drawing/2014/main" id="{739E8F36-BAD7-4C21-9D4A-FF5C9ECEF302}"/>
              </a:ext>
            </a:extLst>
          </p:cNvPr>
          <p:cNvCxnSpPr>
            <a:cxnSpLocks/>
            <a:stCxn id="155" idx="4"/>
            <a:endCxn id="622" idx="1"/>
          </p:cNvCxnSpPr>
          <p:nvPr/>
        </p:nvCxnSpPr>
        <p:spPr>
          <a:xfrm flipV="1">
            <a:off x="3665364" y="1368146"/>
            <a:ext cx="385898" cy="2793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5" name="TextBox 654">
            <a:extLst>
              <a:ext uri="{FF2B5EF4-FFF2-40B4-BE49-F238E27FC236}">
                <a16:creationId xmlns:a16="http://schemas.microsoft.com/office/drawing/2014/main" id="{EE5A140C-785A-4A64-80AD-10DDA18C5814}"/>
              </a:ext>
            </a:extLst>
          </p:cNvPr>
          <p:cNvSpPr txBox="1"/>
          <p:nvPr/>
        </p:nvSpPr>
        <p:spPr>
          <a:xfrm>
            <a:off x="4057884" y="2290591"/>
            <a:ext cx="650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658" name="CuadroTexto 86">
            <a:extLst>
              <a:ext uri="{FF2B5EF4-FFF2-40B4-BE49-F238E27FC236}">
                <a16:creationId xmlns:a16="http://schemas.microsoft.com/office/drawing/2014/main" id="{48F35015-B556-4A8B-928B-0D7DA9455564}"/>
              </a:ext>
            </a:extLst>
          </p:cNvPr>
          <p:cNvSpPr txBox="1"/>
          <p:nvPr/>
        </p:nvSpPr>
        <p:spPr>
          <a:xfrm>
            <a:off x="5594229" y="1885574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pt-PT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fr003_colaterais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9" name="CuadroTexto 86">
            <a:extLst>
              <a:ext uri="{FF2B5EF4-FFF2-40B4-BE49-F238E27FC236}">
                <a16:creationId xmlns:a16="http://schemas.microsoft.com/office/drawing/2014/main" id="{53CEC5B4-AAFA-4AAC-AFBF-B53A925A0C7D}"/>
              </a:ext>
            </a:extLst>
          </p:cNvPr>
          <p:cNvSpPr txBox="1"/>
          <p:nvPr/>
        </p:nvSpPr>
        <p:spPr>
          <a:xfrm>
            <a:off x="2917875" y="1627898"/>
            <a:ext cx="938629" cy="353932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s-ES" sz="105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Ficheiro</a:t>
            </a:r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 BIYR2500 </a:t>
            </a:r>
            <a:r>
              <a:rPr lang="es-ES" sz="1050" b="1" baseline="30000" dirty="0">
                <a:solidFill>
                  <a:prstClr val="black"/>
                </a:solidFill>
                <a:latin typeface="Santander Text" panose="020B0504020201020104" pitchFamily="34" charset="0"/>
              </a:rPr>
              <a:t>(2)</a:t>
            </a:r>
          </a:p>
        </p:txBody>
      </p:sp>
      <p:cxnSp>
        <p:nvCxnSpPr>
          <p:cNvPr id="660" name="Conector angular 217">
            <a:extLst>
              <a:ext uri="{FF2B5EF4-FFF2-40B4-BE49-F238E27FC236}">
                <a16:creationId xmlns:a16="http://schemas.microsoft.com/office/drawing/2014/main" id="{96215371-0D51-40D7-899E-492DE08849E5}"/>
              </a:ext>
            </a:extLst>
          </p:cNvPr>
          <p:cNvCxnSpPr>
            <a:cxnSpLocks/>
            <a:stCxn id="348" idx="3"/>
            <a:endCxn id="676" idx="1"/>
          </p:cNvCxnSpPr>
          <p:nvPr/>
        </p:nvCxnSpPr>
        <p:spPr>
          <a:xfrm flipV="1">
            <a:off x="2058259" y="1993298"/>
            <a:ext cx="2153741" cy="112702"/>
          </a:xfrm>
          <a:prstGeom prst="bentConnector3">
            <a:avLst>
              <a:gd name="adj1" fmla="val 15008"/>
            </a:avLst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Conector angular 217">
            <a:extLst>
              <a:ext uri="{FF2B5EF4-FFF2-40B4-BE49-F238E27FC236}">
                <a16:creationId xmlns:a16="http://schemas.microsoft.com/office/drawing/2014/main" id="{1931570A-626B-4F5F-8189-465D921C3288}"/>
              </a:ext>
            </a:extLst>
          </p:cNvPr>
          <p:cNvCxnSpPr>
            <a:cxnSpLocks/>
            <a:stCxn id="676" idx="3"/>
            <a:endCxn id="658" idx="1"/>
          </p:cNvCxnSpPr>
          <p:nvPr/>
        </p:nvCxnSpPr>
        <p:spPr>
          <a:xfrm>
            <a:off x="5148000" y="1993298"/>
            <a:ext cx="446229" cy="27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6" name="CuadroTexto 86">
            <a:extLst>
              <a:ext uri="{FF2B5EF4-FFF2-40B4-BE49-F238E27FC236}">
                <a16:creationId xmlns:a16="http://schemas.microsoft.com/office/drawing/2014/main" id="{A68668EC-DFEC-4779-A366-F9FF44806912}"/>
              </a:ext>
            </a:extLst>
          </p:cNvPr>
          <p:cNvSpPr txBox="1"/>
          <p:nvPr/>
        </p:nvSpPr>
        <p:spPr>
          <a:xfrm>
            <a:off x="4212000" y="1885298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biyr2500</a:t>
            </a:r>
          </a:p>
        </p:txBody>
      </p:sp>
      <p:sp>
        <p:nvSpPr>
          <p:cNvPr id="683" name="CuadroTexto 86">
            <a:extLst>
              <a:ext uri="{FF2B5EF4-FFF2-40B4-BE49-F238E27FC236}">
                <a16:creationId xmlns:a16="http://schemas.microsoft.com/office/drawing/2014/main" id="{FCCA53C9-E460-4CAF-A341-17E58222D592}"/>
              </a:ext>
            </a:extLst>
          </p:cNvPr>
          <p:cNvSpPr txBox="1"/>
          <p:nvPr/>
        </p:nvSpPr>
        <p:spPr>
          <a:xfrm>
            <a:off x="7956000" y="1523397"/>
            <a:ext cx="157813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36000" bIns="3600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al035_colaterais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84" name="Conexão em ângulos retos 128">
            <a:extLst>
              <a:ext uri="{FF2B5EF4-FFF2-40B4-BE49-F238E27FC236}">
                <a16:creationId xmlns:a16="http://schemas.microsoft.com/office/drawing/2014/main" id="{19C9FCD5-BC6C-46CF-90AE-B882844ADEA4}"/>
              </a:ext>
            </a:extLst>
          </p:cNvPr>
          <p:cNvCxnSpPr>
            <a:cxnSpLocks/>
            <a:stCxn id="658" idx="3"/>
            <a:endCxn id="683" idx="1"/>
          </p:cNvCxnSpPr>
          <p:nvPr/>
        </p:nvCxnSpPr>
        <p:spPr>
          <a:xfrm flipV="1">
            <a:off x="6890229" y="1631397"/>
            <a:ext cx="1065771" cy="362177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Conexão em ângulos retos 128">
            <a:extLst>
              <a:ext uri="{FF2B5EF4-FFF2-40B4-BE49-F238E27FC236}">
                <a16:creationId xmlns:a16="http://schemas.microsoft.com/office/drawing/2014/main" id="{ECEBFCF2-F795-4E6E-9CB9-0BC350968EF9}"/>
              </a:ext>
            </a:extLst>
          </p:cNvPr>
          <p:cNvCxnSpPr>
            <a:cxnSpLocks/>
            <a:stCxn id="211" idx="3"/>
            <a:endCxn id="606" idx="3"/>
          </p:cNvCxnSpPr>
          <p:nvPr/>
        </p:nvCxnSpPr>
        <p:spPr>
          <a:xfrm flipV="1">
            <a:off x="9533854" y="2156640"/>
            <a:ext cx="276" cy="2720503"/>
          </a:xfrm>
          <a:prstGeom prst="bentConnector3">
            <a:avLst>
              <a:gd name="adj1" fmla="val 130255435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2" name="CuadroTexto 86">
            <a:extLst>
              <a:ext uri="{FF2B5EF4-FFF2-40B4-BE49-F238E27FC236}">
                <a16:creationId xmlns:a16="http://schemas.microsoft.com/office/drawing/2014/main" id="{A7A258C2-9FBC-4625-9D4B-EA91D4605586}"/>
              </a:ext>
            </a:extLst>
          </p:cNvPr>
          <p:cNvSpPr txBox="1"/>
          <p:nvPr/>
        </p:nvSpPr>
        <p:spPr>
          <a:xfrm>
            <a:off x="7956000" y="1745811"/>
            <a:ext cx="157813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36000" bIns="3600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al036_act_colat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03" name="Conexão em ângulos retos 128">
            <a:extLst>
              <a:ext uri="{FF2B5EF4-FFF2-40B4-BE49-F238E27FC236}">
                <a16:creationId xmlns:a16="http://schemas.microsoft.com/office/drawing/2014/main" id="{040DC0D6-8CA1-4629-99E6-A95890481F95}"/>
              </a:ext>
            </a:extLst>
          </p:cNvPr>
          <p:cNvCxnSpPr>
            <a:cxnSpLocks/>
            <a:stCxn id="658" idx="3"/>
            <a:endCxn id="702" idx="1"/>
          </p:cNvCxnSpPr>
          <p:nvPr/>
        </p:nvCxnSpPr>
        <p:spPr>
          <a:xfrm flipV="1">
            <a:off x="6890229" y="1853811"/>
            <a:ext cx="1065771" cy="139763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Conexão em ângulos retos 128">
            <a:extLst>
              <a:ext uri="{FF2B5EF4-FFF2-40B4-BE49-F238E27FC236}">
                <a16:creationId xmlns:a16="http://schemas.microsoft.com/office/drawing/2014/main" id="{5505370E-FF7F-412B-A325-C33F724F1FFF}"/>
              </a:ext>
            </a:extLst>
          </p:cNvPr>
          <p:cNvCxnSpPr>
            <a:cxnSpLocks/>
            <a:stCxn id="211" idx="0"/>
            <a:endCxn id="511" idx="2"/>
          </p:cNvCxnSpPr>
          <p:nvPr/>
        </p:nvCxnSpPr>
        <p:spPr>
          <a:xfrm rot="16200000" flipV="1">
            <a:off x="8628905" y="2888593"/>
            <a:ext cx="232711" cy="389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Conexão em ângulos retos 128">
            <a:extLst>
              <a:ext uri="{FF2B5EF4-FFF2-40B4-BE49-F238E27FC236}">
                <a16:creationId xmlns:a16="http://schemas.microsoft.com/office/drawing/2014/main" id="{6D78572F-F934-4266-B5BA-F49F979C8DA7}"/>
              </a:ext>
            </a:extLst>
          </p:cNvPr>
          <p:cNvCxnSpPr>
            <a:cxnSpLocks/>
            <a:stCxn id="211" idx="3"/>
            <a:endCxn id="702" idx="3"/>
          </p:cNvCxnSpPr>
          <p:nvPr/>
        </p:nvCxnSpPr>
        <p:spPr>
          <a:xfrm flipV="1">
            <a:off x="9533854" y="1853811"/>
            <a:ext cx="276" cy="3023332"/>
          </a:xfrm>
          <a:prstGeom prst="bentConnector3">
            <a:avLst>
              <a:gd name="adj1" fmla="val 190731522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7" name="CuadroTexto 86">
            <a:extLst>
              <a:ext uri="{FF2B5EF4-FFF2-40B4-BE49-F238E27FC236}">
                <a16:creationId xmlns:a16="http://schemas.microsoft.com/office/drawing/2014/main" id="{C6375818-F777-4C58-A530-16C972DA3E42}"/>
              </a:ext>
            </a:extLst>
          </p:cNvPr>
          <p:cNvSpPr txBox="1"/>
          <p:nvPr/>
        </p:nvSpPr>
        <p:spPr>
          <a:xfrm>
            <a:off x="5605200" y="5619911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al611_deriv_aux</a:t>
            </a:r>
          </a:p>
        </p:txBody>
      </p:sp>
      <p:sp>
        <p:nvSpPr>
          <p:cNvPr id="738" name="CuadroTexto 86">
            <a:extLst>
              <a:ext uri="{FF2B5EF4-FFF2-40B4-BE49-F238E27FC236}">
                <a16:creationId xmlns:a16="http://schemas.microsoft.com/office/drawing/2014/main" id="{15E7FF8B-6681-44E0-8604-75D7F0CC6E6F}"/>
              </a:ext>
            </a:extLst>
          </p:cNvPr>
          <p:cNvSpPr txBox="1"/>
          <p:nvPr/>
        </p:nvSpPr>
        <p:spPr>
          <a:xfrm>
            <a:off x="5605200" y="5354680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al613_swapsc_aux</a:t>
            </a:r>
          </a:p>
        </p:txBody>
      </p:sp>
      <p:cxnSp>
        <p:nvCxnSpPr>
          <p:cNvPr id="773" name="Conector angular 217">
            <a:extLst>
              <a:ext uri="{FF2B5EF4-FFF2-40B4-BE49-F238E27FC236}">
                <a16:creationId xmlns:a16="http://schemas.microsoft.com/office/drawing/2014/main" id="{784A30C4-B167-4C6F-928B-15FDFF4096AA}"/>
              </a:ext>
            </a:extLst>
          </p:cNvPr>
          <p:cNvCxnSpPr>
            <a:cxnSpLocks/>
            <a:stCxn id="776" idx="3"/>
            <a:endCxn id="780" idx="3"/>
          </p:cNvCxnSpPr>
          <p:nvPr/>
        </p:nvCxnSpPr>
        <p:spPr>
          <a:xfrm flipH="1" flipV="1">
            <a:off x="6905426" y="5285023"/>
            <a:ext cx="21443" cy="240917"/>
          </a:xfrm>
          <a:prstGeom prst="bentConnector3">
            <a:avLst>
              <a:gd name="adj1" fmla="val -1066082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6" name="TextBox 775">
            <a:extLst>
              <a:ext uri="{FF2B5EF4-FFF2-40B4-BE49-F238E27FC236}">
                <a16:creationId xmlns:a16="http://schemas.microsoft.com/office/drawing/2014/main" id="{89F19950-F8D3-4EBA-9227-D865B440FA3B}"/>
              </a:ext>
            </a:extLst>
          </p:cNvPr>
          <p:cNvSpPr txBox="1"/>
          <p:nvPr/>
        </p:nvSpPr>
        <p:spPr>
          <a:xfrm>
            <a:off x="6542603" y="5341274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780" name="TextBox 779">
            <a:extLst>
              <a:ext uri="{FF2B5EF4-FFF2-40B4-BE49-F238E27FC236}">
                <a16:creationId xmlns:a16="http://schemas.microsoft.com/office/drawing/2014/main" id="{B89E7147-9F05-4E28-9442-CE2A22D7CE3E}"/>
              </a:ext>
            </a:extLst>
          </p:cNvPr>
          <p:cNvSpPr txBox="1"/>
          <p:nvPr/>
        </p:nvSpPr>
        <p:spPr>
          <a:xfrm>
            <a:off x="6521160" y="5100357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782" name="Conector angular 217">
            <a:extLst>
              <a:ext uri="{FF2B5EF4-FFF2-40B4-BE49-F238E27FC236}">
                <a16:creationId xmlns:a16="http://schemas.microsoft.com/office/drawing/2014/main" id="{03963E70-5794-430A-B6E3-98C5B62FB721}"/>
              </a:ext>
            </a:extLst>
          </p:cNvPr>
          <p:cNvCxnSpPr>
            <a:cxnSpLocks/>
            <a:stCxn id="336" idx="3"/>
            <a:endCxn id="800" idx="1"/>
          </p:cNvCxnSpPr>
          <p:nvPr/>
        </p:nvCxnSpPr>
        <p:spPr>
          <a:xfrm flipV="1">
            <a:off x="2045692" y="5776646"/>
            <a:ext cx="3563028" cy="115666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Conector angular 217">
            <a:extLst>
              <a:ext uri="{FF2B5EF4-FFF2-40B4-BE49-F238E27FC236}">
                <a16:creationId xmlns:a16="http://schemas.microsoft.com/office/drawing/2014/main" id="{50DF46C2-2261-4118-8D6D-4820719DF98A}"/>
              </a:ext>
            </a:extLst>
          </p:cNvPr>
          <p:cNvCxnSpPr>
            <a:cxnSpLocks/>
            <a:stCxn id="336" idx="3"/>
            <a:endCxn id="797" idx="1"/>
          </p:cNvCxnSpPr>
          <p:nvPr/>
        </p:nvCxnSpPr>
        <p:spPr>
          <a:xfrm flipV="1">
            <a:off x="2045692" y="5522439"/>
            <a:ext cx="3560599" cy="369873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7" name="TextBox 796">
            <a:extLst>
              <a:ext uri="{FF2B5EF4-FFF2-40B4-BE49-F238E27FC236}">
                <a16:creationId xmlns:a16="http://schemas.microsoft.com/office/drawing/2014/main" id="{CC69B6BB-8CBE-4B94-8CC5-843283EA7493}"/>
              </a:ext>
            </a:extLst>
          </p:cNvPr>
          <p:cNvSpPr txBox="1"/>
          <p:nvPr/>
        </p:nvSpPr>
        <p:spPr>
          <a:xfrm>
            <a:off x="5606291" y="5337773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:a16="http://schemas.microsoft.com/office/drawing/2014/main" id="{658B2AB9-DA54-4C83-8463-40A0F90C9B53}"/>
              </a:ext>
            </a:extLst>
          </p:cNvPr>
          <p:cNvSpPr txBox="1"/>
          <p:nvPr/>
        </p:nvSpPr>
        <p:spPr>
          <a:xfrm>
            <a:off x="5608720" y="5591980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1111FC81-FC71-488E-8EA9-2FF31D7D72F8}"/>
              </a:ext>
            </a:extLst>
          </p:cNvPr>
          <p:cNvSpPr txBox="1"/>
          <p:nvPr/>
        </p:nvSpPr>
        <p:spPr>
          <a:xfrm>
            <a:off x="5588485" y="5494284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803" name="Conector angular 217">
            <a:extLst>
              <a:ext uri="{FF2B5EF4-FFF2-40B4-BE49-F238E27FC236}">
                <a16:creationId xmlns:a16="http://schemas.microsoft.com/office/drawing/2014/main" id="{E1DBEC42-FD82-40AF-9510-7DA03ECE361B}"/>
              </a:ext>
            </a:extLst>
          </p:cNvPr>
          <p:cNvCxnSpPr>
            <a:cxnSpLocks/>
            <a:stCxn id="802" idx="1"/>
            <a:endCxn id="805" idx="1"/>
          </p:cNvCxnSpPr>
          <p:nvPr/>
        </p:nvCxnSpPr>
        <p:spPr>
          <a:xfrm rot="10800000" flipH="1">
            <a:off x="5588485" y="4990864"/>
            <a:ext cx="24998" cy="688086"/>
          </a:xfrm>
          <a:prstGeom prst="bentConnector3">
            <a:avLst>
              <a:gd name="adj1" fmla="val -704904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5" name="TextBox 804">
            <a:extLst>
              <a:ext uri="{FF2B5EF4-FFF2-40B4-BE49-F238E27FC236}">
                <a16:creationId xmlns:a16="http://schemas.microsoft.com/office/drawing/2014/main" id="{4B437D66-B424-4B76-B4EE-688B0E785B5B}"/>
              </a:ext>
            </a:extLst>
          </p:cNvPr>
          <p:cNvSpPr txBox="1"/>
          <p:nvPr/>
        </p:nvSpPr>
        <p:spPr>
          <a:xfrm>
            <a:off x="5613483" y="4806198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08" name="TextBox 807">
            <a:extLst>
              <a:ext uri="{FF2B5EF4-FFF2-40B4-BE49-F238E27FC236}">
                <a16:creationId xmlns:a16="http://schemas.microsoft.com/office/drawing/2014/main" id="{DDCD902A-D17E-4258-844D-BCE34B5C9DCA}"/>
              </a:ext>
            </a:extLst>
          </p:cNvPr>
          <p:cNvSpPr txBox="1"/>
          <p:nvPr/>
        </p:nvSpPr>
        <p:spPr>
          <a:xfrm>
            <a:off x="5608720" y="4708415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41" name="TextBox 840">
            <a:extLst>
              <a:ext uri="{FF2B5EF4-FFF2-40B4-BE49-F238E27FC236}">
                <a16:creationId xmlns:a16="http://schemas.microsoft.com/office/drawing/2014/main" id="{A57C9012-BF04-4C76-B467-34CF75BBF6EB}"/>
              </a:ext>
            </a:extLst>
          </p:cNvPr>
          <p:cNvSpPr txBox="1"/>
          <p:nvPr/>
        </p:nvSpPr>
        <p:spPr>
          <a:xfrm>
            <a:off x="10489302" y="1083000"/>
            <a:ext cx="1493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/>
            <a:r>
              <a:rPr lang="pt-PT" sz="900" baseline="30000" dirty="0"/>
              <a:t>(1) 	</a:t>
            </a:r>
            <a:r>
              <a:rPr lang="pt-PT" sz="900" dirty="0"/>
              <a:t>Com respeito à tabela al029_cnt_core_m apresentam-se as várias origens e a respetiva fonte de dados.</a:t>
            </a:r>
          </a:p>
        </p:txBody>
      </p:sp>
      <p:sp>
        <p:nvSpPr>
          <p:cNvPr id="842" name="TextBox 841">
            <a:extLst>
              <a:ext uri="{FF2B5EF4-FFF2-40B4-BE49-F238E27FC236}">
                <a16:creationId xmlns:a16="http://schemas.microsoft.com/office/drawing/2014/main" id="{084D39BA-0D7C-4A71-955C-2D4601FCC296}"/>
              </a:ext>
            </a:extLst>
          </p:cNvPr>
          <p:cNvSpPr txBox="1"/>
          <p:nvPr/>
        </p:nvSpPr>
        <p:spPr>
          <a:xfrm>
            <a:off x="10490400" y="2046670"/>
            <a:ext cx="145390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/>
            <a:r>
              <a:rPr lang="pt-PT" sz="900" baseline="30000" dirty="0"/>
              <a:t>(2) 	</a:t>
            </a:r>
            <a:r>
              <a:rPr lang="pt-PT" sz="900" dirty="0"/>
              <a:t>Este ficheiro é produzido mensalmente no processo de aprovisionamento da BDR das garantias e respetivos contratos.</a:t>
            </a:r>
          </a:p>
        </p:txBody>
      </p:sp>
      <p:cxnSp>
        <p:nvCxnSpPr>
          <p:cNvPr id="843" name="Conexão em ângulos retos 128">
            <a:extLst>
              <a:ext uri="{FF2B5EF4-FFF2-40B4-BE49-F238E27FC236}">
                <a16:creationId xmlns:a16="http://schemas.microsoft.com/office/drawing/2014/main" id="{2654BFBF-A174-4E9A-9545-17C0DA2B5CF7}"/>
              </a:ext>
            </a:extLst>
          </p:cNvPr>
          <p:cNvCxnSpPr>
            <a:cxnSpLocks/>
            <a:stCxn id="324" idx="2"/>
            <a:endCxn id="683" idx="3"/>
          </p:cNvCxnSpPr>
          <p:nvPr/>
        </p:nvCxnSpPr>
        <p:spPr>
          <a:xfrm rot="5400000" flipH="1" flipV="1">
            <a:off x="5359491" y="2525790"/>
            <a:ext cx="5069032" cy="3280246"/>
          </a:xfrm>
          <a:prstGeom prst="bentConnector4">
            <a:avLst>
              <a:gd name="adj1" fmla="val -1770"/>
              <a:gd name="adj2" fmla="val 121101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ector angular 217">
            <a:extLst>
              <a:ext uri="{FF2B5EF4-FFF2-40B4-BE49-F238E27FC236}">
                <a16:creationId xmlns:a16="http://schemas.microsoft.com/office/drawing/2014/main" id="{260617D9-1D2B-4EAE-88E1-93F8E6149325}"/>
              </a:ext>
            </a:extLst>
          </p:cNvPr>
          <p:cNvCxnSpPr>
            <a:cxnSpLocks/>
            <a:stCxn id="219" idx="3"/>
            <a:endCxn id="676" idx="1"/>
          </p:cNvCxnSpPr>
          <p:nvPr/>
        </p:nvCxnSpPr>
        <p:spPr>
          <a:xfrm flipV="1">
            <a:off x="2058259" y="1993298"/>
            <a:ext cx="2153741" cy="400702"/>
          </a:xfrm>
          <a:prstGeom prst="bentConnector3">
            <a:avLst>
              <a:gd name="adj1" fmla="val 15018"/>
            </a:avLst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ector angular 217">
            <a:extLst>
              <a:ext uri="{FF2B5EF4-FFF2-40B4-BE49-F238E27FC236}">
                <a16:creationId xmlns:a16="http://schemas.microsoft.com/office/drawing/2014/main" id="{AE8587BD-546D-4110-B895-CE8A78F7FD37}"/>
              </a:ext>
            </a:extLst>
          </p:cNvPr>
          <p:cNvCxnSpPr>
            <a:cxnSpLocks/>
            <a:stCxn id="119" idx="3"/>
            <a:endCxn id="676" idx="1"/>
          </p:cNvCxnSpPr>
          <p:nvPr/>
        </p:nvCxnSpPr>
        <p:spPr>
          <a:xfrm flipV="1">
            <a:off x="2058259" y="1993298"/>
            <a:ext cx="2153741" cy="688702"/>
          </a:xfrm>
          <a:prstGeom prst="bentConnector3">
            <a:avLst>
              <a:gd name="adj1" fmla="val 15041"/>
            </a:avLst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xão em ângulos retos 128">
            <a:extLst>
              <a:ext uri="{FF2B5EF4-FFF2-40B4-BE49-F238E27FC236}">
                <a16:creationId xmlns:a16="http://schemas.microsoft.com/office/drawing/2014/main" id="{709E1181-76C1-4286-9C81-1EE89E6AB9FE}"/>
              </a:ext>
            </a:extLst>
          </p:cNvPr>
          <p:cNvCxnSpPr>
            <a:cxnSpLocks/>
            <a:stCxn id="610" idx="3"/>
            <a:endCxn id="481" idx="3"/>
          </p:cNvCxnSpPr>
          <p:nvPr/>
        </p:nvCxnSpPr>
        <p:spPr>
          <a:xfrm>
            <a:off x="9534130" y="1330051"/>
            <a:ext cx="12700" cy="1118807"/>
          </a:xfrm>
          <a:prstGeom prst="bentConnector3">
            <a:avLst>
              <a:gd name="adj1" fmla="val 28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" name="Graphic 162" descr="Upload with solid fill">
            <a:extLst>
              <a:ext uri="{FF2B5EF4-FFF2-40B4-BE49-F238E27FC236}">
                <a16:creationId xmlns:a16="http://schemas.microsoft.com/office/drawing/2014/main" id="{93D20D3D-C05F-45F0-9D74-204403F6895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8000" y="6432849"/>
            <a:ext cx="216000" cy="216000"/>
          </a:xfrm>
          <a:prstGeom prst="rect">
            <a:avLst/>
          </a:prstGeom>
        </p:spPr>
      </p:pic>
      <p:pic>
        <p:nvPicPr>
          <p:cNvPr id="164" name="Graphic 163" descr="Upload with solid fill">
            <a:extLst>
              <a:ext uri="{FF2B5EF4-FFF2-40B4-BE49-F238E27FC236}">
                <a16:creationId xmlns:a16="http://schemas.microsoft.com/office/drawing/2014/main" id="{3AFDC53E-40F8-42FB-80FF-D79BC5F6FBE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8000" y="6101587"/>
            <a:ext cx="216000" cy="216000"/>
          </a:xfrm>
          <a:prstGeom prst="rect">
            <a:avLst/>
          </a:prstGeom>
        </p:spPr>
      </p:pic>
      <p:pic>
        <p:nvPicPr>
          <p:cNvPr id="165" name="Graphic 164" descr="Upload with solid fill">
            <a:extLst>
              <a:ext uri="{FF2B5EF4-FFF2-40B4-BE49-F238E27FC236}">
                <a16:creationId xmlns:a16="http://schemas.microsoft.com/office/drawing/2014/main" id="{ABB75689-D5EB-4F70-98FD-83F6CCD39F7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8000" y="5838187"/>
            <a:ext cx="216000" cy="216000"/>
          </a:xfrm>
          <a:prstGeom prst="rect">
            <a:avLst/>
          </a:prstGeom>
        </p:spPr>
      </p:pic>
      <p:pic>
        <p:nvPicPr>
          <p:cNvPr id="166" name="Graphic 165" descr="Upload with solid fill">
            <a:extLst>
              <a:ext uri="{FF2B5EF4-FFF2-40B4-BE49-F238E27FC236}">
                <a16:creationId xmlns:a16="http://schemas.microsoft.com/office/drawing/2014/main" id="{AE5FB0A4-9F25-4406-B5DD-763350F9CB1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8000" y="5573259"/>
            <a:ext cx="216000" cy="216000"/>
          </a:xfrm>
          <a:prstGeom prst="rect">
            <a:avLst/>
          </a:prstGeom>
        </p:spPr>
      </p:pic>
      <p:pic>
        <p:nvPicPr>
          <p:cNvPr id="168" name="Graphic 167" descr="Upload with solid fill">
            <a:extLst>
              <a:ext uri="{FF2B5EF4-FFF2-40B4-BE49-F238E27FC236}">
                <a16:creationId xmlns:a16="http://schemas.microsoft.com/office/drawing/2014/main" id="{6F860CD2-560F-4E59-9900-790CB99B43D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8000" y="5310028"/>
            <a:ext cx="216000" cy="216000"/>
          </a:xfrm>
          <a:prstGeom prst="rect">
            <a:avLst/>
          </a:prstGeom>
        </p:spPr>
      </p:pic>
      <p:pic>
        <p:nvPicPr>
          <p:cNvPr id="169" name="Graphic 168" descr="Upload with solid fill">
            <a:extLst>
              <a:ext uri="{FF2B5EF4-FFF2-40B4-BE49-F238E27FC236}">
                <a16:creationId xmlns:a16="http://schemas.microsoft.com/office/drawing/2014/main" id="{ED436B8D-DE0C-4CB4-B9D0-DB35607721D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2710" y="3477627"/>
            <a:ext cx="216000" cy="216000"/>
          </a:xfrm>
          <a:prstGeom prst="rect">
            <a:avLst/>
          </a:prstGeom>
        </p:spPr>
      </p:pic>
      <p:pic>
        <p:nvPicPr>
          <p:cNvPr id="170" name="Graphic 169" descr="Tools with solid fill">
            <a:extLst>
              <a:ext uri="{FF2B5EF4-FFF2-40B4-BE49-F238E27FC236}">
                <a16:creationId xmlns:a16="http://schemas.microsoft.com/office/drawing/2014/main" id="{1109C649-AE8B-45FF-8C28-DBFCF26C842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01200" y="3989067"/>
            <a:ext cx="180000" cy="180000"/>
          </a:xfrm>
          <a:prstGeom prst="rect">
            <a:avLst/>
          </a:prstGeom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82E5A271-FA57-435D-A3CD-C851A6E2C6AE}"/>
              </a:ext>
            </a:extLst>
          </p:cNvPr>
          <p:cNvSpPr txBox="1"/>
          <p:nvPr/>
        </p:nvSpPr>
        <p:spPr>
          <a:xfrm>
            <a:off x="10671068" y="3345528"/>
            <a:ext cx="144642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Ficheiro de dados carregado pelo </a:t>
            </a:r>
            <a:r>
              <a:rPr lang="pt-PT" sz="900" dirty="0" err="1"/>
              <a:t>Front</a:t>
            </a:r>
            <a:r>
              <a:rPr lang="pt-PT" sz="900" dirty="0"/>
              <a:t> do Data </a:t>
            </a:r>
            <a:r>
              <a:rPr lang="pt-PT" sz="900" dirty="0" err="1"/>
              <a:t>Lake</a:t>
            </a:r>
            <a:r>
              <a:rPr lang="pt-PT" sz="900" dirty="0"/>
              <a:t>.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2CDE684-F39E-4134-AE60-3E2B3E2D47B8}"/>
              </a:ext>
            </a:extLst>
          </p:cNvPr>
          <p:cNvSpPr txBox="1"/>
          <p:nvPr/>
        </p:nvSpPr>
        <p:spPr>
          <a:xfrm>
            <a:off x="10671068" y="3845902"/>
            <a:ext cx="144642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Parametrização efetuada no </a:t>
            </a:r>
            <a:r>
              <a:rPr lang="pt-PT" sz="900" dirty="0" err="1"/>
              <a:t>Front</a:t>
            </a:r>
            <a:r>
              <a:rPr lang="pt-PT" sz="900" dirty="0"/>
              <a:t> do Data </a:t>
            </a:r>
            <a:r>
              <a:rPr lang="pt-PT" sz="900" dirty="0" err="1"/>
              <a:t>Lake</a:t>
            </a:r>
            <a:r>
              <a:rPr lang="pt-PT" sz="900" dirty="0"/>
              <a:t>.</a:t>
            </a:r>
          </a:p>
        </p:txBody>
      </p:sp>
      <p:sp>
        <p:nvSpPr>
          <p:cNvPr id="177" name="CuadroTexto 86">
            <a:extLst>
              <a:ext uri="{FF2B5EF4-FFF2-40B4-BE49-F238E27FC236}">
                <a16:creationId xmlns:a16="http://schemas.microsoft.com/office/drawing/2014/main" id="{53722FD3-C589-4BC4-A640-3E4270627235}"/>
              </a:ext>
            </a:extLst>
          </p:cNvPr>
          <p:cNvSpPr txBox="1"/>
          <p:nvPr/>
        </p:nvSpPr>
        <p:spPr>
          <a:xfrm>
            <a:off x="4212000" y="3149666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0" bIns="0" rtlCol="0" anchor="ctr" anchorCtr="0">
            <a:noAutofit/>
          </a:bodyPr>
          <a:lstStyle/>
          <a:p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ept01_contas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78" name="CuadroTexto 86">
            <a:extLst>
              <a:ext uri="{FF2B5EF4-FFF2-40B4-BE49-F238E27FC236}">
                <a16:creationId xmlns:a16="http://schemas.microsoft.com/office/drawing/2014/main" id="{B7A960D4-862E-48F1-910A-D28A6AD496AB}"/>
              </a:ext>
            </a:extLst>
          </p:cNvPr>
          <p:cNvSpPr txBox="1"/>
          <p:nvPr/>
        </p:nvSpPr>
        <p:spPr>
          <a:xfrm>
            <a:off x="4212000" y="3386029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0" bIns="0" rtlCol="0" anchor="ctr" anchorCtr="0">
            <a:noAutofit/>
          </a:bodyPr>
          <a:lstStyle/>
          <a:p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ept04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79" name="CuadroTexto 86">
            <a:extLst>
              <a:ext uri="{FF2B5EF4-FFF2-40B4-BE49-F238E27FC236}">
                <a16:creationId xmlns:a16="http://schemas.microsoft.com/office/drawing/2014/main" id="{D0A999F1-9D15-4462-B1FB-256A1C3A3CFF}"/>
              </a:ext>
            </a:extLst>
          </p:cNvPr>
          <p:cNvSpPr txBox="1"/>
          <p:nvPr/>
        </p:nvSpPr>
        <p:spPr>
          <a:xfrm>
            <a:off x="4212000" y="3622136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0" bIns="0" rtlCol="0" anchor="ctr" anchorCtr="0">
            <a:noAutofit/>
          </a:bodyPr>
          <a:lstStyle/>
          <a:p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dct77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80" name="CuadroTexto 86">
            <a:extLst>
              <a:ext uri="{FF2B5EF4-FFF2-40B4-BE49-F238E27FC236}">
                <a16:creationId xmlns:a16="http://schemas.microsoft.com/office/drawing/2014/main" id="{2A989312-A9AA-4018-B6CD-DC8F93D6852A}"/>
              </a:ext>
            </a:extLst>
          </p:cNvPr>
          <p:cNvSpPr txBox="1"/>
          <p:nvPr/>
        </p:nvSpPr>
        <p:spPr>
          <a:xfrm>
            <a:off x="4212000" y="3856717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0" bIns="0" rtlCol="0" anchor="ctr" anchorCtr="0">
            <a:noAutofit/>
          </a:bodyPr>
          <a:lstStyle/>
          <a:p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dwt460_*_</a:t>
            </a:r>
            <a:r>
              <a:rPr lang="pt-PT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dp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95" name="Conector angular 217">
            <a:extLst>
              <a:ext uri="{FF2B5EF4-FFF2-40B4-BE49-F238E27FC236}">
                <a16:creationId xmlns:a16="http://schemas.microsoft.com/office/drawing/2014/main" id="{1EB6CB2B-62BE-47CB-A886-8B937E75BEE9}"/>
              </a:ext>
            </a:extLst>
          </p:cNvPr>
          <p:cNvCxnSpPr>
            <a:cxnSpLocks/>
            <a:stCxn id="109" idx="3"/>
            <a:endCxn id="177" idx="1"/>
          </p:cNvCxnSpPr>
          <p:nvPr/>
        </p:nvCxnSpPr>
        <p:spPr>
          <a:xfrm flipV="1">
            <a:off x="2058259" y="3257666"/>
            <a:ext cx="2153741" cy="334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angular 217">
            <a:extLst>
              <a:ext uri="{FF2B5EF4-FFF2-40B4-BE49-F238E27FC236}">
                <a16:creationId xmlns:a16="http://schemas.microsoft.com/office/drawing/2014/main" id="{FBE88A0C-6CFE-4C49-8B3F-B63F1F580124}"/>
              </a:ext>
            </a:extLst>
          </p:cNvPr>
          <p:cNvCxnSpPr>
            <a:cxnSpLocks/>
            <a:stCxn id="109" idx="3"/>
            <a:endCxn id="178" idx="1"/>
          </p:cNvCxnSpPr>
          <p:nvPr/>
        </p:nvCxnSpPr>
        <p:spPr>
          <a:xfrm>
            <a:off x="2058259" y="3258000"/>
            <a:ext cx="2153741" cy="236029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ector angular 217">
            <a:extLst>
              <a:ext uri="{FF2B5EF4-FFF2-40B4-BE49-F238E27FC236}">
                <a16:creationId xmlns:a16="http://schemas.microsoft.com/office/drawing/2014/main" id="{E6CA322B-0C34-4909-8C43-F3BA2E011820}"/>
              </a:ext>
            </a:extLst>
          </p:cNvPr>
          <p:cNvCxnSpPr>
            <a:cxnSpLocks/>
            <a:stCxn id="452" idx="3"/>
            <a:endCxn id="179" idx="1"/>
          </p:cNvCxnSpPr>
          <p:nvPr/>
        </p:nvCxnSpPr>
        <p:spPr>
          <a:xfrm>
            <a:off x="2063956" y="3546000"/>
            <a:ext cx="2148044" cy="184136"/>
          </a:xfrm>
          <a:prstGeom prst="bentConnector3">
            <a:avLst>
              <a:gd name="adj1" fmla="val 27816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angular 217">
            <a:extLst>
              <a:ext uri="{FF2B5EF4-FFF2-40B4-BE49-F238E27FC236}">
                <a16:creationId xmlns:a16="http://schemas.microsoft.com/office/drawing/2014/main" id="{5DE293DA-3F70-45C3-B07C-2C355DE510E0}"/>
              </a:ext>
            </a:extLst>
          </p:cNvPr>
          <p:cNvCxnSpPr>
            <a:cxnSpLocks/>
            <a:stCxn id="452" idx="3"/>
            <a:endCxn id="180" idx="1"/>
          </p:cNvCxnSpPr>
          <p:nvPr/>
        </p:nvCxnSpPr>
        <p:spPr>
          <a:xfrm>
            <a:off x="2063956" y="3546000"/>
            <a:ext cx="2148044" cy="418717"/>
          </a:xfrm>
          <a:prstGeom prst="bentConnector3">
            <a:avLst>
              <a:gd name="adj1" fmla="val 27816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exão em ângulos retos 128">
            <a:extLst>
              <a:ext uri="{FF2B5EF4-FFF2-40B4-BE49-F238E27FC236}">
                <a16:creationId xmlns:a16="http://schemas.microsoft.com/office/drawing/2014/main" id="{105038AD-83A9-4068-BAA5-156AACD04067}"/>
              </a:ext>
            </a:extLst>
          </p:cNvPr>
          <p:cNvCxnSpPr>
            <a:cxnSpLocks/>
            <a:stCxn id="180" idx="3"/>
            <a:endCxn id="262" idx="3"/>
          </p:cNvCxnSpPr>
          <p:nvPr/>
        </p:nvCxnSpPr>
        <p:spPr>
          <a:xfrm flipV="1">
            <a:off x="5148000" y="3357780"/>
            <a:ext cx="4166657" cy="606937"/>
          </a:xfrm>
          <a:prstGeom prst="bentConnector3">
            <a:avLst>
              <a:gd name="adj1" fmla="val 104114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exão em ângulos retos 128">
            <a:extLst>
              <a:ext uri="{FF2B5EF4-FFF2-40B4-BE49-F238E27FC236}">
                <a16:creationId xmlns:a16="http://schemas.microsoft.com/office/drawing/2014/main" id="{617291F5-8E28-4771-B150-3AF687248F61}"/>
              </a:ext>
            </a:extLst>
          </p:cNvPr>
          <p:cNvCxnSpPr>
            <a:cxnSpLocks/>
            <a:stCxn id="177" idx="3"/>
            <a:endCxn id="220" idx="1"/>
          </p:cNvCxnSpPr>
          <p:nvPr/>
        </p:nvCxnSpPr>
        <p:spPr>
          <a:xfrm>
            <a:off x="5148000" y="3257666"/>
            <a:ext cx="2906657" cy="317374"/>
          </a:xfrm>
          <a:prstGeom prst="bentConnector3">
            <a:avLst>
              <a:gd name="adj1" fmla="val 3071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exão em ângulos retos 128">
            <a:extLst>
              <a:ext uri="{FF2B5EF4-FFF2-40B4-BE49-F238E27FC236}">
                <a16:creationId xmlns:a16="http://schemas.microsoft.com/office/drawing/2014/main" id="{392BC197-D0BD-48CA-9BF8-0EEC21DA9BDD}"/>
              </a:ext>
            </a:extLst>
          </p:cNvPr>
          <p:cNvCxnSpPr>
            <a:cxnSpLocks/>
            <a:stCxn id="178" idx="3"/>
            <a:endCxn id="220" idx="1"/>
          </p:cNvCxnSpPr>
          <p:nvPr/>
        </p:nvCxnSpPr>
        <p:spPr>
          <a:xfrm>
            <a:off x="5148000" y="3494029"/>
            <a:ext cx="2906657" cy="81011"/>
          </a:xfrm>
          <a:prstGeom prst="bentConnector3">
            <a:avLst>
              <a:gd name="adj1" fmla="val 3058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exão em ângulos retos 128">
            <a:extLst>
              <a:ext uri="{FF2B5EF4-FFF2-40B4-BE49-F238E27FC236}">
                <a16:creationId xmlns:a16="http://schemas.microsoft.com/office/drawing/2014/main" id="{653E2A38-A1DD-4697-89DC-70E425E8C347}"/>
              </a:ext>
            </a:extLst>
          </p:cNvPr>
          <p:cNvCxnSpPr>
            <a:cxnSpLocks/>
            <a:stCxn id="179" idx="3"/>
            <a:endCxn id="220" idx="1"/>
          </p:cNvCxnSpPr>
          <p:nvPr/>
        </p:nvCxnSpPr>
        <p:spPr>
          <a:xfrm flipV="1">
            <a:off x="5148000" y="3575040"/>
            <a:ext cx="2906657" cy="155096"/>
          </a:xfrm>
          <a:prstGeom prst="bentConnector3">
            <a:avLst>
              <a:gd name="adj1" fmla="val 3071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12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 animBg="1"/>
      <p:bldP spid="193" grpId="0" animBg="1"/>
      <p:bldP spid="600" grpId="0" animBg="1"/>
      <p:bldP spid="509" grpId="0" animBg="1"/>
      <p:bldP spid="306" grpId="0" animBg="1"/>
      <p:bldP spid="73" grpId="0" animBg="1"/>
      <p:bldP spid="344" grpId="0"/>
      <p:bldP spid="262" grpId="0" animBg="1"/>
      <p:bldP spid="220" grpId="0" animBg="1"/>
      <p:bldP spid="230" grpId="0" animBg="1"/>
      <p:bldP spid="235" grpId="0" animBg="1"/>
      <p:bldP spid="267" grpId="0" animBg="1"/>
      <p:bldP spid="278" grpId="0" animBg="1"/>
      <p:bldP spid="282" grpId="0" animBg="1"/>
      <p:bldP spid="304" grpId="0" animBg="1"/>
      <p:bldP spid="325" grpId="0" animBg="1"/>
      <p:bldP spid="338" grpId="0" animBg="1"/>
      <p:bldP spid="354" grpId="0" animBg="1"/>
      <p:bldP spid="378" grpId="0" animBg="1"/>
      <p:bldP spid="398" grpId="0" animBg="1"/>
      <p:bldP spid="622" grpId="0" animBg="1"/>
      <p:bldP spid="631" grpId="0" animBg="1"/>
      <p:bldP spid="6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ángulo 302"/>
          <p:cNvSpPr/>
          <p:nvPr/>
        </p:nvSpPr>
        <p:spPr>
          <a:xfrm>
            <a:off x="3928458" y="792963"/>
            <a:ext cx="6307742" cy="6060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193" name="Rectángulo 302">
            <a:extLst>
              <a:ext uri="{FF2B5EF4-FFF2-40B4-BE49-F238E27FC236}">
                <a16:creationId xmlns:a16="http://schemas.microsoft.com/office/drawing/2014/main" id="{F911961E-CA0E-46BB-91ED-01550769FC11}"/>
              </a:ext>
            </a:extLst>
          </p:cNvPr>
          <p:cNvSpPr/>
          <p:nvPr/>
        </p:nvSpPr>
        <p:spPr>
          <a:xfrm>
            <a:off x="4051263" y="2688010"/>
            <a:ext cx="6013488" cy="414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600" name="Rectángulo 302">
            <a:extLst>
              <a:ext uri="{FF2B5EF4-FFF2-40B4-BE49-F238E27FC236}">
                <a16:creationId xmlns:a16="http://schemas.microsoft.com/office/drawing/2014/main" id="{4B63AA00-E4E3-4E93-A2EE-400292351E05}"/>
              </a:ext>
            </a:extLst>
          </p:cNvPr>
          <p:cNvSpPr/>
          <p:nvPr/>
        </p:nvSpPr>
        <p:spPr>
          <a:xfrm>
            <a:off x="7128958" y="1338043"/>
            <a:ext cx="2935793" cy="134351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35DF0D3B-FBEF-430B-A90C-A83FED23E4C5}"/>
              </a:ext>
            </a:extLst>
          </p:cNvPr>
          <p:cNvCxnSpPr/>
          <p:nvPr/>
        </p:nvCxnSpPr>
        <p:spPr>
          <a:xfrm>
            <a:off x="7130147" y="2685027"/>
            <a:ext cx="2934000" cy="0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Rectángulo 302">
            <a:extLst>
              <a:ext uri="{FF2B5EF4-FFF2-40B4-BE49-F238E27FC236}">
                <a16:creationId xmlns:a16="http://schemas.microsoft.com/office/drawing/2014/main" id="{9D222B56-2565-4A9D-BA33-1355A7CD25D0}"/>
              </a:ext>
            </a:extLst>
          </p:cNvPr>
          <p:cNvSpPr/>
          <p:nvPr/>
        </p:nvSpPr>
        <p:spPr>
          <a:xfrm>
            <a:off x="4051262" y="1836000"/>
            <a:ext cx="3016288" cy="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pic>
        <p:nvPicPr>
          <p:cNvPr id="402" name="Graphic 401" descr="Saw blade with solid fill">
            <a:extLst>
              <a:ext uri="{FF2B5EF4-FFF2-40B4-BE49-F238E27FC236}">
                <a16:creationId xmlns:a16="http://schemas.microsoft.com/office/drawing/2014/main" id="{33EFCD4D-A6AD-42EC-9774-ED6C4B47A2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8226" y="4331827"/>
            <a:ext cx="914400" cy="914400"/>
          </a:xfrm>
          <a:prstGeom prst="rect">
            <a:avLst/>
          </a:prstGeom>
        </p:spPr>
      </p:pic>
      <p:sp>
        <p:nvSpPr>
          <p:cNvPr id="322" name="Rectángulo 68">
            <a:extLst>
              <a:ext uri="{FF2B5EF4-FFF2-40B4-BE49-F238E27FC236}">
                <a16:creationId xmlns:a16="http://schemas.microsoft.com/office/drawing/2014/main" id="{AB797238-0DFD-4439-A38A-5557CA6A063B}"/>
              </a:ext>
            </a:extLst>
          </p:cNvPr>
          <p:cNvSpPr/>
          <p:nvPr/>
        </p:nvSpPr>
        <p:spPr>
          <a:xfrm>
            <a:off x="600708" y="5467101"/>
            <a:ext cx="1610733" cy="13411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69" name="Rectángulo 68"/>
          <p:cNvSpPr/>
          <p:nvPr/>
        </p:nvSpPr>
        <p:spPr>
          <a:xfrm>
            <a:off x="601173" y="792963"/>
            <a:ext cx="1570528" cy="4158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Diapositiva de think-cell" r:id="rId7" imgW="444" imgH="446" progId="TCLayout.ActiveDocument.1">
                  <p:embed/>
                </p:oleObj>
              </mc:Choice>
              <mc:Fallback>
                <p:oleObj name="Diapositiva de think-cell" r:id="rId7" imgW="444" imgH="446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" name="Rectángulo 305"/>
          <p:cNvSpPr/>
          <p:nvPr/>
        </p:nvSpPr>
        <p:spPr>
          <a:xfrm>
            <a:off x="2569317" y="510376"/>
            <a:ext cx="7740000" cy="2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Repositórios e Motores de SI</a:t>
            </a:r>
          </a:p>
        </p:txBody>
      </p:sp>
      <p:sp>
        <p:nvSpPr>
          <p:cNvPr id="70" name="Rectángulo 69"/>
          <p:cNvSpPr/>
          <p:nvPr/>
        </p:nvSpPr>
        <p:spPr>
          <a:xfrm>
            <a:off x="565979" y="503992"/>
            <a:ext cx="1682025" cy="2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Sistemas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Operacionais</a:t>
            </a:r>
            <a:endParaRPr lang="en-GB" sz="1200" b="1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73" name="Rectángulo 72"/>
          <p:cNvSpPr/>
          <p:nvPr/>
        </p:nvSpPr>
        <p:spPr>
          <a:xfrm>
            <a:off x="7845760" y="1048103"/>
            <a:ext cx="176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Output Motor</a:t>
            </a:r>
          </a:p>
        </p:txBody>
      </p:sp>
      <p:sp>
        <p:nvSpPr>
          <p:cNvPr id="159" name="Rectangle 18"/>
          <p:cNvSpPr>
            <a:spLocks noChangeArrowheads="1"/>
          </p:cNvSpPr>
          <p:nvPr/>
        </p:nvSpPr>
        <p:spPr bwMode="auto">
          <a:xfrm>
            <a:off x="695067" y="1151992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Empréstimos CH</a:t>
            </a:r>
          </a:p>
        </p:txBody>
      </p:sp>
      <p:sp>
        <p:nvSpPr>
          <p:cNvPr id="161" name="Rectangle 32"/>
          <p:cNvSpPr>
            <a:spLocks noChangeArrowheads="1"/>
          </p:cNvSpPr>
          <p:nvPr/>
        </p:nvSpPr>
        <p:spPr bwMode="auto">
          <a:xfrm>
            <a:off x="695067" y="1440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Confirming</a:t>
            </a:r>
          </a:p>
        </p:txBody>
      </p:sp>
      <p:sp>
        <p:nvSpPr>
          <p:cNvPr id="147" name="Rectangle 30"/>
          <p:cNvSpPr>
            <a:spLocks noChangeArrowheads="1"/>
          </p:cNvSpPr>
          <p:nvPr/>
        </p:nvSpPr>
        <p:spPr bwMode="auto">
          <a:xfrm>
            <a:off x="695067" y="4032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Clientes</a:t>
            </a:r>
          </a:p>
        </p:txBody>
      </p:sp>
      <p:sp>
        <p:nvSpPr>
          <p:cNvPr id="219" name="Rectangle 18"/>
          <p:cNvSpPr>
            <a:spLocks noChangeArrowheads="1"/>
          </p:cNvSpPr>
          <p:nvPr/>
        </p:nvSpPr>
        <p:spPr bwMode="auto">
          <a:xfrm>
            <a:off x="695067" y="3744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Leasing</a:t>
            </a:r>
          </a:p>
        </p:txBody>
      </p:sp>
      <p:sp>
        <p:nvSpPr>
          <p:cNvPr id="128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926" y="91414"/>
            <a:ext cx="10008000" cy="304800"/>
          </a:xfrm>
        </p:spPr>
        <p:txBody>
          <a:bodyPr/>
          <a:lstStyle/>
          <a:p>
            <a:r>
              <a:rPr lang="pt-PT" sz="1800" b="1" dirty="0">
                <a:latin typeface="+mj-lt"/>
              </a:rPr>
              <a:t>Arquitetura de Sistemas e Rastreabilidade - Motor de Contratos/Saldos Diário ALM</a:t>
            </a:r>
            <a:endParaRPr lang="pt-PT" sz="1800" dirty="0">
              <a:latin typeface="+mj-lt"/>
            </a:endParaRPr>
          </a:p>
        </p:txBody>
      </p:sp>
      <p:sp>
        <p:nvSpPr>
          <p:cNvPr id="106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3168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Empréstimos</a:t>
            </a:r>
          </a:p>
        </p:txBody>
      </p:sp>
      <p:sp>
        <p:nvSpPr>
          <p:cNvPr id="109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3456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Contas</a:t>
            </a:r>
          </a:p>
        </p:txBody>
      </p:sp>
      <p:sp>
        <p:nvSpPr>
          <p:cNvPr id="110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1728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Cartões</a:t>
            </a:r>
          </a:p>
        </p:txBody>
      </p:sp>
      <p:sp>
        <p:nvSpPr>
          <p:cNvPr id="112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69" y="4655504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Sigom</a:t>
            </a:r>
          </a:p>
        </p:txBody>
      </p: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967C1D61-9E9D-4ADE-927F-1DED7DFA498E}"/>
              </a:ext>
            </a:extLst>
          </p:cNvPr>
          <p:cNvGrpSpPr/>
          <p:nvPr/>
        </p:nvGrpSpPr>
        <p:grpSpPr>
          <a:xfrm>
            <a:off x="3087453" y="1288799"/>
            <a:ext cx="577911" cy="389759"/>
            <a:chOff x="3049353" y="1004826"/>
            <a:chExt cx="577911" cy="389759"/>
          </a:xfrm>
        </p:grpSpPr>
        <p:grpSp>
          <p:nvGrpSpPr>
            <p:cNvPr id="133" name="Grupo 83">
              <a:extLst>
                <a:ext uri="{FF2B5EF4-FFF2-40B4-BE49-F238E27FC236}">
                  <a16:creationId xmlns:a16="http://schemas.microsoft.com/office/drawing/2014/main" id="{73DC59CC-6D93-47A5-A21E-6252B3DB8685}"/>
                </a:ext>
              </a:extLst>
            </p:cNvPr>
            <p:cNvGrpSpPr/>
            <p:nvPr/>
          </p:nvGrpSpPr>
          <p:grpSpPr>
            <a:xfrm>
              <a:off x="3049353" y="1178585"/>
              <a:ext cx="577911" cy="216000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151" name="Disco magnético 89">
                <a:extLst>
                  <a:ext uri="{FF2B5EF4-FFF2-40B4-BE49-F238E27FC236}">
                    <a16:creationId xmlns:a16="http://schemas.microsoft.com/office/drawing/2014/main" id="{D610D8EF-F2A6-4C16-9580-47B11E06A6E3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55" name="Disco magnético 91">
                <a:extLst>
                  <a:ext uri="{FF2B5EF4-FFF2-40B4-BE49-F238E27FC236}">
                    <a16:creationId xmlns:a16="http://schemas.microsoft.com/office/drawing/2014/main" id="{E8389DEA-F98E-4D34-92D3-F2E59B696DE3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60" name="Disco magnético 92">
                <a:extLst>
                  <a:ext uri="{FF2B5EF4-FFF2-40B4-BE49-F238E27FC236}">
                    <a16:creationId xmlns:a16="http://schemas.microsoft.com/office/drawing/2014/main" id="{FE49225C-E784-4CE9-BD07-65D5F5925909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49" name="CuadroTexto 86">
              <a:extLst>
                <a:ext uri="{FF2B5EF4-FFF2-40B4-BE49-F238E27FC236}">
                  <a16:creationId xmlns:a16="http://schemas.microsoft.com/office/drawing/2014/main" id="{A326B3BF-BFC3-403E-B696-C9BACEFAF78E}"/>
                </a:ext>
              </a:extLst>
            </p:cNvPr>
            <p:cNvSpPr txBox="1"/>
            <p:nvPr/>
          </p:nvSpPr>
          <p:spPr>
            <a:xfrm>
              <a:off x="3054915" y="1004826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MIS</a:t>
              </a:r>
            </a:p>
          </p:txBody>
        </p:sp>
      </p:grpSp>
      <p:sp>
        <p:nvSpPr>
          <p:cNvPr id="233" name="CuadroTexto 86">
            <a:extLst>
              <a:ext uri="{FF2B5EF4-FFF2-40B4-BE49-F238E27FC236}">
                <a16:creationId xmlns:a16="http://schemas.microsoft.com/office/drawing/2014/main" id="{A9EAC402-F68D-4899-B549-5F64F61232C6}"/>
              </a:ext>
            </a:extLst>
          </p:cNvPr>
          <p:cNvSpPr txBox="1"/>
          <p:nvPr/>
        </p:nvSpPr>
        <p:spPr>
          <a:xfrm>
            <a:off x="4212000" y="2894794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miyrn063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344" name="CuadroTexto 86">
            <a:extLst>
              <a:ext uri="{FF2B5EF4-FFF2-40B4-BE49-F238E27FC236}">
                <a16:creationId xmlns:a16="http://schemas.microsoft.com/office/drawing/2014/main" id="{B0F22338-2836-485E-971F-3DFFCD39CEB0}"/>
              </a:ext>
            </a:extLst>
          </p:cNvPr>
          <p:cNvSpPr txBox="1"/>
          <p:nvPr/>
        </p:nvSpPr>
        <p:spPr>
          <a:xfrm>
            <a:off x="2171425" y="2900217"/>
            <a:ext cx="856736" cy="164848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s-ES" sz="105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Ficheiros</a:t>
            </a:r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 GEY</a:t>
            </a:r>
          </a:p>
        </p:txBody>
      </p:sp>
      <p:sp>
        <p:nvSpPr>
          <p:cNvPr id="348" name="Rectangle 32">
            <a:extLst>
              <a:ext uri="{FF2B5EF4-FFF2-40B4-BE49-F238E27FC236}">
                <a16:creationId xmlns:a16="http://schemas.microsoft.com/office/drawing/2014/main" id="{BFC0B3F2-8F7B-4A66-9D50-FB282639A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2016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GPs/CSs</a:t>
            </a:r>
          </a:p>
        </p:txBody>
      </p:sp>
      <p:sp>
        <p:nvSpPr>
          <p:cNvPr id="142" name="CuadroTexto 86">
            <a:extLst>
              <a:ext uri="{FF2B5EF4-FFF2-40B4-BE49-F238E27FC236}">
                <a16:creationId xmlns:a16="http://schemas.microsoft.com/office/drawing/2014/main" id="{08283CAA-7CAF-4146-BF36-A0055DE7CA47}"/>
              </a:ext>
            </a:extLst>
          </p:cNvPr>
          <p:cNvSpPr txBox="1"/>
          <p:nvPr/>
        </p:nvSpPr>
        <p:spPr>
          <a:xfrm>
            <a:off x="3893156" y="795704"/>
            <a:ext cx="970263" cy="26866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Datalake</a:t>
            </a:r>
          </a:p>
        </p:txBody>
      </p:sp>
      <p:sp>
        <p:nvSpPr>
          <p:cNvPr id="119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2880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Factoring</a:t>
            </a:r>
          </a:p>
        </p:txBody>
      </p:sp>
      <p:cxnSp>
        <p:nvCxnSpPr>
          <p:cNvPr id="157" name="Conector angular 217">
            <a:extLst>
              <a:ext uri="{FF2B5EF4-FFF2-40B4-BE49-F238E27FC236}">
                <a16:creationId xmlns:a16="http://schemas.microsoft.com/office/drawing/2014/main" id="{ECCC3A0A-8A17-4F76-B17C-589236DE142D}"/>
              </a:ext>
            </a:extLst>
          </p:cNvPr>
          <p:cNvCxnSpPr>
            <a:cxnSpLocks/>
            <a:stCxn id="69" idx="3"/>
            <a:endCxn id="155" idx="2"/>
          </p:cNvCxnSpPr>
          <p:nvPr/>
        </p:nvCxnSpPr>
        <p:spPr>
          <a:xfrm flipV="1">
            <a:off x="2171701" y="1570558"/>
            <a:ext cx="915752" cy="1301571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angular 217">
            <a:extLst>
              <a:ext uri="{FF2B5EF4-FFF2-40B4-BE49-F238E27FC236}">
                <a16:creationId xmlns:a16="http://schemas.microsoft.com/office/drawing/2014/main" id="{67E74C72-DF26-4C79-8A60-0583F36CD76E}"/>
              </a:ext>
            </a:extLst>
          </p:cNvPr>
          <p:cNvCxnSpPr>
            <a:cxnSpLocks/>
            <a:stCxn id="69" idx="3"/>
            <a:endCxn id="233" idx="1"/>
          </p:cNvCxnSpPr>
          <p:nvPr/>
        </p:nvCxnSpPr>
        <p:spPr>
          <a:xfrm>
            <a:off x="2171701" y="2872129"/>
            <a:ext cx="2040299" cy="130665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69" y="2304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Efeitos</a:t>
            </a:r>
          </a:p>
        </p:txBody>
      </p:sp>
      <p:sp>
        <p:nvSpPr>
          <p:cNvPr id="452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764" y="259200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Títulos</a:t>
            </a:r>
          </a:p>
        </p:txBody>
      </p:sp>
      <p:sp>
        <p:nvSpPr>
          <p:cNvPr id="192" name="CuadroTexto 86">
            <a:extLst>
              <a:ext uri="{FF2B5EF4-FFF2-40B4-BE49-F238E27FC236}">
                <a16:creationId xmlns:a16="http://schemas.microsoft.com/office/drawing/2014/main" id="{CE493FCD-08C9-4F4D-9628-32B9B9169190}"/>
              </a:ext>
            </a:extLst>
          </p:cNvPr>
          <p:cNvSpPr txBox="1"/>
          <p:nvPr/>
        </p:nvSpPr>
        <p:spPr>
          <a:xfrm>
            <a:off x="5605884" y="2893941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al017_cnt_dep</a:t>
            </a:r>
          </a:p>
        </p:txBody>
      </p:sp>
      <p:sp>
        <p:nvSpPr>
          <p:cNvPr id="200" name="CuadroTexto 86">
            <a:extLst>
              <a:ext uri="{FF2B5EF4-FFF2-40B4-BE49-F238E27FC236}">
                <a16:creationId xmlns:a16="http://schemas.microsoft.com/office/drawing/2014/main" id="{A220B995-D748-4035-8276-6EACB300E3AB}"/>
              </a:ext>
            </a:extLst>
          </p:cNvPr>
          <p:cNvSpPr txBox="1"/>
          <p:nvPr/>
        </p:nvSpPr>
        <p:spPr>
          <a:xfrm>
            <a:off x="5605884" y="3162698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al018_cnt_cred</a:t>
            </a:r>
          </a:p>
        </p:txBody>
      </p:sp>
      <p:cxnSp>
        <p:nvCxnSpPr>
          <p:cNvPr id="167" name="Conector angular 217">
            <a:extLst>
              <a:ext uri="{FF2B5EF4-FFF2-40B4-BE49-F238E27FC236}">
                <a16:creationId xmlns:a16="http://schemas.microsoft.com/office/drawing/2014/main" id="{3A2BEB1F-55C5-4B74-B2CF-F2D11374534B}"/>
              </a:ext>
            </a:extLst>
          </p:cNvPr>
          <p:cNvCxnSpPr>
            <a:cxnSpLocks/>
            <a:stCxn id="233" idx="3"/>
            <a:endCxn id="200" idx="1"/>
          </p:cNvCxnSpPr>
          <p:nvPr/>
        </p:nvCxnSpPr>
        <p:spPr>
          <a:xfrm>
            <a:off x="5148000" y="3002794"/>
            <a:ext cx="457884" cy="267904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ector angular 217">
            <a:extLst>
              <a:ext uri="{FF2B5EF4-FFF2-40B4-BE49-F238E27FC236}">
                <a16:creationId xmlns:a16="http://schemas.microsoft.com/office/drawing/2014/main" id="{A728EEAB-8A14-4568-8B45-32040DF883DF}"/>
              </a:ext>
            </a:extLst>
          </p:cNvPr>
          <p:cNvCxnSpPr>
            <a:cxnSpLocks/>
            <a:stCxn id="233" idx="3"/>
            <a:endCxn id="192" idx="1"/>
          </p:cNvCxnSpPr>
          <p:nvPr/>
        </p:nvCxnSpPr>
        <p:spPr>
          <a:xfrm flipV="1">
            <a:off x="5148000" y="3001941"/>
            <a:ext cx="457884" cy="853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CuadroTexto 86">
            <a:extLst>
              <a:ext uri="{FF2B5EF4-FFF2-40B4-BE49-F238E27FC236}">
                <a16:creationId xmlns:a16="http://schemas.microsoft.com/office/drawing/2014/main" id="{2F36E1DC-E60D-4C7B-A483-2A5E387042A3}"/>
              </a:ext>
            </a:extLst>
          </p:cNvPr>
          <p:cNvSpPr txBox="1"/>
          <p:nvPr/>
        </p:nvSpPr>
        <p:spPr>
          <a:xfrm>
            <a:off x="7957054" y="3005143"/>
            <a:ext cx="1576800" cy="37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36000" bIns="36000" rtlCol="0" anchor="t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al001_cnt_core </a:t>
            </a:r>
            <a:r>
              <a:rPr lang="es-ES" sz="1200" b="1" baseline="30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(1)</a:t>
            </a:r>
            <a:endParaRPr lang="es-ES" sz="900" baseline="30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lvl="1" indent="6350"/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Rectángulo 110">
            <a:extLst>
              <a:ext uri="{FF2B5EF4-FFF2-40B4-BE49-F238E27FC236}">
                <a16:creationId xmlns:a16="http://schemas.microsoft.com/office/drawing/2014/main" id="{D2BB03CD-3CFE-4A0C-B74F-A62B5A0FC6FD}"/>
              </a:ext>
            </a:extLst>
          </p:cNvPr>
          <p:cNvSpPr/>
          <p:nvPr/>
        </p:nvSpPr>
        <p:spPr>
          <a:xfrm>
            <a:off x="8054657" y="3267780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</a:t>
            </a:r>
          </a:p>
        </p:txBody>
      </p:sp>
      <p:sp>
        <p:nvSpPr>
          <p:cNvPr id="220" name="Rectángulo 110">
            <a:extLst>
              <a:ext uri="{FF2B5EF4-FFF2-40B4-BE49-F238E27FC236}">
                <a16:creationId xmlns:a16="http://schemas.microsoft.com/office/drawing/2014/main" id="{373D6D60-88D0-4AFC-8475-874D250430AF}"/>
              </a:ext>
            </a:extLst>
          </p:cNvPr>
          <p:cNvSpPr/>
          <p:nvPr/>
        </p:nvSpPr>
        <p:spPr>
          <a:xfrm>
            <a:off x="8054657" y="3485040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</a:t>
            </a:r>
          </a:p>
        </p:txBody>
      </p:sp>
      <p:sp>
        <p:nvSpPr>
          <p:cNvPr id="230" name="Rectángulo 110">
            <a:extLst>
              <a:ext uri="{FF2B5EF4-FFF2-40B4-BE49-F238E27FC236}">
                <a16:creationId xmlns:a16="http://schemas.microsoft.com/office/drawing/2014/main" id="{575BBCAF-5270-4B34-961B-0633CE25376E}"/>
              </a:ext>
            </a:extLst>
          </p:cNvPr>
          <p:cNvSpPr/>
          <p:nvPr/>
        </p:nvSpPr>
        <p:spPr>
          <a:xfrm>
            <a:off x="8054657" y="3702775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COMPL_*</a:t>
            </a:r>
          </a:p>
        </p:txBody>
      </p:sp>
      <p:sp>
        <p:nvSpPr>
          <p:cNvPr id="235" name="Rectángulo 110">
            <a:extLst>
              <a:ext uri="{FF2B5EF4-FFF2-40B4-BE49-F238E27FC236}">
                <a16:creationId xmlns:a16="http://schemas.microsoft.com/office/drawing/2014/main" id="{790E0AED-C90D-41F3-9424-89C386C48F48}"/>
              </a:ext>
            </a:extLst>
          </p:cNvPr>
          <p:cNvSpPr/>
          <p:nvPr/>
        </p:nvSpPr>
        <p:spPr>
          <a:xfrm>
            <a:off x="8046736" y="4106932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MM</a:t>
            </a:r>
          </a:p>
        </p:txBody>
      </p:sp>
      <p:sp>
        <p:nvSpPr>
          <p:cNvPr id="236" name="CuadroTexto 86">
            <a:extLst>
              <a:ext uri="{FF2B5EF4-FFF2-40B4-BE49-F238E27FC236}">
                <a16:creationId xmlns:a16="http://schemas.microsoft.com/office/drawing/2014/main" id="{71BE0EDD-CA7B-4374-B839-C2C218F77B4A}"/>
              </a:ext>
            </a:extLst>
          </p:cNvPr>
          <p:cNvSpPr txBox="1"/>
          <p:nvPr/>
        </p:nvSpPr>
        <p:spPr>
          <a:xfrm>
            <a:off x="4212000" y="4092492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pt-PT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sigom_mm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37" name="Conector angular 217">
            <a:extLst>
              <a:ext uri="{FF2B5EF4-FFF2-40B4-BE49-F238E27FC236}">
                <a16:creationId xmlns:a16="http://schemas.microsoft.com/office/drawing/2014/main" id="{8CAE09C5-A642-4AA0-8017-2B8F0E071A48}"/>
              </a:ext>
            </a:extLst>
          </p:cNvPr>
          <p:cNvCxnSpPr>
            <a:cxnSpLocks/>
            <a:stCxn id="112" idx="3"/>
            <a:endCxn id="236" idx="1"/>
          </p:cNvCxnSpPr>
          <p:nvPr/>
        </p:nvCxnSpPr>
        <p:spPr>
          <a:xfrm flipV="1">
            <a:off x="2047161" y="4200492"/>
            <a:ext cx="2164839" cy="545012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ector angular 217">
            <a:extLst>
              <a:ext uri="{FF2B5EF4-FFF2-40B4-BE49-F238E27FC236}">
                <a16:creationId xmlns:a16="http://schemas.microsoft.com/office/drawing/2014/main" id="{FABC631A-2713-4BDA-8D75-A9444067E570}"/>
              </a:ext>
            </a:extLst>
          </p:cNvPr>
          <p:cNvCxnSpPr>
            <a:cxnSpLocks/>
            <a:stCxn id="112" idx="3"/>
            <a:endCxn id="255" idx="1"/>
          </p:cNvCxnSpPr>
          <p:nvPr/>
        </p:nvCxnSpPr>
        <p:spPr>
          <a:xfrm>
            <a:off x="2047161" y="4745504"/>
            <a:ext cx="2164839" cy="202590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CuadroTexto 86">
            <a:extLst>
              <a:ext uri="{FF2B5EF4-FFF2-40B4-BE49-F238E27FC236}">
                <a16:creationId xmlns:a16="http://schemas.microsoft.com/office/drawing/2014/main" id="{7F5C8241-57F3-412B-B11C-C92BCA1D1B32}"/>
              </a:ext>
            </a:extLst>
          </p:cNvPr>
          <p:cNvSpPr txBox="1"/>
          <p:nvPr/>
        </p:nvSpPr>
        <p:spPr>
          <a:xfrm>
            <a:off x="5605884" y="4089478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al004_det_mm</a:t>
            </a:r>
          </a:p>
        </p:txBody>
      </p:sp>
      <p:cxnSp>
        <p:nvCxnSpPr>
          <p:cNvPr id="241" name="Conector angular 217">
            <a:extLst>
              <a:ext uri="{FF2B5EF4-FFF2-40B4-BE49-F238E27FC236}">
                <a16:creationId xmlns:a16="http://schemas.microsoft.com/office/drawing/2014/main" id="{7D634FD8-ED7C-4A71-A286-F45FC3815C0F}"/>
              </a:ext>
            </a:extLst>
          </p:cNvPr>
          <p:cNvCxnSpPr>
            <a:cxnSpLocks/>
            <a:stCxn id="236" idx="3"/>
            <a:endCxn id="239" idx="1"/>
          </p:cNvCxnSpPr>
          <p:nvPr/>
        </p:nvCxnSpPr>
        <p:spPr>
          <a:xfrm flipV="1">
            <a:off x="5148000" y="4197478"/>
            <a:ext cx="457884" cy="3014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CuadroTexto 86">
            <a:extLst>
              <a:ext uri="{FF2B5EF4-FFF2-40B4-BE49-F238E27FC236}">
                <a16:creationId xmlns:a16="http://schemas.microsoft.com/office/drawing/2014/main" id="{51BFEA00-885B-4272-863E-5F57449B4569}"/>
              </a:ext>
            </a:extLst>
          </p:cNvPr>
          <p:cNvSpPr txBox="1"/>
          <p:nvPr/>
        </p:nvSpPr>
        <p:spPr>
          <a:xfrm>
            <a:off x="4212000" y="4840094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pt-PT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sigom_cib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258" name="CuadroTexto 86">
            <a:extLst>
              <a:ext uri="{FF2B5EF4-FFF2-40B4-BE49-F238E27FC236}">
                <a16:creationId xmlns:a16="http://schemas.microsoft.com/office/drawing/2014/main" id="{2D5978AA-F9C6-4555-BB61-5A38109C2CCB}"/>
              </a:ext>
            </a:extLst>
          </p:cNvPr>
          <p:cNvSpPr txBox="1"/>
          <p:nvPr/>
        </p:nvSpPr>
        <p:spPr>
          <a:xfrm>
            <a:off x="5605884" y="4586707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al010_loandepos</a:t>
            </a:r>
          </a:p>
        </p:txBody>
      </p:sp>
      <p:cxnSp>
        <p:nvCxnSpPr>
          <p:cNvPr id="259" name="Conector angular 217">
            <a:extLst>
              <a:ext uri="{FF2B5EF4-FFF2-40B4-BE49-F238E27FC236}">
                <a16:creationId xmlns:a16="http://schemas.microsoft.com/office/drawing/2014/main" id="{2C8675B6-7A87-4686-B08E-BAF134D73ADF}"/>
              </a:ext>
            </a:extLst>
          </p:cNvPr>
          <p:cNvCxnSpPr>
            <a:cxnSpLocks/>
            <a:stCxn id="255" idx="3"/>
            <a:endCxn id="258" idx="1"/>
          </p:cNvCxnSpPr>
          <p:nvPr/>
        </p:nvCxnSpPr>
        <p:spPr>
          <a:xfrm flipV="1">
            <a:off x="5148000" y="4694707"/>
            <a:ext cx="457884" cy="253387"/>
          </a:xfrm>
          <a:prstGeom prst="bentConnector3">
            <a:avLst>
              <a:gd name="adj1" fmla="val 43066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Rectángulo 110">
            <a:extLst>
              <a:ext uri="{FF2B5EF4-FFF2-40B4-BE49-F238E27FC236}">
                <a16:creationId xmlns:a16="http://schemas.microsoft.com/office/drawing/2014/main" id="{9F25AD6D-9DF0-4193-99B4-9DFAE600BF5A}"/>
              </a:ext>
            </a:extLst>
          </p:cNvPr>
          <p:cNvSpPr/>
          <p:nvPr/>
        </p:nvSpPr>
        <p:spPr>
          <a:xfrm>
            <a:off x="8048316" y="4605132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DEPOSIT &amp; LOAN</a:t>
            </a:r>
          </a:p>
        </p:txBody>
      </p:sp>
      <p:sp>
        <p:nvSpPr>
          <p:cNvPr id="274" name="CuadroTexto 86">
            <a:extLst>
              <a:ext uri="{FF2B5EF4-FFF2-40B4-BE49-F238E27FC236}">
                <a16:creationId xmlns:a16="http://schemas.microsoft.com/office/drawing/2014/main" id="{0980EABA-F7C0-4104-A649-EAA3A9C2D70C}"/>
              </a:ext>
            </a:extLst>
          </p:cNvPr>
          <p:cNvSpPr txBox="1"/>
          <p:nvPr/>
        </p:nvSpPr>
        <p:spPr>
          <a:xfrm>
            <a:off x="5605884" y="4826126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al011_derivados</a:t>
            </a:r>
          </a:p>
        </p:txBody>
      </p:sp>
      <p:cxnSp>
        <p:nvCxnSpPr>
          <p:cNvPr id="275" name="Conector angular 217">
            <a:extLst>
              <a:ext uri="{FF2B5EF4-FFF2-40B4-BE49-F238E27FC236}">
                <a16:creationId xmlns:a16="http://schemas.microsoft.com/office/drawing/2014/main" id="{302D4C9F-8FF1-4F09-B80E-97D58E958855}"/>
              </a:ext>
            </a:extLst>
          </p:cNvPr>
          <p:cNvCxnSpPr>
            <a:cxnSpLocks/>
            <a:stCxn id="255" idx="3"/>
            <a:endCxn id="808" idx="1"/>
          </p:cNvCxnSpPr>
          <p:nvPr/>
        </p:nvCxnSpPr>
        <p:spPr>
          <a:xfrm flipV="1">
            <a:off x="5148000" y="4893081"/>
            <a:ext cx="460720" cy="55013"/>
          </a:xfrm>
          <a:prstGeom prst="bentConnector3">
            <a:avLst>
              <a:gd name="adj1" fmla="val 43109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Rectángulo 110">
            <a:extLst>
              <a:ext uri="{FF2B5EF4-FFF2-40B4-BE49-F238E27FC236}">
                <a16:creationId xmlns:a16="http://schemas.microsoft.com/office/drawing/2014/main" id="{FC2ABD69-AE9F-4BEE-BA29-53F28279C273}"/>
              </a:ext>
            </a:extLst>
          </p:cNvPr>
          <p:cNvSpPr/>
          <p:nvPr/>
        </p:nvSpPr>
        <p:spPr>
          <a:xfrm>
            <a:off x="8051443" y="4844678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DERIVADOS</a:t>
            </a:r>
          </a:p>
        </p:txBody>
      </p:sp>
      <p:sp>
        <p:nvSpPr>
          <p:cNvPr id="280" name="CuadroTexto 86">
            <a:extLst>
              <a:ext uri="{FF2B5EF4-FFF2-40B4-BE49-F238E27FC236}">
                <a16:creationId xmlns:a16="http://schemas.microsoft.com/office/drawing/2014/main" id="{4AB19BE5-F31B-4843-A538-A71A2F3F5140}"/>
              </a:ext>
            </a:extLst>
          </p:cNvPr>
          <p:cNvSpPr txBox="1"/>
          <p:nvPr/>
        </p:nvSpPr>
        <p:spPr>
          <a:xfrm>
            <a:off x="4212000" y="5090512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pt-PT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sigom_fx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81" name="Conector angular 217">
            <a:extLst>
              <a:ext uri="{FF2B5EF4-FFF2-40B4-BE49-F238E27FC236}">
                <a16:creationId xmlns:a16="http://schemas.microsoft.com/office/drawing/2014/main" id="{E41FA87E-DC8E-445A-9854-FF128AB6FF90}"/>
              </a:ext>
            </a:extLst>
          </p:cNvPr>
          <p:cNvCxnSpPr>
            <a:cxnSpLocks/>
            <a:stCxn id="112" idx="3"/>
            <a:endCxn id="280" idx="1"/>
          </p:cNvCxnSpPr>
          <p:nvPr/>
        </p:nvCxnSpPr>
        <p:spPr>
          <a:xfrm>
            <a:off x="2047161" y="4745504"/>
            <a:ext cx="2164839" cy="453008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Rectángulo 110">
            <a:extLst>
              <a:ext uri="{FF2B5EF4-FFF2-40B4-BE49-F238E27FC236}">
                <a16:creationId xmlns:a16="http://schemas.microsoft.com/office/drawing/2014/main" id="{A6275817-0B88-448C-BC95-2553956C5B59}"/>
              </a:ext>
            </a:extLst>
          </p:cNvPr>
          <p:cNvSpPr/>
          <p:nvPr/>
        </p:nvSpPr>
        <p:spPr>
          <a:xfrm>
            <a:off x="8046736" y="5109947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FX</a:t>
            </a:r>
          </a:p>
        </p:txBody>
      </p:sp>
      <p:sp>
        <p:nvSpPr>
          <p:cNvPr id="283" name="CuadroTexto 86">
            <a:extLst>
              <a:ext uri="{FF2B5EF4-FFF2-40B4-BE49-F238E27FC236}">
                <a16:creationId xmlns:a16="http://schemas.microsoft.com/office/drawing/2014/main" id="{F4A5FCA4-90B8-4080-8EE3-F2F6155516F8}"/>
              </a:ext>
            </a:extLst>
          </p:cNvPr>
          <p:cNvSpPr txBox="1"/>
          <p:nvPr/>
        </p:nvSpPr>
        <p:spPr>
          <a:xfrm>
            <a:off x="5605884" y="5091186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al005_det_swap</a:t>
            </a:r>
          </a:p>
        </p:txBody>
      </p:sp>
      <p:cxnSp>
        <p:nvCxnSpPr>
          <p:cNvPr id="284" name="Conector angular 217">
            <a:extLst>
              <a:ext uri="{FF2B5EF4-FFF2-40B4-BE49-F238E27FC236}">
                <a16:creationId xmlns:a16="http://schemas.microsoft.com/office/drawing/2014/main" id="{BCCDD25B-B6EE-4350-BA93-0CA6215D542A}"/>
              </a:ext>
            </a:extLst>
          </p:cNvPr>
          <p:cNvCxnSpPr>
            <a:cxnSpLocks/>
            <a:stCxn id="280" idx="3"/>
            <a:endCxn id="283" idx="1"/>
          </p:cNvCxnSpPr>
          <p:nvPr/>
        </p:nvCxnSpPr>
        <p:spPr>
          <a:xfrm>
            <a:off x="5148000" y="5198512"/>
            <a:ext cx="457884" cy="674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CuadroTexto 86">
            <a:extLst>
              <a:ext uri="{FF2B5EF4-FFF2-40B4-BE49-F238E27FC236}">
                <a16:creationId xmlns:a16="http://schemas.microsoft.com/office/drawing/2014/main" id="{0CF8DF22-5C0E-405A-80E8-B7739C47535E}"/>
              </a:ext>
            </a:extLst>
          </p:cNvPr>
          <p:cNvSpPr txBox="1"/>
          <p:nvPr/>
        </p:nvSpPr>
        <p:spPr>
          <a:xfrm>
            <a:off x="4212000" y="4346799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pt-PT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sigom_pc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299" name="CuadroTexto 86">
            <a:extLst>
              <a:ext uri="{FF2B5EF4-FFF2-40B4-BE49-F238E27FC236}">
                <a16:creationId xmlns:a16="http://schemas.microsoft.com/office/drawing/2014/main" id="{D84E9BA0-C58C-477F-A840-10856A828C51}"/>
              </a:ext>
            </a:extLst>
          </p:cNvPr>
          <p:cNvSpPr txBox="1"/>
          <p:nvPr/>
        </p:nvSpPr>
        <p:spPr>
          <a:xfrm>
            <a:off x="4212000" y="4598302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pt-PT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sigom_</a:t>
            </a:r>
            <a:r>
              <a:rPr lang="pt-PT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irl_pc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304" name="Rectángulo 110">
            <a:extLst>
              <a:ext uri="{FF2B5EF4-FFF2-40B4-BE49-F238E27FC236}">
                <a16:creationId xmlns:a16="http://schemas.microsoft.com/office/drawing/2014/main" id="{84F44D80-2A91-4D11-BA85-81464C941FE5}"/>
              </a:ext>
            </a:extLst>
          </p:cNvPr>
          <p:cNvSpPr/>
          <p:nvPr/>
        </p:nvSpPr>
        <p:spPr>
          <a:xfrm>
            <a:off x="8052105" y="4355009"/>
            <a:ext cx="1260000" cy="19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PC</a:t>
            </a:r>
          </a:p>
        </p:txBody>
      </p:sp>
      <p:sp>
        <p:nvSpPr>
          <p:cNvPr id="305" name="CuadroTexto 86">
            <a:extLst>
              <a:ext uri="{FF2B5EF4-FFF2-40B4-BE49-F238E27FC236}">
                <a16:creationId xmlns:a16="http://schemas.microsoft.com/office/drawing/2014/main" id="{8C7211CE-D56E-433E-A8B1-C0E3288327D7}"/>
              </a:ext>
            </a:extLst>
          </p:cNvPr>
          <p:cNvSpPr txBox="1"/>
          <p:nvPr/>
        </p:nvSpPr>
        <p:spPr>
          <a:xfrm>
            <a:off x="5605884" y="4346729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al006_saq_ppc</a:t>
            </a:r>
          </a:p>
        </p:txBody>
      </p:sp>
      <p:cxnSp>
        <p:nvCxnSpPr>
          <p:cNvPr id="307" name="Conector angular 217">
            <a:extLst>
              <a:ext uri="{FF2B5EF4-FFF2-40B4-BE49-F238E27FC236}">
                <a16:creationId xmlns:a16="http://schemas.microsoft.com/office/drawing/2014/main" id="{DF17EEF0-76B7-4949-94F1-81E48BBAADA5}"/>
              </a:ext>
            </a:extLst>
          </p:cNvPr>
          <p:cNvCxnSpPr>
            <a:cxnSpLocks/>
            <a:stCxn id="294" idx="3"/>
            <a:endCxn id="305" idx="1"/>
          </p:cNvCxnSpPr>
          <p:nvPr/>
        </p:nvCxnSpPr>
        <p:spPr>
          <a:xfrm flipV="1">
            <a:off x="5148000" y="4454729"/>
            <a:ext cx="457884" cy="70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angular 217">
            <a:extLst>
              <a:ext uri="{FF2B5EF4-FFF2-40B4-BE49-F238E27FC236}">
                <a16:creationId xmlns:a16="http://schemas.microsoft.com/office/drawing/2014/main" id="{169EF8BB-27B4-4F75-BEB5-C4544E43C4ED}"/>
              </a:ext>
            </a:extLst>
          </p:cNvPr>
          <p:cNvCxnSpPr>
            <a:cxnSpLocks/>
            <a:stCxn id="299" idx="3"/>
            <a:endCxn id="305" idx="1"/>
          </p:cNvCxnSpPr>
          <p:nvPr/>
        </p:nvCxnSpPr>
        <p:spPr>
          <a:xfrm flipV="1">
            <a:off x="5148000" y="4454729"/>
            <a:ext cx="457884" cy="251573"/>
          </a:xfrm>
          <a:prstGeom prst="bentConnector3">
            <a:avLst>
              <a:gd name="adj1" fmla="val 25037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onector angular 217">
            <a:extLst>
              <a:ext uri="{FF2B5EF4-FFF2-40B4-BE49-F238E27FC236}">
                <a16:creationId xmlns:a16="http://schemas.microsoft.com/office/drawing/2014/main" id="{5438C2B6-2AEB-43FB-9FCB-1C03035CAA69}"/>
              </a:ext>
            </a:extLst>
          </p:cNvPr>
          <p:cNvCxnSpPr>
            <a:cxnSpLocks/>
            <a:stCxn id="112" idx="3"/>
            <a:endCxn id="294" idx="1"/>
          </p:cNvCxnSpPr>
          <p:nvPr/>
        </p:nvCxnSpPr>
        <p:spPr>
          <a:xfrm flipV="1">
            <a:off x="2047161" y="4454799"/>
            <a:ext cx="2164839" cy="290705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ector angular 217">
            <a:extLst>
              <a:ext uri="{FF2B5EF4-FFF2-40B4-BE49-F238E27FC236}">
                <a16:creationId xmlns:a16="http://schemas.microsoft.com/office/drawing/2014/main" id="{0C219EB4-E336-4D71-A29C-8754A58AF34B}"/>
              </a:ext>
            </a:extLst>
          </p:cNvPr>
          <p:cNvCxnSpPr>
            <a:cxnSpLocks/>
            <a:stCxn id="112" idx="3"/>
            <a:endCxn id="299" idx="1"/>
          </p:cNvCxnSpPr>
          <p:nvPr/>
        </p:nvCxnSpPr>
        <p:spPr>
          <a:xfrm flipV="1">
            <a:off x="2047161" y="4706302"/>
            <a:ext cx="2164839" cy="39202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Rectángulo 69">
            <a:extLst>
              <a:ext uri="{FF2B5EF4-FFF2-40B4-BE49-F238E27FC236}">
                <a16:creationId xmlns:a16="http://schemas.microsoft.com/office/drawing/2014/main" id="{F815D177-5D3D-4069-A2F2-3D1587A9F51F}"/>
              </a:ext>
            </a:extLst>
          </p:cNvPr>
          <p:cNvSpPr/>
          <p:nvPr/>
        </p:nvSpPr>
        <p:spPr>
          <a:xfrm>
            <a:off x="565200" y="5174657"/>
            <a:ext cx="1682025" cy="2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Front Data Lake</a:t>
            </a:r>
          </a:p>
        </p:txBody>
      </p:sp>
      <p:sp>
        <p:nvSpPr>
          <p:cNvPr id="323" name="Rectangle 32">
            <a:extLst>
              <a:ext uri="{FF2B5EF4-FFF2-40B4-BE49-F238E27FC236}">
                <a16:creationId xmlns:a16="http://schemas.microsoft.com/office/drawing/2014/main" id="{623FF2C9-EC27-4007-B305-2DC5A30D4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95" y="6468690"/>
            <a:ext cx="1363192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Financeira (Liquid.)</a:t>
            </a:r>
          </a:p>
        </p:txBody>
      </p:sp>
      <p:sp>
        <p:nvSpPr>
          <p:cNvPr id="324" name="CuadroTexto 86">
            <a:extLst>
              <a:ext uri="{FF2B5EF4-FFF2-40B4-BE49-F238E27FC236}">
                <a16:creationId xmlns:a16="http://schemas.microsoft.com/office/drawing/2014/main" id="{291A6611-1118-41EA-B1F8-AA42F751B784}"/>
              </a:ext>
            </a:extLst>
          </p:cNvPr>
          <p:cNvSpPr txBox="1"/>
          <p:nvPr/>
        </p:nvSpPr>
        <p:spPr>
          <a:xfrm>
            <a:off x="5605884" y="6484429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pt-P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l602_repos_alm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5" name="Rectángulo 110">
            <a:extLst>
              <a:ext uri="{FF2B5EF4-FFF2-40B4-BE49-F238E27FC236}">
                <a16:creationId xmlns:a16="http://schemas.microsoft.com/office/drawing/2014/main" id="{45D5EFE8-2353-48D7-B844-2EEDBBEF069D}"/>
              </a:ext>
            </a:extLst>
          </p:cNvPr>
          <p:cNvSpPr/>
          <p:nvPr/>
        </p:nvSpPr>
        <p:spPr>
          <a:xfrm>
            <a:off x="8051499" y="6281945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REPO</a:t>
            </a:r>
          </a:p>
        </p:txBody>
      </p:sp>
      <p:cxnSp>
        <p:nvCxnSpPr>
          <p:cNvPr id="333" name="Conector angular 217">
            <a:extLst>
              <a:ext uri="{FF2B5EF4-FFF2-40B4-BE49-F238E27FC236}">
                <a16:creationId xmlns:a16="http://schemas.microsoft.com/office/drawing/2014/main" id="{EDDE0D51-9C05-45BD-A892-730721F098D2}"/>
              </a:ext>
            </a:extLst>
          </p:cNvPr>
          <p:cNvCxnSpPr>
            <a:cxnSpLocks/>
            <a:stCxn id="323" idx="3"/>
            <a:endCxn id="324" idx="1"/>
          </p:cNvCxnSpPr>
          <p:nvPr/>
        </p:nvCxnSpPr>
        <p:spPr>
          <a:xfrm flipV="1">
            <a:off x="2046987" y="6592429"/>
            <a:ext cx="3558897" cy="2261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Rectangle 32">
            <a:extLst>
              <a:ext uri="{FF2B5EF4-FFF2-40B4-BE49-F238E27FC236}">
                <a16:creationId xmlns:a16="http://schemas.microsoft.com/office/drawing/2014/main" id="{03967CB1-6701-4A70-BD24-9E41900B0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00" y="5766312"/>
            <a:ext cx="1363192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Liquidez (R. Merc.)</a:t>
            </a:r>
          </a:p>
        </p:txBody>
      </p:sp>
      <p:sp>
        <p:nvSpPr>
          <p:cNvPr id="337" name="CuadroTexto 86">
            <a:extLst>
              <a:ext uri="{FF2B5EF4-FFF2-40B4-BE49-F238E27FC236}">
                <a16:creationId xmlns:a16="http://schemas.microsoft.com/office/drawing/2014/main" id="{868E211C-31ED-42CB-B2B0-5FCC0730F9EA}"/>
              </a:ext>
            </a:extLst>
          </p:cNvPr>
          <p:cNvSpPr txBox="1"/>
          <p:nvPr/>
        </p:nvSpPr>
        <p:spPr>
          <a:xfrm>
            <a:off x="5605884" y="6157562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ct610_titulos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8" name="Rectángulo 110">
            <a:extLst>
              <a:ext uri="{FF2B5EF4-FFF2-40B4-BE49-F238E27FC236}">
                <a16:creationId xmlns:a16="http://schemas.microsoft.com/office/drawing/2014/main" id="{0BA823EA-8BC7-4EE4-A34F-D159ACF7288D}"/>
              </a:ext>
            </a:extLst>
          </p:cNvPr>
          <p:cNvSpPr/>
          <p:nvPr/>
        </p:nvSpPr>
        <p:spPr>
          <a:xfrm>
            <a:off x="8041549" y="6000798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TITULOS</a:t>
            </a:r>
          </a:p>
        </p:txBody>
      </p:sp>
      <p:cxnSp>
        <p:nvCxnSpPr>
          <p:cNvPr id="340" name="Conector angular 217">
            <a:extLst>
              <a:ext uri="{FF2B5EF4-FFF2-40B4-BE49-F238E27FC236}">
                <a16:creationId xmlns:a16="http://schemas.microsoft.com/office/drawing/2014/main" id="{FC84EC5D-506A-4353-A4B2-032E8DEF0926}"/>
              </a:ext>
            </a:extLst>
          </p:cNvPr>
          <p:cNvCxnSpPr>
            <a:cxnSpLocks/>
            <a:stCxn id="336" idx="3"/>
            <a:endCxn id="337" idx="1"/>
          </p:cNvCxnSpPr>
          <p:nvPr/>
        </p:nvCxnSpPr>
        <p:spPr>
          <a:xfrm>
            <a:off x="2045692" y="5892312"/>
            <a:ext cx="3560192" cy="373250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Rectángulo 110">
            <a:extLst>
              <a:ext uri="{FF2B5EF4-FFF2-40B4-BE49-F238E27FC236}">
                <a16:creationId xmlns:a16="http://schemas.microsoft.com/office/drawing/2014/main" id="{5BE9A7ED-9B0E-4F00-90FC-9AF8BE375103}"/>
              </a:ext>
            </a:extLst>
          </p:cNvPr>
          <p:cNvSpPr/>
          <p:nvPr/>
        </p:nvSpPr>
        <p:spPr>
          <a:xfrm>
            <a:off x="8052105" y="6505179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TITULOS RECEBIDOS</a:t>
            </a:r>
          </a:p>
        </p:txBody>
      </p:sp>
      <p:sp>
        <p:nvSpPr>
          <p:cNvPr id="374" name="CuadroTexto 86">
            <a:extLst>
              <a:ext uri="{FF2B5EF4-FFF2-40B4-BE49-F238E27FC236}">
                <a16:creationId xmlns:a16="http://schemas.microsoft.com/office/drawing/2014/main" id="{B2B538F6-4A28-46FB-99F5-7A5DC2DFE164}"/>
              </a:ext>
            </a:extLst>
          </p:cNvPr>
          <p:cNvSpPr txBox="1"/>
          <p:nvPr/>
        </p:nvSpPr>
        <p:spPr>
          <a:xfrm>
            <a:off x="5606334" y="5891722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al600_cnt_aux</a:t>
            </a:r>
          </a:p>
        </p:txBody>
      </p:sp>
      <p:cxnSp>
        <p:nvCxnSpPr>
          <p:cNvPr id="375" name="Conector angular 217">
            <a:extLst>
              <a:ext uri="{FF2B5EF4-FFF2-40B4-BE49-F238E27FC236}">
                <a16:creationId xmlns:a16="http://schemas.microsoft.com/office/drawing/2014/main" id="{5F3C022C-680A-412C-80CD-7895A1983616}"/>
              </a:ext>
            </a:extLst>
          </p:cNvPr>
          <p:cNvCxnSpPr>
            <a:cxnSpLocks/>
            <a:stCxn id="336" idx="3"/>
            <a:endCxn id="374" idx="1"/>
          </p:cNvCxnSpPr>
          <p:nvPr/>
        </p:nvCxnSpPr>
        <p:spPr>
          <a:xfrm>
            <a:off x="2045692" y="5892312"/>
            <a:ext cx="3560642" cy="107410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Rectángulo 110">
            <a:extLst>
              <a:ext uri="{FF2B5EF4-FFF2-40B4-BE49-F238E27FC236}">
                <a16:creationId xmlns:a16="http://schemas.microsoft.com/office/drawing/2014/main" id="{936122E3-0C97-40EF-9BB6-96B5BEC33947}"/>
              </a:ext>
            </a:extLst>
          </p:cNvPr>
          <p:cNvSpPr/>
          <p:nvPr/>
        </p:nvSpPr>
        <p:spPr>
          <a:xfrm>
            <a:off x="8052105" y="5734635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MANUAL</a:t>
            </a:r>
          </a:p>
        </p:txBody>
      </p:sp>
      <p:sp>
        <p:nvSpPr>
          <p:cNvPr id="398" name="Rectángulo 110">
            <a:extLst>
              <a:ext uri="{FF2B5EF4-FFF2-40B4-BE49-F238E27FC236}">
                <a16:creationId xmlns:a16="http://schemas.microsoft.com/office/drawing/2014/main" id="{7A5304E8-A6B6-4660-BB31-B4C960C8E2D6}"/>
              </a:ext>
            </a:extLst>
          </p:cNvPr>
          <p:cNvSpPr/>
          <p:nvPr/>
        </p:nvSpPr>
        <p:spPr>
          <a:xfrm>
            <a:off x="8051383" y="5418246"/>
            <a:ext cx="126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SGPS</a:t>
            </a:r>
          </a:p>
        </p:txBody>
      </p:sp>
      <p:cxnSp>
        <p:nvCxnSpPr>
          <p:cNvPr id="129" name="Conexão em ângulos retos 128"/>
          <p:cNvCxnSpPr>
            <a:cxnSpLocks/>
            <a:stCxn id="192" idx="3"/>
            <a:endCxn id="262" idx="1"/>
          </p:cNvCxnSpPr>
          <p:nvPr/>
        </p:nvCxnSpPr>
        <p:spPr>
          <a:xfrm>
            <a:off x="6901884" y="3001941"/>
            <a:ext cx="1152773" cy="355839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exão em ângulos retos 128">
            <a:extLst>
              <a:ext uri="{FF2B5EF4-FFF2-40B4-BE49-F238E27FC236}">
                <a16:creationId xmlns:a16="http://schemas.microsoft.com/office/drawing/2014/main" id="{43CC8063-2A35-4AE4-865D-A38D63C098C1}"/>
              </a:ext>
            </a:extLst>
          </p:cNvPr>
          <p:cNvCxnSpPr>
            <a:cxnSpLocks/>
            <a:stCxn id="200" idx="3"/>
            <a:endCxn id="220" idx="1"/>
          </p:cNvCxnSpPr>
          <p:nvPr/>
        </p:nvCxnSpPr>
        <p:spPr>
          <a:xfrm>
            <a:off x="6901884" y="3270698"/>
            <a:ext cx="1152773" cy="304342"/>
          </a:xfrm>
          <a:prstGeom prst="bentConnector3">
            <a:avLst>
              <a:gd name="adj1" fmla="val 28765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Conexão em ângulos retos 128">
            <a:extLst>
              <a:ext uri="{FF2B5EF4-FFF2-40B4-BE49-F238E27FC236}">
                <a16:creationId xmlns:a16="http://schemas.microsoft.com/office/drawing/2014/main" id="{53D519BF-1597-4D2C-A915-47742C92B0DB}"/>
              </a:ext>
            </a:extLst>
          </p:cNvPr>
          <p:cNvCxnSpPr>
            <a:cxnSpLocks/>
            <a:stCxn id="200" idx="3"/>
            <a:endCxn id="230" idx="1"/>
          </p:cNvCxnSpPr>
          <p:nvPr/>
        </p:nvCxnSpPr>
        <p:spPr>
          <a:xfrm>
            <a:off x="6901884" y="3270698"/>
            <a:ext cx="1152773" cy="522077"/>
          </a:xfrm>
          <a:prstGeom prst="bentConnector3">
            <a:avLst>
              <a:gd name="adj1" fmla="val 28773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Conexão em ângulos retos 128">
            <a:extLst>
              <a:ext uri="{FF2B5EF4-FFF2-40B4-BE49-F238E27FC236}">
                <a16:creationId xmlns:a16="http://schemas.microsoft.com/office/drawing/2014/main" id="{24C34AD0-8757-455C-B64D-FBB339D0A43C}"/>
              </a:ext>
            </a:extLst>
          </p:cNvPr>
          <p:cNvCxnSpPr>
            <a:cxnSpLocks/>
            <a:stCxn id="239" idx="3"/>
            <a:endCxn id="235" idx="1"/>
          </p:cNvCxnSpPr>
          <p:nvPr/>
        </p:nvCxnSpPr>
        <p:spPr>
          <a:xfrm flipV="1">
            <a:off x="6901884" y="4196932"/>
            <a:ext cx="1144852" cy="5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Conexão em ângulos retos 128">
            <a:extLst>
              <a:ext uri="{FF2B5EF4-FFF2-40B4-BE49-F238E27FC236}">
                <a16:creationId xmlns:a16="http://schemas.microsoft.com/office/drawing/2014/main" id="{800E81DF-89A3-4E1C-B636-4FC333A7E126}"/>
              </a:ext>
            </a:extLst>
          </p:cNvPr>
          <p:cNvCxnSpPr>
            <a:cxnSpLocks/>
            <a:stCxn id="258" idx="3"/>
            <a:endCxn id="267" idx="1"/>
          </p:cNvCxnSpPr>
          <p:nvPr/>
        </p:nvCxnSpPr>
        <p:spPr>
          <a:xfrm>
            <a:off x="6901884" y="4694707"/>
            <a:ext cx="1146432" cy="42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Conexão em ângulos retos 128">
            <a:extLst>
              <a:ext uri="{FF2B5EF4-FFF2-40B4-BE49-F238E27FC236}">
                <a16:creationId xmlns:a16="http://schemas.microsoft.com/office/drawing/2014/main" id="{26135D2D-A75D-44FD-8037-159CB14CC703}"/>
              </a:ext>
            </a:extLst>
          </p:cNvPr>
          <p:cNvCxnSpPr>
            <a:cxnSpLocks/>
            <a:stCxn id="274" idx="3"/>
            <a:endCxn id="278" idx="1"/>
          </p:cNvCxnSpPr>
          <p:nvPr/>
        </p:nvCxnSpPr>
        <p:spPr>
          <a:xfrm>
            <a:off x="6901884" y="4934126"/>
            <a:ext cx="1149559" cy="55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Conexão em ângulos retos 128">
            <a:extLst>
              <a:ext uri="{FF2B5EF4-FFF2-40B4-BE49-F238E27FC236}">
                <a16:creationId xmlns:a16="http://schemas.microsoft.com/office/drawing/2014/main" id="{3BF87C7C-8901-40C2-83DD-E58154D11C3B}"/>
              </a:ext>
            </a:extLst>
          </p:cNvPr>
          <p:cNvCxnSpPr>
            <a:cxnSpLocks/>
            <a:stCxn id="283" idx="3"/>
            <a:endCxn id="282" idx="1"/>
          </p:cNvCxnSpPr>
          <p:nvPr/>
        </p:nvCxnSpPr>
        <p:spPr>
          <a:xfrm>
            <a:off x="6901884" y="5199186"/>
            <a:ext cx="1144852" cy="761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Conexão em ângulos retos 128">
            <a:extLst>
              <a:ext uri="{FF2B5EF4-FFF2-40B4-BE49-F238E27FC236}">
                <a16:creationId xmlns:a16="http://schemas.microsoft.com/office/drawing/2014/main" id="{6659FDC4-B257-4447-921D-BA819A70F825}"/>
              </a:ext>
            </a:extLst>
          </p:cNvPr>
          <p:cNvCxnSpPr>
            <a:cxnSpLocks/>
            <a:stCxn id="305" idx="3"/>
            <a:endCxn id="304" idx="1"/>
          </p:cNvCxnSpPr>
          <p:nvPr/>
        </p:nvCxnSpPr>
        <p:spPr>
          <a:xfrm flipV="1">
            <a:off x="6901884" y="4454009"/>
            <a:ext cx="1150221" cy="72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Conexão em ângulos retos 128">
            <a:extLst>
              <a:ext uri="{FF2B5EF4-FFF2-40B4-BE49-F238E27FC236}">
                <a16:creationId xmlns:a16="http://schemas.microsoft.com/office/drawing/2014/main" id="{3A1CA9A4-6D04-460A-9179-B33EF7CAF343}"/>
              </a:ext>
            </a:extLst>
          </p:cNvPr>
          <p:cNvCxnSpPr>
            <a:cxnSpLocks/>
            <a:stCxn id="324" idx="3"/>
            <a:endCxn id="325" idx="1"/>
          </p:cNvCxnSpPr>
          <p:nvPr/>
        </p:nvCxnSpPr>
        <p:spPr>
          <a:xfrm flipV="1">
            <a:off x="6901884" y="6371945"/>
            <a:ext cx="1149615" cy="2204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Conexão em ângulos retos 128">
            <a:extLst>
              <a:ext uri="{FF2B5EF4-FFF2-40B4-BE49-F238E27FC236}">
                <a16:creationId xmlns:a16="http://schemas.microsoft.com/office/drawing/2014/main" id="{B2C98F5D-F818-4C66-B148-5D4DDDC42B7E}"/>
              </a:ext>
            </a:extLst>
          </p:cNvPr>
          <p:cNvCxnSpPr>
            <a:cxnSpLocks/>
            <a:stCxn id="324" idx="3"/>
            <a:endCxn id="354" idx="1"/>
          </p:cNvCxnSpPr>
          <p:nvPr/>
        </p:nvCxnSpPr>
        <p:spPr>
          <a:xfrm>
            <a:off x="6901884" y="6592429"/>
            <a:ext cx="1150221" cy="275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Conexão em ângulos retos 128">
            <a:extLst>
              <a:ext uri="{FF2B5EF4-FFF2-40B4-BE49-F238E27FC236}">
                <a16:creationId xmlns:a16="http://schemas.microsoft.com/office/drawing/2014/main" id="{0CCF6E5B-3318-41F5-AEC3-09A91C552543}"/>
              </a:ext>
            </a:extLst>
          </p:cNvPr>
          <p:cNvCxnSpPr>
            <a:cxnSpLocks/>
            <a:stCxn id="374" idx="3"/>
            <a:endCxn id="378" idx="1"/>
          </p:cNvCxnSpPr>
          <p:nvPr/>
        </p:nvCxnSpPr>
        <p:spPr>
          <a:xfrm flipV="1">
            <a:off x="6902334" y="5824635"/>
            <a:ext cx="1149771" cy="175087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Conexão em ângulos retos 128">
            <a:extLst>
              <a:ext uri="{FF2B5EF4-FFF2-40B4-BE49-F238E27FC236}">
                <a16:creationId xmlns:a16="http://schemas.microsoft.com/office/drawing/2014/main" id="{13ECDEB3-EB95-4D60-A876-60CB9DB8FE73}"/>
              </a:ext>
            </a:extLst>
          </p:cNvPr>
          <p:cNvCxnSpPr>
            <a:cxnSpLocks/>
            <a:stCxn id="337" idx="3"/>
            <a:endCxn id="338" idx="1"/>
          </p:cNvCxnSpPr>
          <p:nvPr/>
        </p:nvCxnSpPr>
        <p:spPr>
          <a:xfrm flipV="1">
            <a:off x="6901884" y="6090798"/>
            <a:ext cx="1139665" cy="174764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CuadroTexto 86">
            <a:extLst>
              <a:ext uri="{FF2B5EF4-FFF2-40B4-BE49-F238E27FC236}">
                <a16:creationId xmlns:a16="http://schemas.microsoft.com/office/drawing/2014/main" id="{C7CC10E6-CF29-4B8B-B27E-22482FDEFD5F}"/>
              </a:ext>
            </a:extLst>
          </p:cNvPr>
          <p:cNvSpPr txBox="1"/>
          <p:nvPr/>
        </p:nvSpPr>
        <p:spPr>
          <a:xfrm>
            <a:off x="7956000" y="2340858"/>
            <a:ext cx="157813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al002_sld_core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51" name="Group 550">
            <a:extLst>
              <a:ext uri="{FF2B5EF4-FFF2-40B4-BE49-F238E27FC236}">
                <a16:creationId xmlns:a16="http://schemas.microsoft.com/office/drawing/2014/main" id="{B53094FF-D878-48D4-9ACC-DA5C5796E084}"/>
              </a:ext>
            </a:extLst>
          </p:cNvPr>
          <p:cNvGrpSpPr/>
          <p:nvPr/>
        </p:nvGrpSpPr>
        <p:grpSpPr>
          <a:xfrm>
            <a:off x="3087453" y="2193941"/>
            <a:ext cx="577911" cy="389759"/>
            <a:chOff x="3049353" y="1735790"/>
            <a:chExt cx="577911" cy="389759"/>
          </a:xfrm>
        </p:grpSpPr>
        <p:grpSp>
          <p:nvGrpSpPr>
            <p:cNvPr id="486" name="Grupo 83">
              <a:extLst>
                <a:ext uri="{FF2B5EF4-FFF2-40B4-BE49-F238E27FC236}">
                  <a16:creationId xmlns:a16="http://schemas.microsoft.com/office/drawing/2014/main" id="{41A328EA-D0CC-4D3F-BB8F-3571929B4DDE}"/>
                </a:ext>
              </a:extLst>
            </p:cNvPr>
            <p:cNvGrpSpPr/>
            <p:nvPr/>
          </p:nvGrpSpPr>
          <p:grpSpPr>
            <a:xfrm>
              <a:off x="3049353" y="1909549"/>
              <a:ext cx="577911" cy="216000"/>
              <a:chOff x="8038758" y="3835908"/>
              <a:chExt cx="1282700" cy="1173653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88" name="Disco magnético 89">
                <a:extLst>
                  <a:ext uri="{FF2B5EF4-FFF2-40B4-BE49-F238E27FC236}">
                    <a16:creationId xmlns:a16="http://schemas.microsoft.com/office/drawing/2014/main" id="{BDCD9707-9F16-441A-BF0C-391691C42980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489" name="Disco magnético 91">
                <a:extLst>
                  <a:ext uri="{FF2B5EF4-FFF2-40B4-BE49-F238E27FC236}">
                    <a16:creationId xmlns:a16="http://schemas.microsoft.com/office/drawing/2014/main" id="{B97A2052-6F44-4AA6-8BAB-0ADFFEE466FA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490" name="Disco magnético 92">
                <a:extLst>
                  <a:ext uri="{FF2B5EF4-FFF2-40B4-BE49-F238E27FC236}">
                    <a16:creationId xmlns:a16="http://schemas.microsoft.com/office/drawing/2014/main" id="{5C6BDE6C-510B-4878-A5D8-6DB4AC3D9C5D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87" name="CuadroTexto 86">
              <a:extLst>
                <a:ext uri="{FF2B5EF4-FFF2-40B4-BE49-F238E27FC236}">
                  <a16:creationId xmlns:a16="http://schemas.microsoft.com/office/drawing/2014/main" id="{3D11C3D0-125D-47E6-9D66-B832BB0722C8}"/>
                </a:ext>
              </a:extLst>
            </p:cNvPr>
            <p:cNvSpPr txBox="1"/>
            <p:nvPr/>
          </p:nvSpPr>
          <p:spPr>
            <a:xfrm>
              <a:off x="3054915" y="1735790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ICs</a:t>
              </a:r>
              <a:endParaRPr lang="es-ES" sz="1050" b="1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491" name="Conector angular 217">
            <a:extLst>
              <a:ext uri="{FF2B5EF4-FFF2-40B4-BE49-F238E27FC236}">
                <a16:creationId xmlns:a16="http://schemas.microsoft.com/office/drawing/2014/main" id="{A8649D79-031E-4EB6-A687-4D7BF7950573}"/>
              </a:ext>
            </a:extLst>
          </p:cNvPr>
          <p:cNvCxnSpPr>
            <a:cxnSpLocks/>
            <a:stCxn id="69" idx="3"/>
            <a:endCxn id="489" idx="2"/>
          </p:cNvCxnSpPr>
          <p:nvPr/>
        </p:nvCxnSpPr>
        <p:spPr>
          <a:xfrm flipV="1">
            <a:off x="2171701" y="2475700"/>
            <a:ext cx="915752" cy="396429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CuadroTexto 86">
            <a:extLst>
              <a:ext uri="{FF2B5EF4-FFF2-40B4-BE49-F238E27FC236}">
                <a16:creationId xmlns:a16="http://schemas.microsoft.com/office/drawing/2014/main" id="{EDD95E2C-9432-4263-81CF-C9793075A440}"/>
              </a:ext>
            </a:extLst>
          </p:cNvPr>
          <p:cNvSpPr txBox="1"/>
          <p:nvPr/>
        </p:nvSpPr>
        <p:spPr>
          <a:xfrm>
            <a:off x="5605884" y="2378769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s-ES" sz="12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ct083_univ_sal_d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8" name="CuadroTexto 86">
            <a:extLst>
              <a:ext uri="{FF2B5EF4-FFF2-40B4-BE49-F238E27FC236}">
                <a16:creationId xmlns:a16="http://schemas.microsoft.com/office/drawing/2014/main" id="{CB296B5D-A4DE-421A-9EEB-073815D01F3C}"/>
              </a:ext>
            </a:extLst>
          </p:cNvPr>
          <p:cNvSpPr txBox="1"/>
          <p:nvPr/>
        </p:nvSpPr>
        <p:spPr>
          <a:xfrm>
            <a:off x="4051261" y="2660348"/>
            <a:ext cx="1440000" cy="268669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ALM 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(</a:t>
            </a:r>
            <a:r>
              <a:rPr lang="es-ES" sz="900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cd_alm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510" name="CuadroTexto 86">
            <a:extLst>
              <a:ext uri="{FF2B5EF4-FFF2-40B4-BE49-F238E27FC236}">
                <a16:creationId xmlns:a16="http://schemas.microsoft.com/office/drawing/2014/main" id="{E96021D2-4333-4B65-B765-E9409AFD8D67}"/>
              </a:ext>
            </a:extLst>
          </p:cNvPr>
          <p:cNvSpPr txBox="1"/>
          <p:nvPr/>
        </p:nvSpPr>
        <p:spPr>
          <a:xfrm>
            <a:off x="4051261" y="1823892"/>
            <a:ext cx="2340000" cy="268669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</a:t>
            </a:r>
            <a:r>
              <a:rPr lang="es-ES" sz="12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Contabilidade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 (</a:t>
            </a:r>
            <a:r>
              <a:rPr lang="es-ES" sz="900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cd_captools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511" name="CuadroTexto 86">
            <a:extLst>
              <a:ext uri="{FF2B5EF4-FFF2-40B4-BE49-F238E27FC236}">
                <a16:creationId xmlns:a16="http://schemas.microsoft.com/office/drawing/2014/main" id="{F3340933-9AE8-48A9-BAE9-B668173CF5C7}"/>
              </a:ext>
            </a:extLst>
          </p:cNvPr>
          <p:cNvSpPr txBox="1"/>
          <p:nvPr/>
        </p:nvSpPr>
        <p:spPr>
          <a:xfrm>
            <a:off x="7956000" y="2556432"/>
            <a:ext cx="157813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al033_sld_mo_d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39125400-782B-45F2-A027-4FB070BC879B}"/>
              </a:ext>
            </a:extLst>
          </p:cNvPr>
          <p:cNvSpPr txBox="1"/>
          <p:nvPr/>
        </p:nvSpPr>
        <p:spPr>
          <a:xfrm>
            <a:off x="1101882" y="4169067"/>
            <a:ext cx="557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…</a:t>
            </a:r>
          </a:p>
        </p:txBody>
      </p:sp>
      <p:sp>
        <p:nvSpPr>
          <p:cNvPr id="552" name="CuadroTexto 86">
            <a:extLst>
              <a:ext uri="{FF2B5EF4-FFF2-40B4-BE49-F238E27FC236}">
                <a16:creationId xmlns:a16="http://schemas.microsoft.com/office/drawing/2014/main" id="{352E6A85-611B-414D-89D5-0CCE345F7538}"/>
              </a:ext>
            </a:extLst>
          </p:cNvPr>
          <p:cNvSpPr txBox="1"/>
          <p:nvPr/>
        </p:nvSpPr>
        <p:spPr>
          <a:xfrm>
            <a:off x="5602436" y="2132713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ct086</a:t>
            </a:r>
            <a:r>
              <a:rPr lang="pt-PT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pt-PT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univ_per_d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54" name="Conexão em ângulos retos 128">
            <a:extLst>
              <a:ext uri="{FF2B5EF4-FFF2-40B4-BE49-F238E27FC236}">
                <a16:creationId xmlns:a16="http://schemas.microsoft.com/office/drawing/2014/main" id="{08DEF575-C77C-459C-AFFB-2D0B41D15294}"/>
              </a:ext>
            </a:extLst>
          </p:cNvPr>
          <p:cNvCxnSpPr>
            <a:cxnSpLocks/>
            <a:stCxn id="504" idx="3"/>
            <a:endCxn id="511" idx="1"/>
          </p:cNvCxnSpPr>
          <p:nvPr/>
        </p:nvCxnSpPr>
        <p:spPr>
          <a:xfrm>
            <a:off x="6901884" y="2486769"/>
            <a:ext cx="1054116" cy="177663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Conector angular 217">
            <a:extLst>
              <a:ext uri="{FF2B5EF4-FFF2-40B4-BE49-F238E27FC236}">
                <a16:creationId xmlns:a16="http://schemas.microsoft.com/office/drawing/2014/main" id="{8D390C88-E93F-43C5-90BD-3C87CBA34D7D}"/>
              </a:ext>
            </a:extLst>
          </p:cNvPr>
          <p:cNvCxnSpPr>
            <a:cxnSpLocks/>
            <a:stCxn id="489" idx="4"/>
            <a:endCxn id="655" idx="1"/>
          </p:cNvCxnSpPr>
          <p:nvPr/>
        </p:nvCxnSpPr>
        <p:spPr>
          <a:xfrm flipV="1">
            <a:off x="3665364" y="2475257"/>
            <a:ext cx="392520" cy="443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Conexão em ângulos retos 128">
            <a:extLst>
              <a:ext uri="{FF2B5EF4-FFF2-40B4-BE49-F238E27FC236}">
                <a16:creationId xmlns:a16="http://schemas.microsoft.com/office/drawing/2014/main" id="{612A7BC7-9737-464A-9108-7F1378C184B1}"/>
              </a:ext>
            </a:extLst>
          </p:cNvPr>
          <p:cNvCxnSpPr>
            <a:cxnSpLocks/>
            <a:stCxn id="504" idx="3"/>
            <a:endCxn id="481" idx="1"/>
          </p:cNvCxnSpPr>
          <p:nvPr/>
        </p:nvCxnSpPr>
        <p:spPr>
          <a:xfrm flipV="1">
            <a:off x="6901884" y="2448858"/>
            <a:ext cx="1054116" cy="37911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6" name="CuadroTexto 86">
            <a:extLst>
              <a:ext uri="{FF2B5EF4-FFF2-40B4-BE49-F238E27FC236}">
                <a16:creationId xmlns:a16="http://schemas.microsoft.com/office/drawing/2014/main" id="{6BC0609C-1F5A-4C41-B648-6EB4D5EBB6D8}"/>
              </a:ext>
            </a:extLst>
          </p:cNvPr>
          <p:cNvSpPr txBox="1"/>
          <p:nvPr/>
        </p:nvSpPr>
        <p:spPr>
          <a:xfrm>
            <a:off x="7956000" y="2048640"/>
            <a:ext cx="157813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al008_peri_alm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07" name="Conexão em ângulos retos 128">
            <a:extLst>
              <a:ext uri="{FF2B5EF4-FFF2-40B4-BE49-F238E27FC236}">
                <a16:creationId xmlns:a16="http://schemas.microsoft.com/office/drawing/2014/main" id="{ABF8C9F1-DF5D-456F-8A34-0BDC4F24CDED}"/>
              </a:ext>
            </a:extLst>
          </p:cNvPr>
          <p:cNvCxnSpPr>
            <a:cxnSpLocks/>
            <a:stCxn id="552" idx="3"/>
            <a:endCxn id="606" idx="1"/>
          </p:cNvCxnSpPr>
          <p:nvPr/>
        </p:nvCxnSpPr>
        <p:spPr>
          <a:xfrm flipV="1">
            <a:off x="6898436" y="2156640"/>
            <a:ext cx="1057564" cy="840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0" name="CuadroTexto 86">
            <a:extLst>
              <a:ext uri="{FF2B5EF4-FFF2-40B4-BE49-F238E27FC236}">
                <a16:creationId xmlns:a16="http://schemas.microsoft.com/office/drawing/2014/main" id="{64774C14-6CA4-4197-BF85-63F88283865D}"/>
              </a:ext>
            </a:extLst>
          </p:cNvPr>
          <p:cNvSpPr txBox="1"/>
          <p:nvPr/>
        </p:nvSpPr>
        <p:spPr>
          <a:xfrm>
            <a:off x="7956000" y="1550450"/>
            <a:ext cx="157813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s-ES" sz="12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kt_chaves_alm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12" name="Conexão em ângulos retos 128">
            <a:extLst>
              <a:ext uri="{FF2B5EF4-FFF2-40B4-BE49-F238E27FC236}">
                <a16:creationId xmlns:a16="http://schemas.microsoft.com/office/drawing/2014/main" id="{77C8EFA7-D711-4C10-81FB-8955E99E588A}"/>
              </a:ext>
            </a:extLst>
          </p:cNvPr>
          <p:cNvCxnSpPr>
            <a:cxnSpLocks/>
            <a:stCxn id="610" idx="3"/>
            <a:endCxn id="606" idx="3"/>
          </p:cNvCxnSpPr>
          <p:nvPr/>
        </p:nvCxnSpPr>
        <p:spPr>
          <a:xfrm>
            <a:off x="9534130" y="1658450"/>
            <a:ext cx="12700" cy="498190"/>
          </a:xfrm>
          <a:prstGeom prst="bentConnector3">
            <a:avLst>
              <a:gd name="adj1" fmla="val 2864787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2" name="Rectángulo 302">
            <a:extLst>
              <a:ext uri="{FF2B5EF4-FFF2-40B4-BE49-F238E27FC236}">
                <a16:creationId xmlns:a16="http://schemas.microsoft.com/office/drawing/2014/main" id="{E9D0B64A-4D75-461E-BE54-2D9925C7A96E}"/>
              </a:ext>
            </a:extLst>
          </p:cNvPr>
          <p:cNvSpPr/>
          <p:nvPr/>
        </p:nvSpPr>
        <p:spPr>
          <a:xfrm>
            <a:off x="4051262" y="1339200"/>
            <a:ext cx="3016288" cy="46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625" name="CuadroTexto 86">
            <a:extLst>
              <a:ext uri="{FF2B5EF4-FFF2-40B4-BE49-F238E27FC236}">
                <a16:creationId xmlns:a16="http://schemas.microsoft.com/office/drawing/2014/main" id="{1B98FB02-2947-4954-B345-5F7194DE5606}"/>
              </a:ext>
            </a:extLst>
          </p:cNvPr>
          <p:cNvSpPr txBox="1"/>
          <p:nvPr/>
        </p:nvSpPr>
        <p:spPr>
          <a:xfrm>
            <a:off x="4057884" y="1303181"/>
            <a:ext cx="2448000" cy="268669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</a:t>
            </a:r>
            <a:r>
              <a:rPr lang="es-ES" sz="12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Rentabilidade</a:t>
            </a:r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(</a:t>
            </a:r>
            <a:r>
              <a:rPr lang="es-ES" sz="900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cd_captools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626" name="TextBox 625">
            <a:extLst>
              <a:ext uri="{FF2B5EF4-FFF2-40B4-BE49-F238E27FC236}">
                <a16:creationId xmlns:a16="http://schemas.microsoft.com/office/drawing/2014/main" id="{17CA68B8-744F-447B-9880-E6CB4721E7AF}"/>
              </a:ext>
            </a:extLst>
          </p:cNvPr>
          <p:cNvSpPr txBox="1"/>
          <p:nvPr/>
        </p:nvSpPr>
        <p:spPr>
          <a:xfrm>
            <a:off x="4549728" y="2195939"/>
            <a:ext cx="557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…</a:t>
            </a:r>
          </a:p>
        </p:txBody>
      </p:sp>
      <p:sp>
        <p:nvSpPr>
          <p:cNvPr id="621" name="CuadroTexto 86">
            <a:extLst>
              <a:ext uri="{FF2B5EF4-FFF2-40B4-BE49-F238E27FC236}">
                <a16:creationId xmlns:a16="http://schemas.microsoft.com/office/drawing/2014/main" id="{59C0BEBB-8713-4902-B2F2-7AE0D693C370}"/>
              </a:ext>
            </a:extLst>
          </p:cNvPr>
          <p:cNvSpPr txBox="1"/>
          <p:nvPr/>
        </p:nvSpPr>
        <p:spPr>
          <a:xfrm>
            <a:off x="5609795" y="1550105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s-ES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kt_chaves_mis_d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99B266FF-EEE4-43B6-A00F-E5681E4EE829}"/>
              </a:ext>
            </a:extLst>
          </p:cNvPr>
          <p:cNvSpPr txBox="1"/>
          <p:nvPr/>
        </p:nvSpPr>
        <p:spPr>
          <a:xfrm>
            <a:off x="4527894" y="1431714"/>
            <a:ext cx="557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…</a:t>
            </a:r>
          </a:p>
        </p:txBody>
      </p:sp>
      <p:cxnSp>
        <p:nvCxnSpPr>
          <p:cNvPr id="628" name="Conexão em ângulos retos 128">
            <a:extLst>
              <a:ext uri="{FF2B5EF4-FFF2-40B4-BE49-F238E27FC236}">
                <a16:creationId xmlns:a16="http://schemas.microsoft.com/office/drawing/2014/main" id="{9B3E48C5-24F4-40D1-A4E8-1053D0FCCDFF}"/>
              </a:ext>
            </a:extLst>
          </p:cNvPr>
          <p:cNvCxnSpPr>
            <a:cxnSpLocks/>
            <a:stCxn id="621" idx="3"/>
            <a:endCxn id="610" idx="1"/>
          </p:cNvCxnSpPr>
          <p:nvPr/>
        </p:nvCxnSpPr>
        <p:spPr>
          <a:xfrm>
            <a:off x="6905795" y="1658105"/>
            <a:ext cx="1050205" cy="34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Rectángulo 72">
            <a:extLst>
              <a:ext uri="{FF2B5EF4-FFF2-40B4-BE49-F238E27FC236}">
                <a16:creationId xmlns:a16="http://schemas.microsoft.com/office/drawing/2014/main" id="{CE3BC4BB-CDB8-4A90-8E1D-0B1869422C12}"/>
              </a:ext>
            </a:extLst>
          </p:cNvPr>
          <p:cNvSpPr/>
          <p:nvPr/>
        </p:nvSpPr>
        <p:spPr>
          <a:xfrm>
            <a:off x="4938390" y="1048103"/>
            <a:ext cx="176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Input Motor</a:t>
            </a:r>
          </a:p>
        </p:txBody>
      </p:sp>
      <p:cxnSp>
        <p:nvCxnSpPr>
          <p:cNvPr id="632" name="Conector angular 217">
            <a:extLst>
              <a:ext uri="{FF2B5EF4-FFF2-40B4-BE49-F238E27FC236}">
                <a16:creationId xmlns:a16="http://schemas.microsoft.com/office/drawing/2014/main" id="{739E8F36-BAD7-4C21-9D4A-FF5C9ECEF302}"/>
              </a:ext>
            </a:extLst>
          </p:cNvPr>
          <p:cNvCxnSpPr>
            <a:cxnSpLocks/>
            <a:stCxn id="155" idx="4"/>
            <a:endCxn id="622" idx="1"/>
          </p:cNvCxnSpPr>
          <p:nvPr/>
        </p:nvCxnSpPr>
        <p:spPr>
          <a:xfrm>
            <a:off x="3665364" y="1570558"/>
            <a:ext cx="385898" cy="2642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5" name="TextBox 654">
            <a:extLst>
              <a:ext uri="{FF2B5EF4-FFF2-40B4-BE49-F238E27FC236}">
                <a16:creationId xmlns:a16="http://schemas.microsoft.com/office/drawing/2014/main" id="{EE5A140C-785A-4A64-80AD-10DDA18C5814}"/>
              </a:ext>
            </a:extLst>
          </p:cNvPr>
          <p:cNvSpPr txBox="1"/>
          <p:nvPr/>
        </p:nvSpPr>
        <p:spPr>
          <a:xfrm>
            <a:off x="4057884" y="2290591"/>
            <a:ext cx="650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696" name="Conexão em ângulos retos 128">
            <a:extLst>
              <a:ext uri="{FF2B5EF4-FFF2-40B4-BE49-F238E27FC236}">
                <a16:creationId xmlns:a16="http://schemas.microsoft.com/office/drawing/2014/main" id="{ECEBFCF2-F795-4E6E-9CB9-0BC350968EF9}"/>
              </a:ext>
            </a:extLst>
          </p:cNvPr>
          <p:cNvCxnSpPr>
            <a:cxnSpLocks/>
            <a:stCxn id="211" idx="3"/>
            <a:endCxn id="606" idx="3"/>
          </p:cNvCxnSpPr>
          <p:nvPr/>
        </p:nvCxnSpPr>
        <p:spPr>
          <a:xfrm flipV="1">
            <a:off x="9533854" y="2156640"/>
            <a:ext cx="276" cy="2720503"/>
          </a:xfrm>
          <a:prstGeom prst="bentConnector3">
            <a:avLst>
              <a:gd name="adj1" fmla="val 131921739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Conexão em ângulos retos 128">
            <a:extLst>
              <a:ext uri="{FF2B5EF4-FFF2-40B4-BE49-F238E27FC236}">
                <a16:creationId xmlns:a16="http://schemas.microsoft.com/office/drawing/2014/main" id="{5505370E-FF7F-412B-A325-C33F724F1FFF}"/>
              </a:ext>
            </a:extLst>
          </p:cNvPr>
          <p:cNvCxnSpPr>
            <a:cxnSpLocks/>
            <a:stCxn id="211" idx="0"/>
            <a:endCxn id="511" idx="2"/>
          </p:cNvCxnSpPr>
          <p:nvPr/>
        </p:nvCxnSpPr>
        <p:spPr>
          <a:xfrm rot="16200000" flipV="1">
            <a:off x="8628905" y="2888593"/>
            <a:ext cx="232711" cy="389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7" name="CuadroTexto 86">
            <a:extLst>
              <a:ext uri="{FF2B5EF4-FFF2-40B4-BE49-F238E27FC236}">
                <a16:creationId xmlns:a16="http://schemas.microsoft.com/office/drawing/2014/main" id="{C6375818-F777-4C58-A530-16C972DA3E42}"/>
              </a:ext>
            </a:extLst>
          </p:cNvPr>
          <p:cNvSpPr txBox="1"/>
          <p:nvPr/>
        </p:nvSpPr>
        <p:spPr>
          <a:xfrm>
            <a:off x="5605200" y="5619911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al611_deriv_aux</a:t>
            </a:r>
          </a:p>
        </p:txBody>
      </p:sp>
      <p:sp>
        <p:nvSpPr>
          <p:cNvPr id="738" name="CuadroTexto 86">
            <a:extLst>
              <a:ext uri="{FF2B5EF4-FFF2-40B4-BE49-F238E27FC236}">
                <a16:creationId xmlns:a16="http://schemas.microsoft.com/office/drawing/2014/main" id="{15E7FF8B-6681-44E0-8604-75D7F0CC6E6F}"/>
              </a:ext>
            </a:extLst>
          </p:cNvPr>
          <p:cNvSpPr txBox="1"/>
          <p:nvPr/>
        </p:nvSpPr>
        <p:spPr>
          <a:xfrm>
            <a:off x="5605200" y="5354680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al613_swapsc_aux</a:t>
            </a:r>
          </a:p>
        </p:txBody>
      </p:sp>
      <p:cxnSp>
        <p:nvCxnSpPr>
          <p:cNvPr id="773" name="Conector angular 217">
            <a:extLst>
              <a:ext uri="{FF2B5EF4-FFF2-40B4-BE49-F238E27FC236}">
                <a16:creationId xmlns:a16="http://schemas.microsoft.com/office/drawing/2014/main" id="{784A30C4-B167-4C6F-928B-15FDFF4096AA}"/>
              </a:ext>
            </a:extLst>
          </p:cNvPr>
          <p:cNvCxnSpPr>
            <a:cxnSpLocks/>
            <a:stCxn id="776" idx="3"/>
            <a:endCxn id="780" idx="3"/>
          </p:cNvCxnSpPr>
          <p:nvPr/>
        </p:nvCxnSpPr>
        <p:spPr>
          <a:xfrm flipH="1" flipV="1">
            <a:off x="6896933" y="5265199"/>
            <a:ext cx="4405" cy="253476"/>
          </a:xfrm>
          <a:prstGeom prst="bentConnector3">
            <a:avLst>
              <a:gd name="adj1" fmla="val -5189557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6" name="TextBox 775">
            <a:extLst>
              <a:ext uri="{FF2B5EF4-FFF2-40B4-BE49-F238E27FC236}">
                <a16:creationId xmlns:a16="http://schemas.microsoft.com/office/drawing/2014/main" id="{89F19950-F8D3-4EBA-9227-D865B440FA3B}"/>
              </a:ext>
            </a:extLst>
          </p:cNvPr>
          <p:cNvSpPr txBox="1"/>
          <p:nvPr/>
        </p:nvSpPr>
        <p:spPr>
          <a:xfrm>
            <a:off x="6517072" y="5334009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780" name="TextBox 779">
            <a:extLst>
              <a:ext uri="{FF2B5EF4-FFF2-40B4-BE49-F238E27FC236}">
                <a16:creationId xmlns:a16="http://schemas.microsoft.com/office/drawing/2014/main" id="{B89E7147-9F05-4E28-9442-CE2A22D7CE3E}"/>
              </a:ext>
            </a:extLst>
          </p:cNvPr>
          <p:cNvSpPr txBox="1"/>
          <p:nvPr/>
        </p:nvSpPr>
        <p:spPr>
          <a:xfrm>
            <a:off x="6512667" y="5080533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782" name="Conector angular 217">
            <a:extLst>
              <a:ext uri="{FF2B5EF4-FFF2-40B4-BE49-F238E27FC236}">
                <a16:creationId xmlns:a16="http://schemas.microsoft.com/office/drawing/2014/main" id="{03963E70-5794-430A-B6E3-98C5B62FB721}"/>
              </a:ext>
            </a:extLst>
          </p:cNvPr>
          <p:cNvCxnSpPr>
            <a:cxnSpLocks/>
            <a:stCxn id="336" idx="3"/>
            <a:endCxn id="800" idx="1"/>
          </p:cNvCxnSpPr>
          <p:nvPr/>
        </p:nvCxnSpPr>
        <p:spPr>
          <a:xfrm flipV="1">
            <a:off x="2045692" y="5776646"/>
            <a:ext cx="3563028" cy="115666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Conector angular 217">
            <a:extLst>
              <a:ext uri="{FF2B5EF4-FFF2-40B4-BE49-F238E27FC236}">
                <a16:creationId xmlns:a16="http://schemas.microsoft.com/office/drawing/2014/main" id="{50DF46C2-2261-4118-8D6D-4820719DF98A}"/>
              </a:ext>
            </a:extLst>
          </p:cNvPr>
          <p:cNvCxnSpPr>
            <a:cxnSpLocks/>
            <a:stCxn id="336" idx="3"/>
            <a:endCxn id="797" idx="1"/>
          </p:cNvCxnSpPr>
          <p:nvPr/>
        </p:nvCxnSpPr>
        <p:spPr>
          <a:xfrm flipV="1">
            <a:off x="2045692" y="5522439"/>
            <a:ext cx="3560599" cy="369873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7" name="TextBox 796">
            <a:extLst>
              <a:ext uri="{FF2B5EF4-FFF2-40B4-BE49-F238E27FC236}">
                <a16:creationId xmlns:a16="http://schemas.microsoft.com/office/drawing/2014/main" id="{CC69B6BB-8CBE-4B94-8CC5-843283EA7493}"/>
              </a:ext>
            </a:extLst>
          </p:cNvPr>
          <p:cNvSpPr txBox="1"/>
          <p:nvPr/>
        </p:nvSpPr>
        <p:spPr>
          <a:xfrm>
            <a:off x="5606291" y="5337773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:a16="http://schemas.microsoft.com/office/drawing/2014/main" id="{658B2AB9-DA54-4C83-8463-40A0F90C9B53}"/>
              </a:ext>
            </a:extLst>
          </p:cNvPr>
          <p:cNvSpPr txBox="1"/>
          <p:nvPr/>
        </p:nvSpPr>
        <p:spPr>
          <a:xfrm>
            <a:off x="5608720" y="5591980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1111FC81-FC71-488E-8EA9-2FF31D7D72F8}"/>
              </a:ext>
            </a:extLst>
          </p:cNvPr>
          <p:cNvSpPr txBox="1"/>
          <p:nvPr/>
        </p:nvSpPr>
        <p:spPr>
          <a:xfrm>
            <a:off x="5588485" y="5494284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803" name="Conector angular 217">
            <a:extLst>
              <a:ext uri="{FF2B5EF4-FFF2-40B4-BE49-F238E27FC236}">
                <a16:creationId xmlns:a16="http://schemas.microsoft.com/office/drawing/2014/main" id="{E1DBEC42-FD82-40AF-9510-7DA03ECE361B}"/>
              </a:ext>
            </a:extLst>
          </p:cNvPr>
          <p:cNvCxnSpPr>
            <a:cxnSpLocks/>
            <a:stCxn id="802" idx="1"/>
            <a:endCxn id="805" idx="1"/>
          </p:cNvCxnSpPr>
          <p:nvPr/>
        </p:nvCxnSpPr>
        <p:spPr>
          <a:xfrm rot="10800000" flipH="1">
            <a:off x="5588485" y="4990864"/>
            <a:ext cx="24998" cy="688086"/>
          </a:xfrm>
          <a:prstGeom prst="bentConnector3">
            <a:avLst>
              <a:gd name="adj1" fmla="val -755708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5" name="TextBox 804">
            <a:extLst>
              <a:ext uri="{FF2B5EF4-FFF2-40B4-BE49-F238E27FC236}">
                <a16:creationId xmlns:a16="http://schemas.microsoft.com/office/drawing/2014/main" id="{4B437D66-B424-4B76-B4EE-688B0E785B5B}"/>
              </a:ext>
            </a:extLst>
          </p:cNvPr>
          <p:cNvSpPr txBox="1"/>
          <p:nvPr/>
        </p:nvSpPr>
        <p:spPr>
          <a:xfrm>
            <a:off x="5613483" y="4806198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08" name="TextBox 807">
            <a:extLst>
              <a:ext uri="{FF2B5EF4-FFF2-40B4-BE49-F238E27FC236}">
                <a16:creationId xmlns:a16="http://schemas.microsoft.com/office/drawing/2014/main" id="{DDCD902A-D17E-4258-844D-BCE34B5C9DCA}"/>
              </a:ext>
            </a:extLst>
          </p:cNvPr>
          <p:cNvSpPr txBox="1"/>
          <p:nvPr/>
        </p:nvSpPr>
        <p:spPr>
          <a:xfrm>
            <a:off x="5608720" y="4708415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41" name="TextBox 840">
            <a:extLst>
              <a:ext uri="{FF2B5EF4-FFF2-40B4-BE49-F238E27FC236}">
                <a16:creationId xmlns:a16="http://schemas.microsoft.com/office/drawing/2014/main" id="{A57C9012-BF04-4C76-B467-34CF75BBF6EB}"/>
              </a:ext>
            </a:extLst>
          </p:cNvPr>
          <p:cNvSpPr txBox="1"/>
          <p:nvPr/>
        </p:nvSpPr>
        <p:spPr>
          <a:xfrm>
            <a:off x="10489302" y="1083000"/>
            <a:ext cx="1493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/>
            <a:r>
              <a:rPr lang="pt-PT" sz="900" baseline="30000" dirty="0"/>
              <a:t>(1) 	</a:t>
            </a:r>
            <a:r>
              <a:rPr lang="pt-PT" sz="900" dirty="0"/>
              <a:t>Com respeito à tabela al001_cnt_core apresentam-se as várias origens e a respetiva fonte de dados.</a:t>
            </a:r>
          </a:p>
        </p:txBody>
      </p:sp>
      <p:cxnSp>
        <p:nvCxnSpPr>
          <p:cNvPr id="144" name="Conexão em ângulos retos 128">
            <a:extLst>
              <a:ext uri="{FF2B5EF4-FFF2-40B4-BE49-F238E27FC236}">
                <a16:creationId xmlns:a16="http://schemas.microsoft.com/office/drawing/2014/main" id="{8648AFFB-48A6-4399-AF28-3696C5709039}"/>
              </a:ext>
            </a:extLst>
          </p:cNvPr>
          <p:cNvCxnSpPr>
            <a:cxnSpLocks/>
            <a:stCxn id="610" idx="3"/>
            <a:endCxn id="481" idx="3"/>
          </p:cNvCxnSpPr>
          <p:nvPr/>
        </p:nvCxnSpPr>
        <p:spPr>
          <a:xfrm>
            <a:off x="9534130" y="1658450"/>
            <a:ext cx="12700" cy="790408"/>
          </a:xfrm>
          <a:prstGeom prst="bentConnector3">
            <a:avLst>
              <a:gd name="adj1" fmla="val 28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Upload with solid fill">
            <a:extLst>
              <a:ext uri="{FF2B5EF4-FFF2-40B4-BE49-F238E27FC236}">
                <a16:creationId xmlns:a16="http://schemas.microsoft.com/office/drawing/2014/main" id="{4A1D448D-E158-4695-9601-456125D3FD5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1200" y="3477627"/>
            <a:ext cx="216000" cy="216000"/>
          </a:xfrm>
          <a:prstGeom prst="rect">
            <a:avLst/>
          </a:prstGeom>
        </p:spPr>
      </p:pic>
      <p:pic>
        <p:nvPicPr>
          <p:cNvPr id="11" name="Graphic 10" descr="Tools with solid fill">
            <a:extLst>
              <a:ext uri="{FF2B5EF4-FFF2-40B4-BE49-F238E27FC236}">
                <a16:creationId xmlns:a16="http://schemas.microsoft.com/office/drawing/2014/main" id="{512A8056-EB50-4F81-AF03-90A1F7A35CB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01200" y="3989067"/>
            <a:ext cx="180000" cy="180000"/>
          </a:xfrm>
          <a:prstGeom prst="rect">
            <a:avLst/>
          </a:prstGeom>
        </p:spPr>
      </p:pic>
      <p:pic>
        <p:nvPicPr>
          <p:cNvPr id="156" name="Graphic 155" descr="Upload with solid fill">
            <a:extLst>
              <a:ext uri="{FF2B5EF4-FFF2-40B4-BE49-F238E27FC236}">
                <a16:creationId xmlns:a16="http://schemas.microsoft.com/office/drawing/2014/main" id="{E75C4A5B-CDA8-42E1-8ADB-F4EC3B786D5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8000" y="6432849"/>
            <a:ext cx="216000" cy="216000"/>
          </a:xfrm>
          <a:prstGeom prst="rect">
            <a:avLst/>
          </a:prstGeom>
        </p:spPr>
      </p:pic>
      <p:pic>
        <p:nvPicPr>
          <p:cNvPr id="158" name="Graphic 157" descr="Upload with solid fill">
            <a:extLst>
              <a:ext uri="{FF2B5EF4-FFF2-40B4-BE49-F238E27FC236}">
                <a16:creationId xmlns:a16="http://schemas.microsoft.com/office/drawing/2014/main" id="{8CC802CE-C3D0-45F2-B808-93EED105492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8000" y="6101587"/>
            <a:ext cx="216000" cy="216000"/>
          </a:xfrm>
          <a:prstGeom prst="rect">
            <a:avLst/>
          </a:prstGeom>
        </p:spPr>
      </p:pic>
      <p:pic>
        <p:nvPicPr>
          <p:cNvPr id="162" name="Graphic 161" descr="Upload with solid fill">
            <a:extLst>
              <a:ext uri="{FF2B5EF4-FFF2-40B4-BE49-F238E27FC236}">
                <a16:creationId xmlns:a16="http://schemas.microsoft.com/office/drawing/2014/main" id="{D0997653-4DF4-4086-A2E0-BD50000EAA7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8000" y="5838187"/>
            <a:ext cx="216000" cy="216000"/>
          </a:xfrm>
          <a:prstGeom prst="rect">
            <a:avLst/>
          </a:prstGeom>
        </p:spPr>
      </p:pic>
      <p:pic>
        <p:nvPicPr>
          <p:cNvPr id="163" name="Graphic 162" descr="Upload with solid fill">
            <a:extLst>
              <a:ext uri="{FF2B5EF4-FFF2-40B4-BE49-F238E27FC236}">
                <a16:creationId xmlns:a16="http://schemas.microsoft.com/office/drawing/2014/main" id="{A3B51987-44E7-44D4-8B94-B48F2AE1D0B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8000" y="5573259"/>
            <a:ext cx="216000" cy="216000"/>
          </a:xfrm>
          <a:prstGeom prst="rect">
            <a:avLst/>
          </a:prstGeom>
        </p:spPr>
      </p:pic>
      <p:pic>
        <p:nvPicPr>
          <p:cNvPr id="164" name="Graphic 163" descr="Upload with solid fill">
            <a:extLst>
              <a:ext uri="{FF2B5EF4-FFF2-40B4-BE49-F238E27FC236}">
                <a16:creationId xmlns:a16="http://schemas.microsoft.com/office/drawing/2014/main" id="{B367EA74-2537-4448-AF53-729DB33044C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8000" y="5310028"/>
            <a:ext cx="216000" cy="216000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D8F6FA41-A0CE-4B4A-86BE-10468AC9F4D2}"/>
              </a:ext>
            </a:extLst>
          </p:cNvPr>
          <p:cNvSpPr txBox="1"/>
          <p:nvPr/>
        </p:nvSpPr>
        <p:spPr>
          <a:xfrm>
            <a:off x="10671068" y="3345528"/>
            <a:ext cx="144642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Ficheiro de dados carregado pelo </a:t>
            </a:r>
            <a:r>
              <a:rPr lang="pt-PT" sz="900" dirty="0" err="1"/>
              <a:t>Front</a:t>
            </a:r>
            <a:r>
              <a:rPr lang="pt-PT" sz="900" dirty="0"/>
              <a:t> do Data </a:t>
            </a:r>
            <a:r>
              <a:rPr lang="pt-PT" sz="900" dirty="0" err="1"/>
              <a:t>Lake</a:t>
            </a:r>
            <a:r>
              <a:rPr lang="pt-PT" sz="900" dirty="0"/>
              <a:t>.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D94EBF9-2ADC-450B-9C0D-DB9F91A972EA}"/>
              </a:ext>
            </a:extLst>
          </p:cNvPr>
          <p:cNvSpPr txBox="1"/>
          <p:nvPr/>
        </p:nvSpPr>
        <p:spPr>
          <a:xfrm>
            <a:off x="10671068" y="3845902"/>
            <a:ext cx="144642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Parametrização efetuada no </a:t>
            </a:r>
            <a:r>
              <a:rPr lang="pt-PT" sz="900" dirty="0" err="1"/>
              <a:t>Front</a:t>
            </a:r>
            <a:r>
              <a:rPr lang="pt-PT" sz="900" dirty="0"/>
              <a:t> do Data </a:t>
            </a:r>
            <a:r>
              <a:rPr lang="pt-PT" sz="900" dirty="0" err="1"/>
              <a:t>Lake</a:t>
            </a:r>
            <a:r>
              <a:rPr lang="pt-PT" sz="900" dirty="0"/>
              <a:t>.</a:t>
            </a:r>
          </a:p>
        </p:txBody>
      </p:sp>
      <p:sp>
        <p:nvSpPr>
          <p:cNvPr id="154" name="CuadroTexto 86">
            <a:extLst>
              <a:ext uri="{FF2B5EF4-FFF2-40B4-BE49-F238E27FC236}">
                <a16:creationId xmlns:a16="http://schemas.microsoft.com/office/drawing/2014/main" id="{2B90D466-F58D-4462-9BBA-FD3F8D3DD0C6}"/>
              </a:ext>
            </a:extLst>
          </p:cNvPr>
          <p:cNvSpPr txBox="1"/>
          <p:nvPr/>
        </p:nvSpPr>
        <p:spPr>
          <a:xfrm>
            <a:off x="4212000" y="3149666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0" bIns="0" rtlCol="0" anchor="ctr" anchorCtr="0">
            <a:noAutofit/>
          </a:bodyPr>
          <a:lstStyle/>
          <a:p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ept01_contas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68" name="CuadroTexto 86">
            <a:extLst>
              <a:ext uri="{FF2B5EF4-FFF2-40B4-BE49-F238E27FC236}">
                <a16:creationId xmlns:a16="http://schemas.microsoft.com/office/drawing/2014/main" id="{527DDD7A-A5BC-4665-9EE7-DF0502AEE595}"/>
              </a:ext>
            </a:extLst>
          </p:cNvPr>
          <p:cNvSpPr txBox="1"/>
          <p:nvPr/>
        </p:nvSpPr>
        <p:spPr>
          <a:xfrm>
            <a:off x="4212000" y="3386029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0" bIns="0" rtlCol="0" anchor="ctr" anchorCtr="0">
            <a:noAutofit/>
          </a:bodyPr>
          <a:lstStyle/>
          <a:p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ept04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69" name="Conector angular 217">
            <a:extLst>
              <a:ext uri="{FF2B5EF4-FFF2-40B4-BE49-F238E27FC236}">
                <a16:creationId xmlns:a16="http://schemas.microsoft.com/office/drawing/2014/main" id="{3612CA27-A2BD-4CCB-AA80-7D5001FFED17}"/>
              </a:ext>
            </a:extLst>
          </p:cNvPr>
          <p:cNvCxnSpPr>
            <a:cxnSpLocks/>
            <a:stCxn id="106" idx="3"/>
            <a:endCxn id="154" idx="1"/>
          </p:cNvCxnSpPr>
          <p:nvPr/>
        </p:nvCxnSpPr>
        <p:spPr>
          <a:xfrm flipV="1">
            <a:off x="2058259" y="3257666"/>
            <a:ext cx="2153741" cy="334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ector angular 217">
            <a:extLst>
              <a:ext uri="{FF2B5EF4-FFF2-40B4-BE49-F238E27FC236}">
                <a16:creationId xmlns:a16="http://schemas.microsoft.com/office/drawing/2014/main" id="{E8E6882E-7945-4D64-A9C8-4715F2D6AC29}"/>
              </a:ext>
            </a:extLst>
          </p:cNvPr>
          <p:cNvCxnSpPr>
            <a:cxnSpLocks/>
            <a:stCxn id="106" idx="3"/>
            <a:endCxn id="168" idx="1"/>
          </p:cNvCxnSpPr>
          <p:nvPr/>
        </p:nvCxnSpPr>
        <p:spPr>
          <a:xfrm>
            <a:off x="2058259" y="3258000"/>
            <a:ext cx="2153741" cy="236029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CuadroTexto 86">
            <a:extLst>
              <a:ext uri="{FF2B5EF4-FFF2-40B4-BE49-F238E27FC236}">
                <a16:creationId xmlns:a16="http://schemas.microsoft.com/office/drawing/2014/main" id="{B502A9D6-CDA4-494E-8931-38D5FE9FAAEA}"/>
              </a:ext>
            </a:extLst>
          </p:cNvPr>
          <p:cNvSpPr txBox="1"/>
          <p:nvPr/>
        </p:nvSpPr>
        <p:spPr>
          <a:xfrm>
            <a:off x="4212000" y="3622136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0" bIns="0" rtlCol="0" anchor="ctr" anchorCtr="0">
            <a:noAutofit/>
          </a:bodyPr>
          <a:lstStyle/>
          <a:p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dct77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78" name="Conector angular 217">
            <a:extLst>
              <a:ext uri="{FF2B5EF4-FFF2-40B4-BE49-F238E27FC236}">
                <a16:creationId xmlns:a16="http://schemas.microsoft.com/office/drawing/2014/main" id="{4E157B55-8E0C-4ED2-A4F0-184C5F9E9F7D}"/>
              </a:ext>
            </a:extLst>
          </p:cNvPr>
          <p:cNvCxnSpPr>
            <a:cxnSpLocks/>
            <a:stCxn id="109" idx="3"/>
            <a:endCxn id="177" idx="1"/>
          </p:cNvCxnSpPr>
          <p:nvPr/>
        </p:nvCxnSpPr>
        <p:spPr>
          <a:xfrm>
            <a:off x="2058259" y="3546000"/>
            <a:ext cx="2153741" cy="184136"/>
          </a:xfrm>
          <a:prstGeom prst="bentConnector3">
            <a:avLst>
              <a:gd name="adj1" fmla="val 27593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CuadroTexto 86">
            <a:extLst>
              <a:ext uri="{FF2B5EF4-FFF2-40B4-BE49-F238E27FC236}">
                <a16:creationId xmlns:a16="http://schemas.microsoft.com/office/drawing/2014/main" id="{8C21E4AA-9F3A-4C14-BA6E-21D1EBCEE93E}"/>
              </a:ext>
            </a:extLst>
          </p:cNvPr>
          <p:cNvSpPr txBox="1"/>
          <p:nvPr/>
        </p:nvSpPr>
        <p:spPr>
          <a:xfrm>
            <a:off x="4212000" y="3856717"/>
            <a:ext cx="93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0" rIns="0" bIns="0" rtlCol="0" anchor="ctr" anchorCtr="0">
            <a:noAutofit/>
          </a:bodyPr>
          <a:lstStyle/>
          <a:p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dwt460_*_</a:t>
            </a:r>
            <a:r>
              <a:rPr lang="pt-PT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dp</a:t>
            </a:r>
            <a:endParaRPr lang="es-ES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01" name="Conexão em ângulos retos 128">
            <a:extLst>
              <a:ext uri="{FF2B5EF4-FFF2-40B4-BE49-F238E27FC236}">
                <a16:creationId xmlns:a16="http://schemas.microsoft.com/office/drawing/2014/main" id="{A894402A-1239-4F9A-94A2-A1964E1F4E8E}"/>
              </a:ext>
            </a:extLst>
          </p:cNvPr>
          <p:cNvCxnSpPr>
            <a:cxnSpLocks/>
            <a:stCxn id="168" idx="3"/>
            <a:endCxn id="220" idx="1"/>
          </p:cNvCxnSpPr>
          <p:nvPr/>
        </p:nvCxnSpPr>
        <p:spPr>
          <a:xfrm>
            <a:off x="5148000" y="3494029"/>
            <a:ext cx="2906657" cy="81011"/>
          </a:xfrm>
          <a:prstGeom prst="bentConnector3">
            <a:avLst>
              <a:gd name="adj1" fmla="val 3672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xão em ângulos retos 128">
            <a:extLst>
              <a:ext uri="{FF2B5EF4-FFF2-40B4-BE49-F238E27FC236}">
                <a16:creationId xmlns:a16="http://schemas.microsoft.com/office/drawing/2014/main" id="{655CFEC0-3DE1-4295-A59F-FD23FF2C2B68}"/>
              </a:ext>
            </a:extLst>
          </p:cNvPr>
          <p:cNvCxnSpPr>
            <a:cxnSpLocks/>
            <a:stCxn id="177" idx="3"/>
            <a:endCxn id="220" idx="1"/>
          </p:cNvCxnSpPr>
          <p:nvPr/>
        </p:nvCxnSpPr>
        <p:spPr>
          <a:xfrm flipV="1">
            <a:off x="5148000" y="3575040"/>
            <a:ext cx="2906657" cy="155096"/>
          </a:xfrm>
          <a:prstGeom prst="bentConnector3">
            <a:avLst>
              <a:gd name="adj1" fmla="val 3686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exão em ângulos retos 128">
            <a:extLst>
              <a:ext uri="{FF2B5EF4-FFF2-40B4-BE49-F238E27FC236}">
                <a16:creationId xmlns:a16="http://schemas.microsoft.com/office/drawing/2014/main" id="{D7125B24-6AE6-4875-A915-2DBBD0AD3281}"/>
              </a:ext>
            </a:extLst>
          </p:cNvPr>
          <p:cNvCxnSpPr>
            <a:cxnSpLocks/>
            <a:stCxn id="186" idx="3"/>
            <a:endCxn id="262" idx="3"/>
          </p:cNvCxnSpPr>
          <p:nvPr/>
        </p:nvCxnSpPr>
        <p:spPr>
          <a:xfrm flipV="1">
            <a:off x="5148000" y="3357780"/>
            <a:ext cx="4166657" cy="606937"/>
          </a:xfrm>
          <a:prstGeom prst="bentConnector3">
            <a:avLst>
              <a:gd name="adj1" fmla="val 10381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exão em ângulos retos 128">
            <a:extLst>
              <a:ext uri="{FF2B5EF4-FFF2-40B4-BE49-F238E27FC236}">
                <a16:creationId xmlns:a16="http://schemas.microsoft.com/office/drawing/2014/main" id="{874C1FFC-486F-49C8-B98F-10A12A35D669}"/>
              </a:ext>
            </a:extLst>
          </p:cNvPr>
          <p:cNvCxnSpPr>
            <a:cxnSpLocks/>
            <a:stCxn id="154" idx="3"/>
            <a:endCxn id="220" idx="1"/>
          </p:cNvCxnSpPr>
          <p:nvPr/>
        </p:nvCxnSpPr>
        <p:spPr>
          <a:xfrm>
            <a:off x="5148000" y="3257666"/>
            <a:ext cx="2906657" cy="317374"/>
          </a:xfrm>
          <a:prstGeom prst="bentConnector3">
            <a:avLst>
              <a:gd name="adj1" fmla="val 3686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ector angular 217">
            <a:extLst>
              <a:ext uri="{FF2B5EF4-FFF2-40B4-BE49-F238E27FC236}">
                <a16:creationId xmlns:a16="http://schemas.microsoft.com/office/drawing/2014/main" id="{555EBF9B-EE0C-48E8-A7A8-598E5EF068F8}"/>
              </a:ext>
            </a:extLst>
          </p:cNvPr>
          <p:cNvCxnSpPr>
            <a:cxnSpLocks/>
            <a:stCxn id="109" idx="3"/>
            <a:endCxn id="186" idx="1"/>
          </p:cNvCxnSpPr>
          <p:nvPr/>
        </p:nvCxnSpPr>
        <p:spPr>
          <a:xfrm>
            <a:off x="2058259" y="3546000"/>
            <a:ext cx="2153741" cy="418717"/>
          </a:xfrm>
          <a:prstGeom prst="bentConnector3">
            <a:avLst>
              <a:gd name="adj1" fmla="val 27298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96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 animBg="1"/>
      <p:bldP spid="193" grpId="0" animBg="1"/>
      <p:bldP spid="600" grpId="0" animBg="1"/>
      <p:bldP spid="509" grpId="0" animBg="1"/>
      <p:bldP spid="306" grpId="0" animBg="1"/>
      <p:bldP spid="73" grpId="0" animBg="1"/>
      <p:bldP spid="344" grpId="0"/>
      <p:bldP spid="262" grpId="0" animBg="1"/>
      <p:bldP spid="220" grpId="0" animBg="1"/>
      <p:bldP spid="230" grpId="0" animBg="1"/>
      <p:bldP spid="235" grpId="0" animBg="1"/>
      <p:bldP spid="267" grpId="0" animBg="1"/>
      <p:bldP spid="278" grpId="0" animBg="1"/>
      <p:bldP spid="282" grpId="0" animBg="1"/>
      <p:bldP spid="304" grpId="0" animBg="1"/>
      <p:bldP spid="325" grpId="0" animBg="1"/>
      <p:bldP spid="338" grpId="0" animBg="1"/>
      <p:bldP spid="354" grpId="0" animBg="1"/>
      <p:bldP spid="378" grpId="0" animBg="1"/>
      <p:bldP spid="398" grpId="0" animBg="1"/>
      <p:bldP spid="622" grpId="0" animBg="1"/>
      <p:bldP spid="6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ángulo 302"/>
          <p:cNvSpPr/>
          <p:nvPr/>
        </p:nvSpPr>
        <p:spPr>
          <a:xfrm>
            <a:off x="3928458" y="792963"/>
            <a:ext cx="6523200" cy="6060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193" name="Rectángulo 302">
            <a:extLst>
              <a:ext uri="{FF2B5EF4-FFF2-40B4-BE49-F238E27FC236}">
                <a16:creationId xmlns:a16="http://schemas.microsoft.com/office/drawing/2014/main" id="{F911961E-CA0E-46BB-91ED-01550769FC11}"/>
              </a:ext>
            </a:extLst>
          </p:cNvPr>
          <p:cNvSpPr/>
          <p:nvPr/>
        </p:nvSpPr>
        <p:spPr>
          <a:xfrm>
            <a:off x="4050000" y="2663044"/>
            <a:ext cx="6236999" cy="4164965"/>
          </a:xfrm>
          <a:prstGeom prst="rect">
            <a:avLst/>
          </a:prstGeom>
          <a:solidFill>
            <a:srgbClr val="E9E7DD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600" name="Rectángulo 302">
            <a:extLst>
              <a:ext uri="{FF2B5EF4-FFF2-40B4-BE49-F238E27FC236}">
                <a16:creationId xmlns:a16="http://schemas.microsoft.com/office/drawing/2014/main" id="{4B63AA00-E4E3-4E93-A2EE-400292351E05}"/>
              </a:ext>
            </a:extLst>
          </p:cNvPr>
          <p:cNvSpPr/>
          <p:nvPr/>
        </p:nvSpPr>
        <p:spPr>
          <a:xfrm>
            <a:off x="7208278" y="1133735"/>
            <a:ext cx="3078721" cy="1530000"/>
          </a:xfrm>
          <a:prstGeom prst="rect">
            <a:avLst/>
          </a:prstGeom>
          <a:solidFill>
            <a:srgbClr val="E9E7DD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35DF0D3B-FBEF-430B-A90C-A83FED23E4C5}"/>
              </a:ext>
            </a:extLst>
          </p:cNvPr>
          <p:cNvCxnSpPr/>
          <p:nvPr/>
        </p:nvCxnSpPr>
        <p:spPr>
          <a:xfrm>
            <a:off x="7208730" y="2664870"/>
            <a:ext cx="3074400" cy="0"/>
          </a:xfrm>
          <a:prstGeom prst="line">
            <a:avLst/>
          </a:prstGeom>
          <a:ln w="15875">
            <a:solidFill>
              <a:srgbClr val="E9E7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Rectángulo 302">
            <a:extLst>
              <a:ext uri="{FF2B5EF4-FFF2-40B4-BE49-F238E27FC236}">
                <a16:creationId xmlns:a16="http://schemas.microsoft.com/office/drawing/2014/main" id="{9D222B56-2565-4A9D-BA33-1355A7CD25D0}"/>
              </a:ext>
            </a:extLst>
          </p:cNvPr>
          <p:cNvSpPr/>
          <p:nvPr/>
        </p:nvSpPr>
        <p:spPr>
          <a:xfrm>
            <a:off x="4051262" y="1134550"/>
            <a:ext cx="3096000" cy="609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pic>
        <p:nvPicPr>
          <p:cNvPr id="402" name="Graphic 401" descr="Saw blade with solid fill">
            <a:extLst>
              <a:ext uri="{FF2B5EF4-FFF2-40B4-BE49-F238E27FC236}">
                <a16:creationId xmlns:a16="http://schemas.microsoft.com/office/drawing/2014/main" id="{33EFCD4D-A6AD-42EC-9774-ED6C4B47A2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7276" y="3632776"/>
            <a:ext cx="914400" cy="914400"/>
          </a:xfrm>
          <a:prstGeom prst="rect">
            <a:avLst/>
          </a:prstGeom>
        </p:spPr>
      </p:pic>
      <p:sp>
        <p:nvSpPr>
          <p:cNvPr id="322" name="Rectángulo 68">
            <a:extLst>
              <a:ext uri="{FF2B5EF4-FFF2-40B4-BE49-F238E27FC236}">
                <a16:creationId xmlns:a16="http://schemas.microsoft.com/office/drawing/2014/main" id="{AB797238-0DFD-4439-A38A-5557CA6A063B}"/>
              </a:ext>
            </a:extLst>
          </p:cNvPr>
          <p:cNvSpPr/>
          <p:nvPr/>
        </p:nvSpPr>
        <p:spPr>
          <a:xfrm>
            <a:off x="600708" y="4271811"/>
            <a:ext cx="1610733" cy="23587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69" name="Rectángulo 68"/>
          <p:cNvSpPr/>
          <p:nvPr/>
        </p:nvSpPr>
        <p:spPr>
          <a:xfrm>
            <a:off x="601173" y="792963"/>
            <a:ext cx="1570528" cy="30529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name="Diapositiva de think-cell" r:id="rId7" imgW="444" imgH="446" progId="TCLayout.ActiveDocument.1">
                  <p:embed/>
                </p:oleObj>
              </mc:Choice>
              <mc:Fallback>
                <p:oleObj name="Diapositiva de think-cell" r:id="rId7" imgW="444" imgH="446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" name="Rectángulo 305"/>
          <p:cNvSpPr/>
          <p:nvPr/>
        </p:nvSpPr>
        <p:spPr>
          <a:xfrm>
            <a:off x="2569317" y="510376"/>
            <a:ext cx="7956000" cy="2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Repositórios e Motores de SI</a:t>
            </a:r>
          </a:p>
        </p:txBody>
      </p:sp>
      <p:sp>
        <p:nvSpPr>
          <p:cNvPr id="70" name="Rectángulo 69"/>
          <p:cNvSpPr/>
          <p:nvPr/>
        </p:nvSpPr>
        <p:spPr>
          <a:xfrm>
            <a:off x="565979" y="503992"/>
            <a:ext cx="1682025" cy="2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Sistemas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Operacionais</a:t>
            </a:r>
            <a:endParaRPr lang="en-GB" sz="1200" b="1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73" name="Rectángulo 72"/>
          <p:cNvSpPr/>
          <p:nvPr/>
        </p:nvSpPr>
        <p:spPr>
          <a:xfrm>
            <a:off x="7871516" y="900000"/>
            <a:ext cx="176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Output Motor</a:t>
            </a:r>
          </a:p>
        </p:txBody>
      </p:sp>
      <p:sp>
        <p:nvSpPr>
          <p:cNvPr id="159" name="Rectangle 18"/>
          <p:cNvSpPr>
            <a:spLocks noChangeArrowheads="1"/>
          </p:cNvSpPr>
          <p:nvPr/>
        </p:nvSpPr>
        <p:spPr bwMode="auto">
          <a:xfrm>
            <a:off x="695067" y="83225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Empréstimos CH</a:t>
            </a:r>
          </a:p>
        </p:txBody>
      </p:sp>
      <p:sp>
        <p:nvSpPr>
          <p:cNvPr id="161" name="Rectangle 32"/>
          <p:cNvSpPr>
            <a:spLocks noChangeArrowheads="1"/>
          </p:cNvSpPr>
          <p:nvPr/>
        </p:nvSpPr>
        <p:spPr bwMode="auto">
          <a:xfrm>
            <a:off x="695067" y="104825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Confirming</a:t>
            </a:r>
          </a:p>
        </p:txBody>
      </p:sp>
      <p:sp>
        <p:nvSpPr>
          <p:cNvPr id="147" name="Rectangle 30"/>
          <p:cNvSpPr>
            <a:spLocks noChangeArrowheads="1"/>
          </p:cNvSpPr>
          <p:nvPr/>
        </p:nvSpPr>
        <p:spPr bwMode="auto">
          <a:xfrm>
            <a:off x="682500" y="277635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Clientes</a:t>
            </a:r>
          </a:p>
        </p:txBody>
      </p:sp>
      <p:sp>
        <p:nvSpPr>
          <p:cNvPr id="219" name="Rectangle 18"/>
          <p:cNvSpPr>
            <a:spLocks noChangeArrowheads="1"/>
          </p:cNvSpPr>
          <p:nvPr/>
        </p:nvSpPr>
        <p:spPr bwMode="auto">
          <a:xfrm>
            <a:off x="695067" y="169625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Leasing / </a:t>
            </a:r>
            <a:r>
              <a:rPr lang="en-US" altLang="pt-PT" sz="12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Eurofac</a:t>
            </a:r>
            <a:endParaRPr lang="en-US" altLang="pt-PT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28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926" y="91414"/>
            <a:ext cx="10008000" cy="304800"/>
          </a:xfrm>
        </p:spPr>
        <p:txBody>
          <a:bodyPr/>
          <a:lstStyle/>
          <a:p>
            <a:r>
              <a:rPr lang="pt-PT" sz="1800" b="1" dirty="0">
                <a:latin typeface="+mj-lt"/>
              </a:rPr>
              <a:t>Arquitetura de Sistemas e Rastreabilidade - Motor de </a:t>
            </a:r>
            <a:r>
              <a:rPr lang="pt-PT" sz="1800" b="1" i="1" dirty="0" err="1">
                <a:latin typeface="+mj-lt"/>
              </a:rPr>
              <a:t>Asset</a:t>
            </a:r>
            <a:r>
              <a:rPr lang="pt-PT" sz="1800" b="1" i="1" dirty="0">
                <a:latin typeface="+mj-lt"/>
              </a:rPr>
              <a:t> </a:t>
            </a:r>
            <a:r>
              <a:rPr lang="pt-PT" sz="1800" b="1" i="1" dirty="0" err="1">
                <a:latin typeface="+mj-lt"/>
              </a:rPr>
              <a:t>Encumbrance</a:t>
            </a:r>
            <a:r>
              <a:rPr lang="pt-PT" sz="1800" b="1" i="1" dirty="0">
                <a:latin typeface="+mj-lt"/>
              </a:rPr>
              <a:t> </a:t>
            </a:r>
            <a:r>
              <a:rPr lang="pt-PT" sz="1800" b="1" dirty="0">
                <a:latin typeface="+mj-lt"/>
              </a:rPr>
              <a:t>ALM</a:t>
            </a:r>
            <a:endParaRPr lang="pt-PT" sz="1800" dirty="0">
              <a:latin typeface="+mj-lt"/>
            </a:endParaRPr>
          </a:p>
        </p:txBody>
      </p:sp>
      <p:sp>
        <p:nvSpPr>
          <p:cNvPr id="106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191235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Empréstimos CP</a:t>
            </a:r>
          </a:p>
        </p:txBody>
      </p:sp>
      <p:sp>
        <p:nvSpPr>
          <p:cNvPr id="109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212835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Contas</a:t>
            </a:r>
          </a:p>
        </p:txBody>
      </p:sp>
      <p:sp>
        <p:nvSpPr>
          <p:cNvPr id="110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126425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Cartões</a:t>
            </a:r>
          </a:p>
        </p:txBody>
      </p:sp>
      <p:sp>
        <p:nvSpPr>
          <p:cNvPr id="112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69" y="3152515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Sigom</a:t>
            </a:r>
          </a:p>
        </p:txBody>
      </p:sp>
      <p:sp>
        <p:nvSpPr>
          <p:cNvPr id="348" name="Rectangle 32">
            <a:extLst>
              <a:ext uri="{FF2B5EF4-FFF2-40B4-BE49-F238E27FC236}">
                <a16:creationId xmlns:a16="http://schemas.microsoft.com/office/drawing/2014/main" id="{BFC0B3F2-8F7B-4A66-9D50-FB282639A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67" y="148025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GPs/CSs</a:t>
            </a:r>
          </a:p>
        </p:txBody>
      </p:sp>
      <p:sp>
        <p:nvSpPr>
          <p:cNvPr id="142" name="CuadroTexto 86">
            <a:extLst>
              <a:ext uri="{FF2B5EF4-FFF2-40B4-BE49-F238E27FC236}">
                <a16:creationId xmlns:a16="http://schemas.microsoft.com/office/drawing/2014/main" id="{08283CAA-7CAF-4146-BF36-A0055DE7CA47}"/>
              </a:ext>
            </a:extLst>
          </p:cNvPr>
          <p:cNvSpPr txBox="1"/>
          <p:nvPr/>
        </p:nvSpPr>
        <p:spPr>
          <a:xfrm>
            <a:off x="3893156" y="795704"/>
            <a:ext cx="970263" cy="26866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Datalake</a:t>
            </a:r>
          </a:p>
        </p:txBody>
      </p:sp>
      <p:sp>
        <p:nvSpPr>
          <p:cNvPr id="442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69" y="256035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Efeitos</a:t>
            </a:r>
          </a:p>
        </p:txBody>
      </p:sp>
      <p:sp>
        <p:nvSpPr>
          <p:cNvPr id="452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764" y="2344350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Títulos</a:t>
            </a:r>
          </a:p>
        </p:txBody>
      </p:sp>
      <p:sp>
        <p:nvSpPr>
          <p:cNvPr id="192" name="CuadroTexto 86">
            <a:extLst>
              <a:ext uri="{FF2B5EF4-FFF2-40B4-BE49-F238E27FC236}">
                <a16:creationId xmlns:a16="http://schemas.microsoft.com/office/drawing/2014/main" id="{CE493FCD-08C9-4F4D-9628-32B9B9169190}"/>
              </a:ext>
            </a:extLst>
          </p:cNvPr>
          <p:cNvSpPr txBox="1"/>
          <p:nvPr/>
        </p:nvSpPr>
        <p:spPr>
          <a:xfrm>
            <a:off x="4158000" y="4583825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al702_sii_aux</a:t>
            </a:r>
          </a:p>
        </p:txBody>
      </p:sp>
      <p:sp>
        <p:nvSpPr>
          <p:cNvPr id="211" name="CuadroTexto 86">
            <a:extLst>
              <a:ext uri="{FF2B5EF4-FFF2-40B4-BE49-F238E27FC236}">
                <a16:creationId xmlns:a16="http://schemas.microsoft.com/office/drawing/2014/main" id="{2F36E1DC-E60D-4C7B-A483-2A5E387042A3}"/>
              </a:ext>
            </a:extLst>
          </p:cNvPr>
          <p:cNvSpPr txBox="1"/>
          <p:nvPr/>
        </p:nvSpPr>
        <p:spPr>
          <a:xfrm>
            <a:off x="7957054" y="2314706"/>
            <a:ext cx="1576800" cy="3714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36000" bIns="36000" rtlCol="0" anchor="t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al014_act_prim </a:t>
            </a:r>
            <a:r>
              <a:rPr lang="es-ES" sz="1200" b="1" baseline="30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(1)</a:t>
            </a:r>
            <a:endParaRPr lang="es-ES" sz="900" baseline="30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lvl="1" indent="6350"/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9" name="CuadroTexto 86">
            <a:extLst>
              <a:ext uri="{FF2B5EF4-FFF2-40B4-BE49-F238E27FC236}">
                <a16:creationId xmlns:a16="http://schemas.microsoft.com/office/drawing/2014/main" id="{7F5C8241-57F3-412B-B11C-C92BCA1D1B32}"/>
              </a:ext>
            </a:extLst>
          </p:cNvPr>
          <p:cNvSpPr txBox="1"/>
          <p:nvPr/>
        </p:nvSpPr>
        <p:spPr>
          <a:xfrm>
            <a:off x="5684400" y="3621691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al032_cliempel</a:t>
            </a:r>
          </a:p>
        </p:txBody>
      </p:sp>
      <p:sp>
        <p:nvSpPr>
          <p:cNvPr id="258" name="CuadroTexto 86">
            <a:extLst>
              <a:ext uri="{FF2B5EF4-FFF2-40B4-BE49-F238E27FC236}">
                <a16:creationId xmlns:a16="http://schemas.microsoft.com/office/drawing/2014/main" id="{2D5978AA-F9C6-4555-BB61-5A38109C2CCB}"/>
              </a:ext>
            </a:extLst>
          </p:cNvPr>
          <p:cNvSpPr txBox="1"/>
          <p:nvPr/>
        </p:nvSpPr>
        <p:spPr>
          <a:xfrm>
            <a:off x="5684400" y="4104032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al606_eurosist</a:t>
            </a:r>
          </a:p>
        </p:txBody>
      </p:sp>
      <p:sp>
        <p:nvSpPr>
          <p:cNvPr id="267" name="Rectángulo 110">
            <a:extLst>
              <a:ext uri="{FF2B5EF4-FFF2-40B4-BE49-F238E27FC236}">
                <a16:creationId xmlns:a16="http://schemas.microsoft.com/office/drawing/2014/main" id="{9F25AD6D-9DF0-4193-99B4-9DFAE600BF5A}"/>
              </a:ext>
            </a:extLst>
          </p:cNvPr>
          <p:cNvSpPr/>
          <p:nvPr/>
        </p:nvSpPr>
        <p:spPr>
          <a:xfrm>
            <a:off x="8053200" y="4364248"/>
            <a:ext cx="1368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</a:t>
            </a:r>
          </a:p>
        </p:txBody>
      </p:sp>
      <p:sp>
        <p:nvSpPr>
          <p:cNvPr id="274" name="CuadroTexto 86">
            <a:extLst>
              <a:ext uri="{FF2B5EF4-FFF2-40B4-BE49-F238E27FC236}">
                <a16:creationId xmlns:a16="http://schemas.microsoft.com/office/drawing/2014/main" id="{0980EABA-F7C0-4104-A649-EAA3A9C2D70C}"/>
              </a:ext>
            </a:extLst>
          </p:cNvPr>
          <p:cNvSpPr txBox="1"/>
          <p:nvPr/>
        </p:nvSpPr>
        <p:spPr>
          <a:xfrm>
            <a:off x="5684400" y="5305171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al609_init_marg</a:t>
            </a:r>
          </a:p>
        </p:txBody>
      </p:sp>
      <p:sp>
        <p:nvSpPr>
          <p:cNvPr id="278" name="Rectángulo 110">
            <a:extLst>
              <a:ext uri="{FF2B5EF4-FFF2-40B4-BE49-F238E27FC236}">
                <a16:creationId xmlns:a16="http://schemas.microsoft.com/office/drawing/2014/main" id="{FC2ABD69-AE9F-4BEE-BA29-53F28279C273}"/>
              </a:ext>
            </a:extLst>
          </p:cNvPr>
          <p:cNvSpPr/>
          <p:nvPr/>
        </p:nvSpPr>
        <p:spPr>
          <a:xfrm>
            <a:off x="8053200" y="5321778"/>
            <a:ext cx="1368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 DERIVADOS</a:t>
            </a:r>
          </a:p>
        </p:txBody>
      </p:sp>
      <p:sp>
        <p:nvSpPr>
          <p:cNvPr id="304" name="Rectángulo 110">
            <a:extLst>
              <a:ext uri="{FF2B5EF4-FFF2-40B4-BE49-F238E27FC236}">
                <a16:creationId xmlns:a16="http://schemas.microsoft.com/office/drawing/2014/main" id="{84F44D80-2A91-4D11-BA85-81464C941FE5}"/>
              </a:ext>
            </a:extLst>
          </p:cNvPr>
          <p:cNvSpPr/>
          <p:nvPr/>
        </p:nvSpPr>
        <p:spPr>
          <a:xfrm>
            <a:off x="8053200" y="4113166"/>
            <a:ext cx="1368000" cy="19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pt-PT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EUROSISTEMA</a:t>
            </a:r>
            <a:endParaRPr lang="es-ES" sz="9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5" name="CuadroTexto 86">
            <a:extLst>
              <a:ext uri="{FF2B5EF4-FFF2-40B4-BE49-F238E27FC236}">
                <a16:creationId xmlns:a16="http://schemas.microsoft.com/office/drawing/2014/main" id="{8C7211CE-D56E-433E-A8B1-C0E3288327D7}"/>
              </a:ext>
            </a:extLst>
          </p:cNvPr>
          <p:cNvSpPr txBox="1"/>
          <p:nvPr/>
        </p:nvSpPr>
        <p:spPr>
          <a:xfrm>
            <a:off x="5684347" y="3382841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al024_detp_bce</a:t>
            </a:r>
          </a:p>
        </p:txBody>
      </p:sp>
      <p:sp>
        <p:nvSpPr>
          <p:cNvPr id="321" name="Rectángulo 69">
            <a:extLst>
              <a:ext uri="{FF2B5EF4-FFF2-40B4-BE49-F238E27FC236}">
                <a16:creationId xmlns:a16="http://schemas.microsoft.com/office/drawing/2014/main" id="{F815D177-5D3D-4069-A2F2-3D1587A9F51F}"/>
              </a:ext>
            </a:extLst>
          </p:cNvPr>
          <p:cNvSpPr/>
          <p:nvPr/>
        </p:nvSpPr>
        <p:spPr>
          <a:xfrm>
            <a:off x="565200" y="3986586"/>
            <a:ext cx="1682025" cy="2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Front Data Lake</a:t>
            </a:r>
          </a:p>
        </p:txBody>
      </p:sp>
      <p:sp>
        <p:nvSpPr>
          <p:cNvPr id="323" name="Rectangle 32">
            <a:extLst>
              <a:ext uri="{FF2B5EF4-FFF2-40B4-BE49-F238E27FC236}">
                <a16:creationId xmlns:a16="http://schemas.microsoft.com/office/drawing/2014/main" id="{623FF2C9-EC27-4007-B305-2DC5A30D4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0" y="4885910"/>
            <a:ext cx="1363192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Financeira (Liquid.)</a:t>
            </a:r>
          </a:p>
        </p:txBody>
      </p:sp>
      <p:sp>
        <p:nvSpPr>
          <p:cNvPr id="324" name="CuadroTexto 86">
            <a:extLst>
              <a:ext uri="{FF2B5EF4-FFF2-40B4-BE49-F238E27FC236}">
                <a16:creationId xmlns:a16="http://schemas.microsoft.com/office/drawing/2014/main" id="{291A6611-1118-41EA-B1F8-AA42F751B784}"/>
              </a:ext>
            </a:extLst>
          </p:cNvPr>
          <p:cNvSpPr txBox="1"/>
          <p:nvPr/>
        </p:nvSpPr>
        <p:spPr>
          <a:xfrm>
            <a:off x="5684400" y="5063819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pt-P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l602_repos_alm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5" name="Rectángulo 110">
            <a:extLst>
              <a:ext uri="{FF2B5EF4-FFF2-40B4-BE49-F238E27FC236}">
                <a16:creationId xmlns:a16="http://schemas.microsoft.com/office/drawing/2014/main" id="{45D5EFE8-2353-48D7-B844-2EEDBBEF069D}"/>
              </a:ext>
            </a:extLst>
          </p:cNvPr>
          <p:cNvSpPr/>
          <p:nvPr/>
        </p:nvSpPr>
        <p:spPr>
          <a:xfrm>
            <a:off x="8053200" y="4840078"/>
            <a:ext cx="1368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FGD</a:t>
            </a:r>
          </a:p>
        </p:txBody>
      </p:sp>
      <p:cxnSp>
        <p:nvCxnSpPr>
          <p:cNvPr id="333" name="Conector angular 217">
            <a:extLst>
              <a:ext uri="{FF2B5EF4-FFF2-40B4-BE49-F238E27FC236}">
                <a16:creationId xmlns:a16="http://schemas.microsoft.com/office/drawing/2014/main" id="{EDDE0D51-9C05-45BD-A892-730721F098D2}"/>
              </a:ext>
            </a:extLst>
          </p:cNvPr>
          <p:cNvCxnSpPr>
            <a:cxnSpLocks/>
            <a:stCxn id="323" idx="3"/>
            <a:endCxn id="324" idx="1"/>
          </p:cNvCxnSpPr>
          <p:nvPr/>
        </p:nvCxnSpPr>
        <p:spPr>
          <a:xfrm>
            <a:off x="2047192" y="5011910"/>
            <a:ext cx="3637208" cy="159909"/>
          </a:xfrm>
          <a:prstGeom prst="bentConnector3">
            <a:avLst>
              <a:gd name="adj1" fmla="val 19841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Rectangle 32">
            <a:extLst>
              <a:ext uri="{FF2B5EF4-FFF2-40B4-BE49-F238E27FC236}">
                <a16:creationId xmlns:a16="http://schemas.microsoft.com/office/drawing/2014/main" id="{03967CB1-6701-4A70-BD24-9E41900B0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00" y="5916336"/>
            <a:ext cx="1363192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Liquidez (R. Merc.)</a:t>
            </a:r>
          </a:p>
        </p:txBody>
      </p:sp>
      <p:sp>
        <p:nvSpPr>
          <p:cNvPr id="337" name="CuadroTexto 86">
            <a:extLst>
              <a:ext uri="{FF2B5EF4-FFF2-40B4-BE49-F238E27FC236}">
                <a16:creationId xmlns:a16="http://schemas.microsoft.com/office/drawing/2014/main" id="{868E211C-31ED-42CB-B2B0-5FCC0730F9EA}"/>
              </a:ext>
            </a:extLst>
          </p:cNvPr>
          <p:cNvSpPr txBox="1"/>
          <p:nvPr/>
        </p:nvSpPr>
        <p:spPr>
          <a:xfrm>
            <a:off x="5684400" y="4583415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pt-P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al612_sii_ae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8" name="Rectángulo 110">
            <a:extLst>
              <a:ext uri="{FF2B5EF4-FFF2-40B4-BE49-F238E27FC236}">
                <a16:creationId xmlns:a16="http://schemas.microsoft.com/office/drawing/2014/main" id="{0BA823EA-8BC7-4EE4-A34F-D159ACF7288D}"/>
              </a:ext>
            </a:extLst>
          </p:cNvPr>
          <p:cNvSpPr/>
          <p:nvPr/>
        </p:nvSpPr>
        <p:spPr>
          <a:xfrm>
            <a:off x="8053200" y="4602637"/>
            <a:ext cx="1368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SII</a:t>
            </a:r>
          </a:p>
        </p:txBody>
      </p:sp>
      <p:sp>
        <p:nvSpPr>
          <p:cNvPr id="354" name="Rectángulo 110">
            <a:extLst>
              <a:ext uri="{FF2B5EF4-FFF2-40B4-BE49-F238E27FC236}">
                <a16:creationId xmlns:a16="http://schemas.microsoft.com/office/drawing/2014/main" id="{5BE9A7ED-9B0E-4F00-90FC-9AF8BE375103}"/>
              </a:ext>
            </a:extLst>
          </p:cNvPr>
          <p:cNvSpPr/>
          <p:nvPr/>
        </p:nvSpPr>
        <p:spPr>
          <a:xfrm>
            <a:off x="8053200" y="5082632"/>
            <a:ext cx="1368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REPOS / REVERSE REPOS</a:t>
            </a:r>
          </a:p>
        </p:txBody>
      </p:sp>
      <p:sp>
        <p:nvSpPr>
          <p:cNvPr id="374" name="CuadroTexto 86">
            <a:extLst>
              <a:ext uri="{FF2B5EF4-FFF2-40B4-BE49-F238E27FC236}">
                <a16:creationId xmlns:a16="http://schemas.microsoft.com/office/drawing/2014/main" id="{B2B538F6-4A28-46FB-99F5-7A5DC2DFE164}"/>
              </a:ext>
            </a:extLst>
          </p:cNvPr>
          <p:cNvSpPr txBox="1"/>
          <p:nvPr/>
        </p:nvSpPr>
        <p:spPr>
          <a:xfrm>
            <a:off x="5684400" y="4822137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fg601_fgd_ae</a:t>
            </a:r>
          </a:p>
        </p:txBody>
      </p:sp>
      <p:cxnSp>
        <p:nvCxnSpPr>
          <p:cNvPr id="375" name="Conector angular 217">
            <a:extLst>
              <a:ext uri="{FF2B5EF4-FFF2-40B4-BE49-F238E27FC236}">
                <a16:creationId xmlns:a16="http://schemas.microsoft.com/office/drawing/2014/main" id="{5F3C022C-680A-412C-80CD-7895A1983616}"/>
              </a:ext>
            </a:extLst>
          </p:cNvPr>
          <p:cNvCxnSpPr>
            <a:cxnSpLocks/>
            <a:stCxn id="192" idx="3"/>
            <a:endCxn id="240" idx="1"/>
          </p:cNvCxnSpPr>
          <p:nvPr/>
        </p:nvCxnSpPr>
        <p:spPr>
          <a:xfrm flipV="1">
            <a:off x="5454000" y="4639825"/>
            <a:ext cx="229193" cy="52000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Conexão em ângulos retos 128">
            <a:extLst>
              <a:ext uri="{FF2B5EF4-FFF2-40B4-BE49-F238E27FC236}">
                <a16:creationId xmlns:a16="http://schemas.microsoft.com/office/drawing/2014/main" id="{24C34AD0-8757-455C-B64D-FBB339D0A43C}"/>
              </a:ext>
            </a:extLst>
          </p:cNvPr>
          <p:cNvCxnSpPr>
            <a:cxnSpLocks/>
            <a:stCxn id="239" idx="3"/>
            <a:endCxn id="304" idx="0"/>
          </p:cNvCxnSpPr>
          <p:nvPr/>
        </p:nvCxnSpPr>
        <p:spPr>
          <a:xfrm>
            <a:off x="6980400" y="3729691"/>
            <a:ext cx="1756800" cy="383475"/>
          </a:xfrm>
          <a:prstGeom prst="bentConnector2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Conexão em ângulos retos 128">
            <a:extLst>
              <a:ext uri="{FF2B5EF4-FFF2-40B4-BE49-F238E27FC236}">
                <a16:creationId xmlns:a16="http://schemas.microsoft.com/office/drawing/2014/main" id="{800E81DF-89A3-4E1C-B636-4FC333A7E126}"/>
              </a:ext>
            </a:extLst>
          </p:cNvPr>
          <p:cNvCxnSpPr>
            <a:cxnSpLocks/>
            <a:stCxn id="296" idx="3"/>
            <a:endCxn id="267" idx="1"/>
          </p:cNvCxnSpPr>
          <p:nvPr/>
        </p:nvCxnSpPr>
        <p:spPr>
          <a:xfrm>
            <a:off x="6980400" y="4452792"/>
            <a:ext cx="1072800" cy="14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Conexão em ângulos retos 128">
            <a:extLst>
              <a:ext uri="{FF2B5EF4-FFF2-40B4-BE49-F238E27FC236}">
                <a16:creationId xmlns:a16="http://schemas.microsoft.com/office/drawing/2014/main" id="{26135D2D-A75D-44FD-8037-159CB14CC703}"/>
              </a:ext>
            </a:extLst>
          </p:cNvPr>
          <p:cNvCxnSpPr>
            <a:cxnSpLocks/>
            <a:stCxn id="274" idx="3"/>
            <a:endCxn id="409" idx="1"/>
          </p:cNvCxnSpPr>
          <p:nvPr/>
        </p:nvCxnSpPr>
        <p:spPr>
          <a:xfrm flipV="1">
            <a:off x="6980400" y="5356623"/>
            <a:ext cx="1072800" cy="56548"/>
          </a:xfrm>
          <a:prstGeom prst="bentConnector3">
            <a:avLst>
              <a:gd name="adj1" fmla="val 28247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Conexão em ângulos retos 128">
            <a:extLst>
              <a:ext uri="{FF2B5EF4-FFF2-40B4-BE49-F238E27FC236}">
                <a16:creationId xmlns:a16="http://schemas.microsoft.com/office/drawing/2014/main" id="{6659FDC4-B257-4447-921D-BA819A70F825}"/>
              </a:ext>
            </a:extLst>
          </p:cNvPr>
          <p:cNvCxnSpPr>
            <a:cxnSpLocks/>
            <a:stCxn id="258" idx="3"/>
            <a:endCxn id="304" idx="1"/>
          </p:cNvCxnSpPr>
          <p:nvPr/>
        </p:nvCxnSpPr>
        <p:spPr>
          <a:xfrm>
            <a:off x="6980400" y="4212032"/>
            <a:ext cx="1072800" cy="1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Conexão em ângulos retos 128">
            <a:extLst>
              <a:ext uri="{FF2B5EF4-FFF2-40B4-BE49-F238E27FC236}">
                <a16:creationId xmlns:a16="http://schemas.microsoft.com/office/drawing/2014/main" id="{3A1CA9A4-6D04-460A-9179-B33EF7CAF343}"/>
              </a:ext>
            </a:extLst>
          </p:cNvPr>
          <p:cNvCxnSpPr>
            <a:cxnSpLocks/>
            <a:stCxn id="374" idx="3"/>
            <a:endCxn id="325" idx="1"/>
          </p:cNvCxnSpPr>
          <p:nvPr/>
        </p:nvCxnSpPr>
        <p:spPr>
          <a:xfrm flipV="1">
            <a:off x="6980400" y="4930078"/>
            <a:ext cx="1072800" cy="59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Conexão em ângulos retos 128">
            <a:extLst>
              <a:ext uri="{FF2B5EF4-FFF2-40B4-BE49-F238E27FC236}">
                <a16:creationId xmlns:a16="http://schemas.microsoft.com/office/drawing/2014/main" id="{B2C98F5D-F818-4C66-B148-5D4DDDC42B7E}"/>
              </a:ext>
            </a:extLst>
          </p:cNvPr>
          <p:cNvCxnSpPr>
            <a:cxnSpLocks/>
            <a:stCxn id="324" idx="3"/>
            <a:endCxn id="354" idx="1"/>
          </p:cNvCxnSpPr>
          <p:nvPr/>
        </p:nvCxnSpPr>
        <p:spPr>
          <a:xfrm>
            <a:off x="6980400" y="5171819"/>
            <a:ext cx="1072800" cy="813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Conexão em ângulos retos 128">
            <a:extLst>
              <a:ext uri="{FF2B5EF4-FFF2-40B4-BE49-F238E27FC236}">
                <a16:creationId xmlns:a16="http://schemas.microsoft.com/office/drawing/2014/main" id="{13ECDEB3-EB95-4D60-A876-60CB9DB8FE73}"/>
              </a:ext>
            </a:extLst>
          </p:cNvPr>
          <p:cNvCxnSpPr>
            <a:cxnSpLocks/>
            <a:stCxn id="337" idx="3"/>
            <a:endCxn id="338" idx="1"/>
          </p:cNvCxnSpPr>
          <p:nvPr/>
        </p:nvCxnSpPr>
        <p:spPr>
          <a:xfrm>
            <a:off x="6980400" y="4691415"/>
            <a:ext cx="1072800" cy="122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1" name="Group 550">
            <a:extLst>
              <a:ext uri="{FF2B5EF4-FFF2-40B4-BE49-F238E27FC236}">
                <a16:creationId xmlns:a16="http://schemas.microsoft.com/office/drawing/2014/main" id="{B53094FF-D878-48D4-9ACC-DA5C5796E084}"/>
              </a:ext>
            </a:extLst>
          </p:cNvPr>
          <p:cNvGrpSpPr/>
          <p:nvPr/>
        </p:nvGrpSpPr>
        <p:grpSpPr>
          <a:xfrm>
            <a:off x="3120794" y="1210770"/>
            <a:ext cx="577911" cy="389759"/>
            <a:chOff x="3049353" y="1735790"/>
            <a:chExt cx="577911" cy="389759"/>
          </a:xfrm>
        </p:grpSpPr>
        <p:grpSp>
          <p:nvGrpSpPr>
            <p:cNvPr id="486" name="Grupo 83">
              <a:extLst>
                <a:ext uri="{FF2B5EF4-FFF2-40B4-BE49-F238E27FC236}">
                  <a16:creationId xmlns:a16="http://schemas.microsoft.com/office/drawing/2014/main" id="{41A328EA-D0CC-4D3F-BB8F-3571929B4DDE}"/>
                </a:ext>
              </a:extLst>
            </p:cNvPr>
            <p:cNvGrpSpPr/>
            <p:nvPr/>
          </p:nvGrpSpPr>
          <p:grpSpPr>
            <a:xfrm>
              <a:off x="3049353" y="1909549"/>
              <a:ext cx="577911" cy="216000"/>
              <a:chOff x="8038758" y="3835908"/>
              <a:chExt cx="1282700" cy="1173653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88" name="Disco magnético 89">
                <a:extLst>
                  <a:ext uri="{FF2B5EF4-FFF2-40B4-BE49-F238E27FC236}">
                    <a16:creationId xmlns:a16="http://schemas.microsoft.com/office/drawing/2014/main" id="{BDCD9707-9F16-441A-BF0C-391691C42980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489" name="Disco magnético 91">
                <a:extLst>
                  <a:ext uri="{FF2B5EF4-FFF2-40B4-BE49-F238E27FC236}">
                    <a16:creationId xmlns:a16="http://schemas.microsoft.com/office/drawing/2014/main" id="{B97A2052-6F44-4AA6-8BAB-0ADFFEE466FA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490" name="Disco magnético 92">
                <a:extLst>
                  <a:ext uri="{FF2B5EF4-FFF2-40B4-BE49-F238E27FC236}">
                    <a16:creationId xmlns:a16="http://schemas.microsoft.com/office/drawing/2014/main" id="{5C6BDE6C-510B-4878-A5D8-6DB4AC3D9C5D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87" name="CuadroTexto 86">
              <a:extLst>
                <a:ext uri="{FF2B5EF4-FFF2-40B4-BE49-F238E27FC236}">
                  <a16:creationId xmlns:a16="http://schemas.microsoft.com/office/drawing/2014/main" id="{3D11C3D0-125D-47E6-9D66-B832BB0722C8}"/>
                </a:ext>
              </a:extLst>
            </p:cNvPr>
            <p:cNvSpPr txBox="1"/>
            <p:nvPr/>
          </p:nvSpPr>
          <p:spPr>
            <a:xfrm>
              <a:off x="3054915" y="1735790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ICs</a:t>
              </a:r>
              <a:endParaRPr lang="es-ES" sz="1050" b="1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491" name="Conector angular 217">
            <a:extLst>
              <a:ext uri="{FF2B5EF4-FFF2-40B4-BE49-F238E27FC236}">
                <a16:creationId xmlns:a16="http://schemas.microsoft.com/office/drawing/2014/main" id="{A8649D79-031E-4EB6-A687-4D7BF7950573}"/>
              </a:ext>
            </a:extLst>
          </p:cNvPr>
          <p:cNvCxnSpPr>
            <a:cxnSpLocks/>
            <a:stCxn id="69" idx="3"/>
            <a:endCxn id="489" idx="2"/>
          </p:cNvCxnSpPr>
          <p:nvPr/>
        </p:nvCxnSpPr>
        <p:spPr>
          <a:xfrm flipV="1">
            <a:off x="2171701" y="1492529"/>
            <a:ext cx="949093" cy="826904"/>
          </a:xfrm>
          <a:prstGeom prst="bentConnector3">
            <a:avLst>
              <a:gd name="adj1" fmla="val 6405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CuadroTexto 86">
            <a:extLst>
              <a:ext uri="{FF2B5EF4-FFF2-40B4-BE49-F238E27FC236}">
                <a16:creationId xmlns:a16="http://schemas.microsoft.com/office/drawing/2014/main" id="{EDD95E2C-9432-4263-81CF-C9793075A440}"/>
              </a:ext>
            </a:extLst>
          </p:cNvPr>
          <p:cNvSpPr txBox="1"/>
          <p:nvPr/>
        </p:nvSpPr>
        <p:spPr>
          <a:xfrm>
            <a:off x="5677200" y="1495812"/>
            <a:ext cx="1404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ct001</a:t>
            </a:r>
            <a:r>
              <a:rPr lang="pt-PT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pt-PT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univ_saldo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0" name="CuadroTexto 86">
            <a:extLst>
              <a:ext uri="{FF2B5EF4-FFF2-40B4-BE49-F238E27FC236}">
                <a16:creationId xmlns:a16="http://schemas.microsoft.com/office/drawing/2014/main" id="{E96021D2-4333-4B65-B765-E9409AFD8D67}"/>
              </a:ext>
            </a:extLst>
          </p:cNvPr>
          <p:cNvSpPr txBox="1"/>
          <p:nvPr/>
        </p:nvSpPr>
        <p:spPr>
          <a:xfrm>
            <a:off x="4051261" y="1163348"/>
            <a:ext cx="1574887" cy="302259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</a:t>
            </a:r>
            <a:r>
              <a:rPr lang="es-ES" sz="12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Contabilidade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 (</a:t>
            </a:r>
            <a:r>
              <a:rPr lang="es-ES" sz="900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cd_captools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39125400-782B-45F2-A027-4FB070BC879B}"/>
              </a:ext>
            </a:extLst>
          </p:cNvPr>
          <p:cNvSpPr txBox="1"/>
          <p:nvPr/>
        </p:nvSpPr>
        <p:spPr>
          <a:xfrm>
            <a:off x="1101882" y="2829550"/>
            <a:ext cx="557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…</a:t>
            </a:r>
          </a:p>
        </p:txBody>
      </p:sp>
      <p:sp>
        <p:nvSpPr>
          <p:cNvPr id="552" name="CuadroTexto 86">
            <a:extLst>
              <a:ext uri="{FF2B5EF4-FFF2-40B4-BE49-F238E27FC236}">
                <a16:creationId xmlns:a16="http://schemas.microsoft.com/office/drawing/2014/main" id="{352E6A85-611B-414D-89D5-0CCE345F7538}"/>
              </a:ext>
            </a:extLst>
          </p:cNvPr>
          <p:cNvSpPr txBox="1"/>
          <p:nvPr/>
        </p:nvSpPr>
        <p:spPr>
          <a:xfrm>
            <a:off x="5677200" y="1236878"/>
            <a:ext cx="1404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ct005</a:t>
            </a:r>
            <a:r>
              <a:rPr lang="pt-PT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pt-PT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univ_perim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93" name="Conector angular 217">
            <a:extLst>
              <a:ext uri="{FF2B5EF4-FFF2-40B4-BE49-F238E27FC236}">
                <a16:creationId xmlns:a16="http://schemas.microsoft.com/office/drawing/2014/main" id="{8D390C88-E93F-43C5-90BD-3C87CBA34D7D}"/>
              </a:ext>
            </a:extLst>
          </p:cNvPr>
          <p:cNvCxnSpPr>
            <a:cxnSpLocks/>
            <a:stCxn id="489" idx="4"/>
            <a:endCxn id="655" idx="1"/>
          </p:cNvCxnSpPr>
          <p:nvPr/>
        </p:nvCxnSpPr>
        <p:spPr>
          <a:xfrm>
            <a:off x="3698705" y="1492529"/>
            <a:ext cx="359179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Rectángulo 72">
            <a:extLst>
              <a:ext uri="{FF2B5EF4-FFF2-40B4-BE49-F238E27FC236}">
                <a16:creationId xmlns:a16="http://schemas.microsoft.com/office/drawing/2014/main" id="{CE3BC4BB-CDB8-4A90-8E1D-0B1869422C12}"/>
              </a:ext>
            </a:extLst>
          </p:cNvPr>
          <p:cNvSpPr/>
          <p:nvPr/>
        </p:nvSpPr>
        <p:spPr>
          <a:xfrm>
            <a:off x="4938390" y="900000"/>
            <a:ext cx="176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Input Motor</a:t>
            </a:r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EE5A140C-785A-4A64-80AD-10DDA18C5814}"/>
              </a:ext>
            </a:extLst>
          </p:cNvPr>
          <p:cNvSpPr txBox="1"/>
          <p:nvPr/>
        </p:nvSpPr>
        <p:spPr>
          <a:xfrm>
            <a:off x="4057884" y="1307864"/>
            <a:ext cx="650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737" name="CuadroTexto 86">
            <a:extLst>
              <a:ext uri="{FF2B5EF4-FFF2-40B4-BE49-F238E27FC236}">
                <a16:creationId xmlns:a16="http://schemas.microsoft.com/office/drawing/2014/main" id="{C6375818-F777-4C58-A530-16C972DA3E42}"/>
              </a:ext>
            </a:extLst>
          </p:cNvPr>
          <p:cNvSpPr txBox="1"/>
          <p:nvPr/>
        </p:nvSpPr>
        <p:spPr>
          <a:xfrm>
            <a:off x="5684400" y="5543934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al810_clt_cbrt</a:t>
            </a:r>
          </a:p>
        </p:txBody>
      </p:sp>
      <p:cxnSp>
        <p:nvCxnSpPr>
          <p:cNvPr id="782" name="Conector angular 217">
            <a:extLst>
              <a:ext uri="{FF2B5EF4-FFF2-40B4-BE49-F238E27FC236}">
                <a16:creationId xmlns:a16="http://schemas.microsoft.com/office/drawing/2014/main" id="{03963E70-5794-430A-B6E3-98C5B62FB721}"/>
              </a:ext>
            </a:extLst>
          </p:cNvPr>
          <p:cNvCxnSpPr>
            <a:cxnSpLocks/>
            <a:stCxn id="336" idx="3"/>
            <a:endCxn id="737" idx="1"/>
          </p:cNvCxnSpPr>
          <p:nvPr/>
        </p:nvCxnSpPr>
        <p:spPr>
          <a:xfrm flipV="1">
            <a:off x="2045692" y="5651934"/>
            <a:ext cx="3638708" cy="390402"/>
          </a:xfrm>
          <a:prstGeom prst="bentConnector3">
            <a:avLst>
              <a:gd name="adj1" fmla="val 19799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2" name="TextBox 801">
            <a:extLst>
              <a:ext uri="{FF2B5EF4-FFF2-40B4-BE49-F238E27FC236}">
                <a16:creationId xmlns:a16="http://schemas.microsoft.com/office/drawing/2014/main" id="{1111FC81-FC71-488E-8EA9-2FF31D7D72F8}"/>
              </a:ext>
            </a:extLst>
          </p:cNvPr>
          <p:cNvSpPr txBox="1"/>
          <p:nvPr/>
        </p:nvSpPr>
        <p:spPr>
          <a:xfrm>
            <a:off x="5679826" y="4433322"/>
            <a:ext cx="38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41" name="TextBox 840">
            <a:extLst>
              <a:ext uri="{FF2B5EF4-FFF2-40B4-BE49-F238E27FC236}">
                <a16:creationId xmlns:a16="http://schemas.microsoft.com/office/drawing/2014/main" id="{A57C9012-BF04-4C76-B467-34CF75BBF6EB}"/>
              </a:ext>
            </a:extLst>
          </p:cNvPr>
          <p:cNvSpPr txBox="1"/>
          <p:nvPr/>
        </p:nvSpPr>
        <p:spPr>
          <a:xfrm>
            <a:off x="10489302" y="1083000"/>
            <a:ext cx="1493148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/>
            <a:r>
              <a:rPr lang="pt-PT" sz="900" b="1" baseline="30000" dirty="0"/>
              <a:t>(1) </a:t>
            </a:r>
            <a:r>
              <a:rPr lang="pt-PT" sz="900" baseline="30000" dirty="0"/>
              <a:t>	</a:t>
            </a:r>
            <a:r>
              <a:rPr lang="pt-PT" sz="900" dirty="0"/>
              <a:t>Com respeito à tabela al014_act_prim apresentam-se os vários códigos de propósito e a respetiva fonte de dados.</a:t>
            </a:r>
          </a:p>
          <a:p>
            <a:pPr marL="177800" indent="-177800"/>
            <a:r>
              <a:rPr lang="pt-PT" sz="900" b="1" baseline="30000" dirty="0"/>
              <a:t>(2) </a:t>
            </a:r>
            <a:r>
              <a:rPr lang="pt-PT" sz="900" baseline="30000" dirty="0"/>
              <a:t>	</a:t>
            </a:r>
            <a:r>
              <a:rPr lang="pt-PT" sz="900" dirty="0"/>
              <a:t>Estes propósitos são intermédios pelo que só existem na tabela al014_act_prim, mas não na al016_funding nem na al015_act_fin.</a:t>
            </a:r>
          </a:p>
          <a:p>
            <a:pPr marL="177800" indent="-177800"/>
            <a:r>
              <a:rPr lang="pt-PT" sz="900" b="1" baseline="30000" dirty="0"/>
              <a:t>(3) 	</a:t>
            </a:r>
            <a:r>
              <a:rPr lang="pt-PT" sz="900" dirty="0"/>
              <a:t>As tabelas al016_funding e al015_act_fin têm todos os propósitos da al014_act_prim, exceto os intermédios. E têm ainda o propósito ‘EMISSAO EM MERCADO’.</a:t>
            </a:r>
          </a:p>
        </p:txBody>
      </p:sp>
      <p:cxnSp>
        <p:nvCxnSpPr>
          <p:cNvPr id="163" name="Conector angular 217">
            <a:extLst>
              <a:ext uri="{FF2B5EF4-FFF2-40B4-BE49-F238E27FC236}">
                <a16:creationId xmlns:a16="http://schemas.microsoft.com/office/drawing/2014/main" id="{66FBE39A-4D20-4DFA-89DF-E46D9DA65E37}"/>
              </a:ext>
            </a:extLst>
          </p:cNvPr>
          <p:cNvCxnSpPr>
            <a:cxnSpLocks/>
            <a:stCxn id="323" idx="3"/>
            <a:endCxn id="192" idx="1"/>
          </p:cNvCxnSpPr>
          <p:nvPr/>
        </p:nvCxnSpPr>
        <p:spPr>
          <a:xfrm flipV="1">
            <a:off x="2047192" y="4691825"/>
            <a:ext cx="2110808" cy="320085"/>
          </a:xfrm>
          <a:prstGeom prst="bentConnector3">
            <a:avLst>
              <a:gd name="adj1" fmla="val 34151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CuadroTexto 86">
            <a:extLst>
              <a:ext uri="{FF2B5EF4-FFF2-40B4-BE49-F238E27FC236}">
                <a16:creationId xmlns:a16="http://schemas.microsoft.com/office/drawing/2014/main" id="{587CADCC-022F-4EAF-93B3-49DC62A4D95D}"/>
              </a:ext>
            </a:extLst>
          </p:cNvPr>
          <p:cNvSpPr txBox="1"/>
          <p:nvPr/>
        </p:nvSpPr>
        <p:spPr>
          <a:xfrm>
            <a:off x="4158000" y="4820205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fg701_fgd_ae_aux</a:t>
            </a:r>
          </a:p>
        </p:txBody>
      </p:sp>
      <p:cxnSp>
        <p:nvCxnSpPr>
          <p:cNvPr id="168" name="Conector angular 217">
            <a:extLst>
              <a:ext uri="{FF2B5EF4-FFF2-40B4-BE49-F238E27FC236}">
                <a16:creationId xmlns:a16="http://schemas.microsoft.com/office/drawing/2014/main" id="{39890DC8-2F00-4B24-8904-5353B722BCB7}"/>
              </a:ext>
            </a:extLst>
          </p:cNvPr>
          <p:cNvCxnSpPr>
            <a:cxnSpLocks/>
            <a:stCxn id="323" idx="3"/>
            <a:endCxn id="166" idx="1"/>
          </p:cNvCxnSpPr>
          <p:nvPr/>
        </p:nvCxnSpPr>
        <p:spPr>
          <a:xfrm flipV="1">
            <a:off x="2047192" y="4928205"/>
            <a:ext cx="2110808" cy="83705"/>
          </a:xfrm>
          <a:prstGeom prst="bentConnector3">
            <a:avLst>
              <a:gd name="adj1" fmla="val 34150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ector angular 217">
            <a:extLst>
              <a:ext uri="{FF2B5EF4-FFF2-40B4-BE49-F238E27FC236}">
                <a16:creationId xmlns:a16="http://schemas.microsoft.com/office/drawing/2014/main" id="{AEDEFFFB-D467-4F87-999C-26FB36DE1A75}"/>
              </a:ext>
            </a:extLst>
          </p:cNvPr>
          <p:cNvCxnSpPr>
            <a:cxnSpLocks/>
            <a:stCxn id="166" idx="3"/>
            <a:endCxn id="374" idx="1"/>
          </p:cNvCxnSpPr>
          <p:nvPr/>
        </p:nvCxnSpPr>
        <p:spPr>
          <a:xfrm>
            <a:off x="5454000" y="4928205"/>
            <a:ext cx="230400" cy="1932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ector angular 217">
            <a:extLst>
              <a:ext uri="{FF2B5EF4-FFF2-40B4-BE49-F238E27FC236}">
                <a16:creationId xmlns:a16="http://schemas.microsoft.com/office/drawing/2014/main" id="{83A7753E-05C4-44FF-BCA0-05D918B460C7}"/>
              </a:ext>
            </a:extLst>
          </p:cNvPr>
          <p:cNvCxnSpPr>
            <a:cxnSpLocks/>
            <a:stCxn id="166" idx="3"/>
            <a:endCxn id="103" idx="1"/>
          </p:cNvCxnSpPr>
          <p:nvPr/>
        </p:nvCxnSpPr>
        <p:spPr>
          <a:xfrm flipV="1">
            <a:off x="5454000" y="4759285"/>
            <a:ext cx="231243" cy="168920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6CA9899-92F9-4B78-91DB-24DE1EF1FB09}"/>
              </a:ext>
            </a:extLst>
          </p:cNvPr>
          <p:cNvSpPr txBox="1"/>
          <p:nvPr/>
        </p:nvSpPr>
        <p:spPr>
          <a:xfrm>
            <a:off x="5685243" y="4574619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4EBE1632-19E8-4964-A2EE-E8549D0B7736}"/>
              </a:ext>
            </a:extLst>
          </p:cNvPr>
          <p:cNvSpPr txBox="1"/>
          <p:nvPr/>
        </p:nvSpPr>
        <p:spPr>
          <a:xfrm>
            <a:off x="5683193" y="4455159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pic>
        <p:nvPicPr>
          <p:cNvPr id="260" name="Graphic 259" descr="Upload with solid fill">
            <a:extLst>
              <a:ext uri="{FF2B5EF4-FFF2-40B4-BE49-F238E27FC236}">
                <a16:creationId xmlns:a16="http://schemas.microsoft.com/office/drawing/2014/main" id="{53476F3D-A5A0-4B26-87E9-1B5252F6F27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2710" y="5250098"/>
            <a:ext cx="216000" cy="216000"/>
          </a:xfrm>
          <a:prstGeom prst="rect">
            <a:avLst/>
          </a:prstGeom>
        </p:spPr>
      </p:pic>
      <p:pic>
        <p:nvPicPr>
          <p:cNvPr id="261" name="Graphic 260" descr="Tools with solid fill">
            <a:extLst>
              <a:ext uri="{FF2B5EF4-FFF2-40B4-BE49-F238E27FC236}">
                <a16:creationId xmlns:a16="http://schemas.microsoft.com/office/drawing/2014/main" id="{8A4186CB-DDC2-466F-A4EF-312984659D4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01200" y="5761538"/>
            <a:ext cx="180000" cy="180000"/>
          </a:xfrm>
          <a:prstGeom prst="rect">
            <a:avLst/>
          </a:prstGeom>
        </p:spPr>
      </p:pic>
      <p:sp>
        <p:nvSpPr>
          <p:cNvPr id="263" name="TextBox 262">
            <a:extLst>
              <a:ext uri="{FF2B5EF4-FFF2-40B4-BE49-F238E27FC236}">
                <a16:creationId xmlns:a16="http://schemas.microsoft.com/office/drawing/2014/main" id="{4BA1DB06-D8D3-4EAC-9858-CBAD689737DC}"/>
              </a:ext>
            </a:extLst>
          </p:cNvPr>
          <p:cNvSpPr txBox="1"/>
          <p:nvPr/>
        </p:nvSpPr>
        <p:spPr>
          <a:xfrm>
            <a:off x="10671068" y="5117999"/>
            <a:ext cx="144642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Ficheiro de dados carregado pelo </a:t>
            </a:r>
            <a:r>
              <a:rPr lang="pt-PT" sz="900" dirty="0" err="1"/>
              <a:t>Front</a:t>
            </a:r>
            <a:r>
              <a:rPr lang="pt-PT" sz="900" dirty="0"/>
              <a:t> do Data </a:t>
            </a:r>
            <a:r>
              <a:rPr lang="pt-PT" sz="900" dirty="0" err="1"/>
              <a:t>Lake</a:t>
            </a:r>
            <a:r>
              <a:rPr lang="pt-PT" sz="900" dirty="0"/>
              <a:t>.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238F1607-0BB4-433D-AFAE-41245A9959DD}"/>
              </a:ext>
            </a:extLst>
          </p:cNvPr>
          <p:cNvSpPr txBox="1"/>
          <p:nvPr/>
        </p:nvSpPr>
        <p:spPr>
          <a:xfrm>
            <a:off x="10671068" y="5618373"/>
            <a:ext cx="144642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Parametrização efetuada no </a:t>
            </a:r>
            <a:r>
              <a:rPr lang="pt-PT" sz="900" dirty="0" err="1"/>
              <a:t>Front</a:t>
            </a:r>
            <a:r>
              <a:rPr lang="pt-PT" sz="900" dirty="0"/>
              <a:t> do Data </a:t>
            </a:r>
            <a:r>
              <a:rPr lang="pt-PT" sz="900" dirty="0" err="1"/>
              <a:t>Lake</a:t>
            </a:r>
            <a:r>
              <a:rPr lang="pt-PT" sz="900" dirty="0"/>
              <a:t>.</a:t>
            </a:r>
          </a:p>
        </p:txBody>
      </p:sp>
      <p:sp>
        <p:nvSpPr>
          <p:cNvPr id="265" name="CuadroTexto 86">
            <a:extLst>
              <a:ext uri="{FF2B5EF4-FFF2-40B4-BE49-F238E27FC236}">
                <a16:creationId xmlns:a16="http://schemas.microsoft.com/office/drawing/2014/main" id="{F78A85BB-8BFA-4F57-A181-CC0E792C6554}"/>
              </a:ext>
            </a:extLst>
          </p:cNvPr>
          <p:cNvSpPr txBox="1"/>
          <p:nvPr/>
        </p:nvSpPr>
        <p:spPr>
          <a:xfrm>
            <a:off x="4158000" y="5306989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al703_im_aux</a:t>
            </a:r>
          </a:p>
        </p:txBody>
      </p:sp>
      <p:cxnSp>
        <p:nvCxnSpPr>
          <p:cNvPr id="266" name="Conector angular 217">
            <a:extLst>
              <a:ext uri="{FF2B5EF4-FFF2-40B4-BE49-F238E27FC236}">
                <a16:creationId xmlns:a16="http://schemas.microsoft.com/office/drawing/2014/main" id="{E956034E-E66C-4FD8-8919-05FA21CCE138}"/>
              </a:ext>
            </a:extLst>
          </p:cNvPr>
          <p:cNvCxnSpPr>
            <a:cxnSpLocks/>
            <a:stCxn id="323" idx="3"/>
            <a:endCxn id="265" idx="1"/>
          </p:cNvCxnSpPr>
          <p:nvPr/>
        </p:nvCxnSpPr>
        <p:spPr>
          <a:xfrm>
            <a:off x="2047192" y="5011910"/>
            <a:ext cx="2110808" cy="403079"/>
          </a:xfrm>
          <a:prstGeom prst="bentConnector3">
            <a:avLst>
              <a:gd name="adj1" fmla="val 34149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ector angular 217">
            <a:extLst>
              <a:ext uri="{FF2B5EF4-FFF2-40B4-BE49-F238E27FC236}">
                <a16:creationId xmlns:a16="http://schemas.microsoft.com/office/drawing/2014/main" id="{AF19DE91-7C15-4E22-9F7C-1AF1CA9973D4}"/>
              </a:ext>
            </a:extLst>
          </p:cNvPr>
          <p:cNvCxnSpPr>
            <a:cxnSpLocks/>
          </p:cNvCxnSpPr>
          <p:nvPr/>
        </p:nvCxnSpPr>
        <p:spPr>
          <a:xfrm flipV="1">
            <a:off x="5454000" y="5412216"/>
            <a:ext cx="230400" cy="1818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7" name="Graphic 276" descr="Upload with solid fill">
            <a:extLst>
              <a:ext uri="{FF2B5EF4-FFF2-40B4-BE49-F238E27FC236}">
                <a16:creationId xmlns:a16="http://schemas.microsoft.com/office/drawing/2014/main" id="{21FFE47A-A724-4144-8135-CD843CC9264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08458" y="5014703"/>
            <a:ext cx="216000" cy="216000"/>
          </a:xfrm>
          <a:prstGeom prst="rect">
            <a:avLst/>
          </a:prstGeom>
        </p:spPr>
      </p:pic>
      <p:pic>
        <p:nvPicPr>
          <p:cNvPr id="279" name="Graphic 278" descr="Upload with solid fill">
            <a:extLst>
              <a:ext uri="{FF2B5EF4-FFF2-40B4-BE49-F238E27FC236}">
                <a16:creationId xmlns:a16="http://schemas.microsoft.com/office/drawing/2014/main" id="{A1460D0F-E6D9-4A11-BBA8-085F72F558E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82474" y="4535881"/>
            <a:ext cx="216000" cy="216000"/>
          </a:xfrm>
          <a:prstGeom prst="rect">
            <a:avLst/>
          </a:prstGeom>
        </p:spPr>
      </p:pic>
      <p:pic>
        <p:nvPicPr>
          <p:cNvPr id="285" name="Graphic 284" descr="Upload with solid fill">
            <a:extLst>
              <a:ext uri="{FF2B5EF4-FFF2-40B4-BE49-F238E27FC236}">
                <a16:creationId xmlns:a16="http://schemas.microsoft.com/office/drawing/2014/main" id="{7DAFB314-2422-4ABF-A68B-55D44007058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81200" y="5258736"/>
            <a:ext cx="216000" cy="216000"/>
          </a:xfrm>
          <a:prstGeom prst="rect">
            <a:avLst/>
          </a:prstGeom>
        </p:spPr>
      </p:pic>
      <p:pic>
        <p:nvPicPr>
          <p:cNvPr id="286" name="Graphic 285" descr="Upload with solid fill">
            <a:extLst>
              <a:ext uri="{FF2B5EF4-FFF2-40B4-BE49-F238E27FC236}">
                <a16:creationId xmlns:a16="http://schemas.microsoft.com/office/drawing/2014/main" id="{18FFF79F-4935-492F-B549-FFDB9C16631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82474" y="4770461"/>
            <a:ext cx="216000" cy="216000"/>
          </a:xfrm>
          <a:prstGeom prst="rect">
            <a:avLst/>
          </a:prstGeom>
        </p:spPr>
      </p:pic>
      <p:sp>
        <p:nvSpPr>
          <p:cNvPr id="296" name="CuadroTexto 86">
            <a:extLst>
              <a:ext uri="{FF2B5EF4-FFF2-40B4-BE49-F238E27FC236}">
                <a16:creationId xmlns:a16="http://schemas.microsoft.com/office/drawing/2014/main" id="{299AC51C-9A87-4C59-B0DE-5B06A2DF36A7}"/>
              </a:ext>
            </a:extLst>
          </p:cNvPr>
          <p:cNvSpPr txBox="1"/>
          <p:nvPr/>
        </p:nvSpPr>
        <p:spPr>
          <a:xfrm>
            <a:off x="5684400" y="4344792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al603_col_bei</a:t>
            </a:r>
          </a:p>
        </p:txBody>
      </p:sp>
      <p:cxnSp>
        <p:nvCxnSpPr>
          <p:cNvPr id="300" name="Conector angular 217">
            <a:extLst>
              <a:ext uri="{FF2B5EF4-FFF2-40B4-BE49-F238E27FC236}">
                <a16:creationId xmlns:a16="http://schemas.microsoft.com/office/drawing/2014/main" id="{B83EA0A5-39F7-4F89-9838-B4C4D51F933A}"/>
              </a:ext>
            </a:extLst>
          </p:cNvPr>
          <p:cNvCxnSpPr>
            <a:cxnSpLocks/>
            <a:stCxn id="323" idx="3"/>
            <a:endCxn id="296" idx="1"/>
          </p:cNvCxnSpPr>
          <p:nvPr/>
        </p:nvCxnSpPr>
        <p:spPr>
          <a:xfrm flipV="1">
            <a:off x="2047192" y="4452792"/>
            <a:ext cx="3637208" cy="559118"/>
          </a:xfrm>
          <a:prstGeom prst="bentConnector3">
            <a:avLst>
              <a:gd name="adj1" fmla="val 19786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9" name="Graphic 308" descr="Upload with solid fill">
            <a:extLst>
              <a:ext uri="{FF2B5EF4-FFF2-40B4-BE49-F238E27FC236}">
                <a16:creationId xmlns:a16="http://schemas.microsoft.com/office/drawing/2014/main" id="{0356AEF6-08E6-4299-BB2B-0C2D57EBFD9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07600" y="4295116"/>
            <a:ext cx="216000" cy="216000"/>
          </a:xfrm>
          <a:prstGeom prst="rect">
            <a:avLst/>
          </a:prstGeom>
        </p:spPr>
      </p:pic>
      <p:cxnSp>
        <p:nvCxnSpPr>
          <p:cNvPr id="310" name="Conector angular 217">
            <a:extLst>
              <a:ext uri="{FF2B5EF4-FFF2-40B4-BE49-F238E27FC236}">
                <a16:creationId xmlns:a16="http://schemas.microsoft.com/office/drawing/2014/main" id="{0616BF2E-4BE7-464A-B77C-05E2E26F2194}"/>
              </a:ext>
            </a:extLst>
          </p:cNvPr>
          <p:cNvCxnSpPr>
            <a:cxnSpLocks/>
            <a:stCxn id="323" idx="3"/>
            <a:endCxn id="258" idx="1"/>
          </p:cNvCxnSpPr>
          <p:nvPr/>
        </p:nvCxnSpPr>
        <p:spPr>
          <a:xfrm flipV="1">
            <a:off x="2047192" y="4212032"/>
            <a:ext cx="3637208" cy="799878"/>
          </a:xfrm>
          <a:prstGeom prst="bentConnector3">
            <a:avLst>
              <a:gd name="adj1" fmla="val 19786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0514D6DB-B64F-429F-8B88-B555EA7DAFF8}"/>
              </a:ext>
            </a:extLst>
          </p:cNvPr>
          <p:cNvSpPr txBox="1"/>
          <p:nvPr/>
        </p:nvSpPr>
        <p:spPr>
          <a:xfrm>
            <a:off x="2710800" y="4043381"/>
            <a:ext cx="23671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Colateral em títulos para </a:t>
            </a:r>
            <a:r>
              <a:rPr lang="pt-PT" sz="700" dirty="0" err="1"/>
              <a:t>Eurosistema</a:t>
            </a:r>
            <a:endParaRPr lang="pt-PT" sz="700" dirty="0"/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BC666F2C-1377-4728-8DE6-36DF37947988}"/>
              </a:ext>
            </a:extLst>
          </p:cNvPr>
          <p:cNvSpPr txBox="1"/>
          <p:nvPr/>
        </p:nvSpPr>
        <p:spPr>
          <a:xfrm>
            <a:off x="2710800" y="4279314"/>
            <a:ext cx="20812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Colateral em títulos para BEI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81513C5F-8991-4ED8-A622-9142B83FC97C}"/>
              </a:ext>
            </a:extLst>
          </p:cNvPr>
          <p:cNvSpPr txBox="1"/>
          <p:nvPr/>
        </p:nvSpPr>
        <p:spPr>
          <a:xfrm>
            <a:off x="2710800" y="5142140"/>
            <a:ext cx="1125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Colateral em títulos para IM Derivados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DAA807EC-A8EE-4455-B0E4-AA5C166A5434}"/>
              </a:ext>
            </a:extLst>
          </p:cNvPr>
          <p:cNvSpPr txBox="1"/>
          <p:nvPr/>
        </p:nvSpPr>
        <p:spPr>
          <a:xfrm>
            <a:off x="2710800" y="4421567"/>
            <a:ext cx="949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Colateral em títulos para SII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F9E52AA6-2022-4A93-B312-9FB7B31A7DC2}"/>
              </a:ext>
            </a:extLst>
          </p:cNvPr>
          <p:cNvSpPr txBox="1"/>
          <p:nvPr/>
        </p:nvSpPr>
        <p:spPr>
          <a:xfrm>
            <a:off x="2710800" y="4657084"/>
            <a:ext cx="1017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Colateral em títulos para FGD ou SII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47E1F31F-4467-4513-A1F9-DFC22722A3EC}"/>
              </a:ext>
            </a:extLst>
          </p:cNvPr>
          <p:cNvSpPr txBox="1"/>
          <p:nvPr/>
        </p:nvSpPr>
        <p:spPr>
          <a:xfrm>
            <a:off x="2697202" y="4898345"/>
            <a:ext cx="143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Títulos vendidos/comprados em </a:t>
            </a:r>
            <a:r>
              <a:rPr lang="pt-PT" sz="700" dirty="0" err="1"/>
              <a:t>Repos</a:t>
            </a:r>
            <a:r>
              <a:rPr lang="pt-PT" sz="700" dirty="0"/>
              <a:t> / Reverse </a:t>
            </a:r>
            <a:r>
              <a:rPr lang="pt-PT" sz="700" dirty="0" err="1"/>
              <a:t>Repos</a:t>
            </a:r>
            <a:endParaRPr lang="pt-PT" sz="700" dirty="0"/>
          </a:p>
        </p:txBody>
      </p:sp>
      <p:sp>
        <p:nvSpPr>
          <p:cNvPr id="326" name="Rectangle 32">
            <a:extLst>
              <a:ext uri="{FF2B5EF4-FFF2-40B4-BE49-F238E27FC236}">
                <a16:creationId xmlns:a16="http://schemas.microsoft.com/office/drawing/2014/main" id="{CB05A97C-EE7D-4867-9DC2-C5291DD5D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00" y="3498627"/>
            <a:ext cx="1363192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Aplicação EL</a:t>
            </a:r>
          </a:p>
        </p:txBody>
      </p:sp>
      <p:sp>
        <p:nvSpPr>
          <p:cNvPr id="328" name="CuadroTexto 86">
            <a:extLst>
              <a:ext uri="{FF2B5EF4-FFF2-40B4-BE49-F238E27FC236}">
                <a16:creationId xmlns:a16="http://schemas.microsoft.com/office/drawing/2014/main" id="{C90844B1-2D5F-43E7-AFDE-0DDA661F2139}"/>
              </a:ext>
            </a:extLst>
          </p:cNvPr>
          <p:cNvSpPr txBox="1"/>
          <p:nvPr/>
        </p:nvSpPr>
        <p:spPr>
          <a:xfrm>
            <a:off x="4158000" y="3383854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elt02_detpool</a:t>
            </a:r>
          </a:p>
        </p:txBody>
      </p:sp>
      <p:sp>
        <p:nvSpPr>
          <p:cNvPr id="330" name="CuadroTexto 86">
            <a:extLst>
              <a:ext uri="{FF2B5EF4-FFF2-40B4-BE49-F238E27FC236}">
                <a16:creationId xmlns:a16="http://schemas.microsoft.com/office/drawing/2014/main" id="{12758EAC-BE78-47CA-ADA4-D118B4AEBF4A}"/>
              </a:ext>
            </a:extLst>
          </p:cNvPr>
          <p:cNvSpPr txBox="1"/>
          <p:nvPr/>
        </p:nvSpPr>
        <p:spPr>
          <a:xfrm>
            <a:off x="4158000" y="3621235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elt03_cliempel</a:t>
            </a:r>
          </a:p>
        </p:txBody>
      </p:sp>
      <p:cxnSp>
        <p:nvCxnSpPr>
          <p:cNvPr id="339" name="Conector angular 217">
            <a:extLst>
              <a:ext uri="{FF2B5EF4-FFF2-40B4-BE49-F238E27FC236}">
                <a16:creationId xmlns:a16="http://schemas.microsoft.com/office/drawing/2014/main" id="{0F72C41A-0010-4C08-85AC-7B3026FB3EBE}"/>
              </a:ext>
            </a:extLst>
          </p:cNvPr>
          <p:cNvCxnSpPr>
            <a:cxnSpLocks/>
            <a:stCxn id="326" idx="3"/>
            <a:endCxn id="330" idx="1"/>
          </p:cNvCxnSpPr>
          <p:nvPr/>
        </p:nvCxnSpPr>
        <p:spPr>
          <a:xfrm>
            <a:off x="2045692" y="3588627"/>
            <a:ext cx="2112308" cy="140608"/>
          </a:xfrm>
          <a:prstGeom prst="bentConnector3">
            <a:avLst>
              <a:gd name="adj1" fmla="val 34593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ector angular 217">
            <a:extLst>
              <a:ext uri="{FF2B5EF4-FFF2-40B4-BE49-F238E27FC236}">
                <a16:creationId xmlns:a16="http://schemas.microsoft.com/office/drawing/2014/main" id="{E761369E-57AE-4A98-979F-6E5B5AB74E17}"/>
              </a:ext>
            </a:extLst>
          </p:cNvPr>
          <p:cNvCxnSpPr>
            <a:cxnSpLocks/>
            <a:stCxn id="326" idx="3"/>
            <a:endCxn id="328" idx="1"/>
          </p:cNvCxnSpPr>
          <p:nvPr/>
        </p:nvCxnSpPr>
        <p:spPr>
          <a:xfrm flipV="1">
            <a:off x="2045692" y="3491854"/>
            <a:ext cx="2112308" cy="96773"/>
          </a:xfrm>
          <a:prstGeom prst="bentConnector3">
            <a:avLst>
              <a:gd name="adj1" fmla="val 34668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onector angular 217">
            <a:extLst>
              <a:ext uri="{FF2B5EF4-FFF2-40B4-BE49-F238E27FC236}">
                <a16:creationId xmlns:a16="http://schemas.microsoft.com/office/drawing/2014/main" id="{4AA14092-9F94-42D4-AF5E-CDA860C372FF}"/>
              </a:ext>
            </a:extLst>
          </p:cNvPr>
          <p:cNvCxnSpPr>
            <a:cxnSpLocks/>
            <a:stCxn id="330" idx="3"/>
            <a:endCxn id="239" idx="1"/>
          </p:cNvCxnSpPr>
          <p:nvPr/>
        </p:nvCxnSpPr>
        <p:spPr>
          <a:xfrm>
            <a:off x="5454000" y="3729235"/>
            <a:ext cx="230400" cy="456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Conector angular 217">
            <a:extLst>
              <a:ext uri="{FF2B5EF4-FFF2-40B4-BE49-F238E27FC236}">
                <a16:creationId xmlns:a16="http://schemas.microsoft.com/office/drawing/2014/main" id="{18D8066B-3C57-4151-A623-FFE1C886BC80}"/>
              </a:ext>
            </a:extLst>
          </p:cNvPr>
          <p:cNvCxnSpPr>
            <a:cxnSpLocks/>
            <a:stCxn id="328" idx="3"/>
            <a:endCxn id="305" idx="1"/>
          </p:cNvCxnSpPr>
          <p:nvPr/>
        </p:nvCxnSpPr>
        <p:spPr>
          <a:xfrm flipV="1">
            <a:off x="5454000" y="3490841"/>
            <a:ext cx="230347" cy="1013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Box 355">
            <a:extLst>
              <a:ext uri="{FF2B5EF4-FFF2-40B4-BE49-F238E27FC236}">
                <a16:creationId xmlns:a16="http://schemas.microsoft.com/office/drawing/2014/main" id="{5F79F33F-2815-4975-9B0E-A250FC0DAA0A}"/>
              </a:ext>
            </a:extLst>
          </p:cNvPr>
          <p:cNvSpPr txBox="1"/>
          <p:nvPr/>
        </p:nvSpPr>
        <p:spPr>
          <a:xfrm>
            <a:off x="2710801" y="3323382"/>
            <a:ext cx="13580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Colateral em pool de créditos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DFB4A8FD-94B4-4927-BD71-9E17CF5CCF75}"/>
              </a:ext>
            </a:extLst>
          </p:cNvPr>
          <p:cNvSpPr txBox="1"/>
          <p:nvPr/>
        </p:nvSpPr>
        <p:spPr>
          <a:xfrm>
            <a:off x="2709495" y="3458587"/>
            <a:ext cx="1296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Colateral em empréstimos individuais p/ </a:t>
            </a:r>
            <a:r>
              <a:rPr lang="pt-PT" sz="700" dirty="0" err="1"/>
              <a:t>Eurosistema</a:t>
            </a:r>
            <a:endParaRPr lang="pt-PT" sz="700" dirty="0"/>
          </a:p>
        </p:txBody>
      </p:sp>
      <p:cxnSp>
        <p:nvCxnSpPr>
          <p:cNvPr id="376" name="Conexão em ângulos retos 128">
            <a:extLst>
              <a:ext uri="{FF2B5EF4-FFF2-40B4-BE49-F238E27FC236}">
                <a16:creationId xmlns:a16="http://schemas.microsoft.com/office/drawing/2014/main" id="{F9C06099-BBF8-48CC-B3DA-E870E7EBCA90}"/>
              </a:ext>
            </a:extLst>
          </p:cNvPr>
          <p:cNvCxnSpPr>
            <a:cxnSpLocks/>
            <a:stCxn id="681" idx="3"/>
            <a:endCxn id="325" idx="3"/>
          </p:cNvCxnSpPr>
          <p:nvPr/>
        </p:nvCxnSpPr>
        <p:spPr>
          <a:xfrm flipV="1">
            <a:off x="6993391" y="4930078"/>
            <a:ext cx="2427809" cy="1286581"/>
          </a:xfrm>
          <a:prstGeom prst="bentConnector3">
            <a:avLst>
              <a:gd name="adj1" fmla="val 109416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Conexão em ângulos retos 128">
            <a:extLst>
              <a:ext uri="{FF2B5EF4-FFF2-40B4-BE49-F238E27FC236}">
                <a16:creationId xmlns:a16="http://schemas.microsoft.com/office/drawing/2014/main" id="{480E92DD-283D-4AE7-AC63-34A1268E235E}"/>
              </a:ext>
            </a:extLst>
          </p:cNvPr>
          <p:cNvCxnSpPr>
            <a:cxnSpLocks/>
            <a:stCxn id="681" idx="3"/>
            <a:endCxn id="338" idx="3"/>
          </p:cNvCxnSpPr>
          <p:nvPr/>
        </p:nvCxnSpPr>
        <p:spPr>
          <a:xfrm flipV="1">
            <a:off x="6993391" y="4692637"/>
            <a:ext cx="2427809" cy="1524022"/>
          </a:xfrm>
          <a:prstGeom prst="bentConnector3">
            <a:avLst>
              <a:gd name="adj1" fmla="val 114456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CuadroTexto 86">
            <a:extLst>
              <a:ext uri="{FF2B5EF4-FFF2-40B4-BE49-F238E27FC236}">
                <a16:creationId xmlns:a16="http://schemas.microsoft.com/office/drawing/2014/main" id="{BE8B1FA7-7CEE-479A-A05E-47F95CA89C33}"/>
              </a:ext>
            </a:extLst>
          </p:cNvPr>
          <p:cNvSpPr txBox="1"/>
          <p:nvPr/>
        </p:nvSpPr>
        <p:spPr>
          <a:xfrm>
            <a:off x="5684400" y="6029252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al813_param_reg*</a:t>
            </a:r>
          </a:p>
        </p:txBody>
      </p:sp>
      <p:sp>
        <p:nvSpPr>
          <p:cNvPr id="399" name="Rectángulo 110">
            <a:extLst>
              <a:ext uri="{FF2B5EF4-FFF2-40B4-BE49-F238E27FC236}">
                <a16:creationId xmlns:a16="http://schemas.microsoft.com/office/drawing/2014/main" id="{8712C771-CE2F-4FBE-B7AD-A6C1E14A32A6}"/>
              </a:ext>
            </a:extLst>
          </p:cNvPr>
          <p:cNvSpPr/>
          <p:nvPr/>
        </p:nvSpPr>
        <p:spPr>
          <a:xfrm>
            <a:off x="8053200" y="5561568"/>
            <a:ext cx="1368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VM DERIVADOS</a:t>
            </a:r>
          </a:p>
        </p:txBody>
      </p:sp>
      <p:sp>
        <p:nvSpPr>
          <p:cNvPr id="400" name="Rectángulo 110">
            <a:extLst>
              <a:ext uri="{FF2B5EF4-FFF2-40B4-BE49-F238E27FC236}">
                <a16:creationId xmlns:a16="http://schemas.microsoft.com/office/drawing/2014/main" id="{C218E0C3-AB2F-4571-95B4-9D34CF4AA72C}"/>
              </a:ext>
            </a:extLst>
          </p:cNvPr>
          <p:cNvSpPr/>
          <p:nvPr/>
        </p:nvSpPr>
        <p:spPr>
          <a:xfrm>
            <a:off x="8053200" y="5757879"/>
            <a:ext cx="1368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es-E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VM REPOS</a:t>
            </a:r>
          </a:p>
        </p:txBody>
      </p:sp>
      <p:cxnSp>
        <p:nvCxnSpPr>
          <p:cNvPr id="401" name="Conexão em ângulos retos 128">
            <a:extLst>
              <a:ext uri="{FF2B5EF4-FFF2-40B4-BE49-F238E27FC236}">
                <a16:creationId xmlns:a16="http://schemas.microsoft.com/office/drawing/2014/main" id="{89AB28D4-178C-419B-B2DA-EBB39831A601}"/>
              </a:ext>
            </a:extLst>
          </p:cNvPr>
          <p:cNvCxnSpPr>
            <a:cxnSpLocks/>
            <a:stCxn id="737" idx="3"/>
            <a:endCxn id="399" idx="1"/>
          </p:cNvCxnSpPr>
          <p:nvPr/>
        </p:nvCxnSpPr>
        <p:spPr>
          <a:xfrm flipV="1">
            <a:off x="6980400" y="5651568"/>
            <a:ext cx="1072800" cy="3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Conexão em ângulos retos 128">
            <a:extLst>
              <a:ext uri="{FF2B5EF4-FFF2-40B4-BE49-F238E27FC236}">
                <a16:creationId xmlns:a16="http://schemas.microsoft.com/office/drawing/2014/main" id="{DA513E79-CAF4-4926-864D-F4C08E7A3365}"/>
              </a:ext>
            </a:extLst>
          </p:cNvPr>
          <p:cNvCxnSpPr>
            <a:cxnSpLocks/>
            <a:stCxn id="737" idx="3"/>
            <a:endCxn id="400" idx="1"/>
          </p:cNvCxnSpPr>
          <p:nvPr/>
        </p:nvCxnSpPr>
        <p:spPr>
          <a:xfrm>
            <a:off x="6980400" y="5651934"/>
            <a:ext cx="1072800" cy="19594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TextBox 408">
            <a:extLst>
              <a:ext uri="{FF2B5EF4-FFF2-40B4-BE49-F238E27FC236}">
                <a16:creationId xmlns:a16="http://schemas.microsoft.com/office/drawing/2014/main" id="{A9D05057-87D4-4E28-A633-1CB7A50E1C6A}"/>
              </a:ext>
            </a:extLst>
          </p:cNvPr>
          <p:cNvSpPr txBox="1"/>
          <p:nvPr/>
        </p:nvSpPr>
        <p:spPr>
          <a:xfrm>
            <a:off x="8053200" y="5171957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423" name="CuadroTexto 86">
            <a:extLst>
              <a:ext uri="{FF2B5EF4-FFF2-40B4-BE49-F238E27FC236}">
                <a16:creationId xmlns:a16="http://schemas.microsoft.com/office/drawing/2014/main" id="{C124AD40-207B-44DE-A026-B75E99327529}"/>
              </a:ext>
            </a:extLst>
          </p:cNvPr>
          <p:cNvSpPr txBox="1"/>
          <p:nvPr/>
        </p:nvSpPr>
        <p:spPr>
          <a:xfrm>
            <a:off x="5684400" y="3856245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al023_pool_bce</a:t>
            </a:r>
          </a:p>
        </p:txBody>
      </p:sp>
      <p:sp>
        <p:nvSpPr>
          <p:cNvPr id="425" name="CuadroTexto 86">
            <a:extLst>
              <a:ext uri="{FF2B5EF4-FFF2-40B4-BE49-F238E27FC236}">
                <a16:creationId xmlns:a16="http://schemas.microsoft.com/office/drawing/2014/main" id="{E4BC16AF-93EE-4BA4-8D26-24DECDCF0A1C}"/>
              </a:ext>
            </a:extLst>
          </p:cNvPr>
          <p:cNvSpPr txBox="1"/>
          <p:nvPr/>
        </p:nvSpPr>
        <p:spPr>
          <a:xfrm>
            <a:off x="4158000" y="3855600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elt01_poolbce</a:t>
            </a:r>
          </a:p>
        </p:txBody>
      </p:sp>
      <p:cxnSp>
        <p:nvCxnSpPr>
          <p:cNvPr id="426" name="Conector angular 217">
            <a:extLst>
              <a:ext uri="{FF2B5EF4-FFF2-40B4-BE49-F238E27FC236}">
                <a16:creationId xmlns:a16="http://schemas.microsoft.com/office/drawing/2014/main" id="{1C61CFC0-F8F9-4BB6-B33B-5693DC0A9559}"/>
              </a:ext>
            </a:extLst>
          </p:cNvPr>
          <p:cNvCxnSpPr>
            <a:cxnSpLocks/>
            <a:stCxn id="425" idx="3"/>
            <a:endCxn id="423" idx="1"/>
          </p:cNvCxnSpPr>
          <p:nvPr/>
        </p:nvCxnSpPr>
        <p:spPr>
          <a:xfrm>
            <a:off x="5454000" y="3963600"/>
            <a:ext cx="230400" cy="645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onector angular 217">
            <a:extLst>
              <a:ext uri="{FF2B5EF4-FFF2-40B4-BE49-F238E27FC236}">
                <a16:creationId xmlns:a16="http://schemas.microsoft.com/office/drawing/2014/main" id="{A6431899-C20B-4F9C-9721-38BF6BFDF9CE}"/>
              </a:ext>
            </a:extLst>
          </p:cNvPr>
          <p:cNvCxnSpPr>
            <a:cxnSpLocks/>
            <a:stCxn id="326" idx="3"/>
            <a:endCxn id="425" idx="1"/>
          </p:cNvCxnSpPr>
          <p:nvPr/>
        </p:nvCxnSpPr>
        <p:spPr>
          <a:xfrm>
            <a:off x="2045692" y="3588627"/>
            <a:ext cx="2112308" cy="374973"/>
          </a:xfrm>
          <a:prstGeom prst="bentConnector3">
            <a:avLst>
              <a:gd name="adj1" fmla="val 34518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onexão em ângulos retos 128">
            <a:extLst>
              <a:ext uri="{FF2B5EF4-FFF2-40B4-BE49-F238E27FC236}">
                <a16:creationId xmlns:a16="http://schemas.microsoft.com/office/drawing/2014/main" id="{E4F98968-2283-48CD-BCB0-67F4631F5952}"/>
              </a:ext>
            </a:extLst>
          </p:cNvPr>
          <p:cNvCxnSpPr>
            <a:cxnSpLocks/>
            <a:stCxn id="423" idx="3"/>
            <a:endCxn id="304" idx="0"/>
          </p:cNvCxnSpPr>
          <p:nvPr/>
        </p:nvCxnSpPr>
        <p:spPr>
          <a:xfrm>
            <a:off x="6980400" y="3964245"/>
            <a:ext cx="1756800" cy="148921"/>
          </a:xfrm>
          <a:prstGeom prst="bentConnector2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4" name="Rectángulo 110">
            <a:extLst>
              <a:ext uri="{FF2B5EF4-FFF2-40B4-BE49-F238E27FC236}">
                <a16:creationId xmlns:a16="http://schemas.microsoft.com/office/drawing/2014/main" id="{F84FFF65-FE32-4059-A84D-2BEB953A0C0B}"/>
              </a:ext>
            </a:extLst>
          </p:cNvPr>
          <p:cNvSpPr/>
          <p:nvPr/>
        </p:nvSpPr>
        <p:spPr>
          <a:xfrm>
            <a:off x="8053200" y="3359049"/>
            <a:ext cx="1368000" cy="267335"/>
          </a:xfrm>
          <a:prstGeom prst="rect">
            <a:avLst/>
          </a:prstGeom>
          <a:solidFill>
            <a:srgbClr val="E9E7DD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pt-PT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POOL DE CREDITOS DO EUROSISTEMA </a:t>
            </a:r>
            <a:r>
              <a:rPr lang="pt-PT" sz="900" baseline="30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s-ES" sz="9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35" name="Conexão em ângulos retos 128">
            <a:extLst>
              <a:ext uri="{FF2B5EF4-FFF2-40B4-BE49-F238E27FC236}">
                <a16:creationId xmlns:a16="http://schemas.microsoft.com/office/drawing/2014/main" id="{54A8A612-2B0E-4093-9C7A-744134DB05DE}"/>
              </a:ext>
            </a:extLst>
          </p:cNvPr>
          <p:cNvCxnSpPr>
            <a:cxnSpLocks/>
            <a:stCxn id="305" idx="3"/>
            <a:endCxn id="434" idx="1"/>
          </p:cNvCxnSpPr>
          <p:nvPr/>
        </p:nvCxnSpPr>
        <p:spPr>
          <a:xfrm>
            <a:off x="6980347" y="3490841"/>
            <a:ext cx="1072853" cy="18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TextBox 437">
            <a:extLst>
              <a:ext uri="{FF2B5EF4-FFF2-40B4-BE49-F238E27FC236}">
                <a16:creationId xmlns:a16="http://schemas.microsoft.com/office/drawing/2014/main" id="{5A5BBE7E-175D-400B-AF18-265FEDAF98F9}"/>
              </a:ext>
            </a:extLst>
          </p:cNvPr>
          <p:cNvSpPr txBox="1"/>
          <p:nvPr/>
        </p:nvSpPr>
        <p:spPr>
          <a:xfrm>
            <a:off x="2709495" y="3694950"/>
            <a:ext cx="1341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Códigos de pools de créditos p/ </a:t>
            </a:r>
            <a:r>
              <a:rPr lang="pt-PT" sz="700" dirty="0" err="1"/>
              <a:t>Eurosistema</a:t>
            </a:r>
            <a:endParaRPr lang="pt-PT" sz="700" dirty="0"/>
          </a:p>
        </p:txBody>
      </p:sp>
      <p:cxnSp>
        <p:nvCxnSpPr>
          <p:cNvPr id="482" name="Conector angular 217">
            <a:extLst>
              <a:ext uri="{FF2B5EF4-FFF2-40B4-BE49-F238E27FC236}">
                <a16:creationId xmlns:a16="http://schemas.microsoft.com/office/drawing/2014/main" id="{27BF4106-B1FA-411B-AE40-6662118BFCF0}"/>
              </a:ext>
            </a:extLst>
          </p:cNvPr>
          <p:cNvCxnSpPr>
            <a:cxnSpLocks/>
            <a:stCxn id="336" idx="3"/>
            <a:endCxn id="384" idx="1"/>
          </p:cNvCxnSpPr>
          <p:nvPr/>
        </p:nvCxnSpPr>
        <p:spPr>
          <a:xfrm>
            <a:off x="2045692" y="6042336"/>
            <a:ext cx="3638708" cy="94916"/>
          </a:xfrm>
          <a:prstGeom prst="bentConnector3">
            <a:avLst>
              <a:gd name="adj1" fmla="val 19798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4" name="TextBox 493">
            <a:extLst>
              <a:ext uri="{FF2B5EF4-FFF2-40B4-BE49-F238E27FC236}">
                <a16:creationId xmlns:a16="http://schemas.microsoft.com/office/drawing/2014/main" id="{9FDCE393-07DA-46F9-AAD8-1A3567E95B3C}"/>
              </a:ext>
            </a:extLst>
          </p:cNvPr>
          <p:cNvSpPr txBox="1"/>
          <p:nvPr/>
        </p:nvSpPr>
        <p:spPr>
          <a:xfrm>
            <a:off x="2710800" y="5490571"/>
            <a:ext cx="24707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Colateral em cash (contas posicionadas) para IM e VM</a:t>
            </a:r>
          </a:p>
        </p:txBody>
      </p:sp>
      <p:sp>
        <p:nvSpPr>
          <p:cNvPr id="495" name="Rectángulo 110">
            <a:extLst>
              <a:ext uri="{FF2B5EF4-FFF2-40B4-BE49-F238E27FC236}">
                <a16:creationId xmlns:a16="http://schemas.microsoft.com/office/drawing/2014/main" id="{88AF1F1F-6FF4-4D4A-86EE-758019100E49}"/>
              </a:ext>
            </a:extLst>
          </p:cNvPr>
          <p:cNvSpPr/>
          <p:nvPr/>
        </p:nvSpPr>
        <p:spPr>
          <a:xfrm>
            <a:off x="8053200" y="2842576"/>
            <a:ext cx="1368000" cy="198000"/>
          </a:xfrm>
          <a:prstGeom prst="rect">
            <a:avLst/>
          </a:prstGeom>
          <a:solidFill>
            <a:srgbClr val="E9E7DD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pt-PT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POOL TITULARIZACOES </a:t>
            </a:r>
            <a:r>
              <a:rPr lang="pt-PT" sz="900" baseline="30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s-ES" sz="9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6" name="Rectángulo 110">
            <a:extLst>
              <a:ext uri="{FF2B5EF4-FFF2-40B4-BE49-F238E27FC236}">
                <a16:creationId xmlns:a16="http://schemas.microsoft.com/office/drawing/2014/main" id="{0054845E-A97A-42EB-9B88-9F7127165BE9}"/>
              </a:ext>
            </a:extLst>
          </p:cNvPr>
          <p:cNvSpPr/>
          <p:nvPr/>
        </p:nvSpPr>
        <p:spPr>
          <a:xfrm>
            <a:off x="8053200" y="2550460"/>
            <a:ext cx="1368000" cy="266400"/>
          </a:xfrm>
          <a:prstGeom prst="rect">
            <a:avLst/>
          </a:prstGeom>
          <a:solidFill>
            <a:srgbClr val="E9E7DD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pt-PT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POOL OBRIGACOES HIPOTECARIAS </a:t>
            </a:r>
            <a:r>
              <a:rPr lang="pt-PT" sz="900" baseline="30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s-ES" sz="900" baseline="30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2" name="CuadroTexto 86">
            <a:extLst>
              <a:ext uri="{FF2B5EF4-FFF2-40B4-BE49-F238E27FC236}">
                <a16:creationId xmlns:a16="http://schemas.microsoft.com/office/drawing/2014/main" id="{0EAB16A3-C72F-4A90-AF87-264B40EC80FD}"/>
              </a:ext>
            </a:extLst>
          </p:cNvPr>
          <p:cNvSpPr txBox="1"/>
          <p:nvPr/>
        </p:nvSpPr>
        <p:spPr>
          <a:xfrm>
            <a:off x="4050000" y="2643963"/>
            <a:ext cx="2479388" cy="268669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</a:t>
            </a:r>
            <a:r>
              <a:rPr lang="es-ES" sz="12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Asset</a:t>
            </a:r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r>
              <a:rPr lang="es-ES" sz="12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Encumbrance</a:t>
            </a:r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(</a:t>
            </a:r>
            <a:r>
              <a:rPr lang="es-ES" sz="900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cd_alm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503" name="Rectángulo 302">
            <a:extLst>
              <a:ext uri="{FF2B5EF4-FFF2-40B4-BE49-F238E27FC236}">
                <a16:creationId xmlns:a16="http://schemas.microsoft.com/office/drawing/2014/main" id="{DE45325E-9B22-43FE-996A-9B099995A405}"/>
              </a:ext>
            </a:extLst>
          </p:cNvPr>
          <p:cNvSpPr/>
          <p:nvPr/>
        </p:nvSpPr>
        <p:spPr>
          <a:xfrm>
            <a:off x="4050000" y="1799136"/>
            <a:ext cx="3096000" cy="82944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508" name="CuadroTexto 86">
            <a:extLst>
              <a:ext uri="{FF2B5EF4-FFF2-40B4-BE49-F238E27FC236}">
                <a16:creationId xmlns:a16="http://schemas.microsoft.com/office/drawing/2014/main" id="{CB296B5D-A4DE-421A-9EEB-073815D01F3C}"/>
              </a:ext>
            </a:extLst>
          </p:cNvPr>
          <p:cNvSpPr txBox="1"/>
          <p:nvPr/>
        </p:nvSpPr>
        <p:spPr>
          <a:xfrm>
            <a:off x="4051261" y="1834447"/>
            <a:ext cx="1440000" cy="268669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ALM</a:t>
            </a:r>
          </a:p>
          <a:p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(</a:t>
            </a:r>
            <a:r>
              <a:rPr lang="es-ES" sz="900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cd_alm</a:t>
            </a:r>
            <a:r>
              <a:rPr lang="es-ES" sz="900" i="1" dirty="0">
                <a:solidFill>
                  <a:prstClr val="black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501" name="CuadroTexto 86">
            <a:extLst>
              <a:ext uri="{FF2B5EF4-FFF2-40B4-BE49-F238E27FC236}">
                <a16:creationId xmlns:a16="http://schemas.microsoft.com/office/drawing/2014/main" id="{D25D7066-04EA-4886-9279-D1AA333B4F96}"/>
              </a:ext>
            </a:extLst>
          </p:cNvPr>
          <p:cNvSpPr txBox="1"/>
          <p:nvPr/>
        </p:nvSpPr>
        <p:spPr>
          <a:xfrm>
            <a:off x="5676185" y="2372433"/>
            <a:ext cx="1404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al029_cnt_core_m</a:t>
            </a:r>
          </a:p>
        </p:txBody>
      </p:sp>
      <p:cxnSp>
        <p:nvCxnSpPr>
          <p:cNvPr id="505" name="Conexão em ângulos retos 128">
            <a:extLst>
              <a:ext uri="{FF2B5EF4-FFF2-40B4-BE49-F238E27FC236}">
                <a16:creationId xmlns:a16="http://schemas.microsoft.com/office/drawing/2014/main" id="{A404BCF4-DF7F-4817-B501-1E032E34D14C}"/>
              </a:ext>
            </a:extLst>
          </p:cNvPr>
          <p:cNvCxnSpPr>
            <a:cxnSpLocks/>
            <a:stCxn id="501" idx="3"/>
            <a:endCxn id="495" idx="1"/>
          </p:cNvCxnSpPr>
          <p:nvPr/>
        </p:nvCxnSpPr>
        <p:spPr>
          <a:xfrm>
            <a:off x="7080185" y="2480433"/>
            <a:ext cx="973015" cy="4611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Conexão em ângulos retos 128">
            <a:extLst>
              <a:ext uri="{FF2B5EF4-FFF2-40B4-BE49-F238E27FC236}">
                <a16:creationId xmlns:a16="http://schemas.microsoft.com/office/drawing/2014/main" id="{C5F01FE9-5413-4809-987F-E07870A0473C}"/>
              </a:ext>
            </a:extLst>
          </p:cNvPr>
          <p:cNvCxnSpPr>
            <a:cxnSpLocks/>
            <a:stCxn id="501" idx="3"/>
            <a:endCxn id="496" idx="1"/>
          </p:cNvCxnSpPr>
          <p:nvPr/>
        </p:nvCxnSpPr>
        <p:spPr>
          <a:xfrm>
            <a:off x="7080185" y="2480433"/>
            <a:ext cx="973015" cy="203227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Rectángulo 110">
            <a:extLst>
              <a:ext uri="{FF2B5EF4-FFF2-40B4-BE49-F238E27FC236}">
                <a16:creationId xmlns:a16="http://schemas.microsoft.com/office/drawing/2014/main" id="{3DA5C6EC-E2FD-4B78-AA95-02725A5AF859}"/>
              </a:ext>
            </a:extLst>
          </p:cNvPr>
          <p:cNvSpPr/>
          <p:nvPr/>
        </p:nvSpPr>
        <p:spPr>
          <a:xfrm>
            <a:off x="8053200" y="3065473"/>
            <a:ext cx="1368000" cy="267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pt-PT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EMISSAO RETIDA NÃO UTILIZADA NEM PRESA …</a:t>
            </a:r>
            <a:endParaRPr lang="es-ES" sz="9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D541A9A6-F6A4-421F-AF78-76587DE095AE}"/>
              </a:ext>
            </a:extLst>
          </p:cNvPr>
          <p:cNvSpPr txBox="1"/>
          <p:nvPr/>
        </p:nvSpPr>
        <p:spPr>
          <a:xfrm>
            <a:off x="2710800" y="5964976"/>
            <a:ext cx="2570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Elementos SII, FGD e BEI cobertos por colateral em títulos</a:t>
            </a:r>
          </a:p>
        </p:txBody>
      </p:sp>
      <p:cxnSp>
        <p:nvCxnSpPr>
          <p:cNvPr id="517" name="Conector angular 217">
            <a:extLst>
              <a:ext uri="{FF2B5EF4-FFF2-40B4-BE49-F238E27FC236}">
                <a16:creationId xmlns:a16="http://schemas.microsoft.com/office/drawing/2014/main" id="{1DB58F57-000E-4171-AA16-8B2B601FA16D}"/>
              </a:ext>
            </a:extLst>
          </p:cNvPr>
          <p:cNvCxnSpPr>
            <a:cxnSpLocks/>
            <a:stCxn id="69" idx="3"/>
            <a:endCxn id="567" idx="1"/>
          </p:cNvCxnSpPr>
          <p:nvPr/>
        </p:nvCxnSpPr>
        <p:spPr>
          <a:xfrm flipV="1">
            <a:off x="2171701" y="2230135"/>
            <a:ext cx="1885299" cy="89298"/>
          </a:xfrm>
          <a:prstGeom prst="bentConnector3">
            <a:avLst>
              <a:gd name="adj1" fmla="val 32401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CuadroTexto 86">
            <a:extLst>
              <a:ext uri="{FF2B5EF4-FFF2-40B4-BE49-F238E27FC236}">
                <a16:creationId xmlns:a16="http://schemas.microsoft.com/office/drawing/2014/main" id="{52C8496F-CCB9-45FB-A89B-48F0DD2A21FB}"/>
              </a:ext>
            </a:extLst>
          </p:cNvPr>
          <p:cNvSpPr txBox="1"/>
          <p:nvPr/>
        </p:nvSpPr>
        <p:spPr>
          <a:xfrm>
            <a:off x="2143820" y="2402551"/>
            <a:ext cx="646180" cy="353932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s-ES" sz="105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Ficheiros</a:t>
            </a:r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 GEY</a:t>
            </a:r>
          </a:p>
        </p:txBody>
      </p:sp>
      <p:sp>
        <p:nvSpPr>
          <p:cNvPr id="481" name="CuadroTexto 86">
            <a:extLst>
              <a:ext uri="{FF2B5EF4-FFF2-40B4-BE49-F238E27FC236}">
                <a16:creationId xmlns:a16="http://schemas.microsoft.com/office/drawing/2014/main" id="{C7CC10E6-CF29-4B8B-B27E-22482FDEFD5F}"/>
              </a:ext>
            </a:extLst>
          </p:cNvPr>
          <p:cNvSpPr txBox="1"/>
          <p:nvPr/>
        </p:nvSpPr>
        <p:spPr>
          <a:xfrm>
            <a:off x="5676185" y="1827219"/>
            <a:ext cx="1404000" cy="2449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36000" bIns="3600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al030_sld_core_m</a:t>
            </a:r>
          </a:p>
        </p:txBody>
      </p:sp>
      <p:sp>
        <p:nvSpPr>
          <p:cNvPr id="606" name="CuadroTexto 86">
            <a:extLst>
              <a:ext uri="{FF2B5EF4-FFF2-40B4-BE49-F238E27FC236}">
                <a16:creationId xmlns:a16="http://schemas.microsoft.com/office/drawing/2014/main" id="{6BC0609C-1F5A-4C41-B648-6EB4D5EBB6D8}"/>
              </a:ext>
            </a:extLst>
          </p:cNvPr>
          <p:cNvSpPr txBox="1"/>
          <p:nvPr/>
        </p:nvSpPr>
        <p:spPr>
          <a:xfrm>
            <a:off x="5677479" y="2111620"/>
            <a:ext cx="1404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0" bIns="3600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al031_perim_alm_m</a:t>
            </a:r>
          </a:p>
        </p:txBody>
      </p:sp>
      <p:cxnSp>
        <p:nvCxnSpPr>
          <p:cNvPr id="555" name="Conector angular 217">
            <a:extLst>
              <a:ext uri="{FF2B5EF4-FFF2-40B4-BE49-F238E27FC236}">
                <a16:creationId xmlns:a16="http://schemas.microsoft.com/office/drawing/2014/main" id="{F9EF02D2-2FAC-47BD-B008-0918BBCA3DF9}"/>
              </a:ext>
            </a:extLst>
          </p:cNvPr>
          <p:cNvCxnSpPr>
            <a:cxnSpLocks/>
            <a:stCxn id="112" idx="3"/>
            <a:endCxn id="567" idx="1"/>
          </p:cNvCxnSpPr>
          <p:nvPr/>
        </p:nvCxnSpPr>
        <p:spPr>
          <a:xfrm flipV="1">
            <a:off x="2047161" y="2230135"/>
            <a:ext cx="2009839" cy="1012380"/>
          </a:xfrm>
          <a:prstGeom prst="bentConnector3">
            <a:avLst>
              <a:gd name="adj1" fmla="val 36552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7" name="TextBox 566">
            <a:extLst>
              <a:ext uri="{FF2B5EF4-FFF2-40B4-BE49-F238E27FC236}">
                <a16:creationId xmlns:a16="http://schemas.microsoft.com/office/drawing/2014/main" id="{9B5BDC15-49BC-4BF2-8F4E-23788D436D23}"/>
              </a:ext>
            </a:extLst>
          </p:cNvPr>
          <p:cNvSpPr txBox="1"/>
          <p:nvPr/>
        </p:nvSpPr>
        <p:spPr>
          <a:xfrm>
            <a:off x="4057000" y="2045469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572" name="CuadroTexto 86">
            <a:extLst>
              <a:ext uri="{FF2B5EF4-FFF2-40B4-BE49-F238E27FC236}">
                <a16:creationId xmlns:a16="http://schemas.microsoft.com/office/drawing/2014/main" id="{B067C542-88CE-42BB-BFDB-FCCDC77ED979}"/>
              </a:ext>
            </a:extLst>
          </p:cNvPr>
          <p:cNvSpPr txBox="1"/>
          <p:nvPr/>
        </p:nvSpPr>
        <p:spPr>
          <a:xfrm>
            <a:off x="5683663" y="3004989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al605_cot_alm</a:t>
            </a:r>
          </a:p>
        </p:txBody>
      </p:sp>
      <p:sp>
        <p:nvSpPr>
          <p:cNvPr id="573" name="CuadroTexto 86">
            <a:extLst>
              <a:ext uri="{FF2B5EF4-FFF2-40B4-BE49-F238E27FC236}">
                <a16:creationId xmlns:a16="http://schemas.microsoft.com/office/drawing/2014/main" id="{0B690152-22A3-436E-B6E9-A8B0F1A048BF}"/>
              </a:ext>
            </a:extLst>
          </p:cNvPr>
          <p:cNvSpPr txBox="1"/>
          <p:nvPr/>
        </p:nvSpPr>
        <p:spPr>
          <a:xfrm>
            <a:off x="4135959" y="2890883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sigom_tit_pt</a:t>
            </a:r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4" name="CuadroTexto 86">
            <a:extLst>
              <a:ext uri="{FF2B5EF4-FFF2-40B4-BE49-F238E27FC236}">
                <a16:creationId xmlns:a16="http://schemas.microsoft.com/office/drawing/2014/main" id="{6169C333-FDA3-4858-BC10-8666CCA1CF3D}"/>
              </a:ext>
            </a:extLst>
          </p:cNvPr>
          <p:cNvSpPr txBox="1"/>
          <p:nvPr/>
        </p:nvSpPr>
        <p:spPr>
          <a:xfrm>
            <a:off x="4135959" y="3123403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sigom_tit_pt_con</a:t>
            </a:r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cxnSp>
        <p:nvCxnSpPr>
          <p:cNvPr id="575" name="Conector angular 217">
            <a:extLst>
              <a:ext uri="{FF2B5EF4-FFF2-40B4-BE49-F238E27FC236}">
                <a16:creationId xmlns:a16="http://schemas.microsoft.com/office/drawing/2014/main" id="{4F33E22E-5F22-416E-8513-6E52881281FC}"/>
              </a:ext>
            </a:extLst>
          </p:cNvPr>
          <p:cNvCxnSpPr>
            <a:cxnSpLocks/>
            <a:stCxn id="574" idx="3"/>
            <a:endCxn id="572" idx="1"/>
          </p:cNvCxnSpPr>
          <p:nvPr/>
        </p:nvCxnSpPr>
        <p:spPr>
          <a:xfrm flipV="1">
            <a:off x="5431959" y="3112989"/>
            <a:ext cx="251704" cy="118414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Conector angular 217">
            <a:extLst>
              <a:ext uri="{FF2B5EF4-FFF2-40B4-BE49-F238E27FC236}">
                <a16:creationId xmlns:a16="http://schemas.microsoft.com/office/drawing/2014/main" id="{9F72BC85-CD30-4590-A059-F70A10AF762A}"/>
              </a:ext>
            </a:extLst>
          </p:cNvPr>
          <p:cNvCxnSpPr>
            <a:cxnSpLocks/>
            <a:stCxn id="573" idx="3"/>
            <a:endCxn id="572" idx="1"/>
          </p:cNvCxnSpPr>
          <p:nvPr/>
        </p:nvCxnSpPr>
        <p:spPr>
          <a:xfrm>
            <a:off x="5431959" y="2998883"/>
            <a:ext cx="251704" cy="114106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7AF1C8AD-CDF2-4DAA-BE3C-9C2A75CF5A6D}"/>
              </a:ext>
            </a:extLst>
          </p:cNvPr>
          <p:cNvGrpSpPr/>
          <p:nvPr/>
        </p:nvGrpSpPr>
        <p:grpSpPr>
          <a:xfrm>
            <a:off x="2993095" y="2837824"/>
            <a:ext cx="785886" cy="374292"/>
            <a:chOff x="2996415" y="2854849"/>
            <a:chExt cx="785886" cy="374292"/>
          </a:xfrm>
        </p:grpSpPr>
        <p:grpSp>
          <p:nvGrpSpPr>
            <p:cNvPr id="591" name="Grupo 83">
              <a:extLst>
                <a:ext uri="{FF2B5EF4-FFF2-40B4-BE49-F238E27FC236}">
                  <a16:creationId xmlns:a16="http://schemas.microsoft.com/office/drawing/2014/main" id="{78086E97-1D43-438A-9323-D0D71AE29916}"/>
                </a:ext>
              </a:extLst>
            </p:cNvPr>
            <p:cNvGrpSpPr/>
            <p:nvPr/>
          </p:nvGrpSpPr>
          <p:grpSpPr>
            <a:xfrm>
              <a:off x="3101708" y="3013141"/>
              <a:ext cx="577911" cy="216000"/>
              <a:chOff x="8038758" y="3835908"/>
              <a:chExt cx="1282700" cy="1173653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594" name="Disco magnético 89">
                <a:extLst>
                  <a:ext uri="{FF2B5EF4-FFF2-40B4-BE49-F238E27FC236}">
                    <a16:creationId xmlns:a16="http://schemas.microsoft.com/office/drawing/2014/main" id="{4C95A08C-5796-48C2-ADD3-4C094D5FE7F6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595" name="Disco magnético 91">
                <a:extLst>
                  <a:ext uri="{FF2B5EF4-FFF2-40B4-BE49-F238E27FC236}">
                    <a16:creationId xmlns:a16="http://schemas.microsoft.com/office/drawing/2014/main" id="{F040ECEE-76F3-4024-878D-4D490AF847B1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596" name="Disco magnético 92">
                <a:extLst>
                  <a:ext uri="{FF2B5EF4-FFF2-40B4-BE49-F238E27FC236}">
                    <a16:creationId xmlns:a16="http://schemas.microsoft.com/office/drawing/2014/main" id="{57C0E675-8E43-4ED0-A716-0F77AD7886F9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92" name="CuadroTexto 86">
              <a:extLst>
                <a:ext uri="{FF2B5EF4-FFF2-40B4-BE49-F238E27FC236}">
                  <a16:creationId xmlns:a16="http://schemas.microsoft.com/office/drawing/2014/main" id="{59D689DE-304D-4FDC-A7BB-F3CE6464959F}"/>
                </a:ext>
              </a:extLst>
            </p:cNvPr>
            <p:cNvSpPr txBox="1"/>
            <p:nvPr/>
          </p:nvSpPr>
          <p:spPr>
            <a:xfrm>
              <a:off x="2996415" y="2854849"/>
              <a:ext cx="785886" cy="1208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Asset</a:t>
              </a:r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 Control</a:t>
              </a:r>
            </a:p>
          </p:txBody>
        </p:sp>
      </p:grpSp>
      <p:cxnSp>
        <p:nvCxnSpPr>
          <p:cNvPr id="598" name="Conector angular 217">
            <a:extLst>
              <a:ext uri="{FF2B5EF4-FFF2-40B4-BE49-F238E27FC236}">
                <a16:creationId xmlns:a16="http://schemas.microsoft.com/office/drawing/2014/main" id="{2DA906BB-E3F9-4854-A5B5-FAF4127E5FCF}"/>
              </a:ext>
            </a:extLst>
          </p:cNvPr>
          <p:cNvCxnSpPr>
            <a:cxnSpLocks/>
            <a:stCxn id="595" idx="4"/>
            <a:endCxn id="573" idx="1"/>
          </p:cNvCxnSpPr>
          <p:nvPr/>
        </p:nvCxnSpPr>
        <p:spPr>
          <a:xfrm flipV="1">
            <a:off x="3676299" y="2998883"/>
            <a:ext cx="459660" cy="105233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Conector angular 217">
            <a:extLst>
              <a:ext uri="{FF2B5EF4-FFF2-40B4-BE49-F238E27FC236}">
                <a16:creationId xmlns:a16="http://schemas.microsoft.com/office/drawing/2014/main" id="{9BE9AB93-A731-422C-899F-D008FE2BC79B}"/>
              </a:ext>
            </a:extLst>
          </p:cNvPr>
          <p:cNvCxnSpPr>
            <a:cxnSpLocks/>
            <a:stCxn id="595" idx="4"/>
            <a:endCxn id="574" idx="1"/>
          </p:cNvCxnSpPr>
          <p:nvPr/>
        </p:nvCxnSpPr>
        <p:spPr>
          <a:xfrm>
            <a:off x="3676299" y="3104116"/>
            <a:ext cx="459660" cy="127287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Conexão em ângulos retos 128">
            <a:extLst>
              <a:ext uri="{FF2B5EF4-FFF2-40B4-BE49-F238E27FC236}">
                <a16:creationId xmlns:a16="http://schemas.microsoft.com/office/drawing/2014/main" id="{C9F60F8F-FC52-4FFD-88F4-AD12A0332432}"/>
              </a:ext>
            </a:extLst>
          </p:cNvPr>
          <p:cNvCxnSpPr>
            <a:cxnSpLocks/>
            <a:stCxn id="501" idx="3"/>
            <a:endCxn id="512" idx="1"/>
          </p:cNvCxnSpPr>
          <p:nvPr/>
        </p:nvCxnSpPr>
        <p:spPr>
          <a:xfrm>
            <a:off x="7080185" y="2480433"/>
            <a:ext cx="973015" cy="7187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Conexão em ângulos retos 128">
            <a:extLst>
              <a:ext uri="{FF2B5EF4-FFF2-40B4-BE49-F238E27FC236}">
                <a16:creationId xmlns:a16="http://schemas.microsoft.com/office/drawing/2014/main" id="{2256FF0C-F81B-4AE5-B29B-080DF1592975}"/>
              </a:ext>
            </a:extLst>
          </p:cNvPr>
          <p:cNvCxnSpPr>
            <a:cxnSpLocks/>
            <a:stCxn id="211" idx="3"/>
            <a:endCxn id="512" idx="3"/>
          </p:cNvCxnSpPr>
          <p:nvPr/>
        </p:nvCxnSpPr>
        <p:spPr>
          <a:xfrm flipH="1" flipV="1">
            <a:off x="9421200" y="3199141"/>
            <a:ext cx="112654" cy="972838"/>
          </a:xfrm>
          <a:prstGeom prst="bentConnector3">
            <a:avLst>
              <a:gd name="adj1" fmla="val -202922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1" name="CuadroTexto 86">
            <a:extLst>
              <a:ext uri="{FF2B5EF4-FFF2-40B4-BE49-F238E27FC236}">
                <a16:creationId xmlns:a16="http://schemas.microsoft.com/office/drawing/2014/main" id="{530434A8-A190-4A6F-8354-7A1D82CAC6E9}"/>
              </a:ext>
            </a:extLst>
          </p:cNvPr>
          <p:cNvSpPr txBox="1"/>
          <p:nvPr/>
        </p:nvSpPr>
        <p:spPr>
          <a:xfrm>
            <a:off x="7964452" y="1265617"/>
            <a:ext cx="1576800" cy="6120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36000" bIns="36000" rtlCol="0" anchor="t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al016_funding </a:t>
            </a:r>
            <a:r>
              <a:rPr lang="es-ES" sz="1200" b="1" baseline="30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(3)</a:t>
            </a:r>
            <a:endParaRPr lang="es-ES" sz="1200" baseline="30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lvl="1" indent="6350"/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4" name="Rectángulo 110">
            <a:extLst>
              <a:ext uri="{FF2B5EF4-FFF2-40B4-BE49-F238E27FC236}">
                <a16:creationId xmlns:a16="http://schemas.microsoft.com/office/drawing/2014/main" id="{5D74E7BA-788E-4F1A-8D39-3A749898D11E}"/>
              </a:ext>
            </a:extLst>
          </p:cNvPr>
          <p:cNvSpPr/>
          <p:nvPr/>
        </p:nvSpPr>
        <p:spPr>
          <a:xfrm>
            <a:off x="8048316" y="1622729"/>
            <a:ext cx="1368000" cy="19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r>
              <a:rPr lang="pt-PT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EMISSAO EM MERCADO</a:t>
            </a:r>
            <a:r>
              <a:rPr lang="pt-PT" sz="900" baseline="30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(3)</a:t>
            </a:r>
            <a:endParaRPr lang="es-ES" sz="900" baseline="30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5" name="Rectángulo 110">
            <a:extLst>
              <a:ext uri="{FF2B5EF4-FFF2-40B4-BE49-F238E27FC236}">
                <a16:creationId xmlns:a16="http://schemas.microsoft.com/office/drawing/2014/main" id="{F3E71040-1608-4E48-9315-79B032944895}"/>
              </a:ext>
            </a:extLst>
          </p:cNvPr>
          <p:cNvSpPr/>
          <p:nvPr/>
        </p:nvSpPr>
        <p:spPr>
          <a:xfrm>
            <a:off x="8048316" y="1505478"/>
            <a:ext cx="1368000" cy="8209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36000" bIns="0" rtlCol="0" anchor="b" anchorCtr="0"/>
          <a:lstStyle/>
          <a:p>
            <a:r>
              <a:rPr lang="pt-PT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es-ES" sz="9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7" name="CuadroTexto 86">
            <a:extLst>
              <a:ext uri="{FF2B5EF4-FFF2-40B4-BE49-F238E27FC236}">
                <a16:creationId xmlns:a16="http://schemas.microsoft.com/office/drawing/2014/main" id="{4293E3A5-8F7E-41D0-88E1-DBA961F0A3B2}"/>
              </a:ext>
            </a:extLst>
          </p:cNvPr>
          <p:cNvSpPr txBox="1"/>
          <p:nvPr/>
        </p:nvSpPr>
        <p:spPr>
          <a:xfrm>
            <a:off x="5684400" y="6537340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al614_colt_totta</a:t>
            </a:r>
          </a:p>
        </p:txBody>
      </p:sp>
      <p:sp>
        <p:nvSpPr>
          <p:cNvPr id="618" name="Rectangle 32">
            <a:extLst>
              <a:ext uri="{FF2B5EF4-FFF2-40B4-BE49-F238E27FC236}">
                <a16:creationId xmlns:a16="http://schemas.microsoft.com/office/drawing/2014/main" id="{C5352DC1-7769-4F44-884D-21E662662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00" y="6306245"/>
            <a:ext cx="1363192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Operações (Derv.)</a:t>
            </a:r>
          </a:p>
        </p:txBody>
      </p:sp>
      <p:cxnSp>
        <p:nvCxnSpPr>
          <p:cNvPr id="634" name="Conector angular 217">
            <a:extLst>
              <a:ext uri="{FF2B5EF4-FFF2-40B4-BE49-F238E27FC236}">
                <a16:creationId xmlns:a16="http://schemas.microsoft.com/office/drawing/2014/main" id="{1EACD452-9FD5-407B-A8D7-166258395C4F}"/>
              </a:ext>
            </a:extLst>
          </p:cNvPr>
          <p:cNvCxnSpPr>
            <a:cxnSpLocks/>
            <a:stCxn id="618" idx="3"/>
            <a:endCxn id="617" idx="1"/>
          </p:cNvCxnSpPr>
          <p:nvPr/>
        </p:nvCxnSpPr>
        <p:spPr>
          <a:xfrm>
            <a:off x="2045692" y="6432245"/>
            <a:ext cx="3638708" cy="213095"/>
          </a:xfrm>
          <a:prstGeom prst="bentConnector3">
            <a:avLst>
              <a:gd name="adj1" fmla="val 11323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" name="Conexão em ângulos retos 128">
            <a:extLst>
              <a:ext uri="{FF2B5EF4-FFF2-40B4-BE49-F238E27FC236}">
                <a16:creationId xmlns:a16="http://schemas.microsoft.com/office/drawing/2014/main" id="{AADE93EE-0D72-4F8C-875F-CED6CDE3345D}"/>
              </a:ext>
            </a:extLst>
          </p:cNvPr>
          <p:cNvCxnSpPr>
            <a:cxnSpLocks/>
            <a:stCxn id="617" idx="3"/>
            <a:endCxn id="611" idx="3"/>
          </p:cNvCxnSpPr>
          <p:nvPr/>
        </p:nvCxnSpPr>
        <p:spPr>
          <a:xfrm flipV="1">
            <a:off x="6980400" y="1571624"/>
            <a:ext cx="2560852" cy="5073716"/>
          </a:xfrm>
          <a:prstGeom prst="bentConnector3">
            <a:avLst>
              <a:gd name="adj1" fmla="val 125789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3" name="CuadroTexto 86">
            <a:extLst>
              <a:ext uri="{FF2B5EF4-FFF2-40B4-BE49-F238E27FC236}">
                <a16:creationId xmlns:a16="http://schemas.microsoft.com/office/drawing/2014/main" id="{1774BE27-0E0E-4F9C-8424-11E5734785C2}"/>
              </a:ext>
            </a:extLst>
          </p:cNvPr>
          <p:cNvSpPr txBox="1"/>
          <p:nvPr/>
        </p:nvSpPr>
        <p:spPr>
          <a:xfrm>
            <a:off x="7957054" y="1952540"/>
            <a:ext cx="1576800" cy="282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36000" bIns="36000" rtlCol="0" anchor="t" anchorCtr="0">
            <a:noAutofit/>
          </a:bodyPr>
          <a:lstStyle/>
          <a:p>
            <a:r>
              <a:rPr lang="es-E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al015_act_fin </a:t>
            </a:r>
            <a:r>
              <a:rPr lang="es-ES" sz="1200" b="1" baseline="30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(3)</a:t>
            </a:r>
            <a:endParaRPr lang="es-ES" sz="1200" baseline="30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lvl="1" indent="6350"/>
            <a:endParaRPr lang="es-E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4" name="Conexão em ângulos retos 128">
            <a:extLst>
              <a:ext uri="{FF2B5EF4-FFF2-40B4-BE49-F238E27FC236}">
                <a16:creationId xmlns:a16="http://schemas.microsoft.com/office/drawing/2014/main" id="{507CA0E9-0FAA-41C3-9169-538EED32DA3F}"/>
              </a:ext>
            </a:extLst>
          </p:cNvPr>
          <p:cNvCxnSpPr>
            <a:cxnSpLocks/>
            <a:stCxn id="691" idx="3"/>
            <a:endCxn id="643" idx="3"/>
          </p:cNvCxnSpPr>
          <p:nvPr/>
        </p:nvCxnSpPr>
        <p:spPr>
          <a:xfrm flipH="1">
            <a:off x="9533854" y="1785265"/>
            <a:ext cx="13987" cy="308457"/>
          </a:xfrm>
          <a:prstGeom prst="bentConnector3">
            <a:avLst>
              <a:gd name="adj1" fmla="val -1634375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Conexão em ângulos retos 128">
            <a:extLst>
              <a:ext uri="{FF2B5EF4-FFF2-40B4-BE49-F238E27FC236}">
                <a16:creationId xmlns:a16="http://schemas.microsoft.com/office/drawing/2014/main" id="{01BAD7C3-A766-4169-8911-87449D3155FE}"/>
              </a:ext>
            </a:extLst>
          </p:cNvPr>
          <p:cNvCxnSpPr>
            <a:cxnSpLocks/>
            <a:stCxn id="652" idx="1"/>
            <a:endCxn id="204" idx="1"/>
          </p:cNvCxnSpPr>
          <p:nvPr/>
        </p:nvCxnSpPr>
        <p:spPr>
          <a:xfrm rot="10800000" flipH="1">
            <a:off x="7950703" y="2190019"/>
            <a:ext cx="8267" cy="301754"/>
          </a:xfrm>
          <a:prstGeom prst="bentConnector3">
            <a:avLst>
              <a:gd name="adj1" fmla="val -2765211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2" name="TextBox 651">
            <a:extLst>
              <a:ext uri="{FF2B5EF4-FFF2-40B4-BE49-F238E27FC236}">
                <a16:creationId xmlns:a16="http://schemas.microsoft.com/office/drawing/2014/main" id="{16889E26-F3BA-4F6C-8576-44E1BD04909F}"/>
              </a:ext>
            </a:extLst>
          </p:cNvPr>
          <p:cNvSpPr txBox="1"/>
          <p:nvPr/>
        </p:nvSpPr>
        <p:spPr>
          <a:xfrm>
            <a:off x="7950704" y="2307107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pic>
        <p:nvPicPr>
          <p:cNvPr id="661" name="Graphic 660" descr="Upload with solid fill">
            <a:extLst>
              <a:ext uri="{FF2B5EF4-FFF2-40B4-BE49-F238E27FC236}">
                <a16:creationId xmlns:a16="http://schemas.microsoft.com/office/drawing/2014/main" id="{D6FE5A21-2ED9-4AB5-8955-1A9A4737023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07600" y="6487673"/>
            <a:ext cx="216000" cy="216000"/>
          </a:xfrm>
          <a:prstGeom prst="rect">
            <a:avLst/>
          </a:prstGeom>
        </p:spPr>
      </p:pic>
      <p:cxnSp>
        <p:nvCxnSpPr>
          <p:cNvPr id="663" name="Conexão em ângulos retos 128">
            <a:extLst>
              <a:ext uri="{FF2B5EF4-FFF2-40B4-BE49-F238E27FC236}">
                <a16:creationId xmlns:a16="http://schemas.microsoft.com/office/drawing/2014/main" id="{0B3A7FED-8F0D-4EEB-8134-EE575570D6F3}"/>
              </a:ext>
            </a:extLst>
          </p:cNvPr>
          <p:cNvCxnSpPr>
            <a:cxnSpLocks/>
            <a:stCxn id="681" idx="3"/>
            <a:endCxn id="611" idx="3"/>
          </p:cNvCxnSpPr>
          <p:nvPr/>
        </p:nvCxnSpPr>
        <p:spPr>
          <a:xfrm flipV="1">
            <a:off x="6993391" y="1571624"/>
            <a:ext cx="2547861" cy="4645035"/>
          </a:xfrm>
          <a:prstGeom prst="bentConnector3">
            <a:avLst>
              <a:gd name="adj1" fmla="val 114532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Conexão em ângulos retos 128">
            <a:extLst>
              <a:ext uri="{FF2B5EF4-FFF2-40B4-BE49-F238E27FC236}">
                <a16:creationId xmlns:a16="http://schemas.microsoft.com/office/drawing/2014/main" id="{0E35947F-478D-47B2-9827-7EEEBC4C61D4}"/>
              </a:ext>
            </a:extLst>
          </p:cNvPr>
          <p:cNvCxnSpPr>
            <a:cxnSpLocks/>
            <a:stCxn id="572" idx="3"/>
            <a:endCxn id="673" idx="1"/>
          </p:cNvCxnSpPr>
          <p:nvPr/>
        </p:nvCxnSpPr>
        <p:spPr>
          <a:xfrm>
            <a:off x="6979663" y="3112989"/>
            <a:ext cx="987031" cy="275506"/>
          </a:xfrm>
          <a:prstGeom prst="bentConnector3">
            <a:avLst>
              <a:gd name="adj1" fmla="val 30217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3" name="TextBox 672">
            <a:extLst>
              <a:ext uri="{FF2B5EF4-FFF2-40B4-BE49-F238E27FC236}">
                <a16:creationId xmlns:a16="http://schemas.microsoft.com/office/drawing/2014/main" id="{B86139C3-5A88-4B37-9ECB-752969B7D2DA}"/>
              </a:ext>
            </a:extLst>
          </p:cNvPr>
          <p:cNvSpPr txBox="1"/>
          <p:nvPr/>
        </p:nvSpPr>
        <p:spPr>
          <a:xfrm>
            <a:off x="7966694" y="3203829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681" name="TextBox 680">
            <a:extLst>
              <a:ext uri="{FF2B5EF4-FFF2-40B4-BE49-F238E27FC236}">
                <a16:creationId xmlns:a16="http://schemas.microsoft.com/office/drawing/2014/main" id="{3FAB5C2A-41C7-4996-AEDD-A683540B0C8C}"/>
              </a:ext>
            </a:extLst>
          </p:cNvPr>
          <p:cNvSpPr txBox="1"/>
          <p:nvPr/>
        </p:nvSpPr>
        <p:spPr>
          <a:xfrm>
            <a:off x="6480194" y="6031993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691" name="TextBox 690">
            <a:extLst>
              <a:ext uri="{FF2B5EF4-FFF2-40B4-BE49-F238E27FC236}">
                <a16:creationId xmlns:a16="http://schemas.microsoft.com/office/drawing/2014/main" id="{6673D41B-DBE3-48F6-BC4F-7CF03AF81FD1}"/>
              </a:ext>
            </a:extLst>
          </p:cNvPr>
          <p:cNvSpPr txBox="1"/>
          <p:nvPr/>
        </p:nvSpPr>
        <p:spPr>
          <a:xfrm>
            <a:off x="9034644" y="1600599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715" name="Conexão em ângulos retos 128">
            <a:extLst>
              <a:ext uri="{FF2B5EF4-FFF2-40B4-BE49-F238E27FC236}">
                <a16:creationId xmlns:a16="http://schemas.microsoft.com/office/drawing/2014/main" id="{AEF35224-ADCE-43F1-BAC7-7D33482162EF}"/>
              </a:ext>
            </a:extLst>
          </p:cNvPr>
          <p:cNvCxnSpPr>
            <a:cxnSpLocks/>
            <a:stCxn id="481" idx="3"/>
            <a:endCxn id="611" idx="1"/>
          </p:cNvCxnSpPr>
          <p:nvPr/>
        </p:nvCxnSpPr>
        <p:spPr>
          <a:xfrm flipV="1">
            <a:off x="7080185" y="1571624"/>
            <a:ext cx="884267" cy="378078"/>
          </a:xfrm>
          <a:prstGeom prst="bentConnector3">
            <a:avLst>
              <a:gd name="adj1" fmla="val 71544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" name="TextBox 717">
            <a:extLst>
              <a:ext uri="{FF2B5EF4-FFF2-40B4-BE49-F238E27FC236}">
                <a16:creationId xmlns:a16="http://schemas.microsoft.com/office/drawing/2014/main" id="{B3B57B43-90F9-4A3E-9862-0C4127E13AF3}"/>
              </a:ext>
            </a:extLst>
          </p:cNvPr>
          <p:cNvSpPr txBox="1"/>
          <p:nvPr/>
        </p:nvSpPr>
        <p:spPr>
          <a:xfrm>
            <a:off x="2710800" y="6467619"/>
            <a:ext cx="2470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Elementos derivados cobertos por colateral para IM e VM</a:t>
            </a:r>
          </a:p>
        </p:txBody>
      </p:sp>
      <p:cxnSp>
        <p:nvCxnSpPr>
          <p:cNvPr id="743" name="Conexão em ângulos retos 128">
            <a:extLst>
              <a:ext uri="{FF2B5EF4-FFF2-40B4-BE49-F238E27FC236}">
                <a16:creationId xmlns:a16="http://schemas.microsoft.com/office/drawing/2014/main" id="{971EEA4C-972E-4F76-8F43-82E25934AF71}"/>
              </a:ext>
            </a:extLst>
          </p:cNvPr>
          <p:cNvCxnSpPr>
            <a:cxnSpLocks/>
            <a:stCxn id="259" idx="3"/>
            <a:endCxn id="269" idx="1"/>
          </p:cNvCxnSpPr>
          <p:nvPr/>
        </p:nvCxnSpPr>
        <p:spPr>
          <a:xfrm>
            <a:off x="6983273" y="5888860"/>
            <a:ext cx="986128" cy="74266"/>
          </a:xfrm>
          <a:prstGeom prst="bentConnector3">
            <a:avLst>
              <a:gd name="adj1" fmla="val 31165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3" name="CuadroTexto 86">
            <a:extLst>
              <a:ext uri="{FF2B5EF4-FFF2-40B4-BE49-F238E27FC236}">
                <a16:creationId xmlns:a16="http://schemas.microsoft.com/office/drawing/2014/main" id="{AD414F7B-058E-4D15-93DC-1D0308677256}"/>
              </a:ext>
            </a:extLst>
          </p:cNvPr>
          <p:cNvSpPr txBox="1"/>
          <p:nvPr/>
        </p:nvSpPr>
        <p:spPr>
          <a:xfrm>
            <a:off x="5688397" y="6266113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al815_param_ger*</a:t>
            </a:r>
          </a:p>
        </p:txBody>
      </p:sp>
      <p:pic>
        <p:nvPicPr>
          <p:cNvPr id="754" name="Graphic 753" descr="Tools with solid fill">
            <a:extLst>
              <a:ext uri="{FF2B5EF4-FFF2-40B4-BE49-F238E27FC236}">
                <a16:creationId xmlns:a16="http://schemas.microsoft.com/office/drawing/2014/main" id="{B0C9D385-05AB-4F8C-B39E-554A7C25D1C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07600" y="6236495"/>
            <a:ext cx="180000" cy="180000"/>
          </a:xfrm>
          <a:prstGeom prst="rect">
            <a:avLst/>
          </a:prstGeom>
        </p:spPr>
      </p:pic>
      <p:cxnSp>
        <p:nvCxnSpPr>
          <p:cNvPr id="755" name="Conector angular 217">
            <a:extLst>
              <a:ext uri="{FF2B5EF4-FFF2-40B4-BE49-F238E27FC236}">
                <a16:creationId xmlns:a16="http://schemas.microsoft.com/office/drawing/2014/main" id="{49DFF470-FA97-4C85-A57A-D031446A121B}"/>
              </a:ext>
            </a:extLst>
          </p:cNvPr>
          <p:cNvCxnSpPr>
            <a:cxnSpLocks/>
            <a:stCxn id="336" idx="3"/>
            <a:endCxn id="753" idx="1"/>
          </p:cNvCxnSpPr>
          <p:nvPr/>
        </p:nvCxnSpPr>
        <p:spPr>
          <a:xfrm>
            <a:off x="2045692" y="6042336"/>
            <a:ext cx="3642705" cy="331777"/>
          </a:xfrm>
          <a:prstGeom prst="bentConnector3">
            <a:avLst>
              <a:gd name="adj1" fmla="val 19799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2" name="TextBox 761">
            <a:extLst>
              <a:ext uri="{FF2B5EF4-FFF2-40B4-BE49-F238E27FC236}">
                <a16:creationId xmlns:a16="http://schemas.microsoft.com/office/drawing/2014/main" id="{196A67D2-E866-49C7-9352-9810ADC7A213}"/>
              </a:ext>
            </a:extLst>
          </p:cNvPr>
          <p:cNvSpPr txBox="1"/>
          <p:nvPr/>
        </p:nvSpPr>
        <p:spPr>
          <a:xfrm>
            <a:off x="2717295" y="6205329"/>
            <a:ext cx="24175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Elementos </a:t>
            </a:r>
            <a:r>
              <a:rPr lang="pt-PT" sz="700" dirty="0" err="1"/>
              <a:t>Eurosistema</a:t>
            </a:r>
            <a:r>
              <a:rPr lang="pt-PT" sz="700" dirty="0"/>
              <a:t> cobertos por colateral diverso</a:t>
            </a:r>
          </a:p>
        </p:txBody>
      </p:sp>
      <p:cxnSp>
        <p:nvCxnSpPr>
          <p:cNvPr id="766" name="Conexão em ângulos retos 128">
            <a:extLst>
              <a:ext uri="{FF2B5EF4-FFF2-40B4-BE49-F238E27FC236}">
                <a16:creationId xmlns:a16="http://schemas.microsoft.com/office/drawing/2014/main" id="{F26801E6-AFB4-4CF7-92D0-C24B768417DA}"/>
              </a:ext>
            </a:extLst>
          </p:cNvPr>
          <p:cNvCxnSpPr>
            <a:cxnSpLocks/>
            <a:stCxn id="753" idx="3"/>
            <a:endCxn id="611" idx="3"/>
          </p:cNvCxnSpPr>
          <p:nvPr/>
        </p:nvCxnSpPr>
        <p:spPr>
          <a:xfrm flipV="1">
            <a:off x="6984397" y="1571624"/>
            <a:ext cx="2556855" cy="4802489"/>
          </a:xfrm>
          <a:prstGeom prst="bentConnector3">
            <a:avLst>
              <a:gd name="adj1" fmla="val 120117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exão em ângulos retos 128">
            <a:extLst>
              <a:ext uri="{FF2B5EF4-FFF2-40B4-BE49-F238E27FC236}">
                <a16:creationId xmlns:a16="http://schemas.microsoft.com/office/drawing/2014/main" id="{E0A3D532-B931-41A9-8291-D049C30AF470}"/>
              </a:ext>
            </a:extLst>
          </p:cNvPr>
          <p:cNvCxnSpPr>
            <a:cxnSpLocks/>
            <a:stCxn id="606" idx="3"/>
            <a:endCxn id="643" idx="1"/>
          </p:cNvCxnSpPr>
          <p:nvPr/>
        </p:nvCxnSpPr>
        <p:spPr>
          <a:xfrm flipV="1">
            <a:off x="7081479" y="2093722"/>
            <a:ext cx="875575" cy="125898"/>
          </a:xfrm>
          <a:prstGeom prst="bentConnector3">
            <a:avLst>
              <a:gd name="adj1" fmla="val 53536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xão em ângulos retos 128">
            <a:extLst>
              <a:ext uri="{FF2B5EF4-FFF2-40B4-BE49-F238E27FC236}">
                <a16:creationId xmlns:a16="http://schemas.microsoft.com/office/drawing/2014/main" id="{EE78440A-3892-4B66-A3D6-63C2B62A1DAD}"/>
              </a:ext>
            </a:extLst>
          </p:cNvPr>
          <p:cNvCxnSpPr>
            <a:cxnSpLocks/>
            <a:stCxn id="552" idx="1"/>
            <a:endCxn id="606" idx="1"/>
          </p:cNvCxnSpPr>
          <p:nvPr/>
        </p:nvCxnSpPr>
        <p:spPr>
          <a:xfrm rot="10800000" flipH="1" flipV="1">
            <a:off x="5677199" y="1344878"/>
            <a:ext cx="279" cy="874742"/>
          </a:xfrm>
          <a:prstGeom prst="bentConnector3">
            <a:avLst>
              <a:gd name="adj1" fmla="val -109247312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exão em ângulos retos 128">
            <a:extLst>
              <a:ext uri="{FF2B5EF4-FFF2-40B4-BE49-F238E27FC236}">
                <a16:creationId xmlns:a16="http://schemas.microsoft.com/office/drawing/2014/main" id="{899A4B59-F386-42FF-A011-72D3FC901999}"/>
              </a:ext>
            </a:extLst>
          </p:cNvPr>
          <p:cNvCxnSpPr>
            <a:cxnSpLocks/>
            <a:stCxn id="504" idx="1"/>
            <a:endCxn id="481" idx="1"/>
          </p:cNvCxnSpPr>
          <p:nvPr/>
        </p:nvCxnSpPr>
        <p:spPr>
          <a:xfrm rot="10800000" flipV="1">
            <a:off x="5676186" y="1603812"/>
            <a:ext cx="1015" cy="345890"/>
          </a:xfrm>
          <a:prstGeom prst="bentConnector3">
            <a:avLst>
              <a:gd name="adj1" fmla="val 20718818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CuadroTexto 86">
            <a:extLst>
              <a:ext uri="{FF2B5EF4-FFF2-40B4-BE49-F238E27FC236}">
                <a16:creationId xmlns:a16="http://schemas.microsoft.com/office/drawing/2014/main" id="{AC9186AC-B4F1-4719-8D53-AC251EC43976}"/>
              </a:ext>
            </a:extLst>
          </p:cNvPr>
          <p:cNvSpPr txBox="1"/>
          <p:nvPr/>
        </p:nvSpPr>
        <p:spPr>
          <a:xfrm>
            <a:off x="5687273" y="5780860"/>
            <a:ext cx="129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36000" bIns="0" rtlCol="0" anchor="ctr" anchorCtr="0">
            <a:noAutofit/>
          </a:bodyPr>
          <a:lstStyle/>
          <a:p>
            <a:r>
              <a:rPr lang="es-E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ct610_titulos</a:t>
            </a:r>
          </a:p>
        </p:txBody>
      </p:sp>
      <p:cxnSp>
        <p:nvCxnSpPr>
          <p:cNvPr id="262" name="Conector angular 217">
            <a:extLst>
              <a:ext uri="{FF2B5EF4-FFF2-40B4-BE49-F238E27FC236}">
                <a16:creationId xmlns:a16="http://schemas.microsoft.com/office/drawing/2014/main" id="{C9A9E0F1-87DB-4F03-BD65-2DF68360FD6B}"/>
              </a:ext>
            </a:extLst>
          </p:cNvPr>
          <p:cNvCxnSpPr>
            <a:cxnSpLocks/>
            <a:stCxn id="336" idx="3"/>
            <a:endCxn id="259" idx="1"/>
          </p:cNvCxnSpPr>
          <p:nvPr/>
        </p:nvCxnSpPr>
        <p:spPr>
          <a:xfrm flipV="1">
            <a:off x="2045692" y="5888860"/>
            <a:ext cx="3641581" cy="153476"/>
          </a:xfrm>
          <a:prstGeom prst="bentConnector3">
            <a:avLst>
              <a:gd name="adj1" fmla="val 19790"/>
            </a:avLst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6874F188-8DA0-43E7-A94C-88D10FC61859}"/>
              </a:ext>
            </a:extLst>
          </p:cNvPr>
          <p:cNvSpPr txBox="1"/>
          <p:nvPr/>
        </p:nvSpPr>
        <p:spPr>
          <a:xfrm>
            <a:off x="7969401" y="5778460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EF6B71FA-DD5D-448C-90EA-3EB7EB213C89}"/>
              </a:ext>
            </a:extLst>
          </p:cNvPr>
          <p:cNvSpPr txBox="1"/>
          <p:nvPr/>
        </p:nvSpPr>
        <p:spPr>
          <a:xfrm>
            <a:off x="8053200" y="5271814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288" name="Conexão em ângulos retos 128">
            <a:extLst>
              <a:ext uri="{FF2B5EF4-FFF2-40B4-BE49-F238E27FC236}">
                <a16:creationId xmlns:a16="http://schemas.microsoft.com/office/drawing/2014/main" id="{F8D3C596-FC93-42B6-81AF-7E36097D5F06}"/>
              </a:ext>
            </a:extLst>
          </p:cNvPr>
          <p:cNvCxnSpPr>
            <a:cxnSpLocks/>
            <a:stCxn id="737" idx="3"/>
            <a:endCxn id="287" idx="1"/>
          </p:cNvCxnSpPr>
          <p:nvPr/>
        </p:nvCxnSpPr>
        <p:spPr>
          <a:xfrm flipV="1">
            <a:off x="6980400" y="5456480"/>
            <a:ext cx="1072800" cy="195454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3" name="Graphic 312" descr="Upload with solid fill">
            <a:extLst>
              <a:ext uri="{FF2B5EF4-FFF2-40B4-BE49-F238E27FC236}">
                <a16:creationId xmlns:a16="http://schemas.microsoft.com/office/drawing/2014/main" id="{06CAF0CD-6940-4542-96DD-1C01E6859B4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07600" y="4054649"/>
            <a:ext cx="216000" cy="216000"/>
          </a:xfrm>
          <a:prstGeom prst="rect">
            <a:avLst/>
          </a:prstGeom>
        </p:spPr>
      </p:pic>
      <p:pic>
        <p:nvPicPr>
          <p:cNvPr id="485" name="Graphic 484" descr="Tools with solid fill">
            <a:extLst>
              <a:ext uri="{FF2B5EF4-FFF2-40B4-BE49-F238E27FC236}">
                <a16:creationId xmlns:a16="http://schemas.microsoft.com/office/drawing/2014/main" id="{73FD0525-B7B2-456A-BB02-E449869FBF6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07600" y="5510167"/>
            <a:ext cx="180000" cy="180000"/>
          </a:xfrm>
          <a:prstGeom prst="rect">
            <a:avLst/>
          </a:prstGeom>
        </p:spPr>
      </p:pic>
      <p:pic>
        <p:nvPicPr>
          <p:cNvPr id="292" name="Graphic 291" descr="Upload with solid fill">
            <a:extLst>
              <a:ext uri="{FF2B5EF4-FFF2-40B4-BE49-F238E27FC236}">
                <a16:creationId xmlns:a16="http://schemas.microsoft.com/office/drawing/2014/main" id="{9CAD9313-A48A-410F-9FB8-5087AE64D5A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07600" y="5730876"/>
            <a:ext cx="216000" cy="216000"/>
          </a:xfrm>
          <a:prstGeom prst="rect">
            <a:avLst/>
          </a:prstGeom>
        </p:spPr>
      </p:pic>
      <p:sp>
        <p:nvSpPr>
          <p:cNvPr id="327" name="TextBox 326">
            <a:extLst>
              <a:ext uri="{FF2B5EF4-FFF2-40B4-BE49-F238E27FC236}">
                <a16:creationId xmlns:a16="http://schemas.microsoft.com/office/drawing/2014/main" id="{A8B4E941-640A-44D3-B996-FDF5F65189DE}"/>
              </a:ext>
            </a:extLst>
          </p:cNvPr>
          <p:cNvSpPr txBox="1"/>
          <p:nvPr/>
        </p:nvSpPr>
        <p:spPr>
          <a:xfrm>
            <a:off x="2710800" y="5721509"/>
            <a:ext cx="23230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/>
              <a:t>Atualização de títulos e suas características</a:t>
            </a:r>
          </a:p>
        </p:txBody>
      </p:sp>
      <p:pic>
        <p:nvPicPr>
          <p:cNvPr id="492" name="Graphic 491" descr="Tools with solid fill">
            <a:extLst>
              <a:ext uri="{FF2B5EF4-FFF2-40B4-BE49-F238E27FC236}">
                <a16:creationId xmlns:a16="http://schemas.microsoft.com/office/drawing/2014/main" id="{52F0B30B-61B8-463D-A9B3-6C2FEAE23C3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07600" y="5987270"/>
            <a:ext cx="180000" cy="180000"/>
          </a:xfrm>
          <a:prstGeom prst="rect">
            <a:avLst/>
          </a:prstGeom>
        </p:spPr>
      </p:pic>
      <p:cxnSp>
        <p:nvCxnSpPr>
          <p:cNvPr id="205" name="Conexão em ângulos retos 128">
            <a:extLst>
              <a:ext uri="{FF2B5EF4-FFF2-40B4-BE49-F238E27FC236}">
                <a16:creationId xmlns:a16="http://schemas.microsoft.com/office/drawing/2014/main" id="{A400176B-B513-43C4-B3B7-B9BC1547CF86}"/>
              </a:ext>
            </a:extLst>
          </p:cNvPr>
          <p:cNvCxnSpPr>
            <a:cxnSpLocks/>
            <a:stCxn id="210" idx="3"/>
            <a:endCxn id="214" idx="1"/>
          </p:cNvCxnSpPr>
          <p:nvPr/>
        </p:nvCxnSpPr>
        <p:spPr>
          <a:xfrm flipV="1">
            <a:off x="6984773" y="3580028"/>
            <a:ext cx="1067729" cy="76750"/>
          </a:xfrm>
          <a:prstGeom prst="bentConnector3">
            <a:avLst>
              <a:gd name="adj1" fmla="val 27252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78E41419-F136-4596-A7FA-841E8C272A93}"/>
              </a:ext>
            </a:extLst>
          </p:cNvPr>
          <p:cNvSpPr txBox="1"/>
          <p:nvPr/>
        </p:nvSpPr>
        <p:spPr>
          <a:xfrm>
            <a:off x="6471576" y="3472112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AC27B7C-0A60-4C97-A8E5-379A4DF6ED8E}"/>
              </a:ext>
            </a:extLst>
          </p:cNvPr>
          <p:cNvSpPr txBox="1"/>
          <p:nvPr/>
        </p:nvSpPr>
        <p:spPr>
          <a:xfrm>
            <a:off x="8052502" y="3395362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199" name="Conexão em ângulos retos 128">
            <a:extLst>
              <a:ext uri="{FF2B5EF4-FFF2-40B4-BE49-F238E27FC236}">
                <a16:creationId xmlns:a16="http://schemas.microsoft.com/office/drawing/2014/main" id="{3E6B9D9A-D6FB-4E81-B131-4DCB268FD2B8}"/>
              </a:ext>
            </a:extLst>
          </p:cNvPr>
          <p:cNvCxnSpPr>
            <a:cxnSpLocks/>
            <a:stCxn id="207" idx="3"/>
            <a:endCxn id="203" idx="1"/>
          </p:cNvCxnSpPr>
          <p:nvPr/>
        </p:nvCxnSpPr>
        <p:spPr>
          <a:xfrm>
            <a:off x="7077112" y="2553949"/>
            <a:ext cx="890641" cy="738791"/>
          </a:xfrm>
          <a:prstGeom prst="bentConnector3">
            <a:avLst>
              <a:gd name="adj1" fmla="val 38236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A4C677BA-4E3E-4A57-A0A2-3384D80909FF}"/>
              </a:ext>
            </a:extLst>
          </p:cNvPr>
          <p:cNvSpPr txBox="1"/>
          <p:nvPr/>
        </p:nvSpPr>
        <p:spPr>
          <a:xfrm>
            <a:off x="7967753" y="3108074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7EAF49BF-8D0E-4621-9636-FC158E99F5E0}"/>
              </a:ext>
            </a:extLst>
          </p:cNvPr>
          <p:cNvSpPr txBox="1"/>
          <p:nvPr/>
        </p:nvSpPr>
        <p:spPr>
          <a:xfrm>
            <a:off x="6563915" y="2369283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AEECD76-0AF0-4461-A925-21E8FF9B8618}"/>
              </a:ext>
            </a:extLst>
          </p:cNvPr>
          <p:cNvSpPr txBox="1"/>
          <p:nvPr/>
        </p:nvSpPr>
        <p:spPr>
          <a:xfrm>
            <a:off x="7958971" y="2005353"/>
            <a:ext cx="51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242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 animBg="1"/>
      <p:bldP spid="193" grpId="0" animBg="1"/>
      <p:bldP spid="600" grpId="0" animBg="1"/>
      <p:bldP spid="509" grpId="0" animBg="1"/>
      <p:bldP spid="306" grpId="0" animBg="1"/>
      <p:bldP spid="73" grpId="0" animBg="1"/>
      <p:bldP spid="267" grpId="0" animBg="1"/>
      <p:bldP spid="278" grpId="0" animBg="1"/>
      <p:bldP spid="304" grpId="0" animBg="1"/>
      <p:bldP spid="325" grpId="0" animBg="1"/>
      <p:bldP spid="338" grpId="0" animBg="1"/>
      <p:bldP spid="354" grpId="0" animBg="1"/>
      <p:bldP spid="631" grpId="0" animBg="1"/>
      <p:bldP spid="399" grpId="0" animBg="1"/>
      <p:bldP spid="400" grpId="0" animBg="1"/>
      <p:bldP spid="434" grpId="0" animBg="1"/>
      <p:bldP spid="495" grpId="0" animBg="1"/>
      <p:bldP spid="496" grpId="0" animBg="1"/>
      <p:bldP spid="503" grpId="0" animBg="1"/>
      <p:bldP spid="512" grpId="0" animBg="1"/>
      <p:bldP spid="520" grpId="0"/>
      <p:bldP spid="614" grpId="0" animBg="1"/>
      <p:bldP spid="6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AC04CE-CA6E-47F4-A489-A891BB428198}"/>
              </a:ext>
            </a:extLst>
          </p:cNvPr>
          <p:cNvSpPr/>
          <p:nvPr/>
        </p:nvSpPr>
        <p:spPr bwMode="auto">
          <a:xfrm>
            <a:off x="3904379" y="3001443"/>
            <a:ext cx="2441389" cy="139624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206" name="Rectángulo 68">
            <a:extLst>
              <a:ext uri="{FF2B5EF4-FFF2-40B4-BE49-F238E27FC236}">
                <a16:creationId xmlns:a16="http://schemas.microsoft.com/office/drawing/2014/main" id="{0354A8FF-5DCE-4F40-B485-692522882D17}"/>
              </a:ext>
            </a:extLst>
          </p:cNvPr>
          <p:cNvSpPr/>
          <p:nvPr/>
        </p:nvSpPr>
        <p:spPr>
          <a:xfrm>
            <a:off x="201600" y="5269922"/>
            <a:ext cx="1188000" cy="950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11" name="Rectángulo 68"/>
          <p:cNvSpPr/>
          <p:nvPr/>
        </p:nvSpPr>
        <p:spPr>
          <a:xfrm>
            <a:off x="199735" y="1123674"/>
            <a:ext cx="1188000" cy="365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12" name="Rectángulo 69"/>
          <p:cNvSpPr/>
          <p:nvPr/>
        </p:nvSpPr>
        <p:spPr>
          <a:xfrm>
            <a:off x="207354" y="793646"/>
            <a:ext cx="1692000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Sistemas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Operacionais</a:t>
            </a:r>
            <a:endParaRPr lang="en-GB" sz="1200" b="1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245489" y="1188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Empréstimos CH</a:t>
            </a:r>
          </a:p>
        </p:txBody>
      </p:sp>
      <p:sp>
        <p:nvSpPr>
          <p:cNvPr id="14" name="Rectangle 32"/>
          <p:cNvSpPr>
            <a:spLocks noChangeArrowheads="1"/>
          </p:cNvSpPr>
          <p:nvPr/>
        </p:nvSpPr>
        <p:spPr bwMode="auto">
          <a:xfrm>
            <a:off x="245489" y="1476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Confirming</a:t>
            </a:r>
          </a:p>
        </p:txBody>
      </p:sp>
      <p:sp>
        <p:nvSpPr>
          <p:cNvPr id="15" name="Rectangle 30"/>
          <p:cNvSpPr>
            <a:spLocks noChangeArrowheads="1"/>
          </p:cNvSpPr>
          <p:nvPr/>
        </p:nvSpPr>
        <p:spPr bwMode="auto">
          <a:xfrm>
            <a:off x="245489" y="4356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Clientes</a:t>
            </a: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245489" y="2628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000" dirty="0">
                <a:solidFill>
                  <a:prstClr val="black"/>
                </a:solidFill>
                <a:latin typeface="Santander Text" panose="020B0504020201020104" pitchFamily="34" charset="0"/>
              </a:rPr>
              <a:t>Leasing</a:t>
            </a: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89" y="2052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Empréstimos CP</a:t>
            </a: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89" y="3492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0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Titulos</a:t>
            </a:r>
            <a:endParaRPr lang="pt-PT" altLang="pt-PT" sz="10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19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89" y="1764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Cartões</a:t>
            </a:r>
          </a:p>
        </p:txBody>
      </p:sp>
      <p:sp>
        <p:nvSpPr>
          <p:cNvPr id="20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89" y="3204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GPs/CSs</a:t>
            </a:r>
          </a:p>
        </p:txBody>
      </p:sp>
      <p:sp>
        <p:nvSpPr>
          <p:cNvPr id="22" name="Rectangle 32">
            <a:extLst>
              <a:ext uri="{FF2B5EF4-FFF2-40B4-BE49-F238E27FC236}">
                <a16:creationId xmlns:a16="http://schemas.microsoft.com/office/drawing/2014/main" id="{BFC0B3F2-8F7B-4A66-9D50-FB282639A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89" y="4068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Sigom</a:t>
            </a:r>
          </a:p>
        </p:txBody>
      </p:sp>
      <p:sp>
        <p:nvSpPr>
          <p:cNvPr id="23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89" y="2916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000" dirty="0">
                <a:solidFill>
                  <a:prstClr val="black"/>
                </a:solidFill>
                <a:latin typeface="Santander Text" panose="020B0504020201020104" pitchFamily="34" charset="0"/>
              </a:rPr>
              <a:t>Factoring</a:t>
            </a:r>
          </a:p>
        </p:txBody>
      </p:sp>
      <p:sp>
        <p:nvSpPr>
          <p:cNvPr id="24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391" y="2340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Efeitos</a:t>
            </a:r>
          </a:p>
        </p:txBody>
      </p:sp>
      <p:sp>
        <p:nvSpPr>
          <p:cNvPr id="25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86" y="3780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Contas</a:t>
            </a:r>
          </a:p>
        </p:txBody>
      </p:sp>
      <p:sp>
        <p:nvSpPr>
          <p:cNvPr id="28" name="Retângulo 27"/>
          <p:cNvSpPr/>
          <p:nvPr/>
        </p:nvSpPr>
        <p:spPr>
          <a:xfrm>
            <a:off x="945252" y="4490708"/>
            <a:ext cx="457200" cy="32655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9" name="Fluxograma: adição 108"/>
          <p:cNvSpPr/>
          <p:nvPr/>
        </p:nvSpPr>
        <p:spPr>
          <a:xfrm>
            <a:off x="9838259" y="6517826"/>
            <a:ext cx="180000" cy="180000"/>
          </a:xfrm>
          <a:prstGeom prst="flowChartOr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0" name="Losango 109"/>
          <p:cNvSpPr/>
          <p:nvPr/>
        </p:nvSpPr>
        <p:spPr>
          <a:xfrm>
            <a:off x="9839427" y="6304345"/>
            <a:ext cx="180000" cy="180000"/>
          </a:xfrm>
          <a:prstGeom prst="diamond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14" name="Straight Connector 89">
            <a:extLst>
              <a:ext uri="{FF2B5EF4-FFF2-40B4-BE49-F238E27FC236}">
                <a16:creationId xmlns:a16="http://schemas.microsoft.com/office/drawing/2014/main" id="{490D5342-D93A-4878-A886-FD456E14CAF7}"/>
              </a:ext>
            </a:extLst>
          </p:cNvPr>
          <p:cNvCxnSpPr/>
          <p:nvPr/>
        </p:nvCxnSpPr>
        <p:spPr>
          <a:xfrm>
            <a:off x="1547529" y="1422722"/>
            <a:ext cx="10368000" cy="12719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25" name="Straight Connector 91">
            <a:extLst>
              <a:ext uri="{FF2B5EF4-FFF2-40B4-BE49-F238E27FC236}">
                <a16:creationId xmlns:a16="http://schemas.microsoft.com/office/drawing/2014/main" id="{BB905851-F658-46C9-9410-1C0B0496F2FC}"/>
              </a:ext>
            </a:extLst>
          </p:cNvPr>
          <p:cNvCxnSpPr/>
          <p:nvPr/>
        </p:nvCxnSpPr>
        <p:spPr>
          <a:xfrm flipV="1">
            <a:off x="3323511" y="1198800"/>
            <a:ext cx="0" cy="324000"/>
          </a:xfrm>
          <a:prstGeom prst="line">
            <a:avLst/>
          </a:prstGeom>
          <a:noFill/>
          <a:ln w="12700" cap="flat" cmpd="sng" algn="ctr">
            <a:solidFill>
              <a:srgbClr val="FF0000"/>
            </a:solidFill>
            <a:prstDash val="solid"/>
          </a:ln>
          <a:effectLst/>
        </p:spPr>
      </p:cxnSp>
      <p:grpSp>
        <p:nvGrpSpPr>
          <p:cNvPr id="134" name="Grupo 133"/>
          <p:cNvGrpSpPr/>
          <p:nvPr/>
        </p:nvGrpSpPr>
        <p:grpSpPr>
          <a:xfrm>
            <a:off x="2196348" y="1803875"/>
            <a:ext cx="577911" cy="406062"/>
            <a:chOff x="1710499" y="4070374"/>
            <a:chExt cx="577911" cy="406062"/>
          </a:xfrm>
        </p:grpSpPr>
        <p:grpSp>
          <p:nvGrpSpPr>
            <p:cNvPr id="126" name="Grupo 83">
              <a:extLst>
                <a:ext uri="{FF2B5EF4-FFF2-40B4-BE49-F238E27FC236}">
                  <a16:creationId xmlns:a16="http://schemas.microsoft.com/office/drawing/2014/main" id="{31946E18-6C9C-43A4-87C4-DC7103C17B8F}"/>
                </a:ext>
              </a:extLst>
            </p:cNvPr>
            <p:cNvGrpSpPr/>
            <p:nvPr/>
          </p:nvGrpSpPr>
          <p:grpSpPr>
            <a:xfrm>
              <a:off x="1710499" y="4260436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127" name="Disco magnético 89">
                <a:extLst>
                  <a:ext uri="{FF2B5EF4-FFF2-40B4-BE49-F238E27FC236}">
                    <a16:creationId xmlns:a16="http://schemas.microsoft.com/office/drawing/2014/main" id="{05A4F166-93A2-4C78-B786-A3F632E41B57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28" name="Disco magnético 91">
                <a:extLst>
                  <a:ext uri="{FF2B5EF4-FFF2-40B4-BE49-F238E27FC236}">
                    <a16:creationId xmlns:a16="http://schemas.microsoft.com/office/drawing/2014/main" id="{5F1799A3-0339-4825-9D58-EBE14A94B41A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29" name="Disco magnético 92">
                <a:extLst>
                  <a:ext uri="{FF2B5EF4-FFF2-40B4-BE49-F238E27FC236}">
                    <a16:creationId xmlns:a16="http://schemas.microsoft.com/office/drawing/2014/main" id="{3D40B62E-6424-492F-B8FF-3161602822B7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30" name="CuadroTexto 86">
              <a:extLst>
                <a:ext uri="{FF2B5EF4-FFF2-40B4-BE49-F238E27FC236}">
                  <a16:creationId xmlns:a16="http://schemas.microsoft.com/office/drawing/2014/main" id="{B0F22338-2836-485E-971F-3DFFCD39CEB0}"/>
                </a:ext>
              </a:extLst>
            </p:cNvPr>
            <p:cNvSpPr txBox="1"/>
            <p:nvPr/>
          </p:nvSpPr>
          <p:spPr>
            <a:xfrm>
              <a:off x="1723444" y="4070374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IFRS9</a:t>
              </a:r>
            </a:p>
          </p:txBody>
        </p:sp>
      </p:grpSp>
      <p:cxnSp>
        <p:nvCxnSpPr>
          <p:cNvPr id="131" name="Conexão em ângulos retos 130"/>
          <p:cNvCxnSpPr>
            <a:cxnSpLocks/>
            <a:stCxn id="143" idx="0"/>
            <a:endCxn id="127" idx="3"/>
          </p:cNvCxnSpPr>
          <p:nvPr/>
        </p:nvCxnSpPr>
        <p:spPr>
          <a:xfrm rot="16200000" flipV="1">
            <a:off x="2150691" y="2544551"/>
            <a:ext cx="671085" cy="1857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tângulo 131"/>
          <p:cNvSpPr/>
          <p:nvPr/>
        </p:nvSpPr>
        <p:spPr>
          <a:xfrm>
            <a:off x="955793" y="1939289"/>
            <a:ext cx="457200" cy="32655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301" name="Grupo 300"/>
          <p:cNvGrpSpPr/>
          <p:nvPr/>
        </p:nvGrpSpPr>
        <p:grpSpPr>
          <a:xfrm>
            <a:off x="2175397" y="2881022"/>
            <a:ext cx="577911" cy="438486"/>
            <a:chOff x="1710000" y="3159675"/>
            <a:chExt cx="577911" cy="438486"/>
          </a:xfrm>
        </p:grpSpPr>
        <p:grpSp>
          <p:nvGrpSpPr>
            <p:cNvPr id="139" name="Grupo 138"/>
            <p:cNvGrpSpPr/>
            <p:nvPr/>
          </p:nvGrpSpPr>
          <p:grpSpPr>
            <a:xfrm>
              <a:off x="1710000" y="3382161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140" name="Disco magnético 89"/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41" name="Disco magnético 91"/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42" name="Disco magnético 92"/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43" name="CuadroTexto 86"/>
            <p:cNvSpPr txBox="1"/>
            <p:nvPr/>
          </p:nvSpPr>
          <p:spPr>
            <a:xfrm>
              <a:off x="1843829" y="3159675"/>
              <a:ext cx="355869" cy="2186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ICs</a:t>
              </a:r>
              <a:endParaRPr lang="es-ES" sz="1050" b="1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151" name="Retângulo 150"/>
          <p:cNvSpPr/>
          <p:nvPr/>
        </p:nvSpPr>
        <p:spPr>
          <a:xfrm>
            <a:off x="955188" y="2637661"/>
            <a:ext cx="457200" cy="32655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74" name="Conexão em ângulos retos 173"/>
          <p:cNvCxnSpPr>
            <a:cxnSpLocks/>
            <a:stCxn id="175" idx="3"/>
            <a:endCxn id="101" idx="3"/>
          </p:cNvCxnSpPr>
          <p:nvPr/>
        </p:nvCxnSpPr>
        <p:spPr>
          <a:xfrm flipV="1">
            <a:off x="1362056" y="4118139"/>
            <a:ext cx="3121573" cy="1609410"/>
          </a:xfrm>
          <a:prstGeom prst="bentConnector2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tângulo 174"/>
          <p:cNvSpPr/>
          <p:nvPr/>
        </p:nvSpPr>
        <p:spPr>
          <a:xfrm>
            <a:off x="904856" y="5564271"/>
            <a:ext cx="457200" cy="32655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9" name="Losango 178"/>
          <p:cNvSpPr/>
          <p:nvPr/>
        </p:nvSpPr>
        <p:spPr>
          <a:xfrm>
            <a:off x="6059939" y="3906000"/>
            <a:ext cx="180000" cy="180000"/>
          </a:xfrm>
          <a:prstGeom prst="diamond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7" name="Fluxograma: adição 206"/>
          <p:cNvSpPr/>
          <p:nvPr/>
        </p:nvSpPr>
        <p:spPr>
          <a:xfrm>
            <a:off x="4268975" y="2368917"/>
            <a:ext cx="180000" cy="180000"/>
          </a:xfrm>
          <a:prstGeom prst="flowChartOr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8" name="Losango 207"/>
          <p:cNvSpPr/>
          <p:nvPr/>
        </p:nvSpPr>
        <p:spPr>
          <a:xfrm>
            <a:off x="4272808" y="2149743"/>
            <a:ext cx="180000" cy="180000"/>
          </a:xfrm>
          <a:prstGeom prst="diamond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47" name="Grupo 46"/>
          <p:cNvGrpSpPr/>
          <p:nvPr/>
        </p:nvGrpSpPr>
        <p:grpSpPr>
          <a:xfrm>
            <a:off x="3430537" y="1802651"/>
            <a:ext cx="801611" cy="1092999"/>
            <a:chOff x="3227790" y="1532195"/>
            <a:chExt cx="801611" cy="1092999"/>
          </a:xfrm>
        </p:grpSpPr>
        <p:sp>
          <p:nvSpPr>
            <p:cNvPr id="95" name="CuadroTexto 86">
              <a:extLst>
                <a:ext uri="{FF2B5EF4-FFF2-40B4-BE49-F238E27FC236}">
                  <a16:creationId xmlns:a16="http://schemas.microsoft.com/office/drawing/2014/main" id="{08283CAA-7CAF-4146-BF36-A0055DE7CA47}"/>
                </a:ext>
              </a:extLst>
            </p:cNvPr>
            <p:cNvSpPr txBox="1"/>
            <p:nvPr/>
          </p:nvSpPr>
          <p:spPr>
            <a:xfrm>
              <a:off x="3265610" y="1532195"/>
              <a:ext cx="725972" cy="25473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20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DATALAKE</a:t>
              </a:r>
            </a:p>
          </p:txBody>
        </p:sp>
        <p:grpSp>
          <p:nvGrpSpPr>
            <p:cNvPr id="96" name="Grupo 83">
              <a:extLst>
                <a:ext uri="{FF2B5EF4-FFF2-40B4-BE49-F238E27FC236}">
                  <a16:creationId xmlns:a16="http://schemas.microsoft.com/office/drawing/2014/main" id="{E703DA09-046A-438A-8BF8-91B50559AB51}"/>
                </a:ext>
              </a:extLst>
            </p:cNvPr>
            <p:cNvGrpSpPr/>
            <p:nvPr/>
          </p:nvGrpSpPr>
          <p:grpSpPr>
            <a:xfrm>
              <a:off x="3274178" y="2085194"/>
              <a:ext cx="720000" cy="540000"/>
              <a:chOff x="8038758" y="3835908"/>
              <a:chExt cx="1282700" cy="1173653"/>
            </a:xfrm>
            <a:solidFill>
              <a:srgbClr val="7030A0"/>
            </a:solidFill>
          </p:grpSpPr>
          <p:sp>
            <p:nvSpPr>
              <p:cNvPr id="98" name="Disco magnético 89">
                <a:extLst>
                  <a:ext uri="{FF2B5EF4-FFF2-40B4-BE49-F238E27FC236}">
                    <a16:creationId xmlns:a16="http://schemas.microsoft.com/office/drawing/2014/main" id="{4D5BFA41-1457-4359-8A00-E2EE74F40CBB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99" name="Disco magnético 91">
                <a:extLst>
                  <a:ext uri="{FF2B5EF4-FFF2-40B4-BE49-F238E27FC236}">
                    <a16:creationId xmlns:a16="http://schemas.microsoft.com/office/drawing/2014/main" id="{1FD3FBF0-BAAA-4E4E-8A2F-A3C418C060CE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00" name="Disco magnético 92">
                <a:extLst>
                  <a:ext uri="{FF2B5EF4-FFF2-40B4-BE49-F238E27FC236}">
                    <a16:creationId xmlns:a16="http://schemas.microsoft.com/office/drawing/2014/main" id="{09596261-442C-4B35-AEAB-4C7AE72D1307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23" name="CuadroTexto 86">
              <a:extLst>
                <a:ext uri="{FF2B5EF4-FFF2-40B4-BE49-F238E27FC236}">
                  <a16:creationId xmlns:a16="http://schemas.microsoft.com/office/drawing/2014/main" id="{8E3BB68E-FF01-4EBB-8559-0A93FCE16689}"/>
                </a:ext>
              </a:extLst>
            </p:cNvPr>
            <p:cNvSpPr txBox="1"/>
            <p:nvPr/>
          </p:nvSpPr>
          <p:spPr>
            <a:xfrm>
              <a:off x="3227790" y="1725304"/>
              <a:ext cx="801611" cy="32051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0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Módulo </a:t>
              </a:r>
              <a:r>
                <a:rPr lang="es-ES" sz="1000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Contabilidade</a:t>
              </a:r>
              <a:endParaRPr lang="es-ES" sz="1000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234" name="Grupo 233"/>
          <p:cNvGrpSpPr/>
          <p:nvPr/>
        </p:nvGrpSpPr>
        <p:grpSpPr>
          <a:xfrm>
            <a:off x="2901608" y="415185"/>
            <a:ext cx="829068" cy="729677"/>
            <a:chOff x="3498928" y="1115120"/>
            <a:chExt cx="829068" cy="729677"/>
          </a:xfrm>
        </p:grpSpPr>
        <p:sp>
          <p:nvSpPr>
            <p:cNvPr id="235" name="CuadroTexto 82">
              <a:extLst>
                <a:ext uri="{FF2B5EF4-FFF2-40B4-BE49-F238E27FC236}">
                  <a16:creationId xmlns:a16="http://schemas.microsoft.com/office/drawing/2014/main" id="{27ECDAFF-2031-455D-AAA4-E5F3029E9272}"/>
                </a:ext>
              </a:extLst>
            </p:cNvPr>
            <p:cNvSpPr txBox="1"/>
            <p:nvPr/>
          </p:nvSpPr>
          <p:spPr>
            <a:xfrm>
              <a:off x="3498928" y="1115120"/>
              <a:ext cx="829068" cy="729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0" rIns="0" rtlCol="0">
              <a:spAutoFit/>
            </a:bodyPr>
            <a:lstStyle>
              <a:defPPr>
                <a:defRPr lang="es-E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/>
              <a:endParaRPr lang="es-ES" sz="1050" i="1" dirty="0">
                <a:solidFill>
                  <a:schemeClr val="bg1"/>
                </a:solidFill>
                <a:latin typeface="Santander Headline" panose="020B0504020201020104" pitchFamily="34" charset="0"/>
              </a:endParaRPr>
            </a:p>
          </p:txBody>
        </p:sp>
        <p:pic>
          <p:nvPicPr>
            <p:cNvPr id="236" name="Picture 97" descr="Resultado de imagem para time  ICON">
              <a:extLst>
                <a:ext uri="{FF2B5EF4-FFF2-40B4-BE49-F238E27FC236}">
                  <a16:creationId xmlns:a16="http://schemas.microsoft.com/office/drawing/2014/main" id="{01C28C5C-F8AD-445E-B37A-60F4B7CBCF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7758" y="1158295"/>
              <a:ext cx="420954" cy="4209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7" name="TextBox 28">
              <a:extLst>
                <a:ext uri="{FF2B5EF4-FFF2-40B4-BE49-F238E27FC236}">
                  <a16:creationId xmlns:a16="http://schemas.microsoft.com/office/drawing/2014/main" id="{05EF930E-0C0E-47A3-9CE5-8B6A6A3CD90E}"/>
                </a:ext>
              </a:extLst>
            </p:cNvPr>
            <p:cNvSpPr txBox="1"/>
            <p:nvPr/>
          </p:nvSpPr>
          <p:spPr>
            <a:xfrm>
              <a:off x="3583103" y="1577388"/>
              <a:ext cx="6502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/>
              <a:r>
                <a:rPr lang="pt-PT" sz="1000" b="1" dirty="0">
                  <a:latin typeface="Santander Text" panose="020B0504020201020104" pitchFamily="34" charset="0"/>
                  <a:cs typeface="Arial" panose="020B0604020202020204" pitchFamily="34" charset="0"/>
                </a:rPr>
                <a:t>Fim D+6</a:t>
              </a:r>
            </a:p>
          </p:txBody>
        </p:sp>
      </p:grpSp>
      <p:cxnSp>
        <p:nvCxnSpPr>
          <p:cNvPr id="238" name="Straight Connector 91">
            <a:extLst>
              <a:ext uri="{FF2B5EF4-FFF2-40B4-BE49-F238E27FC236}">
                <a16:creationId xmlns:a16="http://schemas.microsoft.com/office/drawing/2014/main" id="{BB905851-F658-46C9-9410-1C0B0496F2FC}"/>
              </a:ext>
            </a:extLst>
          </p:cNvPr>
          <p:cNvCxnSpPr/>
          <p:nvPr/>
        </p:nvCxnSpPr>
        <p:spPr>
          <a:xfrm flipV="1">
            <a:off x="4701277" y="1200198"/>
            <a:ext cx="0" cy="324000"/>
          </a:xfrm>
          <a:prstGeom prst="line">
            <a:avLst/>
          </a:prstGeom>
          <a:noFill/>
          <a:ln w="12700" cap="flat" cmpd="sng" algn="ctr">
            <a:solidFill>
              <a:srgbClr val="FF0000"/>
            </a:solidFill>
            <a:prstDash val="solid"/>
          </a:ln>
          <a:effectLst/>
        </p:spPr>
      </p:cxnSp>
      <p:grpSp>
        <p:nvGrpSpPr>
          <p:cNvPr id="266" name="Grupo 265"/>
          <p:cNvGrpSpPr/>
          <p:nvPr/>
        </p:nvGrpSpPr>
        <p:grpSpPr>
          <a:xfrm>
            <a:off x="8899364" y="415185"/>
            <a:ext cx="829068" cy="729677"/>
            <a:chOff x="3498928" y="1115120"/>
            <a:chExt cx="829068" cy="729677"/>
          </a:xfrm>
        </p:grpSpPr>
        <p:sp>
          <p:nvSpPr>
            <p:cNvPr id="267" name="CuadroTexto 82">
              <a:extLst>
                <a:ext uri="{FF2B5EF4-FFF2-40B4-BE49-F238E27FC236}">
                  <a16:creationId xmlns:a16="http://schemas.microsoft.com/office/drawing/2014/main" id="{27ECDAFF-2031-455D-AAA4-E5F3029E9272}"/>
                </a:ext>
              </a:extLst>
            </p:cNvPr>
            <p:cNvSpPr txBox="1"/>
            <p:nvPr/>
          </p:nvSpPr>
          <p:spPr>
            <a:xfrm>
              <a:off x="3498928" y="1115120"/>
              <a:ext cx="829068" cy="729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0" rIns="0" rtlCol="0">
              <a:spAutoFit/>
            </a:bodyPr>
            <a:lstStyle>
              <a:defPPr>
                <a:defRPr lang="es-E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/>
              <a:endParaRPr lang="es-ES" sz="1050" i="1" dirty="0">
                <a:solidFill>
                  <a:schemeClr val="bg1"/>
                </a:solidFill>
                <a:latin typeface="Santander Headline" panose="020B0504020201020104" pitchFamily="34" charset="0"/>
              </a:endParaRPr>
            </a:p>
          </p:txBody>
        </p:sp>
        <p:pic>
          <p:nvPicPr>
            <p:cNvPr id="268" name="Picture 97" descr="Resultado de imagem para time  ICON">
              <a:extLst>
                <a:ext uri="{FF2B5EF4-FFF2-40B4-BE49-F238E27FC236}">
                  <a16:creationId xmlns:a16="http://schemas.microsoft.com/office/drawing/2014/main" id="{01C28C5C-F8AD-445E-B37A-60F4B7CBCF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7758" y="1158295"/>
              <a:ext cx="420954" cy="4209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9" name="TextBox 28">
              <a:extLst>
                <a:ext uri="{FF2B5EF4-FFF2-40B4-BE49-F238E27FC236}">
                  <a16:creationId xmlns:a16="http://schemas.microsoft.com/office/drawing/2014/main" id="{05EF930E-0C0E-47A3-9CE5-8B6A6A3CD90E}"/>
                </a:ext>
              </a:extLst>
            </p:cNvPr>
            <p:cNvSpPr txBox="1"/>
            <p:nvPr/>
          </p:nvSpPr>
          <p:spPr>
            <a:xfrm>
              <a:off x="3515956" y="1577388"/>
              <a:ext cx="74474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/>
              <a:r>
                <a:rPr lang="pt-PT" sz="1000" b="1" dirty="0">
                  <a:latin typeface="Santander Text" panose="020B0504020201020104" pitchFamily="34" charset="0"/>
                  <a:cs typeface="Arial" panose="020B0604020202020204" pitchFamily="34" charset="0"/>
                </a:rPr>
                <a:t>Fim C+14</a:t>
              </a:r>
            </a:p>
          </p:txBody>
        </p:sp>
      </p:grpSp>
      <p:cxnSp>
        <p:nvCxnSpPr>
          <p:cNvPr id="270" name="Straight Connector 91">
            <a:extLst>
              <a:ext uri="{FF2B5EF4-FFF2-40B4-BE49-F238E27FC236}">
                <a16:creationId xmlns:a16="http://schemas.microsoft.com/office/drawing/2014/main" id="{BB905851-F658-46C9-9410-1C0B0496F2FC}"/>
              </a:ext>
            </a:extLst>
          </p:cNvPr>
          <p:cNvCxnSpPr/>
          <p:nvPr/>
        </p:nvCxnSpPr>
        <p:spPr>
          <a:xfrm flipV="1">
            <a:off x="9325976" y="1200198"/>
            <a:ext cx="0" cy="324000"/>
          </a:xfrm>
          <a:prstGeom prst="line">
            <a:avLst/>
          </a:prstGeom>
          <a:noFill/>
          <a:ln w="12700" cap="flat" cmpd="sng" algn="ctr">
            <a:solidFill>
              <a:srgbClr val="FF0000"/>
            </a:solidFill>
            <a:prstDash val="solid"/>
          </a:ln>
          <a:effectLst/>
        </p:spPr>
      </p:cxnSp>
      <p:grpSp>
        <p:nvGrpSpPr>
          <p:cNvPr id="271" name="Grupo 270"/>
          <p:cNvGrpSpPr/>
          <p:nvPr/>
        </p:nvGrpSpPr>
        <p:grpSpPr>
          <a:xfrm>
            <a:off x="4242863" y="415185"/>
            <a:ext cx="829068" cy="729677"/>
            <a:chOff x="3498928" y="1115120"/>
            <a:chExt cx="829068" cy="729677"/>
          </a:xfrm>
        </p:grpSpPr>
        <p:sp>
          <p:nvSpPr>
            <p:cNvPr id="272" name="CuadroTexto 82">
              <a:extLst>
                <a:ext uri="{FF2B5EF4-FFF2-40B4-BE49-F238E27FC236}">
                  <a16:creationId xmlns:a16="http://schemas.microsoft.com/office/drawing/2014/main" id="{27ECDAFF-2031-455D-AAA4-E5F3029E9272}"/>
                </a:ext>
              </a:extLst>
            </p:cNvPr>
            <p:cNvSpPr txBox="1"/>
            <p:nvPr/>
          </p:nvSpPr>
          <p:spPr>
            <a:xfrm>
              <a:off x="3498928" y="1115120"/>
              <a:ext cx="829068" cy="729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0" rIns="0" rtlCol="0">
              <a:spAutoFit/>
            </a:bodyPr>
            <a:lstStyle>
              <a:defPPr>
                <a:defRPr lang="es-E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/>
              <a:endParaRPr lang="es-ES" sz="1050" i="1" dirty="0">
                <a:solidFill>
                  <a:schemeClr val="bg1"/>
                </a:solidFill>
                <a:latin typeface="Santander Headline" panose="020B0504020201020104" pitchFamily="34" charset="0"/>
              </a:endParaRPr>
            </a:p>
          </p:txBody>
        </p:sp>
        <p:pic>
          <p:nvPicPr>
            <p:cNvPr id="273" name="Picture 97" descr="Resultado de imagem para time  ICON">
              <a:extLst>
                <a:ext uri="{FF2B5EF4-FFF2-40B4-BE49-F238E27FC236}">
                  <a16:creationId xmlns:a16="http://schemas.microsoft.com/office/drawing/2014/main" id="{01C28C5C-F8AD-445E-B37A-60F4B7CBCF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7758" y="1158295"/>
              <a:ext cx="420954" cy="4209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4" name="TextBox 28">
              <a:extLst>
                <a:ext uri="{FF2B5EF4-FFF2-40B4-BE49-F238E27FC236}">
                  <a16:creationId xmlns:a16="http://schemas.microsoft.com/office/drawing/2014/main" id="{05EF930E-0C0E-47A3-9CE5-8B6A6A3CD90E}"/>
                </a:ext>
              </a:extLst>
            </p:cNvPr>
            <p:cNvSpPr txBox="1"/>
            <p:nvPr/>
          </p:nvSpPr>
          <p:spPr>
            <a:xfrm>
              <a:off x="3549715" y="1577388"/>
              <a:ext cx="7782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/>
              <a:r>
                <a:rPr lang="pt-PT" sz="1000" b="1" dirty="0">
                  <a:latin typeface="Santander Text" panose="020B0504020201020104" pitchFamily="34" charset="0"/>
                  <a:cs typeface="Arial" panose="020B0604020202020204" pitchFamily="34" charset="0"/>
                </a:rPr>
                <a:t>Fim D+7</a:t>
              </a:r>
            </a:p>
          </p:txBody>
        </p:sp>
      </p:grpSp>
      <p:grpSp>
        <p:nvGrpSpPr>
          <p:cNvPr id="362" name="Grupo 361"/>
          <p:cNvGrpSpPr/>
          <p:nvPr/>
        </p:nvGrpSpPr>
        <p:grpSpPr>
          <a:xfrm>
            <a:off x="11086461" y="400702"/>
            <a:ext cx="829068" cy="729677"/>
            <a:chOff x="3498928" y="1115120"/>
            <a:chExt cx="829068" cy="729677"/>
          </a:xfrm>
        </p:grpSpPr>
        <p:sp>
          <p:nvSpPr>
            <p:cNvPr id="363" name="CuadroTexto 82">
              <a:extLst>
                <a:ext uri="{FF2B5EF4-FFF2-40B4-BE49-F238E27FC236}">
                  <a16:creationId xmlns:a16="http://schemas.microsoft.com/office/drawing/2014/main" id="{27ECDAFF-2031-455D-AAA4-E5F3029E9272}"/>
                </a:ext>
              </a:extLst>
            </p:cNvPr>
            <p:cNvSpPr txBox="1"/>
            <p:nvPr/>
          </p:nvSpPr>
          <p:spPr>
            <a:xfrm>
              <a:off x="3498928" y="1115120"/>
              <a:ext cx="829068" cy="729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0" rIns="0" rtlCol="0">
              <a:spAutoFit/>
            </a:bodyPr>
            <a:lstStyle>
              <a:defPPr>
                <a:defRPr lang="es-E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/>
              <a:endParaRPr lang="es-ES" sz="1050" i="1" dirty="0">
                <a:solidFill>
                  <a:schemeClr val="bg1"/>
                </a:solidFill>
                <a:latin typeface="Santander Headline" panose="020B0504020201020104" pitchFamily="34" charset="0"/>
              </a:endParaRPr>
            </a:p>
          </p:txBody>
        </p:sp>
        <p:pic>
          <p:nvPicPr>
            <p:cNvPr id="364" name="Picture 97" descr="Resultado de imagem para time  ICON">
              <a:extLst>
                <a:ext uri="{FF2B5EF4-FFF2-40B4-BE49-F238E27FC236}">
                  <a16:creationId xmlns:a16="http://schemas.microsoft.com/office/drawing/2014/main" id="{01C28C5C-F8AD-445E-B37A-60F4B7CBCF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7758" y="1158295"/>
              <a:ext cx="420954" cy="4209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5" name="TextBox 28">
              <a:extLst>
                <a:ext uri="{FF2B5EF4-FFF2-40B4-BE49-F238E27FC236}">
                  <a16:creationId xmlns:a16="http://schemas.microsoft.com/office/drawing/2014/main" id="{05EF930E-0C0E-47A3-9CE5-8B6A6A3CD90E}"/>
                </a:ext>
              </a:extLst>
            </p:cNvPr>
            <p:cNvSpPr txBox="1"/>
            <p:nvPr/>
          </p:nvSpPr>
          <p:spPr>
            <a:xfrm>
              <a:off x="3547943" y="1577388"/>
              <a:ext cx="7205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/>
              <a:r>
                <a:rPr lang="pt-PT" sz="1000" b="1" dirty="0">
                  <a:latin typeface="Santander Text" panose="020B0504020201020104" pitchFamily="34" charset="0"/>
                  <a:cs typeface="Arial" panose="020B0604020202020204" pitchFamily="34" charset="0"/>
                </a:rPr>
                <a:t>C+30 / x</a:t>
              </a:r>
            </a:p>
          </p:txBody>
        </p:sp>
      </p:grpSp>
      <p:cxnSp>
        <p:nvCxnSpPr>
          <p:cNvPr id="366" name="Straight Connector 91">
            <a:extLst>
              <a:ext uri="{FF2B5EF4-FFF2-40B4-BE49-F238E27FC236}">
                <a16:creationId xmlns:a16="http://schemas.microsoft.com/office/drawing/2014/main" id="{BB905851-F658-46C9-9410-1C0B0496F2FC}"/>
              </a:ext>
            </a:extLst>
          </p:cNvPr>
          <p:cNvCxnSpPr/>
          <p:nvPr/>
        </p:nvCxnSpPr>
        <p:spPr>
          <a:xfrm flipV="1">
            <a:off x="11513073" y="1198800"/>
            <a:ext cx="0" cy="324000"/>
          </a:xfrm>
          <a:prstGeom prst="line">
            <a:avLst/>
          </a:prstGeom>
          <a:noFill/>
          <a:ln w="1270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321" name="Rectángulo 71"/>
          <p:cNvSpPr/>
          <p:nvPr/>
        </p:nvSpPr>
        <p:spPr>
          <a:xfrm>
            <a:off x="10470317" y="2027534"/>
            <a:ext cx="1631901" cy="9739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322" name="Rectángulo 72">
            <a:extLst>
              <a:ext uri="{FF2B5EF4-FFF2-40B4-BE49-F238E27FC236}">
                <a16:creationId xmlns:a16="http://schemas.microsoft.com/office/drawing/2014/main" id="{5E29F9C9-4F73-4025-A91B-B575D1356B78}"/>
              </a:ext>
            </a:extLst>
          </p:cNvPr>
          <p:cNvSpPr/>
          <p:nvPr/>
        </p:nvSpPr>
        <p:spPr>
          <a:xfrm>
            <a:off x="10714548" y="2079485"/>
            <a:ext cx="1260000" cy="37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Banco de Portugal</a:t>
            </a:r>
          </a:p>
        </p:txBody>
      </p:sp>
      <p:sp>
        <p:nvSpPr>
          <p:cNvPr id="361" name="Rectángulo 110">
            <a:extLst>
              <a:ext uri="{FF2B5EF4-FFF2-40B4-BE49-F238E27FC236}">
                <a16:creationId xmlns:a16="http://schemas.microsoft.com/office/drawing/2014/main" id="{C73F72BD-2C00-4A5A-88E2-4D65E29CA9B8}"/>
              </a:ext>
            </a:extLst>
          </p:cNvPr>
          <p:cNvSpPr/>
          <p:nvPr/>
        </p:nvSpPr>
        <p:spPr>
          <a:xfrm>
            <a:off x="10512000" y="2526488"/>
            <a:ext cx="1548000" cy="180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sz="11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Corep</a:t>
            </a:r>
            <a:r>
              <a:rPr lang="es-ES" sz="1100" b="1" dirty="0">
                <a:solidFill>
                  <a:prstClr val="black"/>
                </a:solidFill>
                <a:latin typeface="Santander Text" panose="020B0504020201020104" pitchFamily="34" charset="0"/>
              </a:rPr>
              <a:t> LCR, NSFR, ALMM</a:t>
            </a:r>
          </a:p>
        </p:txBody>
      </p:sp>
      <p:sp>
        <p:nvSpPr>
          <p:cNvPr id="368" name="Rectángulo 110">
            <a:extLst>
              <a:ext uri="{FF2B5EF4-FFF2-40B4-BE49-F238E27FC236}">
                <a16:creationId xmlns:a16="http://schemas.microsoft.com/office/drawing/2014/main" id="{C73F72BD-2C00-4A5A-88E2-4D65E29CA9B8}"/>
              </a:ext>
            </a:extLst>
          </p:cNvPr>
          <p:cNvSpPr/>
          <p:nvPr/>
        </p:nvSpPr>
        <p:spPr>
          <a:xfrm>
            <a:off x="10512000" y="2741175"/>
            <a:ext cx="1548000" cy="180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sz="11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Finrep</a:t>
            </a:r>
            <a:r>
              <a:rPr lang="es-ES" sz="1100" b="1" dirty="0">
                <a:solidFill>
                  <a:prstClr val="black"/>
                </a:solidFill>
                <a:latin typeface="Santander Text" panose="020B0504020201020104" pitchFamily="34" charset="0"/>
              </a:rPr>
              <a:t> AE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9988257" y="6265867"/>
            <a:ext cx="1495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Ponto de controlos.</a:t>
            </a:r>
          </a:p>
        </p:txBody>
      </p:sp>
      <p:sp>
        <p:nvSpPr>
          <p:cNvPr id="194" name="CaixaDeTexto 193"/>
          <p:cNvSpPr txBox="1"/>
          <p:nvPr/>
        </p:nvSpPr>
        <p:spPr>
          <a:xfrm>
            <a:off x="9973167" y="6488489"/>
            <a:ext cx="2226587" cy="24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Ponto de conciliação contabilística.</a:t>
            </a:r>
          </a:p>
        </p:txBody>
      </p:sp>
      <p:cxnSp>
        <p:nvCxnSpPr>
          <p:cNvPr id="220" name="Conexão em ângulos retos 219"/>
          <p:cNvCxnSpPr>
            <a:stCxn id="141" idx="4"/>
            <a:endCxn id="99" idx="2"/>
          </p:cNvCxnSpPr>
          <p:nvPr/>
        </p:nvCxnSpPr>
        <p:spPr>
          <a:xfrm flipV="1">
            <a:off x="2753308" y="2625651"/>
            <a:ext cx="723617" cy="585857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upo 83">
            <a:extLst>
              <a:ext uri="{FF2B5EF4-FFF2-40B4-BE49-F238E27FC236}">
                <a16:creationId xmlns:a16="http://schemas.microsoft.com/office/drawing/2014/main" id="{3111C6D2-BD62-4AD5-B82F-D25ECEFA9B7D}"/>
              </a:ext>
            </a:extLst>
          </p:cNvPr>
          <p:cNvGrpSpPr/>
          <p:nvPr/>
        </p:nvGrpSpPr>
        <p:grpSpPr>
          <a:xfrm>
            <a:off x="4123629" y="3578139"/>
            <a:ext cx="720000" cy="540000"/>
            <a:chOff x="8038758" y="3835908"/>
            <a:chExt cx="1282700" cy="1173653"/>
          </a:xfrm>
          <a:solidFill>
            <a:schemeClr val="accent1">
              <a:lumMod val="75000"/>
            </a:schemeClr>
          </a:solidFill>
        </p:grpSpPr>
        <p:sp>
          <p:nvSpPr>
            <p:cNvPr id="101" name="Disco magnético 89">
              <a:extLst>
                <a:ext uri="{FF2B5EF4-FFF2-40B4-BE49-F238E27FC236}">
                  <a16:creationId xmlns:a16="http://schemas.microsoft.com/office/drawing/2014/main" id="{9AF1A979-4104-401D-890C-2B50F5CA6AF8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102" name="Disco magnético 91">
              <a:extLst>
                <a:ext uri="{FF2B5EF4-FFF2-40B4-BE49-F238E27FC236}">
                  <a16:creationId xmlns:a16="http://schemas.microsoft.com/office/drawing/2014/main" id="{015A3659-1715-43F0-B14E-D544B6886BC1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103" name="Disco magnético 92">
              <a:extLst>
                <a:ext uri="{FF2B5EF4-FFF2-40B4-BE49-F238E27FC236}">
                  <a16:creationId xmlns:a16="http://schemas.microsoft.com/office/drawing/2014/main" id="{DEDEC6CC-EDBA-4FDE-8741-61EC6C3BB9F5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225" name="CuadroTexto 86">
            <a:extLst>
              <a:ext uri="{FF2B5EF4-FFF2-40B4-BE49-F238E27FC236}">
                <a16:creationId xmlns:a16="http://schemas.microsoft.com/office/drawing/2014/main" id="{08283CAA-7CAF-4146-BF36-A0055DE7CA47}"/>
              </a:ext>
            </a:extLst>
          </p:cNvPr>
          <p:cNvSpPr txBox="1"/>
          <p:nvPr/>
        </p:nvSpPr>
        <p:spPr>
          <a:xfrm>
            <a:off x="3973138" y="3015430"/>
            <a:ext cx="725972" cy="25473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DATALAKE</a:t>
            </a:r>
          </a:p>
        </p:txBody>
      </p:sp>
      <p:sp>
        <p:nvSpPr>
          <p:cNvPr id="226" name="CuadroTexto 86">
            <a:extLst>
              <a:ext uri="{FF2B5EF4-FFF2-40B4-BE49-F238E27FC236}">
                <a16:creationId xmlns:a16="http://schemas.microsoft.com/office/drawing/2014/main" id="{8E3BB68E-FF01-4EBB-8559-0A93FCE16689}"/>
              </a:ext>
            </a:extLst>
          </p:cNvPr>
          <p:cNvSpPr txBox="1"/>
          <p:nvPr/>
        </p:nvSpPr>
        <p:spPr>
          <a:xfrm>
            <a:off x="4079260" y="3290148"/>
            <a:ext cx="801611" cy="320512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00" dirty="0">
                <a:solidFill>
                  <a:prstClr val="black"/>
                </a:solidFill>
                <a:latin typeface="Santander Text" panose="020B0504020201020104" pitchFamily="34" charset="0"/>
              </a:rPr>
              <a:t>Módulo ALM</a:t>
            </a:r>
          </a:p>
        </p:txBody>
      </p:sp>
      <p:cxnSp>
        <p:nvCxnSpPr>
          <p:cNvPr id="250" name="Conexão em ângulos retos 249"/>
          <p:cNvCxnSpPr>
            <a:cxnSpLocks/>
            <a:stCxn id="102" idx="4"/>
            <a:endCxn id="287" idx="2"/>
          </p:cNvCxnSpPr>
          <p:nvPr/>
        </p:nvCxnSpPr>
        <p:spPr>
          <a:xfrm flipV="1">
            <a:off x="4843629" y="3847382"/>
            <a:ext cx="476902" cy="758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4" name="Grupo 263"/>
          <p:cNvGrpSpPr/>
          <p:nvPr/>
        </p:nvGrpSpPr>
        <p:grpSpPr>
          <a:xfrm>
            <a:off x="2901608" y="403921"/>
            <a:ext cx="829068" cy="729677"/>
            <a:chOff x="3498928" y="1115120"/>
            <a:chExt cx="829068" cy="729677"/>
          </a:xfrm>
        </p:grpSpPr>
        <p:sp>
          <p:nvSpPr>
            <p:cNvPr id="265" name="CuadroTexto 82">
              <a:extLst>
                <a:ext uri="{FF2B5EF4-FFF2-40B4-BE49-F238E27FC236}">
                  <a16:creationId xmlns:a16="http://schemas.microsoft.com/office/drawing/2014/main" id="{27ECDAFF-2031-455D-AAA4-E5F3029E9272}"/>
                </a:ext>
              </a:extLst>
            </p:cNvPr>
            <p:cNvSpPr txBox="1"/>
            <p:nvPr/>
          </p:nvSpPr>
          <p:spPr>
            <a:xfrm>
              <a:off x="3498928" y="1115120"/>
              <a:ext cx="829068" cy="729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0" rIns="0" rtlCol="0">
              <a:spAutoFit/>
            </a:bodyPr>
            <a:lstStyle>
              <a:defPPr>
                <a:defRPr lang="es-E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/>
              <a:endParaRPr lang="es-ES" sz="1050" i="1" dirty="0">
                <a:solidFill>
                  <a:schemeClr val="bg1"/>
                </a:solidFill>
                <a:latin typeface="Santander Headline" panose="020B0504020201020104" pitchFamily="34" charset="0"/>
              </a:endParaRPr>
            </a:p>
          </p:txBody>
        </p:sp>
        <p:pic>
          <p:nvPicPr>
            <p:cNvPr id="276" name="Picture 97" descr="Resultado de imagem para time  ICON">
              <a:extLst>
                <a:ext uri="{FF2B5EF4-FFF2-40B4-BE49-F238E27FC236}">
                  <a16:creationId xmlns:a16="http://schemas.microsoft.com/office/drawing/2014/main" id="{01C28C5C-F8AD-445E-B37A-60F4B7CBCF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7758" y="1158295"/>
              <a:ext cx="420954" cy="4209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7" name="TextBox 28">
              <a:extLst>
                <a:ext uri="{FF2B5EF4-FFF2-40B4-BE49-F238E27FC236}">
                  <a16:creationId xmlns:a16="http://schemas.microsoft.com/office/drawing/2014/main" id="{05EF930E-0C0E-47A3-9CE5-8B6A6A3CD90E}"/>
                </a:ext>
              </a:extLst>
            </p:cNvPr>
            <p:cNvSpPr txBox="1"/>
            <p:nvPr/>
          </p:nvSpPr>
          <p:spPr>
            <a:xfrm>
              <a:off x="3583103" y="1577388"/>
              <a:ext cx="6502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/>
              <a:r>
                <a:rPr lang="pt-PT" sz="1000" b="1" dirty="0">
                  <a:latin typeface="Santander Text" panose="020B0504020201020104" pitchFamily="34" charset="0"/>
                  <a:cs typeface="Arial" panose="020B0604020202020204" pitchFamily="34" charset="0"/>
                </a:rPr>
                <a:t>Fim D+5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7E91AD0-307B-4FB1-9FA5-82C98B23CD67}"/>
              </a:ext>
            </a:extLst>
          </p:cNvPr>
          <p:cNvGrpSpPr/>
          <p:nvPr/>
        </p:nvGrpSpPr>
        <p:grpSpPr>
          <a:xfrm>
            <a:off x="8742702" y="4696341"/>
            <a:ext cx="1514430" cy="939688"/>
            <a:chOff x="9016590" y="4585501"/>
            <a:chExt cx="1514430" cy="939688"/>
          </a:xfrm>
        </p:grpSpPr>
        <p:sp>
          <p:nvSpPr>
            <p:cNvPr id="353" name="Rectángulo 71"/>
            <p:cNvSpPr/>
            <p:nvPr/>
          </p:nvSpPr>
          <p:spPr>
            <a:xfrm>
              <a:off x="9016590" y="4585501"/>
              <a:ext cx="1514430" cy="9396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354" name="Rectángulo 72">
              <a:extLst>
                <a:ext uri="{FF2B5EF4-FFF2-40B4-BE49-F238E27FC236}">
                  <a16:creationId xmlns:a16="http://schemas.microsoft.com/office/drawing/2014/main" id="{5E29F9C9-4F73-4025-A91B-B575D1356B78}"/>
                </a:ext>
              </a:extLst>
            </p:cNvPr>
            <p:cNvSpPr/>
            <p:nvPr/>
          </p:nvSpPr>
          <p:spPr>
            <a:xfrm>
              <a:off x="9059218" y="4635468"/>
              <a:ext cx="1440000" cy="375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200" b="1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7" name="Imagem 1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23309" y="4666888"/>
              <a:ext cx="313867" cy="283162"/>
            </a:xfrm>
            <a:prstGeom prst="rect">
              <a:avLst/>
            </a:prstGeom>
          </p:spPr>
        </p:pic>
        <p:sp>
          <p:nvSpPr>
            <p:cNvPr id="138" name="CaixaDeTexto 137"/>
            <p:cNvSpPr txBox="1"/>
            <p:nvPr/>
          </p:nvSpPr>
          <p:spPr>
            <a:xfrm>
              <a:off x="9397668" y="4591852"/>
              <a:ext cx="11333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Santander Group</a:t>
              </a:r>
            </a:p>
          </p:txBody>
        </p:sp>
        <p:sp>
          <p:nvSpPr>
            <p:cNvPr id="290" name="Rectángulo 110">
              <a:extLst>
                <a:ext uri="{FF2B5EF4-FFF2-40B4-BE49-F238E27FC236}">
                  <a16:creationId xmlns:a16="http://schemas.microsoft.com/office/drawing/2014/main" id="{C73F72BD-2C00-4A5A-88E2-4D65E29CA9B8}"/>
                </a:ext>
              </a:extLst>
            </p:cNvPr>
            <p:cNvSpPr/>
            <p:nvPr/>
          </p:nvSpPr>
          <p:spPr>
            <a:xfrm>
              <a:off x="9057600" y="5045672"/>
              <a:ext cx="1440000" cy="180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s-ES" sz="110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LCR, NSFR, ALMM, AE</a:t>
              </a:r>
            </a:p>
          </p:txBody>
        </p:sp>
        <p:sp>
          <p:nvSpPr>
            <p:cNvPr id="297" name="Rectángulo 110">
              <a:extLst>
                <a:ext uri="{FF2B5EF4-FFF2-40B4-BE49-F238E27FC236}">
                  <a16:creationId xmlns:a16="http://schemas.microsoft.com/office/drawing/2014/main" id="{C73F72BD-2C00-4A5A-88E2-4D65E29CA9B8}"/>
                </a:ext>
              </a:extLst>
            </p:cNvPr>
            <p:cNvSpPr/>
            <p:nvPr/>
          </p:nvSpPr>
          <p:spPr>
            <a:xfrm>
              <a:off x="9057600" y="5277688"/>
              <a:ext cx="1440000" cy="180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s-ES" sz="110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…</a:t>
              </a:r>
            </a:p>
          </p:txBody>
        </p:sp>
      </p:grpSp>
      <p:grpSp>
        <p:nvGrpSpPr>
          <p:cNvPr id="161" name="Grupo 160"/>
          <p:cNvGrpSpPr/>
          <p:nvPr/>
        </p:nvGrpSpPr>
        <p:grpSpPr>
          <a:xfrm>
            <a:off x="10468800" y="4913221"/>
            <a:ext cx="1630800" cy="502841"/>
            <a:chOff x="10670400" y="4999145"/>
            <a:chExt cx="1346400" cy="502841"/>
          </a:xfrm>
        </p:grpSpPr>
        <p:sp>
          <p:nvSpPr>
            <p:cNvPr id="303" name="Rectángulo 71"/>
            <p:cNvSpPr/>
            <p:nvPr/>
          </p:nvSpPr>
          <p:spPr>
            <a:xfrm>
              <a:off x="10670400" y="4999145"/>
              <a:ext cx="1346400" cy="5028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298" name="Rectángulo 72">
              <a:extLst>
                <a:ext uri="{FF2B5EF4-FFF2-40B4-BE49-F238E27FC236}">
                  <a16:creationId xmlns:a16="http://schemas.microsoft.com/office/drawing/2014/main" id="{5E29F9C9-4F73-4025-A91B-B575D1356B78}"/>
                </a:ext>
              </a:extLst>
            </p:cNvPr>
            <p:cNvSpPr/>
            <p:nvPr/>
          </p:nvSpPr>
          <p:spPr>
            <a:xfrm>
              <a:off x="10713600" y="5058986"/>
              <a:ext cx="1260000" cy="377800"/>
            </a:xfrm>
            <a:prstGeom prst="rect">
              <a:avLst/>
            </a:prstGeom>
            <a:solidFill>
              <a:srgbClr val="0032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200" b="1" dirty="0">
                  <a:solidFill>
                    <a:prstClr val="white"/>
                  </a:solidFill>
                  <a:latin typeface="Santander Text" panose="020B0504020201020104" pitchFamily="34" charset="0"/>
                </a:rPr>
                <a:t>BCE / Banco de España</a:t>
              </a:r>
            </a:p>
          </p:txBody>
        </p:sp>
      </p:grpSp>
      <p:cxnSp>
        <p:nvCxnSpPr>
          <p:cNvPr id="304" name="Conexão em ângulos retos 303"/>
          <p:cNvCxnSpPr>
            <a:cxnSpLocks/>
            <a:stCxn id="353" idx="3"/>
            <a:endCxn id="303" idx="1"/>
          </p:cNvCxnSpPr>
          <p:nvPr/>
        </p:nvCxnSpPr>
        <p:spPr>
          <a:xfrm flipV="1">
            <a:off x="10257132" y="5164642"/>
            <a:ext cx="211668" cy="1543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exão em ângulos retos 307"/>
          <p:cNvCxnSpPr>
            <a:cxnSpLocks/>
            <a:stCxn id="99" idx="4"/>
            <a:endCxn id="2" idx="0"/>
          </p:cNvCxnSpPr>
          <p:nvPr/>
        </p:nvCxnSpPr>
        <p:spPr>
          <a:xfrm>
            <a:off x="4196925" y="2625651"/>
            <a:ext cx="928149" cy="375792"/>
          </a:xfrm>
          <a:prstGeom prst="bentConnector2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" name="Imagem 1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738" y="2087931"/>
            <a:ext cx="372381" cy="382791"/>
          </a:xfrm>
          <a:prstGeom prst="rect">
            <a:avLst/>
          </a:prstGeom>
        </p:spPr>
      </p:pic>
      <p:grpSp>
        <p:nvGrpSpPr>
          <p:cNvPr id="227" name="Grupo 226"/>
          <p:cNvGrpSpPr/>
          <p:nvPr/>
        </p:nvGrpSpPr>
        <p:grpSpPr>
          <a:xfrm>
            <a:off x="10468800" y="3390974"/>
            <a:ext cx="1630800" cy="919953"/>
            <a:chOff x="9015466" y="3574061"/>
            <a:chExt cx="1347504" cy="919953"/>
          </a:xfrm>
        </p:grpSpPr>
        <p:grpSp>
          <p:nvGrpSpPr>
            <p:cNvPr id="403" name="Grupo 402"/>
            <p:cNvGrpSpPr/>
            <p:nvPr/>
          </p:nvGrpSpPr>
          <p:grpSpPr>
            <a:xfrm>
              <a:off x="9015466" y="3574061"/>
              <a:ext cx="1347504" cy="919953"/>
              <a:chOff x="10145171" y="4587797"/>
              <a:chExt cx="1347504" cy="919953"/>
            </a:xfrm>
          </p:grpSpPr>
          <p:grpSp>
            <p:nvGrpSpPr>
              <p:cNvPr id="391" name="Grupo 390"/>
              <p:cNvGrpSpPr/>
              <p:nvPr/>
            </p:nvGrpSpPr>
            <p:grpSpPr>
              <a:xfrm>
                <a:off x="10145171" y="4587797"/>
                <a:ext cx="1347504" cy="919953"/>
                <a:chOff x="10117168" y="622243"/>
                <a:chExt cx="1347504" cy="919953"/>
              </a:xfrm>
            </p:grpSpPr>
            <p:sp>
              <p:nvSpPr>
                <p:cNvPr id="392" name="Rectángulo 71"/>
                <p:cNvSpPr/>
                <p:nvPr/>
              </p:nvSpPr>
              <p:spPr>
                <a:xfrm>
                  <a:off x="10117168" y="622243"/>
                  <a:ext cx="1347504" cy="91995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93" name="Rectángulo 72">
                  <a:extLst>
                    <a:ext uri="{FF2B5EF4-FFF2-40B4-BE49-F238E27FC236}">
                      <a16:creationId xmlns:a16="http://schemas.microsoft.com/office/drawing/2014/main" id="{5E29F9C9-4F73-4025-A91B-B575D1356B78}"/>
                    </a:ext>
                  </a:extLst>
                </p:cNvPr>
                <p:cNvSpPr/>
                <p:nvPr/>
              </p:nvSpPr>
              <p:spPr>
                <a:xfrm>
                  <a:off x="10159796" y="666102"/>
                  <a:ext cx="1224000" cy="375101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PT" sz="1200" b="1" dirty="0">
                      <a:solidFill>
                        <a:prstClr val="white"/>
                      </a:solidFill>
                      <a:latin typeface="Santander Text" panose="020B0504020201020104" pitchFamily="34" charset="0"/>
                    </a:rPr>
                    <a:t>Reporting Interno</a:t>
                  </a:r>
                </a:p>
              </p:txBody>
            </p:sp>
          </p:grpSp>
          <p:sp>
            <p:nvSpPr>
              <p:cNvPr id="395" name="Rectángulo 110">
                <a:extLst>
                  <a:ext uri="{FF2B5EF4-FFF2-40B4-BE49-F238E27FC236}">
                    <a16:creationId xmlns:a16="http://schemas.microsoft.com/office/drawing/2014/main" id="{C73F72BD-2C00-4A5A-88E2-4D65E29CA9B8}"/>
                  </a:ext>
                </a:extLst>
              </p:cNvPr>
              <p:cNvSpPr/>
              <p:nvPr/>
            </p:nvSpPr>
            <p:spPr>
              <a:xfrm>
                <a:off x="10218983" y="5048071"/>
                <a:ext cx="1199880" cy="18000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s-ES" sz="1100" b="1" dirty="0">
                    <a:solidFill>
                      <a:prstClr val="black"/>
                    </a:solidFill>
                    <a:latin typeface="Santander Text" panose="020B0504020201020104" pitchFamily="34" charset="0"/>
                  </a:rPr>
                  <a:t>Com. Cont. Riscos</a:t>
                </a:r>
              </a:p>
            </p:txBody>
          </p:sp>
        </p:grpSp>
        <p:sp>
          <p:nvSpPr>
            <p:cNvPr id="358" name="Rectángulo 110">
              <a:extLst>
                <a:ext uri="{FF2B5EF4-FFF2-40B4-BE49-F238E27FC236}">
                  <a16:creationId xmlns:a16="http://schemas.microsoft.com/office/drawing/2014/main" id="{C73F72BD-2C00-4A5A-88E2-4D65E29CA9B8}"/>
                </a:ext>
              </a:extLst>
            </p:cNvPr>
            <p:cNvSpPr/>
            <p:nvPr/>
          </p:nvSpPr>
          <p:spPr>
            <a:xfrm>
              <a:off x="9093600" y="4256957"/>
              <a:ext cx="1188000" cy="180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s-ES" sz="110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…</a:t>
              </a:r>
            </a:p>
          </p:txBody>
        </p:sp>
      </p:grpSp>
      <p:sp>
        <p:nvSpPr>
          <p:cNvPr id="375" name="Fluxograma: adição 374"/>
          <p:cNvSpPr/>
          <p:nvPr/>
        </p:nvSpPr>
        <p:spPr>
          <a:xfrm>
            <a:off x="4873300" y="4120550"/>
            <a:ext cx="180000" cy="180000"/>
          </a:xfrm>
          <a:prstGeom prst="flowChartOr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6" name="Losango 375"/>
          <p:cNvSpPr/>
          <p:nvPr/>
        </p:nvSpPr>
        <p:spPr>
          <a:xfrm>
            <a:off x="4867526" y="3904178"/>
            <a:ext cx="180000" cy="180000"/>
          </a:xfrm>
          <a:prstGeom prst="diamond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9" name="Paralelogramo 378"/>
          <p:cNvSpPr/>
          <p:nvPr/>
        </p:nvSpPr>
        <p:spPr>
          <a:xfrm>
            <a:off x="9313898" y="2602318"/>
            <a:ext cx="504000" cy="229386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PT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XBRL</a:t>
            </a:r>
          </a:p>
        </p:txBody>
      </p:sp>
      <p:cxnSp>
        <p:nvCxnSpPr>
          <p:cNvPr id="384" name="Conexão em ângulos retos 383"/>
          <p:cNvCxnSpPr>
            <a:stCxn id="379" idx="2"/>
            <a:endCxn id="361" idx="1"/>
          </p:cNvCxnSpPr>
          <p:nvPr/>
        </p:nvCxnSpPr>
        <p:spPr>
          <a:xfrm flipV="1">
            <a:off x="9789225" y="2616488"/>
            <a:ext cx="722775" cy="100523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CaixaDeTexto 359"/>
          <p:cNvSpPr txBox="1"/>
          <p:nvPr/>
        </p:nvSpPr>
        <p:spPr>
          <a:xfrm>
            <a:off x="4242863" y="2133874"/>
            <a:ext cx="1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1</a:t>
            </a:r>
          </a:p>
        </p:txBody>
      </p:sp>
      <p:sp>
        <p:nvSpPr>
          <p:cNvPr id="400" name="CaixaDeTexto 399"/>
          <p:cNvSpPr txBox="1"/>
          <p:nvPr/>
        </p:nvSpPr>
        <p:spPr>
          <a:xfrm>
            <a:off x="4841502" y="3886403"/>
            <a:ext cx="1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2</a:t>
            </a:r>
          </a:p>
        </p:txBody>
      </p:sp>
      <p:sp>
        <p:nvSpPr>
          <p:cNvPr id="404" name="CaixaDeTexto 403"/>
          <p:cNvSpPr txBox="1"/>
          <p:nvPr/>
        </p:nvSpPr>
        <p:spPr>
          <a:xfrm>
            <a:off x="6027771" y="3895303"/>
            <a:ext cx="1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3</a:t>
            </a:r>
          </a:p>
        </p:txBody>
      </p:sp>
      <p:sp>
        <p:nvSpPr>
          <p:cNvPr id="405" name="CaixaDeTexto 404"/>
          <p:cNvSpPr txBox="1"/>
          <p:nvPr/>
        </p:nvSpPr>
        <p:spPr>
          <a:xfrm>
            <a:off x="2036344" y="5792062"/>
            <a:ext cx="75469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dirty="0"/>
              <a:t>(1) Controlos </a:t>
            </a:r>
            <a:r>
              <a:rPr lang="pt-PT" sz="800" dirty="0" err="1"/>
              <a:t>KPIs</a:t>
            </a:r>
            <a:r>
              <a:rPr lang="pt-PT" sz="800" dirty="0"/>
              <a:t> &amp; conciliação contabilística p/ Contabilidade no Data </a:t>
            </a:r>
            <a:r>
              <a:rPr lang="pt-PT" sz="800" dirty="0" err="1"/>
              <a:t>Lake</a:t>
            </a:r>
            <a:r>
              <a:rPr lang="pt-PT" sz="800" dirty="0"/>
              <a:t> em contas Banco BST (IFRS), ST </a:t>
            </a:r>
            <a:r>
              <a:rPr lang="pt-PT" sz="800" dirty="0" err="1"/>
              <a:t>SGPS,e</a:t>
            </a:r>
            <a:r>
              <a:rPr lang="pt-PT" sz="800" dirty="0"/>
              <a:t> PCSB (D+5 a D+7).</a:t>
            </a:r>
          </a:p>
          <a:p>
            <a:r>
              <a:rPr lang="pt-PT" sz="800" dirty="0"/>
              <a:t>(2) Controlos </a:t>
            </a:r>
            <a:r>
              <a:rPr lang="pt-PT" sz="800" dirty="0" err="1"/>
              <a:t>KPIs</a:t>
            </a:r>
            <a:r>
              <a:rPr lang="pt-PT" sz="800" dirty="0"/>
              <a:t> &amp; conciliação contabilística p/ Riscos de Mercado no Data </a:t>
            </a:r>
            <a:r>
              <a:rPr lang="pt-PT" sz="800" dirty="0" err="1"/>
              <a:t>Lake</a:t>
            </a:r>
            <a:r>
              <a:rPr lang="pt-PT" sz="800" dirty="0"/>
              <a:t> aos outputs do motor de ALM, em contas BST (IFRS), e ST SGPS (D+7 e </a:t>
            </a:r>
            <a:r>
              <a:rPr lang="pt-PT" sz="800" dirty="0" err="1"/>
              <a:t>ss</a:t>
            </a:r>
            <a:r>
              <a:rPr lang="pt-PT" sz="800" dirty="0"/>
              <a:t>).</a:t>
            </a:r>
          </a:p>
          <a:p>
            <a:r>
              <a:rPr lang="pt-PT" sz="800" dirty="0"/>
              <a:t>(3) Controlos </a:t>
            </a:r>
            <a:r>
              <a:rPr lang="pt-PT" sz="800" dirty="0" err="1"/>
              <a:t>KPIs</a:t>
            </a:r>
            <a:r>
              <a:rPr lang="pt-PT" sz="800" dirty="0"/>
              <a:t> p/ Riscos de Mercado a outputs do Motor de </a:t>
            </a:r>
            <a:r>
              <a:rPr lang="pt-PT" sz="800" dirty="0" err="1"/>
              <a:t>Asset</a:t>
            </a:r>
            <a:r>
              <a:rPr lang="pt-PT" sz="800" dirty="0"/>
              <a:t> </a:t>
            </a:r>
            <a:r>
              <a:rPr lang="pt-PT" sz="800" dirty="0" err="1"/>
              <a:t>Encumbrance</a:t>
            </a:r>
            <a:r>
              <a:rPr lang="pt-PT" sz="800" dirty="0"/>
              <a:t> no Data </a:t>
            </a:r>
            <a:r>
              <a:rPr lang="pt-PT" sz="800" dirty="0" err="1"/>
              <a:t>Lake</a:t>
            </a:r>
            <a:r>
              <a:rPr lang="pt-PT" sz="800" dirty="0"/>
              <a:t>.</a:t>
            </a:r>
          </a:p>
          <a:p>
            <a:r>
              <a:rPr lang="pt-PT" sz="800" dirty="0"/>
              <a:t>(4) Controlos </a:t>
            </a:r>
            <a:r>
              <a:rPr lang="pt-PT" sz="800" dirty="0" err="1"/>
              <a:t>KPIs</a:t>
            </a:r>
            <a:r>
              <a:rPr lang="pt-PT" sz="800" dirty="0"/>
              <a:t> p/ Riscos de Mercado a inputs no SAS ALM.</a:t>
            </a:r>
          </a:p>
          <a:p>
            <a:r>
              <a:rPr lang="pt-PT" sz="800" dirty="0"/>
              <a:t>(5) Controlos (definidos corporativamente) de consistência e de formato p/ Riscos de Mercado a outputs no SAS ALM / </a:t>
            </a:r>
            <a:r>
              <a:rPr lang="pt-PT" sz="800" dirty="0" err="1"/>
              <a:t>Corep</a:t>
            </a:r>
            <a:r>
              <a:rPr lang="pt-PT" sz="800" dirty="0"/>
              <a:t>/</a:t>
            </a:r>
            <a:r>
              <a:rPr lang="pt-PT" sz="800" dirty="0" err="1"/>
              <a:t>Finrep</a:t>
            </a:r>
            <a:r>
              <a:rPr lang="pt-PT" sz="800" dirty="0"/>
              <a:t>.</a:t>
            </a:r>
          </a:p>
          <a:p>
            <a:r>
              <a:rPr lang="pt-PT" sz="800" dirty="0"/>
              <a:t>(6) Controlos de juízo experto e de plausibilidade p/ Riscos de Mercado a outputs no SAS ALM / </a:t>
            </a:r>
            <a:r>
              <a:rPr lang="pt-PT" sz="800" dirty="0" err="1"/>
              <a:t>Corep</a:t>
            </a:r>
            <a:r>
              <a:rPr lang="pt-PT" sz="800" dirty="0"/>
              <a:t>/</a:t>
            </a:r>
            <a:r>
              <a:rPr lang="pt-PT" sz="800" dirty="0" err="1"/>
              <a:t>Finrep</a:t>
            </a:r>
            <a:r>
              <a:rPr lang="pt-PT" sz="800" dirty="0"/>
              <a:t>.</a:t>
            </a:r>
          </a:p>
          <a:p>
            <a:r>
              <a:rPr lang="pt-PT" sz="800" dirty="0"/>
              <a:t>(7) Controlos EBA, BCE EGQD e </a:t>
            </a:r>
            <a:r>
              <a:rPr lang="pt-PT" sz="800" dirty="0" err="1"/>
              <a:t>BdP</a:t>
            </a:r>
            <a:r>
              <a:rPr lang="pt-PT" sz="800" dirty="0"/>
              <a:t>.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DAB588D-66FF-49D4-BB23-460BBFA96BF0}"/>
              </a:ext>
            </a:extLst>
          </p:cNvPr>
          <p:cNvGrpSpPr/>
          <p:nvPr/>
        </p:nvGrpSpPr>
        <p:grpSpPr>
          <a:xfrm>
            <a:off x="6490085" y="3306873"/>
            <a:ext cx="956400" cy="645291"/>
            <a:chOff x="7265801" y="3313312"/>
            <a:chExt cx="956400" cy="645291"/>
          </a:xfrm>
        </p:grpSpPr>
        <p:sp>
          <p:nvSpPr>
            <p:cNvPr id="333" name="CuadroTexto 86">
              <a:extLst>
                <a:ext uri="{FF2B5EF4-FFF2-40B4-BE49-F238E27FC236}">
                  <a16:creationId xmlns:a16="http://schemas.microsoft.com/office/drawing/2014/main" id="{08283CAA-7CAF-4146-BF36-A0055DE7CA47}"/>
                </a:ext>
              </a:extLst>
            </p:cNvPr>
            <p:cNvSpPr txBox="1"/>
            <p:nvPr/>
          </p:nvSpPr>
          <p:spPr>
            <a:xfrm>
              <a:off x="7265801" y="3313312"/>
              <a:ext cx="956400" cy="41362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20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SAS ALM e </a:t>
              </a:r>
              <a:r>
                <a:rPr lang="es-ES" sz="1200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Corep</a:t>
              </a:r>
              <a:r>
                <a:rPr lang="es-ES" sz="120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/</a:t>
              </a:r>
              <a:r>
                <a:rPr lang="es-ES" sz="1200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Finrep</a:t>
              </a:r>
              <a:endParaRPr lang="es-ES" sz="1200" b="1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10" name="Disco magnético 92">
              <a:extLst>
                <a:ext uri="{FF2B5EF4-FFF2-40B4-BE49-F238E27FC236}">
                  <a16:creationId xmlns:a16="http://schemas.microsoft.com/office/drawing/2014/main" id="{DEDEC6CC-EDBA-4FDE-8741-61EC6C3BB9F5}"/>
                </a:ext>
              </a:extLst>
            </p:cNvPr>
            <p:cNvSpPr/>
            <p:nvPr/>
          </p:nvSpPr>
          <p:spPr>
            <a:xfrm>
              <a:off x="7469759" y="3751840"/>
              <a:ext cx="576000" cy="206763"/>
            </a:xfrm>
            <a:prstGeom prst="flowChartMagneticDisk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200" name="CaixaDeTexto 309"/>
          <p:cNvSpPr txBox="1"/>
          <p:nvPr/>
        </p:nvSpPr>
        <p:spPr>
          <a:xfrm>
            <a:off x="11147160" y="2056956"/>
            <a:ext cx="801403" cy="5374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Banco de Portugal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7111933-609C-438F-81AE-AF68320773BD}"/>
              </a:ext>
            </a:extLst>
          </p:cNvPr>
          <p:cNvSpPr txBox="1"/>
          <p:nvPr/>
        </p:nvSpPr>
        <p:spPr>
          <a:xfrm>
            <a:off x="515556" y="4451924"/>
            <a:ext cx="557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…</a:t>
            </a:r>
          </a:p>
        </p:txBody>
      </p:sp>
      <p:sp>
        <p:nvSpPr>
          <p:cNvPr id="202" name="Rectángulo 69">
            <a:extLst>
              <a:ext uri="{FF2B5EF4-FFF2-40B4-BE49-F238E27FC236}">
                <a16:creationId xmlns:a16="http://schemas.microsoft.com/office/drawing/2014/main" id="{87DC4F49-90CC-4ED3-96ED-65872064FF46}"/>
              </a:ext>
            </a:extLst>
          </p:cNvPr>
          <p:cNvSpPr/>
          <p:nvPr/>
        </p:nvSpPr>
        <p:spPr>
          <a:xfrm>
            <a:off x="207354" y="4941008"/>
            <a:ext cx="1692000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Front Data Lake</a:t>
            </a:r>
          </a:p>
        </p:txBody>
      </p:sp>
      <p:sp>
        <p:nvSpPr>
          <p:cNvPr id="203" name="Rectangle 32">
            <a:extLst>
              <a:ext uri="{FF2B5EF4-FFF2-40B4-BE49-F238E27FC236}">
                <a16:creationId xmlns:a16="http://schemas.microsoft.com/office/drawing/2014/main" id="{37A5058A-5FC1-4B66-A945-91D022D06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125" y="5328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Financeira (Liq.)</a:t>
            </a:r>
          </a:p>
        </p:txBody>
      </p:sp>
      <p:sp>
        <p:nvSpPr>
          <p:cNvPr id="204" name="Rectangle 32">
            <a:extLst>
              <a:ext uri="{FF2B5EF4-FFF2-40B4-BE49-F238E27FC236}">
                <a16:creationId xmlns:a16="http://schemas.microsoft.com/office/drawing/2014/main" id="{CE42E881-D382-4055-BBF0-5C8C3E718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800" y="5616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Liquidez (R. Merc.)</a:t>
            </a:r>
          </a:p>
        </p:txBody>
      </p:sp>
      <p:sp>
        <p:nvSpPr>
          <p:cNvPr id="205" name="Rectangle 32">
            <a:extLst>
              <a:ext uri="{FF2B5EF4-FFF2-40B4-BE49-F238E27FC236}">
                <a16:creationId xmlns:a16="http://schemas.microsoft.com/office/drawing/2014/main" id="{2ED279E7-EA38-4953-8445-A99244412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800" y="5904000"/>
            <a:ext cx="1080000" cy="2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Operações (Derv.)</a:t>
            </a:r>
          </a:p>
        </p:txBody>
      </p:sp>
      <p:sp>
        <p:nvSpPr>
          <p:cNvPr id="209" name="Retângulo 131">
            <a:extLst>
              <a:ext uri="{FF2B5EF4-FFF2-40B4-BE49-F238E27FC236}">
                <a16:creationId xmlns:a16="http://schemas.microsoft.com/office/drawing/2014/main" id="{5791DBE8-4DCB-47F7-9460-274546256F83}"/>
              </a:ext>
            </a:extLst>
          </p:cNvPr>
          <p:cNvSpPr/>
          <p:nvPr/>
        </p:nvSpPr>
        <p:spPr>
          <a:xfrm>
            <a:off x="909144" y="3047688"/>
            <a:ext cx="457200" cy="32655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10" name="Conexão em ângulos retos 130">
            <a:extLst>
              <a:ext uri="{FF2B5EF4-FFF2-40B4-BE49-F238E27FC236}">
                <a16:creationId xmlns:a16="http://schemas.microsoft.com/office/drawing/2014/main" id="{63E261E3-8DBE-4490-B129-57DA34ADEADA}"/>
              </a:ext>
            </a:extLst>
          </p:cNvPr>
          <p:cNvCxnSpPr>
            <a:cxnSpLocks/>
            <a:stCxn id="209" idx="3"/>
            <a:endCxn id="141" idx="2"/>
          </p:cNvCxnSpPr>
          <p:nvPr/>
        </p:nvCxnSpPr>
        <p:spPr>
          <a:xfrm>
            <a:off x="1366344" y="3210966"/>
            <a:ext cx="809053" cy="542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xão em ângulos retos 130">
            <a:extLst>
              <a:ext uri="{FF2B5EF4-FFF2-40B4-BE49-F238E27FC236}">
                <a16:creationId xmlns:a16="http://schemas.microsoft.com/office/drawing/2014/main" id="{6FA3CA5C-38BA-4F5A-87EF-97685A80D832}"/>
              </a:ext>
            </a:extLst>
          </p:cNvPr>
          <p:cNvCxnSpPr>
            <a:cxnSpLocks/>
            <a:stCxn id="128" idx="4"/>
            <a:endCxn id="99" idx="2"/>
          </p:cNvCxnSpPr>
          <p:nvPr/>
        </p:nvCxnSpPr>
        <p:spPr>
          <a:xfrm>
            <a:off x="2774259" y="2101937"/>
            <a:ext cx="702666" cy="523714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CuadroTexto 86">
            <a:extLst>
              <a:ext uri="{FF2B5EF4-FFF2-40B4-BE49-F238E27FC236}">
                <a16:creationId xmlns:a16="http://schemas.microsoft.com/office/drawing/2014/main" id="{C54666E1-58A4-449F-A83F-3C6831B7E6F1}"/>
              </a:ext>
            </a:extLst>
          </p:cNvPr>
          <p:cNvSpPr txBox="1"/>
          <p:nvPr/>
        </p:nvSpPr>
        <p:spPr>
          <a:xfrm>
            <a:off x="1475867" y="3244622"/>
            <a:ext cx="646180" cy="353932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s-ES" sz="105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Ficheiros</a:t>
            </a:r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 GEY</a:t>
            </a:r>
          </a:p>
        </p:txBody>
      </p:sp>
      <p:cxnSp>
        <p:nvCxnSpPr>
          <p:cNvPr id="240" name="Conexão em ângulos retos 130">
            <a:extLst>
              <a:ext uri="{FF2B5EF4-FFF2-40B4-BE49-F238E27FC236}">
                <a16:creationId xmlns:a16="http://schemas.microsoft.com/office/drawing/2014/main" id="{CBA7027F-5194-4526-AB2B-E96FCD13EAB7}"/>
              </a:ext>
            </a:extLst>
          </p:cNvPr>
          <p:cNvCxnSpPr>
            <a:cxnSpLocks/>
            <a:stCxn id="132" idx="3"/>
            <a:endCxn id="128" idx="2"/>
          </p:cNvCxnSpPr>
          <p:nvPr/>
        </p:nvCxnSpPr>
        <p:spPr>
          <a:xfrm flipV="1">
            <a:off x="1412993" y="2101937"/>
            <a:ext cx="783355" cy="630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xão em ângulos retos 130">
            <a:extLst>
              <a:ext uri="{FF2B5EF4-FFF2-40B4-BE49-F238E27FC236}">
                <a16:creationId xmlns:a16="http://schemas.microsoft.com/office/drawing/2014/main" id="{209FD71F-03EE-459F-9D36-6B9F7214D8AF}"/>
              </a:ext>
            </a:extLst>
          </p:cNvPr>
          <p:cNvCxnSpPr>
            <a:cxnSpLocks/>
            <a:stCxn id="209" idx="3"/>
            <a:endCxn id="292" idx="1"/>
          </p:cNvCxnSpPr>
          <p:nvPr/>
        </p:nvCxnSpPr>
        <p:spPr>
          <a:xfrm>
            <a:off x="1366344" y="3210966"/>
            <a:ext cx="2753258" cy="564761"/>
          </a:xfrm>
          <a:prstGeom prst="bentConnector3">
            <a:avLst>
              <a:gd name="adj1" fmla="val 3925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exão em ângulos retos 130">
            <a:extLst>
              <a:ext uri="{FF2B5EF4-FFF2-40B4-BE49-F238E27FC236}">
                <a16:creationId xmlns:a16="http://schemas.microsoft.com/office/drawing/2014/main" id="{338039BB-DCB0-4508-895C-06DB042CD6EC}"/>
              </a:ext>
            </a:extLst>
          </p:cNvPr>
          <p:cNvCxnSpPr>
            <a:cxnSpLocks/>
            <a:stCxn id="22" idx="3"/>
            <a:endCxn id="247" idx="1"/>
          </p:cNvCxnSpPr>
          <p:nvPr/>
        </p:nvCxnSpPr>
        <p:spPr>
          <a:xfrm flipV="1">
            <a:off x="1325489" y="4053856"/>
            <a:ext cx="2787073" cy="140144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Retângulo 131">
            <a:extLst>
              <a:ext uri="{FF2B5EF4-FFF2-40B4-BE49-F238E27FC236}">
                <a16:creationId xmlns:a16="http://schemas.microsoft.com/office/drawing/2014/main" id="{C467F602-40B7-45E6-A849-189EB94467F8}"/>
              </a:ext>
            </a:extLst>
          </p:cNvPr>
          <p:cNvSpPr/>
          <p:nvPr/>
        </p:nvSpPr>
        <p:spPr>
          <a:xfrm>
            <a:off x="4112562" y="3890578"/>
            <a:ext cx="457200" cy="32655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61" name="Conexão em ângulos retos 130">
            <a:extLst>
              <a:ext uri="{FF2B5EF4-FFF2-40B4-BE49-F238E27FC236}">
                <a16:creationId xmlns:a16="http://schemas.microsoft.com/office/drawing/2014/main" id="{09EA65D0-EB42-4400-A4AE-46A6F37FE0F2}"/>
              </a:ext>
            </a:extLst>
          </p:cNvPr>
          <p:cNvCxnSpPr>
            <a:cxnSpLocks/>
            <a:stCxn id="25" idx="3"/>
            <a:endCxn id="247" idx="1"/>
          </p:cNvCxnSpPr>
          <p:nvPr/>
        </p:nvCxnSpPr>
        <p:spPr>
          <a:xfrm>
            <a:off x="1331186" y="3906000"/>
            <a:ext cx="2781376" cy="147856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84A136F-1B5F-494C-94A6-7F4F416B5257}"/>
              </a:ext>
            </a:extLst>
          </p:cNvPr>
          <p:cNvGrpSpPr/>
          <p:nvPr/>
        </p:nvGrpSpPr>
        <p:grpSpPr>
          <a:xfrm>
            <a:off x="5276162" y="3250534"/>
            <a:ext cx="801611" cy="869429"/>
            <a:chOff x="5442415" y="3250534"/>
            <a:chExt cx="801611" cy="869429"/>
          </a:xfrm>
        </p:grpSpPr>
        <p:grpSp>
          <p:nvGrpSpPr>
            <p:cNvPr id="278" name="Grupo 83">
              <a:extLst>
                <a:ext uri="{FF2B5EF4-FFF2-40B4-BE49-F238E27FC236}">
                  <a16:creationId xmlns:a16="http://schemas.microsoft.com/office/drawing/2014/main" id="{192DD0C5-B1C1-41B9-B88C-9B9A7B389746}"/>
                </a:ext>
              </a:extLst>
            </p:cNvPr>
            <p:cNvGrpSpPr/>
            <p:nvPr/>
          </p:nvGrpSpPr>
          <p:grpSpPr>
            <a:xfrm>
              <a:off x="5486784" y="3584640"/>
              <a:ext cx="720000" cy="535323"/>
              <a:chOff x="8038758" y="3835908"/>
              <a:chExt cx="1282700" cy="1163488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286" name="Disco magnético 89">
                <a:extLst>
                  <a:ext uri="{FF2B5EF4-FFF2-40B4-BE49-F238E27FC236}">
                    <a16:creationId xmlns:a16="http://schemas.microsoft.com/office/drawing/2014/main" id="{3590725A-CA6E-4828-8C46-BD684D6B6D81}"/>
                  </a:ext>
                </a:extLst>
              </p:cNvPr>
              <p:cNvSpPr/>
              <p:nvPr/>
            </p:nvSpPr>
            <p:spPr>
              <a:xfrm>
                <a:off x="8038758" y="4550011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287" name="Disco magnético 91">
                <a:extLst>
                  <a:ext uri="{FF2B5EF4-FFF2-40B4-BE49-F238E27FC236}">
                    <a16:creationId xmlns:a16="http://schemas.microsoft.com/office/drawing/2014/main" id="{A0FF5178-BBB6-4E18-BE91-0398CF001DEC}"/>
                  </a:ext>
                </a:extLst>
              </p:cNvPr>
              <p:cNvSpPr/>
              <p:nvPr/>
            </p:nvSpPr>
            <p:spPr>
              <a:xfrm>
                <a:off x="8038758" y="418226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289" name="Disco magnético 92">
                <a:extLst>
                  <a:ext uri="{FF2B5EF4-FFF2-40B4-BE49-F238E27FC236}">
                    <a16:creationId xmlns:a16="http://schemas.microsoft.com/office/drawing/2014/main" id="{903DF34E-F59D-497C-80C1-446E17B87288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85" name="CuadroTexto 86">
              <a:extLst>
                <a:ext uri="{FF2B5EF4-FFF2-40B4-BE49-F238E27FC236}">
                  <a16:creationId xmlns:a16="http://schemas.microsoft.com/office/drawing/2014/main" id="{89903238-22B1-4922-BB91-051EBABA3EE4}"/>
                </a:ext>
              </a:extLst>
            </p:cNvPr>
            <p:cNvSpPr txBox="1"/>
            <p:nvPr/>
          </p:nvSpPr>
          <p:spPr>
            <a:xfrm>
              <a:off x="5442415" y="3250534"/>
              <a:ext cx="801611" cy="32051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0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Módulo </a:t>
              </a:r>
              <a:r>
                <a:rPr lang="es-ES" sz="1000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Asset</a:t>
              </a:r>
              <a:r>
                <a:rPr lang="es-ES" sz="100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 </a:t>
              </a:r>
              <a:r>
                <a:rPr lang="es-ES" sz="1000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Encumbrance</a:t>
              </a:r>
              <a:endParaRPr lang="es-ES" sz="1000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292" name="Retângulo 131">
            <a:extLst>
              <a:ext uri="{FF2B5EF4-FFF2-40B4-BE49-F238E27FC236}">
                <a16:creationId xmlns:a16="http://schemas.microsoft.com/office/drawing/2014/main" id="{1B7BCF0E-DFE1-4851-BC07-19337BA1FB22}"/>
              </a:ext>
            </a:extLst>
          </p:cNvPr>
          <p:cNvSpPr/>
          <p:nvPr/>
        </p:nvSpPr>
        <p:spPr>
          <a:xfrm>
            <a:off x="4119602" y="3612449"/>
            <a:ext cx="457200" cy="32655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94" name="Conexão em ângulos retos 173">
            <a:extLst>
              <a:ext uri="{FF2B5EF4-FFF2-40B4-BE49-F238E27FC236}">
                <a16:creationId xmlns:a16="http://schemas.microsoft.com/office/drawing/2014/main" id="{BAE2EAEB-BEAA-4CCA-A984-58290006670A}"/>
              </a:ext>
            </a:extLst>
          </p:cNvPr>
          <p:cNvCxnSpPr>
            <a:cxnSpLocks/>
            <a:stCxn id="175" idx="3"/>
            <a:endCxn id="286" idx="3"/>
          </p:cNvCxnSpPr>
          <p:nvPr/>
        </p:nvCxnSpPr>
        <p:spPr>
          <a:xfrm flipV="1">
            <a:off x="1362056" y="4119963"/>
            <a:ext cx="4318475" cy="1607586"/>
          </a:xfrm>
          <a:prstGeom prst="bentConnector2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Conexão em ângulos retos 249">
            <a:extLst>
              <a:ext uri="{FF2B5EF4-FFF2-40B4-BE49-F238E27FC236}">
                <a16:creationId xmlns:a16="http://schemas.microsoft.com/office/drawing/2014/main" id="{BB2BC25D-A396-4ABF-9F5A-4384F411C59A}"/>
              </a:ext>
            </a:extLst>
          </p:cNvPr>
          <p:cNvCxnSpPr>
            <a:cxnSpLocks/>
            <a:stCxn id="287" idx="4"/>
            <a:endCxn id="410" idx="2"/>
          </p:cNvCxnSpPr>
          <p:nvPr/>
        </p:nvCxnSpPr>
        <p:spPr>
          <a:xfrm>
            <a:off x="6040531" y="3847382"/>
            <a:ext cx="653512" cy="1401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Losango 178">
            <a:extLst>
              <a:ext uri="{FF2B5EF4-FFF2-40B4-BE49-F238E27FC236}">
                <a16:creationId xmlns:a16="http://schemas.microsoft.com/office/drawing/2014/main" id="{5DE9CC91-528B-4F66-A729-3A7F377AB1D4}"/>
              </a:ext>
            </a:extLst>
          </p:cNvPr>
          <p:cNvSpPr/>
          <p:nvPr/>
        </p:nvSpPr>
        <p:spPr>
          <a:xfrm>
            <a:off x="8246585" y="3906000"/>
            <a:ext cx="180000" cy="180000"/>
          </a:xfrm>
          <a:prstGeom prst="diamond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6" name="CaixaDeTexto 403">
            <a:extLst>
              <a:ext uri="{FF2B5EF4-FFF2-40B4-BE49-F238E27FC236}">
                <a16:creationId xmlns:a16="http://schemas.microsoft.com/office/drawing/2014/main" id="{9F5A0B5F-B39C-4368-B5F1-DAC256515A3F}"/>
              </a:ext>
            </a:extLst>
          </p:cNvPr>
          <p:cNvSpPr txBox="1"/>
          <p:nvPr/>
        </p:nvSpPr>
        <p:spPr>
          <a:xfrm>
            <a:off x="8214427" y="3892842"/>
            <a:ext cx="1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5</a:t>
            </a:r>
          </a:p>
        </p:txBody>
      </p:sp>
      <p:sp>
        <p:nvSpPr>
          <p:cNvPr id="167" name="Losango 178">
            <a:extLst>
              <a:ext uri="{FF2B5EF4-FFF2-40B4-BE49-F238E27FC236}">
                <a16:creationId xmlns:a16="http://schemas.microsoft.com/office/drawing/2014/main" id="{A7839576-6338-4149-B793-62D77CCCF558}"/>
              </a:ext>
            </a:extLst>
          </p:cNvPr>
          <p:cNvSpPr/>
          <p:nvPr/>
        </p:nvSpPr>
        <p:spPr>
          <a:xfrm>
            <a:off x="6501238" y="3906000"/>
            <a:ext cx="180000" cy="180000"/>
          </a:xfrm>
          <a:prstGeom prst="diamond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8" name="CaixaDeTexto 403">
            <a:extLst>
              <a:ext uri="{FF2B5EF4-FFF2-40B4-BE49-F238E27FC236}">
                <a16:creationId xmlns:a16="http://schemas.microsoft.com/office/drawing/2014/main" id="{3206B784-CBBF-45FF-8247-6D7E6A932C3C}"/>
              </a:ext>
            </a:extLst>
          </p:cNvPr>
          <p:cNvSpPr txBox="1"/>
          <p:nvPr/>
        </p:nvSpPr>
        <p:spPr>
          <a:xfrm>
            <a:off x="6472100" y="3894770"/>
            <a:ext cx="1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4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57D13D68-6729-4734-B638-EFE2F8084BF1}"/>
              </a:ext>
            </a:extLst>
          </p:cNvPr>
          <p:cNvGrpSpPr/>
          <p:nvPr/>
        </p:nvGrpSpPr>
        <p:grpSpPr>
          <a:xfrm>
            <a:off x="8013032" y="2175908"/>
            <a:ext cx="956400" cy="645291"/>
            <a:chOff x="7265801" y="3313312"/>
            <a:chExt cx="956400" cy="645291"/>
          </a:xfrm>
        </p:grpSpPr>
        <p:sp>
          <p:nvSpPr>
            <p:cNvPr id="173" name="CuadroTexto 86">
              <a:extLst>
                <a:ext uri="{FF2B5EF4-FFF2-40B4-BE49-F238E27FC236}">
                  <a16:creationId xmlns:a16="http://schemas.microsoft.com/office/drawing/2014/main" id="{F6496F6A-80F9-45DA-AB7F-551B2D8DB230}"/>
                </a:ext>
              </a:extLst>
            </p:cNvPr>
            <p:cNvSpPr txBox="1"/>
            <p:nvPr/>
          </p:nvSpPr>
          <p:spPr>
            <a:xfrm>
              <a:off x="7265801" y="3313312"/>
              <a:ext cx="956400" cy="41362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20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XBRL </a:t>
              </a:r>
              <a:r>
                <a:rPr lang="es-ES" sz="1200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Engine</a:t>
              </a:r>
              <a:r>
                <a:rPr lang="es-ES" sz="120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 &amp; </a:t>
              </a:r>
              <a:r>
                <a:rPr lang="es-ES" sz="1200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Controls</a:t>
              </a:r>
              <a:endParaRPr lang="es-ES" sz="1200" b="1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76" name="Disco magnético 92">
              <a:extLst>
                <a:ext uri="{FF2B5EF4-FFF2-40B4-BE49-F238E27FC236}">
                  <a16:creationId xmlns:a16="http://schemas.microsoft.com/office/drawing/2014/main" id="{5DE7F7AF-D85F-4EEA-AA4F-ACBD65C7B3DF}"/>
                </a:ext>
              </a:extLst>
            </p:cNvPr>
            <p:cNvSpPr/>
            <p:nvPr/>
          </p:nvSpPr>
          <p:spPr>
            <a:xfrm>
              <a:off x="7469759" y="3751840"/>
              <a:ext cx="576000" cy="206763"/>
            </a:xfrm>
            <a:prstGeom prst="flowChartMagneticDisk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cxnSp>
        <p:nvCxnSpPr>
          <p:cNvPr id="177" name="Conexão em ângulos retos 249">
            <a:extLst>
              <a:ext uri="{FF2B5EF4-FFF2-40B4-BE49-F238E27FC236}">
                <a16:creationId xmlns:a16="http://schemas.microsoft.com/office/drawing/2014/main" id="{2BE968A0-87EA-491D-A17E-8B24042D0393}"/>
              </a:ext>
            </a:extLst>
          </p:cNvPr>
          <p:cNvCxnSpPr>
            <a:cxnSpLocks/>
            <a:stCxn id="181" idx="4"/>
            <a:endCxn id="176" idx="3"/>
          </p:cNvCxnSpPr>
          <p:nvPr/>
        </p:nvCxnSpPr>
        <p:spPr>
          <a:xfrm flipV="1">
            <a:off x="8259421" y="2821199"/>
            <a:ext cx="245569" cy="1027129"/>
          </a:xfrm>
          <a:prstGeom prst="bentConnector2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exão em ângulos retos 249">
            <a:extLst>
              <a:ext uri="{FF2B5EF4-FFF2-40B4-BE49-F238E27FC236}">
                <a16:creationId xmlns:a16="http://schemas.microsoft.com/office/drawing/2014/main" id="{DAD57893-A843-4A91-8EDB-4FAAE4361472}"/>
              </a:ext>
            </a:extLst>
          </p:cNvPr>
          <p:cNvCxnSpPr>
            <a:cxnSpLocks/>
            <a:stCxn id="176" idx="4"/>
            <a:endCxn id="379" idx="5"/>
          </p:cNvCxnSpPr>
          <p:nvPr/>
        </p:nvCxnSpPr>
        <p:spPr>
          <a:xfrm flipV="1">
            <a:off x="8792990" y="2717011"/>
            <a:ext cx="549581" cy="807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Losango 178">
            <a:extLst>
              <a:ext uri="{FF2B5EF4-FFF2-40B4-BE49-F238E27FC236}">
                <a16:creationId xmlns:a16="http://schemas.microsoft.com/office/drawing/2014/main" id="{BA248F1A-38A2-43DD-A357-680C60DB835C}"/>
              </a:ext>
            </a:extLst>
          </p:cNvPr>
          <p:cNvSpPr/>
          <p:nvPr/>
        </p:nvSpPr>
        <p:spPr>
          <a:xfrm>
            <a:off x="8803566" y="2760405"/>
            <a:ext cx="180000" cy="180000"/>
          </a:xfrm>
          <a:prstGeom prst="diamond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6" name="CaixaDeTexto 403">
            <a:extLst>
              <a:ext uri="{FF2B5EF4-FFF2-40B4-BE49-F238E27FC236}">
                <a16:creationId xmlns:a16="http://schemas.microsoft.com/office/drawing/2014/main" id="{8E6BFA9D-BF8F-43AD-AAAF-FBA042C5F5BA}"/>
              </a:ext>
            </a:extLst>
          </p:cNvPr>
          <p:cNvSpPr txBox="1"/>
          <p:nvPr/>
        </p:nvSpPr>
        <p:spPr>
          <a:xfrm>
            <a:off x="8770001" y="2751040"/>
            <a:ext cx="1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7</a:t>
            </a:r>
          </a:p>
        </p:txBody>
      </p:sp>
      <p:cxnSp>
        <p:nvCxnSpPr>
          <p:cNvPr id="211" name="Conexão em ângulos retos 383">
            <a:extLst>
              <a:ext uri="{FF2B5EF4-FFF2-40B4-BE49-F238E27FC236}">
                <a16:creationId xmlns:a16="http://schemas.microsoft.com/office/drawing/2014/main" id="{7D3A5963-3F70-4301-B026-560EB1BEB821}"/>
              </a:ext>
            </a:extLst>
          </p:cNvPr>
          <p:cNvCxnSpPr>
            <a:cxnSpLocks/>
            <a:stCxn id="379" idx="2"/>
            <a:endCxn id="368" idx="1"/>
          </p:cNvCxnSpPr>
          <p:nvPr/>
        </p:nvCxnSpPr>
        <p:spPr>
          <a:xfrm>
            <a:off x="9789225" y="2717011"/>
            <a:ext cx="722775" cy="114164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exão em ângulos retos 345">
            <a:extLst>
              <a:ext uri="{FF2B5EF4-FFF2-40B4-BE49-F238E27FC236}">
                <a16:creationId xmlns:a16="http://schemas.microsoft.com/office/drawing/2014/main" id="{9768CAC3-CAAB-46CC-B50B-3503A9BAA0A5}"/>
              </a:ext>
            </a:extLst>
          </p:cNvPr>
          <p:cNvCxnSpPr>
            <a:cxnSpLocks/>
            <a:stCxn id="176" idx="4"/>
            <a:endCxn id="392" idx="1"/>
          </p:cNvCxnSpPr>
          <p:nvPr/>
        </p:nvCxnSpPr>
        <p:spPr>
          <a:xfrm>
            <a:off x="8792990" y="2717818"/>
            <a:ext cx="1675810" cy="1133133"/>
          </a:xfrm>
          <a:prstGeom prst="bentConnector3">
            <a:avLst>
              <a:gd name="adj1" fmla="val 22552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6" name="Grupo 265">
            <a:extLst>
              <a:ext uri="{FF2B5EF4-FFF2-40B4-BE49-F238E27FC236}">
                <a16:creationId xmlns:a16="http://schemas.microsoft.com/office/drawing/2014/main" id="{2E802680-376E-4B37-B428-74AEA6EFE769}"/>
              </a:ext>
            </a:extLst>
          </p:cNvPr>
          <p:cNvGrpSpPr/>
          <p:nvPr/>
        </p:nvGrpSpPr>
        <p:grpSpPr>
          <a:xfrm>
            <a:off x="10310027" y="406119"/>
            <a:ext cx="829068" cy="729677"/>
            <a:chOff x="3498928" y="1115120"/>
            <a:chExt cx="829068" cy="729677"/>
          </a:xfrm>
        </p:grpSpPr>
        <p:sp>
          <p:nvSpPr>
            <p:cNvPr id="217" name="CuadroTexto 82">
              <a:extLst>
                <a:ext uri="{FF2B5EF4-FFF2-40B4-BE49-F238E27FC236}">
                  <a16:creationId xmlns:a16="http://schemas.microsoft.com/office/drawing/2014/main" id="{FB0DDC99-A9E5-4B01-AD36-E4A4DFA2586D}"/>
                </a:ext>
              </a:extLst>
            </p:cNvPr>
            <p:cNvSpPr txBox="1"/>
            <p:nvPr/>
          </p:nvSpPr>
          <p:spPr>
            <a:xfrm>
              <a:off x="3498928" y="1115120"/>
              <a:ext cx="829068" cy="729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0" rIns="0" rtlCol="0">
              <a:spAutoFit/>
            </a:bodyPr>
            <a:lstStyle>
              <a:defPPr>
                <a:defRPr lang="es-E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/>
              <a:endParaRPr lang="es-ES" sz="1050" i="1" dirty="0">
                <a:solidFill>
                  <a:schemeClr val="bg1"/>
                </a:solidFill>
                <a:latin typeface="Santander Headline" panose="020B0504020201020104" pitchFamily="34" charset="0"/>
              </a:endParaRPr>
            </a:p>
          </p:txBody>
        </p:sp>
        <p:pic>
          <p:nvPicPr>
            <p:cNvPr id="218" name="Picture 97" descr="Resultado de imagem para time  ICON">
              <a:extLst>
                <a:ext uri="{FF2B5EF4-FFF2-40B4-BE49-F238E27FC236}">
                  <a16:creationId xmlns:a16="http://schemas.microsoft.com/office/drawing/2014/main" id="{C9CB24D5-9BE7-48B6-BC73-530A165879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7758" y="1158295"/>
              <a:ext cx="420954" cy="4209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9" name="TextBox 28">
              <a:extLst>
                <a:ext uri="{FF2B5EF4-FFF2-40B4-BE49-F238E27FC236}">
                  <a16:creationId xmlns:a16="http://schemas.microsoft.com/office/drawing/2014/main" id="{9DEF3049-D5B8-4257-A614-F92E38003DAD}"/>
                </a:ext>
              </a:extLst>
            </p:cNvPr>
            <p:cNvSpPr txBox="1"/>
            <p:nvPr/>
          </p:nvSpPr>
          <p:spPr>
            <a:xfrm>
              <a:off x="3515956" y="1577388"/>
              <a:ext cx="74474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algn="ctr"/>
              <a:r>
                <a:rPr lang="pt-PT" sz="1000" b="1" dirty="0">
                  <a:latin typeface="Santander Text" panose="020B0504020201020104" pitchFamily="34" charset="0"/>
                  <a:cs typeface="Arial" panose="020B0604020202020204" pitchFamily="34" charset="0"/>
                </a:rPr>
                <a:t>Fim C+15</a:t>
              </a:r>
            </a:p>
          </p:txBody>
        </p:sp>
      </p:grpSp>
      <p:cxnSp>
        <p:nvCxnSpPr>
          <p:cNvPr id="221" name="Straight Connector 91">
            <a:extLst>
              <a:ext uri="{FF2B5EF4-FFF2-40B4-BE49-F238E27FC236}">
                <a16:creationId xmlns:a16="http://schemas.microsoft.com/office/drawing/2014/main" id="{AB39C824-AFFF-430E-BD1A-635CF56F424F}"/>
              </a:ext>
            </a:extLst>
          </p:cNvPr>
          <p:cNvCxnSpPr/>
          <p:nvPr/>
        </p:nvCxnSpPr>
        <p:spPr>
          <a:xfrm flipV="1">
            <a:off x="10736639" y="1191132"/>
            <a:ext cx="0" cy="324000"/>
          </a:xfrm>
          <a:prstGeom prst="line">
            <a:avLst/>
          </a:prstGeom>
          <a:noFill/>
          <a:ln w="12700" cap="flat" cmpd="sng" algn="ctr">
            <a:solidFill>
              <a:srgbClr val="FF0000"/>
            </a:solidFill>
            <a:prstDash val="solid"/>
          </a:ln>
          <a:effectLst/>
        </p:spPr>
      </p:cxn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DEC656A-6179-40C1-AE0F-5A11DDEB4CF5}"/>
              </a:ext>
            </a:extLst>
          </p:cNvPr>
          <p:cNvGrpSpPr/>
          <p:nvPr/>
        </p:nvGrpSpPr>
        <p:grpSpPr>
          <a:xfrm>
            <a:off x="7479463" y="3150680"/>
            <a:ext cx="956400" cy="801029"/>
            <a:chOff x="7265801" y="3157574"/>
            <a:chExt cx="956400" cy="801029"/>
          </a:xfrm>
        </p:grpSpPr>
        <p:sp>
          <p:nvSpPr>
            <p:cNvPr id="178" name="CuadroTexto 86">
              <a:extLst>
                <a:ext uri="{FF2B5EF4-FFF2-40B4-BE49-F238E27FC236}">
                  <a16:creationId xmlns:a16="http://schemas.microsoft.com/office/drawing/2014/main" id="{12130031-0AF7-48D9-9AD4-779F5D75698C}"/>
                </a:ext>
              </a:extLst>
            </p:cNvPr>
            <p:cNvSpPr txBox="1"/>
            <p:nvPr/>
          </p:nvSpPr>
          <p:spPr>
            <a:xfrm>
              <a:off x="7265801" y="3157574"/>
              <a:ext cx="956400" cy="59199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pt-PT" sz="120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Ferramenta Corporativa de Controlos</a:t>
              </a:r>
            </a:p>
          </p:txBody>
        </p:sp>
        <p:sp>
          <p:nvSpPr>
            <p:cNvPr id="181" name="Disco magnético 92">
              <a:extLst>
                <a:ext uri="{FF2B5EF4-FFF2-40B4-BE49-F238E27FC236}">
                  <a16:creationId xmlns:a16="http://schemas.microsoft.com/office/drawing/2014/main" id="{C28A33C7-9F7B-4C7D-82C8-0A74317A379F}"/>
                </a:ext>
              </a:extLst>
            </p:cNvPr>
            <p:cNvSpPr/>
            <p:nvPr/>
          </p:nvSpPr>
          <p:spPr>
            <a:xfrm>
              <a:off x="7469759" y="3751840"/>
              <a:ext cx="576000" cy="206763"/>
            </a:xfrm>
            <a:prstGeom prst="flowChartMagneticDisk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cxnSp>
        <p:nvCxnSpPr>
          <p:cNvPr id="182" name="Conexão em ângulos retos 249">
            <a:extLst>
              <a:ext uri="{FF2B5EF4-FFF2-40B4-BE49-F238E27FC236}">
                <a16:creationId xmlns:a16="http://schemas.microsoft.com/office/drawing/2014/main" id="{6D191B8C-6D33-4EA7-AA29-443650FDE6DB}"/>
              </a:ext>
            </a:extLst>
          </p:cNvPr>
          <p:cNvCxnSpPr>
            <a:cxnSpLocks/>
            <a:stCxn id="410" idx="4"/>
            <a:endCxn id="181" idx="2"/>
          </p:cNvCxnSpPr>
          <p:nvPr/>
        </p:nvCxnSpPr>
        <p:spPr>
          <a:xfrm flipV="1">
            <a:off x="7270043" y="3848328"/>
            <a:ext cx="413378" cy="455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exão em ângulos retos 345">
            <a:extLst>
              <a:ext uri="{FF2B5EF4-FFF2-40B4-BE49-F238E27FC236}">
                <a16:creationId xmlns:a16="http://schemas.microsoft.com/office/drawing/2014/main" id="{FDD0C066-C767-4FCA-8C00-F69C3E443AA1}"/>
              </a:ext>
            </a:extLst>
          </p:cNvPr>
          <p:cNvCxnSpPr>
            <a:cxnSpLocks/>
            <a:stCxn id="181" idx="4"/>
            <a:endCxn id="353" idx="1"/>
          </p:cNvCxnSpPr>
          <p:nvPr/>
        </p:nvCxnSpPr>
        <p:spPr>
          <a:xfrm>
            <a:off x="8259421" y="3848328"/>
            <a:ext cx="483281" cy="1317857"/>
          </a:xfrm>
          <a:prstGeom prst="bentConnector3">
            <a:avLst>
              <a:gd name="adj1" fmla="val 5000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Fluxograma: adição 374">
            <a:extLst>
              <a:ext uri="{FF2B5EF4-FFF2-40B4-BE49-F238E27FC236}">
                <a16:creationId xmlns:a16="http://schemas.microsoft.com/office/drawing/2014/main" id="{8E707896-89E4-4A5D-B508-7E22DABC4226}"/>
              </a:ext>
            </a:extLst>
          </p:cNvPr>
          <p:cNvSpPr/>
          <p:nvPr/>
        </p:nvSpPr>
        <p:spPr>
          <a:xfrm>
            <a:off x="6507447" y="4112762"/>
            <a:ext cx="180000" cy="180000"/>
          </a:xfrm>
          <a:prstGeom prst="flowChartOr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9" name="Losango 178">
            <a:extLst>
              <a:ext uri="{FF2B5EF4-FFF2-40B4-BE49-F238E27FC236}">
                <a16:creationId xmlns:a16="http://schemas.microsoft.com/office/drawing/2014/main" id="{CF446EA9-0AF1-43FD-9B6D-B0CF6FC76460}"/>
              </a:ext>
            </a:extLst>
          </p:cNvPr>
          <p:cNvSpPr/>
          <p:nvPr/>
        </p:nvSpPr>
        <p:spPr>
          <a:xfrm>
            <a:off x="8244065" y="4114359"/>
            <a:ext cx="180000" cy="180000"/>
          </a:xfrm>
          <a:prstGeom prst="diamond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0" name="CaixaDeTexto 403">
            <a:extLst>
              <a:ext uri="{FF2B5EF4-FFF2-40B4-BE49-F238E27FC236}">
                <a16:creationId xmlns:a16="http://schemas.microsoft.com/office/drawing/2014/main" id="{752F45CD-1636-4DC7-A0E7-F4AE5948FABD}"/>
              </a:ext>
            </a:extLst>
          </p:cNvPr>
          <p:cNvSpPr txBox="1"/>
          <p:nvPr/>
        </p:nvSpPr>
        <p:spPr>
          <a:xfrm>
            <a:off x="8211907" y="4101201"/>
            <a:ext cx="1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77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  <p:bldP spid="207" grpId="0" animBg="1"/>
      <p:bldP spid="208" grpId="0" animBg="1"/>
      <p:bldP spid="375" grpId="0" animBg="1"/>
      <p:bldP spid="376" grpId="0" animBg="1"/>
      <p:bldP spid="379" grpId="0" animBg="1"/>
      <p:bldP spid="228" grpId="0"/>
      <p:bldP spid="165" grpId="0" animBg="1"/>
      <p:bldP spid="167" grpId="0" animBg="1"/>
      <p:bldP spid="185" grpId="0" animBg="1"/>
      <p:bldP spid="188" grpId="0" animBg="1"/>
      <p:bldP spid="18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bg1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sz="1200" dirty="0">
            <a:solidFill>
              <a:schemeClr val="tx1"/>
            </a:solidFill>
            <a:latin typeface="Santander Text" panose="020B05040202010201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D051AEB2C48B458F82B58F7F6D9A00" ma:contentTypeVersion="16" ma:contentTypeDescription="Criar um novo documento." ma:contentTypeScope="" ma:versionID="53033b5f3dce2b94a9d1d5f094049497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d232ce5aaa59e03285d5e6aa9334f8ce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C20674D-C8FD-44D3-B483-6A7A200B9E43}"/>
</file>

<file path=customXml/itemProps2.xml><?xml version="1.0" encoding="utf-8"?>
<ds:datastoreItem xmlns:ds="http://schemas.openxmlformats.org/officeDocument/2006/customXml" ds:itemID="{8A558803-4DAE-4D5F-AB31-3B77C1720825}"/>
</file>

<file path=customXml/itemProps3.xml><?xml version="1.0" encoding="utf-8"?>
<ds:datastoreItem xmlns:ds="http://schemas.openxmlformats.org/officeDocument/2006/customXml" ds:itemID="{31B56425-DA86-4D05-9C7A-211CF0422A19}"/>
</file>

<file path=docProps/app.xml><?xml version="1.0" encoding="utf-8"?>
<Properties xmlns="http://schemas.openxmlformats.org/officeDocument/2006/extended-properties" xmlns:vt="http://schemas.openxmlformats.org/officeDocument/2006/docPropsVTypes">
  <TotalTime>3497</TotalTime>
  <Words>2845</Words>
  <Application>Microsoft Office PowerPoint</Application>
  <PresentationFormat>Widescreen</PresentationFormat>
  <Paragraphs>598</Paragraphs>
  <Slides>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Santander Headline</vt:lpstr>
      <vt:lpstr>Santander Text</vt:lpstr>
      <vt:lpstr>Tema do Office</vt:lpstr>
      <vt:lpstr>Tema de Office</vt:lpstr>
      <vt:lpstr>Diapositiva de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Luis Afonso Capitão-Mor Costa Silva</dc:creator>
  <cp:lastModifiedBy>Luis Afonso Capitão-Mor Costa Silva</cp:lastModifiedBy>
  <cp:revision>237</cp:revision>
  <cp:lastPrinted>2019-07-25T17:04:52Z</cp:lastPrinted>
  <dcterms:created xsi:type="dcterms:W3CDTF">2019-07-14T08:20:24Z</dcterms:created>
  <dcterms:modified xsi:type="dcterms:W3CDTF">2023-01-07T14:57:21Z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etDate">
    <vt:lpwstr>2022-08-18T09:03:46Z</vt:lpwstr>
  </property>
  <property fmtid="{D5CDD505-2E9C-101B-9397-08002B2CF9AE}" pid="4" name="MSIP_Label_0c2abd79-57a9-4473-8700-c843f76a1e37_Method">
    <vt:lpwstr>Privileged</vt:lpwstr>
  </property>
  <property fmtid="{D5CDD505-2E9C-101B-9397-08002B2CF9AE}" pid="5" name="MSIP_Label_0c2abd79-57a9-4473-8700-c843f76a1e37_Name">
    <vt:lpwstr>Internal</vt:lpwstr>
  </property>
  <property fmtid="{D5CDD505-2E9C-101B-9397-08002B2CF9AE}" pid="6" name="MSIP_Label_0c2abd79-57a9-4473-8700-c843f76a1e37_SiteId">
    <vt:lpwstr>35595a02-4d6d-44ac-99e1-f9ab4cd872db</vt:lpwstr>
  </property>
  <property fmtid="{D5CDD505-2E9C-101B-9397-08002B2CF9AE}" pid="7" name="MSIP_Label_0c2abd79-57a9-4473-8700-c843f76a1e37_ActionId">
    <vt:lpwstr>b0293fe1-c7cc-42d0-90f1-187d25b4130c</vt:lpwstr>
  </property>
  <property fmtid="{D5CDD505-2E9C-101B-9397-08002B2CF9AE}" pid="8" name="MSIP_Label_0c2abd79-57a9-4473-8700-c843f76a1e37_ContentBits">
    <vt:lpwstr>0</vt:lpwstr>
  </property>
  <property fmtid="{D5CDD505-2E9C-101B-9397-08002B2CF9AE}" pid="9" name="ContentTypeId">
    <vt:lpwstr>0x010100C6D051AEB2C48B458F82B58F7F6D9A00</vt:lpwstr>
  </property>
</Properties>
</file>