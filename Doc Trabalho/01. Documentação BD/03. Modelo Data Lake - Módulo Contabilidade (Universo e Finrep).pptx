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57" r:id="rId6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1E283-49CA-4C7F-9C75-FEB02750AD5A}" v="2" dt="2025-07-30T11:09:04.6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9" autoAdjust="0"/>
    <p:restoredTop sz="93060" autoAdjust="0"/>
  </p:normalViewPr>
  <p:slideViewPr>
    <p:cSldViewPr snapToGrid="0">
      <p:cViewPr varScale="1">
        <p:scale>
          <a:sx n="80" d="100"/>
          <a:sy n="80" d="100"/>
        </p:scale>
        <p:origin x="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S::e800420@corp.santander.pt::b6f39d0a-b38b-4c97-850c-dbcbfac2b4dd" providerId="AD" clId="Web-{6861E283-49CA-4C7F-9C75-FEB02750AD5A}"/>
    <pc:docChg chg="modSld">
      <pc:chgData name="Dora da Silva Roxo" userId="S::e800420@corp.santander.pt::b6f39d0a-b38b-4c97-850c-dbcbfac2b4dd" providerId="AD" clId="Web-{6861E283-49CA-4C7F-9C75-FEB02750AD5A}" dt="2025-07-30T11:09:04.633" v="1" actId="14100"/>
      <pc:docMkLst>
        <pc:docMk/>
      </pc:docMkLst>
      <pc:sldChg chg="modSp">
        <pc:chgData name="Dora da Silva Roxo" userId="S::e800420@corp.santander.pt::b6f39d0a-b38b-4c97-850c-dbcbfac2b4dd" providerId="AD" clId="Web-{6861E283-49CA-4C7F-9C75-FEB02750AD5A}" dt="2025-07-30T11:09:04.633" v="1" actId="14100"/>
        <pc:sldMkLst>
          <pc:docMk/>
          <pc:sldMk cId="4168315977" sldId="256"/>
        </pc:sldMkLst>
        <pc:spChg chg="mod">
          <ac:chgData name="Dora da Silva Roxo" userId="S::e800420@corp.santander.pt::b6f39d0a-b38b-4c97-850c-dbcbfac2b4dd" providerId="AD" clId="Web-{6861E283-49CA-4C7F-9C75-FEB02750AD5A}" dt="2025-07-30T11:09:04.633" v="1" actId="14100"/>
          <ac:spMkLst>
            <pc:docMk/>
            <pc:sldMk cId="4168315977" sldId="256"/>
            <ac:spMk id="3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2EC50-19F0-4E35-9125-A66A562DCC4A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845C8-84B5-4E6B-BA8B-94C27CB832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3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6845C8-84B5-4E6B-BA8B-94C27CB832CA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777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30/07/2025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tângulo 186"/>
          <p:cNvSpPr/>
          <p:nvPr/>
        </p:nvSpPr>
        <p:spPr>
          <a:xfrm>
            <a:off x="2866391" y="420246"/>
            <a:ext cx="9117489" cy="580275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grpSp>
        <p:nvGrpSpPr>
          <p:cNvPr id="189" name="Grupo 188"/>
          <p:cNvGrpSpPr/>
          <p:nvPr/>
        </p:nvGrpSpPr>
        <p:grpSpPr>
          <a:xfrm>
            <a:off x="571363" y="3330357"/>
            <a:ext cx="1946042" cy="749260"/>
            <a:chOff x="2849341" y="5863134"/>
            <a:chExt cx="1946042" cy="749260"/>
          </a:xfrm>
        </p:grpSpPr>
        <p:sp>
          <p:nvSpPr>
            <p:cNvPr id="86" name="Retângulo 85"/>
            <p:cNvSpPr/>
            <p:nvPr/>
          </p:nvSpPr>
          <p:spPr>
            <a:xfrm>
              <a:off x="2854517" y="6172272"/>
              <a:ext cx="1796400" cy="4387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7" name="CaixaDeTexto 86"/>
            <p:cNvSpPr txBox="1"/>
            <p:nvPr/>
          </p:nvSpPr>
          <p:spPr>
            <a:xfrm>
              <a:off x="2849341" y="5863134"/>
              <a:ext cx="1946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(AU) Clientes </a:t>
              </a:r>
              <a:r>
                <a:rPr lang="pt-PT" sz="1000" dirty="0"/>
                <a:t>(ct003)</a:t>
              </a:r>
            </a:p>
          </p:txBody>
        </p:sp>
        <p:sp>
          <p:nvSpPr>
            <p:cNvPr id="88" name="CaixaDeTexto 87"/>
            <p:cNvSpPr txBox="1"/>
            <p:nvPr/>
          </p:nvSpPr>
          <p:spPr>
            <a:xfrm>
              <a:off x="2854552" y="6155395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89" name="CaixaDeTexto 88"/>
            <p:cNvSpPr txBox="1"/>
            <p:nvPr/>
          </p:nvSpPr>
          <p:spPr>
            <a:xfrm>
              <a:off x="2854551" y="6335395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07" name="Conexão em ângulos retos 206"/>
          <p:cNvCxnSpPr>
            <a:stCxn id="216" idx="3"/>
            <a:endCxn id="29" idx="2"/>
          </p:cNvCxnSpPr>
          <p:nvPr/>
        </p:nvCxnSpPr>
        <p:spPr>
          <a:xfrm>
            <a:off x="4964566" y="4675593"/>
            <a:ext cx="1288543" cy="202206"/>
          </a:xfrm>
          <a:prstGeom prst="bentConnector4">
            <a:avLst>
              <a:gd name="adj1" fmla="val 11669"/>
              <a:gd name="adj2" fmla="val 213053"/>
            </a:avLst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upo 74"/>
          <p:cNvGrpSpPr/>
          <p:nvPr/>
        </p:nvGrpSpPr>
        <p:grpSpPr>
          <a:xfrm>
            <a:off x="7681702" y="706263"/>
            <a:ext cx="1178956" cy="1075585"/>
            <a:chOff x="10465832" y="1711012"/>
            <a:chExt cx="1178956" cy="1075585"/>
          </a:xfrm>
        </p:grpSpPr>
        <p:sp>
          <p:nvSpPr>
            <p:cNvPr id="390" name="Retângulo 389"/>
            <p:cNvSpPr/>
            <p:nvPr/>
          </p:nvSpPr>
          <p:spPr>
            <a:xfrm>
              <a:off x="10465832" y="1711012"/>
              <a:ext cx="1178956" cy="1075585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383" name="Retângulo 382"/>
            <p:cNvSpPr/>
            <p:nvPr/>
          </p:nvSpPr>
          <p:spPr>
            <a:xfrm>
              <a:off x="10557416" y="2019065"/>
              <a:ext cx="1010377" cy="6591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4" name="CaixaDeTexto 383"/>
            <p:cNvSpPr txBox="1"/>
            <p:nvPr/>
          </p:nvSpPr>
          <p:spPr>
            <a:xfrm>
              <a:off x="10557415" y="1711880"/>
              <a:ext cx="960973" cy="314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Filtros</a:t>
              </a:r>
              <a:endParaRPr lang="pt-PT" sz="1000" dirty="0"/>
            </a:p>
          </p:txBody>
        </p:sp>
        <p:sp>
          <p:nvSpPr>
            <p:cNvPr id="385" name="CaixaDeTexto 384"/>
            <p:cNvSpPr txBox="1"/>
            <p:nvPr/>
          </p:nvSpPr>
          <p:spPr>
            <a:xfrm>
              <a:off x="10557416" y="2214349"/>
              <a:ext cx="10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Perímetro</a:t>
              </a:r>
            </a:p>
          </p:txBody>
        </p:sp>
        <p:sp>
          <p:nvSpPr>
            <p:cNvPr id="387" name="CaixaDeTexto 386"/>
            <p:cNvSpPr txBox="1"/>
            <p:nvPr/>
          </p:nvSpPr>
          <p:spPr>
            <a:xfrm>
              <a:off x="10557415" y="2034349"/>
              <a:ext cx="10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</a:p>
          </p:txBody>
        </p:sp>
        <p:sp>
          <p:nvSpPr>
            <p:cNvPr id="389" name="CaixaDeTexto 388"/>
            <p:cNvSpPr txBox="1"/>
            <p:nvPr/>
          </p:nvSpPr>
          <p:spPr>
            <a:xfrm>
              <a:off x="10559107" y="2394349"/>
              <a:ext cx="97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7555093" y="3409784"/>
            <a:ext cx="1898631" cy="1288015"/>
            <a:chOff x="7752922" y="1442413"/>
            <a:chExt cx="1898631" cy="1170920"/>
          </a:xfrm>
        </p:grpSpPr>
        <p:sp>
          <p:nvSpPr>
            <p:cNvPr id="316" name="Retângulo 315"/>
            <p:cNvSpPr/>
            <p:nvPr/>
          </p:nvSpPr>
          <p:spPr>
            <a:xfrm>
              <a:off x="7806679" y="1726702"/>
              <a:ext cx="1797844" cy="8783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20" name="CaixaDeTexto 319"/>
            <p:cNvSpPr txBox="1"/>
            <p:nvPr/>
          </p:nvSpPr>
          <p:spPr>
            <a:xfrm>
              <a:off x="7808087" y="2361516"/>
              <a:ext cx="1760898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17" name="CaixaDeTexto 316"/>
            <p:cNvSpPr txBox="1"/>
            <p:nvPr/>
          </p:nvSpPr>
          <p:spPr>
            <a:xfrm>
              <a:off x="7752922" y="1442413"/>
              <a:ext cx="1898631" cy="279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Balancetes </a:t>
              </a:r>
              <a:r>
                <a:rPr lang="pt-PT" sz="1000" dirty="0"/>
                <a:t>(ct002)</a:t>
              </a:r>
            </a:p>
          </p:txBody>
        </p:sp>
        <p:sp>
          <p:nvSpPr>
            <p:cNvPr id="318" name="CaixaDeTexto 317"/>
            <p:cNvSpPr txBox="1"/>
            <p:nvPr/>
          </p:nvSpPr>
          <p:spPr>
            <a:xfrm>
              <a:off x="7806676" y="1706972"/>
              <a:ext cx="180000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Entidade</a:t>
              </a:r>
              <a:r>
                <a:rPr lang="pt-PT" sz="800" dirty="0"/>
                <a:t> (entidade)</a:t>
              </a:r>
            </a:p>
          </p:txBody>
        </p:sp>
        <p:sp>
          <p:nvSpPr>
            <p:cNvPr id="319" name="CaixaDeTexto 318"/>
            <p:cNvSpPr txBox="1"/>
            <p:nvPr/>
          </p:nvSpPr>
          <p:spPr>
            <a:xfrm>
              <a:off x="7806676" y="1870608"/>
              <a:ext cx="180000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nome_perímetro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21" name="CaixaDeTexto 320"/>
            <p:cNvSpPr txBox="1"/>
            <p:nvPr/>
          </p:nvSpPr>
          <p:spPr>
            <a:xfrm>
              <a:off x="7806684" y="2034244"/>
              <a:ext cx="1800000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conta_contabilística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322" name="CaixaDeTexto 321"/>
            <p:cNvSpPr txBox="1"/>
            <p:nvPr/>
          </p:nvSpPr>
          <p:spPr>
            <a:xfrm>
              <a:off x="7806714" y="2197880"/>
              <a:ext cx="1759644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Soc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Cntp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sociedade_contraparte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171" name="Grupo 170"/>
          <p:cNvGrpSpPr/>
          <p:nvPr/>
        </p:nvGrpSpPr>
        <p:grpSpPr>
          <a:xfrm>
            <a:off x="7608493" y="4975126"/>
            <a:ext cx="1856172" cy="1125850"/>
            <a:chOff x="12033071" y="3507149"/>
            <a:chExt cx="1856172" cy="1125850"/>
          </a:xfrm>
        </p:grpSpPr>
        <p:sp>
          <p:nvSpPr>
            <p:cNvPr id="530" name="Retângulo 529"/>
            <p:cNvSpPr/>
            <p:nvPr/>
          </p:nvSpPr>
          <p:spPr>
            <a:xfrm>
              <a:off x="12033074" y="3815449"/>
              <a:ext cx="1796400" cy="8160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531" name="CaixaDeTexto 530"/>
            <p:cNvSpPr txBox="1"/>
            <p:nvPr/>
          </p:nvSpPr>
          <p:spPr>
            <a:xfrm>
              <a:off x="12033073" y="3507149"/>
              <a:ext cx="1856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Contas PV </a:t>
              </a:r>
              <a:r>
                <a:rPr lang="pt-PT" sz="1000" dirty="0"/>
                <a:t>(ct008)</a:t>
              </a:r>
            </a:p>
          </p:txBody>
        </p:sp>
        <p:sp>
          <p:nvSpPr>
            <p:cNvPr id="532" name="CaixaDeTexto 531"/>
            <p:cNvSpPr txBox="1"/>
            <p:nvPr/>
          </p:nvSpPr>
          <p:spPr>
            <a:xfrm>
              <a:off x="12033071" y="3816000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Cód. plano virtual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cod_plano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533" name="CaixaDeTexto 532"/>
            <p:cNvSpPr txBox="1"/>
            <p:nvPr/>
          </p:nvSpPr>
          <p:spPr>
            <a:xfrm>
              <a:off x="12033071" y="3996000"/>
              <a:ext cx="1800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Cód. massa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virt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cod_contavirt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534" name="CaixaDeTexto 533"/>
            <p:cNvSpPr txBox="1"/>
            <p:nvPr/>
          </p:nvSpPr>
          <p:spPr>
            <a:xfrm>
              <a:off x="12033618" y="4176000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contabilística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(conta)</a:t>
              </a:r>
            </a:p>
          </p:txBody>
        </p:sp>
        <p:sp>
          <p:nvSpPr>
            <p:cNvPr id="543" name="CaixaDeTexto 542"/>
            <p:cNvSpPr txBox="1"/>
            <p:nvPr/>
          </p:nvSpPr>
          <p:spPr>
            <a:xfrm>
              <a:off x="12033152" y="4356000"/>
              <a:ext cx="17608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592" name="CaixaDeTexto 591"/>
          <p:cNvSpPr txBox="1"/>
          <p:nvPr/>
        </p:nvSpPr>
        <p:spPr>
          <a:xfrm>
            <a:off x="7576" y="6550204"/>
            <a:ext cx="8386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Nota</a:t>
            </a:r>
            <a:r>
              <a:rPr lang="pt-PT" sz="1200" dirty="0"/>
              <a:t>: apesar de não se apresentar a ligação do campo Data, este deve ser sempre ligado entre as tabelas ou definido em cada uma.</a:t>
            </a:r>
          </a:p>
        </p:txBody>
      </p:sp>
      <p:sp>
        <p:nvSpPr>
          <p:cNvPr id="593" name="CaixaDeTexto 592"/>
          <p:cNvSpPr txBox="1"/>
          <p:nvPr/>
        </p:nvSpPr>
        <p:spPr>
          <a:xfrm>
            <a:off x="245912" y="0"/>
            <a:ext cx="6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</a:rPr>
              <a:t>MODELO RELACIONAL - CONTABILIDADE (DATA LAKE)</a:t>
            </a:r>
          </a:p>
        </p:txBody>
      </p:sp>
      <p:grpSp>
        <p:nvGrpSpPr>
          <p:cNvPr id="172" name="Grupo 171"/>
          <p:cNvGrpSpPr/>
          <p:nvPr/>
        </p:nvGrpSpPr>
        <p:grpSpPr>
          <a:xfrm>
            <a:off x="9830615" y="4990765"/>
            <a:ext cx="1831526" cy="933069"/>
            <a:chOff x="10034297" y="1359930"/>
            <a:chExt cx="1831526" cy="933069"/>
          </a:xfrm>
        </p:grpSpPr>
        <p:sp>
          <p:nvSpPr>
            <p:cNvPr id="711" name="Retângulo 710"/>
            <p:cNvSpPr/>
            <p:nvPr/>
          </p:nvSpPr>
          <p:spPr>
            <a:xfrm>
              <a:off x="10034297" y="1668988"/>
              <a:ext cx="1796400" cy="61979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12" name="CaixaDeTexto 711"/>
            <p:cNvSpPr txBox="1"/>
            <p:nvPr/>
          </p:nvSpPr>
          <p:spPr>
            <a:xfrm>
              <a:off x="10045209" y="1359930"/>
              <a:ext cx="18206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Massas PV</a:t>
              </a:r>
              <a:r>
                <a:rPr lang="pt-PT" sz="1400" dirty="0"/>
                <a:t> </a:t>
              </a:r>
              <a:r>
                <a:rPr lang="pt-PT" sz="1000" dirty="0"/>
                <a:t>(ct007)</a:t>
              </a:r>
            </a:p>
          </p:txBody>
        </p:sp>
        <p:sp>
          <p:nvSpPr>
            <p:cNvPr id="713" name="CaixaDeTexto 712"/>
            <p:cNvSpPr txBox="1"/>
            <p:nvPr/>
          </p:nvSpPr>
          <p:spPr>
            <a:xfrm>
              <a:off x="10034623" y="1654284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Cód. plano virtual</a:t>
              </a:r>
              <a:r>
                <a:rPr lang="pt-PT" sz="800" dirty="0"/>
                <a:t> (</a:t>
              </a:r>
              <a:r>
                <a:rPr lang="pt-PT" sz="800" dirty="0" err="1"/>
                <a:t>cod_plano</a:t>
              </a:r>
              <a:r>
                <a:rPr lang="pt-PT" sz="800" dirty="0"/>
                <a:t>)</a:t>
              </a:r>
            </a:p>
          </p:txBody>
        </p:sp>
        <p:sp>
          <p:nvSpPr>
            <p:cNvPr id="714" name="CaixaDeTexto 713"/>
            <p:cNvSpPr txBox="1"/>
            <p:nvPr/>
          </p:nvSpPr>
          <p:spPr>
            <a:xfrm>
              <a:off x="10035887" y="2016000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715" name="CaixaDeTexto 714"/>
            <p:cNvSpPr txBox="1"/>
            <p:nvPr/>
          </p:nvSpPr>
          <p:spPr>
            <a:xfrm>
              <a:off x="10034516" y="1836000"/>
              <a:ext cx="1764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Cód. massa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virt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cod_contavirt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722" name="Conexão em ângulos retos 721"/>
          <p:cNvCxnSpPr>
            <a:stCxn id="715" idx="1"/>
            <a:endCxn id="533" idx="3"/>
          </p:cNvCxnSpPr>
          <p:nvPr/>
        </p:nvCxnSpPr>
        <p:spPr>
          <a:xfrm rot="10800000">
            <a:off x="9408494" y="5602477"/>
            <a:ext cx="422341" cy="285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/>
          <p:cNvGrpSpPr/>
          <p:nvPr/>
        </p:nvGrpSpPr>
        <p:grpSpPr>
          <a:xfrm>
            <a:off x="5420958" y="456799"/>
            <a:ext cx="2127142" cy="1289658"/>
            <a:chOff x="5420958" y="456799"/>
            <a:chExt cx="2127142" cy="1289658"/>
          </a:xfrm>
        </p:grpSpPr>
        <p:grpSp>
          <p:nvGrpSpPr>
            <p:cNvPr id="67" name="Grupo 66"/>
            <p:cNvGrpSpPr/>
            <p:nvPr/>
          </p:nvGrpSpPr>
          <p:grpSpPr>
            <a:xfrm>
              <a:off x="5420958" y="456799"/>
              <a:ext cx="2127142" cy="1289658"/>
              <a:chOff x="2846472" y="600291"/>
              <a:chExt cx="2127142" cy="1289658"/>
            </a:xfrm>
          </p:grpSpPr>
          <p:sp>
            <p:nvSpPr>
              <p:cNvPr id="116" name="Retângulo 115"/>
              <p:cNvSpPr/>
              <p:nvPr/>
            </p:nvSpPr>
            <p:spPr>
              <a:xfrm>
                <a:off x="2846475" y="908589"/>
                <a:ext cx="1796400" cy="9813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7" name="CaixaDeTexto 116"/>
              <p:cNvSpPr txBox="1"/>
              <p:nvPr/>
            </p:nvSpPr>
            <p:spPr>
              <a:xfrm>
                <a:off x="2846473" y="600291"/>
                <a:ext cx="21271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Perímetros ms. </a:t>
                </a:r>
                <a:r>
                  <a:rPr lang="pt-PT" sz="1000" dirty="0"/>
                  <a:t>(ct005)</a:t>
                </a:r>
              </a:p>
            </p:txBody>
          </p:sp>
          <p:sp>
            <p:nvSpPr>
              <p:cNvPr id="118" name="CaixaDeTexto 117"/>
              <p:cNvSpPr txBox="1"/>
              <p:nvPr/>
            </p:nvSpPr>
            <p:spPr>
              <a:xfrm>
                <a:off x="2846474" y="1250168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119" name="CaixaDeTexto 118"/>
              <p:cNvSpPr txBox="1"/>
              <p:nvPr/>
            </p:nvSpPr>
            <p:spPr>
              <a:xfrm>
                <a:off x="2846472" y="89128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Entidade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(entidade)</a:t>
                </a:r>
              </a:p>
            </p:txBody>
          </p:sp>
          <p:sp>
            <p:nvSpPr>
              <p:cNvPr id="120" name="CaixaDeTexto 119"/>
              <p:cNvSpPr txBox="1"/>
              <p:nvPr/>
            </p:nvSpPr>
            <p:spPr>
              <a:xfrm>
                <a:off x="2846472" y="107016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Perímetro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nome_perímetro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21" name="CaixaDeTexto 120"/>
              <p:cNvSpPr txBox="1"/>
              <p:nvPr/>
            </p:nvSpPr>
            <p:spPr>
              <a:xfrm>
                <a:off x="2848079" y="1430168"/>
                <a:ext cx="14288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  <p:sp>
          <p:nvSpPr>
            <p:cNvPr id="203" name="CaixaDeTexto 202"/>
            <p:cNvSpPr txBox="1"/>
            <p:nvPr/>
          </p:nvSpPr>
          <p:spPr>
            <a:xfrm>
              <a:off x="5422557" y="1465200"/>
              <a:ext cx="14288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92" name="Grupo 91"/>
          <p:cNvGrpSpPr/>
          <p:nvPr/>
        </p:nvGrpSpPr>
        <p:grpSpPr>
          <a:xfrm>
            <a:off x="2977533" y="4063058"/>
            <a:ext cx="2400401" cy="967070"/>
            <a:chOff x="4270642" y="6791971"/>
            <a:chExt cx="2400401" cy="967070"/>
          </a:xfrm>
        </p:grpSpPr>
        <p:sp>
          <p:nvSpPr>
            <p:cNvPr id="216" name="Fluxograma: multidocumentos 215"/>
            <p:cNvSpPr/>
            <p:nvPr/>
          </p:nvSpPr>
          <p:spPr>
            <a:xfrm>
              <a:off x="4277675" y="7055259"/>
              <a:ext cx="1980000" cy="698493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 dirty="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66" name="CaixaDeTexto 165"/>
            <p:cNvSpPr txBox="1"/>
            <p:nvPr/>
          </p:nvSpPr>
          <p:spPr>
            <a:xfrm>
              <a:off x="4286860" y="7129838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168" name="CaixaDeTexto 167"/>
            <p:cNvSpPr txBox="1"/>
            <p:nvPr/>
          </p:nvSpPr>
          <p:spPr>
            <a:xfrm>
              <a:off x="4288124" y="7482042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69" name="CaixaDeTexto 168"/>
            <p:cNvSpPr txBox="1"/>
            <p:nvPr/>
          </p:nvSpPr>
          <p:spPr>
            <a:xfrm>
              <a:off x="4287346" y="7310636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Contas</a:t>
              </a:r>
              <a:r>
                <a:rPr lang="pt-PT" sz="800" dirty="0"/>
                <a:t> (</a:t>
              </a:r>
              <a:r>
                <a:rPr lang="pt-PT" sz="800" dirty="0" err="1"/>
                <a:t>ccontab_x</a:t>
              </a:r>
              <a:r>
                <a:rPr lang="pt-PT" sz="800" dirty="0"/>
                <a:t>)</a:t>
              </a:r>
            </a:p>
          </p:txBody>
        </p:sp>
        <p:sp>
          <p:nvSpPr>
            <p:cNvPr id="218" name="CaixaDeTexto 217"/>
            <p:cNvSpPr txBox="1"/>
            <p:nvPr/>
          </p:nvSpPr>
          <p:spPr>
            <a:xfrm>
              <a:off x="4270642" y="6791971"/>
              <a:ext cx="24004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(MA) Input Contratos </a:t>
              </a:r>
              <a:r>
                <a:rPr lang="pt-PT" sz="1000" dirty="0"/>
                <a:t>(ct601)</a:t>
              </a:r>
            </a:p>
          </p:txBody>
        </p:sp>
      </p:grpSp>
      <p:cxnSp>
        <p:nvCxnSpPr>
          <p:cNvPr id="224" name="Conexão em ângulos retos 223"/>
          <p:cNvCxnSpPr>
            <a:stCxn id="387" idx="3"/>
            <a:endCxn id="318" idx="3"/>
          </p:cNvCxnSpPr>
          <p:nvPr/>
        </p:nvCxnSpPr>
        <p:spPr>
          <a:xfrm>
            <a:off x="8781285" y="1168100"/>
            <a:ext cx="627562" cy="2671200"/>
          </a:xfrm>
          <a:prstGeom prst="bentConnector3">
            <a:avLst>
              <a:gd name="adj1" fmla="val 15351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exão em ângulos retos 226"/>
          <p:cNvCxnSpPr>
            <a:stCxn id="385" idx="3"/>
            <a:endCxn id="319" idx="3"/>
          </p:cNvCxnSpPr>
          <p:nvPr/>
        </p:nvCxnSpPr>
        <p:spPr>
          <a:xfrm>
            <a:off x="8781286" y="1348100"/>
            <a:ext cx="627561" cy="2671200"/>
          </a:xfrm>
          <a:prstGeom prst="bentConnector3">
            <a:avLst>
              <a:gd name="adj1" fmla="val 141992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xão em ângulos retos 233"/>
          <p:cNvCxnSpPr>
            <a:stCxn id="141" idx="3"/>
            <a:endCxn id="321" idx="1"/>
          </p:cNvCxnSpPr>
          <p:nvPr/>
        </p:nvCxnSpPr>
        <p:spPr>
          <a:xfrm flipV="1">
            <a:off x="7217692" y="4199300"/>
            <a:ext cx="391163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241"/>
          <p:cNvCxnSpPr>
            <a:stCxn id="25" idx="0"/>
            <a:endCxn id="127" idx="2"/>
          </p:cNvCxnSpPr>
          <p:nvPr/>
        </p:nvCxnSpPr>
        <p:spPr>
          <a:xfrm rot="5400000" flipH="1" flipV="1">
            <a:off x="6233727" y="3304709"/>
            <a:ext cx="180609" cy="2722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aixaDeTexto 126"/>
          <p:cNvSpPr txBox="1"/>
          <p:nvPr/>
        </p:nvSpPr>
        <p:spPr>
          <a:xfrm>
            <a:off x="5289951" y="2846433"/>
            <a:ext cx="2070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cxnSp>
        <p:nvCxnSpPr>
          <p:cNvPr id="281" name="Conexão em ângulos retos 280"/>
          <p:cNvCxnSpPr>
            <a:stCxn id="141" idx="3"/>
            <a:endCxn id="534" idx="1"/>
          </p:cNvCxnSpPr>
          <p:nvPr/>
        </p:nvCxnSpPr>
        <p:spPr>
          <a:xfrm>
            <a:off x="7217692" y="4199302"/>
            <a:ext cx="391348" cy="1583175"/>
          </a:xfrm>
          <a:prstGeom prst="bentConnector3">
            <a:avLst>
              <a:gd name="adj1" fmla="val 73528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xão em ângulos retos 285"/>
          <p:cNvCxnSpPr>
            <a:stCxn id="321" idx="3"/>
            <a:endCxn id="534" idx="3"/>
          </p:cNvCxnSpPr>
          <p:nvPr/>
        </p:nvCxnSpPr>
        <p:spPr>
          <a:xfrm>
            <a:off x="9408855" y="4199300"/>
            <a:ext cx="185" cy="1583177"/>
          </a:xfrm>
          <a:prstGeom prst="bentConnector3">
            <a:avLst>
              <a:gd name="adj1" fmla="val 123667568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xão em ângulos retos 288"/>
          <p:cNvCxnSpPr>
            <a:stCxn id="456" idx="3"/>
            <a:endCxn id="203" idx="2"/>
          </p:cNvCxnSpPr>
          <p:nvPr/>
        </p:nvCxnSpPr>
        <p:spPr>
          <a:xfrm flipV="1">
            <a:off x="4994192" y="1742199"/>
            <a:ext cx="1142783" cy="975608"/>
          </a:xfrm>
          <a:prstGeom prst="bentConnector2">
            <a:avLst/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o 2"/>
          <p:cNvGrpSpPr/>
          <p:nvPr/>
        </p:nvGrpSpPr>
        <p:grpSpPr>
          <a:xfrm>
            <a:off x="5364591" y="1848697"/>
            <a:ext cx="2240403" cy="1324481"/>
            <a:chOff x="5590148" y="1409581"/>
            <a:chExt cx="2240403" cy="1324481"/>
          </a:xfrm>
        </p:grpSpPr>
        <p:sp>
          <p:nvSpPr>
            <p:cNvPr id="208" name="Retângulo 207"/>
            <p:cNvSpPr/>
            <p:nvPr/>
          </p:nvSpPr>
          <p:spPr>
            <a:xfrm>
              <a:off x="5643905" y="1726844"/>
              <a:ext cx="1797844" cy="100721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grpSp>
          <p:nvGrpSpPr>
            <p:cNvPr id="2" name="Grupo 1"/>
            <p:cNvGrpSpPr/>
            <p:nvPr/>
          </p:nvGrpSpPr>
          <p:grpSpPr>
            <a:xfrm>
              <a:off x="5590148" y="1409581"/>
              <a:ext cx="2240403" cy="1321683"/>
              <a:chOff x="5590148" y="1409581"/>
              <a:chExt cx="2240403" cy="1321683"/>
            </a:xfrm>
          </p:grpSpPr>
          <p:sp>
            <p:nvSpPr>
              <p:cNvPr id="209" name="CaixaDeTexto 208"/>
              <p:cNvSpPr txBox="1"/>
              <p:nvPr/>
            </p:nvSpPr>
            <p:spPr>
              <a:xfrm>
                <a:off x="5590148" y="1409581"/>
                <a:ext cx="2240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Agregado saldos </a:t>
                </a:r>
                <a:r>
                  <a:rPr lang="pt-PT" sz="1000" dirty="0"/>
                  <a:t>(ct082)</a:t>
                </a:r>
              </a:p>
            </p:txBody>
          </p:sp>
          <p:sp>
            <p:nvSpPr>
              <p:cNvPr id="210" name="CaixaDeTexto 209"/>
              <p:cNvSpPr txBox="1"/>
              <p:nvPr/>
            </p:nvSpPr>
            <p:spPr>
              <a:xfrm>
                <a:off x="5643902" y="1734010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Entidade</a:t>
                </a:r>
                <a:r>
                  <a:rPr lang="pt-PT" sz="800" dirty="0"/>
                  <a:t> (entidade)</a:t>
                </a:r>
              </a:p>
            </p:txBody>
          </p:sp>
          <p:sp>
            <p:nvSpPr>
              <p:cNvPr id="211" name="CaixaDeTexto 210"/>
              <p:cNvSpPr txBox="1"/>
              <p:nvPr/>
            </p:nvSpPr>
            <p:spPr>
              <a:xfrm>
                <a:off x="5643902" y="1914265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nome_perímetro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12" name="CaixaDeTexto 211"/>
              <p:cNvSpPr txBox="1"/>
              <p:nvPr/>
            </p:nvSpPr>
            <p:spPr>
              <a:xfrm>
                <a:off x="5643902" y="2454265"/>
                <a:ext cx="176089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17" name="CaixaDeTexto 216"/>
              <p:cNvSpPr txBox="1"/>
              <p:nvPr/>
            </p:nvSpPr>
            <p:spPr>
              <a:xfrm>
                <a:off x="5643910" y="2094265"/>
                <a:ext cx="181979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Conta contabilística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ccontab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25" name="CaixaDeTexto 224"/>
              <p:cNvSpPr txBox="1"/>
              <p:nvPr/>
            </p:nvSpPr>
            <p:spPr>
              <a:xfrm>
                <a:off x="5643939" y="2274265"/>
                <a:ext cx="1797149" cy="276999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Soc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Cntp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sociedade_contraparte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</p:grpSp>
      <p:cxnSp>
        <p:nvCxnSpPr>
          <p:cNvPr id="301" name="Conexão em ângulos retos 300"/>
          <p:cNvCxnSpPr>
            <a:stCxn id="88" idx="3"/>
            <a:endCxn id="28" idx="1"/>
          </p:cNvCxnSpPr>
          <p:nvPr/>
        </p:nvCxnSpPr>
        <p:spPr>
          <a:xfrm>
            <a:off x="2376574" y="3761118"/>
            <a:ext cx="3041111" cy="259617"/>
          </a:xfrm>
          <a:prstGeom prst="bentConnector3">
            <a:avLst>
              <a:gd name="adj1" fmla="val 92847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2" name="Grupo 351"/>
          <p:cNvGrpSpPr/>
          <p:nvPr/>
        </p:nvGrpSpPr>
        <p:grpSpPr>
          <a:xfrm>
            <a:off x="9828783" y="4152652"/>
            <a:ext cx="1907082" cy="803389"/>
            <a:chOff x="10034297" y="1359930"/>
            <a:chExt cx="1907082" cy="803389"/>
          </a:xfrm>
        </p:grpSpPr>
        <p:sp>
          <p:nvSpPr>
            <p:cNvPr id="353" name="Retângulo 352"/>
            <p:cNvSpPr/>
            <p:nvPr/>
          </p:nvSpPr>
          <p:spPr>
            <a:xfrm>
              <a:off x="10034297" y="1668989"/>
              <a:ext cx="1796400" cy="4943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55" name="CaixaDeTexto 354"/>
            <p:cNvSpPr txBox="1"/>
            <p:nvPr/>
          </p:nvSpPr>
          <p:spPr>
            <a:xfrm>
              <a:off x="10045209" y="1359930"/>
              <a:ext cx="18961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Catálogo PV </a:t>
              </a:r>
              <a:r>
                <a:rPr lang="pt-PT" sz="1000" dirty="0"/>
                <a:t>(ct006)</a:t>
              </a:r>
            </a:p>
          </p:txBody>
        </p:sp>
        <p:sp>
          <p:nvSpPr>
            <p:cNvPr id="356" name="CaixaDeTexto 355"/>
            <p:cNvSpPr txBox="1"/>
            <p:nvPr/>
          </p:nvSpPr>
          <p:spPr>
            <a:xfrm>
              <a:off x="10034623" y="1654284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Cód. plano virtual</a:t>
              </a:r>
              <a:r>
                <a:rPr lang="pt-PT" sz="800" dirty="0"/>
                <a:t> (</a:t>
              </a:r>
              <a:r>
                <a:rPr lang="pt-PT" sz="800" dirty="0" err="1"/>
                <a:t>cod_plano</a:t>
              </a:r>
              <a:r>
                <a:rPr lang="pt-PT" sz="800" dirty="0"/>
                <a:t>)</a:t>
              </a:r>
            </a:p>
          </p:txBody>
        </p:sp>
        <p:sp>
          <p:nvSpPr>
            <p:cNvPr id="357" name="CaixaDeTexto 356"/>
            <p:cNvSpPr txBox="1"/>
            <p:nvPr/>
          </p:nvSpPr>
          <p:spPr>
            <a:xfrm>
              <a:off x="10035887" y="1868964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359" name="Conexão em ângulos retos 358"/>
          <p:cNvCxnSpPr>
            <a:stCxn id="713" idx="3"/>
            <a:endCxn id="356" idx="3"/>
          </p:cNvCxnSpPr>
          <p:nvPr/>
        </p:nvCxnSpPr>
        <p:spPr>
          <a:xfrm flipH="1" flipV="1">
            <a:off x="11629109" y="4585506"/>
            <a:ext cx="1832" cy="838113"/>
          </a:xfrm>
          <a:prstGeom prst="bentConnector3">
            <a:avLst>
              <a:gd name="adj1" fmla="val -1247816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exão em ângulos retos 359"/>
          <p:cNvCxnSpPr>
            <a:stCxn id="713" idx="1"/>
            <a:endCxn id="532" idx="3"/>
          </p:cNvCxnSpPr>
          <p:nvPr/>
        </p:nvCxnSpPr>
        <p:spPr>
          <a:xfrm rot="10800000">
            <a:off x="9408493" y="5422477"/>
            <a:ext cx="422448" cy="11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Grupo 373"/>
          <p:cNvGrpSpPr/>
          <p:nvPr/>
        </p:nvGrpSpPr>
        <p:grpSpPr>
          <a:xfrm>
            <a:off x="592350" y="457148"/>
            <a:ext cx="2117215" cy="828614"/>
            <a:chOff x="3006591" y="5061632"/>
            <a:chExt cx="2117215" cy="828614"/>
          </a:xfrm>
        </p:grpSpPr>
        <p:sp>
          <p:nvSpPr>
            <p:cNvPr id="375" name="CaixaDeTexto 374"/>
            <p:cNvSpPr txBox="1"/>
            <p:nvPr/>
          </p:nvSpPr>
          <p:spPr>
            <a:xfrm>
              <a:off x="3007223" y="5061632"/>
              <a:ext cx="21165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Grupos económicos</a:t>
              </a:r>
              <a:endParaRPr lang="pt-PT" sz="1000" dirty="0"/>
            </a:p>
          </p:txBody>
        </p:sp>
        <p:sp>
          <p:nvSpPr>
            <p:cNvPr id="376" name="Retângulo 375"/>
            <p:cNvSpPr/>
            <p:nvPr/>
          </p:nvSpPr>
          <p:spPr>
            <a:xfrm>
              <a:off x="3007226" y="5370920"/>
              <a:ext cx="2016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7" name="CaixaDeTexto 376"/>
            <p:cNvSpPr txBox="1"/>
            <p:nvPr/>
          </p:nvSpPr>
          <p:spPr>
            <a:xfrm>
              <a:off x="3007223" y="5361119"/>
              <a:ext cx="194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ct069 Grupos </a:t>
              </a:r>
              <a:r>
                <a:rPr lang="pt-PT" sz="1000" dirty="0"/>
                <a:t>(</a:t>
              </a:r>
              <a:r>
                <a:rPr lang="pt-PT" sz="1000" dirty="0">
                  <a:sym typeface="Wingdings" panose="05000000000000000000" pitchFamily="2" charset="2"/>
                </a:rPr>
                <a:t></a:t>
              </a:r>
              <a:r>
                <a:rPr lang="pt-PT" sz="1000" dirty="0"/>
                <a:t> ct826)</a:t>
              </a:r>
            </a:p>
          </p:txBody>
        </p:sp>
        <p:sp>
          <p:nvSpPr>
            <p:cNvPr id="378" name="Retângulo 377"/>
            <p:cNvSpPr/>
            <p:nvPr/>
          </p:nvSpPr>
          <p:spPr>
            <a:xfrm>
              <a:off x="3006595" y="5623047"/>
              <a:ext cx="2016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9" name="CaixaDeTexto 378"/>
            <p:cNvSpPr txBox="1"/>
            <p:nvPr/>
          </p:nvSpPr>
          <p:spPr>
            <a:xfrm>
              <a:off x="3006591" y="5613247"/>
              <a:ext cx="2016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/>
                <a:t>ct070 Grupos/Cliente </a:t>
              </a:r>
              <a:r>
                <a:rPr lang="pt-PT" sz="1000" dirty="0"/>
                <a:t>(</a:t>
              </a:r>
              <a:r>
                <a:rPr lang="pt-PT" sz="1000" dirty="0">
                  <a:sym typeface="Wingdings" panose="05000000000000000000" pitchFamily="2" charset="2"/>
                </a:rPr>
                <a:t></a:t>
              </a:r>
              <a:r>
                <a:rPr lang="pt-PT" sz="1000" dirty="0"/>
                <a:t> ct827)</a:t>
              </a:r>
            </a:p>
          </p:txBody>
        </p:sp>
      </p:grpSp>
      <p:cxnSp>
        <p:nvCxnSpPr>
          <p:cNvPr id="380" name="Conexão em ângulos retos 379"/>
          <p:cNvCxnSpPr>
            <a:stCxn id="378" idx="1"/>
            <a:endCxn id="377" idx="1"/>
          </p:cNvCxnSpPr>
          <p:nvPr/>
        </p:nvCxnSpPr>
        <p:spPr>
          <a:xfrm rot="10800000" flipH="1">
            <a:off x="592354" y="895135"/>
            <a:ext cx="628" cy="249428"/>
          </a:xfrm>
          <a:prstGeom prst="bentConnector3">
            <a:avLst>
              <a:gd name="adj1" fmla="val -3640127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Conexão em ângulos retos 381"/>
          <p:cNvCxnSpPr>
            <a:stCxn id="379" idx="3"/>
            <a:endCxn id="421" idx="1"/>
          </p:cNvCxnSpPr>
          <p:nvPr/>
        </p:nvCxnSpPr>
        <p:spPr>
          <a:xfrm>
            <a:off x="2608350" y="1147263"/>
            <a:ext cx="480296" cy="1983692"/>
          </a:xfrm>
          <a:prstGeom prst="bentConnector3">
            <a:avLst>
              <a:gd name="adj1" fmla="val 26202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2" name="Grupo 251"/>
          <p:cNvGrpSpPr/>
          <p:nvPr/>
        </p:nvGrpSpPr>
        <p:grpSpPr>
          <a:xfrm>
            <a:off x="10176460" y="458910"/>
            <a:ext cx="1847176" cy="1709088"/>
            <a:chOff x="10176460" y="458910"/>
            <a:chExt cx="1847176" cy="1709088"/>
          </a:xfrm>
        </p:grpSpPr>
        <p:grpSp>
          <p:nvGrpSpPr>
            <p:cNvPr id="324" name="Grupo 323"/>
            <p:cNvGrpSpPr/>
            <p:nvPr/>
          </p:nvGrpSpPr>
          <p:grpSpPr>
            <a:xfrm>
              <a:off x="10176460" y="458910"/>
              <a:ext cx="1847176" cy="1602105"/>
              <a:chOff x="2941190" y="470489"/>
              <a:chExt cx="1847176" cy="1602105"/>
            </a:xfrm>
          </p:grpSpPr>
          <p:sp>
            <p:nvSpPr>
              <p:cNvPr id="325" name="CaixaDeTexto 324"/>
              <p:cNvSpPr txBox="1"/>
              <p:nvPr/>
            </p:nvSpPr>
            <p:spPr>
              <a:xfrm>
                <a:off x="2941190" y="470489"/>
                <a:ext cx="18471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Parametrizações</a:t>
                </a:r>
                <a:endParaRPr lang="pt-PT" sz="1000" dirty="0"/>
              </a:p>
            </p:txBody>
          </p:sp>
          <p:sp>
            <p:nvSpPr>
              <p:cNvPr id="326" name="Fluxograma: subrotina 325"/>
              <p:cNvSpPr/>
              <p:nvPr/>
            </p:nvSpPr>
            <p:spPr>
              <a:xfrm>
                <a:off x="3013200" y="776555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ct006 Planos virtuais</a:t>
                </a:r>
              </a:p>
            </p:txBody>
          </p:sp>
          <p:sp>
            <p:nvSpPr>
              <p:cNvPr id="327" name="Fluxograma: subrotina 326"/>
              <p:cNvSpPr/>
              <p:nvPr/>
            </p:nvSpPr>
            <p:spPr>
              <a:xfrm>
                <a:off x="3013200" y="885002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ct010 Dimensões e </a:t>
                </a:r>
                <a:r>
                  <a:rPr lang="pt-PT" sz="8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hier</a:t>
                </a:r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</a:t>
                </a:r>
              </a:p>
            </p:txBody>
          </p:sp>
          <p:sp>
            <p:nvSpPr>
              <p:cNvPr id="328" name="Fluxograma: subrotina 327"/>
              <p:cNvSpPr/>
              <p:nvPr/>
            </p:nvSpPr>
            <p:spPr>
              <a:xfrm>
                <a:off x="3013200" y="992611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ct801 Filtro universo</a:t>
                </a:r>
              </a:p>
            </p:txBody>
          </p:sp>
          <p:sp>
            <p:nvSpPr>
              <p:cNvPr id="329" name="Fluxograma: subrotina 328"/>
              <p:cNvSpPr/>
              <p:nvPr/>
            </p:nvSpPr>
            <p:spPr>
              <a:xfrm>
                <a:off x="3013200" y="1100139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ct802 Códigos empresas</a:t>
                </a:r>
              </a:p>
            </p:txBody>
          </p:sp>
          <p:sp>
            <p:nvSpPr>
              <p:cNvPr id="330" name="Fluxograma: subrotina 329"/>
              <p:cNvSpPr/>
              <p:nvPr/>
            </p:nvSpPr>
            <p:spPr>
              <a:xfrm>
                <a:off x="3011788" y="1209295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ct803 Perímetros elegíveis</a:t>
                </a:r>
              </a:p>
            </p:txBody>
          </p:sp>
          <p:sp>
            <p:nvSpPr>
              <p:cNvPr id="331" name="Fluxograma: subrotina 330"/>
              <p:cNvSpPr/>
              <p:nvPr/>
            </p:nvSpPr>
            <p:spPr>
              <a:xfrm>
                <a:off x="3012300" y="1317445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ct804 Regras dimensões</a:t>
                </a:r>
              </a:p>
            </p:txBody>
          </p:sp>
          <p:sp>
            <p:nvSpPr>
              <p:cNvPr id="332" name="Fluxograma: subrotina 331"/>
              <p:cNvSpPr/>
              <p:nvPr/>
            </p:nvSpPr>
            <p:spPr>
              <a:xfrm>
                <a:off x="3011245" y="1424434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ct809 Contratos abatidos</a:t>
                </a:r>
              </a:p>
            </p:txBody>
          </p:sp>
          <p:sp>
            <p:nvSpPr>
              <p:cNvPr id="333" name="Fluxograma: subrotina 332"/>
              <p:cNvSpPr/>
              <p:nvPr/>
            </p:nvSpPr>
            <p:spPr>
              <a:xfrm>
                <a:off x="3011419" y="1532770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ct826 Grupos económicos</a:t>
                </a:r>
              </a:p>
            </p:txBody>
          </p:sp>
          <p:sp>
            <p:nvSpPr>
              <p:cNvPr id="334" name="Fluxograma: subrotina 333"/>
              <p:cNvSpPr/>
              <p:nvPr/>
            </p:nvSpPr>
            <p:spPr>
              <a:xfrm>
                <a:off x="3013200" y="1641093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ct827 Grupos / clientes</a:t>
                </a:r>
              </a:p>
            </p:txBody>
          </p:sp>
          <p:sp>
            <p:nvSpPr>
              <p:cNvPr id="335" name="Fluxograma: subrotina 334"/>
              <p:cNvSpPr/>
              <p:nvPr/>
            </p:nvSpPr>
            <p:spPr>
              <a:xfrm>
                <a:off x="3012479" y="1748453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ct828 Entidades / país</a:t>
                </a:r>
              </a:p>
            </p:txBody>
          </p:sp>
          <p:sp>
            <p:nvSpPr>
              <p:cNvPr id="336" name="Fluxograma: subrotina 335"/>
              <p:cNvSpPr/>
              <p:nvPr/>
            </p:nvSpPr>
            <p:spPr>
              <a:xfrm>
                <a:off x="3014070" y="1856774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ct850 Regras </a:t>
                </a:r>
                <a:r>
                  <a:rPr lang="pt-PT" sz="8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moyr</a:t>
                </a:r>
                <a:endPara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37" name="Fluxograma: subrotina 336"/>
              <p:cNvSpPr/>
              <p:nvPr/>
            </p:nvSpPr>
            <p:spPr>
              <a:xfrm>
                <a:off x="3012300" y="1964594"/>
                <a:ext cx="1548000" cy="108000"/>
              </a:xfrm>
              <a:prstGeom prst="flowChartPredefinedProcess">
                <a:avLst/>
              </a:prstGeom>
              <a:solidFill>
                <a:schemeClr val="bg1"/>
              </a:solidFill>
              <a:ln w="6350" cap="flat"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r>
                  <a:rPr lang="pt-P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ct852 Clientes manuais</a:t>
                </a:r>
              </a:p>
            </p:txBody>
          </p:sp>
        </p:grpSp>
        <p:sp>
          <p:nvSpPr>
            <p:cNvPr id="388" name="Fluxograma: subrotina 387"/>
            <p:cNvSpPr/>
            <p:nvPr/>
          </p:nvSpPr>
          <p:spPr>
            <a:xfrm>
              <a:off x="10246515" y="2059998"/>
              <a:ext cx="1548000" cy="108000"/>
            </a:xfrm>
            <a:prstGeom prst="flowChartPredefinedProcess">
              <a:avLst/>
            </a:prstGeom>
            <a:solidFill>
              <a:schemeClr val="bg1"/>
            </a:solidFill>
            <a:ln w="6350" cap="flat"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r>
                <a: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ct853 Classe de risco</a:t>
              </a:r>
            </a:p>
          </p:txBody>
        </p:sp>
      </p:grpSp>
      <p:sp>
        <p:nvSpPr>
          <p:cNvPr id="393" name="Fluxograma: subrotina 392"/>
          <p:cNvSpPr/>
          <p:nvPr/>
        </p:nvSpPr>
        <p:spPr>
          <a:xfrm>
            <a:off x="10246515" y="2167744"/>
            <a:ext cx="1548000" cy="108000"/>
          </a:xfrm>
          <a:prstGeom prst="flowChartPredefinedProcess">
            <a:avLst/>
          </a:prstGeom>
          <a:solidFill>
            <a:schemeClr val="bg1"/>
          </a:solidFill>
          <a:ln w="6350" cap="flat"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pt-PT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fr809 Project </a:t>
            </a:r>
            <a:r>
              <a:rPr lang="pt-PT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finance</a:t>
            </a:r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05" name="Grupo 204"/>
          <p:cNvGrpSpPr/>
          <p:nvPr/>
        </p:nvGrpSpPr>
        <p:grpSpPr>
          <a:xfrm>
            <a:off x="7548382" y="1894999"/>
            <a:ext cx="2240403" cy="953457"/>
            <a:chOff x="7548382" y="1894999"/>
            <a:chExt cx="2240403" cy="953457"/>
          </a:xfrm>
        </p:grpSpPr>
        <p:sp>
          <p:nvSpPr>
            <p:cNvPr id="253" name="Fluxograma: subrotina 252"/>
            <p:cNvSpPr/>
            <p:nvPr/>
          </p:nvSpPr>
          <p:spPr>
            <a:xfrm>
              <a:off x="7609312" y="2207456"/>
              <a:ext cx="1796400" cy="641000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9" name="Grupo 268"/>
            <p:cNvGrpSpPr/>
            <p:nvPr/>
          </p:nvGrpSpPr>
          <p:grpSpPr>
            <a:xfrm>
              <a:off x="7548382" y="1894999"/>
              <a:ext cx="2240403" cy="952400"/>
              <a:chOff x="7548382" y="1894999"/>
              <a:chExt cx="2240403" cy="952400"/>
            </a:xfrm>
          </p:grpSpPr>
          <p:sp>
            <p:nvSpPr>
              <p:cNvPr id="394" name="CaixaDeTexto 393"/>
              <p:cNvSpPr txBox="1"/>
              <p:nvPr/>
            </p:nvSpPr>
            <p:spPr>
              <a:xfrm>
                <a:off x="7804460" y="2209183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Plano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cod_plano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95" name="CaixaDeTexto 394"/>
              <p:cNvSpPr txBox="1"/>
              <p:nvPr/>
            </p:nvSpPr>
            <p:spPr>
              <a:xfrm>
                <a:off x="7548382" y="1894999"/>
                <a:ext cx="2240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Planos de contas </a:t>
                </a:r>
                <a:r>
                  <a:rPr lang="pt-PT" sz="1000" dirty="0"/>
                  <a:t>(fr802)</a:t>
                </a:r>
              </a:p>
            </p:txBody>
          </p:sp>
          <p:sp>
            <p:nvSpPr>
              <p:cNvPr id="397" name="CaixaDeTexto 396"/>
              <p:cNvSpPr txBox="1"/>
              <p:nvPr/>
            </p:nvSpPr>
            <p:spPr>
              <a:xfrm>
                <a:off x="7804460" y="2390400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Conta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contabil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(conta)</a:t>
                </a:r>
              </a:p>
            </p:txBody>
          </p:sp>
          <p:sp>
            <p:nvSpPr>
              <p:cNvPr id="398" name="CaixaDeTexto 397"/>
              <p:cNvSpPr txBox="1"/>
              <p:nvPr/>
            </p:nvSpPr>
            <p:spPr>
              <a:xfrm>
                <a:off x="7804460" y="2570400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</p:grpSp>
      <p:cxnSp>
        <p:nvCxnSpPr>
          <p:cNvPr id="255" name="Conexão em ângulos retos 254"/>
          <p:cNvCxnSpPr>
            <a:stCxn id="385" idx="1"/>
            <a:endCxn id="211" idx="3"/>
          </p:cNvCxnSpPr>
          <p:nvPr/>
        </p:nvCxnSpPr>
        <p:spPr>
          <a:xfrm rot="10800000" flipV="1">
            <a:off x="7218346" y="1348099"/>
            <a:ext cx="554941" cy="1143781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exão em ângulos retos 257"/>
          <p:cNvCxnSpPr>
            <a:stCxn id="387" idx="1"/>
            <a:endCxn id="210" idx="3"/>
          </p:cNvCxnSpPr>
          <p:nvPr/>
        </p:nvCxnSpPr>
        <p:spPr>
          <a:xfrm rot="10800000" flipV="1">
            <a:off x="7218345" y="1168100"/>
            <a:ext cx="554940" cy="1143526"/>
          </a:xfrm>
          <a:prstGeom prst="bentConnector3">
            <a:avLst>
              <a:gd name="adj1" fmla="val 38843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exão em ângulos retos 399"/>
          <p:cNvCxnSpPr>
            <a:stCxn id="141" idx="3"/>
            <a:endCxn id="397" idx="1"/>
          </p:cNvCxnSpPr>
          <p:nvPr/>
        </p:nvCxnSpPr>
        <p:spPr>
          <a:xfrm flipV="1">
            <a:off x="7217692" y="2528900"/>
            <a:ext cx="586768" cy="16704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Grupo 269"/>
          <p:cNvGrpSpPr/>
          <p:nvPr/>
        </p:nvGrpSpPr>
        <p:grpSpPr>
          <a:xfrm>
            <a:off x="2947258" y="452557"/>
            <a:ext cx="2485394" cy="935360"/>
            <a:chOff x="-1189109" y="1240154"/>
            <a:chExt cx="2485394" cy="935360"/>
          </a:xfrm>
        </p:grpSpPr>
        <p:sp>
          <p:nvSpPr>
            <p:cNvPr id="418" name="Fluxograma: subrotina 417"/>
            <p:cNvSpPr/>
            <p:nvPr/>
          </p:nvSpPr>
          <p:spPr>
            <a:xfrm>
              <a:off x="-1149666" y="1556121"/>
              <a:ext cx="1796400" cy="614731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09" name="Grupo 408"/>
            <p:cNvGrpSpPr/>
            <p:nvPr/>
          </p:nvGrpSpPr>
          <p:grpSpPr>
            <a:xfrm>
              <a:off x="-1189109" y="1240154"/>
              <a:ext cx="2485394" cy="935360"/>
              <a:chOff x="7571102" y="1912039"/>
              <a:chExt cx="2485394" cy="935360"/>
            </a:xfrm>
          </p:grpSpPr>
          <p:sp>
            <p:nvSpPr>
              <p:cNvPr id="415" name="CaixaDeTexto 414"/>
              <p:cNvSpPr txBox="1"/>
              <p:nvPr/>
            </p:nvSpPr>
            <p:spPr>
              <a:xfrm>
                <a:off x="7571102" y="1912039"/>
                <a:ext cx="24853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Catálogo Perímetros </a:t>
                </a:r>
                <a:r>
                  <a:rPr lang="pt-PT" sz="1000" dirty="0"/>
                  <a:t>(ct803)</a:t>
                </a:r>
              </a:p>
            </p:txBody>
          </p:sp>
          <p:sp>
            <p:nvSpPr>
              <p:cNvPr id="416" name="CaixaDeTexto 415"/>
              <p:cNvSpPr txBox="1"/>
              <p:nvPr/>
            </p:nvSpPr>
            <p:spPr>
              <a:xfrm>
                <a:off x="7804460" y="2390400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Plano contas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plano_contas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417" name="CaixaDeTexto 416"/>
              <p:cNvSpPr txBox="1"/>
              <p:nvPr/>
            </p:nvSpPr>
            <p:spPr>
              <a:xfrm>
                <a:off x="7804460" y="2570400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410" name="CaixaDeTexto 409"/>
              <p:cNvSpPr txBox="1"/>
              <p:nvPr/>
            </p:nvSpPr>
            <p:spPr>
              <a:xfrm>
                <a:off x="7804460" y="2209183"/>
                <a:ext cx="1602000" cy="276999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nome_perímetro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</p:grpSp>
      <p:cxnSp>
        <p:nvCxnSpPr>
          <p:cNvPr id="414" name="Conexão em ângulos retos 413"/>
          <p:cNvCxnSpPr>
            <a:stCxn id="410" idx="3"/>
            <a:endCxn id="120" idx="1"/>
          </p:cNvCxnSpPr>
          <p:nvPr/>
        </p:nvCxnSpPr>
        <p:spPr>
          <a:xfrm>
            <a:off x="4782616" y="888201"/>
            <a:ext cx="638342" cy="176975"/>
          </a:xfrm>
          <a:prstGeom prst="bentConnector3">
            <a:avLst>
              <a:gd name="adj1" fmla="val 2413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3" name="Grupo 422"/>
          <p:cNvGrpSpPr/>
          <p:nvPr/>
        </p:nvGrpSpPr>
        <p:grpSpPr>
          <a:xfrm>
            <a:off x="9824691" y="2337644"/>
            <a:ext cx="2052143" cy="1369782"/>
            <a:chOff x="5194800" y="4534017"/>
            <a:chExt cx="2052143" cy="1369782"/>
          </a:xfrm>
        </p:grpSpPr>
        <p:grpSp>
          <p:nvGrpSpPr>
            <p:cNvPr id="429" name="Grupo 428"/>
            <p:cNvGrpSpPr/>
            <p:nvPr/>
          </p:nvGrpSpPr>
          <p:grpSpPr>
            <a:xfrm>
              <a:off x="5194892" y="4796216"/>
              <a:ext cx="1980000" cy="276999"/>
              <a:chOff x="5194892" y="4796216"/>
              <a:chExt cx="1980000" cy="276999"/>
            </a:xfrm>
          </p:grpSpPr>
          <p:sp>
            <p:nvSpPr>
              <p:cNvPr id="440" name="Fluxograma: multidocumentos 439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441" name="CaixaDeTexto 440"/>
              <p:cNvSpPr txBox="1"/>
              <p:nvPr/>
            </p:nvSpPr>
            <p:spPr>
              <a:xfrm>
                <a:off x="5198066" y="47962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ct602 </a:t>
                </a:r>
                <a:r>
                  <a:rPr lang="pt-PT" sz="1200" dirty="0" err="1"/>
                  <a:t>Cargabal</a:t>
                </a:r>
                <a:endParaRPr lang="pt-PT" sz="1200" dirty="0"/>
              </a:p>
            </p:txBody>
          </p:sp>
        </p:grpSp>
        <p:sp>
          <p:nvSpPr>
            <p:cNvPr id="430" name="CaixaDeTexto 429"/>
            <p:cNvSpPr txBox="1"/>
            <p:nvPr/>
          </p:nvSpPr>
          <p:spPr>
            <a:xfrm>
              <a:off x="5198066" y="4534017"/>
              <a:ext cx="2048877" cy="30777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400" b="1" dirty="0"/>
                <a:t>(MA) Input Balancetes</a:t>
              </a:r>
              <a:endParaRPr lang="pt-PT" sz="1000" dirty="0"/>
            </a:p>
          </p:txBody>
        </p:sp>
        <p:grpSp>
          <p:nvGrpSpPr>
            <p:cNvPr id="431" name="Grupo 430"/>
            <p:cNvGrpSpPr/>
            <p:nvPr/>
          </p:nvGrpSpPr>
          <p:grpSpPr>
            <a:xfrm>
              <a:off x="5194800" y="5073018"/>
              <a:ext cx="1980000" cy="276999"/>
              <a:chOff x="5194892" y="4796216"/>
              <a:chExt cx="1980000" cy="276999"/>
            </a:xfrm>
          </p:grpSpPr>
          <p:sp>
            <p:nvSpPr>
              <p:cNvPr id="438" name="Fluxograma: multidocumentos 437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439" name="CaixaDeTexto 438"/>
              <p:cNvSpPr txBox="1"/>
              <p:nvPr/>
            </p:nvSpPr>
            <p:spPr>
              <a:xfrm>
                <a:off x="5198066" y="47962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ct603 BST Individual</a:t>
                </a:r>
              </a:p>
            </p:txBody>
          </p:sp>
        </p:grpSp>
        <p:grpSp>
          <p:nvGrpSpPr>
            <p:cNvPr id="432" name="Grupo 431"/>
            <p:cNvGrpSpPr/>
            <p:nvPr/>
          </p:nvGrpSpPr>
          <p:grpSpPr>
            <a:xfrm>
              <a:off x="5194800" y="5349600"/>
              <a:ext cx="1980000" cy="276999"/>
              <a:chOff x="5194892" y="4796216"/>
              <a:chExt cx="1980000" cy="276999"/>
            </a:xfrm>
          </p:grpSpPr>
          <p:sp>
            <p:nvSpPr>
              <p:cNvPr id="436" name="Fluxograma: multidocumentos 435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437" name="CaixaDeTexto 436"/>
              <p:cNvSpPr txBox="1"/>
              <p:nvPr/>
            </p:nvSpPr>
            <p:spPr>
              <a:xfrm>
                <a:off x="5198066" y="47962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ct604 BST </a:t>
                </a:r>
                <a:r>
                  <a:rPr lang="pt-PT" sz="1200" dirty="0" err="1"/>
                  <a:t>Consolid</a:t>
                </a:r>
                <a:r>
                  <a:rPr lang="pt-PT" sz="1200" dirty="0"/>
                  <a:t>.</a:t>
                </a:r>
              </a:p>
            </p:txBody>
          </p:sp>
        </p:grpSp>
        <p:grpSp>
          <p:nvGrpSpPr>
            <p:cNvPr id="433" name="Grupo 432"/>
            <p:cNvGrpSpPr/>
            <p:nvPr/>
          </p:nvGrpSpPr>
          <p:grpSpPr>
            <a:xfrm>
              <a:off x="5194800" y="5626800"/>
              <a:ext cx="1980000" cy="276999"/>
              <a:chOff x="5194892" y="4796216"/>
              <a:chExt cx="1980000" cy="276999"/>
            </a:xfrm>
          </p:grpSpPr>
          <p:sp>
            <p:nvSpPr>
              <p:cNvPr id="434" name="Fluxograma: multidocumentos 433"/>
              <p:cNvSpPr/>
              <p:nvPr/>
            </p:nvSpPr>
            <p:spPr>
              <a:xfrm>
                <a:off x="5194892" y="4806851"/>
                <a:ext cx="1980000" cy="252000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435" name="CaixaDeTexto 434"/>
              <p:cNvSpPr txBox="1"/>
              <p:nvPr/>
            </p:nvSpPr>
            <p:spPr>
              <a:xfrm>
                <a:off x="5198066" y="4796216"/>
                <a:ext cx="1908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/>
                  <a:t>ct605 SGPS </a:t>
                </a:r>
                <a:r>
                  <a:rPr lang="pt-PT" sz="1200" dirty="0" err="1"/>
                  <a:t>Consolid</a:t>
                </a:r>
                <a:r>
                  <a:rPr lang="pt-PT" sz="1200" dirty="0"/>
                  <a:t>.</a:t>
                </a:r>
              </a:p>
            </p:txBody>
          </p:sp>
        </p:grpSp>
      </p:grpSp>
      <p:cxnSp>
        <p:nvCxnSpPr>
          <p:cNvPr id="442" name="Conexão em ângulos retos 441"/>
          <p:cNvCxnSpPr>
            <a:stCxn id="443" idx="1"/>
            <a:endCxn id="317" idx="0"/>
          </p:cNvCxnSpPr>
          <p:nvPr/>
        </p:nvCxnSpPr>
        <p:spPr>
          <a:xfrm rot="10800000" flipV="1">
            <a:off x="8504410" y="3149026"/>
            <a:ext cx="1291009" cy="260758"/>
          </a:xfrm>
          <a:prstGeom prst="bentConnector2">
            <a:avLst/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3" name="CaixaDeTexto 442"/>
          <p:cNvSpPr txBox="1"/>
          <p:nvPr/>
        </p:nvSpPr>
        <p:spPr>
          <a:xfrm>
            <a:off x="9795418" y="2964360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sp>
        <p:nvSpPr>
          <p:cNvPr id="444" name="Fluxograma: multidocumentos 443"/>
          <p:cNvSpPr/>
          <p:nvPr/>
        </p:nvSpPr>
        <p:spPr>
          <a:xfrm>
            <a:off x="9117849" y="171322"/>
            <a:ext cx="504000" cy="108000"/>
          </a:xfrm>
          <a:prstGeom prst="flowChartMultidocumen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>
              <a:solidFill>
                <a:schemeClr val="bg1"/>
              </a:solidFill>
              <a:effectLst/>
            </a:endParaRPr>
          </a:p>
        </p:txBody>
      </p:sp>
      <p:sp>
        <p:nvSpPr>
          <p:cNvPr id="445" name="CaixaDeTexto 444"/>
          <p:cNvSpPr txBox="1"/>
          <p:nvPr/>
        </p:nvSpPr>
        <p:spPr>
          <a:xfrm>
            <a:off x="9633261" y="93094"/>
            <a:ext cx="828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Carga manual</a:t>
            </a:r>
          </a:p>
        </p:txBody>
      </p:sp>
      <p:sp>
        <p:nvSpPr>
          <p:cNvPr id="446" name="Retângulo 445"/>
          <p:cNvSpPr/>
          <p:nvPr/>
        </p:nvSpPr>
        <p:spPr>
          <a:xfrm>
            <a:off x="10733871" y="154152"/>
            <a:ext cx="504000" cy="10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800" b="0">
              <a:solidFill>
                <a:schemeClr val="tx1"/>
              </a:solidFill>
            </a:endParaRPr>
          </a:p>
        </p:txBody>
      </p:sp>
      <p:sp>
        <p:nvSpPr>
          <p:cNvPr id="448" name="CaixaDeTexto 447"/>
          <p:cNvSpPr txBox="1"/>
          <p:nvPr/>
        </p:nvSpPr>
        <p:spPr>
          <a:xfrm>
            <a:off x="11254710" y="88042"/>
            <a:ext cx="72917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Automático</a:t>
            </a:r>
          </a:p>
        </p:txBody>
      </p:sp>
      <p:sp>
        <p:nvSpPr>
          <p:cNvPr id="449" name="Fluxograma: subrotina 448"/>
          <p:cNvSpPr/>
          <p:nvPr/>
        </p:nvSpPr>
        <p:spPr>
          <a:xfrm>
            <a:off x="7295755" y="158948"/>
            <a:ext cx="504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51" name="CaixaDeTexto 450"/>
          <p:cNvSpPr txBox="1"/>
          <p:nvPr/>
        </p:nvSpPr>
        <p:spPr>
          <a:xfrm>
            <a:off x="7814470" y="90157"/>
            <a:ext cx="910996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Parametrização</a:t>
            </a:r>
          </a:p>
        </p:txBody>
      </p:sp>
      <p:sp>
        <p:nvSpPr>
          <p:cNvPr id="452" name="CaixaDeTexto 451"/>
          <p:cNvSpPr txBox="1"/>
          <p:nvPr/>
        </p:nvSpPr>
        <p:spPr>
          <a:xfrm>
            <a:off x="2844440" y="6220151"/>
            <a:ext cx="9051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AU</a:t>
            </a:r>
            <a:r>
              <a:rPr lang="pt-PT" sz="1200" dirty="0"/>
              <a:t>: gerado automaticamente; </a:t>
            </a:r>
            <a:r>
              <a:rPr lang="pt-PT" sz="1200" b="1" dirty="0"/>
              <a:t>UN:</a:t>
            </a:r>
            <a:r>
              <a:rPr lang="pt-PT" sz="1200" dirty="0"/>
              <a:t> gerado pelo módulo Universo; </a:t>
            </a:r>
            <a:r>
              <a:rPr lang="pt-PT" sz="1200" b="1" dirty="0"/>
              <a:t>FR:</a:t>
            </a:r>
            <a:r>
              <a:rPr lang="pt-PT" sz="1200" dirty="0"/>
              <a:t> gerado pelo módulo </a:t>
            </a:r>
            <a:r>
              <a:rPr lang="pt-PT" sz="1200" dirty="0" err="1"/>
              <a:t>Finrep</a:t>
            </a:r>
            <a:r>
              <a:rPr lang="pt-PT" sz="1200" dirty="0"/>
              <a:t>; </a:t>
            </a:r>
            <a:r>
              <a:rPr lang="pt-PT" sz="1200" b="1" dirty="0"/>
              <a:t>MA:</a:t>
            </a:r>
            <a:r>
              <a:rPr lang="pt-PT" sz="1200" dirty="0"/>
              <a:t> ficheiro carregado manualmente.</a:t>
            </a:r>
          </a:p>
        </p:txBody>
      </p:sp>
      <p:sp>
        <p:nvSpPr>
          <p:cNvPr id="454" name="Fluxograma: multidocumentos 453"/>
          <p:cNvSpPr/>
          <p:nvPr/>
        </p:nvSpPr>
        <p:spPr>
          <a:xfrm>
            <a:off x="9824691" y="3718800"/>
            <a:ext cx="1980000" cy="252000"/>
          </a:xfrm>
          <a:prstGeom prst="flowChartMultidocumen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 dirty="0">
              <a:solidFill>
                <a:sysClr val="windowText" lastClr="000000"/>
              </a:solidFill>
              <a:effectLst/>
            </a:endParaRPr>
          </a:p>
        </p:txBody>
      </p:sp>
      <p:sp>
        <p:nvSpPr>
          <p:cNvPr id="453" name="CaixaDeTexto 452"/>
          <p:cNvSpPr txBox="1"/>
          <p:nvPr/>
        </p:nvSpPr>
        <p:spPr>
          <a:xfrm>
            <a:off x="9827867" y="3702095"/>
            <a:ext cx="1908000" cy="276999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r>
              <a:rPr lang="pt-PT" sz="1200" dirty="0"/>
              <a:t>ct617 PCSB</a:t>
            </a:r>
          </a:p>
        </p:txBody>
      </p:sp>
      <p:grpSp>
        <p:nvGrpSpPr>
          <p:cNvPr id="305" name="Grupo 304"/>
          <p:cNvGrpSpPr/>
          <p:nvPr/>
        </p:nvGrpSpPr>
        <p:grpSpPr>
          <a:xfrm>
            <a:off x="2977533" y="5073591"/>
            <a:ext cx="2120356" cy="1078991"/>
            <a:chOff x="2977533" y="5092641"/>
            <a:chExt cx="2120356" cy="1078991"/>
          </a:xfrm>
        </p:grpSpPr>
        <p:grpSp>
          <p:nvGrpSpPr>
            <p:cNvPr id="460" name="Grupo 459"/>
            <p:cNvGrpSpPr/>
            <p:nvPr/>
          </p:nvGrpSpPr>
          <p:grpSpPr>
            <a:xfrm>
              <a:off x="2980674" y="5092641"/>
              <a:ext cx="2117215" cy="828614"/>
              <a:chOff x="3006591" y="5061632"/>
              <a:chExt cx="2117215" cy="828614"/>
            </a:xfrm>
          </p:grpSpPr>
          <p:sp>
            <p:nvSpPr>
              <p:cNvPr id="461" name="CaixaDeTexto 460"/>
              <p:cNvSpPr txBox="1"/>
              <p:nvPr/>
            </p:nvSpPr>
            <p:spPr>
              <a:xfrm>
                <a:off x="3007223" y="5061632"/>
                <a:ext cx="2116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(FR) Diversos</a:t>
                </a:r>
                <a:endParaRPr lang="pt-PT" sz="1000" dirty="0"/>
              </a:p>
            </p:txBody>
          </p:sp>
          <p:sp>
            <p:nvSpPr>
              <p:cNvPr id="463" name="Retângulo 462"/>
              <p:cNvSpPr/>
              <p:nvPr/>
            </p:nvSpPr>
            <p:spPr>
              <a:xfrm>
                <a:off x="3007226" y="5370920"/>
                <a:ext cx="2016000" cy="252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64" name="CaixaDeTexto 463"/>
              <p:cNvSpPr txBox="1"/>
              <p:nvPr/>
            </p:nvSpPr>
            <p:spPr>
              <a:xfrm>
                <a:off x="3007223" y="5356356"/>
                <a:ext cx="194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fr007 Abatidos </a:t>
                </a:r>
                <a:r>
                  <a:rPr lang="pt-PT" sz="1000" dirty="0"/>
                  <a:t>(</a:t>
                </a:r>
                <a:r>
                  <a:rPr lang="pt-PT" sz="1000" dirty="0">
                    <a:sym typeface="Wingdings" panose="05000000000000000000" pitchFamily="2" charset="2"/>
                  </a:rPr>
                  <a:t></a:t>
                </a:r>
                <a:r>
                  <a:rPr lang="pt-PT" sz="1000" dirty="0"/>
                  <a:t> fr602)</a:t>
                </a:r>
              </a:p>
            </p:txBody>
          </p:sp>
          <p:sp>
            <p:nvSpPr>
              <p:cNvPr id="465" name="Retângulo 464"/>
              <p:cNvSpPr/>
              <p:nvPr/>
            </p:nvSpPr>
            <p:spPr>
              <a:xfrm>
                <a:off x="3006595" y="5623047"/>
                <a:ext cx="2016000" cy="252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71" name="CaixaDeTexto 470"/>
              <p:cNvSpPr txBox="1"/>
              <p:nvPr/>
            </p:nvSpPr>
            <p:spPr>
              <a:xfrm>
                <a:off x="3006591" y="5613247"/>
                <a:ext cx="20135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fr008 Venda carteira </a:t>
                </a:r>
                <a:r>
                  <a:rPr lang="pt-PT" sz="1000" dirty="0"/>
                  <a:t>(</a:t>
                </a:r>
                <a:r>
                  <a:rPr lang="pt-PT" sz="1000" dirty="0">
                    <a:sym typeface="Wingdings" panose="05000000000000000000" pitchFamily="2" charset="2"/>
                  </a:rPr>
                  <a:t></a:t>
                </a:r>
                <a:r>
                  <a:rPr lang="pt-PT" sz="1000" dirty="0"/>
                  <a:t> fr603)</a:t>
                </a:r>
              </a:p>
            </p:txBody>
          </p:sp>
        </p:grpSp>
        <p:sp>
          <p:nvSpPr>
            <p:cNvPr id="479" name="Retângulo 478"/>
            <p:cNvSpPr/>
            <p:nvPr/>
          </p:nvSpPr>
          <p:spPr>
            <a:xfrm>
              <a:off x="2977533" y="5906184"/>
              <a:ext cx="2016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78" name="CaixaDeTexto 477"/>
            <p:cNvSpPr txBox="1"/>
            <p:nvPr/>
          </p:nvSpPr>
          <p:spPr>
            <a:xfrm>
              <a:off x="2980799" y="5894633"/>
              <a:ext cx="2012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fr009 Recuperações </a:t>
              </a:r>
              <a:r>
                <a:rPr lang="pt-PT" sz="1000" dirty="0"/>
                <a:t>(</a:t>
              </a:r>
              <a:r>
                <a:rPr lang="pt-PT" sz="1000" dirty="0">
                  <a:sym typeface="Wingdings" panose="05000000000000000000" pitchFamily="2" charset="2"/>
                </a:rPr>
                <a:t></a:t>
              </a:r>
              <a:r>
                <a:rPr lang="pt-PT" sz="1000" dirty="0"/>
                <a:t> fr601)</a:t>
              </a:r>
            </a:p>
          </p:txBody>
        </p:sp>
      </p:grpSp>
      <p:cxnSp>
        <p:nvCxnSpPr>
          <p:cNvPr id="480" name="Conexão em ângulos retos 479"/>
          <p:cNvCxnSpPr>
            <a:stCxn id="478" idx="3"/>
            <a:endCxn id="26" idx="1"/>
          </p:cNvCxnSpPr>
          <p:nvPr/>
        </p:nvCxnSpPr>
        <p:spPr>
          <a:xfrm flipV="1">
            <a:off x="4993532" y="3839301"/>
            <a:ext cx="429447" cy="2174782"/>
          </a:xfrm>
          <a:prstGeom prst="bentConnector3">
            <a:avLst>
              <a:gd name="adj1" fmla="val 7218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onexão em ângulos retos 480"/>
          <p:cNvCxnSpPr>
            <a:stCxn id="471" idx="3"/>
            <a:endCxn id="26" idx="1"/>
          </p:cNvCxnSpPr>
          <p:nvPr/>
        </p:nvCxnSpPr>
        <p:spPr>
          <a:xfrm flipV="1">
            <a:off x="4994192" y="3839302"/>
            <a:ext cx="428787" cy="1924404"/>
          </a:xfrm>
          <a:prstGeom prst="bentConnector3">
            <a:avLst>
              <a:gd name="adj1" fmla="val 7221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exão em ângulos retos 483"/>
          <p:cNvCxnSpPr>
            <a:stCxn id="463" idx="3"/>
            <a:endCxn id="26" idx="1"/>
          </p:cNvCxnSpPr>
          <p:nvPr/>
        </p:nvCxnSpPr>
        <p:spPr>
          <a:xfrm flipV="1">
            <a:off x="4997309" y="3839301"/>
            <a:ext cx="425670" cy="1669578"/>
          </a:xfrm>
          <a:prstGeom prst="bentConnector3">
            <a:avLst>
              <a:gd name="adj1" fmla="val 7237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upo 212"/>
          <p:cNvGrpSpPr/>
          <p:nvPr/>
        </p:nvGrpSpPr>
        <p:grpSpPr>
          <a:xfrm>
            <a:off x="391180" y="1513297"/>
            <a:ext cx="2304250" cy="1296699"/>
            <a:chOff x="361622" y="534591"/>
            <a:chExt cx="2304250" cy="1296699"/>
          </a:xfrm>
        </p:grpSpPr>
        <p:sp>
          <p:nvSpPr>
            <p:cNvPr id="214" name="Fluxograma: subrotina 213"/>
            <p:cNvSpPr/>
            <p:nvPr/>
          </p:nvSpPr>
          <p:spPr>
            <a:xfrm>
              <a:off x="361622" y="841290"/>
              <a:ext cx="2218451" cy="990000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CaixaDeTexto 214"/>
            <p:cNvSpPr txBox="1"/>
            <p:nvPr/>
          </p:nvSpPr>
          <p:spPr>
            <a:xfrm>
              <a:off x="368084" y="534591"/>
              <a:ext cx="22977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Códigos empresa </a:t>
              </a:r>
              <a:r>
                <a:rPr lang="pt-PT" sz="1000" dirty="0"/>
                <a:t>(ct802)</a:t>
              </a:r>
            </a:p>
          </p:txBody>
        </p:sp>
        <p:sp>
          <p:nvSpPr>
            <p:cNvPr id="219" name="CaixaDeTexto 218"/>
            <p:cNvSpPr txBox="1"/>
            <p:nvPr/>
          </p:nvSpPr>
          <p:spPr>
            <a:xfrm>
              <a:off x="610424" y="1176894"/>
              <a:ext cx="19692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/>
                <a:t>Cód. </a:t>
              </a:r>
              <a:r>
                <a:rPr lang="pt-PT" sz="1200" dirty="0" err="1"/>
                <a:t>Cargabal</a:t>
              </a:r>
              <a:r>
                <a:rPr lang="pt-PT" sz="800" dirty="0"/>
                <a:t> (</a:t>
              </a:r>
              <a:r>
                <a:rPr lang="pt-PT" sz="800" dirty="0" err="1"/>
                <a:t>codigo_espanha</a:t>
              </a:r>
              <a:r>
                <a:rPr lang="pt-PT" sz="800" dirty="0"/>
                <a:t>)</a:t>
              </a:r>
            </a:p>
          </p:txBody>
        </p:sp>
        <p:sp>
          <p:nvSpPr>
            <p:cNvPr id="220" name="CaixaDeTexto 219"/>
            <p:cNvSpPr txBox="1"/>
            <p:nvPr/>
          </p:nvSpPr>
          <p:spPr>
            <a:xfrm>
              <a:off x="610424" y="818140"/>
              <a:ext cx="1728000" cy="307777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Cempresa</a:t>
              </a:r>
              <a:r>
                <a:rPr lang="pt-PT" sz="1400" dirty="0">
                  <a:solidFill>
                    <a:schemeClr val="bg2">
                      <a:lumMod val="25000"/>
                    </a:schemeClr>
                  </a:solidFill>
                </a:rPr>
                <a:t> 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codigo_ics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1" name="CaixaDeTexto 220"/>
            <p:cNvSpPr txBox="1"/>
            <p:nvPr/>
          </p:nvSpPr>
          <p:spPr>
            <a:xfrm>
              <a:off x="610423" y="996894"/>
              <a:ext cx="196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 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codigo_local</a:t>
              </a:r>
              <a:r>
                <a:rPr lang="pt-PT" sz="14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2" name="CaixaDeTexto 221"/>
            <p:cNvSpPr txBox="1"/>
            <p:nvPr/>
          </p:nvSpPr>
          <p:spPr>
            <a:xfrm>
              <a:off x="612028" y="1536894"/>
              <a:ext cx="17647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3" name="CaixaDeTexto 222"/>
            <p:cNvSpPr txBox="1"/>
            <p:nvPr/>
          </p:nvSpPr>
          <p:spPr>
            <a:xfrm>
              <a:off x="610424" y="1356894"/>
              <a:ext cx="17647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s1emp</a:t>
              </a:r>
              <a:r>
                <a:rPr lang="pt-PT" sz="800" dirty="0"/>
                <a:t> (</a:t>
              </a:r>
              <a:r>
                <a:rPr lang="pt-PT" sz="800" dirty="0" err="1"/>
                <a:t>codigo_bdr</a:t>
              </a:r>
              <a:r>
                <a:rPr lang="pt-PT" sz="800" dirty="0"/>
                <a:t>)</a:t>
              </a:r>
            </a:p>
          </p:txBody>
        </p:sp>
      </p:grpSp>
      <p:cxnSp>
        <p:nvCxnSpPr>
          <p:cNvPr id="294" name="Conexão em ângulos retos 293"/>
          <p:cNvCxnSpPr>
            <a:stCxn id="221" idx="3"/>
            <a:endCxn id="426" idx="1"/>
          </p:cNvCxnSpPr>
          <p:nvPr/>
        </p:nvCxnSpPr>
        <p:spPr>
          <a:xfrm>
            <a:off x="2609181" y="2129489"/>
            <a:ext cx="466763" cy="8331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Grupo 227"/>
          <p:cNvGrpSpPr/>
          <p:nvPr/>
        </p:nvGrpSpPr>
        <p:grpSpPr>
          <a:xfrm>
            <a:off x="581857" y="4146242"/>
            <a:ext cx="2045488" cy="1104855"/>
            <a:chOff x="2971175" y="446590"/>
            <a:chExt cx="2045488" cy="1104855"/>
          </a:xfrm>
        </p:grpSpPr>
        <p:sp>
          <p:nvSpPr>
            <p:cNvPr id="229" name="Retângulo 228"/>
            <p:cNvSpPr/>
            <p:nvPr/>
          </p:nvSpPr>
          <p:spPr>
            <a:xfrm>
              <a:off x="2971175" y="755648"/>
              <a:ext cx="1796400" cy="7957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0" name="CaixaDeTexto 229"/>
            <p:cNvSpPr txBox="1"/>
            <p:nvPr/>
          </p:nvSpPr>
          <p:spPr>
            <a:xfrm>
              <a:off x="2982087" y="446590"/>
              <a:ext cx="2034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(UN) Contratos ms. </a:t>
              </a:r>
              <a:r>
                <a:rPr lang="pt-PT" sz="1000" dirty="0"/>
                <a:t>(ct004)</a:t>
              </a:r>
            </a:p>
          </p:txBody>
        </p:sp>
        <p:sp>
          <p:nvSpPr>
            <p:cNvPr id="231" name="CaixaDeTexto 230"/>
            <p:cNvSpPr txBox="1"/>
            <p:nvPr/>
          </p:nvSpPr>
          <p:spPr>
            <a:xfrm>
              <a:off x="2971501" y="913826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cbalcao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32" name="CaixaDeTexto 231"/>
            <p:cNvSpPr txBox="1"/>
            <p:nvPr/>
          </p:nvSpPr>
          <p:spPr>
            <a:xfrm>
              <a:off x="2972765" y="1274446"/>
              <a:ext cx="15292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33" name="CaixaDeTexto 232"/>
            <p:cNvSpPr txBox="1"/>
            <p:nvPr/>
          </p:nvSpPr>
          <p:spPr>
            <a:xfrm>
              <a:off x="2971987" y="1094446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235" name="CaixaDeTexto 234"/>
            <p:cNvSpPr txBox="1"/>
            <p:nvPr/>
          </p:nvSpPr>
          <p:spPr>
            <a:xfrm>
              <a:off x="2973600" y="733832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Cempresa</a:t>
              </a:r>
              <a:r>
                <a:rPr lang="pt-PT" sz="1200" dirty="0"/>
                <a:t> </a:t>
              </a:r>
              <a:r>
                <a:rPr lang="pt-PT" sz="800" dirty="0"/>
                <a:t>(</a:t>
              </a:r>
              <a:r>
                <a:rPr lang="pt-PT" sz="800" dirty="0" err="1"/>
                <a:t>cempresa</a:t>
              </a:r>
              <a:r>
                <a:rPr lang="pt-PT" sz="800" dirty="0"/>
                <a:t>)</a:t>
              </a:r>
            </a:p>
          </p:txBody>
        </p:sp>
      </p:grpSp>
      <p:cxnSp>
        <p:nvCxnSpPr>
          <p:cNvPr id="323" name="Conexão em ângulos retos 322"/>
          <p:cNvCxnSpPr>
            <a:stCxn id="88" idx="1"/>
            <a:endCxn id="233" idx="1"/>
          </p:cNvCxnSpPr>
          <p:nvPr/>
        </p:nvCxnSpPr>
        <p:spPr>
          <a:xfrm rot="10800000" flipH="1" flipV="1">
            <a:off x="576573" y="3761118"/>
            <a:ext cx="6095" cy="1171480"/>
          </a:xfrm>
          <a:prstGeom prst="bentConnector3">
            <a:avLst>
              <a:gd name="adj1" fmla="val -3750615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xão em ângulos retos 236"/>
          <p:cNvCxnSpPr>
            <a:stCxn id="235" idx="1"/>
            <a:endCxn id="220" idx="1"/>
          </p:cNvCxnSpPr>
          <p:nvPr/>
        </p:nvCxnSpPr>
        <p:spPr>
          <a:xfrm rot="10800000" flipH="1">
            <a:off x="584282" y="1950736"/>
            <a:ext cx="55700" cy="2621249"/>
          </a:xfrm>
          <a:prstGeom prst="bentConnector3">
            <a:avLst>
              <a:gd name="adj1" fmla="val -71084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exão em ângulos retos 181"/>
          <p:cNvCxnSpPr>
            <a:stCxn id="118" idx="1"/>
            <a:endCxn id="26" idx="1"/>
          </p:cNvCxnSpPr>
          <p:nvPr/>
        </p:nvCxnSpPr>
        <p:spPr>
          <a:xfrm rot="10800000" flipH="1" flipV="1">
            <a:off x="5420959" y="1245175"/>
            <a:ext cx="2019" cy="2594125"/>
          </a:xfrm>
          <a:prstGeom prst="bentConnector3">
            <a:avLst>
              <a:gd name="adj1" fmla="val -597573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Conexão em ângulos retos 391"/>
          <p:cNvCxnSpPr>
            <a:stCxn id="387" idx="1"/>
            <a:endCxn id="119" idx="3"/>
          </p:cNvCxnSpPr>
          <p:nvPr/>
        </p:nvCxnSpPr>
        <p:spPr>
          <a:xfrm rot="10800000">
            <a:off x="7220959" y="886296"/>
            <a:ext cx="552327" cy="281804"/>
          </a:xfrm>
          <a:prstGeom prst="bentConnector3">
            <a:avLst>
              <a:gd name="adj1" fmla="val 38791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Conexão em ângulos retos 395"/>
          <p:cNvCxnSpPr>
            <a:stCxn id="385" idx="1"/>
            <a:endCxn id="120" idx="3"/>
          </p:cNvCxnSpPr>
          <p:nvPr/>
        </p:nvCxnSpPr>
        <p:spPr>
          <a:xfrm rot="10800000">
            <a:off x="7220958" y="1065176"/>
            <a:ext cx="552328" cy="282924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xão em ângulos retos 108"/>
          <p:cNvCxnSpPr>
            <a:stCxn id="121" idx="1"/>
            <a:endCxn id="28" idx="1"/>
          </p:cNvCxnSpPr>
          <p:nvPr/>
        </p:nvCxnSpPr>
        <p:spPr>
          <a:xfrm rot="10800000" flipV="1">
            <a:off x="5417685" y="1425176"/>
            <a:ext cx="4880" cy="2595558"/>
          </a:xfrm>
          <a:prstGeom prst="bentConnector3">
            <a:avLst>
              <a:gd name="adj1" fmla="val 445911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upo 107"/>
          <p:cNvGrpSpPr/>
          <p:nvPr/>
        </p:nvGrpSpPr>
        <p:grpSpPr>
          <a:xfrm>
            <a:off x="2984548" y="1770500"/>
            <a:ext cx="2063994" cy="1894614"/>
            <a:chOff x="2984548" y="1757800"/>
            <a:chExt cx="2063994" cy="1894614"/>
          </a:xfrm>
        </p:grpSpPr>
        <p:sp>
          <p:nvSpPr>
            <p:cNvPr id="456" name="Retângulo 455"/>
            <p:cNvSpPr/>
            <p:nvPr/>
          </p:nvSpPr>
          <p:spPr>
            <a:xfrm>
              <a:off x="2984548" y="1757800"/>
              <a:ext cx="2009644" cy="1894614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1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grpSp>
          <p:nvGrpSpPr>
            <p:cNvPr id="101" name="Grupo 100"/>
            <p:cNvGrpSpPr/>
            <p:nvPr/>
          </p:nvGrpSpPr>
          <p:grpSpPr>
            <a:xfrm>
              <a:off x="3087100" y="2674166"/>
              <a:ext cx="1961442" cy="944508"/>
              <a:chOff x="3074400" y="2734491"/>
              <a:chExt cx="1961442" cy="944508"/>
            </a:xfrm>
          </p:grpSpPr>
          <p:sp>
            <p:nvSpPr>
              <p:cNvPr id="419" name="Retângulo 418"/>
              <p:cNvSpPr/>
              <p:nvPr/>
            </p:nvSpPr>
            <p:spPr>
              <a:xfrm>
                <a:off x="3075949" y="3052312"/>
                <a:ext cx="1796400" cy="60582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20" name="CaixaDeTexto 419"/>
              <p:cNvSpPr txBox="1"/>
              <p:nvPr/>
            </p:nvSpPr>
            <p:spPr>
              <a:xfrm>
                <a:off x="3075948" y="2734491"/>
                <a:ext cx="19598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(AU) Clientes </a:t>
                </a:r>
                <a:r>
                  <a:rPr lang="pt-PT" sz="1400" b="1" dirty="0" err="1"/>
                  <a:t>intrg</a:t>
                </a:r>
                <a:r>
                  <a:rPr lang="pt-PT" sz="1400" b="1" dirty="0"/>
                  <a:t>. </a:t>
                </a:r>
                <a:r>
                  <a:rPr lang="pt-PT" sz="1000" dirty="0"/>
                  <a:t>(N/A)</a:t>
                </a:r>
                <a:r>
                  <a:rPr lang="pt-PT" sz="1400" b="1" dirty="0"/>
                  <a:t> </a:t>
                </a:r>
                <a:endParaRPr lang="pt-PT" sz="1000" dirty="0"/>
              </a:p>
            </p:txBody>
          </p:sp>
          <p:sp>
            <p:nvSpPr>
              <p:cNvPr id="421" name="CaixaDeTexto 420"/>
              <p:cNvSpPr txBox="1"/>
              <p:nvPr/>
            </p:nvSpPr>
            <p:spPr>
              <a:xfrm>
                <a:off x="3075946" y="3040080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422" name="CaixaDeTexto 421"/>
              <p:cNvSpPr txBox="1"/>
              <p:nvPr/>
            </p:nvSpPr>
            <p:spPr>
              <a:xfrm>
                <a:off x="3075946" y="3220457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Entidade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consolpt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57" name="CaixaDeTexto 256"/>
              <p:cNvSpPr txBox="1"/>
              <p:nvPr/>
            </p:nvSpPr>
            <p:spPr>
              <a:xfrm>
                <a:off x="3074400" y="3402000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data_date_part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  <p:grpSp>
          <p:nvGrpSpPr>
            <p:cNvPr id="106" name="Grupo 105"/>
            <p:cNvGrpSpPr/>
            <p:nvPr/>
          </p:nvGrpSpPr>
          <p:grpSpPr>
            <a:xfrm>
              <a:off x="3075282" y="1763949"/>
              <a:ext cx="1856834" cy="936325"/>
              <a:chOff x="3075282" y="1862374"/>
              <a:chExt cx="1856834" cy="936325"/>
            </a:xfrm>
          </p:grpSpPr>
          <p:sp>
            <p:nvSpPr>
              <p:cNvPr id="424" name="Retângulo 423"/>
              <p:cNvSpPr/>
              <p:nvPr/>
            </p:nvSpPr>
            <p:spPr>
              <a:xfrm>
                <a:off x="3075947" y="2180195"/>
                <a:ext cx="1796400" cy="59530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25" name="CaixaDeTexto 424"/>
              <p:cNvSpPr txBox="1"/>
              <p:nvPr/>
            </p:nvSpPr>
            <p:spPr>
              <a:xfrm>
                <a:off x="3075946" y="1862374"/>
                <a:ext cx="185617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(AU) Perímetro </a:t>
                </a:r>
                <a:r>
                  <a:rPr lang="pt-PT" sz="1000" dirty="0"/>
                  <a:t>(N/A)</a:t>
                </a:r>
              </a:p>
            </p:txBody>
          </p:sp>
          <p:sp>
            <p:nvSpPr>
              <p:cNvPr id="426" name="CaixaDeTexto 425"/>
              <p:cNvSpPr txBox="1"/>
              <p:nvPr/>
            </p:nvSpPr>
            <p:spPr>
              <a:xfrm>
                <a:off x="3075944" y="2160025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Entidade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cod_soc_cpus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427" name="CaixaDeTexto 426"/>
              <p:cNvSpPr txBox="1"/>
              <p:nvPr/>
            </p:nvSpPr>
            <p:spPr>
              <a:xfrm>
                <a:off x="3075945" y="2341700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Definição Perímetros</a:t>
                </a:r>
              </a:p>
            </p:txBody>
          </p:sp>
          <p:sp>
            <p:nvSpPr>
              <p:cNvPr id="271" name="CaixaDeTexto 270"/>
              <p:cNvSpPr txBox="1"/>
              <p:nvPr/>
            </p:nvSpPr>
            <p:spPr>
              <a:xfrm>
                <a:off x="3075282" y="2521700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data_date_part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</p:grpSp>
      <p:cxnSp>
        <p:nvCxnSpPr>
          <p:cNvPr id="604" name="Conexão em ângulos retos 603"/>
          <p:cNvCxnSpPr>
            <a:stCxn id="88" idx="3"/>
            <a:endCxn id="421" idx="1"/>
          </p:cNvCxnSpPr>
          <p:nvPr/>
        </p:nvCxnSpPr>
        <p:spPr>
          <a:xfrm flipV="1">
            <a:off x="2376574" y="3130955"/>
            <a:ext cx="712072" cy="630163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exão em ângulos retos 260"/>
          <p:cNvCxnSpPr>
            <a:stCxn id="422" idx="3"/>
            <a:endCxn id="426" idx="3"/>
          </p:cNvCxnSpPr>
          <p:nvPr/>
        </p:nvCxnSpPr>
        <p:spPr>
          <a:xfrm flipH="1" flipV="1">
            <a:off x="4875944" y="2212800"/>
            <a:ext cx="12702" cy="1098532"/>
          </a:xfrm>
          <a:prstGeom prst="bentConnector3">
            <a:avLst>
              <a:gd name="adj1" fmla="val -1799717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xão em ângulos retos 246"/>
          <p:cNvCxnSpPr>
            <a:stCxn id="426" idx="3"/>
            <a:endCxn id="210" idx="1"/>
          </p:cNvCxnSpPr>
          <p:nvPr/>
        </p:nvCxnSpPr>
        <p:spPr>
          <a:xfrm>
            <a:off x="4875944" y="2212800"/>
            <a:ext cx="542401" cy="98826"/>
          </a:xfrm>
          <a:prstGeom prst="bentConnector3">
            <a:avLst>
              <a:gd name="adj1" fmla="val 44732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Grupo 177"/>
          <p:cNvGrpSpPr/>
          <p:nvPr/>
        </p:nvGrpSpPr>
        <p:grpSpPr>
          <a:xfrm>
            <a:off x="575250" y="5361939"/>
            <a:ext cx="2289770" cy="1211296"/>
            <a:chOff x="575250" y="5232403"/>
            <a:chExt cx="2289770" cy="1211296"/>
          </a:xfrm>
        </p:grpSpPr>
        <p:sp>
          <p:nvSpPr>
            <p:cNvPr id="344" name="CaixaDeTexto 343"/>
            <p:cNvSpPr txBox="1"/>
            <p:nvPr/>
          </p:nvSpPr>
          <p:spPr>
            <a:xfrm>
              <a:off x="575250" y="5232403"/>
              <a:ext cx="22897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(MA) Dicionário títulos </a:t>
              </a:r>
              <a:r>
                <a:rPr lang="pt-PT" sz="1000" dirty="0"/>
                <a:t>(ct610)</a:t>
              </a:r>
            </a:p>
          </p:txBody>
        </p:sp>
        <p:grpSp>
          <p:nvGrpSpPr>
            <p:cNvPr id="114" name="Grupo 113"/>
            <p:cNvGrpSpPr/>
            <p:nvPr/>
          </p:nvGrpSpPr>
          <p:grpSpPr>
            <a:xfrm>
              <a:off x="582282" y="5514741"/>
              <a:ext cx="1796400" cy="928958"/>
              <a:chOff x="582282" y="5514741"/>
              <a:chExt cx="1796400" cy="928958"/>
            </a:xfrm>
          </p:grpSpPr>
          <p:sp>
            <p:nvSpPr>
              <p:cNvPr id="339" name="Fluxograma: multidocumentos 338"/>
              <p:cNvSpPr/>
              <p:nvPr/>
            </p:nvSpPr>
            <p:spPr>
              <a:xfrm>
                <a:off x="582282" y="5514741"/>
                <a:ext cx="1796400" cy="917497"/>
              </a:xfrm>
              <a:prstGeom prst="flowChartMultidocumen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PT" sz="800" baseline="30000" dirty="0">
                  <a:solidFill>
                    <a:sysClr val="windowText" lastClr="000000"/>
                  </a:solidFill>
                  <a:effectLst/>
                </a:endParaRPr>
              </a:p>
            </p:txBody>
          </p:sp>
          <p:sp>
            <p:nvSpPr>
              <p:cNvPr id="340" name="CaixaDeTexto 339"/>
              <p:cNvSpPr txBox="1"/>
              <p:nvPr/>
            </p:nvSpPr>
            <p:spPr>
              <a:xfrm>
                <a:off x="591467" y="5805220"/>
                <a:ext cx="176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cbalcao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341" name="CaixaDeTexto 340"/>
              <p:cNvSpPr txBox="1"/>
              <p:nvPr/>
            </p:nvSpPr>
            <p:spPr>
              <a:xfrm>
                <a:off x="592731" y="6166700"/>
                <a:ext cx="176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43" name="CaixaDeTexto 342"/>
              <p:cNvSpPr txBox="1"/>
              <p:nvPr/>
            </p:nvSpPr>
            <p:spPr>
              <a:xfrm>
                <a:off x="591953" y="5986018"/>
                <a:ext cx="176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Cliente</a:t>
                </a:r>
                <a:r>
                  <a:rPr lang="pt-PT" sz="800" dirty="0"/>
                  <a:t> (</a:t>
                </a:r>
                <a:r>
                  <a:rPr lang="pt-PT" sz="800" dirty="0" err="1"/>
                  <a:t>zcliente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279" name="CaixaDeTexto 278"/>
              <p:cNvSpPr txBox="1"/>
              <p:nvPr/>
            </p:nvSpPr>
            <p:spPr>
              <a:xfrm>
                <a:off x="590400" y="5625500"/>
                <a:ext cx="15570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 err="1"/>
                  <a:t>Cempresa</a:t>
                </a:r>
                <a:r>
                  <a:rPr lang="pt-PT" sz="1200" dirty="0"/>
                  <a:t> </a:t>
                </a:r>
                <a:r>
                  <a:rPr lang="pt-PT" sz="800" dirty="0"/>
                  <a:t>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)</a:t>
                </a:r>
              </a:p>
            </p:txBody>
          </p:sp>
        </p:grpSp>
      </p:grpSp>
      <p:cxnSp>
        <p:nvCxnSpPr>
          <p:cNvPr id="173" name="Conexão em ângulos retos 172"/>
          <p:cNvCxnSpPr>
            <a:stCxn id="231" idx="1"/>
            <a:endCxn id="340" idx="1"/>
          </p:cNvCxnSpPr>
          <p:nvPr/>
        </p:nvCxnSpPr>
        <p:spPr>
          <a:xfrm rot="10800000" flipH="1" flipV="1">
            <a:off x="582183" y="4751978"/>
            <a:ext cx="9284" cy="1321278"/>
          </a:xfrm>
          <a:prstGeom prst="bentConnector3">
            <a:avLst>
              <a:gd name="adj1" fmla="val -4329147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Grupo 198"/>
          <p:cNvGrpSpPr/>
          <p:nvPr/>
        </p:nvGrpSpPr>
        <p:grpSpPr>
          <a:xfrm>
            <a:off x="5413761" y="3396376"/>
            <a:ext cx="1838666" cy="1481425"/>
            <a:chOff x="5413761" y="3396376"/>
            <a:chExt cx="1838666" cy="1481425"/>
          </a:xfrm>
        </p:grpSpPr>
        <p:grpSp>
          <p:nvGrpSpPr>
            <p:cNvPr id="24" name="Grupo 23"/>
            <p:cNvGrpSpPr/>
            <p:nvPr/>
          </p:nvGrpSpPr>
          <p:grpSpPr>
            <a:xfrm>
              <a:off x="5417685" y="3396376"/>
              <a:ext cx="1834742" cy="1481425"/>
              <a:chOff x="4966835" y="2282615"/>
              <a:chExt cx="1834742" cy="1346747"/>
            </a:xfrm>
          </p:grpSpPr>
          <p:sp>
            <p:nvSpPr>
              <p:cNvPr id="4" name="Retângulo 3"/>
              <p:cNvSpPr/>
              <p:nvPr/>
            </p:nvSpPr>
            <p:spPr>
              <a:xfrm>
                <a:off x="4966838" y="2579521"/>
                <a:ext cx="1797844" cy="1049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4971032" y="2282615"/>
                <a:ext cx="1801575" cy="27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Saldos ms. </a:t>
                </a:r>
                <a:r>
                  <a:rPr lang="pt-PT" sz="1000" dirty="0"/>
                  <a:t>(ct001)</a:t>
                </a:r>
              </a:p>
            </p:txBody>
          </p:sp>
          <p:sp>
            <p:nvSpPr>
              <p:cNvPr id="26" name="CaixaDeTexto 25"/>
              <p:cNvSpPr txBox="1"/>
              <p:nvPr/>
            </p:nvSpPr>
            <p:spPr>
              <a:xfrm>
                <a:off x="4972129" y="2559365"/>
                <a:ext cx="1759682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28" name="CaixaDeTexto 27"/>
              <p:cNvSpPr txBox="1"/>
              <p:nvPr/>
            </p:nvSpPr>
            <p:spPr>
              <a:xfrm>
                <a:off x="4966835" y="2724304"/>
                <a:ext cx="1758078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9" name="CaixaDeTexto 28"/>
              <p:cNvSpPr txBox="1"/>
              <p:nvPr/>
            </p:nvSpPr>
            <p:spPr>
              <a:xfrm>
                <a:off x="4966835" y="3377545"/>
                <a:ext cx="1670847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41" name="CaixaDeTexto 140"/>
              <p:cNvSpPr txBox="1"/>
              <p:nvPr/>
            </p:nvSpPr>
            <p:spPr>
              <a:xfrm>
                <a:off x="4966842" y="2886637"/>
                <a:ext cx="1800000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Conta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contabil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ccontab_x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42" name="CaixaDeTexto 141"/>
              <p:cNvSpPr txBox="1"/>
              <p:nvPr/>
            </p:nvSpPr>
            <p:spPr>
              <a:xfrm>
                <a:off x="4966872" y="3050273"/>
                <a:ext cx="1834705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Soc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Cntp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sociedade_contraparte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99" name="CaixaDeTexto 298"/>
            <p:cNvSpPr txBox="1"/>
            <p:nvPr/>
          </p:nvSpPr>
          <p:spPr>
            <a:xfrm>
              <a:off x="5413761" y="4420800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Cgrupoic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cgrupoic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00" name="Grupo 299"/>
          <p:cNvGrpSpPr/>
          <p:nvPr/>
        </p:nvGrpSpPr>
        <p:grpSpPr>
          <a:xfrm>
            <a:off x="5409382" y="5184687"/>
            <a:ext cx="2731433" cy="928196"/>
            <a:chOff x="7393605" y="435892"/>
            <a:chExt cx="2731433" cy="928196"/>
          </a:xfrm>
        </p:grpSpPr>
        <p:grpSp>
          <p:nvGrpSpPr>
            <p:cNvPr id="302" name="Grupo 301"/>
            <p:cNvGrpSpPr/>
            <p:nvPr/>
          </p:nvGrpSpPr>
          <p:grpSpPr>
            <a:xfrm>
              <a:off x="7393605" y="435892"/>
              <a:ext cx="2731433" cy="912164"/>
              <a:chOff x="3007223" y="5061632"/>
              <a:chExt cx="2731433" cy="912164"/>
            </a:xfrm>
          </p:grpSpPr>
          <p:sp>
            <p:nvSpPr>
              <p:cNvPr id="306" name="CaixaDeTexto 305"/>
              <p:cNvSpPr txBox="1"/>
              <p:nvPr/>
            </p:nvSpPr>
            <p:spPr>
              <a:xfrm>
                <a:off x="3007223" y="5061632"/>
                <a:ext cx="27314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(AU) C. </a:t>
                </a:r>
                <a:r>
                  <a:rPr lang="pt-PT" sz="1400" b="1" dirty="0" err="1"/>
                  <a:t>Cgrupoic</a:t>
                </a:r>
                <a:r>
                  <a:rPr lang="pt-PT" sz="1400" b="1" dirty="0"/>
                  <a:t> </a:t>
                </a:r>
                <a:r>
                  <a:rPr lang="pt-PT" sz="1000" dirty="0"/>
                  <a:t>(tat91_026)</a:t>
                </a:r>
                <a:endParaRPr lang="pt-PT" sz="1200" b="1" baseline="30000" dirty="0"/>
              </a:p>
            </p:txBody>
          </p:sp>
          <p:sp>
            <p:nvSpPr>
              <p:cNvPr id="307" name="Retângulo 306"/>
              <p:cNvSpPr/>
              <p:nvPr/>
            </p:nvSpPr>
            <p:spPr>
              <a:xfrm>
                <a:off x="3015841" y="5370919"/>
                <a:ext cx="1796400" cy="60287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08" name="CaixaDeTexto 307"/>
              <p:cNvSpPr txBox="1"/>
              <p:nvPr/>
            </p:nvSpPr>
            <p:spPr>
              <a:xfrm>
                <a:off x="3012241" y="5351593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200" dirty="0" err="1"/>
                  <a:t>Cgrupoic</a:t>
                </a:r>
                <a:r>
                  <a:rPr lang="pt-PT" sz="1200" dirty="0"/>
                  <a:t> </a:t>
                </a:r>
                <a:r>
                  <a:rPr lang="pt-PT" sz="800" dirty="0"/>
                  <a:t>(</a:t>
                </a:r>
                <a:r>
                  <a:rPr lang="en-US" sz="800" dirty="0"/>
                  <a:t>tayd91c0_celemtab</a:t>
                </a:r>
                <a:r>
                  <a:rPr lang="pt-PT" sz="800" dirty="0"/>
                  <a:t>)</a:t>
                </a:r>
              </a:p>
            </p:txBody>
          </p:sp>
        </p:grpSp>
        <p:sp>
          <p:nvSpPr>
            <p:cNvPr id="303" name="CaixaDeTexto 302"/>
            <p:cNvSpPr txBox="1"/>
            <p:nvPr/>
          </p:nvSpPr>
          <p:spPr>
            <a:xfrm>
              <a:off x="7398623" y="907089"/>
              <a:ext cx="1625318" cy="276999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/>
                <a:t>Nome </a:t>
              </a:r>
              <a:r>
                <a:rPr lang="pt-PT" sz="800" dirty="0"/>
                <a:t>(</a:t>
              </a:r>
              <a:r>
                <a:rPr lang="en-US" sz="800" dirty="0"/>
                <a:t>tayd91c0_gelemtab</a:t>
              </a:r>
              <a:r>
                <a:rPr lang="pt-PT" sz="800" dirty="0"/>
                <a:t>)</a:t>
              </a:r>
            </a:p>
          </p:txBody>
        </p:sp>
        <p:sp>
          <p:nvSpPr>
            <p:cNvPr id="304" name="CaixaDeTexto 303"/>
            <p:cNvSpPr txBox="1"/>
            <p:nvPr/>
          </p:nvSpPr>
          <p:spPr>
            <a:xfrm>
              <a:off x="7398623" y="1087089"/>
              <a:ext cx="16691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Data </a:t>
              </a:r>
              <a:r>
                <a:rPr lang="pt-PT" sz="800" dirty="0"/>
                <a:t>(</a:t>
              </a:r>
              <a:r>
                <a:rPr lang="en-US" sz="800" dirty="0" err="1"/>
                <a:t>data_date_part</a:t>
              </a:r>
              <a:r>
                <a:rPr lang="pt-PT" sz="800" dirty="0"/>
                <a:t>)</a:t>
              </a:r>
              <a:r>
                <a:rPr lang="pt-PT" sz="1200" dirty="0"/>
                <a:t> </a:t>
              </a:r>
              <a:r>
                <a:rPr lang="pt-PT" sz="1200" b="1" baseline="30000" dirty="0"/>
                <a:t>(1)</a:t>
              </a:r>
              <a:endParaRPr lang="pt-PT" sz="1200" b="1" dirty="0"/>
            </a:p>
          </p:txBody>
        </p:sp>
      </p:grpSp>
      <p:sp>
        <p:nvSpPr>
          <p:cNvPr id="310" name="CaixaDeTexto 309"/>
          <p:cNvSpPr txBox="1"/>
          <p:nvPr/>
        </p:nvSpPr>
        <p:spPr>
          <a:xfrm>
            <a:off x="2850484" y="6394417"/>
            <a:ext cx="8710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baseline="30000" dirty="0"/>
              <a:t>(1)</a:t>
            </a:r>
            <a:r>
              <a:rPr lang="pt-PT" sz="1200" dirty="0"/>
              <a:t> Esta tabela só têm a ‘</a:t>
            </a:r>
            <a:r>
              <a:rPr lang="pt-PT" sz="1200" dirty="0" err="1"/>
              <a:t>data_date_part</a:t>
            </a:r>
            <a:r>
              <a:rPr lang="pt-PT" sz="1200" dirty="0"/>
              <a:t>’ do dia mais recente, pelo que não se deve fixar este campo ou ligar com o de outras tabelas.</a:t>
            </a:r>
          </a:p>
        </p:txBody>
      </p:sp>
      <p:cxnSp>
        <p:nvCxnSpPr>
          <p:cNvPr id="345" name="Conexão em ângulos retos 344"/>
          <p:cNvCxnSpPr>
            <a:stCxn id="421" idx="3"/>
            <a:endCxn id="28" idx="1"/>
          </p:cNvCxnSpPr>
          <p:nvPr/>
        </p:nvCxnSpPr>
        <p:spPr>
          <a:xfrm>
            <a:off x="4888646" y="3130955"/>
            <a:ext cx="529039" cy="889780"/>
          </a:xfrm>
          <a:prstGeom prst="bentConnector3">
            <a:avLst>
              <a:gd name="adj1" fmla="val 59452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xão em ângulos retos 239"/>
          <p:cNvCxnSpPr>
            <a:stCxn id="219" idx="3"/>
            <a:endCxn id="426" idx="1"/>
          </p:cNvCxnSpPr>
          <p:nvPr/>
        </p:nvCxnSpPr>
        <p:spPr>
          <a:xfrm flipV="1">
            <a:off x="2609182" y="2212800"/>
            <a:ext cx="466762" cy="813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exão em ângulos retos 353"/>
          <p:cNvCxnSpPr>
            <a:stCxn id="308" idx="3"/>
            <a:endCxn id="299" idx="3"/>
          </p:cNvCxnSpPr>
          <p:nvPr/>
        </p:nvCxnSpPr>
        <p:spPr>
          <a:xfrm flipH="1" flipV="1">
            <a:off x="7213761" y="4559300"/>
            <a:ext cx="639" cy="1053848"/>
          </a:xfrm>
          <a:prstGeom prst="bentConnector3">
            <a:avLst>
              <a:gd name="adj1" fmla="val -31600939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Conexão em ângulos retos 595"/>
          <p:cNvCxnSpPr>
            <a:stCxn id="231" idx="3"/>
            <a:endCxn id="26" idx="1"/>
          </p:cNvCxnSpPr>
          <p:nvPr/>
        </p:nvCxnSpPr>
        <p:spPr>
          <a:xfrm flipV="1">
            <a:off x="2382183" y="3839302"/>
            <a:ext cx="3040796" cy="912676"/>
          </a:xfrm>
          <a:prstGeom prst="bentConnector3">
            <a:avLst>
              <a:gd name="adj1" fmla="val 8333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31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45912" y="0"/>
            <a:ext cx="61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rgbClr val="FF0000"/>
                </a:solidFill>
              </a:rPr>
              <a:t>MODELO RELACIONAL - FINREP (DATA LAKE)</a:t>
            </a:r>
          </a:p>
        </p:txBody>
      </p:sp>
      <p:sp>
        <p:nvSpPr>
          <p:cNvPr id="3" name="Fluxograma: multidocumentos 2"/>
          <p:cNvSpPr/>
          <p:nvPr/>
        </p:nvSpPr>
        <p:spPr>
          <a:xfrm>
            <a:off x="9117849" y="171322"/>
            <a:ext cx="504000" cy="108000"/>
          </a:xfrm>
          <a:prstGeom prst="flowChartMultidocumen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PT" sz="800" baseline="30000">
              <a:solidFill>
                <a:schemeClr val="bg1"/>
              </a:solidFill>
              <a:effectLst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9633261" y="93094"/>
            <a:ext cx="828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Carga manual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733871" y="154152"/>
            <a:ext cx="504000" cy="10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PT" sz="800" b="0">
              <a:solidFill>
                <a:schemeClr val="tx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1254710" y="88042"/>
            <a:ext cx="72917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Automático</a:t>
            </a:r>
          </a:p>
        </p:txBody>
      </p:sp>
      <p:sp>
        <p:nvSpPr>
          <p:cNvPr id="7" name="Fluxograma: subrotina 6"/>
          <p:cNvSpPr/>
          <p:nvPr/>
        </p:nvSpPr>
        <p:spPr>
          <a:xfrm>
            <a:off x="7295755" y="158948"/>
            <a:ext cx="504000" cy="108000"/>
          </a:xfrm>
          <a:prstGeom prst="flowChartPredefinedProcess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endParaRPr lang="pt-PT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814470" y="90157"/>
            <a:ext cx="910996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pt-PT" sz="1000" dirty="0"/>
              <a:t>Parametrização</a:t>
            </a:r>
          </a:p>
        </p:txBody>
      </p:sp>
      <p:sp>
        <p:nvSpPr>
          <p:cNvPr id="9" name="Retângulo 8"/>
          <p:cNvSpPr/>
          <p:nvPr/>
        </p:nvSpPr>
        <p:spPr>
          <a:xfrm>
            <a:off x="2866391" y="418830"/>
            <a:ext cx="9117489" cy="580275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400"/>
          </a:p>
        </p:txBody>
      </p:sp>
      <p:grpSp>
        <p:nvGrpSpPr>
          <p:cNvPr id="88" name="Grupo 87"/>
          <p:cNvGrpSpPr/>
          <p:nvPr/>
        </p:nvGrpSpPr>
        <p:grpSpPr>
          <a:xfrm>
            <a:off x="5760900" y="586801"/>
            <a:ext cx="2133636" cy="1285400"/>
            <a:chOff x="5414464" y="456799"/>
            <a:chExt cx="2133636" cy="1285400"/>
          </a:xfrm>
        </p:grpSpPr>
        <p:grpSp>
          <p:nvGrpSpPr>
            <p:cNvPr id="89" name="Grupo 88"/>
            <p:cNvGrpSpPr/>
            <p:nvPr/>
          </p:nvGrpSpPr>
          <p:grpSpPr>
            <a:xfrm>
              <a:off x="5414464" y="456799"/>
              <a:ext cx="2133636" cy="1280619"/>
              <a:chOff x="2839978" y="600291"/>
              <a:chExt cx="2133636" cy="1280619"/>
            </a:xfrm>
          </p:grpSpPr>
          <p:sp>
            <p:nvSpPr>
              <p:cNvPr id="91" name="Retângulo 90"/>
              <p:cNvSpPr/>
              <p:nvPr/>
            </p:nvSpPr>
            <p:spPr>
              <a:xfrm>
                <a:off x="2839978" y="908589"/>
                <a:ext cx="1796400" cy="97232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92" name="CaixaDeTexto 91"/>
              <p:cNvSpPr txBox="1"/>
              <p:nvPr/>
            </p:nvSpPr>
            <p:spPr>
              <a:xfrm>
                <a:off x="2846473" y="600291"/>
                <a:ext cx="21271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(FR) Perímetros </a:t>
                </a:r>
                <a:r>
                  <a:rPr lang="pt-PT" sz="1000" dirty="0"/>
                  <a:t>(fr005)</a:t>
                </a:r>
              </a:p>
            </p:txBody>
          </p:sp>
          <p:sp>
            <p:nvSpPr>
              <p:cNvPr id="93" name="CaixaDeTexto 92"/>
              <p:cNvSpPr txBox="1"/>
              <p:nvPr/>
            </p:nvSpPr>
            <p:spPr>
              <a:xfrm>
                <a:off x="2839978" y="1250168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94" name="CaixaDeTexto 93"/>
              <p:cNvSpPr txBox="1"/>
              <p:nvPr/>
            </p:nvSpPr>
            <p:spPr>
              <a:xfrm>
                <a:off x="2839978" y="89128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Entidade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(entidade)</a:t>
                </a:r>
              </a:p>
            </p:txBody>
          </p:sp>
          <p:sp>
            <p:nvSpPr>
              <p:cNvPr id="95" name="CaixaDeTexto 94"/>
              <p:cNvSpPr txBox="1"/>
              <p:nvPr/>
            </p:nvSpPr>
            <p:spPr>
              <a:xfrm>
                <a:off x="2839978" y="107016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Perímetro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nome_perímetro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96" name="CaixaDeTexto 95"/>
              <p:cNvSpPr txBox="1"/>
              <p:nvPr/>
            </p:nvSpPr>
            <p:spPr>
              <a:xfrm>
                <a:off x="2839978" y="1430168"/>
                <a:ext cx="14288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  <p:sp>
          <p:nvSpPr>
            <p:cNvPr id="90" name="CaixaDeTexto 89"/>
            <p:cNvSpPr txBox="1"/>
            <p:nvPr/>
          </p:nvSpPr>
          <p:spPr>
            <a:xfrm>
              <a:off x="5414464" y="1465200"/>
              <a:ext cx="14288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106" name="Grupo 105"/>
          <p:cNvGrpSpPr/>
          <p:nvPr/>
        </p:nvGrpSpPr>
        <p:grpSpPr>
          <a:xfrm>
            <a:off x="5760585" y="1956088"/>
            <a:ext cx="1834742" cy="1301424"/>
            <a:chOff x="4966835" y="2282615"/>
            <a:chExt cx="1834742" cy="1183110"/>
          </a:xfrm>
        </p:grpSpPr>
        <p:sp>
          <p:nvSpPr>
            <p:cNvPr id="108" name="Retângulo 107"/>
            <p:cNvSpPr/>
            <p:nvPr/>
          </p:nvSpPr>
          <p:spPr>
            <a:xfrm>
              <a:off x="4966838" y="2579522"/>
              <a:ext cx="1797844" cy="88620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9" name="CaixaDeTexto 108"/>
            <p:cNvSpPr txBox="1"/>
            <p:nvPr/>
          </p:nvSpPr>
          <p:spPr>
            <a:xfrm>
              <a:off x="4971032" y="2282615"/>
              <a:ext cx="1801575" cy="279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(FR) Saldos </a:t>
              </a:r>
              <a:r>
                <a:rPr lang="pt-PT" sz="1000" dirty="0"/>
                <a:t>(fr001)</a:t>
              </a:r>
            </a:p>
          </p:txBody>
        </p:sp>
        <p:sp>
          <p:nvSpPr>
            <p:cNvPr id="110" name="CaixaDeTexto 109"/>
            <p:cNvSpPr txBox="1"/>
            <p:nvPr/>
          </p:nvSpPr>
          <p:spPr>
            <a:xfrm>
              <a:off x="4972129" y="2559365"/>
              <a:ext cx="1759682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111" name="CaixaDeTexto 110"/>
            <p:cNvSpPr txBox="1"/>
            <p:nvPr/>
          </p:nvSpPr>
          <p:spPr>
            <a:xfrm>
              <a:off x="4966835" y="2724304"/>
              <a:ext cx="1758078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12" name="CaixaDeTexto 111"/>
            <p:cNvSpPr txBox="1"/>
            <p:nvPr/>
          </p:nvSpPr>
          <p:spPr>
            <a:xfrm>
              <a:off x="4966835" y="3213907"/>
              <a:ext cx="1670847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13" name="CaixaDeTexto 112"/>
            <p:cNvSpPr txBox="1"/>
            <p:nvPr/>
          </p:nvSpPr>
          <p:spPr>
            <a:xfrm>
              <a:off x="4966842" y="2886637"/>
              <a:ext cx="180000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contabil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ccontab_x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4966872" y="3050273"/>
              <a:ext cx="1834705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Soc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Cntp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sociedade_contraparte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115" name="Conexão em ângulos retos 114"/>
          <p:cNvCxnSpPr>
            <a:stCxn id="96" idx="1"/>
            <a:endCxn id="111" idx="1"/>
          </p:cNvCxnSpPr>
          <p:nvPr/>
        </p:nvCxnSpPr>
        <p:spPr>
          <a:xfrm rot="10800000" flipV="1">
            <a:off x="5760586" y="1555177"/>
            <a:ext cx="315" cy="1025269"/>
          </a:xfrm>
          <a:prstGeom prst="bentConnector3">
            <a:avLst>
              <a:gd name="adj1" fmla="val 7267142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xão em ângulos retos 117"/>
          <p:cNvCxnSpPr>
            <a:stCxn id="93" idx="1"/>
            <a:endCxn id="110" idx="1"/>
          </p:cNvCxnSpPr>
          <p:nvPr/>
        </p:nvCxnSpPr>
        <p:spPr>
          <a:xfrm rot="10800000" flipH="1" flipV="1">
            <a:off x="5760899" y="1375178"/>
            <a:ext cx="4979" cy="1023836"/>
          </a:xfrm>
          <a:prstGeom prst="bentConnector3">
            <a:avLst>
              <a:gd name="adj1" fmla="val -7952219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2" name="Grupo 121"/>
          <p:cNvGrpSpPr/>
          <p:nvPr/>
        </p:nvGrpSpPr>
        <p:grpSpPr>
          <a:xfrm>
            <a:off x="8126635" y="556921"/>
            <a:ext cx="1178956" cy="1075585"/>
            <a:chOff x="10465832" y="1711012"/>
            <a:chExt cx="1178956" cy="1075585"/>
          </a:xfrm>
        </p:grpSpPr>
        <p:sp>
          <p:nvSpPr>
            <p:cNvPr id="123" name="Retângulo 122"/>
            <p:cNvSpPr/>
            <p:nvPr/>
          </p:nvSpPr>
          <p:spPr>
            <a:xfrm>
              <a:off x="10465832" y="1711012"/>
              <a:ext cx="1178956" cy="1075585"/>
            </a:xfrm>
            <a:prstGeom prst="rect">
              <a:avLst/>
            </a:prstGeom>
            <a:solidFill>
              <a:schemeClr val="bg1">
                <a:lumMod val="7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4" name="Retângulo 123"/>
            <p:cNvSpPr/>
            <p:nvPr/>
          </p:nvSpPr>
          <p:spPr>
            <a:xfrm>
              <a:off x="10557416" y="2019065"/>
              <a:ext cx="1010377" cy="6591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25" name="CaixaDeTexto 124"/>
            <p:cNvSpPr txBox="1"/>
            <p:nvPr/>
          </p:nvSpPr>
          <p:spPr>
            <a:xfrm>
              <a:off x="10557415" y="1711880"/>
              <a:ext cx="960973" cy="314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Filtros</a:t>
              </a:r>
              <a:endParaRPr lang="pt-PT" sz="1000" dirty="0"/>
            </a:p>
          </p:txBody>
        </p:sp>
        <p:sp>
          <p:nvSpPr>
            <p:cNvPr id="126" name="CaixaDeTexto 125"/>
            <p:cNvSpPr txBox="1"/>
            <p:nvPr/>
          </p:nvSpPr>
          <p:spPr>
            <a:xfrm>
              <a:off x="10557416" y="2211488"/>
              <a:ext cx="10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Perímetro</a:t>
              </a:r>
            </a:p>
          </p:txBody>
        </p:sp>
        <p:sp>
          <p:nvSpPr>
            <p:cNvPr id="127" name="CaixaDeTexto 126"/>
            <p:cNvSpPr txBox="1"/>
            <p:nvPr/>
          </p:nvSpPr>
          <p:spPr>
            <a:xfrm>
              <a:off x="10557415" y="2031488"/>
              <a:ext cx="100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Entidade</a:t>
              </a:r>
            </a:p>
          </p:txBody>
        </p:sp>
        <p:sp>
          <p:nvSpPr>
            <p:cNvPr id="128" name="CaixaDeTexto 127"/>
            <p:cNvSpPr txBox="1"/>
            <p:nvPr/>
          </p:nvSpPr>
          <p:spPr>
            <a:xfrm>
              <a:off x="10559107" y="2391488"/>
              <a:ext cx="97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</a:p>
          </p:txBody>
        </p:sp>
      </p:grpSp>
      <p:cxnSp>
        <p:nvCxnSpPr>
          <p:cNvPr id="129" name="Conexão em ângulos retos 128"/>
          <p:cNvCxnSpPr>
            <a:stCxn id="127" idx="1"/>
            <a:endCxn id="94" idx="3"/>
          </p:cNvCxnSpPr>
          <p:nvPr/>
        </p:nvCxnSpPr>
        <p:spPr>
          <a:xfrm rot="10800000" flipV="1">
            <a:off x="7560900" y="1015896"/>
            <a:ext cx="657318" cy="401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exão em ângulos retos 131"/>
          <p:cNvCxnSpPr>
            <a:stCxn id="126" idx="1"/>
            <a:endCxn id="95" idx="3"/>
          </p:cNvCxnSpPr>
          <p:nvPr/>
        </p:nvCxnSpPr>
        <p:spPr>
          <a:xfrm rot="10800000">
            <a:off x="7560901" y="1195179"/>
            <a:ext cx="657319" cy="7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upo 138"/>
          <p:cNvGrpSpPr/>
          <p:nvPr/>
        </p:nvGrpSpPr>
        <p:grpSpPr>
          <a:xfrm>
            <a:off x="3119242" y="1958560"/>
            <a:ext cx="2016273" cy="945622"/>
            <a:chOff x="3005692" y="2237560"/>
            <a:chExt cx="2016273" cy="945622"/>
          </a:xfrm>
        </p:grpSpPr>
        <p:sp>
          <p:nvSpPr>
            <p:cNvPr id="140" name="Retângulo 139"/>
            <p:cNvSpPr/>
            <p:nvPr/>
          </p:nvSpPr>
          <p:spPr>
            <a:xfrm>
              <a:off x="3005968" y="2546943"/>
              <a:ext cx="2012400" cy="6362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41" name="CaixaDeTexto 140"/>
            <p:cNvSpPr txBox="1"/>
            <p:nvPr/>
          </p:nvSpPr>
          <p:spPr>
            <a:xfrm>
              <a:off x="3005966" y="2237560"/>
              <a:ext cx="18708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(FR) </a:t>
              </a:r>
              <a:r>
                <a:rPr lang="pt-PT" sz="1400" b="1" dirty="0" err="1"/>
                <a:t>kt_chaves_finrep</a:t>
              </a:r>
              <a:endParaRPr lang="pt-PT" sz="1400" b="1" dirty="0"/>
            </a:p>
          </p:txBody>
        </p:sp>
        <p:sp>
          <p:nvSpPr>
            <p:cNvPr id="142" name="CaixaDeTexto 141"/>
            <p:cNvSpPr txBox="1"/>
            <p:nvPr/>
          </p:nvSpPr>
          <p:spPr>
            <a:xfrm>
              <a:off x="3005965" y="2540591"/>
              <a:ext cx="2016000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/>
                <a:t>Contr</a:t>
              </a:r>
              <a:r>
                <a:rPr lang="pt-PT" sz="1200" dirty="0"/>
                <a:t>. </a:t>
              </a:r>
              <a:r>
                <a:rPr lang="pt-PT" sz="1200" dirty="0" err="1"/>
                <a:t>Fnrp</a:t>
              </a:r>
              <a:r>
                <a:rPr lang="pt-PT" sz="1200" dirty="0"/>
                <a:t> </a:t>
              </a:r>
              <a:r>
                <a:rPr lang="pt-PT" sz="800" dirty="0"/>
                <a:t>(</a:t>
              </a:r>
              <a:r>
                <a:rPr lang="pt-PT" sz="800" dirty="0" err="1"/>
                <a:t>cempresa_fr</a:t>
              </a:r>
              <a:r>
                <a:rPr lang="pt-PT" sz="800" dirty="0"/>
                <a:t> … </a:t>
              </a:r>
              <a:r>
                <a:rPr lang="pt-PT" sz="800" dirty="0" err="1"/>
                <a:t>zdeposit_fr</a:t>
              </a:r>
              <a:r>
                <a:rPr lang="pt-PT" sz="800" dirty="0"/>
                <a:t>)</a:t>
              </a:r>
              <a:endParaRPr lang="pt-PT" sz="800" baseline="30000" dirty="0"/>
            </a:p>
          </p:txBody>
        </p:sp>
        <p:sp>
          <p:nvSpPr>
            <p:cNvPr id="143" name="CaixaDeTexto 142"/>
            <p:cNvSpPr txBox="1"/>
            <p:nvPr/>
          </p:nvSpPr>
          <p:spPr>
            <a:xfrm>
              <a:off x="3005965" y="2900591"/>
              <a:ext cx="1548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44" name="CaixaDeTexto 143"/>
            <p:cNvSpPr txBox="1"/>
            <p:nvPr/>
          </p:nvSpPr>
          <p:spPr>
            <a:xfrm>
              <a:off x="3005692" y="2720591"/>
              <a:ext cx="1980000" cy="277200"/>
            </a:xfrm>
            <a:prstGeom prst="rect">
              <a:avLst/>
            </a:prstGeom>
            <a:noFill/>
          </p:spPr>
          <p:txBody>
            <a:bodyPr wrap="square" rIns="3600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Contr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Univ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cempresa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zdeposit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48" name="Conexão em ângulos retos 147"/>
          <p:cNvCxnSpPr>
            <a:stCxn id="142" idx="3"/>
            <a:endCxn id="110" idx="1"/>
          </p:cNvCxnSpPr>
          <p:nvPr/>
        </p:nvCxnSpPr>
        <p:spPr>
          <a:xfrm flipV="1">
            <a:off x="5135515" y="2399014"/>
            <a:ext cx="630364" cy="107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upo 152"/>
          <p:cNvGrpSpPr/>
          <p:nvPr/>
        </p:nvGrpSpPr>
        <p:grpSpPr>
          <a:xfrm>
            <a:off x="572400" y="2136674"/>
            <a:ext cx="1838666" cy="1481425"/>
            <a:chOff x="5413761" y="3396376"/>
            <a:chExt cx="1838666" cy="1481425"/>
          </a:xfrm>
        </p:grpSpPr>
        <p:grpSp>
          <p:nvGrpSpPr>
            <p:cNvPr id="154" name="Grupo 153"/>
            <p:cNvGrpSpPr/>
            <p:nvPr/>
          </p:nvGrpSpPr>
          <p:grpSpPr>
            <a:xfrm>
              <a:off x="5417685" y="3396376"/>
              <a:ext cx="1834742" cy="1481425"/>
              <a:chOff x="4966835" y="2282615"/>
              <a:chExt cx="1834742" cy="1346747"/>
            </a:xfrm>
          </p:grpSpPr>
          <p:sp>
            <p:nvSpPr>
              <p:cNvPr id="156" name="Retângulo 155"/>
              <p:cNvSpPr/>
              <p:nvPr/>
            </p:nvSpPr>
            <p:spPr>
              <a:xfrm>
                <a:off x="4966838" y="2579521"/>
                <a:ext cx="1797844" cy="10498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57" name="CaixaDeTexto 156"/>
              <p:cNvSpPr txBox="1"/>
              <p:nvPr/>
            </p:nvSpPr>
            <p:spPr>
              <a:xfrm>
                <a:off x="4971032" y="2282615"/>
                <a:ext cx="1801575" cy="27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Saldos ms. </a:t>
                </a:r>
                <a:r>
                  <a:rPr lang="pt-PT" sz="1000" dirty="0"/>
                  <a:t>(ct001)</a:t>
                </a:r>
              </a:p>
            </p:txBody>
          </p:sp>
          <p:sp>
            <p:nvSpPr>
              <p:cNvPr id="158" name="CaixaDeTexto 157"/>
              <p:cNvSpPr txBox="1"/>
              <p:nvPr/>
            </p:nvSpPr>
            <p:spPr>
              <a:xfrm>
                <a:off x="4972129" y="2559365"/>
                <a:ext cx="1800000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159" name="CaixaDeTexto 158"/>
              <p:cNvSpPr txBox="1"/>
              <p:nvPr/>
            </p:nvSpPr>
            <p:spPr>
              <a:xfrm>
                <a:off x="4966835" y="2724304"/>
                <a:ext cx="1758078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60" name="CaixaDeTexto 159"/>
              <p:cNvSpPr txBox="1"/>
              <p:nvPr/>
            </p:nvSpPr>
            <p:spPr>
              <a:xfrm>
                <a:off x="4966835" y="3377545"/>
                <a:ext cx="1670847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61" name="CaixaDeTexto 160"/>
              <p:cNvSpPr txBox="1"/>
              <p:nvPr/>
            </p:nvSpPr>
            <p:spPr>
              <a:xfrm>
                <a:off x="4966842" y="2886637"/>
                <a:ext cx="1800000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Conta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contabil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ccontab_x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62" name="CaixaDeTexto 161"/>
              <p:cNvSpPr txBox="1"/>
              <p:nvPr/>
            </p:nvSpPr>
            <p:spPr>
              <a:xfrm>
                <a:off x="4966872" y="3050273"/>
                <a:ext cx="1834705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Soc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Cntp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sociedade_contraparte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155" name="CaixaDeTexto 154"/>
            <p:cNvSpPr txBox="1"/>
            <p:nvPr/>
          </p:nvSpPr>
          <p:spPr>
            <a:xfrm>
              <a:off x="5413761" y="4420800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Cgrupoic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cgrupoic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63" name="Conexão em ângulos retos 162"/>
          <p:cNvCxnSpPr>
            <a:stCxn id="144" idx="1"/>
            <a:endCxn id="158" idx="3"/>
          </p:cNvCxnSpPr>
          <p:nvPr/>
        </p:nvCxnSpPr>
        <p:spPr>
          <a:xfrm rot="10800000">
            <a:off x="2381618" y="2579601"/>
            <a:ext cx="737624" cy="59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7" name="Grupo 166"/>
          <p:cNvGrpSpPr/>
          <p:nvPr/>
        </p:nvGrpSpPr>
        <p:grpSpPr>
          <a:xfrm>
            <a:off x="571363" y="4197158"/>
            <a:ext cx="1946042" cy="749260"/>
            <a:chOff x="2849341" y="5863134"/>
            <a:chExt cx="1946042" cy="749260"/>
          </a:xfrm>
        </p:grpSpPr>
        <p:sp>
          <p:nvSpPr>
            <p:cNvPr id="168" name="Retângulo 167"/>
            <p:cNvSpPr/>
            <p:nvPr/>
          </p:nvSpPr>
          <p:spPr>
            <a:xfrm>
              <a:off x="2854517" y="6172272"/>
              <a:ext cx="1796400" cy="4387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69" name="CaixaDeTexto 168"/>
            <p:cNvSpPr txBox="1"/>
            <p:nvPr/>
          </p:nvSpPr>
          <p:spPr>
            <a:xfrm>
              <a:off x="2849341" y="5863134"/>
              <a:ext cx="1946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(AU) Clientes </a:t>
              </a:r>
              <a:r>
                <a:rPr lang="pt-PT" sz="1000" dirty="0"/>
                <a:t>(ct003)</a:t>
              </a:r>
            </a:p>
          </p:txBody>
        </p:sp>
        <p:sp>
          <p:nvSpPr>
            <p:cNvPr id="170" name="CaixaDeTexto 169"/>
            <p:cNvSpPr txBox="1"/>
            <p:nvPr/>
          </p:nvSpPr>
          <p:spPr>
            <a:xfrm>
              <a:off x="2854552" y="6155395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171" name="CaixaDeTexto 170"/>
            <p:cNvSpPr txBox="1"/>
            <p:nvPr/>
          </p:nvSpPr>
          <p:spPr>
            <a:xfrm>
              <a:off x="2854551" y="6335395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72" name="Conexão em ângulos retos 171"/>
          <p:cNvCxnSpPr>
            <a:stCxn id="170" idx="3"/>
            <a:endCxn id="181" idx="1"/>
          </p:cNvCxnSpPr>
          <p:nvPr/>
        </p:nvCxnSpPr>
        <p:spPr>
          <a:xfrm flipV="1">
            <a:off x="2376574" y="4152185"/>
            <a:ext cx="3384326" cy="475734"/>
          </a:xfrm>
          <a:prstGeom prst="bentConnector3">
            <a:avLst>
              <a:gd name="adj1" fmla="val 93427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upo 175"/>
          <p:cNvGrpSpPr/>
          <p:nvPr/>
        </p:nvGrpSpPr>
        <p:grpSpPr>
          <a:xfrm>
            <a:off x="5753067" y="3365829"/>
            <a:ext cx="2034576" cy="1104855"/>
            <a:chOff x="2982087" y="446590"/>
            <a:chExt cx="2034576" cy="1104855"/>
          </a:xfrm>
        </p:grpSpPr>
        <p:sp>
          <p:nvSpPr>
            <p:cNvPr id="177" name="Retângulo 176"/>
            <p:cNvSpPr/>
            <p:nvPr/>
          </p:nvSpPr>
          <p:spPr>
            <a:xfrm>
              <a:off x="2989920" y="755648"/>
              <a:ext cx="1796400" cy="7957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78" name="CaixaDeTexto 177"/>
            <p:cNvSpPr txBox="1"/>
            <p:nvPr/>
          </p:nvSpPr>
          <p:spPr>
            <a:xfrm>
              <a:off x="2982087" y="446590"/>
              <a:ext cx="2034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(FR) Contratos </a:t>
              </a:r>
              <a:r>
                <a:rPr lang="pt-PT" sz="1000" dirty="0"/>
                <a:t>(fr004)</a:t>
              </a:r>
            </a:p>
          </p:txBody>
        </p:sp>
        <p:sp>
          <p:nvSpPr>
            <p:cNvPr id="179" name="CaixaDeTexto 178"/>
            <p:cNvSpPr txBox="1"/>
            <p:nvPr/>
          </p:nvSpPr>
          <p:spPr>
            <a:xfrm>
              <a:off x="2989920" y="913826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cbalcao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180" name="CaixaDeTexto 179"/>
            <p:cNvSpPr txBox="1"/>
            <p:nvPr/>
          </p:nvSpPr>
          <p:spPr>
            <a:xfrm>
              <a:off x="2989920" y="1274446"/>
              <a:ext cx="15292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81" name="CaixaDeTexto 180"/>
            <p:cNvSpPr txBox="1"/>
            <p:nvPr/>
          </p:nvSpPr>
          <p:spPr>
            <a:xfrm>
              <a:off x="2989920" y="1094446"/>
              <a:ext cx="1764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Cliente</a:t>
              </a:r>
              <a:r>
                <a:rPr lang="pt-PT" sz="800" dirty="0"/>
                <a:t> (</a:t>
              </a:r>
              <a:r>
                <a:rPr lang="pt-PT" sz="800" dirty="0" err="1"/>
                <a:t>zcliente</a:t>
              </a:r>
              <a:r>
                <a:rPr lang="pt-PT" sz="800" dirty="0"/>
                <a:t>)</a:t>
              </a:r>
            </a:p>
          </p:txBody>
        </p:sp>
        <p:sp>
          <p:nvSpPr>
            <p:cNvPr id="182" name="CaixaDeTexto 181"/>
            <p:cNvSpPr txBox="1"/>
            <p:nvPr/>
          </p:nvSpPr>
          <p:spPr>
            <a:xfrm>
              <a:off x="2989920" y="733832"/>
              <a:ext cx="180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 err="1"/>
                <a:t>Cempresa</a:t>
              </a:r>
              <a:r>
                <a:rPr lang="pt-PT" sz="1200" dirty="0"/>
                <a:t> </a:t>
              </a:r>
              <a:r>
                <a:rPr lang="pt-PT" sz="800" dirty="0"/>
                <a:t>(</a:t>
              </a:r>
              <a:r>
                <a:rPr lang="pt-PT" sz="800" dirty="0" err="1"/>
                <a:t>cempresa</a:t>
              </a:r>
              <a:r>
                <a:rPr lang="pt-PT" sz="800" dirty="0"/>
                <a:t>)</a:t>
              </a:r>
            </a:p>
          </p:txBody>
        </p:sp>
      </p:grpSp>
      <p:cxnSp>
        <p:nvCxnSpPr>
          <p:cNvPr id="183" name="Conexão em ângulos retos 182"/>
          <p:cNvCxnSpPr>
            <a:stCxn id="111" idx="1"/>
            <a:endCxn id="181" idx="1"/>
          </p:cNvCxnSpPr>
          <p:nvPr/>
        </p:nvCxnSpPr>
        <p:spPr>
          <a:xfrm rot="10800000" flipH="1" flipV="1">
            <a:off x="5760584" y="2580447"/>
            <a:ext cx="315" cy="1571738"/>
          </a:xfrm>
          <a:prstGeom prst="bentConnector3">
            <a:avLst>
              <a:gd name="adj1" fmla="val -7257142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xão em ângulos retos 183"/>
          <p:cNvCxnSpPr>
            <a:stCxn id="179" idx="3"/>
            <a:endCxn id="110" idx="3"/>
          </p:cNvCxnSpPr>
          <p:nvPr/>
        </p:nvCxnSpPr>
        <p:spPr>
          <a:xfrm flipH="1" flipV="1">
            <a:off x="7525561" y="2399014"/>
            <a:ext cx="35339" cy="1572551"/>
          </a:xfrm>
          <a:prstGeom prst="bentConnector3">
            <a:avLst>
              <a:gd name="adj1" fmla="val -2567297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xão em ângulos retos 186"/>
          <p:cNvCxnSpPr>
            <a:stCxn id="182" idx="3"/>
            <a:endCxn id="110" idx="3"/>
          </p:cNvCxnSpPr>
          <p:nvPr/>
        </p:nvCxnSpPr>
        <p:spPr>
          <a:xfrm flipH="1" flipV="1">
            <a:off x="7525561" y="2399014"/>
            <a:ext cx="35339" cy="1392557"/>
          </a:xfrm>
          <a:prstGeom prst="bentConnector3">
            <a:avLst>
              <a:gd name="adj1" fmla="val -256055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upo 196"/>
          <p:cNvGrpSpPr/>
          <p:nvPr/>
        </p:nvGrpSpPr>
        <p:grpSpPr>
          <a:xfrm>
            <a:off x="8862718" y="1973380"/>
            <a:ext cx="2120356" cy="1071848"/>
            <a:chOff x="2977533" y="5092641"/>
            <a:chExt cx="2120356" cy="1071848"/>
          </a:xfrm>
        </p:grpSpPr>
        <p:grpSp>
          <p:nvGrpSpPr>
            <p:cNvPr id="198" name="Grupo 197"/>
            <p:cNvGrpSpPr/>
            <p:nvPr/>
          </p:nvGrpSpPr>
          <p:grpSpPr>
            <a:xfrm>
              <a:off x="2980674" y="5092641"/>
              <a:ext cx="2117215" cy="821471"/>
              <a:chOff x="3006591" y="5061632"/>
              <a:chExt cx="2117215" cy="821471"/>
            </a:xfrm>
          </p:grpSpPr>
          <p:sp>
            <p:nvSpPr>
              <p:cNvPr id="201" name="CaixaDeTexto 200"/>
              <p:cNvSpPr txBox="1"/>
              <p:nvPr/>
            </p:nvSpPr>
            <p:spPr>
              <a:xfrm>
                <a:off x="3007223" y="5061632"/>
                <a:ext cx="211658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(FR) Diversos</a:t>
                </a:r>
                <a:endParaRPr lang="pt-PT" sz="1000" dirty="0"/>
              </a:p>
            </p:txBody>
          </p:sp>
          <p:sp>
            <p:nvSpPr>
              <p:cNvPr id="202" name="Retângulo 201"/>
              <p:cNvSpPr/>
              <p:nvPr/>
            </p:nvSpPr>
            <p:spPr>
              <a:xfrm>
                <a:off x="3007226" y="5370920"/>
                <a:ext cx="2016000" cy="252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03" name="CaixaDeTexto 202"/>
              <p:cNvSpPr txBox="1"/>
              <p:nvPr/>
            </p:nvSpPr>
            <p:spPr>
              <a:xfrm>
                <a:off x="3007223" y="5349213"/>
                <a:ext cx="1944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fr007 Abatidos </a:t>
                </a:r>
                <a:r>
                  <a:rPr lang="pt-PT" sz="1000" dirty="0"/>
                  <a:t>(</a:t>
                </a:r>
                <a:r>
                  <a:rPr lang="pt-PT" sz="1000" dirty="0">
                    <a:sym typeface="Wingdings" panose="05000000000000000000" pitchFamily="2" charset="2"/>
                  </a:rPr>
                  <a:t></a:t>
                </a:r>
                <a:r>
                  <a:rPr lang="pt-PT" sz="1000" dirty="0"/>
                  <a:t> fr602)</a:t>
                </a:r>
              </a:p>
            </p:txBody>
          </p:sp>
          <p:sp>
            <p:nvSpPr>
              <p:cNvPr id="204" name="Retângulo 203"/>
              <p:cNvSpPr/>
              <p:nvPr/>
            </p:nvSpPr>
            <p:spPr>
              <a:xfrm>
                <a:off x="3006595" y="5623047"/>
                <a:ext cx="2016000" cy="2520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05" name="CaixaDeTexto 204"/>
              <p:cNvSpPr txBox="1"/>
              <p:nvPr/>
            </p:nvSpPr>
            <p:spPr>
              <a:xfrm>
                <a:off x="3006591" y="5606104"/>
                <a:ext cx="20135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fr008 Venda carteira </a:t>
                </a:r>
                <a:r>
                  <a:rPr lang="pt-PT" sz="1000" dirty="0"/>
                  <a:t>(</a:t>
                </a:r>
                <a:r>
                  <a:rPr lang="pt-PT" sz="1000" dirty="0">
                    <a:sym typeface="Wingdings" panose="05000000000000000000" pitchFamily="2" charset="2"/>
                  </a:rPr>
                  <a:t></a:t>
                </a:r>
                <a:r>
                  <a:rPr lang="pt-PT" sz="1000" dirty="0"/>
                  <a:t> fr603)</a:t>
                </a:r>
              </a:p>
            </p:txBody>
          </p:sp>
        </p:grpSp>
        <p:sp>
          <p:nvSpPr>
            <p:cNvPr id="199" name="Retângulo 198"/>
            <p:cNvSpPr/>
            <p:nvPr/>
          </p:nvSpPr>
          <p:spPr>
            <a:xfrm>
              <a:off x="2977533" y="5906184"/>
              <a:ext cx="2016000" cy="252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00" name="CaixaDeTexto 199"/>
            <p:cNvSpPr txBox="1"/>
            <p:nvPr/>
          </p:nvSpPr>
          <p:spPr>
            <a:xfrm>
              <a:off x="2980799" y="5887490"/>
              <a:ext cx="20127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fr009 Recuperações </a:t>
              </a:r>
              <a:r>
                <a:rPr lang="pt-PT" sz="1000" dirty="0"/>
                <a:t>(</a:t>
              </a:r>
              <a:r>
                <a:rPr lang="pt-PT" sz="1000" dirty="0">
                  <a:sym typeface="Wingdings" panose="05000000000000000000" pitchFamily="2" charset="2"/>
                </a:rPr>
                <a:t></a:t>
              </a:r>
              <a:r>
                <a:rPr lang="pt-PT" sz="1000" dirty="0"/>
                <a:t> fr601)</a:t>
              </a:r>
            </a:p>
          </p:txBody>
        </p:sp>
      </p:grpSp>
      <p:cxnSp>
        <p:nvCxnSpPr>
          <p:cNvPr id="206" name="Conexão em ângulos retos 205"/>
          <p:cNvCxnSpPr>
            <a:stCxn id="203" idx="1"/>
            <a:endCxn id="110" idx="3"/>
          </p:cNvCxnSpPr>
          <p:nvPr/>
        </p:nvCxnSpPr>
        <p:spPr>
          <a:xfrm rot="10800000">
            <a:off x="7525561" y="2399015"/>
            <a:ext cx="1340930" cy="44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exão em ângulos retos 209"/>
          <p:cNvCxnSpPr>
            <a:stCxn id="205" idx="1"/>
            <a:endCxn id="110" idx="3"/>
          </p:cNvCxnSpPr>
          <p:nvPr/>
        </p:nvCxnSpPr>
        <p:spPr>
          <a:xfrm rot="10800000">
            <a:off x="7525561" y="2399014"/>
            <a:ext cx="1340298" cy="257338"/>
          </a:xfrm>
          <a:prstGeom prst="bentConnector3">
            <a:avLst>
              <a:gd name="adj1" fmla="val 2992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exão em ângulos retos 212"/>
          <p:cNvCxnSpPr>
            <a:stCxn id="200" idx="1"/>
            <a:endCxn id="110" idx="3"/>
          </p:cNvCxnSpPr>
          <p:nvPr/>
        </p:nvCxnSpPr>
        <p:spPr>
          <a:xfrm rot="10800000">
            <a:off x="7525562" y="2399015"/>
            <a:ext cx="1340423" cy="507715"/>
          </a:xfrm>
          <a:prstGeom prst="bentConnector3">
            <a:avLst>
              <a:gd name="adj1" fmla="val 2992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" name="Grupo 215"/>
          <p:cNvGrpSpPr/>
          <p:nvPr/>
        </p:nvGrpSpPr>
        <p:grpSpPr>
          <a:xfrm>
            <a:off x="8866816" y="3347640"/>
            <a:ext cx="2570403" cy="1301423"/>
            <a:chOff x="4966835" y="2282615"/>
            <a:chExt cx="2570403" cy="1183109"/>
          </a:xfrm>
        </p:grpSpPr>
        <p:sp>
          <p:nvSpPr>
            <p:cNvPr id="217" name="Retângulo 216"/>
            <p:cNvSpPr/>
            <p:nvPr/>
          </p:nvSpPr>
          <p:spPr>
            <a:xfrm>
              <a:off x="4966838" y="2579522"/>
              <a:ext cx="2570400" cy="8660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18" name="CaixaDeTexto 217"/>
            <p:cNvSpPr txBox="1"/>
            <p:nvPr/>
          </p:nvSpPr>
          <p:spPr>
            <a:xfrm>
              <a:off x="4971032" y="2282615"/>
              <a:ext cx="1801575" cy="279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(FR) Colaterais </a:t>
              </a:r>
              <a:r>
                <a:rPr lang="pt-PT" sz="1000" dirty="0"/>
                <a:t>(fr003)</a:t>
              </a:r>
            </a:p>
          </p:txBody>
        </p:sp>
        <p:sp>
          <p:nvSpPr>
            <p:cNvPr id="219" name="CaixaDeTexto 218"/>
            <p:cNvSpPr txBox="1"/>
            <p:nvPr/>
          </p:nvSpPr>
          <p:spPr>
            <a:xfrm>
              <a:off x="4972129" y="2559365"/>
              <a:ext cx="1759682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Contrato</a:t>
              </a:r>
              <a:r>
                <a:rPr lang="pt-PT" sz="800" dirty="0"/>
                <a:t> (</a:t>
              </a:r>
              <a:r>
                <a:rPr lang="pt-PT" sz="800" dirty="0" err="1"/>
                <a:t>cempresa</a:t>
              </a:r>
              <a:r>
                <a:rPr lang="pt-PT" sz="800" dirty="0"/>
                <a:t> … </a:t>
              </a:r>
              <a:r>
                <a:rPr lang="pt-PT" sz="800" dirty="0" err="1"/>
                <a:t>zdeposit</a:t>
              </a:r>
              <a:r>
                <a:rPr lang="pt-PT" sz="800" dirty="0"/>
                <a:t>)</a:t>
              </a:r>
            </a:p>
          </p:txBody>
        </p:sp>
        <p:sp>
          <p:nvSpPr>
            <p:cNvPr id="220" name="CaixaDeTexto 219"/>
            <p:cNvSpPr txBox="1"/>
            <p:nvPr/>
          </p:nvSpPr>
          <p:spPr>
            <a:xfrm>
              <a:off x="4966835" y="2724304"/>
              <a:ext cx="1758078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zcliente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1" name="CaixaDeTexto 220"/>
            <p:cNvSpPr txBox="1"/>
            <p:nvPr/>
          </p:nvSpPr>
          <p:spPr>
            <a:xfrm>
              <a:off x="4966835" y="3213907"/>
              <a:ext cx="1670847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2" name="CaixaDeTexto 221"/>
            <p:cNvSpPr txBox="1"/>
            <p:nvPr/>
          </p:nvSpPr>
          <p:spPr>
            <a:xfrm>
              <a:off x="4966842" y="2886637"/>
              <a:ext cx="1764000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Caução 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cbalcao_caucao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… 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zcaucao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223" name="CaixaDeTexto 222"/>
            <p:cNvSpPr txBox="1"/>
            <p:nvPr/>
          </p:nvSpPr>
          <p:spPr>
            <a:xfrm>
              <a:off x="4966872" y="3050273"/>
              <a:ext cx="1834705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Garante 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(garante)</a:t>
              </a:r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224" name="Conexão em ângulos retos 223"/>
          <p:cNvCxnSpPr>
            <a:stCxn id="182" idx="3"/>
            <a:endCxn id="219" idx="1"/>
          </p:cNvCxnSpPr>
          <p:nvPr/>
        </p:nvCxnSpPr>
        <p:spPr>
          <a:xfrm flipV="1">
            <a:off x="7560900" y="3790566"/>
            <a:ext cx="1311210" cy="100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exão em ângulos retos 228"/>
          <p:cNvCxnSpPr>
            <a:stCxn id="170" idx="3"/>
            <a:endCxn id="220" idx="1"/>
          </p:cNvCxnSpPr>
          <p:nvPr/>
        </p:nvCxnSpPr>
        <p:spPr>
          <a:xfrm flipV="1">
            <a:off x="2376574" y="3971999"/>
            <a:ext cx="6490242" cy="655920"/>
          </a:xfrm>
          <a:prstGeom prst="bentConnector3">
            <a:avLst>
              <a:gd name="adj1" fmla="val 97146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xão em ângulos retos 232"/>
          <p:cNvCxnSpPr>
            <a:stCxn id="170" idx="3"/>
            <a:endCxn id="223" idx="1"/>
          </p:cNvCxnSpPr>
          <p:nvPr/>
        </p:nvCxnSpPr>
        <p:spPr>
          <a:xfrm flipV="1">
            <a:off x="2376574" y="4330566"/>
            <a:ext cx="6490279" cy="297353"/>
          </a:xfrm>
          <a:prstGeom prst="bentConnector3">
            <a:avLst>
              <a:gd name="adj1" fmla="val 9716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CaixaDeTexto 250"/>
          <p:cNvSpPr txBox="1"/>
          <p:nvPr/>
        </p:nvSpPr>
        <p:spPr>
          <a:xfrm>
            <a:off x="7576" y="6550204"/>
            <a:ext cx="8386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Nota</a:t>
            </a:r>
            <a:r>
              <a:rPr lang="pt-PT" sz="1200" dirty="0"/>
              <a:t>: apesar de não se apresentar a ligação do campo Data, este deve ser sempre ligado entre as tabelas ou definido em cada uma.</a:t>
            </a:r>
          </a:p>
        </p:txBody>
      </p:sp>
      <p:sp>
        <p:nvSpPr>
          <p:cNvPr id="252" name="CaixaDeTexto 251"/>
          <p:cNvSpPr txBox="1"/>
          <p:nvPr/>
        </p:nvSpPr>
        <p:spPr>
          <a:xfrm>
            <a:off x="2844440" y="6220151"/>
            <a:ext cx="9051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AU</a:t>
            </a:r>
            <a:r>
              <a:rPr lang="pt-PT" sz="1200" dirty="0"/>
              <a:t>: gerado automaticamente; </a:t>
            </a:r>
            <a:r>
              <a:rPr lang="pt-PT" sz="1200" b="1" dirty="0"/>
              <a:t>UN:</a:t>
            </a:r>
            <a:r>
              <a:rPr lang="pt-PT" sz="1200" dirty="0"/>
              <a:t> gerado pelo módulo Universo; </a:t>
            </a:r>
            <a:r>
              <a:rPr lang="pt-PT" sz="1200" b="1" dirty="0"/>
              <a:t>FR:</a:t>
            </a:r>
            <a:r>
              <a:rPr lang="pt-PT" sz="1200" dirty="0"/>
              <a:t> gerado pelo módulo </a:t>
            </a:r>
            <a:r>
              <a:rPr lang="pt-PT" sz="1200" dirty="0" err="1"/>
              <a:t>Finrep</a:t>
            </a:r>
            <a:r>
              <a:rPr lang="pt-PT" sz="1200" dirty="0"/>
              <a:t>; </a:t>
            </a:r>
            <a:r>
              <a:rPr lang="pt-PT" sz="1200" b="1" dirty="0"/>
              <a:t>MA:</a:t>
            </a:r>
            <a:r>
              <a:rPr lang="pt-PT" sz="1200" dirty="0"/>
              <a:t> ficheiro carregado manualmente.</a:t>
            </a:r>
          </a:p>
        </p:txBody>
      </p:sp>
      <p:grpSp>
        <p:nvGrpSpPr>
          <p:cNvPr id="263" name="Grupo 262"/>
          <p:cNvGrpSpPr/>
          <p:nvPr/>
        </p:nvGrpSpPr>
        <p:grpSpPr>
          <a:xfrm>
            <a:off x="8862718" y="4654106"/>
            <a:ext cx="2635218" cy="1481478"/>
            <a:chOff x="8050002" y="4677921"/>
            <a:chExt cx="2635218" cy="1481478"/>
          </a:xfrm>
        </p:grpSpPr>
        <p:grpSp>
          <p:nvGrpSpPr>
            <p:cNvPr id="253" name="Grupo 252"/>
            <p:cNvGrpSpPr/>
            <p:nvPr/>
          </p:nvGrpSpPr>
          <p:grpSpPr>
            <a:xfrm>
              <a:off x="8050002" y="4677921"/>
              <a:ext cx="2635218" cy="1473109"/>
              <a:chOff x="4966835" y="2282615"/>
              <a:chExt cx="2635218" cy="1339187"/>
            </a:xfrm>
          </p:grpSpPr>
          <p:sp>
            <p:nvSpPr>
              <p:cNvPr id="254" name="Retângulo 253"/>
              <p:cNvSpPr/>
              <p:nvPr/>
            </p:nvSpPr>
            <p:spPr>
              <a:xfrm>
                <a:off x="4966837" y="2579522"/>
                <a:ext cx="2570183" cy="10422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55" name="CaixaDeTexto 254"/>
              <p:cNvSpPr txBox="1"/>
              <p:nvPr/>
            </p:nvSpPr>
            <p:spPr>
              <a:xfrm>
                <a:off x="4971032" y="2282615"/>
                <a:ext cx="2011802" cy="27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(FR) Restruturados </a:t>
                </a:r>
                <a:r>
                  <a:rPr lang="pt-PT" sz="1000" dirty="0"/>
                  <a:t>(fr006)</a:t>
                </a:r>
              </a:p>
            </p:txBody>
          </p:sp>
          <p:sp>
            <p:nvSpPr>
              <p:cNvPr id="256" name="CaixaDeTexto 255"/>
              <p:cNvSpPr txBox="1"/>
              <p:nvPr/>
            </p:nvSpPr>
            <p:spPr>
              <a:xfrm>
                <a:off x="4972128" y="2559365"/>
                <a:ext cx="2629925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 Origem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cempresa_orig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zdeposit_orig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257" name="CaixaDeTexto 256"/>
              <p:cNvSpPr txBox="1"/>
              <p:nvPr/>
            </p:nvSpPr>
            <p:spPr>
              <a:xfrm>
                <a:off x="4966835" y="2724304"/>
                <a:ext cx="1758078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 Origem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zcliente_orig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58" name="CaixaDeTexto 257"/>
              <p:cNvSpPr txBox="1"/>
              <p:nvPr/>
            </p:nvSpPr>
            <p:spPr>
              <a:xfrm>
                <a:off x="4966835" y="3213907"/>
                <a:ext cx="2446548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Tipo Restruturação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tipo_ref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59" name="CaixaDeTexto 258"/>
              <p:cNvSpPr txBox="1"/>
              <p:nvPr/>
            </p:nvSpPr>
            <p:spPr>
              <a:xfrm>
                <a:off x="4966842" y="2886637"/>
                <a:ext cx="2570178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Contrato Destino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cbalcao_dest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… 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zdeposit_dest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260" name="CaixaDeTexto 259"/>
              <p:cNvSpPr txBox="1"/>
              <p:nvPr/>
            </p:nvSpPr>
            <p:spPr>
              <a:xfrm>
                <a:off x="4966872" y="3050273"/>
                <a:ext cx="1834705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 Destino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zcliente_dest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62" name="CaixaDeTexto 261"/>
            <p:cNvSpPr txBox="1"/>
            <p:nvPr/>
          </p:nvSpPr>
          <p:spPr>
            <a:xfrm>
              <a:off x="8051646" y="5882400"/>
              <a:ext cx="1670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264" name="Conexão em ângulos retos 263"/>
          <p:cNvCxnSpPr>
            <a:stCxn id="182" idx="3"/>
            <a:endCxn id="256" idx="1"/>
          </p:cNvCxnSpPr>
          <p:nvPr/>
        </p:nvCxnSpPr>
        <p:spPr>
          <a:xfrm>
            <a:off x="7560900" y="3791571"/>
            <a:ext cx="1307111" cy="1305461"/>
          </a:xfrm>
          <a:prstGeom prst="bentConnector3">
            <a:avLst>
              <a:gd name="adj1" fmla="val 69493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xão em ângulos retos 266"/>
          <p:cNvCxnSpPr>
            <a:stCxn id="179" idx="3"/>
            <a:endCxn id="256" idx="1"/>
          </p:cNvCxnSpPr>
          <p:nvPr/>
        </p:nvCxnSpPr>
        <p:spPr>
          <a:xfrm>
            <a:off x="7560900" y="3971565"/>
            <a:ext cx="1307111" cy="1125467"/>
          </a:xfrm>
          <a:prstGeom prst="bentConnector3">
            <a:avLst>
              <a:gd name="adj1" fmla="val 69311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xão em ângulos retos 269"/>
          <p:cNvCxnSpPr>
            <a:stCxn id="179" idx="3"/>
            <a:endCxn id="259" idx="1"/>
          </p:cNvCxnSpPr>
          <p:nvPr/>
        </p:nvCxnSpPr>
        <p:spPr>
          <a:xfrm>
            <a:off x="7560900" y="3971565"/>
            <a:ext cx="1301825" cy="1485467"/>
          </a:xfrm>
          <a:prstGeom prst="bentConnector3">
            <a:avLst>
              <a:gd name="adj1" fmla="val 6969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exão em ângulos retos 275"/>
          <p:cNvCxnSpPr>
            <a:stCxn id="170" idx="3"/>
            <a:endCxn id="257" idx="1"/>
          </p:cNvCxnSpPr>
          <p:nvPr/>
        </p:nvCxnSpPr>
        <p:spPr>
          <a:xfrm>
            <a:off x="2376574" y="4627919"/>
            <a:ext cx="6486144" cy="650546"/>
          </a:xfrm>
          <a:prstGeom prst="bentConnector3">
            <a:avLst>
              <a:gd name="adj1" fmla="val 97227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exão em ângulos retos 289"/>
          <p:cNvCxnSpPr>
            <a:stCxn id="170" idx="3"/>
            <a:endCxn id="260" idx="1"/>
          </p:cNvCxnSpPr>
          <p:nvPr/>
        </p:nvCxnSpPr>
        <p:spPr>
          <a:xfrm>
            <a:off x="2376574" y="4627919"/>
            <a:ext cx="6486181" cy="1009113"/>
          </a:xfrm>
          <a:prstGeom prst="bentConnector3">
            <a:avLst>
              <a:gd name="adj1" fmla="val 97227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upo 296"/>
          <p:cNvGrpSpPr/>
          <p:nvPr/>
        </p:nvGrpSpPr>
        <p:grpSpPr>
          <a:xfrm>
            <a:off x="5752821" y="4657167"/>
            <a:ext cx="2592136" cy="1481478"/>
            <a:chOff x="8050002" y="4677921"/>
            <a:chExt cx="2592136" cy="1481478"/>
          </a:xfrm>
        </p:grpSpPr>
        <p:grpSp>
          <p:nvGrpSpPr>
            <p:cNvPr id="298" name="Grupo 297"/>
            <p:cNvGrpSpPr/>
            <p:nvPr/>
          </p:nvGrpSpPr>
          <p:grpSpPr>
            <a:xfrm>
              <a:off x="8050002" y="4677921"/>
              <a:ext cx="2592136" cy="1473109"/>
              <a:chOff x="4966835" y="2282615"/>
              <a:chExt cx="2592136" cy="1339187"/>
            </a:xfrm>
          </p:grpSpPr>
          <p:sp>
            <p:nvSpPr>
              <p:cNvPr id="300" name="Retângulo 299"/>
              <p:cNvSpPr/>
              <p:nvPr/>
            </p:nvSpPr>
            <p:spPr>
              <a:xfrm>
                <a:off x="4966837" y="2579522"/>
                <a:ext cx="2570183" cy="10422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01" name="CaixaDeTexto 300"/>
              <p:cNvSpPr txBox="1"/>
              <p:nvPr/>
            </p:nvSpPr>
            <p:spPr>
              <a:xfrm>
                <a:off x="4971032" y="2282615"/>
                <a:ext cx="2011802" cy="279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(FR) Movimentos </a:t>
                </a:r>
                <a:r>
                  <a:rPr lang="pt-PT" sz="1000" dirty="0"/>
                  <a:t>(fr010)</a:t>
                </a:r>
              </a:p>
            </p:txBody>
          </p:sp>
          <p:sp>
            <p:nvSpPr>
              <p:cNvPr id="302" name="CaixaDeTexto 301"/>
              <p:cNvSpPr txBox="1"/>
              <p:nvPr/>
            </p:nvSpPr>
            <p:spPr>
              <a:xfrm>
                <a:off x="4972129" y="2559365"/>
                <a:ext cx="2502926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 </a:t>
                </a:r>
                <a:r>
                  <a:rPr lang="pt-PT" sz="800" dirty="0"/>
                  <a:t>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303" name="CaixaDeTexto 302"/>
              <p:cNvSpPr txBox="1"/>
              <p:nvPr/>
            </p:nvSpPr>
            <p:spPr>
              <a:xfrm>
                <a:off x="4966835" y="2724304"/>
                <a:ext cx="1758078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04" name="CaixaDeTexto 303"/>
              <p:cNvSpPr txBox="1"/>
              <p:nvPr/>
            </p:nvSpPr>
            <p:spPr>
              <a:xfrm>
                <a:off x="4966835" y="3213907"/>
                <a:ext cx="2592136" cy="25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Tipo Análise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tipo_analise_mtd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e 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tipo_analise_ytd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05" name="CaixaDeTexto 304"/>
              <p:cNvSpPr txBox="1"/>
              <p:nvPr/>
            </p:nvSpPr>
            <p:spPr>
              <a:xfrm>
                <a:off x="4966842" y="2886637"/>
                <a:ext cx="2570178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Tipo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tipo_mtd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e 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tipo_ytd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06" name="CaixaDeTexto 305"/>
              <p:cNvSpPr txBox="1"/>
              <p:nvPr/>
            </p:nvSpPr>
            <p:spPr>
              <a:xfrm>
                <a:off x="4966872" y="3050273"/>
                <a:ext cx="1834705" cy="251817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lstStyle/>
              <a:p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Stage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stage_mtd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e 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stage_ytd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sp>
          <p:nvSpPr>
            <p:cNvPr id="299" name="CaixaDeTexto 298"/>
            <p:cNvSpPr txBox="1"/>
            <p:nvPr/>
          </p:nvSpPr>
          <p:spPr>
            <a:xfrm>
              <a:off x="8051646" y="5882400"/>
              <a:ext cx="1670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330" name="Conexão em ângulos retos 329"/>
          <p:cNvCxnSpPr>
            <a:stCxn id="179" idx="1"/>
            <a:endCxn id="302" idx="1"/>
          </p:cNvCxnSpPr>
          <p:nvPr/>
        </p:nvCxnSpPr>
        <p:spPr>
          <a:xfrm rot="10800000" flipV="1">
            <a:off x="5758116" y="3971565"/>
            <a:ext cx="2785" cy="1128528"/>
          </a:xfrm>
          <a:prstGeom prst="bentConnector3">
            <a:avLst>
              <a:gd name="adj1" fmla="val 13506822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exão em ângulos retos 333"/>
          <p:cNvCxnSpPr>
            <a:stCxn id="182" idx="1"/>
            <a:endCxn id="302" idx="1"/>
          </p:cNvCxnSpPr>
          <p:nvPr/>
        </p:nvCxnSpPr>
        <p:spPr>
          <a:xfrm rot="10800000" flipV="1">
            <a:off x="5758116" y="3791571"/>
            <a:ext cx="2785" cy="1308522"/>
          </a:xfrm>
          <a:prstGeom prst="bentConnector3">
            <a:avLst>
              <a:gd name="adj1" fmla="val 13370018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exão em ângulos retos 337"/>
          <p:cNvCxnSpPr>
            <a:stCxn id="170" idx="3"/>
            <a:endCxn id="303" idx="1"/>
          </p:cNvCxnSpPr>
          <p:nvPr/>
        </p:nvCxnSpPr>
        <p:spPr>
          <a:xfrm>
            <a:off x="2376574" y="4627919"/>
            <a:ext cx="3376247" cy="653607"/>
          </a:xfrm>
          <a:prstGeom prst="bentConnector3">
            <a:avLst>
              <a:gd name="adj1" fmla="val 93559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8" name="Grupo 347"/>
          <p:cNvGrpSpPr/>
          <p:nvPr/>
        </p:nvGrpSpPr>
        <p:grpSpPr>
          <a:xfrm>
            <a:off x="3060000" y="3371209"/>
            <a:ext cx="2240403" cy="953457"/>
            <a:chOff x="7548382" y="1894999"/>
            <a:chExt cx="2240403" cy="953457"/>
          </a:xfrm>
        </p:grpSpPr>
        <p:sp>
          <p:nvSpPr>
            <p:cNvPr id="349" name="Fluxograma: subrotina 348"/>
            <p:cNvSpPr/>
            <p:nvPr/>
          </p:nvSpPr>
          <p:spPr>
            <a:xfrm>
              <a:off x="7609312" y="2207456"/>
              <a:ext cx="1796400" cy="641000"/>
            </a:xfrm>
            <a:prstGeom prst="flowChartPredefined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50" name="Grupo 349"/>
            <p:cNvGrpSpPr/>
            <p:nvPr/>
          </p:nvGrpSpPr>
          <p:grpSpPr>
            <a:xfrm>
              <a:off x="7548382" y="1894999"/>
              <a:ext cx="2240403" cy="952400"/>
              <a:chOff x="7548382" y="1894999"/>
              <a:chExt cx="2240403" cy="952400"/>
            </a:xfrm>
          </p:grpSpPr>
          <p:sp>
            <p:nvSpPr>
              <p:cNvPr id="351" name="CaixaDeTexto 350"/>
              <p:cNvSpPr txBox="1"/>
              <p:nvPr/>
            </p:nvSpPr>
            <p:spPr>
              <a:xfrm>
                <a:off x="7804460" y="2209183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Plano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cod_plano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52" name="CaixaDeTexto 351"/>
              <p:cNvSpPr txBox="1"/>
              <p:nvPr/>
            </p:nvSpPr>
            <p:spPr>
              <a:xfrm>
                <a:off x="7548382" y="1894999"/>
                <a:ext cx="22404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Planos de contas </a:t>
                </a:r>
                <a:r>
                  <a:rPr lang="pt-PT" sz="1000" dirty="0"/>
                  <a:t>(fr802)</a:t>
                </a:r>
              </a:p>
            </p:txBody>
          </p:sp>
          <p:sp>
            <p:nvSpPr>
              <p:cNvPr id="353" name="CaixaDeTexto 352"/>
              <p:cNvSpPr txBox="1"/>
              <p:nvPr/>
            </p:nvSpPr>
            <p:spPr>
              <a:xfrm>
                <a:off x="7804460" y="2390400"/>
                <a:ext cx="16056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Conta </a:t>
                </a:r>
                <a:r>
                  <a:rPr lang="pt-PT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contabil</a:t>
                </a:r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.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(conta)</a:t>
                </a:r>
              </a:p>
            </p:txBody>
          </p:sp>
          <p:sp>
            <p:nvSpPr>
              <p:cNvPr id="354" name="CaixaDeTexto 353"/>
              <p:cNvSpPr txBox="1"/>
              <p:nvPr/>
            </p:nvSpPr>
            <p:spPr>
              <a:xfrm>
                <a:off x="7804460" y="2570400"/>
                <a:ext cx="175807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Data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ref_date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</p:grpSp>
      <p:cxnSp>
        <p:nvCxnSpPr>
          <p:cNvPr id="355" name="Conexão em ângulos retos 354"/>
          <p:cNvCxnSpPr>
            <a:stCxn id="353" idx="3"/>
            <a:endCxn id="113" idx="1"/>
          </p:cNvCxnSpPr>
          <p:nvPr/>
        </p:nvCxnSpPr>
        <p:spPr>
          <a:xfrm flipV="1">
            <a:off x="4921678" y="2759014"/>
            <a:ext cx="838914" cy="1246096"/>
          </a:xfrm>
          <a:prstGeom prst="bentConnector3">
            <a:avLst>
              <a:gd name="adj1" fmla="val 37889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exão em ângulos retos 363"/>
          <p:cNvCxnSpPr>
            <a:stCxn id="365" idx="3"/>
            <a:endCxn id="368" idx="1"/>
          </p:cNvCxnSpPr>
          <p:nvPr/>
        </p:nvCxnSpPr>
        <p:spPr>
          <a:xfrm flipV="1">
            <a:off x="2405467" y="3091394"/>
            <a:ext cx="3310813" cy="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CaixaDeTexto 364"/>
          <p:cNvSpPr txBox="1"/>
          <p:nvPr/>
        </p:nvSpPr>
        <p:spPr>
          <a:xfrm>
            <a:off x="1561459" y="2906764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sp>
        <p:nvSpPr>
          <p:cNvPr id="368" name="CaixaDeTexto 367"/>
          <p:cNvSpPr txBox="1"/>
          <p:nvPr/>
        </p:nvSpPr>
        <p:spPr>
          <a:xfrm>
            <a:off x="5716280" y="2906728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grpSp>
        <p:nvGrpSpPr>
          <p:cNvPr id="372" name="Grupo 371"/>
          <p:cNvGrpSpPr/>
          <p:nvPr/>
        </p:nvGrpSpPr>
        <p:grpSpPr>
          <a:xfrm>
            <a:off x="576000" y="585613"/>
            <a:ext cx="2127142" cy="1289658"/>
            <a:chOff x="5420958" y="456799"/>
            <a:chExt cx="2127142" cy="1289658"/>
          </a:xfrm>
        </p:grpSpPr>
        <p:grpSp>
          <p:nvGrpSpPr>
            <p:cNvPr id="373" name="Grupo 372"/>
            <p:cNvGrpSpPr/>
            <p:nvPr/>
          </p:nvGrpSpPr>
          <p:grpSpPr>
            <a:xfrm>
              <a:off x="5420958" y="456799"/>
              <a:ext cx="2127142" cy="1289658"/>
              <a:chOff x="2846472" y="600291"/>
              <a:chExt cx="2127142" cy="1289658"/>
            </a:xfrm>
          </p:grpSpPr>
          <p:sp>
            <p:nvSpPr>
              <p:cNvPr id="375" name="Retângulo 374"/>
              <p:cNvSpPr/>
              <p:nvPr/>
            </p:nvSpPr>
            <p:spPr>
              <a:xfrm>
                <a:off x="2846475" y="908589"/>
                <a:ext cx="1796400" cy="9813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376" name="CaixaDeTexto 375"/>
              <p:cNvSpPr txBox="1"/>
              <p:nvPr/>
            </p:nvSpPr>
            <p:spPr>
              <a:xfrm>
                <a:off x="2846473" y="600291"/>
                <a:ext cx="21271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400" b="1" dirty="0"/>
                  <a:t>(UN) Perímetros ms. </a:t>
                </a:r>
                <a:r>
                  <a:rPr lang="pt-PT" sz="1000" dirty="0"/>
                  <a:t>(ct005)</a:t>
                </a:r>
              </a:p>
            </p:txBody>
          </p:sp>
          <p:sp>
            <p:nvSpPr>
              <p:cNvPr id="377" name="CaixaDeTexto 376"/>
              <p:cNvSpPr txBox="1"/>
              <p:nvPr/>
            </p:nvSpPr>
            <p:spPr>
              <a:xfrm>
                <a:off x="2846474" y="1250168"/>
                <a:ext cx="17647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/>
                  <a:t>Contrato</a:t>
                </a:r>
                <a:r>
                  <a:rPr lang="pt-PT" sz="800" dirty="0"/>
                  <a:t> (</a:t>
                </a:r>
                <a:r>
                  <a:rPr lang="pt-PT" sz="800" dirty="0" err="1"/>
                  <a:t>cempresa</a:t>
                </a:r>
                <a:r>
                  <a:rPr lang="pt-PT" sz="800" dirty="0"/>
                  <a:t> … </a:t>
                </a:r>
                <a:r>
                  <a:rPr lang="pt-PT" sz="800" dirty="0" err="1"/>
                  <a:t>zdeposit</a:t>
                </a:r>
                <a:r>
                  <a:rPr lang="pt-PT" sz="800" dirty="0"/>
                  <a:t>)</a:t>
                </a:r>
              </a:p>
            </p:txBody>
          </p:sp>
          <p:sp>
            <p:nvSpPr>
              <p:cNvPr id="378" name="CaixaDeTexto 377"/>
              <p:cNvSpPr txBox="1"/>
              <p:nvPr/>
            </p:nvSpPr>
            <p:spPr>
              <a:xfrm>
                <a:off x="2846472" y="89128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Entidade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(entidade)</a:t>
                </a:r>
              </a:p>
            </p:txBody>
          </p:sp>
          <p:sp>
            <p:nvSpPr>
              <p:cNvPr id="379" name="CaixaDeTexto 378"/>
              <p:cNvSpPr txBox="1"/>
              <p:nvPr/>
            </p:nvSpPr>
            <p:spPr>
              <a:xfrm>
                <a:off x="2846472" y="1070168"/>
                <a:ext cx="18000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Perímetro 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nome_perímetro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380" name="CaixaDeTexto 379"/>
              <p:cNvSpPr txBox="1"/>
              <p:nvPr/>
            </p:nvSpPr>
            <p:spPr>
              <a:xfrm>
                <a:off x="2848079" y="1430168"/>
                <a:ext cx="14288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1200" dirty="0">
                    <a:solidFill>
                      <a:schemeClr val="bg2">
                        <a:lumMod val="25000"/>
                      </a:schemeClr>
                    </a:solidFill>
                  </a:rPr>
                  <a:t>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 (</a:t>
                </a:r>
                <a:r>
                  <a:rPr lang="pt-PT" sz="800" dirty="0" err="1">
                    <a:solidFill>
                      <a:schemeClr val="bg2">
                        <a:lumMod val="25000"/>
                      </a:schemeClr>
                    </a:solidFill>
                  </a:rPr>
                  <a:t>zcliente</a:t>
                </a:r>
                <a:r>
                  <a:rPr lang="pt-PT" sz="800" dirty="0">
                    <a:solidFill>
                      <a:schemeClr val="bg2">
                        <a:lumMod val="25000"/>
                      </a:schemeClr>
                    </a:solidFill>
                  </a:rPr>
                  <a:t>)</a:t>
                </a:r>
              </a:p>
            </p:txBody>
          </p:sp>
        </p:grpSp>
        <p:sp>
          <p:nvSpPr>
            <p:cNvPr id="374" name="CaixaDeTexto 373"/>
            <p:cNvSpPr txBox="1"/>
            <p:nvPr/>
          </p:nvSpPr>
          <p:spPr>
            <a:xfrm>
              <a:off x="5422557" y="1465200"/>
              <a:ext cx="14288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381" name="Conexão em ângulos retos 380"/>
          <p:cNvCxnSpPr>
            <a:stCxn id="382" idx="3"/>
            <a:endCxn id="383" idx="1"/>
          </p:cNvCxnSpPr>
          <p:nvPr/>
        </p:nvCxnSpPr>
        <p:spPr>
          <a:xfrm flipV="1">
            <a:off x="2405467" y="1077885"/>
            <a:ext cx="3310813" cy="36"/>
          </a:xfrm>
          <a:prstGeom prst="bentConnector3">
            <a:avLst>
              <a:gd name="adj1" fmla="val 50000"/>
            </a:avLst>
          </a:prstGeom>
          <a:ln w="3175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CaixaDeTexto 381"/>
          <p:cNvSpPr txBox="1"/>
          <p:nvPr/>
        </p:nvSpPr>
        <p:spPr>
          <a:xfrm>
            <a:off x="1561459" y="893255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sp>
        <p:nvSpPr>
          <p:cNvPr id="383" name="CaixaDeTexto 382"/>
          <p:cNvSpPr txBox="1"/>
          <p:nvPr/>
        </p:nvSpPr>
        <p:spPr>
          <a:xfrm>
            <a:off x="5716280" y="893219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grpSp>
        <p:nvGrpSpPr>
          <p:cNvPr id="149" name="Grupo 148"/>
          <p:cNvGrpSpPr/>
          <p:nvPr/>
        </p:nvGrpSpPr>
        <p:grpSpPr>
          <a:xfrm>
            <a:off x="9780107" y="587200"/>
            <a:ext cx="1898631" cy="1288015"/>
            <a:chOff x="7752922" y="1442413"/>
            <a:chExt cx="1898631" cy="1170920"/>
          </a:xfrm>
        </p:grpSpPr>
        <p:sp>
          <p:nvSpPr>
            <p:cNvPr id="150" name="Retângulo 149"/>
            <p:cNvSpPr/>
            <p:nvPr/>
          </p:nvSpPr>
          <p:spPr>
            <a:xfrm>
              <a:off x="7806679" y="1726702"/>
              <a:ext cx="1797844" cy="87835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1" name="CaixaDeTexto 150"/>
            <p:cNvSpPr txBox="1"/>
            <p:nvPr/>
          </p:nvSpPr>
          <p:spPr>
            <a:xfrm>
              <a:off x="7808087" y="2361516"/>
              <a:ext cx="1760898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Data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ref_date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52" name="CaixaDeTexto 151"/>
            <p:cNvSpPr txBox="1"/>
            <p:nvPr/>
          </p:nvSpPr>
          <p:spPr>
            <a:xfrm>
              <a:off x="7752922" y="1442413"/>
              <a:ext cx="1898631" cy="2797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b="1" dirty="0"/>
                <a:t>(FR) Balancetes </a:t>
              </a:r>
              <a:r>
                <a:rPr lang="pt-PT" sz="1000" dirty="0"/>
                <a:t>(fr002)</a:t>
              </a:r>
            </a:p>
          </p:txBody>
        </p:sp>
        <p:sp>
          <p:nvSpPr>
            <p:cNvPr id="164" name="CaixaDeTexto 163"/>
            <p:cNvSpPr txBox="1"/>
            <p:nvPr/>
          </p:nvSpPr>
          <p:spPr>
            <a:xfrm>
              <a:off x="7806676" y="1706972"/>
              <a:ext cx="180000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/>
                <a:t>Entidade</a:t>
              </a:r>
              <a:r>
                <a:rPr lang="pt-PT" sz="800" dirty="0"/>
                <a:t> (entidade)</a:t>
              </a:r>
            </a:p>
          </p:txBody>
        </p:sp>
        <p:sp>
          <p:nvSpPr>
            <p:cNvPr id="165" name="CaixaDeTexto 164"/>
            <p:cNvSpPr txBox="1"/>
            <p:nvPr/>
          </p:nvSpPr>
          <p:spPr>
            <a:xfrm>
              <a:off x="7806676" y="1870608"/>
              <a:ext cx="1800000" cy="251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nome_perímetro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66" name="CaixaDeTexto 165"/>
            <p:cNvSpPr txBox="1"/>
            <p:nvPr/>
          </p:nvSpPr>
          <p:spPr>
            <a:xfrm>
              <a:off x="7806684" y="2034244"/>
              <a:ext cx="1800000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Conta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cont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conta_contabilística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  <p:sp>
          <p:nvSpPr>
            <p:cNvPr id="173" name="CaixaDeTexto 172"/>
            <p:cNvSpPr txBox="1"/>
            <p:nvPr/>
          </p:nvSpPr>
          <p:spPr>
            <a:xfrm>
              <a:off x="7806714" y="2197880"/>
              <a:ext cx="1759644" cy="251817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Soc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 </a:t>
              </a:r>
              <a:r>
                <a:rPr lang="pt-PT" sz="1200" dirty="0" err="1">
                  <a:solidFill>
                    <a:schemeClr val="bg2">
                      <a:lumMod val="25000"/>
                    </a:schemeClr>
                  </a:solidFill>
                </a:rPr>
                <a:t>Cntp</a:t>
              </a:r>
              <a:r>
                <a:rPr lang="pt-PT" sz="1200" dirty="0">
                  <a:solidFill>
                    <a:schemeClr val="bg2">
                      <a:lumMod val="25000"/>
                    </a:schemeClr>
                  </a:solidFill>
                </a:rPr>
                <a:t>.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pt-PT" sz="800" dirty="0" err="1">
                  <a:solidFill>
                    <a:schemeClr val="bg2">
                      <a:lumMod val="25000"/>
                    </a:schemeClr>
                  </a:solidFill>
                </a:rPr>
                <a:t>sociedade_contraparte</a:t>
              </a:r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</p:txBody>
        </p:sp>
      </p:grpSp>
      <p:cxnSp>
        <p:nvCxnSpPr>
          <p:cNvPr id="174" name="Conexão em ângulos retos 173"/>
          <p:cNvCxnSpPr>
            <a:stCxn id="165" idx="1"/>
            <a:endCxn id="126" idx="3"/>
          </p:cNvCxnSpPr>
          <p:nvPr/>
        </p:nvCxnSpPr>
        <p:spPr>
          <a:xfrm rot="10800000">
            <a:off x="9226219" y="1195898"/>
            <a:ext cx="607642" cy="8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xão em ângulos retos 174"/>
          <p:cNvCxnSpPr>
            <a:stCxn id="164" idx="1"/>
            <a:endCxn id="127" idx="3"/>
          </p:cNvCxnSpPr>
          <p:nvPr/>
        </p:nvCxnSpPr>
        <p:spPr>
          <a:xfrm rot="10800000">
            <a:off x="9226219" y="1015898"/>
            <a:ext cx="607643" cy="819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62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0860FD-C79D-41CE-84B0-D51BB2CCE5B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a9b50dc7-8f72-473c-8b7e-4a8c46ecad32"/>
    <ds:schemaRef ds:uri="7b1ec8e5-5652-48eb-8550-a56a35f5f817"/>
  </ds:schemaRefs>
</ds:datastoreItem>
</file>

<file path=customXml/itemProps2.xml><?xml version="1.0" encoding="utf-8"?>
<ds:datastoreItem xmlns:ds="http://schemas.openxmlformats.org/officeDocument/2006/customXml" ds:itemID="{B91A42F3-655C-4C08-B698-63451E0B69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20E14F-88D2-4FFA-8F60-D0D16845374D}"/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1110</Words>
  <Application>Microsoft Office PowerPoint</Application>
  <PresentationFormat>Widescreen</PresentationFormat>
  <Paragraphs>207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do Office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Luis Afonso Capitão-Mor Costa Silva</cp:lastModifiedBy>
  <cp:revision>166</cp:revision>
  <cp:lastPrinted>2019-07-25T17:04:52Z</cp:lastPrinted>
  <dcterms:created xsi:type="dcterms:W3CDTF">2019-07-14T08:20:24Z</dcterms:created>
  <dcterms:modified xsi:type="dcterms:W3CDTF">2025-07-30T11:09:14Z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S800686@corp.santander.pt</vt:lpwstr>
  </property>
  <property fmtid="{D5CDD505-2E9C-101B-9397-08002B2CF9AE}" pid="5" name="MSIP_Label_0c2abd79-57a9-4473-8700-c843f76a1e37_SetDate">
    <vt:lpwstr>2020-09-23T08:09:49.0221462Z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edabaa88-6ee1-4b74-b5a2-841c6fd05250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0x010100C6D051AEB2C48B458F82B58F7F6D9A00</vt:lpwstr>
  </property>
  <property fmtid="{D5CDD505-2E9C-101B-9397-08002B2CF9AE}" pid="12" name="MediaServiceImageTags">
    <vt:lpwstr/>
  </property>
</Properties>
</file>