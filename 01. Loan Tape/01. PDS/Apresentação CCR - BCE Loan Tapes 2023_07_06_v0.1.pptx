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6" r:id="rId5"/>
  </p:sldMasterIdLst>
  <p:notesMasterIdLst>
    <p:notesMasterId r:id="rId19"/>
  </p:notesMasterIdLst>
  <p:handoutMasterIdLst>
    <p:handoutMasterId r:id="rId20"/>
  </p:handoutMasterIdLst>
  <p:sldIdLst>
    <p:sldId id="256" r:id="rId6"/>
    <p:sldId id="268" r:id="rId7"/>
    <p:sldId id="269" r:id="rId8"/>
    <p:sldId id="307" r:id="rId9"/>
    <p:sldId id="281" r:id="rId10"/>
    <p:sldId id="340" r:id="rId11"/>
    <p:sldId id="346" r:id="rId12"/>
    <p:sldId id="320" r:id="rId13"/>
    <p:sldId id="327" r:id="rId14"/>
    <p:sldId id="339" r:id="rId15"/>
    <p:sldId id="337" r:id="rId16"/>
    <p:sldId id="291" r:id="rId17"/>
    <p:sldId id="347" r:id="rId18"/>
  </p:sldIdLst>
  <p:sldSz cx="12192000" cy="7092950"/>
  <p:notesSz cx="6858000" cy="9144000"/>
  <p:defaultTextStyle>
    <a:defPPr>
      <a:defRPr lang="es-ES"/>
    </a:defPPr>
    <a:lvl1pPr marL="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7052007-4DCB-4C2D-9175-F0991BD2B084}" name="Nádia Genebra Ahmad" initials="NGA" userId="S::E800421@corp.santander.pt::36126275-cace-419f-8e9b-04679c4f8ea6" providerId="AD"/>
  <p188:author id="{5530C24D-D28C-D75B-0EE4-42D00824D0E5}" name="Joana Almeida Braga" initials="JAB" userId="S::E801175@corp.santander.pt::5324559c-7c64-4675-85eb-982253e79626" providerId="AD"/>
  <p188:author id="{636B5556-3D72-E2F0-6E87-C9E5E1972C66}" name="Ahmad, Nadia Genebra" initials="ANG" userId="S::nahmad@neyond.pt::2eef2cf0-e606-4076-8505-6d6658fa1c4a" providerId="AD"/>
  <p188:author id="{CF54145C-D43F-5994-973F-B0FF786F1D59}" name="Braga, Joana Almeida" initials="BJA" userId="S::jbraga@neyond.pt::88d3c117-1e60-43e5-87a4-0233f3490ff4" providerId="AD"/>
  <p188:author id="{1BF7525D-60EC-A2DC-437F-FE195A72693A}" name="Reia, Hugo Alexandre" initials="RHA" userId="S::hreia@neyond.pt::dee69c61-2ac7-4b82-bc09-1c91e89a6358" providerId="AD"/>
  <p188:author id="{6DC05CBA-2895-20DA-C20B-07DC48541C05}" name="Godinho, Luis" initials="GL" userId="S::lgodinho@neyond.pt::73da12d6-0d4b-484b-8b4c-3d031c51bbca" providerId="AD"/>
  <p188:author id="{21CC8AC5-2B7D-5932-B6F8-F7417089F364}" name="Inês Carreto Ramos" initials="ICR" userId="S::E804056@corp.santander.pt::f425b684-020a-4888-ac48-c997bed6f92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xo, Dora Silva" initials="RDS" lastIdx="27" clrIdx="0">
    <p:extLst>
      <p:ext uri="{19B8F6BF-5375-455C-9EA6-DF929625EA0E}">
        <p15:presenceInfo xmlns:p15="http://schemas.microsoft.com/office/powerpoint/2012/main" userId="S::droxo@epimetheus.pt::d97429f7-5259-4f73-a74a-65d4c655fa50" providerId="AD"/>
      </p:ext>
    </p:extLst>
  </p:cmAuthor>
  <p:cmAuthor id="2" name="Hugo Alexandre" initials="HA" lastIdx="8" clrIdx="1">
    <p:extLst>
      <p:ext uri="{19B8F6BF-5375-455C-9EA6-DF929625EA0E}">
        <p15:presenceInfo xmlns:p15="http://schemas.microsoft.com/office/powerpoint/2012/main" userId="S::hreia@epimetheus.pt::dee69c61-2ac7-4b82-bc09-1c91e89a635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B967"/>
    <a:srgbClr val="FFFFFF"/>
    <a:srgbClr val="767171"/>
    <a:srgbClr val="7F7F7F"/>
    <a:srgbClr val="BFBFBF"/>
    <a:srgbClr val="A6A6A6"/>
    <a:srgbClr val="D9D9D9"/>
    <a:srgbClr val="C5C8C9"/>
    <a:srgbClr val="E6E6E6"/>
    <a:srgbClr val="A8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46" y="67"/>
      </p:cViewPr>
      <p:guideLst>
        <p:guide orient="horz" pos="2160"/>
        <p:guide pos="3840"/>
        <p:guide orient="horz" pos="22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218522572182592E-2"/>
          <c:y val="9.8127784280659186E-2"/>
          <c:w val="0.77770938640031972"/>
          <c:h val="0.80098349699948412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62B967"/>
            </a:solidFill>
            <a:ln>
              <a:solidFill>
                <a:schemeClr val="bg1"/>
              </a:solidFill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DCF-4643-8D51-6E65D48849D4}"/>
              </c:ext>
            </c:extLst>
          </c:dPt>
          <c:cat>
            <c:strRef>
              <c:f>Sheet1!$A$2</c:f>
              <c:strCache>
                <c:ptCount val="1"/>
                <c:pt idx="0">
                  <c:v>Campos com dados e com qualidade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CF-4643-8D51-6E65D48849D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Campos com dados e com qualidade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A9-431D-A68D-863D30A5575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Campos com dados e com qualidade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9A9-431D-A68D-863D30A5575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Column3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Campos com dados e com qualidade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9A9-431D-A68D-863D30A557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3"/>
        <c:overlap val="100"/>
        <c:axId val="61051663"/>
        <c:axId val="61034863"/>
      </c:barChart>
      <c:valAx>
        <c:axId val="61034863"/>
        <c:scaling>
          <c:orientation val="minMax"/>
          <c:min val="0"/>
        </c:scaling>
        <c:delete val="1"/>
        <c:axPos val="t"/>
        <c:numFmt formatCode="0%" sourceLinked="1"/>
        <c:majorTickMark val="out"/>
        <c:minorTickMark val="none"/>
        <c:tickLblPos val="nextTo"/>
        <c:crossAx val="61051663"/>
        <c:crosses val="autoZero"/>
        <c:crossBetween val="between"/>
      </c:valAx>
      <c:catAx>
        <c:axId val="61051663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6103486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218522572182592E-2"/>
          <c:y val="9.8127784280659186E-2"/>
          <c:w val="0.77770938640031972"/>
          <c:h val="0.80098349699948412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  <a:effectLst>
              <a:outerShdw blurRad="254000" sx="102000" sy="102000" algn="ctr" rotWithShape="0">
                <a:prstClr val="black">
                  <a:alpha val="20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95000"/>
                </a:schemeClr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AEC-4C95-8721-CF0787B5E209}"/>
              </c:ext>
            </c:extLst>
          </c:dPt>
          <c:cat>
            <c:strRef>
              <c:f>Sheet1!$A$2</c:f>
              <c:strCache>
                <c:ptCount val="1"/>
                <c:pt idx="0">
                  <c:v>Campos com dados e com qualidade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AEC-4C95-8721-CF0787B5E20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Campos com dados e com qualidade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AEC-4C95-8721-CF0787B5E20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Campos com dados e com qualidade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AEC-4C95-8721-CF0787B5E20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Column3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Campos com dados e com qualidade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AEC-4C95-8721-CF0787B5E2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3"/>
        <c:overlap val="100"/>
        <c:axId val="61051663"/>
        <c:axId val="61034863"/>
      </c:barChart>
      <c:valAx>
        <c:axId val="61034863"/>
        <c:scaling>
          <c:orientation val="minMax"/>
          <c:min val="0"/>
        </c:scaling>
        <c:delete val="1"/>
        <c:axPos val="b"/>
        <c:numFmt formatCode="0%" sourceLinked="1"/>
        <c:majorTickMark val="out"/>
        <c:minorTickMark val="none"/>
        <c:tickLblPos val="nextTo"/>
        <c:crossAx val="61051663"/>
        <c:crosses val="autoZero"/>
        <c:crossBetween val="between"/>
      </c:valAx>
      <c:catAx>
        <c:axId val="61051663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6103486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218522572182592E-2"/>
          <c:y val="9.8127784280659186E-2"/>
          <c:w val="0.77770938640031972"/>
          <c:h val="0.80098349699948412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C90-4E29-9DD0-4A5F8D3885E4}"/>
              </c:ext>
            </c:extLst>
          </c:dPt>
          <c:cat>
            <c:strRef>
              <c:f>Sheet1!$A$2</c:f>
              <c:strCache>
                <c:ptCount val="1"/>
                <c:pt idx="0">
                  <c:v>Campos com dados e com qualidade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C90-4E29-9DD0-4A5F8D3885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Campos com dados e com qualidade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C90-4E29-9DD0-4A5F8D3885E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6"/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Campos com dados e com qualidade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C90-4E29-9DD0-4A5F8D3885E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Column3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Campos com dados e com qualidade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C90-4E29-9DD0-4A5F8D3885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3"/>
        <c:overlap val="100"/>
        <c:axId val="61051663"/>
        <c:axId val="61034863"/>
      </c:barChart>
      <c:valAx>
        <c:axId val="61034863"/>
        <c:scaling>
          <c:orientation val="minMax"/>
          <c:min val="0"/>
        </c:scaling>
        <c:delete val="1"/>
        <c:axPos val="b"/>
        <c:numFmt formatCode="0%" sourceLinked="1"/>
        <c:majorTickMark val="out"/>
        <c:minorTickMark val="none"/>
        <c:tickLblPos val="nextTo"/>
        <c:crossAx val="61051663"/>
        <c:crosses val="autoZero"/>
        <c:crossBetween val="between"/>
      </c:valAx>
      <c:catAx>
        <c:axId val="61051663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6103486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218522572182592E-2"/>
          <c:y val="9.8127784280659186E-2"/>
          <c:w val="0.77770938640031972"/>
          <c:h val="0.80098349699948412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A36-4645-A071-15FD9FA88548}"/>
              </c:ext>
            </c:extLst>
          </c:dPt>
          <c:cat>
            <c:strRef>
              <c:f>Sheet1!$A$2</c:f>
              <c:strCache>
                <c:ptCount val="1"/>
                <c:pt idx="0">
                  <c:v>Campos com dados e com qualidade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36-4645-A071-15FD9FA885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Campos com dados e com qualidade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A36-4645-A071-15FD9FA8854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Campos com dados e com qualidade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A36-4645-A071-15FD9FA8854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Column3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Campos com dados e com qualidade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A36-4645-A071-15FD9FA885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3"/>
        <c:overlap val="100"/>
        <c:axId val="61051663"/>
        <c:axId val="61034863"/>
      </c:barChart>
      <c:valAx>
        <c:axId val="61034863"/>
        <c:scaling>
          <c:orientation val="minMax"/>
          <c:min val="0"/>
        </c:scaling>
        <c:delete val="1"/>
        <c:axPos val="b"/>
        <c:numFmt formatCode="0%" sourceLinked="1"/>
        <c:majorTickMark val="out"/>
        <c:minorTickMark val="none"/>
        <c:tickLblPos val="nextTo"/>
        <c:crossAx val="61051663"/>
        <c:crosses val="autoZero"/>
        <c:crossBetween val="between"/>
      </c:valAx>
      <c:catAx>
        <c:axId val="61051663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6103486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4252186938664694E-2"/>
          <c:y val="0.13117841994809304"/>
          <c:w val="0.33005530999004679"/>
          <c:h val="0.9326708035047328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rgbClr val="C00000"/>
              </a:solidFill>
              <a:ln>
                <a:solidFill>
                  <a:schemeClr val="bg1"/>
                </a:solidFill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93A-4D7E-96A9-C50658823C7B}"/>
              </c:ext>
            </c:extLst>
          </c:dPt>
          <c:dPt>
            <c:idx val="1"/>
            <c:bubble3D val="0"/>
            <c:spPr>
              <a:solidFill>
                <a:schemeClr val="tx2"/>
              </a:solidFill>
              <a:ln>
                <a:solidFill>
                  <a:schemeClr val="bg1"/>
                </a:solidFill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64D4-4B82-8A63-EDB37FD31430}"/>
              </c:ext>
            </c:extLst>
          </c:dPt>
          <c:dPt>
            <c:idx val="2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64D4-4B82-8A63-EDB37FD31430}"/>
              </c:ext>
            </c:extLst>
          </c:dPt>
          <c:dPt>
            <c:idx val="3"/>
            <c:bubble3D val="0"/>
            <c:spPr>
              <a:solidFill>
                <a:schemeClr val="accent5">
                  <a:lumMod val="75000"/>
                </a:schemeClr>
              </a:solidFill>
              <a:ln>
                <a:solidFill>
                  <a:schemeClr val="bg1"/>
                </a:solidFill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C93A-4D7E-96A9-C50658823C7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4D4-4B82-8A63-EDB37FD31430}"/>
              </c:ext>
            </c:extLst>
          </c:dPt>
          <c:dPt>
            <c:idx val="5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977E-4767-BCB2-285DC4FE2BC6}"/>
              </c:ext>
            </c:extLst>
          </c:dPt>
          <c:dLbls>
            <c:dLbl>
              <c:idx val="4"/>
              <c:layout>
                <c:manualLayout>
                  <c:x val="2.80617599765382E-2"/>
                  <c:y val="7.2088149616398901E-3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4D4-4B82-8A63-EDB37FD31430}"/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lt1"/>
                    </a:solidFill>
                    <a:latin typeface="Santander Text" panose="020B0504020201020104" pitchFamily="34" charset="0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Necessárias correções na LT</c:v>
                </c:pt>
                <c:pt idx="1">
                  <c:v>Data quality c/ plano de remediação definido</c:v>
                </c:pt>
                <c:pt idx="2">
                  <c:v>Data quality por analisar</c:v>
                </c:pt>
                <c:pt idx="3">
                  <c:v>Alertas por justificar</c:v>
                </c:pt>
                <c:pt idx="4">
                  <c:v>Alertas justificados</c:v>
                </c:pt>
                <c:pt idx="5">
                  <c:v>Diferenças nas reconciliações contabilísticas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</c:v>
                </c:pt>
                <c:pt idx="1">
                  <c:v>22</c:v>
                </c:pt>
                <c:pt idx="2">
                  <c:v>2</c:v>
                </c:pt>
                <c:pt idx="3">
                  <c:v>27</c:v>
                </c:pt>
                <c:pt idx="4">
                  <c:v>33</c:v>
                </c:pt>
                <c:pt idx="5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D4-4B82-8A63-EDB37FD31430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000" b="0" i="1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</c:legendEntry>
      <c:layout>
        <c:manualLayout>
          <c:xMode val="edge"/>
          <c:yMode val="edge"/>
          <c:x val="0.47765510611900863"/>
          <c:y val="4.2538313337068152E-2"/>
          <c:w val="0.51693652925604605"/>
          <c:h val="0.9066643143224805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29/08/2025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29/08/2025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6288" y="1143000"/>
            <a:ext cx="5305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7679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76288" y="1143000"/>
            <a:ext cx="53054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486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7725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9785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8120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2322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3089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9772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6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6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3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6876" indent="0" algn="ctr">
              <a:buNone/>
              <a:defRPr sz="2000"/>
            </a:lvl2pPr>
            <a:lvl3pPr marL="913751" indent="0" algn="ctr">
              <a:buNone/>
              <a:defRPr sz="1800"/>
            </a:lvl3pPr>
            <a:lvl4pPr marL="1370624" indent="0" algn="ctr">
              <a:buNone/>
              <a:defRPr sz="1600"/>
            </a:lvl4pPr>
            <a:lvl5pPr marL="1827498" indent="0" algn="ctr">
              <a:buNone/>
              <a:defRPr sz="1600"/>
            </a:lvl5pPr>
            <a:lvl6pPr marL="2284377" indent="0" algn="ctr">
              <a:buNone/>
              <a:defRPr sz="1600"/>
            </a:lvl6pPr>
            <a:lvl7pPr marL="2741250" indent="0" algn="ctr">
              <a:buNone/>
              <a:defRPr sz="1600"/>
            </a:lvl7pPr>
            <a:lvl8pPr marL="3198124" indent="0" algn="ctr">
              <a:buNone/>
              <a:defRPr sz="1600"/>
            </a:lvl8pPr>
            <a:lvl9pPr marL="3654998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5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6876" indent="0">
              <a:buNone/>
              <a:defRPr sz="1300">
                <a:solidFill>
                  <a:schemeClr val="tx2"/>
                </a:solidFill>
              </a:defRPr>
            </a:lvl2pPr>
            <a:lvl3pPr marL="913751" indent="0">
              <a:buNone/>
              <a:defRPr sz="1300">
                <a:solidFill>
                  <a:schemeClr val="tx2"/>
                </a:solidFill>
              </a:defRPr>
            </a:lvl3pPr>
            <a:lvl4pPr marL="1370624" indent="0">
              <a:buNone/>
              <a:defRPr sz="1300">
                <a:solidFill>
                  <a:schemeClr val="tx2"/>
                </a:solidFill>
              </a:defRPr>
            </a:lvl4pPr>
            <a:lvl5pPr marL="182749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1"/>
            <a:ext cx="1849821" cy="400041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2000">
                <a:solidFill>
                  <a:schemeClr val="accent1"/>
                </a:solidFill>
                <a:latin typeface="Santander Headline" panose="020B0504020201020104" pitchFamily="34" charset="0"/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692" indent="-395719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9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8" y="3199548"/>
            <a:ext cx="10758733" cy="3189036"/>
          </a:xfrm>
        </p:spPr>
        <p:txBody>
          <a:bodyPr numCol="2" spcCol="719487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  <a:latin typeface="Santander Headline" panose="020B0504020201020104" pitchFamily="34" charset="0"/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0" y="1124721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1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9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5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9" y="1232635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2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9"/>
            <a:ext cx="3365479" cy="1292593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pt-PT" sz="13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300">
              <a:solidFill>
                <a:schemeClr val="tx2"/>
              </a:solidFill>
            </a:endParaRPr>
          </a:p>
          <a:p>
            <a:r>
              <a:rPr lang="pt-PT" sz="1300">
                <a:solidFill>
                  <a:schemeClr val="tx2"/>
                </a:solidFill>
              </a:rPr>
              <a:t>A nossa cultura baseia-se no princípio</a:t>
            </a:r>
            <a:r>
              <a:rPr lang="pt-PT" sz="1300" baseline="0">
                <a:solidFill>
                  <a:schemeClr val="tx2"/>
                </a:solidFill>
              </a:rPr>
              <a:t> </a:t>
            </a:r>
            <a:r>
              <a:rPr lang="pt-PT" sz="1300">
                <a:solidFill>
                  <a:schemeClr val="tx2"/>
                </a:solidFill>
              </a:rPr>
              <a:t>de que tudo</a:t>
            </a:r>
            <a:r>
              <a:rPr lang="pt-PT" sz="1300" baseline="0">
                <a:solidFill>
                  <a:schemeClr val="tx2"/>
                </a:solidFill>
              </a:rPr>
              <a:t> o </a:t>
            </a:r>
            <a:r>
              <a:rPr lang="pt-PT" sz="13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1" y="649714"/>
            <a:ext cx="3365479" cy="732138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4000" err="1">
                <a:solidFill>
                  <a:schemeClr val="accent1"/>
                </a:solidFill>
              </a:rPr>
              <a:t>Obrigado</a:t>
            </a:r>
            <a:r>
              <a:rPr lang="es-ES" sz="400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8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3279342"/>
              </p:ext>
            </p:extLst>
          </p:nvPr>
        </p:nvGraphicFramePr>
        <p:xfrm>
          <a:off x="1589" y="1643"/>
          <a:ext cx="1587" cy="1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270" imgH="270" progId="TCLayout.ActiveDocument.1">
                  <p:embed/>
                </p:oleObj>
              </mc:Choice>
              <mc:Fallback>
                <p:oleObj name="Diapositiva de think-cell" r:id="rId3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643"/>
                        <a:ext cx="1587" cy="16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13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642" y="6476869"/>
            <a:ext cx="1172108" cy="212585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48649"/>
            <a:ext cx="10758734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6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940589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8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815400"/>
            <a:ext cx="4934309" cy="251992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15"/>
              </a:spcAft>
              <a:buNone/>
              <a:defRPr sz="2000">
                <a:solidFill>
                  <a:schemeClr val="tx2"/>
                </a:solidFill>
              </a:defRPr>
            </a:lvl1pPr>
            <a:lvl2pPr marL="462483" indent="0" algn="ctr">
              <a:buNone/>
              <a:defRPr sz="2000"/>
            </a:lvl2pPr>
            <a:lvl3pPr marL="924967" indent="0" algn="ctr">
              <a:buNone/>
              <a:defRPr sz="1800"/>
            </a:lvl3pPr>
            <a:lvl4pPr marL="1387450" indent="0" algn="ctr">
              <a:buNone/>
              <a:defRPr sz="1600"/>
            </a:lvl4pPr>
            <a:lvl5pPr marL="1849933" indent="0" algn="ctr">
              <a:buNone/>
              <a:defRPr sz="1600"/>
            </a:lvl5pPr>
            <a:lvl6pPr marL="2312414" indent="0" algn="ctr">
              <a:buNone/>
              <a:defRPr sz="1600"/>
            </a:lvl6pPr>
            <a:lvl7pPr marL="2774901" indent="0" algn="ctr">
              <a:buNone/>
              <a:defRPr sz="1600"/>
            </a:lvl7pPr>
            <a:lvl8pPr marL="3237382" indent="0" algn="ctr">
              <a:buNone/>
              <a:defRPr sz="1600"/>
            </a:lvl8pPr>
            <a:lvl9pPr marL="3699865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7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62483" indent="0">
              <a:buNone/>
              <a:defRPr sz="1300">
                <a:solidFill>
                  <a:schemeClr val="tx2"/>
                </a:solidFill>
              </a:defRPr>
            </a:lvl2pPr>
            <a:lvl3pPr marL="924967" indent="0">
              <a:buNone/>
              <a:defRPr sz="1300">
                <a:solidFill>
                  <a:schemeClr val="tx2"/>
                </a:solidFill>
              </a:defRPr>
            </a:lvl3pPr>
            <a:lvl4pPr marL="1387450" indent="0">
              <a:buNone/>
              <a:defRPr sz="1300">
                <a:solidFill>
                  <a:schemeClr val="tx2"/>
                </a:solidFill>
              </a:defRPr>
            </a:lvl4pPr>
            <a:lvl5pPr marL="1849933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7236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2"/>
            <a:ext cx="1849821" cy="324591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6992" indent="-400577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86714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77125" y="82637"/>
            <a:ext cx="10515600" cy="721375"/>
          </a:xfrm>
        </p:spPr>
        <p:txBody>
          <a:bodyPr vert="horz" lIns="123329" tIns="61666" rIns="123329" bIns="61666" rtlCol="0" anchor="t">
            <a:noAutofit/>
          </a:bodyPr>
          <a:lstStyle>
            <a:lvl1pPr>
              <a:defRPr lang="pt-PT"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11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7127" y="1124713"/>
            <a:ext cx="10903849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1852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80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4000">
                <a:solidFill>
                  <a:schemeClr val="tx1"/>
                </a:solidFill>
              </a:defRPr>
            </a:lvl2pPr>
            <a:lvl3pPr>
              <a:defRPr sz="11600">
                <a:solidFill>
                  <a:schemeClr val="tx1"/>
                </a:solidFill>
              </a:defRPr>
            </a:lvl3pPr>
            <a:lvl4pPr>
              <a:defRPr sz="9700">
                <a:solidFill>
                  <a:schemeClr val="tx1"/>
                </a:solidFill>
              </a:defRPr>
            </a:lvl4pPr>
            <a:lvl5pPr>
              <a:defRPr sz="97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00938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900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199548"/>
            <a:ext cx="10758733" cy="3189036"/>
          </a:xfrm>
        </p:spPr>
        <p:txBody>
          <a:bodyPr numCol="2" spcCol="97109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50782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04866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1" y="1124722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3" y="1124694"/>
            <a:ext cx="6683551" cy="5298368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69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91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3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46419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0" y="1232631"/>
            <a:ext cx="6456737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3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79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83"/>
            <a:ext cx="1347483" cy="47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10"/>
            <a:ext cx="3365479" cy="1324865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1233288"/>
            <a:endParaRPr lang="pt-PT" sz="1300">
              <a:solidFill>
                <a:srgbClr val="6E7678"/>
              </a:solidFill>
            </a:endParaRPr>
          </a:p>
          <a:p>
            <a:pPr defTabSz="1233288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3" y="649715"/>
            <a:ext cx="3365479" cy="763970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56" y="3576683"/>
            <a:ext cx="3046637" cy="30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2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373" tIns="45686" rIns="91373" bIns="4568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373" tIns="45686" rIns="91373" bIns="4568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89" r:id="rId11"/>
  </p:sldLayoutIdLst>
  <p:hf hdr="0" ftr="0" dt="0"/>
  <p:txStyles>
    <p:titleStyle>
      <a:lvl1pPr algn="l" defTabSz="91375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38" indent="-228438" algn="l" defTabSz="91375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31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189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061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93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812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68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56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438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76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51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6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4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377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5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1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9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123329" tIns="61666" rIns="123329" bIns="6166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70"/>
            <a:ext cx="10515600" cy="4500412"/>
          </a:xfrm>
          <a:prstGeom prst="rect">
            <a:avLst/>
          </a:prstGeom>
        </p:spPr>
        <p:txBody>
          <a:bodyPr vert="horz" lIns="123329" tIns="61666" rIns="123329" bIns="6166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1233288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30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ftr="0" dt="0"/>
  <p:txStyles>
    <p:titleStyle>
      <a:lvl1pPr algn="l" defTabSz="924967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243" indent="-231243" algn="l" defTabSz="924967" rtl="0" eaLnBrk="1" latinLnBrk="0" hangingPunct="1">
        <a:lnSpc>
          <a:spcPct val="90000"/>
        </a:lnSpc>
        <a:spcBef>
          <a:spcPts val="1012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3726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56207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69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81174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658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06140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6862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931105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248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4967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45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93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12414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901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37382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99865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25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jpeg"/><Relationship Id="rId18" Type="http://schemas.openxmlformats.org/officeDocument/2006/relationships/image" Target="../media/image4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26.jpeg"/><Relationship Id="rId16" Type="http://schemas.openxmlformats.org/officeDocument/2006/relationships/image" Target="../media/image40.svg"/><Relationship Id="rId20" Type="http://schemas.openxmlformats.org/officeDocument/2006/relationships/image" Target="../media/image44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748" y="1546412"/>
            <a:ext cx="11340264" cy="645459"/>
          </a:xfrm>
        </p:spPr>
        <p:txBody>
          <a:bodyPr>
            <a:normAutofit/>
          </a:bodyPr>
          <a:lstStyle/>
          <a:p>
            <a:r>
              <a:rPr lang="es-ES" err="1"/>
              <a:t>Projeto</a:t>
            </a:r>
            <a:r>
              <a:rPr lang="es-ES"/>
              <a:t> </a:t>
            </a:r>
            <a:r>
              <a:rPr lang="es-ES" i="1"/>
              <a:t>Loan Tape </a:t>
            </a:r>
            <a:r>
              <a:rPr lang="es-ES"/>
              <a:t>BCE: Ponto de </a:t>
            </a:r>
            <a:r>
              <a:rPr lang="es-ES" err="1"/>
              <a:t>situação</a:t>
            </a:r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46C0DCE-BC9C-49A6-A719-B8608011D8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CDO	Lisboa</a:t>
            </a:r>
            <a:r>
              <a:rPr lang="es-ES">
                <a:solidFill>
                  <a:schemeClr val="bg2">
                    <a:lumMod val="50000"/>
                  </a:schemeClr>
                </a:solidFill>
              </a:rPr>
              <a:t>	06/Jul/</a:t>
            </a:r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2023</a:t>
            </a:r>
          </a:p>
        </p:txBody>
      </p:sp>
      <p:sp>
        <p:nvSpPr>
          <p:cNvPr id="5" name="CuadroTexto 7"/>
          <p:cNvSpPr txBox="1"/>
          <p:nvPr/>
        </p:nvSpPr>
        <p:spPr>
          <a:xfrm>
            <a:off x="5031441" y="365329"/>
            <a:ext cx="68557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>
                <a:solidFill>
                  <a:schemeClr val="bg2">
                    <a:lumMod val="50000"/>
                  </a:schemeClr>
                </a:solidFill>
              </a:rPr>
              <a:t>Para </a:t>
            </a:r>
            <a:r>
              <a:rPr lang="en-US" sz="1300" err="1">
                <a:solidFill>
                  <a:schemeClr val="bg2">
                    <a:lumMod val="50000"/>
                  </a:schemeClr>
                </a:solidFill>
              </a:rPr>
              <a:t>conhecimento</a:t>
            </a:r>
            <a:r>
              <a:rPr lang="en-US" sz="1300">
                <a:solidFill>
                  <a:schemeClr val="bg2">
                    <a:lumMod val="50000"/>
                  </a:schemeClr>
                </a:solidFill>
              </a:rPr>
              <a:t>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6189" y="2680456"/>
            <a:ext cx="9964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PT" sz="2000" dirty="0">
                <a:solidFill>
                  <a:schemeClr val="tx2"/>
                </a:solidFill>
              </a:rPr>
              <a:t>Comité de xxxx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689" y="3644153"/>
            <a:ext cx="9818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solidFill>
                  <a:schemeClr val="bg2">
                    <a:lumMod val="50000"/>
                  </a:schemeClr>
                </a:solidFill>
              </a:rPr>
              <a:t>Apresentador: x</a:t>
            </a:r>
          </a:p>
          <a:p>
            <a:r>
              <a:rPr lang="pt-PT" sz="1600" dirty="0">
                <a:solidFill>
                  <a:schemeClr val="bg2">
                    <a:lumMod val="50000"/>
                  </a:schemeClr>
                </a:solidFill>
              </a:rPr>
              <a:t>Autor: x</a:t>
            </a:r>
          </a:p>
          <a:p>
            <a:endParaRPr lang="pt-PT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565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D7B61F-31A8-4435-8741-CD328CABF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5506" y="1137933"/>
            <a:ext cx="10635843" cy="2492921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es-ES" sz="2400" err="1">
                <a:latin typeface="Santander Headline" panose="020B0504020201020104" pitchFamily="34" charset="0"/>
              </a:rPr>
              <a:t>Sumário</a:t>
            </a:r>
            <a:r>
              <a:rPr lang="es-ES" sz="2400">
                <a:latin typeface="Santander Headline" panose="020B0504020201020104" pitchFamily="34" charset="0"/>
              </a:rPr>
              <a:t> Executivo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pt-BR" sz="2400">
                <a:latin typeface="Santander Headline" panose="020B0504020201020104" pitchFamily="34" charset="0"/>
              </a:rPr>
              <a:t>Projeto </a:t>
            </a:r>
            <a:r>
              <a:rPr lang="pt-BR" sz="2400" i="1" err="1">
                <a:latin typeface="Santander Headline" panose="020B0504020201020104" pitchFamily="34" charset="0"/>
              </a:rPr>
              <a:t>Loan</a:t>
            </a:r>
            <a:r>
              <a:rPr lang="pt-BR" sz="2400" i="1">
                <a:latin typeface="Santander Headline" panose="020B0504020201020104" pitchFamily="34" charset="0"/>
              </a:rPr>
              <a:t> Tape</a:t>
            </a:r>
            <a:r>
              <a:rPr lang="pt-BR" sz="2400">
                <a:latin typeface="Santander Headline" panose="020B0504020201020104" pitchFamily="34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en-US" sz="2400">
                <a:latin typeface="Santander Headline" panose="020B0504020201020104" pitchFamily="34" charset="0"/>
              </a:rPr>
              <a:t>OSI SCIB</a:t>
            </a:r>
            <a:endParaRPr lang="es-ES" sz="2400">
              <a:latin typeface="Santander Headline" panose="020B0504020201020104" pitchFamily="34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ct val="100000"/>
            </a:pPr>
            <a:r>
              <a:rPr lang="es-ES" sz="2400">
                <a:latin typeface="Santander Headline" panose="020B0504020201020104" pitchFamily="34" charset="0"/>
              </a:rPr>
              <a:t>Próximos </a:t>
            </a:r>
            <a:r>
              <a:rPr lang="es-ES" sz="2400" err="1">
                <a:latin typeface="Santander Headline" panose="020B0504020201020104" pitchFamily="34" charset="0"/>
              </a:rPr>
              <a:t>passos</a:t>
            </a:r>
            <a:endParaRPr lang="es-ES" sz="2400" i="1">
              <a:latin typeface="Santander Headline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796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7"/>
          <p:cNvSpPr/>
          <p:nvPr/>
        </p:nvSpPr>
        <p:spPr bwMode="auto">
          <a:xfrm>
            <a:off x="377068" y="924096"/>
            <a:ext cx="1470900" cy="847104"/>
          </a:xfrm>
          <a:prstGeom prst="rect">
            <a:avLst/>
          </a:prstGeom>
          <a:solidFill>
            <a:schemeClr val="accent1"/>
          </a:solidFill>
          <a:ln w="19050">
            <a:noFill/>
            <a:headEnd/>
            <a:tailEnd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err="1">
                <a:latin typeface="Santander Headline" panose="020B0504020201020104" pitchFamily="34" charset="0"/>
              </a:rPr>
              <a:t>Finalidade</a:t>
            </a:r>
            <a:endParaRPr lang="en-US" sz="1200" b="1">
              <a:latin typeface="Santander Headline" panose="020B0504020201020104" pitchFamily="34" charset="0"/>
            </a:endParaRPr>
          </a:p>
        </p:txBody>
      </p:sp>
      <p:sp>
        <p:nvSpPr>
          <p:cNvPr id="12" name="Rectangle 17"/>
          <p:cNvSpPr/>
          <p:nvPr/>
        </p:nvSpPr>
        <p:spPr bwMode="auto">
          <a:xfrm>
            <a:off x="377068" y="2740017"/>
            <a:ext cx="1470900" cy="1954381"/>
          </a:xfrm>
          <a:prstGeom prst="rect">
            <a:avLst/>
          </a:prstGeom>
          <a:solidFill>
            <a:schemeClr val="accent1"/>
          </a:solidFill>
          <a:ln w="19050">
            <a:noFill/>
            <a:headEnd/>
            <a:tailEnd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err="1">
                <a:latin typeface="Santander Headline" panose="020B0504020201020104" pitchFamily="34" charset="0"/>
              </a:rPr>
              <a:t>Pontos</a:t>
            </a:r>
            <a:r>
              <a:rPr lang="en-US" sz="1200" b="1">
                <a:latin typeface="Santander Headline" panose="020B0504020201020104" pitchFamily="34" charset="0"/>
              </a:rPr>
              <a:t> </a:t>
            </a:r>
            <a:r>
              <a:rPr lang="en-US" sz="1200" b="1" err="1">
                <a:latin typeface="Santander Headline" panose="020B0504020201020104" pitchFamily="34" charset="0"/>
              </a:rPr>
              <a:t>chave</a:t>
            </a:r>
            <a:endParaRPr lang="en-US" sz="12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3" name="Rectangle 17"/>
          <p:cNvSpPr/>
          <p:nvPr/>
        </p:nvSpPr>
        <p:spPr bwMode="auto">
          <a:xfrm>
            <a:off x="377068" y="1836597"/>
            <a:ext cx="1470900" cy="847104"/>
          </a:xfrm>
          <a:prstGeom prst="rect">
            <a:avLst/>
          </a:prstGeom>
          <a:solidFill>
            <a:schemeClr val="accent1"/>
          </a:solidFill>
          <a:ln w="19050">
            <a:noFill/>
            <a:headEnd/>
            <a:tailEnd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err="1">
                <a:latin typeface="Santander Headline" panose="020B0504020201020104" pitchFamily="34" charset="0"/>
              </a:rPr>
              <a:t>Etapas</a:t>
            </a:r>
            <a:r>
              <a:rPr lang="en-US" sz="1200" b="1">
                <a:latin typeface="Santander Headline" panose="020B0504020201020104" pitchFamily="34" charset="0"/>
              </a:rPr>
              <a:t> de </a:t>
            </a:r>
            <a:r>
              <a:rPr lang="en-US" sz="1200" b="1" err="1">
                <a:latin typeface="Santander Headline" panose="020B0504020201020104" pitchFamily="34" charset="0"/>
              </a:rPr>
              <a:t>Governo</a:t>
            </a:r>
            <a:r>
              <a:rPr lang="en-US" sz="1200" b="1">
                <a:latin typeface="Santander Headline" panose="020B0504020201020104" pitchFamily="34" charset="0"/>
              </a:rPr>
              <a:t> </a:t>
            </a:r>
            <a:r>
              <a:rPr lang="en-US" sz="1200" b="1" err="1">
                <a:latin typeface="Santander Headline" panose="020B0504020201020104" pitchFamily="34" charset="0"/>
              </a:rPr>
              <a:t>Interno</a:t>
            </a:r>
            <a:endParaRPr lang="en-US" sz="12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20" name="Rectangle 17"/>
          <p:cNvSpPr/>
          <p:nvPr/>
        </p:nvSpPr>
        <p:spPr bwMode="auto">
          <a:xfrm>
            <a:off x="377068" y="4754520"/>
            <a:ext cx="1470900" cy="668474"/>
          </a:xfrm>
          <a:prstGeom prst="rect">
            <a:avLst/>
          </a:prstGeom>
          <a:solidFill>
            <a:schemeClr val="accent1"/>
          </a:solidFill>
          <a:ln w="19050">
            <a:noFill/>
            <a:headEnd/>
            <a:tailEnd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err="1">
                <a:latin typeface="Santander Headline" panose="020B0504020201020104" pitchFamily="34" charset="0"/>
              </a:rPr>
              <a:t>Planos</a:t>
            </a:r>
            <a:r>
              <a:rPr lang="en-US" sz="1200" b="1">
                <a:latin typeface="Santander Headline" panose="020B0504020201020104" pitchFamily="34" charset="0"/>
              </a:rPr>
              <a:t> de </a:t>
            </a:r>
            <a:r>
              <a:rPr lang="en-US" sz="1200" b="1" err="1">
                <a:latin typeface="Santander Headline" panose="020B0504020201020104" pitchFamily="34" charset="0"/>
              </a:rPr>
              <a:t>Ação</a:t>
            </a:r>
            <a:endParaRPr lang="en-US" sz="12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7CC3A6-D4E6-B87D-7704-7AD687BEA326}"/>
              </a:ext>
            </a:extLst>
          </p:cNvPr>
          <p:cNvSpPr/>
          <p:nvPr/>
        </p:nvSpPr>
        <p:spPr>
          <a:xfrm>
            <a:off x="9435402" y="263739"/>
            <a:ext cx="2398864" cy="40015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/>
              <a:t>A definir pelo CDO</a:t>
            </a:r>
          </a:p>
        </p:txBody>
      </p:sp>
      <p:sp>
        <p:nvSpPr>
          <p:cNvPr id="5" name="Marcador de texto 5">
            <a:extLst>
              <a:ext uri="{FF2B5EF4-FFF2-40B4-BE49-F238E27FC236}">
                <a16:creationId xmlns:a16="http://schemas.microsoft.com/office/drawing/2014/main" id="{407420D9-DFE6-CB41-2C63-7F2CE9842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/>
          <a:lstStyle/>
          <a:p>
            <a:r>
              <a:rPr lang="es-ES" sz="2000">
                <a:latin typeface="Santander Headline" panose="020B0504020201020104" pitchFamily="34" charset="0"/>
              </a:rPr>
              <a:t>1. </a:t>
            </a:r>
            <a:r>
              <a:rPr lang="pt-PT" sz="2000">
                <a:latin typeface="Santander Headline" panose="020B0504020201020104" pitchFamily="34" charset="0"/>
              </a:rPr>
              <a:t>Sumário executivo</a:t>
            </a:r>
          </a:p>
          <a:p>
            <a:endParaRPr lang="es-ES" sz="2000">
              <a:solidFill>
                <a:srgbClr val="FF0000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3" name="Rectangle 17">
            <a:extLst>
              <a:ext uri="{FF2B5EF4-FFF2-40B4-BE49-F238E27FC236}">
                <a16:creationId xmlns:a16="http://schemas.microsoft.com/office/drawing/2014/main" id="{D4D0CA1D-0052-91E8-5370-711438DCEAA9}"/>
              </a:ext>
            </a:extLst>
          </p:cNvPr>
          <p:cNvSpPr/>
          <p:nvPr/>
        </p:nvSpPr>
        <p:spPr bwMode="auto">
          <a:xfrm>
            <a:off x="1947971" y="924096"/>
            <a:ext cx="9786292" cy="847104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  <a:headEnd/>
            <a:tailEnd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9388" lvl="1" indent="-179388"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pt-PT" sz="1200">
                <a:solidFill>
                  <a:schemeClr val="tx1">
                    <a:lumMod val="75000"/>
                    <a:lumOff val="25000"/>
                  </a:schemeClr>
                </a:solidFill>
                <a:latin typeface="Santander Text" panose="020B0504020201020104" pitchFamily="34" charset="0"/>
              </a:rPr>
              <a:t>Fazer um ponto de situação da evolução do Projeto Loan Tapes BCE.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A5E9C7DE-78B8-F9F7-FC47-10C76C2467F1}"/>
              </a:ext>
            </a:extLst>
          </p:cNvPr>
          <p:cNvSpPr/>
          <p:nvPr/>
        </p:nvSpPr>
        <p:spPr bwMode="auto">
          <a:xfrm>
            <a:off x="1947971" y="1836597"/>
            <a:ext cx="9786292" cy="847104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  <a:headEnd/>
            <a:tailEnd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9388" lvl="1" indent="-179388"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pt-PT" sz="120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Santander Text" panose="020B0504020201020104" pitchFamily="34" charset="0"/>
              </a:rPr>
              <a:t>[por definir]</a:t>
            </a:r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DF94CAB3-203B-FFCB-BC8C-86FFF505C99F}"/>
              </a:ext>
            </a:extLst>
          </p:cNvPr>
          <p:cNvSpPr/>
          <p:nvPr/>
        </p:nvSpPr>
        <p:spPr bwMode="auto">
          <a:xfrm>
            <a:off x="1947971" y="2740017"/>
            <a:ext cx="9786292" cy="1954380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  <a:headEnd/>
            <a:tailEnd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9388" lvl="1" indent="-179388"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pt-PT" sz="120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Santander Text" panose="020B0504020201020104" pitchFamily="34" charset="0"/>
              </a:rPr>
              <a:t>[por definir]</a:t>
            </a: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DE13AAE9-6F57-D82E-2446-C99CC06454D1}"/>
              </a:ext>
            </a:extLst>
          </p:cNvPr>
          <p:cNvSpPr/>
          <p:nvPr/>
        </p:nvSpPr>
        <p:spPr bwMode="auto">
          <a:xfrm>
            <a:off x="1947971" y="4754520"/>
            <a:ext cx="9786292" cy="668474"/>
          </a:xfrm>
          <a:prstGeom prst="rect">
            <a:avLst/>
          </a:prstGeom>
          <a:noFill/>
          <a:ln w="9525">
            <a:solidFill>
              <a:schemeClr val="tx2">
                <a:lumMod val="20000"/>
                <a:lumOff val="80000"/>
              </a:schemeClr>
            </a:solidFill>
            <a:headEnd/>
            <a:tailEnd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9388" lvl="1" indent="-179388" algn="just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pt-PT" sz="1200">
                <a:solidFill>
                  <a:schemeClr val="tx1">
                    <a:lumMod val="75000"/>
                    <a:lumOff val="25000"/>
                  </a:schemeClr>
                </a:solidFill>
                <a:latin typeface="Santander Text" panose="020B0504020201020104" pitchFamily="34" charset="0"/>
              </a:rPr>
              <a:t>Plano de acordo com o detalhado na apresentação.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188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Projeto </a:t>
            </a:r>
            <a:r>
              <a:rPr lang="pt-PT" sz="4000" i="1"/>
              <a:t>Loan Tape</a:t>
            </a:r>
            <a:br>
              <a:rPr lang="pt-PT" i="1"/>
            </a:br>
            <a:endParaRPr lang="es-ES" i="1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648791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7532" y="348649"/>
            <a:ext cx="10758735" cy="315242"/>
          </a:xfrm>
        </p:spPr>
        <p:txBody>
          <a:bodyPr/>
          <a:lstStyle/>
          <a:p>
            <a:r>
              <a:rPr lang="es-ES" sz="2000"/>
              <a:t>2.1. </a:t>
            </a:r>
            <a:r>
              <a:rPr lang="es-ES" sz="2000" err="1"/>
              <a:t>Projeto</a:t>
            </a:r>
            <a:r>
              <a:rPr lang="es-ES" sz="2000"/>
              <a:t> </a:t>
            </a:r>
            <a:r>
              <a:rPr lang="pt-PT" sz="2000" i="1" err="1"/>
              <a:t>Loan</a:t>
            </a:r>
            <a:r>
              <a:rPr lang="pt-PT" sz="2000" i="1"/>
              <a:t> Tape </a:t>
            </a:r>
            <a:r>
              <a:rPr lang="pt-PT" sz="2000"/>
              <a:t>| Enquadramento </a:t>
            </a:r>
            <a:r>
              <a:rPr lang="pt-PT" sz="1600"/>
              <a:t>(1|2)</a:t>
            </a:r>
            <a:endParaRPr lang="es-ES" sz="2800">
              <a:solidFill>
                <a:srgbClr val="FF0000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D2C8747-16CC-46F7-8AC4-664E9B00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86AB67-257B-4A72-BCFC-E86455F3F0AC}"/>
              </a:ext>
            </a:extLst>
          </p:cNvPr>
          <p:cNvSpPr txBox="1"/>
          <p:nvPr/>
        </p:nvSpPr>
        <p:spPr>
          <a:xfrm>
            <a:off x="547532" y="792666"/>
            <a:ext cx="10758734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400">
                <a:latin typeface="Santander Text" panose="020B0504020201020104" pitchFamily="34" charset="0"/>
              </a:rPr>
              <a:t>O projeto “</a:t>
            </a:r>
            <a:r>
              <a:rPr lang="pt-PT" sz="1400" i="1" err="1">
                <a:latin typeface="Santander Text" panose="020B0504020201020104" pitchFamily="34" charset="0"/>
              </a:rPr>
              <a:t>Loan</a:t>
            </a:r>
            <a:r>
              <a:rPr lang="pt-PT" sz="1400" i="1">
                <a:latin typeface="Santander Text" panose="020B0504020201020104" pitchFamily="34" charset="0"/>
              </a:rPr>
              <a:t> Tape” </a:t>
            </a:r>
            <a:r>
              <a:rPr lang="pt-PT" sz="1400">
                <a:latin typeface="Santander Text" panose="020B0504020201020104" pitchFamily="34" charset="0"/>
              </a:rPr>
              <a:t>tem como objetivo </a:t>
            </a:r>
            <a:r>
              <a:rPr lang="pt-PT" sz="1400" b="1">
                <a:latin typeface="Santander Text" panose="020B0504020201020104" pitchFamily="34" charset="0"/>
              </a:rPr>
              <a:t>aumentar a eficiência e qualidade da informação de risco de crédito </a:t>
            </a:r>
            <a:r>
              <a:rPr lang="pt-PT" sz="1400">
                <a:latin typeface="Santander Text" panose="020B0504020201020104" pitchFamily="34" charset="0"/>
              </a:rPr>
              <a:t>assim como possibilitar</a:t>
            </a:r>
            <a:r>
              <a:rPr lang="pt-PT" sz="1400" b="1">
                <a:latin typeface="Santander Text" panose="020B0504020201020104" pitchFamily="34" charset="0"/>
              </a:rPr>
              <a:t> a geração </a:t>
            </a:r>
            <a:r>
              <a:rPr lang="pt-PT" sz="1400" b="1" i="1" err="1">
                <a:latin typeface="Santander Text" panose="020B0504020201020104" pitchFamily="34" charset="0"/>
              </a:rPr>
              <a:t>on-demand</a:t>
            </a:r>
            <a:r>
              <a:rPr lang="pt-PT" sz="1400" b="1">
                <a:latin typeface="Santander Text" panose="020B0504020201020104" pitchFamily="34" charset="0"/>
              </a:rPr>
              <a:t> </a:t>
            </a:r>
            <a:r>
              <a:rPr lang="pt-PT" sz="1400">
                <a:latin typeface="Santander Text" panose="020B0504020201020104" pitchFamily="34" charset="0"/>
              </a:rPr>
              <a:t>da informação</a:t>
            </a:r>
            <a:r>
              <a:rPr lang="pt-PT" sz="1400" b="1">
                <a:latin typeface="Santander Text" panose="020B0504020201020104" pitchFamily="34" charset="0"/>
              </a:rPr>
              <a:t> </a:t>
            </a:r>
            <a:r>
              <a:rPr lang="pt-PT" sz="1400">
                <a:latin typeface="Santander Text" panose="020B0504020201020104" pitchFamily="34" charset="0"/>
              </a:rPr>
              <a:t>reportada nas Inspeções. Para o efeito, o BCE definiu de forma estandardizada as características de uma </a:t>
            </a:r>
            <a:r>
              <a:rPr lang="pt-PT" sz="1400" i="1" err="1">
                <a:latin typeface="Santander Text" panose="020B0504020201020104" pitchFamily="34" charset="0"/>
              </a:rPr>
              <a:t>Loan</a:t>
            </a:r>
            <a:r>
              <a:rPr lang="pt-PT" sz="1400" i="1">
                <a:latin typeface="Santander Text" panose="020B0504020201020104" pitchFamily="34" charset="0"/>
              </a:rPr>
              <a:t> Tape</a:t>
            </a:r>
            <a:r>
              <a:rPr lang="pt-PT" sz="1400">
                <a:latin typeface="Santander Text" panose="020B0504020201020104" pitchFamily="34" charset="0"/>
              </a:rPr>
              <a:t>, disponibilizando requisitos para a geração do </a:t>
            </a:r>
            <a:r>
              <a:rPr lang="pt-PT" sz="1400" i="1" err="1">
                <a:latin typeface="Santander Text" panose="020B0504020201020104" pitchFamily="34" charset="0"/>
              </a:rPr>
              <a:t>report</a:t>
            </a:r>
            <a:r>
              <a:rPr lang="pt-PT" sz="1400" i="1">
                <a:latin typeface="Santander Text" panose="020B0504020201020104" pitchFamily="34" charset="0"/>
              </a:rPr>
              <a:t>.</a:t>
            </a:r>
            <a:endParaRPr lang="pt-PT" sz="1400">
              <a:latin typeface="Santander Text" panose="020B0504020201020104" pitchFamily="34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400">
                <a:latin typeface="Santander Text" panose="020B0504020201020104" pitchFamily="34" charset="0"/>
              </a:rPr>
              <a:t>Quando solicitado pelo BCE, os Bancos deverão produzir a </a:t>
            </a:r>
            <a:r>
              <a:rPr lang="pt-PT" sz="1400" i="1" err="1">
                <a:latin typeface="Santander Text" panose="020B0504020201020104" pitchFamily="34" charset="0"/>
              </a:rPr>
              <a:t>Loan</a:t>
            </a:r>
            <a:r>
              <a:rPr lang="pt-PT" sz="1400" i="1">
                <a:latin typeface="Santander Text" panose="020B0504020201020104" pitchFamily="34" charset="0"/>
              </a:rPr>
              <a:t> Tape, </a:t>
            </a:r>
            <a:r>
              <a:rPr lang="pt-PT" sz="1400">
                <a:latin typeface="Santander Text" panose="020B0504020201020104" pitchFamily="34" charset="0"/>
              </a:rPr>
              <a:t>de forma “automática”, estruturada em </a:t>
            </a:r>
            <a:r>
              <a:rPr lang="pt-PT" sz="1400" b="1">
                <a:latin typeface="Santander Text" panose="020B0504020201020104" pitchFamily="34" charset="0"/>
              </a:rPr>
              <a:t>5 tabelas</a:t>
            </a:r>
            <a:r>
              <a:rPr lang="pt-PT" sz="1400">
                <a:latin typeface="Santander Text" panose="020B0504020201020104" pitchFamily="34" charset="0"/>
              </a:rPr>
              <a:t>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400">
                <a:latin typeface="Santander Text" panose="020B0504020201020104" pitchFamily="34" charset="0"/>
              </a:rPr>
              <a:t>Em futuras inspeções, a </a:t>
            </a:r>
            <a:r>
              <a:rPr lang="pt-PT" sz="1400" i="1" err="1">
                <a:latin typeface="Santander Text" panose="020B0504020201020104" pitchFamily="34" charset="0"/>
              </a:rPr>
              <a:t>Loan</a:t>
            </a:r>
            <a:r>
              <a:rPr lang="pt-PT" sz="1400" i="1">
                <a:latin typeface="Santander Text" panose="020B0504020201020104" pitchFamily="34" charset="0"/>
              </a:rPr>
              <a:t> Tape </a:t>
            </a:r>
            <a:r>
              <a:rPr lang="pt-PT" sz="1400">
                <a:latin typeface="Santander Text" panose="020B0504020201020104" pitchFamily="34" charset="0"/>
              </a:rPr>
              <a:t>poderá ser solicitada para qualquer um dos </a:t>
            </a:r>
            <a:r>
              <a:rPr lang="pt-PT" sz="1400" b="1">
                <a:latin typeface="Santander Text" panose="020B0504020201020104" pitchFamily="34" charset="0"/>
              </a:rPr>
              <a:t>6 segmentos</a:t>
            </a:r>
            <a:r>
              <a:rPr lang="pt-PT" sz="1400">
                <a:latin typeface="Santander Text" panose="020B0504020201020104" pitchFamily="34" charset="0"/>
              </a:rPr>
              <a:t> definidos pelo BCE (ou outros).</a:t>
            </a:r>
          </a:p>
        </p:txBody>
      </p:sp>
      <p:sp>
        <p:nvSpPr>
          <p:cNvPr id="34" name="CaixaDeTexto 33"/>
          <p:cNvSpPr txBox="1"/>
          <p:nvPr/>
        </p:nvSpPr>
        <p:spPr>
          <a:xfrm rot="2478668">
            <a:off x="10438660" y="619113"/>
            <a:ext cx="1754875" cy="30777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sz="1600" b="1">
                <a:solidFill>
                  <a:schemeClr val="bg1"/>
                </a:solidFill>
                <a:latin typeface="Santander Headline" panose="020B0504020201020104" pitchFamily="34" charset="0"/>
              </a:rPr>
              <a:t>RECORDATÓRIO</a:t>
            </a:r>
            <a:endParaRPr lang="en-US" sz="16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4A2EC7B-55F8-6AD8-7565-9D4576964FCF}"/>
              </a:ext>
            </a:extLst>
          </p:cNvPr>
          <p:cNvGrpSpPr/>
          <p:nvPr/>
        </p:nvGrpSpPr>
        <p:grpSpPr>
          <a:xfrm>
            <a:off x="547532" y="2638354"/>
            <a:ext cx="2078046" cy="3765153"/>
            <a:chOff x="1244796" y="2222326"/>
            <a:chExt cx="1889133" cy="376515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8F5546F-31C2-7502-9784-E1340CC7A83A}"/>
                </a:ext>
              </a:extLst>
            </p:cNvPr>
            <p:cNvGrpSpPr/>
            <p:nvPr/>
          </p:nvGrpSpPr>
          <p:grpSpPr>
            <a:xfrm>
              <a:off x="1244796" y="2222326"/>
              <a:ext cx="1889133" cy="1171297"/>
              <a:chOff x="1107731" y="2271994"/>
              <a:chExt cx="1889133" cy="141727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032E563-57D5-6879-3EFF-3EF5AAC4B24A}"/>
                  </a:ext>
                </a:extLst>
              </p:cNvPr>
              <p:cNvSpPr/>
              <p:nvPr/>
            </p:nvSpPr>
            <p:spPr>
              <a:xfrm>
                <a:off x="1107731" y="2271994"/>
                <a:ext cx="1889133" cy="141727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pt-PT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Tabelas</a:t>
                </a: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2CF1AE1-592A-8276-7E3D-F431CCC1CB30}"/>
                  </a:ext>
                </a:extLst>
              </p:cNvPr>
              <p:cNvSpPr/>
              <p:nvPr/>
            </p:nvSpPr>
            <p:spPr>
              <a:xfrm>
                <a:off x="1761624" y="2708609"/>
                <a:ext cx="1163735" cy="9806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pt-PT" sz="5400" b="1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5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F1E835E-179B-CA97-792D-C6EBEF0BD56F}"/>
                </a:ext>
              </a:extLst>
            </p:cNvPr>
            <p:cNvGrpSpPr/>
            <p:nvPr/>
          </p:nvGrpSpPr>
          <p:grpSpPr>
            <a:xfrm>
              <a:off x="1244796" y="3519254"/>
              <a:ext cx="1889133" cy="1171297"/>
              <a:chOff x="1107731" y="2271994"/>
              <a:chExt cx="1889133" cy="1417269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050D6BB-3C57-B0AD-3936-CE4508283C56}"/>
                  </a:ext>
                </a:extLst>
              </p:cNvPr>
              <p:cNvSpPr/>
              <p:nvPr/>
            </p:nvSpPr>
            <p:spPr>
              <a:xfrm>
                <a:off x="1107731" y="2271994"/>
                <a:ext cx="1889133" cy="14172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pt-PT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Segmentos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409F74D-C8FC-F0DA-A80F-54C8AD1017D7}"/>
                  </a:ext>
                </a:extLst>
              </p:cNvPr>
              <p:cNvSpPr/>
              <p:nvPr/>
            </p:nvSpPr>
            <p:spPr>
              <a:xfrm>
                <a:off x="1761624" y="2708609"/>
                <a:ext cx="1163735" cy="9806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pt-PT" sz="5400" b="1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6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96B3960-8019-79D9-1DC6-5C2625E87E17}"/>
                </a:ext>
              </a:extLst>
            </p:cNvPr>
            <p:cNvGrpSpPr/>
            <p:nvPr/>
          </p:nvGrpSpPr>
          <p:grpSpPr>
            <a:xfrm>
              <a:off x="1244796" y="4816182"/>
              <a:ext cx="1889133" cy="1171297"/>
              <a:chOff x="1107731" y="2271994"/>
              <a:chExt cx="1889133" cy="1417269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FBB42CC-2889-03E5-6DFB-79E3E55D1BB9}"/>
                  </a:ext>
                </a:extLst>
              </p:cNvPr>
              <p:cNvSpPr/>
              <p:nvPr/>
            </p:nvSpPr>
            <p:spPr>
              <a:xfrm>
                <a:off x="1107731" y="2271994"/>
                <a:ext cx="1889133" cy="141726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pt-PT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Campos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BA4E612-117E-0659-FEF7-081B2B66E695}"/>
                  </a:ext>
                </a:extLst>
              </p:cNvPr>
              <p:cNvSpPr/>
              <p:nvPr/>
            </p:nvSpPr>
            <p:spPr>
              <a:xfrm>
                <a:off x="1572925" y="2708609"/>
                <a:ext cx="1352436" cy="9806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pt-PT" sz="5400" b="1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310</a:t>
                </a:r>
              </a:p>
            </p:txBody>
          </p:sp>
        </p:grp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58CEC8D-A94F-FC01-874E-A67721057194}"/>
              </a:ext>
            </a:extLst>
          </p:cNvPr>
          <p:cNvCxnSpPr>
            <a:cxnSpLocks/>
          </p:cNvCxnSpPr>
          <p:nvPr/>
        </p:nvCxnSpPr>
        <p:spPr>
          <a:xfrm>
            <a:off x="541968" y="2366046"/>
            <a:ext cx="2083610" cy="0"/>
          </a:xfrm>
          <a:prstGeom prst="straightConnector1">
            <a:avLst/>
          </a:prstGeom>
          <a:ln>
            <a:solidFill>
              <a:srgbClr val="7F7F7F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09AB1B05-1A6A-3487-1381-58B13CB870C1}"/>
              </a:ext>
            </a:extLst>
          </p:cNvPr>
          <p:cNvSpPr/>
          <p:nvPr/>
        </p:nvSpPr>
        <p:spPr>
          <a:xfrm rot="5400000">
            <a:off x="1204028" y="4484491"/>
            <a:ext cx="3646875" cy="15017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F97C8E7-2B12-A37D-7BA8-D989630DDB51}"/>
              </a:ext>
            </a:extLst>
          </p:cNvPr>
          <p:cNvCxnSpPr>
            <a:cxnSpLocks/>
          </p:cNvCxnSpPr>
          <p:nvPr/>
        </p:nvCxnSpPr>
        <p:spPr>
          <a:xfrm>
            <a:off x="3352611" y="2366046"/>
            <a:ext cx="8117152" cy="0"/>
          </a:xfrm>
          <a:prstGeom prst="straightConnector1">
            <a:avLst/>
          </a:prstGeom>
          <a:ln>
            <a:solidFill>
              <a:srgbClr val="7F7F7F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ADFB98FD-E3DE-A046-B0F6-62AAB1263EA7}"/>
              </a:ext>
            </a:extLst>
          </p:cNvPr>
          <p:cNvSpPr/>
          <p:nvPr/>
        </p:nvSpPr>
        <p:spPr>
          <a:xfrm>
            <a:off x="1000486" y="2241846"/>
            <a:ext cx="1173004" cy="24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1200" b="1">
                <a:solidFill>
                  <a:schemeClr val="tx1"/>
                </a:solidFill>
                <a:latin typeface="Santander Text" panose="020B0504020201020104" pitchFamily="34" charset="0"/>
              </a:rPr>
              <a:t>BCE (09/2020)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778B6D1-2910-E168-0783-56CA6368E11F}"/>
              </a:ext>
            </a:extLst>
          </p:cNvPr>
          <p:cNvSpPr/>
          <p:nvPr/>
        </p:nvSpPr>
        <p:spPr>
          <a:xfrm>
            <a:off x="6153969" y="2241846"/>
            <a:ext cx="2514436" cy="24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1200" b="1">
                <a:solidFill>
                  <a:schemeClr val="tx1"/>
                </a:solidFill>
                <a:latin typeface="Santander Text" panose="020B0504020201020104" pitchFamily="34" charset="0"/>
              </a:rPr>
              <a:t>CORPORAÇÃO (desde 06/2021)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992F04-6C12-0F34-197B-DBC6C06D928D}"/>
              </a:ext>
            </a:extLst>
          </p:cNvPr>
          <p:cNvSpPr/>
          <p:nvPr/>
        </p:nvSpPr>
        <p:spPr>
          <a:xfrm>
            <a:off x="7915313" y="2638354"/>
            <a:ext cx="3554450" cy="3765152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spcBef>
                <a:spcPts val="600"/>
              </a:spcBef>
            </a:pPr>
            <a:r>
              <a:rPr lang="pt-PT" sz="105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Durante o projeto, a Corporação:</a:t>
            </a:r>
          </a:p>
          <a:p>
            <a:pPr>
              <a:spcBef>
                <a:spcPts val="600"/>
              </a:spcBef>
            </a:pPr>
            <a:r>
              <a:rPr lang="pt-PT" sz="105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1. Assumiu a </a:t>
            </a:r>
            <a:r>
              <a:rPr lang="pt-PT" sz="1050" b="1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intermediação</a:t>
            </a:r>
            <a:r>
              <a:rPr lang="pt-PT" sz="105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 entre o BCE e o Banco; </a:t>
            </a:r>
          </a:p>
          <a:p>
            <a:pPr>
              <a:spcBef>
                <a:spcPts val="600"/>
              </a:spcBef>
            </a:pPr>
            <a:r>
              <a:rPr lang="pt-PT" sz="105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2. Disponibilizou, gradualmente, </a:t>
            </a:r>
            <a:r>
              <a:rPr lang="pt-PT" sz="1050" b="1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guias de conceitos</a:t>
            </a:r>
            <a:r>
              <a:rPr lang="pt-PT" sz="105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 dos campos da </a:t>
            </a:r>
            <a:r>
              <a:rPr lang="pt-PT" sz="1050" i="1" err="1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Loan</a:t>
            </a:r>
            <a:r>
              <a:rPr lang="pt-PT" sz="1050" i="1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 Tape </a:t>
            </a:r>
            <a:r>
              <a:rPr lang="pt-PT" sz="105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com diversas versões e alterações de requisitos;</a:t>
            </a:r>
          </a:p>
          <a:p>
            <a:pPr>
              <a:spcBef>
                <a:spcPts val="600"/>
              </a:spcBef>
            </a:pPr>
            <a:r>
              <a:rPr lang="pt-PT" sz="105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3. Estabeleceu um conjunto de </a:t>
            </a:r>
            <a:r>
              <a:rPr lang="pt-PT" sz="1050" b="1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alterações de requisitos para campos </a:t>
            </a:r>
            <a:r>
              <a:rPr lang="pt-PT" sz="105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cuja especificação já estava num estado avançado, provocando desta forma impactos nos trabalhos em curso;</a:t>
            </a:r>
          </a:p>
          <a:p>
            <a:pPr>
              <a:spcBef>
                <a:spcPts val="600"/>
              </a:spcBef>
            </a:pPr>
            <a:r>
              <a:rPr lang="pt-PT" sz="105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4. Solicitou novos campos e criou o </a:t>
            </a:r>
            <a:r>
              <a:rPr lang="pt-PT" sz="1050" b="1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segmento Estrutural (ESTR) com uma nova estratégia de reporte</a:t>
            </a:r>
            <a:r>
              <a:rPr lang="pt-PT" sz="105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 com implicações em todo o universo e estrutura das tabelas;</a:t>
            </a:r>
          </a:p>
          <a:p>
            <a:pPr>
              <a:spcBef>
                <a:spcPts val="600"/>
              </a:spcBef>
            </a:pPr>
            <a:r>
              <a:rPr lang="pt-PT" sz="105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5. Definiu, numa fase avançada do projeto, um conjunto de requisitos de </a:t>
            </a:r>
            <a:r>
              <a:rPr lang="pt-PT" sz="1050" b="1" i="1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default </a:t>
            </a:r>
            <a:r>
              <a:rPr lang="pt-PT" sz="1050" b="1" i="1" err="1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values</a:t>
            </a:r>
            <a:r>
              <a:rPr lang="pt-PT" sz="1050" b="1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 </a:t>
            </a:r>
            <a:r>
              <a:rPr lang="pt-PT" sz="105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relacionais entre campos;</a:t>
            </a:r>
          </a:p>
          <a:p>
            <a:pPr>
              <a:spcBef>
                <a:spcPts val="600"/>
              </a:spcBef>
            </a:pPr>
            <a:r>
              <a:rPr lang="pt-PT" sz="105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6. Disponibilizou, numa primeira fase, um portal </a:t>
            </a:r>
            <a:r>
              <a:rPr lang="pt-PT" sz="1050" err="1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táctico</a:t>
            </a:r>
            <a:r>
              <a:rPr lang="pt-PT" sz="105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 e, mais recentemente, uma ferramenta estratégica. Em ambos, foram realizadas </a:t>
            </a:r>
            <a:r>
              <a:rPr lang="pt-PT" sz="1050" b="1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correções e alterações consecutivas aos controlos</a:t>
            </a:r>
            <a:r>
              <a:rPr lang="pt-PT" sz="105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 definidos implicando recorrentes alterações dos resultados apurados e consequente análise.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D74EE3-4934-0BBC-1359-35F3E4519046}"/>
              </a:ext>
            </a:extLst>
          </p:cNvPr>
          <p:cNvSpPr/>
          <p:nvPr/>
        </p:nvSpPr>
        <p:spPr>
          <a:xfrm>
            <a:off x="2085157" y="6683777"/>
            <a:ext cx="8016786" cy="268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pt-PT" sz="800" err="1">
                <a:solidFill>
                  <a:schemeClr val="tx1"/>
                </a:solidFill>
                <a:latin typeface="Santander Text" panose="020B0504020201020104" pitchFamily="34" charset="0"/>
              </a:rPr>
              <a:t>Instrument</a:t>
            </a:r>
            <a:r>
              <a:rPr 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, </a:t>
            </a:r>
            <a:r>
              <a:rPr lang="pt-PT" sz="800" err="1">
                <a:solidFill>
                  <a:schemeClr val="tx1"/>
                </a:solidFill>
                <a:latin typeface="Santander Text" panose="020B0504020201020104" pitchFamily="34" charset="0"/>
              </a:rPr>
              <a:t>Entity</a:t>
            </a:r>
            <a:r>
              <a:rPr 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, </a:t>
            </a:r>
            <a:r>
              <a:rPr lang="pt-PT" sz="800" err="1">
                <a:solidFill>
                  <a:schemeClr val="tx1"/>
                </a:solidFill>
                <a:latin typeface="Santander Text" panose="020B0504020201020104" pitchFamily="34" charset="0"/>
              </a:rPr>
              <a:t>Protection</a:t>
            </a:r>
            <a:r>
              <a:rPr 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, </a:t>
            </a:r>
            <a:r>
              <a:rPr lang="pt-PT" sz="800" err="1">
                <a:solidFill>
                  <a:schemeClr val="tx1"/>
                </a:solidFill>
                <a:latin typeface="Santander Text" panose="020B0504020201020104" pitchFamily="34" charset="0"/>
              </a:rPr>
              <a:t>Instr_Entity</a:t>
            </a:r>
            <a:r>
              <a:rPr 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, </a:t>
            </a:r>
            <a:r>
              <a:rPr lang="pt-PT" sz="800" err="1">
                <a:solidFill>
                  <a:schemeClr val="tx1"/>
                </a:solidFill>
                <a:latin typeface="Santander Text" panose="020B0504020201020104" pitchFamily="34" charset="0"/>
              </a:rPr>
              <a:t>Instr_Protection</a:t>
            </a:r>
            <a:endParaRPr lang="pt-PT" sz="80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AutoNum type="arabicPeriod"/>
            </a:pPr>
            <a:r>
              <a:rPr 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Estrutural (ESTR), </a:t>
            </a:r>
            <a:r>
              <a:rPr lang="pt-PT" sz="800" err="1">
                <a:solidFill>
                  <a:schemeClr val="tx1"/>
                </a:solidFill>
                <a:latin typeface="Santander Text" panose="020B0504020201020104" pitchFamily="34" charset="0"/>
              </a:rPr>
              <a:t>Corporate</a:t>
            </a:r>
            <a:r>
              <a:rPr 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 (CRP),  </a:t>
            </a:r>
            <a:r>
              <a:rPr lang="pt-PT" sz="800" err="1">
                <a:solidFill>
                  <a:schemeClr val="tx1"/>
                </a:solidFill>
                <a:latin typeface="Santander Text" panose="020B0504020201020104" pitchFamily="34" charset="0"/>
              </a:rPr>
              <a:t>Commercial</a:t>
            </a:r>
            <a:r>
              <a:rPr 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 Real </a:t>
            </a:r>
            <a:r>
              <a:rPr lang="pt-PT" sz="800" err="1">
                <a:solidFill>
                  <a:schemeClr val="tx1"/>
                </a:solidFill>
                <a:latin typeface="Santander Text" panose="020B0504020201020104" pitchFamily="34" charset="0"/>
              </a:rPr>
              <a:t>Estate</a:t>
            </a:r>
            <a:r>
              <a:rPr 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 (CRE), </a:t>
            </a:r>
            <a:r>
              <a:rPr lang="pt-PT" sz="800" err="1">
                <a:solidFill>
                  <a:schemeClr val="tx1"/>
                </a:solidFill>
                <a:latin typeface="Santander Text" panose="020B0504020201020104" pitchFamily="34" charset="0"/>
              </a:rPr>
              <a:t>Leverage</a:t>
            </a:r>
            <a:r>
              <a:rPr 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 </a:t>
            </a:r>
            <a:r>
              <a:rPr lang="pt-PT" sz="800" err="1">
                <a:solidFill>
                  <a:schemeClr val="tx1"/>
                </a:solidFill>
                <a:latin typeface="Santander Text" panose="020B0504020201020104" pitchFamily="34" charset="0"/>
              </a:rPr>
              <a:t>Finance</a:t>
            </a:r>
            <a:r>
              <a:rPr 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 (LF), </a:t>
            </a:r>
            <a:r>
              <a:rPr lang="pt-PT" sz="800" err="1">
                <a:solidFill>
                  <a:schemeClr val="tx1"/>
                </a:solidFill>
                <a:latin typeface="Santander Text" panose="020B0504020201020104" pitchFamily="34" charset="0"/>
              </a:rPr>
              <a:t>Retail</a:t>
            </a:r>
            <a:r>
              <a:rPr 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 Real </a:t>
            </a:r>
            <a:r>
              <a:rPr lang="pt-PT" sz="800" err="1">
                <a:solidFill>
                  <a:schemeClr val="tx1"/>
                </a:solidFill>
                <a:latin typeface="Santander Text" panose="020B0504020201020104" pitchFamily="34" charset="0"/>
              </a:rPr>
              <a:t>Estate</a:t>
            </a:r>
            <a:r>
              <a:rPr 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 (RRE), </a:t>
            </a:r>
            <a:r>
              <a:rPr lang="pt-PT" sz="800" err="1">
                <a:solidFill>
                  <a:schemeClr val="tx1"/>
                </a:solidFill>
                <a:latin typeface="Santander Text" panose="020B0504020201020104" pitchFamily="34" charset="0"/>
              </a:rPr>
              <a:t>Retail</a:t>
            </a:r>
            <a:r>
              <a:rPr 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 SME (RSME), </a:t>
            </a:r>
            <a:r>
              <a:rPr lang="pt-PT" sz="800" err="1">
                <a:solidFill>
                  <a:schemeClr val="tx1"/>
                </a:solidFill>
                <a:latin typeface="Santander Text" panose="020B0504020201020104" pitchFamily="34" charset="0"/>
              </a:rPr>
              <a:t>Retail</a:t>
            </a:r>
            <a:r>
              <a:rPr 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 </a:t>
            </a:r>
            <a:r>
              <a:rPr lang="pt-PT" sz="800" err="1">
                <a:solidFill>
                  <a:schemeClr val="tx1"/>
                </a:solidFill>
                <a:latin typeface="Santander Text" panose="020B0504020201020104" pitchFamily="34" charset="0"/>
              </a:rPr>
              <a:t>Other</a:t>
            </a:r>
            <a:r>
              <a:rPr 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 (ROTHER)</a:t>
            </a:r>
          </a:p>
          <a:p>
            <a:pPr marL="228600" indent="-228600">
              <a:buAutoNum type="arabicPeriod"/>
            </a:pPr>
            <a:endParaRPr lang="pt-PT" sz="8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A21D45D-1750-B53D-A5B5-C8578AE206AF}"/>
              </a:ext>
            </a:extLst>
          </p:cNvPr>
          <p:cNvGrpSpPr/>
          <p:nvPr/>
        </p:nvGrpSpPr>
        <p:grpSpPr>
          <a:xfrm>
            <a:off x="3429355" y="2638354"/>
            <a:ext cx="2078046" cy="3765153"/>
            <a:chOff x="1244796" y="2222326"/>
            <a:chExt cx="1889133" cy="376515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C1B4B64-1FC0-1584-0A2A-AC08B5EA5C54}"/>
                </a:ext>
              </a:extLst>
            </p:cNvPr>
            <p:cNvGrpSpPr/>
            <p:nvPr/>
          </p:nvGrpSpPr>
          <p:grpSpPr>
            <a:xfrm>
              <a:off x="1244796" y="2222326"/>
              <a:ext cx="1889133" cy="1171297"/>
              <a:chOff x="1107731" y="2271994"/>
              <a:chExt cx="1889133" cy="1417270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69B89DD-8459-4DCA-98F1-436ACE1978FF}"/>
                  </a:ext>
                </a:extLst>
              </p:cNvPr>
              <p:cNvSpPr/>
              <p:nvPr/>
            </p:nvSpPr>
            <p:spPr>
              <a:xfrm>
                <a:off x="1107731" y="2271994"/>
                <a:ext cx="1889133" cy="141727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pt-PT">
                    <a:solidFill>
                      <a:schemeClr val="bg1"/>
                    </a:solidFill>
                    <a:latin typeface="Santander Text" panose="020B0504020201020104" pitchFamily="34" charset="0"/>
                  </a:rPr>
                  <a:t>Tabelas</a:t>
                </a:r>
                <a:r>
                  <a:rPr lang="pt-PT" sz="1400" baseline="30000">
                    <a:solidFill>
                      <a:schemeClr val="bg1"/>
                    </a:solidFill>
                    <a:latin typeface="Santander Text" panose="020B0504020201020104" pitchFamily="34" charset="0"/>
                  </a:rPr>
                  <a:t>1</a:t>
                </a:r>
                <a:endParaRPr lang="pt-PT" baseline="30000">
                  <a:solidFill>
                    <a:schemeClr val="bg1"/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7A7EE9F-9C00-AF82-3518-F52B0735D9A6}"/>
                  </a:ext>
                </a:extLst>
              </p:cNvPr>
              <p:cNvSpPr/>
              <p:nvPr/>
            </p:nvSpPr>
            <p:spPr>
              <a:xfrm>
                <a:off x="1761624" y="2708609"/>
                <a:ext cx="1163735" cy="9806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pt-PT" sz="5000" b="1">
                    <a:solidFill>
                      <a:schemeClr val="bg1"/>
                    </a:solidFill>
                    <a:latin typeface="Santander Text" panose="020B0504020201020104" pitchFamily="34" charset="0"/>
                  </a:rPr>
                  <a:t>5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AF8E4D7-7768-B0F8-0E9A-F9696AA1D078}"/>
                </a:ext>
              </a:extLst>
            </p:cNvPr>
            <p:cNvGrpSpPr/>
            <p:nvPr/>
          </p:nvGrpSpPr>
          <p:grpSpPr>
            <a:xfrm>
              <a:off x="1244796" y="3519254"/>
              <a:ext cx="1889133" cy="1171297"/>
              <a:chOff x="1107731" y="2271994"/>
              <a:chExt cx="1889133" cy="1417269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EA06DEE-C889-7799-28F4-B076F82F4485}"/>
                  </a:ext>
                </a:extLst>
              </p:cNvPr>
              <p:cNvSpPr/>
              <p:nvPr/>
            </p:nvSpPr>
            <p:spPr>
              <a:xfrm>
                <a:off x="1107731" y="2271994"/>
                <a:ext cx="1889133" cy="141726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pt-PT">
                    <a:solidFill>
                      <a:schemeClr val="bg1"/>
                    </a:solidFill>
                    <a:latin typeface="Santander Text" panose="020B0504020201020104" pitchFamily="34" charset="0"/>
                  </a:rPr>
                  <a:t>Segmentos</a:t>
                </a:r>
                <a:r>
                  <a:rPr lang="pt-PT" sz="1400" baseline="30000">
                    <a:solidFill>
                      <a:schemeClr val="bg1"/>
                    </a:solidFill>
                    <a:latin typeface="Santander Text" panose="020B0504020201020104" pitchFamily="34" charset="0"/>
                  </a:rPr>
                  <a:t>2</a:t>
                </a:r>
                <a:endParaRPr lang="pt-PT" baseline="30000">
                  <a:solidFill>
                    <a:schemeClr val="bg1"/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2E61B7C-957F-AD5F-7EA5-9A842505A896}"/>
                  </a:ext>
                </a:extLst>
              </p:cNvPr>
              <p:cNvSpPr/>
              <p:nvPr/>
            </p:nvSpPr>
            <p:spPr>
              <a:xfrm>
                <a:off x="1761624" y="2708609"/>
                <a:ext cx="1163735" cy="9806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pt-PT" sz="5000" b="1">
                    <a:solidFill>
                      <a:schemeClr val="bg1"/>
                    </a:solidFill>
                    <a:latin typeface="Santander Text" panose="020B0504020201020104" pitchFamily="34" charset="0"/>
                  </a:rPr>
                  <a:t>7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CE9198E-61E4-8021-BFCC-5199105330F2}"/>
                </a:ext>
              </a:extLst>
            </p:cNvPr>
            <p:cNvGrpSpPr/>
            <p:nvPr/>
          </p:nvGrpSpPr>
          <p:grpSpPr>
            <a:xfrm>
              <a:off x="1244796" y="4816182"/>
              <a:ext cx="1889133" cy="1171297"/>
              <a:chOff x="1107731" y="2271994"/>
              <a:chExt cx="1889133" cy="141726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F8BAEDB-9B42-AC8A-9F81-DAE36CEB4E87}"/>
                  </a:ext>
                </a:extLst>
              </p:cNvPr>
              <p:cNvSpPr/>
              <p:nvPr/>
            </p:nvSpPr>
            <p:spPr>
              <a:xfrm>
                <a:off x="1107731" y="2271994"/>
                <a:ext cx="1889133" cy="141726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pt-PT">
                    <a:solidFill>
                      <a:schemeClr val="bg1"/>
                    </a:solidFill>
                    <a:latin typeface="Santander Text" panose="020B0504020201020104" pitchFamily="34" charset="0"/>
                  </a:rPr>
                  <a:t>Campos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C782D5B-9524-FD08-DC02-94EC44AF3B53}"/>
                  </a:ext>
                </a:extLst>
              </p:cNvPr>
              <p:cNvSpPr/>
              <p:nvPr/>
            </p:nvSpPr>
            <p:spPr>
              <a:xfrm>
                <a:off x="1572925" y="2708609"/>
                <a:ext cx="1352436" cy="9806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pt-PT" sz="5000" b="1">
                    <a:solidFill>
                      <a:schemeClr val="bg1"/>
                    </a:solidFill>
                    <a:latin typeface="Santander Text" panose="020B0504020201020104" pitchFamily="34" charset="0"/>
                  </a:rPr>
                  <a:t>330</a:t>
                </a: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0B2971-5941-900F-ACAF-F90128471D80}"/>
              </a:ext>
            </a:extLst>
          </p:cNvPr>
          <p:cNvGrpSpPr/>
          <p:nvPr/>
        </p:nvGrpSpPr>
        <p:grpSpPr>
          <a:xfrm>
            <a:off x="5672334" y="2638354"/>
            <a:ext cx="2078046" cy="3765153"/>
            <a:chOff x="1244796" y="2222326"/>
            <a:chExt cx="1889133" cy="3765153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D307ED5-2B3E-7ED7-A50E-971B0208CF7E}"/>
                </a:ext>
              </a:extLst>
            </p:cNvPr>
            <p:cNvGrpSpPr/>
            <p:nvPr/>
          </p:nvGrpSpPr>
          <p:grpSpPr>
            <a:xfrm>
              <a:off x="1244796" y="2222326"/>
              <a:ext cx="1889133" cy="1171297"/>
              <a:chOff x="1107731" y="2271994"/>
              <a:chExt cx="1889133" cy="141727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70BC9220-50B7-0211-B321-DEF87C5E07CA}"/>
                  </a:ext>
                </a:extLst>
              </p:cNvPr>
              <p:cNvSpPr/>
              <p:nvPr/>
            </p:nvSpPr>
            <p:spPr>
              <a:xfrm>
                <a:off x="1107731" y="2271994"/>
                <a:ext cx="1889133" cy="141727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pt-PT">
                    <a:solidFill>
                      <a:schemeClr val="bg1"/>
                    </a:solidFill>
                    <a:latin typeface="Santander Text" panose="020B0504020201020104" pitchFamily="34" charset="0"/>
                  </a:rPr>
                  <a:t>Guia (Atualizações)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273C8F9A-3576-66FC-636C-AD239C6500B9}"/>
                  </a:ext>
                </a:extLst>
              </p:cNvPr>
              <p:cNvSpPr/>
              <p:nvPr/>
            </p:nvSpPr>
            <p:spPr>
              <a:xfrm>
                <a:off x="1761624" y="2708609"/>
                <a:ext cx="1163735" cy="9806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pt-PT" sz="5000" b="1" dirty="0">
                    <a:solidFill>
                      <a:schemeClr val="bg1"/>
                    </a:solidFill>
                    <a:latin typeface="Santander Text" panose="020B0504020201020104" pitchFamily="34" charset="0"/>
                  </a:rPr>
                  <a:t>29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0D5B397-7E6E-3428-2B26-48EB766D8B72}"/>
                </a:ext>
              </a:extLst>
            </p:cNvPr>
            <p:cNvGrpSpPr/>
            <p:nvPr/>
          </p:nvGrpSpPr>
          <p:grpSpPr>
            <a:xfrm>
              <a:off x="1244796" y="3519254"/>
              <a:ext cx="1889133" cy="1171297"/>
              <a:chOff x="1107731" y="2271994"/>
              <a:chExt cx="1889133" cy="1417269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266EE30-F33C-FAAF-CCD0-9E1391B929FD}"/>
                  </a:ext>
                </a:extLst>
              </p:cNvPr>
              <p:cNvSpPr/>
              <p:nvPr/>
            </p:nvSpPr>
            <p:spPr>
              <a:xfrm>
                <a:off x="1107731" y="2271994"/>
                <a:ext cx="1889133" cy="141726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pt-PT">
                    <a:solidFill>
                      <a:schemeClr val="bg1"/>
                    </a:solidFill>
                    <a:latin typeface="Santander Text" panose="020B0504020201020104" pitchFamily="34" charset="0"/>
                  </a:rPr>
                  <a:t>Portal Testes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7E61166-8BD5-2F0C-04C0-8DAE350D9E69}"/>
                  </a:ext>
                </a:extLst>
              </p:cNvPr>
              <p:cNvSpPr/>
              <p:nvPr/>
            </p:nvSpPr>
            <p:spPr>
              <a:xfrm>
                <a:off x="1761624" y="2708609"/>
                <a:ext cx="1163735" cy="9806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pt-PT" sz="5000" b="1">
                    <a:solidFill>
                      <a:schemeClr val="bg1"/>
                    </a:solidFill>
                    <a:latin typeface="Santander Text" panose="020B0504020201020104" pitchFamily="34" charset="0"/>
                  </a:rPr>
                  <a:t>2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70B4E40-8824-E04C-2C2A-54469E0BF31A}"/>
                </a:ext>
              </a:extLst>
            </p:cNvPr>
            <p:cNvGrpSpPr/>
            <p:nvPr/>
          </p:nvGrpSpPr>
          <p:grpSpPr>
            <a:xfrm>
              <a:off x="1244796" y="4816182"/>
              <a:ext cx="1889133" cy="1171297"/>
              <a:chOff x="1107731" y="2271994"/>
              <a:chExt cx="1889133" cy="1417269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1EF2F28-EE6C-9E60-A2F4-C107976DD918}"/>
                  </a:ext>
                </a:extLst>
              </p:cNvPr>
              <p:cNvSpPr/>
              <p:nvPr/>
            </p:nvSpPr>
            <p:spPr>
              <a:xfrm>
                <a:off x="1107731" y="2271994"/>
                <a:ext cx="1889133" cy="141726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pt-PT">
                    <a:solidFill>
                      <a:schemeClr val="bg1"/>
                    </a:solidFill>
                    <a:latin typeface="Santander Text" panose="020B0504020201020104" pitchFamily="34" charset="0"/>
                  </a:rPr>
                  <a:t>Controlos Corpor.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A88D947-78A3-F4E9-174B-3E431C8328B1}"/>
                  </a:ext>
                </a:extLst>
              </p:cNvPr>
              <p:cNvSpPr/>
              <p:nvPr/>
            </p:nvSpPr>
            <p:spPr>
              <a:xfrm>
                <a:off x="1288189" y="2708609"/>
                <a:ext cx="1637171" cy="9806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pt-PT" sz="5000" b="1" dirty="0">
                    <a:solidFill>
                      <a:schemeClr val="bg1"/>
                    </a:solidFill>
                    <a:latin typeface="Santander Text" panose="020B0504020201020104" pitchFamily="34" charset="0"/>
                  </a:rPr>
                  <a:t>1.810</a:t>
                </a:r>
              </a:p>
            </p:txBody>
          </p:sp>
        </p:grp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42EFDEB7-74A4-FC2E-02BA-4F93963AB2C5}"/>
              </a:ext>
            </a:extLst>
          </p:cNvPr>
          <p:cNvSpPr/>
          <p:nvPr/>
        </p:nvSpPr>
        <p:spPr>
          <a:xfrm>
            <a:off x="3451820" y="6102587"/>
            <a:ext cx="692450" cy="147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200" b="1">
                <a:solidFill>
                  <a:schemeClr val="accent1">
                    <a:lumMod val="20000"/>
                    <a:lumOff val="80000"/>
                  </a:schemeClr>
                </a:solidFill>
                <a:latin typeface="Santander Text" panose="020B0504020201020104" pitchFamily="34" charset="0"/>
              </a:rPr>
              <a:t>+ 20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438BF05-EFD1-574A-2FB7-8817CC9E5E6A}"/>
              </a:ext>
            </a:extLst>
          </p:cNvPr>
          <p:cNvSpPr/>
          <p:nvPr/>
        </p:nvSpPr>
        <p:spPr>
          <a:xfrm>
            <a:off x="3443111" y="4796399"/>
            <a:ext cx="692450" cy="147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200" b="1">
                <a:solidFill>
                  <a:schemeClr val="accent1">
                    <a:lumMod val="20000"/>
                    <a:lumOff val="80000"/>
                  </a:schemeClr>
                </a:solidFill>
                <a:latin typeface="Santander Text" panose="020B0504020201020104" pitchFamily="34" charset="0"/>
              </a:rPr>
              <a:t>+ 1</a:t>
            </a:r>
          </a:p>
        </p:txBody>
      </p:sp>
    </p:spTree>
    <p:extLst>
      <p:ext uri="{BB962C8B-B14F-4D97-AF65-F5344CB8AC3E}">
        <p14:creationId xmlns:p14="http://schemas.microsoft.com/office/powerpoint/2010/main" val="419806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7532" y="348649"/>
            <a:ext cx="10758735" cy="315242"/>
          </a:xfrm>
        </p:spPr>
        <p:txBody>
          <a:bodyPr/>
          <a:lstStyle/>
          <a:p>
            <a:r>
              <a:rPr lang="es-ES" sz="2000"/>
              <a:t>2.1. </a:t>
            </a:r>
            <a:r>
              <a:rPr lang="es-ES" sz="2000" err="1"/>
              <a:t>Projeto</a:t>
            </a:r>
            <a:r>
              <a:rPr lang="es-ES" sz="2000"/>
              <a:t> </a:t>
            </a:r>
            <a:r>
              <a:rPr lang="pt-PT" sz="2000" i="1" err="1"/>
              <a:t>Loan</a:t>
            </a:r>
            <a:r>
              <a:rPr lang="pt-PT" sz="2000" i="1"/>
              <a:t> Tape</a:t>
            </a:r>
            <a:r>
              <a:rPr lang="pt-PT" sz="2000"/>
              <a:t> | Enquadramento </a:t>
            </a:r>
            <a:r>
              <a:rPr lang="pt-PT" sz="1600"/>
              <a:t>(2|2)</a:t>
            </a:r>
          </a:p>
          <a:p>
            <a:endParaRPr lang="es-ES" sz="2000">
              <a:solidFill>
                <a:srgbClr val="FF0000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D2C8747-16CC-46F7-8AC4-664E9B00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282720-08D6-B437-63A5-918D0B1B0665}"/>
              </a:ext>
            </a:extLst>
          </p:cNvPr>
          <p:cNvSpPr txBox="1"/>
          <p:nvPr/>
        </p:nvSpPr>
        <p:spPr>
          <a:xfrm>
            <a:off x="547532" y="792666"/>
            <a:ext cx="107587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400">
                <a:latin typeface="Santander Text" panose="020B0504020201020104" pitchFamily="34" charset="0"/>
              </a:rPr>
              <a:t>De acordo com os requisitos definidos pelo BCE, o </a:t>
            </a:r>
            <a:r>
              <a:rPr lang="pt-PT" sz="1400" b="1">
                <a:latin typeface="Santander Text" panose="020B0504020201020104" pitchFamily="34" charset="0"/>
              </a:rPr>
              <a:t>módulo da </a:t>
            </a:r>
            <a:r>
              <a:rPr lang="pt-PT" sz="1400" b="1" i="1" err="1">
                <a:latin typeface="Santander Text" panose="020B0504020201020104" pitchFamily="34" charset="0"/>
              </a:rPr>
              <a:t>Loan</a:t>
            </a:r>
            <a:r>
              <a:rPr lang="pt-PT" sz="1400" b="1" i="1">
                <a:latin typeface="Santander Text" panose="020B0504020201020104" pitchFamily="34" charset="0"/>
              </a:rPr>
              <a:t> Tape</a:t>
            </a:r>
            <a:r>
              <a:rPr lang="pt-PT" sz="1400" b="1">
                <a:latin typeface="Santander Text" panose="020B0504020201020104" pitchFamily="34" charset="0"/>
              </a:rPr>
              <a:t> (desenvolvido no </a:t>
            </a:r>
            <a:r>
              <a:rPr lang="pt-PT" sz="1400" b="1" i="1">
                <a:latin typeface="Santander Text" panose="020B0504020201020104" pitchFamily="34" charset="0"/>
              </a:rPr>
              <a:t>Data </a:t>
            </a:r>
            <a:r>
              <a:rPr lang="pt-PT" sz="1400" b="1" i="1" err="1">
                <a:latin typeface="Santander Text" panose="020B0504020201020104" pitchFamily="34" charset="0"/>
              </a:rPr>
              <a:t>Lake</a:t>
            </a:r>
            <a:r>
              <a:rPr lang="pt-PT" sz="1400" b="1">
                <a:latin typeface="Santander Text" panose="020B0504020201020104" pitchFamily="34" charset="0"/>
              </a:rPr>
              <a:t>) </a:t>
            </a:r>
            <a:r>
              <a:rPr lang="pt-PT" sz="1400">
                <a:latin typeface="Santander Text" panose="020B0504020201020104" pitchFamily="34" charset="0"/>
              </a:rPr>
              <a:t>está preparado para gerar relatórios mensais </a:t>
            </a:r>
            <a:r>
              <a:rPr lang="pt-PT" sz="1400" i="1" err="1">
                <a:latin typeface="Santander Text" panose="020B0504020201020104" pitchFamily="34" charset="0"/>
              </a:rPr>
              <a:t>on</a:t>
            </a:r>
            <a:r>
              <a:rPr lang="pt-PT" sz="1400" i="1">
                <a:latin typeface="Santander Text" panose="020B0504020201020104" pitchFamily="34" charset="0"/>
              </a:rPr>
              <a:t> </a:t>
            </a:r>
            <a:r>
              <a:rPr lang="pt-PT" sz="1400" i="1" err="1">
                <a:latin typeface="Santander Text" panose="020B0504020201020104" pitchFamily="34" charset="0"/>
              </a:rPr>
              <a:t>demand</a:t>
            </a:r>
            <a:r>
              <a:rPr lang="pt-PT" sz="1400">
                <a:latin typeface="Santander Text" panose="020B0504020201020104" pitchFamily="34" charset="0"/>
              </a:rPr>
              <a:t>, considerando igualmente a configuração de vários parâmetros. No versionamento atual, dispõe das seguintes funcionalidades: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633244C-33F1-5BE8-2ED5-327D8024C262}"/>
              </a:ext>
            </a:extLst>
          </p:cNvPr>
          <p:cNvSpPr/>
          <p:nvPr/>
        </p:nvSpPr>
        <p:spPr>
          <a:xfrm>
            <a:off x="3472061" y="2666017"/>
            <a:ext cx="2268000" cy="75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90000" bIns="90000" rtlCol="0" anchor="t" anchorCtr="0"/>
          <a:lstStyle/>
          <a:p>
            <a:r>
              <a:rPr lang="pt-PT" sz="1200" b="1">
                <a:solidFill>
                  <a:schemeClr val="tx1"/>
                </a:solidFill>
                <a:latin typeface="Santander Headline" panose="020B0504020201020104" pitchFamily="34" charset="0"/>
              </a:rPr>
              <a:t>Informação reconciliada</a:t>
            </a:r>
            <a:r>
              <a:rPr lang="pt-PT" sz="1200">
                <a:solidFill>
                  <a:schemeClr val="tx1"/>
                </a:solidFill>
                <a:latin typeface="Santander Headline" panose="020B0504020201020104" pitchFamily="34" charset="0"/>
              </a:rPr>
              <a:t> com vários reportes (ex. FINREP, COREP)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125DDA6-576F-36FE-713F-F6FF60D3FC02}"/>
              </a:ext>
            </a:extLst>
          </p:cNvPr>
          <p:cNvGrpSpPr>
            <a:grpSpLocks noChangeAspect="1"/>
          </p:cNvGrpSpPr>
          <p:nvPr/>
        </p:nvGrpSpPr>
        <p:grpSpPr>
          <a:xfrm>
            <a:off x="3289553" y="2481875"/>
            <a:ext cx="368827" cy="368827"/>
            <a:chOff x="1002889" y="3921930"/>
            <a:chExt cx="540000" cy="54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7701640-4031-C3BB-2D5B-06EE87B614AC}"/>
                </a:ext>
              </a:extLst>
            </p:cNvPr>
            <p:cNvSpPr/>
            <p:nvPr/>
          </p:nvSpPr>
          <p:spPr>
            <a:xfrm>
              <a:off x="1002889" y="3921930"/>
              <a:ext cx="540000" cy="540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/>
            </a:p>
          </p:txBody>
        </p:sp>
        <p:pic>
          <p:nvPicPr>
            <p:cNvPr id="13" name="Graphic 12" descr="Calculator with solid fill">
              <a:extLst>
                <a:ext uri="{FF2B5EF4-FFF2-40B4-BE49-F238E27FC236}">
                  <a16:creationId xmlns:a16="http://schemas.microsoft.com/office/drawing/2014/main" id="{45D83064-D81C-3370-86D5-9AD20B7998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92889" y="4011930"/>
              <a:ext cx="360000" cy="360000"/>
            </a:xfrm>
            <a:prstGeom prst="rect">
              <a:avLst/>
            </a:prstGeom>
          </p:spPr>
        </p:pic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591D1833-F910-9414-D373-289D779557BA}"/>
              </a:ext>
            </a:extLst>
          </p:cNvPr>
          <p:cNvSpPr/>
          <p:nvPr/>
        </p:nvSpPr>
        <p:spPr>
          <a:xfrm>
            <a:off x="826520" y="2666017"/>
            <a:ext cx="2268000" cy="75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90000" bIns="90000" rtlCol="0" anchor="t" anchorCtr="0"/>
          <a:lstStyle/>
          <a:p>
            <a:pPr>
              <a:spcBef>
                <a:spcPts val="600"/>
              </a:spcBef>
            </a:pPr>
            <a:r>
              <a:rPr lang="pt-PT" sz="1200">
                <a:solidFill>
                  <a:schemeClr val="tx1"/>
                </a:solidFill>
                <a:latin typeface="Santander Headline" panose="020B0504020201020104" pitchFamily="34" charset="0"/>
              </a:rPr>
              <a:t>Possibilidade de adicionar </a:t>
            </a:r>
            <a:r>
              <a:rPr lang="pt-PT" sz="1200" b="1">
                <a:solidFill>
                  <a:schemeClr val="tx1"/>
                </a:solidFill>
                <a:latin typeface="Santander Headline" panose="020B0504020201020104" pitchFamily="34" charset="0"/>
              </a:rPr>
              <a:t>novos segmentos</a:t>
            </a:r>
            <a:r>
              <a:rPr lang="pt-PT" sz="1200">
                <a:solidFill>
                  <a:schemeClr val="tx1"/>
                </a:solidFill>
                <a:latin typeface="Santander Headline" panose="020B0504020201020104" pitchFamily="34" charset="0"/>
              </a:rPr>
              <a:t> para reporte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0EBA0A5-B9A6-14EA-4631-19FDF84D5048}"/>
              </a:ext>
            </a:extLst>
          </p:cNvPr>
          <p:cNvGrpSpPr>
            <a:grpSpLocks noChangeAspect="1"/>
          </p:cNvGrpSpPr>
          <p:nvPr/>
        </p:nvGrpSpPr>
        <p:grpSpPr>
          <a:xfrm>
            <a:off x="644012" y="2481875"/>
            <a:ext cx="368827" cy="368827"/>
            <a:chOff x="926689" y="3221934"/>
            <a:chExt cx="540000" cy="54000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C4C612-034F-A127-0FCC-1F0702BB79F4}"/>
                </a:ext>
              </a:extLst>
            </p:cNvPr>
            <p:cNvSpPr/>
            <p:nvPr/>
          </p:nvSpPr>
          <p:spPr>
            <a:xfrm>
              <a:off x="926689" y="3221934"/>
              <a:ext cx="540000" cy="540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/>
            </a:p>
          </p:txBody>
        </p:sp>
        <p:pic>
          <p:nvPicPr>
            <p:cNvPr id="17" name="Graphic 16" descr="Follow with solid fill">
              <a:extLst>
                <a:ext uri="{FF2B5EF4-FFF2-40B4-BE49-F238E27FC236}">
                  <a16:creationId xmlns:a16="http://schemas.microsoft.com/office/drawing/2014/main" id="{4748B14B-9BFD-B416-FC55-DF3864F0D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6689" y="3311934"/>
              <a:ext cx="360000" cy="360000"/>
            </a:xfrm>
            <a:prstGeom prst="rect">
              <a:avLst/>
            </a:prstGeom>
          </p:spPr>
        </p:pic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9AB97CF4-EC3C-F2AC-E7CF-2D35A85C4E04}"/>
              </a:ext>
            </a:extLst>
          </p:cNvPr>
          <p:cNvSpPr/>
          <p:nvPr/>
        </p:nvSpPr>
        <p:spPr>
          <a:xfrm>
            <a:off x="3472061" y="1684737"/>
            <a:ext cx="2268000" cy="75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36000" bIns="90000" rtlCol="0" anchor="t" anchorCtr="0"/>
          <a:lstStyle/>
          <a:p>
            <a:r>
              <a:rPr lang="pt-PT" sz="1200">
                <a:solidFill>
                  <a:schemeClr val="tx1"/>
                </a:solidFill>
                <a:latin typeface="Santander Headline" panose="020B0504020201020104" pitchFamily="34" charset="0"/>
              </a:rPr>
              <a:t>Campos altamente </a:t>
            </a:r>
            <a:r>
              <a:rPr lang="pt-PT" sz="1200" b="1">
                <a:solidFill>
                  <a:schemeClr val="tx1"/>
                </a:solidFill>
                <a:latin typeface="Santander Headline" panose="020B0504020201020104" pitchFamily="34" charset="0"/>
              </a:rPr>
              <a:t>parametrizáveis </a:t>
            </a:r>
            <a:r>
              <a:rPr lang="pt-PT" sz="1200">
                <a:solidFill>
                  <a:schemeClr val="tx1"/>
                </a:solidFill>
                <a:latin typeface="Santander Headline" panose="020B0504020201020104" pitchFamily="34" charset="0"/>
              </a:rPr>
              <a:t>(gestão autónoma por parte do negócio)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D28F6B-1822-4781-2F36-295D1045363C}"/>
              </a:ext>
            </a:extLst>
          </p:cNvPr>
          <p:cNvSpPr/>
          <p:nvPr/>
        </p:nvSpPr>
        <p:spPr>
          <a:xfrm>
            <a:off x="826520" y="1675112"/>
            <a:ext cx="2268000" cy="75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90000" bIns="90000" rtlCol="0" anchor="t" anchorCtr="0"/>
          <a:lstStyle/>
          <a:p>
            <a:pPr>
              <a:spcBef>
                <a:spcPts val="600"/>
              </a:spcBef>
            </a:pPr>
            <a:r>
              <a:rPr lang="pt-PT" sz="1200">
                <a:solidFill>
                  <a:schemeClr val="tx1"/>
                </a:solidFill>
                <a:latin typeface="Santander Headline" panose="020B0504020201020104" pitchFamily="34" charset="0"/>
              </a:rPr>
              <a:t>Possibilidade de execução para qualquer </a:t>
            </a:r>
            <a:r>
              <a:rPr lang="pt-PT" sz="1200" b="1">
                <a:solidFill>
                  <a:schemeClr val="tx1"/>
                </a:solidFill>
                <a:latin typeface="Santander Headline" panose="020B0504020201020104" pitchFamily="34" charset="0"/>
              </a:rPr>
              <a:t>data de referência</a:t>
            </a:r>
            <a:r>
              <a:rPr lang="pt-PT" sz="1200">
                <a:solidFill>
                  <a:schemeClr val="tx1"/>
                </a:solidFill>
                <a:latin typeface="Santander Headline" panose="020B0504020201020104" pitchFamily="34" charset="0"/>
              </a:rPr>
              <a:t> (mensal)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E5F9C67-D1E2-EF36-E4D0-ACD0C0079D16}"/>
              </a:ext>
            </a:extLst>
          </p:cNvPr>
          <p:cNvGrpSpPr>
            <a:grpSpLocks noChangeAspect="1"/>
          </p:cNvGrpSpPr>
          <p:nvPr/>
        </p:nvGrpSpPr>
        <p:grpSpPr>
          <a:xfrm>
            <a:off x="644012" y="1490970"/>
            <a:ext cx="368827" cy="368827"/>
            <a:chOff x="1079089" y="4621926"/>
            <a:chExt cx="540000" cy="54000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C70447A-7E80-3FD2-3BB0-E29144120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79089" y="4621926"/>
              <a:ext cx="540000" cy="540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pic>
          <p:nvPicPr>
            <p:cNvPr id="15" name="Graphic 14" descr="Flip calendar with solid fill">
              <a:extLst>
                <a:ext uri="{FF2B5EF4-FFF2-40B4-BE49-F238E27FC236}">
                  <a16:creationId xmlns:a16="http://schemas.microsoft.com/office/drawing/2014/main" id="{74566B83-1537-5CD3-22F1-29C24D5A3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69089" y="4711926"/>
              <a:ext cx="360000" cy="360000"/>
            </a:xfrm>
            <a:prstGeom prst="rect">
              <a:avLst/>
            </a:prstGeom>
          </p:spPr>
        </p:pic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C2CBF482-C8F6-0EFB-781E-54EC489961AB}"/>
              </a:ext>
            </a:extLst>
          </p:cNvPr>
          <p:cNvSpPr/>
          <p:nvPr/>
        </p:nvSpPr>
        <p:spPr>
          <a:xfrm>
            <a:off x="826520" y="3656922"/>
            <a:ext cx="2268000" cy="75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90000" bIns="90000" rtlCol="0" anchor="t" anchorCtr="0"/>
          <a:lstStyle/>
          <a:p>
            <a:r>
              <a:rPr lang="pt-PT" sz="1200">
                <a:solidFill>
                  <a:schemeClr val="tx1"/>
                </a:solidFill>
                <a:latin typeface="Santander Headline" panose="020B0504020201020104" pitchFamily="34" charset="0"/>
              </a:rPr>
              <a:t>Possibilidade de execução para os vários </a:t>
            </a:r>
            <a:r>
              <a:rPr lang="pt-PT" sz="1200" b="1">
                <a:solidFill>
                  <a:schemeClr val="tx1"/>
                </a:solidFill>
                <a:latin typeface="Santander Headline" panose="020B0504020201020104" pitchFamily="34" charset="0"/>
              </a:rPr>
              <a:t>perímetros </a:t>
            </a:r>
            <a:r>
              <a:rPr lang="pt-PT" sz="1200">
                <a:solidFill>
                  <a:schemeClr val="tx1"/>
                </a:solidFill>
                <a:latin typeface="Santander Headline" panose="020B0504020201020104" pitchFamily="34" charset="0"/>
              </a:rPr>
              <a:t>e </a:t>
            </a:r>
            <a:r>
              <a:rPr lang="pt-PT" sz="1200" b="1">
                <a:solidFill>
                  <a:schemeClr val="tx1"/>
                </a:solidFill>
                <a:latin typeface="Santander Headline" panose="020B0504020201020104" pitchFamily="34" charset="0"/>
              </a:rPr>
              <a:t>entidades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418A3F4-6E17-C328-9D9D-3225C90D4861}"/>
              </a:ext>
            </a:extLst>
          </p:cNvPr>
          <p:cNvGrpSpPr>
            <a:grpSpLocks noChangeAspect="1"/>
          </p:cNvGrpSpPr>
          <p:nvPr/>
        </p:nvGrpSpPr>
        <p:grpSpPr>
          <a:xfrm>
            <a:off x="644012" y="3472780"/>
            <a:ext cx="368827" cy="368827"/>
            <a:chOff x="1002889" y="3921930"/>
            <a:chExt cx="540000" cy="54000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B7677C1A-F890-53F0-8DE3-BD98FDF67BFB}"/>
                </a:ext>
              </a:extLst>
            </p:cNvPr>
            <p:cNvSpPr/>
            <p:nvPr/>
          </p:nvSpPr>
          <p:spPr>
            <a:xfrm>
              <a:off x="1002889" y="3921930"/>
              <a:ext cx="540000" cy="540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/>
            </a:p>
          </p:txBody>
        </p:sp>
        <p:pic>
          <p:nvPicPr>
            <p:cNvPr id="63" name="Graphic 62" descr="Checklist with solid fill">
              <a:extLst>
                <a:ext uri="{FF2B5EF4-FFF2-40B4-BE49-F238E27FC236}">
                  <a16:creationId xmlns:a16="http://schemas.microsoft.com/office/drawing/2014/main" id="{36D63BBA-5BA3-AACD-DBD3-1AE92968C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1092889" y="4011930"/>
              <a:ext cx="360000" cy="360000"/>
            </a:xfrm>
            <a:prstGeom prst="rect">
              <a:avLst/>
            </a:prstGeom>
          </p:spPr>
        </p:pic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D38A4D3E-FBB0-2230-A1AD-2E575876ACE2}"/>
              </a:ext>
            </a:extLst>
          </p:cNvPr>
          <p:cNvSpPr/>
          <p:nvPr/>
        </p:nvSpPr>
        <p:spPr>
          <a:xfrm>
            <a:off x="3472061" y="3656922"/>
            <a:ext cx="2268000" cy="75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90000" bIns="90000" rtlCol="0" anchor="t" anchorCtr="0"/>
          <a:lstStyle/>
          <a:p>
            <a:r>
              <a:rPr lang="pt-PT" sz="1200" b="1">
                <a:solidFill>
                  <a:schemeClr val="tx1"/>
                </a:solidFill>
                <a:latin typeface="Santander Headline" panose="020B0504020201020104" pitchFamily="34" charset="0"/>
              </a:rPr>
              <a:t>Exportação dinâmica </a:t>
            </a:r>
            <a:r>
              <a:rPr lang="pt-PT" sz="1200">
                <a:solidFill>
                  <a:schemeClr val="tx1"/>
                </a:solidFill>
                <a:latin typeface="Santander Headline" panose="020B0504020201020104" pitchFamily="34" charset="0"/>
              </a:rPr>
              <a:t>(conjunto de perímetros, segmentos e entidades)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4B84CB7-CBEF-69CC-8971-6ADFEB40DD91}"/>
              </a:ext>
            </a:extLst>
          </p:cNvPr>
          <p:cNvGrpSpPr>
            <a:grpSpLocks noChangeAspect="1"/>
          </p:cNvGrpSpPr>
          <p:nvPr/>
        </p:nvGrpSpPr>
        <p:grpSpPr>
          <a:xfrm>
            <a:off x="3289553" y="3472780"/>
            <a:ext cx="368827" cy="368827"/>
            <a:chOff x="926689" y="3221934"/>
            <a:chExt cx="540000" cy="5400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B0E93C95-E7A2-BCA6-42F0-36C6B023EE99}"/>
                </a:ext>
              </a:extLst>
            </p:cNvPr>
            <p:cNvSpPr/>
            <p:nvPr/>
          </p:nvSpPr>
          <p:spPr>
            <a:xfrm>
              <a:off x="926689" y="3221934"/>
              <a:ext cx="540000" cy="540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/>
            </a:p>
          </p:txBody>
        </p:sp>
        <p:pic>
          <p:nvPicPr>
            <p:cNvPr id="61" name="Graphic 60" descr="Document with solid fill">
              <a:extLst>
                <a:ext uri="{FF2B5EF4-FFF2-40B4-BE49-F238E27FC236}">
                  <a16:creationId xmlns:a16="http://schemas.microsoft.com/office/drawing/2014/main" id="{7F5A5258-76CB-E781-8638-1C8BA5FC5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1016689" y="3311934"/>
              <a:ext cx="360000" cy="360000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FB96A4D-5D50-823E-4DC3-723525CD38CD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t="3379" b="-1"/>
          <a:stretch/>
        </p:blipFill>
        <p:spPr>
          <a:xfrm>
            <a:off x="6103449" y="1501458"/>
            <a:ext cx="3871087" cy="21862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4678A2-248A-1DC3-BD13-C23C51F41903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r="22033"/>
          <a:stretch/>
        </p:blipFill>
        <p:spPr>
          <a:xfrm>
            <a:off x="6767824" y="1882096"/>
            <a:ext cx="3870000" cy="2286657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3668D6D3-29E7-2E25-1383-3EA3ED2CAE1A}"/>
              </a:ext>
            </a:extLst>
          </p:cNvPr>
          <p:cNvGrpSpPr/>
          <p:nvPr/>
        </p:nvGrpSpPr>
        <p:grpSpPr>
          <a:xfrm>
            <a:off x="7431111" y="2363139"/>
            <a:ext cx="3870000" cy="2286000"/>
            <a:chOff x="293571" y="608546"/>
            <a:chExt cx="10374312" cy="468534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D55108B-807C-8D21-B618-61F8C16E5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93571" y="608546"/>
              <a:ext cx="10374312" cy="468534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C14E5FD-4FB9-8A05-6D22-F00FB13535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/>
            <a:srcRect l="19710" t="333" r="70555" b="95652"/>
            <a:stretch/>
          </p:blipFill>
          <p:spPr>
            <a:xfrm>
              <a:off x="7829266" y="635840"/>
              <a:ext cx="1009936" cy="17742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845F11A-A7BB-0CC6-D368-1C8AA54D7863}"/>
              </a:ext>
            </a:extLst>
          </p:cNvPr>
          <p:cNvGrpSpPr/>
          <p:nvPr/>
        </p:nvGrpSpPr>
        <p:grpSpPr>
          <a:xfrm>
            <a:off x="3289553" y="1490970"/>
            <a:ext cx="368827" cy="368827"/>
            <a:chOff x="2962293" y="1230620"/>
            <a:chExt cx="368827" cy="368827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C93E0FE-3619-5B7F-EB10-DFA224A59158}"/>
                </a:ext>
              </a:extLst>
            </p:cNvPr>
            <p:cNvSpPr/>
            <p:nvPr/>
          </p:nvSpPr>
          <p:spPr>
            <a:xfrm>
              <a:off x="2962293" y="1230620"/>
              <a:ext cx="368827" cy="36882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/>
            </a:p>
          </p:txBody>
        </p:sp>
        <p:pic>
          <p:nvPicPr>
            <p:cNvPr id="32" name="Graphic 31" descr="Workflow with solid fill">
              <a:extLst>
                <a:ext uri="{FF2B5EF4-FFF2-40B4-BE49-F238E27FC236}">
                  <a16:creationId xmlns:a16="http://schemas.microsoft.com/office/drawing/2014/main" id="{30EFBF21-A3F1-AB6C-21BD-C8679C586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022401" y="1292362"/>
              <a:ext cx="244800" cy="244800"/>
            </a:xfrm>
            <a:prstGeom prst="rect">
              <a:avLst/>
            </a:prstGeom>
          </p:spPr>
        </p:pic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4BDC98C0-9060-26C1-5060-387DA37770C9}"/>
              </a:ext>
            </a:extLst>
          </p:cNvPr>
          <p:cNvSpPr/>
          <p:nvPr/>
        </p:nvSpPr>
        <p:spPr>
          <a:xfrm>
            <a:off x="649167" y="4913743"/>
            <a:ext cx="10657099" cy="159826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 anchorCtr="0"/>
          <a:lstStyle/>
          <a:p>
            <a:r>
              <a:rPr 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Sem prejuízo da ferramenta estar totalmente funcional e disponível, têm-se continuado a trabalhar e a resolver </a:t>
            </a:r>
            <a:r>
              <a:rPr lang="pt-PT" sz="1200" err="1">
                <a:solidFill>
                  <a:schemeClr val="tx1"/>
                </a:solidFill>
                <a:latin typeface="Santander Text" panose="020B0504020201020104" pitchFamily="34" charset="0"/>
              </a:rPr>
              <a:t>issues</a:t>
            </a:r>
            <a:r>
              <a:rPr 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 e outras incidências detetadas - nomeadamente no contexto de algumas </a:t>
            </a:r>
            <a:r>
              <a:rPr lang="pt-PT" sz="1200" err="1">
                <a:solidFill>
                  <a:schemeClr val="tx1"/>
                </a:solidFill>
                <a:latin typeface="Santander Text" panose="020B0504020201020104" pitchFamily="34" charset="0"/>
              </a:rPr>
              <a:t>OSIs</a:t>
            </a:r>
            <a:r>
              <a:rPr 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 mais recentes -, bem como a completar campos com fontes de dados mais desafiantes ou complexas.</a:t>
            </a:r>
            <a:endParaRPr lang="pt-PT" sz="12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9087DA-7FE9-606F-B470-9937C69AD0C1}"/>
              </a:ext>
            </a:extLst>
          </p:cNvPr>
          <p:cNvSpPr/>
          <p:nvPr/>
        </p:nvSpPr>
        <p:spPr>
          <a:xfrm flipH="1">
            <a:off x="413945" y="4890247"/>
            <a:ext cx="230067" cy="4715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>
              <a:defRPr/>
            </a:pPr>
            <a:endParaRPr lang="pt-PT" sz="1200" b="1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11" name="Pentagon 212">
            <a:extLst>
              <a:ext uri="{FF2B5EF4-FFF2-40B4-BE49-F238E27FC236}">
                <a16:creationId xmlns:a16="http://schemas.microsoft.com/office/drawing/2014/main" id="{486BB929-58CF-C2D4-BF55-41725834019E}"/>
              </a:ext>
            </a:extLst>
          </p:cNvPr>
          <p:cNvSpPr/>
          <p:nvPr/>
        </p:nvSpPr>
        <p:spPr>
          <a:xfrm>
            <a:off x="1044951" y="6022617"/>
            <a:ext cx="9859339" cy="252485"/>
          </a:xfrm>
          <a:prstGeom prst="homePlate">
            <a:avLst>
              <a:gd name="adj" fmla="val 27365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3F0AE26-CFCC-313C-4877-4F240F1ACA76}"/>
              </a:ext>
            </a:extLst>
          </p:cNvPr>
          <p:cNvGrpSpPr/>
          <p:nvPr/>
        </p:nvGrpSpPr>
        <p:grpSpPr>
          <a:xfrm>
            <a:off x="1123755" y="5518185"/>
            <a:ext cx="2160000" cy="797330"/>
            <a:chOff x="1123755" y="5260165"/>
            <a:chExt cx="2160000" cy="79733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DE483B4-6470-863D-3F34-A5A5E0D7E3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40799" y="5730223"/>
              <a:ext cx="325912" cy="327272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1629032-5678-752F-BA21-BE66742F4056}"/>
                </a:ext>
              </a:extLst>
            </p:cNvPr>
            <p:cNvSpPr/>
            <p:nvPr/>
          </p:nvSpPr>
          <p:spPr>
            <a:xfrm>
              <a:off x="1123755" y="5260165"/>
              <a:ext cx="2160000" cy="36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OSI CRE</a:t>
              </a:r>
            </a:p>
            <a:p>
              <a:pPr algn="ctr"/>
              <a:r>
                <a:rPr lang="pt-PT" sz="1050" i="1">
                  <a:solidFill>
                    <a:schemeClr val="tx1"/>
                  </a:solidFill>
                  <a:latin typeface="Santander Text" panose="020B0504020201020104" pitchFamily="34" charset="0"/>
                </a:rPr>
                <a:t>Outubro 2021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FADCED4-B991-034A-0A21-0B5CF03CA38A}"/>
              </a:ext>
            </a:extLst>
          </p:cNvPr>
          <p:cNvGrpSpPr/>
          <p:nvPr/>
        </p:nvGrpSpPr>
        <p:grpSpPr>
          <a:xfrm>
            <a:off x="7971596" y="5518185"/>
            <a:ext cx="2160000" cy="797330"/>
            <a:chOff x="7971596" y="5260165"/>
            <a:chExt cx="2160000" cy="79733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6338B92-F5B4-3AF1-B3B2-77AC8AF834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88640" y="5730223"/>
              <a:ext cx="325912" cy="327272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F32D7CE-C7F2-C15B-81AD-A09AF41B8A51}"/>
                </a:ext>
              </a:extLst>
            </p:cNvPr>
            <p:cNvSpPr/>
            <p:nvPr/>
          </p:nvSpPr>
          <p:spPr>
            <a:xfrm>
              <a:off x="7971596" y="5260165"/>
              <a:ext cx="2160000" cy="36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Pedido </a:t>
              </a:r>
              <a:r>
                <a:rPr lang="pt-PT" sz="1050" b="1" err="1">
                  <a:solidFill>
                    <a:schemeClr val="tx1"/>
                  </a:solidFill>
                  <a:latin typeface="Santander Text" panose="020B0504020201020104" pitchFamily="34" charset="0"/>
                </a:rPr>
                <a:t>BdP</a:t>
              </a:r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: Reconciliação ME </a:t>
              </a:r>
              <a:r>
                <a:rPr lang="pt-PT" sz="1050" b="1" err="1">
                  <a:solidFill>
                    <a:schemeClr val="tx1"/>
                  </a:solidFill>
                  <a:latin typeface="Santander Text" panose="020B0504020201020104" pitchFamily="34" charset="0"/>
                </a:rPr>
                <a:t>vs</a:t>
              </a:r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 CRC</a:t>
              </a:r>
              <a:endParaRPr lang="pt-PT" sz="1050" b="1" i="1">
                <a:solidFill>
                  <a:schemeClr val="tx1"/>
                </a:solidFill>
                <a:latin typeface="Santander Text" panose="020B0504020201020104" pitchFamily="34" charset="0"/>
              </a:endParaRPr>
            </a:p>
            <a:p>
              <a:pPr algn="ctr"/>
              <a:r>
                <a:rPr lang="pt-PT" sz="1050" i="1">
                  <a:solidFill>
                    <a:schemeClr val="tx1"/>
                  </a:solidFill>
                  <a:latin typeface="Santander Text" panose="020B0504020201020104" pitchFamily="34" charset="0"/>
                </a:rPr>
                <a:t>Agosto 2022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EF982A3-EED1-1BEA-5224-36FBF7C18C22}"/>
              </a:ext>
            </a:extLst>
          </p:cNvPr>
          <p:cNvGrpSpPr/>
          <p:nvPr/>
        </p:nvGrpSpPr>
        <p:grpSpPr>
          <a:xfrm>
            <a:off x="5688983" y="5518185"/>
            <a:ext cx="2160000" cy="797331"/>
            <a:chOff x="4978145" y="5260165"/>
            <a:chExt cx="2160000" cy="797331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6717F98-121A-471D-ADB4-B568491B69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5189" y="5730223"/>
              <a:ext cx="325912" cy="327273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12198BE-550A-3DFB-BEAC-B4AB7A36F6F6}"/>
                </a:ext>
              </a:extLst>
            </p:cNvPr>
            <p:cNvSpPr/>
            <p:nvPr/>
          </p:nvSpPr>
          <p:spPr>
            <a:xfrm>
              <a:off x="4978145" y="5260165"/>
              <a:ext cx="2160000" cy="36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OSI </a:t>
              </a:r>
              <a:r>
                <a:rPr lang="pt-PT" sz="1050" b="1" i="1" err="1">
                  <a:solidFill>
                    <a:schemeClr val="tx1"/>
                  </a:solidFill>
                  <a:latin typeface="Santander Text" panose="020B0504020201020104" pitchFamily="34" charset="0"/>
                </a:rPr>
                <a:t>Leverage</a:t>
              </a:r>
              <a:r>
                <a:rPr lang="pt-PT" sz="1050" b="1" i="1">
                  <a:solidFill>
                    <a:schemeClr val="tx1"/>
                  </a:solidFill>
                  <a:latin typeface="Santander Text" panose="020B0504020201020104" pitchFamily="34" charset="0"/>
                </a:rPr>
                <a:t> </a:t>
              </a:r>
              <a:r>
                <a:rPr lang="pt-PT" sz="1050" b="1" i="1" err="1">
                  <a:solidFill>
                    <a:schemeClr val="tx1"/>
                  </a:solidFill>
                  <a:latin typeface="Santander Text" panose="020B0504020201020104" pitchFamily="34" charset="0"/>
                </a:rPr>
                <a:t>Finance</a:t>
              </a:r>
              <a:endParaRPr lang="pt-PT" sz="1050" b="1">
                <a:solidFill>
                  <a:schemeClr val="tx1"/>
                </a:solidFill>
                <a:latin typeface="Santander Text" panose="020B0504020201020104" pitchFamily="34" charset="0"/>
              </a:endParaRPr>
            </a:p>
            <a:p>
              <a:pPr algn="ctr"/>
              <a:r>
                <a:rPr lang="pt-PT" sz="1050" i="1">
                  <a:solidFill>
                    <a:schemeClr val="tx1"/>
                  </a:solidFill>
                  <a:latin typeface="Santander Text" panose="020B0504020201020104" pitchFamily="34" charset="0"/>
                </a:rPr>
                <a:t>Junho 2022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D16EA0F-D797-0580-D492-6E1893A765A9}"/>
              </a:ext>
            </a:extLst>
          </p:cNvPr>
          <p:cNvGrpSpPr/>
          <p:nvPr/>
        </p:nvGrpSpPr>
        <p:grpSpPr>
          <a:xfrm>
            <a:off x="3406369" y="5518185"/>
            <a:ext cx="2160000" cy="797331"/>
            <a:chOff x="4978145" y="5260165"/>
            <a:chExt cx="2160000" cy="79733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B8D5297-177C-66E8-650F-7AF8CADB74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5189" y="5730223"/>
              <a:ext cx="325912" cy="327273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AF40DDA-29C5-A2F4-7018-3AD1D2BF8D81}"/>
                </a:ext>
              </a:extLst>
            </p:cNvPr>
            <p:cNvSpPr/>
            <p:nvPr/>
          </p:nvSpPr>
          <p:spPr>
            <a:xfrm>
              <a:off x="4978145" y="5260165"/>
              <a:ext cx="2160000" cy="36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>
                  <a:solidFill>
                    <a:schemeClr val="tx1"/>
                  </a:solidFill>
                  <a:latin typeface="Santander Text" panose="020B0504020201020104" pitchFamily="34" charset="0"/>
                </a:rPr>
                <a:t>OSI Risco Climático</a:t>
              </a:r>
            </a:p>
            <a:p>
              <a:pPr algn="ctr"/>
              <a:r>
                <a:rPr lang="pt-PT" sz="1050" i="1">
                  <a:solidFill>
                    <a:schemeClr val="tx1"/>
                  </a:solidFill>
                  <a:latin typeface="Santander Text" panose="020B0504020201020104" pitchFamily="34" charset="0"/>
                </a:rPr>
                <a:t>Março 2022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3151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7532" y="348649"/>
            <a:ext cx="10758735" cy="315242"/>
          </a:xfrm>
        </p:spPr>
        <p:txBody>
          <a:bodyPr/>
          <a:lstStyle/>
          <a:p>
            <a:r>
              <a:rPr lang="es-ES" sz="2000"/>
              <a:t>2.2. </a:t>
            </a:r>
            <a:r>
              <a:rPr lang="pt-PT" sz="2000"/>
              <a:t>Projeto</a:t>
            </a:r>
            <a:r>
              <a:rPr lang="es-ES" sz="2000"/>
              <a:t> Loan Tape | S</a:t>
            </a:r>
            <a:r>
              <a:rPr lang="es-ES" sz="2000" i="1"/>
              <a:t>tatus</a:t>
            </a:r>
            <a:endParaRPr lang="pt-PT" sz="1600"/>
          </a:p>
          <a:p>
            <a:endParaRPr lang="pt-PT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973506-901F-EB4A-D058-30D54F88600F}"/>
              </a:ext>
            </a:extLst>
          </p:cNvPr>
          <p:cNvSpPr txBox="1"/>
          <p:nvPr/>
        </p:nvSpPr>
        <p:spPr>
          <a:xfrm>
            <a:off x="547532" y="792666"/>
            <a:ext cx="10758734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400" dirty="0">
                <a:latin typeface="Santander Text" panose="020B0504020201020104" pitchFamily="34" charset="0"/>
              </a:rPr>
              <a:t>A </a:t>
            </a:r>
            <a:r>
              <a:rPr lang="pt-PT" sz="1400" i="1" dirty="0">
                <a:latin typeface="Santander Text" panose="020B0504020201020104" pitchFamily="34" charset="0"/>
              </a:rPr>
              <a:t>Loan Tape</a:t>
            </a:r>
            <a:r>
              <a:rPr lang="pt-PT" sz="1400" dirty="0">
                <a:latin typeface="Santander Text" panose="020B0504020201020104" pitchFamily="34" charset="0"/>
              </a:rPr>
              <a:t> é composta por um total de </a:t>
            </a:r>
            <a:r>
              <a:rPr lang="pt-PT" sz="1400" b="1" dirty="0">
                <a:latin typeface="Santander Text" panose="020B0504020201020104" pitchFamily="34" charset="0"/>
              </a:rPr>
              <a:t>330 campos</a:t>
            </a:r>
            <a:r>
              <a:rPr lang="pt-PT" sz="1400" dirty="0">
                <a:latin typeface="Santander Text" panose="020B0504020201020104" pitchFamily="34" charset="0"/>
              </a:rPr>
              <a:t>, dos </a:t>
            </a:r>
            <a:r>
              <a:rPr lang="pt-PT" sz="1400" b="1" dirty="0">
                <a:latin typeface="Santander Text" panose="020B0504020201020104" pitchFamily="34" charset="0"/>
              </a:rPr>
              <a:t>quais 274 são bem gerados pelo Loan Tape, podendo subsistir pequenos issues em resolução</a:t>
            </a:r>
            <a:r>
              <a:rPr lang="pt-PT" sz="1400" dirty="0">
                <a:latin typeface="Santander Text" panose="020B0504020201020104" pitchFamily="34" charset="0"/>
              </a:rPr>
              <a:t>.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400" dirty="0">
                <a:latin typeface="Santander Text" panose="020B0504020201020104" pitchFamily="34" charset="0"/>
              </a:rPr>
              <a:t>Não obstante o projeto se encontrar numa fase de estabilização, salientam-se alguns campos para os quais subsistem </a:t>
            </a:r>
            <a:r>
              <a:rPr lang="pt-PT" sz="1400" b="1" i="1" dirty="0">
                <a:latin typeface="Santander Text" panose="020B0504020201020104" pitchFamily="34" charset="0"/>
              </a:rPr>
              <a:t>issues</a:t>
            </a:r>
            <a:r>
              <a:rPr lang="pt-PT" sz="1400" b="1" dirty="0">
                <a:latin typeface="Santander Text" panose="020B0504020201020104" pitchFamily="34" charset="0"/>
              </a:rPr>
              <a:t> que estão ou devem ser endereçados a futuro</a:t>
            </a:r>
            <a:r>
              <a:rPr lang="pt-PT" sz="1400" dirty="0">
                <a:latin typeface="Santander Text" panose="020B0504020201020104" pitchFamily="34" charset="0"/>
              </a:rPr>
              <a:t>. A resolução destes </a:t>
            </a:r>
            <a:r>
              <a:rPr lang="pt-PT" sz="1400" i="1" dirty="0">
                <a:latin typeface="Santander Text" panose="020B0504020201020104" pitchFamily="34" charset="0"/>
              </a:rPr>
              <a:t>issues </a:t>
            </a:r>
            <a:r>
              <a:rPr lang="pt-PT" sz="1400" dirty="0">
                <a:latin typeface="Santander Text" panose="020B0504020201020104" pitchFamily="34" charset="0"/>
              </a:rPr>
              <a:t>têm como implicação o enriquecimento da informação no </a:t>
            </a:r>
            <a:r>
              <a:rPr lang="pt-PT" sz="1400" i="1" dirty="0">
                <a:latin typeface="Santander Text" panose="020B0504020201020104" pitchFamily="34" charset="0"/>
              </a:rPr>
              <a:t>Data Lake </a:t>
            </a:r>
            <a:r>
              <a:rPr lang="pt-PT" sz="1400" dirty="0">
                <a:latin typeface="Santander Text" panose="020B0504020201020104" pitchFamily="34" charset="0"/>
              </a:rPr>
              <a:t>(por exemplo, pedidos de ingestas, alteração de preenchimento de tabelas externas ao módulo </a:t>
            </a:r>
            <a:r>
              <a:rPr lang="pt-PT" sz="1400" i="1" dirty="0">
                <a:latin typeface="Santander Text" panose="020B0504020201020104" pitchFamily="34" charset="0"/>
              </a:rPr>
              <a:t>Loan Tape</a:t>
            </a:r>
            <a:r>
              <a:rPr lang="pt-PT" sz="1400" dirty="0">
                <a:latin typeface="Santander Text" panose="020B0504020201020104" pitchFamily="34" charset="0"/>
              </a:rPr>
              <a:t>).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04C64D7-A108-7651-279D-C168E03656A3}"/>
              </a:ext>
            </a:extLst>
          </p:cNvPr>
          <p:cNvGrpSpPr/>
          <p:nvPr/>
        </p:nvGrpSpPr>
        <p:grpSpPr>
          <a:xfrm>
            <a:off x="4865457" y="2098486"/>
            <a:ext cx="6661794" cy="956770"/>
            <a:chOff x="4644472" y="1732329"/>
            <a:chExt cx="6661794" cy="95677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AE44053-4B67-A72A-9782-47D276E69D4F}"/>
                </a:ext>
              </a:extLst>
            </p:cNvPr>
            <p:cNvSpPr/>
            <p:nvPr/>
          </p:nvSpPr>
          <p:spPr>
            <a:xfrm>
              <a:off x="4644472" y="1897761"/>
              <a:ext cx="3465055" cy="791338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44000" rtlCol="0" anchor="t" anchorCtr="0"/>
            <a:lstStyle/>
            <a:p>
              <a:pPr>
                <a:spcBef>
                  <a:spcPts val="600"/>
                </a:spcBef>
              </a:pPr>
              <a:r>
                <a:rPr lang="pt-PT" sz="1200">
                  <a:solidFill>
                    <a:schemeClr val="tx1"/>
                  </a:solidFill>
                  <a:latin typeface="Santander Text" panose="020B0504020201020104" pitchFamily="34" charset="0"/>
                </a:rPr>
                <a:t>Campos bem preenchidos e sem problemas estruturais. Pode haver pequenos </a:t>
              </a:r>
              <a:r>
                <a:rPr lang="pt-PT" sz="1200" i="1" err="1">
                  <a:solidFill>
                    <a:schemeClr val="tx1"/>
                  </a:solidFill>
                  <a:latin typeface="Santander Text" panose="020B0504020201020104" pitchFamily="34" charset="0"/>
                </a:rPr>
                <a:t>issues</a:t>
              </a:r>
              <a:r>
                <a:rPr lang="pt-PT" sz="1200">
                  <a:solidFill>
                    <a:schemeClr val="tx1"/>
                  </a:solidFill>
                  <a:latin typeface="Santander Text" panose="020B0504020201020104" pitchFamily="34" charset="0"/>
                </a:rPr>
                <a:t> ou pontuais campos com inconsistências a montante.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674FB15-C83C-8C18-3CDF-F41F9A500799}"/>
                </a:ext>
              </a:extLst>
            </p:cNvPr>
            <p:cNvSpPr/>
            <p:nvPr/>
          </p:nvSpPr>
          <p:spPr>
            <a:xfrm>
              <a:off x="4747490" y="1732329"/>
              <a:ext cx="2638825" cy="339970"/>
            </a:xfrm>
            <a:prstGeom prst="rect">
              <a:avLst/>
            </a:prstGeom>
            <a:solidFill>
              <a:schemeClr val="bg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72000" bIns="0" rtlCol="0" anchor="ctr" anchorCtr="0"/>
            <a:lstStyle/>
            <a:p>
              <a:r>
                <a:rPr lang="pt-PT" sz="1200" b="1">
                  <a:solidFill>
                    <a:schemeClr val="accent4"/>
                  </a:solidFill>
                  <a:latin typeface="Santander Text" panose="020B0504020201020104" pitchFamily="34" charset="0"/>
                </a:rPr>
                <a:t>Bem ou com pequenos </a:t>
              </a:r>
              <a:r>
                <a:rPr lang="pt-PT" sz="1200" b="1" i="1" err="1">
                  <a:solidFill>
                    <a:schemeClr val="accent4"/>
                  </a:solidFill>
                  <a:latin typeface="Santander Text" panose="020B0504020201020104" pitchFamily="34" charset="0"/>
                </a:rPr>
                <a:t>issues</a:t>
              </a:r>
              <a:r>
                <a:rPr lang="pt-PT" sz="1200" b="1">
                  <a:solidFill>
                    <a:schemeClr val="accent4"/>
                  </a:solidFill>
                  <a:latin typeface="Santander Text" panose="020B0504020201020104" pitchFamily="34" charset="0"/>
                </a:rPr>
                <a:t> no LT: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9D3CA1F-7179-0188-C6E4-659D6C393D31}"/>
                </a:ext>
              </a:extLst>
            </p:cNvPr>
            <p:cNvSpPr/>
            <p:nvPr/>
          </p:nvSpPr>
          <p:spPr>
            <a:xfrm>
              <a:off x="8230245" y="1897761"/>
              <a:ext cx="3076021" cy="7913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PT" sz="1200" dirty="0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Missings vs N/A, e/ou parametrizações</a:t>
              </a:r>
              <a:r>
                <a:rPr lang="pt-PT" sz="1200" i="1" baseline="30000" dirty="0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1</a:t>
              </a:r>
              <a:r>
                <a:rPr lang="pt-PT" sz="1200" dirty="0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;</a:t>
              </a: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PT" sz="1200" dirty="0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Financial Statements, New Default vs Stage</a:t>
              </a:r>
              <a:r>
                <a:rPr lang="pt-PT" sz="1200" baseline="30000" dirty="0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2</a:t>
              </a:r>
              <a:r>
                <a:rPr lang="pt-PT" sz="1200" dirty="0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.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3354A-A0B3-36DD-5A02-9AFEC1F898B8}"/>
              </a:ext>
            </a:extLst>
          </p:cNvPr>
          <p:cNvGrpSpPr/>
          <p:nvPr/>
        </p:nvGrpSpPr>
        <p:grpSpPr>
          <a:xfrm>
            <a:off x="4865457" y="3267283"/>
            <a:ext cx="6661794" cy="797110"/>
            <a:chOff x="4865457" y="3172795"/>
            <a:chExt cx="6661794" cy="79711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4EE7A86-01CD-6625-7F24-2E66670FB3FC}"/>
                </a:ext>
              </a:extLst>
            </p:cNvPr>
            <p:cNvSpPr/>
            <p:nvPr/>
          </p:nvSpPr>
          <p:spPr>
            <a:xfrm>
              <a:off x="4865457" y="3343505"/>
              <a:ext cx="3466800" cy="621443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44000" rtlCol="0" anchor="ctr" anchorCtr="0"/>
            <a:lstStyle/>
            <a:p>
              <a:r>
                <a:rPr lang="pt-PT" sz="12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Campos com melhorias e correções identificadas e em curso pela equipa funcional e de IT.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73CE50F-4211-D095-3072-873B08CE8890}"/>
                </a:ext>
              </a:extLst>
            </p:cNvPr>
            <p:cNvSpPr/>
            <p:nvPr/>
          </p:nvSpPr>
          <p:spPr>
            <a:xfrm>
              <a:off x="4968476" y="3172795"/>
              <a:ext cx="2727724" cy="279192"/>
            </a:xfrm>
            <a:prstGeom prst="rect">
              <a:avLst/>
            </a:prstGeom>
            <a:solidFill>
              <a:schemeClr val="bg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72000" bIns="0" rtlCol="0" anchor="ctr" anchorCtr="0"/>
            <a:lstStyle/>
            <a:p>
              <a:r>
                <a:rPr lang="pt-PT" sz="1200" b="1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Santander Text" panose="020B0504020201020104" pitchFamily="34" charset="0"/>
                </a:rPr>
                <a:t>Com requisitos relevantes em aberto: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BA07535-8F9B-BA5F-0752-991186D6B5B0}"/>
                </a:ext>
              </a:extLst>
            </p:cNvPr>
            <p:cNvSpPr/>
            <p:nvPr/>
          </p:nvSpPr>
          <p:spPr>
            <a:xfrm>
              <a:off x="8451230" y="3343505"/>
              <a:ext cx="3076021" cy="626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PT" sz="1200" i="1" dirty="0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#8 campos de ratings </a:t>
              </a:r>
              <a:r>
                <a:rPr lang="pt-PT" sz="1200" dirty="0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internos</a:t>
              </a:r>
              <a:r>
                <a:rPr lang="pt-PT" sz="1200" i="1" dirty="0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;</a:t>
              </a: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PT" sz="1200" dirty="0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#7 campos de empréstimos sindicados</a:t>
              </a:r>
              <a:r>
                <a:rPr lang="pt-PT" sz="1200" i="1" dirty="0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0D2175B-CAA1-6AB8-1596-A96F17BFFB16}"/>
              </a:ext>
            </a:extLst>
          </p:cNvPr>
          <p:cNvGrpSpPr/>
          <p:nvPr/>
        </p:nvGrpSpPr>
        <p:grpSpPr>
          <a:xfrm>
            <a:off x="4865457" y="4286984"/>
            <a:ext cx="6661794" cy="791956"/>
            <a:chOff x="4865457" y="4162552"/>
            <a:chExt cx="6661794" cy="791956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A4E95824-B38A-8D05-BE9A-3EBFD5A54890}"/>
                </a:ext>
              </a:extLst>
            </p:cNvPr>
            <p:cNvGrpSpPr/>
            <p:nvPr/>
          </p:nvGrpSpPr>
          <p:grpSpPr>
            <a:xfrm>
              <a:off x="4865457" y="4328108"/>
              <a:ext cx="6661794" cy="626400"/>
              <a:chOff x="4644472" y="3860750"/>
              <a:chExt cx="6661794" cy="536569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F14DD1A-FC54-B368-C574-4015975C07B0}"/>
                  </a:ext>
                </a:extLst>
              </p:cNvPr>
              <p:cNvSpPr/>
              <p:nvPr/>
            </p:nvSpPr>
            <p:spPr>
              <a:xfrm>
                <a:off x="4644472" y="3860919"/>
                <a:ext cx="3465055" cy="536400"/>
              </a:xfrm>
              <a:prstGeom prst="rect">
                <a:avLst/>
              </a:prstGeom>
              <a:noFill/>
              <a:ln w="6350">
                <a:solidFill>
                  <a:schemeClr val="bg1">
                    <a:lumMod val="50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44000" rtlCol="0" anchor="t" anchorCtr="0"/>
              <a:lstStyle/>
              <a:p>
                <a:r>
                  <a:rPr lang="pt-PT" sz="120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Campos com informação para parte da carteira (parcialmente reportados com </a:t>
                </a:r>
                <a:r>
                  <a:rPr lang="pt-PT" sz="1200" i="1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missing values</a:t>
                </a:r>
                <a:r>
                  <a:rPr lang="pt-PT" sz="120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).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5ABC204-7480-7987-DAA7-C9C162417855}"/>
                  </a:ext>
                </a:extLst>
              </p:cNvPr>
              <p:cNvSpPr/>
              <p:nvPr/>
            </p:nvSpPr>
            <p:spPr>
              <a:xfrm>
                <a:off x="8230245" y="3860750"/>
                <a:ext cx="3076021" cy="53656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marL="171450" indent="-1714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>
                    <a:solidFill>
                      <a:schemeClr val="bg1">
                        <a:lumMod val="50000"/>
                      </a:schemeClr>
                    </a:solidFill>
                    <a:latin typeface="Santander Text" panose="020B0504020201020104" pitchFamily="34" charset="0"/>
                  </a:rPr>
                  <a:t>#5 campos de </a:t>
                </a:r>
                <a:r>
                  <a:rPr lang="pt-PT" sz="1200" i="1" dirty="0">
                    <a:solidFill>
                      <a:schemeClr val="bg1">
                        <a:lumMod val="50000"/>
                      </a:schemeClr>
                    </a:solidFill>
                    <a:latin typeface="Santander Text" panose="020B0504020201020104" pitchFamily="34" charset="0"/>
                  </a:rPr>
                  <a:t>cash flows</a:t>
                </a:r>
                <a:r>
                  <a:rPr lang="pt-PT" sz="1200" dirty="0">
                    <a:solidFill>
                      <a:schemeClr val="bg1">
                        <a:lumMod val="50000"/>
                      </a:schemeClr>
                    </a:solidFill>
                    <a:latin typeface="Santander Text" panose="020B0504020201020104" pitchFamily="34" charset="0"/>
                  </a:rPr>
                  <a:t> capital e juros</a:t>
                </a:r>
                <a:r>
                  <a:rPr lang="pt-PT" sz="1200" i="1" dirty="0">
                    <a:solidFill>
                      <a:schemeClr val="bg1">
                        <a:lumMod val="50000"/>
                      </a:schemeClr>
                    </a:solidFill>
                    <a:latin typeface="Santander Text" panose="020B0504020201020104" pitchFamily="34" charset="0"/>
                  </a:rPr>
                  <a:t>;</a:t>
                </a:r>
              </a:p>
              <a:p>
                <a:pPr marL="171450" indent="-1714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>
                    <a:solidFill>
                      <a:schemeClr val="bg1">
                        <a:lumMod val="50000"/>
                      </a:schemeClr>
                    </a:solidFill>
                    <a:latin typeface="Santander Text" panose="020B0504020201020104" pitchFamily="34" charset="0"/>
                  </a:rPr>
                  <a:t>#2 campo proprietários garantia imóveis.</a:t>
                </a:r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D2952B6-FC3C-A0D1-4322-60772F366523}"/>
                </a:ext>
              </a:extLst>
            </p:cNvPr>
            <p:cNvSpPr/>
            <p:nvPr/>
          </p:nvSpPr>
          <p:spPr>
            <a:xfrm>
              <a:off x="4968475" y="4162552"/>
              <a:ext cx="2493820" cy="339970"/>
            </a:xfrm>
            <a:prstGeom prst="rect">
              <a:avLst/>
            </a:prstGeom>
            <a:solidFill>
              <a:schemeClr val="bg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72000" bIns="0" rtlCol="0" anchor="ctr" anchorCtr="0"/>
            <a:lstStyle/>
            <a:p>
              <a:r>
                <a:rPr lang="pt-PT" sz="1200" b="1">
                  <a:solidFill>
                    <a:schemeClr val="accent6"/>
                  </a:solidFill>
                  <a:latin typeface="Santander Text" panose="020B0504020201020104" pitchFamily="34" charset="0"/>
                </a:rPr>
                <a:t>Com dados, mas incompletos :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87DCA32-8F14-D257-E294-3981EBA4A77D}"/>
              </a:ext>
            </a:extLst>
          </p:cNvPr>
          <p:cNvGrpSpPr/>
          <p:nvPr/>
        </p:nvGrpSpPr>
        <p:grpSpPr>
          <a:xfrm>
            <a:off x="4865457" y="5301530"/>
            <a:ext cx="6661794" cy="917095"/>
            <a:chOff x="4865457" y="5147155"/>
            <a:chExt cx="6661794" cy="91709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E7E6294-6E8E-6A3C-956F-84298E0FBCB3}"/>
                </a:ext>
              </a:extLst>
            </p:cNvPr>
            <p:cNvSpPr/>
            <p:nvPr/>
          </p:nvSpPr>
          <p:spPr>
            <a:xfrm>
              <a:off x="4865457" y="5317865"/>
              <a:ext cx="3465055" cy="746385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44000" rtlCol="0" anchor="t" anchorCtr="0"/>
            <a:lstStyle/>
            <a:p>
              <a:r>
                <a:rPr lang="pt-PT" sz="1200">
                  <a:solidFill>
                    <a:schemeClr val="tx1"/>
                  </a:solidFill>
                  <a:latin typeface="Santander Text" panose="020B0504020201020104" pitchFamily="34" charset="0"/>
                </a:rPr>
                <a:t>Dados inexistentes nos sistemas e sem plano de mitigação identificado/claro, ou com plano de mitigação em análise.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E088169-B6B6-06D3-54C8-C4ADE89CC582}"/>
                </a:ext>
              </a:extLst>
            </p:cNvPr>
            <p:cNvSpPr/>
            <p:nvPr/>
          </p:nvSpPr>
          <p:spPr>
            <a:xfrm>
              <a:off x="4968476" y="5147155"/>
              <a:ext cx="1806974" cy="339970"/>
            </a:xfrm>
            <a:prstGeom prst="rect">
              <a:avLst/>
            </a:prstGeom>
            <a:solidFill>
              <a:schemeClr val="bg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72000" bIns="0" rtlCol="0" anchor="ctr" anchorCtr="0"/>
            <a:lstStyle/>
            <a:p>
              <a:r>
                <a:rPr lang="pt-PT" sz="1200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Santander Text" panose="020B0504020201020104" pitchFamily="34" charset="0"/>
                </a:rPr>
                <a:t>Sem quaisquer dados: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263DA6D-F07A-A968-D208-416301CE8AED}"/>
                </a:ext>
              </a:extLst>
            </p:cNvPr>
            <p:cNvSpPr/>
            <p:nvPr/>
          </p:nvSpPr>
          <p:spPr>
            <a:xfrm>
              <a:off x="8451230" y="5317865"/>
              <a:ext cx="3076021" cy="7463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PT" sz="1200" dirty="0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#4 campos de despesas e faturação CRE;</a:t>
              </a: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pt-PT" sz="1200" dirty="0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#1 campo de </a:t>
              </a:r>
              <a:r>
                <a:rPr lang="pt-PT" sz="1200" i="1" dirty="0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Covenants</a:t>
              </a:r>
              <a:r>
                <a:rPr lang="pt-PT" sz="1200" dirty="0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.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52E9517-30CB-DFCD-8ABF-1546576A87B2}"/>
              </a:ext>
            </a:extLst>
          </p:cNvPr>
          <p:cNvGrpSpPr/>
          <p:nvPr/>
        </p:nvGrpSpPr>
        <p:grpSpPr>
          <a:xfrm>
            <a:off x="385607" y="1967715"/>
            <a:ext cx="3952740" cy="1175814"/>
            <a:chOff x="878487" y="1996290"/>
            <a:chExt cx="3952740" cy="1175814"/>
          </a:xfrm>
        </p:grpSpPr>
        <p:graphicFrame>
          <p:nvGraphicFramePr>
            <p:cNvPr id="12" name="Chart 11">
              <a:extLst>
                <a:ext uri="{FF2B5EF4-FFF2-40B4-BE49-F238E27FC236}">
                  <a16:creationId xmlns:a16="http://schemas.microsoft.com/office/drawing/2014/main" id="{9F1169FF-FDC2-E6AA-0F5F-EF4D60CFE52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522704013"/>
                </p:ext>
              </p:extLst>
            </p:nvPr>
          </p:nvGraphicFramePr>
          <p:xfrm>
            <a:off x="878487" y="2183813"/>
            <a:ext cx="3952740" cy="98829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70B32B9-89C5-93A0-BD3F-8006A60D2AF1}"/>
                </a:ext>
              </a:extLst>
            </p:cNvPr>
            <p:cNvSpPr txBox="1"/>
            <p:nvPr/>
          </p:nvSpPr>
          <p:spPr>
            <a:xfrm>
              <a:off x="2244429" y="1996290"/>
              <a:ext cx="6944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400" dirty="0">
                  <a:solidFill>
                    <a:schemeClr val="accent4"/>
                  </a:solidFill>
                  <a:latin typeface="Santander Text" panose="020B0504020201020104" pitchFamily="34" charset="0"/>
                </a:rPr>
                <a:t>274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BAED62-417B-00F8-F662-3DC71916A01E}"/>
              </a:ext>
            </a:extLst>
          </p:cNvPr>
          <p:cNvGrpSpPr/>
          <p:nvPr/>
        </p:nvGrpSpPr>
        <p:grpSpPr>
          <a:xfrm>
            <a:off x="385607" y="3239185"/>
            <a:ext cx="3952740" cy="1096390"/>
            <a:chOff x="878487" y="3056235"/>
            <a:chExt cx="3952740" cy="1096390"/>
          </a:xfrm>
        </p:grpSpPr>
        <p:graphicFrame>
          <p:nvGraphicFramePr>
            <p:cNvPr id="2" name="Chart 1">
              <a:extLst>
                <a:ext uri="{FF2B5EF4-FFF2-40B4-BE49-F238E27FC236}">
                  <a16:creationId xmlns:a16="http://schemas.microsoft.com/office/drawing/2014/main" id="{0903FC28-F24A-51E7-9635-717F7365816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303477593"/>
                </p:ext>
              </p:extLst>
            </p:nvPr>
          </p:nvGraphicFramePr>
          <p:xfrm>
            <a:off x="878487" y="3164334"/>
            <a:ext cx="3952740" cy="98829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AA7E217-E3F2-E5B4-3646-9F098D98C544}"/>
                </a:ext>
              </a:extLst>
            </p:cNvPr>
            <p:cNvSpPr txBox="1"/>
            <p:nvPr/>
          </p:nvSpPr>
          <p:spPr>
            <a:xfrm>
              <a:off x="3618573" y="3056235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4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Santander Text" panose="020B0504020201020104" pitchFamily="34" charset="0"/>
                </a:rPr>
                <a:t>40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457DAA7-C8FB-B36A-4AB5-9F6CEC24039C}"/>
              </a:ext>
            </a:extLst>
          </p:cNvPr>
          <p:cNvGrpSpPr/>
          <p:nvPr/>
        </p:nvGrpSpPr>
        <p:grpSpPr>
          <a:xfrm>
            <a:off x="385607" y="4253610"/>
            <a:ext cx="3952740" cy="1089655"/>
            <a:chOff x="878487" y="4051610"/>
            <a:chExt cx="3952740" cy="1089655"/>
          </a:xfrm>
        </p:grpSpPr>
        <p:graphicFrame>
          <p:nvGraphicFramePr>
            <p:cNvPr id="6" name="Chart 5">
              <a:extLst>
                <a:ext uri="{FF2B5EF4-FFF2-40B4-BE49-F238E27FC236}">
                  <a16:creationId xmlns:a16="http://schemas.microsoft.com/office/drawing/2014/main" id="{080C64D7-FE11-2A31-5080-4EDBFFF7131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137142790"/>
                </p:ext>
              </p:extLst>
            </p:nvPr>
          </p:nvGraphicFramePr>
          <p:xfrm>
            <a:off x="878487" y="4152974"/>
            <a:ext cx="3952740" cy="98829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9FCBBAA-993C-3883-6FFF-6DA291F07FAB}"/>
                </a:ext>
              </a:extLst>
            </p:cNvPr>
            <p:cNvSpPr txBox="1"/>
            <p:nvPr/>
          </p:nvSpPr>
          <p:spPr>
            <a:xfrm>
              <a:off x="3833985" y="4051610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400" dirty="0">
                  <a:solidFill>
                    <a:schemeClr val="accent6"/>
                  </a:solidFill>
                  <a:latin typeface="Santander Text" panose="020B0504020201020104" pitchFamily="34" charset="0"/>
                </a:rPr>
                <a:t>11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A1BD694-57F5-E251-9F3C-B7D6C3CB6100}"/>
              </a:ext>
            </a:extLst>
          </p:cNvPr>
          <p:cNvGrpSpPr/>
          <p:nvPr/>
        </p:nvGrpSpPr>
        <p:grpSpPr>
          <a:xfrm>
            <a:off x="385607" y="5277832"/>
            <a:ext cx="3952740" cy="1089882"/>
            <a:chOff x="878487" y="5040016"/>
            <a:chExt cx="3952740" cy="1089882"/>
          </a:xfrm>
        </p:grpSpPr>
        <p:graphicFrame>
          <p:nvGraphicFramePr>
            <p:cNvPr id="7" name="Chart 6">
              <a:extLst>
                <a:ext uri="{FF2B5EF4-FFF2-40B4-BE49-F238E27FC236}">
                  <a16:creationId xmlns:a16="http://schemas.microsoft.com/office/drawing/2014/main" id="{7964BC65-D994-9890-5098-368ABB5933D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130767288"/>
                </p:ext>
              </p:extLst>
            </p:nvPr>
          </p:nvGraphicFramePr>
          <p:xfrm>
            <a:off x="878487" y="5141607"/>
            <a:ext cx="3952740" cy="98829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E68E9A2-9023-6047-1C97-559A64F16B9D}"/>
                </a:ext>
              </a:extLst>
            </p:cNvPr>
            <p:cNvSpPr txBox="1"/>
            <p:nvPr/>
          </p:nvSpPr>
          <p:spPr>
            <a:xfrm>
              <a:off x="4013130" y="5040016"/>
              <a:ext cx="3545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4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Santander Text" panose="020B0504020201020104" pitchFamily="34" charset="0"/>
                </a:rPr>
                <a:t>5</a:t>
              </a: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2AA6F25A-39BE-A593-089B-7D51E4851536}"/>
              </a:ext>
            </a:extLst>
          </p:cNvPr>
          <p:cNvSpPr/>
          <p:nvPr/>
        </p:nvSpPr>
        <p:spPr>
          <a:xfrm>
            <a:off x="718305" y="2905992"/>
            <a:ext cx="2443659" cy="56801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 anchorCtr="0"/>
          <a:lstStyle/>
          <a:p>
            <a:r>
              <a:rPr lang="pt-PT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</a:rPr>
              <a:t>Dos quais: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</a:rPr>
              <a:t>3%</a:t>
            </a:r>
            <a:r>
              <a:rPr lang="pt-PT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</a:rPr>
              <a:t> com incidências menores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</a:rPr>
              <a:t>16%</a:t>
            </a:r>
            <a:r>
              <a:rPr lang="pt-PT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</a:rPr>
              <a:t> com </a:t>
            </a:r>
            <a:r>
              <a:rPr lang="pt-PT" sz="9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</a:rPr>
              <a:t>issues </a:t>
            </a:r>
            <a:r>
              <a:rPr lang="pt-PT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</a:rPr>
              <a:t>a montante do Loan Tape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</a:rPr>
              <a:t>1%</a:t>
            </a:r>
            <a:r>
              <a:rPr lang="pt-PT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</a:rPr>
              <a:t> fora de ãmbito</a:t>
            </a:r>
            <a:endParaRPr lang="pt-PT" sz="900" b="1" dirty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8D09E39-C72A-A236-4E1A-B4C31BD8BC61}"/>
              </a:ext>
            </a:extLst>
          </p:cNvPr>
          <p:cNvSpPr/>
          <p:nvPr/>
        </p:nvSpPr>
        <p:spPr>
          <a:xfrm>
            <a:off x="3125693" y="2357610"/>
            <a:ext cx="92639" cy="56801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28575">
            <a:solidFill>
              <a:schemeClr val="accent4">
                <a:lumMod val="50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spcBef>
                <a:spcPts val="600"/>
              </a:spcBef>
            </a:pPr>
            <a:endParaRPr lang="pt-PT" sz="90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78D91ECB-A17F-DB2A-2865-F1E5B9C57990}"/>
              </a:ext>
            </a:extLst>
          </p:cNvPr>
          <p:cNvCxnSpPr>
            <a:cxnSpLocks/>
          </p:cNvCxnSpPr>
          <p:nvPr/>
        </p:nvCxnSpPr>
        <p:spPr>
          <a:xfrm rot="5400000">
            <a:off x="3046013" y="3065326"/>
            <a:ext cx="252000" cy="1"/>
          </a:xfrm>
          <a:prstGeom prst="bentConnector2">
            <a:avLst/>
          </a:prstGeom>
          <a:ln>
            <a:solidFill>
              <a:schemeClr val="accent4">
                <a:lumMod val="50000"/>
              </a:schemeClr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412B5265-DF13-2341-CFAD-BE0764DBAAE3}"/>
              </a:ext>
            </a:extLst>
          </p:cNvPr>
          <p:cNvSpPr/>
          <p:nvPr/>
        </p:nvSpPr>
        <p:spPr>
          <a:xfrm>
            <a:off x="2085157" y="6474227"/>
            <a:ext cx="8016786" cy="268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Exemplos de campos com incidências pequenas.</a:t>
            </a:r>
          </a:p>
          <a:p>
            <a:pPr marL="228600" indent="-228600">
              <a:buAutoNum type="arabicPeriod"/>
            </a:pPr>
            <a:r>
              <a:rPr 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Exemplos de campos com problemas a montante, i.e., de DQ.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496F0E-8F4A-9275-3B7C-84AB96240DD0}"/>
              </a:ext>
            </a:extLst>
          </p:cNvPr>
          <p:cNvSpPr txBox="1"/>
          <p:nvPr/>
        </p:nvSpPr>
        <p:spPr>
          <a:xfrm>
            <a:off x="8451230" y="1974658"/>
            <a:ext cx="146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>
                <a:latin typeface="Santander Text" panose="020B0504020201020104" pitchFamily="34" charset="0"/>
              </a:rPr>
              <a:t>Exemplos</a:t>
            </a:r>
          </a:p>
        </p:txBody>
      </p:sp>
    </p:spTree>
    <p:extLst>
      <p:ext uri="{BB962C8B-B14F-4D97-AF65-F5344CB8AC3E}">
        <p14:creationId xmlns:p14="http://schemas.microsoft.com/office/powerpoint/2010/main" val="2693992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OSI SCIB – Plano de </a:t>
            </a:r>
            <a:r>
              <a:rPr lang="pt-PT"/>
              <a:t>remediação</a:t>
            </a:r>
            <a:endParaRPr lang="pt-PT" i="1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236021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7532" y="348649"/>
            <a:ext cx="10758735" cy="315242"/>
          </a:xfrm>
        </p:spPr>
        <p:txBody>
          <a:bodyPr/>
          <a:lstStyle/>
          <a:p>
            <a:r>
              <a:rPr lang="es-ES" sz="2000"/>
              <a:t>3.1. OSI SCIB | </a:t>
            </a:r>
            <a:r>
              <a:rPr lang="pt-PT" sz="2000"/>
              <a:t>Enquadramento</a:t>
            </a:r>
          </a:p>
          <a:p>
            <a:endParaRPr lang="es-ES"/>
          </a:p>
        </p:txBody>
      </p:sp>
      <p:sp>
        <p:nvSpPr>
          <p:cNvPr id="4" name="Marcador de número de diapositiva 4">
            <a:extLst>
              <a:ext uri="{FF2B5EF4-FFF2-40B4-BE49-F238E27FC236}">
                <a16:creationId xmlns:a16="http://schemas.microsoft.com/office/drawing/2014/main" id="{5BBC4DDB-DC31-4DAF-A6F7-601867D9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9</a:t>
            </a:fld>
            <a:endParaRPr lang="es-ES"/>
          </a:p>
        </p:txBody>
      </p:sp>
      <p:sp>
        <p:nvSpPr>
          <p:cNvPr id="5" name="Rectángulo 56">
            <a:extLst>
              <a:ext uri="{FF2B5EF4-FFF2-40B4-BE49-F238E27FC236}">
                <a16:creationId xmlns:a16="http://schemas.microsoft.com/office/drawing/2014/main" id="{B703E279-E3E5-A952-ED16-E3990EC6E8C8}"/>
              </a:ext>
            </a:extLst>
          </p:cNvPr>
          <p:cNvSpPr/>
          <p:nvPr/>
        </p:nvSpPr>
        <p:spPr bwMode="auto">
          <a:xfrm>
            <a:off x="507549" y="4029963"/>
            <a:ext cx="10847403" cy="2504258"/>
          </a:xfrm>
          <a:prstGeom prst="rect">
            <a:avLst/>
          </a:prstGeom>
          <a:solidFill>
            <a:sysClr val="window" lastClr="FFFFFF"/>
          </a:solidFill>
          <a:ln w="10795" cap="flat" cmpd="sng" algn="ctr">
            <a:solidFill>
              <a:srgbClr val="B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antander Text" panose="020B05040202010201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Straight Connector 224">
            <a:extLst>
              <a:ext uri="{FF2B5EF4-FFF2-40B4-BE49-F238E27FC236}">
                <a16:creationId xmlns:a16="http://schemas.microsoft.com/office/drawing/2014/main" id="{43748120-0DA9-6889-5F39-FBC0A567EBBB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9723307" y="3109762"/>
            <a:ext cx="0" cy="274672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Pentagon 112">
            <a:extLst>
              <a:ext uri="{FF2B5EF4-FFF2-40B4-BE49-F238E27FC236}">
                <a16:creationId xmlns:a16="http://schemas.microsoft.com/office/drawing/2014/main" id="{9449FABA-CA7A-79C4-D70B-20603AD74C66}"/>
              </a:ext>
            </a:extLst>
          </p:cNvPr>
          <p:cNvSpPr/>
          <p:nvPr/>
        </p:nvSpPr>
        <p:spPr>
          <a:xfrm>
            <a:off x="9651275" y="3109762"/>
            <a:ext cx="1692000" cy="252000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marR="0" lvl="2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cxnSp>
        <p:nvCxnSpPr>
          <p:cNvPr id="9" name="Straight Connector 219">
            <a:extLst>
              <a:ext uri="{FF2B5EF4-FFF2-40B4-BE49-F238E27FC236}">
                <a16:creationId xmlns:a16="http://schemas.microsoft.com/office/drawing/2014/main" id="{4A3C3BA3-45B2-6473-DCB8-ED5728DDB8BA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8232744" y="3150091"/>
            <a:ext cx="0" cy="191599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6088DCE-678E-9FCD-D814-A7B706A712FD}"/>
              </a:ext>
            </a:extLst>
          </p:cNvPr>
          <p:cNvSpPr txBox="1"/>
          <p:nvPr/>
        </p:nvSpPr>
        <p:spPr>
          <a:xfrm>
            <a:off x="604236" y="2644189"/>
            <a:ext cx="15225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OSI SCIB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grpSp>
        <p:nvGrpSpPr>
          <p:cNvPr id="14" name="Group 2">
            <a:extLst>
              <a:ext uri="{FF2B5EF4-FFF2-40B4-BE49-F238E27FC236}">
                <a16:creationId xmlns:a16="http://schemas.microsoft.com/office/drawing/2014/main" id="{C6D30089-C21B-6263-7225-8E5CAB12EDCB}"/>
              </a:ext>
            </a:extLst>
          </p:cNvPr>
          <p:cNvGrpSpPr>
            <a:grpSpLocks/>
          </p:cNvGrpSpPr>
          <p:nvPr/>
        </p:nvGrpSpPr>
        <p:grpSpPr bwMode="auto">
          <a:xfrm>
            <a:off x="659915" y="5937936"/>
            <a:ext cx="1545052" cy="569672"/>
            <a:chOff x="1106681" y="4814512"/>
            <a:chExt cx="1347906" cy="481388"/>
          </a:xfrm>
        </p:grpSpPr>
        <p:pic>
          <p:nvPicPr>
            <p:cNvPr id="15" name="Picture 4" descr="Imágenes de Bandera De Colombia | Vectores, fotos de stock y PSD gratuitos">
              <a:extLst>
                <a:ext uri="{FF2B5EF4-FFF2-40B4-BE49-F238E27FC236}">
                  <a16:creationId xmlns:a16="http://schemas.microsoft.com/office/drawing/2014/main" id="{516B730E-6E78-4CD6-FFF0-43094BB211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47" t="19644" r="18010" b="17712"/>
            <a:stretch>
              <a:fillRect/>
            </a:stretch>
          </p:blipFill>
          <p:spPr bwMode="auto">
            <a:xfrm>
              <a:off x="2245544" y="4833927"/>
              <a:ext cx="209043" cy="209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9">
              <a:extLst>
                <a:ext uri="{FF2B5EF4-FFF2-40B4-BE49-F238E27FC236}">
                  <a16:creationId xmlns:a16="http://schemas.microsoft.com/office/drawing/2014/main" id="{985A25AA-FCBE-8177-41CA-88EDE2995F52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3" t="12708" r="9608" b="-2"/>
            <a:stretch>
              <a:fillRect/>
            </a:stretch>
          </p:blipFill>
          <p:spPr bwMode="auto">
            <a:xfrm>
              <a:off x="1779070" y="5059277"/>
              <a:ext cx="243406" cy="236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n 359">
              <a:extLst>
                <a:ext uri="{FF2B5EF4-FFF2-40B4-BE49-F238E27FC236}">
                  <a16:creationId xmlns:a16="http://schemas.microsoft.com/office/drawing/2014/main" id="{CF5AD8EA-AE86-E0F9-5484-AE92223EC2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1078" y="4835524"/>
              <a:ext cx="209165" cy="209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Imagen 365">
              <a:extLst>
                <a:ext uri="{FF2B5EF4-FFF2-40B4-BE49-F238E27FC236}">
                  <a16:creationId xmlns:a16="http://schemas.microsoft.com/office/drawing/2014/main" id="{DE0BB67C-F930-DE50-C36B-1E1C2A54FB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5273" y="5050871"/>
              <a:ext cx="194180" cy="194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208" descr="Spain">
              <a:extLst>
                <a:ext uri="{FF2B5EF4-FFF2-40B4-BE49-F238E27FC236}">
                  <a16:creationId xmlns:a16="http://schemas.microsoft.com/office/drawing/2014/main" id="{89D33FBE-52D3-A8CA-1555-B7FF883D2348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6681" y="4838352"/>
              <a:ext cx="199547" cy="199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Imagen 358">
              <a:extLst>
                <a:ext uri="{FF2B5EF4-FFF2-40B4-BE49-F238E27FC236}">
                  <a16:creationId xmlns:a16="http://schemas.microsoft.com/office/drawing/2014/main" id="{7EF70236-9D26-FC5F-9E5C-78351047C4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27830" y="4848854"/>
              <a:ext cx="185805" cy="190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Imagen 366">
              <a:extLst>
                <a:ext uri="{FF2B5EF4-FFF2-40B4-BE49-F238E27FC236}">
                  <a16:creationId xmlns:a16="http://schemas.microsoft.com/office/drawing/2014/main" id="{9EB227B9-268C-40A9-0D43-2D064363AD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8110" y="4843216"/>
              <a:ext cx="196792" cy="195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Imagen 362">
              <a:extLst>
                <a:ext uri="{FF2B5EF4-FFF2-40B4-BE49-F238E27FC236}">
                  <a16:creationId xmlns:a16="http://schemas.microsoft.com/office/drawing/2014/main" id="{0912DEB1-88D3-6E42-2E74-397D1EA32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3115" y="5090798"/>
              <a:ext cx="186782" cy="1867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Picture 62">
              <a:extLst>
                <a:ext uri="{FF2B5EF4-FFF2-40B4-BE49-F238E27FC236}">
                  <a16:creationId xmlns:a16="http://schemas.microsoft.com/office/drawing/2014/main" id="{11998794-605F-4973-A7F6-5ED3F8F64A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9306" y="5094633"/>
              <a:ext cx="195290" cy="193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" name="Imagen 361">
              <a:extLst>
                <a:ext uri="{FF2B5EF4-FFF2-40B4-BE49-F238E27FC236}">
                  <a16:creationId xmlns:a16="http://schemas.microsoft.com/office/drawing/2014/main" id="{FB444BF7-3607-48F7-8669-FB49CC2A20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7440" y="5080551"/>
              <a:ext cx="184713" cy="184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" name="Imagen 360">
              <a:extLst>
                <a:ext uri="{FF2B5EF4-FFF2-40B4-BE49-F238E27FC236}">
                  <a16:creationId xmlns:a16="http://schemas.microsoft.com/office/drawing/2014/main" id="{6E94CCFA-9CEC-1A8B-A941-6A39D4D5B3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29404" y="5063571"/>
              <a:ext cx="185352" cy="185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Imagen 10">
              <a:extLst>
                <a:ext uri="{FF2B5EF4-FFF2-40B4-BE49-F238E27FC236}">
                  <a16:creationId xmlns:a16="http://schemas.microsoft.com/office/drawing/2014/main" id="{490A7325-2F1D-363E-34F1-40B319E0EAE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9407" y="4814512"/>
              <a:ext cx="271671" cy="276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776A1849-2A59-5336-EE9C-6A4715CB10E8}"/>
              </a:ext>
            </a:extLst>
          </p:cNvPr>
          <p:cNvSpPr/>
          <p:nvPr/>
        </p:nvSpPr>
        <p:spPr>
          <a:xfrm>
            <a:off x="621786" y="3150091"/>
            <a:ext cx="1512000" cy="2124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S2 2021</a:t>
            </a:r>
          </a:p>
        </p:txBody>
      </p:sp>
      <p:sp>
        <p:nvSpPr>
          <p:cNvPr id="28" name="Pentagon 212">
            <a:extLst>
              <a:ext uri="{FF2B5EF4-FFF2-40B4-BE49-F238E27FC236}">
                <a16:creationId xmlns:a16="http://schemas.microsoft.com/office/drawing/2014/main" id="{72E0C14A-8A2C-2D30-7C5E-AD9B9B1813BB}"/>
              </a:ext>
            </a:extLst>
          </p:cNvPr>
          <p:cNvSpPr/>
          <p:nvPr/>
        </p:nvSpPr>
        <p:spPr>
          <a:xfrm>
            <a:off x="605844" y="2870977"/>
            <a:ext cx="1548000" cy="252000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pic>
        <p:nvPicPr>
          <p:cNvPr id="29" name="Picture 2" descr="Racing Flag PNG Free Download | PNG Mart">
            <a:extLst>
              <a:ext uri="{FF2B5EF4-FFF2-40B4-BE49-F238E27FC236}">
                <a16:creationId xmlns:a16="http://schemas.microsoft.com/office/drawing/2014/main" id="{17CC80D6-49D3-3AAE-10A2-C71C0DE9B3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19"/>
          <a:stretch/>
        </p:blipFill>
        <p:spPr bwMode="auto">
          <a:xfrm>
            <a:off x="11298330" y="3275535"/>
            <a:ext cx="313495" cy="25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C6B94810-D5C2-0607-4E30-E97539846247}"/>
              </a:ext>
            </a:extLst>
          </p:cNvPr>
          <p:cNvSpPr/>
          <p:nvPr/>
        </p:nvSpPr>
        <p:spPr>
          <a:xfrm>
            <a:off x="2227124" y="3420195"/>
            <a:ext cx="1512000" cy="2124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S2 2021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9A2BCF2-2D00-BE7A-E524-15E41CFAEB10}"/>
              </a:ext>
            </a:extLst>
          </p:cNvPr>
          <p:cNvSpPr/>
          <p:nvPr/>
        </p:nvSpPr>
        <p:spPr>
          <a:xfrm>
            <a:off x="3846224" y="3417582"/>
            <a:ext cx="1378541" cy="2124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S1 2022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C588ED0-2C46-8E07-6B39-935BA258AF8E}"/>
              </a:ext>
            </a:extLst>
          </p:cNvPr>
          <p:cNvSpPr/>
          <p:nvPr/>
        </p:nvSpPr>
        <p:spPr>
          <a:xfrm>
            <a:off x="5284240" y="3410464"/>
            <a:ext cx="1424332" cy="2124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S2 2022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E0607A-AA84-6E8F-324A-92CCAB57B71D}"/>
              </a:ext>
            </a:extLst>
          </p:cNvPr>
          <p:cNvSpPr/>
          <p:nvPr/>
        </p:nvSpPr>
        <p:spPr>
          <a:xfrm>
            <a:off x="8284097" y="3407293"/>
            <a:ext cx="1378541" cy="2124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S2 2023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C41CE3B-9FB8-F9E3-C68C-BB1CFD17C4CF}"/>
              </a:ext>
            </a:extLst>
          </p:cNvPr>
          <p:cNvSpPr/>
          <p:nvPr/>
        </p:nvSpPr>
        <p:spPr>
          <a:xfrm>
            <a:off x="9784820" y="3404680"/>
            <a:ext cx="1378541" cy="2124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S1 2024</a:t>
            </a:r>
          </a:p>
        </p:txBody>
      </p:sp>
      <p:sp>
        <p:nvSpPr>
          <p:cNvPr id="35" name="Rectángulo 56">
            <a:extLst>
              <a:ext uri="{FF2B5EF4-FFF2-40B4-BE49-F238E27FC236}">
                <a16:creationId xmlns:a16="http://schemas.microsoft.com/office/drawing/2014/main" id="{EBAC100F-8AF8-7659-BD0F-6317E1DB4EE2}"/>
              </a:ext>
            </a:extLst>
          </p:cNvPr>
          <p:cNvSpPr/>
          <p:nvPr/>
        </p:nvSpPr>
        <p:spPr bwMode="auto">
          <a:xfrm>
            <a:off x="685178" y="3867866"/>
            <a:ext cx="1508765" cy="302669"/>
          </a:xfrm>
          <a:prstGeom prst="rect">
            <a:avLst/>
          </a:prstGeom>
          <a:solidFill>
            <a:sysClr val="window" lastClr="FFFFFF"/>
          </a:solidFill>
          <a:ln w="10795" cap="flat" cmpd="sng" algn="ctr">
            <a:solidFill>
              <a:srgbClr val="B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Santander Text" panose="020B0504020201020104" pitchFamily="34" charset="0"/>
                <a:cs typeface="Calibri" panose="020F0502020204030204" pitchFamily="34" charset="0"/>
              </a:rPr>
              <a:t>Data Requirement</a:t>
            </a:r>
          </a:p>
        </p:txBody>
      </p:sp>
      <p:sp>
        <p:nvSpPr>
          <p:cNvPr id="36" name="TextBox 134">
            <a:extLst>
              <a:ext uri="{FF2B5EF4-FFF2-40B4-BE49-F238E27FC236}">
                <a16:creationId xmlns:a16="http://schemas.microsoft.com/office/drawing/2014/main" id="{70DE7591-8ABA-5EB6-04F0-5D1C7DD0E433}"/>
              </a:ext>
            </a:extLst>
          </p:cNvPr>
          <p:cNvSpPr txBox="1"/>
          <p:nvPr/>
        </p:nvSpPr>
        <p:spPr>
          <a:xfrm>
            <a:off x="2164330" y="2850931"/>
            <a:ext cx="19042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Structural </a:t>
            </a:r>
            <a:r>
              <a:rPr kumimoji="0" lang="es-ES" sz="12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Loan Tape</a:t>
            </a:r>
            <a:endParaRPr kumimoji="0" lang="es-ES" sz="12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37" name="Rectángulo 56">
            <a:extLst>
              <a:ext uri="{FF2B5EF4-FFF2-40B4-BE49-F238E27FC236}">
                <a16:creationId xmlns:a16="http://schemas.microsoft.com/office/drawing/2014/main" id="{FEE42DAC-A325-AD2D-E805-D696B613747D}"/>
              </a:ext>
            </a:extLst>
          </p:cNvPr>
          <p:cNvSpPr/>
          <p:nvPr/>
        </p:nvSpPr>
        <p:spPr bwMode="auto">
          <a:xfrm>
            <a:off x="462866" y="5241020"/>
            <a:ext cx="1825607" cy="710743"/>
          </a:xfrm>
          <a:prstGeom prst="rect">
            <a:avLst/>
          </a:prstGeom>
          <a:noFill/>
          <a:ln w="1079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1" u="sng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Santander Text" panose="020B0504020201020104" pitchFamily="34" charset="0"/>
                <a:cs typeface="Calibri" panose="020F0502020204030204" pitchFamily="34" charset="0"/>
              </a:rPr>
              <a:t>Scope units with global wholesale operation</a:t>
            </a:r>
            <a:endParaRPr kumimoji="0" lang="es-ES" sz="1200" i="1" u="sng" strike="noStrike" kern="0" cap="none" spc="0" normalizeH="0" baseline="0" noProof="0">
              <a:ln>
                <a:noFill/>
              </a:ln>
              <a:effectLst/>
              <a:uLnTx/>
              <a:uFillTx/>
              <a:latin typeface="Santander Text" panose="020B05040202010201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Box 17">
            <a:extLst>
              <a:ext uri="{FF2B5EF4-FFF2-40B4-BE49-F238E27FC236}">
                <a16:creationId xmlns:a16="http://schemas.microsoft.com/office/drawing/2014/main" id="{35F284FB-75C9-B015-37F8-B5BDA251EF4C}"/>
              </a:ext>
            </a:extLst>
          </p:cNvPr>
          <p:cNvSpPr txBox="1"/>
          <p:nvPr/>
        </p:nvSpPr>
        <p:spPr>
          <a:xfrm>
            <a:off x="2901817" y="4177748"/>
            <a:ext cx="3960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050">
                <a:effectLst/>
                <a:latin typeface="Santander Text" panose="020B0504020201020104" pitchFamily="34" charset="0"/>
                <a:ea typeface="Times New Roman" panose="02020603050405020304" pitchFamily="18" charset="0"/>
              </a:rPr>
              <a:t>Receipt and validation of </a:t>
            </a:r>
            <a:r>
              <a:rPr lang="en-US" sz="1050" b="1">
                <a:effectLst/>
                <a:latin typeface="Santander Text" panose="020B0504020201020104" pitchFamily="34" charset="0"/>
                <a:ea typeface="Times New Roman" panose="02020603050405020304" pitchFamily="18" charset="0"/>
              </a:rPr>
              <a:t>first versions </a:t>
            </a:r>
            <a:r>
              <a:rPr lang="en-US" sz="1050">
                <a:effectLst/>
                <a:latin typeface="Santander Text" panose="020B0504020201020104" pitchFamily="34" charset="0"/>
                <a:ea typeface="Times New Roman" panose="02020603050405020304" pitchFamily="18" charset="0"/>
              </a:rPr>
              <a:t>of the </a:t>
            </a:r>
            <a:r>
              <a:rPr lang="en-US" sz="1050" i="1">
                <a:effectLst/>
                <a:latin typeface="Santander Text" panose="020B0504020201020104" pitchFamily="34" charset="0"/>
                <a:ea typeface="Times New Roman" panose="02020603050405020304" pitchFamily="18" charset="0"/>
              </a:rPr>
              <a:t>Loan Tape</a:t>
            </a:r>
            <a:r>
              <a:rPr lang="en-US" sz="1050">
                <a:effectLst/>
                <a:latin typeface="Santander Text" panose="020B0504020201020104" pitchFamily="34" charset="0"/>
                <a:ea typeface="Times New Roman" panose="02020603050405020304" pitchFamily="18" charset="0"/>
              </a:rPr>
              <a:t> Standard defined by the ECB.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050">
                <a:latin typeface="Santander Text" panose="020B0504020201020104" pitchFamily="34" charset="0"/>
                <a:ea typeface="Calibri" panose="020F0502020204030204" pitchFamily="34" charset="0"/>
              </a:rPr>
              <a:t>Identification of the ENTTY_ID in the </a:t>
            </a:r>
            <a:r>
              <a:rPr lang="en-US" sz="1050" b="1">
                <a:latin typeface="Santander Text" panose="020B0504020201020104" pitchFamily="34" charset="0"/>
                <a:ea typeface="Calibri" panose="020F0502020204030204" pitchFamily="34" charset="0"/>
              </a:rPr>
              <a:t>Global Perimeter – ‘Closed List / Lista Cerrada’</a:t>
            </a:r>
            <a:endParaRPr lang="en-US" sz="1050" b="1">
              <a:effectLst/>
              <a:latin typeface="Santander Text" panose="020B0504020201020104" pitchFamily="34" charset="0"/>
              <a:ea typeface="Calibri" panose="020F0502020204030204" pitchFamily="34" charset="0"/>
            </a:endParaRPr>
          </a:p>
        </p:txBody>
      </p:sp>
      <p:sp>
        <p:nvSpPr>
          <p:cNvPr id="39" name="TextBox 185">
            <a:extLst>
              <a:ext uri="{FF2B5EF4-FFF2-40B4-BE49-F238E27FC236}">
                <a16:creationId xmlns:a16="http://schemas.microsoft.com/office/drawing/2014/main" id="{46464BF3-726B-362F-990E-C969238793DF}"/>
              </a:ext>
            </a:extLst>
          </p:cNvPr>
          <p:cNvSpPr txBox="1"/>
          <p:nvPr/>
        </p:nvSpPr>
        <p:spPr>
          <a:xfrm>
            <a:off x="3999010" y="5244993"/>
            <a:ext cx="3960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50">
                <a:latin typeface="Santander Text" panose="020B0504020201020104" pitchFamily="34" charset="0"/>
              </a:rPr>
              <a:t>Automatic generation of a LoanTape with </a:t>
            </a:r>
            <a:r>
              <a:rPr lang="en-US" sz="1050" b="1">
                <a:solidFill>
                  <a:srgbClr val="C00000"/>
                </a:solidFill>
                <a:latin typeface="Santander Text" panose="020B0504020201020104" pitchFamily="34" charset="0"/>
              </a:rPr>
              <a:t>85% completeness</a:t>
            </a:r>
          </a:p>
        </p:txBody>
      </p:sp>
      <p:sp>
        <p:nvSpPr>
          <p:cNvPr id="40" name="TextBox 200">
            <a:extLst>
              <a:ext uri="{FF2B5EF4-FFF2-40B4-BE49-F238E27FC236}">
                <a16:creationId xmlns:a16="http://schemas.microsoft.com/office/drawing/2014/main" id="{EA63460D-3958-0227-816C-84C78393201A}"/>
              </a:ext>
            </a:extLst>
          </p:cNvPr>
          <p:cNvSpPr txBox="1"/>
          <p:nvPr/>
        </p:nvSpPr>
        <p:spPr>
          <a:xfrm>
            <a:off x="5419725" y="5916635"/>
            <a:ext cx="395811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050">
                <a:latin typeface="Santander Text" panose="020B0504020201020104" pitchFamily="34" charset="0"/>
              </a:rPr>
              <a:t>Automatic generation of a LoanTape with </a:t>
            </a:r>
            <a:r>
              <a:rPr lang="en-US" sz="1050" b="1">
                <a:solidFill>
                  <a:srgbClr val="C00000"/>
                </a:solidFill>
                <a:latin typeface="Santander Text" panose="020B0504020201020104" pitchFamily="34" charset="0"/>
              </a:rPr>
              <a:t>100% completeness </a:t>
            </a:r>
            <a:r>
              <a:rPr lang="en-US" sz="1050">
                <a:latin typeface="Santander Text" panose="020B0504020201020104" pitchFamily="34" charset="0"/>
              </a:rPr>
              <a:t>of attributes ensuring quality and reporting times.</a:t>
            </a:r>
          </a:p>
        </p:txBody>
      </p:sp>
      <p:pic>
        <p:nvPicPr>
          <p:cNvPr id="41" name="Graphic 7" descr="Clipboard Partially Crossed with solid fill">
            <a:extLst>
              <a:ext uri="{FF2B5EF4-FFF2-40B4-BE49-F238E27FC236}">
                <a16:creationId xmlns:a16="http://schemas.microsoft.com/office/drawing/2014/main" id="{1BB23676-E67D-F7BD-2D83-F385307A9A9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831582" y="4203044"/>
            <a:ext cx="538962" cy="538962"/>
          </a:xfrm>
          <a:prstGeom prst="rect">
            <a:avLst/>
          </a:prstGeom>
        </p:spPr>
      </p:pic>
      <p:pic>
        <p:nvPicPr>
          <p:cNvPr id="42" name="Graphic 9" descr="Clipboard Mixed with solid fill">
            <a:extLst>
              <a:ext uri="{FF2B5EF4-FFF2-40B4-BE49-F238E27FC236}">
                <a16:creationId xmlns:a16="http://schemas.microsoft.com/office/drawing/2014/main" id="{F73FB470-E714-2FA4-5BC4-B623ABE3245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950118" y="5066085"/>
            <a:ext cx="565252" cy="565252"/>
          </a:xfrm>
          <a:prstGeom prst="rect">
            <a:avLst/>
          </a:prstGeom>
        </p:spPr>
      </p:pic>
      <p:pic>
        <p:nvPicPr>
          <p:cNvPr id="43" name="Graphic 11" descr="Checklist with solid fill">
            <a:extLst>
              <a:ext uri="{FF2B5EF4-FFF2-40B4-BE49-F238E27FC236}">
                <a16:creationId xmlns:a16="http://schemas.microsoft.com/office/drawing/2014/main" id="{E69AB1DE-A233-5AE0-1852-5914BD5493C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440681" y="5856490"/>
            <a:ext cx="565252" cy="520401"/>
          </a:xfrm>
          <a:prstGeom prst="rect">
            <a:avLst/>
          </a:prstGeom>
        </p:spPr>
      </p:pic>
      <p:cxnSp>
        <p:nvCxnSpPr>
          <p:cNvPr id="44" name="Straight Connector 218">
            <a:extLst>
              <a:ext uri="{FF2B5EF4-FFF2-40B4-BE49-F238E27FC236}">
                <a16:creationId xmlns:a16="http://schemas.microsoft.com/office/drawing/2014/main" id="{F7A9228D-E802-2755-A4EE-0525FE39F821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7101063" y="3150091"/>
            <a:ext cx="0" cy="105295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97B4B209-9A34-A249-3A5A-53739EE69C81}"/>
              </a:ext>
            </a:extLst>
          </p:cNvPr>
          <p:cNvSpPr/>
          <p:nvPr/>
        </p:nvSpPr>
        <p:spPr>
          <a:xfrm>
            <a:off x="6792899" y="3408927"/>
            <a:ext cx="1378541" cy="2124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S1 2023</a:t>
            </a:r>
          </a:p>
        </p:txBody>
      </p:sp>
      <p:sp>
        <p:nvSpPr>
          <p:cNvPr id="46" name="Pentagon 112">
            <a:extLst>
              <a:ext uri="{FF2B5EF4-FFF2-40B4-BE49-F238E27FC236}">
                <a16:creationId xmlns:a16="http://schemas.microsoft.com/office/drawing/2014/main" id="{7F659877-7944-E3F7-E088-E38FE6BB1001}"/>
              </a:ext>
            </a:extLst>
          </p:cNvPr>
          <p:cNvSpPr/>
          <p:nvPr/>
        </p:nvSpPr>
        <p:spPr>
          <a:xfrm>
            <a:off x="6393402" y="3109762"/>
            <a:ext cx="3384000" cy="252000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47" name="Pentagon 212">
            <a:extLst>
              <a:ext uri="{FF2B5EF4-FFF2-40B4-BE49-F238E27FC236}">
                <a16:creationId xmlns:a16="http://schemas.microsoft.com/office/drawing/2014/main" id="{C9613543-35DF-CCAB-B85F-5783ADCC4E0D}"/>
              </a:ext>
            </a:extLst>
          </p:cNvPr>
          <p:cNvSpPr/>
          <p:nvPr/>
        </p:nvSpPr>
        <p:spPr>
          <a:xfrm>
            <a:off x="3319894" y="3109762"/>
            <a:ext cx="3492000" cy="252000"/>
          </a:xfrm>
          <a:prstGeom prst="homePlat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48" name="Pentagon 212">
            <a:extLst>
              <a:ext uri="{FF2B5EF4-FFF2-40B4-BE49-F238E27FC236}">
                <a16:creationId xmlns:a16="http://schemas.microsoft.com/office/drawing/2014/main" id="{544A3389-CD63-AFB5-143A-91034872AC30}"/>
              </a:ext>
            </a:extLst>
          </p:cNvPr>
          <p:cNvSpPr/>
          <p:nvPr/>
        </p:nvSpPr>
        <p:spPr>
          <a:xfrm>
            <a:off x="2219891" y="3109762"/>
            <a:ext cx="1548000" cy="252000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2EB3FB1-4EF7-753F-E2B8-2EB0BCCFB195}"/>
              </a:ext>
            </a:extLst>
          </p:cNvPr>
          <p:cNvSpPr txBox="1"/>
          <p:nvPr/>
        </p:nvSpPr>
        <p:spPr>
          <a:xfrm>
            <a:off x="5636100" y="3598272"/>
            <a:ext cx="1512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Follow-up Letter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>
                <a:solidFill>
                  <a:srgbClr val="C00000"/>
                </a:solidFill>
                <a:latin typeface="Santander Text" panose="020B0504020201020104" pitchFamily="34" charset="0"/>
              </a:rPr>
              <a:t>Finding 3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3E29C9-290B-2FF0-89EC-B6C60E3AB964}"/>
              </a:ext>
            </a:extLst>
          </p:cNvPr>
          <p:cNvSpPr txBox="1"/>
          <p:nvPr/>
        </p:nvSpPr>
        <p:spPr>
          <a:xfrm>
            <a:off x="547532" y="792666"/>
            <a:ext cx="10758734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400">
                <a:latin typeface="Santander Text" panose="020B0504020201020104" pitchFamily="34" charset="0"/>
              </a:rPr>
              <a:t>A Corporação informou em </a:t>
            </a:r>
            <a:r>
              <a:rPr lang="pt-PT" sz="1400" b="1">
                <a:latin typeface="Santander Text" panose="020B0504020201020104" pitchFamily="34" charset="0"/>
              </a:rPr>
              <a:t>Dez 2022 </a:t>
            </a:r>
            <a:r>
              <a:rPr lang="pt-PT" sz="1400">
                <a:latin typeface="Santander Text" panose="020B0504020201020104" pitchFamily="34" charset="0"/>
              </a:rPr>
              <a:t>ter recebido uma “</a:t>
            </a:r>
            <a:r>
              <a:rPr lang="pt-PT" sz="1400" i="1">
                <a:latin typeface="Santander Text" panose="020B0504020201020104" pitchFamily="34" charset="0"/>
              </a:rPr>
              <a:t>Follow-up </a:t>
            </a:r>
            <a:r>
              <a:rPr lang="pt-PT" sz="1400" i="1" err="1">
                <a:latin typeface="Santander Text" panose="020B0504020201020104" pitchFamily="34" charset="0"/>
              </a:rPr>
              <a:t>Letter</a:t>
            </a:r>
            <a:r>
              <a:rPr lang="pt-PT" sz="1400">
                <a:latin typeface="Santander Text" panose="020B0504020201020104" pitchFamily="34" charset="0"/>
              </a:rPr>
              <a:t>” relativa à OSI SCIB de 2021, com o seguinte </a:t>
            </a:r>
            <a:r>
              <a:rPr lang="pt-PT" sz="1400" i="1" err="1">
                <a:latin typeface="Santander Text" panose="020B0504020201020104" pitchFamily="34" charset="0"/>
              </a:rPr>
              <a:t>finding</a:t>
            </a:r>
            <a:r>
              <a:rPr lang="pt-PT" sz="1400">
                <a:latin typeface="Santander Text" panose="020B0504020201020104" pitchFamily="34" charset="0"/>
              </a:rPr>
              <a:t> de alta criticidade de forma geral para o Grupo (note-se que a ferramenta </a:t>
            </a:r>
            <a:r>
              <a:rPr lang="pt-PT" sz="1400" err="1">
                <a:latin typeface="Santander Text" panose="020B0504020201020104" pitchFamily="34" charset="0"/>
              </a:rPr>
              <a:t>Loan</a:t>
            </a:r>
            <a:r>
              <a:rPr lang="pt-PT" sz="1400">
                <a:latin typeface="Santander Text" panose="020B0504020201020104" pitchFamily="34" charset="0"/>
              </a:rPr>
              <a:t> Tape não foi utilizada para gerar a </a:t>
            </a:r>
            <a:r>
              <a:rPr lang="pt-PT" sz="1400" err="1">
                <a:latin typeface="Santander Text" panose="020B0504020201020104" pitchFamily="34" charset="0"/>
              </a:rPr>
              <a:t>loan</a:t>
            </a:r>
            <a:r>
              <a:rPr lang="pt-PT" sz="1400">
                <a:latin typeface="Santander Text" panose="020B0504020201020104" pitchFamily="34" charset="0"/>
              </a:rPr>
              <a:t> tape para esta OSI):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pt-PT" sz="1400">
              <a:latin typeface="Santander Text" panose="020B0504020201020104" pitchFamily="34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pt-PT" sz="1400">
              <a:latin typeface="Santander Text" panose="020B0504020201020104" pitchFamily="34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400">
                <a:latin typeface="Santander Text" panose="020B0504020201020104" pitchFamily="34" charset="0"/>
              </a:rPr>
              <a:t>Como resposta, o Grupo apresentou a ferramenta </a:t>
            </a:r>
            <a:r>
              <a:rPr lang="pt-PT" sz="1400" b="1" i="1" err="1">
                <a:latin typeface="Santander Text" panose="020B0504020201020104" pitchFamily="34" charset="0"/>
              </a:rPr>
              <a:t>Loan</a:t>
            </a:r>
            <a:r>
              <a:rPr lang="pt-PT" sz="1400" b="1" i="1">
                <a:latin typeface="Santander Text" panose="020B0504020201020104" pitchFamily="34" charset="0"/>
              </a:rPr>
              <a:t> Tape</a:t>
            </a:r>
            <a:r>
              <a:rPr lang="pt-PT" sz="1400" b="1">
                <a:latin typeface="Santander Text" panose="020B0504020201020104" pitchFamily="34" charset="0"/>
              </a:rPr>
              <a:t> </a:t>
            </a:r>
            <a:r>
              <a:rPr lang="pt-PT" sz="1400">
                <a:latin typeface="Santander Text" panose="020B0504020201020104" pitchFamily="34" charset="0"/>
              </a:rPr>
              <a:t>como plano de remediação, com as unidades a terem de produzir trimestralmente em 2023 as 5 tabelas com qualidade para o perímetro completo de</a:t>
            </a:r>
            <a:r>
              <a:rPr lang="pt-PT" sz="1400" b="1">
                <a:latin typeface="Santander Text" panose="020B0504020201020104" pitchFamily="34" charset="0"/>
              </a:rPr>
              <a:t> SCIB, </a:t>
            </a:r>
            <a:r>
              <a:rPr lang="pt-PT" sz="1400" b="1" err="1">
                <a:latin typeface="Santander Text" panose="020B0504020201020104" pitchFamily="34" charset="0"/>
              </a:rPr>
              <a:t>ie</a:t>
            </a:r>
            <a:r>
              <a:rPr lang="pt-PT" sz="1400" b="1">
                <a:latin typeface="Santander Text" panose="020B0504020201020104" pitchFamily="34" charset="0"/>
              </a:rPr>
              <a:t> sem incidências e sem </a:t>
            </a:r>
            <a:r>
              <a:rPr lang="pt-PT" sz="1400" b="1" i="1" err="1">
                <a:latin typeface="Santander Text" panose="020B0504020201020104" pitchFamily="34" charset="0"/>
              </a:rPr>
              <a:t>missing</a:t>
            </a:r>
            <a:r>
              <a:rPr lang="pt-PT" sz="1400" b="1" i="1">
                <a:latin typeface="Santander Text" panose="020B0504020201020104" pitchFamily="34" charset="0"/>
              </a:rPr>
              <a:t> </a:t>
            </a:r>
            <a:r>
              <a:rPr lang="pt-PT" sz="1400" b="1" i="1" err="1">
                <a:latin typeface="Santander Text" panose="020B0504020201020104" pitchFamily="34" charset="0"/>
              </a:rPr>
              <a:t>values</a:t>
            </a:r>
            <a:r>
              <a:rPr lang="pt-PT" sz="1400" b="1">
                <a:latin typeface="Santander Text" panose="020B0504020201020104" pitchFamily="34" charset="0"/>
              </a:rPr>
              <a:t>.</a:t>
            </a:r>
            <a:endParaRPr lang="pt-PT" sz="1400">
              <a:highlight>
                <a:srgbClr val="FFFF00"/>
              </a:highlight>
              <a:latin typeface="Santander Text" panose="020B0504020201020104" pitchFamily="34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400">
                <a:latin typeface="Santander Text" panose="020B0504020201020104" pitchFamily="34" charset="0"/>
              </a:rPr>
              <a:t>Assim, foi definido com o Regulador as seguintes </a:t>
            </a:r>
            <a:r>
              <a:rPr lang="pt-PT" sz="1400" b="1" i="1">
                <a:latin typeface="Santander Text" panose="020B0504020201020104" pitchFamily="34" charset="0"/>
              </a:rPr>
              <a:t>deadlines</a:t>
            </a:r>
            <a:r>
              <a:rPr lang="pt-PT" sz="1400" b="1" i="1" baseline="30000">
                <a:latin typeface="Santander Text" panose="020B0504020201020104" pitchFamily="34" charset="0"/>
              </a:rPr>
              <a:t>1</a:t>
            </a:r>
            <a:r>
              <a:rPr lang="pt-PT" sz="1400">
                <a:latin typeface="Santander Text" panose="020B0504020201020104" pitchFamily="34" charset="0"/>
              </a:rPr>
              <a:t>: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E4FDE6-C285-93AA-ABCB-DBFD6CE60920}"/>
              </a:ext>
            </a:extLst>
          </p:cNvPr>
          <p:cNvSpPr/>
          <p:nvPr/>
        </p:nvSpPr>
        <p:spPr>
          <a:xfrm>
            <a:off x="621786" y="1396764"/>
            <a:ext cx="10733166" cy="4140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r>
              <a:rPr lang="pt-PT" sz="1200" i="1">
                <a:solidFill>
                  <a:schemeClr val="tx1"/>
                </a:solidFill>
                <a:latin typeface="Santander Text" panose="020B0504020201020104" pitchFamily="34" charset="0"/>
              </a:rPr>
              <a:t>“</a:t>
            </a:r>
            <a:r>
              <a:rPr kumimoji="0" lang="es-ES" altLang="es-ES" sz="1200" b="1" i="1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Text" panose="020B0504020201020104" pitchFamily="34" charset="0"/>
              </a:rPr>
              <a:t>Finding</a:t>
            </a:r>
            <a:r>
              <a:rPr kumimoji="0" lang="es-ES" altLang="es-ES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Text" panose="020B0504020201020104" pitchFamily="34" charset="0"/>
              </a:rPr>
              <a:t> 1 </a:t>
            </a:r>
            <a:r>
              <a:rPr kumimoji="0" lang="es-ES" altLang="es-ES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Text" panose="020B0504020201020104" pitchFamily="34" charset="0"/>
                <a:sym typeface="Wingdings" panose="05000000000000000000" pitchFamily="2" charset="2"/>
              </a:rPr>
              <a:t> </a:t>
            </a: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Text" panose="020B0504020201020104" pitchFamily="34" charset="0"/>
              </a:rPr>
              <a:t>Lack of reliability of the data contained in the loan tape because of the high number of errors, inconsistencies and lack of information detected, as well as a significant delay in its delivery</a:t>
            </a:r>
            <a:r>
              <a:rPr lang="pt-PT" sz="1200" i="1">
                <a:solidFill>
                  <a:schemeClr val="tx1"/>
                </a:solidFill>
                <a:latin typeface="Santander Text" panose="020B0504020201020104" pitchFamily="34" charset="0"/>
              </a:rPr>
              <a:t>”</a:t>
            </a:r>
            <a:endParaRPr lang="pt-PT" sz="1200">
              <a:solidFill>
                <a:schemeClr val="tx1"/>
              </a:solidFill>
              <a:highlight>
                <a:srgbClr val="FFFF00"/>
              </a:highlight>
              <a:latin typeface="Santander Text" panose="020B05040202010201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7FB1B4-8B4F-70F8-DA6E-E1A1BE678078}"/>
              </a:ext>
            </a:extLst>
          </p:cNvPr>
          <p:cNvSpPr/>
          <p:nvPr/>
        </p:nvSpPr>
        <p:spPr>
          <a:xfrm>
            <a:off x="2085157" y="6616426"/>
            <a:ext cx="3334567" cy="268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1. Esquema e </a:t>
            </a:r>
            <a:r>
              <a:rPr lang="pt-PT" sz="800" i="1">
                <a:solidFill>
                  <a:schemeClr val="tx1"/>
                </a:solidFill>
                <a:latin typeface="Santander Text" panose="020B0504020201020104" pitchFamily="34" charset="0"/>
              </a:rPr>
              <a:t>deadlines </a:t>
            </a:r>
            <a:r>
              <a:rPr lang="pt-PT" sz="800">
                <a:solidFill>
                  <a:schemeClr val="tx1"/>
                </a:solidFill>
                <a:latin typeface="Santander Text" panose="020B0504020201020104" pitchFamily="34" charset="0"/>
              </a:rPr>
              <a:t>disponibilizados pela Corporação</a:t>
            </a:r>
          </a:p>
        </p:txBody>
      </p:sp>
    </p:spTree>
    <p:extLst>
      <p:ext uri="{BB962C8B-B14F-4D97-AF65-F5344CB8AC3E}">
        <p14:creationId xmlns:p14="http://schemas.microsoft.com/office/powerpoint/2010/main" val="3132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7532" y="348649"/>
            <a:ext cx="10758735" cy="315242"/>
          </a:xfrm>
        </p:spPr>
        <p:txBody>
          <a:bodyPr/>
          <a:lstStyle/>
          <a:p>
            <a:r>
              <a:rPr lang="es-ES" sz="2000"/>
              <a:t>3.2. OSI SCIB | Portal Corporativo</a:t>
            </a:r>
            <a:endParaRPr lang="es-ES" sz="1600"/>
          </a:p>
          <a:p>
            <a:endParaRPr lang="es-ES"/>
          </a:p>
        </p:txBody>
      </p:sp>
      <p:sp>
        <p:nvSpPr>
          <p:cNvPr id="4" name="Marcador de número de diapositiva 4">
            <a:extLst>
              <a:ext uri="{FF2B5EF4-FFF2-40B4-BE49-F238E27FC236}">
                <a16:creationId xmlns:a16="http://schemas.microsoft.com/office/drawing/2014/main" id="{5BBC4DDB-DC31-4DAF-A6F7-601867D9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10</a:t>
            </a:fld>
            <a:endParaRPr lang="es-E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3E29C9-290B-2FF0-89EC-B6C60E3AB964}"/>
              </a:ext>
            </a:extLst>
          </p:cNvPr>
          <p:cNvSpPr txBox="1"/>
          <p:nvPr/>
        </p:nvSpPr>
        <p:spPr>
          <a:xfrm>
            <a:off x="547532" y="792666"/>
            <a:ext cx="10758734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400" dirty="0">
                <a:latin typeface="Santander Text" panose="020B0504020201020104" pitchFamily="34" charset="0"/>
              </a:rPr>
              <a:t>A </a:t>
            </a:r>
            <a:r>
              <a:rPr lang="pt-PT" sz="1400" b="1" dirty="0">
                <a:latin typeface="Santander Text" panose="020B0504020201020104" pitchFamily="34" charset="0"/>
              </a:rPr>
              <a:t>ferramenta Corporativa</a:t>
            </a:r>
            <a:r>
              <a:rPr lang="pt-PT" sz="1400" dirty="0">
                <a:latin typeface="Santander Text" panose="020B0504020201020104" pitchFamily="34" charset="0"/>
              </a:rPr>
              <a:t> para </a:t>
            </a:r>
            <a:r>
              <a:rPr lang="pt-PT" sz="1400" i="1" dirty="0">
                <a:latin typeface="Santander Text" panose="020B0504020201020104" pitchFamily="34" charset="0"/>
              </a:rPr>
              <a:t>upload </a:t>
            </a:r>
            <a:r>
              <a:rPr lang="pt-PT" sz="1400" dirty="0">
                <a:latin typeface="Santander Text" panose="020B0504020201020104" pitchFamily="34" charset="0"/>
              </a:rPr>
              <a:t>da </a:t>
            </a:r>
            <a:r>
              <a:rPr lang="pt-PT" sz="1400" i="1" dirty="0">
                <a:latin typeface="Santander Text" panose="020B0504020201020104" pitchFamily="34" charset="0"/>
              </a:rPr>
              <a:t>Loan Tape</a:t>
            </a:r>
            <a:r>
              <a:rPr lang="pt-PT" sz="1400" dirty="0">
                <a:latin typeface="Santander Text" panose="020B0504020201020104" pitchFamily="34" charset="0"/>
              </a:rPr>
              <a:t> e respetivos controlos foi disponibilizada em PRE em Março 2023. Executa atualmente 1.810 controlos, que podem ser realizados para quaisquer </a:t>
            </a:r>
            <a:r>
              <a:rPr lang="pt-PT" sz="1400" b="1" dirty="0">
                <a:latin typeface="Santander Text" panose="020B0504020201020104" pitchFamily="34" charset="0"/>
              </a:rPr>
              <a:t>carteiras</a:t>
            </a:r>
            <a:r>
              <a:rPr lang="pt-PT" sz="1400" dirty="0">
                <a:latin typeface="Santander Text" panose="020B0504020201020104" pitchFamily="34" charset="0"/>
              </a:rPr>
              <a:t>, como é o caso da carteira de SCIB. Adicionalmente, permitem avaliar a completude dos campos e reconciliar com o NOPER.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400" dirty="0">
                <a:latin typeface="Santander Text" panose="020B0504020201020104" pitchFamily="34" charset="0"/>
              </a:rPr>
              <a:t>Esta ferramenta ainda não se encontra em PRO, mas já pode ser utilizada em PRE.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400" dirty="0">
                <a:latin typeface="Santander Text" panose="020B0504020201020104" pitchFamily="34" charset="0"/>
              </a:rPr>
              <a:t>Denote-se que, durante a implementação da ferramenta (portal estratégico), a Corporação já tinha disponibilizado um </a:t>
            </a:r>
            <a:r>
              <a:rPr lang="pt-PT" sz="1400" b="1" dirty="0">
                <a:latin typeface="Santander Text" panose="020B0504020201020104" pitchFamily="34" charset="0"/>
              </a:rPr>
              <a:t>portal tático</a:t>
            </a:r>
            <a:r>
              <a:rPr lang="pt-PT" sz="1400" dirty="0">
                <a:latin typeface="Santander Text" panose="020B0504020201020104" pitchFamily="34" charset="0"/>
              </a:rPr>
              <a:t> para este efeito, mas mais limitada e com um parque bastante menor de controlos.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77FFCF-3AB0-C642-BFE9-F91F489DA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32" y="2656594"/>
            <a:ext cx="3468663" cy="16397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3554B3-7FB1-9552-3CC4-19931685B5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872" y="3353997"/>
            <a:ext cx="3468663" cy="16442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4D2E4A-D567-8970-0DB6-63926C4125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6412" y="4055805"/>
            <a:ext cx="3473920" cy="164420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01A4817-DF61-6345-4407-B23DF324C11D}"/>
              </a:ext>
            </a:extLst>
          </p:cNvPr>
          <p:cNvCxnSpPr>
            <a:cxnSpLocks/>
          </p:cNvCxnSpPr>
          <p:nvPr/>
        </p:nvCxnSpPr>
        <p:spPr>
          <a:xfrm>
            <a:off x="6446131" y="2413782"/>
            <a:ext cx="4859999" cy="0"/>
          </a:xfrm>
          <a:prstGeom prst="straightConnector1">
            <a:avLst/>
          </a:prstGeom>
          <a:ln>
            <a:solidFill>
              <a:srgbClr val="7F7F7F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75449A82-20D0-84D2-DA29-8B7CB7F187AB}"/>
              </a:ext>
            </a:extLst>
          </p:cNvPr>
          <p:cNvSpPr/>
          <p:nvPr/>
        </p:nvSpPr>
        <p:spPr>
          <a:xfrm>
            <a:off x="7931564" y="2289582"/>
            <a:ext cx="1889133" cy="24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1200" b="1">
                <a:solidFill>
                  <a:schemeClr val="tx1"/>
                </a:solidFill>
                <a:latin typeface="Santander Text" panose="020B0504020201020104" pitchFamily="34" charset="0"/>
              </a:rPr>
              <a:t>Controlos Corporativos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1A2929F-3A49-6FC9-CEB7-6682F48E14FD}"/>
              </a:ext>
            </a:extLst>
          </p:cNvPr>
          <p:cNvGrpSpPr/>
          <p:nvPr/>
        </p:nvGrpSpPr>
        <p:grpSpPr>
          <a:xfrm>
            <a:off x="6446130" y="2637544"/>
            <a:ext cx="4860000" cy="972000"/>
            <a:chOff x="1107731" y="2271994"/>
            <a:chExt cx="4962398" cy="141727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FC843FB-3253-7C92-848B-7C69CD3EC5CC}"/>
                </a:ext>
              </a:extLst>
            </p:cNvPr>
            <p:cNvSpPr/>
            <p:nvPr/>
          </p:nvSpPr>
          <p:spPr>
            <a:xfrm>
              <a:off x="1107731" y="2271994"/>
              <a:ext cx="4962398" cy="141727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b="1">
                  <a:solidFill>
                    <a:schemeClr val="bg1"/>
                  </a:solidFill>
                  <a:latin typeface="Santander Text" panose="020B0504020201020104" pitchFamily="34" charset="0"/>
                </a:rPr>
                <a:t>ACCOUNTING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583DD9C-E3EC-C280-C50A-FF06259EAB41}"/>
                </a:ext>
              </a:extLst>
            </p:cNvPr>
            <p:cNvSpPr/>
            <p:nvPr/>
          </p:nvSpPr>
          <p:spPr>
            <a:xfrm>
              <a:off x="4717695" y="2708609"/>
              <a:ext cx="1352434" cy="9806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pt-PT" sz="4400" b="1">
                  <a:solidFill>
                    <a:schemeClr val="bg1"/>
                  </a:solidFill>
                  <a:latin typeface="Santander Text" panose="020B0504020201020104" pitchFamily="34" charset="0"/>
                </a:rPr>
                <a:t>652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DE1F635-B0EE-BC4C-4EE8-19B89B8826F0}"/>
              </a:ext>
            </a:extLst>
          </p:cNvPr>
          <p:cNvGrpSpPr/>
          <p:nvPr/>
        </p:nvGrpSpPr>
        <p:grpSpPr>
          <a:xfrm>
            <a:off x="10103866" y="3703476"/>
            <a:ext cx="1202264" cy="411018"/>
            <a:chOff x="1107731" y="2271993"/>
            <a:chExt cx="1889133" cy="601773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DFE4657-7B9E-A2C1-7754-7D9949359043}"/>
                </a:ext>
              </a:extLst>
            </p:cNvPr>
            <p:cNvSpPr/>
            <p:nvPr/>
          </p:nvSpPr>
          <p:spPr>
            <a:xfrm>
              <a:off x="1107731" y="2271993"/>
              <a:ext cx="1889133" cy="601773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1000" b="1">
                  <a:solidFill>
                    <a:schemeClr val="bg1"/>
                  </a:solidFill>
                  <a:latin typeface="Santander Text" panose="020B0504020201020104" pitchFamily="34" charset="0"/>
                </a:rPr>
                <a:t>COMPLETENESS</a:t>
              </a:r>
              <a:endParaRPr lang="pt-PT" sz="1050" b="1">
                <a:solidFill>
                  <a:schemeClr val="bg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47E7D35-176F-6C77-D188-501350B315F3}"/>
                </a:ext>
              </a:extLst>
            </p:cNvPr>
            <p:cNvSpPr/>
            <p:nvPr/>
          </p:nvSpPr>
          <p:spPr>
            <a:xfrm>
              <a:off x="2122531" y="2530052"/>
              <a:ext cx="874333" cy="3437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pt-PT" sz="1600" b="1">
                  <a:solidFill>
                    <a:schemeClr val="bg1"/>
                  </a:solidFill>
                  <a:latin typeface="Santander Text" panose="020B0504020201020104" pitchFamily="34" charset="0"/>
                </a:rPr>
                <a:t>68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54ED890-0A66-91C2-E17D-6885C0A7634F}"/>
              </a:ext>
            </a:extLst>
          </p:cNvPr>
          <p:cNvGrpSpPr/>
          <p:nvPr/>
        </p:nvGrpSpPr>
        <p:grpSpPr>
          <a:xfrm>
            <a:off x="10103866" y="4197101"/>
            <a:ext cx="1202400" cy="410400"/>
            <a:chOff x="1077297" y="2271994"/>
            <a:chExt cx="1202400" cy="600867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B86EE55-9AD5-3FA2-6C35-B109E1F5818B}"/>
                </a:ext>
              </a:extLst>
            </p:cNvPr>
            <p:cNvSpPr/>
            <p:nvPr/>
          </p:nvSpPr>
          <p:spPr>
            <a:xfrm>
              <a:off x="1077297" y="2271994"/>
              <a:ext cx="1202400" cy="60086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1000" b="1">
                  <a:solidFill>
                    <a:schemeClr val="bg1"/>
                  </a:solidFill>
                  <a:latin typeface="Santander Text" panose="020B0504020201020104" pitchFamily="34" charset="0"/>
                </a:rPr>
                <a:t>CONSISTENCY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30F8F56-55BB-56E8-A0FC-BFD05FD03148}"/>
                </a:ext>
              </a:extLst>
            </p:cNvPr>
            <p:cNvSpPr/>
            <p:nvPr/>
          </p:nvSpPr>
          <p:spPr>
            <a:xfrm>
              <a:off x="1848769" y="2529147"/>
              <a:ext cx="430928" cy="3437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pt-PT" sz="1600" b="1">
                  <a:solidFill>
                    <a:schemeClr val="bg1"/>
                  </a:solidFill>
                  <a:latin typeface="Santander Text" panose="020B0504020201020104" pitchFamily="34" charset="0"/>
                </a:rPr>
                <a:t>40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05F015B-1770-EB5A-5CF5-30CBF7C26F2A}"/>
              </a:ext>
            </a:extLst>
          </p:cNvPr>
          <p:cNvGrpSpPr/>
          <p:nvPr/>
        </p:nvGrpSpPr>
        <p:grpSpPr>
          <a:xfrm>
            <a:off x="10911645" y="4737178"/>
            <a:ext cx="394488" cy="965292"/>
            <a:chOff x="968103" y="1048257"/>
            <a:chExt cx="394488" cy="1413286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067098A-CA19-AE12-9C51-AFBAF97B1B5C}"/>
                </a:ext>
              </a:extLst>
            </p:cNvPr>
            <p:cNvSpPr/>
            <p:nvPr/>
          </p:nvSpPr>
          <p:spPr>
            <a:xfrm rot="16200000">
              <a:off x="458704" y="1557656"/>
              <a:ext cx="1413286" cy="3944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r"/>
              <a:r>
                <a:rPr lang="pt-PT" sz="8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Santander Text" panose="020B0504020201020104" pitchFamily="34" charset="0"/>
                </a:rPr>
                <a:t>DUPLICATES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E527951-FD89-D0B8-3A4E-FCDDFBB04781}"/>
                </a:ext>
              </a:extLst>
            </p:cNvPr>
            <p:cNvSpPr/>
            <p:nvPr/>
          </p:nvSpPr>
          <p:spPr>
            <a:xfrm>
              <a:off x="1161559" y="2177482"/>
              <a:ext cx="201032" cy="2840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pt-PT" sz="12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Santander Text" panose="020B0504020201020104" pitchFamily="34" charset="0"/>
                </a:rPr>
                <a:t>8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64630F5-980E-68D5-80DA-A631C5117B56}"/>
              </a:ext>
            </a:extLst>
          </p:cNvPr>
          <p:cNvGrpSpPr/>
          <p:nvPr/>
        </p:nvGrpSpPr>
        <p:grpSpPr>
          <a:xfrm>
            <a:off x="6446130" y="4734458"/>
            <a:ext cx="2462478" cy="968014"/>
            <a:chOff x="1107731" y="2271994"/>
            <a:chExt cx="1846011" cy="1417269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5B133F5-F474-14EE-F0D0-8B092FA0D25D}"/>
                </a:ext>
              </a:extLst>
            </p:cNvPr>
            <p:cNvSpPr/>
            <p:nvPr/>
          </p:nvSpPr>
          <p:spPr>
            <a:xfrm>
              <a:off x="1107731" y="2271994"/>
              <a:ext cx="1846011" cy="141726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b="1">
                  <a:solidFill>
                    <a:schemeClr val="bg1"/>
                  </a:solidFill>
                  <a:latin typeface="Santander Text" panose="020B0504020201020104" pitchFamily="34" charset="0"/>
                </a:rPr>
                <a:t>FORMAT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0B18884-C3F6-821C-F950-69BFF66A94A6}"/>
                </a:ext>
              </a:extLst>
            </p:cNvPr>
            <p:cNvSpPr/>
            <p:nvPr/>
          </p:nvSpPr>
          <p:spPr>
            <a:xfrm>
              <a:off x="1667473" y="2708609"/>
              <a:ext cx="1257886" cy="9806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pt-PT" sz="4400" b="1">
                  <a:solidFill>
                    <a:schemeClr val="bg1"/>
                  </a:solidFill>
                  <a:latin typeface="Santander Text" panose="020B0504020201020104" pitchFamily="34" charset="0"/>
                </a:rPr>
                <a:t>330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4A2A476-ECCA-E18E-187C-501B2C6E58E7}"/>
              </a:ext>
            </a:extLst>
          </p:cNvPr>
          <p:cNvGrpSpPr/>
          <p:nvPr/>
        </p:nvGrpSpPr>
        <p:grpSpPr>
          <a:xfrm>
            <a:off x="10103866" y="4734455"/>
            <a:ext cx="738885" cy="432000"/>
            <a:chOff x="1107596" y="2271994"/>
            <a:chExt cx="1202400" cy="632492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2191903-C710-B297-6F5D-7FCCAF10ADAA}"/>
                </a:ext>
              </a:extLst>
            </p:cNvPr>
            <p:cNvSpPr/>
            <p:nvPr/>
          </p:nvSpPr>
          <p:spPr>
            <a:xfrm>
              <a:off x="1107596" y="2271994"/>
              <a:ext cx="1202400" cy="6324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8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Santander Text" panose="020B0504020201020104" pitchFamily="34" charset="0"/>
                </a:rPr>
                <a:t>INTEGRITY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975ADB5-49A7-7A79-C0A9-3F397438A480}"/>
                </a:ext>
              </a:extLst>
            </p:cNvPr>
            <p:cNvSpPr/>
            <p:nvPr/>
          </p:nvSpPr>
          <p:spPr>
            <a:xfrm>
              <a:off x="1736429" y="2529147"/>
              <a:ext cx="573567" cy="3437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pt-PT" sz="12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Santander Text" panose="020B0504020201020104" pitchFamily="34" charset="0"/>
                </a:rPr>
                <a:t>10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AFF86C9-2C6F-DCCC-32FF-4F525ECE14EB}"/>
              </a:ext>
            </a:extLst>
          </p:cNvPr>
          <p:cNvGrpSpPr/>
          <p:nvPr/>
        </p:nvGrpSpPr>
        <p:grpSpPr>
          <a:xfrm>
            <a:off x="8998099" y="4734458"/>
            <a:ext cx="1015409" cy="968014"/>
            <a:chOff x="1107731" y="2271994"/>
            <a:chExt cx="949635" cy="1417270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C11084F-F3B2-349C-C5CF-C99FDFF0011E}"/>
                </a:ext>
              </a:extLst>
            </p:cNvPr>
            <p:cNvSpPr/>
            <p:nvPr/>
          </p:nvSpPr>
          <p:spPr>
            <a:xfrm>
              <a:off x="1107731" y="2271994"/>
              <a:ext cx="949635" cy="141727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1400" b="1">
                  <a:solidFill>
                    <a:schemeClr val="bg1"/>
                  </a:solidFill>
                  <a:latin typeface="Santander Text" panose="020B0504020201020104" pitchFamily="34" charset="0"/>
                </a:rPr>
                <a:t>OUTLIERS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16A415D-08F7-B617-6D0C-FDCE60AD0D0D}"/>
                </a:ext>
              </a:extLst>
            </p:cNvPr>
            <p:cNvSpPr/>
            <p:nvPr/>
          </p:nvSpPr>
          <p:spPr>
            <a:xfrm>
              <a:off x="1246892" y="2902521"/>
              <a:ext cx="810474" cy="73677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pt-PT" sz="3200" b="1">
                  <a:solidFill>
                    <a:schemeClr val="bg1"/>
                  </a:solidFill>
                  <a:latin typeface="Santander Text" panose="020B0504020201020104" pitchFamily="34" charset="0"/>
                </a:rPr>
                <a:t>129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8A152EB-9792-92C9-EB71-872CB8D00E6A}"/>
              </a:ext>
            </a:extLst>
          </p:cNvPr>
          <p:cNvGrpSpPr/>
          <p:nvPr/>
        </p:nvGrpSpPr>
        <p:grpSpPr>
          <a:xfrm>
            <a:off x="6446997" y="3696455"/>
            <a:ext cx="3566511" cy="968014"/>
            <a:chOff x="1107730" y="2271994"/>
            <a:chExt cx="3600000" cy="1417269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BBC2FC3-9BA3-2BB4-2437-DC57A0816FA3}"/>
                </a:ext>
              </a:extLst>
            </p:cNvPr>
            <p:cNvSpPr/>
            <p:nvPr/>
          </p:nvSpPr>
          <p:spPr>
            <a:xfrm>
              <a:off x="1107730" y="2271994"/>
              <a:ext cx="3600000" cy="141726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b="1">
                  <a:solidFill>
                    <a:schemeClr val="bg1"/>
                  </a:solidFill>
                  <a:latin typeface="Santander Text" panose="020B0504020201020104" pitchFamily="34" charset="0"/>
                </a:rPr>
                <a:t>RELATIONAL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F68357F-1EBC-403B-1C92-3FC0927E9BE7}"/>
                </a:ext>
              </a:extLst>
            </p:cNvPr>
            <p:cNvSpPr/>
            <p:nvPr/>
          </p:nvSpPr>
          <p:spPr>
            <a:xfrm>
              <a:off x="3449844" y="2708609"/>
              <a:ext cx="1257886" cy="9806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pt-PT" sz="4400" b="1">
                  <a:solidFill>
                    <a:schemeClr val="bg1"/>
                  </a:solidFill>
                  <a:latin typeface="Santander Text" panose="020B0504020201020104" pitchFamily="34" charset="0"/>
                </a:rPr>
                <a:t>563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C5ECC67-0E29-BB86-EED5-9C8E5641EB3E}"/>
              </a:ext>
            </a:extLst>
          </p:cNvPr>
          <p:cNvGrpSpPr/>
          <p:nvPr/>
        </p:nvGrpSpPr>
        <p:grpSpPr>
          <a:xfrm>
            <a:off x="10103866" y="5270472"/>
            <a:ext cx="738885" cy="432000"/>
            <a:chOff x="1107596" y="2271994"/>
            <a:chExt cx="1202400" cy="632492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47A492C-83F4-D9C7-9758-A42BC9467E14}"/>
                </a:ext>
              </a:extLst>
            </p:cNvPr>
            <p:cNvSpPr/>
            <p:nvPr/>
          </p:nvSpPr>
          <p:spPr>
            <a:xfrm>
              <a:off x="1107596" y="2271994"/>
              <a:ext cx="1202400" cy="63249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8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Santander Text" panose="020B0504020201020104" pitchFamily="34" charset="0"/>
                </a:rPr>
                <a:t>STRUCTURE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BB83CF71-FE83-4338-287D-019BC8313BEF}"/>
                </a:ext>
              </a:extLst>
            </p:cNvPr>
            <p:cNvSpPr/>
            <p:nvPr/>
          </p:nvSpPr>
          <p:spPr>
            <a:xfrm>
              <a:off x="1736429" y="2529147"/>
              <a:ext cx="573567" cy="3437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pt-PT" sz="12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Santander Text" panose="020B0504020201020104" pitchFamily="34" charset="0"/>
                </a:rPr>
                <a:t>10</a:t>
              </a:r>
            </a:p>
          </p:txBody>
        </p:sp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4747AD9-6F27-4E15-21CD-15E367F66D8A}"/>
              </a:ext>
            </a:extLst>
          </p:cNvPr>
          <p:cNvCxnSpPr>
            <a:cxnSpLocks/>
          </p:cNvCxnSpPr>
          <p:nvPr/>
        </p:nvCxnSpPr>
        <p:spPr>
          <a:xfrm>
            <a:off x="6446131" y="5963909"/>
            <a:ext cx="4859999" cy="0"/>
          </a:xfrm>
          <a:prstGeom prst="straightConnector1">
            <a:avLst/>
          </a:prstGeom>
          <a:ln>
            <a:solidFill>
              <a:srgbClr val="7F7F7F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1B8E7944-E9D5-D6A7-ACA1-46BC835A8992}"/>
              </a:ext>
            </a:extLst>
          </p:cNvPr>
          <p:cNvSpPr/>
          <p:nvPr/>
        </p:nvSpPr>
        <p:spPr>
          <a:xfrm>
            <a:off x="7931564" y="5849331"/>
            <a:ext cx="1889133" cy="24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1200" b="1">
                <a:solidFill>
                  <a:schemeClr val="tx1"/>
                </a:solidFill>
                <a:latin typeface="Santander Text" panose="020B0504020201020104" pitchFamily="34" charset="0"/>
              </a:rPr>
              <a:t>1.810 Controlos</a:t>
            </a:r>
          </a:p>
        </p:txBody>
      </p:sp>
    </p:spTree>
    <p:extLst>
      <p:ext uri="{BB962C8B-B14F-4D97-AF65-F5344CB8AC3E}">
        <p14:creationId xmlns:p14="http://schemas.microsoft.com/office/powerpoint/2010/main" val="3332429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7532" y="348649"/>
            <a:ext cx="10758735" cy="315242"/>
          </a:xfrm>
        </p:spPr>
        <p:txBody>
          <a:bodyPr/>
          <a:lstStyle/>
          <a:p>
            <a:r>
              <a:rPr lang="es-ES" sz="2000"/>
              <a:t>3.3. OSI SCIB | </a:t>
            </a:r>
            <a:r>
              <a:rPr lang="es-ES" sz="2000" i="1"/>
              <a:t>Status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4" name="Marcador de número de diapositiva 4">
            <a:extLst>
              <a:ext uri="{FF2B5EF4-FFF2-40B4-BE49-F238E27FC236}">
                <a16:creationId xmlns:a16="http://schemas.microsoft.com/office/drawing/2014/main" id="{5BBC4DDB-DC31-4DAF-A6F7-601867D9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11</a:t>
            </a:fld>
            <a:endParaRPr lang="es-E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3E29C9-290B-2FF0-89EC-B6C60E3AB964}"/>
              </a:ext>
            </a:extLst>
          </p:cNvPr>
          <p:cNvSpPr txBox="1"/>
          <p:nvPr/>
        </p:nvSpPr>
        <p:spPr>
          <a:xfrm>
            <a:off x="547532" y="792666"/>
            <a:ext cx="10758734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400" dirty="0">
                <a:latin typeface="Santander Text" panose="020B0504020201020104" pitchFamily="34" charset="0"/>
              </a:rPr>
              <a:t>No âmbito das análises aos controlos corporativos, a submissão mais recente no Portal Corporativo com respeito ao reporte de Março de 2023, apresentou </a:t>
            </a:r>
            <a:r>
              <a:rPr lang="pt-PT" sz="1400" b="1" dirty="0">
                <a:latin typeface="Santander Text" panose="020B0504020201020104" pitchFamily="34" charset="0"/>
              </a:rPr>
              <a:t>15% de incidências, alertas ou diferenças de conciliação (#272), com respeito a #146 campos</a:t>
            </a:r>
            <a:r>
              <a:rPr lang="pt-PT" sz="1400" dirty="0">
                <a:latin typeface="Santander Text" panose="020B0504020201020104" pitchFamily="34" charset="0"/>
              </a:rPr>
              <a:t>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400" dirty="0">
                <a:latin typeface="Santander Text" panose="020B0504020201020104" pitchFamily="34" charset="0"/>
              </a:rPr>
              <a:t>Adicionalmente, o portal efetua controlos de completude sobre cada campo. Caso um campo apresente uma percentagem de </a:t>
            </a:r>
            <a:r>
              <a:rPr lang="pt-PT" sz="1400" i="1" dirty="0">
                <a:latin typeface="Santander Text" panose="020B0504020201020104" pitchFamily="34" charset="0"/>
              </a:rPr>
              <a:t>missing values</a:t>
            </a:r>
            <a:r>
              <a:rPr lang="pt-PT" sz="1400" dirty="0">
                <a:latin typeface="Santander Text" panose="020B0504020201020104" pitchFamily="34" charset="0"/>
              </a:rPr>
              <a:t> superior a 20%, então é marcado como </a:t>
            </a:r>
            <a:r>
              <a:rPr lang="pt-PT" sz="1400" i="1" dirty="0">
                <a:latin typeface="Santander Text" panose="020B0504020201020104" pitchFamily="34" charset="0"/>
              </a:rPr>
              <a:t>MISS</a:t>
            </a:r>
            <a:r>
              <a:rPr lang="pt-PT" sz="1400" dirty="0">
                <a:latin typeface="Santander Text" panose="020B0504020201020104" pitchFamily="34" charset="0"/>
              </a:rPr>
              <a:t>. Neste sentido, existe um </a:t>
            </a:r>
            <a:r>
              <a:rPr lang="pt-PT" sz="1400" b="1" dirty="0">
                <a:latin typeface="Santander Text" panose="020B0504020201020104" pitchFamily="34" charset="0"/>
              </a:rPr>
              <a:t>compromisso para com o Regulador para uma completude de 85% até junho de 2023 e 100% até Dezembro 2023</a:t>
            </a:r>
            <a:r>
              <a:rPr lang="pt-PT" sz="1400" dirty="0">
                <a:latin typeface="Santander Text" panose="020B0504020201020104" pitchFamily="34" charset="0"/>
              </a:rPr>
              <a:t>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2A86AF7-B1C6-B500-FEEE-57AC9EDCB52A}"/>
              </a:ext>
            </a:extLst>
          </p:cNvPr>
          <p:cNvGrpSpPr/>
          <p:nvPr/>
        </p:nvGrpSpPr>
        <p:grpSpPr>
          <a:xfrm>
            <a:off x="6266153" y="2262039"/>
            <a:ext cx="5040113" cy="295793"/>
            <a:chOff x="6266153" y="2038268"/>
            <a:chExt cx="5040113" cy="295793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44CECD4-0435-8693-4654-DF3C6D7B2AAA}"/>
                </a:ext>
              </a:extLst>
            </p:cNvPr>
            <p:cNvCxnSpPr>
              <a:cxnSpLocks/>
            </p:cNvCxnSpPr>
            <p:nvPr/>
          </p:nvCxnSpPr>
          <p:spPr>
            <a:xfrm>
              <a:off x="6266153" y="2221152"/>
              <a:ext cx="5040113" cy="0"/>
            </a:xfrm>
            <a:prstGeom prst="straightConnector1">
              <a:avLst/>
            </a:prstGeom>
            <a:ln>
              <a:solidFill>
                <a:srgbClr val="7F7F7F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4845D29-2AF4-BDF6-8518-C80B595F8061}"/>
                </a:ext>
              </a:extLst>
            </p:cNvPr>
            <p:cNvSpPr/>
            <p:nvPr/>
          </p:nvSpPr>
          <p:spPr>
            <a:xfrm>
              <a:off x="7545266" y="2038268"/>
              <a:ext cx="2700524" cy="2957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PT" sz="1200" b="1" i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Completeness (s/ missing values)</a:t>
              </a:r>
              <a:r>
                <a:rPr lang="pt-PT" sz="120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 (dados 03/2023)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3719D2D-6BE2-DE76-6982-FE02D384D3AB}"/>
              </a:ext>
            </a:extLst>
          </p:cNvPr>
          <p:cNvGrpSpPr/>
          <p:nvPr/>
        </p:nvGrpSpPr>
        <p:grpSpPr>
          <a:xfrm>
            <a:off x="627353" y="2332014"/>
            <a:ext cx="5040113" cy="225818"/>
            <a:chOff x="627353" y="2108243"/>
            <a:chExt cx="5040113" cy="225818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B35394A-3C14-5CB9-134D-CCFD20B1D613}"/>
                </a:ext>
              </a:extLst>
            </p:cNvPr>
            <p:cNvCxnSpPr>
              <a:cxnSpLocks/>
            </p:cNvCxnSpPr>
            <p:nvPr/>
          </p:nvCxnSpPr>
          <p:spPr>
            <a:xfrm>
              <a:off x="627353" y="2221152"/>
              <a:ext cx="5040113" cy="0"/>
            </a:xfrm>
            <a:prstGeom prst="straightConnector1">
              <a:avLst/>
            </a:prstGeom>
            <a:ln>
              <a:solidFill>
                <a:srgbClr val="7F7F7F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C296D8E-0809-FE93-6F7D-A640589BC958}"/>
                </a:ext>
              </a:extLst>
            </p:cNvPr>
            <p:cNvSpPr/>
            <p:nvPr/>
          </p:nvSpPr>
          <p:spPr>
            <a:xfrm>
              <a:off x="2366776" y="2108243"/>
              <a:ext cx="1561267" cy="2258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PT" sz="120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Incidências </a:t>
              </a:r>
            </a:p>
            <a:p>
              <a:pPr algn="ctr"/>
              <a:r>
                <a:rPr lang="pt-PT" sz="120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(dados 03/2023)</a:t>
              </a: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D1B207AB-5491-CB3E-614A-43C6DEF32FCE}"/>
              </a:ext>
            </a:extLst>
          </p:cNvPr>
          <p:cNvSpPr/>
          <p:nvPr/>
        </p:nvSpPr>
        <p:spPr>
          <a:xfrm>
            <a:off x="627350" y="2681265"/>
            <a:ext cx="5115600" cy="36941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De um total de 1.810 controlos corporativos, foram identificadas #</a:t>
            </a:r>
            <a:r>
              <a:rPr lang="pt-PT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Santander Text" panose="020B0504020201020104" pitchFamily="34" charset="0"/>
              </a:rPr>
              <a:t>272 incidências</a:t>
            </a:r>
            <a:r>
              <a:rPr lang="pt-PT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Santander Text" panose="020B0504020201020104" pitchFamily="34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(15%);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As incidências verificaram-se em #</a:t>
            </a:r>
            <a:r>
              <a:rPr lang="pt-PT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Santander Text" panose="020B0504020201020104" pitchFamily="34" charset="0"/>
              </a:rPr>
              <a:t>146 campos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, dos quais #120 estão com dados e com qualidade;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Entretanto, de entre as #272 incidências, já se analisaram #</a:t>
            </a:r>
            <a:r>
              <a:rPr lang="pt-PT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Santander Text" panose="020B0504020201020104" pitchFamily="34" charset="0"/>
              </a:rPr>
              <a:t>122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:</a:t>
            </a:r>
          </a:p>
          <a:p>
            <a:pPr algn="ctr"/>
            <a:endParaRPr lang="pt-PT" dirty="0"/>
          </a:p>
        </p:txBody>
      </p:sp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CFB02E3F-A725-746C-C770-9FAB40AD91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2768545"/>
              </p:ext>
            </p:extLst>
          </p:nvPr>
        </p:nvGraphicFramePr>
        <p:xfrm>
          <a:off x="627353" y="3647304"/>
          <a:ext cx="5122360" cy="2606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B1EABA0F-F820-C9EA-3F94-87FCD1DB8F1B}"/>
              </a:ext>
            </a:extLst>
          </p:cNvPr>
          <p:cNvGrpSpPr/>
          <p:nvPr/>
        </p:nvGrpSpPr>
        <p:grpSpPr>
          <a:xfrm>
            <a:off x="6189646" y="2512118"/>
            <a:ext cx="5116619" cy="1932443"/>
            <a:chOff x="6189646" y="2634038"/>
            <a:chExt cx="5116619" cy="193244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D8C6E8E-1085-0E75-D931-063A333B5CC6}"/>
                </a:ext>
              </a:extLst>
            </p:cNvPr>
            <p:cNvSpPr/>
            <p:nvPr/>
          </p:nvSpPr>
          <p:spPr>
            <a:xfrm>
              <a:off x="6189646" y="2804749"/>
              <a:ext cx="5116619" cy="1761732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>
                <a:spcBef>
                  <a:spcPts val="600"/>
                </a:spcBef>
              </a:pPr>
              <a:endParaRPr lang="pt-PT" sz="120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69D7AF2-29E7-3CFF-07B1-B358D811315D}"/>
                </a:ext>
              </a:extLst>
            </p:cNvPr>
            <p:cNvSpPr/>
            <p:nvPr/>
          </p:nvSpPr>
          <p:spPr>
            <a:xfrm>
              <a:off x="6286776" y="2634038"/>
              <a:ext cx="1411036" cy="339970"/>
            </a:xfrm>
            <a:prstGeom prst="rect">
              <a:avLst/>
            </a:prstGeom>
            <a:solidFill>
              <a:schemeClr val="bg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0" rIns="72000" bIns="0" rtlCol="0" anchor="ctr" anchorCtr="0"/>
            <a:lstStyle/>
            <a:p>
              <a:r>
                <a:rPr lang="pt-PT" sz="1200" b="1">
                  <a:solidFill>
                    <a:schemeClr val="accent1"/>
                  </a:solidFill>
                  <a:latin typeface="Santander Text" panose="020B0504020201020104" pitchFamily="34" charset="0"/>
                </a:rPr>
                <a:t>Segmento ESTR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970AE78-2D25-2EE1-B08E-9B6EA2CEAD27}"/>
                </a:ext>
              </a:extLst>
            </p:cNvPr>
            <p:cNvSpPr txBox="1"/>
            <p:nvPr/>
          </p:nvSpPr>
          <p:spPr>
            <a:xfrm>
              <a:off x="6286776" y="3094659"/>
              <a:ext cx="167385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6000" dirty="0">
                  <a:solidFill>
                    <a:schemeClr val="accent1"/>
                  </a:solidFill>
                  <a:latin typeface="Santander Text" panose="020B0504020201020104" pitchFamily="34" charset="0"/>
                </a:rPr>
                <a:t>88%</a:t>
              </a:r>
            </a:p>
            <a:p>
              <a:r>
                <a:rPr lang="pt-PT" sz="1200" dirty="0">
                  <a:solidFill>
                    <a:schemeClr val="accent1"/>
                  </a:solidFill>
                  <a:latin typeface="Santander Text" panose="020B0504020201020104" pitchFamily="34" charset="0"/>
                </a:rPr>
                <a:t>de Completude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8EA723C-8D4B-3FD5-4C04-892A1F3B901E}"/>
                </a:ext>
              </a:extLst>
            </p:cNvPr>
            <p:cNvSpPr/>
            <p:nvPr/>
          </p:nvSpPr>
          <p:spPr>
            <a:xfrm>
              <a:off x="8202846" y="3083717"/>
              <a:ext cx="1728000" cy="2178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44000" rIns="360000" rtlCol="0" anchor="ctr"/>
            <a:lstStyle/>
            <a:p>
              <a:r>
                <a:rPr lang="pt-PT" sz="800" b="1" dirty="0">
                  <a:latin typeface="Santander Text" panose="020B0504020201020104" pitchFamily="34" charset="0"/>
                </a:rPr>
                <a:t>Necessidade de intervenção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AF5513B-1727-7825-B18D-B8D37D673262}"/>
                </a:ext>
              </a:extLst>
            </p:cNvPr>
            <p:cNvSpPr/>
            <p:nvPr/>
          </p:nvSpPr>
          <p:spPr>
            <a:xfrm>
              <a:off x="9928487" y="3083717"/>
              <a:ext cx="708575" cy="2178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accent1"/>
                  </a:solidFill>
                  <a:latin typeface="Santander Headline" panose="020B0504020201020104" pitchFamily="34" charset="0"/>
                </a:rPr>
                <a:t>15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16D4612-F073-6140-6321-214EE7C862FC}"/>
                </a:ext>
              </a:extLst>
            </p:cNvPr>
            <p:cNvSpPr/>
            <p:nvPr/>
          </p:nvSpPr>
          <p:spPr>
            <a:xfrm>
              <a:off x="8202846" y="3435896"/>
              <a:ext cx="2160000" cy="2178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Ins="360000" rtlCol="0" anchor="ctr"/>
            <a:lstStyle/>
            <a:p>
              <a:r>
                <a:rPr lang="pt-PT" sz="800" b="1" dirty="0">
                  <a:latin typeface="Santander Text" panose="020B0504020201020104" pitchFamily="34" charset="0"/>
                </a:rPr>
                <a:t>Requisitos em curso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7D67198-D525-AEBF-A701-BBD8B0EF3C7A}"/>
                </a:ext>
              </a:extLst>
            </p:cNvPr>
            <p:cNvSpPr/>
            <p:nvPr/>
          </p:nvSpPr>
          <p:spPr>
            <a:xfrm>
              <a:off x="10361854" y="3431234"/>
              <a:ext cx="708575" cy="2178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accent1"/>
                  </a:solidFill>
                  <a:latin typeface="Santander Headline" panose="020B0504020201020104" pitchFamily="34" charset="0"/>
                </a:rPr>
                <a:t>19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5764A0C-1283-47FB-FA15-2427F99A7117}"/>
                </a:ext>
              </a:extLst>
            </p:cNvPr>
            <p:cNvSpPr/>
            <p:nvPr/>
          </p:nvSpPr>
          <p:spPr>
            <a:xfrm>
              <a:off x="8202846" y="3769224"/>
              <a:ext cx="108000" cy="216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Ins="360000" rtlCol="0" anchor="ctr"/>
            <a:lstStyle/>
            <a:p>
              <a:endParaRPr lang="pt-PT" sz="800" b="1" dirty="0">
                <a:latin typeface="Santander Text" panose="020B0504020201020104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5F7E87A-3106-4101-5B5E-68DCFF0FAE3C}"/>
                </a:ext>
              </a:extLst>
            </p:cNvPr>
            <p:cNvSpPr/>
            <p:nvPr/>
          </p:nvSpPr>
          <p:spPr>
            <a:xfrm>
              <a:off x="8308402" y="3792523"/>
              <a:ext cx="133560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800" b="1" dirty="0">
                  <a:solidFill>
                    <a:schemeClr val="accent1"/>
                  </a:solidFill>
                  <a:latin typeface="Santander Text" panose="020B0504020201020104" pitchFamily="34" charset="0"/>
                </a:rPr>
                <a:t>C/ incidências</a:t>
              </a:r>
              <a:r>
                <a:rPr lang="pt-PT" sz="800" b="1" dirty="0">
                  <a:solidFill>
                    <a:schemeClr val="accent1"/>
                  </a:solidFill>
                  <a:latin typeface="Santander Headline" panose="020B0504020201020104" pitchFamily="34" charset="0"/>
                </a:rPr>
                <a:t> </a:t>
              </a:r>
              <a:r>
                <a:rPr lang="pt-PT" sz="1050" b="1" dirty="0">
                  <a:solidFill>
                    <a:schemeClr val="accent1"/>
                  </a:solidFill>
                  <a:latin typeface="Santander Headline" panose="020B0504020201020104" pitchFamily="34" charset="0"/>
                </a:rPr>
                <a:t>1</a:t>
              </a:r>
            </a:p>
          </p:txBody>
        </p:sp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82E98CF3-F6C0-5A91-B28D-AC69E18E1A57}"/>
                </a:ext>
              </a:extLst>
            </p:cNvPr>
            <p:cNvSpPr/>
            <p:nvPr/>
          </p:nvSpPr>
          <p:spPr>
            <a:xfrm rot="5400000">
              <a:off x="7606917" y="3617117"/>
              <a:ext cx="873033" cy="84769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B69B8AD-C6DF-86EB-9FED-76478AD487FD}"/>
                </a:ext>
              </a:extLst>
            </p:cNvPr>
            <p:cNvSpPr/>
            <p:nvPr/>
          </p:nvSpPr>
          <p:spPr>
            <a:xfrm>
              <a:off x="8202846" y="4106820"/>
              <a:ext cx="324000" cy="2196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Ins="360000" rtlCol="0" anchor="ctr"/>
            <a:lstStyle/>
            <a:p>
              <a:endParaRPr lang="pt-PT" sz="800" b="1">
                <a:latin typeface="Santander Headline" panose="020B0504020201020104" pitchFamily="34" charset="0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DDEE3AD-C658-5F0D-6792-B34699CDAF52}"/>
                </a:ext>
              </a:extLst>
            </p:cNvPr>
            <p:cNvSpPr/>
            <p:nvPr/>
          </p:nvSpPr>
          <p:spPr>
            <a:xfrm>
              <a:off x="8527475" y="4130169"/>
              <a:ext cx="1335368" cy="1781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8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Santander Text" panose="020B0504020201020104" pitchFamily="34" charset="0"/>
                </a:rPr>
                <a:t>Sit. Regularizada  </a:t>
              </a:r>
              <a:r>
                <a:rPr lang="pt-PT" sz="105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Santander Text" panose="020B0504020201020104" pitchFamily="34" charset="0"/>
                </a:rPr>
                <a:t>3</a:t>
              </a:r>
              <a:endParaRPr lang="pt-PT" sz="105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Santander Headline" panose="020B0504020201020104" pitchFamily="34" charset="0"/>
              </a:endParaRP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86C102D-9F97-7389-2273-33B823DE45DF}"/>
                </a:ext>
              </a:extLst>
            </p:cNvPr>
            <p:cNvCxnSpPr>
              <a:cxnSpLocks/>
            </p:cNvCxnSpPr>
            <p:nvPr/>
          </p:nvCxnSpPr>
          <p:spPr>
            <a:xfrm>
              <a:off x="8202846" y="2948496"/>
              <a:ext cx="0" cy="15147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0A74D7F-47B8-8193-7B49-B1F0949C55B7}"/>
              </a:ext>
            </a:extLst>
          </p:cNvPr>
          <p:cNvSpPr/>
          <p:nvPr/>
        </p:nvSpPr>
        <p:spPr>
          <a:xfrm>
            <a:off x="6189646" y="4615272"/>
            <a:ext cx="5116619" cy="1761732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spcBef>
                <a:spcPts val="600"/>
              </a:spcBef>
            </a:pPr>
            <a:endParaRPr lang="pt-PT" sz="1200">
              <a:solidFill>
                <a:schemeClr val="bg1">
                  <a:lumMod val="50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FC89A6-5463-53AF-4EEE-B834770B451F}"/>
              </a:ext>
            </a:extLst>
          </p:cNvPr>
          <p:cNvSpPr/>
          <p:nvPr/>
        </p:nvSpPr>
        <p:spPr>
          <a:xfrm>
            <a:off x="6286776" y="4468089"/>
            <a:ext cx="1411036" cy="339970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 anchorCtr="0"/>
          <a:lstStyle/>
          <a:p>
            <a:r>
              <a:rPr lang="pt-PT" sz="1200" b="1">
                <a:solidFill>
                  <a:srgbClr val="767171"/>
                </a:solidFill>
                <a:latin typeface="Santander Text" panose="020B0504020201020104" pitchFamily="34" charset="0"/>
              </a:rPr>
              <a:t>Segmento SCIB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E24DF1-CCF1-8769-04C3-CF21EFEF2F82}"/>
              </a:ext>
            </a:extLst>
          </p:cNvPr>
          <p:cNvSpPr txBox="1"/>
          <p:nvPr/>
        </p:nvSpPr>
        <p:spPr>
          <a:xfrm>
            <a:off x="6286776" y="4877767"/>
            <a:ext cx="16738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6000" dirty="0">
                <a:solidFill>
                  <a:srgbClr val="767171"/>
                </a:solidFill>
                <a:latin typeface="Santander Text" panose="020B0504020201020104" pitchFamily="34" charset="0"/>
              </a:rPr>
              <a:t>80%</a:t>
            </a:r>
          </a:p>
          <a:p>
            <a:r>
              <a:rPr lang="pt-PT" sz="1200" dirty="0">
                <a:solidFill>
                  <a:srgbClr val="767171"/>
                </a:solidFill>
                <a:latin typeface="Santander Text" panose="020B0504020201020104" pitchFamily="34" charset="0"/>
              </a:rPr>
              <a:t>de Completude</a:t>
            </a:r>
          </a:p>
        </p:txBody>
      </p:sp>
      <p:sp>
        <p:nvSpPr>
          <p:cNvPr id="55" name="Isosceles Triangle 54">
            <a:extLst>
              <a:ext uri="{FF2B5EF4-FFF2-40B4-BE49-F238E27FC236}">
                <a16:creationId xmlns:a16="http://schemas.microsoft.com/office/drawing/2014/main" id="{2BEFE0B3-6A99-FE8F-8301-127D8B76740C}"/>
              </a:ext>
            </a:extLst>
          </p:cNvPr>
          <p:cNvSpPr/>
          <p:nvPr/>
        </p:nvSpPr>
        <p:spPr>
          <a:xfrm rot="5400000">
            <a:off x="7601852" y="5358967"/>
            <a:ext cx="873033" cy="84769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186BC07-C151-6FCC-C617-BA1C30E61877}"/>
              </a:ext>
            </a:extLst>
          </p:cNvPr>
          <p:cNvSpPr/>
          <p:nvPr/>
        </p:nvSpPr>
        <p:spPr>
          <a:xfrm>
            <a:off x="8203344" y="4873977"/>
            <a:ext cx="1044000" cy="21600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rIns="360000" rtlCol="0" anchor="ctr"/>
          <a:lstStyle/>
          <a:p>
            <a:endParaRPr lang="pt-PT" sz="800" b="1" dirty="0">
              <a:latin typeface="Santander Text" panose="020B0504020201020104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93E65E5-BAF4-900E-C0BC-152D7C653B3B}"/>
              </a:ext>
            </a:extLst>
          </p:cNvPr>
          <p:cNvSpPr/>
          <p:nvPr/>
        </p:nvSpPr>
        <p:spPr>
          <a:xfrm>
            <a:off x="8465473" y="5216731"/>
            <a:ext cx="1836000" cy="2178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800" b="1" dirty="0">
                <a:solidFill>
                  <a:schemeClr val="tx2"/>
                </a:solidFill>
                <a:latin typeface="Santander Text" panose="020B0504020201020104" pitchFamily="34" charset="0"/>
              </a:rPr>
              <a:t>Requisitos em curso </a:t>
            </a:r>
            <a:r>
              <a:rPr lang="pt-PT" sz="1050" b="1" dirty="0">
                <a:solidFill>
                  <a:srgbClr val="7F7F7F"/>
                </a:solidFill>
                <a:latin typeface="Santander Headline" panose="020B0504020201020104" pitchFamily="34" charset="0"/>
              </a:rPr>
              <a:t>44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BB88568-1706-7A91-76E8-79E171DA7548}"/>
              </a:ext>
            </a:extLst>
          </p:cNvPr>
          <p:cNvSpPr/>
          <p:nvPr/>
        </p:nvSpPr>
        <p:spPr>
          <a:xfrm>
            <a:off x="8203344" y="5559484"/>
            <a:ext cx="36000" cy="216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360000" rtlCol="0" anchor="ctr"/>
          <a:lstStyle/>
          <a:p>
            <a:endParaRPr lang="pt-PT" sz="800" b="1">
              <a:latin typeface="Santander Text" panose="020B0504020201020104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B0070F8-96B1-2819-F90B-E515B55DD7FB}"/>
              </a:ext>
            </a:extLst>
          </p:cNvPr>
          <p:cNvSpPr/>
          <p:nvPr/>
        </p:nvSpPr>
        <p:spPr>
          <a:xfrm>
            <a:off x="8250607" y="5564822"/>
            <a:ext cx="1368000" cy="2178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800" b="1" dirty="0">
                <a:solidFill>
                  <a:srgbClr val="767171"/>
                </a:solidFill>
                <a:latin typeface="Santander Text" panose="020B0504020201020104" pitchFamily="34" charset="0"/>
              </a:rPr>
              <a:t>C/ incidências</a:t>
            </a:r>
            <a:r>
              <a:rPr lang="pt-PT" sz="800" b="1" dirty="0">
                <a:solidFill>
                  <a:srgbClr val="767171"/>
                </a:solidFill>
                <a:latin typeface="Santander Headline" panose="020B0504020201020104" pitchFamily="34" charset="0"/>
              </a:rPr>
              <a:t> </a:t>
            </a:r>
            <a:r>
              <a:rPr lang="pt-PT" sz="1050" b="1" dirty="0">
                <a:solidFill>
                  <a:srgbClr val="767171"/>
                </a:solidFill>
                <a:latin typeface="Santander Headline" panose="020B0504020201020104" pitchFamily="34" charset="0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473CD9-B388-6A16-B8F1-3B7B90D6BAEF}"/>
              </a:ext>
            </a:extLst>
          </p:cNvPr>
          <p:cNvSpPr/>
          <p:nvPr/>
        </p:nvSpPr>
        <p:spPr>
          <a:xfrm>
            <a:off x="8203344" y="5916002"/>
            <a:ext cx="180000" cy="219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360000" rtlCol="0" anchor="ctr"/>
          <a:lstStyle/>
          <a:p>
            <a:endParaRPr lang="pt-PT" sz="800" b="1">
              <a:solidFill>
                <a:schemeClr val="bg1">
                  <a:lumMod val="85000"/>
                </a:schemeClr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0CCD31-0B94-71D2-3A41-089808ABEB02}"/>
              </a:ext>
            </a:extLst>
          </p:cNvPr>
          <p:cNvSpPr/>
          <p:nvPr/>
        </p:nvSpPr>
        <p:spPr>
          <a:xfrm>
            <a:off x="8383085" y="5929825"/>
            <a:ext cx="1335368" cy="1781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800" b="1" dirty="0">
                <a:solidFill>
                  <a:srgbClr val="BFBFBF"/>
                </a:solidFill>
                <a:latin typeface="Santander Text" panose="020B0504020201020104" pitchFamily="34" charset="0"/>
              </a:rPr>
              <a:t>Sit. Regularizada  </a:t>
            </a:r>
            <a:r>
              <a:rPr lang="pt-PT" sz="1050" b="1" dirty="0">
                <a:solidFill>
                  <a:srgbClr val="BFBFBF"/>
                </a:solidFill>
                <a:latin typeface="Santander Headline" panose="020B0504020201020104" pitchFamily="34" charset="0"/>
              </a:rPr>
              <a:t>4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028AC47-0CEB-87C7-BF90-CD0BB9E2FC75}"/>
              </a:ext>
            </a:extLst>
          </p:cNvPr>
          <p:cNvGrpSpPr/>
          <p:nvPr/>
        </p:nvGrpSpPr>
        <p:grpSpPr>
          <a:xfrm>
            <a:off x="8203344" y="5213989"/>
            <a:ext cx="3572278" cy="220562"/>
            <a:chOff x="8203344" y="5213989"/>
            <a:chExt cx="3572278" cy="22056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F7ADE4B-87A9-F247-D7A1-B35E578FE225}"/>
                </a:ext>
              </a:extLst>
            </p:cNvPr>
            <p:cNvSpPr/>
            <p:nvPr/>
          </p:nvSpPr>
          <p:spPr>
            <a:xfrm>
              <a:off x="8203344" y="5218551"/>
              <a:ext cx="2808000" cy="216000"/>
            </a:xfrm>
            <a:prstGeom prst="rect">
              <a:avLst/>
            </a:prstGeom>
            <a:solidFill>
              <a:srgbClr val="76717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44000" rIns="360000" rtlCol="0" anchor="ctr"/>
            <a:lstStyle/>
            <a:p>
              <a:r>
                <a:rPr lang="pt-PT" sz="800" b="1" dirty="0">
                  <a:latin typeface="Santander Text" panose="020B0504020201020104" pitchFamily="34" charset="0"/>
                </a:rPr>
                <a:t>Requisitos em curso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E4EE3A2-B677-8EC5-0152-E13BB37D2E06}"/>
                </a:ext>
              </a:extLst>
            </p:cNvPr>
            <p:cNvSpPr/>
            <p:nvPr/>
          </p:nvSpPr>
          <p:spPr>
            <a:xfrm>
              <a:off x="11019622" y="5213989"/>
              <a:ext cx="756000" cy="2178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rgbClr val="767171"/>
                  </a:solidFill>
                  <a:latin typeface="Santander Headline" panose="020B0504020201020104" pitchFamily="34" charset="0"/>
                </a:rPr>
                <a:t>44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38ACEFB7-29C6-0FA7-18E6-2D37C601A2D1}"/>
              </a:ext>
            </a:extLst>
          </p:cNvPr>
          <p:cNvSpPr/>
          <p:nvPr/>
        </p:nvSpPr>
        <p:spPr>
          <a:xfrm>
            <a:off x="9244340" y="4877139"/>
            <a:ext cx="2503957" cy="2178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800" b="1" dirty="0">
                <a:solidFill>
                  <a:srgbClr val="767171"/>
                </a:solidFill>
                <a:latin typeface="Santander Headline" panose="020B0504020201020104" pitchFamily="34" charset="0"/>
              </a:rPr>
              <a:t>Necessidade de intervenção  </a:t>
            </a:r>
            <a:r>
              <a:rPr lang="pt-PT" sz="1050" b="1" dirty="0">
                <a:solidFill>
                  <a:srgbClr val="767171"/>
                </a:solidFill>
                <a:latin typeface="Santander Headline" panose="020B0504020201020104" pitchFamily="34" charset="0"/>
              </a:rPr>
              <a:t>18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23C3DA5-A5F5-6E9A-E124-EC5879F57AA0}"/>
              </a:ext>
            </a:extLst>
          </p:cNvPr>
          <p:cNvCxnSpPr>
            <a:cxnSpLocks/>
          </p:cNvCxnSpPr>
          <p:nvPr/>
        </p:nvCxnSpPr>
        <p:spPr>
          <a:xfrm>
            <a:off x="8203344" y="4738756"/>
            <a:ext cx="0" cy="15147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03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Próximos </a:t>
            </a:r>
            <a:r>
              <a:rPr lang="pt-PT"/>
              <a:t>passos</a:t>
            </a:r>
            <a:endParaRPr lang="pt-PT" i="1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61599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7532" y="348649"/>
            <a:ext cx="10758735" cy="315242"/>
          </a:xfrm>
        </p:spPr>
        <p:txBody>
          <a:bodyPr/>
          <a:lstStyle/>
          <a:p>
            <a:r>
              <a:rPr lang="es-ES" sz="2000"/>
              <a:t>4. Próximos </a:t>
            </a:r>
            <a:r>
              <a:rPr lang="es-ES" sz="2000" err="1"/>
              <a:t>passos</a:t>
            </a:r>
            <a:endParaRPr lang="es-ES" sz="2000" i="1"/>
          </a:p>
          <a:p>
            <a:endParaRPr lang="es-ES" sz="2000">
              <a:solidFill>
                <a:srgbClr val="FF0000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D2C8747-16CC-46F7-8AC4-664E9B00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13</a:t>
            </a:fld>
            <a:endParaRPr lang="es-ES"/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B0712CE5-F915-594B-7C95-0C8042B66F9D}"/>
              </a:ext>
            </a:extLst>
          </p:cNvPr>
          <p:cNvSpPr txBox="1">
            <a:spLocks noChangeAspect="1"/>
          </p:cNvSpPr>
          <p:nvPr/>
        </p:nvSpPr>
        <p:spPr>
          <a:xfrm>
            <a:off x="2171089" y="1242842"/>
            <a:ext cx="9135177" cy="28473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tIns="36000" bIns="36000" anchor="ctr" anchorCtr="0"/>
          <a:lstStyle>
            <a:lvl1pPr marL="114267" indent="-114267" algn="ctr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83" indent="-285750" algn="l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1" dirty="0" err="1">
                <a:solidFill>
                  <a:schemeClr val="tx2"/>
                </a:solidFill>
                <a:latin typeface="Santander Text" panose="020B0504020201020104" pitchFamily="34" charset="0"/>
              </a:rPr>
              <a:t>Definição</a:t>
            </a:r>
            <a:r>
              <a:rPr lang="en-US" sz="1400" b="1" dirty="0">
                <a:solidFill>
                  <a:schemeClr val="tx2"/>
                </a:solidFill>
                <a:latin typeface="Santander Text" panose="020B0504020201020104" pitchFamily="34" charset="0"/>
              </a:rPr>
              <a:t> de </a:t>
            </a:r>
            <a:r>
              <a:rPr lang="en-US" sz="1400" dirty="0" err="1">
                <a:solidFill>
                  <a:schemeClr val="tx2"/>
                </a:solidFill>
                <a:latin typeface="Santander Text" panose="020B0504020201020104" pitchFamily="34" charset="0"/>
              </a:rPr>
              <a:t>p</a:t>
            </a:r>
            <a:r>
              <a:rPr lang="en-US" sz="1400" b="1" dirty="0" err="1">
                <a:solidFill>
                  <a:schemeClr val="tx2"/>
                </a:solidFill>
                <a:latin typeface="Santander Text" panose="020B0504020201020104" pitchFamily="34" charset="0"/>
              </a:rPr>
              <a:t>lanos</a:t>
            </a:r>
            <a:r>
              <a:rPr lang="en-US" sz="1400" b="1" dirty="0">
                <a:solidFill>
                  <a:schemeClr val="tx2"/>
                </a:solidFill>
                <a:latin typeface="Santander Text" panose="020B0504020201020104" pitchFamily="34" charset="0"/>
              </a:rPr>
              <a:t> de </a:t>
            </a:r>
            <a:r>
              <a:rPr lang="en-US" sz="1400" b="1" dirty="0" err="1">
                <a:solidFill>
                  <a:schemeClr val="tx2"/>
                </a:solidFill>
                <a:latin typeface="Santander Text" panose="020B0504020201020104" pitchFamily="34" charset="0"/>
              </a:rPr>
              <a:t>remediação</a:t>
            </a:r>
            <a:r>
              <a:rPr lang="en-US" sz="1400" b="1" dirty="0">
                <a:solidFill>
                  <a:schemeClr val="tx2"/>
                </a:solidFill>
                <a:latin typeface="Santander Text" panose="020B0504020201020104" pitchFamily="34" charset="0"/>
              </a:rPr>
              <a:t> para dados </a:t>
            </a:r>
            <a:r>
              <a:rPr lang="en-US" sz="1400" b="1" dirty="0" err="1">
                <a:solidFill>
                  <a:schemeClr val="tx2"/>
                </a:solidFill>
                <a:latin typeface="Santander Text" panose="020B0504020201020104" pitchFamily="34" charset="0"/>
              </a:rPr>
              <a:t>inexistentes</a:t>
            </a:r>
            <a:endParaRPr lang="en-US" sz="1400" b="1" dirty="0">
              <a:solidFill>
                <a:schemeClr val="tx2"/>
              </a:solidFill>
              <a:latin typeface="Santander Text" panose="020B0504020201020104" pitchFamily="34" charset="0"/>
            </a:endParaRPr>
          </a:p>
          <a:p>
            <a:pPr marL="457066" lvl="2">
              <a:spcBef>
                <a:spcPts val="600"/>
              </a:spcBef>
              <a:defRPr/>
            </a:pPr>
            <a:r>
              <a:rPr lang="pt-PT" sz="1200" b="0" dirty="0">
                <a:solidFill>
                  <a:schemeClr val="tx1"/>
                </a:solidFill>
                <a:latin typeface="Santander Text" panose="020B0504020201020104" pitchFamily="34" charset="0"/>
              </a:rPr>
              <a:t>Definição de planos de remediação para campos que atualmente se encontram sem informação associada/mapeada (não existente nos sistemas fonte) e sobre os quais existe a possibilidade de não ficarem resolvidos.</a:t>
            </a:r>
          </a:p>
          <a:p>
            <a:pPr marL="0" algn="l">
              <a:spcBef>
                <a:spcPts val="600"/>
              </a:spcBef>
              <a:defRPr/>
            </a:pPr>
            <a:endParaRPr lang="en-US" b="1" dirty="0">
              <a:solidFill>
                <a:srgbClr val="A7ADAF"/>
              </a:solidFill>
              <a:latin typeface="Santander Text" panose="020B0504020201020104" pitchFamily="34" charset="0"/>
            </a:endParaRPr>
          </a:p>
          <a:p>
            <a:pPr marL="171483" indent="-285750" algn="l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1" dirty="0" err="1">
                <a:solidFill>
                  <a:schemeClr val="tx2"/>
                </a:solidFill>
                <a:latin typeface="Santander Text" panose="020B0504020201020104" pitchFamily="34" charset="0"/>
              </a:rPr>
              <a:t>Correção</a:t>
            </a:r>
            <a:r>
              <a:rPr lang="en-US" sz="1400" b="1" dirty="0">
                <a:solidFill>
                  <a:schemeClr val="tx2"/>
                </a:solidFill>
                <a:latin typeface="Santander Text" panose="020B0504020201020104" pitchFamily="34" charset="0"/>
              </a:rPr>
              <a:t> de </a:t>
            </a:r>
            <a:r>
              <a:rPr lang="en-US" sz="1400" b="1" dirty="0" err="1">
                <a:solidFill>
                  <a:schemeClr val="tx2"/>
                </a:solidFill>
                <a:latin typeface="Santander Text" panose="020B0504020201020104" pitchFamily="34" charset="0"/>
              </a:rPr>
              <a:t>incidências</a:t>
            </a:r>
            <a:r>
              <a:rPr lang="en-US" sz="1400" b="1" dirty="0">
                <a:solidFill>
                  <a:schemeClr val="tx2"/>
                </a:solidFill>
                <a:latin typeface="Santander Text" panose="020B0504020201020104" pitchFamily="34" charset="0"/>
              </a:rPr>
              <a:t> e issues</a:t>
            </a:r>
          </a:p>
          <a:p>
            <a:pPr marL="514249" lvl="2" indent="-171450">
              <a:spcBef>
                <a:spcPts val="600"/>
              </a:spcBef>
              <a:defRPr/>
            </a:pPr>
            <a:r>
              <a:rPr lang="pt-PT" sz="1200" b="0" dirty="0">
                <a:solidFill>
                  <a:schemeClr val="tx1"/>
                </a:solidFill>
                <a:latin typeface="Santander Text" panose="020B0504020201020104" pitchFamily="34" charset="0"/>
              </a:rPr>
              <a:t>Correção de incidências e ajustes de especificação associadas </a:t>
            </a:r>
            <a:r>
              <a:rPr lang="pt-PT" sz="1200" b="0" dirty="0">
                <a:latin typeface="Santander Text" panose="020B0504020201020104" pitchFamily="34" charset="0"/>
              </a:rPr>
              <a:t>a</a:t>
            </a:r>
            <a:r>
              <a:rPr lang="pt-PT" sz="1200" b="0" dirty="0">
                <a:solidFill>
                  <a:schemeClr val="tx1"/>
                </a:solidFill>
                <a:latin typeface="Santander Text" panose="020B0504020201020104" pitchFamily="34" charset="0"/>
              </a:rPr>
              <a:t> alterações de interpretação funcional dos conceitos.</a:t>
            </a:r>
          </a:p>
          <a:p>
            <a:pPr marL="514249" lvl="2" indent="-171450">
              <a:spcBef>
                <a:spcPts val="600"/>
              </a:spcBef>
              <a:defRPr/>
            </a:pPr>
            <a:endParaRPr lang="en-US" sz="1400" b="1" dirty="0">
              <a:solidFill>
                <a:schemeClr val="tx2"/>
              </a:solidFill>
              <a:latin typeface="Santander Text" panose="020B0504020201020104" pitchFamily="34" charset="0"/>
            </a:endParaRPr>
          </a:p>
          <a:p>
            <a:pPr marL="171483" indent="-285750" algn="l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1" dirty="0" err="1">
                <a:solidFill>
                  <a:schemeClr val="tx2"/>
                </a:solidFill>
                <a:latin typeface="Santander Text" panose="020B0504020201020104" pitchFamily="34" charset="0"/>
              </a:rPr>
              <a:t>Requalificação</a:t>
            </a:r>
            <a:r>
              <a:rPr lang="en-US" sz="1400" b="1" dirty="0">
                <a:solidFill>
                  <a:schemeClr val="tx2"/>
                </a:solidFill>
                <a:latin typeface="Santander Text" panose="020B0504020201020104" pitchFamily="34" charset="0"/>
              </a:rPr>
              <a:t> da </a:t>
            </a:r>
            <a:r>
              <a:rPr lang="en-US" sz="1400" b="1" dirty="0" err="1">
                <a:solidFill>
                  <a:schemeClr val="tx2"/>
                </a:solidFill>
                <a:latin typeface="Santander Text" panose="020B0504020201020104" pitchFamily="34" charset="0"/>
              </a:rPr>
              <a:t>informação</a:t>
            </a:r>
            <a:r>
              <a:rPr lang="en-US" sz="1400" b="1" dirty="0">
                <a:solidFill>
                  <a:schemeClr val="tx2"/>
                </a:solidFill>
                <a:latin typeface="Santander Text" panose="020B0504020201020104" pitchFamily="34" charset="0"/>
              </a:rPr>
              <a:t> do </a:t>
            </a:r>
            <a:r>
              <a:rPr lang="en-US" sz="1400" b="1" i="1" dirty="0">
                <a:solidFill>
                  <a:schemeClr val="tx2"/>
                </a:solidFill>
                <a:latin typeface="Santander Text" panose="020B0504020201020104" pitchFamily="34" charset="0"/>
              </a:rPr>
              <a:t>Data Lake</a:t>
            </a:r>
          </a:p>
          <a:p>
            <a:pPr marL="514249" lvl="2" indent="-171450">
              <a:spcBef>
                <a:spcPts val="600"/>
              </a:spcBef>
              <a:defRPr/>
            </a:pPr>
            <a:r>
              <a:rPr lang="pt-PT" sz="1200" b="0" dirty="0">
                <a:solidFill>
                  <a:schemeClr val="tx1"/>
                </a:solidFill>
                <a:latin typeface="Santander Text" panose="020B0504020201020104" pitchFamily="34" charset="0"/>
              </a:rPr>
              <a:t>Acompanhamento e correção de incoerências de </a:t>
            </a:r>
            <a:r>
              <a:rPr lang="pt-PT" sz="1200" b="0" i="1" dirty="0">
                <a:latin typeface="Santander Text" panose="020B0504020201020104" pitchFamily="34" charset="0"/>
              </a:rPr>
              <a:t>Data Quality </a:t>
            </a:r>
            <a:r>
              <a:rPr lang="pt-PT" sz="1200" b="0" dirty="0">
                <a:latin typeface="Santander Text" panose="020B0504020201020104" pitchFamily="34" charset="0"/>
              </a:rPr>
              <a:t>identificadas nos sistemas fonte da </a:t>
            </a:r>
            <a:r>
              <a:rPr lang="pt-PT" sz="1200" b="0" i="1" dirty="0">
                <a:latin typeface="Santander Text" panose="020B0504020201020104" pitchFamily="34" charset="0"/>
              </a:rPr>
              <a:t>Loan Tape</a:t>
            </a:r>
            <a:r>
              <a:rPr lang="pt-PT" sz="1200" b="0" dirty="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  <a:p>
            <a:pPr marL="514249" lvl="2" indent="-171450">
              <a:spcBef>
                <a:spcPts val="600"/>
              </a:spcBef>
              <a:defRPr/>
            </a:pPr>
            <a:endParaRPr lang="pt-PT" sz="1200" b="0" dirty="0">
              <a:solidFill>
                <a:schemeClr val="accent1">
                  <a:lumMod val="60000"/>
                  <a:lumOff val="40000"/>
                </a:schemeClr>
              </a:solidFill>
              <a:latin typeface="Santander Text" panose="020B0504020201020104" pitchFamily="34" charset="0"/>
            </a:endParaRPr>
          </a:p>
          <a:p>
            <a:pPr marL="285716" lvl="1" indent="-171450">
              <a:spcBef>
                <a:spcPts val="600"/>
              </a:spcBef>
              <a:defRPr/>
            </a:pPr>
            <a:r>
              <a:rPr lang="pt-PT" sz="1400" b="1" dirty="0">
                <a:solidFill>
                  <a:schemeClr val="tx2"/>
                </a:solidFill>
                <a:latin typeface="Santander Text" panose="020B0504020201020104" pitchFamily="34" charset="0"/>
              </a:rPr>
              <a:t>Adaptação do </a:t>
            </a:r>
            <a:r>
              <a:rPr lang="pt-PT" sz="1400" b="1" i="1" dirty="0">
                <a:solidFill>
                  <a:schemeClr val="tx2"/>
                </a:solidFill>
                <a:latin typeface="Santander Text" panose="020B0504020201020104" pitchFamily="34" charset="0"/>
              </a:rPr>
              <a:t>Loan Tape </a:t>
            </a:r>
            <a:r>
              <a:rPr lang="pt-PT" sz="1400" b="1" dirty="0">
                <a:solidFill>
                  <a:schemeClr val="tx2"/>
                </a:solidFill>
                <a:latin typeface="Santander Text" panose="020B0504020201020104" pitchFamily="34" charset="0"/>
              </a:rPr>
              <a:t>ao novo plano de contas contabilístico IDCOMB</a:t>
            </a:r>
            <a:endParaRPr lang="en-US" sz="1400" b="1" i="1" dirty="0">
              <a:solidFill>
                <a:schemeClr val="tx2"/>
              </a:solidFill>
              <a:latin typeface="Santander Text" panose="020B0504020201020104" pitchFamily="34" charset="0"/>
            </a:endParaRP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5C5152E9-0125-A074-70A6-F8D3DFD79B70}"/>
              </a:ext>
            </a:extLst>
          </p:cNvPr>
          <p:cNvSpPr txBox="1">
            <a:spLocks noChangeAspect="1"/>
          </p:cNvSpPr>
          <p:nvPr/>
        </p:nvSpPr>
        <p:spPr>
          <a:xfrm>
            <a:off x="2171090" y="4237704"/>
            <a:ext cx="9135177" cy="16451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lIns="90000" tIns="36000" bIns="36000" anchor="ctr" anchorCtr="0"/>
          <a:lstStyle>
            <a:lvl1pPr marL="114267" indent="-114267" algn="ctr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83" indent="-285750" algn="l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Santander Text" panose="020B0504020201020104" pitchFamily="34" charset="0"/>
              </a:rPr>
              <a:t>Acompanhamento</a:t>
            </a:r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Santander Text" panose="020B0504020201020104" pitchFamily="34" charset="0"/>
              </a:rPr>
              <a:t> de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Santander Text" panose="020B0504020201020104" pitchFamily="34" charset="0"/>
              </a:rPr>
              <a:t>c</a:t>
            </a:r>
            <a:r>
              <a:rPr lang="en-US" sz="1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Santander Text" panose="020B0504020201020104" pitchFamily="34" charset="0"/>
              </a:rPr>
              <a:t>ontrolos</a:t>
            </a:r>
            <a:r>
              <a:rPr 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Santander Text" panose="020B0504020201020104" pitchFamily="34" charset="0"/>
              </a:rPr>
              <a:t> 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Santander Text" panose="020B0504020201020104" pitchFamily="34" charset="0"/>
              </a:rPr>
              <a:t>e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Santander Text" panose="020B0504020201020104" pitchFamily="34" charset="0"/>
              </a:rPr>
              <a:t>remediação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Santander Text" panose="020B0504020201020104" pitchFamily="34" charset="0"/>
              </a:rPr>
              <a:t>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Santander Text" panose="020B0504020201020104" pitchFamily="34" charset="0"/>
              </a:rPr>
              <a:t>decorrente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Santander Text" panose="020B0504020201020104" pitchFamily="34" charset="0"/>
              </a:rPr>
              <a:t> da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Santander Text" panose="020B0504020201020104" pitchFamily="34" charset="0"/>
              </a:rPr>
              <a:t>introdução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Santander Text" panose="020B0504020201020104" pitchFamily="34" charset="0"/>
              </a:rPr>
              <a:t> de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Santander Text" panose="020B0504020201020104" pitchFamily="34" charset="0"/>
              </a:rPr>
              <a:t>novos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Santander Text" panose="020B0504020201020104" pitchFamily="34" charset="0"/>
              </a:rPr>
              <a:t>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Santander Text" panose="020B0504020201020104" pitchFamily="34" charset="0"/>
              </a:rPr>
              <a:t>controlos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Santander Text" panose="020B0504020201020104" pitchFamily="34" charset="0"/>
              </a:rPr>
              <a:t> p/ 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Santander Text" panose="020B0504020201020104" pitchFamily="34" charset="0"/>
              </a:rPr>
              <a:t>Corporação</a:t>
            </a:r>
            <a:endParaRPr lang="pt-PT" sz="1400" b="0" dirty="0">
              <a:solidFill>
                <a:schemeClr val="accent1">
                  <a:lumMod val="60000"/>
                  <a:lumOff val="40000"/>
                </a:schemeClr>
              </a:solidFill>
              <a:latin typeface="Santander Text" panose="020B0504020201020104" pitchFamily="34" charset="0"/>
            </a:endParaRPr>
          </a:p>
          <a:p>
            <a:pPr marL="0" algn="l">
              <a:spcBef>
                <a:spcPts val="600"/>
              </a:spcBef>
              <a:defRPr/>
            </a:pPr>
            <a:endParaRPr lang="pt-PT" b="0" dirty="0">
              <a:latin typeface="Santander Text" panose="020B0504020201020104" pitchFamily="34" charset="0"/>
            </a:endParaRPr>
          </a:p>
          <a:p>
            <a:pPr marL="171483" indent="-285750" algn="l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pt-PT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Santander Text" panose="020B0504020201020104" pitchFamily="34" charset="0"/>
              </a:rPr>
              <a:t>Novos requisitos de campos da Corporação ou BCE, e/ou alteração de requisitos</a:t>
            </a:r>
            <a:endParaRPr lang="pt-PT" b="0" dirty="0">
              <a:solidFill>
                <a:schemeClr val="accent1">
                  <a:lumMod val="60000"/>
                  <a:lumOff val="40000"/>
                </a:schemeClr>
              </a:solidFill>
              <a:latin typeface="Santander Text" panose="020B0504020201020104" pitchFamily="34" charset="0"/>
            </a:endParaRPr>
          </a:p>
          <a:p>
            <a:pPr marL="0" algn="l">
              <a:spcBef>
                <a:spcPts val="600"/>
              </a:spcBef>
              <a:defRPr/>
            </a:pPr>
            <a:endParaRPr lang="pt-PT" b="0" dirty="0">
              <a:latin typeface="Santander Text" panose="020B0504020201020104" pitchFamily="34" charset="0"/>
            </a:endParaRPr>
          </a:p>
          <a:p>
            <a:pPr marL="171483" indent="-285750" algn="l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pt-PT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Santander Text" panose="020B0504020201020104" pitchFamily="34" charset="0"/>
              </a:rPr>
              <a:t>Implementação de atualizações &amp; correções dos sistemas locais fonte do Loan Tape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9E9601F-7AF4-0746-3C8D-4DDB5907A088}"/>
              </a:ext>
            </a:extLst>
          </p:cNvPr>
          <p:cNvSpPr>
            <a:spLocks/>
          </p:cNvSpPr>
          <p:nvPr/>
        </p:nvSpPr>
        <p:spPr>
          <a:xfrm>
            <a:off x="643228" y="4237703"/>
            <a:ext cx="1454721" cy="16451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629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antander Text" panose="020B0504020201020104" pitchFamily="34" charset="0"/>
                <a:sym typeface="Helvetica Light"/>
              </a:rPr>
              <a:t>BAU </a:t>
            </a:r>
            <a:r>
              <a:rPr kumimoji="0" lang="en-US" b="1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antander Text" panose="020B0504020201020104" pitchFamily="34" charset="0"/>
                <a:sym typeface="Helvetica Light"/>
              </a:rPr>
              <a:t>futuro</a:t>
            </a:r>
            <a:endParaRPr kumimoji="0" lang="en-US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antander Text" panose="020B0504020201020104" pitchFamily="34" charset="0"/>
              <a:sym typeface="Helvetica Ligh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BBA44D9-6D64-1F2A-15E2-6601A5EC89DD}"/>
              </a:ext>
            </a:extLst>
          </p:cNvPr>
          <p:cNvSpPr>
            <a:spLocks/>
          </p:cNvSpPr>
          <p:nvPr/>
        </p:nvSpPr>
        <p:spPr>
          <a:xfrm>
            <a:off x="643229" y="1242842"/>
            <a:ext cx="1454721" cy="2847377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629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antander Text" panose="020B0504020201020104" pitchFamily="34" charset="0"/>
                <a:sym typeface="Helvetica Light"/>
              </a:rPr>
              <a:t>Issues </a:t>
            </a:r>
            <a:r>
              <a:rPr kumimoji="0" lang="en-US" b="1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antander Text" panose="020B0504020201020104" pitchFamily="34" charset="0"/>
                <a:sym typeface="Helvetica Light"/>
              </a:rPr>
              <a:t>conhecidos</a:t>
            </a:r>
            <a:endParaRPr kumimoji="0" lang="en-US" b="1" i="0" u="none" strike="noStrike" kern="0" cap="none" spc="0" normalizeH="0" baseline="0" noProof="0">
              <a:ln>
                <a:noFill/>
              </a:ln>
              <a:solidFill>
                <a:srgbClr val="009FDF"/>
              </a:solidFill>
              <a:effectLst/>
              <a:uLnTx/>
              <a:uFillTx/>
              <a:latin typeface="Muli Light" panose="00000400000000000000" pitchFamily="2" charset="0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37372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D051AEB2C48B458F82B58F7F6D9A00" ma:contentTypeVersion="15" ma:contentTypeDescription="Create a new document." ma:contentTypeScope="" ma:versionID="227ef61e06442c04571c71c62bc066b5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664ccac259a9ef08632df25fa10eaa8b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446D80-D160-4EC1-A749-2C84956B70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9b50dc7-8f72-473c-8b7e-4a8c46ecad32"/>
    <ds:schemaRef ds:uri="7b1ec8e5-5652-48eb-8550-a56a35f5f8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B6808E-2F30-4A3E-86D7-9BE6F24DF713}">
  <ds:schemaRefs>
    <ds:schemaRef ds:uri="36f06fad-a3f3-433d-bd35-21b3198b5047"/>
    <ds:schemaRef ds:uri="7b1ec8e5-5652-48eb-8550-a56a35f5f817"/>
    <ds:schemaRef ds:uri="92ce4f26-e8d8-41a4-bd51-f768a736b05c"/>
    <ds:schemaRef ds:uri="a9b50dc7-8f72-473c-8b7e-4a8c46ecad3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4977CA2D-DDA6-4B62-8B11-431A258D07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1727</Words>
  <Application>Microsoft Office PowerPoint</Application>
  <PresentationFormat>Custom</PresentationFormat>
  <Paragraphs>218</Paragraphs>
  <Slides>13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Muli Light</vt:lpstr>
      <vt:lpstr>Santander Headline</vt:lpstr>
      <vt:lpstr>Santander Text</vt:lpstr>
      <vt:lpstr>Wingdings</vt:lpstr>
      <vt:lpstr>Tema de Office</vt:lpstr>
      <vt:lpstr>1_Tema de Office</vt:lpstr>
      <vt:lpstr>Diapositiva de think-cell</vt:lpstr>
      <vt:lpstr>Projeto Loan Tape BCE: Ponto de situação</vt:lpstr>
      <vt:lpstr>PowerPoint Presentation</vt:lpstr>
      <vt:lpstr>PowerPoint Presentation</vt:lpstr>
      <vt:lpstr>Projeto Loan Tape </vt:lpstr>
      <vt:lpstr>PowerPoint Presentation</vt:lpstr>
      <vt:lpstr>PowerPoint Presentation</vt:lpstr>
      <vt:lpstr>PowerPoint Presentation</vt:lpstr>
      <vt:lpstr>OSI SCIB – Plano de remediação</vt:lpstr>
      <vt:lpstr>PowerPoint Presentation</vt:lpstr>
      <vt:lpstr>PowerPoint Presentation</vt:lpstr>
      <vt:lpstr>PowerPoint Presentation</vt:lpstr>
      <vt:lpstr>Próximos passos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Marta Rafaela Teixeira Nunes</cp:lastModifiedBy>
  <cp:revision>1</cp:revision>
  <dcterms:created xsi:type="dcterms:W3CDTF">2018-03-19T11:10:43Z</dcterms:created>
  <dcterms:modified xsi:type="dcterms:W3CDTF">2025-08-29T13:33:43Z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0x010100C6D051AEB2C48B458F82B58F7F6D9A00</vt:lpwstr>
  </property>
  <property fmtid="{D5CDD505-2E9C-101B-9397-08002B2CF9AE}" pid="4" name="MSIP_Label_41b88ec2-a72b-4523-9e84-0458a1764731_Enabled">
    <vt:lpwstr>true</vt:lpwstr>
  </property>
  <property fmtid="{D5CDD505-2E9C-101B-9397-08002B2CF9AE}" pid="5" name="MSIP_Label_41b88ec2-a72b-4523-9e84-0458a1764731_SetDate">
    <vt:lpwstr>2025-01-15T08:20:41Z</vt:lpwstr>
  </property>
  <property fmtid="{D5CDD505-2E9C-101B-9397-08002B2CF9AE}" pid="6" name="MSIP_Label_41b88ec2-a72b-4523-9e84-0458a1764731_Method">
    <vt:lpwstr>Privileged</vt:lpwstr>
  </property>
  <property fmtid="{D5CDD505-2E9C-101B-9397-08002B2CF9AE}" pid="7" name="MSIP_Label_41b88ec2-a72b-4523-9e84-0458a1764731_Name">
    <vt:lpwstr>Public O365</vt:lpwstr>
  </property>
  <property fmtid="{D5CDD505-2E9C-101B-9397-08002B2CF9AE}" pid="8" name="MSIP_Label_41b88ec2-a72b-4523-9e84-0458a1764731_SiteId">
    <vt:lpwstr>35595a02-4d6d-44ac-99e1-f9ab4cd872db</vt:lpwstr>
  </property>
  <property fmtid="{D5CDD505-2E9C-101B-9397-08002B2CF9AE}" pid="9" name="MSIP_Label_41b88ec2-a72b-4523-9e84-0458a1764731_ActionId">
    <vt:lpwstr>84a1c6fa-9f87-40f1-a9d3-8db2074c41f7</vt:lpwstr>
  </property>
  <property fmtid="{D5CDD505-2E9C-101B-9397-08002B2CF9AE}" pid="10" name="MSIP_Label_41b88ec2-a72b-4523-9e84-0458a1764731_ContentBits">
    <vt:lpwstr>0</vt:lpwstr>
  </property>
</Properties>
</file>