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xlsm" ContentType="application/vnd.ms-excel.sheet.macroEnabled.12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61" r:id="rId5"/>
    <p:sldId id="479" r:id="rId6"/>
    <p:sldId id="480" r:id="rId7"/>
    <p:sldId id="494" r:id="rId8"/>
    <p:sldId id="503" r:id="rId9"/>
    <p:sldId id="265" r:id="rId10"/>
    <p:sldId id="502" r:id="rId11"/>
    <p:sldId id="481" r:id="rId12"/>
    <p:sldId id="505" r:id="rId13"/>
    <p:sldId id="506" r:id="rId14"/>
    <p:sldId id="507" r:id="rId15"/>
    <p:sldId id="508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1E1"/>
    <a:srgbClr val="E0BABA"/>
    <a:srgbClr val="FF6D6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B7E649-5C5C-4388-B312-D20A0297FC5D}" v="7" dt="2021-06-18T11:18:54.1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oma Munoz" userId="54ac8f13-96be-4170-bf4b-04de0597c433" providerId="ADAL" clId="{42B7E649-5C5C-4388-B312-D20A0297FC5D}"/>
    <pc:docChg chg="custSel modSld">
      <pc:chgData name="Paloma Munoz" userId="54ac8f13-96be-4170-bf4b-04de0597c433" providerId="ADAL" clId="{42B7E649-5C5C-4388-B312-D20A0297FC5D}" dt="2021-06-18T11:21:37.862" v="146" actId="14100"/>
      <pc:docMkLst>
        <pc:docMk/>
      </pc:docMkLst>
      <pc:sldChg chg="addSp delSp modSp">
        <pc:chgData name="Paloma Munoz" userId="54ac8f13-96be-4170-bf4b-04de0597c433" providerId="ADAL" clId="{42B7E649-5C5C-4388-B312-D20A0297FC5D}" dt="2021-06-18T11:21:37.862" v="146" actId="14100"/>
        <pc:sldMkLst>
          <pc:docMk/>
          <pc:sldMk cId="1922680591" sldId="494"/>
        </pc:sldMkLst>
        <pc:spChg chg="add mod">
          <ac:chgData name="Paloma Munoz" userId="54ac8f13-96be-4170-bf4b-04de0597c433" providerId="ADAL" clId="{42B7E649-5C5C-4388-B312-D20A0297FC5D}" dt="2021-06-18T11:21:37.862" v="146" actId="14100"/>
          <ac:spMkLst>
            <pc:docMk/>
            <pc:sldMk cId="1922680591" sldId="494"/>
            <ac:spMk id="7" creationId="{3A9A42C3-C680-4C41-8461-6E329578182B}"/>
          </ac:spMkLst>
        </pc:spChg>
        <pc:spChg chg="mod">
          <ac:chgData name="Paloma Munoz" userId="54ac8f13-96be-4170-bf4b-04de0597c433" providerId="ADAL" clId="{42B7E649-5C5C-4388-B312-D20A0297FC5D}" dt="2021-06-18T11:20:06.393" v="135" actId="1036"/>
          <ac:spMkLst>
            <pc:docMk/>
            <pc:sldMk cId="1922680591" sldId="494"/>
            <ac:spMk id="12" creationId="{D83D1D93-9063-44F9-ACB3-DF2E7A82829D}"/>
          </ac:spMkLst>
        </pc:spChg>
        <pc:spChg chg="mod">
          <ac:chgData name="Paloma Munoz" userId="54ac8f13-96be-4170-bf4b-04de0597c433" providerId="ADAL" clId="{42B7E649-5C5C-4388-B312-D20A0297FC5D}" dt="2021-06-18T11:20:06.393" v="135" actId="1036"/>
          <ac:spMkLst>
            <pc:docMk/>
            <pc:sldMk cId="1922680591" sldId="494"/>
            <ac:spMk id="24" creationId="{601215BA-5B4A-43DF-90CD-42371A41372A}"/>
          </ac:spMkLst>
        </pc:spChg>
        <pc:spChg chg="mod">
          <ac:chgData name="Paloma Munoz" userId="54ac8f13-96be-4170-bf4b-04de0597c433" providerId="ADAL" clId="{42B7E649-5C5C-4388-B312-D20A0297FC5D}" dt="2021-06-18T11:20:06.393" v="135" actId="1036"/>
          <ac:spMkLst>
            <pc:docMk/>
            <pc:sldMk cId="1922680591" sldId="494"/>
            <ac:spMk id="56" creationId="{18F36295-5C13-4B5A-986B-859F1C497797}"/>
          </ac:spMkLst>
        </pc:spChg>
        <pc:graphicFrameChg chg="del">
          <ac:chgData name="Paloma Munoz" userId="54ac8f13-96be-4170-bf4b-04de0597c433" providerId="ADAL" clId="{42B7E649-5C5C-4388-B312-D20A0297FC5D}" dt="2021-06-18T11:17:15.011" v="0" actId="478"/>
          <ac:graphicFrameMkLst>
            <pc:docMk/>
            <pc:sldMk cId="1922680591" sldId="494"/>
            <ac:graphicFrameMk id="5" creationId="{B9C6021F-4AA4-4F91-A812-265D16B256AF}"/>
          </ac:graphicFrameMkLst>
        </pc:graphicFrameChg>
        <pc:graphicFrameChg chg="add mod">
          <ac:chgData name="Paloma Munoz" userId="54ac8f13-96be-4170-bf4b-04de0597c433" providerId="ADAL" clId="{42B7E649-5C5C-4388-B312-D20A0297FC5D}" dt="2021-06-18T11:17:56.457" v="2" actId="1076"/>
          <ac:graphicFrameMkLst>
            <pc:docMk/>
            <pc:sldMk cId="1922680591" sldId="494"/>
            <ac:graphicFrameMk id="6" creationId="{0E30C671-54FF-4B7D-A8F5-C01B8753D377}"/>
          </ac:graphicFrameMkLst>
        </pc:graphicFrameChg>
      </pc:sldChg>
    </pc:docChg>
  </pc:docChgLst>
  <pc:docChgLst>
    <pc:chgData name="Paloma Munoz" userId="54ac8f13-96be-4170-bf4b-04de0597c433" providerId="ADAL" clId="{007F6C22-ACF2-4F60-8C70-9740FE72B805}"/>
    <pc:docChg chg="undo custSel addSld delSld modSld">
      <pc:chgData name="Paloma Munoz" userId="54ac8f13-96be-4170-bf4b-04de0597c433" providerId="ADAL" clId="{007F6C22-ACF2-4F60-8C70-9740FE72B805}" dt="2021-06-17T17:22:36.824" v="16"/>
      <pc:docMkLst>
        <pc:docMk/>
      </pc:docMkLst>
      <pc:sldChg chg="delSp add del">
        <pc:chgData name="Paloma Munoz" userId="54ac8f13-96be-4170-bf4b-04de0597c433" providerId="ADAL" clId="{007F6C22-ACF2-4F60-8C70-9740FE72B805}" dt="2021-06-17T17:10:18.021" v="6" actId="478"/>
        <pc:sldMkLst>
          <pc:docMk/>
          <pc:sldMk cId="680058750" sldId="481"/>
        </pc:sldMkLst>
        <pc:spChg chg="del">
          <ac:chgData name="Paloma Munoz" userId="54ac8f13-96be-4170-bf4b-04de0597c433" providerId="ADAL" clId="{007F6C22-ACF2-4F60-8C70-9740FE72B805}" dt="2021-06-17T17:10:18.021" v="6" actId="478"/>
          <ac:spMkLst>
            <pc:docMk/>
            <pc:sldMk cId="680058750" sldId="481"/>
            <ac:spMk id="2" creationId="{4F83629F-2B1A-46D1-A765-6B0E67DF18F0}"/>
          </ac:spMkLst>
        </pc:spChg>
        <pc:spChg chg="del">
          <ac:chgData name="Paloma Munoz" userId="54ac8f13-96be-4170-bf4b-04de0597c433" providerId="ADAL" clId="{007F6C22-ACF2-4F60-8C70-9740FE72B805}" dt="2021-06-17T17:10:18.021" v="6" actId="478"/>
          <ac:spMkLst>
            <pc:docMk/>
            <pc:sldMk cId="680058750" sldId="481"/>
            <ac:spMk id="6" creationId="{E1397214-CF1E-426F-AA60-688653ECCDB8}"/>
          </ac:spMkLst>
        </pc:spChg>
        <pc:spChg chg="del">
          <ac:chgData name="Paloma Munoz" userId="54ac8f13-96be-4170-bf4b-04de0597c433" providerId="ADAL" clId="{007F6C22-ACF2-4F60-8C70-9740FE72B805}" dt="2021-06-17T17:10:18.021" v="6" actId="478"/>
          <ac:spMkLst>
            <pc:docMk/>
            <pc:sldMk cId="680058750" sldId="481"/>
            <ac:spMk id="7" creationId="{C4EA4EB1-886A-46DD-BEB3-9AEB24E252E3}"/>
          </ac:spMkLst>
        </pc:spChg>
        <pc:spChg chg="del">
          <ac:chgData name="Paloma Munoz" userId="54ac8f13-96be-4170-bf4b-04de0597c433" providerId="ADAL" clId="{007F6C22-ACF2-4F60-8C70-9740FE72B805}" dt="2021-06-17T17:10:18.021" v="6" actId="478"/>
          <ac:spMkLst>
            <pc:docMk/>
            <pc:sldMk cId="680058750" sldId="481"/>
            <ac:spMk id="8" creationId="{4D4847D1-3630-4DD4-BA25-6C9A851BA69F}"/>
          </ac:spMkLst>
        </pc:spChg>
        <pc:spChg chg="del">
          <ac:chgData name="Paloma Munoz" userId="54ac8f13-96be-4170-bf4b-04de0597c433" providerId="ADAL" clId="{007F6C22-ACF2-4F60-8C70-9740FE72B805}" dt="2021-06-17T17:10:18.021" v="6" actId="478"/>
          <ac:spMkLst>
            <pc:docMk/>
            <pc:sldMk cId="680058750" sldId="481"/>
            <ac:spMk id="9" creationId="{DB067785-C7C6-48D0-A8CD-ABD72F70F06E}"/>
          </ac:spMkLst>
        </pc:spChg>
      </pc:sldChg>
      <pc:sldChg chg="addSp delSp modSp">
        <pc:chgData name="Paloma Munoz" userId="54ac8f13-96be-4170-bf4b-04de0597c433" providerId="ADAL" clId="{007F6C22-ACF2-4F60-8C70-9740FE72B805}" dt="2021-06-17T17:22:36.824" v="16"/>
        <pc:sldMkLst>
          <pc:docMk/>
          <pc:sldMk cId="1922680591" sldId="494"/>
        </pc:sldMkLst>
        <pc:spChg chg="add del">
          <ac:chgData name="Paloma Munoz" userId="54ac8f13-96be-4170-bf4b-04de0597c433" providerId="ADAL" clId="{007F6C22-ACF2-4F60-8C70-9740FE72B805}" dt="2021-06-17T17:22:36.478" v="15" actId="478"/>
          <ac:spMkLst>
            <pc:docMk/>
            <pc:sldMk cId="1922680591" sldId="494"/>
            <ac:spMk id="21" creationId="{253AF848-415F-458A-9E99-4980B9C3331B}"/>
          </ac:spMkLst>
        </pc:spChg>
        <pc:spChg chg="mod">
          <ac:chgData name="Paloma Munoz" userId="54ac8f13-96be-4170-bf4b-04de0597c433" providerId="ADAL" clId="{007F6C22-ACF2-4F60-8C70-9740FE72B805}" dt="2021-06-17T17:18:44.004" v="12" actId="113"/>
          <ac:spMkLst>
            <pc:docMk/>
            <pc:sldMk cId="1922680591" sldId="494"/>
            <ac:spMk id="23" creationId="{E3786CCB-FDE5-4A1B-B330-5BBEC34D15F5}"/>
          </ac:spMkLst>
        </pc:spChg>
        <pc:graphicFrameChg chg="add del mod">
          <ac:chgData name="Paloma Munoz" userId="54ac8f13-96be-4170-bf4b-04de0597c433" providerId="ADAL" clId="{007F6C22-ACF2-4F60-8C70-9740FE72B805}" dt="2021-06-17T17:22:36.824" v="16"/>
          <ac:graphicFrameMkLst>
            <pc:docMk/>
            <pc:sldMk cId="1922680591" sldId="494"/>
            <ac:graphicFrameMk id="5" creationId="{B9C6021F-4AA4-4F91-A812-265D16B256AF}"/>
          </ac:graphicFrameMkLst>
        </pc:graphicFrameChg>
      </pc:sldChg>
      <pc:sldChg chg="delSp add del">
        <pc:chgData name="Paloma Munoz" userId="54ac8f13-96be-4170-bf4b-04de0597c433" providerId="ADAL" clId="{007F6C22-ACF2-4F60-8C70-9740FE72B805}" dt="2021-06-17T17:10:29.751" v="9" actId="478"/>
        <pc:sldMkLst>
          <pc:docMk/>
          <pc:sldMk cId="3152560603" sldId="505"/>
        </pc:sldMkLst>
        <pc:spChg chg="del">
          <ac:chgData name="Paloma Munoz" userId="54ac8f13-96be-4170-bf4b-04de0597c433" providerId="ADAL" clId="{007F6C22-ACF2-4F60-8C70-9740FE72B805}" dt="2021-06-17T17:10:29.751" v="9" actId="478"/>
          <ac:spMkLst>
            <pc:docMk/>
            <pc:sldMk cId="3152560603" sldId="505"/>
            <ac:spMk id="2" creationId="{4F83629F-2B1A-46D1-A765-6B0E67DF18F0}"/>
          </ac:spMkLst>
        </pc:spChg>
        <pc:spChg chg="del">
          <ac:chgData name="Paloma Munoz" userId="54ac8f13-96be-4170-bf4b-04de0597c433" providerId="ADAL" clId="{007F6C22-ACF2-4F60-8C70-9740FE72B805}" dt="2021-06-17T17:10:29.751" v="9" actId="478"/>
          <ac:spMkLst>
            <pc:docMk/>
            <pc:sldMk cId="3152560603" sldId="505"/>
            <ac:spMk id="6" creationId="{E1397214-CF1E-426F-AA60-688653ECCDB8}"/>
          </ac:spMkLst>
        </pc:spChg>
        <pc:spChg chg="del">
          <ac:chgData name="Paloma Munoz" userId="54ac8f13-96be-4170-bf4b-04de0597c433" providerId="ADAL" clId="{007F6C22-ACF2-4F60-8C70-9740FE72B805}" dt="2021-06-17T17:10:29.751" v="9" actId="478"/>
          <ac:spMkLst>
            <pc:docMk/>
            <pc:sldMk cId="3152560603" sldId="505"/>
            <ac:spMk id="7" creationId="{C4EA4EB1-886A-46DD-BEB3-9AEB24E252E3}"/>
          </ac:spMkLst>
        </pc:spChg>
        <pc:spChg chg="del">
          <ac:chgData name="Paloma Munoz" userId="54ac8f13-96be-4170-bf4b-04de0597c433" providerId="ADAL" clId="{007F6C22-ACF2-4F60-8C70-9740FE72B805}" dt="2021-06-17T17:10:29.751" v="9" actId="478"/>
          <ac:spMkLst>
            <pc:docMk/>
            <pc:sldMk cId="3152560603" sldId="505"/>
            <ac:spMk id="8" creationId="{4D4847D1-3630-4DD4-BA25-6C9A851BA69F}"/>
          </ac:spMkLst>
        </pc:spChg>
        <pc:spChg chg="del">
          <ac:chgData name="Paloma Munoz" userId="54ac8f13-96be-4170-bf4b-04de0597c433" providerId="ADAL" clId="{007F6C22-ACF2-4F60-8C70-9740FE72B805}" dt="2021-06-17T17:10:29.751" v="9" actId="478"/>
          <ac:spMkLst>
            <pc:docMk/>
            <pc:sldMk cId="3152560603" sldId="505"/>
            <ac:spMk id="9" creationId="{DB067785-C7C6-48D0-A8CD-ABD72F70F06E}"/>
          </ac:spMkLst>
        </pc:spChg>
      </pc:sldChg>
      <pc:sldChg chg="delSp add del">
        <pc:chgData name="Paloma Munoz" userId="54ac8f13-96be-4170-bf4b-04de0597c433" providerId="ADAL" clId="{007F6C22-ACF2-4F60-8C70-9740FE72B805}" dt="2021-06-17T17:10:26.070" v="8" actId="478"/>
        <pc:sldMkLst>
          <pc:docMk/>
          <pc:sldMk cId="2165218621" sldId="506"/>
        </pc:sldMkLst>
        <pc:spChg chg="del">
          <ac:chgData name="Paloma Munoz" userId="54ac8f13-96be-4170-bf4b-04de0597c433" providerId="ADAL" clId="{007F6C22-ACF2-4F60-8C70-9740FE72B805}" dt="2021-06-17T17:10:26.070" v="8" actId="478"/>
          <ac:spMkLst>
            <pc:docMk/>
            <pc:sldMk cId="2165218621" sldId="506"/>
            <ac:spMk id="2" creationId="{4F83629F-2B1A-46D1-A765-6B0E67DF18F0}"/>
          </ac:spMkLst>
        </pc:spChg>
        <pc:spChg chg="del">
          <ac:chgData name="Paloma Munoz" userId="54ac8f13-96be-4170-bf4b-04de0597c433" providerId="ADAL" clId="{007F6C22-ACF2-4F60-8C70-9740FE72B805}" dt="2021-06-17T17:10:26.070" v="8" actId="478"/>
          <ac:spMkLst>
            <pc:docMk/>
            <pc:sldMk cId="2165218621" sldId="506"/>
            <ac:spMk id="6" creationId="{E1397214-CF1E-426F-AA60-688653ECCDB8}"/>
          </ac:spMkLst>
        </pc:spChg>
        <pc:spChg chg="del">
          <ac:chgData name="Paloma Munoz" userId="54ac8f13-96be-4170-bf4b-04de0597c433" providerId="ADAL" clId="{007F6C22-ACF2-4F60-8C70-9740FE72B805}" dt="2021-06-17T17:10:26.070" v="8" actId="478"/>
          <ac:spMkLst>
            <pc:docMk/>
            <pc:sldMk cId="2165218621" sldId="506"/>
            <ac:spMk id="7" creationId="{C4EA4EB1-886A-46DD-BEB3-9AEB24E252E3}"/>
          </ac:spMkLst>
        </pc:spChg>
        <pc:spChg chg="del">
          <ac:chgData name="Paloma Munoz" userId="54ac8f13-96be-4170-bf4b-04de0597c433" providerId="ADAL" clId="{007F6C22-ACF2-4F60-8C70-9740FE72B805}" dt="2021-06-17T17:10:26.070" v="8" actId="478"/>
          <ac:spMkLst>
            <pc:docMk/>
            <pc:sldMk cId="2165218621" sldId="506"/>
            <ac:spMk id="8" creationId="{4D4847D1-3630-4DD4-BA25-6C9A851BA69F}"/>
          </ac:spMkLst>
        </pc:spChg>
        <pc:spChg chg="del">
          <ac:chgData name="Paloma Munoz" userId="54ac8f13-96be-4170-bf4b-04de0597c433" providerId="ADAL" clId="{007F6C22-ACF2-4F60-8C70-9740FE72B805}" dt="2021-06-17T17:10:26.070" v="8" actId="478"/>
          <ac:spMkLst>
            <pc:docMk/>
            <pc:sldMk cId="2165218621" sldId="506"/>
            <ac:spMk id="9" creationId="{DB067785-C7C6-48D0-A8CD-ABD72F70F06E}"/>
          </ac:spMkLst>
        </pc:spChg>
      </pc:sldChg>
      <pc:sldChg chg="delSp add del">
        <pc:chgData name="Paloma Munoz" userId="54ac8f13-96be-4170-bf4b-04de0597c433" providerId="ADAL" clId="{007F6C22-ACF2-4F60-8C70-9740FE72B805}" dt="2021-06-17T17:10:22.223" v="7" actId="478"/>
        <pc:sldMkLst>
          <pc:docMk/>
          <pc:sldMk cId="520927349" sldId="507"/>
        </pc:sldMkLst>
        <pc:spChg chg="del">
          <ac:chgData name="Paloma Munoz" userId="54ac8f13-96be-4170-bf4b-04de0597c433" providerId="ADAL" clId="{007F6C22-ACF2-4F60-8C70-9740FE72B805}" dt="2021-06-17T17:10:22.223" v="7" actId="478"/>
          <ac:spMkLst>
            <pc:docMk/>
            <pc:sldMk cId="520927349" sldId="507"/>
            <ac:spMk id="2" creationId="{4F83629F-2B1A-46D1-A765-6B0E67DF18F0}"/>
          </ac:spMkLst>
        </pc:spChg>
        <pc:spChg chg="del">
          <ac:chgData name="Paloma Munoz" userId="54ac8f13-96be-4170-bf4b-04de0597c433" providerId="ADAL" clId="{007F6C22-ACF2-4F60-8C70-9740FE72B805}" dt="2021-06-17T17:10:22.223" v="7" actId="478"/>
          <ac:spMkLst>
            <pc:docMk/>
            <pc:sldMk cId="520927349" sldId="507"/>
            <ac:spMk id="6" creationId="{E1397214-CF1E-426F-AA60-688653ECCDB8}"/>
          </ac:spMkLst>
        </pc:spChg>
        <pc:spChg chg="del">
          <ac:chgData name="Paloma Munoz" userId="54ac8f13-96be-4170-bf4b-04de0597c433" providerId="ADAL" clId="{007F6C22-ACF2-4F60-8C70-9740FE72B805}" dt="2021-06-17T17:10:22.223" v="7" actId="478"/>
          <ac:spMkLst>
            <pc:docMk/>
            <pc:sldMk cId="520927349" sldId="507"/>
            <ac:spMk id="7" creationId="{C4EA4EB1-886A-46DD-BEB3-9AEB24E252E3}"/>
          </ac:spMkLst>
        </pc:spChg>
        <pc:spChg chg="del">
          <ac:chgData name="Paloma Munoz" userId="54ac8f13-96be-4170-bf4b-04de0597c433" providerId="ADAL" clId="{007F6C22-ACF2-4F60-8C70-9740FE72B805}" dt="2021-06-17T17:10:22.223" v="7" actId="478"/>
          <ac:spMkLst>
            <pc:docMk/>
            <pc:sldMk cId="520927349" sldId="507"/>
            <ac:spMk id="8" creationId="{4D4847D1-3630-4DD4-BA25-6C9A851BA69F}"/>
          </ac:spMkLst>
        </pc:spChg>
        <pc:spChg chg="del">
          <ac:chgData name="Paloma Munoz" userId="54ac8f13-96be-4170-bf4b-04de0597c433" providerId="ADAL" clId="{007F6C22-ACF2-4F60-8C70-9740FE72B805}" dt="2021-06-17T17:10:22.223" v="7" actId="478"/>
          <ac:spMkLst>
            <pc:docMk/>
            <pc:sldMk cId="520927349" sldId="507"/>
            <ac:spMk id="9" creationId="{DB067785-C7C6-48D0-A8CD-ABD72F70F06E}"/>
          </ac:spMkLst>
        </pc:spChg>
      </pc:sldChg>
      <pc:sldChg chg="delSp add del">
        <pc:chgData name="Paloma Munoz" userId="54ac8f13-96be-4170-bf4b-04de0597c433" providerId="ADAL" clId="{007F6C22-ACF2-4F60-8C70-9740FE72B805}" dt="2021-06-17T17:10:44.245" v="10" actId="478"/>
        <pc:sldMkLst>
          <pc:docMk/>
          <pc:sldMk cId="4095836712" sldId="508"/>
        </pc:sldMkLst>
        <pc:spChg chg="del">
          <ac:chgData name="Paloma Munoz" userId="54ac8f13-96be-4170-bf4b-04de0597c433" providerId="ADAL" clId="{007F6C22-ACF2-4F60-8C70-9740FE72B805}" dt="2021-06-17T17:10:44.245" v="10" actId="478"/>
          <ac:spMkLst>
            <pc:docMk/>
            <pc:sldMk cId="4095836712" sldId="508"/>
            <ac:spMk id="2" creationId="{4F83629F-2B1A-46D1-A765-6B0E67DF18F0}"/>
          </ac:spMkLst>
        </pc:spChg>
        <pc:spChg chg="del">
          <ac:chgData name="Paloma Munoz" userId="54ac8f13-96be-4170-bf4b-04de0597c433" providerId="ADAL" clId="{007F6C22-ACF2-4F60-8C70-9740FE72B805}" dt="2021-06-17T17:10:44.245" v="10" actId="478"/>
          <ac:spMkLst>
            <pc:docMk/>
            <pc:sldMk cId="4095836712" sldId="508"/>
            <ac:spMk id="6" creationId="{E1397214-CF1E-426F-AA60-688653ECCDB8}"/>
          </ac:spMkLst>
        </pc:spChg>
        <pc:spChg chg="del">
          <ac:chgData name="Paloma Munoz" userId="54ac8f13-96be-4170-bf4b-04de0597c433" providerId="ADAL" clId="{007F6C22-ACF2-4F60-8C70-9740FE72B805}" dt="2021-06-17T17:10:44.245" v="10" actId="478"/>
          <ac:spMkLst>
            <pc:docMk/>
            <pc:sldMk cId="4095836712" sldId="508"/>
            <ac:spMk id="7" creationId="{C4EA4EB1-886A-46DD-BEB3-9AEB24E252E3}"/>
          </ac:spMkLst>
        </pc:spChg>
        <pc:spChg chg="del">
          <ac:chgData name="Paloma Munoz" userId="54ac8f13-96be-4170-bf4b-04de0597c433" providerId="ADAL" clId="{007F6C22-ACF2-4F60-8C70-9740FE72B805}" dt="2021-06-17T17:10:44.245" v="10" actId="478"/>
          <ac:spMkLst>
            <pc:docMk/>
            <pc:sldMk cId="4095836712" sldId="508"/>
            <ac:spMk id="8" creationId="{4D4847D1-3630-4DD4-BA25-6C9A851BA69F}"/>
          </ac:spMkLst>
        </pc:spChg>
        <pc:spChg chg="del">
          <ac:chgData name="Paloma Munoz" userId="54ac8f13-96be-4170-bf4b-04de0597c433" providerId="ADAL" clId="{007F6C22-ACF2-4F60-8C70-9740FE72B805}" dt="2021-06-17T17:10:44.245" v="10" actId="478"/>
          <ac:spMkLst>
            <pc:docMk/>
            <pc:sldMk cId="4095836712" sldId="508"/>
            <ac:spMk id="9" creationId="{DB067785-C7C6-48D0-A8CD-ABD72F70F06E}"/>
          </ac:spMkLst>
        </pc:sp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B0ACE7-A953-41E2-A7EA-5C32C9BC181D}" type="datetimeFigureOut">
              <a:rPr lang="es-ES" smtClean="0"/>
              <a:t>24/06/2021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23C3DF-F817-452D-B5DC-32772A816C3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395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42505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3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33401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4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337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5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828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7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9631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8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6196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9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9364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10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8428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11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46169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78D618-BBD3-4FF5-9218-0E9FEB4B2F82}" type="slidenum">
              <a:rPr lang="es-ES" smtClean="0">
                <a:solidFill>
                  <a:prstClr val="black"/>
                </a:solidFill>
              </a:rPr>
              <a:pPr/>
              <a:t>12</a:t>
            </a:fld>
            <a:endParaRPr lang="es-E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891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svg"/><Relationship Id="rId2" Type="http://schemas.openxmlformats.org/officeDocument/2006/relationships/tags" Target="../tags/tag8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8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9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9.bin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xmlns="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xmlns="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xmlns="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07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Gráfico 8">
            <a:extLst>
              <a:ext uri="{FF2B5EF4-FFF2-40B4-BE49-F238E27FC236}">
                <a16:creationId xmlns:a16="http://schemas.microsoft.com/office/drawing/2014/main" xmlns="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4" name="Marcador de texto 11">
            <a:extLst>
              <a:ext uri="{FF2B5EF4-FFF2-40B4-BE49-F238E27FC236}">
                <a16:creationId xmlns:a16="http://schemas.microsoft.com/office/drawing/2014/main" xmlns="" id="{0CC57AA0-6C3B-4C80-BF6B-C321A960A9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2641" y="1100239"/>
            <a:ext cx="10635843" cy="4906665"/>
          </a:xfrm>
        </p:spPr>
        <p:txBody>
          <a:bodyPr>
            <a:normAutofit/>
          </a:bodyPr>
          <a:lstStyle>
            <a:lvl1pPr marL="432000" indent="-396000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131131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dor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bre: forma 6">
            <a:extLst>
              <a:ext uri="{FF2B5EF4-FFF2-40B4-BE49-F238E27FC236}">
                <a16:creationId xmlns:a16="http://schemas.microsoft.com/office/drawing/2014/main" xmlns="" id="{49C540BB-A189-4361-ABD8-4DA84C6612C3}"/>
              </a:ext>
            </a:extLst>
          </p:cNvPr>
          <p:cNvSpPr/>
          <p:nvPr userDrawn="1"/>
        </p:nvSpPr>
        <p:spPr>
          <a:xfrm>
            <a:off x="3540548" y="0"/>
            <a:ext cx="8651452" cy="685800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045CB15-1F44-40E1-909E-6233010BC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9" y="626373"/>
            <a:ext cx="4386194" cy="2852737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xmlns="" id="{6E38BAEA-EEE9-4346-9DB7-91D26BC942D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270526"/>
            <a:ext cx="2958754" cy="236496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00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xmlns="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6" name="Forma libre: forma 6">
            <a:extLst>
              <a:ext uri="{FF2B5EF4-FFF2-40B4-BE49-F238E27FC236}">
                <a16:creationId xmlns:a16="http://schemas.microsoft.com/office/drawing/2014/main" xmlns="" id="{67D1300D-9BA1-4612-9EA5-90328019812E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74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5297557" cy="1606047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xmlns="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xmlns="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xmlns="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093562"/>
            <a:ext cx="5308776" cy="308340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xmlns="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087458"/>
            <a:ext cx="5081004" cy="508950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21395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7"/>
            <a:ext cx="10758733" cy="1823011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Aquí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xmlns="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xmlns="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xmlns="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093562"/>
            <a:ext cx="10758733" cy="3083401"/>
          </a:xfrm>
        </p:spPr>
        <p:txBody>
          <a:bodyPr numCol="2" spcCol="72000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6404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3" name="Objeto 2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0" y="1109759"/>
            <a:ext cx="3801119" cy="5050689"/>
          </a:xfrm>
        </p:spPr>
        <p:txBody>
          <a:bodyPr anchor="t">
            <a:noAutofit/>
          </a:bodyPr>
          <a:lstStyle>
            <a:lvl1pPr>
              <a:defRPr sz="2500" b="1">
                <a:solidFill>
                  <a:schemeClr val="accent3"/>
                </a:solidFill>
              </a:defRPr>
            </a:lvl1pPr>
          </a:lstStyle>
          <a:p>
            <a:r>
              <a:rPr lang="es-ES" dirty="0" err="1"/>
              <a:t>Lorem</a:t>
            </a:r>
            <a:r>
              <a:rPr lang="es-ES" dirty="0"/>
              <a:t> Haga clic para modificar el estilo de título del patrón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xmlns="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xmlns="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xmlns="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2" y="1126274"/>
            <a:ext cx="6697035" cy="5050690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421985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xmlns="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xmlns="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xmlns="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087458"/>
            <a:ext cx="3911401" cy="1183132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xmlns="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2517170"/>
            <a:ext cx="3911401" cy="365979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xmlns="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25" y="1087438"/>
            <a:ext cx="6683550" cy="5122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s-MX" dirty="0"/>
              <a:t>Inserte aqu</a:t>
            </a:r>
            <a:r>
              <a:rPr lang="es-ES" dirty="0"/>
              <a:t>í su gráfico</a:t>
            </a:r>
          </a:p>
        </p:txBody>
      </p:sp>
    </p:spTree>
    <p:extLst>
      <p:ext uri="{BB962C8B-B14F-4D97-AF65-F5344CB8AC3E}">
        <p14:creationId xmlns:p14="http://schemas.microsoft.com/office/powerpoint/2010/main" val="181417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xmlns="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xmlns="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xmlns="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498516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xmlns="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07776"/>
            <a:ext cx="6612965" cy="4502524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dirty="0"/>
              <a:t>Inserte aquí su tabla</a:t>
            </a:r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xmlns="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191802"/>
            <a:ext cx="6587576" cy="38150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57374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Gráfico 10">
            <a:extLst>
              <a:ext uri="{FF2B5EF4-FFF2-40B4-BE49-F238E27FC236}">
                <a16:creationId xmlns:a16="http://schemas.microsoft.com/office/drawing/2014/main" xmlns="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32642" y="6262326"/>
            <a:ext cx="1172108" cy="205543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xmlns="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4" y="337100"/>
            <a:ext cx="10758734" cy="304800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 sz="1100"/>
            </a:lvl2pPr>
            <a:lvl3pPr marL="914400" indent="0">
              <a:buFontTx/>
              <a:buNone/>
              <a:defRPr sz="1050"/>
            </a:lvl3pPr>
            <a:lvl4pPr marL="1371600" indent="0">
              <a:buFontTx/>
              <a:buNone/>
              <a:defRPr sz="1000"/>
            </a:lvl4pPr>
            <a:lvl5pPr marL="1828800" indent="0">
              <a:buFontTx/>
              <a:buNone/>
              <a:defRPr sz="1000"/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xmlns="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25" y="1191802"/>
            <a:ext cx="3911401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xmlns="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2" y="1191802"/>
            <a:ext cx="6456737" cy="65754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xmlns="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1993900"/>
            <a:ext cx="3911600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xmlns="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3" y="1993900"/>
            <a:ext cx="6472718" cy="3605788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400"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Inserte aquí su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xmlns="" id="{AEAA6F10-C407-4622-AF96-B2605139D86B}"/>
              </a:ext>
            </a:extLst>
          </p:cNvPr>
          <p:cNvSpPr/>
          <p:nvPr userDrawn="1"/>
        </p:nvSpPr>
        <p:spPr>
          <a:xfrm>
            <a:off x="4742395" y="3685061"/>
            <a:ext cx="187151" cy="207057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430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- Contac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xmlns="" id="{80DAC009-2BB8-4885-AC03-9FD05C47BE65}"/>
              </a:ext>
            </a:extLst>
          </p:cNvPr>
          <p:cNvSpPr/>
          <p:nvPr userDrawn="1"/>
        </p:nvSpPr>
        <p:spPr>
          <a:xfrm>
            <a:off x="820236" y="3464157"/>
            <a:ext cx="2446172" cy="248603"/>
          </a:xfrm>
          <a:custGeom>
            <a:avLst/>
            <a:gdLst/>
            <a:ahLst/>
            <a:cxnLst/>
            <a:rect l="l" t="t" r="r" b="b"/>
            <a:pathLst>
              <a:path w="2446172" h="248603">
                <a:moveTo>
                  <a:pt x="2218258" y="75686"/>
                </a:moveTo>
                <a:cubicBezTo>
                  <a:pt x="2202560" y="75848"/>
                  <a:pt x="2190935" y="80359"/>
                  <a:pt x="2183385" y="89222"/>
                </a:cubicBezTo>
                <a:cubicBezTo>
                  <a:pt x="2175835" y="98084"/>
                  <a:pt x="2172083" y="110330"/>
                  <a:pt x="2172129" y="125959"/>
                </a:cubicBezTo>
                <a:cubicBezTo>
                  <a:pt x="2172037" y="140289"/>
                  <a:pt x="2175052" y="151821"/>
                  <a:pt x="2181175" y="160557"/>
                </a:cubicBezTo>
                <a:cubicBezTo>
                  <a:pt x="2187298" y="169292"/>
                  <a:pt x="2197081" y="173781"/>
                  <a:pt x="2210524" y="174023"/>
                </a:cubicBezTo>
                <a:cubicBezTo>
                  <a:pt x="2216451" y="173988"/>
                  <a:pt x="2221861" y="173090"/>
                  <a:pt x="2226752" y="171329"/>
                </a:cubicBezTo>
                <a:cubicBezTo>
                  <a:pt x="2231644" y="169568"/>
                  <a:pt x="2236086" y="167151"/>
                  <a:pt x="2240080" y="164078"/>
                </a:cubicBezTo>
                <a:lnTo>
                  <a:pt x="2240080" y="77344"/>
                </a:lnTo>
                <a:cubicBezTo>
                  <a:pt x="2236926" y="76791"/>
                  <a:pt x="2233566" y="76377"/>
                  <a:pt x="2229998" y="76101"/>
                </a:cubicBezTo>
                <a:cubicBezTo>
                  <a:pt x="2226430" y="75825"/>
                  <a:pt x="2222517" y="75686"/>
                  <a:pt x="2218258" y="75686"/>
                </a:cubicBezTo>
                <a:close/>
                <a:moveTo>
                  <a:pt x="1789633" y="75686"/>
                </a:moveTo>
                <a:cubicBezTo>
                  <a:pt x="1773935" y="75848"/>
                  <a:pt x="1762310" y="80359"/>
                  <a:pt x="1754760" y="89222"/>
                </a:cubicBezTo>
                <a:cubicBezTo>
                  <a:pt x="1747210" y="98084"/>
                  <a:pt x="1743458" y="110330"/>
                  <a:pt x="1743504" y="125959"/>
                </a:cubicBezTo>
                <a:cubicBezTo>
                  <a:pt x="1743412" y="140289"/>
                  <a:pt x="1746427" y="151821"/>
                  <a:pt x="1752550" y="160557"/>
                </a:cubicBezTo>
                <a:cubicBezTo>
                  <a:pt x="1758673" y="169292"/>
                  <a:pt x="1768456" y="173781"/>
                  <a:pt x="1781899" y="174023"/>
                </a:cubicBezTo>
                <a:cubicBezTo>
                  <a:pt x="1787826" y="173988"/>
                  <a:pt x="1793236" y="173090"/>
                  <a:pt x="1798127" y="171329"/>
                </a:cubicBezTo>
                <a:cubicBezTo>
                  <a:pt x="1803019" y="169568"/>
                  <a:pt x="1807461" y="167151"/>
                  <a:pt x="1811455" y="164078"/>
                </a:cubicBezTo>
                <a:lnTo>
                  <a:pt x="1811455" y="77344"/>
                </a:lnTo>
                <a:cubicBezTo>
                  <a:pt x="1808302" y="76791"/>
                  <a:pt x="1804941" y="76377"/>
                  <a:pt x="1801373" y="76101"/>
                </a:cubicBezTo>
                <a:cubicBezTo>
                  <a:pt x="1797805" y="75825"/>
                  <a:pt x="1793892" y="75686"/>
                  <a:pt x="1789633" y="75686"/>
                </a:cubicBezTo>
                <a:close/>
                <a:moveTo>
                  <a:pt x="1469508" y="75686"/>
                </a:moveTo>
                <a:cubicBezTo>
                  <a:pt x="1455466" y="75859"/>
                  <a:pt x="1445085" y="80210"/>
                  <a:pt x="1438363" y="88738"/>
                </a:cubicBezTo>
                <a:cubicBezTo>
                  <a:pt x="1431642" y="97267"/>
                  <a:pt x="1428304" y="108937"/>
                  <a:pt x="1428350" y="123750"/>
                </a:cubicBezTo>
                <a:cubicBezTo>
                  <a:pt x="1428460" y="140663"/>
                  <a:pt x="1432108" y="153104"/>
                  <a:pt x="1439296" y="161075"/>
                </a:cubicBezTo>
                <a:cubicBezTo>
                  <a:pt x="1446483" y="169045"/>
                  <a:pt x="1456554" y="172993"/>
                  <a:pt x="1469508" y="172918"/>
                </a:cubicBezTo>
                <a:cubicBezTo>
                  <a:pt x="1483031" y="172762"/>
                  <a:pt x="1493136" y="168446"/>
                  <a:pt x="1499823" y="159970"/>
                </a:cubicBezTo>
                <a:cubicBezTo>
                  <a:pt x="1506510" y="151493"/>
                  <a:pt x="1509848" y="139788"/>
                  <a:pt x="1509836" y="124855"/>
                </a:cubicBezTo>
                <a:cubicBezTo>
                  <a:pt x="1509710" y="108062"/>
                  <a:pt x="1506096" y="95655"/>
                  <a:pt x="1498995" y="87633"/>
                </a:cubicBezTo>
                <a:cubicBezTo>
                  <a:pt x="1491894" y="79611"/>
                  <a:pt x="1482064" y="75629"/>
                  <a:pt x="1469508" y="75686"/>
                </a:cubicBezTo>
                <a:close/>
                <a:moveTo>
                  <a:pt x="523075" y="75686"/>
                </a:moveTo>
                <a:cubicBezTo>
                  <a:pt x="519478" y="75698"/>
                  <a:pt x="515968" y="75882"/>
                  <a:pt x="512544" y="76239"/>
                </a:cubicBezTo>
                <a:cubicBezTo>
                  <a:pt x="509120" y="76596"/>
                  <a:pt x="505817" y="77056"/>
                  <a:pt x="502634" y="77620"/>
                </a:cubicBezTo>
                <a:lnTo>
                  <a:pt x="502634" y="169879"/>
                </a:lnTo>
                <a:cubicBezTo>
                  <a:pt x="510092" y="171859"/>
                  <a:pt x="517551" y="172872"/>
                  <a:pt x="525009" y="172918"/>
                </a:cubicBezTo>
                <a:cubicBezTo>
                  <a:pt x="540212" y="172877"/>
                  <a:pt x="551653" y="168746"/>
                  <a:pt x="559330" y="160522"/>
                </a:cubicBezTo>
                <a:cubicBezTo>
                  <a:pt x="567006" y="152299"/>
                  <a:pt x="570851" y="140225"/>
                  <a:pt x="570862" y="124302"/>
                </a:cubicBezTo>
                <a:cubicBezTo>
                  <a:pt x="571012" y="109346"/>
                  <a:pt x="567329" y="97549"/>
                  <a:pt x="559813" y="88911"/>
                </a:cubicBezTo>
                <a:cubicBezTo>
                  <a:pt x="552297" y="80273"/>
                  <a:pt x="540051" y="75865"/>
                  <a:pt x="523075" y="75686"/>
                </a:cubicBezTo>
                <a:close/>
                <a:moveTo>
                  <a:pt x="1101204" y="75134"/>
                </a:moveTo>
                <a:cubicBezTo>
                  <a:pt x="1090460" y="75163"/>
                  <a:pt x="1082185" y="78213"/>
                  <a:pt x="1076379" y="84284"/>
                </a:cubicBezTo>
                <a:cubicBezTo>
                  <a:pt x="1070572" y="90355"/>
                  <a:pt x="1067062" y="99275"/>
                  <a:pt x="1065848" y="111043"/>
                </a:cubicBezTo>
                <a:lnTo>
                  <a:pt x="1134351" y="111043"/>
                </a:lnTo>
                <a:cubicBezTo>
                  <a:pt x="1134282" y="99637"/>
                  <a:pt x="1131382" y="90821"/>
                  <a:pt x="1125650" y="84595"/>
                </a:cubicBezTo>
                <a:cubicBezTo>
                  <a:pt x="1119919" y="78368"/>
                  <a:pt x="1111770" y="75215"/>
                  <a:pt x="1101204" y="75134"/>
                </a:cubicBezTo>
                <a:close/>
                <a:moveTo>
                  <a:pt x="748779" y="75134"/>
                </a:moveTo>
                <a:cubicBezTo>
                  <a:pt x="738035" y="75163"/>
                  <a:pt x="729760" y="78213"/>
                  <a:pt x="723954" y="84284"/>
                </a:cubicBezTo>
                <a:cubicBezTo>
                  <a:pt x="718147" y="90355"/>
                  <a:pt x="714637" y="99275"/>
                  <a:pt x="713423" y="111043"/>
                </a:cubicBezTo>
                <a:lnTo>
                  <a:pt x="781926" y="111043"/>
                </a:lnTo>
                <a:cubicBezTo>
                  <a:pt x="781857" y="99637"/>
                  <a:pt x="778957" y="90821"/>
                  <a:pt x="773225" y="84595"/>
                </a:cubicBezTo>
                <a:cubicBezTo>
                  <a:pt x="767494" y="78368"/>
                  <a:pt x="759345" y="75215"/>
                  <a:pt x="748779" y="75134"/>
                </a:cubicBezTo>
                <a:close/>
                <a:moveTo>
                  <a:pt x="2301050" y="53036"/>
                </a:moveTo>
                <a:lnTo>
                  <a:pt x="2331434" y="53036"/>
                </a:lnTo>
                <a:lnTo>
                  <a:pt x="2331434" y="195568"/>
                </a:lnTo>
                <a:lnTo>
                  <a:pt x="2301050" y="195568"/>
                </a:lnTo>
                <a:close/>
                <a:moveTo>
                  <a:pt x="157925" y="53036"/>
                </a:moveTo>
                <a:lnTo>
                  <a:pt x="188309" y="53036"/>
                </a:lnTo>
                <a:lnTo>
                  <a:pt x="188309" y="195568"/>
                </a:lnTo>
                <a:lnTo>
                  <a:pt x="157925" y="195568"/>
                </a:lnTo>
                <a:close/>
                <a:moveTo>
                  <a:pt x="2419655" y="49721"/>
                </a:moveTo>
                <a:cubicBezTo>
                  <a:pt x="2424454" y="49716"/>
                  <a:pt x="2429219" y="49796"/>
                  <a:pt x="2433950" y="49963"/>
                </a:cubicBezTo>
                <a:cubicBezTo>
                  <a:pt x="2438680" y="50130"/>
                  <a:pt x="2442754" y="50418"/>
                  <a:pt x="2446172" y="50826"/>
                </a:cubicBezTo>
                <a:cubicBezTo>
                  <a:pt x="2446161" y="55534"/>
                  <a:pt x="2445908" y="60275"/>
                  <a:pt x="2445413" y="65052"/>
                </a:cubicBezTo>
                <a:cubicBezTo>
                  <a:pt x="2444918" y="69828"/>
                  <a:pt x="2444250" y="73741"/>
                  <a:pt x="2443410" y="76791"/>
                </a:cubicBezTo>
                <a:cubicBezTo>
                  <a:pt x="2439848" y="76383"/>
                  <a:pt x="2436200" y="76095"/>
                  <a:pt x="2432465" y="75928"/>
                </a:cubicBezTo>
                <a:cubicBezTo>
                  <a:pt x="2428730" y="75761"/>
                  <a:pt x="2424736" y="75681"/>
                  <a:pt x="2420484" y="75686"/>
                </a:cubicBezTo>
                <a:cubicBezTo>
                  <a:pt x="2413026" y="75686"/>
                  <a:pt x="2405567" y="76239"/>
                  <a:pt x="2398109" y="77344"/>
                </a:cubicBezTo>
                <a:lnTo>
                  <a:pt x="2398109" y="195568"/>
                </a:lnTo>
                <a:lnTo>
                  <a:pt x="2367725" y="195568"/>
                </a:lnTo>
                <a:lnTo>
                  <a:pt x="2367725" y="57456"/>
                </a:lnTo>
                <a:cubicBezTo>
                  <a:pt x="2374498" y="55200"/>
                  <a:pt x="2382635" y="53358"/>
                  <a:pt x="2392136" y="51931"/>
                </a:cubicBezTo>
                <a:cubicBezTo>
                  <a:pt x="2401637" y="50504"/>
                  <a:pt x="2410810" y="49767"/>
                  <a:pt x="2419655" y="49721"/>
                </a:cubicBezTo>
                <a:close/>
                <a:moveTo>
                  <a:pt x="2218258" y="49721"/>
                </a:moveTo>
                <a:cubicBezTo>
                  <a:pt x="2228133" y="49698"/>
                  <a:pt x="2237318" y="50297"/>
                  <a:pt x="2245812" y="51517"/>
                </a:cubicBezTo>
                <a:cubicBezTo>
                  <a:pt x="2254306" y="52737"/>
                  <a:pt x="2262523" y="54716"/>
                  <a:pt x="2270465" y="57456"/>
                </a:cubicBezTo>
                <a:lnTo>
                  <a:pt x="2270465" y="195568"/>
                </a:lnTo>
                <a:lnTo>
                  <a:pt x="2242566" y="195568"/>
                </a:lnTo>
                <a:lnTo>
                  <a:pt x="2240909" y="178995"/>
                </a:lnTo>
                <a:cubicBezTo>
                  <a:pt x="2237111" y="185141"/>
                  <a:pt x="2232069" y="189975"/>
                  <a:pt x="2225785" y="193496"/>
                </a:cubicBezTo>
                <a:cubicBezTo>
                  <a:pt x="2219501" y="197018"/>
                  <a:pt x="2211560" y="198814"/>
                  <a:pt x="2201961" y="198883"/>
                </a:cubicBezTo>
                <a:cubicBezTo>
                  <a:pt x="2183477" y="198745"/>
                  <a:pt x="2168791" y="192392"/>
                  <a:pt x="2157903" y="179823"/>
                </a:cubicBezTo>
                <a:cubicBezTo>
                  <a:pt x="2147015" y="167255"/>
                  <a:pt x="2141445" y="149300"/>
                  <a:pt x="2141191" y="125959"/>
                </a:cubicBezTo>
                <a:cubicBezTo>
                  <a:pt x="2141209" y="101514"/>
                  <a:pt x="2147665" y="82730"/>
                  <a:pt x="2160562" y="69610"/>
                </a:cubicBezTo>
                <a:cubicBezTo>
                  <a:pt x="2173458" y="56489"/>
                  <a:pt x="2192690" y="49859"/>
                  <a:pt x="2218258" y="49721"/>
                </a:cubicBezTo>
                <a:close/>
                <a:moveTo>
                  <a:pt x="1789633" y="49721"/>
                </a:moveTo>
                <a:cubicBezTo>
                  <a:pt x="1799508" y="49698"/>
                  <a:pt x="1808693" y="50297"/>
                  <a:pt x="1817187" y="51517"/>
                </a:cubicBezTo>
                <a:cubicBezTo>
                  <a:pt x="1825681" y="52737"/>
                  <a:pt x="1833899" y="54716"/>
                  <a:pt x="1841840" y="57456"/>
                </a:cubicBezTo>
                <a:lnTo>
                  <a:pt x="1841840" y="195568"/>
                </a:lnTo>
                <a:lnTo>
                  <a:pt x="1813941" y="195568"/>
                </a:lnTo>
                <a:lnTo>
                  <a:pt x="1812284" y="178995"/>
                </a:lnTo>
                <a:cubicBezTo>
                  <a:pt x="1808486" y="185141"/>
                  <a:pt x="1803445" y="189975"/>
                  <a:pt x="1797160" y="193496"/>
                </a:cubicBezTo>
                <a:cubicBezTo>
                  <a:pt x="1790876" y="197018"/>
                  <a:pt x="1782935" y="198814"/>
                  <a:pt x="1773336" y="198883"/>
                </a:cubicBezTo>
                <a:cubicBezTo>
                  <a:pt x="1754852" y="198745"/>
                  <a:pt x="1740166" y="192392"/>
                  <a:pt x="1729278" y="179823"/>
                </a:cubicBezTo>
                <a:cubicBezTo>
                  <a:pt x="1718390" y="167255"/>
                  <a:pt x="1712820" y="149300"/>
                  <a:pt x="1712567" y="125959"/>
                </a:cubicBezTo>
                <a:cubicBezTo>
                  <a:pt x="1712584" y="101514"/>
                  <a:pt x="1719041" y="82730"/>
                  <a:pt x="1731937" y="69610"/>
                </a:cubicBezTo>
                <a:cubicBezTo>
                  <a:pt x="1744833" y="56489"/>
                  <a:pt x="1764065" y="49859"/>
                  <a:pt x="1789633" y="49721"/>
                </a:cubicBezTo>
                <a:close/>
                <a:moveTo>
                  <a:pt x="1622870" y="49721"/>
                </a:moveTo>
                <a:cubicBezTo>
                  <a:pt x="1647903" y="49842"/>
                  <a:pt x="1665443" y="54503"/>
                  <a:pt x="1675491" y="63705"/>
                </a:cubicBezTo>
                <a:cubicBezTo>
                  <a:pt x="1685538" y="72907"/>
                  <a:pt x="1690372" y="85924"/>
                  <a:pt x="1689992" y="102757"/>
                </a:cubicBezTo>
                <a:lnTo>
                  <a:pt x="1689992" y="195568"/>
                </a:lnTo>
                <a:lnTo>
                  <a:pt x="1659608" y="195568"/>
                </a:lnTo>
                <a:lnTo>
                  <a:pt x="1659608" y="108005"/>
                </a:lnTo>
                <a:cubicBezTo>
                  <a:pt x="1659941" y="97111"/>
                  <a:pt x="1657478" y="88997"/>
                  <a:pt x="1652219" y="83662"/>
                </a:cubicBezTo>
                <a:cubicBezTo>
                  <a:pt x="1646959" y="78328"/>
                  <a:pt x="1636900" y="75669"/>
                  <a:pt x="1622041" y="75686"/>
                </a:cubicBezTo>
                <a:cubicBezTo>
                  <a:pt x="1618416" y="75692"/>
                  <a:pt x="1614548" y="75888"/>
                  <a:pt x="1610440" y="76273"/>
                </a:cubicBezTo>
                <a:cubicBezTo>
                  <a:pt x="1606331" y="76659"/>
                  <a:pt x="1602187" y="77200"/>
                  <a:pt x="1598009" y="77896"/>
                </a:cubicBezTo>
                <a:lnTo>
                  <a:pt x="1598009" y="195568"/>
                </a:lnTo>
                <a:lnTo>
                  <a:pt x="1567625" y="195568"/>
                </a:lnTo>
                <a:lnTo>
                  <a:pt x="1567625" y="57456"/>
                </a:lnTo>
                <a:cubicBezTo>
                  <a:pt x="1577471" y="55079"/>
                  <a:pt x="1587265" y="53203"/>
                  <a:pt x="1597008" y="51828"/>
                </a:cubicBezTo>
                <a:cubicBezTo>
                  <a:pt x="1606751" y="50452"/>
                  <a:pt x="1615371" y="49750"/>
                  <a:pt x="1622870" y="49721"/>
                </a:cubicBezTo>
                <a:close/>
                <a:moveTo>
                  <a:pt x="1470336" y="49721"/>
                </a:moveTo>
                <a:cubicBezTo>
                  <a:pt x="1485815" y="49861"/>
                  <a:pt x="1498777" y="53111"/>
                  <a:pt x="1509223" y="59471"/>
                </a:cubicBezTo>
                <a:cubicBezTo>
                  <a:pt x="1519668" y="65831"/>
                  <a:pt x="1527535" y="74462"/>
                  <a:pt x="1532825" y="85365"/>
                </a:cubicBezTo>
                <a:cubicBezTo>
                  <a:pt x="1538114" y="96267"/>
                  <a:pt x="1540764" y="108602"/>
                  <a:pt x="1540774" y="122369"/>
                </a:cubicBezTo>
                <a:cubicBezTo>
                  <a:pt x="1540555" y="146705"/>
                  <a:pt x="1534018" y="165500"/>
                  <a:pt x="1521162" y="178753"/>
                </a:cubicBezTo>
                <a:cubicBezTo>
                  <a:pt x="1508306" y="192006"/>
                  <a:pt x="1490443" y="198716"/>
                  <a:pt x="1467574" y="198883"/>
                </a:cubicBezTo>
                <a:cubicBezTo>
                  <a:pt x="1452360" y="198743"/>
                  <a:pt x="1439544" y="195493"/>
                  <a:pt x="1429128" y="189133"/>
                </a:cubicBezTo>
                <a:cubicBezTo>
                  <a:pt x="1418711" y="182773"/>
                  <a:pt x="1410827" y="174142"/>
                  <a:pt x="1405475" y="163240"/>
                </a:cubicBezTo>
                <a:cubicBezTo>
                  <a:pt x="1400122" y="152337"/>
                  <a:pt x="1397435" y="140003"/>
                  <a:pt x="1397413" y="126236"/>
                </a:cubicBezTo>
                <a:cubicBezTo>
                  <a:pt x="1397655" y="101899"/>
                  <a:pt x="1404215" y="83104"/>
                  <a:pt x="1417094" y="69851"/>
                </a:cubicBezTo>
                <a:cubicBezTo>
                  <a:pt x="1429973" y="56598"/>
                  <a:pt x="1447720" y="49888"/>
                  <a:pt x="1470336" y="49721"/>
                </a:cubicBezTo>
                <a:close/>
                <a:moveTo>
                  <a:pt x="1329662" y="49721"/>
                </a:moveTo>
                <a:cubicBezTo>
                  <a:pt x="1338351" y="49704"/>
                  <a:pt x="1346454" y="50222"/>
                  <a:pt x="1353969" y="51275"/>
                </a:cubicBezTo>
                <a:cubicBezTo>
                  <a:pt x="1361485" y="52328"/>
                  <a:pt x="1368483" y="54020"/>
                  <a:pt x="1374963" y="56351"/>
                </a:cubicBezTo>
                <a:cubicBezTo>
                  <a:pt x="1374709" y="60316"/>
                  <a:pt x="1374249" y="64263"/>
                  <a:pt x="1373581" y="68194"/>
                </a:cubicBezTo>
                <a:cubicBezTo>
                  <a:pt x="1372914" y="72124"/>
                  <a:pt x="1371901" y="76279"/>
                  <a:pt x="1370543" y="80659"/>
                </a:cubicBezTo>
                <a:cubicBezTo>
                  <a:pt x="1364092" y="78604"/>
                  <a:pt x="1357589" y="77119"/>
                  <a:pt x="1351035" y="76204"/>
                </a:cubicBezTo>
                <a:cubicBezTo>
                  <a:pt x="1344480" y="75289"/>
                  <a:pt x="1337632" y="74841"/>
                  <a:pt x="1330490" y="74858"/>
                </a:cubicBezTo>
                <a:cubicBezTo>
                  <a:pt x="1321018" y="74933"/>
                  <a:pt x="1314550" y="76302"/>
                  <a:pt x="1311086" y="78967"/>
                </a:cubicBezTo>
                <a:cubicBezTo>
                  <a:pt x="1307621" y="81631"/>
                  <a:pt x="1305987" y="85141"/>
                  <a:pt x="1306182" y="89498"/>
                </a:cubicBezTo>
                <a:cubicBezTo>
                  <a:pt x="1306165" y="94504"/>
                  <a:pt x="1307926" y="98510"/>
                  <a:pt x="1311465" y="101514"/>
                </a:cubicBezTo>
                <a:cubicBezTo>
                  <a:pt x="1315004" y="104517"/>
                  <a:pt x="1320425" y="107142"/>
                  <a:pt x="1327728" y="109386"/>
                </a:cubicBezTo>
                <a:lnTo>
                  <a:pt x="1342368" y="114082"/>
                </a:lnTo>
                <a:cubicBezTo>
                  <a:pt x="1355414" y="118104"/>
                  <a:pt x="1364955" y="123456"/>
                  <a:pt x="1370992" y="130137"/>
                </a:cubicBezTo>
                <a:cubicBezTo>
                  <a:pt x="1377029" y="136819"/>
                  <a:pt x="1380009" y="145554"/>
                  <a:pt x="1379935" y="156344"/>
                </a:cubicBezTo>
                <a:cubicBezTo>
                  <a:pt x="1379865" y="169114"/>
                  <a:pt x="1375032" y="179346"/>
                  <a:pt x="1365433" y="187040"/>
                </a:cubicBezTo>
                <a:cubicBezTo>
                  <a:pt x="1355834" y="194734"/>
                  <a:pt x="1341885" y="198681"/>
                  <a:pt x="1323585" y="198883"/>
                </a:cubicBezTo>
                <a:cubicBezTo>
                  <a:pt x="1313428" y="198906"/>
                  <a:pt x="1304393" y="198169"/>
                  <a:pt x="1296480" y="196673"/>
                </a:cubicBezTo>
                <a:cubicBezTo>
                  <a:pt x="1288567" y="195177"/>
                  <a:pt x="1281397" y="192783"/>
                  <a:pt x="1274969" y="189491"/>
                </a:cubicBezTo>
                <a:cubicBezTo>
                  <a:pt x="1275245" y="183863"/>
                  <a:pt x="1275729" y="178960"/>
                  <a:pt x="1276419" y="174782"/>
                </a:cubicBezTo>
                <a:cubicBezTo>
                  <a:pt x="1277110" y="170604"/>
                  <a:pt x="1278008" y="166944"/>
                  <a:pt x="1279112" y="163802"/>
                </a:cubicBezTo>
                <a:cubicBezTo>
                  <a:pt x="1285661" y="166985"/>
                  <a:pt x="1292866" y="169390"/>
                  <a:pt x="1300727" y="171019"/>
                </a:cubicBezTo>
                <a:cubicBezTo>
                  <a:pt x="1308588" y="172647"/>
                  <a:pt x="1315931" y="173464"/>
                  <a:pt x="1322756" y="173470"/>
                </a:cubicBezTo>
                <a:cubicBezTo>
                  <a:pt x="1331497" y="173516"/>
                  <a:pt x="1338184" y="172250"/>
                  <a:pt x="1342817" y="169672"/>
                </a:cubicBezTo>
                <a:cubicBezTo>
                  <a:pt x="1347449" y="167094"/>
                  <a:pt x="1349786" y="162928"/>
                  <a:pt x="1349826" y="157173"/>
                </a:cubicBezTo>
                <a:cubicBezTo>
                  <a:pt x="1349757" y="152189"/>
                  <a:pt x="1347823" y="148345"/>
                  <a:pt x="1344025" y="145640"/>
                </a:cubicBezTo>
                <a:cubicBezTo>
                  <a:pt x="1340227" y="142936"/>
                  <a:pt x="1334979" y="140611"/>
                  <a:pt x="1328281" y="138666"/>
                </a:cubicBezTo>
                <a:lnTo>
                  <a:pt x="1314193" y="134246"/>
                </a:lnTo>
                <a:cubicBezTo>
                  <a:pt x="1300434" y="129821"/>
                  <a:pt x="1290731" y="123963"/>
                  <a:pt x="1285086" y="116671"/>
                </a:cubicBezTo>
                <a:cubicBezTo>
                  <a:pt x="1279440" y="109380"/>
                  <a:pt x="1276713" y="100691"/>
                  <a:pt x="1276903" y="90603"/>
                </a:cubicBezTo>
                <a:cubicBezTo>
                  <a:pt x="1276926" y="77781"/>
                  <a:pt x="1281368" y="67791"/>
                  <a:pt x="1290231" y="60632"/>
                </a:cubicBezTo>
                <a:cubicBezTo>
                  <a:pt x="1299093" y="53473"/>
                  <a:pt x="1312236" y="49836"/>
                  <a:pt x="1329662" y="49721"/>
                </a:cubicBezTo>
                <a:close/>
                <a:moveTo>
                  <a:pt x="1238555" y="49721"/>
                </a:moveTo>
                <a:cubicBezTo>
                  <a:pt x="1243354" y="49716"/>
                  <a:pt x="1248119" y="49796"/>
                  <a:pt x="1252850" y="49963"/>
                </a:cubicBezTo>
                <a:cubicBezTo>
                  <a:pt x="1257580" y="50130"/>
                  <a:pt x="1261654" y="50418"/>
                  <a:pt x="1265073" y="50826"/>
                </a:cubicBezTo>
                <a:cubicBezTo>
                  <a:pt x="1265061" y="55534"/>
                  <a:pt x="1264808" y="60275"/>
                  <a:pt x="1264313" y="65052"/>
                </a:cubicBezTo>
                <a:cubicBezTo>
                  <a:pt x="1263818" y="69828"/>
                  <a:pt x="1263151" y="73741"/>
                  <a:pt x="1262310" y="76791"/>
                </a:cubicBezTo>
                <a:cubicBezTo>
                  <a:pt x="1258748" y="76383"/>
                  <a:pt x="1255100" y="76095"/>
                  <a:pt x="1251365" y="75928"/>
                </a:cubicBezTo>
                <a:cubicBezTo>
                  <a:pt x="1247630" y="75761"/>
                  <a:pt x="1243636" y="75681"/>
                  <a:pt x="1239384" y="75686"/>
                </a:cubicBezTo>
                <a:cubicBezTo>
                  <a:pt x="1231926" y="75686"/>
                  <a:pt x="1224468" y="76239"/>
                  <a:pt x="1217010" y="77344"/>
                </a:cubicBezTo>
                <a:lnTo>
                  <a:pt x="1217010" y="195568"/>
                </a:lnTo>
                <a:lnTo>
                  <a:pt x="1186625" y="195568"/>
                </a:lnTo>
                <a:lnTo>
                  <a:pt x="1186625" y="57456"/>
                </a:lnTo>
                <a:cubicBezTo>
                  <a:pt x="1193398" y="55200"/>
                  <a:pt x="1201535" y="53358"/>
                  <a:pt x="1211036" y="51931"/>
                </a:cubicBezTo>
                <a:cubicBezTo>
                  <a:pt x="1220537" y="50504"/>
                  <a:pt x="1229710" y="49767"/>
                  <a:pt x="1238555" y="49721"/>
                </a:cubicBezTo>
                <a:close/>
                <a:moveTo>
                  <a:pt x="1102862" y="49721"/>
                </a:moveTo>
                <a:cubicBezTo>
                  <a:pt x="1124425" y="50182"/>
                  <a:pt x="1140204" y="56374"/>
                  <a:pt x="1150200" y="68297"/>
                </a:cubicBezTo>
                <a:cubicBezTo>
                  <a:pt x="1160196" y="80221"/>
                  <a:pt x="1165133" y="95114"/>
                  <a:pt x="1165012" y="112977"/>
                </a:cubicBezTo>
                <a:cubicBezTo>
                  <a:pt x="1165012" y="117201"/>
                  <a:pt x="1164874" y="121183"/>
                  <a:pt x="1164598" y="124924"/>
                </a:cubicBezTo>
                <a:cubicBezTo>
                  <a:pt x="1164322" y="128664"/>
                  <a:pt x="1163908" y="132508"/>
                  <a:pt x="1163355" y="136456"/>
                </a:cubicBezTo>
                <a:lnTo>
                  <a:pt x="1066400" y="136456"/>
                </a:lnTo>
                <a:cubicBezTo>
                  <a:pt x="1068288" y="148731"/>
                  <a:pt x="1072937" y="157881"/>
                  <a:pt x="1080349" y="163906"/>
                </a:cubicBezTo>
                <a:cubicBezTo>
                  <a:pt x="1087762" y="169931"/>
                  <a:pt x="1098212" y="172935"/>
                  <a:pt x="1111701" y="172918"/>
                </a:cubicBezTo>
                <a:cubicBezTo>
                  <a:pt x="1120028" y="172912"/>
                  <a:pt x="1128303" y="172026"/>
                  <a:pt x="1136527" y="170259"/>
                </a:cubicBezTo>
                <a:cubicBezTo>
                  <a:pt x="1144750" y="168492"/>
                  <a:pt x="1152680" y="165880"/>
                  <a:pt x="1160317" y="162421"/>
                </a:cubicBezTo>
                <a:cubicBezTo>
                  <a:pt x="1159758" y="166507"/>
                  <a:pt x="1159079" y="170973"/>
                  <a:pt x="1158279" y="175818"/>
                </a:cubicBezTo>
                <a:cubicBezTo>
                  <a:pt x="1157479" y="180663"/>
                  <a:pt x="1156593" y="185405"/>
                  <a:pt x="1155621" y="190044"/>
                </a:cubicBezTo>
                <a:cubicBezTo>
                  <a:pt x="1148732" y="193191"/>
                  <a:pt x="1141585" y="195459"/>
                  <a:pt x="1134179" y="196846"/>
                </a:cubicBezTo>
                <a:cubicBezTo>
                  <a:pt x="1126772" y="198233"/>
                  <a:pt x="1119004" y="198912"/>
                  <a:pt x="1110872" y="198883"/>
                </a:cubicBezTo>
                <a:cubicBezTo>
                  <a:pt x="1085494" y="198693"/>
                  <a:pt x="1066573" y="192029"/>
                  <a:pt x="1054108" y="178891"/>
                </a:cubicBezTo>
                <a:cubicBezTo>
                  <a:pt x="1041643" y="165753"/>
                  <a:pt x="1035428" y="147281"/>
                  <a:pt x="1035463" y="123473"/>
                </a:cubicBezTo>
                <a:cubicBezTo>
                  <a:pt x="1035400" y="109606"/>
                  <a:pt x="1037644" y="97135"/>
                  <a:pt x="1042194" y="86060"/>
                </a:cubicBezTo>
                <a:cubicBezTo>
                  <a:pt x="1046745" y="74986"/>
                  <a:pt x="1053982" y="66198"/>
                  <a:pt x="1063904" y="59696"/>
                </a:cubicBezTo>
                <a:cubicBezTo>
                  <a:pt x="1073826" y="53195"/>
                  <a:pt x="1086812" y="49870"/>
                  <a:pt x="1102862" y="49721"/>
                </a:cubicBezTo>
                <a:close/>
                <a:moveTo>
                  <a:pt x="750437" y="49721"/>
                </a:moveTo>
                <a:cubicBezTo>
                  <a:pt x="772000" y="50182"/>
                  <a:pt x="787779" y="56374"/>
                  <a:pt x="797775" y="68297"/>
                </a:cubicBezTo>
                <a:cubicBezTo>
                  <a:pt x="807771" y="80221"/>
                  <a:pt x="812708" y="95114"/>
                  <a:pt x="812587" y="112977"/>
                </a:cubicBezTo>
                <a:cubicBezTo>
                  <a:pt x="812587" y="117201"/>
                  <a:pt x="812449" y="121183"/>
                  <a:pt x="812173" y="124924"/>
                </a:cubicBezTo>
                <a:cubicBezTo>
                  <a:pt x="811897" y="128664"/>
                  <a:pt x="811482" y="132508"/>
                  <a:pt x="810930" y="136456"/>
                </a:cubicBezTo>
                <a:lnTo>
                  <a:pt x="713975" y="136456"/>
                </a:lnTo>
                <a:cubicBezTo>
                  <a:pt x="715863" y="148731"/>
                  <a:pt x="720512" y="157881"/>
                  <a:pt x="727924" y="163906"/>
                </a:cubicBezTo>
                <a:cubicBezTo>
                  <a:pt x="735337" y="169931"/>
                  <a:pt x="745787" y="172935"/>
                  <a:pt x="759276" y="172918"/>
                </a:cubicBezTo>
                <a:cubicBezTo>
                  <a:pt x="767603" y="172912"/>
                  <a:pt x="775878" y="172026"/>
                  <a:pt x="784102" y="170259"/>
                </a:cubicBezTo>
                <a:cubicBezTo>
                  <a:pt x="792325" y="168492"/>
                  <a:pt x="800255" y="165880"/>
                  <a:pt x="807892" y="162421"/>
                </a:cubicBezTo>
                <a:cubicBezTo>
                  <a:pt x="807333" y="166507"/>
                  <a:pt x="806654" y="170973"/>
                  <a:pt x="805854" y="175818"/>
                </a:cubicBezTo>
                <a:cubicBezTo>
                  <a:pt x="805055" y="180663"/>
                  <a:pt x="804168" y="185405"/>
                  <a:pt x="803196" y="190044"/>
                </a:cubicBezTo>
                <a:cubicBezTo>
                  <a:pt x="796307" y="193191"/>
                  <a:pt x="789160" y="195459"/>
                  <a:pt x="781754" y="196846"/>
                </a:cubicBezTo>
                <a:cubicBezTo>
                  <a:pt x="774347" y="198233"/>
                  <a:pt x="766579" y="198912"/>
                  <a:pt x="758447" y="198883"/>
                </a:cubicBezTo>
                <a:cubicBezTo>
                  <a:pt x="733069" y="198693"/>
                  <a:pt x="714148" y="192029"/>
                  <a:pt x="701683" y="178891"/>
                </a:cubicBezTo>
                <a:cubicBezTo>
                  <a:pt x="689218" y="165753"/>
                  <a:pt x="683003" y="147281"/>
                  <a:pt x="683038" y="123473"/>
                </a:cubicBezTo>
                <a:cubicBezTo>
                  <a:pt x="682975" y="109606"/>
                  <a:pt x="685219" y="97135"/>
                  <a:pt x="689769" y="86060"/>
                </a:cubicBezTo>
                <a:cubicBezTo>
                  <a:pt x="694320" y="74986"/>
                  <a:pt x="701557" y="66198"/>
                  <a:pt x="711479" y="59696"/>
                </a:cubicBezTo>
                <a:cubicBezTo>
                  <a:pt x="721401" y="53195"/>
                  <a:pt x="734387" y="49870"/>
                  <a:pt x="750437" y="49721"/>
                </a:cubicBezTo>
                <a:close/>
                <a:moveTo>
                  <a:pt x="525285" y="49721"/>
                </a:moveTo>
                <a:cubicBezTo>
                  <a:pt x="551302" y="49859"/>
                  <a:pt x="570534" y="56213"/>
                  <a:pt x="582981" y="68781"/>
                </a:cubicBezTo>
                <a:cubicBezTo>
                  <a:pt x="595429" y="81349"/>
                  <a:pt x="601609" y="99304"/>
                  <a:pt x="601523" y="122645"/>
                </a:cubicBezTo>
                <a:cubicBezTo>
                  <a:pt x="601437" y="147091"/>
                  <a:pt x="595049" y="165874"/>
                  <a:pt x="582360" y="178995"/>
                </a:cubicBezTo>
                <a:cubicBezTo>
                  <a:pt x="569671" y="192115"/>
                  <a:pt x="551198" y="198745"/>
                  <a:pt x="526942" y="198883"/>
                </a:cubicBezTo>
                <a:cubicBezTo>
                  <a:pt x="517597" y="198837"/>
                  <a:pt x="509494" y="197824"/>
                  <a:pt x="502634" y="195844"/>
                </a:cubicBezTo>
                <a:lnTo>
                  <a:pt x="502634" y="248603"/>
                </a:lnTo>
                <a:lnTo>
                  <a:pt x="472250" y="248603"/>
                </a:lnTo>
                <a:lnTo>
                  <a:pt x="472250" y="57456"/>
                </a:lnTo>
                <a:cubicBezTo>
                  <a:pt x="479587" y="55200"/>
                  <a:pt x="487908" y="53358"/>
                  <a:pt x="497213" y="51931"/>
                </a:cubicBezTo>
                <a:cubicBezTo>
                  <a:pt x="506519" y="50504"/>
                  <a:pt x="515876" y="49767"/>
                  <a:pt x="525285" y="49721"/>
                </a:cubicBezTo>
                <a:close/>
                <a:moveTo>
                  <a:pt x="283988" y="49721"/>
                </a:moveTo>
                <a:cubicBezTo>
                  <a:pt x="293788" y="49704"/>
                  <a:pt x="302432" y="50567"/>
                  <a:pt x="309919" y="52311"/>
                </a:cubicBezTo>
                <a:cubicBezTo>
                  <a:pt x="317405" y="54055"/>
                  <a:pt x="323770" y="56782"/>
                  <a:pt x="329013" y="60494"/>
                </a:cubicBezTo>
                <a:cubicBezTo>
                  <a:pt x="336925" y="57024"/>
                  <a:pt x="344924" y="54365"/>
                  <a:pt x="353010" y="52518"/>
                </a:cubicBezTo>
                <a:cubicBezTo>
                  <a:pt x="361095" y="50671"/>
                  <a:pt x="369025" y="49739"/>
                  <a:pt x="376800" y="49721"/>
                </a:cubicBezTo>
                <a:cubicBezTo>
                  <a:pt x="399813" y="49842"/>
                  <a:pt x="416006" y="54503"/>
                  <a:pt x="425381" y="63705"/>
                </a:cubicBezTo>
                <a:cubicBezTo>
                  <a:pt x="434755" y="72907"/>
                  <a:pt x="439278" y="85924"/>
                  <a:pt x="438950" y="102757"/>
                </a:cubicBezTo>
                <a:lnTo>
                  <a:pt x="438950" y="195568"/>
                </a:lnTo>
                <a:lnTo>
                  <a:pt x="408565" y="195568"/>
                </a:lnTo>
                <a:lnTo>
                  <a:pt x="408565" y="107176"/>
                </a:lnTo>
                <a:cubicBezTo>
                  <a:pt x="408715" y="96800"/>
                  <a:pt x="406137" y="88963"/>
                  <a:pt x="400831" y="83662"/>
                </a:cubicBezTo>
                <a:cubicBezTo>
                  <a:pt x="395525" y="78362"/>
                  <a:pt x="386594" y="75704"/>
                  <a:pt x="374037" y="75686"/>
                </a:cubicBezTo>
                <a:cubicBezTo>
                  <a:pt x="369031" y="75698"/>
                  <a:pt x="363990" y="76227"/>
                  <a:pt x="358914" y="77275"/>
                </a:cubicBezTo>
                <a:cubicBezTo>
                  <a:pt x="353838" y="78322"/>
                  <a:pt x="348935" y="79818"/>
                  <a:pt x="344205" y="81763"/>
                </a:cubicBezTo>
                <a:cubicBezTo>
                  <a:pt x="346093" y="87794"/>
                  <a:pt x="347013" y="94792"/>
                  <a:pt x="346967" y="102757"/>
                </a:cubicBezTo>
                <a:lnTo>
                  <a:pt x="346967" y="195568"/>
                </a:lnTo>
                <a:lnTo>
                  <a:pt x="316582" y="195568"/>
                </a:lnTo>
                <a:lnTo>
                  <a:pt x="316582" y="106900"/>
                </a:lnTo>
                <a:cubicBezTo>
                  <a:pt x="316738" y="96657"/>
                  <a:pt x="314079" y="88899"/>
                  <a:pt x="308607" y="83628"/>
                </a:cubicBezTo>
                <a:cubicBezTo>
                  <a:pt x="303134" y="78357"/>
                  <a:pt x="293915" y="75710"/>
                  <a:pt x="280949" y="75686"/>
                </a:cubicBezTo>
                <a:cubicBezTo>
                  <a:pt x="276639" y="75686"/>
                  <a:pt x="272277" y="75894"/>
                  <a:pt x="267863" y="76308"/>
                </a:cubicBezTo>
                <a:cubicBezTo>
                  <a:pt x="263450" y="76722"/>
                  <a:pt x="259157" y="77344"/>
                  <a:pt x="254984" y="78173"/>
                </a:cubicBezTo>
                <a:lnTo>
                  <a:pt x="254984" y="195568"/>
                </a:lnTo>
                <a:lnTo>
                  <a:pt x="224600" y="195568"/>
                </a:lnTo>
                <a:lnTo>
                  <a:pt x="224600" y="57456"/>
                </a:lnTo>
                <a:cubicBezTo>
                  <a:pt x="234360" y="55079"/>
                  <a:pt x="244327" y="53203"/>
                  <a:pt x="254501" y="51828"/>
                </a:cubicBezTo>
                <a:cubicBezTo>
                  <a:pt x="264675" y="50452"/>
                  <a:pt x="274504" y="49750"/>
                  <a:pt x="283988" y="49721"/>
                </a:cubicBezTo>
                <a:close/>
                <a:moveTo>
                  <a:pt x="944528" y="28452"/>
                </a:moveTo>
                <a:cubicBezTo>
                  <a:pt x="941173" y="28435"/>
                  <a:pt x="937593" y="28538"/>
                  <a:pt x="933789" y="28763"/>
                </a:cubicBezTo>
                <a:cubicBezTo>
                  <a:pt x="929986" y="28987"/>
                  <a:pt x="926199" y="29436"/>
                  <a:pt x="922430" y="30109"/>
                </a:cubicBezTo>
                <a:lnTo>
                  <a:pt x="922430" y="101375"/>
                </a:lnTo>
                <a:lnTo>
                  <a:pt x="945633" y="101375"/>
                </a:lnTo>
                <a:cubicBezTo>
                  <a:pt x="960790" y="101312"/>
                  <a:pt x="972047" y="98193"/>
                  <a:pt x="979401" y="92018"/>
                </a:cubicBezTo>
                <a:cubicBezTo>
                  <a:pt x="986756" y="85844"/>
                  <a:pt x="990416" y="76993"/>
                  <a:pt x="990381" y="65466"/>
                </a:cubicBezTo>
                <a:cubicBezTo>
                  <a:pt x="990439" y="52927"/>
                  <a:pt x="986733" y="43616"/>
                  <a:pt x="979263" y="37533"/>
                </a:cubicBezTo>
                <a:cubicBezTo>
                  <a:pt x="971793" y="31450"/>
                  <a:pt x="960215" y="28423"/>
                  <a:pt x="944528" y="28452"/>
                </a:cubicBezTo>
                <a:close/>
                <a:moveTo>
                  <a:pt x="2005917" y="4420"/>
                </a:moveTo>
                <a:lnTo>
                  <a:pt x="2120275" y="4420"/>
                </a:lnTo>
                <a:cubicBezTo>
                  <a:pt x="2119998" y="8558"/>
                  <a:pt x="2119584" y="13127"/>
                  <a:pt x="2119032" y="18128"/>
                </a:cubicBezTo>
                <a:cubicBezTo>
                  <a:pt x="2118479" y="23129"/>
                  <a:pt x="2117789" y="27767"/>
                  <a:pt x="2116960" y="32043"/>
                </a:cubicBezTo>
                <a:lnTo>
                  <a:pt x="2036855" y="32043"/>
                </a:lnTo>
                <a:lnTo>
                  <a:pt x="2036855" y="85631"/>
                </a:lnTo>
                <a:lnTo>
                  <a:pt x="2115026" y="85631"/>
                </a:lnTo>
                <a:cubicBezTo>
                  <a:pt x="2114750" y="89636"/>
                  <a:pt x="2114336" y="94124"/>
                  <a:pt x="2113783" y="99097"/>
                </a:cubicBezTo>
                <a:cubicBezTo>
                  <a:pt x="2113231" y="104069"/>
                  <a:pt x="2112540" y="108695"/>
                  <a:pt x="2111712" y="112977"/>
                </a:cubicBezTo>
                <a:lnTo>
                  <a:pt x="2036855" y="112977"/>
                </a:lnTo>
                <a:lnTo>
                  <a:pt x="2036855" y="195568"/>
                </a:lnTo>
                <a:lnTo>
                  <a:pt x="2005917" y="195568"/>
                </a:lnTo>
                <a:close/>
                <a:moveTo>
                  <a:pt x="1902809" y="2211"/>
                </a:moveTo>
                <a:lnTo>
                  <a:pt x="1902809" y="195568"/>
                </a:lnTo>
                <a:lnTo>
                  <a:pt x="1872425" y="195568"/>
                </a:lnTo>
                <a:lnTo>
                  <a:pt x="1872425" y="6630"/>
                </a:lnTo>
                <a:cubicBezTo>
                  <a:pt x="1876488" y="5479"/>
                  <a:pt x="1881345" y="4466"/>
                  <a:pt x="1886996" y="3592"/>
                </a:cubicBezTo>
                <a:cubicBezTo>
                  <a:pt x="1892647" y="2717"/>
                  <a:pt x="1897918" y="2257"/>
                  <a:pt x="1902809" y="2211"/>
                </a:cubicBezTo>
                <a:close/>
                <a:moveTo>
                  <a:pt x="655034" y="2211"/>
                </a:moveTo>
                <a:lnTo>
                  <a:pt x="655034" y="195568"/>
                </a:lnTo>
                <a:lnTo>
                  <a:pt x="624650" y="195568"/>
                </a:lnTo>
                <a:lnTo>
                  <a:pt x="624650" y="6630"/>
                </a:lnTo>
                <a:cubicBezTo>
                  <a:pt x="628712" y="5479"/>
                  <a:pt x="633569" y="4466"/>
                  <a:pt x="639221" y="3592"/>
                </a:cubicBezTo>
                <a:cubicBezTo>
                  <a:pt x="644872" y="2717"/>
                  <a:pt x="650143" y="2257"/>
                  <a:pt x="655034" y="2211"/>
                </a:cubicBezTo>
                <a:close/>
                <a:moveTo>
                  <a:pt x="943423" y="1382"/>
                </a:moveTo>
                <a:cubicBezTo>
                  <a:pt x="963261" y="1532"/>
                  <a:pt x="978921" y="4393"/>
                  <a:pt x="990401" y="9965"/>
                </a:cubicBezTo>
                <a:cubicBezTo>
                  <a:pt x="1001882" y="15538"/>
                  <a:pt x="1010032" y="22921"/>
                  <a:pt x="1014852" y="32115"/>
                </a:cubicBezTo>
                <a:cubicBezTo>
                  <a:pt x="1019673" y="41308"/>
                  <a:pt x="1022012" y="51413"/>
                  <a:pt x="1021871" y="62428"/>
                </a:cubicBezTo>
                <a:cubicBezTo>
                  <a:pt x="1021715" y="83283"/>
                  <a:pt x="1015051" y="99373"/>
                  <a:pt x="1001879" y="110698"/>
                </a:cubicBezTo>
                <a:cubicBezTo>
                  <a:pt x="988706" y="122023"/>
                  <a:pt x="969958" y="127755"/>
                  <a:pt x="945633" y="127893"/>
                </a:cubicBezTo>
                <a:lnTo>
                  <a:pt x="922430" y="127893"/>
                </a:lnTo>
                <a:lnTo>
                  <a:pt x="922430" y="195292"/>
                </a:lnTo>
                <a:lnTo>
                  <a:pt x="891492" y="195292"/>
                </a:lnTo>
                <a:lnTo>
                  <a:pt x="891492" y="6906"/>
                </a:lnTo>
                <a:cubicBezTo>
                  <a:pt x="898473" y="5347"/>
                  <a:pt x="906610" y="4046"/>
                  <a:pt x="915904" y="3005"/>
                </a:cubicBezTo>
                <a:cubicBezTo>
                  <a:pt x="925198" y="1963"/>
                  <a:pt x="934371" y="1422"/>
                  <a:pt x="943423" y="1382"/>
                </a:cubicBezTo>
                <a:close/>
                <a:moveTo>
                  <a:pt x="2316242" y="1106"/>
                </a:moveTo>
                <a:cubicBezTo>
                  <a:pt x="2321738" y="1215"/>
                  <a:pt x="2326215" y="2999"/>
                  <a:pt x="2329673" y="6458"/>
                </a:cubicBezTo>
                <a:cubicBezTo>
                  <a:pt x="2333132" y="9916"/>
                  <a:pt x="2334916" y="14393"/>
                  <a:pt x="2335025" y="19889"/>
                </a:cubicBezTo>
                <a:cubicBezTo>
                  <a:pt x="2334916" y="25385"/>
                  <a:pt x="2333132" y="29862"/>
                  <a:pt x="2329673" y="33320"/>
                </a:cubicBezTo>
                <a:cubicBezTo>
                  <a:pt x="2326215" y="36779"/>
                  <a:pt x="2321738" y="38563"/>
                  <a:pt x="2316242" y="38672"/>
                </a:cubicBezTo>
                <a:cubicBezTo>
                  <a:pt x="2310614" y="38563"/>
                  <a:pt x="2306056" y="36779"/>
                  <a:pt x="2302569" y="33320"/>
                </a:cubicBezTo>
                <a:cubicBezTo>
                  <a:pt x="2299082" y="29862"/>
                  <a:pt x="2297286" y="25385"/>
                  <a:pt x="2297183" y="19889"/>
                </a:cubicBezTo>
                <a:cubicBezTo>
                  <a:pt x="2297286" y="14393"/>
                  <a:pt x="2299082" y="9916"/>
                  <a:pt x="2302569" y="6458"/>
                </a:cubicBezTo>
                <a:cubicBezTo>
                  <a:pt x="2306056" y="2999"/>
                  <a:pt x="2310614" y="1215"/>
                  <a:pt x="2316242" y="1106"/>
                </a:cubicBezTo>
                <a:close/>
                <a:moveTo>
                  <a:pt x="173117" y="1106"/>
                </a:moveTo>
                <a:cubicBezTo>
                  <a:pt x="178613" y="1215"/>
                  <a:pt x="183090" y="2999"/>
                  <a:pt x="186549" y="6458"/>
                </a:cubicBezTo>
                <a:cubicBezTo>
                  <a:pt x="190007" y="9916"/>
                  <a:pt x="191791" y="14393"/>
                  <a:pt x="191900" y="19889"/>
                </a:cubicBezTo>
                <a:cubicBezTo>
                  <a:pt x="191791" y="25385"/>
                  <a:pt x="190007" y="29862"/>
                  <a:pt x="186549" y="33320"/>
                </a:cubicBezTo>
                <a:cubicBezTo>
                  <a:pt x="183090" y="36779"/>
                  <a:pt x="178613" y="38563"/>
                  <a:pt x="173117" y="38672"/>
                </a:cubicBezTo>
                <a:cubicBezTo>
                  <a:pt x="167489" y="38563"/>
                  <a:pt x="162931" y="36779"/>
                  <a:pt x="159444" y="33320"/>
                </a:cubicBezTo>
                <a:cubicBezTo>
                  <a:pt x="155957" y="29862"/>
                  <a:pt x="154161" y="25385"/>
                  <a:pt x="154058" y="19889"/>
                </a:cubicBezTo>
                <a:cubicBezTo>
                  <a:pt x="154161" y="14393"/>
                  <a:pt x="155957" y="9916"/>
                  <a:pt x="159444" y="6458"/>
                </a:cubicBezTo>
                <a:cubicBezTo>
                  <a:pt x="162931" y="2999"/>
                  <a:pt x="167489" y="1215"/>
                  <a:pt x="173117" y="1106"/>
                </a:cubicBezTo>
                <a:close/>
                <a:moveTo>
                  <a:pt x="68228" y="1"/>
                </a:moveTo>
                <a:cubicBezTo>
                  <a:pt x="77205" y="-11"/>
                  <a:pt x="85906" y="634"/>
                  <a:pt x="94331" y="1934"/>
                </a:cubicBezTo>
                <a:cubicBezTo>
                  <a:pt x="102756" y="3235"/>
                  <a:pt x="110904" y="5261"/>
                  <a:pt x="118777" y="8011"/>
                </a:cubicBezTo>
                <a:cubicBezTo>
                  <a:pt x="118357" y="13496"/>
                  <a:pt x="117678" y="18479"/>
                  <a:pt x="116740" y="22962"/>
                </a:cubicBezTo>
                <a:cubicBezTo>
                  <a:pt x="115802" y="27445"/>
                  <a:pt x="114639" y="31669"/>
                  <a:pt x="113252" y="35634"/>
                </a:cubicBezTo>
                <a:cubicBezTo>
                  <a:pt x="105633" y="32883"/>
                  <a:pt x="97807" y="30857"/>
                  <a:pt x="89773" y="29557"/>
                </a:cubicBezTo>
                <a:cubicBezTo>
                  <a:pt x="81740" y="28256"/>
                  <a:pt x="74466" y="27612"/>
                  <a:pt x="67951" y="27623"/>
                </a:cubicBezTo>
                <a:cubicBezTo>
                  <a:pt x="55976" y="27710"/>
                  <a:pt x="47125" y="29885"/>
                  <a:pt x="41399" y="34149"/>
                </a:cubicBezTo>
                <a:cubicBezTo>
                  <a:pt x="35673" y="38413"/>
                  <a:pt x="32831" y="44249"/>
                  <a:pt x="32871" y="51655"/>
                </a:cubicBezTo>
                <a:cubicBezTo>
                  <a:pt x="32917" y="58710"/>
                  <a:pt x="35518" y="64626"/>
                  <a:pt x="40674" y="69402"/>
                </a:cubicBezTo>
                <a:cubicBezTo>
                  <a:pt x="45831" y="74179"/>
                  <a:pt x="53266" y="78575"/>
                  <a:pt x="62979" y="82592"/>
                </a:cubicBezTo>
                <a:lnTo>
                  <a:pt x="77896" y="88945"/>
                </a:lnTo>
                <a:cubicBezTo>
                  <a:pt x="95315" y="96190"/>
                  <a:pt x="107987" y="104282"/>
                  <a:pt x="115911" y="113219"/>
                </a:cubicBezTo>
                <a:cubicBezTo>
                  <a:pt x="123835" y="122156"/>
                  <a:pt x="127737" y="133216"/>
                  <a:pt x="127616" y="146400"/>
                </a:cubicBezTo>
                <a:cubicBezTo>
                  <a:pt x="127593" y="162530"/>
                  <a:pt x="121631" y="175432"/>
                  <a:pt x="109731" y="185106"/>
                </a:cubicBezTo>
                <a:cubicBezTo>
                  <a:pt x="97830" y="194780"/>
                  <a:pt x="80128" y="199740"/>
                  <a:pt x="56626" y="199988"/>
                </a:cubicBezTo>
                <a:cubicBezTo>
                  <a:pt x="45324" y="199999"/>
                  <a:pt x="34989" y="199148"/>
                  <a:pt x="25620" y="197433"/>
                </a:cubicBezTo>
                <a:cubicBezTo>
                  <a:pt x="16251" y="195718"/>
                  <a:pt x="7711" y="193071"/>
                  <a:pt x="0" y="189491"/>
                </a:cubicBezTo>
                <a:cubicBezTo>
                  <a:pt x="271" y="183926"/>
                  <a:pt x="835" y="178966"/>
                  <a:pt x="1692" y="174610"/>
                </a:cubicBezTo>
                <a:cubicBezTo>
                  <a:pt x="2550" y="170253"/>
                  <a:pt x="3735" y="165914"/>
                  <a:pt x="5248" y="161592"/>
                </a:cubicBezTo>
                <a:cubicBezTo>
                  <a:pt x="13173" y="165183"/>
                  <a:pt x="21632" y="167877"/>
                  <a:pt x="30627" y="169672"/>
                </a:cubicBezTo>
                <a:cubicBezTo>
                  <a:pt x="39621" y="171467"/>
                  <a:pt x="48012" y="172365"/>
                  <a:pt x="55798" y="172365"/>
                </a:cubicBezTo>
                <a:cubicBezTo>
                  <a:pt x="68705" y="172359"/>
                  <a:pt x="78592" y="170299"/>
                  <a:pt x="85457" y="166185"/>
                </a:cubicBezTo>
                <a:cubicBezTo>
                  <a:pt x="92323" y="162070"/>
                  <a:pt x="95787" y="155936"/>
                  <a:pt x="95850" y="147781"/>
                </a:cubicBezTo>
                <a:cubicBezTo>
                  <a:pt x="95954" y="140030"/>
                  <a:pt x="93123" y="133642"/>
                  <a:pt x="87356" y="128618"/>
                </a:cubicBezTo>
                <a:cubicBezTo>
                  <a:pt x="81590" y="123594"/>
                  <a:pt x="72268" y="118381"/>
                  <a:pt x="59388" y="112977"/>
                </a:cubicBezTo>
                <a:lnTo>
                  <a:pt x="45301" y="106900"/>
                </a:lnTo>
                <a:cubicBezTo>
                  <a:pt x="32123" y="101473"/>
                  <a:pt x="21603" y="94510"/>
                  <a:pt x="13742" y="86010"/>
                </a:cubicBezTo>
                <a:cubicBezTo>
                  <a:pt x="5881" y="77511"/>
                  <a:pt x="1853" y="66059"/>
                  <a:pt x="1657" y="51655"/>
                </a:cubicBezTo>
                <a:cubicBezTo>
                  <a:pt x="1634" y="35726"/>
                  <a:pt x="7136" y="23181"/>
                  <a:pt x="18162" y="14019"/>
                </a:cubicBezTo>
                <a:cubicBezTo>
                  <a:pt x="29188" y="4858"/>
                  <a:pt x="45877" y="185"/>
                  <a:pt x="68228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9" name="Forma libre: forma 18">
            <a:extLst>
              <a:ext uri="{FF2B5EF4-FFF2-40B4-BE49-F238E27FC236}">
                <a16:creationId xmlns:a16="http://schemas.microsoft.com/office/drawing/2014/main" xmlns="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xmlns="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xmlns="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xmlns="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xmlns="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xmlns="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xmlns="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E7678"/>
                </a:solidFill>
              </a:rPr>
              <a:t>Our purpose is to help people </a:t>
            </a:r>
            <a:br>
              <a:rPr lang="en-US" sz="1400" dirty="0">
                <a:solidFill>
                  <a:srgbClr val="6E7678"/>
                </a:solidFill>
              </a:rPr>
            </a:br>
            <a:r>
              <a:rPr lang="en-US" sz="1400" dirty="0">
                <a:solidFill>
                  <a:srgbClr val="6E7678"/>
                </a:solidFill>
              </a:rPr>
              <a:t>and business prosper.</a:t>
            </a:r>
          </a:p>
          <a:p>
            <a:endParaRPr lang="en-US" sz="1400" dirty="0">
              <a:solidFill>
                <a:srgbClr val="6E7678"/>
              </a:solidFill>
            </a:endParaRPr>
          </a:p>
          <a:p>
            <a:r>
              <a:rPr lang="en-US" sz="1400" dirty="0">
                <a:solidFill>
                  <a:srgbClr val="6E7678"/>
                </a:solidFill>
              </a:rPr>
              <a:t>Our culture is based on believing </a:t>
            </a:r>
            <a:br>
              <a:rPr lang="en-US" sz="1400" dirty="0">
                <a:solidFill>
                  <a:srgbClr val="6E7678"/>
                </a:solidFill>
              </a:rPr>
            </a:br>
            <a:r>
              <a:rPr lang="en-US" sz="1400" dirty="0">
                <a:solidFill>
                  <a:srgbClr val="6E7678"/>
                </a:solidFill>
              </a:rPr>
              <a:t>that everything we do should be: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xmlns="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EB0000"/>
                </a:solidFill>
              </a:rPr>
              <a:t>Thank You.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xmlns="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660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3" name="Object 2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62707" y="1508759"/>
            <a:ext cx="11074087" cy="4590288"/>
          </a:xfrm>
        </p:spPr>
        <p:txBody>
          <a:bodyPr lIns="0" tIns="0" rIns="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1845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fluencer - With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5"/>
          <p:cNvSpPr>
            <a:spLocks noGrp="1"/>
          </p:cNvSpPr>
          <p:nvPr>
            <p:ph type="body" sz="quarter" idx="10"/>
          </p:nvPr>
        </p:nvSpPr>
        <p:spPr>
          <a:xfrm>
            <a:off x="3815934" y="990600"/>
            <a:ext cx="4495800" cy="38100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76011" y="381000"/>
            <a:ext cx="11175647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5136348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1850" y="284515"/>
            <a:ext cx="10515601" cy="519272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/>
            </a:lvl1pPr>
          </a:lstStyle>
          <a:p>
            <a:pPr marL="0" lvl="0"/>
            <a:r>
              <a:rPr lang="en-GB" dirty="0"/>
              <a:t>Click to change the title of the pattern</a:t>
            </a:r>
            <a:endParaRPr lang="en-US" dirty="0"/>
          </a:p>
        </p:txBody>
      </p:sp>
      <p:sp>
        <p:nvSpPr>
          <p:cNvPr id="16" name="Marcador de texto 15"/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864000"/>
            <a:ext cx="10515601" cy="370688"/>
          </a:xfrm>
          <a:prstGeom prst="rect">
            <a:avLst/>
          </a:prstGeom>
        </p:spPr>
        <p:txBody>
          <a:bodyPr anchor="t" anchorCtr="0"/>
          <a:lstStyle>
            <a:lvl1pPr>
              <a:defRPr lang="es-ES" sz="1800" i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lang="es-ES" smtClean="0"/>
            </a:lvl2pPr>
            <a:lvl3pPr>
              <a:defRPr lang="es-ES" smtClean="0"/>
            </a:lvl3pPr>
            <a:lvl4pPr>
              <a:defRPr lang="es-ES" smtClean="0"/>
            </a:lvl4pPr>
            <a:lvl5pPr>
              <a:defRPr lang="es-ES"/>
            </a:lvl5pPr>
          </a:lstStyle>
          <a:p>
            <a:pPr marL="182563" lvl="0" indent="-182563">
              <a:lnSpc>
                <a:spcPct val="100000"/>
              </a:lnSpc>
              <a:spcBef>
                <a:spcPts val="1800"/>
              </a:spcBef>
              <a:buClr>
                <a:srgbClr val="FF0000"/>
              </a:buClr>
              <a:buFontTx/>
              <a:buNone/>
            </a:pPr>
            <a:r>
              <a:rPr lang="en-GB" dirty="0"/>
              <a:t>Click to change the text of the pattern</a:t>
            </a:r>
            <a:endParaRPr lang="es-ES" dirty="0"/>
          </a:p>
        </p:txBody>
      </p:sp>
      <p:sp>
        <p:nvSpPr>
          <p:cNvPr id="31" name="Marcador de texto 30"/>
          <p:cNvSpPr>
            <a:spLocks noGrp="1"/>
          </p:cNvSpPr>
          <p:nvPr>
            <p:ph type="body" sz="quarter" idx="11" hasCustomPrompt="1"/>
          </p:nvPr>
        </p:nvSpPr>
        <p:spPr>
          <a:xfrm>
            <a:off x="841377" y="1512002"/>
            <a:ext cx="10506075" cy="39814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s-E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s-E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182563" lvl="0" indent="-182563">
              <a:spcBef>
                <a:spcPts val="1200"/>
              </a:spcBef>
              <a:buClr>
                <a:srgbClr val="FF0000"/>
              </a:buClr>
            </a:pPr>
            <a:r>
              <a:rPr lang="en-GB" dirty="0"/>
              <a:t>Click to change the text of the pattern</a:t>
            </a:r>
            <a:endParaRPr lang="es-ES" dirty="0"/>
          </a:p>
          <a:p>
            <a:pPr marL="625475" lvl="1" indent="-168275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Second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074738" lvl="2" indent="-160338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Third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524000" lvl="3" indent="-152400">
              <a:spcBef>
                <a:spcPts val="1200"/>
              </a:spcBef>
              <a:buClr>
                <a:srgbClr val="FF0000"/>
              </a:buClr>
            </a:pPr>
            <a:r>
              <a:rPr lang="es-ES" dirty="0" err="1"/>
              <a:t>Fourth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  <a:p>
            <a:pPr marL="1973263" lvl="4" indent="-144463">
              <a:spcBef>
                <a:spcPts val="1200"/>
              </a:spcBef>
              <a:buClr>
                <a:srgbClr val="FF0000"/>
              </a:buClr>
              <a:tabLst>
                <a:tab pos="2155825" algn="l"/>
              </a:tabLst>
            </a:pPr>
            <a:r>
              <a:rPr lang="es-ES" dirty="0" err="1"/>
              <a:t>Fifth</a:t>
            </a:r>
            <a:r>
              <a:rPr lang="es-ES" dirty="0"/>
              <a:t> </a:t>
            </a:r>
            <a:r>
              <a:rPr lang="es-ES" dirty="0" err="1"/>
              <a:t>level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997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xmlns="" id="{15C5E64B-3225-45C7-B625-CC93DD9A411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222375"/>
            <a:ext cx="12192000" cy="5635625"/>
          </a:xfrm>
          <a:custGeom>
            <a:avLst/>
            <a:gdLst>
              <a:gd name="connsiteX0" fmla="*/ 6096000 w 12192000"/>
              <a:gd name="connsiteY0" fmla="*/ 0 h 5635625"/>
              <a:gd name="connsiteX1" fmla="*/ 12192000 w 12192000"/>
              <a:gd name="connsiteY1" fmla="*/ 0 h 5635625"/>
              <a:gd name="connsiteX2" fmla="*/ 12192000 w 12192000"/>
              <a:gd name="connsiteY2" fmla="*/ 5635625 h 5635625"/>
              <a:gd name="connsiteX3" fmla="*/ 0 w 12192000"/>
              <a:gd name="connsiteY3" fmla="*/ 5635625 h 5635625"/>
              <a:gd name="connsiteX4" fmla="*/ 0 w 12192000"/>
              <a:gd name="connsiteY4" fmla="*/ 5222492 h 5635625"/>
              <a:gd name="connsiteX5" fmla="*/ 6096000 w 12192000"/>
              <a:gd name="connsiteY5" fmla="*/ 5222492 h 56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5635625">
                <a:moveTo>
                  <a:pt x="6096000" y="0"/>
                </a:moveTo>
                <a:lnTo>
                  <a:pt x="12192000" y="0"/>
                </a:lnTo>
                <a:lnTo>
                  <a:pt x="12192000" y="5635625"/>
                </a:lnTo>
                <a:lnTo>
                  <a:pt x="0" y="5635625"/>
                </a:lnTo>
                <a:lnTo>
                  <a:pt x="0" y="5222492"/>
                </a:lnTo>
                <a:lnTo>
                  <a:pt x="6096000" y="522249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r">
              <a:buFontTx/>
              <a:buNone/>
              <a:defRPr sz="1800"/>
            </a:lvl1pPr>
          </a:lstStyle>
          <a:p>
            <a:r>
              <a:rPr lang="es-ES" dirty="0"/>
              <a:t>Inserte aquí su imagen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096485"/>
            <a:ext cx="4937184" cy="1407004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s-ES" dirty="0"/>
              <a:t>título </a:t>
            </a:r>
            <a:br>
              <a:rPr lang="es-ES" dirty="0"/>
            </a:br>
            <a:r>
              <a:rPr lang="es-ES" dirty="0"/>
              <a:t>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7AB17398-CAA7-49B6-868C-44D053E7E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4620" y="2722142"/>
            <a:ext cx="4934309" cy="243645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Esto clic para modificar el estilo de subtítulo del patrón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xmlns="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sp>
        <p:nvSpPr>
          <p:cNvPr id="17" name="Marcador de texto 16">
            <a:extLst>
              <a:ext uri="{FF2B5EF4-FFF2-40B4-BE49-F238E27FC236}">
                <a16:creationId xmlns:a16="http://schemas.microsoft.com/office/drawing/2014/main" xmlns="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0" y="333651"/>
            <a:ext cx="11177550" cy="419100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7200" indent="0">
              <a:buNone/>
              <a:defRPr sz="1300">
                <a:solidFill>
                  <a:schemeClr val="tx2"/>
                </a:solidFill>
              </a:defRPr>
            </a:lvl2pPr>
            <a:lvl3pPr marL="914400" indent="0">
              <a:buNone/>
              <a:defRPr sz="1300">
                <a:solidFill>
                  <a:schemeClr val="tx2"/>
                </a:solidFill>
              </a:defRPr>
            </a:lvl3pPr>
            <a:lvl4pPr marL="1371600" indent="0">
              <a:buNone/>
              <a:defRPr sz="1300">
                <a:solidFill>
                  <a:schemeClr val="tx2"/>
                </a:solidFill>
              </a:defRPr>
            </a:lvl4pPr>
            <a:lvl5pPr marL="1828800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es-ES" dirty="0"/>
              <a:t>Editar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731304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ierre y conta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xmlns="" id="{B61CF4CC-ED27-4967-A11A-B838DFD4D9A3}"/>
              </a:ext>
            </a:extLst>
          </p:cNvPr>
          <p:cNvSpPr/>
          <p:nvPr userDrawn="1"/>
        </p:nvSpPr>
        <p:spPr>
          <a:xfrm>
            <a:off x="0" y="5229922"/>
            <a:ext cx="12192000" cy="1628078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xmlns="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5727401"/>
            <a:ext cx="1896592" cy="332588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xmlns="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8" y="5573143"/>
            <a:ext cx="1347482" cy="45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xmlns="" id="{246620ED-93B0-4966-8E36-4B883B49E634}"/>
              </a:ext>
            </a:extLst>
          </p:cNvPr>
          <p:cNvGrpSpPr/>
          <p:nvPr userDrawn="1"/>
        </p:nvGrpSpPr>
        <p:grpSpPr>
          <a:xfrm>
            <a:off x="7612559" y="5573576"/>
            <a:ext cx="578707" cy="455017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xmlns="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xmlns="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xmlns="" id="{B163354C-97AE-4FC8-BF01-B7FCA9B2C7C0}"/>
              </a:ext>
            </a:extLst>
          </p:cNvPr>
          <p:cNvSpPr txBox="1"/>
          <p:nvPr userDrawn="1"/>
        </p:nvSpPr>
        <p:spPr>
          <a:xfrm>
            <a:off x="719288" y="1945649"/>
            <a:ext cx="336547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6E7678"/>
                </a:solidFill>
              </a:rPr>
              <a:t>Nuestro propósito es ayudar a personas y empresas a prosperar.</a:t>
            </a:r>
          </a:p>
          <a:p>
            <a:endParaRPr lang="es-ES" sz="1400" dirty="0">
              <a:solidFill>
                <a:srgbClr val="6E7678"/>
              </a:solidFill>
            </a:endParaRPr>
          </a:p>
          <a:p>
            <a:r>
              <a:rPr lang="es-ES" sz="1400" dirty="0">
                <a:solidFill>
                  <a:srgbClr val="6E7678"/>
                </a:solidFill>
              </a:rPr>
              <a:t>Nuestra cultura se basa en la creencia de que todo lo que hacemos debe ser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xmlns="" id="{B0E05CB1-1BF0-48C0-9240-26433BD086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819150" y="3461863"/>
            <a:ext cx="2790825" cy="202298"/>
          </a:xfrm>
          <a:prstGeom prst="rect">
            <a:avLst/>
          </a:prstGeom>
        </p:spPr>
      </p:pic>
      <p:sp>
        <p:nvSpPr>
          <p:cNvPr id="28" name="CuadroTexto 27">
            <a:extLst>
              <a:ext uri="{FF2B5EF4-FFF2-40B4-BE49-F238E27FC236}">
                <a16:creationId xmlns:a16="http://schemas.microsoft.com/office/drawing/2014/main" xmlns="" id="{68E35268-345F-47C7-ADB2-CE92421E8EED}"/>
              </a:ext>
            </a:extLst>
          </p:cNvPr>
          <p:cNvSpPr txBox="1"/>
          <p:nvPr userDrawn="1"/>
        </p:nvSpPr>
        <p:spPr>
          <a:xfrm>
            <a:off x="721506" y="628193"/>
            <a:ext cx="33654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dirty="0">
                <a:solidFill>
                  <a:srgbClr val="EB0000"/>
                </a:solidFill>
              </a:rPr>
              <a:t>Gracias.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xmlns="" id="{073BDF73-2FC7-4E8C-B95B-B68B9F5D3BE9}"/>
              </a:ext>
            </a:extLst>
          </p:cNvPr>
          <p:cNvSpPr/>
          <p:nvPr userDrawn="1"/>
        </p:nvSpPr>
        <p:spPr>
          <a:xfrm>
            <a:off x="0" y="5229922"/>
            <a:ext cx="12196689" cy="1628078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64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una c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31851" y="284400"/>
            <a:ext cx="105156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 baseline="0">
                <a:solidFill>
                  <a:srgbClr val="FF0000"/>
                </a:solidFill>
              </a:defRPr>
            </a:lvl1pPr>
            <a:lvl2pPr marL="457200" indent="0">
              <a:buFontTx/>
              <a:buNone/>
              <a:defRPr sz="3200">
                <a:solidFill>
                  <a:srgbClr val="FF0000"/>
                </a:solidFill>
              </a:defRPr>
            </a:lvl2pPr>
            <a:lvl3pPr marL="914400" indent="0">
              <a:buFontTx/>
              <a:buNone/>
              <a:defRPr sz="3200">
                <a:solidFill>
                  <a:srgbClr val="FF0000"/>
                </a:solidFill>
              </a:defRPr>
            </a:lvl3pPr>
            <a:lvl4pPr marL="1371600" indent="0">
              <a:buFontTx/>
              <a:buNone/>
              <a:defRPr sz="3200">
                <a:solidFill>
                  <a:srgbClr val="FF0000"/>
                </a:solidFill>
              </a:defRPr>
            </a:lvl4pPr>
            <a:lvl5pPr marL="1828800" indent="0">
              <a:buFontTx/>
              <a:buNone/>
              <a:defRPr sz="3200">
                <a:solidFill>
                  <a:srgbClr val="FF0000"/>
                </a:solidFill>
              </a:defRPr>
            </a:lvl5pPr>
          </a:lstStyle>
          <a:p>
            <a:pPr lvl="0"/>
            <a:r>
              <a:rPr lang="es-ES" dirty="0"/>
              <a:t>Haga clic para insertar el título</a:t>
            </a:r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3" hasCustomPrompt="1"/>
          </p:nvPr>
        </p:nvSpPr>
        <p:spPr>
          <a:xfrm>
            <a:off x="831849" y="864000"/>
            <a:ext cx="105168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s-ES" dirty="0"/>
              <a:t>Haga clic para insertar el subtítulo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4"/>
          </p:nvPr>
        </p:nvSpPr>
        <p:spPr>
          <a:xfrm>
            <a:off x="830400" y="1512000"/>
            <a:ext cx="10516800" cy="3981600"/>
          </a:xfrm>
          <a:prstGeom prst="rect">
            <a:avLst/>
          </a:prstGeom>
        </p:spPr>
        <p:txBody>
          <a:bodyPr/>
          <a:lstStyle>
            <a:lvl1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FF0000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pic>
        <p:nvPicPr>
          <p:cNvPr id="5" name="Gráfico 8">
            <a:extLst>
              <a:ext uri="{FF2B5EF4-FFF2-40B4-BE49-F238E27FC236}">
                <a16:creationId xmlns:a16="http://schemas.microsoft.com/office/drawing/2014/main" xmlns="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41753" y="6314173"/>
            <a:ext cx="1370441" cy="24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11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915">
          <p15:clr>
            <a:srgbClr val="FBAE40"/>
          </p15:clr>
        </p15:guide>
        <p15:guide id="4" orient="horz" pos="785">
          <p15:clr>
            <a:srgbClr val="FBAE40"/>
          </p15:clr>
        </p15:guide>
        <p15:guide id="5" orient="horz" pos="562">
          <p15:clr>
            <a:srgbClr val="FBAE40"/>
          </p15:clr>
        </p15:guide>
        <p15:guide id="6" orient="horz" pos="543">
          <p15:clr>
            <a:srgbClr val="FBAE40"/>
          </p15:clr>
        </p15:guide>
        <p15:guide id="7" orient="horz" pos="17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erior texto a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texto 6"/>
          <p:cNvSpPr>
            <a:spLocks noGrp="1"/>
          </p:cNvSpPr>
          <p:nvPr>
            <p:ph type="body" sz="quarter" idx="15"/>
          </p:nvPr>
        </p:nvSpPr>
        <p:spPr>
          <a:xfrm>
            <a:off x="6300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3" hasCustomPrompt="1"/>
          </p:nvPr>
        </p:nvSpPr>
        <p:spPr>
          <a:xfrm>
            <a:off x="622800" y="284400"/>
            <a:ext cx="10980000" cy="518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32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/>
              <a:t>Haga clic para insertar el título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622800" y="864000"/>
            <a:ext cx="10980000" cy="3708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800" i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FontTx/>
              <a:buNone/>
              <a:defRPr sz="1800" i="1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subtítulo</a:t>
            </a:r>
          </a:p>
        </p:txBody>
      </p:sp>
      <p:sp>
        <p:nvSpPr>
          <p:cNvPr id="6" name="Marcador de texto 6"/>
          <p:cNvSpPr>
            <a:spLocks noGrp="1"/>
          </p:cNvSpPr>
          <p:nvPr>
            <p:ph type="body" sz="quarter" idx="16"/>
          </p:nvPr>
        </p:nvSpPr>
        <p:spPr>
          <a:xfrm>
            <a:off x="6202800" y="1512000"/>
            <a:ext cx="5400000" cy="3981600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accent1"/>
              </a:buCl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pic>
        <p:nvPicPr>
          <p:cNvPr id="8" name="Gráfico 8">
            <a:extLst>
              <a:ext uri="{FF2B5EF4-FFF2-40B4-BE49-F238E27FC236}">
                <a16:creationId xmlns:a16="http://schemas.microsoft.com/office/drawing/2014/main" xmlns="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21978" y="6165551"/>
            <a:ext cx="1896592" cy="332588"/>
          </a:xfrm>
          <a:prstGeom prst="rect">
            <a:avLst/>
          </a:prstGeom>
        </p:spPr>
      </p:pic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xmlns="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209600"/>
            <a:ext cx="2743200" cy="365125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 dirty="0">
              <a:solidFill>
                <a:srgbClr val="EB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56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vmlDrawing" Target="../drawings/vmlDrawing1.v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 userDrawn="1">
            <p:custDataLst>
              <p:tags r:id="rId20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think-cell Slide" r:id="rId21" imgW="270" imgH="270" progId="TCLayout.ActiveDocument.1">
                  <p:embed/>
                </p:oleObj>
              </mc:Choice>
              <mc:Fallback>
                <p:oleObj name="think-cell Slide" r:id="rId21" imgW="270" imgH="270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1 CuadroTexto"/>
          <p:cNvSpPr txBox="1"/>
          <p:nvPr userDrawn="1"/>
        </p:nvSpPr>
        <p:spPr>
          <a:xfrm>
            <a:off x="10845800" y="6265203"/>
            <a:ext cx="508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BD759F66-99BC-4AB1-83F8-8F582847D04F}" type="slidenum">
              <a:rPr lang="es-ES" sz="1000" b="1">
                <a:solidFill>
                  <a:srgbClr val="FF0000"/>
                </a:solidFill>
              </a:rPr>
              <a:pPr algn="ctr"/>
              <a:t>‹#›</a:t>
            </a:fld>
            <a:endParaRPr lang="es-ES" sz="1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18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Macro-Enabled_Worksheet1.xlsm"/><Relationship Id="rId3" Type="http://schemas.openxmlformats.org/officeDocument/2006/relationships/notesSlide" Target="../notesSlides/notesSlide2.xml"/><Relationship Id="rId7" Type="http://schemas.microsoft.com/office/2007/relationships/hdphoto" Target="../media/hdphoto1.wdp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" Target="slide7.xml"/><Relationship Id="rId9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microsoft.com/office/2007/relationships/hdphoto" Target="../media/hdphoto2.wdp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4.png"/><Relationship Id="rId11" Type="http://schemas.openxmlformats.org/officeDocument/2006/relationships/image" Target="../media/image13.emf"/><Relationship Id="rId5" Type="http://schemas.openxmlformats.org/officeDocument/2006/relationships/image" Target="../media/image11.png"/><Relationship Id="rId10" Type="http://schemas.openxmlformats.org/officeDocument/2006/relationships/package" Target="../embeddings/Microsoft_Excel_Worksheet2.xlsx"/><Relationship Id="rId4" Type="http://schemas.openxmlformats.org/officeDocument/2006/relationships/slide" Target="slide6.xml"/><Relationship Id="rId9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16.xml"/><Relationship Id="rId1" Type="http://schemas.openxmlformats.org/officeDocument/2006/relationships/vmlDrawing" Target="../drawings/vmlDrawing12.vml"/><Relationship Id="rId6" Type="http://schemas.openxmlformats.org/officeDocument/2006/relationships/package" Target="../embeddings/Microsoft_Excel_Worksheet4.xlsx"/><Relationship Id="rId5" Type="http://schemas.openxmlformats.org/officeDocument/2006/relationships/image" Target="../media/image16.emf"/><Relationship Id="rId4" Type="http://schemas.openxmlformats.org/officeDocument/2006/relationships/package" Target="../embeddings/Microsoft_Excel_Macro-Enabled_Worksheet3.xlsm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98" y="1268756"/>
            <a:ext cx="4756278" cy="2908607"/>
          </a:xfrm>
        </p:spPr>
        <p:txBody>
          <a:bodyPr anchor="t">
            <a:noAutofit/>
          </a:bodyPr>
          <a:lstStyle/>
          <a:p>
            <a:pPr defTabSz="684618">
              <a:lnSpc>
                <a:spcPct val="100000"/>
              </a:lnSpc>
              <a:spcAft>
                <a:spcPts val="1200"/>
              </a:spcAft>
              <a:tabLst>
                <a:tab pos="205981" algn="l"/>
              </a:tabLst>
              <a:defRPr/>
            </a:pPr>
            <a:r>
              <a:rPr lang="en-US" sz="3200" dirty="0">
                <a:latin typeface="Santander Headline" panose="020B0504020201020104" pitchFamily="34" charset="0"/>
              </a:rPr>
              <a:t>Loan tape </a:t>
            </a:r>
            <a:r>
              <a:rPr lang="en-US" sz="3200" dirty="0" err="1">
                <a:latin typeface="Santander Headline" panose="020B0504020201020104" pitchFamily="34" charset="0"/>
              </a:rPr>
              <a:t>Estructural</a:t>
            </a:r>
            <a:r>
              <a:rPr lang="en-US" sz="3200" dirty="0">
                <a:latin typeface="Santander Headline" panose="020B0504020201020104" pitchFamily="34" charset="0"/>
              </a:rPr>
              <a:t/>
            </a:r>
            <a:br>
              <a:rPr lang="en-US" sz="3200" dirty="0">
                <a:latin typeface="Santander Headline" panose="020B0504020201020104" pitchFamily="34" charset="0"/>
              </a:rPr>
            </a:br>
            <a:r>
              <a:rPr lang="en-US" sz="3200" dirty="0">
                <a:latin typeface="Santander Headline" panose="020B0504020201020104" pitchFamily="34" charset="0"/>
              </a:rPr>
              <a:t/>
            </a:r>
            <a:br>
              <a:rPr lang="en-US" sz="3200" dirty="0">
                <a:latin typeface="Santander Headline" panose="020B0504020201020104" pitchFamily="34" charset="0"/>
              </a:rPr>
            </a:br>
            <a:r>
              <a:rPr lang="en-US" sz="2400" b="1" dirty="0" err="1">
                <a:solidFill>
                  <a:schemeClr val="tx1"/>
                </a:solidFill>
                <a:latin typeface="Santander Headline" panose="020B0504020201020104" pitchFamily="34" charset="0"/>
              </a:rPr>
              <a:t>Perímetro</a:t>
            </a:r>
            <a:endParaRPr lang="es-ES" sz="2400" b="1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xmlns="" id="{D184A763-02A6-4822-A5F0-D9E80A5D8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745" y="3405536"/>
            <a:ext cx="4934309" cy="2436454"/>
          </a:xfrm>
        </p:spPr>
        <p:txBody>
          <a:bodyPr anchor="t"/>
          <a:lstStyle/>
          <a:p>
            <a:pPr defTabSz="684618">
              <a:tabLst>
                <a:tab pos="205981" algn="l"/>
              </a:tabLst>
              <a:defRPr/>
            </a:pPr>
            <a:r>
              <a:rPr lang="es-ES" kern="0" dirty="0">
                <a:solidFill>
                  <a:srgbClr val="3C3C3B"/>
                </a:solidFill>
                <a:latin typeface="Santander Headline" panose="020B0504020201020104" pitchFamily="34" charset="0"/>
              </a:rPr>
              <a:t>Junio 2021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 rotWithShape="1">
          <a:blip r:embed="rId3"/>
          <a:srcRect r="56641" b="-4336"/>
          <a:stretch/>
        </p:blipFill>
        <p:spPr>
          <a:xfrm>
            <a:off x="721745" y="5628220"/>
            <a:ext cx="2010822" cy="666254"/>
          </a:xfrm>
          <a:prstGeom prst="rect">
            <a:avLst/>
          </a:prstGeom>
        </p:spPr>
      </p:pic>
      <p:pic>
        <p:nvPicPr>
          <p:cNvPr id="3" name="Marcador de posición de imagen 2"/>
          <p:cNvPicPr>
            <a:picLocks noGrp="1" noChangeAspect="1"/>
          </p:cNvPicPr>
          <p:nvPr>
            <p:ph type="pic" sz="quarter" idx="13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32" b="15332"/>
          <a:stretch>
            <a:fillRect/>
          </a:stretch>
        </p:blipFill>
        <p:spPr>
          <a:xfrm>
            <a:off x="0" y="1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122572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1032">
            <a:extLst>
              <a:ext uri="{FF2B5EF4-FFF2-40B4-BE49-F238E27FC236}">
                <a16:creationId xmlns:a16="http://schemas.microsoft.com/office/drawing/2014/main" xmlns="" id="{AE7FED07-965B-476A-B064-17629599E7A9}"/>
              </a:ext>
            </a:extLst>
          </p:cNvPr>
          <p:cNvSpPr txBox="1"/>
          <p:nvPr/>
        </p:nvSpPr>
        <p:spPr>
          <a:xfrm>
            <a:off x="-1385766" y="5841100"/>
            <a:ext cx="2167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900" dirty="0"/>
              <a:t>.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3749F5D3-CEB6-4F34-A8C0-9146135DAEFA}"/>
              </a:ext>
            </a:extLst>
          </p:cNvPr>
          <p:cNvSpPr txBox="1"/>
          <p:nvPr/>
        </p:nvSpPr>
        <p:spPr>
          <a:xfrm>
            <a:off x="712785" y="648778"/>
            <a:ext cx="103204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rgbClr val="C00000"/>
              </a:buClr>
            </a:pPr>
            <a:r>
              <a:rPr lang="es-ES" sz="1400" dirty="0">
                <a:latin typeface="Santander Text"/>
              </a:rPr>
              <a:t>Las </a:t>
            </a:r>
            <a:r>
              <a:rPr lang="es-ES" sz="1400" b="1" dirty="0">
                <a:latin typeface="Santander Text"/>
              </a:rPr>
              <a:t>instrucciones</a:t>
            </a:r>
            <a:r>
              <a:rPr lang="es-ES" sz="1400" dirty="0">
                <a:latin typeface="Santander Text"/>
              </a:rPr>
              <a:t> del Loan Tape (LT) estructural proporcionadas por el </a:t>
            </a:r>
            <a:r>
              <a:rPr lang="es-ES" sz="1400" b="1" dirty="0">
                <a:latin typeface="Santander Text"/>
              </a:rPr>
              <a:t>ECB</a:t>
            </a:r>
            <a:r>
              <a:rPr lang="es-ES" sz="1400" dirty="0">
                <a:latin typeface="Santander Text"/>
              </a:rPr>
              <a:t> </a:t>
            </a:r>
            <a:r>
              <a:rPr lang="es-ES" sz="1400" b="1" dirty="0">
                <a:latin typeface="Santander Text"/>
              </a:rPr>
              <a:t>relacionan el perímetro de las carteras del LT con el </a:t>
            </a:r>
            <a:r>
              <a:rPr lang="es-ES" sz="1400" b="1" dirty="0" err="1">
                <a:latin typeface="Santander Text"/>
              </a:rPr>
              <a:t>FinRep</a:t>
            </a:r>
            <a:r>
              <a:rPr lang="es-ES" sz="1400" b="1" dirty="0">
                <a:latin typeface="Santander Text"/>
              </a:rPr>
              <a:t> 18 (Anexo NOPER), por lo que l</a:t>
            </a:r>
            <a:r>
              <a:rPr lang="es-ES" sz="1400" dirty="0">
                <a:latin typeface="Santander Text"/>
              </a:rPr>
              <a:t>a </a:t>
            </a:r>
            <a:r>
              <a:rPr lang="es-ES" sz="1400" b="1" dirty="0">
                <a:latin typeface="Santander Text"/>
              </a:rPr>
              <a:t>identificación de los contratos bajo alcance del LT partirá del Anexo NOPER.</a:t>
            </a:r>
          </a:p>
          <a:p>
            <a:pPr algn="ctr">
              <a:buClr>
                <a:srgbClr val="C00000"/>
              </a:buClr>
            </a:pPr>
            <a:r>
              <a:rPr lang="es-ES" sz="200" b="1" dirty="0">
                <a:latin typeface="Santander Text"/>
              </a:rPr>
              <a:t> </a:t>
            </a:r>
          </a:p>
          <a:p>
            <a:pPr>
              <a:buClr>
                <a:srgbClr val="C00000"/>
              </a:buClr>
            </a:pPr>
            <a:r>
              <a:rPr lang="es-ES" sz="1200" dirty="0">
                <a:latin typeface="Santander Text"/>
              </a:rPr>
              <a:t>A continuación, se detallan las líneas del F.18 / Anexo NOPER bajo alcance del LT:</a:t>
            </a:r>
          </a:p>
        </p:txBody>
      </p:sp>
      <p:graphicFrame>
        <p:nvGraphicFramePr>
          <p:cNvPr id="62" name="Tabla 7">
            <a:extLst>
              <a:ext uri="{FF2B5EF4-FFF2-40B4-BE49-F238E27FC236}">
                <a16:creationId xmlns:a16="http://schemas.microsoft.com/office/drawing/2014/main" xmlns="" id="{1DD7BB3D-EC8F-4365-9735-34CE99DF5A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035317"/>
              </p:ext>
            </p:extLst>
          </p:nvPr>
        </p:nvGraphicFramePr>
        <p:xfrm>
          <a:off x="1235891" y="1397058"/>
          <a:ext cx="4934513" cy="4903338"/>
        </p:xfrm>
        <a:graphic>
          <a:graphicData uri="http://schemas.openxmlformats.org/drawingml/2006/table">
            <a:tbl>
              <a:tblPr/>
              <a:tblGrid>
                <a:gridCol w="49345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Efectivo, saldos en efectivo en bancos centrales y otros depósitos a la </a:t>
                      </a:r>
                      <a:r>
                        <a:rPr lang="es-ES" sz="8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vista (005)</a:t>
                      </a:r>
                      <a:endParaRPr lang="es-ES" sz="8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2740313"/>
                  </a:ext>
                </a:extLst>
              </a:tr>
              <a:tr h="6607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Valores representativos de deuda (010)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95576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(030)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(040)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686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(050)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(060)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Préstamos y anticipos (070)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468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(090)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(100)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08192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(110)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(120)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07051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(150)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67573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INST. DE DEUDA A COSTE AMORTIZADO (180)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36227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Valores representativos de deuda (181)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9600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(183)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(184)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(185)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53518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(186)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54896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Préstamos y anticipos (191)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5889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(193)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56433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(194)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7866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(195)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5173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(196)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71946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(197)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INST. DE DEUDA A VALOR RAZONABLE CON CAMBIOS EN OTRO RESULTADO GLOBAL (201)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43755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Valores representativos de deuda (211)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85573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(213)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07620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(214)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687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(215)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14510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(216)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498269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Préstamos y anticipos (221)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98910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(223)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32393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(224)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46522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(225)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93508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(226)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123746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(227)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756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INST. DE DEUDA NO DESTINADOS A NEGOCIACION VALORADOS OBLIGATORIAMENTE A VALOR RAZONABLE… (231)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01980223"/>
                  </a:ext>
                </a:extLst>
              </a:tr>
            </a:tbl>
          </a:graphicData>
        </a:graphic>
      </p:graphicFrame>
      <p:graphicFrame>
        <p:nvGraphicFramePr>
          <p:cNvPr id="64" name="Tabla 11">
            <a:extLst>
              <a:ext uri="{FF2B5EF4-FFF2-40B4-BE49-F238E27FC236}">
                <a16:creationId xmlns:a16="http://schemas.microsoft.com/office/drawing/2014/main" xmlns="" id="{4623F78B-35F7-4E53-8402-CD2DCA8BB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129245"/>
              </p:ext>
            </p:extLst>
          </p:nvPr>
        </p:nvGraphicFramePr>
        <p:xfrm>
          <a:off x="7785839" y="3350137"/>
          <a:ext cx="2489801" cy="2631648"/>
        </p:xfrm>
        <a:graphic>
          <a:graphicData uri="http://schemas.openxmlformats.org/drawingml/2006/table">
            <a:tbl>
              <a:tblPr/>
              <a:tblGrid>
                <a:gridCol w="248980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194518"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>
                    <a:lnL>
                      <a:noFill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EXPOSICIONES FUERA DE BALANCE (550)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Compromisos de préstamo concedidos (340)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(360)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(370)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(380)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(390)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(400)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Garantías financieras concedidas (410)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(430)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4550609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(440)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(450)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57579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(460)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(470)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Otros compromisos concedidos (480)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(500)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(510)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(520)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(530)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18938"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(540)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</a:tbl>
          </a:graphicData>
        </a:graphic>
      </p:graphicFrame>
      <p:sp>
        <p:nvSpPr>
          <p:cNvPr id="181" name="Freeform 1499">
            <a:extLst>
              <a:ext uri="{FF2B5EF4-FFF2-40B4-BE49-F238E27FC236}">
                <a16:creationId xmlns:a16="http://schemas.microsoft.com/office/drawing/2014/main" xmlns="" id="{3BCA7A8B-20AF-45F9-8AA3-CCEDF28349FF}"/>
              </a:ext>
            </a:extLst>
          </p:cNvPr>
          <p:cNvSpPr>
            <a:spLocks/>
          </p:cNvSpPr>
          <p:nvPr/>
        </p:nvSpPr>
        <p:spPr bwMode="auto">
          <a:xfrm>
            <a:off x="6806941" y="1570331"/>
            <a:ext cx="4226258" cy="1654155"/>
          </a:xfrm>
          <a:custGeom>
            <a:avLst/>
            <a:gdLst>
              <a:gd name="T0" fmla="*/ 48 w 202"/>
              <a:gd name="T1" fmla="*/ 167 h 179"/>
              <a:gd name="T2" fmla="*/ 31 w 202"/>
              <a:gd name="T3" fmla="*/ 173 h 179"/>
              <a:gd name="T4" fmla="*/ 25 w 202"/>
              <a:gd name="T5" fmla="*/ 162 h 179"/>
              <a:gd name="T6" fmla="*/ 13 w 202"/>
              <a:gd name="T7" fmla="*/ 168 h 179"/>
              <a:gd name="T8" fmla="*/ 14 w 202"/>
              <a:gd name="T9" fmla="*/ 152 h 179"/>
              <a:gd name="T10" fmla="*/ 16 w 202"/>
              <a:gd name="T11" fmla="*/ 143 h 179"/>
              <a:gd name="T12" fmla="*/ 12 w 202"/>
              <a:gd name="T13" fmla="*/ 137 h 179"/>
              <a:gd name="T14" fmla="*/ 25 w 202"/>
              <a:gd name="T15" fmla="*/ 120 h 179"/>
              <a:gd name="T16" fmla="*/ 7 w 202"/>
              <a:gd name="T17" fmla="*/ 130 h 179"/>
              <a:gd name="T18" fmla="*/ 13 w 202"/>
              <a:gd name="T19" fmla="*/ 112 h 179"/>
              <a:gd name="T20" fmla="*/ 28 w 202"/>
              <a:gd name="T21" fmla="*/ 84 h 179"/>
              <a:gd name="T22" fmla="*/ 12 w 202"/>
              <a:gd name="T23" fmla="*/ 93 h 179"/>
              <a:gd name="T24" fmla="*/ 8 w 202"/>
              <a:gd name="T25" fmla="*/ 79 h 179"/>
              <a:gd name="T26" fmla="*/ 8 w 202"/>
              <a:gd name="T27" fmla="*/ 72 h 179"/>
              <a:gd name="T28" fmla="*/ 12 w 202"/>
              <a:gd name="T29" fmla="*/ 57 h 179"/>
              <a:gd name="T30" fmla="*/ 10 w 202"/>
              <a:gd name="T31" fmla="*/ 46 h 179"/>
              <a:gd name="T32" fmla="*/ 22 w 202"/>
              <a:gd name="T33" fmla="*/ 25 h 179"/>
              <a:gd name="T34" fmla="*/ 10 w 202"/>
              <a:gd name="T35" fmla="*/ 30 h 179"/>
              <a:gd name="T36" fmla="*/ 28 w 202"/>
              <a:gd name="T37" fmla="*/ 6 h 179"/>
              <a:gd name="T38" fmla="*/ 41 w 202"/>
              <a:gd name="T39" fmla="*/ 4 h 179"/>
              <a:gd name="T40" fmla="*/ 51 w 202"/>
              <a:gd name="T41" fmla="*/ 3 h 179"/>
              <a:gd name="T42" fmla="*/ 61 w 202"/>
              <a:gd name="T43" fmla="*/ 3 h 179"/>
              <a:gd name="T44" fmla="*/ 77 w 202"/>
              <a:gd name="T45" fmla="*/ 0 h 179"/>
              <a:gd name="T46" fmla="*/ 66 w 202"/>
              <a:gd name="T47" fmla="*/ 25 h 179"/>
              <a:gd name="T48" fmla="*/ 57 w 202"/>
              <a:gd name="T49" fmla="*/ 37 h 179"/>
              <a:gd name="T50" fmla="*/ 82 w 202"/>
              <a:gd name="T51" fmla="*/ 12 h 179"/>
              <a:gd name="T52" fmla="*/ 99 w 202"/>
              <a:gd name="T53" fmla="*/ 9 h 179"/>
              <a:gd name="T54" fmla="*/ 105 w 202"/>
              <a:gd name="T55" fmla="*/ 10 h 179"/>
              <a:gd name="T56" fmla="*/ 108 w 202"/>
              <a:gd name="T57" fmla="*/ 16 h 179"/>
              <a:gd name="T58" fmla="*/ 121 w 202"/>
              <a:gd name="T59" fmla="*/ 12 h 179"/>
              <a:gd name="T60" fmla="*/ 134 w 202"/>
              <a:gd name="T61" fmla="*/ 6 h 179"/>
              <a:gd name="T62" fmla="*/ 138 w 202"/>
              <a:gd name="T63" fmla="*/ 13 h 179"/>
              <a:gd name="T64" fmla="*/ 143 w 202"/>
              <a:gd name="T65" fmla="*/ 19 h 179"/>
              <a:gd name="T66" fmla="*/ 156 w 202"/>
              <a:gd name="T67" fmla="*/ 13 h 179"/>
              <a:gd name="T68" fmla="*/ 167 w 202"/>
              <a:gd name="T69" fmla="*/ 16 h 179"/>
              <a:gd name="T70" fmla="*/ 189 w 202"/>
              <a:gd name="T71" fmla="*/ 17 h 179"/>
              <a:gd name="T72" fmla="*/ 191 w 202"/>
              <a:gd name="T73" fmla="*/ 35 h 179"/>
              <a:gd name="T74" fmla="*/ 188 w 202"/>
              <a:gd name="T75" fmla="*/ 54 h 179"/>
              <a:gd name="T76" fmla="*/ 198 w 202"/>
              <a:gd name="T77" fmla="*/ 45 h 179"/>
              <a:gd name="T78" fmla="*/ 198 w 202"/>
              <a:gd name="T79" fmla="*/ 58 h 179"/>
              <a:gd name="T80" fmla="*/ 192 w 202"/>
              <a:gd name="T81" fmla="*/ 77 h 179"/>
              <a:gd name="T82" fmla="*/ 187 w 202"/>
              <a:gd name="T83" fmla="*/ 90 h 179"/>
              <a:gd name="T84" fmla="*/ 173 w 202"/>
              <a:gd name="T85" fmla="*/ 119 h 179"/>
              <a:gd name="T86" fmla="*/ 185 w 202"/>
              <a:gd name="T87" fmla="*/ 118 h 179"/>
              <a:gd name="T88" fmla="*/ 189 w 202"/>
              <a:gd name="T89" fmla="*/ 114 h 179"/>
              <a:gd name="T90" fmla="*/ 190 w 202"/>
              <a:gd name="T91" fmla="*/ 131 h 179"/>
              <a:gd name="T92" fmla="*/ 188 w 202"/>
              <a:gd name="T93" fmla="*/ 145 h 179"/>
              <a:gd name="T94" fmla="*/ 182 w 202"/>
              <a:gd name="T95" fmla="*/ 165 h 179"/>
              <a:gd name="T96" fmla="*/ 166 w 202"/>
              <a:gd name="T97" fmla="*/ 168 h 179"/>
              <a:gd name="T98" fmla="*/ 155 w 202"/>
              <a:gd name="T99" fmla="*/ 166 h 179"/>
              <a:gd name="T100" fmla="*/ 144 w 202"/>
              <a:gd name="T101" fmla="*/ 173 h 179"/>
              <a:gd name="T102" fmla="*/ 126 w 202"/>
              <a:gd name="T103" fmla="*/ 176 h 179"/>
              <a:gd name="T104" fmla="*/ 150 w 202"/>
              <a:gd name="T105" fmla="*/ 148 h 179"/>
              <a:gd name="T106" fmla="*/ 118 w 202"/>
              <a:gd name="T107" fmla="*/ 175 h 179"/>
              <a:gd name="T108" fmla="*/ 112 w 202"/>
              <a:gd name="T109" fmla="*/ 161 h 179"/>
              <a:gd name="T110" fmla="*/ 90 w 202"/>
              <a:gd name="T111" fmla="*/ 171 h 179"/>
              <a:gd name="T112" fmla="*/ 74 w 202"/>
              <a:gd name="T113" fmla="*/ 172 h 179"/>
              <a:gd name="T114" fmla="*/ 82 w 202"/>
              <a:gd name="T115" fmla="*/ 157 h 179"/>
              <a:gd name="T116" fmla="*/ 57 w 202"/>
              <a:gd name="T117" fmla="*/ 169 h 1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02" h="179">
                <a:moveTo>
                  <a:pt x="56" y="166"/>
                </a:moveTo>
                <a:cubicBezTo>
                  <a:pt x="55" y="167"/>
                  <a:pt x="55" y="167"/>
                  <a:pt x="55" y="168"/>
                </a:cubicBezTo>
                <a:cubicBezTo>
                  <a:pt x="54" y="169"/>
                  <a:pt x="53" y="168"/>
                  <a:pt x="52" y="168"/>
                </a:cubicBezTo>
                <a:cubicBezTo>
                  <a:pt x="52" y="167"/>
                  <a:pt x="52" y="167"/>
                  <a:pt x="52" y="167"/>
                </a:cubicBezTo>
                <a:cubicBezTo>
                  <a:pt x="50" y="164"/>
                  <a:pt x="50" y="164"/>
                  <a:pt x="48" y="167"/>
                </a:cubicBezTo>
                <a:cubicBezTo>
                  <a:pt x="46" y="169"/>
                  <a:pt x="44" y="169"/>
                  <a:pt x="42" y="167"/>
                </a:cubicBezTo>
                <a:cubicBezTo>
                  <a:pt x="42" y="166"/>
                  <a:pt x="42" y="166"/>
                  <a:pt x="42" y="165"/>
                </a:cubicBezTo>
                <a:cubicBezTo>
                  <a:pt x="40" y="166"/>
                  <a:pt x="38" y="167"/>
                  <a:pt x="37" y="169"/>
                </a:cubicBezTo>
                <a:cubicBezTo>
                  <a:pt x="35" y="170"/>
                  <a:pt x="34" y="171"/>
                  <a:pt x="32" y="172"/>
                </a:cubicBezTo>
                <a:cubicBezTo>
                  <a:pt x="32" y="173"/>
                  <a:pt x="32" y="173"/>
                  <a:pt x="31" y="173"/>
                </a:cubicBezTo>
                <a:cubicBezTo>
                  <a:pt x="31" y="173"/>
                  <a:pt x="31" y="175"/>
                  <a:pt x="30" y="174"/>
                </a:cubicBezTo>
                <a:cubicBezTo>
                  <a:pt x="28" y="174"/>
                  <a:pt x="27" y="174"/>
                  <a:pt x="26" y="172"/>
                </a:cubicBezTo>
                <a:cubicBezTo>
                  <a:pt x="26" y="170"/>
                  <a:pt x="25" y="169"/>
                  <a:pt x="26" y="168"/>
                </a:cubicBezTo>
                <a:cubicBezTo>
                  <a:pt x="27" y="168"/>
                  <a:pt x="27" y="167"/>
                  <a:pt x="26" y="167"/>
                </a:cubicBezTo>
                <a:cubicBezTo>
                  <a:pt x="25" y="166"/>
                  <a:pt x="25" y="164"/>
                  <a:pt x="25" y="162"/>
                </a:cubicBezTo>
                <a:cubicBezTo>
                  <a:pt x="24" y="163"/>
                  <a:pt x="23" y="164"/>
                  <a:pt x="22" y="165"/>
                </a:cubicBezTo>
                <a:cubicBezTo>
                  <a:pt x="22" y="166"/>
                  <a:pt x="21" y="167"/>
                  <a:pt x="20" y="166"/>
                </a:cubicBezTo>
                <a:cubicBezTo>
                  <a:pt x="19" y="165"/>
                  <a:pt x="18" y="165"/>
                  <a:pt x="17" y="167"/>
                </a:cubicBezTo>
                <a:cubicBezTo>
                  <a:pt x="17" y="167"/>
                  <a:pt x="16" y="168"/>
                  <a:pt x="15" y="168"/>
                </a:cubicBezTo>
                <a:cubicBezTo>
                  <a:pt x="14" y="170"/>
                  <a:pt x="13" y="169"/>
                  <a:pt x="13" y="168"/>
                </a:cubicBezTo>
                <a:cubicBezTo>
                  <a:pt x="11" y="167"/>
                  <a:pt x="10" y="164"/>
                  <a:pt x="12" y="162"/>
                </a:cubicBezTo>
                <a:cubicBezTo>
                  <a:pt x="14" y="160"/>
                  <a:pt x="17" y="157"/>
                  <a:pt x="20" y="155"/>
                </a:cubicBezTo>
                <a:cubicBezTo>
                  <a:pt x="20" y="155"/>
                  <a:pt x="20" y="154"/>
                  <a:pt x="20" y="154"/>
                </a:cubicBezTo>
                <a:cubicBezTo>
                  <a:pt x="19" y="155"/>
                  <a:pt x="18" y="155"/>
                  <a:pt x="17" y="156"/>
                </a:cubicBezTo>
                <a:cubicBezTo>
                  <a:pt x="16" y="155"/>
                  <a:pt x="15" y="153"/>
                  <a:pt x="14" y="152"/>
                </a:cubicBezTo>
                <a:cubicBezTo>
                  <a:pt x="14" y="151"/>
                  <a:pt x="15" y="150"/>
                  <a:pt x="16" y="149"/>
                </a:cubicBezTo>
                <a:cubicBezTo>
                  <a:pt x="17" y="148"/>
                  <a:pt x="19" y="146"/>
                  <a:pt x="21" y="145"/>
                </a:cubicBezTo>
                <a:cubicBezTo>
                  <a:pt x="21" y="144"/>
                  <a:pt x="21" y="144"/>
                  <a:pt x="21" y="143"/>
                </a:cubicBezTo>
                <a:cubicBezTo>
                  <a:pt x="20" y="142"/>
                  <a:pt x="19" y="140"/>
                  <a:pt x="20" y="139"/>
                </a:cubicBezTo>
                <a:cubicBezTo>
                  <a:pt x="19" y="140"/>
                  <a:pt x="17" y="141"/>
                  <a:pt x="16" y="143"/>
                </a:cubicBezTo>
                <a:cubicBezTo>
                  <a:pt x="13" y="145"/>
                  <a:pt x="11" y="147"/>
                  <a:pt x="8" y="149"/>
                </a:cubicBezTo>
                <a:cubicBezTo>
                  <a:pt x="7" y="150"/>
                  <a:pt x="7" y="151"/>
                  <a:pt x="6" y="152"/>
                </a:cubicBezTo>
                <a:cubicBezTo>
                  <a:pt x="5" y="153"/>
                  <a:pt x="3" y="153"/>
                  <a:pt x="2" y="151"/>
                </a:cubicBezTo>
                <a:cubicBezTo>
                  <a:pt x="0" y="149"/>
                  <a:pt x="1" y="147"/>
                  <a:pt x="3" y="145"/>
                </a:cubicBezTo>
                <a:cubicBezTo>
                  <a:pt x="6" y="142"/>
                  <a:pt x="9" y="140"/>
                  <a:pt x="12" y="137"/>
                </a:cubicBezTo>
                <a:cubicBezTo>
                  <a:pt x="14" y="135"/>
                  <a:pt x="16" y="133"/>
                  <a:pt x="17" y="131"/>
                </a:cubicBezTo>
                <a:cubicBezTo>
                  <a:pt x="19" y="129"/>
                  <a:pt x="20" y="127"/>
                  <a:pt x="21" y="126"/>
                </a:cubicBezTo>
                <a:cubicBezTo>
                  <a:pt x="24" y="124"/>
                  <a:pt x="26" y="122"/>
                  <a:pt x="29" y="119"/>
                </a:cubicBezTo>
                <a:cubicBezTo>
                  <a:pt x="30" y="118"/>
                  <a:pt x="30" y="118"/>
                  <a:pt x="29" y="117"/>
                </a:cubicBezTo>
                <a:cubicBezTo>
                  <a:pt x="28" y="118"/>
                  <a:pt x="26" y="119"/>
                  <a:pt x="25" y="120"/>
                </a:cubicBezTo>
                <a:cubicBezTo>
                  <a:pt x="23" y="123"/>
                  <a:pt x="20" y="126"/>
                  <a:pt x="18" y="128"/>
                </a:cubicBezTo>
                <a:cubicBezTo>
                  <a:pt x="16" y="130"/>
                  <a:pt x="14" y="132"/>
                  <a:pt x="13" y="134"/>
                </a:cubicBezTo>
                <a:cubicBezTo>
                  <a:pt x="12" y="134"/>
                  <a:pt x="12" y="134"/>
                  <a:pt x="12" y="134"/>
                </a:cubicBezTo>
                <a:cubicBezTo>
                  <a:pt x="11" y="136"/>
                  <a:pt x="11" y="136"/>
                  <a:pt x="9" y="135"/>
                </a:cubicBezTo>
                <a:cubicBezTo>
                  <a:pt x="7" y="135"/>
                  <a:pt x="6" y="132"/>
                  <a:pt x="7" y="130"/>
                </a:cubicBezTo>
                <a:cubicBezTo>
                  <a:pt x="8" y="129"/>
                  <a:pt x="8" y="128"/>
                  <a:pt x="7" y="128"/>
                </a:cubicBezTo>
                <a:cubicBezTo>
                  <a:pt x="6" y="127"/>
                  <a:pt x="6" y="125"/>
                  <a:pt x="6" y="124"/>
                </a:cubicBezTo>
                <a:cubicBezTo>
                  <a:pt x="7" y="121"/>
                  <a:pt x="9" y="119"/>
                  <a:pt x="11" y="117"/>
                </a:cubicBezTo>
                <a:cubicBezTo>
                  <a:pt x="12" y="115"/>
                  <a:pt x="13" y="114"/>
                  <a:pt x="14" y="113"/>
                </a:cubicBezTo>
                <a:cubicBezTo>
                  <a:pt x="14" y="113"/>
                  <a:pt x="14" y="113"/>
                  <a:pt x="13" y="112"/>
                </a:cubicBezTo>
                <a:cubicBezTo>
                  <a:pt x="10" y="111"/>
                  <a:pt x="10" y="108"/>
                  <a:pt x="12" y="105"/>
                </a:cubicBezTo>
                <a:cubicBezTo>
                  <a:pt x="16" y="101"/>
                  <a:pt x="19" y="97"/>
                  <a:pt x="22" y="93"/>
                </a:cubicBezTo>
                <a:cubicBezTo>
                  <a:pt x="24" y="92"/>
                  <a:pt x="25" y="90"/>
                  <a:pt x="26" y="88"/>
                </a:cubicBezTo>
                <a:cubicBezTo>
                  <a:pt x="27" y="87"/>
                  <a:pt x="27" y="86"/>
                  <a:pt x="28" y="85"/>
                </a:cubicBezTo>
                <a:cubicBezTo>
                  <a:pt x="28" y="85"/>
                  <a:pt x="28" y="84"/>
                  <a:pt x="28" y="84"/>
                </a:cubicBezTo>
                <a:cubicBezTo>
                  <a:pt x="26" y="86"/>
                  <a:pt x="24" y="88"/>
                  <a:pt x="23" y="90"/>
                </a:cubicBezTo>
                <a:cubicBezTo>
                  <a:pt x="21" y="92"/>
                  <a:pt x="19" y="95"/>
                  <a:pt x="17" y="97"/>
                </a:cubicBezTo>
                <a:cubicBezTo>
                  <a:pt x="17" y="97"/>
                  <a:pt x="17" y="98"/>
                  <a:pt x="17" y="98"/>
                </a:cubicBezTo>
                <a:cubicBezTo>
                  <a:pt x="15" y="98"/>
                  <a:pt x="12" y="96"/>
                  <a:pt x="12" y="94"/>
                </a:cubicBezTo>
                <a:cubicBezTo>
                  <a:pt x="12" y="94"/>
                  <a:pt x="12" y="94"/>
                  <a:pt x="12" y="93"/>
                </a:cubicBezTo>
                <a:cubicBezTo>
                  <a:pt x="10" y="94"/>
                  <a:pt x="8" y="94"/>
                  <a:pt x="7" y="93"/>
                </a:cubicBezTo>
                <a:cubicBezTo>
                  <a:pt x="6" y="92"/>
                  <a:pt x="5" y="90"/>
                  <a:pt x="6" y="88"/>
                </a:cubicBezTo>
                <a:cubicBezTo>
                  <a:pt x="6" y="88"/>
                  <a:pt x="6" y="87"/>
                  <a:pt x="7" y="86"/>
                </a:cubicBezTo>
                <a:cubicBezTo>
                  <a:pt x="7" y="85"/>
                  <a:pt x="8" y="85"/>
                  <a:pt x="8" y="84"/>
                </a:cubicBezTo>
                <a:cubicBezTo>
                  <a:pt x="6" y="82"/>
                  <a:pt x="6" y="81"/>
                  <a:pt x="8" y="79"/>
                </a:cubicBezTo>
                <a:cubicBezTo>
                  <a:pt x="11" y="75"/>
                  <a:pt x="14" y="72"/>
                  <a:pt x="17" y="68"/>
                </a:cubicBezTo>
                <a:cubicBezTo>
                  <a:pt x="18" y="67"/>
                  <a:pt x="19" y="66"/>
                  <a:pt x="21" y="65"/>
                </a:cubicBezTo>
                <a:cubicBezTo>
                  <a:pt x="20" y="64"/>
                  <a:pt x="19" y="63"/>
                  <a:pt x="18" y="62"/>
                </a:cubicBezTo>
                <a:cubicBezTo>
                  <a:pt x="17" y="64"/>
                  <a:pt x="15" y="65"/>
                  <a:pt x="14" y="66"/>
                </a:cubicBezTo>
                <a:cubicBezTo>
                  <a:pt x="12" y="68"/>
                  <a:pt x="10" y="70"/>
                  <a:pt x="8" y="72"/>
                </a:cubicBezTo>
                <a:cubicBezTo>
                  <a:pt x="8" y="73"/>
                  <a:pt x="7" y="72"/>
                  <a:pt x="7" y="72"/>
                </a:cubicBezTo>
                <a:cubicBezTo>
                  <a:pt x="6" y="72"/>
                  <a:pt x="5" y="71"/>
                  <a:pt x="5" y="71"/>
                </a:cubicBezTo>
                <a:cubicBezTo>
                  <a:pt x="3" y="70"/>
                  <a:pt x="3" y="68"/>
                  <a:pt x="4" y="67"/>
                </a:cubicBezTo>
                <a:cubicBezTo>
                  <a:pt x="7" y="64"/>
                  <a:pt x="9" y="62"/>
                  <a:pt x="12" y="59"/>
                </a:cubicBezTo>
                <a:cubicBezTo>
                  <a:pt x="13" y="58"/>
                  <a:pt x="13" y="58"/>
                  <a:pt x="12" y="57"/>
                </a:cubicBezTo>
                <a:cubicBezTo>
                  <a:pt x="10" y="55"/>
                  <a:pt x="10" y="55"/>
                  <a:pt x="11" y="53"/>
                </a:cubicBezTo>
                <a:cubicBezTo>
                  <a:pt x="12" y="52"/>
                  <a:pt x="12" y="51"/>
                  <a:pt x="13" y="50"/>
                </a:cubicBezTo>
                <a:cubicBezTo>
                  <a:pt x="14" y="50"/>
                  <a:pt x="14" y="49"/>
                  <a:pt x="13" y="48"/>
                </a:cubicBezTo>
                <a:cubicBezTo>
                  <a:pt x="13" y="48"/>
                  <a:pt x="12" y="48"/>
                  <a:pt x="12" y="48"/>
                </a:cubicBezTo>
                <a:cubicBezTo>
                  <a:pt x="11" y="47"/>
                  <a:pt x="11" y="46"/>
                  <a:pt x="10" y="46"/>
                </a:cubicBezTo>
                <a:cubicBezTo>
                  <a:pt x="9" y="45"/>
                  <a:pt x="9" y="43"/>
                  <a:pt x="10" y="42"/>
                </a:cubicBezTo>
                <a:cubicBezTo>
                  <a:pt x="13" y="38"/>
                  <a:pt x="16" y="34"/>
                  <a:pt x="19" y="30"/>
                </a:cubicBezTo>
                <a:cubicBezTo>
                  <a:pt x="21" y="28"/>
                  <a:pt x="22" y="26"/>
                  <a:pt x="23" y="25"/>
                </a:cubicBezTo>
                <a:cubicBezTo>
                  <a:pt x="23" y="25"/>
                  <a:pt x="23" y="24"/>
                  <a:pt x="23" y="24"/>
                </a:cubicBezTo>
                <a:cubicBezTo>
                  <a:pt x="23" y="25"/>
                  <a:pt x="22" y="25"/>
                  <a:pt x="22" y="25"/>
                </a:cubicBezTo>
                <a:cubicBezTo>
                  <a:pt x="21" y="26"/>
                  <a:pt x="21" y="28"/>
                  <a:pt x="19" y="27"/>
                </a:cubicBezTo>
                <a:cubicBezTo>
                  <a:pt x="18" y="27"/>
                  <a:pt x="17" y="28"/>
                  <a:pt x="17" y="29"/>
                </a:cubicBezTo>
                <a:cubicBezTo>
                  <a:pt x="15" y="30"/>
                  <a:pt x="15" y="31"/>
                  <a:pt x="14" y="32"/>
                </a:cubicBezTo>
                <a:cubicBezTo>
                  <a:pt x="13" y="32"/>
                  <a:pt x="12" y="33"/>
                  <a:pt x="12" y="32"/>
                </a:cubicBezTo>
                <a:cubicBezTo>
                  <a:pt x="11" y="32"/>
                  <a:pt x="10" y="31"/>
                  <a:pt x="10" y="30"/>
                </a:cubicBezTo>
                <a:cubicBezTo>
                  <a:pt x="8" y="29"/>
                  <a:pt x="9" y="28"/>
                  <a:pt x="10" y="27"/>
                </a:cubicBezTo>
                <a:cubicBezTo>
                  <a:pt x="11" y="26"/>
                  <a:pt x="12" y="24"/>
                  <a:pt x="13" y="23"/>
                </a:cubicBezTo>
                <a:cubicBezTo>
                  <a:pt x="13" y="23"/>
                  <a:pt x="13" y="23"/>
                  <a:pt x="13" y="22"/>
                </a:cubicBezTo>
                <a:cubicBezTo>
                  <a:pt x="13" y="20"/>
                  <a:pt x="14" y="19"/>
                  <a:pt x="15" y="18"/>
                </a:cubicBezTo>
                <a:cubicBezTo>
                  <a:pt x="19" y="14"/>
                  <a:pt x="24" y="10"/>
                  <a:pt x="28" y="6"/>
                </a:cubicBezTo>
                <a:cubicBezTo>
                  <a:pt x="29" y="4"/>
                  <a:pt x="32" y="3"/>
                  <a:pt x="33" y="1"/>
                </a:cubicBezTo>
                <a:cubicBezTo>
                  <a:pt x="34" y="0"/>
                  <a:pt x="36" y="1"/>
                  <a:pt x="37" y="3"/>
                </a:cubicBezTo>
                <a:cubicBezTo>
                  <a:pt x="37" y="3"/>
                  <a:pt x="37" y="4"/>
                  <a:pt x="37" y="4"/>
                </a:cubicBezTo>
                <a:cubicBezTo>
                  <a:pt x="37" y="5"/>
                  <a:pt x="38" y="6"/>
                  <a:pt x="39" y="4"/>
                </a:cubicBezTo>
                <a:cubicBezTo>
                  <a:pt x="40" y="3"/>
                  <a:pt x="41" y="3"/>
                  <a:pt x="41" y="4"/>
                </a:cubicBezTo>
                <a:cubicBezTo>
                  <a:pt x="42" y="4"/>
                  <a:pt x="43" y="5"/>
                  <a:pt x="43" y="6"/>
                </a:cubicBezTo>
                <a:cubicBezTo>
                  <a:pt x="44" y="7"/>
                  <a:pt x="44" y="8"/>
                  <a:pt x="44" y="9"/>
                </a:cubicBezTo>
                <a:cubicBezTo>
                  <a:pt x="45" y="8"/>
                  <a:pt x="47" y="7"/>
                  <a:pt x="48" y="5"/>
                </a:cubicBezTo>
                <a:cubicBezTo>
                  <a:pt x="48" y="5"/>
                  <a:pt x="49" y="4"/>
                  <a:pt x="49" y="4"/>
                </a:cubicBezTo>
                <a:cubicBezTo>
                  <a:pt x="50" y="4"/>
                  <a:pt x="51" y="3"/>
                  <a:pt x="51" y="3"/>
                </a:cubicBezTo>
                <a:cubicBezTo>
                  <a:pt x="52" y="3"/>
                  <a:pt x="53" y="4"/>
                  <a:pt x="53" y="5"/>
                </a:cubicBezTo>
                <a:cubicBezTo>
                  <a:pt x="53" y="5"/>
                  <a:pt x="53" y="6"/>
                  <a:pt x="54" y="7"/>
                </a:cubicBezTo>
                <a:cubicBezTo>
                  <a:pt x="55" y="5"/>
                  <a:pt x="56" y="4"/>
                  <a:pt x="57" y="3"/>
                </a:cubicBezTo>
                <a:cubicBezTo>
                  <a:pt x="57" y="2"/>
                  <a:pt x="58" y="2"/>
                  <a:pt x="59" y="2"/>
                </a:cubicBezTo>
                <a:cubicBezTo>
                  <a:pt x="60" y="1"/>
                  <a:pt x="61" y="2"/>
                  <a:pt x="61" y="3"/>
                </a:cubicBezTo>
                <a:cubicBezTo>
                  <a:pt x="61" y="4"/>
                  <a:pt x="62" y="5"/>
                  <a:pt x="62" y="6"/>
                </a:cubicBezTo>
                <a:cubicBezTo>
                  <a:pt x="63" y="6"/>
                  <a:pt x="63" y="5"/>
                  <a:pt x="64" y="5"/>
                </a:cubicBezTo>
                <a:cubicBezTo>
                  <a:pt x="66" y="4"/>
                  <a:pt x="67" y="5"/>
                  <a:pt x="67" y="7"/>
                </a:cubicBezTo>
                <a:cubicBezTo>
                  <a:pt x="67" y="8"/>
                  <a:pt x="68" y="9"/>
                  <a:pt x="68" y="11"/>
                </a:cubicBezTo>
                <a:cubicBezTo>
                  <a:pt x="71" y="7"/>
                  <a:pt x="74" y="4"/>
                  <a:pt x="77" y="0"/>
                </a:cubicBezTo>
                <a:cubicBezTo>
                  <a:pt x="78" y="0"/>
                  <a:pt x="79" y="0"/>
                  <a:pt x="80" y="0"/>
                </a:cubicBezTo>
                <a:cubicBezTo>
                  <a:pt x="82" y="3"/>
                  <a:pt x="82" y="5"/>
                  <a:pt x="80" y="8"/>
                </a:cubicBezTo>
                <a:cubicBezTo>
                  <a:pt x="78" y="11"/>
                  <a:pt x="76" y="12"/>
                  <a:pt x="75" y="14"/>
                </a:cubicBezTo>
                <a:cubicBezTo>
                  <a:pt x="73" y="17"/>
                  <a:pt x="71" y="19"/>
                  <a:pt x="69" y="21"/>
                </a:cubicBezTo>
                <a:cubicBezTo>
                  <a:pt x="68" y="22"/>
                  <a:pt x="67" y="24"/>
                  <a:pt x="66" y="25"/>
                </a:cubicBezTo>
                <a:cubicBezTo>
                  <a:pt x="66" y="26"/>
                  <a:pt x="65" y="26"/>
                  <a:pt x="65" y="27"/>
                </a:cubicBezTo>
                <a:cubicBezTo>
                  <a:pt x="64" y="28"/>
                  <a:pt x="63" y="28"/>
                  <a:pt x="63" y="29"/>
                </a:cubicBezTo>
                <a:cubicBezTo>
                  <a:pt x="62" y="30"/>
                  <a:pt x="62" y="30"/>
                  <a:pt x="62" y="31"/>
                </a:cubicBezTo>
                <a:cubicBezTo>
                  <a:pt x="60" y="33"/>
                  <a:pt x="58" y="35"/>
                  <a:pt x="56" y="37"/>
                </a:cubicBezTo>
                <a:cubicBezTo>
                  <a:pt x="56" y="37"/>
                  <a:pt x="57" y="37"/>
                  <a:pt x="57" y="37"/>
                </a:cubicBezTo>
                <a:cubicBezTo>
                  <a:pt x="58" y="36"/>
                  <a:pt x="60" y="35"/>
                  <a:pt x="61" y="33"/>
                </a:cubicBezTo>
                <a:cubicBezTo>
                  <a:pt x="64" y="30"/>
                  <a:pt x="66" y="27"/>
                  <a:pt x="69" y="24"/>
                </a:cubicBezTo>
                <a:cubicBezTo>
                  <a:pt x="72" y="20"/>
                  <a:pt x="75" y="17"/>
                  <a:pt x="78" y="14"/>
                </a:cubicBezTo>
                <a:cubicBezTo>
                  <a:pt x="79" y="13"/>
                  <a:pt x="79" y="12"/>
                  <a:pt x="80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3" y="13"/>
                  <a:pt x="84" y="12"/>
                  <a:pt x="84" y="12"/>
                </a:cubicBezTo>
                <a:cubicBezTo>
                  <a:pt x="87" y="9"/>
                  <a:pt x="89" y="6"/>
                  <a:pt x="92" y="3"/>
                </a:cubicBezTo>
                <a:cubicBezTo>
                  <a:pt x="92" y="2"/>
                  <a:pt x="93" y="2"/>
                  <a:pt x="94" y="3"/>
                </a:cubicBezTo>
                <a:cubicBezTo>
                  <a:pt x="96" y="4"/>
                  <a:pt x="98" y="4"/>
                  <a:pt x="99" y="6"/>
                </a:cubicBezTo>
                <a:cubicBezTo>
                  <a:pt x="99" y="7"/>
                  <a:pt x="100" y="8"/>
                  <a:pt x="99" y="9"/>
                </a:cubicBezTo>
                <a:cubicBezTo>
                  <a:pt x="99" y="10"/>
                  <a:pt x="99" y="10"/>
                  <a:pt x="98" y="11"/>
                </a:cubicBezTo>
                <a:cubicBezTo>
                  <a:pt x="98" y="11"/>
                  <a:pt x="98" y="12"/>
                  <a:pt x="98" y="12"/>
                </a:cubicBezTo>
                <a:cubicBezTo>
                  <a:pt x="99" y="12"/>
                  <a:pt x="99" y="12"/>
                  <a:pt x="99" y="12"/>
                </a:cubicBezTo>
                <a:cubicBezTo>
                  <a:pt x="100" y="12"/>
                  <a:pt x="101" y="11"/>
                  <a:pt x="102" y="10"/>
                </a:cubicBezTo>
                <a:cubicBezTo>
                  <a:pt x="103" y="9"/>
                  <a:pt x="104" y="9"/>
                  <a:pt x="105" y="10"/>
                </a:cubicBezTo>
                <a:cubicBezTo>
                  <a:pt x="105" y="10"/>
                  <a:pt x="105" y="10"/>
                  <a:pt x="106" y="11"/>
                </a:cubicBezTo>
                <a:cubicBezTo>
                  <a:pt x="108" y="13"/>
                  <a:pt x="107" y="15"/>
                  <a:pt x="106" y="17"/>
                </a:cubicBezTo>
                <a:cubicBezTo>
                  <a:pt x="105" y="17"/>
                  <a:pt x="105" y="18"/>
                  <a:pt x="105" y="19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06" y="18"/>
                  <a:pt x="107" y="17"/>
                  <a:pt x="108" y="16"/>
                </a:cubicBezTo>
                <a:cubicBezTo>
                  <a:pt x="111" y="13"/>
                  <a:pt x="114" y="9"/>
                  <a:pt x="117" y="6"/>
                </a:cubicBezTo>
                <a:cubicBezTo>
                  <a:pt x="118" y="5"/>
                  <a:pt x="119" y="4"/>
                  <a:pt x="120" y="4"/>
                </a:cubicBezTo>
                <a:cubicBezTo>
                  <a:pt x="121" y="4"/>
                  <a:pt x="121" y="4"/>
                  <a:pt x="122" y="5"/>
                </a:cubicBezTo>
                <a:cubicBezTo>
                  <a:pt x="122" y="5"/>
                  <a:pt x="122" y="5"/>
                  <a:pt x="122" y="5"/>
                </a:cubicBezTo>
                <a:cubicBezTo>
                  <a:pt x="125" y="8"/>
                  <a:pt x="122" y="10"/>
                  <a:pt x="121" y="12"/>
                </a:cubicBezTo>
                <a:cubicBezTo>
                  <a:pt x="119" y="14"/>
                  <a:pt x="118" y="16"/>
                  <a:pt x="116" y="18"/>
                </a:cubicBezTo>
                <a:cubicBezTo>
                  <a:pt x="117" y="19"/>
                  <a:pt x="117" y="19"/>
                  <a:pt x="117" y="20"/>
                </a:cubicBezTo>
                <a:cubicBezTo>
                  <a:pt x="120" y="17"/>
                  <a:pt x="122" y="14"/>
                  <a:pt x="124" y="12"/>
                </a:cubicBezTo>
                <a:cubicBezTo>
                  <a:pt x="126" y="10"/>
                  <a:pt x="128" y="8"/>
                  <a:pt x="130" y="6"/>
                </a:cubicBezTo>
                <a:cubicBezTo>
                  <a:pt x="132" y="4"/>
                  <a:pt x="133" y="4"/>
                  <a:pt x="134" y="6"/>
                </a:cubicBezTo>
                <a:cubicBezTo>
                  <a:pt x="136" y="9"/>
                  <a:pt x="136" y="9"/>
                  <a:pt x="134" y="11"/>
                </a:cubicBezTo>
                <a:cubicBezTo>
                  <a:pt x="133" y="13"/>
                  <a:pt x="131" y="15"/>
                  <a:pt x="130" y="17"/>
                </a:cubicBezTo>
                <a:cubicBezTo>
                  <a:pt x="130" y="18"/>
                  <a:pt x="131" y="18"/>
                  <a:pt x="131" y="19"/>
                </a:cubicBezTo>
                <a:cubicBezTo>
                  <a:pt x="132" y="20"/>
                  <a:pt x="133" y="20"/>
                  <a:pt x="133" y="19"/>
                </a:cubicBezTo>
                <a:cubicBezTo>
                  <a:pt x="135" y="17"/>
                  <a:pt x="137" y="15"/>
                  <a:pt x="138" y="13"/>
                </a:cubicBezTo>
                <a:cubicBezTo>
                  <a:pt x="139" y="11"/>
                  <a:pt x="141" y="11"/>
                  <a:pt x="142" y="13"/>
                </a:cubicBezTo>
                <a:cubicBezTo>
                  <a:pt x="144" y="16"/>
                  <a:pt x="144" y="18"/>
                  <a:pt x="141" y="21"/>
                </a:cubicBezTo>
                <a:cubicBezTo>
                  <a:pt x="141" y="21"/>
                  <a:pt x="140" y="22"/>
                  <a:pt x="140" y="22"/>
                </a:cubicBezTo>
                <a:cubicBezTo>
                  <a:pt x="140" y="22"/>
                  <a:pt x="140" y="22"/>
                  <a:pt x="140" y="22"/>
                </a:cubicBezTo>
                <a:cubicBezTo>
                  <a:pt x="141" y="21"/>
                  <a:pt x="142" y="20"/>
                  <a:pt x="143" y="19"/>
                </a:cubicBezTo>
                <a:cubicBezTo>
                  <a:pt x="144" y="17"/>
                  <a:pt x="146" y="15"/>
                  <a:pt x="147" y="13"/>
                </a:cubicBezTo>
                <a:cubicBezTo>
                  <a:pt x="148" y="12"/>
                  <a:pt x="148" y="12"/>
                  <a:pt x="148" y="11"/>
                </a:cubicBezTo>
                <a:cubicBezTo>
                  <a:pt x="149" y="9"/>
                  <a:pt x="151" y="9"/>
                  <a:pt x="152" y="11"/>
                </a:cubicBezTo>
                <a:cubicBezTo>
                  <a:pt x="153" y="12"/>
                  <a:pt x="153" y="13"/>
                  <a:pt x="154" y="14"/>
                </a:cubicBezTo>
                <a:cubicBezTo>
                  <a:pt x="155" y="13"/>
                  <a:pt x="155" y="13"/>
                  <a:pt x="156" y="13"/>
                </a:cubicBezTo>
                <a:cubicBezTo>
                  <a:pt x="158" y="11"/>
                  <a:pt x="159" y="11"/>
                  <a:pt x="160" y="13"/>
                </a:cubicBezTo>
                <a:cubicBezTo>
                  <a:pt x="161" y="14"/>
                  <a:pt x="161" y="14"/>
                  <a:pt x="162" y="15"/>
                </a:cubicBezTo>
                <a:cubicBezTo>
                  <a:pt x="162" y="16"/>
                  <a:pt x="162" y="16"/>
                  <a:pt x="162" y="17"/>
                </a:cubicBezTo>
                <a:cubicBezTo>
                  <a:pt x="162" y="18"/>
                  <a:pt x="162" y="18"/>
                  <a:pt x="161" y="19"/>
                </a:cubicBezTo>
                <a:cubicBezTo>
                  <a:pt x="163" y="18"/>
                  <a:pt x="165" y="17"/>
                  <a:pt x="167" y="16"/>
                </a:cubicBezTo>
                <a:cubicBezTo>
                  <a:pt x="168" y="14"/>
                  <a:pt x="169" y="12"/>
                  <a:pt x="170" y="11"/>
                </a:cubicBezTo>
                <a:cubicBezTo>
                  <a:pt x="171" y="8"/>
                  <a:pt x="173" y="8"/>
                  <a:pt x="175" y="10"/>
                </a:cubicBezTo>
                <a:cubicBezTo>
                  <a:pt x="176" y="10"/>
                  <a:pt x="176" y="11"/>
                  <a:pt x="177" y="12"/>
                </a:cubicBezTo>
                <a:cubicBezTo>
                  <a:pt x="180" y="9"/>
                  <a:pt x="181" y="13"/>
                  <a:pt x="183" y="14"/>
                </a:cubicBezTo>
                <a:cubicBezTo>
                  <a:pt x="185" y="13"/>
                  <a:pt x="188" y="15"/>
                  <a:pt x="189" y="17"/>
                </a:cubicBezTo>
                <a:cubicBezTo>
                  <a:pt x="189" y="17"/>
                  <a:pt x="189" y="17"/>
                  <a:pt x="189" y="17"/>
                </a:cubicBezTo>
                <a:cubicBezTo>
                  <a:pt x="192" y="20"/>
                  <a:pt x="189" y="23"/>
                  <a:pt x="189" y="25"/>
                </a:cubicBezTo>
                <a:cubicBezTo>
                  <a:pt x="189" y="26"/>
                  <a:pt x="190" y="27"/>
                  <a:pt x="189" y="28"/>
                </a:cubicBezTo>
                <a:cubicBezTo>
                  <a:pt x="189" y="28"/>
                  <a:pt x="189" y="29"/>
                  <a:pt x="190" y="29"/>
                </a:cubicBezTo>
                <a:cubicBezTo>
                  <a:pt x="193" y="31"/>
                  <a:pt x="193" y="32"/>
                  <a:pt x="191" y="35"/>
                </a:cubicBezTo>
                <a:cubicBezTo>
                  <a:pt x="190" y="37"/>
                  <a:pt x="189" y="39"/>
                  <a:pt x="188" y="41"/>
                </a:cubicBezTo>
                <a:cubicBezTo>
                  <a:pt x="189" y="42"/>
                  <a:pt x="192" y="39"/>
                  <a:pt x="192" y="37"/>
                </a:cubicBezTo>
                <a:cubicBezTo>
                  <a:pt x="194" y="36"/>
                  <a:pt x="195" y="37"/>
                  <a:pt x="196" y="39"/>
                </a:cubicBezTo>
                <a:cubicBezTo>
                  <a:pt x="197" y="40"/>
                  <a:pt x="196" y="41"/>
                  <a:pt x="196" y="42"/>
                </a:cubicBezTo>
                <a:cubicBezTo>
                  <a:pt x="193" y="46"/>
                  <a:pt x="191" y="50"/>
                  <a:pt x="188" y="54"/>
                </a:cubicBezTo>
                <a:cubicBezTo>
                  <a:pt x="187" y="56"/>
                  <a:pt x="186" y="58"/>
                  <a:pt x="184" y="61"/>
                </a:cubicBezTo>
                <a:cubicBezTo>
                  <a:pt x="185" y="60"/>
                  <a:pt x="185" y="60"/>
                  <a:pt x="185" y="60"/>
                </a:cubicBezTo>
                <a:cubicBezTo>
                  <a:pt x="187" y="57"/>
                  <a:pt x="189" y="55"/>
                  <a:pt x="191" y="53"/>
                </a:cubicBezTo>
                <a:cubicBezTo>
                  <a:pt x="193" y="51"/>
                  <a:pt x="195" y="48"/>
                  <a:pt x="197" y="46"/>
                </a:cubicBezTo>
                <a:cubicBezTo>
                  <a:pt x="197" y="45"/>
                  <a:pt x="198" y="45"/>
                  <a:pt x="198" y="45"/>
                </a:cubicBezTo>
                <a:cubicBezTo>
                  <a:pt x="198" y="45"/>
                  <a:pt x="199" y="45"/>
                  <a:pt x="199" y="46"/>
                </a:cubicBezTo>
                <a:cubicBezTo>
                  <a:pt x="202" y="48"/>
                  <a:pt x="202" y="48"/>
                  <a:pt x="199" y="52"/>
                </a:cubicBezTo>
                <a:cubicBezTo>
                  <a:pt x="199" y="52"/>
                  <a:pt x="198" y="53"/>
                  <a:pt x="198" y="53"/>
                </a:cubicBezTo>
                <a:cubicBezTo>
                  <a:pt x="197" y="54"/>
                  <a:pt x="196" y="55"/>
                  <a:pt x="197" y="56"/>
                </a:cubicBezTo>
                <a:cubicBezTo>
                  <a:pt x="198" y="57"/>
                  <a:pt x="198" y="58"/>
                  <a:pt x="198" y="58"/>
                </a:cubicBezTo>
                <a:cubicBezTo>
                  <a:pt x="196" y="61"/>
                  <a:pt x="195" y="65"/>
                  <a:pt x="193" y="68"/>
                </a:cubicBezTo>
                <a:cubicBezTo>
                  <a:pt x="192" y="69"/>
                  <a:pt x="191" y="70"/>
                  <a:pt x="190" y="71"/>
                </a:cubicBezTo>
                <a:cubicBezTo>
                  <a:pt x="190" y="72"/>
                  <a:pt x="190" y="73"/>
                  <a:pt x="191" y="73"/>
                </a:cubicBezTo>
                <a:cubicBezTo>
                  <a:pt x="191" y="74"/>
                  <a:pt x="192" y="74"/>
                  <a:pt x="191" y="75"/>
                </a:cubicBezTo>
                <a:cubicBezTo>
                  <a:pt x="191" y="76"/>
                  <a:pt x="192" y="77"/>
                  <a:pt x="192" y="77"/>
                </a:cubicBezTo>
                <a:cubicBezTo>
                  <a:pt x="193" y="78"/>
                  <a:pt x="193" y="79"/>
                  <a:pt x="192" y="80"/>
                </a:cubicBezTo>
                <a:cubicBezTo>
                  <a:pt x="189" y="83"/>
                  <a:pt x="186" y="86"/>
                  <a:pt x="183" y="90"/>
                </a:cubicBezTo>
                <a:cubicBezTo>
                  <a:pt x="183" y="90"/>
                  <a:pt x="183" y="90"/>
                  <a:pt x="184" y="90"/>
                </a:cubicBezTo>
                <a:cubicBezTo>
                  <a:pt x="184" y="90"/>
                  <a:pt x="185" y="90"/>
                  <a:pt x="186" y="90"/>
                </a:cubicBezTo>
                <a:cubicBezTo>
                  <a:pt x="186" y="90"/>
                  <a:pt x="187" y="90"/>
                  <a:pt x="187" y="90"/>
                </a:cubicBezTo>
                <a:cubicBezTo>
                  <a:pt x="189" y="91"/>
                  <a:pt x="191" y="94"/>
                  <a:pt x="190" y="96"/>
                </a:cubicBezTo>
                <a:cubicBezTo>
                  <a:pt x="188" y="99"/>
                  <a:pt x="185" y="102"/>
                  <a:pt x="183" y="105"/>
                </a:cubicBezTo>
                <a:cubicBezTo>
                  <a:pt x="181" y="108"/>
                  <a:pt x="178" y="112"/>
                  <a:pt x="175" y="115"/>
                </a:cubicBezTo>
                <a:cubicBezTo>
                  <a:pt x="174" y="116"/>
                  <a:pt x="173" y="118"/>
                  <a:pt x="172" y="119"/>
                </a:cubicBezTo>
                <a:cubicBezTo>
                  <a:pt x="173" y="119"/>
                  <a:pt x="173" y="119"/>
                  <a:pt x="173" y="119"/>
                </a:cubicBezTo>
                <a:cubicBezTo>
                  <a:pt x="175" y="117"/>
                  <a:pt x="177" y="115"/>
                  <a:pt x="178" y="113"/>
                </a:cubicBezTo>
                <a:cubicBezTo>
                  <a:pt x="181" y="110"/>
                  <a:pt x="183" y="108"/>
                  <a:pt x="186" y="105"/>
                </a:cubicBezTo>
                <a:cubicBezTo>
                  <a:pt x="186" y="105"/>
                  <a:pt x="187" y="105"/>
                  <a:pt x="187" y="105"/>
                </a:cubicBezTo>
                <a:cubicBezTo>
                  <a:pt x="190" y="106"/>
                  <a:pt x="191" y="109"/>
                  <a:pt x="190" y="111"/>
                </a:cubicBezTo>
                <a:cubicBezTo>
                  <a:pt x="188" y="114"/>
                  <a:pt x="187" y="116"/>
                  <a:pt x="185" y="118"/>
                </a:cubicBezTo>
                <a:cubicBezTo>
                  <a:pt x="183" y="120"/>
                  <a:pt x="181" y="122"/>
                  <a:pt x="180" y="124"/>
                </a:cubicBezTo>
                <a:cubicBezTo>
                  <a:pt x="179" y="125"/>
                  <a:pt x="179" y="125"/>
                  <a:pt x="179" y="125"/>
                </a:cubicBezTo>
                <a:cubicBezTo>
                  <a:pt x="180" y="125"/>
                  <a:pt x="180" y="125"/>
                  <a:pt x="180" y="125"/>
                </a:cubicBezTo>
                <a:cubicBezTo>
                  <a:pt x="183" y="122"/>
                  <a:pt x="185" y="119"/>
                  <a:pt x="187" y="116"/>
                </a:cubicBezTo>
                <a:cubicBezTo>
                  <a:pt x="188" y="115"/>
                  <a:pt x="189" y="114"/>
                  <a:pt x="189" y="114"/>
                </a:cubicBezTo>
                <a:cubicBezTo>
                  <a:pt x="190" y="113"/>
                  <a:pt x="191" y="113"/>
                  <a:pt x="192" y="114"/>
                </a:cubicBezTo>
                <a:cubicBezTo>
                  <a:pt x="193" y="115"/>
                  <a:pt x="193" y="116"/>
                  <a:pt x="194" y="117"/>
                </a:cubicBezTo>
                <a:cubicBezTo>
                  <a:pt x="195" y="118"/>
                  <a:pt x="194" y="119"/>
                  <a:pt x="193" y="120"/>
                </a:cubicBezTo>
                <a:cubicBezTo>
                  <a:pt x="191" y="122"/>
                  <a:pt x="189" y="124"/>
                  <a:pt x="187" y="126"/>
                </a:cubicBezTo>
                <a:cubicBezTo>
                  <a:pt x="188" y="128"/>
                  <a:pt x="189" y="130"/>
                  <a:pt x="190" y="131"/>
                </a:cubicBezTo>
                <a:cubicBezTo>
                  <a:pt x="190" y="132"/>
                  <a:pt x="190" y="133"/>
                  <a:pt x="190" y="133"/>
                </a:cubicBezTo>
                <a:cubicBezTo>
                  <a:pt x="188" y="135"/>
                  <a:pt x="186" y="137"/>
                  <a:pt x="184" y="140"/>
                </a:cubicBezTo>
                <a:cubicBezTo>
                  <a:pt x="183" y="140"/>
                  <a:pt x="183" y="141"/>
                  <a:pt x="183" y="141"/>
                </a:cubicBezTo>
                <a:cubicBezTo>
                  <a:pt x="186" y="140"/>
                  <a:pt x="185" y="140"/>
                  <a:pt x="187" y="142"/>
                </a:cubicBezTo>
                <a:cubicBezTo>
                  <a:pt x="188" y="143"/>
                  <a:pt x="188" y="144"/>
                  <a:pt x="188" y="145"/>
                </a:cubicBezTo>
                <a:cubicBezTo>
                  <a:pt x="189" y="146"/>
                  <a:pt x="189" y="146"/>
                  <a:pt x="188" y="147"/>
                </a:cubicBezTo>
                <a:cubicBezTo>
                  <a:pt x="186" y="149"/>
                  <a:pt x="185" y="151"/>
                  <a:pt x="183" y="153"/>
                </a:cubicBezTo>
                <a:cubicBezTo>
                  <a:pt x="186" y="153"/>
                  <a:pt x="186" y="156"/>
                  <a:pt x="187" y="157"/>
                </a:cubicBezTo>
                <a:cubicBezTo>
                  <a:pt x="187" y="158"/>
                  <a:pt x="187" y="159"/>
                  <a:pt x="186" y="159"/>
                </a:cubicBezTo>
                <a:cubicBezTo>
                  <a:pt x="185" y="161"/>
                  <a:pt x="183" y="163"/>
                  <a:pt x="182" y="165"/>
                </a:cubicBezTo>
                <a:cubicBezTo>
                  <a:pt x="181" y="165"/>
                  <a:pt x="180" y="167"/>
                  <a:pt x="179" y="167"/>
                </a:cubicBezTo>
                <a:cubicBezTo>
                  <a:pt x="178" y="168"/>
                  <a:pt x="177" y="167"/>
                  <a:pt x="176" y="167"/>
                </a:cubicBezTo>
                <a:cubicBezTo>
                  <a:pt x="176" y="167"/>
                  <a:pt x="175" y="167"/>
                  <a:pt x="175" y="166"/>
                </a:cubicBezTo>
                <a:cubicBezTo>
                  <a:pt x="174" y="167"/>
                  <a:pt x="173" y="168"/>
                  <a:pt x="172" y="169"/>
                </a:cubicBezTo>
                <a:cubicBezTo>
                  <a:pt x="170" y="170"/>
                  <a:pt x="167" y="170"/>
                  <a:pt x="166" y="168"/>
                </a:cubicBezTo>
                <a:cubicBezTo>
                  <a:pt x="166" y="167"/>
                  <a:pt x="165" y="167"/>
                  <a:pt x="165" y="166"/>
                </a:cubicBezTo>
                <a:cubicBezTo>
                  <a:pt x="163" y="168"/>
                  <a:pt x="161" y="170"/>
                  <a:pt x="159" y="172"/>
                </a:cubicBezTo>
                <a:cubicBezTo>
                  <a:pt x="159" y="172"/>
                  <a:pt x="158" y="173"/>
                  <a:pt x="158" y="172"/>
                </a:cubicBezTo>
                <a:cubicBezTo>
                  <a:pt x="157" y="172"/>
                  <a:pt x="155" y="171"/>
                  <a:pt x="154" y="170"/>
                </a:cubicBezTo>
                <a:cubicBezTo>
                  <a:pt x="153" y="169"/>
                  <a:pt x="154" y="167"/>
                  <a:pt x="155" y="166"/>
                </a:cubicBezTo>
                <a:cubicBezTo>
                  <a:pt x="156" y="165"/>
                  <a:pt x="156" y="164"/>
                  <a:pt x="157" y="163"/>
                </a:cubicBezTo>
                <a:cubicBezTo>
                  <a:pt x="157" y="163"/>
                  <a:pt x="157" y="163"/>
                  <a:pt x="157" y="162"/>
                </a:cubicBezTo>
                <a:cubicBezTo>
                  <a:pt x="155" y="164"/>
                  <a:pt x="153" y="166"/>
                  <a:pt x="150" y="168"/>
                </a:cubicBezTo>
                <a:cubicBezTo>
                  <a:pt x="149" y="170"/>
                  <a:pt x="147" y="171"/>
                  <a:pt x="145" y="173"/>
                </a:cubicBezTo>
                <a:cubicBezTo>
                  <a:pt x="145" y="173"/>
                  <a:pt x="144" y="174"/>
                  <a:pt x="144" y="173"/>
                </a:cubicBezTo>
                <a:cubicBezTo>
                  <a:pt x="141" y="173"/>
                  <a:pt x="140" y="172"/>
                  <a:pt x="140" y="169"/>
                </a:cubicBezTo>
                <a:cubicBezTo>
                  <a:pt x="139" y="170"/>
                  <a:pt x="138" y="170"/>
                  <a:pt x="137" y="171"/>
                </a:cubicBezTo>
                <a:cubicBezTo>
                  <a:pt x="135" y="173"/>
                  <a:pt x="133" y="175"/>
                  <a:pt x="131" y="177"/>
                </a:cubicBezTo>
                <a:cubicBezTo>
                  <a:pt x="130" y="178"/>
                  <a:pt x="129" y="179"/>
                  <a:pt x="128" y="178"/>
                </a:cubicBezTo>
                <a:cubicBezTo>
                  <a:pt x="128" y="177"/>
                  <a:pt x="127" y="177"/>
                  <a:pt x="126" y="176"/>
                </a:cubicBezTo>
                <a:cubicBezTo>
                  <a:pt x="125" y="174"/>
                  <a:pt x="125" y="172"/>
                  <a:pt x="126" y="171"/>
                </a:cubicBezTo>
                <a:cubicBezTo>
                  <a:pt x="131" y="167"/>
                  <a:pt x="135" y="163"/>
                  <a:pt x="139" y="159"/>
                </a:cubicBezTo>
                <a:cubicBezTo>
                  <a:pt x="142" y="157"/>
                  <a:pt x="143" y="155"/>
                  <a:pt x="145" y="153"/>
                </a:cubicBezTo>
                <a:cubicBezTo>
                  <a:pt x="147" y="152"/>
                  <a:pt x="149" y="150"/>
                  <a:pt x="150" y="148"/>
                </a:cubicBezTo>
                <a:cubicBezTo>
                  <a:pt x="150" y="148"/>
                  <a:pt x="150" y="148"/>
                  <a:pt x="150" y="148"/>
                </a:cubicBezTo>
                <a:cubicBezTo>
                  <a:pt x="149" y="149"/>
                  <a:pt x="148" y="150"/>
                  <a:pt x="146" y="151"/>
                </a:cubicBezTo>
                <a:cubicBezTo>
                  <a:pt x="142" y="154"/>
                  <a:pt x="138" y="158"/>
                  <a:pt x="134" y="161"/>
                </a:cubicBezTo>
                <a:cubicBezTo>
                  <a:pt x="132" y="163"/>
                  <a:pt x="130" y="164"/>
                  <a:pt x="128" y="166"/>
                </a:cubicBezTo>
                <a:cubicBezTo>
                  <a:pt x="125" y="168"/>
                  <a:pt x="123" y="170"/>
                  <a:pt x="120" y="173"/>
                </a:cubicBezTo>
                <a:cubicBezTo>
                  <a:pt x="119" y="174"/>
                  <a:pt x="119" y="174"/>
                  <a:pt x="118" y="175"/>
                </a:cubicBezTo>
                <a:cubicBezTo>
                  <a:pt x="118" y="176"/>
                  <a:pt x="117" y="176"/>
                  <a:pt x="116" y="176"/>
                </a:cubicBezTo>
                <a:cubicBezTo>
                  <a:pt x="115" y="175"/>
                  <a:pt x="114" y="174"/>
                  <a:pt x="113" y="173"/>
                </a:cubicBezTo>
                <a:cubicBezTo>
                  <a:pt x="112" y="172"/>
                  <a:pt x="113" y="171"/>
                  <a:pt x="114" y="170"/>
                </a:cubicBezTo>
                <a:cubicBezTo>
                  <a:pt x="114" y="169"/>
                  <a:pt x="114" y="169"/>
                  <a:pt x="115" y="168"/>
                </a:cubicBezTo>
                <a:cubicBezTo>
                  <a:pt x="111" y="164"/>
                  <a:pt x="111" y="164"/>
                  <a:pt x="112" y="161"/>
                </a:cubicBezTo>
                <a:cubicBezTo>
                  <a:pt x="110" y="163"/>
                  <a:pt x="107" y="165"/>
                  <a:pt x="104" y="168"/>
                </a:cubicBezTo>
                <a:cubicBezTo>
                  <a:pt x="102" y="169"/>
                  <a:pt x="100" y="171"/>
                  <a:pt x="98" y="173"/>
                </a:cubicBezTo>
                <a:cubicBezTo>
                  <a:pt x="96" y="174"/>
                  <a:pt x="96" y="175"/>
                  <a:pt x="94" y="173"/>
                </a:cubicBezTo>
                <a:cubicBezTo>
                  <a:pt x="94" y="172"/>
                  <a:pt x="93" y="171"/>
                  <a:pt x="92" y="171"/>
                </a:cubicBezTo>
                <a:cubicBezTo>
                  <a:pt x="91" y="171"/>
                  <a:pt x="90" y="171"/>
                  <a:pt x="90" y="171"/>
                </a:cubicBezTo>
                <a:cubicBezTo>
                  <a:pt x="88" y="169"/>
                  <a:pt x="86" y="168"/>
                  <a:pt x="87" y="166"/>
                </a:cubicBezTo>
                <a:cubicBezTo>
                  <a:pt x="86" y="166"/>
                  <a:pt x="85" y="166"/>
                  <a:pt x="84" y="166"/>
                </a:cubicBezTo>
                <a:cubicBezTo>
                  <a:pt x="83" y="166"/>
                  <a:pt x="82" y="166"/>
                  <a:pt x="82" y="166"/>
                </a:cubicBezTo>
                <a:cubicBezTo>
                  <a:pt x="79" y="168"/>
                  <a:pt x="77" y="170"/>
                  <a:pt x="75" y="172"/>
                </a:cubicBezTo>
                <a:cubicBezTo>
                  <a:pt x="74" y="172"/>
                  <a:pt x="74" y="172"/>
                  <a:pt x="74" y="172"/>
                </a:cubicBezTo>
                <a:cubicBezTo>
                  <a:pt x="73" y="174"/>
                  <a:pt x="73" y="174"/>
                  <a:pt x="71" y="172"/>
                </a:cubicBezTo>
                <a:cubicBezTo>
                  <a:pt x="71" y="172"/>
                  <a:pt x="71" y="171"/>
                  <a:pt x="70" y="171"/>
                </a:cubicBezTo>
                <a:cubicBezTo>
                  <a:pt x="69" y="170"/>
                  <a:pt x="69" y="168"/>
                  <a:pt x="70" y="167"/>
                </a:cubicBezTo>
                <a:cubicBezTo>
                  <a:pt x="72" y="165"/>
                  <a:pt x="73" y="164"/>
                  <a:pt x="75" y="162"/>
                </a:cubicBezTo>
                <a:cubicBezTo>
                  <a:pt x="77" y="160"/>
                  <a:pt x="79" y="159"/>
                  <a:pt x="82" y="157"/>
                </a:cubicBezTo>
                <a:cubicBezTo>
                  <a:pt x="83" y="156"/>
                  <a:pt x="83" y="155"/>
                  <a:pt x="84" y="154"/>
                </a:cubicBezTo>
                <a:cubicBezTo>
                  <a:pt x="83" y="153"/>
                  <a:pt x="81" y="154"/>
                  <a:pt x="80" y="155"/>
                </a:cubicBezTo>
                <a:cubicBezTo>
                  <a:pt x="76" y="157"/>
                  <a:pt x="73" y="160"/>
                  <a:pt x="69" y="163"/>
                </a:cubicBezTo>
                <a:cubicBezTo>
                  <a:pt x="66" y="165"/>
                  <a:pt x="63" y="167"/>
                  <a:pt x="61" y="170"/>
                </a:cubicBezTo>
                <a:cubicBezTo>
                  <a:pt x="59" y="171"/>
                  <a:pt x="58" y="171"/>
                  <a:pt x="57" y="169"/>
                </a:cubicBezTo>
                <a:cubicBezTo>
                  <a:pt x="57" y="168"/>
                  <a:pt x="56" y="167"/>
                  <a:pt x="56" y="166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24000" tIns="36000" rIns="324000" bIns="36000" rtlCol="0" anchor="ctr">
            <a:noAutofit/>
          </a:bodyPr>
          <a:lstStyle/>
          <a:p>
            <a:pPr algn="ctr"/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Para la extracción del perímetro de contratos, no sólo se pedirán los contratos pertenecientes a estas líneas del </a:t>
            </a:r>
            <a:r>
              <a:rPr lang="es-ES" sz="1400" b="1" dirty="0" err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Finrep</a:t>
            </a:r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 18 / Anexo NOPER, sino que adicionalmente  se extraerá el perímetro atendiendo a otras dimensiones relevantes: </a:t>
            </a:r>
            <a:r>
              <a:rPr lang="es-ES" sz="1400" b="1" dirty="0" err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stage</a:t>
            </a:r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s-ES" sz="1400" b="1" dirty="0" err="1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performing</a:t>
            </a:r>
            <a:r>
              <a:rPr lang="es-ES" sz="1400" b="1" dirty="0">
                <a:solidFill>
                  <a:prstClr val="white"/>
                </a:solidFill>
                <a:latin typeface="Santander Text" panose="020B0504020201020104"/>
                <a:ea typeface="Open Sans" panose="020B0606030504020204" pitchFamily="34" charset="0"/>
                <a:cs typeface="Open Sans" panose="020B0606030504020204" pitchFamily="34" charset="0"/>
              </a:rPr>
              <a:t> status, etc.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A74D1DC-CE25-4292-8DF3-CD6146115A28}"/>
              </a:ext>
            </a:extLst>
          </p:cNvPr>
          <p:cNvSpPr txBox="1"/>
          <p:nvPr/>
        </p:nvSpPr>
        <p:spPr>
          <a:xfrm rot="16200000">
            <a:off x="564072" y="3588528"/>
            <a:ext cx="10358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 err="1">
                <a:latin typeface="Santander Headline" panose="020B0504020201020104"/>
              </a:rPr>
              <a:t>On</a:t>
            </a:r>
            <a:r>
              <a:rPr lang="es-ES_tradnl" sz="1400" b="1" dirty="0">
                <a:latin typeface="Santander Headline" panose="020B0504020201020104"/>
              </a:rPr>
              <a:t>-balance</a:t>
            </a:r>
            <a:endParaRPr lang="es-ES" sz="1400" b="1" dirty="0">
              <a:latin typeface="Santander Headline" panose="020B050402020102010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AAEC5C0F-7CE7-47ED-B837-E5CA5E738471}"/>
              </a:ext>
            </a:extLst>
          </p:cNvPr>
          <p:cNvSpPr txBox="1"/>
          <p:nvPr/>
        </p:nvSpPr>
        <p:spPr>
          <a:xfrm rot="16200000">
            <a:off x="7106005" y="4714240"/>
            <a:ext cx="10518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400" b="1" dirty="0">
                <a:latin typeface="Santander Headline" panose="020B0504020201020104"/>
              </a:rPr>
              <a:t>Off-balance</a:t>
            </a:r>
            <a:endParaRPr lang="es-ES" sz="1400" b="1" dirty="0">
              <a:latin typeface="Santander Headline" panose="020B0504020201020104"/>
            </a:endParaRPr>
          </a:p>
        </p:txBody>
      </p:sp>
    </p:spTree>
    <p:extLst>
      <p:ext uri="{BB962C8B-B14F-4D97-AF65-F5344CB8AC3E}">
        <p14:creationId xmlns:p14="http://schemas.microsoft.com/office/powerpoint/2010/main" val="424200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9613EBA-D0E2-479D-8316-FE5D861801B9}"/>
              </a:ext>
            </a:extLst>
          </p:cNvPr>
          <p:cNvSpPr txBox="1"/>
          <p:nvPr/>
        </p:nvSpPr>
        <p:spPr>
          <a:xfrm>
            <a:off x="3231145" y="3512990"/>
            <a:ext cx="45243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Text" panose="020B0504020201020104"/>
              </a:rPr>
              <a:t>Estos atributos: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ES" sz="1200" b="1" dirty="0">
                <a:latin typeface="Santander Text" panose="020B0504020201020104"/>
              </a:rPr>
              <a:t>Se anclan a 278 celdas del </a:t>
            </a:r>
            <a:r>
              <a:rPr lang="es-ES" sz="1200" b="1" dirty="0" err="1">
                <a:latin typeface="Santander Text" panose="020B0504020201020104"/>
              </a:rPr>
              <a:t>FinRep</a:t>
            </a:r>
            <a:r>
              <a:rPr lang="es-ES" sz="1200" b="1" dirty="0">
                <a:latin typeface="Santander Text" panose="020B0504020201020104"/>
              </a:rPr>
              <a:t> 18/Anexo NOPER; 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s-ES" sz="1200" b="1" dirty="0">
                <a:latin typeface="Santander Text" panose="020B0504020201020104"/>
              </a:rPr>
              <a:t>Se agrupan conformando un máximo de 154 subconjuntos.</a:t>
            </a:r>
          </a:p>
        </p:txBody>
      </p:sp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072F3045-4131-4922-824F-71D32BEBA188}"/>
              </a:ext>
            </a:extLst>
          </p:cNvPr>
          <p:cNvSpPr/>
          <p:nvPr/>
        </p:nvSpPr>
        <p:spPr>
          <a:xfrm>
            <a:off x="490040" y="4739148"/>
            <a:ext cx="1752961" cy="933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_tradnl" sz="1200" b="1" dirty="0">
                <a:latin typeface="Santander Text" panose="020B0504020201020104"/>
              </a:rPr>
              <a:t>Subconjunto 1: </a:t>
            </a:r>
          </a:p>
          <a:p>
            <a:pPr algn="ctr"/>
            <a:r>
              <a:rPr lang="es-ES_tradnl" sz="1200" b="1" dirty="0">
                <a:latin typeface="Santander Text" panose="020B0504020201020104"/>
              </a:rPr>
              <a:t>“n” contratos</a:t>
            </a:r>
          </a:p>
          <a:p>
            <a:pPr algn="ctr"/>
            <a:endParaRPr lang="es-ES" sz="400" b="1" dirty="0">
              <a:latin typeface="Santander Text" panose="020B0504020201020104"/>
            </a:endParaRPr>
          </a:p>
        </p:txBody>
      </p:sp>
      <p:sp>
        <p:nvSpPr>
          <p:cNvPr id="41" name="CuadroTexto 24">
            <a:extLst>
              <a:ext uri="{FF2B5EF4-FFF2-40B4-BE49-F238E27FC236}">
                <a16:creationId xmlns:a16="http://schemas.microsoft.com/office/drawing/2014/main" xmlns="" id="{0E8AB9CC-44EA-441D-8818-4E567E52A25A}"/>
              </a:ext>
            </a:extLst>
          </p:cNvPr>
          <p:cNvSpPr txBox="1"/>
          <p:nvPr/>
        </p:nvSpPr>
        <p:spPr>
          <a:xfrm>
            <a:off x="440182" y="836677"/>
            <a:ext cx="1107867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Para la extracción del perímetro de contratos, las Unidades reportarán el Loan Tape en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“subconjuntos”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de contratos homogéneos en base a sus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dimensiones relevantes 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que guiarán la consistencia del resto de los atributos del loan tape: sector de la contraparte, tipo de instrumento, cartera contable,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stage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etc. 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xmlns="" id="{0728737A-BA46-4B01-8D00-2BF5BDE894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17478"/>
              </p:ext>
            </p:extLst>
          </p:nvPr>
        </p:nvGraphicFramePr>
        <p:xfrm>
          <a:off x="2243001" y="4739148"/>
          <a:ext cx="7037635" cy="933450"/>
        </p:xfrm>
        <a:graphic>
          <a:graphicData uri="http://schemas.openxmlformats.org/drawingml/2006/table">
            <a:tbl>
              <a:tblPr/>
              <a:tblGrid>
                <a:gridCol w="1172227">
                  <a:extLst>
                    <a:ext uri="{9D8B030D-6E8A-4147-A177-3AD203B41FA5}">
                      <a16:colId xmlns:a16="http://schemas.microsoft.com/office/drawing/2014/main" xmlns="" val="1457040632"/>
                    </a:ext>
                  </a:extLst>
                </a:gridCol>
                <a:gridCol w="547891">
                  <a:extLst>
                    <a:ext uri="{9D8B030D-6E8A-4147-A177-3AD203B41FA5}">
                      <a16:colId xmlns:a16="http://schemas.microsoft.com/office/drawing/2014/main" xmlns="" val="684571113"/>
                    </a:ext>
                  </a:extLst>
                </a:gridCol>
                <a:gridCol w="659326">
                  <a:extLst>
                    <a:ext uri="{9D8B030D-6E8A-4147-A177-3AD203B41FA5}">
                      <a16:colId xmlns:a16="http://schemas.microsoft.com/office/drawing/2014/main" xmlns="" val="1874595708"/>
                    </a:ext>
                  </a:extLst>
                </a:gridCol>
                <a:gridCol w="761475">
                  <a:extLst>
                    <a:ext uri="{9D8B030D-6E8A-4147-A177-3AD203B41FA5}">
                      <a16:colId xmlns:a16="http://schemas.microsoft.com/office/drawing/2014/main" xmlns="" val="3102096051"/>
                    </a:ext>
                  </a:extLst>
                </a:gridCol>
                <a:gridCol w="826479">
                  <a:extLst>
                    <a:ext uri="{9D8B030D-6E8A-4147-A177-3AD203B41FA5}">
                      <a16:colId xmlns:a16="http://schemas.microsoft.com/office/drawing/2014/main" xmlns="" val="3729122481"/>
                    </a:ext>
                  </a:extLst>
                </a:gridCol>
                <a:gridCol w="482887">
                  <a:extLst>
                    <a:ext uri="{9D8B030D-6E8A-4147-A177-3AD203B41FA5}">
                      <a16:colId xmlns:a16="http://schemas.microsoft.com/office/drawing/2014/main" xmlns="" val="349723910"/>
                    </a:ext>
                  </a:extLst>
                </a:gridCol>
                <a:gridCol w="891483">
                  <a:extLst>
                    <a:ext uri="{9D8B030D-6E8A-4147-A177-3AD203B41FA5}">
                      <a16:colId xmlns:a16="http://schemas.microsoft.com/office/drawing/2014/main" xmlns="" val="2232382895"/>
                    </a:ext>
                  </a:extLst>
                </a:gridCol>
                <a:gridCol w="485449">
                  <a:extLst>
                    <a:ext uri="{9D8B030D-6E8A-4147-A177-3AD203B41FA5}">
                      <a16:colId xmlns:a16="http://schemas.microsoft.com/office/drawing/2014/main" xmlns="" val="1801651339"/>
                    </a:ext>
                  </a:extLst>
                </a:gridCol>
                <a:gridCol w="605209">
                  <a:extLst>
                    <a:ext uri="{9D8B030D-6E8A-4147-A177-3AD203B41FA5}">
                      <a16:colId xmlns:a16="http://schemas.microsoft.com/office/drawing/2014/main" xmlns="" val="2612397216"/>
                    </a:ext>
                  </a:extLst>
                </a:gridCol>
                <a:gridCol w="605209">
                  <a:extLst>
                    <a:ext uri="{9D8B030D-6E8A-4147-A177-3AD203B41FA5}">
                      <a16:colId xmlns:a16="http://schemas.microsoft.com/office/drawing/2014/main" xmlns="" val="706432809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Contrato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 NOPER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Bruto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Provisión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Neto</a:t>
                      </a:r>
                      <a:endParaRPr lang="es-ES" sz="10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65639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(1)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8299962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(n)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55287812"/>
                  </a:ext>
                </a:extLst>
              </a:tr>
            </a:tbl>
          </a:graphicData>
        </a:graphic>
      </p:graphicFrame>
      <p:pic>
        <p:nvPicPr>
          <p:cNvPr id="17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xmlns="" id="{C2F6C561-B714-4271-AECA-9AA9A3D39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832" y="3954463"/>
            <a:ext cx="136425" cy="161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CuadroTexto 24">
            <a:extLst>
              <a:ext uri="{FF2B5EF4-FFF2-40B4-BE49-F238E27FC236}">
                <a16:creationId xmlns:a16="http://schemas.microsoft.com/office/drawing/2014/main" xmlns="" id="{5BCE6801-7ED5-4767-AA16-36AB4E4514F1}"/>
              </a:ext>
            </a:extLst>
          </p:cNvPr>
          <p:cNvSpPr txBox="1"/>
          <p:nvPr/>
        </p:nvSpPr>
        <p:spPr>
          <a:xfrm>
            <a:off x="440182" y="1636667"/>
            <a:ext cx="11078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A continuación, se identifican los atributos comunes entre Loan Tape y Anexo NOPER, que determinarán el número de subsegmentos de contratos a reportar por las Unidades:</a:t>
            </a:r>
          </a:p>
        </p:txBody>
      </p:sp>
      <p:graphicFrame>
        <p:nvGraphicFramePr>
          <p:cNvPr id="23" name="Tabla 57">
            <a:extLst>
              <a:ext uri="{FF2B5EF4-FFF2-40B4-BE49-F238E27FC236}">
                <a16:creationId xmlns:a16="http://schemas.microsoft.com/office/drawing/2014/main" xmlns="" id="{DA6EAE10-6C0F-4C32-9096-0CF837D68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00100"/>
              </p:ext>
            </p:extLst>
          </p:nvPr>
        </p:nvGraphicFramePr>
        <p:xfrm>
          <a:off x="1375186" y="2349564"/>
          <a:ext cx="8812489" cy="1257300"/>
        </p:xfrm>
        <a:graphic>
          <a:graphicData uri="http://schemas.openxmlformats.org/drawingml/2006/table">
            <a:tbl>
              <a:tblPr/>
              <a:tblGrid>
                <a:gridCol w="22700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566334">
                  <a:extLst>
                    <a:ext uri="{9D8B030D-6E8A-4147-A177-3AD203B41FA5}">
                      <a16:colId xmlns:a16="http://schemas.microsoft.com/office/drawing/2014/main" xmlns="" val="4263482832"/>
                    </a:ext>
                  </a:extLst>
                </a:gridCol>
                <a:gridCol w="2023533">
                  <a:extLst>
                    <a:ext uri="{9D8B030D-6E8A-4147-A177-3AD203B41FA5}">
                      <a16:colId xmlns:a16="http://schemas.microsoft.com/office/drawing/2014/main" xmlns="" val="2465000092"/>
                    </a:ext>
                  </a:extLst>
                </a:gridCol>
                <a:gridCol w="621312">
                  <a:extLst>
                    <a:ext uri="{9D8B030D-6E8A-4147-A177-3AD203B41FA5}">
                      <a16:colId xmlns:a16="http://schemas.microsoft.com/office/drawing/2014/main" xmlns="" val="1418566233"/>
                    </a:ext>
                  </a:extLst>
                </a:gridCol>
                <a:gridCol w="1043459">
                  <a:extLst>
                    <a:ext uri="{9D8B030D-6E8A-4147-A177-3AD203B41FA5}">
                      <a16:colId xmlns:a16="http://schemas.microsoft.com/office/drawing/2014/main" xmlns="" val="184544328"/>
                    </a:ext>
                  </a:extLst>
                </a:gridCol>
                <a:gridCol w="1287756">
                  <a:extLst>
                    <a:ext uri="{9D8B030D-6E8A-4147-A177-3AD203B41FA5}">
                      <a16:colId xmlns:a16="http://schemas.microsoft.com/office/drawing/2014/main" xmlns="" val="462508465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Efectivo y otros depósitos a la vista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Entidades de crédito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onBS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cambios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Riesgo de firma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cambios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Hogares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N/A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offbalance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337A205-1DCD-4824-BF85-03556F86A518}"/>
              </a:ext>
            </a:extLst>
          </p:cNvPr>
          <p:cNvSpPr/>
          <p:nvPr/>
        </p:nvSpPr>
        <p:spPr>
          <a:xfrm>
            <a:off x="9676774" y="4614009"/>
            <a:ext cx="2299048" cy="13207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3050" lvl="2" indent="-2286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Contratos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bajo </a:t>
            </a:r>
            <a:r>
              <a:rPr lang="en-GB" sz="1000" b="1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línea</a:t>
            </a:r>
            <a:r>
              <a:rPr lang="en-GB" sz="1000" b="1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150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GB" sz="1000" i="1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Hogares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) a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Coste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amortizado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–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Préstamos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anticipos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- Stage 3 - Non-performing</a:t>
            </a:r>
            <a:endParaRPr lang="es-ES" sz="1000" dirty="0"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3050" lvl="2" indent="-2286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Importe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bruto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libros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sz="1000" b="1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Columna</a:t>
            </a:r>
            <a:r>
              <a:rPr lang="en-GB" sz="1000" b="1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121</a:t>
            </a:r>
            <a:endParaRPr lang="es-ES" sz="1000" dirty="0"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3050" lvl="2" indent="-228600" algn="just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Deterioro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1000" dirty="0" err="1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acumulado</a:t>
            </a:r>
            <a:r>
              <a:rPr lang="en-GB" sz="1000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GB" sz="1000" b="1" dirty="0">
                <a:latin typeface="Santander Text" panose="020B0504020201020104"/>
                <a:ea typeface="Calibri" panose="020F0502020204030204" pitchFamily="34" charset="0"/>
                <a:cs typeface="Times New Roman" panose="02020603050405020304" pitchFamily="18" charset="0"/>
              </a:rPr>
              <a:t>Column 951</a:t>
            </a:r>
            <a:endParaRPr lang="es-ES" sz="1000" u="none" strike="noStrike" dirty="0">
              <a:effectLst/>
              <a:latin typeface="Santander Text" panose="020B05040202010201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xmlns="" id="{BC04A8DB-750A-4A02-BD6F-9D32969B1A9F}"/>
              </a:ext>
            </a:extLst>
          </p:cNvPr>
          <p:cNvSpPr/>
          <p:nvPr/>
        </p:nvSpPr>
        <p:spPr>
          <a:xfrm rot="5400000">
            <a:off x="8986849" y="5413327"/>
            <a:ext cx="1512000" cy="0"/>
          </a:xfrm>
          <a:custGeom>
            <a:avLst/>
            <a:gdLst/>
            <a:ahLst/>
            <a:cxnLst/>
            <a:rect l="l" t="t" r="r" b="b"/>
            <a:pathLst>
              <a:path w="2560320">
                <a:moveTo>
                  <a:pt x="0" y="0"/>
                </a:moveTo>
                <a:lnTo>
                  <a:pt x="255988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4FD1858-D46D-4ABC-92A1-7CB64F1566AB}"/>
              </a:ext>
            </a:extLst>
          </p:cNvPr>
          <p:cNvSpPr txBox="1"/>
          <p:nvPr/>
        </p:nvSpPr>
        <p:spPr>
          <a:xfrm>
            <a:off x="9324419" y="516272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=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xmlns="" id="{E2F99336-BAE5-4F59-B226-43A7E488F7C4}"/>
              </a:ext>
            </a:extLst>
          </p:cNvPr>
          <p:cNvSpPr txBox="1"/>
          <p:nvPr/>
        </p:nvSpPr>
        <p:spPr>
          <a:xfrm>
            <a:off x="10187675" y="4391857"/>
            <a:ext cx="1367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b="1" dirty="0" err="1">
                <a:latin typeface="Santander Text" panose="020B0504020201020104"/>
              </a:rPr>
              <a:t>Finrep</a:t>
            </a:r>
            <a:r>
              <a:rPr lang="es-ES" sz="1200" b="1" dirty="0">
                <a:latin typeface="Santander Text" panose="020B0504020201020104"/>
              </a:rPr>
              <a:t> 18 / NOPER</a:t>
            </a:r>
          </a:p>
        </p:txBody>
      </p:sp>
      <p:sp>
        <p:nvSpPr>
          <p:cNvPr id="40" name="CuadroTexto 24">
            <a:extLst>
              <a:ext uri="{FF2B5EF4-FFF2-40B4-BE49-F238E27FC236}">
                <a16:creationId xmlns:a16="http://schemas.microsoft.com/office/drawing/2014/main" xmlns="" id="{50315A25-7053-4412-BDAD-D61ED71AA7F9}"/>
              </a:ext>
            </a:extLst>
          </p:cNvPr>
          <p:cNvSpPr txBox="1"/>
          <p:nvPr/>
        </p:nvSpPr>
        <p:spPr>
          <a:xfrm>
            <a:off x="445949" y="4263553"/>
            <a:ext cx="920572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highlight>
                  <a:srgbClr val="C0C0C0"/>
                </a:highlight>
                <a:latin typeface="Santander Text" panose="020B0504020201020104" pitchFamily="34" charset="0"/>
              </a:rPr>
              <a:t>Ejemplo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:</a:t>
            </a:r>
          </a:p>
        </p:txBody>
      </p:sp>
      <p:sp>
        <p:nvSpPr>
          <p:cNvPr id="24" name="Rectángulo 20">
            <a:extLst>
              <a:ext uri="{FF2B5EF4-FFF2-40B4-BE49-F238E27FC236}">
                <a16:creationId xmlns:a16="http://schemas.microsoft.com/office/drawing/2014/main" xmlns="" id="{AA821E43-263C-4659-956E-71DA58AA4E3A}"/>
              </a:ext>
            </a:extLst>
          </p:cNvPr>
          <p:cNvSpPr/>
          <p:nvPr/>
        </p:nvSpPr>
        <p:spPr>
          <a:xfrm>
            <a:off x="7648925" y="4736848"/>
            <a:ext cx="407955" cy="332747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sp>
        <p:nvSpPr>
          <p:cNvPr id="26" name="Rectángulo 20">
            <a:extLst>
              <a:ext uri="{FF2B5EF4-FFF2-40B4-BE49-F238E27FC236}">
                <a16:creationId xmlns:a16="http://schemas.microsoft.com/office/drawing/2014/main" xmlns="" id="{1F2863BC-9969-49A4-B2C0-298D10735D45}"/>
              </a:ext>
            </a:extLst>
          </p:cNvPr>
          <p:cNvSpPr/>
          <p:nvPr/>
        </p:nvSpPr>
        <p:spPr>
          <a:xfrm>
            <a:off x="8120934" y="4736848"/>
            <a:ext cx="565866" cy="332747"/>
          </a:xfrm>
          <a:prstGeom prst="rect">
            <a:avLst/>
          </a:prstGeom>
          <a:noFill/>
          <a:ln w="19050" cap="flat" cmpd="sng" algn="ctr">
            <a:solidFill>
              <a:schemeClr val="tx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xmlns="" id="{73930140-F0B9-4BEC-8693-A424CAEEBDEE}"/>
              </a:ext>
            </a:extLst>
          </p:cNvPr>
          <p:cNvCxnSpPr>
            <a:cxnSpLocks/>
            <a:endCxn id="28" idx="0"/>
          </p:cNvCxnSpPr>
          <p:nvPr/>
        </p:nvCxnSpPr>
        <p:spPr>
          <a:xfrm flipV="1">
            <a:off x="7823201" y="4736848"/>
            <a:ext cx="1196394" cy="2"/>
          </a:xfrm>
          <a:prstGeom prst="bentConnector4">
            <a:avLst>
              <a:gd name="adj1" fmla="val 810"/>
              <a:gd name="adj2" fmla="val 1143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0">
            <a:extLst>
              <a:ext uri="{FF2B5EF4-FFF2-40B4-BE49-F238E27FC236}">
                <a16:creationId xmlns:a16="http://schemas.microsoft.com/office/drawing/2014/main" xmlns="" id="{1D88ED81-E4DA-4444-9195-79D09F48FB35}"/>
              </a:ext>
            </a:extLst>
          </p:cNvPr>
          <p:cNvSpPr/>
          <p:nvPr/>
        </p:nvSpPr>
        <p:spPr>
          <a:xfrm>
            <a:off x="8736662" y="4736848"/>
            <a:ext cx="565866" cy="332747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xmlns="" id="{0B0B9DFE-2938-4841-8BC5-969598ABC593}"/>
              </a:ext>
            </a:extLst>
          </p:cNvPr>
          <p:cNvCxnSpPr>
            <a:cxnSpLocks/>
            <a:stCxn id="26" idx="0"/>
            <a:endCxn id="28" idx="0"/>
          </p:cNvCxnSpPr>
          <p:nvPr/>
        </p:nvCxnSpPr>
        <p:spPr>
          <a:xfrm rot="5400000" flipH="1" flipV="1">
            <a:off x="8711731" y="4428984"/>
            <a:ext cx="12700" cy="615728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2259F43B-DF88-45DC-BB9D-B552191E4ACB}"/>
              </a:ext>
            </a:extLst>
          </p:cNvPr>
          <p:cNvSpPr txBox="1"/>
          <p:nvPr/>
        </p:nvSpPr>
        <p:spPr>
          <a:xfrm>
            <a:off x="7925949" y="4295090"/>
            <a:ext cx="96853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900" dirty="0">
                <a:latin typeface="Santander Text" panose="020B0504020201020104"/>
              </a:rPr>
              <a:t>Bruto - Provisión</a:t>
            </a:r>
            <a:endParaRPr lang="es-ES" sz="900" dirty="0">
              <a:latin typeface="Santander Text" panose="020B05040202010201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xmlns="" id="{485F7400-4727-45CE-AA20-F12C04F57C4D}"/>
              </a:ext>
            </a:extLst>
          </p:cNvPr>
          <p:cNvSpPr/>
          <p:nvPr/>
        </p:nvSpPr>
        <p:spPr>
          <a:xfrm>
            <a:off x="2449149" y="5788561"/>
            <a:ext cx="71413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C00000"/>
              </a:buClr>
            </a:pPr>
            <a:r>
              <a:rPr lang="es-ES" sz="1200" b="1" dirty="0">
                <a:latin typeface="Santander Text"/>
              </a:rPr>
              <a:t>Premisas a considerar: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ES" sz="1200" b="1" dirty="0">
                <a:latin typeface="Santander Text"/>
              </a:rPr>
              <a:t>Las operaciones son únicas</a:t>
            </a:r>
            <a:r>
              <a:rPr lang="es-ES" sz="1200" dirty="0">
                <a:latin typeface="Santander Text"/>
              </a:rPr>
              <a:t>, apareciendo exclusivamente en un solo </a:t>
            </a:r>
            <a:r>
              <a:rPr lang="es-ES" sz="1200" dirty="0" err="1">
                <a:latin typeface="Santander Text"/>
              </a:rPr>
              <a:t>subportfolio</a:t>
            </a:r>
            <a:r>
              <a:rPr lang="es-ES" sz="1200" dirty="0">
                <a:latin typeface="Santander Text"/>
              </a:rPr>
              <a:t>.</a:t>
            </a:r>
          </a:p>
          <a:p>
            <a:pPr marL="285750" indent="-285750">
              <a:buClr>
                <a:srgbClr val="C00000"/>
              </a:buClr>
              <a:buFont typeface="Wingdings" panose="05000000000000000000" pitchFamily="2" charset="2"/>
              <a:buChar char="§"/>
            </a:pPr>
            <a:r>
              <a:rPr lang="es-ES" sz="1200" b="1" dirty="0">
                <a:latin typeface="Santander Text"/>
              </a:rPr>
              <a:t>Sólo se incluirán los titulares de riesgos directos en el módulo de “</a:t>
            </a:r>
            <a:r>
              <a:rPr lang="es-ES" sz="1200" b="1" dirty="0" err="1">
                <a:latin typeface="Santander Text"/>
              </a:rPr>
              <a:t>Entity</a:t>
            </a:r>
            <a:r>
              <a:rPr lang="es-ES" sz="1200" b="1" dirty="0">
                <a:latin typeface="Santander Text"/>
              </a:rPr>
              <a:t>”. </a:t>
            </a:r>
            <a:r>
              <a:rPr lang="es-ES" sz="1200" dirty="0">
                <a:latin typeface="Santander Text"/>
              </a:rPr>
              <a:t>Por tanto, no se incluyen titulares exclusivos de riesgos indirectos (</a:t>
            </a:r>
            <a:r>
              <a:rPr lang="es-ES" sz="1200" dirty="0" err="1">
                <a:latin typeface="Santander Text"/>
              </a:rPr>
              <a:t>guarantors</a:t>
            </a:r>
            <a:r>
              <a:rPr lang="es-ES" sz="1200" dirty="0">
                <a:latin typeface="Santander Text"/>
              </a:rPr>
              <a:t>).</a:t>
            </a:r>
          </a:p>
        </p:txBody>
      </p:sp>
      <p:pic>
        <p:nvPicPr>
          <p:cNvPr id="36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xmlns="" id="{C6EEBBD1-5267-44B9-840A-047757D6E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439617" y="3168178"/>
            <a:ext cx="1140094" cy="1053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xmlns="" id="{742D7BAB-8C13-4A47-9F5C-D73B1A1B8D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170206"/>
              </p:ext>
            </p:extLst>
          </p:nvPr>
        </p:nvGraphicFramePr>
        <p:xfrm>
          <a:off x="7315353" y="3664157"/>
          <a:ext cx="322383" cy="2843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Macro-Enabled Worksheet" showAsIcon="1" r:id="rId8" imgW="914597" imgH="806311" progId="Excel.SheetMacroEnabled.12">
                  <p:embed/>
                </p:oleObj>
              </mc:Choice>
              <mc:Fallback>
                <p:oleObj name="Macro-Enabled Worksheet" showAsIcon="1" r:id="rId8" imgW="914597" imgH="806311" progId="Excel.SheetMacroEnabled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xmlns="" id="{742D7BAB-8C13-4A47-9F5C-D73B1A1B8D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7315353" y="3664157"/>
                        <a:ext cx="322383" cy="2843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3782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83D1D93-9063-44F9-ACB3-DF2E7A82829D}"/>
              </a:ext>
            </a:extLst>
          </p:cNvPr>
          <p:cNvSpPr/>
          <p:nvPr/>
        </p:nvSpPr>
        <p:spPr>
          <a:xfrm>
            <a:off x="9448688" y="5140152"/>
            <a:ext cx="2144611" cy="1061829"/>
          </a:xfrm>
          <a:prstGeom prst="rect">
            <a:avLst/>
          </a:prstGeom>
          <a:solidFill>
            <a:schemeClr val="bg2">
              <a:alpha val="31000"/>
            </a:schemeClr>
          </a:solidFill>
          <a:ln w="19050" cap="flat" cmpd="sng" algn="ctr">
            <a:solidFill>
              <a:schemeClr val="tx1"/>
            </a:solidFill>
            <a:prstDash val="dash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chemeClr val="tx2"/>
              </a:solidFill>
            </a:endParaRPr>
          </a:p>
        </p:txBody>
      </p:sp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4" action="ppaction://hlinksldjump"/>
            <a:extLst>
              <a:ext uri="{FF2B5EF4-FFF2-40B4-BE49-F238E27FC236}">
                <a16:creationId xmlns:a16="http://schemas.microsoft.com/office/drawing/2014/main" xmlns="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299" y="485105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a 7">
            <a:extLst>
              <a:ext uri="{FF2B5EF4-FFF2-40B4-BE49-F238E27FC236}">
                <a16:creationId xmlns:a16="http://schemas.microsoft.com/office/drawing/2014/main" xmlns="" id="{A0A324BC-0A4A-4E8C-BF6D-787E71C3F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183373"/>
              </p:ext>
            </p:extLst>
          </p:nvPr>
        </p:nvGraphicFramePr>
        <p:xfrm>
          <a:off x="677720" y="1832385"/>
          <a:ext cx="8134924" cy="1203960"/>
        </p:xfrm>
        <a:graphic>
          <a:graphicData uri="http://schemas.openxmlformats.org/drawingml/2006/table">
            <a:tbl>
              <a:tblPr/>
              <a:tblGrid>
                <a:gridCol w="419219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934347">
                  <a:extLst>
                    <a:ext uri="{9D8B030D-6E8A-4147-A177-3AD203B41FA5}">
                      <a16:colId xmlns:a16="http://schemas.microsoft.com/office/drawing/2014/main" xmlns="" val="931164600"/>
                    </a:ext>
                  </a:extLst>
                </a:gridCol>
                <a:gridCol w="1170500">
                  <a:extLst>
                    <a:ext uri="{9D8B030D-6E8A-4147-A177-3AD203B41FA5}">
                      <a16:colId xmlns:a16="http://schemas.microsoft.com/office/drawing/2014/main" xmlns="" val="4266344597"/>
                    </a:ext>
                  </a:extLst>
                </a:gridCol>
                <a:gridCol w="945189">
                  <a:extLst>
                    <a:ext uri="{9D8B030D-6E8A-4147-A177-3AD203B41FA5}">
                      <a16:colId xmlns:a16="http://schemas.microsoft.com/office/drawing/2014/main" xmlns="" val="1348945095"/>
                    </a:ext>
                  </a:extLst>
                </a:gridCol>
                <a:gridCol w="892698">
                  <a:extLst>
                    <a:ext uri="{9D8B030D-6E8A-4147-A177-3AD203B41FA5}">
                      <a16:colId xmlns:a16="http://schemas.microsoft.com/office/drawing/2014/main" xmlns="" val="706436110"/>
                    </a:ext>
                  </a:extLst>
                </a:gridCol>
              </a:tblGrid>
              <a:tr h="1171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subportf</a:t>
                      </a: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.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Total Campos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Campos específicos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0838221"/>
                  </a:ext>
                </a:extLst>
              </a:tr>
              <a:tr h="117192"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tx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PYMES (1)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CRE (2) 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236522177"/>
                  </a:ext>
                </a:extLst>
              </a:tr>
              <a:tr h="34515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Efectivo, saldos en efectivo en bancos centrales y otros depósitos a la vista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4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228 </a:t>
                      </a:r>
                    </a:p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+ 15 campos LF (*) </a:t>
                      </a:r>
                    </a:p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+ 3 campos identificativos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74128548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42777246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720285475"/>
                  </a:ext>
                </a:extLst>
              </a:tr>
              <a:tr h="158750">
                <a:tc vMerge="1"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10066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dkUpDiag">
                      <a:fgClr>
                        <a:schemeClr val="bg2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32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+9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+17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23" name="CuadroTexto 24">
            <a:extLst>
              <a:ext uri="{FF2B5EF4-FFF2-40B4-BE49-F238E27FC236}">
                <a16:creationId xmlns:a16="http://schemas.microsoft.com/office/drawing/2014/main" xmlns="" id="{E3786CCB-FDE5-4A1B-B330-5BBEC34D15F5}"/>
              </a:ext>
            </a:extLst>
          </p:cNvPr>
          <p:cNvSpPr txBox="1"/>
          <p:nvPr/>
        </p:nvSpPr>
        <p:spPr>
          <a:xfrm>
            <a:off x="512571" y="735102"/>
            <a:ext cx="1101973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Se solicitará un único fichero por tabla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es decir, cinco ficheros: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entity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entity-instrument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instrument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instrument-protection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protection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. La estructura de cada uno de estos ficheros será única, si bien, es importante remarcar (</a:t>
            </a:r>
            <a:r>
              <a:rPr lang="es-ES" sz="1400" baseline="30000" dirty="0">
                <a:solidFill>
                  <a:prstClr val="black"/>
                </a:solidFill>
                <a:latin typeface="Santander Text" panose="020B0504020201020104" pitchFamily="34" charset="0"/>
              </a:rPr>
              <a:t>1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) que determinados campos sólo aplicarán dependiendo del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segmento NOPER y ciertas marcas (PYMES, CRE, etc.)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tal y como se explica a continuación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:</a:t>
            </a:r>
            <a:endParaRPr lang="es-ES" sz="1400" b="1" dirty="0">
              <a:latin typeface="Santander Tex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601215BA-5B4A-43DF-90CD-42371A41372A}"/>
              </a:ext>
            </a:extLst>
          </p:cNvPr>
          <p:cNvSpPr/>
          <p:nvPr/>
        </p:nvSpPr>
        <p:spPr>
          <a:xfrm>
            <a:off x="9522692" y="5140153"/>
            <a:ext cx="2039458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dirty="0">
                <a:latin typeface="Santander Text"/>
              </a:rPr>
              <a:t>(*) Se solicitarán 15 campos adicionales para los contratos considerados </a:t>
            </a:r>
            <a:r>
              <a:rPr lang="es-ES" sz="900" dirty="0" err="1">
                <a:latin typeface="Santander Text"/>
              </a:rPr>
              <a:t>Leverage</a:t>
            </a:r>
            <a:r>
              <a:rPr lang="es-ES" sz="900" dirty="0">
                <a:latin typeface="Santander Text"/>
              </a:rPr>
              <a:t> Finance.</a:t>
            </a:r>
          </a:p>
          <a:p>
            <a:endParaRPr lang="es-ES" sz="900" dirty="0">
              <a:latin typeface="Santander Text"/>
            </a:endParaRPr>
          </a:p>
          <a:p>
            <a:r>
              <a:rPr lang="es-ES" sz="900" dirty="0">
                <a:latin typeface="Santander Text"/>
              </a:rPr>
              <a:t>(**) Habrá que reportarlo para todos los contratos de titulares que tengan al menos un contrato en RRE.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CD8D1970-8B83-4127-AB13-5DC985425052}"/>
              </a:ext>
            </a:extLst>
          </p:cNvPr>
          <p:cNvSpPr/>
          <p:nvPr/>
        </p:nvSpPr>
        <p:spPr>
          <a:xfrm>
            <a:off x="673140" y="3172220"/>
            <a:ext cx="8139504" cy="73605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 dirty="0">
                <a:latin typeface="Santander Text" panose="020B0504020201020104"/>
              </a:rPr>
              <a:t>Se solicitarán el identificador del </a:t>
            </a:r>
            <a:r>
              <a:rPr lang="es-ES" sz="1100" b="1" dirty="0" err="1">
                <a:latin typeface="Santander Text" panose="020B0504020201020104"/>
              </a:rPr>
              <a:t>subportfolio</a:t>
            </a:r>
            <a:r>
              <a:rPr lang="es-ES" sz="1100" b="1" dirty="0">
                <a:latin typeface="Santander Text" panose="020B0504020201020104"/>
              </a:rPr>
              <a:t> y dos marcas (Sí/No) en el LT que identifiquen, dentro de Sociedades no financieras:</a:t>
            </a:r>
          </a:p>
          <a:p>
            <a:r>
              <a:rPr lang="es-ES" sz="1100" b="1" dirty="0">
                <a:latin typeface="Santander Text" panose="020B0504020201020104"/>
              </a:rPr>
              <a:t>(1) Préstamos concedidos a PYMES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130, 900 o 920: “del que: Pymes”).</a:t>
            </a:r>
          </a:p>
          <a:p>
            <a:r>
              <a:rPr lang="es-ES" sz="1100" b="1" dirty="0">
                <a:latin typeface="Santander Text" panose="020B0504020201020104"/>
              </a:rPr>
              <a:t>(2) Préstamos concedidos a </a:t>
            </a:r>
            <a:r>
              <a:rPr lang="es-ES" sz="1100" b="1" dirty="0" err="1">
                <a:latin typeface="Santander Text" panose="020B0504020201020104"/>
              </a:rPr>
              <a:t>Commercial</a:t>
            </a:r>
            <a:r>
              <a:rPr lang="es-ES" sz="1100" b="1" dirty="0">
                <a:latin typeface="Santander Text" panose="020B0504020201020104"/>
              </a:rPr>
              <a:t> Real Estate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140, 903, 923: “de los que: préstamos garantizados por bienes inmuebles comerciales”).</a:t>
            </a:r>
          </a:p>
        </p:txBody>
      </p:sp>
      <p:graphicFrame>
        <p:nvGraphicFramePr>
          <p:cNvPr id="27" name="Tabla 7">
            <a:extLst>
              <a:ext uri="{FF2B5EF4-FFF2-40B4-BE49-F238E27FC236}">
                <a16:creationId xmlns:a16="http://schemas.microsoft.com/office/drawing/2014/main" xmlns="" id="{70E4AFC7-5711-44BE-A363-6F4041DA85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144632"/>
              </p:ext>
            </p:extLst>
          </p:nvPr>
        </p:nvGraphicFramePr>
        <p:xfrm>
          <a:off x="629850" y="4921207"/>
          <a:ext cx="8182794" cy="537210"/>
        </p:xfrm>
        <a:graphic>
          <a:graphicData uri="http://schemas.openxmlformats.org/drawingml/2006/table">
            <a:tbl>
              <a:tblPr/>
              <a:tblGrid>
                <a:gridCol w="23844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68299">
                  <a:extLst>
                    <a:ext uri="{9D8B030D-6E8A-4147-A177-3AD203B41FA5}">
                      <a16:colId xmlns:a16="http://schemas.microsoft.com/office/drawing/2014/main" xmlns="" val="4266344597"/>
                    </a:ext>
                  </a:extLst>
                </a:gridCol>
                <a:gridCol w="1992164">
                  <a:extLst>
                    <a:ext uri="{9D8B030D-6E8A-4147-A177-3AD203B41FA5}">
                      <a16:colId xmlns:a16="http://schemas.microsoft.com/office/drawing/2014/main" xmlns="" val="1129610681"/>
                    </a:ext>
                  </a:extLst>
                </a:gridCol>
                <a:gridCol w="1937856">
                  <a:extLst>
                    <a:ext uri="{9D8B030D-6E8A-4147-A177-3AD203B41FA5}">
                      <a16:colId xmlns:a16="http://schemas.microsoft.com/office/drawing/2014/main" xmlns="" val="2052975229"/>
                    </a:ext>
                  </a:extLst>
                </a:gridCol>
              </a:tblGrid>
              <a:tr h="117192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Total </a:t>
                      </a:r>
                      <a:r>
                        <a:rPr lang="es-E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subportf</a:t>
                      </a:r>
                      <a:r>
                        <a:rPr lang="es-E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/>
                        </a:rPr>
                        <a:t>.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Total Campos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Campos específicos</a:t>
                      </a:r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58852849"/>
                  </a:ext>
                </a:extLst>
              </a:tr>
              <a:tr h="117192">
                <a:tc vMerge="1">
                  <a:txBody>
                    <a:bodyPr/>
                    <a:lstStyle/>
                    <a:p>
                      <a:pPr algn="ctr" fontAlgn="b"/>
                      <a:endParaRPr lang="es-ES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tx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b"/>
                      <a:endParaRPr lang="es-ES" sz="1200" b="1" i="0" u="none" strike="noStrike" dirty="0">
                        <a:solidFill>
                          <a:schemeClr val="bg1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RRE (1) (**)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00838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 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22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161 + 3 campos identificativos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+31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90FEBBE-2E42-4F48-9491-1268194AFAA3}"/>
              </a:ext>
            </a:extLst>
          </p:cNvPr>
          <p:cNvSpPr txBox="1"/>
          <p:nvPr/>
        </p:nvSpPr>
        <p:spPr>
          <a:xfrm>
            <a:off x="599063" y="1393478"/>
            <a:ext cx="188710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Santander Headline"/>
              </a:rPr>
              <a:t>Personas jurídicas</a:t>
            </a:r>
          </a:p>
          <a:p>
            <a:pPr marL="800100" lvl="1" indent="-342900">
              <a:buFont typeface="+mj-lt"/>
              <a:buAutoNum type="alphaUcPeriod"/>
            </a:pPr>
            <a:r>
              <a:rPr lang="es-ES" sz="1200" b="1" dirty="0">
                <a:latin typeface="Santander Headline"/>
              </a:rPr>
              <a:t>Préstamos: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46112115-9A94-4637-9EDC-E9D07BF14F1E}"/>
              </a:ext>
            </a:extLst>
          </p:cNvPr>
          <p:cNvSpPr txBox="1"/>
          <p:nvPr/>
        </p:nvSpPr>
        <p:spPr>
          <a:xfrm>
            <a:off x="551292" y="4626857"/>
            <a:ext cx="3451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Santander Headline"/>
              </a:rPr>
              <a:t>Personas físicas </a:t>
            </a:r>
            <a:r>
              <a:rPr lang="es-ES" sz="1200" b="1" dirty="0">
                <a:latin typeface="Santander Headline"/>
              </a:rPr>
              <a:t>(Préstamos)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xmlns="" id="{D19B1242-B4D4-4A27-B7A2-D0F480A3BE69}"/>
              </a:ext>
            </a:extLst>
          </p:cNvPr>
          <p:cNvSpPr/>
          <p:nvPr/>
        </p:nvSpPr>
        <p:spPr>
          <a:xfrm>
            <a:off x="629850" y="5590640"/>
            <a:ext cx="8182794" cy="736057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 dirty="0">
                <a:latin typeface="Santander Text" panose="020B0504020201020104"/>
              </a:rPr>
              <a:t>Se solicitarán el identificador del </a:t>
            </a:r>
            <a:r>
              <a:rPr lang="es-ES" sz="1100" b="1" dirty="0" err="1">
                <a:latin typeface="Santander Text" panose="020B0504020201020104"/>
              </a:rPr>
              <a:t>subportfolio</a:t>
            </a:r>
            <a:r>
              <a:rPr lang="es-ES" sz="1100" b="1" dirty="0">
                <a:latin typeface="Santander Text" panose="020B0504020201020104"/>
              </a:rPr>
              <a:t> y dos marcas (Sí/No) en el LT que identifiquen, dentro de Hogares:</a:t>
            </a:r>
          </a:p>
          <a:p>
            <a:r>
              <a:rPr lang="es-ES" sz="1100" b="1" dirty="0">
                <a:latin typeface="Santander Text" panose="020B0504020201020104"/>
              </a:rPr>
              <a:t>(1) Préstamos concedidos a </a:t>
            </a:r>
            <a:r>
              <a:rPr lang="es-ES" sz="1100" b="1" dirty="0" err="1">
                <a:latin typeface="Santander Text" panose="020B0504020201020104"/>
              </a:rPr>
              <a:t>Residential</a:t>
            </a:r>
            <a:r>
              <a:rPr lang="es-ES" sz="1100" b="1" dirty="0">
                <a:latin typeface="Santander Text" panose="020B0504020201020104"/>
              </a:rPr>
              <a:t> Real Estate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160, 910 o 930: “de los que: préstamos garantizados por bienes inmuebles residenciales”).</a:t>
            </a:r>
          </a:p>
          <a:p>
            <a:r>
              <a:rPr lang="es-ES" sz="1100" b="1" dirty="0">
                <a:latin typeface="Santander Text" panose="020B0504020201020104"/>
              </a:rPr>
              <a:t>(2) Préstamos concedidos a Créditos al consumo </a:t>
            </a:r>
            <a:r>
              <a:rPr lang="es-ES" sz="1100" dirty="0">
                <a:latin typeface="Santander Text" panose="020B0504020201020104"/>
              </a:rPr>
              <a:t>(reportados en las filas del </a:t>
            </a:r>
            <a:r>
              <a:rPr lang="es-ES" sz="1100" dirty="0" err="1">
                <a:latin typeface="Santander Text" panose="020B0504020201020104"/>
              </a:rPr>
              <a:t>FinRep</a:t>
            </a:r>
            <a:r>
              <a:rPr lang="es-ES" sz="1100" dirty="0">
                <a:latin typeface="Santander Text" panose="020B0504020201020104"/>
              </a:rPr>
              <a:t> 18 </a:t>
            </a:r>
            <a:r>
              <a:rPr lang="es-ES" sz="1100" dirty="0" err="1">
                <a:latin typeface="Santander Text" panose="020B0504020201020104"/>
              </a:rPr>
              <a:t>nº</a:t>
            </a:r>
            <a:r>
              <a:rPr lang="es-ES" sz="1100" dirty="0">
                <a:latin typeface="Santander Text" panose="020B0504020201020104"/>
              </a:rPr>
              <a:t> 170, 913, 933: “de los que: créditos al consumo”)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xmlns="" id="{18F36295-5C13-4B5A-986B-859F1C497797}"/>
              </a:ext>
            </a:extLst>
          </p:cNvPr>
          <p:cNvSpPr txBox="1"/>
          <p:nvPr/>
        </p:nvSpPr>
        <p:spPr>
          <a:xfrm>
            <a:off x="9399420" y="4819379"/>
            <a:ext cx="16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Headline"/>
              </a:rPr>
              <a:t>Leyenda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6F9DB787-9113-4A7F-991F-FF5117F747D1}"/>
              </a:ext>
            </a:extLst>
          </p:cNvPr>
          <p:cNvSpPr txBox="1"/>
          <p:nvPr/>
        </p:nvSpPr>
        <p:spPr>
          <a:xfrm>
            <a:off x="551292" y="3967191"/>
            <a:ext cx="32282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lphaUcPeriod" startAt="2"/>
            </a:pPr>
            <a:r>
              <a:rPr lang="es-ES" sz="1200" b="1" dirty="0">
                <a:latin typeface="Santander Headline"/>
              </a:rPr>
              <a:t>Valores representativos de deuda: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EE6EB0FB-88A3-4A98-8914-FD96CBC69CC2}"/>
              </a:ext>
            </a:extLst>
          </p:cNvPr>
          <p:cNvSpPr/>
          <p:nvPr/>
        </p:nvSpPr>
        <p:spPr>
          <a:xfrm>
            <a:off x="629850" y="4227258"/>
            <a:ext cx="8182794" cy="291105"/>
          </a:xfrm>
          <a:prstGeom prst="rect">
            <a:avLst/>
          </a:prstGeom>
          <a:solidFill>
            <a:schemeClr val="accent1">
              <a:lumMod val="20000"/>
              <a:lumOff val="80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s-ES" sz="1100" b="1" dirty="0">
                <a:latin typeface="Santander Text" panose="020B0504020201020104"/>
              </a:rPr>
              <a:t>Se solicitará una única tabla de </a:t>
            </a:r>
            <a:r>
              <a:rPr lang="es-ES" sz="1100" b="1" dirty="0" err="1">
                <a:latin typeface="Santander Text" panose="020B0504020201020104"/>
              </a:rPr>
              <a:t>Instrument</a:t>
            </a:r>
            <a:r>
              <a:rPr lang="es-ES" sz="1100" b="1" dirty="0">
                <a:latin typeface="Santander Text" panose="020B0504020201020104"/>
              </a:rPr>
              <a:t> que contiene 95 campos + 3 campos identificativos.</a:t>
            </a:r>
            <a:endParaRPr lang="es-ES" sz="1100" dirty="0">
              <a:latin typeface="Santander Text" panose="020B05040202010201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53AF848-415F-458A-9E99-4980B9C3331B}"/>
              </a:ext>
            </a:extLst>
          </p:cNvPr>
          <p:cNvSpPr/>
          <p:nvPr/>
        </p:nvSpPr>
        <p:spPr>
          <a:xfrm>
            <a:off x="9833091" y="3520287"/>
            <a:ext cx="1310640" cy="849550"/>
          </a:xfrm>
          <a:prstGeom prst="rect">
            <a:avLst/>
          </a:prstGeom>
          <a:solidFill>
            <a:schemeClr val="accent1">
              <a:lumMod val="75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chemeClr val="tx2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1114F5C5-2F5B-415B-A9A8-6ACB74343216}"/>
              </a:ext>
            </a:extLst>
          </p:cNvPr>
          <p:cNvSpPr txBox="1"/>
          <p:nvPr/>
        </p:nvSpPr>
        <p:spPr>
          <a:xfrm>
            <a:off x="9370130" y="3208205"/>
            <a:ext cx="2192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Headline"/>
              </a:rPr>
              <a:t>Detalle de campos aplicables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xmlns="" id="{D2579ED8-68D3-4B4C-93B1-80B030E8D2C9}"/>
              </a:ext>
            </a:extLst>
          </p:cNvPr>
          <p:cNvSpPr/>
          <p:nvPr/>
        </p:nvSpPr>
        <p:spPr>
          <a:xfrm rot="5400000">
            <a:off x="7580140" y="3705581"/>
            <a:ext cx="3485456" cy="608261"/>
          </a:xfrm>
          <a:prstGeom prst="triangle">
            <a:avLst/>
          </a:prstGeom>
          <a:solidFill>
            <a:schemeClr val="accent1">
              <a:lumMod val="75000"/>
              <a:alpha val="31000"/>
            </a:schemeClr>
          </a:solidFill>
          <a:ln w="19050" cap="flat" cmpd="sng" algn="ctr">
            <a:solidFill>
              <a:schemeClr val="accent1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chemeClr val="tx2"/>
              </a:solidFill>
            </a:endParaRPr>
          </a:p>
        </p:txBody>
      </p:sp>
      <p:pic>
        <p:nvPicPr>
          <p:cNvPr id="28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xmlns="" id="{DC97F186-706E-4EDB-B985-F99C1BB7E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5844212" y="2892955"/>
            <a:ext cx="406007" cy="32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" descr="Ilustración de flecha con curvas - Descargar PNG/SVG transparente">
            <a:extLst>
              <a:ext uri="{FF2B5EF4-FFF2-40B4-BE49-F238E27FC236}">
                <a16:creationId xmlns:a16="http://schemas.microsoft.com/office/drawing/2014/main" xmlns="" id="{B8D04BB3-8119-4213-9174-69C07F67F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3055828" flipH="1">
            <a:off x="5122493" y="5379021"/>
            <a:ext cx="430662" cy="397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523F3CD5-C063-4AED-B25E-4586720E9F0E}"/>
              </a:ext>
            </a:extLst>
          </p:cNvPr>
          <p:cNvSpPr/>
          <p:nvPr/>
        </p:nvSpPr>
        <p:spPr>
          <a:xfrm>
            <a:off x="2019069" y="6506783"/>
            <a:ext cx="6637510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(</a:t>
            </a:r>
            <a:r>
              <a:rPr lang="es-ES" sz="900" baseline="30000" dirty="0">
                <a:solidFill>
                  <a:prstClr val="black"/>
                </a:solidFill>
                <a:latin typeface="Santander Text" panose="020B0504020201020104" pitchFamily="34" charset="0"/>
              </a:rPr>
              <a:t>1</a:t>
            </a:r>
            <a:r>
              <a:rPr lang="es-ES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) Se detallará la aplicabilidad de los campos en el documento “</a:t>
            </a:r>
            <a:r>
              <a:rPr lang="es-ES" sz="900" b="1" dirty="0">
                <a:latin typeface="Calibri" panose="020F0502020204030204" pitchFamily="34" charset="0"/>
                <a:cs typeface="Times New Roman" panose="02020603050405020304" pitchFamily="18" charset="0"/>
              </a:rPr>
              <a:t>Aplicabilidad de campos del loan tape por sector de la contraparte”.</a:t>
            </a:r>
            <a:r>
              <a:rPr lang="es-ES" sz="900" dirty="0">
                <a:solidFill>
                  <a:prstClr val="black"/>
                </a:solidFill>
                <a:latin typeface="Santander Text" panose="020B0504020201020104" pitchFamily="34" charset="0"/>
              </a:rPr>
              <a:t>  </a:t>
            </a:r>
            <a:endParaRPr lang="es-ES" sz="900" dirty="0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xmlns="" id="{0E30C671-54FF-4B7D-A8F5-C01B8753D3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7456570"/>
              </p:ext>
            </p:extLst>
          </p:nvPr>
        </p:nvGraphicFramePr>
        <p:xfrm>
          <a:off x="10031211" y="3619976"/>
          <a:ext cx="914400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Worksheet" showAsIcon="1" r:id="rId10" imgW="914597" imgH="806311" progId="Excel.Sheet.12">
                  <p:embed/>
                </p:oleObj>
              </mc:Choice>
              <mc:Fallback>
                <p:oleObj name="Worksheet" showAsIcon="1" r:id="rId10" imgW="914597" imgH="806311" progId="Excel.Sheet.12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xmlns="" id="{0E30C671-54FF-4B7D-A8F5-C01B8753D3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0031211" y="3619976"/>
                        <a:ext cx="914400" cy="806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3A9A42C3-C680-4C41-8461-6E329578182B}"/>
              </a:ext>
            </a:extLst>
          </p:cNvPr>
          <p:cNvSpPr txBox="1"/>
          <p:nvPr/>
        </p:nvSpPr>
        <p:spPr>
          <a:xfrm>
            <a:off x="9503491" y="4369543"/>
            <a:ext cx="21446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>
                <a:latin typeface="Santander Text" panose="020B0504020201020104"/>
              </a:rPr>
              <a:t>Adicionalmente, se incluye un campo en cada Tabla que identifica la sociedad </a:t>
            </a:r>
            <a:r>
              <a:rPr lang="es-ES" sz="800" dirty="0" err="1">
                <a:latin typeface="Santander Text" panose="020B0504020201020104"/>
              </a:rPr>
              <a:t>cargabal</a:t>
            </a:r>
            <a:endParaRPr lang="es-ES" sz="800" dirty="0">
              <a:latin typeface="Santander Text" panose="020B0504020201020104"/>
            </a:endParaRPr>
          </a:p>
        </p:txBody>
      </p:sp>
    </p:spTree>
    <p:extLst>
      <p:ext uri="{BB962C8B-B14F-4D97-AF65-F5344CB8AC3E}">
        <p14:creationId xmlns:p14="http://schemas.microsoft.com/office/powerpoint/2010/main" val="19226805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uadroTexto 24">
            <a:extLst>
              <a:ext uri="{FF2B5EF4-FFF2-40B4-BE49-F238E27FC236}">
                <a16:creationId xmlns:a16="http://schemas.microsoft.com/office/drawing/2014/main" xmlns="" id="{0AFC78BB-AC7A-4682-AD39-42AAEC1E4D66}"/>
              </a:ext>
            </a:extLst>
          </p:cNvPr>
          <p:cNvSpPr txBox="1"/>
          <p:nvPr/>
        </p:nvSpPr>
        <p:spPr>
          <a:xfrm>
            <a:off x="354000" y="4101649"/>
            <a:ext cx="11078679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Por último, adicionalmente a la información remitida a través de los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subportfolios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se solicitará a cada Sociedad la relación de contratos 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correspondientes a: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Defaulted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reportados en la columna 110 del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18, que corresponde a 43 celdas del Anexo NOPER.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Forbearance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reportados en la columna 10 del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Finrep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19, que corresponde a 29 celdas del Anexo FORBE.</a:t>
            </a:r>
          </a:p>
          <a:p>
            <a:pPr marL="742950" lvl="1" indent="-285750" algn="just">
              <a:buFont typeface="Wingdings" panose="05000000000000000000" pitchFamily="2" charset="2"/>
              <a:buChar char="Ø"/>
            </a:pPr>
            <a:r>
              <a:rPr lang="es-ES" sz="1400" b="1" dirty="0" err="1">
                <a:solidFill>
                  <a:prstClr val="black"/>
                </a:solidFill>
                <a:latin typeface="Santander Text" panose="020B0504020201020104" pitchFamily="34" charset="0"/>
              </a:rPr>
              <a:t>Leverage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 Finance</a:t>
            </a:r>
          </a:p>
        </p:txBody>
      </p:sp>
      <p:sp>
        <p:nvSpPr>
          <p:cNvPr id="28" name="CuadroTexto 24">
            <a:extLst>
              <a:ext uri="{FF2B5EF4-FFF2-40B4-BE49-F238E27FC236}">
                <a16:creationId xmlns:a16="http://schemas.microsoft.com/office/drawing/2014/main" xmlns="" id="{5A844692-2C2D-4A1A-A5B5-7DFCE0035273}"/>
              </a:ext>
            </a:extLst>
          </p:cNvPr>
          <p:cNvSpPr txBox="1"/>
          <p:nvPr/>
        </p:nvSpPr>
        <p:spPr>
          <a:xfrm>
            <a:off x="354000" y="1113046"/>
            <a:ext cx="11078679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Es decir, una vez se obtengan los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subportfolios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de contratos, se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añadirán el resto de campos solicitados en el LT, asegurando la consistencia de la información con las características del subsegmento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(non-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performing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,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Stage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3, etc.). </a:t>
            </a:r>
            <a:r>
              <a:rPr lang="es-ES" sz="1400" b="1" dirty="0">
                <a:solidFill>
                  <a:prstClr val="black"/>
                </a:solidFill>
                <a:latin typeface="Santander Text" panose="020B0504020201020104" pitchFamily="34" charset="0"/>
              </a:rPr>
              <a:t>De esta forma, se asegura la coherencia entre los mundos regulatorio y de riesgos.</a:t>
            </a:r>
            <a:endParaRPr lang="es-ES" sz="1400" b="1" dirty="0">
              <a:latin typeface="Santander Text"/>
            </a:endParaRPr>
          </a:p>
        </p:txBody>
      </p:sp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Enfoque propuesto – Perímetro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xmlns="" id="{558EFBF9-05DA-4642-88B1-B4BDCFAC61E8}"/>
              </a:ext>
            </a:extLst>
          </p:cNvPr>
          <p:cNvSpPr/>
          <p:nvPr/>
        </p:nvSpPr>
        <p:spPr>
          <a:xfrm>
            <a:off x="947323" y="2091060"/>
            <a:ext cx="1234599" cy="9334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_tradnl" sz="1200" b="1" dirty="0">
                <a:latin typeface="Santander Text" panose="020B0504020201020104"/>
              </a:rPr>
              <a:t>Subconjunto 1: </a:t>
            </a:r>
          </a:p>
          <a:p>
            <a:pPr algn="ctr"/>
            <a:r>
              <a:rPr lang="es-ES_tradnl" sz="1200" b="1" dirty="0">
                <a:latin typeface="Santander Text" panose="020B0504020201020104"/>
              </a:rPr>
              <a:t>“n” contratos</a:t>
            </a:r>
            <a:endParaRPr lang="es-ES" sz="1200" b="1" dirty="0">
              <a:latin typeface="Santander Text" panose="020B0504020201020104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xmlns="" id="{F350AFEE-7FEF-49C1-B526-8F31E096A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27898"/>
              </p:ext>
            </p:extLst>
          </p:nvPr>
        </p:nvGraphicFramePr>
        <p:xfrm>
          <a:off x="2157784" y="2100866"/>
          <a:ext cx="7611321" cy="933450"/>
        </p:xfrm>
        <a:graphic>
          <a:graphicData uri="http://schemas.openxmlformats.org/drawingml/2006/table">
            <a:tbl>
              <a:tblPr/>
              <a:tblGrid>
                <a:gridCol w="601761">
                  <a:extLst>
                    <a:ext uri="{9D8B030D-6E8A-4147-A177-3AD203B41FA5}">
                      <a16:colId xmlns:a16="http://schemas.microsoft.com/office/drawing/2014/main" xmlns="" val="684571113"/>
                    </a:ext>
                  </a:extLst>
                </a:gridCol>
                <a:gridCol w="759702">
                  <a:extLst>
                    <a:ext uri="{9D8B030D-6E8A-4147-A177-3AD203B41FA5}">
                      <a16:colId xmlns:a16="http://schemas.microsoft.com/office/drawing/2014/main" xmlns="" val="1874595708"/>
                    </a:ext>
                  </a:extLst>
                </a:gridCol>
                <a:gridCol w="721354">
                  <a:extLst>
                    <a:ext uri="{9D8B030D-6E8A-4147-A177-3AD203B41FA5}">
                      <a16:colId xmlns:a16="http://schemas.microsoft.com/office/drawing/2014/main" xmlns="" val="3102096051"/>
                    </a:ext>
                  </a:extLst>
                </a:gridCol>
                <a:gridCol w="653802">
                  <a:extLst>
                    <a:ext uri="{9D8B030D-6E8A-4147-A177-3AD203B41FA5}">
                      <a16:colId xmlns:a16="http://schemas.microsoft.com/office/drawing/2014/main" xmlns="" val="3729122481"/>
                    </a:ext>
                  </a:extLst>
                </a:gridCol>
                <a:gridCol w="436906">
                  <a:extLst>
                    <a:ext uri="{9D8B030D-6E8A-4147-A177-3AD203B41FA5}">
                      <a16:colId xmlns:a16="http://schemas.microsoft.com/office/drawing/2014/main" xmlns="" val="349723910"/>
                    </a:ext>
                  </a:extLst>
                </a:gridCol>
                <a:gridCol w="787811">
                  <a:extLst>
                    <a:ext uri="{9D8B030D-6E8A-4147-A177-3AD203B41FA5}">
                      <a16:colId xmlns:a16="http://schemas.microsoft.com/office/drawing/2014/main" xmlns="" val="2232382895"/>
                    </a:ext>
                  </a:extLst>
                </a:gridCol>
                <a:gridCol w="432638">
                  <a:extLst>
                    <a:ext uri="{9D8B030D-6E8A-4147-A177-3AD203B41FA5}">
                      <a16:colId xmlns:a16="http://schemas.microsoft.com/office/drawing/2014/main" xmlns="" val="1801651339"/>
                    </a:ext>
                  </a:extLst>
                </a:gridCol>
                <a:gridCol w="597828">
                  <a:extLst>
                    <a:ext uri="{9D8B030D-6E8A-4147-A177-3AD203B41FA5}">
                      <a16:colId xmlns:a16="http://schemas.microsoft.com/office/drawing/2014/main" xmlns="" val="2612397216"/>
                    </a:ext>
                  </a:extLst>
                </a:gridCol>
                <a:gridCol w="628605">
                  <a:extLst>
                    <a:ext uri="{9D8B030D-6E8A-4147-A177-3AD203B41FA5}">
                      <a16:colId xmlns:a16="http://schemas.microsoft.com/office/drawing/2014/main" xmlns="" val="496027900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xmlns="" val="3491978523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xmlns="" val="598494086"/>
                    </a:ext>
                  </a:extLst>
                </a:gridCol>
                <a:gridCol w="663638">
                  <a:extLst>
                    <a:ext uri="{9D8B030D-6E8A-4147-A177-3AD203B41FA5}">
                      <a16:colId xmlns:a16="http://schemas.microsoft.com/office/drawing/2014/main" xmlns="" val="3962317496"/>
                    </a:ext>
                  </a:extLst>
                </a:gridCol>
              </a:tblGrid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Contrato ID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 NOPER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Bruto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Provisión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/>
                        </a:rPr>
                        <a:t>Neto</a:t>
                      </a:r>
                      <a:endParaRPr lang="es-ES" sz="1000" b="1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PD 12M IFRS9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PD </a:t>
                      </a:r>
                      <a:r>
                        <a:rPr lang="es-ES" sz="10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lifet</a:t>
                      </a: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. IFRS9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[…]</a:t>
                      </a:r>
                    </a:p>
                  </a:txBody>
                  <a:tcPr marL="72000" marR="6350" marT="6350" marB="0"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565639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(1)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[…]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8299962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marL="0" indent="0" algn="ctr" fontAlgn="b">
                        <a:buNone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(n) 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Hogares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XXX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(XXX)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_tradn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XXX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[…]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255287812"/>
                  </a:ext>
                </a:extLst>
              </a:tr>
            </a:tbl>
          </a:graphicData>
        </a:graphic>
      </p:graphicFrame>
      <p:sp>
        <p:nvSpPr>
          <p:cNvPr id="42" name="Rectángulo 59">
            <a:extLst>
              <a:ext uri="{FF2B5EF4-FFF2-40B4-BE49-F238E27FC236}">
                <a16:creationId xmlns:a16="http://schemas.microsoft.com/office/drawing/2014/main" xmlns="" id="{B9B6833C-83B9-4E49-94E5-C627FC4F0F78}"/>
              </a:ext>
            </a:extLst>
          </p:cNvPr>
          <p:cNvSpPr/>
          <p:nvPr/>
        </p:nvSpPr>
        <p:spPr>
          <a:xfrm>
            <a:off x="7809038" y="2388792"/>
            <a:ext cx="1234599" cy="655195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algn="ctr"/>
            <a:endParaRPr lang="es-ES" sz="1200" b="1" u="sng" dirty="0">
              <a:solidFill>
                <a:srgbClr val="6E7678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C3F9DAA-A265-45CE-9C99-D328DA3A3D23}"/>
              </a:ext>
            </a:extLst>
          </p:cNvPr>
          <p:cNvSpPr txBox="1"/>
          <p:nvPr/>
        </p:nvSpPr>
        <p:spPr>
          <a:xfrm>
            <a:off x="7137400" y="3196078"/>
            <a:ext cx="4166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b="1" dirty="0">
                <a:latin typeface="Santander Text" panose="020B0504020201020104"/>
              </a:rPr>
              <a:t>Coherencia : en este caso, el contrato está clasificado en </a:t>
            </a:r>
            <a:r>
              <a:rPr lang="es-ES" sz="1200" b="1" dirty="0" err="1">
                <a:latin typeface="Santander Text" panose="020B0504020201020104"/>
              </a:rPr>
              <a:t>Stage</a:t>
            </a:r>
            <a:r>
              <a:rPr lang="es-ES" sz="1200" b="1" dirty="0">
                <a:latin typeface="Santander Text" panose="020B0504020201020104"/>
              </a:rPr>
              <a:t> 3, por que la PD será </a:t>
            </a:r>
            <a:r>
              <a:rPr lang="es-ES" sz="1200" b="1" dirty="0" err="1">
                <a:latin typeface="Santander Text" panose="020B0504020201020104"/>
              </a:rPr>
              <a:t>lifetime</a:t>
            </a:r>
            <a:r>
              <a:rPr lang="es-ES" sz="1200" b="1" dirty="0">
                <a:latin typeface="Santander Text" panose="020B0504020201020104"/>
              </a:rPr>
              <a:t> y será igual a 100%.</a:t>
            </a:r>
          </a:p>
        </p:txBody>
      </p:sp>
      <p:sp>
        <p:nvSpPr>
          <p:cNvPr id="44" name="Freeform 335">
            <a:extLst>
              <a:ext uri="{FF2B5EF4-FFF2-40B4-BE49-F238E27FC236}">
                <a16:creationId xmlns:a16="http://schemas.microsoft.com/office/drawing/2014/main" xmlns="" id="{01A5BE36-6583-48B6-9190-1C7EE19A5EB0}"/>
              </a:ext>
            </a:extLst>
          </p:cNvPr>
          <p:cNvSpPr>
            <a:spLocks noEditPoints="1"/>
          </p:cNvSpPr>
          <p:nvPr/>
        </p:nvSpPr>
        <p:spPr bwMode="auto">
          <a:xfrm rot="16200000">
            <a:off x="8317109" y="2885873"/>
            <a:ext cx="264116" cy="359246"/>
          </a:xfrm>
          <a:custGeom>
            <a:avLst/>
            <a:gdLst>
              <a:gd name="T0" fmla="*/ 3 w 41"/>
              <a:gd name="T1" fmla="*/ 23 h 37"/>
              <a:gd name="T2" fmla="*/ 0 w 41"/>
              <a:gd name="T3" fmla="*/ 20 h 37"/>
              <a:gd name="T4" fmla="*/ 2 w 41"/>
              <a:gd name="T5" fmla="*/ 16 h 37"/>
              <a:gd name="T6" fmla="*/ 11 w 41"/>
              <a:gd name="T7" fmla="*/ 5 h 37"/>
              <a:gd name="T8" fmla="*/ 14 w 41"/>
              <a:gd name="T9" fmla="*/ 2 h 37"/>
              <a:gd name="T10" fmla="*/ 17 w 41"/>
              <a:gd name="T11" fmla="*/ 0 h 37"/>
              <a:gd name="T12" fmla="*/ 20 w 41"/>
              <a:gd name="T13" fmla="*/ 3 h 37"/>
              <a:gd name="T14" fmla="*/ 20 w 41"/>
              <a:gd name="T15" fmla="*/ 9 h 37"/>
              <a:gd name="T16" fmla="*/ 30 w 41"/>
              <a:gd name="T17" fmla="*/ 9 h 37"/>
              <a:gd name="T18" fmla="*/ 39 w 41"/>
              <a:gd name="T19" fmla="*/ 8 h 37"/>
              <a:gd name="T20" fmla="*/ 41 w 41"/>
              <a:gd name="T21" fmla="*/ 14 h 37"/>
              <a:gd name="T22" fmla="*/ 41 w 41"/>
              <a:gd name="T23" fmla="*/ 24 h 37"/>
              <a:gd name="T24" fmla="*/ 35 w 41"/>
              <a:gd name="T25" fmla="*/ 25 h 37"/>
              <a:gd name="T26" fmla="*/ 29 w 41"/>
              <a:gd name="T27" fmla="*/ 25 h 37"/>
              <a:gd name="T28" fmla="*/ 19 w 41"/>
              <a:gd name="T29" fmla="*/ 27 h 37"/>
              <a:gd name="T30" fmla="*/ 20 w 41"/>
              <a:gd name="T31" fmla="*/ 37 h 37"/>
              <a:gd name="T32" fmla="*/ 18 w 41"/>
              <a:gd name="T33" fmla="*/ 36 h 37"/>
              <a:gd name="T34" fmla="*/ 13 w 41"/>
              <a:gd name="T35" fmla="*/ 31 h 37"/>
              <a:gd name="T36" fmla="*/ 7 w 41"/>
              <a:gd name="T37" fmla="*/ 26 h 37"/>
              <a:gd name="T38" fmla="*/ 10 w 41"/>
              <a:gd name="T39" fmla="*/ 12 h 37"/>
              <a:gd name="T40" fmla="*/ 20 w 41"/>
              <a:gd name="T41" fmla="*/ 18 h 37"/>
              <a:gd name="T42" fmla="*/ 27 w 41"/>
              <a:gd name="T43" fmla="*/ 22 h 37"/>
              <a:gd name="T44" fmla="*/ 31 w 41"/>
              <a:gd name="T45" fmla="*/ 23 h 37"/>
              <a:gd name="T46" fmla="*/ 21 w 41"/>
              <a:gd name="T47" fmla="*/ 17 h 37"/>
              <a:gd name="T48" fmla="*/ 12 w 41"/>
              <a:gd name="T49" fmla="*/ 12 h 37"/>
              <a:gd name="T50" fmla="*/ 10 w 41"/>
              <a:gd name="T51" fmla="*/ 10 h 37"/>
              <a:gd name="T52" fmla="*/ 23 w 41"/>
              <a:gd name="T53" fmla="*/ 13 h 37"/>
              <a:gd name="T54" fmla="*/ 36 w 41"/>
              <a:gd name="T55" fmla="*/ 21 h 37"/>
              <a:gd name="T56" fmla="*/ 38 w 41"/>
              <a:gd name="T57" fmla="*/ 21 h 37"/>
              <a:gd name="T58" fmla="*/ 30 w 41"/>
              <a:gd name="T59" fmla="*/ 15 h 37"/>
              <a:gd name="T60" fmla="*/ 24 w 41"/>
              <a:gd name="T61" fmla="*/ 11 h 37"/>
              <a:gd name="T62" fmla="*/ 6 w 41"/>
              <a:gd name="T63" fmla="*/ 20 h 37"/>
              <a:gd name="T64" fmla="*/ 15 w 41"/>
              <a:gd name="T65" fmla="*/ 25 h 37"/>
              <a:gd name="T66" fmla="*/ 14 w 41"/>
              <a:gd name="T67" fmla="*/ 23 h 37"/>
              <a:gd name="T68" fmla="*/ 9 w 41"/>
              <a:gd name="T69" fmla="*/ 20 h 37"/>
              <a:gd name="T70" fmla="*/ 4 w 41"/>
              <a:gd name="T71" fmla="*/ 19 h 37"/>
              <a:gd name="T72" fmla="*/ 11 w 41"/>
              <a:gd name="T73" fmla="*/ 16 h 37"/>
              <a:gd name="T74" fmla="*/ 14 w 41"/>
              <a:gd name="T75" fmla="*/ 18 h 37"/>
              <a:gd name="T76" fmla="*/ 23 w 41"/>
              <a:gd name="T77" fmla="*/ 24 h 37"/>
              <a:gd name="T78" fmla="*/ 23 w 41"/>
              <a:gd name="T79" fmla="*/ 22 h 37"/>
              <a:gd name="T80" fmla="*/ 38 w 41"/>
              <a:gd name="T81" fmla="*/ 18 h 37"/>
              <a:gd name="T82" fmla="*/ 34 w 41"/>
              <a:gd name="T83" fmla="*/ 15 h 37"/>
              <a:gd name="T84" fmla="*/ 33 w 41"/>
              <a:gd name="T85" fmla="*/ 22 h 37"/>
              <a:gd name="T86" fmla="*/ 23 w 41"/>
              <a:gd name="T87" fmla="*/ 16 h 37"/>
              <a:gd name="T88" fmla="*/ 33 w 41"/>
              <a:gd name="T89" fmla="*/ 22 h 37"/>
              <a:gd name="T90" fmla="*/ 16 w 41"/>
              <a:gd name="T91" fmla="*/ 28 h 37"/>
              <a:gd name="T92" fmla="*/ 8 w 41"/>
              <a:gd name="T93" fmla="*/ 23 h 37"/>
              <a:gd name="T94" fmla="*/ 9 w 41"/>
              <a:gd name="T95" fmla="*/ 25 h 37"/>
              <a:gd name="T96" fmla="*/ 16 w 41"/>
              <a:gd name="T97" fmla="*/ 29 h 37"/>
              <a:gd name="T98" fmla="*/ 16 w 41"/>
              <a:gd name="T99" fmla="*/ 7 h 37"/>
              <a:gd name="T100" fmla="*/ 13 w 41"/>
              <a:gd name="T101" fmla="*/ 6 h 37"/>
              <a:gd name="T102" fmla="*/ 19 w 41"/>
              <a:gd name="T103" fmla="*/ 12 h 37"/>
              <a:gd name="T104" fmla="*/ 35 w 41"/>
              <a:gd name="T105" fmla="*/ 10 h 37"/>
              <a:gd name="T106" fmla="*/ 39 w 41"/>
              <a:gd name="T107" fmla="*/ 11 h 37"/>
              <a:gd name="T108" fmla="*/ 35 w 41"/>
              <a:gd name="T109" fmla="*/ 10 h 37"/>
              <a:gd name="T110" fmla="*/ 12 w 41"/>
              <a:gd name="T111" fmla="*/ 19 h 37"/>
              <a:gd name="T112" fmla="*/ 38 w 41"/>
              <a:gd name="T113" fmla="*/ 15 h 37"/>
              <a:gd name="T114" fmla="*/ 38 w 41"/>
              <a:gd name="T115" fmla="*/ 15 h 37"/>
              <a:gd name="T116" fmla="*/ 26 w 41"/>
              <a:gd name="T117" fmla="*/ 11 h 37"/>
              <a:gd name="T118" fmla="*/ 35 w 41"/>
              <a:gd name="T119" fmla="*/ 23 h 37"/>
              <a:gd name="T120" fmla="*/ 35 w 41"/>
              <a:gd name="T121" fmla="*/ 23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41" h="37">
                <a:moveTo>
                  <a:pt x="7" y="26"/>
                </a:moveTo>
                <a:cubicBezTo>
                  <a:pt x="6" y="25"/>
                  <a:pt x="5" y="24"/>
                  <a:pt x="4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3" y="23"/>
                  <a:pt x="3" y="23"/>
                  <a:pt x="3" y="23"/>
                </a:cubicBezTo>
                <a:cubicBezTo>
                  <a:pt x="2" y="22"/>
                  <a:pt x="1" y="22"/>
                  <a:pt x="1" y="21"/>
                </a:cubicBezTo>
                <a:cubicBezTo>
                  <a:pt x="0" y="21"/>
                  <a:pt x="0" y="20"/>
                  <a:pt x="0" y="20"/>
                </a:cubicBezTo>
                <a:cubicBezTo>
                  <a:pt x="0" y="20"/>
                  <a:pt x="1" y="19"/>
                  <a:pt x="1" y="19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7"/>
                  <a:pt x="1" y="17"/>
                  <a:pt x="2" y="16"/>
                </a:cubicBezTo>
                <a:cubicBezTo>
                  <a:pt x="2" y="15"/>
                  <a:pt x="3" y="15"/>
                  <a:pt x="4" y="14"/>
                </a:cubicBezTo>
                <a:cubicBezTo>
                  <a:pt x="5" y="13"/>
                  <a:pt x="5" y="12"/>
                  <a:pt x="6" y="11"/>
                </a:cubicBezTo>
                <a:cubicBezTo>
                  <a:pt x="8" y="9"/>
                  <a:pt x="10" y="7"/>
                  <a:pt x="11" y="5"/>
                </a:cubicBezTo>
                <a:cubicBezTo>
                  <a:pt x="12" y="5"/>
                  <a:pt x="12" y="4"/>
                  <a:pt x="12" y="3"/>
                </a:cubicBezTo>
                <a:cubicBezTo>
                  <a:pt x="12" y="3"/>
                  <a:pt x="13" y="3"/>
                  <a:pt x="13" y="3"/>
                </a:cubicBezTo>
                <a:cubicBezTo>
                  <a:pt x="14" y="3"/>
                  <a:pt x="14" y="2"/>
                  <a:pt x="14" y="2"/>
                </a:cubicBezTo>
                <a:cubicBezTo>
                  <a:pt x="14" y="2"/>
                  <a:pt x="15" y="2"/>
                  <a:pt x="15" y="2"/>
                </a:cubicBezTo>
                <a:cubicBezTo>
                  <a:pt x="15" y="1"/>
                  <a:pt x="16" y="0"/>
                  <a:pt x="17" y="1"/>
                </a:cubicBezTo>
                <a:cubicBezTo>
                  <a:pt x="17" y="1"/>
                  <a:pt x="17" y="0"/>
                  <a:pt x="17" y="0"/>
                </a:cubicBezTo>
                <a:cubicBezTo>
                  <a:pt x="18" y="0"/>
                  <a:pt x="19" y="0"/>
                  <a:pt x="19" y="1"/>
                </a:cubicBezTo>
                <a:cubicBezTo>
                  <a:pt x="19" y="1"/>
                  <a:pt x="20" y="1"/>
                  <a:pt x="19" y="2"/>
                </a:cubicBezTo>
                <a:cubicBezTo>
                  <a:pt x="19" y="2"/>
                  <a:pt x="20" y="3"/>
                  <a:pt x="20" y="3"/>
                </a:cubicBezTo>
                <a:cubicBezTo>
                  <a:pt x="20" y="5"/>
                  <a:pt x="19" y="6"/>
                  <a:pt x="19" y="8"/>
                </a:cubicBezTo>
                <a:cubicBezTo>
                  <a:pt x="19" y="8"/>
                  <a:pt x="19" y="8"/>
                  <a:pt x="19" y="9"/>
                </a:cubicBezTo>
                <a:cubicBezTo>
                  <a:pt x="19" y="9"/>
                  <a:pt x="20" y="9"/>
                  <a:pt x="20" y="9"/>
                </a:cubicBezTo>
                <a:cubicBezTo>
                  <a:pt x="20" y="9"/>
                  <a:pt x="21" y="9"/>
                  <a:pt x="22" y="9"/>
                </a:cubicBezTo>
                <a:cubicBezTo>
                  <a:pt x="23" y="9"/>
                  <a:pt x="25" y="8"/>
                  <a:pt x="26" y="9"/>
                </a:cubicBezTo>
                <a:cubicBezTo>
                  <a:pt x="27" y="9"/>
                  <a:pt x="29" y="9"/>
                  <a:pt x="30" y="9"/>
                </a:cubicBezTo>
                <a:cubicBezTo>
                  <a:pt x="31" y="9"/>
                  <a:pt x="33" y="8"/>
                  <a:pt x="34" y="8"/>
                </a:cubicBezTo>
                <a:cubicBezTo>
                  <a:pt x="36" y="8"/>
                  <a:pt x="37" y="8"/>
                  <a:pt x="39" y="9"/>
                </a:cubicBezTo>
                <a:cubicBezTo>
                  <a:pt x="39" y="9"/>
                  <a:pt x="39" y="8"/>
                  <a:pt x="39" y="8"/>
                </a:cubicBezTo>
                <a:cubicBezTo>
                  <a:pt x="40" y="8"/>
                  <a:pt x="40" y="8"/>
                  <a:pt x="40" y="8"/>
                </a:cubicBezTo>
                <a:cubicBezTo>
                  <a:pt x="41" y="10"/>
                  <a:pt x="41" y="11"/>
                  <a:pt x="41" y="12"/>
                </a:cubicBezTo>
                <a:cubicBezTo>
                  <a:pt x="41" y="13"/>
                  <a:pt x="41" y="13"/>
                  <a:pt x="41" y="14"/>
                </a:cubicBezTo>
                <a:cubicBezTo>
                  <a:pt x="41" y="15"/>
                  <a:pt x="41" y="16"/>
                  <a:pt x="41" y="18"/>
                </a:cubicBezTo>
                <a:cubicBezTo>
                  <a:pt x="41" y="19"/>
                  <a:pt x="41" y="20"/>
                  <a:pt x="41" y="22"/>
                </a:cubicBezTo>
                <a:cubicBezTo>
                  <a:pt x="41" y="23"/>
                  <a:pt x="41" y="23"/>
                  <a:pt x="41" y="24"/>
                </a:cubicBezTo>
                <a:cubicBezTo>
                  <a:pt x="41" y="25"/>
                  <a:pt x="40" y="25"/>
                  <a:pt x="39" y="25"/>
                </a:cubicBezTo>
                <a:cubicBezTo>
                  <a:pt x="39" y="24"/>
                  <a:pt x="38" y="25"/>
                  <a:pt x="37" y="25"/>
                </a:cubicBezTo>
                <a:cubicBezTo>
                  <a:pt x="36" y="25"/>
                  <a:pt x="36" y="25"/>
                  <a:pt x="35" y="25"/>
                </a:cubicBezTo>
                <a:cubicBezTo>
                  <a:pt x="34" y="25"/>
                  <a:pt x="34" y="25"/>
                  <a:pt x="34" y="25"/>
                </a:cubicBezTo>
                <a:cubicBezTo>
                  <a:pt x="34" y="25"/>
                  <a:pt x="33" y="25"/>
                  <a:pt x="33" y="25"/>
                </a:cubicBezTo>
                <a:cubicBezTo>
                  <a:pt x="32" y="25"/>
                  <a:pt x="30" y="25"/>
                  <a:pt x="29" y="25"/>
                </a:cubicBezTo>
                <a:cubicBezTo>
                  <a:pt x="28" y="25"/>
                  <a:pt x="27" y="25"/>
                  <a:pt x="25" y="25"/>
                </a:cubicBezTo>
                <a:cubicBezTo>
                  <a:pt x="24" y="25"/>
                  <a:pt x="22" y="26"/>
                  <a:pt x="20" y="26"/>
                </a:cubicBezTo>
                <a:cubicBezTo>
                  <a:pt x="19" y="26"/>
                  <a:pt x="19" y="26"/>
                  <a:pt x="19" y="27"/>
                </a:cubicBezTo>
                <a:cubicBezTo>
                  <a:pt x="19" y="29"/>
                  <a:pt x="19" y="30"/>
                  <a:pt x="20" y="31"/>
                </a:cubicBezTo>
                <a:cubicBezTo>
                  <a:pt x="20" y="33"/>
                  <a:pt x="20" y="34"/>
                  <a:pt x="20" y="35"/>
                </a:cubicBezTo>
                <a:cubicBezTo>
                  <a:pt x="21" y="36"/>
                  <a:pt x="21" y="37"/>
                  <a:pt x="20" y="37"/>
                </a:cubicBezTo>
                <a:cubicBezTo>
                  <a:pt x="20" y="37"/>
                  <a:pt x="20" y="37"/>
                  <a:pt x="19" y="37"/>
                </a:cubicBezTo>
                <a:cubicBezTo>
                  <a:pt x="19" y="37"/>
                  <a:pt x="19" y="37"/>
                  <a:pt x="19" y="37"/>
                </a:cubicBezTo>
                <a:cubicBezTo>
                  <a:pt x="18" y="37"/>
                  <a:pt x="18" y="37"/>
                  <a:pt x="18" y="36"/>
                </a:cubicBezTo>
                <a:cubicBezTo>
                  <a:pt x="18" y="35"/>
                  <a:pt x="17" y="35"/>
                  <a:pt x="16" y="34"/>
                </a:cubicBezTo>
                <a:cubicBezTo>
                  <a:pt x="16" y="34"/>
                  <a:pt x="16" y="34"/>
                  <a:pt x="16" y="34"/>
                </a:cubicBezTo>
                <a:cubicBezTo>
                  <a:pt x="15" y="33"/>
                  <a:pt x="14" y="32"/>
                  <a:pt x="13" y="31"/>
                </a:cubicBezTo>
                <a:cubicBezTo>
                  <a:pt x="12" y="31"/>
                  <a:pt x="12" y="30"/>
                  <a:pt x="12" y="30"/>
                </a:cubicBezTo>
                <a:cubicBezTo>
                  <a:pt x="10" y="29"/>
                  <a:pt x="10" y="28"/>
                  <a:pt x="8" y="27"/>
                </a:cubicBezTo>
                <a:cubicBezTo>
                  <a:pt x="7" y="27"/>
                  <a:pt x="7" y="26"/>
                  <a:pt x="7" y="26"/>
                </a:cubicBezTo>
                <a:close/>
                <a:moveTo>
                  <a:pt x="10" y="10"/>
                </a:moveTo>
                <a:cubicBezTo>
                  <a:pt x="10" y="11"/>
                  <a:pt x="10" y="11"/>
                  <a:pt x="10" y="11"/>
                </a:cubicBezTo>
                <a:cubicBezTo>
                  <a:pt x="10" y="12"/>
                  <a:pt x="10" y="12"/>
                  <a:pt x="10" y="12"/>
                </a:cubicBezTo>
                <a:cubicBezTo>
                  <a:pt x="11" y="13"/>
                  <a:pt x="12" y="13"/>
                  <a:pt x="13" y="14"/>
                </a:cubicBezTo>
                <a:cubicBezTo>
                  <a:pt x="15" y="15"/>
                  <a:pt x="16" y="16"/>
                  <a:pt x="18" y="17"/>
                </a:cubicBezTo>
                <a:cubicBezTo>
                  <a:pt x="18" y="17"/>
                  <a:pt x="19" y="18"/>
                  <a:pt x="20" y="18"/>
                </a:cubicBezTo>
                <a:cubicBezTo>
                  <a:pt x="21" y="19"/>
                  <a:pt x="23" y="20"/>
                  <a:pt x="25" y="21"/>
                </a:cubicBezTo>
                <a:cubicBezTo>
                  <a:pt x="26" y="21"/>
                  <a:pt x="26" y="22"/>
                  <a:pt x="27" y="22"/>
                </a:cubicBezTo>
                <a:cubicBezTo>
                  <a:pt x="27" y="22"/>
                  <a:pt x="27" y="22"/>
                  <a:pt x="27" y="22"/>
                </a:cubicBezTo>
                <a:cubicBezTo>
                  <a:pt x="27" y="23"/>
                  <a:pt x="28" y="23"/>
                  <a:pt x="28" y="23"/>
                </a:cubicBezTo>
                <a:cubicBezTo>
                  <a:pt x="29" y="23"/>
                  <a:pt x="29" y="23"/>
                  <a:pt x="30" y="23"/>
                </a:cubicBezTo>
                <a:cubicBezTo>
                  <a:pt x="30" y="23"/>
                  <a:pt x="30" y="23"/>
                  <a:pt x="31" y="23"/>
                </a:cubicBezTo>
                <a:cubicBezTo>
                  <a:pt x="30" y="23"/>
                  <a:pt x="30" y="22"/>
                  <a:pt x="29" y="22"/>
                </a:cubicBezTo>
                <a:cubicBezTo>
                  <a:pt x="28" y="21"/>
                  <a:pt x="26" y="21"/>
                  <a:pt x="25" y="20"/>
                </a:cubicBezTo>
                <a:cubicBezTo>
                  <a:pt x="24" y="19"/>
                  <a:pt x="23" y="18"/>
                  <a:pt x="21" y="17"/>
                </a:cubicBezTo>
                <a:cubicBezTo>
                  <a:pt x="20" y="17"/>
                  <a:pt x="19" y="16"/>
                  <a:pt x="18" y="15"/>
                </a:cubicBezTo>
                <a:cubicBezTo>
                  <a:pt x="17" y="14"/>
                  <a:pt x="16" y="14"/>
                  <a:pt x="15" y="13"/>
                </a:cubicBezTo>
                <a:cubicBezTo>
                  <a:pt x="14" y="13"/>
                  <a:pt x="13" y="12"/>
                  <a:pt x="12" y="12"/>
                </a:cubicBezTo>
                <a:cubicBezTo>
                  <a:pt x="11" y="11"/>
                  <a:pt x="10" y="11"/>
                  <a:pt x="10" y="10"/>
                </a:cubicBezTo>
                <a:cubicBezTo>
                  <a:pt x="10" y="10"/>
                  <a:pt x="10" y="10"/>
                  <a:pt x="10" y="10"/>
                </a:cubicBezTo>
                <a:cubicBezTo>
                  <a:pt x="10" y="10"/>
                  <a:pt x="10" y="10"/>
                  <a:pt x="10" y="10"/>
                </a:cubicBezTo>
                <a:close/>
                <a:moveTo>
                  <a:pt x="20" y="12"/>
                </a:moveTo>
                <a:cubicBezTo>
                  <a:pt x="21" y="12"/>
                  <a:pt x="21" y="12"/>
                  <a:pt x="22" y="13"/>
                </a:cubicBezTo>
                <a:cubicBezTo>
                  <a:pt x="22" y="13"/>
                  <a:pt x="23" y="13"/>
                  <a:pt x="23" y="13"/>
                </a:cubicBezTo>
                <a:cubicBezTo>
                  <a:pt x="24" y="14"/>
                  <a:pt x="25" y="14"/>
                  <a:pt x="26" y="15"/>
                </a:cubicBezTo>
                <a:cubicBezTo>
                  <a:pt x="27" y="16"/>
                  <a:pt x="29" y="17"/>
                  <a:pt x="31" y="18"/>
                </a:cubicBezTo>
                <a:cubicBezTo>
                  <a:pt x="32" y="19"/>
                  <a:pt x="34" y="20"/>
                  <a:pt x="36" y="21"/>
                </a:cubicBezTo>
                <a:cubicBezTo>
                  <a:pt x="36" y="21"/>
                  <a:pt x="37" y="21"/>
                  <a:pt x="38" y="22"/>
                </a:cubicBezTo>
                <a:cubicBezTo>
                  <a:pt x="38" y="22"/>
                  <a:pt x="38" y="22"/>
                  <a:pt x="38" y="22"/>
                </a:cubicBezTo>
                <a:cubicBezTo>
                  <a:pt x="38" y="21"/>
                  <a:pt x="38" y="21"/>
                  <a:pt x="38" y="21"/>
                </a:cubicBezTo>
                <a:cubicBezTo>
                  <a:pt x="37" y="20"/>
                  <a:pt x="36" y="20"/>
                  <a:pt x="36" y="20"/>
                </a:cubicBezTo>
                <a:cubicBezTo>
                  <a:pt x="34" y="19"/>
                  <a:pt x="33" y="18"/>
                  <a:pt x="32" y="17"/>
                </a:cubicBezTo>
                <a:cubicBezTo>
                  <a:pt x="32" y="16"/>
                  <a:pt x="31" y="16"/>
                  <a:pt x="30" y="15"/>
                </a:cubicBezTo>
                <a:cubicBezTo>
                  <a:pt x="29" y="15"/>
                  <a:pt x="28" y="14"/>
                  <a:pt x="27" y="14"/>
                </a:cubicBezTo>
                <a:cubicBezTo>
                  <a:pt x="26" y="14"/>
                  <a:pt x="26" y="14"/>
                  <a:pt x="25" y="13"/>
                </a:cubicBezTo>
                <a:cubicBezTo>
                  <a:pt x="24" y="13"/>
                  <a:pt x="24" y="12"/>
                  <a:pt x="24" y="11"/>
                </a:cubicBezTo>
                <a:cubicBezTo>
                  <a:pt x="23" y="11"/>
                  <a:pt x="21" y="11"/>
                  <a:pt x="20" y="12"/>
                </a:cubicBezTo>
                <a:close/>
                <a:moveTo>
                  <a:pt x="4" y="19"/>
                </a:moveTo>
                <a:cubicBezTo>
                  <a:pt x="5" y="19"/>
                  <a:pt x="5" y="20"/>
                  <a:pt x="6" y="20"/>
                </a:cubicBezTo>
                <a:cubicBezTo>
                  <a:pt x="7" y="21"/>
                  <a:pt x="8" y="21"/>
                  <a:pt x="10" y="22"/>
                </a:cubicBezTo>
                <a:cubicBezTo>
                  <a:pt x="10" y="22"/>
                  <a:pt x="11" y="23"/>
                  <a:pt x="12" y="23"/>
                </a:cubicBezTo>
                <a:cubicBezTo>
                  <a:pt x="13" y="24"/>
                  <a:pt x="14" y="25"/>
                  <a:pt x="15" y="25"/>
                </a:cubicBezTo>
                <a:cubicBezTo>
                  <a:pt x="16" y="26"/>
                  <a:pt x="16" y="26"/>
                  <a:pt x="17" y="26"/>
                </a:cubicBezTo>
                <a:cubicBezTo>
                  <a:pt x="17" y="26"/>
                  <a:pt x="17" y="25"/>
                  <a:pt x="16" y="25"/>
                </a:cubicBezTo>
                <a:cubicBezTo>
                  <a:pt x="16" y="24"/>
                  <a:pt x="15" y="24"/>
                  <a:pt x="14" y="23"/>
                </a:cubicBezTo>
                <a:cubicBezTo>
                  <a:pt x="14" y="23"/>
                  <a:pt x="13" y="22"/>
                  <a:pt x="13" y="22"/>
                </a:cubicBezTo>
                <a:cubicBezTo>
                  <a:pt x="12" y="22"/>
                  <a:pt x="12" y="22"/>
                  <a:pt x="11" y="21"/>
                </a:cubicBezTo>
                <a:cubicBezTo>
                  <a:pt x="10" y="21"/>
                  <a:pt x="10" y="20"/>
                  <a:pt x="9" y="20"/>
                </a:cubicBezTo>
                <a:cubicBezTo>
                  <a:pt x="8" y="19"/>
                  <a:pt x="6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4" y="18"/>
                  <a:pt x="4" y="18"/>
                  <a:pt x="4" y="19"/>
                </a:cubicBezTo>
                <a:close/>
                <a:moveTo>
                  <a:pt x="9" y="14"/>
                </a:moveTo>
                <a:cubicBezTo>
                  <a:pt x="9" y="14"/>
                  <a:pt x="9" y="15"/>
                  <a:pt x="9" y="15"/>
                </a:cubicBezTo>
                <a:cubicBezTo>
                  <a:pt x="10" y="15"/>
                  <a:pt x="10" y="16"/>
                  <a:pt x="11" y="16"/>
                </a:cubicBezTo>
                <a:cubicBezTo>
                  <a:pt x="11" y="16"/>
                  <a:pt x="11" y="16"/>
                  <a:pt x="12" y="16"/>
                </a:cubicBezTo>
                <a:cubicBezTo>
                  <a:pt x="12" y="17"/>
                  <a:pt x="12" y="17"/>
                  <a:pt x="13" y="17"/>
                </a:cubicBezTo>
                <a:cubicBezTo>
                  <a:pt x="13" y="18"/>
                  <a:pt x="14" y="18"/>
                  <a:pt x="14" y="18"/>
                </a:cubicBezTo>
                <a:cubicBezTo>
                  <a:pt x="16" y="19"/>
                  <a:pt x="17" y="20"/>
                  <a:pt x="19" y="21"/>
                </a:cubicBezTo>
                <a:cubicBezTo>
                  <a:pt x="19" y="21"/>
                  <a:pt x="20" y="21"/>
                  <a:pt x="20" y="21"/>
                </a:cubicBezTo>
                <a:cubicBezTo>
                  <a:pt x="21" y="22"/>
                  <a:pt x="22" y="23"/>
                  <a:pt x="23" y="24"/>
                </a:cubicBezTo>
                <a:cubicBezTo>
                  <a:pt x="23" y="24"/>
                  <a:pt x="23" y="24"/>
                  <a:pt x="23" y="24"/>
                </a:cubicBezTo>
                <a:cubicBezTo>
                  <a:pt x="23" y="24"/>
                  <a:pt x="24" y="23"/>
                  <a:pt x="25" y="23"/>
                </a:cubicBezTo>
                <a:cubicBezTo>
                  <a:pt x="24" y="23"/>
                  <a:pt x="23" y="22"/>
                  <a:pt x="23" y="22"/>
                </a:cubicBezTo>
                <a:cubicBezTo>
                  <a:pt x="18" y="19"/>
                  <a:pt x="14" y="16"/>
                  <a:pt x="9" y="14"/>
                </a:cubicBezTo>
                <a:close/>
                <a:moveTo>
                  <a:pt x="29" y="12"/>
                </a:moveTo>
                <a:cubicBezTo>
                  <a:pt x="32" y="15"/>
                  <a:pt x="35" y="17"/>
                  <a:pt x="38" y="18"/>
                </a:cubicBezTo>
                <a:cubicBezTo>
                  <a:pt x="39" y="18"/>
                  <a:pt x="38" y="18"/>
                  <a:pt x="38" y="17"/>
                </a:cubicBezTo>
                <a:cubicBezTo>
                  <a:pt x="38" y="17"/>
                  <a:pt x="37" y="16"/>
                  <a:pt x="36" y="16"/>
                </a:cubicBezTo>
                <a:cubicBezTo>
                  <a:pt x="36" y="16"/>
                  <a:pt x="35" y="15"/>
                  <a:pt x="34" y="15"/>
                </a:cubicBezTo>
                <a:cubicBezTo>
                  <a:pt x="33" y="14"/>
                  <a:pt x="32" y="13"/>
                  <a:pt x="30" y="12"/>
                </a:cubicBezTo>
                <a:cubicBezTo>
                  <a:pt x="30" y="12"/>
                  <a:pt x="30" y="12"/>
                  <a:pt x="29" y="12"/>
                </a:cubicBezTo>
                <a:close/>
                <a:moveTo>
                  <a:pt x="33" y="22"/>
                </a:moveTo>
                <a:cubicBezTo>
                  <a:pt x="33" y="21"/>
                  <a:pt x="33" y="21"/>
                  <a:pt x="33" y="21"/>
                </a:cubicBezTo>
                <a:cubicBezTo>
                  <a:pt x="29" y="19"/>
                  <a:pt x="25" y="16"/>
                  <a:pt x="21" y="14"/>
                </a:cubicBezTo>
                <a:cubicBezTo>
                  <a:pt x="21" y="15"/>
                  <a:pt x="22" y="16"/>
                  <a:pt x="23" y="16"/>
                </a:cubicBezTo>
                <a:cubicBezTo>
                  <a:pt x="24" y="17"/>
                  <a:pt x="26" y="18"/>
                  <a:pt x="27" y="19"/>
                </a:cubicBezTo>
                <a:cubicBezTo>
                  <a:pt x="28" y="20"/>
                  <a:pt x="30" y="20"/>
                  <a:pt x="32" y="21"/>
                </a:cubicBezTo>
                <a:cubicBezTo>
                  <a:pt x="32" y="21"/>
                  <a:pt x="32" y="21"/>
                  <a:pt x="33" y="22"/>
                </a:cubicBezTo>
                <a:close/>
                <a:moveTo>
                  <a:pt x="17" y="30"/>
                </a:moveTo>
                <a:cubicBezTo>
                  <a:pt x="17" y="29"/>
                  <a:pt x="17" y="29"/>
                  <a:pt x="17" y="28"/>
                </a:cubicBezTo>
                <a:cubicBezTo>
                  <a:pt x="16" y="28"/>
                  <a:pt x="16" y="28"/>
                  <a:pt x="16" y="28"/>
                </a:cubicBezTo>
                <a:cubicBezTo>
                  <a:pt x="15" y="28"/>
                  <a:pt x="14" y="27"/>
                  <a:pt x="13" y="26"/>
                </a:cubicBezTo>
                <a:cubicBezTo>
                  <a:pt x="12" y="26"/>
                  <a:pt x="12" y="26"/>
                  <a:pt x="12" y="26"/>
                </a:cubicBezTo>
                <a:cubicBezTo>
                  <a:pt x="10" y="25"/>
                  <a:pt x="9" y="24"/>
                  <a:pt x="8" y="23"/>
                </a:cubicBezTo>
                <a:cubicBezTo>
                  <a:pt x="8" y="23"/>
                  <a:pt x="8" y="23"/>
                  <a:pt x="8" y="23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24"/>
                  <a:pt x="9" y="24"/>
                  <a:pt x="9" y="25"/>
                </a:cubicBezTo>
                <a:cubicBezTo>
                  <a:pt x="10" y="25"/>
                  <a:pt x="10" y="26"/>
                  <a:pt x="11" y="26"/>
                </a:cubicBezTo>
                <a:cubicBezTo>
                  <a:pt x="12" y="27"/>
                  <a:pt x="13" y="27"/>
                  <a:pt x="13" y="28"/>
                </a:cubicBezTo>
                <a:cubicBezTo>
                  <a:pt x="14" y="28"/>
                  <a:pt x="15" y="29"/>
                  <a:pt x="16" y="29"/>
                </a:cubicBezTo>
                <a:cubicBezTo>
                  <a:pt x="16" y="30"/>
                  <a:pt x="17" y="30"/>
                  <a:pt x="17" y="30"/>
                </a:cubicBezTo>
                <a:close/>
                <a:moveTo>
                  <a:pt x="13" y="6"/>
                </a:moveTo>
                <a:cubicBezTo>
                  <a:pt x="14" y="6"/>
                  <a:pt x="15" y="7"/>
                  <a:pt x="16" y="7"/>
                </a:cubicBezTo>
                <a:cubicBezTo>
                  <a:pt x="16" y="7"/>
                  <a:pt x="17" y="7"/>
                  <a:pt x="17" y="7"/>
                </a:cubicBezTo>
                <a:cubicBezTo>
                  <a:pt x="17" y="6"/>
                  <a:pt x="17" y="6"/>
                  <a:pt x="17" y="5"/>
                </a:cubicBezTo>
                <a:cubicBezTo>
                  <a:pt x="16" y="5"/>
                  <a:pt x="14" y="5"/>
                  <a:pt x="13" y="6"/>
                </a:cubicBezTo>
                <a:close/>
                <a:moveTo>
                  <a:pt x="15" y="11"/>
                </a:moveTo>
                <a:cubicBezTo>
                  <a:pt x="16" y="12"/>
                  <a:pt x="17" y="12"/>
                  <a:pt x="18" y="13"/>
                </a:cubicBezTo>
                <a:cubicBezTo>
                  <a:pt x="19" y="13"/>
                  <a:pt x="19" y="12"/>
                  <a:pt x="19" y="12"/>
                </a:cubicBezTo>
                <a:cubicBezTo>
                  <a:pt x="18" y="12"/>
                  <a:pt x="17" y="11"/>
                  <a:pt x="16" y="10"/>
                </a:cubicBezTo>
                <a:cubicBezTo>
                  <a:pt x="16" y="10"/>
                  <a:pt x="16" y="11"/>
                  <a:pt x="15" y="11"/>
                </a:cubicBezTo>
                <a:close/>
                <a:moveTo>
                  <a:pt x="35" y="10"/>
                </a:moveTo>
                <a:cubicBezTo>
                  <a:pt x="35" y="10"/>
                  <a:pt x="35" y="10"/>
                  <a:pt x="35" y="11"/>
                </a:cubicBezTo>
                <a:cubicBezTo>
                  <a:pt x="36" y="11"/>
                  <a:pt x="37" y="12"/>
                  <a:pt x="38" y="12"/>
                </a:cubicBezTo>
                <a:cubicBezTo>
                  <a:pt x="38" y="12"/>
                  <a:pt x="38" y="11"/>
                  <a:pt x="39" y="11"/>
                </a:cubicBezTo>
                <a:cubicBezTo>
                  <a:pt x="39" y="10"/>
                  <a:pt x="39" y="10"/>
                  <a:pt x="38" y="10"/>
                </a:cubicBezTo>
                <a:cubicBezTo>
                  <a:pt x="37" y="10"/>
                  <a:pt x="37" y="10"/>
                  <a:pt x="36" y="10"/>
                </a:cubicBezTo>
                <a:cubicBezTo>
                  <a:pt x="36" y="10"/>
                  <a:pt x="36" y="10"/>
                  <a:pt x="35" y="10"/>
                </a:cubicBezTo>
                <a:close/>
                <a:moveTo>
                  <a:pt x="9" y="17"/>
                </a:moveTo>
                <a:cubicBezTo>
                  <a:pt x="9" y="17"/>
                  <a:pt x="9" y="17"/>
                  <a:pt x="9" y="17"/>
                </a:cubicBezTo>
                <a:cubicBezTo>
                  <a:pt x="10" y="18"/>
                  <a:pt x="11" y="19"/>
                  <a:pt x="12" y="19"/>
                </a:cubicBezTo>
                <a:cubicBezTo>
                  <a:pt x="12" y="19"/>
                  <a:pt x="12" y="19"/>
                  <a:pt x="12" y="19"/>
                </a:cubicBezTo>
                <a:cubicBezTo>
                  <a:pt x="11" y="18"/>
                  <a:pt x="10" y="18"/>
                  <a:pt x="9" y="17"/>
                </a:cubicBezTo>
                <a:close/>
                <a:moveTo>
                  <a:pt x="38" y="15"/>
                </a:moveTo>
                <a:cubicBezTo>
                  <a:pt x="38" y="15"/>
                  <a:pt x="38" y="14"/>
                  <a:pt x="38" y="14"/>
                </a:cubicBezTo>
                <a:cubicBezTo>
                  <a:pt x="37" y="14"/>
                  <a:pt x="36" y="13"/>
                  <a:pt x="35" y="13"/>
                </a:cubicBezTo>
                <a:cubicBezTo>
                  <a:pt x="36" y="14"/>
                  <a:pt x="37" y="14"/>
                  <a:pt x="38" y="15"/>
                </a:cubicBezTo>
                <a:close/>
                <a:moveTo>
                  <a:pt x="28" y="12"/>
                </a:moveTo>
                <a:cubicBezTo>
                  <a:pt x="28" y="12"/>
                  <a:pt x="28" y="12"/>
                  <a:pt x="28" y="12"/>
                </a:cubicBezTo>
                <a:cubicBezTo>
                  <a:pt x="28" y="11"/>
                  <a:pt x="28" y="10"/>
                  <a:pt x="26" y="11"/>
                </a:cubicBezTo>
                <a:cubicBezTo>
                  <a:pt x="27" y="11"/>
                  <a:pt x="28" y="12"/>
                  <a:pt x="28" y="12"/>
                </a:cubicBezTo>
                <a:close/>
                <a:moveTo>
                  <a:pt x="35" y="23"/>
                </a:moveTo>
                <a:cubicBezTo>
                  <a:pt x="35" y="23"/>
                  <a:pt x="35" y="23"/>
                  <a:pt x="35" y="23"/>
                </a:cubicBezTo>
                <a:cubicBezTo>
                  <a:pt x="35" y="22"/>
                  <a:pt x="34" y="22"/>
                  <a:pt x="33" y="22"/>
                </a:cubicBezTo>
                <a:cubicBezTo>
                  <a:pt x="33" y="22"/>
                  <a:pt x="33" y="22"/>
                  <a:pt x="33" y="22"/>
                </a:cubicBezTo>
                <a:cubicBezTo>
                  <a:pt x="34" y="22"/>
                  <a:pt x="34" y="23"/>
                  <a:pt x="35" y="23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xmlns="" id="{FFB854A0-B0B4-458D-A1B4-CB327FC3637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2555454"/>
              </p:ext>
            </p:extLst>
          </p:nvPr>
        </p:nvGraphicFramePr>
        <p:xfrm>
          <a:off x="8635636" y="4517884"/>
          <a:ext cx="382200" cy="33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4" name="Macro-Enabled Worksheet" showAsIcon="1" r:id="rId4" imgW="914597" imgH="806311" progId="Excel.SheetMacroEnabled.12">
                  <p:embed/>
                </p:oleObj>
              </mc:Choice>
              <mc:Fallback>
                <p:oleObj name="Macro-Enabled Worksheet" showAsIcon="1" r:id="rId4" imgW="914597" imgH="806311" progId="Excel.SheetMacroEnabled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xmlns="" id="{FFB854A0-B0B4-458D-A1B4-CB327FC3637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635636" y="4517884"/>
                        <a:ext cx="382200" cy="33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xmlns="" id="{C902791F-28D9-41DB-972F-A17832DCD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22293"/>
              </p:ext>
            </p:extLst>
          </p:nvPr>
        </p:nvGraphicFramePr>
        <p:xfrm>
          <a:off x="8635636" y="4854963"/>
          <a:ext cx="382200" cy="337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Worksheet" showAsIcon="1" r:id="rId6" imgW="914597" imgH="806311" progId="Excel.Sheet.12">
                  <p:embed/>
                </p:oleObj>
              </mc:Choice>
              <mc:Fallback>
                <p:oleObj name="Worksheet" showAsIcon="1" r:id="rId6" imgW="914597" imgH="806311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xmlns="" id="{C902791F-28D9-41DB-972F-A17832DCD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35636" y="4854963"/>
                        <a:ext cx="382200" cy="3370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5921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809147" y="635999"/>
            <a:ext cx="4386194" cy="2852737"/>
          </a:xfrm>
        </p:spPr>
        <p:txBody>
          <a:bodyPr>
            <a:normAutofit/>
          </a:bodyPr>
          <a:lstStyle/>
          <a:p>
            <a:r>
              <a:rPr lang="es-ES" sz="4400" dirty="0">
                <a:latin typeface="Santander Headline" panose="020B0504020201020104" pitchFamily="34" charset="0"/>
              </a:rPr>
              <a:t>Anexos</a:t>
            </a:r>
          </a:p>
        </p:txBody>
      </p:sp>
    </p:spTree>
    <p:extLst>
      <p:ext uri="{BB962C8B-B14F-4D97-AF65-F5344CB8AC3E}">
        <p14:creationId xmlns:p14="http://schemas.microsoft.com/office/powerpoint/2010/main" val="147499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Identificador único de los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xmlns="" id="{C2278B47-1591-4EC9-A4AC-52548741D5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352388"/>
              </p:ext>
            </p:extLst>
          </p:nvPr>
        </p:nvGraphicFramePr>
        <p:xfrm>
          <a:off x="593518" y="2006145"/>
          <a:ext cx="10596882" cy="1647735"/>
        </p:xfrm>
        <a:graphic>
          <a:graphicData uri="http://schemas.openxmlformats.org/drawingml/2006/table">
            <a:tbl>
              <a:tblPr/>
              <a:tblGrid>
                <a:gridCol w="1722962">
                  <a:extLst>
                    <a:ext uri="{9D8B030D-6E8A-4147-A177-3AD203B41FA5}">
                      <a16:colId xmlns:a16="http://schemas.microsoft.com/office/drawing/2014/main" xmlns="" val="4147897159"/>
                    </a:ext>
                  </a:extLst>
                </a:gridCol>
                <a:gridCol w="853440">
                  <a:extLst>
                    <a:ext uri="{9D8B030D-6E8A-4147-A177-3AD203B41FA5}">
                      <a16:colId xmlns:a16="http://schemas.microsoft.com/office/drawing/2014/main" xmlns="" val="700941719"/>
                    </a:ext>
                  </a:extLst>
                </a:gridCol>
                <a:gridCol w="741680">
                  <a:extLst>
                    <a:ext uri="{9D8B030D-6E8A-4147-A177-3AD203B41FA5}">
                      <a16:colId xmlns:a16="http://schemas.microsoft.com/office/drawing/2014/main" xmlns="" val="484319789"/>
                    </a:ext>
                  </a:extLst>
                </a:gridCol>
                <a:gridCol w="203163">
                  <a:extLst>
                    <a:ext uri="{9D8B030D-6E8A-4147-A177-3AD203B41FA5}">
                      <a16:colId xmlns:a16="http://schemas.microsoft.com/office/drawing/2014/main" xmlns="" val="1850563446"/>
                    </a:ext>
                  </a:extLst>
                </a:gridCol>
                <a:gridCol w="1180860">
                  <a:extLst>
                    <a:ext uri="{9D8B030D-6E8A-4147-A177-3AD203B41FA5}">
                      <a16:colId xmlns:a16="http://schemas.microsoft.com/office/drawing/2014/main" xmlns="" val="2480758722"/>
                    </a:ext>
                  </a:extLst>
                </a:gridCol>
                <a:gridCol w="714230">
                  <a:extLst>
                    <a:ext uri="{9D8B030D-6E8A-4147-A177-3AD203B41FA5}">
                      <a16:colId xmlns:a16="http://schemas.microsoft.com/office/drawing/2014/main" xmlns="" val="94337149"/>
                    </a:ext>
                  </a:extLst>
                </a:gridCol>
                <a:gridCol w="133323">
                  <a:extLst>
                    <a:ext uri="{9D8B030D-6E8A-4147-A177-3AD203B41FA5}">
                      <a16:colId xmlns:a16="http://schemas.microsoft.com/office/drawing/2014/main" xmlns="" val="768225828"/>
                    </a:ext>
                  </a:extLst>
                </a:gridCol>
                <a:gridCol w="1199906">
                  <a:extLst>
                    <a:ext uri="{9D8B030D-6E8A-4147-A177-3AD203B41FA5}">
                      <a16:colId xmlns:a16="http://schemas.microsoft.com/office/drawing/2014/main" xmlns="" val="1746956508"/>
                    </a:ext>
                  </a:extLst>
                </a:gridCol>
                <a:gridCol w="714230">
                  <a:extLst>
                    <a:ext uri="{9D8B030D-6E8A-4147-A177-3AD203B41FA5}">
                      <a16:colId xmlns:a16="http://schemas.microsoft.com/office/drawing/2014/main" xmlns="" val="2148925480"/>
                    </a:ext>
                  </a:extLst>
                </a:gridCol>
                <a:gridCol w="133323">
                  <a:extLst>
                    <a:ext uri="{9D8B030D-6E8A-4147-A177-3AD203B41FA5}">
                      <a16:colId xmlns:a16="http://schemas.microsoft.com/office/drawing/2014/main" xmlns="" val="2569480457"/>
                    </a:ext>
                  </a:extLst>
                </a:gridCol>
                <a:gridCol w="447584">
                  <a:extLst>
                    <a:ext uri="{9D8B030D-6E8A-4147-A177-3AD203B41FA5}">
                      <a16:colId xmlns:a16="http://schemas.microsoft.com/office/drawing/2014/main" xmlns="" val="2952334102"/>
                    </a:ext>
                  </a:extLst>
                </a:gridCol>
                <a:gridCol w="723753">
                  <a:extLst>
                    <a:ext uri="{9D8B030D-6E8A-4147-A177-3AD203B41FA5}">
                      <a16:colId xmlns:a16="http://schemas.microsoft.com/office/drawing/2014/main" xmlns="" val="1485213928"/>
                    </a:ext>
                  </a:extLst>
                </a:gridCol>
                <a:gridCol w="180938">
                  <a:extLst>
                    <a:ext uri="{9D8B030D-6E8A-4147-A177-3AD203B41FA5}">
                      <a16:colId xmlns:a16="http://schemas.microsoft.com/office/drawing/2014/main" xmlns="" val="2289152906"/>
                    </a:ext>
                  </a:extLst>
                </a:gridCol>
                <a:gridCol w="933260">
                  <a:extLst>
                    <a:ext uri="{9D8B030D-6E8A-4147-A177-3AD203B41FA5}">
                      <a16:colId xmlns:a16="http://schemas.microsoft.com/office/drawing/2014/main" xmlns="" val="730240121"/>
                    </a:ext>
                  </a:extLst>
                </a:gridCol>
                <a:gridCol w="714230">
                  <a:extLst>
                    <a:ext uri="{9D8B030D-6E8A-4147-A177-3AD203B41FA5}">
                      <a16:colId xmlns:a16="http://schemas.microsoft.com/office/drawing/2014/main" xmlns="" val="3403257231"/>
                    </a:ext>
                  </a:extLst>
                </a:gridCol>
              </a:tblGrid>
              <a:tr h="296678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Segmentos ANEXO NOPER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/>
                        </a:rPr>
                        <a:t>Partición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Cartera contable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Producto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Stage</a:t>
                      </a:r>
                      <a:endParaRPr lang="es-ES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endParaRPr lang="es-ES" sz="1000" b="1" i="0" u="none" strike="noStrike">
                        <a:solidFill>
                          <a:srgbClr val="FFFFFF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status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Subportfolio</a:t>
                      </a:r>
                      <a:r>
                        <a:rPr lang="es-E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/>
                        </a:rPr>
                        <a:t> ID</a:t>
                      </a:r>
                    </a:p>
                  </a:txBody>
                  <a:tcPr marL="5494" marR="5494" marT="5494" marB="0" anchor="b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530220078"/>
                  </a:ext>
                </a:extLst>
              </a:tr>
              <a:tr h="159327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Administraciones públicas 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AP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Cash and cash balances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CASH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Renta fija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on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VRD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1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S1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580643453"/>
                  </a:ext>
                </a:extLst>
              </a:tr>
              <a:tr h="159327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Entidades de crédito 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EC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Coste amortizado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CA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Préstamos (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onBS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PRE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</a:t>
                      </a:r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2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S2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Non-</a:t>
                      </a:r>
                      <a:r>
                        <a:rPr lang="es-E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Performing</a:t>
                      </a:r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NP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64055317"/>
                  </a:ext>
                </a:extLst>
              </a:tr>
              <a:tr h="247232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Otras sociedades financieras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OSF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 con cambios PN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VRPN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Compromisos (off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COMP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Stage 3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S3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12175091"/>
                  </a:ext>
                </a:extLst>
              </a:tr>
              <a:tr h="247232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Sociedades no financieras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SNF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 con cambios PL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VRPL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Riesgo de firma (off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GUAR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5168986"/>
                  </a:ext>
                </a:extLst>
              </a:tr>
              <a:tr h="247232"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    Hogares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HOG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Otros compromisos (off BS)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/>
                        </a:rPr>
                        <a:t>OCOM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ES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 </a:t>
                      </a:r>
                    </a:p>
                  </a:txBody>
                  <a:tcPr marL="5494" marR="5494" marT="5494" marB="0" anchor="ctr">
                    <a:lnL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68332067"/>
                  </a:ext>
                </a:extLst>
              </a:tr>
            </a:tbl>
          </a:graphicData>
        </a:graphic>
      </p:graphicFrame>
      <p:pic>
        <p:nvPicPr>
          <p:cNvPr id="4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xmlns="" id="{B344EC8D-A2CF-4ADE-B964-CD1132A865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9299" y="485105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uadroTexto 24">
            <a:extLst>
              <a:ext uri="{FF2B5EF4-FFF2-40B4-BE49-F238E27FC236}">
                <a16:creationId xmlns:a16="http://schemas.microsoft.com/office/drawing/2014/main" xmlns="" id="{C727AC3C-1FDF-4B74-B347-844F0E2DCB4C}"/>
              </a:ext>
            </a:extLst>
          </p:cNvPr>
          <p:cNvSpPr txBox="1"/>
          <p:nvPr/>
        </p:nvSpPr>
        <p:spPr>
          <a:xfrm>
            <a:off x="352620" y="805767"/>
            <a:ext cx="11078679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En primer lugar, se nombra con un identificador único a cada subconjunto o combinación de atributos relevantes posible. </a:t>
            </a:r>
          </a:p>
          <a:p>
            <a:pPr algn="just"/>
            <a:endParaRPr lang="es-ES" sz="1400" dirty="0">
              <a:solidFill>
                <a:prstClr val="black"/>
              </a:solidFill>
              <a:latin typeface="Santander Text" panose="020B0504020201020104" pitchFamily="34" charset="0"/>
            </a:endParaRPr>
          </a:p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El identificador único de cada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 solicitado se construye considerando el mes (MM) y el año (YY) al que hace referencia la información (Ejemplo: 0621) y una codificación fruto de los atributos del </a:t>
            </a:r>
            <a:r>
              <a:rPr lang="es-ES" sz="1400" dirty="0" err="1">
                <a:solidFill>
                  <a:prstClr val="black"/>
                </a:solidFill>
                <a:latin typeface="Santander Text" panose="020B0504020201020104" pitchFamily="34" charset="0"/>
              </a:rPr>
              <a:t>subportfolio</a:t>
            </a:r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. A continuación se detalla la codificación propuesta:</a:t>
            </a:r>
            <a:endParaRPr lang="es-ES" sz="1400" b="1" dirty="0">
              <a:latin typeface="Santander Text"/>
            </a:endParaRPr>
          </a:p>
        </p:txBody>
      </p:sp>
      <p:sp>
        <p:nvSpPr>
          <p:cNvPr id="6" name="CuadroTexto 24">
            <a:extLst>
              <a:ext uri="{FF2B5EF4-FFF2-40B4-BE49-F238E27FC236}">
                <a16:creationId xmlns:a16="http://schemas.microsoft.com/office/drawing/2014/main" xmlns="" id="{FB6F4547-DBFD-4C8F-959C-598BFACDBF76}"/>
              </a:ext>
            </a:extLst>
          </p:cNvPr>
          <p:cNvSpPr txBox="1"/>
          <p:nvPr/>
        </p:nvSpPr>
        <p:spPr>
          <a:xfrm>
            <a:off x="352619" y="3931274"/>
            <a:ext cx="10916679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just"/>
            <a:r>
              <a:rPr lang="es-ES" sz="1400" dirty="0">
                <a:solidFill>
                  <a:prstClr val="black"/>
                </a:solidFill>
                <a:latin typeface="Santander Text" panose="020B0504020201020104" pitchFamily="34" charset="0"/>
              </a:rPr>
              <a:t>En el caso de no aplicar un atributo, se excluirá de la codificación. Ejemplo: cash and cash balances no se asocia con un “Segmentos Anexo NOPER” por lo que el código único comenzará directamente por “CASH”. </a:t>
            </a:r>
            <a:endParaRPr lang="es-ES" sz="1400" b="1" dirty="0">
              <a:latin typeface="Santander Text"/>
            </a:endParaRPr>
          </a:p>
        </p:txBody>
      </p:sp>
    </p:spTree>
    <p:extLst>
      <p:ext uri="{BB962C8B-B14F-4D97-AF65-F5344CB8AC3E}">
        <p14:creationId xmlns:p14="http://schemas.microsoft.com/office/powerpoint/2010/main" val="4015653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/>
        </p:nvGraphicFramePr>
        <p:xfrm>
          <a:off x="426720" y="707741"/>
          <a:ext cx="10990579" cy="5547392"/>
        </p:xfrm>
        <a:graphic>
          <a:graphicData uri="http://schemas.openxmlformats.org/drawingml/2006/table">
            <a:tbl>
              <a:tblPr/>
              <a:tblGrid>
                <a:gridCol w="207635">
                  <a:extLst>
                    <a:ext uri="{9D8B030D-6E8A-4147-A177-3AD203B41FA5}">
                      <a16:colId xmlns:a16="http://schemas.microsoft.com/office/drawing/2014/main" xmlns="" val="1131844151"/>
                    </a:ext>
                  </a:extLst>
                </a:gridCol>
                <a:gridCol w="1443467">
                  <a:extLst>
                    <a:ext uri="{9D8B030D-6E8A-4147-A177-3AD203B41FA5}">
                      <a16:colId xmlns:a16="http://schemas.microsoft.com/office/drawing/2014/main" xmlns="" val="2814068171"/>
                    </a:ext>
                  </a:extLst>
                </a:gridCol>
                <a:gridCol w="15872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3662">
                  <a:extLst>
                    <a:ext uri="{9D8B030D-6E8A-4147-A177-3AD203B41FA5}">
                      <a16:colId xmlns:a16="http://schemas.microsoft.com/office/drawing/2014/main" xmlns="" val="2465000092"/>
                    </a:ext>
                  </a:extLst>
                </a:gridCol>
                <a:gridCol w="1490445">
                  <a:extLst>
                    <a:ext uri="{9D8B030D-6E8A-4147-A177-3AD203B41FA5}">
                      <a16:colId xmlns:a16="http://schemas.microsoft.com/office/drawing/2014/main" xmlns="" val="1911850969"/>
                    </a:ext>
                  </a:extLst>
                </a:gridCol>
                <a:gridCol w="648440">
                  <a:extLst>
                    <a:ext uri="{9D8B030D-6E8A-4147-A177-3AD203B41FA5}">
                      <a16:colId xmlns:a16="http://schemas.microsoft.com/office/drawing/2014/main" xmlns="" val="1418566233"/>
                    </a:ext>
                  </a:extLst>
                </a:gridCol>
                <a:gridCol w="1016212">
                  <a:extLst>
                    <a:ext uri="{9D8B030D-6E8A-4147-A177-3AD203B41FA5}">
                      <a16:colId xmlns:a16="http://schemas.microsoft.com/office/drawing/2014/main" xmlns="" val="184544328"/>
                    </a:ext>
                  </a:extLst>
                </a:gridCol>
                <a:gridCol w="3203490">
                  <a:extLst>
                    <a:ext uri="{9D8B030D-6E8A-4147-A177-3AD203B41FA5}">
                      <a16:colId xmlns:a16="http://schemas.microsoft.com/office/drawing/2014/main" xmlns="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MMYY_CASHPRES1P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Cash and cash balances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on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(on BS)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(on BS)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MMYY_CASHPRES3NP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Cash and cash balances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Préstamos (</a:t>
                      </a:r>
                      <a:r>
                        <a:rPr kumimoji="0" lang="es-E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on</a:t>
                      </a: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MMYY_APCAVRDS3NP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MMYY_APVRPNVRDS3NP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MMYY_APVRPLVRDP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MMYY_APVRPLVRDNP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MMYY_APCAPRES3NP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MMYY_APVRPNPRES3NP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MMYY_APVRPLPREP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MMYY_APVRPLPRENP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27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28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MMYY_APCOMS3NP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29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30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MMYY_APGUARS2NP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350187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MMYY_APOCOMS3NP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551056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34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MMYY_APOCOMS1P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3112933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35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MMYY_APOCOMS2P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3106929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36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MMYY_APOCOMS2NP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Administraciones públicas 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9569035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xmlns="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058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/>
        </p:nvGraphicFramePr>
        <p:xfrm>
          <a:off x="426720" y="707741"/>
          <a:ext cx="10972800" cy="4963456"/>
        </p:xfrm>
        <a:graphic>
          <a:graphicData uri="http://schemas.openxmlformats.org/drawingml/2006/table">
            <a:tbl>
              <a:tblPr/>
              <a:tblGrid>
                <a:gridCol w="207300">
                  <a:extLst>
                    <a:ext uri="{9D8B030D-6E8A-4147-A177-3AD203B41FA5}">
                      <a16:colId xmlns:a16="http://schemas.microsoft.com/office/drawing/2014/main" xmlns="" val="1131844151"/>
                    </a:ext>
                  </a:extLst>
                </a:gridCol>
                <a:gridCol w="1441132">
                  <a:extLst>
                    <a:ext uri="{9D8B030D-6E8A-4147-A177-3AD203B41FA5}">
                      <a16:colId xmlns:a16="http://schemas.microsoft.com/office/drawing/2014/main" xmlns="" val="2814068171"/>
                    </a:ext>
                  </a:extLst>
                </a:gridCol>
                <a:gridCol w="158466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1408">
                  <a:extLst>
                    <a:ext uri="{9D8B030D-6E8A-4147-A177-3AD203B41FA5}">
                      <a16:colId xmlns:a16="http://schemas.microsoft.com/office/drawing/2014/main" xmlns="" val="2465000092"/>
                    </a:ext>
                  </a:extLst>
                </a:gridCol>
                <a:gridCol w="1488033">
                  <a:extLst>
                    <a:ext uri="{9D8B030D-6E8A-4147-A177-3AD203B41FA5}">
                      <a16:colId xmlns:a16="http://schemas.microsoft.com/office/drawing/2014/main" xmlns="" val="1911850969"/>
                    </a:ext>
                  </a:extLst>
                </a:gridCol>
                <a:gridCol w="647392">
                  <a:extLst>
                    <a:ext uri="{9D8B030D-6E8A-4147-A177-3AD203B41FA5}">
                      <a16:colId xmlns:a16="http://schemas.microsoft.com/office/drawing/2014/main" xmlns="" val="1418566233"/>
                    </a:ext>
                  </a:extLst>
                </a:gridCol>
                <a:gridCol w="1014568">
                  <a:extLst>
                    <a:ext uri="{9D8B030D-6E8A-4147-A177-3AD203B41FA5}">
                      <a16:colId xmlns:a16="http://schemas.microsoft.com/office/drawing/2014/main" xmlns="" val="184544328"/>
                    </a:ext>
                  </a:extLst>
                </a:gridCol>
                <a:gridCol w="3198307">
                  <a:extLst>
                    <a:ext uri="{9D8B030D-6E8A-4147-A177-3AD203B41FA5}">
                      <a16:colId xmlns:a16="http://schemas.microsoft.com/office/drawing/2014/main" xmlns="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Entidades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MMYY_ECVRPNVRDS3NP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MMYY_ECVRPLVRDP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MMYY_ECVRPLVRDNP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MMYY_ECCAPRES3NP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MMYY_ECVRPNPRES3NP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MMYY_ECVRPLPREP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MMYY_ECVRPLPRENP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MMYY_ECGUARS2NP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MMYY_ECOCOMS3NP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MMYY_ECOCOMS1P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MMYY_ECOCOMS2P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MMYY_ECOCOMS2NP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Entidades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xmlns="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5606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/>
        </p:nvGraphicFramePr>
        <p:xfrm>
          <a:off x="426720" y="707741"/>
          <a:ext cx="10986347" cy="4963456"/>
        </p:xfrm>
        <a:graphic>
          <a:graphicData uri="http://schemas.openxmlformats.org/drawingml/2006/table">
            <a:tbl>
              <a:tblPr/>
              <a:tblGrid>
                <a:gridCol w="207555">
                  <a:extLst>
                    <a:ext uri="{9D8B030D-6E8A-4147-A177-3AD203B41FA5}">
                      <a16:colId xmlns:a16="http://schemas.microsoft.com/office/drawing/2014/main" xmlns="" val="1131844151"/>
                    </a:ext>
                  </a:extLst>
                </a:gridCol>
                <a:gridCol w="1442912">
                  <a:extLst>
                    <a:ext uri="{9D8B030D-6E8A-4147-A177-3AD203B41FA5}">
                      <a16:colId xmlns:a16="http://schemas.microsoft.com/office/drawing/2014/main" xmlns="" val="2814068171"/>
                    </a:ext>
                  </a:extLst>
                </a:gridCol>
                <a:gridCol w="158661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3126">
                  <a:extLst>
                    <a:ext uri="{9D8B030D-6E8A-4147-A177-3AD203B41FA5}">
                      <a16:colId xmlns:a16="http://schemas.microsoft.com/office/drawing/2014/main" xmlns="" val="2465000092"/>
                    </a:ext>
                  </a:extLst>
                </a:gridCol>
                <a:gridCol w="1489870">
                  <a:extLst>
                    <a:ext uri="{9D8B030D-6E8A-4147-A177-3AD203B41FA5}">
                      <a16:colId xmlns:a16="http://schemas.microsoft.com/office/drawing/2014/main" xmlns="" val="1911850969"/>
                    </a:ext>
                  </a:extLst>
                </a:gridCol>
                <a:gridCol w="648191">
                  <a:extLst>
                    <a:ext uri="{9D8B030D-6E8A-4147-A177-3AD203B41FA5}">
                      <a16:colId xmlns:a16="http://schemas.microsoft.com/office/drawing/2014/main" xmlns="" val="1418566233"/>
                    </a:ext>
                  </a:extLst>
                </a:gridCol>
                <a:gridCol w="1015821">
                  <a:extLst>
                    <a:ext uri="{9D8B030D-6E8A-4147-A177-3AD203B41FA5}">
                      <a16:colId xmlns:a16="http://schemas.microsoft.com/office/drawing/2014/main" xmlns="" val="184544328"/>
                    </a:ext>
                  </a:extLst>
                </a:gridCol>
                <a:gridCol w="3202255">
                  <a:extLst>
                    <a:ext uri="{9D8B030D-6E8A-4147-A177-3AD203B41FA5}">
                      <a16:colId xmlns:a16="http://schemas.microsoft.com/office/drawing/2014/main" xmlns="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MMYY_OSFVRPLVRDP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MMYY_OSFVRPLVRDNP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99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MMYY_OSFOCOMS2NP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Otras sociedades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xmlns="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521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/>
        </p:nvGraphicFramePr>
        <p:xfrm>
          <a:off x="426720" y="707741"/>
          <a:ext cx="10994812" cy="4963456"/>
        </p:xfrm>
        <a:graphic>
          <a:graphicData uri="http://schemas.openxmlformats.org/drawingml/2006/table">
            <a:tbl>
              <a:tblPr/>
              <a:tblGrid>
                <a:gridCol w="207715">
                  <a:extLst>
                    <a:ext uri="{9D8B030D-6E8A-4147-A177-3AD203B41FA5}">
                      <a16:colId xmlns:a16="http://schemas.microsoft.com/office/drawing/2014/main" xmlns="" val="1131844151"/>
                    </a:ext>
                  </a:extLst>
                </a:gridCol>
                <a:gridCol w="1444023">
                  <a:extLst>
                    <a:ext uri="{9D8B030D-6E8A-4147-A177-3AD203B41FA5}">
                      <a16:colId xmlns:a16="http://schemas.microsoft.com/office/drawing/2014/main" xmlns="" val="2814068171"/>
                    </a:ext>
                  </a:extLst>
                </a:gridCol>
                <a:gridCol w="158783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4200">
                  <a:extLst>
                    <a:ext uri="{9D8B030D-6E8A-4147-A177-3AD203B41FA5}">
                      <a16:colId xmlns:a16="http://schemas.microsoft.com/office/drawing/2014/main" xmlns="" val="2465000092"/>
                    </a:ext>
                  </a:extLst>
                </a:gridCol>
                <a:gridCol w="1491018">
                  <a:extLst>
                    <a:ext uri="{9D8B030D-6E8A-4147-A177-3AD203B41FA5}">
                      <a16:colId xmlns:a16="http://schemas.microsoft.com/office/drawing/2014/main" xmlns="" val="1911850969"/>
                    </a:ext>
                  </a:extLst>
                </a:gridCol>
                <a:gridCol w="648690">
                  <a:extLst>
                    <a:ext uri="{9D8B030D-6E8A-4147-A177-3AD203B41FA5}">
                      <a16:colId xmlns:a16="http://schemas.microsoft.com/office/drawing/2014/main" xmlns="" val="1418566233"/>
                    </a:ext>
                  </a:extLst>
                </a:gridCol>
                <a:gridCol w="1016604">
                  <a:extLst>
                    <a:ext uri="{9D8B030D-6E8A-4147-A177-3AD203B41FA5}">
                      <a16:colId xmlns:a16="http://schemas.microsoft.com/office/drawing/2014/main" xmlns="" val="184544328"/>
                    </a:ext>
                  </a:extLst>
                </a:gridCol>
                <a:gridCol w="3204723">
                  <a:extLst>
                    <a:ext uri="{9D8B030D-6E8A-4147-A177-3AD203B41FA5}">
                      <a16:colId xmlns:a16="http://schemas.microsoft.com/office/drawing/2014/main" xmlns="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11062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968903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4298686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7550147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MMYY_SNFVRPNVRDS3NP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MMYY_SNFVRPLVRDP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MMYY_SNFVRPLVRDNP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Renta fija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6313134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MMYY_SNFOCOMS2NP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Sociedades no financieras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xmlns="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092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a 57"/>
          <p:cNvGraphicFramePr>
            <a:graphicFrameLocks noGrp="1"/>
          </p:cNvGraphicFramePr>
          <p:nvPr/>
        </p:nvGraphicFramePr>
        <p:xfrm>
          <a:off x="426720" y="707741"/>
          <a:ext cx="10969413" cy="3503616"/>
        </p:xfrm>
        <a:graphic>
          <a:graphicData uri="http://schemas.openxmlformats.org/drawingml/2006/table">
            <a:tbl>
              <a:tblPr/>
              <a:tblGrid>
                <a:gridCol w="207236">
                  <a:extLst>
                    <a:ext uri="{9D8B030D-6E8A-4147-A177-3AD203B41FA5}">
                      <a16:colId xmlns:a16="http://schemas.microsoft.com/office/drawing/2014/main" xmlns="" val="1131844151"/>
                    </a:ext>
                  </a:extLst>
                </a:gridCol>
                <a:gridCol w="1440687">
                  <a:extLst>
                    <a:ext uri="{9D8B030D-6E8A-4147-A177-3AD203B41FA5}">
                      <a16:colId xmlns:a16="http://schemas.microsoft.com/office/drawing/2014/main" xmlns="" val="2814068171"/>
                    </a:ext>
                  </a:extLst>
                </a:gridCol>
                <a:gridCol w="158417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0979">
                  <a:extLst>
                    <a:ext uri="{9D8B030D-6E8A-4147-A177-3AD203B41FA5}">
                      <a16:colId xmlns:a16="http://schemas.microsoft.com/office/drawing/2014/main" xmlns="" val="2465000092"/>
                    </a:ext>
                  </a:extLst>
                </a:gridCol>
                <a:gridCol w="1487574">
                  <a:extLst>
                    <a:ext uri="{9D8B030D-6E8A-4147-A177-3AD203B41FA5}">
                      <a16:colId xmlns:a16="http://schemas.microsoft.com/office/drawing/2014/main" xmlns="" val="1911850969"/>
                    </a:ext>
                  </a:extLst>
                </a:gridCol>
                <a:gridCol w="647192">
                  <a:extLst>
                    <a:ext uri="{9D8B030D-6E8A-4147-A177-3AD203B41FA5}">
                      <a16:colId xmlns:a16="http://schemas.microsoft.com/office/drawing/2014/main" xmlns="" val="1418566233"/>
                    </a:ext>
                  </a:extLst>
                </a:gridCol>
                <a:gridCol w="1014255">
                  <a:extLst>
                    <a:ext uri="{9D8B030D-6E8A-4147-A177-3AD203B41FA5}">
                      <a16:colId xmlns:a16="http://schemas.microsoft.com/office/drawing/2014/main" xmlns="" val="184544328"/>
                    </a:ext>
                  </a:extLst>
                </a:gridCol>
                <a:gridCol w="3197319">
                  <a:extLst>
                    <a:ext uri="{9D8B030D-6E8A-4147-A177-3AD203B41FA5}">
                      <a16:colId xmlns:a16="http://schemas.microsoft.com/office/drawing/2014/main" xmlns="" val="462508465"/>
                    </a:ext>
                  </a:extLst>
                </a:gridCol>
              </a:tblGrid>
              <a:tr h="291968"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#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Subportfolio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ID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Segmentos ANEXO NOPER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Cartera contable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Producto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endParaRPr lang="es-ES" sz="8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 status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/>
                        </a:rPr>
                        <a:t>Métricas</a:t>
                      </a:r>
                    </a:p>
                  </a:txBody>
                  <a:tcPr marL="72000" marR="6350" marT="635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676942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39850470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83595158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MMYY_HOGCAPRES3NP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Coste amortizado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2551220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0590757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35072277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1457470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MMYY_HOGVRPNPRES3NP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PN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Provisiones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7372341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MMYY_HOGVRPLPREP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04020829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MMYY_HOGVRPLPRENP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VR con cambio en PL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Préstamos (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on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Importe bruto en libros y Ajustes por riesgo de crédito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74839152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Nominal y Provisiones off balance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81459855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65782715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945679636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Compromisos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8576005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Garantías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332970687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0661858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17983169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MMYY_HOGGUARS2NP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Garantías (off BS)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209112091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MMYY_HOGOCOMS3NP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1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924143044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MMYY_HOGOCOMS1P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0246813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MMYY_HOGOCOMS2P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  <a:endParaRPr kumimoji="0" lang="es-E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Santander Text" panose="020B0504020201020104"/>
                        <a:ea typeface="+mn-ea"/>
                        <a:cs typeface="+mn-cs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2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52743400"/>
                  </a:ext>
                </a:extLst>
              </a:tr>
              <a:tr h="145984">
                <a:tc>
                  <a:txBody>
                    <a:bodyPr/>
                    <a:lstStyle/>
                    <a:p>
                      <a:pPr algn="ctr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154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MMYY_HOGOCOMS2NP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    Hogares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Otros compromisos (off BS)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Stage</a:t>
                      </a:r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 3</a:t>
                      </a: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Non-</a:t>
                      </a:r>
                      <a:r>
                        <a:rPr lang="es-E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Santander Text" panose="020B0504020201020104"/>
                        </a:rPr>
                        <a:t>Performing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kumimoji="0" lang="es-E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/>
                          <a:ea typeface="+mn-ea"/>
                          <a:cs typeface="+mn-cs"/>
                        </a:rPr>
                        <a:t>Nominal y Provisiones off balance</a:t>
                      </a:r>
                      <a:endParaRPr lang="es-ES" sz="8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/>
                      </a:endParaRPr>
                    </a:p>
                  </a:txBody>
                  <a:tcPr marL="72000" marR="6350" marT="6350" marB="0" anchor="b">
                    <a:lnL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5A5A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3501872"/>
                  </a:ext>
                </a:extLst>
              </a:tr>
            </a:tbl>
          </a:graphicData>
        </a:graphic>
      </p:graphicFrame>
      <p:sp>
        <p:nvSpPr>
          <p:cNvPr id="16" name="Rectángulo 12">
            <a:extLst>
              <a:ext uri="{FF2B5EF4-FFF2-40B4-BE49-F238E27FC236}">
                <a16:creationId xmlns:a16="http://schemas.microsoft.com/office/drawing/2014/main" xmlns="" id="{49C8E16C-8F14-4490-8570-2E5E436A9B9D}"/>
              </a:ext>
            </a:extLst>
          </p:cNvPr>
          <p:cNvSpPr/>
          <p:nvPr/>
        </p:nvSpPr>
        <p:spPr>
          <a:xfrm>
            <a:off x="354000" y="184614"/>
            <a:ext cx="11484000" cy="68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3200" dirty="0">
                <a:solidFill>
                  <a:schemeClr val="accent1"/>
                </a:solidFill>
              </a:rPr>
              <a:t>ANEXO – Listado de </a:t>
            </a:r>
            <a:r>
              <a:rPr lang="es-ES" sz="3200" dirty="0" err="1">
                <a:solidFill>
                  <a:schemeClr val="accent1"/>
                </a:solidFill>
              </a:rPr>
              <a:t>subportfolios</a:t>
            </a:r>
            <a:r>
              <a:rPr lang="es-ES" sz="3200" dirty="0">
                <a:solidFill>
                  <a:schemeClr val="accent1"/>
                </a:solidFill>
              </a:rPr>
              <a:t> bajo alcance del loan tape </a:t>
            </a:r>
          </a:p>
          <a:p>
            <a:r>
              <a:rPr lang="es-E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</a:p>
        </p:txBody>
      </p:sp>
      <p:pic>
        <p:nvPicPr>
          <p:cNvPr id="20" name="Imagen 117" descr="image001">
            <a:hlinkClick r:id="rId3" action="ppaction://hlinksldjump"/>
            <a:extLst>
              <a:ext uri="{FF2B5EF4-FFF2-40B4-BE49-F238E27FC236}">
                <a16:creationId xmlns:a16="http://schemas.microsoft.com/office/drawing/2014/main" xmlns="" id="{1A1BE5A1-D8BE-4C63-89A3-313D99ABB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8568" y="251350"/>
            <a:ext cx="324000" cy="38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583671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ysClr val="window" lastClr="FFFFFF">
            <a:lumMod val="95000"/>
            <a:alpha val="31000"/>
          </a:sysClr>
        </a:solidFill>
        <a:ln w="19050" cap="flat" cmpd="sng" algn="ctr">
          <a:solidFill>
            <a:srgbClr val="FF0000"/>
          </a:solidFill>
          <a:prstDash val="dash"/>
          <a:miter lim="800000"/>
        </a:ln>
        <a:effectLst/>
      </a:spPr>
      <a:bodyPr rtlCol="0" anchor="t"/>
      <a:lstStyle>
        <a:defPPr>
          <a:defRPr sz="1200" b="1" u="sng" dirty="0">
            <a:solidFill>
              <a:schemeClr val="tx2"/>
            </a:solidFill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6D051AEB2C48B458F82B58F7F6D9A00" ma:contentTypeVersion="4" ma:contentTypeDescription="Criar um novo documento." ma:contentTypeScope="" ma:versionID="143410d7a9f66b06cd5403cd8b719205">
  <xsd:schema xmlns:xsd="http://www.w3.org/2001/XMLSchema" xmlns:xs="http://www.w3.org/2001/XMLSchema" xmlns:p="http://schemas.microsoft.com/office/2006/metadata/properties" xmlns:ns2="a9b50dc7-8f72-473c-8b7e-4a8c46ecad32" xmlns:ns3="7b1ec8e5-5652-48eb-8550-a56a35f5f817" targetNamespace="http://schemas.microsoft.com/office/2006/metadata/properties" ma:root="true" ma:fieldsID="df1aec91e4ae17e9084b0fee2240be3b" ns2:_="" ns3:_=""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D9C4BB-930D-4DF3-85DD-8D55B2C2B01C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A06485B-5333-4DF0-98AD-297B21FC6D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b50dc7-8f72-473c-8b7e-4a8c46ecad32"/>
    <ds:schemaRef ds:uri="7b1ec8e5-5652-48eb-8550-a56a35f5f81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C3CD27C-739E-4208-AB9A-3318482E85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10976</TotalTime>
  <Words>5368</Words>
  <Application>Microsoft Office PowerPoint</Application>
  <PresentationFormat>Widescreen</PresentationFormat>
  <Paragraphs>1599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Arial</vt:lpstr>
      <vt:lpstr>Calibri</vt:lpstr>
      <vt:lpstr>Courier New</vt:lpstr>
      <vt:lpstr>Open Sans</vt:lpstr>
      <vt:lpstr>Santander Headline</vt:lpstr>
      <vt:lpstr>Santander Text</vt:lpstr>
      <vt:lpstr>Times New Roman</vt:lpstr>
      <vt:lpstr>Wingdings</vt:lpstr>
      <vt:lpstr>1_Tema de Office</vt:lpstr>
      <vt:lpstr>think-cell Slide</vt:lpstr>
      <vt:lpstr>Macro-Enabled Worksheet</vt:lpstr>
      <vt:lpstr>Worksheet</vt:lpstr>
      <vt:lpstr>Microsoft Excel Macro-Enabled Worksheet</vt:lpstr>
      <vt:lpstr>Loan tape Estructural  Perímetro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FERNANDEZ CASTRO ANA ISABEL</dc:creator>
  <cp:lastModifiedBy>Hugo Alexandre Redondo Reia</cp:lastModifiedBy>
  <cp:revision>110</cp:revision>
  <dcterms:created xsi:type="dcterms:W3CDTF">2021-04-22T09:22:15Z</dcterms:created>
  <dcterms:modified xsi:type="dcterms:W3CDTF">2021-06-25T10:47:54Z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2abd79-57a9-4473-8700-c843f76a1e37_Enabled">
    <vt:lpwstr>True</vt:lpwstr>
  </property>
  <property fmtid="{D5CDD505-2E9C-101B-9397-08002B2CF9AE}" pid="3" name="MSIP_Label_0c2abd79-57a9-4473-8700-c843f76a1e37_SiteId">
    <vt:lpwstr>35595a02-4d6d-44ac-99e1-f9ab4cd872db</vt:lpwstr>
  </property>
  <property fmtid="{D5CDD505-2E9C-101B-9397-08002B2CF9AE}" pid="4" name="MSIP_Label_0c2abd79-57a9-4473-8700-c843f76a1e37_Owner">
    <vt:lpwstr>n220359@corp.geoban.com</vt:lpwstr>
  </property>
  <property fmtid="{D5CDD505-2E9C-101B-9397-08002B2CF9AE}" pid="5" name="MSIP_Label_0c2abd79-57a9-4473-8700-c843f76a1e37_SetDate">
    <vt:lpwstr>2021-04-22T10:12:15.8539061Z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Application">
    <vt:lpwstr>Microsoft Azure Information Protection</vt:lpwstr>
  </property>
  <property fmtid="{D5CDD505-2E9C-101B-9397-08002B2CF9AE}" pid="8" name="MSIP_Label_0c2abd79-57a9-4473-8700-c843f76a1e37_ActionId">
    <vt:lpwstr>f9befcd9-fc55-4b42-badc-5e3754719c43</vt:lpwstr>
  </property>
  <property fmtid="{D5CDD505-2E9C-101B-9397-08002B2CF9AE}" pid="9" name="MSIP_Label_0c2abd79-57a9-4473-8700-c843f76a1e37_Extended_MSFT_Method">
    <vt:lpwstr>Manual</vt:lpwstr>
  </property>
  <property fmtid="{D5CDD505-2E9C-101B-9397-08002B2CF9AE}" pid="10" name="Sensitivity">
    <vt:lpwstr>Internal</vt:lpwstr>
  </property>
  <property fmtid="{D5CDD505-2E9C-101B-9397-08002B2CF9AE}" pid="11" name="ContentTypeId">
    <vt:lpwstr>0x010100C6D051AEB2C48B458F82B58F7F6D9A00</vt:lpwstr>
  </property>
</Properties>
</file>