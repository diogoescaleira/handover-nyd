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7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0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3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5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6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7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1"/>
  </p:notesMasterIdLst>
  <p:sldIdLst>
    <p:sldId id="257" r:id="rId5"/>
    <p:sldId id="258" r:id="rId6"/>
    <p:sldId id="259" r:id="rId7"/>
    <p:sldId id="260" r:id="rId8"/>
    <p:sldId id="261" r:id="rId9"/>
    <p:sldId id="262" r:id="rId10"/>
    <p:sldId id="286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6" r:id="rId21"/>
    <p:sldId id="289" r:id="rId22"/>
    <p:sldId id="316" r:id="rId23"/>
    <p:sldId id="290" r:id="rId24"/>
    <p:sldId id="314" r:id="rId25"/>
    <p:sldId id="291" r:id="rId26"/>
    <p:sldId id="299" r:id="rId27"/>
    <p:sldId id="310" r:id="rId28"/>
    <p:sldId id="277" r:id="rId29"/>
    <p:sldId id="315" r:id="rId30"/>
    <p:sldId id="292" r:id="rId31"/>
    <p:sldId id="279" r:id="rId32"/>
    <p:sldId id="298" r:id="rId33"/>
    <p:sldId id="300" r:id="rId34"/>
    <p:sldId id="280" r:id="rId35"/>
    <p:sldId id="301" r:id="rId36"/>
    <p:sldId id="305" r:id="rId37"/>
    <p:sldId id="281" r:id="rId38"/>
    <p:sldId id="296" r:id="rId39"/>
    <p:sldId id="306" r:id="rId40"/>
    <p:sldId id="282" r:id="rId41"/>
    <p:sldId id="294" r:id="rId42"/>
    <p:sldId id="307" r:id="rId43"/>
    <p:sldId id="293" r:id="rId44"/>
    <p:sldId id="295" r:id="rId45"/>
    <p:sldId id="308" r:id="rId46"/>
    <p:sldId id="284" r:id="rId47"/>
    <p:sldId id="311" r:id="rId48"/>
    <p:sldId id="313" r:id="rId49"/>
    <p:sldId id="285" r:id="rId50"/>
  </p:sldIdLst>
  <p:sldSz cx="12192000" cy="6858000"/>
  <p:notesSz cx="6858000" cy="9144000"/>
  <p:defaultTextStyle>
    <a:defPPr>
      <a:defRPr lang="es-E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B7A726-351F-AC51-3650-C06BCA5CB59A}" name="Freire, Catarina Lopes" initials="FCL" userId="S::cfreire@neyond.pt::ddca15c1-05cd-4dd1-99e2-6430845d19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101"/>
    <a:srgbClr val="000000"/>
    <a:srgbClr val="FF9F9F"/>
    <a:srgbClr val="F3F3F3"/>
    <a:srgbClr val="FFD9D9"/>
    <a:srgbClr val="FFC5C5"/>
    <a:srgbClr val="FFF3F3"/>
    <a:srgbClr val="FF8181"/>
    <a:srgbClr val="FF5353"/>
    <a:srgbClr val="F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CC3028-3820-45DF-81B7-6E7DF0CFBA68}" v="132" dt="2023-09-06T12:17:13.0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ire, Catarina Lopes" userId="ddca15c1-05cd-4dd1-99e2-6430845d19b2" providerId="ADAL" clId="{78CC3028-3820-45DF-81B7-6E7DF0CFBA68}"/>
    <pc:docChg chg="undo custSel addSld delSld modSld sldOrd">
      <pc:chgData name="Freire, Catarina Lopes" userId="ddca15c1-05cd-4dd1-99e2-6430845d19b2" providerId="ADAL" clId="{78CC3028-3820-45DF-81B7-6E7DF0CFBA68}" dt="2023-09-06T12:19:01.412" v="2599" actId="20577"/>
      <pc:docMkLst>
        <pc:docMk/>
      </pc:docMkLst>
      <pc:sldChg chg="delSp del mod">
        <pc:chgData name="Freire, Catarina Lopes" userId="ddca15c1-05cd-4dd1-99e2-6430845d19b2" providerId="ADAL" clId="{78CC3028-3820-45DF-81B7-6E7DF0CFBA68}" dt="2023-09-06T10:50:53.779" v="8" actId="47"/>
        <pc:sldMkLst>
          <pc:docMk/>
          <pc:sldMk cId="666129779" sldId="283"/>
        </pc:sldMkLst>
        <pc:spChg chg="del">
          <ac:chgData name="Freire, Catarina Lopes" userId="ddca15c1-05cd-4dd1-99e2-6430845d19b2" providerId="ADAL" clId="{78CC3028-3820-45DF-81B7-6E7DF0CFBA68}" dt="2023-09-06T10:49:58.187" v="1" actId="478"/>
          <ac:spMkLst>
            <pc:docMk/>
            <pc:sldMk cId="666129779" sldId="283"/>
            <ac:spMk id="7" creationId="{C77C6261-5BE0-22C3-5D6C-451397857E30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14" creationId="{8257927A-9296-1176-FCFA-99645FBA8BBA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15" creationId="{AD911BB0-90AB-4709-76D8-AADD1FA71C22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16" creationId="{98E74AA7-4643-ED40-C44D-874F652BB9C1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17" creationId="{B57B8777-F7F7-2562-51C4-769D7E58247B}"/>
          </ac:spMkLst>
        </pc:spChg>
        <pc:spChg chg="del">
          <ac:chgData name="Freire, Catarina Lopes" userId="ddca15c1-05cd-4dd1-99e2-6430845d19b2" providerId="ADAL" clId="{78CC3028-3820-45DF-81B7-6E7DF0CFBA68}" dt="2023-09-06T10:50:13.581" v="2" actId="478"/>
          <ac:spMkLst>
            <pc:docMk/>
            <pc:sldMk cId="666129779" sldId="283"/>
            <ac:spMk id="18" creationId="{346DE60D-D420-7BC7-3F65-392FDE1D7FE9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51" creationId="{00000000-0000-0000-0000-000000000000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52" creationId="{00000000-0000-0000-0000-000000000000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54" creationId="{00000000-0000-0000-0000-000000000000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56" creationId="{00000000-0000-0000-0000-000000000000}"/>
          </ac:spMkLst>
        </pc:spChg>
        <pc:spChg chg="del">
          <ac:chgData name="Freire, Catarina Lopes" userId="ddca15c1-05cd-4dd1-99e2-6430845d19b2" providerId="ADAL" clId="{78CC3028-3820-45DF-81B7-6E7DF0CFBA68}" dt="2023-09-06T10:50:13.581" v="2" actId="478"/>
          <ac:spMkLst>
            <pc:docMk/>
            <pc:sldMk cId="666129779" sldId="283"/>
            <ac:spMk id="68" creationId="{94FF19D8-0473-0201-833A-9CB01B7CF962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127" creationId="{5B260461-7425-D2C7-661E-F3A2808D1D0B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129" creationId="{BD28984F-186B-1A0E-8DF4-5F30E73FB014}"/>
          </ac:spMkLst>
        </pc:spChg>
        <pc:spChg chg="del">
          <ac:chgData name="Freire, Catarina Lopes" userId="ddca15c1-05cd-4dd1-99e2-6430845d19b2" providerId="ADAL" clId="{78CC3028-3820-45DF-81B7-6E7DF0CFBA68}" dt="2023-09-06T10:50:34.652" v="4" actId="478"/>
          <ac:spMkLst>
            <pc:docMk/>
            <pc:sldMk cId="666129779" sldId="283"/>
            <ac:spMk id="136" creationId="{F91FC4B8-A24D-4672-B416-1ED8AA9B6D21}"/>
          </ac:spMkLst>
        </pc:spChg>
        <pc:spChg chg="del">
          <ac:chgData name="Freire, Catarina Lopes" userId="ddca15c1-05cd-4dd1-99e2-6430845d19b2" providerId="ADAL" clId="{78CC3028-3820-45DF-81B7-6E7DF0CFBA68}" dt="2023-09-06T10:50:38.117" v="5" actId="478"/>
          <ac:spMkLst>
            <pc:docMk/>
            <pc:sldMk cId="666129779" sldId="283"/>
            <ac:spMk id="138" creationId="{F91FC4B8-A24D-4672-B416-1ED8AA9B6D21}"/>
          </ac:spMkLst>
        </pc:spChg>
        <pc:spChg chg="del">
          <ac:chgData name="Freire, Catarina Lopes" userId="ddca15c1-05cd-4dd1-99e2-6430845d19b2" providerId="ADAL" clId="{78CC3028-3820-45DF-81B7-6E7DF0CFBA68}" dt="2023-09-06T10:50:13.581" v="2" actId="478"/>
          <ac:spMkLst>
            <pc:docMk/>
            <pc:sldMk cId="666129779" sldId="283"/>
            <ac:spMk id="147" creationId="{FFB15DB3-EA42-3F8F-2D44-998FE30B8835}"/>
          </ac:spMkLst>
        </pc:spChg>
        <pc:spChg chg="del">
          <ac:chgData name="Freire, Catarina Lopes" userId="ddca15c1-05cd-4dd1-99e2-6430845d19b2" providerId="ADAL" clId="{78CC3028-3820-45DF-81B7-6E7DF0CFBA68}" dt="2023-09-06T10:50:13.581" v="2" actId="478"/>
          <ac:spMkLst>
            <pc:docMk/>
            <pc:sldMk cId="666129779" sldId="283"/>
            <ac:spMk id="148" creationId="{1789C67A-009F-456D-81C1-7CB3407C3221}"/>
          </ac:spMkLst>
        </pc:spChg>
        <pc:grpChg chg="del">
          <ac:chgData name="Freire, Catarina Lopes" userId="ddca15c1-05cd-4dd1-99e2-6430845d19b2" providerId="ADAL" clId="{78CC3028-3820-45DF-81B7-6E7DF0CFBA68}" dt="2023-09-06T10:50:30.208" v="3" actId="478"/>
          <ac:grpSpMkLst>
            <pc:docMk/>
            <pc:sldMk cId="666129779" sldId="283"/>
            <ac:grpSpMk id="5" creationId="{16917A12-79FC-5AB7-B05A-4DA2A8BBC628}"/>
          </ac:grpSpMkLst>
        </pc:grpChg>
        <pc:grpChg chg="del">
          <ac:chgData name="Freire, Catarina Lopes" userId="ddca15c1-05cd-4dd1-99e2-6430845d19b2" providerId="ADAL" clId="{78CC3028-3820-45DF-81B7-6E7DF0CFBA68}" dt="2023-09-06T10:50:13.581" v="2" actId="478"/>
          <ac:grpSpMkLst>
            <pc:docMk/>
            <pc:sldMk cId="666129779" sldId="283"/>
            <ac:grpSpMk id="6" creationId="{C276CBAD-FAC7-4357-6A1A-DC59C9D62D38}"/>
          </ac:grpSpMkLst>
        </pc:grpChg>
        <pc:grpChg chg="del">
          <ac:chgData name="Freire, Catarina Lopes" userId="ddca15c1-05cd-4dd1-99e2-6430845d19b2" providerId="ADAL" clId="{78CC3028-3820-45DF-81B7-6E7DF0CFBA68}" dt="2023-09-06T10:50:30.208" v="3" actId="478"/>
          <ac:grpSpMkLst>
            <pc:docMk/>
            <pc:sldMk cId="666129779" sldId="283"/>
            <ac:grpSpMk id="26" creationId="{DBD5316C-B725-99F5-ABB4-3CB5F62F267D}"/>
          </ac:grpSpMkLst>
        </pc:grpChg>
        <pc:grpChg chg="del">
          <ac:chgData name="Freire, Catarina Lopes" userId="ddca15c1-05cd-4dd1-99e2-6430845d19b2" providerId="ADAL" clId="{78CC3028-3820-45DF-81B7-6E7DF0CFBA68}" dt="2023-09-06T10:50:30.208" v="3" actId="478"/>
          <ac:grpSpMkLst>
            <pc:docMk/>
            <pc:sldMk cId="666129779" sldId="283"/>
            <ac:grpSpMk id="32" creationId="{3041146E-ADF7-FB47-28DE-444F5F2FAC05}"/>
          </ac:grpSpMkLst>
        </pc:grpChg>
        <pc:grpChg chg="del">
          <ac:chgData name="Freire, Catarina Lopes" userId="ddca15c1-05cd-4dd1-99e2-6430845d19b2" providerId="ADAL" clId="{78CC3028-3820-45DF-81B7-6E7DF0CFBA68}" dt="2023-09-06T10:50:30.208" v="3" actId="478"/>
          <ac:grpSpMkLst>
            <pc:docMk/>
            <pc:sldMk cId="666129779" sldId="283"/>
            <ac:grpSpMk id="37" creationId="{FCAE5DA7-8F0C-9C39-11E9-64D381C67452}"/>
          </ac:grpSpMkLst>
        </pc:grpChg>
        <pc:grpChg chg="del">
          <ac:chgData name="Freire, Catarina Lopes" userId="ddca15c1-05cd-4dd1-99e2-6430845d19b2" providerId="ADAL" clId="{78CC3028-3820-45DF-81B7-6E7DF0CFBA68}" dt="2023-09-06T10:50:30.208" v="3" actId="478"/>
          <ac:grpSpMkLst>
            <pc:docMk/>
            <pc:sldMk cId="666129779" sldId="283"/>
            <ac:grpSpMk id="42" creationId="{DC3F13DC-BCF3-3471-E1D6-CBA2BDEC7617}"/>
          </ac:grpSpMkLst>
        </pc:grpChg>
        <pc:grpChg chg="del">
          <ac:chgData name="Freire, Catarina Lopes" userId="ddca15c1-05cd-4dd1-99e2-6430845d19b2" providerId="ADAL" clId="{78CC3028-3820-45DF-81B7-6E7DF0CFBA68}" dt="2023-09-06T10:50:13.581" v="2" actId="478"/>
          <ac:grpSpMkLst>
            <pc:docMk/>
            <pc:sldMk cId="666129779" sldId="283"/>
            <ac:grpSpMk id="59" creationId="{79AC5E53-FEC1-9B6B-A8F4-291DC41D66B7}"/>
          </ac:grpSpMkLst>
        </pc:grpChg>
        <pc:grpChg chg="del">
          <ac:chgData name="Freire, Catarina Lopes" userId="ddca15c1-05cd-4dd1-99e2-6430845d19b2" providerId="ADAL" clId="{78CC3028-3820-45DF-81B7-6E7DF0CFBA68}" dt="2023-09-06T10:50:30.208" v="3" actId="478"/>
          <ac:grpSpMkLst>
            <pc:docMk/>
            <pc:sldMk cId="666129779" sldId="283"/>
            <ac:grpSpMk id="121" creationId="{75A1838B-B301-0466-8FBE-6AA51216D45E}"/>
          </ac:grpSpMkLst>
        </pc:grpChg>
        <pc:picChg chg="del">
          <ac:chgData name="Freire, Catarina Lopes" userId="ddca15c1-05cd-4dd1-99e2-6430845d19b2" providerId="ADAL" clId="{78CC3028-3820-45DF-81B7-6E7DF0CFBA68}" dt="2023-09-06T10:50:13.581" v="2" actId="478"/>
          <ac:picMkLst>
            <pc:docMk/>
            <pc:sldMk cId="666129779" sldId="283"/>
            <ac:picMk id="2" creationId="{A6E8DA83-9C0A-144B-8141-2ED9BD698537}"/>
          </ac:picMkLst>
        </pc:picChg>
        <pc:picChg chg="del">
          <ac:chgData name="Freire, Catarina Lopes" userId="ddca15c1-05cd-4dd1-99e2-6430845d19b2" providerId="ADAL" clId="{78CC3028-3820-45DF-81B7-6E7DF0CFBA68}" dt="2023-09-06T10:50:13.581" v="2" actId="478"/>
          <ac:picMkLst>
            <pc:docMk/>
            <pc:sldMk cId="666129779" sldId="283"/>
            <ac:picMk id="3" creationId="{31D74D45-79C3-E2DE-DEB7-4A37FE37B18D}"/>
          </ac:picMkLst>
        </pc:picChg>
        <pc:picChg chg="del">
          <ac:chgData name="Freire, Catarina Lopes" userId="ddca15c1-05cd-4dd1-99e2-6430845d19b2" providerId="ADAL" clId="{78CC3028-3820-45DF-81B7-6E7DF0CFBA68}" dt="2023-09-06T10:50:13.581" v="2" actId="478"/>
          <ac:picMkLst>
            <pc:docMk/>
            <pc:sldMk cId="666129779" sldId="283"/>
            <ac:picMk id="64" creationId="{D8B5FC0D-9A7E-6E3B-5446-DB957DB24D23}"/>
          </ac:picMkLst>
        </pc:picChg>
        <pc:picChg chg="del">
          <ac:chgData name="Freire, Catarina Lopes" userId="ddca15c1-05cd-4dd1-99e2-6430845d19b2" providerId="ADAL" clId="{78CC3028-3820-45DF-81B7-6E7DF0CFBA68}" dt="2023-09-06T10:50:30.208" v="3" actId="478"/>
          <ac:picMkLst>
            <pc:docMk/>
            <pc:sldMk cId="666129779" sldId="283"/>
            <ac:picMk id="124" creationId="{7CC36514-7F52-F9FD-CCF9-54D6CF53AEC5}"/>
          </ac:picMkLst>
        </pc:picChg>
        <pc:picChg chg="del">
          <ac:chgData name="Freire, Catarina Lopes" userId="ddca15c1-05cd-4dd1-99e2-6430845d19b2" providerId="ADAL" clId="{78CC3028-3820-45DF-81B7-6E7DF0CFBA68}" dt="2023-09-06T10:50:30.208" v="3" actId="478"/>
          <ac:picMkLst>
            <pc:docMk/>
            <pc:sldMk cId="666129779" sldId="283"/>
            <ac:picMk id="125" creationId="{C400457E-6E05-B0F2-DDCF-A37DAFEF98BA}"/>
          </ac:picMkLst>
        </pc:picChg>
        <pc:cxnChg chg="del">
          <ac:chgData name="Freire, Catarina Lopes" userId="ddca15c1-05cd-4dd1-99e2-6430845d19b2" providerId="ADAL" clId="{78CC3028-3820-45DF-81B7-6E7DF0CFBA68}" dt="2023-09-06T10:50:13.581" v="2" actId="478"/>
          <ac:cxnSpMkLst>
            <pc:docMk/>
            <pc:sldMk cId="666129779" sldId="283"/>
            <ac:cxnSpMk id="8" creationId="{264BE87F-4BB6-A8A6-2FD0-A41FF918653A}"/>
          </ac:cxnSpMkLst>
        </pc:cxnChg>
        <pc:cxnChg chg="del">
          <ac:chgData name="Freire, Catarina Lopes" userId="ddca15c1-05cd-4dd1-99e2-6430845d19b2" providerId="ADAL" clId="{78CC3028-3820-45DF-81B7-6E7DF0CFBA68}" dt="2023-09-06T10:50:44.443" v="6" actId="478"/>
          <ac:cxnSpMkLst>
            <pc:docMk/>
            <pc:sldMk cId="666129779" sldId="283"/>
            <ac:cxnSpMk id="65" creationId="{04F3EBF4-B614-F1B2-96D0-FC84340560AD}"/>
          </ac:cxnSpMkLst>
        </pc:cxnChg>
        <pc:cxnChg chg="del">
          <ac:chgData name="Freire, Catarina Lopes" userId="ddca15c1-05cd-4dd1-99e2-6430845d19b2" providerId="ADAL" clId="{78CC3028-3820-45DF-81B7-6E7DF0CFBA68}" dt="2023-09-06T10:50:13.581" v="2" actId="478"/>
          <ac:cxnSpMkLst>
            <pc:docMk/>
            <pc:sldMk cId="666129779" sldId="283"/>
            <ac:cxnSpMk id="66" creationId="{C4FD80F9-70B5-CB9E-F9D7-9B8C4354F7F2}"/>
          </ac:cxnSpMkLst>
        </pc:cxnChg>
        <pc:cxnChg chg="del">
          <ac:chgData name="Freire, Catarina Lopes" userId="ddca15c1-05cd-4dd1-99e2-6430845d19b2" providerId="ADAL" clId="{78CC3028-3820-45DF-81B7-6E7DF0CFBA68}" dt="2023-09-06T10:50:45.861" v="7" actId="478"/>
          <ac:cxnSpMkLst>
            <pc:docMk/>
            <pc:sldMk cId="666129779" sldId="283"/>
            <ac:cxnSpMk id="132" creationId="{00000000-0000-0000-0000-000000000000}"/>
          </ac:cxnSpMkLst>
        </pc:cxnChg>
      </pc:sldChg>
      <pc:sldChg chg="add">
        <pc:chgData name="Freire, Catarina Lopes" userId="ddca15c1-05cd-4dd1-99e2-6430845d19b2" providerId="ADAL" clId="{78CC3028-3820-45DF-81B7-6E7DF0CFBA68}" dt="2023-09-06T10:49:36.506" v="0"/>
        <pc:sldMkLst>
          <pc:docMk/>
          <pc:sldMk cId="2937849047" sldId="293"/>
        </pc:sldMkLst>
      </pc:sldChg>
      <pc:sldChg chg="addSp delSp modSp add mod ord">
        <pc:chgData name="Freire, Catarina Lopes" userId="ddca15c1-05cd-4dd1-99e2-6430845d19b2" providerId="ADAL" clId="{78CC3028-3820-45DF-81B7-6E7DF0CFBA68}" dt="2023-09-06T11:38:25.075" v="1479" actId="242"/>
        <pc:sldMkLst>
          <pc:docMk/>
          <pc:sldMk cId="2957096109" sldId="294"/>
        </pc:sldMkLst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2" creationId="{46088BF3-703A-BB75-1389-2AD8B2E03CAF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3" creationId="{0ECB1048-3568-E9D0-1CA5-56935CD3A138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4" creationId="{77065354-0DC8-AF6E-8385-8A86C440578D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5" creationId="{C6DD4C61-1B0B-B40A-D091-1D03E777D273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6" creationId="{566A46C7-9C13-B7DA-B618-C61F2BD50D7B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7" creationId="{58CEBAE9-0132-F2DB-52B4-C2157D5B2B38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8" creationId="{6D61CB54-7693-9AEB-44B7-3F2D4E836CB0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9" creationId="{A9DF516D-43BC-49D4-3A1B-03C639042EC0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10" creationId="{59E9024C-6D3B-46F1-AC26-27CD19164EA8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11" creationId="{66440D88-7A06-7A6D-7260-F9B08BC23B9E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12" creationId="{8B36A6A7-F983-3A7F-CA8A-2D38B5FE9AFF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13" creationId="{EB491EC7-BA90-5E47-25CF-697A9ED53D74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14" creationId="{95CEF503-DED4-6BAC-FA15-00F1E3093A5E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15" creationId="{4B73AB0B-8799-0D20-48A0-963EADC02633}"/>
          </ac:spMkLst>
        </pc:spChg>
        <pc:spChg chg="add del">
          <ac:chgData name="Freire, Catarina Lopes" userId="ddca15c1-05cd-4dd1-99e2-6430845d19b2" providerId="ADAL" clId="{78CC3028-3820-45DF-81B7-6E7DF0CFBA68}" dt="2023-09-06T10:52:07.162" v="44" actId="478"/>
          <ac:spMkLst>
            <pc:docMk/>
            <pc:sldMk cId="2957096109" sldId="294"/>
            <ac:spMk id="16" creationId="{5DFF0B6E-AB34-2C67-B9EA-89CA10DB635B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17" creationId="{0450F73E-C80C-3516-22FE-1CBCE901F66F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18" creationId="{2C6A2BAF-F4BD-E17D-F139-1E5115512D70}"/>
          </ac:spMkLst>
        </pc:spChg>
        <pc:spChg chg="add mod">
          <ac:chgData name="Freire, Catarina Lopes" userId="ddca15c1-05cd-4dd1-99e2-6430845d19b2" providerId="ADAL" clId="{78CC3028-3820-45DF-81B7-6E7DF0CFBA68}" dt="2023-09-06T11:20:54.617" v="909" actId="1076"/>
          <ac:spMkLst>
            <pc:docMk/>
            <pc:sldMk cId="2957096109" sldId="294"/>
            <ac:spMk id="19" creationId="{A6F2D26C-7EBA-7C8B-117B-3BECDEAE2518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21" creationId="{80D0FE24-4BC1-756F-0B9B-2BC40F06AD17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22" creationId="{00015064-5266-555B-64B3-F6FB8C7D4991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23" creationId="{C33277F3-BEC6-22DF-5826-E5F2B335714C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25" creationId="{39BB5C70-9D8B-4DBE-5A54-D3A916A18DCA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26" creationId="{37EE23C5-B5F2-5DB2-B13D-0D7448375258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27" creationId="{30BA96A5-F700-3FA7-4DAA-EE89224BC042}"/>
          </ac:spMkLst>
        </pc:spChg>
        <pc:spChg chg="add mod">
          <ac:chgData name="Freire, Catarina Lopes" userId="ddca15c1-05cd-4dd1-99e2-6430845d19b2" providerId="ADAL" clId="{78CC3028-3820-45DF-81B7-6E7DF0CFBA68}" dt="2023-09-06T11:22:43.912" v="1189" actId="207"/>
          <ac:spMkLst>
            <pc:docMk/>
            <pc:sldMk cId="2957096109" sldId="294"/>
            <ac:spMk id="29" creationId="{0B7E1C36-B7CC-0AD5-207E-D7DE314720E8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30" creationId="{4F2CC605-0E56-7C78-0C42-0A9E734FE6BD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31" creationId="{E46F32B6-C413-4A06-F823-552A38388303}"/>
          </ac:spMkLst>
        </pc:spChg>
        <pc:spChg chg="mod">
          <ac:chgData name="Freire, Catarina Lopes" userId="ddca15c1-05cd-4dd1-99e2-6430845d19b2" providerId="ADAL" clId="{78CC3028-3820-45DF-81B7-6E7DF0CFBA68}" dt="2023-09-06T11:20:58.037" v="910" actId="1076"/>
          <ac:spMkLst>
            <pc:docMk/>
            <pc:sldMk cId="2957096109" sldId="294"/>
            <ac:spMk id="33" creationId="{5B462505-3E49-18ED-E8B6-1A38676B0057}"/>
          </ac:spMkLst>
        </pc:spChg>
        <pc:graphicFrameChg chg="add mod modGraphic">
          <ac:chgData name="Freire, Catarina Lopes" userId="ddca15c1-05cd-4dd1-99e2-6430845d19b2" providerId="ADAL" clId="{78CC3028-3820-45DF-81B7-6E7DF0CFBA68}" dt="2023-09-06T11:38:25.075" v="1479" actId="242"/>
          <ac:graphicFrameMkLst>
            <pc:docMk/>
            <pc:sldMk cId="2957096109" sldId="294"/>
            <ac:graphicFrameMk id="28" creationId="{7672743C-F470-EF58-E8A3-C9B551D5983F}"/>
          </ac:graphicFrameMkLst>
        </pc:graphicFrameChg>
        <pc:cxnChg chg="del">
          <ac:chgData name="Freire, Catarina Lopes" userId="ddca15c1-05cd-4dd1-99e2-6430845d19b2" providerId="ADAL" clId="{78CC3028-3820-45DF-81B7-6E7DF0CFBA68}" dt="2023-09-06T10:51:58.511" v="42" actId="478"/>
          <ac:cxnSpMkLst>
            <pc:docMk/>
            <pc:sldMk cId="2957096109" sldId="294"/>
            <ac:cxnSpMk id="20" creationId="{393AA751-7401-0375-4A8F-3A0A31DD17C8}"/>
          </ac:cxnSpMkLst>
        </pc:cxnChg>
        <pc:cxnChg chg="del">
          <ac:chgData name="Freire, Catarina Lopes" userId="ddca15c1-05cd-4dd1-99e2-6430845d19b2" providerId="ADAL" clId="{78CC3028-3820-45DF-81B7-6E7DF0CFBA68}" dt="2023-09-06T10:51:58.511" v="42" actId="478"/>
          <ac:cxnSpMkLst>
            <pc:docMk/>
            <pc:sldMk cId="2957096109" sldId="294"/>
            <ac:cxnSpMk id="24" creationId="{7501E6F2-5509-87CC-EF02-357B109142E4}"/>
          </ac:cxnSpMkLst>
        </pc:cxnChg>
        <pc:cxnChg chg="del">
          <ac:chgData name="Freire, Catarina Lopes" userId="ddca15c1-05cd-4dd1-99e2-6430845d19b2" providerId="ADAL" clId="{78CC3028-3820-45DF-81B7-6E7DF0CFBA68}" dt="2023-09-06T10:51:58.511" v="42" actId="478"/>
          <ac:cxnSpMkLst>
            <pc:docMk/>
            <pc:sldMk cId="2957096109" sldId="294"/>
            <ac:cxnSpMk id="32" creationId="{FE0F9258-8530-7AD3-5074-F6D9DCBCF24B}"/>
          </ac:cxnSpMkLst>
        </pc:cxnChg>
      </pc:sldChg>
      <pc:sldChg chg="new del">
        <pc:chgData name="Freire, Catarina Lopes" userId="ddca15c1-05cd-4dd1-99e2-6430845d19b2" providerId="ADAL" clId="{78CC3028-3820-45DF-81B7-6E7DF0CFBA68}" dt="2023-09-06T10:51:03.362" v="10" actId="680"/>
        <pc:sldMkLst>
          <pc:docMk/>
          <pc:sldMk cId="3430163716" sldId="294"/>
        </pc:sldMkLst>
      </pc:sldChg>
      <pc:sldChg chg="addSp delSp modSp add mod ord">
        <pc:chgData name="Freire, Catarina Lopes" userId="ddca15c1-05cd-4dd1-99e2-6430845d19b2" providerId="ADAL" clId="{78CC3028-3820-45DF-81B7-6E7DF0CFBA68}" dt="2023-09-06T12:19:01.412" v="2599" actId="20577"/>
        <pc:sldMkLst>
          <pc:docMk/>
          <pc:sldMk cId="2071136801" sldId="295"/>
        </pc:sldMkLst>
        <pc:spChg chg="add mod">
          <ac:chgData name="Freire, Catarina Lopes" userId="ddca15c1-05cd-4dd1-99e2-6430845d19b2" providerId="ADAL" clId="{78CC3028-3820-45DF-81B7-6E7DF0CFBA68}" dt="2023-09-06T12:19:01.412" v="2599" actId="20577"/>
          <ac:spMkLst>
            <pc:docMk/>
            <pc:sldMk cId="2071136801" sldId="295"/>
            <ac:spMk id="2" creationId="{279AF210-B561-8E72-D421-8E65FEBCFB52}"/>
          </ac:spMkLst>
        </pc:spChg>
        <pc:spChg chg="mod">
          <ac:chgData name="Freire, Catarina Lopes" userId="ddca15c1-05cd-4dd1-99e2-6430845d19b2" providerId="ADAL" clId="{78CC3028-3820-45DF-81B7-6E7DF0CFBA68}" dt="2023-09-06T11:23:15.049" v="1203" actId="20577"/>
          <ac:spMkLst>
            <pc:docMk/>
            <pc:sldMk cId="2071136801" sldId="295"/>
            <ac:spMk id="19" creationId="{A6F2D26C-7EBA-7C8B-117B-3BECDEAE2518}"/>
          </ac:spMkLst>
        </pc:spChg>
        <pc:spChg chg="del mod">
          <ac:chgData name="Freire, Catarina Lopes" userId="ddca15c1-05cd-4dd1-99e2-6430845d19b2" providerId="ADAL" clId="{78CC3028-3820-45DF-81B7-6E7DF0CFBA68}" dt="2023-09-06T11:36:29.362" v="1465" actId="478"/>
          <ac:spMkLst>
            <pc:docMk/>
            <pc:sldMk cId="2071136801" sldId="295"/>
            <ac:spMk id="29" creationId="{0B7E1C36-B7CC-0AD5-207E-D7DE314720E8}"/>
          </ac:spMkLst>
        </pc:spChg>
        <pc:spChg chg="mod">
          <ac:chgData name="Freire, Catarina Lopes" userId="ddca15c1-05cd-4dd1-99e2-6430845d19b2" providerId="ADAL" clId="{78CC3028-3820-45DF-81B7-6E7DF0CFBA68}" dt="2023-09-06T11:23:12.177" v="1199" actId="20577"/>
          <ac:spMkLst>
            <pc:docMk/>
            <pc:sldMk cId="2071136801" sldId="295"/>
            <ac:spMk id="33" creationId="{5B462505-3E49-18ED-E8B6-1A38676B0057}"/>
          </ac:spMkLst>
        </pc:spChg>
        <pc:graphicFrameChg chg="mod modGraphic">
          <ac:chgData name="Freire, Catarina Lopes" userId="ddca15c1-05cd-4dd1-99e2-6430845d19b2" providerId="ADAL" clId="{78CC3028-3820-45DF-81B7-6E7DF0CFBA68}" dt="2023-09-06T11:36:40.884" v="1467" actId="14100"/>
          <ac:graphicFrameMkLst>
            <pc:docMk/>
            <pc:sldMk cId="2071136801" sldId="295"/>
            <ac:graphicFrameMk id="28" creationId="{7672743C-F470-EF58-E8A3-C9B551D5983F}"/>
          </ac:graphicFrameMkLst>
        </pc:graphicFrameChg>
      </pc:sldChg>
      <pc:sldChg chg="modSp add mod ord">
        <pc:chgData name="Freire, Catarina Lopes" userId="ddca15c1-05cd-4dd1-99e2-6430845d19b2" providerId="ADAL" clId="{78CC3028-3820-45DF-81B7-6E7DF0CFBA68}" dt="2023-09-06T11:47:46.046" v="1703" actId="20577"/>
        <pc:sldMkLst>
          <pc:docMk/>
          <pc:sldMk cId="2898441017" sldId="296"/>
        </pc:sldMkLst>
        <pc:spChg chg="mod">
          <ac:chgData name="Freire, Catarina Lopes" userId="ddca15c1-05cd-4dd1-99e2-6430845d19b2" providerId="ADAL" clId="{78CC3028-3820-45DF-81B7-6E7DF0CFBA68}" dt="2023-09-06T11:37:06.662" v="1474" actId="20577"/>
          <ac:spMkLst>
            <pc:docMk/>
            <pc:sldMk cId="2898441017" sldId="296"/>
            <ac:spMk id="19" creationId="{A6F2D26C-7EBA-7C8B-117B-3BECDEAE2518}"/>
          </ac:spMkLst>
        </pc:spChg>
        <pc:spChg chg="mod">
          <ac:chgData name="Freire, Catarina Lopes" userId="ddca15c1-05cd-4dd1-99e2-6430845d19b2" providerId="ADAL" clId="{78CC3028-3820-45DF-81B7-6E7DF0CFBA68}" dt="2023-09-06T11:47:46.046" v="1703" actId="20577"/>
          <ac:spMkLst>
            <pc:docMk/>
            <pc:sldMk cId="2898441017" sldId="296"/>
            <ac:spMk id="29" creationId="{0B7E1C36-B7CC-0AD5-207E-D7DE314720E8}"/>
          </ac:spMkLst>
        </pc:spChg>
        <pc:spChg chg="mod">
          <ac:chgData name="Freire, Catarina Lopes" userId="ddca15c1-05cd-4dd1-99e2-6430845d19b2" providerId="ADAL" clId="{78CC3028-3820-45DF-81B7-6E7DF0CFBA68}" dt="2023-09-06T11:37:04.377" v="1472" actId="20577"/>
          <ac:spMkLst>
            <pc:docMk/>
            <pc:sldMk cId="2898441017" sldId="296"/>
            <ac:spMk id="33" creationId="{5B462505-3E49-18ED-E8B6-1A38676B0057}"/>
          </ac:spMkLst>
        </pc:spChg>
        <pc:graphicFrameChg chg="mod modGraphic">
          <ac:chgData name="Freire, Catarina Lopes" userId="ddca15c1-05cd-4dd1-99e2-6430845d19b2" providerId="ADAL" clId="{78CC3028-3820-45DF-81B7-6E7DF0CFBA68}" dt="2023-09-06T11:47:30.522" v="1695" actId="13926"/>
          <ac:graphicFrameMkLst>
            <pc:docMk/>
            <pc:sldMk cId="2898441017" sldId="296"/>
            <ac:graphicFrameMk id="28" creationId="{7672743C-F470-EF58-E8A3-C9B551D5983F}"/>
          </ac:graphicFrameMkLst>
        </pc:graphicFrameChg>
      </pc:sldChg>
      <pc:sldChg chg="addSp delSp modSp add mod">
        <pc:chgData name="Freire, Catarina Lopes" userId="ddca15c1-05cd-4dd1-99e2-6430845d19b2" providerId="ADAL" clId="{78CC3028-3820-45DF-81B7-6E7DF0CFBA68}" dt="2023-09-06T12:06:12.217" v="1947" actId="20577"/>
        <pc:sldMkLst>
          <pc:docMk/>
          <pc:sldMk cId="3847195296" sldId="297"/>
        </pc:sldMkLst>
        <pc:spChg chg="add mod">
          <ac:chgData name="Freire, Catarina Lopes" userId="ddca15c1-05cd-4dd1-99e2-6430845d19b2" providerId="ADAL" clId="{78CC3028-3820-45DF-81B7-6E7DF0CFBA68}" dt="2023-09-06T12:06:12.217" v="1947" actId="20577"/>
          <ac:spMkLst>
            <pc:docMk/>
            <pc:sldMk cId="3847195296" sldId="297"/>
            <ac:spMk id="2" creationId="{6C65BCFF-8818-F7F4-99C0-0DFE7F41CBFD}"/>
          </ac:spMkLst>
        </pc:spChg>
        <pc:spChg chg="mod">
          <ac:chgData name="Freire, Catarina Lopes" userId="ddca15c1-05cd-4dd1-99e2-6430845d19b2" providerId="ADAL" clId="{78CC3028-3820-45DF-81B7-6E7DF0CFBA68}" dt="2023-09-06T11:48:07.481" v="1708" actId="20577"/>
          <ac:spMkLst>
            <pc:docMk/>
            <pc:sldMk cId="3847195296" sldId="297"/>
            <ac:spMk id="19" creationId="{A6F2D26C-7EBA-7C8B-117B-3BECDEAE2518}"/>
          </ac:spMkLst>
        </pc:spChg>
        <pc:spChg chg="del mod">
          <ac:chgData name="Freire, Catarina Lopes" userId="ddca15c1-05cd-4dd1-99e2-6430845d19b2" providerId="ADAL" clId="{78CC3028-3820-45DF-81B7-6E7DF0CFBA68}" dt="2023-09-06T12:06:03.754" v="1944" actId="478"/>
          <ac:spMkLst>
            <pc:docMk/>
            <pc:sldMk cId="3847195296" sldId="297"/>
            <ac:spMk id="29" creationId="{0B7E1C36-B7CC-0AD5-207E-D7DE314720E8}"/>
          </ac:spMkLst>
        </pc:spChg>
        <pc:spChg chg="mod">
          <ac:chgData name="Freire, Catarina Lopes" userId="ddca15c1-05cd-4dd1-99e2-6430845d19b2" providerId="ADAL" clId="{78CC3028-3820-45DF-81B7-6E7DF0CFBA68}" dt="2023-09-06T11:48:04.288" v="1706" actId="20577"/>
          <ac:spMkLst>
            <pc:docMk/>
            <pc:sldMk cId="3847195296" sldId="297"/>
            <ac:spMk id="33" creationId="{5B462505-3E49-18ED-E8B6-1A38676B0057}"/>
          </ac:spMkLst>
        </pc:spChg>
        <pc:graphicFrameChg chg="mod modGraphic">
          <ac:chgData name="Freire, Catarina Lopes" userId="ddca15c1-05cd-4dd1-99e2-6430845d19b2" providerId="ADAL" clId="{78CC3028-3820-45DF-81B7-6E7DF0CFBA68}" dt="2023-09-06T12:02:12.072" v="1941" actId="2165"/>
          <ac:graphicFrameMkLst>
            <pc:docMk/>
            <pc:sldMk cId="3847195296" sldId="297"/>
            <ac:graphicFrameMk id="28" creationId="{7672743C-F470-EF58-E8A3-C9B551D5983F}"/>
          </ac:graphicFrameMkLst>
        </pc:graphicFrameChg>
      </pc:sldChg>
      <pc:sldChg chg="addSp delSp modSp add mod">
        <pc:chgData name="Freire, Catarina Lopes" userId="ddca15c1-05cd-4dd1-99e2-6430845d19b2" providerId="ADAL" clId="{78CC3028-3820-45DF-81B7-6E7DF0CFBA68}" dt="2023-09-06T12:15:13.030" v="2158" actId="20577"/>
        <pc:sldMkLst>
          <pc:docMk/>
          <pc:sldMk cId="3273578417" sldId="298"/>
        </pc:sldMkLst>
        <pc:spChg chg="add mod">
          <ac:chgData name="Freire, Catarina Lopes" userId="ddca15c1-05cd-4dd1-99e2-6430845d19b2" providerId="ADAL" clId="{78CC3028-3820-45DF-81B7-6E7DF0CFBA68}" dt="2023-09-06T12:15:13.030" v="2158" actId="20577"/>
          <ac:spMkLst>
            <pc:docMk/>
            <pc:sldMk cId="3273578417" sldId="298"/>
            <ac:spMk id="2" creationId="{1C7A3E62-8015-98B8-5343-1080536DE5A4}"/>
          </ac:spMkLst>
        </pc:spChg>
        <pc:spChg chg="mod">
          <ac:chgData name="Freire, Catarina Lopes" userId="ddca15c1-05cd-4dd1-99e2-6430845d19b2" providerId="ADAL" clId="{78CC3028-3820-45DF-81B7-6E7DF0CFBA68}" dt="2023-09-06T12:06:30.564" v="1956" actId="20577"/>
          <ac:spMkLst>
            <pc:docMk/>
            <pc:sldMk cId="3273578417" sldId="298"/>
            <ac:spMk id="19" creationId="{A6F2D26C-7EBA-7C8B-117B-3BECDEAE2518}"/>
          </ac:spMkLst>
        </pc:spChg>
        <pc:spChg chg="del">
          <ac:chgData name="Freire, Catarina Lopes" userId="ddca15c1-05cd-4dd1-99e2-6430845d19b2" providerId="ADAL" clId="{78CC3028-3820-45DF-81B7-6E7DF0CFBA68}" dt="2023-09-06T12:15:04.601" v="2153" actId="478"/>
          <ac:spMkLst>
            <pc:docMk/>
            <pc:sldMk cId="3273578417" sldId="298"/>
            <ac:spMk id="29" creationId="{0B7E1C36-B7CC-0AD5-207E-D7DE314720E8}"/>
          </ac:spMkLst>
        </pc:spChg>
        <pc:spChg chg="mod">
          <ac:chgData name="Freire, Catarina Lopes" userId="ddca15c1-05cd-4dd1-99e2-6430845d19b2" providerId="ADAL" clId="{78CC3028-3820-45DF-81B7-6E7DF0CFBA68}" dt="2023-09-06T12:06:26.944" v="1952" actId="20577"/>
          <ac:spMkLst>
            <pc:docMk/>
            <pc:sldMk cId="3273578417" sldId="298"/>
            <ac:spMk id="33" creationId="{5B462505-3E49-18ED-E8B6-1A38676B0057}"/>
          </ac:spMkLst>
        </pc:spChg>
        <pc:graphicFrameChg chg="mod modGraphic">
          <ac:chgData name="Freire, Catarina Lopes" userId="ddca15c1-05cd-4dd1-99e2-6430845d19b2" providerId="ADAL" clId="{78CC3028-3820-45DF-81B7-6E7DF0CFBA68}" dt="2023-09-06T12:14:59.141" v="2152" actId="20577"/>
          <ac:graphicFrameMkLst>
            <pc:docMk/>
            <pc:sldMk cId="3273578417" sldId="298"/>
            <ac:graphicFrameMk id="28" creationId="{7672743C-F470-EF58-E8A3-C9B551D5983F}"/>
          </ac:graphicFrameMkLst>
        </pc:graphicFrame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1A185-3A53-4383-8D85-3951E9DB2EE9}" type="datetimeFigureOut">
              <a:rPr lang="pt-PT" smtClean="0"/>
              <a:t>08/09/2023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4CBB9-860E-4584-9943-013173697D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070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521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605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158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08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558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39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744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784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147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798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991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360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7400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935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0775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873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3589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7742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4CBB9-860E-4584-9943-013173697DFF}" type="slidenum">
              <a:rPr lang="pt-PT" smtClean="0"/>
              <a:t>39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904088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8976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smtClean="0"/>
              <a:t>Verificar</a:t>
            </a:r>
            <a:r>
              <a:rPr lang="pt-PT" baseline="0" dirty="0" smtClean="0"/>
              <a:t> as diferenças nos campos GHG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4CBB9-860E-4584-9943-013173697DFF}" type="slidenum">
              <a:rPr lang="pt-PT" smtClean="0"/>
              <a:t>41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8406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4CBB9-860E-4584-9943-013173697DFF}" type="slidenum">
              <a:rPr lang="pt-PT" smtClean="0"/>
              <a:t>42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890967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36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20.svg"/><Relationship Id="rId3" Type="http://schemas.openxmlformats.org/officeDocument/2006/relationships/image" Target="../media/image6.svg"/><Relationship Id="rId7" Type="http://schemas.openxmlformats.org/officeDocument/2006/relationships/image" Target="../media/image7.png"/><Relationship Id="rId12" Type="http://schemas.openxmlformats.org/officeDocument/2006/relationships/image" Target="../media/image14.sv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en.wikipedia.org/wiki/File:Circle-icons-global.svg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openxmlformats.org/officeDocument/2006/relationships/image" Target="../media/image10.png"/><Relationship Id="rId19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7" y="1096486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99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31" y="2722153"/>
            <a:ext cx="4934309" cy="24364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098" indent="0" algn="ctr">
              <a:buNone/>
              <a:defRPr sz="2000"/>
            </a:lvl2pPr>
            <a:lvl3pPr marL="914194" indent="0" algn="ctr">
              <a:buNone/>
              <a:defRPr sz="1900"/>
            </a:lvl3pPr>
            <a:lvl4pPr marL="1371292" indent="0" algn="ctr">
              <a:buNone/>
              <a:defRPr sz="1600"/>
            </a:lvl4pPr>
            <a:lvl5pPr marL="1828388" indent="0" algn="ctr">
              <a:buNone/>
              <a:defRPr sz="1600"/>
            </a:lvl5pPr>
            <a:lvl6pPr marL="2285485" indent="0" algn="ctr">
              <a:buNone/>
              <a:defRPr sz="1600"/>
            </a:lvl6pPr>
            <a:lvl7pPr marL="2742581" indent="0" algn="ctr">
              <a:buNone/>
              <a:defRPr sz="1600"/>
            </a:lvl7pPr>
            <a:lvl8pPr marL="3199679" indent="0" algn="ctr">
              <a:buNone/>
              <a:defRPr sz="1600"/>
            </a:lvl8pPr>
            <a:lvl9pPr marL="365677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727404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/>
        </p:nvSpPr>
        <p:spPr>
          <a:xfrm>
            <a:off x="1" y="5229931"/>
            <a:ext cx="12196690" cy="162807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 dirty="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49" y="333654"/>
            <a:ext cx="11177551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098" indent="0">
              <a:buNone/>
              <a:defRPr sz="1300">
                <a:solidFill>
                  <a:schemeClr val="tx2"/>
                </a:solidFill>
              </a:defRPr>
            </a:lvl2pPr>
            <a:lvl3pPr marL="914194" indent="0">
              <a:buNone/>
              <a:defRPr sz="1300">
                <a:solidFill>
                  <a:schemeClr val="tx2"/>
                </a:solidFill>
              </a:defRPr>
            </a:lvl3pPr>
            <a:lvl4pPr marL="1371292" indent="0">
              <a:buNone/>
              <a:defRPr sz="1300">
                <a:solidFill>
                  <a:schemeClr val="tx2"/>
                </a:solidFill>
              </a:defRPr>
            </a:lvl4pPr>
            <a:lvl5pPr marL="182838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635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/>
        </p:nvSpPr>
        <p:spPr>
          <a:xfrm>
            <a:off x="722533" y="312279"/>
            <a:ext cx="1849822" cy="297517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es-ES" sz="1300" dirty="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2" y="1100250"/>
            <a:ext cx="10635842" cy="4906665"/>
          </a:xfrm>
        </p:spPr>
        <p:txBody>
          <a:bodyPr>
            <a:normAutofit/>
          </a:bodyPr>
          <a:lstStyle>
            <a:lvl1pPr marL="431903" indent="-395911">
              <a:buClr>
                <a:schemeClr val="accent1"/>
              </a:buClr>
              <a:buSzPct val="45000"/>
              <a:buFont typeface="+mj-lt"/>
              <a:buAutoNum type="arabicPeriod"/>
              <a:defRPr lang="es-ES" sz="3999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61227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26374"/>
            <a:ext cx="4386195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9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/>
        </p:nvSpPr>
        <p:spPr>
          <a:xfrm>
            <a:off x="8925342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 dirty="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39"/>
            <a:ext cx="2958755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97">
                <a:solidFill>
                  <a:schemeClr val="bg1"/>
                </a:solidFill>
              </a:defRPr>
            </a:lvl1pPr>
            <a:lvl2pPr>
              <a:defRPr sz="13897">
                <a:solidFill>
                  <a:schemeClr val="tx1"/>
                </a:solidFill>
              </a:defRPr>
            </a:lvl2pPr>
            <a:lvl3pPr>
              <a:defRPr sz="11498">
                <a:solidFill>
                  <a:schemeClr val="tx1"/>
                </a:solidFill>
              </a:defRPr>
            </a:lvl3pPr>
            <a:lvl4pPr>
              <a:defRPr sz="9598">
                <a:solidFill>
                  <a:schemeClr val="tx1"/>
                </a:solidFill>
              </a:defRPr>
            </a:lvl4pPr>
            <a:lvl5pPr>
              <a:defRPr sz="9598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13111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087470"/>
            <a:ext cx="5297558" cy="1606047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7" y="3093575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81" y="1087467"/>
            <a:ext cx="5081004" cy="50895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017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4" y="1087469"/>
            <a:ext cx="10758733" cy="1823011"/>
          </a:xfrm>
        </p:spPr>
        <p:txBody>
          <a:bodyPr anchor="t">
            <a:no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34" y="3093575"/>
            <a:ext cx="10758733" cy="3083401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645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2" y="1109773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33" y="1126273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350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5" y="1087459"/>
            <a:ext cx="3911401" cy="1183132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2517178"/>
            <a:ext cx="3911401" cy="365979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6" y="1087448"/>
            <a:ext cx="6683551" cy="5122863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dirty="0" err="1"/>
              <a:t>Insira</a:t>
            </a:r>
            <a:r>
              <a:rPr lang="es-MX" dirty="0"/>
              <a:t> </a:t>
            </a:r>
            <a:r>
              <a:rPr lang="es-MX" dirty="0" err="1"/>
              <a:t>aqui</a:t>
            </a:r>
            <a:r>
              <a:rPr lang="es-MX" dirty="0"/>
              <a:t> </a:t>
            </a:r>
            <a:r>
              <a:rPr lang="es-MX" dirty="0" err="1"/>
              <a:t>seu</a:t>
            </a:r>
            <a:r>
              <a:rPr lang="es-MX" dirty="0"/>
              <a:t> gráfico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647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1191812"/>
            <a:ext cx="3911401" cy="49851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6" y="1707778"/>
            <a:ext cx="6612966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6" y="1191803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4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1191812"/>
            <a:ext cx="3911401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4" y="1191812"/>
            <a:ext cx="6456737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1" y="1993912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72" y="1993912"/>
            <a:ext cx="6472719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/>
        </p:nvSpPr>
        <p:spPr>
          <a:xfrm>
            <a:off x="4742397" y="3685073"/>
            <a:ext cx="187150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300071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11" y="5229931"/>
            <a:ext cx="12192000" cy="1628079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es-ES" sz="190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727404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9" y="5573156"/>
            <a:ext cx="1347482" cy="45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/>
        </p:nvGrpSpPr>
        <p:grpSpPr>
          <a:xfrm>
            <a:off x="7612571" y="5573588"/>
            <a:ext cx="578706" cy="455018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98" y="1945652"/>
            <a:ext cx="3365479" cy="1384672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15" y="628205"/>
            <a:ext cx="3365479" cy="707887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pt-PT" sz="3999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1" y="5229931"/>
            <a:ext cx="12196690" cy="162807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pic>
        <p:nvPicPr>
          <p:cNvPr id="14" name="Imagen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6" y="3458200"/>
            <a:ext cx="3046638" cy="29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937058" y="131763"/>
            <a:ext cx="115899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427666"/>
            <a:ext cx="1172108" cy="20554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5A15B30-D7C7-F3D3-1E4D-D8B366C42DCA}"/>
              </a:ext>
            </a:extLst>
          </p:cNvPr>
          <p:cNvGrpSpPr/>
          <p:nvPr/>
        </p:nvGrpSpPr>
        <p:grpSpPr>
          <a:xfrm>
            <a:off x="9357756" y="40633"/>
            <a:ext cx="2803762" cy="1059262"/>
            <a:chOff x="9354484" y="1805841"/>
            <a:chExt cx="2803397" cy="1059507"/>
          </a:xfrm>
        </p:grpSpPr>
        <p:sp>
          <p:nvSpPr>
            <p:cNvPr id="4" name="Rectangle 38">
              <a:extLst>
                <a:ext uri="{FF2B5EF4-FFF2-40B4-BE49-F238E27FC236}">
                  <a16:creationId xmlns:a16="http://schemas.microsoft.com/office/drawing/2014/main" id="{8CA58985-9CC8-8896-BD97-014C3900916C}"/>
                </a:ext>
              </a:extLst>
            </p:cNvPr>
            <p:cNvSpPr/>
            <p:nvPr/>
          </p:nvSpPr>
          <p:spPr>
            <a:xfrm>
              <a:off x="9354484" y="1805841"/>
              <a:ext cx="2803397" cy="1059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00"/>
            </a:p>
          </p:txBody>
        </p:sp>
        <p:sp>
          <p:nvSpPr>
            <p:cNvPr id="5" name="TextBox 46">
              <a:extLst>
                <a:ext uri="{FF2B5EF4-FFF2-40B4-BE49-F238E27FC236}">
                  <a16:creationId xmlns:a16="http://schemas.microsoft.com/office/drawing/2014/main" id="{89456AD8-C20C-B71C-4D91-193C279194C5}"/>
                </a:ext>
              </a:extLst>
            </p:cNvPr>
            <p:cNvSpPr txBox="1"/>
            <p:nvPr/>
          </p:nvSpPr>
          <p:spPr>
            <a:xfrm>
              <a:off x="10509154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Process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EA960643-94D8-531F-1A13-74881734AF1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1908391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A4EB97E2-93A6-1AFC-BB27-6680F82A8155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11170862" y="1908391"/>
              <a:ext cx="252000" cy="252000"/>
            </a:xfrm>
            <a:prstGeom prst="rect">
              <a:avLst/>
            </a:prstGeom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EC0B4DCB-F371-59B3-9242-8524A08231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2198865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C9A1534-6E16-2182-5AE3-939C8050B34F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11569" y="2489339"/>
              <a:ext cx="252000" cy="252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E1C53A-6DF4-15DF-6DC4-D5E70A32BB82}"/>
                </a:ext>
              </a:extLst>
            </p:cNvPr>
            <p:cNvPicPr>
              <a:picLocks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70862" y="2198865"/>
              <a:ext cx="252000" cy="252000"/>
            </a:xfrm>
            <a:prstGeom prst="ellipse">
              <a:avLst/>
            </a:prstGeom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C9E3940-3A23-D23F-E647-EF5CB645B22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0862" y="2489339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92B64F1-C557-F3EF-3265-8E2CE27B90E6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489339"/>
              <a:ext cx="252000" cy="252000"/>
              <a:chOff x="455122" y="3851392"/>
              <a:chExt cx="648000" cy="648000"/>
            </a:xfrm>
          </p:grpSpPr>
          <p:sp>
            <p:nvSpPr>
              <p:cNvPr id="28" name="Oval 2">
                <a:extLst>
                  <a:ext uri="{FF2B5EF4-FFF2-40B4-BE49-F238E27FC236}">
                    <a16:creationId xmlns:a16="http://schemas.microsoft.com/office/drawing/2014/main" id="{BCC75B9A-22B4-8C1D-ABFB-D21763710FD4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29" name="Grupo 14">
                <a:extLst>
                  <a:ext uri="{FF2B5EF4-FFF2-40B4-BE49-F238E27FC236}">
                    <a16:creationId xmlns:a16="http://schemas.microsoft.com/office/drawing/2014/main" id="{71B8431D-BB60-D858-2E6C-D578B71A94B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30" name="Freeform 52">
                  <a:extLst>
                    <a:ext uri="{FF2B5EF4-FFF2-40B4-BE49-F238E27FC236}">
                      <a16:creationId xmlns:a16="http://schemas.microsoft.com/office/drawing/2014/main" id="{10E60A65-5922-1D4A-E1FF-E9DDF15557A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1" name="Freeform 53">
                  <a:extLst>
                    <a:ext uri="{FF2B5EF4-FFF2-40B4-BE49-F238E27FC236}">
                      <a16:creationId xmlns:a16="http://schemas.microsoft.com/office/drawing/2014/main" id="{9ADFC2AA-4E01-3665-763A-AE3544F719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2" name="Freeform 54">
                  <a:extLst>
                    <a:ext uri="{FF2B5EF4-FFF2-40B4-BE49-F238E27FC236}">
                      <a16:creationId xmlns:a16="http://schemas.microsoft.com/office/drawing/2014/main" id="{EE18430C-5A4F-46A0-D968-DA89E814E08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3" name="Freeform 55">
                  <a:extLst>
                    <a:ext uri="{FF2B5EF4-FFF2-40B4-BE49-F238E27FC236}">
                      <a16:creationId xmlns:a16="http://schemas.microsoft.com/office/drawing/2014/main" id="{BC78A244-578B-D097-F939-17E7A5BB0DA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4" name="Freeform 56">
                  <a:extLst>
                    <a:ext uri="{FF2B5EF4-FFF2-40B4-BE49-F238E27FC236}">
                      <a16:creationId xmlns:a16="http://schemas.microsoft.com/office/drawing/2014/main" id="{D53A2118-ABFE-AB5D-9DBA-4BD9779834B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5" name="Freeform 57">
                  <a:extLst>
                    <a:ext uri="{FF2B5EF4-FFF2-40B4-BE49-F238E27FC236}">
                      <a16:creationId xmlns:a16="http://schemas.microsoft.com/office/drawing/2014/main" id="{8DC9B12B-A1FD-6D7D-BDF6-E012CDE51E3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B0B8236-9567-6F29-8D0A-99F51FFCA2E7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198865"/>
              <a:ext cx="252000" cy="252000"/>
              <a:chOff x="455122" y="4977513"/>
              <a:chExt cx="648000" cy="648000"/>
            </a:xfrm>
          </p:grpSpPr>
          <p:sp>
            <p:nvSpPr>
              <p:cNvPr id="26" name="Oval 2">
                <a:extLst>
                  <a:ext uri="{FF2B5EF4-FFF2-40B4-BE49-F238E27FC236}">
                    <a16:creationId xmlns:a16="http://schemas.microsoft.com/office/drawing/2014/main" id="{2034CF06-4482-17F0-D263-A83CFD42F1C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7" name="Graphic 26" descr="Database with solid fill">
                <a:extLst>
                  <a:ext uri="{FF2B5EF4-FFF2-40B4-BE49-F238E27FC236}">
                    <a16:creationId xmlns:a16="http://schemas.microsoft.com/office/drawing/2014/main" id="{4F92ACC6-380C-FE3B-6F6F-256235FE8F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B8514FD-462B-E658-D111-2C8C242F18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1908391"/>
              <a:ext cx="252000" cy="252000"/>
              <a:chOff x="1498452" y="4969551"/>
              <a:chExt cx="648000" cy="648000"/>
            </a:xfrm>
          </p:grpSpPr>
          <p:sp>
            <p:nvSpPr>
              <p:cNvPr id="24" name="Oval 2">
                <a:extLst>
                  <a:ext uri="{FF2B5EF4-FFF2-40B4-BE49-F238E27FC236}">
                    <a16:creationId xmlns:a16="http://schemas.microsoft.com/office/drawing/2014/main" id="{86F4A0D8-4FDC-36F9-0302-F881BEA9BCE6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5" name="Graphic 24" descr="Server with solid fill">
                <a:extLst>
                  <a:ext uri="{FF2B5EF4-FFF2-40B4-BE49-F238E27FC236}">
                    <a16:creationId xmlns:a16="http://schemas.microsoft.com/office/drawing/2014/main" id="{622FDC57-B3D7-ADC4-4E67-DDF7429074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6" name="TextBox 46">
              <a:extLst>
                <a:ext uri="{FF2B5EF4-FFF2-40B4-BE49-F238E27FC236}">
                  <a16:creationId xmlns:a16="http://schemas.microsoft.com/office/drawing/2014/main" id="{B26B2B32-7538-7F5C-D44B-83A945610AA3}"/>
                </a:ext>
              </a:extLst>
            </p:cNvPr>
            <p:cNvSpPr txBox="1"/>
            <p:nvPr/>
          </p:nvSpPr>
          <p:spPr>
            <a:xfrm>
              <a:off x="10509154" y="2221086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Output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7" name="TextBox 46">
              <a:extLst>
                <a:ext uri="{FF2B5EF4-FFF2-40B4-BE49-F238E27FC236}">
                  <a16:creationId xmlns:a16="http://schemas.microsoft.com/office/drawing/2014/main" id="{850B8860-CA69-AACC-54E7-402FBA53B86F}"/>
                </a:ext>
              </a:extLst>
            </p:cNvPr>
            <p:cNvSpPr txBox="1"/>
            <p:nvPr/>
          </p:nvSpPr>
          <p:spPr>
            <a:xfrm>
              <a:off x="10509154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EUC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TextBox 46">
              <a:extLst>
                <a:ext uri="{FF2B5EF4-FFF2-40B4-BE49-F238E27FC236}">
                  <a16:creationId xmlns:a16="http://schemas.microsoft.com/office/drawing/2014/main" id="{9A4A7983-145A-4B9D-F863-03FB892AE2E8}"/>
                </a:ext>
              </a:extLst>
            </p:cNvPr>
            <p:cNvSpPr txBox="1"/>
            <p:nvPr/>
          </p:nvSpPr>
          <p:spPr>
            <a:xfrm>
              <a:off x="9658053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S.Ope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TextBox 46">
              <a:extLst>
                <a:ext uri="{FF2B5EF4-FFF2-40B4-BE49-F238E27FC236}">
                  <a16:creationId xmlns:a16="http://schemas.microsoft.com/office/drawing/2014/main" id="{522527F4-E338-3679-4C37-4A317E34E55A}"/>
                </a:ext>
              </a:extLst>
            </p:cNvPr>
            <p:cNvSpPr txBox="1"/>
            <p:nvPr/>
          </p:nvSpPr>
          <p:spPr>
            <a:xfrm>
              <a:off x="9658053" y="2221086"/>
              <a:ext cx="5932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S.Inf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0" name="TextBox 46">
              <a:extLst>
                <a:ext uri="{FF2B5EF4-FFF2-40B4-BE49-F238E27FC236}">
                  <a16:creationId xmlns:a16="http://schemas.microsoft.com/office/drawing/2014/main" id="{651E1137-51DD-A959-937F-44E1ECE7C854}"/>
                </a:ext>
              </a:extLst>
            </p:cNvPr>
            <p:cNvSpPr txBox="1"/>
            <p:nvPr/>
          </p:nvSpPr>
          <p:spPr>
            <a:xfrm>
              <a:off x="9658053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Motor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1" name="TextBox 46">
              <a:extLst>
                <a:ext uri="{FF2B5EF4-FFF2-40B4-BE49-F238E27FC236}">
                  <a16:creationId xmlns:a16="http://schemas.microsoft.com/office/drawing/2014/main" id="{6AF95050-5BEA-46FF-CB7A-2DEC8F16FF28}"/>
                </a:ext>
              </a:extLst>
            </p:cNvPr>
            <p:cNvSpPr txBox="1"/>
            <p:nvPr/>
          </p:nvSpPr>
          <p:spPr>
            <a:xfrm>
              <a:off x="11430372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Externo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46">
              <a:extLst>
                <a:ext uri="{FF2B5EF4-FFF2-40B4-BE49-F238E27FC236}">
                  <a16:creationId xmlns:a16="http://schemas.microsoft.com/office/drawing/2014/main" id="{596D2C81-8C62-610C-CADD-F60E8BCADB1E}"/>
                </a:ext>
              </a:extLst>
            </p:cNvPr>
            <p:cNvSpPr txBox="1"/>
            <p:nvPr/>
          </p:nvSpPr>
          <p:spPr>
            <a:xfrm>
              <a:off x="11430372" y="2221086"/>
              <a:ext cx="72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Corporação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TextBox 46">
              <a:extLst>
                <a:ext uri="{FF2B5EF4-FFF2-40B4-BE49-F238E27FC236}">
                  <a16:creationId xmlns:a16="http://schemas.microsoft.com/office/drawing/2014/main" id="{AF54E3E0-80BA-EC39-C78E-EE08B5A575C9}"/>
                </a:ext>
              </a:extLst>
            </p:cNvPr>
            <p:cNvSpPr txBox="1"/>
            <p:nvPr/>
          </p:nvSpPr>
          <p:spPr>
            <a:xfrm>
              <a:off x="11430372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Métrica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6" name="MetricID">
            <a:extLst>
              <a:ext uri="{FF2B5EF4-FFF2-40B4-BE49-F238E27FC236}">
                <a16:creationId xmlns:a16="http://schemas.microsoft.com/office/drawing/2014/main" id="{934D16A5-F4B1-2E54-640F-0CDFB5B821E0}"/>
              </a:ext>
            </a:extLst>
          </p:cNvPr>
          <p:cNvSpPr txBox="1"/>
          <p:nvPr/>
        </p:nvSpPr>
        <p:spPr>
          <a:xfrm>
            <a:off x="2413768" y="6438184"/>
            <a:ext cx="1944000" cy="2461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/>
              <a:t>Existem Controlos</a:t>
            </a:r>
          </a:p>
        </p:txBody>
      </p:sp>
      <p:pic>
        <p:nvPicPr>
          <p:cNvPr id="37" name="Imagen 18">
            <a:extLst>
              <a:ext uri="{FF2B5EF4-FFF2-40B4-BE49-F238E27FC236}">
                <a16:creationId xmlns:a16="http://schemas.microsoft.com/office/drawing/2014/main" id="{777A7514-5840-5B6B-F509-CC44C2F2C929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1" y="6440690"/>
            <a:ext cx="241169" cy="241082"/>
          </a:xfrm>
          <a:prstGeom prst="rect">
            <a:avLst/>
          </a:prstGeom>
        </p:spPr>
      </p:pic>
      <p:sp>
        <p:nvSpPr>
          <p:cNvPr id="38" name="MetricID">
            <a:extLst>
              <a:ext uri="{FF2B5EF4-FFF2-40B4-BE49-F238E27FC236}">
                <a16:creationId xmlns:a16="http://schemas.microsoft.com/office/drawing/2014/main" id="{E95AB4DF-04AD-8A3D-8557-4E27E244D1E5}"/>
              </a:ext>
            </a:extLst>
          </p:cNvPr>
          <p:cNvSpPr txBox="1"/>
          <p:nvPr/>
        </p:nvSpPr>
        <p:spPr>
          <a:xfrm>
            <a:off x="7295783" y="6438168"/>
            <a:ext cx="1944000" cy="2461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/>
              <a:t>Existe documentação técnica</a:t>
            </a:r>
          </a:p>
        </p:txBody>
      </p:sp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271CCEFC-5D0E-650C-3E34-53E4014B2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911" y="6440690"/>
            <a:ext cx="241169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MetricID">
            <a:extLst>
              <a:ext uri="{FF2B5EF4-FFF2-40B4-BE49-F238E27FC236}">
                <a16:creationId xmlns:a16="http://schemas.microsoft.com/office/drawing/2014/main" id="{6E52B15F-569E-6C50-2845-60B47C381230}"/>
              </a:ext>
            </a:extLst>
          </p:cNvPr>
          <p:cNvSpPr txBox="1"/>
          <p:nvPr/>
        </p:nvSpPr>
        <p:spPr>
          <a:xfrm>
            <a:off x="9683270" y="6438168"/>
            <a:ext cx="1944000" cy="2461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/>
              <a:t>Processo manual</a:t>
            </a:r>
          </a:p>
        </p:txBody>
      </p:sp>
      <p:pic>
        <p:nvPicPr>
          <p:cNvPr id="41" name="Graphic 40" descr="Single gear with solid fill">
            <a:extLst>
              <a:ext uri="{FF2B5EF4-FFF2-40B4-BE49-F238E27FC236}">
                <a16:creationId xmlns:a16="http://schemas.microsoft.com/office/drawing/2014/main" id="{7BF27852-3D87-78CF-4799-97993DFB2B8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69766" y="6435260"/>
            <a:ext cx="252033" cy="251942"/>
          </a:xfrm>
          <a:prstGeom prst="rect">
            <a:avLst/>
          </a:prstGeom>
        </p:spPr>
      </p:pic>
      <p:sp>
        <p:nvSpPr>
          <p:cNvPr id="42" name="MetricID">
            <a:extLst>
              <a:ext uri="{FF2B5EF4-FFF2-40B4-BE49-F238E27FC236}">
                <a16:creationId xmlns:a16="http://schemas.microsoft.com/office/drawing/2014/main" id="{30BF2E23-1C7C-A9ED-1426-9CBB364A072C}"/>
              </a:ext>
            </a:extLst>
          </p:cNvPr>
          <p:cNvSpPr txBox="1"/>
          <p:nvPr/>
        </p:nvSpPr>
        <p:spPr>
          <a:xfrm>
            <a:off x="4238716" y="6438152"/>
            <a:ext cx="2568263" cy="2461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/>
              <a:t>Existem Controlos não documentados</a:t>
            </a:r>
          </a:p>
        </p:txBody>
      </p:sp>
      <p:pic>
        <p:nvPicPr>
          <p:cNvPr id="43" name="Graphic 42" descr="Single gear outline">
            <a:extLst>
              <a:ext uri="{FF2B5EF4-FFF2-40B4-BE49-F238E27FC236}">
                <a16:creationId xmlns:a16="http://schemas.microsoft.com/office/drawing/2014/main" id="{E076CB04-0133-53FC-CD89-830F8E78D2E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30727" y="6417264"/>
            <a:ext cx="288037" cy="287933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/>
        </p:nvSpPr>
        <p:spPr>
          <a:xfrm>
            <a:off x="271720" y="1132863"/>
            <a:ext cx="11648562" cy="5218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775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937058" y="131763"/>
            <a:ext cx="115899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427666"/>
            <a:ext cx="1172108" cy="20554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/>
        </p:nvSpPr>
        <p:spPr>
          <a:xfrm>
            <a:off x="271720" y="1132863"/>
            <a:ext cx="11648562" cy="5218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877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1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10" y="1825624"/>
            <a:ext cx="10515600" cy="4351338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10" y="6356350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08D38-0FC1-424A-9F8E-E8315B0648D8}" type="datetimeFigureOut">
              <a:rPr lang="pt-PT" smtClean="0"/>
              <a:t>08/09/2023</a:t>
            </a:fld>
            <a:endParaRPr lang="pt-PT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0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0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3511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194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8" indent="-228548" algn="l" defTabSz="91419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46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42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40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38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34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32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28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325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8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94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92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88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85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81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79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76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2.svg"/><Relationship Id="rId3" Type="http://schemas.openxmlformats.org/officeDocument/2006/relationships/tags" Target="../tags/tag2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16.svg"/><Relationship Id="rId5" Type="http://schemas.openxmlformats.org/officeDocument/2006/relationships/notesSlide" Target="../notesSlides/notesSlide1.xml"/><Relationship Id="rId15" Type="http://schemas.openxmlformats.org/officeDocument/2006/relationships/image" Target="../media/image20.png"/><Relationship Id="rId10" Type="http://schemas.openxmlformats.org/officeDocument/2006/relationships/image" Target="../media/image19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18" Type="http://schemas.openxmlformats.org/officeDocument/2006/relationships/image" Target="../media/image14.png"/><Relationship Id="rId3" Type="http://schemas.openxmlformats.org/officeDocument/2006/relationships/tags" Target="../tags/tag4.xml"/><Relationship Id="rId7" Type="http://schemas.openxmlformats.org/officeDocument/2006/relationships/image" Target="../media/image17.emf"/><Relationship Id="rId12" Type="http://schemas.openxmlformats.org/officeDocument/2006/relationships/image" Target="../media/image23.png"/><Relationship Id="rId17" Type="http://schemas.openxmlformats.org/officeDocument/2006/relationships/image" Target="../media/image20.png"/><Relationship Id="rId2" Type="http://schemas.openxmlformats.org/officeDocument/2006/relationships/tags" Target="../tags/tag3.xml"/><Relationship Id="rId16" Type="http://schemas.openxmlformats.org/officeDocument/2006/relationships/image" Target="../media/image27.png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2.png"/><Relationship Id="rId5" Type="http://schemas.openxmlformats.org/officeDocument/2006/relationships/notesSlide" Target="../notesSlides/notesSlide2.xml"/><Relationship Id="rId15" Type="http://schemas.openxmlformats.org/officeDocument/2006/relationships/image" Target="../media/image26.png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1.xml"/><Relationship Id="rId9" Type="http://schemas.openxmlformats.org/officeDocument/2006/relationships/hyperlink" Target="https://en.wikipedia.org/wiki/File:Circle-icons-global.svg" TargetMode="External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7.emf"/><Relationship Id="rId3" Type="http://schemas.openxmlformats.org/officeDocument/2006/relationships/tags" Target="../tags/tag6.xml"/><Relationship Id="rId7" Type="http://schemas.openxmlformats.org/officeDocument/2006/relationships/image" Target="../media/image16.svg"/><Relationship Id="rId12" Type="http://schemas.openxmlformats.org/officeDocument/2006/relationships/oleObject" Target="../embeddings/oleObject3.bin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png"/><Relationship Id="rId11" Type="http://schemas.openxmlformats.org/officeDocument/2006/relationships/image" Target="../media/image14.svg"/><Relationship Id="rId5" Type="http://schemas.openxmlformats.org/officeDocument/2006/relationships/notesSlide" Target="../notesSlides/notesSlide3.xml"/><Relationship Id="rId15" Type="http://schemas.openxmlformats.org/officeDocument/2006/relationships/image" Target="../media/image28.png"/><Relationship Id="rId10" Type="http://schemas.openxmlformats.org/officeDocument/2006/relationships/image" Target="../media/image18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2.sv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8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10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12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Relationship Id="rId1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6.png"/><Relationship Id="rId3" Type="http://schemas.openxmlformats.org/officeDocument/2006/relationships/tags" Target="../tags/tag14.xml"/><Relationship Id="rId7" Type="http://schemas.openxmlformats.org/officeDocument/2006/relationships/image" Target="../media/image14.svg"/><Relationship Id="rId12" Type="http://schemas.openxmlformats.org/officeDocument/2006/relationships/image" Target="../media/image13.png"/><Relationship Id="rId2" Type="http://schemas.openxmlformats.org/officeDocument/2006/relationships/tags" Target="../tags/tag13.xml"/><Relationship Id="rId16" Type="http://schemas.openxmlformats.org/officeDocument/2006/relationships/image" Target="../media/image16.svg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notesSlide" Target="../notesSlides/notesSlide7.xml"/><Relationship Id="rId15" Type="http://schemas.openxmlformats.org/officeDocument/2006/relationships/image" Target="../media/image19.png"/><Relationship Id="rId10" Type="http://schemas.openxmlformats.org/officeDocument/2006/relationships/image" Target="../media/image29.jpe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9.png"/><Relationship Id="rId3" Type="http://schemas.openxmlformats.org/officeDocument/2006/relationships/tags" Target="../tags/tag16.xml"/><Relationship Id="rId7" Type="http://schemas.openxmlformats.org/officeDocument/2006/relationships/image" Target="../media/image14.svg"/><Relationship Id="rId12" Type="http://schemas.openxmlformats.org/officeDocument/2006/relationships/image" Target="../media/image22.svg"/><Relationship Id="rId2" Type="http://schemas.openxmlformats.org/officeDocument/2006/relationships/tags" Target="../tags/tag1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png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8.xml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18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Relationship Id="rId1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8.png"/><Relationship Id="rId18" Type="http://schemas.openxmlformats.org/officeDocument/2006/relationships/image" Target="../media/image22.png"/><Relationship Id="rId3" Type="http://schemas.openxmlformats.org/officeDocument/2006/relationships/tags" Target="../tags/tag20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20.svg"/><Relationship Id="rId2" Type="http://schemas.openxmlformats.org/officeDocument/2006/relationships/tags" Target="../tags/tag19.xml"/><Relationship Id="rId16" Type="http://schemas.openxmlformats.org/officeDocument/2006/relationships/image" Target="../media/image32.png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0.xml"/><Relationship Id="rId15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1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1.png"/><Relationship Id="rId3" Type="http://schemas.openxmlformats.org/officeDocument/2006/relationships/tags" Target="../tags/tag22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14.png"/><Relationship Id="rId2" Type="http://schemas.openxmlformats.org/officeDocument/2006/relationships/tags" Target="../tags/tag21.xml"/><Relationship Id="rId16" Type="http://schemas.openxmlformats.org/officeDocument/2006/relationships/image" Target="../media/image22.png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1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1.png"/><Relationship Id="rId3" Type="http://schemas.openxmlformats.org/officeDocument/2006/relationships/tags" Target="../tags/tag24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14.png"/><Relationship Id="rId2" Type="http://schemas.openxmlformats.org/officeDocument/2006/relationships/tags" Target="../tags/tag23.xml"/><Relationship Id="rId16" Type="http://schemas.openxmlformats.org/officeDocument/2006/relationships/image" Target="../media/image22.png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2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1.png"/><Relationship Id="rId3" Type="http://schemas.openxmlformats.org/officeDocument/2006/relationships/tags" Target="../tags/tag26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14.png"/><Relationship Id="rId2" Type="http://schemas.openxmlformats.org/officeDocument/2006/relationships/tags" Target="../tags/tag25.xml"/><Relationship Id="rId16" Type="http://schemas.openxmlformats.org/officeDocument/2006/relationships/image" Target="../media/image22.png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3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8.png"/><Relationship Id="rId18" Type="http://schemas.openxmlformats.org/officeDocument/2006/relationships/image" Target="../media/image22.png"/><Relationship Id="rId3" Type="http://schemas.openxmlformats.org/officeDocument/2006/relationships/tags" Target="../tags/tag28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20.svg"/><Relationship Id="rId2" Type="http://schemas.openxmlformats.org/officeDocument/2006/relationships/tags" Target="../tags/tag27.xml"/><Relationship Id="rId16" Type="http://schemas.openxmlformats.org/officeDocument/2006/relationships/image" Target="../media/image32.png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4.xml"/><Relationship Id="rId15" Type="http://schemas.openxmlformats.org/officeDocument/2006/relationships/image" Target="../media/image31.pn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14.png"/><Relationship Id="rId3" Type="http://schemas.openxmlformats.org/officeDocument/2006/relationships/tags" Target="../tags/tag30.xml"/><Relationship Id="rId7" Type="http://schemas.openxmlformats.org/officeDocument/2006/relationships/image" Target="../media/image17.emf"/><Relationship Id="rId12" Type="http://schemas.openxmlformats.org/officeDocument/2006/relationships/image" Target="../media/image22.png"/><Relationship Id="rId2" Type="http://schemas.openxmlformats.org/officeDocument/2006/relationships/tags" Target="../tags/tag29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0.svg"/><Relationship Id="rId5" Type="http://schemas.openxmlformats.org/officeDocument/2006/relationships/notesSlide" Target="../notesSlides/notesSlide15.xml"/><Relationship Id="rId10" Type="http://schemas.openxmlformats.org/officeDocument/2006/relationships/image" Target="../media/image32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2.svg"/><Relationship Id="rId18" Type="http://schemas.openxmlformats.org/officeDocument/2006/relationships/image" Target="../media/image20.svg"/><Relationship Id="rId3" Type="http://schemas.openxmlformats.org/officeDocument/2006/relationships/tags" Target="../tags/tag32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17" Type="http://schemas.openxmlformats.org/officeDocument/2006/relationships/image" Target="../media/image32.png"/><Relationship Id="rId2" Type="http://schemas.openxmlformats.org/officeDocument/2006/relationships/tags" Target="../tags/tag31.xml"/><Relationship Id="rId16" Type="http://schemas.openxmlformats.org/officeDocument/2006/relationships/image" Target="../media/image31.png"/><Relationship Id="rId20" Type="http://schemas.openxmlformats.org/officeDocument/2006/relationships/image" Target="../media/image14.png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png"/><Relationship Id="rId5" Type="http://schemas.openxmlformats.org/officeDocument/2006/relationships/notesSlide" Target="../notesSlides/notesSlide16.xml"/><Relationship Id="rId15" Type="http://schemas.openxmlformats.org/officeDocument/2006/relationships/image" Target="../media/image30.png"/><Relationship Id="rId10" Type="http://schemas.openxmlformats.org/officeDocument/2006/relationships/image" Target="../media/image14.svg"/><Relationship Id="rId19" Type="http://schemas.openxmlformats.org/officeDocument/2006/relationships/image" Target="../media/image22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8.png"/><Relationship Id="rId1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1.png"/><Relationship Id="rId18" Type="http://schemas.openxmlformats.org/officeDocument/2006/relationships/image" Target="../media/image14.png"/><Relationship Id="rId3" Type="http://schemas.openxmlformats.org/officeDocument/2006/relationships/tags" Target="../tags/tag34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22.png"/><Relationship Id="rId2" Type="http://schemas.openxmlformats.org/officeDocument/2006/relationships/tags" Target="../tags/tag33.xml"/><Relationship Id="rId16" Type="http://schemas.openxmlformats.org/officeDocument/2006/relationships/image" Target="../media/image23.png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7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1.png"/><Relationship Id="rId18" Type="http://schemas.openxmlformats.org/officeDocument/2006/relationships/image" Target="../media/image14.png"/><Relationship Id="rId3" Type="http://schemas.openxmlformats.org/officeDocument/2006/relationships/tags" Target="../tags/tag36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22.png"/><Relationship Id="rId2" Type="http://schemas.openxmlformats.org/officeDocument/2006/relationships/tags" Target="../tags/tag35.xml"/><Relationship Id="rId16" Type="http://schemas.openxmlformats.org/officeDocument/2006/relationships/image" Target="../media/image23.png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8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8.png"/><Relationship Id="rId18" Type="http://schemas.openxmlformats.org/officeDocument/2006/relationships/image" Target="../media/image23.png"/><Relationship Id="rId3" Type="http://schemas.openxmlformats.org/officeDocument/2006/relationships/tags" Target="../tags/tag38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20.svg"/><Relationship Id="rId2" Type="http://schemas.openxmlformats.org/officeDocument/2006/relationships/tags" Target="../tags/tag37.xml"/><Relationship Id="rId16" Type="http://schemas.openxmlformats.org/officeDocument/2006/relationships/image" Target="../media/image32.png"/><Relationship Id="rId20" Type="http://schemas.openxmlformats.org/officeDocument/2006/relationships/image" Target="../media/image14.png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20.xml"/><Relationship Id="rId15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8.png"/><Relationship Id="rId18" Type="http://schemas.openxmlformats.org/officeDocument/2006/relationships/image" Target="../media/image31.png"/><Relationship Id="rId3" Type="http://schemas.openxmlformats.org/officeDocument/2006/relationships/tags" Target="../tags/tag40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14.png"/><Relationship Id="rId2" Type="http://schemas.openxmlformats.org/officeDocument/2006/relationships/tags" Target="../tags/tag39.xml"/><Relationship Id="rId16" Type="http://schemas.openxmlformats.org/officeDocument/2006/relationships/image" Target="../media/image22.png"/><Relationship Id="rId20" Type="http://schemas.openxmlformats.org/officeDocument/2006/relationships/image" Target="../media/image20.svg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23.xml"/><Relationship Id="rId15" Type="http://schemas.openxmlformats.org/officeDocument/2006/relationships/image" Target="../media/image23.png"/><Relationship Id="rId10" Type="http://schemas.openxmlformats.org/officeDocument/2006/relationships/image" Target="../media/image13.png"/><Relationship Id="rId19" Type="http://schemas.openxmlformats.org/officeDocument/2006/relationships/image" Target="../media/image32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3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685" y="1096486"/>
            <a:ext cx="6423711" cy="1407004"/>
          </a:xfrm>
        </p:spPr>
        <p:txBody>
          <a:bodyPr>
            <a:normAutofit/>
          </a:bodyPr>
          <a:lstStyle/>
          <a:p>
            <a:r>
              <a:rPr lang="pt-PT" dirty="0"/>
              <a:t>Fluxo de Dados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BS | Pilar III ESG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/>
              <a:t>Data 	Lisboa	05/07/2023</a:t>
            </a:r>
          </a:p>
        </p:txBody>
      </p:sp>
    </p:spTree>
    <p:extLst>
      <p:ext uri="{BB962C8B-B14F-4D97-AF65-F5344CB8AC3E}">
        <p14:creationId xmlns:p14="http://schemas.microsoft.com/office/powerpoint/2010/main" val="378942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7B61F-31A8-4435-8741-CD328CABF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pt-PT" dirty="0"/>
              <a:t>Símbolos</a:t>
            </a:r>
          </a:p>
          <a:p>
            <a:r>
              <a:rPr lang="pt-PT" i="1" dirty="0"/>
              <a:t>Governance</a:t>
            </a:r>
          </a:p>
          <a:p>
            <a:r>
              <a:rPr lang="pt-PT" dirty="0"/>
              <a:t>Fluxos Comuns</a:t>
            </a:r>
          </a:p>
          <a:p>
            <a:r>
              <a:rPr lang="pt-PT" dirty="0"/>
              <a:t>Fluxos Primários</a:t>
            </a:r>
          </a:p>
          <a:p>
            <a:r>
              <a:rPr lang="pt-PT" dirty="0"/>
              <a:t>Fluxos </a:t>
            </a:r>
            <a:r>
              <a:rPr lang="pt-PT" dirty="0" smtClean="0"/>
              <a:t>Secundários</a:t>
            </a:r>
          </a:p>
          <a:p>
            <a:r>
              <a:rPr lang="pt-PT" dirty="0" smtClean="0"/>
              <a:t>Anexos</a:t>
            </a:r>
            <a:endParaRPr lang="pt-PT" dirty="0"/>
          </a:p>
          <a:p>
            <a:pPr marL="35992" indent="0">
              <a:buNone/>
            </a:pPr>
            <a:endParaRPr lang="pt-PT" dirty="0"/>
          </a:p>
          <a:p>
            <a:pPr marL="35992" indent="0">
              <a:buNone/>
            </a:pPr>
            <a:endParaRPr lang="pt-PT" i="1" dirty="0"/>
          </a:p>
          <a:p>
            <a:endParaRPr lang="pt-PT" dirty="0"/>
          </a:p>
          <a:p>
            <a:pPr marL="35992" indent="0">
              <a:buNone/>
            </a:pPr>
            <a:endParaRPr lang="pt-PT" dirty="0"/>
          </a:p>
          <a:p>
            <a:endParaRPr lang="pt-PT" dirty="0"/>
          </a:p>
          <a:p>
            <a:endParaRPr lang="pt-PT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06C0ABA-C9DE-4F35-90D1-E94A1D3C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764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Símbolos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3701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8670" y="716714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>
                <a:solidFill>
                  <a:srgbClr val="FF0000"/>
                </a:solidFill>
              </a:rPr>
              <a:t>Sistemas Operacionais, Sistemas Informacionais, Motores</a:t>
            </a:r>
          </a:p>
        </p:txBody>
      </p: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C4B3192C-1A1F-1FA0-1C84-C81A5A316BEE}"/>
              </a:ext>
            </a:extLst>
          </p:cNvPr>
          <p:cNvGrpSpPr/>
          <p:nvPr/>
        </p:nvGrpSpPr>
        <p:grpSpPr>
          <a:xfrm>
            <a:off x="11126460" y="5578383"/>
            <a:ext cx="647850" cy="647850"/>
            <a:chOff x="455122" y="3851392"/>
            <a:chExt cx="648000" cy="648000"/>
          </a:xfrm>
        </p:grpSpPr>
        <p:sp>
          <p:nvSpPr>
            <p:cNvPr id="1078" name="Oval 2">
              <a:extLst>
                <a:ext uri="{FF2B5EF4-FFF2-40B4-BE49-F238E27FC236}">
                  <a16:creationId xmlns:a16="http://schemas.microsoft.com/office/drawing/2014/main" id="{3C18B0AF-1AF2-6C1F-B982-9B02462070FA}"/>
                </a:ext>
              </a:extLst>
            </p:cNvPr>
            <p:cNvSpPr/>
            <p:nvPr/>
          </p:nvSpPr>
          <p:spPr>
            <a:xfrm>
              <a:off x="455122" y="3851392"/>
              <a:ext cx="648000" cy="648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grpSp>
          <p:nvGrpSpPr>
            <p:cNvPr id="1079" name="Grupo 14">
              <a:extLst>
                <a:ext uri="{FF2B5EF4-FFF2-40B4-BE49-F238E27FC236}">
                  <a16:creationId xmlns:a16="http://schemas.microsoft.com/office/drawing/2014/main" id="{518515BA-5F45-1BD5-62A8-C3B9C719D367}"/>
                </a:ext>
              </a:extLst>
            </p:cNvPr>
            <p:cNvGrpSpPr/>
            <p:nvPr/>
          </p:nvGrpSpPr>
          <p:grpSpPr>
            <a:xfrm>
              <a:off x="617140" y="4013410"/>
              <a:ext cx="323964" cy="323964"/>
              <a:chOff x="8467725" y="4843463"/>
              <a:chExt cx="568325" cy="566738"/>
            </a:xfrm>
            <a:solidFill>
              <a:schemeClr val="bg1"/>
            </a:solidFill>
          </p:grpSpPr>
          <p:sp>
            <p:nvSpPr>
              <p:cNvPr id="1080" name="Freeform 52">
                <a:extLst>
                  <a:ext uri="{FF2B5EF4-FFF2-40B4-BE49-F238E27FC236}">
                    <a16:creationId xmlns:a16="http://schemas.microsoft.com/office/drawing/2014/main" id="{A967B69C-3FEA-EBE5-AE9D-0022659F49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82025" y="5049838"/>
                <a:ext cx="155575" cy="158750"/>
              </a:xfrm>
              <a:custGeom>
                <a:avLst/>
                <a:gdLst>
                  <a:gd name="T0" fmla="*/ 24 w 49"/>
                  <a:gd name="T1" fmla="*/ 50 h 50"/>
                  <a:gd name="T2" fmla="*/ 42 w 49"/>
                  <a:gd name="T3" fmla="*/ 42 h 50"/>
                  <a:gd name="T4" fmla="*/ 49 w 49"/>
                  <a:gd name="T5" fmla="*/ 25 h 50"/>
                  <a:gd name="T6" fmla="*/ 42 w 49"/>
                  <a:gd name="T7" fmla="*/ 8 h 50"/>
                  <a:gd name="T8" fmla="*/ 24 w 49"/>
                  <a:gd name="T9" fmla="*/ 0 h 50"/>
                  <a:gd name="T10" fmla="*/ 7 w 49"/>
                  <a:gd name="T11" fmla="*/ 8 h 50"/>
                  <a:gd name="T12" fmla="*/ 0 w 49"/>
                  <a:gd name="T13" fmla="*/ 25 h 50"/>
                  <a:gd name="T14" fmla="*/ 7 w 49"/>
                  <a:gd name="T15" fmla="*/ 42 h 50"/>
                  <a:gd name="T16" fmla="*/ 24 w 49"/>
                  <a:gd name="T17" fmla="*/ 50 h 50"/>
                  <a:gd name="T18" fmla="*/ 7 w 49"/>
                  <a:gd name="T19" fmla="*/ 25 h 50"/>
                  <a:gd name="T20" fmla="*/ 12 w 49"/>
                  <a:gd name="T21" fmla="*/ 13 h 50"/>
                  <a:gd name="T22" fmla="*/ 24 w 49"/>
                  <a:gd name="T23" fmla="*/ 8 h 50"/>
                  <a:gd name="T24" fmla="*/ 37 w 49"/>
                  <a:gd name="T25" fmla="*/ 13 h 50"/>
                  <a:gd name="T26" fmla="*/ 42 w 49"/>
                  <a:gd name="T27" fmla="*/ 25 h 50"/>
                  <a:gd name="T28" fmla="*/ 37 w 49"/>
                  <a:gd name="T29" fmla="*/ 37 h 50"/>
                  <a:gd name="T30" fmla="*/ 24 w 49"/>
                  <a:gd name="T31" fmla="*/ 42 h 50"/>
                  <a:gd name="T32" fmla="*/ 12 w 49"/>
                  <a:gd name="T33" fmla="*/ 37 h 50"/>
                  <a:gd name="T34" fmla="*/ 7 w 49"/>
                  <a:gd name="T35" fmla="*/ 2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" h="50">
                    <a:moveTo>
                      <a:pt x="24" y="50"/>
                    </a:moveTo>
                    <a:cubicBezTo>
                      <a:pt x="31" y="50"/>
                      <a:pt x="37" y="47"/>
                      <a:pt x="42" y="42"/>
                    </a:cubicBezTo>
                    <a:cubicBezTo>
                      <a:pt x="46" y="38"/>
                      <a:pt x="49" y="32"/>
                      <a:pt x="49" y="25"/>
                    </a:cubicBezTo>
                    <a:cubicBezTo>
                      <a:pt x="49" y="18"/>
                      <a:pt x="46" y="12"/>
                      <a:pt x="42" y="8"/>
                    </a:cubicBezTo>
                    <a:cubicBezTo>
                      <a:pt x="37" y="3"/>
                      <a:pt x="31" y="0"/>
                      <a:pt x="24" y="0"/>
                    </a:cubicBezTo>
                    <a:cubicBezTo>
                      <a:pt x="17" y="0"/>
                      <a:pt x="12" y="3"/>
                      <a:pt x="7" y="8"/>
                    </a:cubicBezTo>
                    <a:cubicBezTo>
                      <a:pt x="2" y="12"/>
                      <a:pt x="0" y="18"/>
                      <a:pt x="0" y="25"/>
                    </a:cubicBezTo>
                    <a:cubicBezTo>
                      <a:pt x="0" y="32"/>
                      <a:pt x="2" y="38"/>
                      <a:pt x="7" y="42"/>
                    </a:cubicBezTo>
                    <a:cubicBezTo>
                      <a:pt x="12" y="47"/>
                      <a:pt x="17" y="50"/>
                      <a:pt x="24" y="50"/>
                    </a:cubicBezTo>
                    <a:close/>
                    <a:moveTo>
                      <a:pt x="7" y="25"/>
                    </a:moveTo>
                    <a:cubicBezTo>
                      <a:pt x="7" y="20"/>
                      <a:pt x="9" y="16"/>
                      <a:pt x="12" y="13"/>
                    </a:cubicBezTo>
                    <a:cubicBezTo>
                      <a:pt x="15" y="9"/>
                      <a:pt x="19" y="8"/>
                      <a:pt x="24" y="8"/>
                    </a:cubicBezTo>
                    <a:cubicBezTo>
                      <a:pt x="29" y="8"/>
                      <a:pt x="33" y="9"/>
                      <a:pt x="37" y="13"/>
                    </a:cubicBezTo>
                    <a:cubicBezTo>
                      <a:pt x="40" y="16"/>
                      <a:pt x="42" y="20"/>
                      <a:pt x="42" y="25"/>
                    </a:cubicBezTo>
                    <a:cubicBezTo>
                      <a:pt x="42" y="30"/>
                      <a:pt x="40" y="34"/>
                      <a:pt x="37" y="37"/>
                    </a:cubicBezTo>
                    <a:cubicBezTo>
                      <a:pt x="33" y="41"/>
                      <a:pt x="29" y="42"/>
                      <a:pt x="24" y="42"/>
                    </a:cubicBezTo>
                    <a:cubicBezTo>
                      <a:pt x="19" y="42"/>
                      <a:pt x="15" y="41"/>
                      <a:pt x="12" y="37"/>
                    </a:cubicBezTo>
                    <a:cubicBezTo>
                      <a:pt x="9" y="34"/>
                      <a:pt x="7" y="30"/>
                      <a:pt x="7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 dirty="0"/>
              </a:p>
            </p:txBody>
          </p:sp>
          <p:sp>
            <p:nvSpPr>
              <p:cNvPr id="1081" name="Freeform 53">
                <a:extLst>
                  <a:ext uri="{FF2B5EF4-FFF2-40B4-BE49-F238E27FC236}">
                    <a16:creationId xmlns:a16="http://schemas.microsoft.com/office/drawing/2014/main" id="{76C95B67-EA04-820D-B8BB-3D7106CFCE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67725" y="4938713"/>
                <a:ext cx="381000" cy="381000"/>
              </a:xfrm>
              <a:custGeom>
                <a:avLst/>
                <a:gdLst>
                  <a:gd name="T0" fmla="*/ 109 w 120"/>
                  <a:gd name="T1" fmla="*/ 91 h 120"/>
                  <a:gd name="T2" fmla="*/ 103 w 120"/>
                  <a:gd name="T3" fmla="*/ 75 h 120"/>
                  <a:gd name="T4" fmla="*/ 119 w 120"/>
                  <a:gd name="T5" fmla="*/ 71 h 120"/>
                  <a:gd name="T6" fmla="*/ 120 w 120"/>
                  <a:gd name="T7" fmla="*/ 52 h 120"/>
                  <a:gd name="T8" fmla="*/ 117 w 120"/>
                  <a:gd name="T9" fmla="*/ 48 h 120"/>
                  <a:gd name="T10" fmla="*/ 101 w 120"/>
                  <a:gd name="T11" fmla="*/ 39 h 120"/>
                  <a:gd name="T12" fmla="*/ 109 w 120"/>
                  <a:gd name="T13" fmla="*/ 29 h 120"/>
                  <a:gd name="T14" fmla="*/ 96 w 120"/>
                  <a:gd name="T15" fmla="*/ 11 h 120"/>
                  <a:gd name="T16" fmla="*/ 80 w 120"/>
                  <a:gd name="T17" fmla="*/ 19 h 120"/>
                  <a:gd name="T18" fmla="*/ 72 w 120"/>
                  <a:gd name="T19" fmla="*/ 3 h 120"/>
                  <a:gd name="T20" fmla="*/ 69 w 120"/>
                  <a:gd name="T21" fmla="*/ 0 h 120"/>
                  <a:gd name="T22" fmla="*/ 48 w 120"/>
                  <a:gd name="T23" fmla="*/ 3 h 120"/>
                  <a:gd name="T24" fmla="*/ 40 w 120"/>
                  <a:gd name="T25" fmla="*/ 19 h 120"/>
                  <a:gd name="T26" fmla="*/ 27 w 120"/>
                  <a:gd name="T27" fmla="*/ 10 h 120"/>
                  <a:gd name="T28" fmla="*/ 12 w 120"/>
                  <a:gd name="T29" fmla="*/ 24 h 120"/>
                  <a:gd name="T30" fmla="*/ 11 w 120"/>
                  <a:gd name="T31" fmla="*/ 29 h 120"/>
                  <a:gd name="T32" fmla="*/ 17 w 120"/>
                  <a:gd name="T33" fmla="*/ 46 h 120"/>
                  <a:gd name="T34" fmla="*/ 1 w 120"/>
                  <a:gd name="T35" fmla="*/ 49 h 120"/>
                  <a:gd name="T36" fmla="*/ 0 w 120"/>
                  <a:gd name="T37" fmla="*/ 68 h 120"/>
                  <a:gd name="T38" fmla="*/ 3 w 120"/>
                  <a:gd name="T39" fmla="*/ 72 h 120"/>
                  <a:gd name="T40" fmla="*/ 19 w 120"/>
                  <a:gd name="T41" fmla="*/ 81 h 120"/>
                  <a:gd name="T42" fmla="*/ 12 w 120"/>
                  <a:gd name="T43" fmla="*/ 91 h 120"/>
                  <a:gd name="T44" fmla="*/ 25 w 120"/>
                  <a:gd name="T45" fmla="*/ 109 h 120"/>
                  <a:gd name="T46" fmla="*/ 40 w 120"/>
                  <a:gd name="T47" fmla="*/ 101 h 120"/>
                  <a:gd name="T48" fmla="*/ 48 w 120"/>
                  <a:gd name="T49" fmla="*/ 117 h 120"/>
                  <a:gd name="T50" fmla="*/ 52 w 120"/>
                  <a:gd name="T51" fmla="*/ 120 h 120"/>
                  <a:gd name="T52" fmla="*/ 72 w 120"/>
                  <a:gd name="T53" fmla="*/ 117 h 120"/>
                  <a:gd name="T54" fmla="*/ 81 w 120"/>
                  <a:gd name="T55" fmla="*/ 101 h 120"/>
                  <a:gd name="T56" fmla="*/ 93 w 120"/>
                  <a:gd name="T57" fmla="*/ 110 h 120"/>
                  <a:gd name="T58" fmla="*/ 109 w 120"/>
                  <a:gd name="T59" fmla="*/ 96 h 120"/>
                  <a:gd name="T60" fmla="*/ 26 w 120"/>
                  <a:gd name="T61" fmla="*/ 85 h 120"/>
                  <a:gd name="T62" fmla="*/ 23 w 120"/>
                  <a:gd name="T63" fmla="*/ 71 h 120"/>
                  <a:gd name="T64" fmla="*/ 7 w 120"/>
                  <a:gd name="T65" fmla="*/ 66 h 120"/>
                  <a:gd name="T66" fmla="*/ 19 w 120"/>
                  <a:gd name="T67" fmla="*/ 53 h 120"/>
                  <a:gd name="T68" fmla="*/ 26 w 120"/>
                  <a:gd name="T69" fmla="*/ 42 h 120"/>
                  <a:gd name="T70" fmla="*/ 19 w 120"/>
                  <a:gd name="T71" fmla="*/ 27 h 120"/>
                  <a:gd name="T72" fmla="*/ 27 w 120"/>
                  <a:gd name="T73" fmla="*/ 18 h 120"/>
                  <a:gd name="T74" fmla="*/ 43 w 120"/>
                  <a:gd name="T75" fmla="*/ 26 h 120"/>
                  <a:gd name="T76" fmla="*/ 53 w 120"/>
                  <a:gd name="T77" fmla="*/ 18 h 120"/>
                  <a:gd name="T78" fmla="*/ 66 w 120"/>
                  <a:gd name="T79" fmla="*/ 7 h 120"/>
                  <a:gd name="T80" fmla="*/ 72 w 120"/>
                  <a:gd name="T81" fmla="*/ 23 h 120"/>
                  <a:gd name="T82" fmla="*/ 84 w 120"/>
                  <a:gd name="T83" fmla="*/ 25 h 120"/>
                  <a:gd name="T84" fmla="*/ 101 w 120"/>
                  <a:gd name="T85" fmla="*/ 27 h 120"/>
                  <a:gd name="T86" fmla="*/ 95 w 120"/>
                  <a:gd name="T87" fmla="*/ 36 h 120"/>
                  <a:gd name="T88" fmla="*/ 97 w 120"/>
                  <a:gd name="T89" fmla="*/ 49 h 120"/>
                  <a:gd name="T90" fmla="*/ 113 w 120"/>
                  <a:gd name="T91" fmla="*/ 55 h 120"/>
                  <a:gd name="T92" fmla="*/ 102 w 120"/>
                  <a:gd name="T93" fmla="*/ 68 h 120"/>
                  <a:gd name="T94" fmla="*/ 94 w 120"/>
                  <a:gd name="T95" fmla="*/ 78 h 120"/>
                  <a:gd name="T96" fmla="*/ 101 w 120"/>
                  <a:gd name="T97" fmla="*/ 93 h 120"/>
                  <a:gd name="T98" fmla="*/ 93 w 120"/>
                  <a:gd name="T99" fmla="*/ 102 h 120"/>
                  <a:gd name="T100" fmla="*/ 78 w 120"/>
                  <a:gd name="T101" fmla="*/ 94 h 120"/>
                  <a:gd name="T102" fmla="*/ 67 w 120"/>
                  <a:gd name="T103" fmla="*/ 102 h 120"/>
                  <a:gd name="T104" fmla="*/ 54 w 120"/>
                  <a:gd name="T105" fmla="*/ 113 h 120"/>
                  <a:gd name="T106" fmla="*/ 48 w 120"/>
                  <a:gd name="T107" fmla="*/ 97 h 120"/>
                  <a:gd name="T108" fmla="*/ 36 w 120"/>
                  <a:gd name="T109" fmla="*/ 95 h 120"/>
                  <a:gd name="T110" fmla="*/ 19 w 120"/>
                  <a:gd name="T111" fmla="*/ 93 h 120"/>
                  <a:gd name="T112" fmla="*/ 26 w 120"/>
                  <a:gd name="T113" fmla="*/ 85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20" h="120">
                    <a:moveTo>
                      <a:pt x="110" y="93"/>
                    </a:moveTo>
                    <a:cubicBezTo>
                      <a:pt x="110" y="92"/>
                      <a:pt x="109" y="92"/>
                      <a:pt x="109" y="91"/>
                    </a:cubicBezTo>
                    <a:cubicBezTo>
                      <a:pt x="106" y="87"/>
                      <a:pt x="103" y="84"/>
                      <a:pt x="101" y="81"/>
                    </a:cubicBezTo>
                    <a:cubicBezTo>
                      <a:pt x="102" y="78"/>
                      <a:pt x="103" y="76"/>
                      <a:pt x="103" y="75"/>
                    </a:cubicBezTo>
                    <a:cubicBezTo>
                      <a:pt x="117" y="73"/>
                      <a:pt x="117" y="73"/>
                      <a:pt x="117" y="73"/>
                    </a:cubicBezTo>
                    <a:cubicBezTo>
                      <a:pt x="118" y="72"/>
                      <a:pt x="119" y="72"/>
                      <a:pt x="119" y="71"/>
                    </a:cubicBezTo>
                    <a:cubicBezTo>
                      <a:pt x="120" y="70"/>
                      <a:pt x="120" y="70"/>
                      <a:pt x="120" y="69"/>
                    </a:cubicBezTo>
                    <a:cubicBezTo>
                      <a:pt x="120" y="52"/>
                      <a:pt x="120" y="52"/>
                      <a:pt x="120" y="52"/>
                    </a:cubicBezTo>
                    <a:cubicBezTo>
                      <a:pt x="120" y="51"/>
                      <a:pt x="120" y="50"/>
                      <a:pt x="119" y="49"/>
                    </a:cubicBezTo>
                    <a:cubicBezTo>
                      <a:pt x="119" y="49"/>
                      <a:pt x="118" y="48"/>
                      <a:pt x="117" y="48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3" y="44"/>
                      <a:pt x="102" y="42"/>
                      <a:pt x="101" y="39"/>
                    </a:cubicBezTo>
                    <a:cubicBezTo>
                      <a:pt x="102" y="38"/>
                      <a:pt x="103" y="36"/>
                      <a:pt x="105" y="34"/>
                    </a:cubicBezTo>
                    <a:cubicBezTo>
                      <a:pt x="107" y="32"/>
                      <a:pt x="108" y="30"/>
                      <a:pt x="109" y="29"/>
                    </a:cubicBezTo>
                    <a:cubicBezTo>
                      <a:pt x="109" y="28"/>
                      <a:pt x="109" y="28"/>
                      <a:pt x="109" y="27"/>
                    </a:cubicBezTo>
                    <a:cubicBezTo>
                      <a:pt x="109" y="25"/>
                      <a:pt x="108" y="23"/>
                      <a:pt x="96" y="11"/>
                    </a:cubicBezTo>
                    <a:cubicBezTo>
                      <a:pt x="94" y="10"/>
                      <a:pt x="92" y="10"/>
                      <a:pt x="91" y="11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78" y="18"/>
                      <a:pt x="76" y="17"/>
                      <a:pt x="74" y="17"/>
                    </a:cubicBezTo>
                    <a:cubicBezTo>
                      <a:pt x="72" y="3"/>
                      <a:pt x="72" y="3"/>
                      <a:pt x="72" y="3"/>
                    </a:cubicBezTo>
                    <a:cubicBezTo>
                      <a:pt x="72" y="2"/>
                      <a:pt x="72" y="2"/>
                      <a:pt x="71" y="1"/>
                    </a:cubicBezTo>
                    <a:cubicBezTo>
                      <a:pt x="70" y="0"/>
                      <a:pt x="70" y="0"/>
                      <a:pt x="69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0" y="0"/>
                      <a:pt x="48" y="1"/>
                      <a:pt x="48" y="3"/>
                    </a:cubicBezTo>
                    <a:cubicBezTo>
                      <a:pt x="47" y="6"/>
                      <a:pt x="46" y="10"/>
                      <a:pt x="46" y="17"/>
                    </a:cubicBezTo>
                    <a:cubicBezTo>
                      <a:pt x="44" y="17"/>
                      <a:pt x="42" y="18"/>
                      <a:pt x="40" y="19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9" y="11"/>
                      <a:pt x="28" y="10"/>
                      <a:pt x="27" y="10"/>
                    </a:cubicBezTo>
                    <a:cubicBezTo>
                      <a:pt x="26" y="10"/>
                      <a:pt x="24" y="11"/>
                      <a:pt x="19" y="16"/>
                    </a:cubicBezTo>
                    <a:cubicBezTo>
                      <a:pt x="15" y="20"/>
                      <a:pt x="13" y="23"/>
                      <a:pt x="12" y="24"/>
                    </a:cubicBezTo>
                    <a:cubicBezTo>
                      <a:pt x="11" y="25"/>
                      <a:pt x="11" y="26"/>
                      <a:pt x="11" y="27"/>
                    </a:cubicBezTo>
                    <a:cubicBezTo>
                      <a:pt x="11" y="28"/>
                      <a:pt x="11" y="28"/>
                      <a:pt x="11" y="29"/>
                    </a:cubicBezTo>
                    <a:cubicBezTo>
                      <a:pt x="15" y="33"/>
                      <a:pt x="17" y="37"/>
                      <a:pt x="19" y="39"/>
                    </a:cubicBezTo>
                    <a:cubicBezTo>
                      <a:pt x="18" y="42"/>
                      <a:pt x="17" y="44"/>
                      <a:pt x="17" y="46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2" y="48"/>
                      <a:pt x="2" y="48"/>
                      <a:pt x="1" y="49"/>
                    </a:cubicBezTo>
                    <a:cubicBezTo>
                      <a:pt x="1" y="50"/>
                      <a:pt x="0" y="51"/>
                      <a:pt x="0" y="51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69"/>
                      <a:pt x="1" y="70"/>
                      <a:pt x="1" y="71"/>
                    </a:cubicBezTo>
                    <a:cubicBezTo>
                      <a:pt x="2" y="72"/>
                      <a:pt x="2" y="72"/>
                      <a:pt x="3" y="72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6"/>
                      <a:pt x="18" y="79"/>
                      <a:pt x="19" y="81"/>
                    </a:cubicBezTo>
                    <a:cubicBezTo>
                      <a:pt x="19" y="82"/>
                      <a:pt x="17" y="84"/>
                      <a:pt x="16" y="86"/>
                    </a:cubicBezTo>
                    <a:cubicBezTo>
                      <a:pt x="14" y="88"/>
                      <a:pt x="12" y="90"/>
                      <a:pt x="12" y="91"/>
                    </a:cubicBezTo>
                    <a:cubicBezTo>
                      <a:pt x="11" y="92"/>
                      <a:pt x="11" y="92"/>
                      <a:pt x="11" y="93"/>
                    </a:cubicBezTo>
                    <a:cubicBezTo>
                      <a:pt x="11" y="95"/>
                      <a:pt x="13" y="98"/>
                      <a:pt x="25" y="109"/>
                    </a:cubicBezTo>
                    <a:cubicBezTo>
                      <a:pt x="26" y="110"/>
                      <a:pt x="29" y="110"/>
                      <a:pt x="30" y="109"/>
                    </a:cubicBezTo>
                    <a:cubicBezTo>
                      <a:pt x="40" y="101"/>
                      <a:pt x="40" y="101"/>
                      <a:pt x="40" y="101"/>
                    </a:cubicBezTo>
                    <a:cubicBezTo>
                      <a:pt x="42" y="102"/>
                      <a:pt x="44" y="103"/>
                      <a:pt x="46" y="103"/>
                    </a:cubicBezTo>
                    <a:cubicBezTo>
                      <a:pt x="48" y="117"/>
                      <a:pt x="48" y="117"/>
                      <a:pt x="48" y="117"/>
                    </a:cubicBezTo>
                    <a:cubicBezTo>
                      <a:pt x="48" y="118"/>
                      <a:pt x="48" y="119"/>
                      <a:pt x="49" y="119"/>
                    </a:cubicBezTo>
                    <a:cubicBezTo>
                      <a:pt x="50" y="120"/>
                      <a:pt x="51" y="120"/>
                      <a:pt x="52" y="120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71" y="120"/>
                      <a:pt x="72" y="119"/>
                      <a:pt x="72" y="117"/>
                    </a:cubicBezTo>
                    <a:cubicBezTo>
                      <a:pt x="73" y="114"/>
                      <a:pt x="74" y="110"/>
                      <a:pt x="75" y="103"/>
                    </a:cubicBezTo>
                    <a:cubicBezTo>
                      <a:pt x="77" y="103"/>
                      <a:pt x="79" y="102"/>
                      <a:pt x="81" y="101"/>
                    </a:cubicBezTo>
                    <a:cubicBezTo>
                      <a:pt x="91" y="109"/>
                      <a:pt x="91" y="109"/>
                      <a:pt x="91" y="109"/>
                    </a:cubicBezTo>
                    <a:cubicBezTo>
                      <a:pt x="91" y="109"/>
                      <a:pt x="92" y="110"/>
                      <a:pt x="93" y="110"/>
                    </a:cubicBezTo>
                    <a:cubicBezTo>
                      <a:pt x="94" y="110"/>
                      <a:pt x="96" y="109"/>
                      <a:pt x="101" y="104"/>
                    </a:cubicBezTo>
                    <a:cubicBezTo>
                      <a:pt x="105" y="100"/>
                      <a:pt x="107" y="97"/>
                      <a:pt x="109" y="96"/>
                    </a:cubicBezTo>
                    <a:cubicBezTo>
                      <a:pt x="109" y="95"/>
                      <a:pt x="110" y="94"/>
                      <a:pt x="110" y="93"/>
                    </a:cubicBezTo>
                    <a:close/>
                    <a:moveTo>
                      <a:pt x="26" y="85"/>
                    </a:moveTo>
                    <a:cubicBezTo>
                      <a:pt x="27" y="83"/>
                      <a:pt x="27" y="80"/>
                      <a:pt x="26" y="78"/>
                    </a:cubicBezTo>
                    <a:cubicBezTo>
                      <a:pt x="25" y="76"/>
                      <a:pt x="24" y="74"/>
                      <a:pt x="23" y="71"/>
                    </a:cubicBezTo>
                    <a:cubicBezTo>
                      <a:pt x="23" y="69"/>
                      <a:pt x="21" y="68"/>
                      <a:pt x="18" y="67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21" y="52"/>
                      <a:pt x="23" y="50"/>
                      <a:pt x="24" y="48"/>
                    </a:cubicBezTo>
                    <a:cubicBezTo>
                      <a:pt x="24" y="46"/>
                      <a:pt x="25" y="44"/>
                      <a:pt x="26" y="42"/>
                    </a:cubicBezTo>
                    <a:cubicBezTo>
                      <a:pt x="27" y="40"/>
                      <a:pt x="27" y="38"/>
                      <a:pt x="26" y="36"/>
                    </a:cubicBezTo>
                    <a:cubicBezTo>
                      <a:pt x="24" y="33"/>
                      <a:pt x="22" y="30"/>
                      <a:pt x="19" y="27"/>
                    </a:cubicBezTo>
                    <a:cubicBezTo>
                      <a:pt x="20" y="25"/>
                      <a:pt x="22" y="24"/>
                      <a:pt x="24" y="21"/>
                    </a:cubicBezTo>
                    <a:cubicBezTo>
                      <a:pt x="25" y="20"/>
                      <a:pt x="26" y="19"/>
                      <a:pt x="27" y="18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8" y="27"/>
                      <a:pt x="40" y="27"/>
                      <a:pt x="43" y="26"/>
                    </a:cubicBezTo>
                    <a:cubicBezTo>
                      <a:pt x="44" y="25"/>
                      <a:pt x="46" y="24"/>
                      <a:pt x="49" y="23"/>
                    </a:cubicBezTo>
                    <a:cubicBezTo>
                      <a:pt x="51" y="23"/>
                      <a:pt x="53" y="20"/>
                      <a:pt x="53" y="18"/>
                    </a:cubicBezTo>
                    <a:cubicBezTo>
                      <a:pt x="53" y="14"/>
                      <a:pt x="54" y="10"/>
                      <a:pt x="54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8" y="21"/>
                      <a:pt x="70" y="23"/>
                      <a:pt x="72" y="23"/>
                    </a:cubicBezTo>
                    <a:cubicBezTo>
                      <a:pt x="74" y="24"/>
                      <a:pt x="76" y="25"/>
                      <a:pt x="78" y="26"/>
                    </a:cubicBezTo>
                    <a:cubicBezTo>
                      <a:pt x="80" y="27"/>
                      <a:pt x="82" y="27"/>
                      <a:pt x="84" y="25"/>
                    </a:cubicBezTo>
                    <a:cubicBezTo>
                      <a:pt x="93" y="19"/>
                      <a:pt x="93" y="19"/>
                      <a:pt x="93" y="19"/>
                    </a:cubicBezTo>
                    <a:cubicBezTo>
                      <a:pt x="98" y="23"/>
                      <a:pt x="100" y="25"/>
                      <a:pt x="101" y="27"/>
                    </a:cubicBezTo>
                    <a:cubicBezTo>
                      <a:pt x="101" y="28"/>
                      <a:pt x="100" y="29"/>
                      <a:pt x="99" y="30"/>
                    </a:cubicBezTo>
                    <a:cubicBezTo>
                      <a:pt x="97" y="32"/>
                      <a:pt x="96" y="34"/>
                      <a:pt x="95" y="36"/>
                    </a:cubicBezTo>
                    <a:cubicBezTo>
                      <a:pt x="93" y="38"/>
                      <a:pt x="93" y="40"/>
                      <a:pt x="94" y="42"/>
                    </a:cubicBezTo>
                    <a:cubicBezTo>
                      <a:pt x="95" y="45"/>
                      <a:pt x="96" y="47"/>
                      <a:pt x="97" y="49"/>
                    </a:cubicBezTo>
                    <a:cubicBezTo>
                      <a:pt x="98" y="51"/>
                      <a:pt x="100" y="53"/>
                      <a:pt x="102" y="53"/>
                    </a:cubicBezTo>
                    <a:cubicBezTo>
                      <a:pt x="113" y="55"/>
                      <a:pt x="113" y="55"/>
                      <a:pt x="113" y="55"/>
                    </a:cubicBezTo>
                    <a:cubicBezTo>
                      <a:pt x="113" y="66"/>
                      <a:pt x="113" y="66"/>
                      <a:pt x="113" y="66"/>
                    </a:cubicBezTo>
                    <a:cubicBezTo>
                      <a:pt x="102" y="68"/>
                      <a:pt x="102" y="68"/>
                      <a:pt x="102" y="68"/>
                    </a:cubicBezTo>
                    <a:cubicBezTo>
                      <a:pt x="99" y="68"/>
                      <a:pt x="97" y="70"/>
                      <a:pt x="97" y="72"/>
                    </a:cubicBezTo>
                    <a:cubicBezTo>
                      <a:pt x="96" y="74"/>
                      <a:pt x="95" y="76"/>
                      <a:pt x="94" y="78"/>
                    </a:cubicBezTo>
                    <a:cubicBezTo>
                      <a:pt x="93" y="80"/>
                      <a:pt x="93" y="82"/>
                      <a:pt x="95" y="84"/>
                    </a:cubicBezTo>
                    <a:cubicBezTo>
                      <a:pt x="97" y="87"/>
                      <a:pt x="99" y="90"/>
                      <a:pt x="101" y="93"/>
                    </a:cubicBezTo>
                    <a:cubicBezTo>
                      <a:pt x="100" y="95"/>
                      <a:pt x="98" y="97"/>
                      <a:pt x="96" y="99"/>
                    </a:cubicBezTo>
                    <a:cubicBezTo>
                      <a:pt x="95" y="100"/>
                      <a:pt x="94" y="101"/>
                      <a:pt x="93" y="102"/>
                    </a:cubicBezTo>
                    <a:cubicBezTo>
                      <a:pt x="85" y="95"/>
                      <a:pt x="85" y="95"/>
                      <a:pt x="85" y="95"/>
                    </a:cubicBezTo>
                    <a:cubicBezTo>
                      <a:pt x="83" y="93"/>
                      <a:pt x="80" y="93"/>
                      <a:pt x="78" y="94"/>
                    </a:cubicBezTo>
                    <a:cubicBezTo>
                      <a:pt x="76" y="95"/>
                      <a:pt x="74" y="96"/>
                      <a:pt x="72" y="97"/>
                    </a:cubicBezTo>
                    <a:cubicBezTo>
                      <a:pt x="69" y="97"/>
                      <a:pt x="68" y="99"/>
                      <a:pt x="67" y="102"/>
                    </a:cubicBezTo>
                    <a:cubicBezTo>
                      <a:pt x="67" y="107"/>
                      <a:pt x="66" y="110"/>
                      <a:pt x="66" y="113"/>
                    </a:cubicBezTo>
                    <a:cubicBezTo>
                      <a:pt x="54" y="113"/>
                      <a:pt x="54" y="113"/>
                      <a:pt x="54" y="113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2" y="99"/>
                      <a:pt x="51" y="97"/>
                      <a:pt x="48" y="97"/>
                    </a:cubicBezTo>
                    <a:cubicBezTo>
                      <a:pt x="47" y="96"/>
                      <a:pt x="45" y="95"/>
                      <a:pt x="43" y="94"/>
                    </a:cubicBezTo>
                    <a:cubicBezTo>
                      <a:pt x="41" y="93"/>
                      <a:pt x="38" y="94"/>
                      <a:pt x="36" y="95"/>
                    </a:cubicBezTo>
                    <a:cubicBezTo>
                      <a:pt x="27" y="102"/>
                      <a:pt x="27" y="102"/>
                      <a:pt x="27" y="102"/>
                    </a:cubicBezTo>
                    <a:cubicBezTo>
                      <a:pt x="23" y="97"/>
                      <a:pt x="20" y="95"/>
                      <a:pt x="19" y="93"/>
                    </a:cubicBezTo>
                    <a:cubicBezTo>
                      <a:pt x="20" y="92"/>
                      <a:pt x="20" y="91"/>
                      <a:pt x="21" y="90"/>
                    </a:cubicBezTo>
                    <a:cubicBezTo>
                      <a:pt x="23" y="88"/>
                      <a:pt x="25" y="86"/>
                      <a:pt x="26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 dirty="0"/>
              </a:p>
            </p:txBody>
          </p:sp>
          <p:sp>
            <p:nvSpPr>
              <p:cNvPr id="1082" name="Freeform 54">
                <a:extLst>
                  <a:ext uri="{FF2B5EF4-FFF2-40B4-BE49-F238E27FC236}">
                    <a16:creationId xmlns:a16="http://schemas.microsoft.com/office/drawing/2014/main" id="{0F834FC5-7AB7-3786-D71C-5B6E094C6A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5259388"/>
                <a:ext cx="82550" cy="79375"/>
              </a:xfrm>
              <a:custGeom>
                <a:avLst/>
                <a:gdLst>
                  <a:gd name="T0" fmla="*/ 13 w 26"/>
                  <a:gd name="T1" fmla="*/ 0 h 25"/>
                  <a:gd name="T2" fmla="*/ 4 w 26"/>
                  <a:gd name="T3" fmla="*/ 4 h 25"/>
                  <a:gd name="T4" fmla="*/ 0 w 26"/>
                  <a:gd name="T5" fmla="*/ 13 h 25"/>
                  <a:gd name="T6" fmla="*/ 4 w 26"/>
                  <a:gd name="T7" fmla="*/ 22 h 25"/>
                  <a:gd name="T8" fmla="*/ 13 w 26"/>
                  <a:gd name="T9" fmla="*/ 25 h 25"/>
                  <a:gd name="T10" fmla="*/ 22 w 26"/>
                  <a:gd name="T11" fmla="*/ 22 h 25"/>
                  <a:gd name="T12" fmla="*/ 26 w 26"/>
                  <a:gd name="T13" fmla="*/ 13 h 25"/>
                  <a:gd name="T14" fmla="*/ 22 w 26"/>
                  <a:gd name="T15" fmla="*/ 4 h 25"/>
                  <a:gd name="T16" fmla="*/ 13 w 26"/>
                  <a:gd name="T17" fmla="*/ 0 h 25"/>
                  <a:gd name="T18" fmla="*/ 18 w 26"/>
                  <a:gd name="T19" fmla="*/ 13 h 25"/>
                  <a:gd name="T20" fmla="*/ 17 w 26"/>
                  <a:gd name="T21" fmla="*/ 17 h 25"/>
                  <a:gd name="T22" fmla="*/ 13 w 26"/>
                  <a:gd name="T23" fmla="*/ 18 h 25"/>
                  <a:gd name="T24" fmla="*/ 9 w 26"/>
                  <a:gd name="T25" fmla="*/ 17 h 25"/>
                  <a:gd name="T26" fmla="*/ 7 w 26"/>
                  <a:gd name="T27" fmla="*/ 13 h 25"/>
                  <a:gd name="T28" fmla="*/ 9 w 26"/>
                  <a:gd name="T29" fmla="*/ 9 h 25"/>
                  <a:gd name="T30" fmla="*/ 13 w 26"/>
                  <a:gd name="T31" fmla="*/ 7 h 25"/>
                  <a:gd name="T32" fmla="*/ 17 w 26"/>
                  <a:gd name="T33" fmla="*/ 9 h 25"/>
                  <a:gd name="T34" fmla="*/ 18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13" y="0"/>
                    </a:move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lose/>
                    <a:moveTo>
                      <a:pt x="18" y="13"/>
                    </a:move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 dirty="0"/>
              </a:p>
            </p:txBody>
          </p:sp>
          <p:sp>
            <p:nvSpPr>
              <p:cNvPr id="1083" name="Freeform 55">
                <a:extLst>
                  <a:ext uri="{FF2B5EF4-FFF2-40B4-BE49-F238E27FC236}">
                    <a16:creationId xmlns:a16="http://schemas.microsoft.com/office/drawing/2014/main" id="{B35A9119-7F43-F89A-9970-3308EE7A12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5189538"/>
                <a:ext cx="228600" cy="220663"/>
              </a:xfrm>
              <a:custGeom>
                <a:avLst/>
                <a:gdLst>
                  <a:gd name="T0" fmla="*/ 43 w 72"/>
                  <a:gd name="T1" fmla="*/ 65 h 70"/>
                  <a:gd name="T2" fmla="*/ 60 w 72"/>
                  <a:gd name="T3" fmla="*/ 63 h 70"/>
                  <a:gd name="T4" fmla="*/ 56 w 72"/>
                  <a:gd name="T5" fmla="*/ 49 h 70"/>
                  <a:gd name="T6" fmla="*/ 72 w 72"/>
                  <a:gd name="T7" fmla="*/ 41 h 70"/>
                  <a:gd name="T8" fmla="*/ 58 w 72"/>
                  <a:gd name="T9" fmla="*/ 24 h 70"/>
                  <a:gd name="T10" fmla="*/ 60 w 72"/>
                  <a:gd name="T11" fmla="*/ 8 h 70"/>
                  <a:gd name="T12" fmla="*/ 48 w 72"/>
                  <a:gd name="T13" fmla="*/ 0 h 70"/>
                  <a:gd name="T14" fmla="*/ 46 w 72"/>
                  <a:gd name="T15" fmla="*/ 0 h 70"/>
                  <a:gd name="T16" fmla="*/ 34 w 72"/>
                  <a:gd name="T17" fmla="*/ 10 h 70"/>
                  <a:gd name="T18" fmla="*/ 24 w 72"/>
                  <a:gd name="T19" fmla="*/ 0 h 70"/>
                  <a:gd name="T20" fmla="*/ 15 w 72"/>
                  <a:gd name="T21" fmla="*/ 4 h 70"/>
                  <a:gd name="T22" fmla="*/ 11 w 72"/>
                  <a:gd name="T23" fmla="*/ 8 h 70"/>
                  <a:gd name="T24" fmla="*/ 14 w 72"/>
                  <a:gd name="T25" fmla="*/ 24 h 70"/>
                  <a:gd name="T26" fmla="*/ 0 w 72"/>
                  <a:gd name="T27" fmla="*/ 41 h 70"/>
                  <a:gd name="T28" fmla="*/ 16 w 72"/>
                  <a:gd name="T29" fmla="*/ 49 h 70"/>
                  <a:gd name="T30" fmla="*/ 12 w 72"/>
                  <a:gd name="T31" fmla="*/ 63 h 70"/>
                  <a:gd name="T32" fmla="*/ 29 w 72"/>
                  <a:gd name="T33" fmla="*/ 65 h 70"/>
                  <a:gd name="T34" fmla="*/ 38 w 72"/>
                  <a:gd name="T35" fmla="*/ 59 h 70"/>
                  <a:gd name="T36" fmla="*/ 52 w 72"/>
                  <a:gd name="T37" fmla="*/ 41 h 70"/>
                  <a:gd name="T38" fmla="*/ 49 w 72"/>
                  <a:gd name="T39" fmla="*/ 51 h 70"/>
                  <a:gd name="T40" fmla="*/ 49 w 72"/>
                  <a:gd name="T41" fmla="*/ 61 h 70"/>
                  <a:gd name="T42" fmla="*/ 44 w 72"/>
                  <a:gd name="T43" fmla="*/ 55 h 70"/>
                  <a:gd name="T44" fmla="*/ 34 w 72"/>
                  <a:gd name="T45" fmla="*/ 52 h 70"/>
                  <a:gd name="T46" fmla="*/ 23 w 72"/>
                  <a:gd name="T47" fmla="*/ 60 h 70"/>
                  <a:gd name="T48" fmla="*/ 19 w 72"/>
                  <a:gd name="T49" fmla="*/ 59 h 70"/>
                  <a:gd name="T50" fmla="*/ 22 w 72"/>
                  <a:gd name="T51" fmla="*/ 45 h 70"/>
                  <a:gd name="T52" fmla="*/ 15 w 72"/>
                  <a:gd name="T53" fmla="*/ 38 h 70"/>
                  <a:gd name="T54" fmla="*/ 7 w 72"/>
                  <a:gd name="T55" fmla="*/ 32 h 70"/>
                  <a:gd name="T56" fmla="*/ 20 w 72"/>
                  <a:gd name="T57" fmla="*/ 28 h 70"/>
                  <a:gd name="T58" fmla="*/ 23 w 72"/>
                  <a:gd name="T59" fmla="*/ 18 h 70"/>
                  <a:gd name="T60" fmla="*/ 23 w 72"/>
                  <a:gd name="T61" fmla="*/ 8 h 70"/>
                  <a:gd name="T62" fmla="*/ 28 w 72"/>
                  <a:gd name="T63" fmla="*/ 15 h 70"/>
                  <a:gd name="T64" fmla="*/ 36 w 72"/>
                  <a:gd name="T65" fmla="*/ 17 h 70"/>
                  <a:gd name="T66" fmla="*/ 44 w 72"/>
                  <a:gd name="T67" fmla="*/ 15 h 70"/>
                  <a:gd name="T68" fmla="*/ 52 w 72"/>
                  <a:gd name="T69" fmla="*/ 10 h 70"/>
                  <a:gd name="T70" fmla="*/ 50 w 72"/>
                  <a:gd name="T71" fmla="*/ 24 h 70"/>
                  <a:gd name="T72" fmla="*/ 57 w 72"/>
                  <a:gd name="T73" fmla="*/ 31 h 70"/>
                  <a:gd name="T74" fmla="*/ 65 w 72"/>
                  <a:gd name="T75" fmla="*/ 37 h 70"/>
                  <a:gd name="T76" fmla="*/ 52 w 72"/>
                  <a:gd name="T77" fmla="*/ 4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2" h="70">
                    <a:moveTo>
                      <a:pt x="42" y="64"/>
                    </a:moveTo>
                    <a:cubicBezTo>
                      <a:pt x="42" y="65"/>
                      <a:pt x="42" y="65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2"/>
                      <a:pt x="60" y="62"/>
                      <a:pt x="60" y="61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3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ubicBezTo>
                      <a:pt x="57" y="23"/>
                      <a:pt x="57" y="21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5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3"/>
                      <a:pt x="14" y="45"/>
                    </a:cubicBezTo>
                    <a:cubicBezTo>
                      <a:pt x="14" y="46"/>
                      <a:pt x="15" y="47"/>
                      <a:pt x="16" y="49"/>
                    </a:cubicBezTo>
                    <a:cubicBezTo>
                      <a:pt x="12" y="58"/>
                      <a:pt x="11" y="60"/>
                      <a:pt x="11" y="61"/>
                    </a:cubicBezTo>
                    <a:cubicBezTo>
                      <a:pt x="11" y="62"/>
                      <a:pt x="11" y="62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2"/>
                      <a:pt x="33" y="60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0"/>
                      <a:pt x="40" y="62"/>
                      <a:pt x="42" y="64"/>
                    </a:cubicBezTo>
                    <a:moveTo>
                      <a:pt x="52" y="41"/>
                    </a:move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0"/>
                      <a:pt x="49" y="6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6" y="57"/>
                      <a:pt x="44" y="55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6" y="52"/>
                      <a:pt x="36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5"/>
                      <a:pt x="26" y="57"/>
                      <a:pt x="23" y="60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0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1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7"/>
                      <a:pt x="9" y="37"/>
                      <a:pt x="7" y="37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9" y="32"/>
                      <a:pt x="11" y="32"/>
                      <a:pt x="15" y="31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6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ubicBezTo>
                      <a:pt x="23" y="8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6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9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1"/>
                    </a:cubicBezTo>
                    <a:cubicBezTo>
                      <a:pt x="60" y="32"/>
                      <a:pt x="63" y="32"/>
                      <a:pt x="65" y="32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7"/>
                      <a:pt x="57" y="38"/>
                    </a:cubicBezTo>
                    <a:cubicBezTo>
                      <a:pt x="55" y="38"/>
                      <a:pt x="53" y="39"/>
                      <a:pt x="5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 dirty="0"/>
              </a:p>
            </p:txBody>
          </p:sp>
          <p:sp>
            <p:nvSpPr>
              <p:cNvPr id="1084" name="Freeform 56">
                <a:extLst>
                  <a:ext uri="{FF2B5EF4-FFF2-40B4-BE49-F238E27FC236}">
                    <a16:creationId xmlns:a16="http://schemas.microsoft.com/office/drawing/2014/main" id="{C21C1B92-8FDD-E4C1-0EBB-4A3884445F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4913313"/>
                <a:ext cx="82550" cy="79375"/>
              </a:xfrm>
              <a:custGeom>
                <a:avLst/>
                <a:gdLst>
                  <a:gd name="T0" fmla="*/ 4 w 26"/>
                  <a:gd name="T1" fmla="*/ 22 h 25"/>
                  <a:gd name="T2" fmla="*/ 13 w 26"/>
                  <a:gd name="T3" fmla="*/ 25 h 25"/>
                  <a:gd name="T4" fmla="*/ 22 w 26"/>
                  <a:gd name="T5" fmla="*/ 22 h 25"/>
                  <a:gd name="T6" fmla="*/ 26 w 26"/>
                  <a:gd name="T7" fmla="*/ 13 h 25"/>
                  <a:gd name="T8" fmla="*/ 22 w 26"/>
                  <a:gd name="T9" fmla="*/ 4 h 25"/>
                  <a:gd name="T10" fmla="*/ 13 w 26"/>
                  <a:gd name="T11" fmla="*/ 0 h 25"/>
                  <a:gd name="T12" fmla="*/ 4 w 26"/>
                  <a:gd name="T13" fmla="*/ 4 h 25"/>
                  <a:gd name="T14" fmla="*/ 0 w 26"/>
                  <a:gd name="T15" fmla="*/ 13 h 25"/>
                  <a:gd name="T16" fmla="*/ 4 w 26"/>
                  <a:gd name="T17" fmla="*/ 22 h 25"/>
                  <a:gd name="T18" fmla="*/ 7 w 26"/>
                  <a:gd name="T19" fmla="*/ 13 h 25"/>
                  <a:gd name="T20" fmla="*/ 9 w 26"/>
                  <a:gd name="T21" fmla="*/ 9 h 25"/>
                  <a:gd name="T22" fmla="*/ 13 w 26"/>
                  <a:gd name="T23" fmla="*/ 7 h 25"/>
                  <a:gd name="T24" fmla="*/ 17 w 26"/>
                  <a:gd name="T25" fmla="*/ 9 h 25"/>
                  <a:gd name="T26" fmla="*/ 18 w 26"/>
                  <a:gd name="T27" fmla="*/ 13 h 25"/>
                  <a:gd name="T28" fmla="*/ 17 w 26"/>
                  <a:gd name="T29" fmla="*/ 17 h 25"/>
                  <a:gd name="T30" fmla="*/ 13 w 26"/>
                  <a:gd name="T31" fmla="*/ 18 h 25"/>
                  <a:gd name="T32" fmla="*/ 9 w 26"/>
                  <a:gd name="T33" fmla="*/ 17 h 25"/>
                  <a:gd name="T34" fmla="*/ 7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4" y="22"/>
                    </a:move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lose/>
                    <a:moveTo>
                      <a:pt x="7" y="13"/>
                    </a:move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 dirty="0"/>
              </a:p>
            </p:txBody>
          </p:sp>
          <p:sp>
            <p:nvSpPr>
              <p:cNvPr id="1085" name="Freeform 57">
                <a:extLst>
                  <a:ext uri="{FF2B5EF4-FFF2-40B4-BE49-F238E27FC236}">
                    <a16:creationId xmlns:a16="http://schemas.microsoft.com/office/drawing/2014/main" id="{CA907993-3029-0E49-CD62-D44AE0DCE4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4843463"/>
                <a:ext cx="228600" cy="222250"/>
              </a:xfrm>
              <a:custGeom>
                <a:avLst/>
                <a:gdLst>
                  <a:gd name="T0" fmla="*/ 56 w 72"/>
                  <a:gd name="T1" fmla="*/ 20 h 70"/>
                  <a:gd name="T2" fmla="*/ 60 w 72"/>
                  <a:gd name="T3" fmla="*/ 6 h 70"/>
                  <a:gd name="T4" fmla="*/ 47 w 72"/>
                  <a:gd name="T5" fmla="*/ 0 h 70"/>
                  <a:gd name="T6" fmla="*/ 38 w 72"/>
                  <a:gd name="T7" fmla="*/ 10 h 70"/>
                  <a:gd name="T8" fmla="*/ 29 w 72"/>
                  <a:gd name="T9" fmla="*/ 4 h 70"/>
                  <a:gd name="T10" fmla="*/ 21 w 72"/>
                  <a:gd name="T11" fmla="*/ 1 h 70"/>
                  <a:gd name="T12" fmla="*/ 12 w 72"/>
                  <a:gd name="T13" fmla="*/ 6 h 70"/>
                  <a:gd name="T14" fmla="*/ 16 w 72"/>
                  <a:gd name="T15" fmla="*/ 20 h 70"/>
                  <a:gd name="T16" fmla="*/ 0 w 72"/>
                  <a:gd name="T17" fmla="*/ 28 h 70"/>
                  <a:gd name="T18" fmla="*/ 14 w 72"/>
                  <a:gd name="T19" fmla="*/ 45 h 70"/>
                  <a:gd name="T20" fmla="*/ 11 w 72"/>
                  <a:gd name="T21" fmla="*/ 62 h 70"/>
                  <a:gd name="T22" fmla="*/ 24 w 72"/>
                  <a:gd name="T23" fmla="*/ 70 h 70"/>
                  <a:gd name="T24" fmla="*/ 34 w 72"/>
                  <a:gd name="T25" fmla="*/ 59 h 70"/>
                  <a:gd name="T26" fmla="*/ 43 w 72"/>
                  <a:gd name="T27" fmla="*/ 65 h 70"/>
                  <a:gd name="T28" fmla="*/ 60 w 72"/>
                  <a:gd name="T29" fmla="*/ 63 h 70"/>
                  <a:gd name="T30" fmla="*/ 56 w 72"/>
                  <a:gd name="T31" fmla="*/ 49 h 70"/>
                  <a:gd name="T32" fmla="*/ 72 w 72"/>
                  <a:gd name="T33" fmla="*/ 41 h 70"/>
                  <a:gd name="T34" fmla="*/ 58 w 72"/>
                  <a:gd name="T35" fmla="*/ 24 h 70"/>
                  <a:gd name="T36" fmla="*/ 24 w 72"/>
                  <a:gd name="T37" fmla="*/ 9 h 70"/>
                  <a:gd name="T38" fmla="*/ 34 w 72"/>
                  <a:gd name="T39" fmla="*/ 17 h 70"/>
                  <a:gd name="T40" fmla="*/ 38 w 72"/>
                  <a:gd name="T41" fmla="*/ 17 h 70"/>
                  <a:gd name="T42" fmla="*/ 49 w 72"/>
                  <a:gd name="T43" fmla="*/ 8 h 70"/>
                  <a:gd name="T44" fmla="*/ 49 w 72"/>
                  <a:gd name="T45" fmla="*/ 18 h 70"/>
                  <a:gd name="T46" fmla="*/ 52 w 72"/>
                  <a:gd name="T47" fmla="*/ 28 h 70"/>
                  <a:gd name="T48" fmla="*/ 65 w 72"/>
                  <a:gd name="T49" fmla="*/ 33 h 70"/>
                  <a:gd name="T50" fmla="*/ 57 w 72"/>
                  <a:gd name="T51" fmla="*/ 38 h 70"/>
                  <a:gd name="T52" fmla="*/ 50 w 72"/>
                  <a:gd name="T53" fmla="*/ 45 h 70"/>
                  <a:gd name="T54" fmla="*/ 52 w 72"/>
                  <a:gd name="T55" fmla="*/ 59 h 70"/>
                  <a:gd name="T56" fmla="*/ 48 w 72"/>
                  <a:gd name="T57" fmla="*/ 61 h 70"/>
                  <a:gd name="T58" fmla="*/ 38 w 72"/>
                  <a:gd name="T59" fmla="*/ 52 h 70"/>
                  <a:gd name="T60" fmla="*/ 34 w 72"/>
                  <a:gd name="T61" fmla="*/ 52 h 70"/>
                  <a:gd name="T62" fmla="*/ 23 w 72"/>
                  <a:gd name="T63" fmla="*/ 61 h 70"/>
                  <a:gd name="T64" fmla="*/ 19 w 72"/>
                  <a:gd name="T65" fmla="*/ 59 h 70"/>
                  <a:gd name="T66" fmla="*/ 22 w 72"/>
                  <a:gd name="T67" fmla="*/ 45 h 70"/>
                  <a:gd name="T68" fmla="*/ 15 w 72"/>
                  <a:gd name="T69" fmla="*/ 38 h 70"/>
                  <a:gd name="T70" fmla="*/ 7 w 72"/>
                  <a:gd name="T71" fmla="*/ 33 h 70"/>
                  <a:gd name="T72" fmla="*/ 20 w 72"/>
                  <a:gd name="T73" fmla="*/ 28 h 70"/>
                  <a:gd name="T74" fmla="*/ 23 w 72"/>
                  <a:gd name="T75" fmla="*/ 18 h 70"/>
                  <a:gd name="T76" fmla="*/ 23 w 72"/>
                  <a:gd name="T77" fmla="*/ 8 h 70"/>
                  <a:gd name="T78" fmla="*/ 19 w 72"/>
                  <a:gd name="T79" fmla="*/ 1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72" h="70">
                    <a:moveTo>
                      <a:pt x="58" y="24"/>
                    </a:moveTo>
                    <a:cubicBezTo>
                      <a:pt x="57" y="23"/>
                      <a:pt x="57" y="22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6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4"/>
                      <a:pt x="14" y="45"/>
                    </a:cubicBezTo>
                    <a:cubicBezTo>
                      <a:pt x="14" y="46"/>
                      <a:pt x="15" y="48"/>
                      <a:pt x="16" y="49"/>
                    </a:cubicBezTo>
                    <a:cubicBezTo>
                      <a:pt x="12" y="58"/>
                      <a:pt x="11" y="60"/>
                      <a:pt x="11" y="62"/>
                    </a:cubicBezTo>
                    <a:cubicBezTo>
                      <a:pt x="11" y="62"/>
                      <a:pt x="11" y="63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3"/>
                      <a:pt x="33" y="61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1"/>
                      <a:pt x="41" y="63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3"/>
                      <a:pt x="60" y="62"/>
                      <a:pt x="60" y="62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4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lose/>
                    <a:moveTo>
                      <a:pt x="23" y="8"/>
                    </a:moveTo>
                    <a:cubicBezTo>
                      <a:pt x="23" y="9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7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10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2"/>
                    </a:cubicBezTo>
                    <a:cubicBezTo>
                      <a:pt x="60" y="32"/>
                      <a:pt x="63" y="32"/>
                      <a:pt x="65" y="33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8"/>
                      <a:pt x="57" y="38"/>
                    </a:cubicBezTo>
                    <a:cubicBezTo>
                      <a:pt x="55" y="38"/>
                      <a:pt x="53" y="39"/>
                      <a:pt x="52" y="42"/>
                    </a:cubicBez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1"/>
                      <a:pt x="49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6" y="57"/>
                      <a:pt x="44" y="56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7" y="52"/>
                      <a:pt x="36" y="52"/>
                      <a:pt x="36" y="52"/>
                    </a:cubicBezTo>
                    <a:cubicBezTo>
                      <a:pt x="35" y="52"/>
                      <a:pt x="35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6"/>
                      <a:pt x="26" y="57"/>
                      <a:pt x="23" y="61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1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2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8"/>
                      <a:pt x="9" y="37"/>
                      <a:pt x="7" y="37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2"/>
                      <a:pt x="11" y="32"/>
                      <a:pt x="15" y="32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7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lose/>
                    <a:moveTo>
                      <a:pt x="19" y="10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 dirty="0"/>
              </a:p>
            </p:txBody>
          </p:sp>
        </p:grp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87992EDA-1539-97B1-E7CE-D2E79407AEA7}"/>
              </a:ext>
            </a:extLst>
          </p:cNvPr>
          <p:cNvGrpSpPr/>
          <p:nvPr/>
        </p:nvGrpSpPr>
        <p:grpSpPr>
          <a:xfrm>
            <a:off x="10182039" y="5578383"/>
            <a:ext cx="647850" cy="647850"/>
            <a:chOff x="455122" y="4977513"/>
            <a:chExt cx="648000" cy="648000"/>
          </a:xfrm>
        </p:grpSpPr>
        <p:sp>
          <p:nvSpPr>
            <p:cNvPr id="1087" name="Oval 2">
              <a:extLst>
                <a:ext uri="{FF2B5EF4-FFF2-40B4-BE49-F238E27FC236}">
                  <a16:creationId xmlns:a16="http://schemas.microsoft.com/office/drawing/2014/main" id="{8EC11093-84F6-2BCE-0BAD-79E977DB91B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27" descr="Database with solid fill">
              <a:extLst>
                <a:ext uri="{FF2B5EF4-FFF2-40B4-BE49-F238E27FC236}">
                  <a16:creationId xmlns:a16="http://schemas.microsoft.com/office/drawing/2014/main" id="{36AD6EEA-76D3-3C39-E262-6A6BA59CC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890791-5015-60DA-3E67-B2C1CE8C48A9}"/>
              </a:ext>
            </a:extLst>
          </p:cNvPr>
          <p:cNvGrpSpPr/>
          <p:nvPr/>
        </p:nvGrpSpPr>
        <p:grpSpPr>
          <a:xfrm>
            <a:off x="9237619" y="5578383"/>
            <a:ext cx="647850" cy="647850"/>
            <a:chOff x="1498452" y="4969551"/>
            <a:chExt cx="648000" cy="648000"/>
          </a:xfrm>
        </p:grpSpPr>
        <p:sp>
          <p:nvSpPr>
            <p:cNvPr id="132" name="Oval 2">
              <a:extLst>
                <a:ext uri="{FF2B5EF4-FFF2-40B4-BE49-F238E27FC236}">
                  <a16:creationId xmlns:a16="http://schemas.microsoft.com/office/drawing/2014/main" id="{204A365C-3FA1-410A-20AF-14D7C7F61E07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3" name="Graphic 132" descr="Server with solid fill">
              <a:extLst>
                <a:ext uri="{FF2B5EF4-FFF2-40B4-BE49-F238E27FC236}">
                  <a16:creationId xmlns:a16="http://schemas.microsoft.com/office/drawing/2014/main" id="{EF46911F-D3A0-97D5-A8C0-5078EE46E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EACAC15-DF26-D0C1-A23B-C3321A3B5DCB}"/>
              </a:ext>
            </a:extLst>
          </p:cNvPr>
          <p:cNvGrpSpPr/>
          <p:nvPr/>
        </p:nvGrpSpPr>
        <p:grpSpPr>
          <a:xfrm>
            <a:off x="5025895" y="1204677"/>
            <a:ext cx="675104" cy="966865"/>
            <a:chOff x="5042481" y="1353861"/>
            <a:chExt cx="675260" cy="967089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D48F5F-3D5F-62F8-6EC7-E4FE02C7468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8860AA3-69C9-5704-E72D-C88D20FCC81D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68" name="Oval 2">
                <a:extLst>
                  <a:ext uri="{FF2B5EF4-FFF2-40B4-BE49-F238E27FC236}">
                    <a16:creationId xmlns:a16="http://schemas.microsoft.com/office/drawing/2014/main" id="{AC34BBF6-FF1C-A1B0-3D08-900B858DED6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0" name="Graphic 69" descr="Server with solid fill">
                <a:extLst>
                  <a:ext uri="{FF2B5EF4-FFF2-40B4-BE49-F238E27FC236}">
                    <a16:creationId xmlns:a16="http://schemas.microsoft.com/office/drawing/2014/main" id="{257AD899-A327-80EB-6C6A-D518368B3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2EBF25D-829E-FD2E-8998-8201520652D4}"/>
              </a:ext>
            </a:extLst>
          </p:cNvPr>
          <p:cNvGrpSpPr/>
          <p:nvPr/>
        </p:nvGrpSpPr>
        <p:grpSpPr>
          <a:xfrm>
            <a:off x="9284732" y="1202126"/>
            <a:ext cx="827808" cy="966865"/>
            <a:chOff x="9506709" y="1353861"/>
            <a:chExt cx="828000" cy="967089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8CD6221-4E8B-2337-EF4F-6FD0B8E2AE7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WORKDAY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D49E6D0-46C2-2A27-6755-2A116D925C99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2" name="Oval 2">
                <a:extLst>
                  <a:ext uri="{FF2B5EF4-FFF2-40B4-BE49-F238E27FC236}">
                    <a16:creationId xmlns:a16="http://schemas.microsoft.com/office/drawing/2014/main" id="{A9C74042-845F-0E19-2BCC-F274C5CE4D8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72" descr="Server with solid fill">
                <a:extLst>
                  <a:ext uri="{FF2B5EF4-FFF2-40B4-BE49-F238E27FC236}">
                    <a16:creationId xmlns:a16="http://schemas.microsoft.com/office/drawing/2014/main" id="{A77B468E-6E36-6AD7-3447-6D0C5F65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3FCA364-C61E-08A5-6A90-CF03D33E862C}"/>
              </a:ext>
            </a:extLst>
          </p:cNvPr>
          <p:cNvGrpSpPr/>
          <p:nvPr/>
        </p:nvGrpSpPr>
        <p:grpSpPr>
          <a:xfrm>
            <a:off x="5994724" y="1168768"/>
            <a:ext cx="1043758" cy="1105333"/>
            <a:chOff x="5986962" y="1353861"/>
            <a:chExt cx="1044000" cy="1105589"/>
          </a:xfrm>
        </p:grpSpPr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10390450-6F41-4BE5-7F60-4EB31B9BFC2D}"/>
                </a:ext>
              </a:extLst>
            </p:cNvPr>
            <p:cNvSpPr txBox="1"/>
            <p:nvPr/>
          </p:nvSpPr>
          <p:spPr>
            <a:xfrm>
              <a:off x="5986962" y="2090118"/>
              <a:ext cx="104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TERMINAL CONTENCIOSO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604EEC6-D222-1DA1-991C-86FA0051A153}"/>
                </a:ext>
              </a:extLst>
            </p:cNvPr>
            <p:cNvGrpSpPr/>
            <p:nvPr/>
          </p:nvGrpSpPr>
          <p:grpSpPr>
            <a:xfrm>
              <a:off x="6175404" y="1353861"/>
              <a:ext cx="648000" cy="648000"/>
              <a:chOff x="1498452" y="4969551"/>
              <a:chExt cx="648000" cy="648000"/>
            </a:xfrm>
          </p:grpSpPr>
          <p:sp>
            <p:nvSpPr>
              <p:cNvPr id="76" name="Oval 2">
                <a:extLst>
                  <a:ext uri="{FF2B5EF4-FFF2-40B4-BE49-F238E27FC236}">
                    <a16:creationId xmlns:a16="http://schemas.microsoft.com/office/drawing/2014/main" id="{A8421478-4383-153B-0EE4-73C94B6590F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7" name="Graphic 76" descr="Server with solid fill">
                <a:extLst>
                  <a:ext uri="{FF2B5EF4-FFF2-40B4-BE49-F238E27FC236}">
                    <a16:creationId xmlns:a16="http://schemas.microsoft.com/office/drawing/2014/main" id="{5E11F8B7-A674-F6E7-CA42-FA99F033A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A1740D0-12E6-6652-A721-32ABD7A095C1}"/>
              </a:ext>
            </a:extLst>
          </p:cNvPr>
          <p:cNvGrpSpPr/>
          <p:nvPr/>
        </p:nvGrpSpPr>
        <p:grpSpPr>
          <a:xfrm>
            <a:off x="417408" y="5341244"/>
            <a:ext cx="827808" cy="915758"/>
            <a:chOff x="415299" y="5044535"/>
            <a:chExt cx="828000" cy="915970"/>
          </a:xfrm>
        </p:grpSpPr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ABB3D027-A65E-B6DD-AA15-BD02BDE78010}"/>
                </a:ext>
              </a:extLst>
            </p:cNvPr>
            <p:cNvSpPr txBox="1"/>
            <p:nvPr/>
          </p:nvSpPr>
          <p:spPr>
            <a:xfrm>
              <a:off x="415299" y="5729673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MODELICA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CFF664F-0909-FEAA-66DF-8D40D4DC758A}"/>
                </a:ext>
              </a:extLst>
            </p:cNvPr>
            <p:cNvGrpSpPr/>
            <p:nvPr/>
          </p:nvGrpSpPr>
          <p:grpSpPr>
            <a:xfrm>
              <a:off x="510789" y="5044535"/>
              <a:ext cx="648000" cy="648000"/>
              <a:chOff x="455122" y="3851392"/>
              <a:chExt cx="648000" cy="648000"/>
            </a:xfrm>
          </p:grpSpPr>
          <p:sp>
            <p:nvSpPr>
              <p:cNvPr id="79" name="Oval 2">
                <a:extLst>
                  <a:ext uri="{FF2B5EF4-FFF2-40B4-BE49-F238E27FC236}">
                    <a16:creationId xmlns:a16="http://schemas.microsoft.com/office/drawing/2014/main" id="{ABA82FDE-F0DC-872E-797D-E076A396729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80" name="Grupo 14">
                <a:extLst>
                  <a:ext uri="{FF2B5EF4-FFF2-40B4-BE49-F238E27FC236}">
                    <a16:creationId xmlns:a16="http://schemas.microsoft.com/office/drawing/2014/main" id="{4ADD5418-6523-6333-16CA-DA87D12B8D1C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81" name="Freeform 52">
                  <a:extLst>
                    <a:ext uri="{FF2B5EF4-FFF2-40B4-BE49-F238E27FC236}">
                      <a16:creationId xmlns:a16="http://schemas.microsoft.com/office/drawing/2014/main" id="{51C9EFD7-8455-E543-6EF5-2AD3E728E4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82" name="Freeform 53">
                  <a:extLst>
                    <a:ext uri="{FF2B5EF4-FFF2-40B4-BE49-F238E27FC236}">
                      <a16:creationId xmlns:a16="http://schemas.microsoft.com/office/drawing/2014/main" id="{BE0D4C42-5761-579E-8388-D4DA8ADA27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84" name="Freeform 54">
                  <a:extLst>
                    <a:ext uri="{FF2B5EF4-FFF2-40B4-BE49-F238E27FC236}">
                      <a16:creationId xmlns:a16="http://schemas.microsoft.com/office/drawing/2014/main" id="{AB805DBF-9D80-FA19-5640-57FFD37B35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85" name="Freeform 55">
                  <a:extLst>
                    <a:ext uri="{FF2B5EF4-FFF2-40B4-BE49-F238E27FC236}">
                      <a16:creationId xmlns:a16="http://schemas.microsoft.com/office/drawing/2014/main" id="{CA8A74E4-B24A-B2A3-312A-68A6C2592E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86" name="Freeform 56">
                  <a:extLst>
                    <a:ext uri="{FF2B5EF4-FFF2-40B4-BE49-F238E27FC236}">
                      <a16:creationId xmlns:a16="http://schemas.microsoft.com/office/drawing/2014/main" id="{892E4A2D-5D71-130F-B053-B7227FCAFDA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87" name="Freeform 57">
                  <a:extLst>
                    <a:ext uri="{FF2B5EF4-FFF2-40B4-BE49-F238E27FC236}">
                      <a16:creationId xmlns:a16="http://schemas.microsoft.com/office/drawing/2014/main" id="{8BFFDDDB-700D-301A-AEDA-13ED65C21D5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</p:grp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3495B04-3496-AACD-C2D9-9EEBF73BF289}"/>
              </a:ext>
            </a:extLst>
          </p:cNvPr>
          <p:cNvGrpSpPr/>
          <p:nvPr/>
        </p:nvGrpSpPr>
        <p:grpSpPr>
          <a:xfrm>
            <a:off x="1496958" y="5341244"/>
            <a:ext cx="935783" cy="915758"/>
            <a:chOff x="1495099" y="5044535"/>
            <a:chExt cx="936000" cy="915970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0290D73-1F45-55C3-ABEF-34DCE8CF50D5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BANCWARE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8FC423F-571A-4E61-439F-A6E0E46BF62D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93" name="Oval 2">
                <a:extLst>
                  <a:ext uri="{FF2B5EF4-FFF2-40B4-BE49-F238E27FC236}">
                    <a16:creationId xmlns:a16="http://schemas.microsoft.com/office/drawing/2014/main" id="{6ED38323-7A6C-A749-49B5-7E3C564A045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94" name="Grupo 14">
                <a:extLst>
                  <a:ext uri="{FF2B5EF4-FFF2-40B4-BE49-F238E27FC236}">
                    <a16:creationId xmlns:a16="http://schemas.microsoft.com/office/drawing/2014/main" id="{D4225319-C948-AFAB-76F3-4562F75C1149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96" name="Freeform 52">
                  <a:extLst>
                    <a:ext uri="{FF2B5EF4-FFF2-40B4-BE49-F238E27FC236}">
                      <a16:creationId xmlns:a16="http://schemas.microsoft.com/office/drawing/2014/main" id="{67AD644D-B67B-09B0-F893-384868E4310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97" name="Freeform 53">
                  <a:extLst>
                    <a:ext uri="{FF2B5EF4-FFF2-40B4-BE49-F238E27FC236}">
                      <a16:creationId xmlns:a16="http://schemas.microsoft.com/office/drawing/2014/main" id="{547719A3-AE22-62CC-F12E-29DA10550F7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0" name="Freeform 54">
                  <a:extLst>
                    <a:ext uri="{FF2B5EF4-FFF2-40B4-BE49-F238E27FC236}">
                      <a16:creationId xmlns:a16="http://schemas.microsoft.com/office/drawing/2014/main" id="{C2E16A47-B8A9-D456-CD16-0DB1B696AFC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1" name="Freeform 55">
                  <a:extLst>
                    <a:ext uri="{FF2B5EF4-FFF2-40B4-BE49-F238E27FC236}">
                      <a16:creationId xmlns:a16="http://schemas.microsoft.com/office/drawing/2014/main" id="{F0E5E47A-E226-6132-55B6-1848F779F2D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2" name="Freeform 56">
                  <a:extLst>
                    <a:ext uri="{FF2B5EF4-FFF2-40B4-BE49-F238E27FC236}">
                      <a16:creationId xmlns:a16="http://schemas.microsoft.com/office/drawing/2014/main" id="{2A3CC22E-74A6-CA52-7A92-7FA126AEB65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4" name="Freeform 57">
                  <a:extLst>
                    <a:ext uri="{FF2B5EF4-FFF2-40B4-BE49-F238E27FC236}">
                      <a16:creationId xmlns:a16="http://schemas.microsoft.com/office/drawing/2014/main" id="{514921D4-684C-7155-3601-7E49655AF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</p:grp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753C7E6-84A3-A820-8823-6A562A67E48F}"/>
              </a:ext>
            </a:extLst>
          </p:cNvPr>
          <p:cNvGrpSpPr/>
          <p:nvPr/>
        </p:nvGrpSpPr>
        <p:grpSpPr>
          <a:xfrm>
            <a:off x="7176487" y="1160159"/>
            <a:ext cx="935783" cy="966865"/>
            <a:chOff x="7188423" y="1353861"/>
            <a:chExt cx="936000" cy="967089"/>
          </a:xfrm>
        </p:grpSpPr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F9D3EC4F-7FC8-F3B7-5AA4-2A1FB9DBFE52}"/>
                </a:ext>
              </a:extLst>
            </p:cNvPr>
            <p:cNvSpPr txBox="1"/>
            <p:nvPr/>
          </p:nvSpPr>
          <p:spPr>
            <a:xfrm>
              <a:off x="7188423" y="2090118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ConsolS</a:t>
              </a: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AC84B90-7583-D2A5-AB7F-D1BCF940BEEE}"/>
                </a:ext>
              </a:extLst>
            </p:cNvPr>
            <p:cNvGrpSpPr/>
            <p:nvPr/>
          </p:nvGrpSpPr>
          <p:grpSpPr>
            <a:xfrm>
              <a:off x="7308327" y="1353861"/>
              <a:ext cx="648000" cy="648000"/>
              <a:chOff x="1498452" y="4969551"/>
              <a:chExt cx="648000" cy="648000"/>
            </a:xfrm>
          </p:grpSpPr>
          <p:sp>
            <p:nvSpPr>
              <p:cNvPr id="108" name="Oval 2">
                <a:extLst>
                  <a:ext uri="{FF2B5EF4-FFF2-40B4-BE49-F238E27FC236}">
                    <a16:creationId xmlns:a16="http://schemas.microsoft.com/office/drawing/2014/main" id="{1241621A-62FE-5F48-C5D8-B15736F6120E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9" name="Graphic 108" descr="Server with solid fill">
                <a:extLst>
                  <a:ext uri="{FF2B5EF4-FFF2-40B4-BE49-F238E27FC236}">
                    <a16:creationId xmlns:a16="http://schemas.microsoft.com/office/drawing/2014/main" id="{DD2F4364-4A77-C4B6-12D8-0E902780A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EBA2BD4-BC9C-B34E-EF37-DD6F54A0DD81}"/>
              </a:ext>
            </a:extLst>
          </p:cNvPr>
          <p:cNvGrpSpPr/>
          <p:nvPr/>
        </p:nvGrpSpPr>
        <p:grpSpPr>
          <a:xfrm>
            <a:off x="287668" y="1160158"/>
            <a:ext cx="1043758" cy="1047382"/>
            <a:chOff x="312789" y="1263166"/>
            <a:chExt cx="1044000" cy="104762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BA9F8D-53B9-42C3-42D7-97EF9FD619B8}"/>
                </a:ext>
              </a:extLst>
            </p:cNvPr>
            <p:cNvSpPr txBox="1"/>
            <p:nvPr/>
          </p:nvSpPr>
          <p:spPr>
            <a:xfrm>
              <a:off x="312789" y="2079958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Sintra /Partenón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50213C-50E1-6CC7-082B-F161B9A86038}"/>
                </a:ext>
              </a:extLst>
            </p:cNvPr>
            <p:cNvGrpSpPr/>
            <p:nvPr/>
          </p:nvGrpSpPr>
          <p:grpSpPr>
            <a:xfrm>
              <a:off x="510789" y="1353861"/>
              <a:ext cx="648000" cy="648000"/>
              <a:chOff x="1498452" y="4969551"/>
              <a:chExt cx="648000" cy="648000"/>
            </a:xfrm>
          </p:grpSpPr>
          <p:sp>
            <p:nvSpPr>
              <p:cNvPr id="42" name="Oval 2">
                <a:extLst>
                  <a:ext uri="{FF2B5EF4-FFF2-40B4-BE49-F238E27FC236}">
                    <a16:creationId xmlns:a16="http://schemas.microsoft.com/office/drawing/2014/main" id="{EE206986-28E4-2CAF-06FF-E44C01182811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3" name="Graphic 42" descr="Server with solid fill">
                <a:extLst>
                  <a:ext uri="{FF2B5EF4-FFF2-40B4-BE49-F238E27FC236}">
                    <a16:creationId xmlns:a16="http://schemas.microsoft.com/office/drawing/2014/main" id="{7FA3223A-0958-0FFF-98F1-462FBF2296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49" name="Graphic 148" descr="Single gear outline">
              <a:extLst>
                <a:ext uri="{FF2B5EF4-FFF2-40B4-BE49-F238E27FC236}">
                  <a16:creationId xmlns:a16="http://schemas.microsoft.com/office/drawing/2014/main" id="{F99FABC9-7FA1-C7C8-AFAD-121C226CA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35774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B0DB5CF-0EFE-167F-3509-EEADF7D75802}"/>
              </a:ext>
            </a:extLst>
          </p:cNvPr>
          <p:cNvGrpSpPr/>
          <p:nvPr/>
        </p:nvGrpSpPr>
        <p:grpSpPr>
          <a:xfrm>
            <a:off x="1618284" y="1160158"/>
            <a:ext cx="719774" cy="1057539"/>
            <a:chOff x="1643712" y="1263166"/>
            <a:chExt cx="719941" cy="105778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3E3212B-F255-511F-AC1E-1FB917EA162F}"/>
                </a:ext>
              </a:extLst>
            </p:cNvPr>
            <p:cNvSpPr txBox="1"/>
            <p:nvPr/>
          </p:nvSpPr>
          <p:spPr>
            <a:xfrm>
              <a:off x="1678012" y="2090118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FD15938-B438-27A3-E0E6-F3536272F517}"/>
                </a:ext>
              </a:extLst>
            </p:cNvPr>
            <p:cNvGrpSpPr/>
            <p:nvPr/>
          </p:nvGrpSpPr>
          <p:grpSpPr>
            <a:xfrm>
              <a:off x="1643712" y="1353861"/>
              <a:ext cx="648000" cy="648000"/>
              <a:chOff x="1498452" y="4969551"/>
              <a:chExt cx="648000" cy="648000"/>
            </a:xfrm>
          </p:grpSpPr>
          <p:sp>
            <p:nvSpPr>
              <p:cNvPr id="52" name="Oval 2">
                <a:extLst>
                  <a:ext uri="{FF2B5EF4-FFF2-40B4-BE49-F238E27FC236}">
                    <a16:creationId xmlns:a16="http://schemas.microsoft.com/office/drawing/2014/main" id="{AAF7EE2A-5033-A477-7A49-908235DCF84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4" name="Graphic 53" descr="Server with solid fill">
                <a:extLst>
                  <a:ext uri="{FF2B5EF4-FFF2-40B4-BE49-F238E27FC236}">
                    <a16:creationId xmlns:a16="http://schemas.microsoft.com/office/drawing/2014/main" id="{41822AAE-87E7-0C50-AFE1-6F5787D596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0" name="Graphic 149" descr="Single gear outline">
              <a:extLst>
                <a:ext uri="{FF2B5EF4-FFF2-40B4-BE49-F238E27FC236}">
                  <a16:creationId xmlns:a16="http://schemas.microsoft.com/office/drawing/2014/main" id="{B5C94437-EC78-B7C0-7591-ED9543FE1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075653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A5657F4-3D6C-1926-C4F7-E32D6C995FA7}"/>
              </a:ext>
            </a:extLst>
          </p:cNvPr>
          <p:cNvGrpSpPr/>
          <p:nvPr/>
        </p:nvGrpSpPr>
        <p:grpSpPr>
          <a:xfrm>
            <a:off x="2750944" y="1160158"/>
            <a:ext cx="744988" cy="1057539"/>
            <a:chOff x="2776635" y="1263166"/>
            <a:chExt cx="745160" cy="1057784"/>
          </a:xfrm>
        </p:grpSpPr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64B60AAA-FCCC-7210-4BB3-1F3F7493D861}"/>
                </a:ext>
              </a:extLst>
            </p:cNvPr>
            <p:cNvSpPr txBox="1"/>
            <p:nvPr/>
          </p:nvSpPr>
          <p:spPr>
            <a:xfrm>
              <a:off x="2782783" y="2090118"/>
              <a:ext cx="61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LEASE</a:t>
              </a: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6C45D51-D210-C54B-FD9C-594A2E7C5425}"/>
                </a:ext>
              </a:extLst>
            </p:cNvPr>
            <p:cNvGrpSpPr/>
            <p:nvPr/>
          </p:nvGrpSpPr>
          <p:grpSpPr>
            <a:xfrm>
              <a:off x="2776635" y="1353861"/>
              <a:ext cx="648000" cy="648000"/>
              <a:chOff x="1498452" y="4969551"/>
              <a:chExt cx="648000" cy="648000"/>
            </a:xfrm>
          </p:grpSpPr>
          <p:sp>
            <p:nvSpPr>
              <p:cNvPr id="120" name="Oval 2">
                <a:extLst>
                  <a:ext uri="{FF2B5EF4-FFF2-40B4-BE49-F238E27FC236}">
                    <a16:creationId xmlns:a16="http://schemas.microsoft.com/office/drawing/2014/main" id="{70D87ABB-656D-FDFD-33F5-EC1E163854C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1" name="Graphic 120" descr="Server with solid fill">
                <a:extLst>
                  <a:ext uri="{FF2B5EF4-FFF2-40B4-BE49-F238E27FC236}">
                    <a16:creationId xmlns:a16="http://schemas.microsoft.com/office/drawing/2014/main" id="{E1BADDF8-6D3C-FFF7-A8F7-1D50CF126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1" name="Graphic 150" descr="Single gear outline">
              <a:extLst>
                <a:ext uri="{FF2B5EF4-FFF2-40B4-BE49-F238E27FC236}">
                  <a16:creationId xmlns:a16="http://schemas.microsoft.com/office/drawing/2014/main" id="{AFE4F019-7117-D483-F733-8701CEE3E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233795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481893D-3C48-2B9E-BEA2-1ED33F023BB6}"/>
              </a:ext>
            </a:extLst>
          </p:cNvPr>
          <p:cNvGrpSpPr/>
          <p:nvPr/>
        </p:nvGrpSpPr>
        <p:grpSpPr>
          <a:xfrm>
            <a:off x="3835046" y="1160158"/>
            <a:ext cx="787419" cy="1057539"/>
            <a:chOff x="3860987" y="1263166"/>
            <a:chExt cx="787601" cy="1057784"/>
          </a:xfrm>
        </p:grpSpPr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C3B35C3C-8C62-C426-1EC3-595D4B9BECE6}"/>
                </a:ext>
              </a:extLst>
            </p:cNvPr>
            <p:cNvSpPr txBox="1"/>
            <p:nvPr/>
          </p:nvSpPr>
          <p:spPr>
            <a:xfrm>
              <a:off x="3860987" y="2090118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EUROFAC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419CFB5-789D-ED32-3C1A-6FBC20A9E10F}"/>
                </a:ext>
              </a:extLst>
            </p:cNvPr>
            <p:cNvGrpSpPr/>
            <p:nvPr/>
          </p:nvGrpSpPr>
          <p:grpSpPr>
            <a:xfrm>
              <a:off x="3909558" y="1353861"/>
              <a:ext cx="648000" cy="648000"/>
              <a:chOff x="1498452" y="4969551"/>
              <a:chExt cx="648000" cy="648000"/>
            </a:xfrm>
          </p:grpSpPr>
          <p:sp>
            <p:nvSpPr>
              <p:cNvPr id="115" name="Oval 2">
                <a:extLst>
                  <a:ext uri="{FF2B5EF4-FFF2-40B4-BE49-F238E27FC236}">
                    <a16:creationId xmlns:a16="http://schemas.microsoft.com/office/drawing/2014/main" id="{D9B8D76E-B415-451C-4C9F-85BCF3852EC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6" name="Graphic 115" descr="Server with solid fill">
                <a:extLst>
                  <a:ext uri="{FF2B5EF4-FFF2-40B4-BE49-F238E27FC236}">
                    <a16:creationId xmlns:a16="http://schemas.microsoft.com/office/drawing/2014/main" id="{DC814EEF-F6FA-7D96-3638-3AC8231526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2" name="Graphic 151" descr="Single gear outline">
              <a:extLst>
                <a:ext uri="{FF2B5EF4-FFF2-40B4-BE49-F238E27FC236}">
                  <a16:creationId xmlns:a16="http://schemas.microsoft.com/office/drawing/2014/main" id="{33C36F5C-5806-C169-6579-1FA0FDF01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360588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5CBD09C9-A63F-5F10-1F5B-37BA9848E76C}"/>
              </a:ext>
            </a:extLst>
          </p:cNvPr>
          <p:cNvGrpSpPr/>
          <p:nvPr/>
        </p:nvGrpSpPr>
        <p:grpSpPr>
          <a:xfrm>
            <a:off x="8369519" y="1098302"/>
            <a:ext cx="827808" cy="1057539"/>
            <a:chOff x="8370197" y="1263166"/>
            <a:chExt cx="828000" cy="105778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77B020C-F7BD-1B15-C963-17A25B7C7061}"/>
                </a:ext>
              </a:extLst>
            </p:cNvPr>
            <p:cNvSpPr txBox="1"/>
            <p:nvPr/>
          </p:nvSpPr>
          <p:spPr>
            <a:xfrm>
              <a:off x="8370197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HERACLES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832FE0E-6760-ECE8-0E87-8C058BC3E525}"/>
                </a:ext>
              </a:extLst>
            </p:cNvPr>
            <p:cNvGrpSpPr/>
            <p:nvPr/>
          </p:nvGrpSpPr>
          <p:grpSpPr>
            <a:xfrm>
              <a:off x="8441250" y="1353861"/>
              <a:ext cx="648000" cy="648000"/>
              <a:chOff x="1498452" y="4969551"/>
              <a:chExt cx="648000" cy="648000"/>
            </a:xfrm>
          </p:grpSpPr>
          <p:sp>
            <p:nvSpPr>
              <p:cNvPr id="63" name="Oval 2">
                <a:extLst>
                  <a:ext uri="{FF2B5EF4-FFF2-40B4-BE49-F238E27FC236}">
                    <a16:creationId xmlns:a16="http://schemas.microsoft.com/office/drawing/2014/main" id="{E0017416-C967-E606-7162-32B00BA71DA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4" name="Graphic 63" descr="Server with solid fill">
                <a:extLst>
                  <a:ext uri="{FF2B5EF4-FFF2-40B4-BE49-F238E27FC236}">
                    <a16:creationId xmlns:a16="http://schemas.microsoft.com/office/drawing/2014/main" id="{BB150DC7-76A4-9C86-E856-08B7168F9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3" name="Graphic 152" descr="Single gear outline">
              <a:extLst>
                <a:ext uri="{FF2B5EF4-FFF2-40B4-BE49-F238E27FC236}">
                  <a16:creationId xmlns:a16="http://schemas.microsoft.com/office/drawing/2014/main" id="{A9C50749-BC2E-DC37-61BD-99BDB8836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909250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14EFC98C-148C-7C98-7B25-78D27E2EB0A5}"/>
              </a:ext>
            </a:extLst>
          </p:cNvPr>
          <p:cNvGrpSpPr/>
          <p:nvPr/>
        </p:nvGrpSpPr>
        <p:grpSpPr>
          <a:xfrm>
            <a:off x="2612212" y="5341244"/>
            <a:ext cx="1007843" cy="915758"/>
            <a:chOff x="2610612" y="5044535"/>
            <a:chExt cx="1008076" cy="915970"/>
          </a:xfrm>
        </p:grpSpPr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D85B83A5-5F7C-023C-C018-11B9DB34D7E9}"/>
                </a:ext>
              </a:extLst>
            </p:cNvPr>
            <p:cNvSpPr txBox="1"/>
            <p:nvPr/>
          </p:nvSpPr>
          <p:spPr>
            <a:xfrm>
              <a:off x="2610612" y="572967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NEW DEFAULT</a:t>
              </a:r>
            </a:p>
          </p:txBody>
        </p:sp>
        <p:grpSp>
          <p:nvGrpSpPr>
            <p:cNvPr id="1091" name="Group 1090">
              <a:extLst>
                <a:ext uri="{FF2B5EF4-FFF2-40B4-BE49-F238E27FC236}">
                  <a16:creationId xmlns:a16="http://schemas.microsoft.com/office/drawing/2014/main" id="{C12E7D10-BC6E-0E23-4640-B4E0D392B1D1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092" name="Oval 2">
                <a:extLst>
                  <a:ext uri="{FF2B5EF4-FFF2-40B4-BE49-F238E27FC236}">
                    <a16:creationId xmlns:a16="http://schemas.microsoft.com/office/drawing/2014/main" id="{E2984FE0-4AF0-5AC9-A596-16C61137DDE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093" name="Grupo 14">
                <a:extLst>
                  <a:ext uri="{FF2B5EF4-FFF2-40B4-BE49-F238E27FC236}">
                    <a16:creationId xmlns:a16="http://schemas.microsoft.com/office/drawing/2014/main" id="{21A9B27C-7E91-DFC0-29A3-8A338D727A73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094" name="Freeform 52">
                  <a:extLst>
                    <a:ext uri="{FF2B5EF4-FFF2-40B4-BE49-F238E27FC236}">
                      <a16:creationId xmlns:a16="http://schemas.microsoft.com/office/drawing/2014/main" id="{ECB100F9-1C30-C10B-22B7-89A87EF9AF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95" name="Freeform 53">
                  <a:extLst>
                    <a:ext uri="{FF2B5EF4-FFF2-40B4-BE49-F238E27FC236}">
                      <a16:creationId xmlns:a16="http://schemas.microsoft.com/office/drawing/2014/main" id="{FFBC6316-96CE-12CD-ABC5-9F384EED5E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96" name="Freeform 54">
                  <a:extLst>
                    <a:ext uri="{FF2B5EF4-FFF2-40B4-BE49-F238E27FC236}">
                      <a16:creationId xmlns:a16="http://schemas.microsoft.com/office/drawing/2014/main" id="{548D7D7D-9021-3839-FB98-18E76D9CDD5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97" name="Freeform 55">
                  <a:extLst>
                    <a:ext uri="{FF2B5EF4-FFF2-40B4-BE49-F238E27FC236}">
                      <a16:creationId xmlns:a16="http://schemas.microsoft.com/office/drawing/2014/main" id="{09CD9D4C-1138-5137-DA52-A4CEF33C6E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98" name="Freeform 56">
                  <a:extLst>
                    <a:ext uri="{FF2B5EF4-FFF2-40B4-BE49-F238E27FC236}">
                      <a16:creationId xmlns:a16="http://schemas.microsoft.com/office/drawing/2014/main" id="{F67C4B88-FD0D-FE6A-41C7-E02A4509A5F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99" name="Freeform 57">
                  <a:extLst>
                    <a:ext uri="{FF2B5EF4-FFF2-40B4-BE49-F238E27FC236}">
                      <a16:creationId xmlns:a16="http://schemas.microsoft.com/office/drawing/2014/main" id="{02BF30F4-17C3-0EBF-17A7-25A525DB94A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</p:grpSp>
        </p:grp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D20190AA-D6A4-C685-760F-DB34F2AEA02F}"/>
              </a:ext>
            </a:extLst>
          </p:cNvPr>
          <p:cNvGrpSpPr/>
          <p:nvPr/>
        </p:nvGrpSpPr>
        <p:grpSpPr>
          <a:xfrm>
            <a:off x="10150477" y="1188976"/>
            <a:ext cx="827808" cy="966865"/>
            <a:chOff x="9506709" y="1353861"/>
            <a:chExt cx="828000" cy="967089"/>
          </a:xfrm>
        </p:grpSpPr>
        <p:sp>
          <p:nvSpPr>
            <p:cNvPr id="1102" name="TextBox 1101">
              <a:extLst>
                <a:ext uri="{FF2B5EF4-FFF2-40B4-BE49-F238E27FC236}">
                  <a16:creationId xmlns:a16="http://schemas.microsoft.com/office/drawing/2014/main" id="{F940E53F-290B-C8A9-A689-904613A4DFBA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NORKOM</a:t>
              </a:r>
            </a:p>
          </p:txBody>
        </p:sp>
        <p:grpSp>
          <p:nvGrpSpPr>
            <p:cNvPr id="1103" name="Group 1102">
              <a:extLst>
                <a:ext uri="{FF2B5EF4-FFF2-40B4-BE49-F238E27FC236}">
                  <a16:creationId xmlns:a16="http://schemas.microsoft.com/office/drawing/2014/main" id="{A97B214E-A56E-96B4-2FE8-2FB066173400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1104" name="Oval 2">
                <a:extLst>
                  <a:ext uri="{FF2B5EF4-FFF2-40B4-BE49-F238E27FC236}">
                    <a16:creationId xmlns:a16="http://schemas.microsoft.com/office/drawing/2014/main" id="{D5514AEB-DB6C-1E19-AEAD-919FCA7CEFB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05" name="Graphic 1104" descr="Server with solid fill">
                <a:extLst>
                  <a:ext uri="{FF2B5EF4-FFF2-40B4-BE49-F238E27FC236}">
                    <a16:creationId xmlns:a16="http://schemas.microsoft.com/office/drawing/2014/main" id="{A5337E76-1B5E-2A4A-5913-D2CD2AA2C1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2114CA1-A064-4A6C-A5A4-BB2008588B86}"/>
              </a:ext>
            </a:extLst>
          </p:cNvPr>
          <p:cNvGrpSpPr/>
          <p:nvPr/>
        </p:nvGrpSpPr>
        <p:grpSpPr>
          <a:xfrm>
            <a:off x="3766665" y="5338455"/>
            <a:ext cx="1066766" cy="918547"/>
            <a:chOff x="2788409" y="5044535"/>
            <a:chExt cx="1067013" cy="918760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9BC8421B-D23F-43F0-958E-AE2263D8DF00}"/>
                </a:ext>
              </a:extLst>
            </p:cNvPr>
            <p:cNvSpPr txBox="1"/>
            <p:nvPr/>
          </p:nvSpPr>
          <p:spPr>
            <a:xfrm>
              <a:off x="2847346" y="573246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SIGMA</a:t>
              </a: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F778918E-23E6-4EEF-996A-B865C3B00733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93" name="Oval 2">
                <a:extLst>
                  <a:ext uri="{FF2B5EF4-FFF2-40B4-BE49-F238E27FC236}">
                    <a16:creationId xmlns:a16="http://schemas.microsoft.com/office/drawing/2014/main" id="{69B54FEE-87F4-4A15-87BB-BE54A83BA9E3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94" name="Grupo 14">
                <a:extLst>
                  <a:ext uri="{FF2B5EF4-FFF2-40B4-BE49-F238E27FC236}">
                    <a16:creationId xmlns:a16="http://schemas.microsoft.com/office/drawing/2014/main" id="{43C5CC13-6DF1-41ED-9D33-29494B26AECA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95" name="Freeform 52">
                  <a:extLst>
                    <a:ext uri="{FF2B5EF4-FFF2-40B4-BE49-F238E27FC236}">
                      <a16:creationId xmlns:a16="http://schemas.microsoft.com/office/drawing/2014/main" id="{64F58104-45F2-43D0-86F1-6D6DADFB85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96" name="Freeform 53">
                  <a:extLst>
                    <a:ext uri="{FF2B5EF4-FFF2-40B4-BE49-F238E27FC236}">
                      <a16:creationId xmlns:a16="http://schemas.microsoft.com/office/drawing/2014/main" id="{A5CAA09D-3DD5-4849-9D58-01E08E124E3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97" name="Freeform 54">
                  <a:extLst>
                    <a:ext uri="{FF2B5EF4-FFF2-40B4-BE49-F238E27FC236}">
                      <a16:creationId xmlns:a16="http://schemas.microsoft.com/office/drawing/2014/main" id="{E310E113-DC87-4548-85DE-B0FC16C4E2D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98" name="Freeform 55">
                  <a:extLst>
                    <a:ext uri="{FF2B5EF4-FFF2-40B4-BE49-F238E27FC236}">
                      <a16:creationId xmlns:a16="http://schemas.microsoft.com/office/drawing/2014/main" id="{7D1B4A38-FB3D-4966-BFF6-9332D241B89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99" name="Freeform 56">
                  <a:extLst>
                    <a:ext uri="{FF2B5EF4-FFF2-40B4-BE49-F238E27FC236}">
                      <a16:creationId xmlns:a16="http://schemas.microsoft.com/office/drawing/2014/main" id="{48C59780-5AF7-4CC4-B1F8-7A190363B8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200" name="Freeform 57">
                  <a:extLst>
                    <a:ext uri="{FF2B5EF4-FFF2-40B4-BE49-F238E27FC236}">
                      <a16:creationId xmlns:a16="http://schemas.microsoft.com/office/drawing/2014/main" id="{2A3968FE-9A0C-4EDD-BA92-B3444A956AC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</p:grpSp>
        </p:grp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FBBAF6E-9230-4989-BC68-E8ECBC66C4BB}"/>
              </a:ext>
            </a:extLst>
          </p:cNvPr>
          <p:cNvGrpSpPr/>
          <p:nvPr/>
        </p:nvGrpSpPr>
        <p:grpSpPr>
          <a:xfrm>
            <a:off x="11024183" y="1204677"/>
            <a:ext cx="827808" cy="966865"/>
            <a:chOff x="9506709" y="1353861"/>
            <a:chExt cx="828000" cy="967089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B9394515-545E-4C11-BF39-95B4E0898C1E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AQUANIMA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A3D594BC-FEF6-4C9E-B81D-5912B5C877B6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0" name="Oval 2">
                <a:extLst>
                  <a:ext uri="{FF2B5EF4-FFF2-40B4-BE49-F238E27FC236}">
                    <a16:creationId xmlns:a16="http://schemas.microsoft.com/office/drawing/2014/main" id="{D598D43B-844E-4F19-A610-144D2D985E3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1" name="Graphic 210" descr="Server with solid fill">
                <a:extLst>
                  <a:ext uri="{FF2B5EF4-FFF2-40B4-BE49-F238E27FC236}">
                    <a16:creationId xmlns:a16="http://schemas.microsoft.com/office/drawing/2014/main" id="{E1F48952-0710-406A-BE10-F3F4C92FC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sp>
        <p:nvSpPr>
          <p:cNvPr id="1038" name="TextBox 1037">
            <a:extLst>
              <a:ext uri="{FF2B5EF4-FFF2-40B4-BE49-F238E27FC236}">
                <a16:creationId xmlns:a16="http://schemas.microsoft.com/office/drawing/2014/main" id="{45653F47-2D95-FCE6-73D9-22630BDA9E4E}"/>
              </a:ext>
            </a:extLst>
          </p:cNvPr>
          <p:cNvSpPr txBox="1"/>
          <p:nvPr/>
        </p:nvSpPr>
        <p:spPr>
          <a:xfrm>
            <a:off x="7268846" y="2964734"/>
            <a:ext cx="719833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MIS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8754EF-32FB-EC62-F6F4-05A09951D432}"/>
              </a:ext>
            </a:extLst>
          </p:cNvPr>
          <p:cNvGrpSpPr/>
          <p:nvPr/>
        </p:nvGrpSpPr>
        <p:grpSpPr>
          <a:xfrm>
            <a:off x="7308841" y="2256322"/>
            <a:ext cx="647850" cy="647850"/>
            <a:chOff x="455122" y="4977513"/>
            <a:chExt cx="648000" cy="648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477604C-0C8D-031A-5D6E-C91AF03AF70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" name="Graphic 13" descr="Database with solid fill">
              <a:extLst>
                <a:ext uri="{FF2B5EF4-FFF2-40B4-BE49-F238E27FC236}">
                  <a16:creationId xmlns:a16="http://schemas.microsoft.com/office/drawing/2014/main" id="{585BA91B-D55E-96F3-1575-C38D96950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040" name="TextBox 1039">
            <a:extLst>
              <a:ext uri="{FF2B5EF4-FFF2-40B4-BE49-F238E27FC236}">
                <a16:creationId xmlns:a16="http://schemas.microsoft.com/office/drawing/2014/main" id="{D4D29B66-51C2-A40D-B918-A5416A0D9944}"/>
              </a:ext>
            </a:extLst>
          </p:cNvPr>
          <p:cNvSpPr txBox="1"/>
          <p:nvPr/>
        </p:nvSpPr>
        <p:spPr>
          <a:xfrm>
            <a:off x="4908028" y="2964734"/>
            <a:ext cx="863800" cy="36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Controlo Interno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4AB31A-E500-B05D-6335-41E70F547F0F}"/>
              </a:ext>
            </a:extLst>
          </p:cNvPr>
          <p:cNvGrpSpPr/>
          <p:nvPr/>
        </p:nvGrpSpPr>
        <p:grpSpPr>
          <a:xfrm>
            <a:off x="5032381" y="2256322"/>
            <a:ext cx="647850" cy="647850"/>
            <a:chOff x="455122" y="4977513"/>
            <a:chExt cx="648000" cy="64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CEE4FB8-FB5C-5D71-1235-C12E4CE4C0C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7" name="Graphic 16" descr="Database with solid fill">
              <a:extLst>
                <a:ext uri="{FF2B5EF4-FFF2-40B4-BE49-F238E27FC236}">
                  <a16:creationId xmlns:a16="http://schemas.microsoft.com/office/drawing/2014/main" id="{F81DEF0F-2401-7617-A817-7B470C030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042" name="TextBox 1041">
            <a:extLst>
              <a:ext uri="{FF2B5EF4-FFF2-40B4-BE49-F238E27FC236}">
                <a16:creationId xmlns:a16="http://schemas.microsoft.com/office/drawing/2014/main" id="{3508BB35-3174-0529-0EC5-75CCA8C8093A}"/>
              </a:ext>
            </a:extLst>
          </p:cNvPr>
          <p:cNvSpPr txBox="1"/>
          <p:nvPr/>
        </p:nvSpPr>
        <p:spPr>
          <a:xfrm>
            <a:off x="6135556" y="2964734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Riscos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C5B8357-776F-D283-7297-D9CA9EA454D1}"/>
              </a:ext>
            </a:extLst>
          </p:cNvPr>
          <p:cNvGrpSpPr/>
          <p:nvPr/>
        </p:nvGrpSpPr>
        <p:grpSpPr>
          <a:xfrm>
            <a:off x="6176181" y="2256322"/>
            <a:ext cx="647850" cy="647850"/>
            <a:chOff x="455122" y="4977513"/>
            <a:chExt cx="648000" cy="648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7D27280-B6E4-113E-C1A2-B0B686B5768C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0" name="Graphic 19" descr="Database with solid fill">
              <a:extLst>
                <a:ext uri="{FF2B5EF4-FFF2-40B4-BE49-F238E27FC236}">
                  <a16:creationId xmlns:a16="http://schemas.microsoft.com/office/drawing/2014/main" id="{811F777C-D0F3-69B5-5473-E4E1FD449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55" name="Graphic 154" descr="Single gear outline">
            <a:extLst>
              <a:ext uri="{FF2B5EF4-FFF2-40B4-BE49-F238E27FC236}">
                <a16:creationId xmlns:a16="http://schemas.microsoft.com/office/drawing/2014/main" id="{6D870519-0C1B-2128-0DD8-0615F97EA4D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44073" y="2176421"/>
            <a:ext cx="287933" cy="287933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D11B03F3-192B-EF53-F97B-E7C723444D80}"/>
              </a:ext>
            </a:extLst>
          </p:cNvPr>
          <p:cNvSpPr txBox="1"/>
          <p:nvPr/>
        </p:nvSpPr>
        <p:spPr>
          <a:xfrm>
            <a:off x="4040421" y="2964734"/>
            <a:ext cx="3959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DW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35A4F8-D556-3B33-0670-3B858DF74527}"/>
              </a:ext>
            </a:extLst>
          </p:cNvPr>
          <p:cNvGrpSpPr/>
          <p:nvPr/>
        </p:nvGrpSpPr>
        <p:grpSpPr>
          <a:xfrm>
            <a:off x="3910858" y="2256322"/>
            <a:ext cx="647850" cy="647850"/>
            <a:chOff x="455122" y="4977513"/>
            <a:chExt cx="648000" cy="648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A272668-37D6-4959-4770-96DB05B8A83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" name="Graphic 3" descr="Database with solid fill">
              <a:extLst>
                <a:ext uri="{FF2B5EF4-FFF2-40B4-BE49-F238E27FC236}">
                  <a16:creationId xmlns:a16="http://schemas.microsoft.com/office/drawing/2014/main" id="{821165D7-2AF0-24C4-A171-EFA124940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56" name="Graphic 155" descr="Single gear outline">
            <a:extLst>
              <a:ext uri="{FF2B5EF4-FFF2-40B4-BE49-F238E27FC236}">
                <a16:creationId xmlns:a16="http://schemas.microsoft.com/office/drawing/2014/main" id="{F7BD5B3F-C924-242A-4346-030FD650FAE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78750" y="2176421"/>
            <a:ext cx="287933" cy="28793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1B7B6C9-BCB7-E05D-A26F-CB94E0742B72}"/>
              </a:ext>
            </a:extLst>
          </p:cNvPr>
          <p:cNvSpPr txBox="1"/>
          <p:nvPr/>
        </p:nvSpPr>
        <p:spPr>
          <a:xfrm>
            <a:off x="2839344" y="296473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6EF092C-384F-BD0D-6556-7E0192A3CFA7}"/>
              </a:ext>
            </a:extLst>
          </p:cNvPr>
          <p:cNvGrpSpPr/>
          <p:nvPr/>
        </p:nvGrpSpPr>
        <p:grpSpPr>
          <a:xfrm>
            <a:off x="2778198" y="2256322"/>
            <a:ext cx="647850" cy="647850"/>
            <a:chOff x="455122" y="4977513"/>
            <a:chExt cx="648000" cy="64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44D71BC-A0EB-5EC9-9662-D84E36C11B6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30" name="Graphic 29" descr="Database with solid fill">
              <a:extLst>
                <a:ext uri="{FF2B5EF4-FFF2-40B4-BE49-F238E27FC236}">
                  <a16:creationId xmlns:a16="http://schemas.microsoft.com/office/drawing/2014/main" id="{753A0CFA-72C3-2DBD-8BCD-D7B33C103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57" name="Graphic 156" descr="Single gear outline">
            <a:extLst>
              <a:ext uri="{FF2B5EF4-FFF2-40B4-BE49-F238E27FC236}">
                <a16:creationId xmlns:a16="http://schemas.microsoft.com/office/drawing/2014/main" id="{B3D794E0-8420-CA24-0446-2B8C9EE7941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26128" y="2176421"/>
            <a:ext cx="287933" cy="28793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4B683E9-90DC-82DD-4219-C5D8AB0A22D5}"/>
              </a:ext>
            </a:extLst>
          </p:cNvPr>
          <p:cNvSpPr txBox="1"/>
          <p:nvPr/>
        </p:nvSpPr>
        <p:spPr>
          <a:xfrm>
            <a:off x="611175" y="2964734"/>
            <a:ext cx="4319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EF439CC-E913-6D42-FCFF-A66A67AB7401}"/>
              </a:ext>
            </a:extLst>
          </p:cNvPr>
          <p:cNvGrpSpPr/>
          <p:nvPr/>
        </p:nvGrpSpPr>
        <p:grpSpPr>
          <a:xfrm>
            <a:off x="512877" y="2256322"/>
            <a:ext cx="647850" cy="647850"/>
            <a:chOff x="455122" y="4977513"/>
            <a:chExt cx="648000" cy="64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1304C03-BC2C-951E-35C3-38C0EF14E768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0" name="Graphic 39" descr="Database with solid fill">
              <a:extLst>
                <a:ext uri="{FF2B5EF4-FFF2-40B4-BE49-F238E27FC236}">
                  <a16:creationId xmlns:a16="http://schemas.microsoft.com/office/drawing/2014/main" id="{297FBE6E-14EA-D6BA-3B2A-D50E8498A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59" name="Graphic 158" descr="Single gear outline">
            <a:extLst>
              <a:ext uri="{FF2B5EF4-FFF2-40B4-BE49-F238E27FC236}">
                <a16:creationId xmlns:a16="http://schemas.microsoft.com/office/drawing/2014/main" id="{C47D417B-6630-2860-BAA8-1EC4CA8C7B7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9804" y="2176421"/>
            <a:ext cx="287934" cy="28793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670C8E7-6F55-D6D2-7827-5A37435AC4F6}"/>
              </a:ext>
            </a:extLst>
          </p:cNvPr>
          <p:cNvSpPr txBox="1"/>
          <p:nvPr/>
        </p:nvSpPr>
        <p:spPr>
          <a:xfrm>
            <a:off x="1774937" y="2964734"/>
            <a:ext cx="4319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CE7974-0473-BACB-801E-57475F0A6A51}"/>
              </a:ext>
            </a:extLst>
          </p:cNvPr>
          <p:cNvGrpSpPr/>
          <p:nvPr/>
        </p:nvGrpSpPr>
        <p:grpSpPr>
          <a:xfrm>
            <a:off x="1645537" y="2256322"/>
            <a:ext cx="647850" cy="647850"/>
            <a:chOff x="455122" y="4977513"/>
            <a:chExt cx="648000" cy="64800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689A130-40AF-047A-D79A-7949292DF53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35" name="Graphic 34" descr="Database with solid fill">
              <a:extLst>
                <a:ext uri="{FF2B5EF4-FFF2-40B4-BE49-F238E27FC236}">
                  <a16:creationId xmlns:a16="http://schemas.microsoft.com/office/drawing/2014/main" id="{7D22AC59-206D-5A84-6AC8-A8650892B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58" name="Graphic 157" descr="Single gear outline">
            <a:extLst>
              <a:ext uri="{FF2B5EF4-FFF2-40B4-BE49-F238E27FC236}">
                <a16:creationId xmlns:a16="http://schemas.microsoft.com/office/drawing/2014/main" id="{7965C152-6DA2-BD19-5D73-0D9797A4861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06278" y="2176421"/>
            <a:ext cx="287933" cy="287933"/>
          </a:xfrm>
          <a:prstGeom prst="rect">
            <a:avLst/>
          </a:prstGeom>
        </p:spPr>
      </p:pic>
      <p:pic>
        <p:nvPicPr>
          <p:cNvPr id="162" name="Imagen 18">
            <a:extLst>
              <a:ext uri="{FF2B5EF4-FFF2-40B4-BE49-F238E27FC236}">
                <a16:creationId xmlns:a16="http://schemas.microsoft.com/office/drawing/2014/main" id="{B4989550-1910-3C54-F767-B263D7E7329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380" y="2176421"/>
            <a:ext cx="241113" cy="241113"/>
          </a:xfrm>
          <a:prstGeom prst="rect">
            <a:avLst/>
          </a:prstGeom>
        </p:spPr>
      </p:pic>
      <p:sp>
        <p:nvSpPr>
          <p:cNvPr id="1050" name="TextBox 1049">
            <a:extLst>
              <a:ext uri="{FF2B5EF4-FFF2-40B4-BE49-F238E27FC236}">
                <a16:creationId xmlns:a16="http://schemas.microsoft.com/office/drawing/2014/main" id="{2044B185-9DB2-B6C0-F07D-9EFAB91D2B74}"/>
              </a:ext>
            </a:extLst>
          </p:cNvPr>
          <p:cNvSpPr txBox="1"/>
          <p:nvPr/>
        </p:nvSpPr>
        <p:spPr>
          <a:xfrm>
            <a:off x="8432319" y="2964734"/>
            <a:ext cx="719833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ALM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9E4F4A-1561-6E21-52CA-8DC295A78914}"/>
              </a:ext>
            </a:extLst>
          </p:cNvPr>
          <p:cNvGrpSpPr/>
          <p:nvPr/>
        </p:nvGrpSpPr>
        <p:grpSpPr>
          <a:xfrm>
            <a:off x="8441503" y="2256322"/>
            <a:ext cx="647850" cy="647850"/>
            <a:chOff x="455122" y="4977513"/>
            <a:chExt cx="648000" cy="648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39AEC8A-2463-5139-98C6-09A1B56A8F8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" name="Graphic 6" descr="Database with solid fill">
              <a:extLst>
                <a:ext uri="{FF2B5EF4-FFF2-40B4-BE49-F238E27FC236}">
                  <a16:creationId xmlns:a16="http://schemas.microsoft.com/office/drawing/2014/main" id="{B78E220A-C246-8234-2BE3-44832749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54" name="Graphic 153" descr="Single gear outline">
            <a:extLst>
              <a:ext uri="{FF2B5EF4-FFF2-40B4-BE49-F238E27FC236}">
                <a16:creationId xmlns:a16="http://schemas.microsoft.com/office/drawing/2014/main" id="{80C495BA-43C8-B81F-0868-BDD06599A0A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09395" y="2176421"/>
            <a:ext cx="287933" cy="287933"/>
          </a:xfrm>
          <a:prstGeom prst="rect">
            <a:avLst/>
          </a:prstGeom>
        </p:spPr>
      </p:pic>
      <p:pic>
        <p:nvPicPr>
          <p:cNvPr id="163" name="Imagen 18">
            <a:extLst>
              <a:ext uri="{FF2B5EF4-FFF2-40B4-BE49-F238E27FC236}">
                <a16:creationId xmlns:a16="http://schemas.microsoft.com/office/drawing/2014/main" id="{20BD548F-C010-0343-0E10-F6226858A28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584" y="2176421"/>
            <a:ext cx="241113" cy="241113"/>
          </a:xfrm>
          <a:prstGeom prst="rect">
            <a:avLst/>
          </a:prstGeom>
        </p:spPr>
      </p:pic>
      <p:pic>
        <p:nvPicPr>
          <p:cNvPr id="206" name="Imagen 18">
            <a:extLst>
              <a:ext uri="{FF2B5EF4-FFF2-40B4-BE49-F238E27FC236}">
                <a16:creationId xmlns:a16="http://schemas.microsoft.com/office/drawing/2014/main" id="{43742EB3-0B9A-46E6-9C53-AA0DA53D5B2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877" y="2176421"/>
            <a:ext cx="241113" cy="241113"/>
          </a:xfrm>
          <a:prstGeom prst="rect">
            <a:avLst/>
          </a:prstGeom>
        </p:spPr>
      </p:pic>
      <p:sp>
        <p:nvSpPr>
          <p:cNvPr id="213" name="TextBox 212">
            <a:extLst>
              <a:ext uri="{FF2B5EF4-FFF2-40B4-BE49-F238E27FC236}">
                <a16:creationId xmlns:a16="http://schemas.microsoft.com/office/drawing/2014/main" id="{D51F7AA2-1522-4164-86E5-B353F40285EF}"/>
              </a:ext>
            </a:extLst>
          </p:cNvPr>
          <p:cNvSpPr txBox="1"/>
          <p:nvPr/>
        </p:nvSpPr>
        <p:spPr>
          <a:xfrm>
            <a:off x="11011187" y="2964734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BLANCA</a:t>
            </a: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C236D8FE-E0FD-406B-8848-5E2B65DF1D24}"/>
              </a:ext>
            </a:extLst>
          </p:cNvPr>
          <p:cNvGrpSpPr/>
          <p:nvPr/>
        </p:nvGrpSpPr>
        <p:grpSpPr>
          <a:xfrm>
            <a:off x="11078635" y="2256322"/>
            <a:ext cx="647850" cy="647850"/>
            <a:chOff x="1498452" y="4969551"/>
            <a:chExt cx="648000" cy="648000"/>
          </a:xfrm>
        </p:grpSpPr>
        <p:sp>
          <p:nvSpPr>
            <p:cNvPr id="215" name="Oval 2">
              <a:extLst>
                <a:ext uri="{FF2B5EF4-FFF2-40B4-BE49-F238E27FC236}">
                  <a16:creationId xmlns:a16="http://schemas.microsoft.com/office/drawing/2014/main" id="{0E42D5B1-1A41-46CD-87CF-6814E97095F0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16" name="Graphic 215" descr="Server with solid fill">
              <a:extLst>
                <a:ext uri="{FF2B5EF4-FFF2-40B4-BE49-F238E27FC236}">
                  <a16:creationId xmlns:a16="http://schemas.microsoft.com/office/drawing/2014/main" id="{D627E14E-3C1A-4278-AC93-8A79330C8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0A656547-DA10-41C1-951A-714FDF597E08}"/>
              </a:ext>
            </a:extLst>
          </p:cNvPr>
          <p:cNvSpPr txBox="1"/>
          <p:nvPr/>
        </p:nvSpPr>
        <p:spPr>
          <a:xfrm>
            <a:off x="10103726" y="2964734"/>
            <a:ext cx="827808" cy="507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Microsoft </a:t>
            </a:r>
          </a:p>
          <a:p>
            <a:pPr algn="ctr"/>
            <a:r>
              <a:rPr lang="pt-PT" sz="900" dirty="0"/>
              <a:t>Active Directory</a:t>
            </a:r>
            <a:endParaRPr lang="en-US" sz="900" dirty="0"/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BE81CBAD-FD15-47F3-8EAF-8F05F61E86C3}"/>
              </a:ext>
            </a:extLst>
          </p:cNvPr>
          <p:cNvGrpSpPr/>
          <p:nvPr/>
        </p:nvGrpSpPr>
        <p:grpSpPr>
          <a:xfrm>
            <a:off x="10171174" y="2256322"/>
            <a:ext cx="647850" cy="647850"/>
            <a:chOff x="1498452" y="4969551"/>
            <a:chExt cx="648000" cy="648000"/>
          </a:xfrm>
        </p:grpSpPr>
        <p:sp>
          <p:nvSpPr>
            <p:cNvPr id="227" name="Oval 2">
              <a:extLst>
                <a:ext uri="{FF2B5EF4-FFF2-40B4-BE49-F238E27FC236}">
                  <a16:creationId xmlns:a16="http://schemas.microsoft.com/office/drawing/2014/main" id="{9B674B17-7B9B-46B6-B7F8-758CE457DF7D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8" name="Graphic 227" descr="Server with solid fill">
              <a:extLst>
                <a:ext uri="{FF2B5EF4-FFF2-40B4-BE49-F238E27FC236}">
                  <a16:creationId xmlns:a16="http://schemas.microsoft.com/office/drawing/2014/main" id="{0F12C3CD-D315-47ED-8A03-970C74A89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sp>
        <p:nvSpPr>
          <p:cNvPr id="237" name="TextBox 236">
            <a:extLst>
              <a:ext uri="{FF2B5EF4-FFF2-40B4-BE49-F238E27FC236}">
                <a16:creationId xmlns:a16="http://schemas.microsoft.com/office/drawing/2014/main" id="{1771CA7E-3998-4A1B-8098-1CFBBCB4F6C5}"/>
              </a:ext>
            </a:extLst>
          </p:cNvPr>
          <p:cNvSpPr txBox="1"/>
          <p:nvPr/>
        </p:nvSpPr>
        <p:spPr>
          <a:xfrm>
            <a:off x="9252108" y="2964734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CREAM</a:t>
            </a:r>
            <a:endParaRPr lang="en-US" sz="900" dirty="0"/>
          </a:p>
        </p:txBody>
      </p: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977BB77F-5A41-42DA-928E-09D84B10294F}"/>
              </a:ext>
            </a:extLst>
          </p:cNvPr>
          <p:cNvGrpSpPr/>
          <p:nvPr/>
        </p:nvGrpSpPr>
        <p:grpSpPr>
          <a:xfrm>
            <a:off x="9319556" y="2256322"/>
            <a:ext cx="647850" cy="647850"/>
            <a:chOff x="1498452" y="4969551"/>
            <a:chExt cx="648000" cy="648000"/>
          </a:xfrm>
        </p:grpSpPr>
        <p:sp>
          <p:nvSpPr>
            <p:cNvPr id="239" name="Oval 2">
              <a:extLst>
                <a:ext uri="{FF2B5EF4-FFF2-40B4-BE49-F238E27FC236}">
                  <a16:creationId xmlns:a16="http://schemas.microsoft.com/office/drawing/2014/main" id="{7CC1C194-DF82-406D-ADC2-2E860A9D3AF7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40" name="Graphic 239" descr="Server with solid fill">
              <a:extLst>
                <a:ext uri="{FF2B5EF4-FFF2-40B4-BE49-F238E27FC236}">
                  <a16:creationId xmlns:a16="http://schemas.microsoft.com/office/drawing/2014/main" id="{8E8AAEDF-C428-4D5A-A8AA-5A96542FF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241" name="Picture 240">
            <a:extLst>
              <a:ext uri="{FF2B5EF4-FFF2-40B4-BE49-F238E27FC236}">
                <a16:creationId xmlns:a16="http://schemas.microsoft.com/office/drawing/2014/main" id="{69B37443-823D-4068-9B6E-44C9279E7C8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623" y="2176421"/>
            <a:ext cx="257724" cy="293227"/>
          </a:xfrm>
          <a:prstGeom prst="ellipse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B3885A85-4AD3-6D3B-A01B-CAE2918FA69C}"/>
              </a:ext>
            </a:extLst>
          </p:cNvPr>
          <p:cNvSpPr txBox="1"/>
          <p:nvPr/>
        </p:nvSpPr>
        <p:spPr>
          <a:xfrm>
            <a:off x="5017157" y="4229392"/>
            <a:ext cx="719833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CRM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589BC00-12EE-96C8-9248-23BF879FE2D4}"/>
              </a:ext>
            </a:extLst>
          </p:cNvPr>
          <p:cNvGrpSpPr/>
          <p:nvPr/>
        </p:nvGrpSpPr>
        <p:grpSpPr>
          <a:xfrm>
            <a:off x="5035372" y="3493305"/>
            <a:ext cx="647850" cy="647850"/>
            <a:chOff x="455122" y="4977513"/>
            <a:chExt cx="648000" cy="648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DEF40B0-EE14-E9CB-3FCD-E0BEBAA34B55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" name="Graphic 9" descr="Database with solid fill">
              <a:extLst>
                <a:ext uri="{FF2B5EF4-FFF2-40B4-BE49-F238E27FC236}">
                  <a16:creationId xmlns:a16="http://schemas.microsoft.com/office/drawing/2014/main" id="{86F98DDD-782C-3C41-1DE0-BEF414F2F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9A49EF82-965D-5820-79A2-E49868B1C054}"/>
              </a:ext>
            </a:extLst>
          </p:cNvPr>
          <p:cNvSpPr txBox="1"/>
          <p:nvPr/>
        </p:nvSpPr>
        <p:spPr>
          <a:xfrm>
            <a:off x="2659096" y="4229392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CRISTINE II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55FB48B-2239-44DA-B570-16225119A418}"/>
              </a:ext>
            </a:extLst>
          </p:cNvPr>
          <p:cNvGrpSpPr/>
          <p:nvPr/>
        </p:nvGrpSpPr>
        <p:grpSpPr>
          <a:xfrm>
            <a:off x="2778197" y="3493305"/>
            <a:ext cx="647850" cy="647850"/>
            <a:chOff x="455122" y="4977513"/>
            <a:chExt cx="648000" cy="648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74565F-705B-EF9B-EB93-211EEDE4641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9" name="Graphic 48" descr="Database with solid fill">
              <a:extLst>
                <a:ext uri="{FF2B5EF4-FFF2-40B4-BE49-F238E27FC236}">
                  <a16:creationId xmlns:a16="http://schemas.microsoft.com/office/drawing/2014/main" id="{29EDDD1C-B625-1942-7FA3-306A142A6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287035F-70DD-C85A-6190-A7808F17333D}"/>
              </a:ext>
            </a:extLst>
          </p:cNvPr>
          <p:cNvSpPr txBox="1"/>
          <p:nvPr/>
        </p:nvSpPr>
        <p:spPr>
          <a:xfrm>
            <a:off x="402684" y="422939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838DC5C-5FB2-425F-5231-DE5743DE56AC}"/>
              </a:ext>
            </a:extLst>
          </p:cNvPr>
          <p:cNvGrpSpPr/>
          <p:nvPr/>
        </p:nvGrpSpPr>
        <p:grpSpPr>
          <a:xfrm>
            <a:off x="512875" y="3493305"/>
            <a:ext cx="647850" cy="647850"/>
            <a:chOff x="455122" y="4977513"/>
            <a:chExt cx="648000" cy="648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1854E57-47F6-0316-DCA8-185453247B5A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6" name="Graphic 25" descr="Database with solid fill">
              <a:extLst>
                <a:ext uri="{FF2B5EF4-FFF2-40B4-BE49-F238E27FC236}">
                  <a16:creationId xmlns:a16="http://schemas.microsoft.com/office/drawing/2014/main" id="{910A2CAC-3B4E-5F0A-ACE6-3459D4FA0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60" name="Graphic 159" descr="Single gear outline">
            <a:extLst>
              <a:ext uri="{FF2B5EF4-FFF2-40B4-BE49-F238E27FC236}">
                <a16:creationId xmlns:a16="http://schemas.microsoft.com/office/drawing/2014/main" id="{B747AC7A-0ACB-0D20-5D0A-3934D28E9C3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9803" y="3404788"/>
            <a:ext cx="287933" cy="287933"/>
          </a:xfrm>
          <a:prstGeom prst="rect">
            <a:avLst/>
          </a:prstGeom>
        </p:spPr>
      </p:pic>
      <p:pic>
        <p:nvPicPr>
          <p:cNvPr id="164" name="Imagen 18">
            <a:extLst>
              <a:ext uri="{FF2B5EF4-FFF2-40B4-BE49-F238E27FC236}">
                <a16:creationId xmlns:a16="http://schemas.microsoft.com/office/drawing/2014/main" id="{291A18E5-E655-208D-FD18-F597E829534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57" y="3404788"/>
            <a:ext cx="241113" cy="241113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A7E8F40-5E0E-C84B-D5EC-300BBD71368F}"/>
              </a:ext>
            </a:extLst>
          </p:cNvPr>
          <p:cNvSpPr txBox="1"/>
          <p:nvPr/>
        </p:nvSpPr>
        <p:spPr>
          <a:xfrm>
            <a:off x="1733581" y="4229392"/>
            <a:ext cx="503884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ALM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8C3BCC-C516-5B52-A361-5CEB96E38462}"/>
              </a:ext>
            </a:extLst>
          </p:cNvPr>
          <p:cNvGrpSpPr/>
          <p:nvPr/>
        </p:nvGrpSpPr>
        <p:grpSpPr>
          <a:xfrm>
            <a:off x="1645538" y="3493305"/>
            <a:ext cx="647850" cy="647850"/>
            <a:chOff x="455122" y="4977513"/>
            <a:chExt cx="648000" cy="648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FE26504-2E01-E33F-68F2-BDD0D5A43942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3" name="Graphic 22" descr="Database with solid fill">
              <a:extLst>
                <a:ext uri="{FF2B5EF4-FFF2-40B4-BE49-F238E27FC236}">
                  <a16:creationId xmlns:a16="http://schemas.microsoft.com/office/drawing/2014/main" id="{4283FAC4-F54B-E41D-1931-2CC714EEB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61" name="Graphic 160" descr="Single gear outline">
            <a:extLst>
              <a:ext uri="{FF2B5EF4-FFF2-40B4-BE49-F238E27FC236}">
                <a16:creationId xmlns:a16="http://schemas.microsoft.com/office/drawing/2014/main" id="{F4510D8A-9685-31E5-DF8F-12C392B09CB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93498" y="3404788"/>
            <a:ext cx="287933" cy="287933"/>
          </a:xfrm>
          <a:prstGeom prst="rect">
            <a:avLst/>
          </a:prstGeom>
        </p:spPr>
      </p:pic>
      <p:pic>
        <p:nvPicPr>
          <p:cNvPr id="165" name="Imagen 18">
            <a:extLst>
              <a:ext uri="{FF2B5EF4-FFF2-40B4-BE49-F238E27FC236}">
                <a16:creationId xmlns:a16="http://schemas.microsoft.com/office/drawing/2014/main" id="{A5254EE5-6A6D-A712-8838-2EBF54B5EFB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432" y="3404788"/>
            <a:ext cx="241113" cy="241113"/>
          </a:xfrm>
          <a:prstGeom prst="rect">
            <a:avLst/>
          </a:prstGeom>
        </p:spPr>
      </p:pic>
      <p:sp>
        <p:nvSpPr>
          <p:cNvPr id="202" name="TextBox 201">
            <a:extLst>
              <a:ext uri="{FF2B5EF4-FFF2-40B4-BE49-F238E27FC236}">
                <a16:creationId xmlns:a16="http://schemas.microsoft.com/office/drawing/2014/main" id="{7E26243C-CF8B-49FB-90F6-CE5BA6CA4CF9}"/>
              </a:ext>
            </a:extLst>
          </p:cNvPr>
          <p:cNvSpPr txBox="1"/>
          <p:nvPr/>
        </p:nvSpPr>
        <p:spPr>
          <a:xfrm>
            <a:off x="3868404" y="4229392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MARS</a:t>
            </a: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4B27635E-F257-459D-8687-7E6006272D64}"/>
              </a:ext>
            </a:extLst>
          </p:cNvPr>
          <p:cNvGrpSpPr/>
          <p:nvPr/>
        </p:nvGrpSpPr>
        <p:grpSpPr>
          <a:xfrm>
            <a:off x="3938014" y="3493305"/>
            <a:ext cx="647850" cy="647850"/>
            <a:chOff x="455122" y="4977513"/>
            <a:chExt cx="648000" cy="648000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7BDAD7E-4C9C-4AC5-A24C-4801E127E015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05" name="Graphic 204" descr="Database with solid fill">
              <a:extLst>
                <a:ext uri="{FF2B5EF4-FFF2-40B4-BE49-F238E27FC236}">
                  <a16:creationId xmlns:a16="http://schemas.microsoft.com/office/drawing/2014/main" id="{F87057EB-5DCE-4629-81E9-AFC333500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218" name="TextBox 217">
            <a:extLst>
              <a:ext uri="{FF2B5EF4-FFF2-40B4-BE49-F238E27FC236}">
                <a16:creationId xmlns:a16="http://schemas.microsoft.com/office/drawing/2014/main" id="{2A1B8E7D-47C1-401B-BDF1-EBE426D70622}"/>
              </a:ext>
            </a:extLst>
          </p:cNvPr>
          <p:cNvSpPr txBox="1"/>
          <p:nvPr/>
        </p:nvSpPr>
        <p:spPr>
          <a:xfrm>
            <a:off x="5701106" y="4229392"/>
            <a:ext cx="1680501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ServiceNow</a:t>
            </a:r>
            <a:endParaRPr lang="en-US" sz="900" dirty="0"/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8EF51205-3C0E-44FE-9AC6-21204C8F6DBE}"/>
              </a:ext>
            </a:extLst>
          </p:cNvPr>
          <p:cNvGrpSpPr/>
          <p:nvPr/>
        </p:nvGrpSpPr>
        <p:grpSpPr>
          <a:xfrm>
            <a:off x="6159366" y="3493305"/>
            <a:ext cx="647850" cy="647850"/>
            <a:chOff x="455122" y="4977513"/>
            <a:chExt cx="648000" cy="648000"/>
          </a:xfrm>
        </p:grpSpPr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73EBA4E7-DB8D-46FF-8A1C-1BC18915B63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3" name="Graphic 222" descr="Database with solid fill">
              <a:extLst>
                <a:ext uri="{FF2B5EF4-FFF2-40B4-BE49-F238E27FC236}">
                  <a16:creationId xmlns:a16="http://schemas.microsoft.com/office/drawing/2014/main" id="{1C7B6A82-1C25-4015-B27D-4F406DD50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220" name="Graphic 219" descr="Single gear outline">
            <a:extLst>
              <a:ext uri="{FF2B5EF4-FFF2-40B4-BE49-F238E27FC236}">
                <a16:creationId xmlns:a16="http://schemas.microsoft.com/office/drawing/2014/main" id="{522BAC32-C537-40B4-A43C-3595287B8C5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27258" y="3404788"/>
            <a:ext cx="287933" cy="287933"/>
          </a:xfrm>
          <a:prstGeom prst="rect">
            <a:avLst/>
          </a:prstGeom>
        </p:spPr>
      </p:pic>
      <p:pic>
        <p:nvPicPr>
          <p:cNvPr id="221" name="Imagen 18">
            <a:extLst>
              <a:ext uri="{FF2B5EF4-FFF2-40B4-BE49-F238E27FC236}">
                <a16:creationId xmlns:a16="http://schemas.microsoft.com/office/drawing/2014/main" id="{5D43E741-6CBE-4C90-9EC7-08E3B56E166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447" y="3404788"/>
            <a:ext cx="241113" cy="241113"/>
          </a:xfrm>
          <a:prstGeom prst="rect">
            <a:avLst/>
          </a:prstGeom>
        </p:spPr>
      </p:pic>
      <p:sp>
        <p:nvSpPr>
          <p:cNvPr id="230" name="TextBox 229">
            <a:extLst>
              <a:ext uri="{FF2B5EF4-FFF2-40B4-BE49-F238E27FC236}">
                <a16:creationId xmlns:a16="http://schemas.microsoft.com/office/drawing/2014/main" id="{47405D6C-B1BB-4DDB-BF19-EAAD4754CED7}"/>
              </a:ext>
            </a:extLst>
          </p:cNvPr>
          <p:cNvSpPr txBox="1"/>
          <p:nvPr/>
        </p:nvSpPr>
        <p:spPr>
          <a:xfrm>
            <a:off x="10978285" y="4229392"/>
            <a:ext cx="827808" cy="369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SERVIÇO FRAUDE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75EA2551-9F14-4511-B743-6540E3A1A481}"/>
              </a:ext>
            </a:extLst>
          </p:cNvPr>
          <p:cNvGrpSpPr/>
          <p:nvPr/>
        </p:nvGrpSpPr>
        <p:grpSpPr>
          <a:xfrm>
            <a:off x="11045733" y="3493305"/>
            <a:ext cx="647850" cy="647850"/>
            <a:chOff x="1498452" y="4969551"/>
            <a:chExt cx="648000" cy="648000"/>
          </a:xfrm>
        </p:grpSpPr>
        <p:sp>
          <p:nvSpPr>
            <p:cNvPr id="232" name="Oval 2">
              <a:extLst>
                <a:ext uri="{FF2B5EF4-FFF2-40B4-BE49-F238E27FC236}">
                  <a16:creationId xmlns:a16="http://schemas.microsoft.com/office/drawing/2014/main" id="{C104A1E0-7EE0-4BB5-8818-2B7C83B14045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33" name="Graphic 232" descr="Server with solid fill">
              <a:extLst>
                <a:ext uri="{FF2B5EF4-FFF2-40B4-BE49-F238E27FC236}">
                  <a16:creationId xmlns:a16="http://schemas.microsoft.com/office/drawing/2014/main" id="{3CF97295-60AF-4FB5-8387-274C8D790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234" name="Graphic 233" descr="Single gear outline">
            <a:extLst>
              <a:ext uri="{FF2B5EF4-FFF2-40B4-BE49-F238E27FC236}">
                <a16:creationId xmlns:a16="http://schemas.microsoft.com/office/drawing/2014/main" id="{ED01EEE0-C2AB-4503-8101-0709CDD2DAB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95629" y="3404788"/>
            <a:ext cx="287933" cy="287933"/>
          </a:xfrm>
          <a:prstGeom prst="rect">
            <a:avLst/>
          </a:prstGeom>
        </p:spPr>
      </p:pic>
      <p:pic>
        <p:nvPicPr>
          <p:cNvPr id="235" name="Imagen 18">
            <a:extLst>
              <a:ext uri="{FF2B5EF4-FFF2-40B4-BE49-F238E27FC236}">
                <a16:creationId xmlns:a16="http://schemas.microsoft.com/office/drawing/2014/main" id="{A9AB721D-75C2-43D7-8597-CD16F3FC904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345" y="3404788"/>
            <a:ext cx="241113" cy="241113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C93C162-D8C4-D319-FC08-DEB5E838B41B}"/>
              </a:ext>
            </a:extLst>
          </p:cNvPr>
          <p:cNvSpPr txBox="1"/>
          <p:nvPr/>
        </p:nvSpPr>
        <p:spPr>
          <a:xfrm>
            <a:off x="6839700" y="4229392"/>
            <a:ext cx="1680501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ConsolS</a:t>
            </a:r>
            <a:endParaRPr lang="en-US" sz="9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A2EC1C4-EB10-DBF7-991A-D88DA7315D88}"/>
              </a:ext>
            </a:extLst>
          </p:cNvPr>
          <p:cNvGrpSpPr/>
          <p:nvPr/>
        </p:nvGrpSpPr>
        <p:grpSpPr>
          <a:xfrm>
            <a:off x="7297960" y="3493305"/>
            <a:ext cx="647850" cy="647850"/>
            <a:chOff x="455122" y="4977513"/>
            <a:chExt cx="648000" cy="64800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E9C0000-0579-FF41-9FC9-FA4E621B09E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0" name="Graphic 59" descr="Database with solid fill">
              <a:extLst>
                <a:ext uri="{FF2B5EF4-FFF2-40B4-BE49-F238E27FC236}">
                  <a16:creationId xmlns:a16="http://schemas.microsoft.com/office/drawing/2014/main" id="{1D742A0A-D4AD-78A8-831F-8D164368C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57" name="Graphic 56" descr="Single gear outline">
            <a:extLst>
              <a:ext uri="{FF2B5EF4-FFF2-40B4-BE49-F238E27FC236}">
                <a16:creationId xmlns:a16="http://schemas.microsoft.com/office/drawing/2014/main" id="{676FF3D2-0838-AC7B-94C8-64843479747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65852" y="3404788"/>
            <a:ext cx="287933" cy="287933"/>
          </a:xfrm>
          <a:prstGeom prst="rect">
            <a:avLst/>
          </a:prstGeom>
        </p:spPr>
      </p:pic>
      <p:pic>
        <p:nvPicPr>
          <p:cNvPr id="58" name="Imagen 18">
            <a:extLst>
              <a:ext uri="{FF2B5EF4-FFF2-40B4-BE49-F238E27FC236}">
                <a16:creationId xmlns:a16="http://schemas.microsoft.com/office/drawing/2014/main" id="{D59B127A-128A-ADE1-C7A9-4AA3A4A185C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041" y="3404788"/>
            <a:ext cx="241113" cy="241113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B95A3059-3AF1-B827-5952-348A9C821B86}"/>
              </a:ext>
            </a:extLst>
          </p:cNvPr>
          <p:cNvSpPr txBox="1"/>
          <p:nvPr/>
        </p:nvSpPr>
        <p:spPr>
          <a:xfrm>
            <a:off x="8838203" y="4229392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PGR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9E6C668-7A1F-4B78-80BC-3976567530E7}"/>
              </a:ext>
            </a:extLst>
          </p:cNvPr>
          <p:cNvGrpSpPr/>
          <p:nvPr/>
        </p:nvGrpSpPr>
        <p:grpSpPr>
          <a:xfrm>
            <a:off x="8905651" y="3493305"/>
            <a:ext cx="647850" cy="647850"/>
            <a:chOff x="1498452" y="4969551"/>
            <a:chExt cx="648000" cy="648000"/>
          </a:xfrm>
        </p:grpSpPr>
        <p:sp>
          <p:nvSpPr>
            <p:cNvPr id="74" name="Oval 2">
              <a:extLst>
                <a:ext uri="{FF2B5EF4-FFF2-40B4-BE49-F238E27FC236}">
                  <a16:creationId xmlns:a16="http://schemas.microsoft.com/office/drawing/2014/main" id="{139BB48F-D15D-D126-3597-6C9F0196E355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8" name="Graphic 87" descr="Server with solid fill">
              <a:extLst>
                <a:ext uri="{FF2B5EF4-FFF2-40B4-BE49-F238E27FC236}">
                  <a16:creationId xmlns:a16="http://schemas.microsoft.com/office/drawing/2014/main" id="{2F763CB8-0880-898A-2BD4-368E788EF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AE1C4B7-6C1D-8C86-947D-882B7C833B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22668" y="3404788"/>
            <a:ext cx="287933" cy="287933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EBB99CED-F50D-F0E8-88D7-9B92395348C0}"/>
              </a:ext>
            </a:extLst>
          </p:cNvPr>
          <p:cNvSpPr txBox="1"/>
          <p:nvPr/>
        </p:nvSpPr>
        <p:spPr>
          <a:xfrm>
            <a:off x="9838630" y="4229392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REMEDY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E7FC424-C916-4469-FF1F-72173975A2AD}"/>
              </a:ext>
            </a:extLst>
          </p:cNvPr>
          <p:cNvGrpSpPr/>
          <p:nvPr/>
        </p:nvGrpSpPr>
        <p:grpSpPr>
          <a:xfrm>
            <a:off x="9906078" y="3493305"/>
            <a:ext cx="647850" cy="647850"/>
            <a:chOff x="1498452" y="4969551"/>
            <a:chExt cx="648000" cy="648000"/>
          </a:xfrm>
        </p:grpSpPr>
        <p:sp>
          <p:nvSpPr>
            <p:cNvPr id="99" name="Oval 2">
              <a:extLst>
                <a:ext uri="{FF2B5EF4-FFF2-40B4-BE49-F238E27FC236}">
                  <a16:creationId xmlns:a16="http://schemas.microsoft.com/office/drawing/2014/main" id="{4C376069-0FE5-FE76-464B-8DCD3DB42C22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3" name="Graphic 102" descr="Server with solid fill">
              <a:extLst>
                <a:ext uri="{FF2B5EF4-FFF2-40B4-BE49-F238E27FC236}">
                  <a16:creationId xmlns:a16="http://schemas.microsoft.com/office/drawing/2014/main" id="{C1A7134E-930B-D459-BB45-A004018BB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106" name="Imagen 18">
            <a:extLst>
              <a:ext uri="{FF2B5EF4-FFF2-40B4-BE49-F238E27FC236}">
                <a16:creationId xmlns:a16="http://schemas.microsoft.com/office/drawing/2014/main" id="{AAE2547E-0B2C-26F8-B7EB-7377BCF22D8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066" y="1160159"/>
            <a:ext cx="241113" cy="24111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866783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8670" y="716714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>
                <a:solidFill>
                  <a:srgbClr val="FF0000"/>
                </a:solidFill>
              </a:rPr>
              <a:t>Processos, Output, EUC, Fontes Externas, Fonte Corporativa, Métricas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CE2701D-A027-CC34-5CED-AE0AE79E10C7}"/>
              </a:ext>
            </a:extLst>
          </p:cNvPr>
          <p:cNvSpPr txBox="1"/>
          <p:nvPr/>
        </p:nvSpPr>
        <p:spPr>
          <a:xfrm>
            <a:off x="559270" y="3203039"/>
            <a:ext cx="5758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BPNet</a:t>
            </a:r>
          </a:p>
        </p:txBody>
      </p:sp>
      <p:pic>
        <p:nvPicPr>
          <p:cNvPr id="86" name="Picture 85" descr="Icon&#10;&#10;Description automatically generated">
            <a:extLst>
              <a:ext uri="{FF2B5EF4-FFF2-40B4-BE49-F238E27FC236}">
                <a16:creationId xmlns:a16="http://schemas.microsoft.com/office/drawing/2014/main" id="{0E41B5F1-F326-3BDE-743A-4AAD81E60DFC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12875" y="2555800"/>
            <a:ext cx="647850" cy="64785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9764" y="1358144"/>
            <a:ext cx="647850" cy="647850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5848903" y="201161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Ficheiro</a:t>
            </a:r>
            <a:r>
              <a:rPr lang="en-US" sz="900" dirty="0"/>
              <a:t>.xls</a:t>
            </a:r>
          </a:p>
        </p:txBody>
      </p:sp>
      <p:pic>
        <p:nvPicPr>
          <p:cNvPr id="115" name="Picture 4">
            <a:extLst>
              <a:ext uri="{FF2B5EF4-FFF2-40B4-BE49-F238E27FC236}">
                <a16:creationId xmlns:a16="http://schemas.microsoft.com/office/drawing/2014/main" id="{99E82821-A0BE-8409-93D9-F0F1925C7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75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F30938C-6492-A94D-FBB7-B906388E625D}"/>
              </a:ext>
            </a:extLst>
          </p:cNvPr>
          <p:cNvSpPr txBox="1"/>
          <p:nvPr/>
        </p:nvSpPr>
        <p:spPr>
          <a:xfrm>
            <a:off x="613258" y="2011619"/>
            <a:ext cx="4678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SAS</a:t>
            </a:r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922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4743954" y="2011619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Output.txt</a:t>
            </a:r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425" y="1358144"/>
            <a:ext cx="647850" cy="647850"/>
          </a:xfrm>
          <a:prstGeom prst="ellipse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BF68C6E9-F5F9-D00A-0C22-9991B2D38896}"/>
              </a:ext>
            </a:extLst>
          </p:cNvPr>
          <p:cNvSpPr txBox="1"/>
          <p:nvPr/>
        </p:nvSpPr>
        <p:spPr>
          <a:xfrm>
            <a:off x="6906060" y="2005995"/>
            <a:ext cx="8997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Corporação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39BDA-A9EB-13E8-A22A-7AB2EE76078A}"/>
              </a:ext>
            </a:extLst>
          </p:cNvPr>
          <p:cNvSpPr txBox="1"/>
          <p:nvPr/>
        </p:nvSpPr>
        <p:spPr>
          <a:xfrm>
            <a:off x="1554956" y="320303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Bloomberg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B4709F44-83DD-0F9A-F0CA-BC9540A24D35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645537" y="2555800"/>
            <a:ext cx="647850" cy="647850"/>
          </a:xfrm>
          <a:prstGeom prst="rect">
            <a:avLst/>
          </a:prstGeom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960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33C3DDB-2EE1-758A-A98B-4BF76303DF66}"/>
              </a:ext>
            </a:extLst>
          </p:cNvPr>
          <p:cNvSpPr txBox="1"/>
          <p:nvPr/>
        </p:nvSpPr>
        <p:spPr>
          <a:xfrm>
            <a:off x="7926141" y="2011619"/>
            <a:ext cx="8997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Métrica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43FA2607-B4BD-2FEE-50BC-14C96CFE85EE}"/>
              </a:ext>
            </a:extLst>
          </p:cNvPr>
          <p:cNvSpPr txBox="1"/>
          <p:nvPr/>
        </p:nvSpPr>
        <p:spPr>
          <a:xfrm>
            <a:off x="2614702" y="320303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INE</a:t>
            </a:r>
          </a:p>
        </p:txBody>
      </p:sp>
      <p:pic>
        <p:nvPicPr>
          <p:cNvPr id="1074" name="Picture 1073" descr="Icon&#10;&#10;Description automatically generated">
            <a:extLst>
              <a:ext uri="{FF2B5EF4-FFF2-40B4-BE49-F238E27FC236}">
                <a16:creationId xmlns:a16="http://schemas.microsoft.com/office/drawing/2014/main" id="{CEF14D2E-914A-6B0A-9E86-834DF57BBD5F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698378" y="2555800"/>
            <a:ext cx="647850" cy="64785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8E21E4B6-7E9F-46BC-9343-ACF2412E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288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70A5D78-43A0-49F5-AD5C-C81F722003E1}"/>
              </a:ext>
            </a:extLst>
          </p:cNvPr>
          <p:cNvSpPr txBox="1"/>
          <p:nvPr/>
        </p:nvSpPr>
        <p:spPr>
          <a:xfrm>
            <a:off x="1482341" y="201161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QlikSense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261AF-2053-48C2-A475-39CEDE66251E}"/>
              </a:ext>
            </a:extLst>
          </p:cNvPr>
          <p:cNvSpPr txBox="1"/>
          <p:nvPr/>
        </p:nvSpPr>
        <p:spPr>
          <a:xfrm>
            <a:off x="3578294" y="3203039"/>
            <a:ext cx="9109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POWER BI</a:t>
            </a:r>
          </a:p>
        </p:txBody>
      </p:sp>
      <p:pic>
        <p:nvPicPr>
          <p:cNvPr id="24" name="Picture 2" descr="Business Intelligence Certification Training Course – Gpearls">
            <a:extLst>
              <a:ext uri="{FF2B5EF4-FFF2-40B4-BE49-F238E27FC236}">
                <a16:creationId xmlns:a16="http://schemas.microsoft.com/office/drawing/2014/main" id="{F529E13E-407D-4FCD-8303-D99B606F7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449" y="2555800"/>
            <a:ext cx="647850" cy="65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6930953-4299-4212-B541-F856EBBBDED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954" y="2555800"/>
            <a:ext cx="719833" cy="6593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B1BA94-3041-46D2-A53C-BF4473F64180}"/>
              </a:ext>
            </a:extLst>
          </p:cNvPr>
          <p:cNvSpPr txBox="1"/>
          <p:nvPr/>
        </p:nvSpPr>
        <p:spPr>
          <a:xfrm>
            <a:off x="4518913" y="3203039"/>
            <a:ext cx="169332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BALCÕES / CALL CENTER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B861D152-6814-448D-97E3-605025EDD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368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E875CE9-00BA-4F2F-9FF9-30386D3E44AA}"/>
              </a:ext>
            </a:extLst>
          </p:cNvPr>
          <p:cNvSpPr txBox="1"/>
          <p:nvPr/>
        </p:nvSpPr>
        <p:spPr>
          <a:xfrm>
            <a:off x="2493719" y="2011619"/>
            <a:ext cx="1189902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 dirty="0">
                <a:solidFill>
                  <a:srgbClr val="535353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QLIK Sense - MashUp </a:t>
            </a:r>
            <a:endParaRPr lang="en-US" sz="1000" b="1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44E32E0-5431-413F-BBE7-27E2C56B619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800" y="1447936"/>
            <a:ext cx="257724" cy="293227"/>
          </a:xfrm>
          <a:prstGeom prst="ellipse">
            <a:avLst/>
          </a:prstGeom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454864B4-067A-4084-96D1-577397C29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694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249CB4C-5A22-4328-8B83-730BB52CCE19}"/>
              </a:ext>
            </a:extLst>
          </p:cNvPr>
          <p:cNvSpPr txBox="1"/>
          <p:nvPr/>
        </p:nvSpPr>
        <p:spPr>
          <a:xfrm>
            <a:off x="3576136" y="201161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Impala</a:t>
            </a:r>
          </a:p>
        </p:txBody>
      </p:sp>
      <p:pic>
        <p:nvPicPr>
          <p:cNvPr id="36" name="Picture 139" descr="Related image">
            <a:extLst>
              <a:ext uri="{FF2B5EF4-FFF2-40B4-BE49-F238E27FC236}">
                <a16:creationId xmlns:a16="http://schemas.microsoft.com/office/drawing/2014/main" id="{A03B1872-3441-4871-9064-379F48F9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186" y="1347646"/>
            <a:ext cx="241113" cy="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8299850B-CCD7-4A01-BBF7-0B9A427EC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74" y="1327379"/>
            <a:ext cx="241113" cy="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105430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Governance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1461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088BF3-703A-BB75-1389-2AD8B2E03CAF}"/>
              </a:ext>
            </a:extLst>
          </p:cNvPr>
          <p:cNvSpPr/>
          <p:nvPr/>
        </p:nvSpPr>
        <p:spPr>
          <a:xfrm>
            <a:off x="3471828" y="1805556"/>
            <a:ext cx="1301598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dirty="0">
                <a:latin typeface="+mj-lt"/>
              </a:rPr>
              <a:t>1. Envio de </a:t>
            </a:r>
            <a:r>
              <a:rPr lang="pt-PT" sz="1000" b="1" i="1" dirty="0">
                <a:latin typeface="+mj-lt"/>
              </a:rPr>
              <a:t>inputs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B1048-3568-E9D0-1CA5-56935CD3A138}"/>
              </a:ext>
            </a:extLst>
          </p:cNvPr>
          <p:cNvSpPr/>
          <p:nvPr/>
        </p:nvSpPr>
        <p:spPr>
          <a:xfrm>
            <a:off x="3129535" y="2302440"/>
            <a:ext cx="878766" cy="40011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pt-PT" sz="1000" b="1" dirty="0">
                <a:latin typeface="+mj-lt"/>
              </a:rPr>
              <a:t>2. Geração </a:t>
            </a:r>
          </a:p>
          <a:p>
            <a:pPr algn="ctr"/>
            <a:r>
              <a:rPr lang="pt-PT" sz="1000" b="1" dirty="0">
                <a:latin typeface="+mj-lt"/>
              </a:rPr>
              <a:t>de satélites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065354-0DC8-AF6E-8385-8A86C440578D}"/>
              </a:ext>
            </a:extLst>
          </p:cNvPr>
          <p:cNvSpPr/>
          <p:nvPr/>
        </p:nvSpPr>
        <p:spPr>
          <a:xfrm>
            <a:off x="2668701" y="2878043"/>
            <a:ext cx="1135743" cy="70772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kern="0" dirty="0">
                <a:latin typeface="+mj-lt"/>
              </a:rPr>
              <a:t>3. </a:t>
            </a:r>
            <a:r>
              <a:rPr lang="pt-PT" sz="1000" b="1" dirty="0">
                <a:latin typeface="+mj-lt"/>
              </a:rPr>
              <a:t>Validação de satélites corporativos</a:t>
            </a:r>
          </a:p>
          <a:p>
            <a:pPr defTabSz="914034">
              <a:defRPr/>
            </a:pPr>
            <a:endParaRPr lang="pt-PT" sz="1000" kern="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DD4C61-1B0B-B40A-D091-1D03E777D273}"/>
              </a:ext>
            </a:extLst>
          </p:cNvPr>
          <p:cNvSpPr/>
          <p:nvPr/>
        </p:nvSpPr>
        <p:spPr>
          <a:xfrm>
            <a:off x="1621154" y="3761304"/>
            <a:ext cx="1487561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dirty="0">
                <a:latin typeface="+mj-lt"/>
              </a:rPr>
              <a:t>4. </a:t>
            </a:r>
            <a:r>
              <a:rPr lang="pt-PT" sz="1000" b="1" kern="0" dirty="0">
                <a:latin typeface="+mj-lt"/>
              </a:rPr>
              <a:t>Geração dos </a:t>
            </a:r>
            <a:r>
              <a:rPr lang="pt-PT" sz="1000" b="1" i="1" kern="0" dirty="0">
                <a:latin typeface="+mj-lt"/>
              </a:rPr>
              <a:t>templates </a:t>
            </a:r>
            <a:r>
              <a:rPr lang="pt-PT" sz="1000" b="1" kern="0" dirty="0">
                <a:latin typeface="+mj-lt"/>
              </a:rPr>
              <a:t>locais</a:t>
            </a:r>
            <a:endParaRPr lang="pt-PT" sz="1000" b="1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6A46C7-9C13-B7DA-B618-C61F2BD50D7B}"/>
              </a:ext>
            </a:extLst>
          </p:cNvPr>
          <p:cNvSpPr/>
          <p:nvPr/>
        </p:nvSpPr>
        <p:spPr>
          <a:xfrm>
            <a:off x="1500572" y="4452165"/>
            <a:ext cx="1502955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+mj-lt"/>
              </a:rPr>
              <a:t>5. Validação dos </a:t>
            </a:r>
            <a:r>
              <a:rPr lang="pt-PT" sz="1000" b="1" i="1" dirty="0">
                <a:latin typeface="+mj-lt"/>
              </a:rPr>
              <a:t>templates</a:t>
            </a:r>
            <a:r>
              <a:rPr lang="pt-PT" sz="1000" b="1" dirty="0">
                <a:latin typeface="+mj-lt"/>
              </a:rPr>
              <a:t> locais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CEBAE9-0132-F2DB-52B4-C2157D5B2B38}"/>
              </a:ext>
            </a:extLst>
          </p:cNvPr>
          <p:cNvSpPr/>
          <p:nvPr/>
        </p:nvSpPr>
        <p:spPr>
          <a:xfrm>
            <a:off x="5484700" y="4290032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2232000" tIns="0" rIns="108000" bIns="0" rtlCol="0" anchor="ctr">
            <a:noAutofit/>
          </a:bodyPr>
          <a:lstStyle/>
          <a:p>
            <a:pPr marL="628639" lvl="1" indent="-171450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Validação dos </a:t>
            </a:r>
            <a:r>
              <a:rPr lang="pt-PT" sz="800" i="1" dirty="0">
                <a:latin typeface="+mj-lt"/>
              </a:rPr>
              <a:t>templates </a:t>
            </a:r>
            <a:r>
              <a:rPr lang="pt-PT" sz="800" dirty="0">
                <a:latin typeface="+mj-lt"/>
              </a:rPr>
              <a:t>locais através de conciliações com a área de Contabilidade.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61CB54-7693-9AEB-44B7-3F2D4E836CB0}"/>
              </a:ext>
            </a:extLst>
          </p:cNvPr>
          <p:cNvSpPr/>
          <p:nvPr/>
        </p:nvSpPr>
        <p:spPr>
          <a:xfrm>
            <a:off x="5484700" y="3610273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728000" tIns="0" rIns="108000" bIns="108000" rtlCol="0" anchor="ctr">
            <a:noAutofit/>
          </a:bodyPr>
          <a:lstStyle/>
          <a:p>
            <a:pPr lvl="1" defTabSz="1375089"/>
            <a:endParaRPr lang="pt-PT" sz="800" dirty="0">
              <a:latin typeface="+mj-lt"/>
            </a:endParaRPr>
          </a:p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Geração dos </a:t>
            </a:r>
            <a:r>
              <a:rPr lang="pt-PT" sz="800" i="1" dirty="0">
                <a:latin typeface="+mj-lt"/>
              </a:rPr>
              <a:t>templates </a:t>
            </a:r>
            <a:r>
              <a:rPr lang="pt-PT" sz="800" dirty="0">
                <a:latin typeface="+mj-lt"/>
              </a:rPr>
              <a:t>locais.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DF516D-43BC-49D4-3A1B-03C639042EC0}"/>
              </a:ext>
            </a:extLst>
          </p:cNvPr>
          <p:cNvSpPr/>
          <p:nvPr/>
        </p:nvSpPr>
        <p:spPr>
          <a:xfrm>
            <a:off x="5484700" y="2930513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152000" tIns="0" rIns="108000" bIns="0" rtlCol="0" anchor="ctr">
            <a:noAutofit/>
          </a:bodyPr>
          <a:lstStyle/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Validação das combinações de elementos contabilísticos e ESG presentes nos IDCOMBs dos satélites.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E9024C-6D3B-46F1-AC26-27CD19164EA8}"/>
              </a:ext>
            </a:extLst>
          </p:cNvPr>
          <p:cNvSpPr/>
          <p:nvPr/>
        </p:nvSpPr>
        <p:spPr>
          <a:xfrm>
            <a:off x="5484700" y="2250754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792000" tIns="0" rIns="108000" bIns="0" rtlCol="0" anchor="ctr">
            <a:noAutofit/>
          </a:bodyPr>
          <a:lstStyle/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Modelação de dados provenientes dos inputs para obtenção de métricas necessárias à geração dos satélites.</a:t>
            </a:r>
          </a:p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Geração dos satélites incorporando as </a:t>
            </a:r>
            <a:r>
              <a:rPr lang="pt-PT" sz="800" i="1" dirty="0">
                <a:latin typeface="+mj-lt"/>
              </a:rPr>
              <a:t>guidelines</a:t>
            </a:r>
            <a:r>
              <a:rPr lang="pt-PT" sz="800" dirty="0">
                <a:latin typeface="+mj-lt"/>
              </a:rPr>
              <a:t> da Corporação.</a:t>
            </a:r>
          </a:p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Submissão dos satélites gerados para a Corporação.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40D88-7A06-7A6D-7260-F9B08BC23B9E}"/>
              </a:ext>
            </a:extLst>
          </p:cNvPr>
          <p:cNvSpPr/>
          <p:nvPr/>
        </p:nvSpPr>
        <p:spPr>
          <a:xfrm>
            <a:off x="5484700" y="1570360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576000" tIns="0" rIns="108000" bIns="71983" rtlCol="0" anchor="ctr">
            <a:noAutofit/>
          </a:bodyPr>
          <a:lstStyle/>
          <a:p>
            <a:pPr defTabSz="1375089"/>
            <a:endParaRPr lang="pt-PT" sz="800" dirty="0">
              <a:latin typeface="+mj-lt"/>
            </a:endParaRPr>
          </a:p>
          <a:p>
            <a:pPr marL="228554" indent="-228554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Envio dos ficheiros “xlsx”  auxiliares aos satélites e ficheiros com os IDCOMBs dos satélites por parte da Corporação para a equipa de Green Finance.</a:t>
            </a:r>
            <a:endParaRPr lang="pt-PT" sz="800" dirty="0">
              <a:highlight>
                <a:srgbClr val="FFFF00"/>
              </a:highlight>
              <a:latin typeface="+mj-lt"/>
            </a:endParaRPr>
          </a:p>
          <a:p>
            <a:pPr marL="228554" indent="-228554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Envio dos ficheiros “xlsx” relativos aos adjudicados por parte da área de Contabilidade e Desinvestimento para </a:t>
            </a:r>
            <a:r>
              <a:rPr lang="pt-PT" sz="800" dirty="0"/>
              <a:t>a equipa de Green Finance.</a:t>
            </a:r>
            <a:endParaRPr lang="pt-PT" sz="800" dirty="0">
              <a:highlight>
                <a:srgbClr val="FFFF00"/>
              </a:highlight>
            </a:endParaRPr>
          </a:p>
          <a:p>
            <a:pPr defTabSz="1375089"/>
            <a:r>
              <a:rPr lang="pt-PT" sz="1000" dirty="0">
                <a:latin typeface="+mj-lt"/>
              </a:rPr>
              <a:t> </a:t>
            </a:r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8B36A6A7-F983-3A7F-CA8A-2D38B5FE9AFF}"/>
              </a:ext>
            </a:extLst>
          </p:cNvPr>
          <p:cNvSpPr/>
          <p:nvPr/>
        </p:nvSpPr>
        <p:spPr>
          <a:xfrm>
            <a:off x="4485134" y="2250754"/>
            <a:ext cx="2012484" cy="642996"/>
          </a:xfrm>
          <a:prstGeom prst="trapezoid">
            <a:avLst>
              <a:gd name="adj" fmla="val 77144"/>
            </a:avLst>
          </a:prstGeom>
          <a:solidFill>
            <a:srgbClr val="FF5353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EB491EC7-BA90-5E47-25CF-697A9ED53D74}"/>
              </a:ext>
            </a:extLst>
          </p:cNvPr>
          <p:cNvSpPr/>
          <p:nvPr/>
        </p:nvSpPr>
        <p:spPr>
          <a:xfrm>
            <a:off x="4998761" y="1570360"/>
            <a:ext cx="979099" cy="643629"/>
          </a:xfrm>
          <a:prstGeom prst="trapezoid">
            <a:avLst>
              <a:gd name="adj" fmla="val 93230"/>
            </a:avLst>
          </a:prstGeom>
          <a:solidFill>
            <a:srgbClr val="FA0000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5089"/>
            <a:endParaRPr lang="pt-PT" sz="3199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95CEF503-DED4-6BAC-FA15-00F1E3093A5E}"/>
              </a:ext>
            </a:extLst>
          </p:cNvPr>
          <p:cNvSpPr/>
          <p:nvPr/>
        </p:nvSpPr>
        <p:spPr>
          <a:xfrm>
            <a:off x="3964555" y="2930513"/>
            <a:ext cx="3053643" cy="642996"/>
          </a:xfrm>
          <a:prstGeom prst="trapezoid">
            <a:avLst>
              <a:gd name="adj" fmla="val 76861"/>
            </a:avLst>
          </a:prstGeom>
          <a:solidFill>
            <a:srgbClr val="FF8181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50F73E-C80C-3516-22FE-1CBCE901F66F}"/>
              </a:ext>
            </a:extLst>
          </p:cNvPr>
          <p:cNvSpPr/>
          <p:nvPr/>
        </p:nvSpPr>
        <p:spPr>
          <a:xfrm>
            <a:off x="973644" y="5143023"/>
            <a:ext cx="1469717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+mj-lt"/>
              </a:rPr>
              <a:t>6. </a:t>
            </a:r>
            <a:r>
              <a:rPr lang="pt-PT" sz="1000" b="1" kern="0" dirty="0">
                <a:latin typeface="+mj-lt"/>
              </a:rPr>
              <a:t>Documentação</a:t>
            </a:r>
            <a:endParaRPr lang="pt-PT" sz="1000" b="1" dirty="0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6A2BAF-F4BD-E17D-F139-1E5115512D70}"/>
              </a:ext>
            </a:extLst>
          </p:cNvPr>
          <p:cNvSpPr/>
          <p:nvPr/>
        </p:nvSpPr>
        <p:spPr>
          <a:xfrm>
            <a:off x="5484700" y="4969791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2808000" tIns="0" rIns="108000" bIns="0" rtlCol="0" anchor="ctr">
            <a:noAutofit/>
          </a:bodyPr>
          <a:lstStyle/>
          <a:p>
            <a:pPr marL="628639" lvl="1" indent="-171450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Documentação dos processos desenvolvidos para geração dos satélites e dos </a:t>
            </a:r>
            <a:r>
              <a:rPr lang="pt-PT" sz="800" i="1" dirty="0">
                <a:latin typeface="+mj-lt"/>
              </a:rPr>
              <a:t>templates</a:t>
            </a:r>
            <a:r>
              <a:rPr lang="pt-PT" sz="800" dirty="0">
                <a:latin typeface="+mj-lt"/>
              </a:rPr>
              <a:t> locais.</a:t>
            </a: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4B73AB0B-8799-0D20-48A0-963EADC02633}"/>
              </a:ext>
            </a:extLst>
          </p:cNvPr>
          <p:cNvSpPr/>
          <p:nvPr/>
        </p:nvSpPr>
        <p:spPr>
          <a:xfrm>
            <a:off x="2396467" y="3610273"/>
            <a:ext cx="6170771" cy="2002514"/>
          </a:xfrm>
          <a:prstGeom prst="trapezoid">
            <a:avLst>
              <a:gd name="adj" fmla="val 76861"/>
            </a:avLst>
          </a:prstGeom>
          <a:solidFill>
            <a:srgbClr val="FF9F9F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 dirty="0">
              <a:solidFill>
                <a:srgbClr val="FFFFFF"/>
              </a:solidFill>
              <a:latin typeface="+mj-lt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3AA751-7401-0375-4A8F-3A0A31DD17C8}"/>
              </a:ext>
            </a:extLst>
          </p:cNvPr>
          <p:cNvCxnSpPr>
            <a:cxnSpLocks/>
          </p:cNvCxnSpPr>
          <p:nvPr/>
        </p:nvCxnSpPr>
        <p:spPr>
          <a:xfrm flipH="1">
            <a:off x="2183907" y="1570361"/>
            <a:ext cx="3091843" cy="404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0D0FE24-4BC1-756F-0B9B-2BC40F06AD17}"/>
              </a:ext>
            </a:extLst>
          </p:cNvPr>
          <p:cNvSpPr/>
          <p:nvPr/>
        </p:nvSpPr>
        <p:spPr>
          <a:xfrm rot="18464285">
            <a:off x="3097676" y="3589661"/>
            <a:ext cx="1301598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PT" sz="1000" b="1" dirty="0">
                <a:latin typeface="+mj-lt"/>
              </a:rPr>
              <a:t>Atividades</a:t>
            </a:r>
            <a:endParaRPr lang="pt-PT" sz="1000" b="1" i="1" dirty="0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15064-5266-555B-64B3-F6FB8C7D4991}"/>
              </a:ext>
            </a:extLst>
          </p:cNvPr>
          <p:cNvSpPr/>
          <p:nvPr/>
        </p:nvSpPr>
        <p:spPr>
          <a:xfrm rot="19357493">
            <a:off x="7060286" y="1113438"/>
            <a:ext cx="154800" cy="49674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3277F3-BEC6-22DF-5826-E5F2B335714C}"/>
              </a:ext>
            </a:extLst>
          </p:cNvPr>
          <p:cNvSpPr/>
          <p:nvPr/>
        </p:nvSpPr>
        <p:spPr>
          <a:xfrm rot="3165747">
            <a:off x="6502645" y="3720850"/>
            <a:ext cx="1645718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PT" sz="1000" b="1" i="1" dirty="0">
                <a:latin typeface="+mj-lt"/>
              </a:rPr>
              <a:t>Descrição (High Level)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01E6F2-5509-87CC-EF02-357B109142E4}"/>
              </a:ext>
            </a:extLst>
          </p:cNvPr>
          <p:cNvCxnSpPr>
            <a:cxnSpLocks/>
          </p:cNvCxnSpPr>
          <p:nvPr/>
        </p:nvCxnSpPr>
        <p:spPr>
          <a:xfrm>
            <a:off x="2396467" y="5695318"/>
            <a:ext cx="617077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9BB5C70-9D8B-4DBE-5A54-D3A916A18DCA}"/>
              </a:ext>
            </a:extLst>
          </p:cNvPr>
          <p:cNvSpPr/>
          <p:nvPr/>
        </p:nvSpPr>
        <p:spPr>
          <a:xfrm>
            <a:off x="4967985" y="5655009"/>
            <a:ext cx="1027735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+mj-lt"/>
              </a:rPr>
              <a:t>Responsável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EE23C5-B5F2-5DB2-B13D-0D7448375258}"/>
              </a:ext>
            </a:extLst>
          </p:cNvPr>
          <p:cNvSpPr/>
          <p:nvPr/>
        </p:nvSpPr>
        <p:spPr>
          <a:xfrm>
            <a:off x="5165125" y="1785229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Dep. </a:t>
            </a:r>
          </a:p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Internos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BA96A5-F700-3FA7-4DAA-EE89224BC042}"/>
              </a:ext>
            </a:extLst>
          </p:cNvPr>
          <p:cNvSpPr/>
          <p:nvPr/>
        </p:nvSpPr>
        <p:spPr>
          <a:xfrm>
            <a:off x="5165125" y="2403484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Green Finance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2CC605-0E56-7C78-0C42-0A9E734FE6BD}"/>
              </a:ext>
            </a:extLst>
          </p:cNvPr>
          <p:cNvSpPr/>
          <p:nvPr/>
        </p:nvSpPr>
        <p:spPr>
          <a:xfrm>
            <a:off x="5165125" y="3142306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Corporação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6F32B6-C413-4A06-F823-552A38388303}"/>
              </a:ext>
            </a:extLst>
          </p:cNvPr>
          <p:cNvSpPr/>
          <p:nvPr/>
        </p:nvSpPr>
        <p:spPr>
          <a:xfrm>
            <a:off x="5165125" y="4481034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</a:rPr>
              <a:t>Green Finance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0F9258-8530-7AD3-5074-F6D9DCBCF24B}"/>
              </a:ext>
            </a:extLst>
          </p:cNvPr>
          <p:cNvCxnSpPr>
            <a:cxnSpLocks/>
          </p:cNvCxnSpPr>
          <p:nvPr/>
        </p:nvCxnSpPr>
        <p:spPr>
          <a:xfrm>
            <a:off x="5698944" y="1570361"/>
            <a:ext cx="3078928" cy="404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Modelo de </a:t>
            </a:r>
            <a:r>
              <a:rPr lang="en-US" sz="2000" i="1" dirty="0">
                <a:solidFill>
                  <a:srgbClr val="FF0000"/>
                </a:solidFill>
              </a:rPr>
              <a:t>Governance</a:t>
            </a:r>
            <a:endParaRPr lang="es-ES" sz="16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204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Comuns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2320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324B9150-E122-DFBD-AD0D-F67361543930}"/>
              </a:ext>
            </a:extLst>
          </p:cNvPr>
          <p:cNvCxnSpPr>
            <a:cxnSpLocks/>
          </p:cNvCxnSpPr>
          <p:nvPr/>
        </p:nvCxnSpPr>
        <p:spPr>
          <a:xfrm>
            <a:off x="2035591" y="1664763"/>
            <a:ext cx="6228000" cy="1980008"/>
          </a:xfrm>
          <a:prstGeom prst="bentConnector3">
            <a:avLst>
              <a:gd name="adj1" fmla="val 5128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294E4E8-1B92-4A6E-F2F6-73BAF7B8EE41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20CDE68-182D-678A-10DA-2F14AC445002}"/>
              </a:ext>
            </a:extLst>
          </p:cNvPr>
          <p:cNvSpPr txBox="1"/>
          <p:nvPr/>
        </p:nvSpPr>
        <p:spPr>
          <a:xfrm>
            <a:off x="1320329" y="1981649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Sintra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2AD550-775D-2099-3A14-FE1EB2D89C17}"/>
              </a:ext>
            </a:extLst>
          </p:cNvPr>
          <p:cNvSpPr txBox="1"/>
          <p:nvPr/>
        </p:nvSpPr>
        <p:spPr>
          <a:xfrm>
            <a:off x="1554275" y="3137640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0AB5D30-93CB-43D8-B728-4AF10BC1D6D7}"/>
              </a:ext>
            </a:extLst>
          </p:cNvPr>
          <p:cNvSpPr txBox="1"/>
          <p:nvPr/>
        </p:nvSpPr>
        <p:spPr>
          <a:xfrm>
            <a:off x="1438670" y="5107477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00F9BD1-5D73-30C3-565A-883FA944ED85}"/>
              </a:ext>
            </a:extLst>
          </p:cNvPr>
          <p:cNvSpPr txBox="1"/>
          <p:nvPr/>
        </p:nvSpPr>
        <p:spPr>
          <a:xfrm>
            <a:off x="1510653" y="4152062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5F9A2E1-B0CB-17DE-2C42-438CEA5E280C}"/>
              </a:ext>
            </a:extLst>
          </p:cNvPr>
          <p:cNvGrpSpPr/>
          <p:nvPr/>
        </p:nvGrpSpPr>
        <p:grpSpPr>
          <a:xfrm>
            <a:off x="1497733" y="2467315"/>
            <a:ext cx="647850" cy="64785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E84FB30-C95F-B7CF-E359-918734788C96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5EFC96EA-7148-A667-217F-48F08FB18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22A7837-23CA-AD08-2B3B-3EBE260E8AAD}"/>
              </a:ext>
            </a:extLst>
          </p:cNvPr>
          <p:cNvGrpSpPr/>
          <p:nvPr/>
        </p:nvGrpSpPr>
        <p:grpSpPr>
          <a:xfrm>
            <a:off x="1474727" y="3493866"/>
            <a:ext cx="647850" cy="64785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2A4DD77F-F1AC-23D5-A5FE-648FD3E4757F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17BA9B2F-EA6C-1FA6-6C78-252829DFD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0171F82-4CFD-086F-55AF-F98EDFC1BBCB}"/>
              </a:ext>
            </a:extLst>
          </p:cNvPr>
          <p:cNvGrpSpPr/>
          <p:nvPr/>
        </p:nvGrpSpPr>
        <p:grpSpPr>
          <a:xfrm>
            <a:off x="1471187" y="4422295"/>
            <a:ext cx="647850" cy="64785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F5DD215-6423-DF85-A95D-71F96CAE9E0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27D48B75-C086-9123-8B82-B5D824794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965679E7-A9CD-DBA0-6A49-86FD0B19734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49741" y="2464896"/>
            <a:ext cx="287933" cy="287933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FBFBF20D-71C7-60F3-3B9F-26C4D84BBD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15946" y="3461344"/>
            <a:ext cx="287933" cy="287933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BDF050C7-4EF2-11DB-A9C1-8F296468DB4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12523" y="4409827"/>
            <a:ext cx="287933" cy="287933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9CCDFF82-9496-1380-6859-7C3863FB51EE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0D503C6-90C7-9BE8-F4B1-6DE119C25AC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85E26626-A915-871A-7446-B27833A41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AC04CB78-3A59-247E-8FFA-1D006F255C7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37604" y="3240018"/>
            <a:ext cx="287933" cy="287933"/>
          </a:xfrm>
          <a:prstGeom prst="rect">
            <a:avLst/>
          </a:prstGeom>
        </p:spPr>
      </p:pic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BDR</a:t>
            </a:r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491C24CA-7270-0C72-1E70-53B6CE94C8B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83" y="3240018"/>
            <a:ext cx="241113" cy="24111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0DBF849-88CA-40AC-ADA1-8DE52739DC73}"/>
              </a:ext>
            </a:extLst>
          </p:cNvPr>
          <p:cNvSpPr txBox="1"/>
          <p:nvPr/>
        </p:nvSpPr>
        <p:spPr>
          <a:xfrm>
            <a:off x="1402678" y="6076992"/>
            <a:ext cx="827808" cy="230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CREAM1</a:t>
            </a:r>
            <a:endParaRPr lang="en-US" sz="9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CB70321-BBFF-4924-8666-21C0DE9BABE4}"/>
              </a:ext>
            </a:extLst>
          </p:cNvPr>
          <p:cNvGrpSpPr/>
          <p:nvPr/>
        </p:nvGrpSpPr>
        <p:grpSpPr>
          <a:xfrm>
            <a:off x="1498257" y="5406351"/>
            <a:ext cx="647850" cy="647850"/>
            <a:chOff x="1498451" y="4969551"/>
            <a:chExt cx="648000" cy="648000"/>
          </a:xfrm>
        </p:grpSpPr>
        <p:sp>
          <p:nvSpPr>
            <p:cNvPr id="37" name="Oval 2">
              <a:extLst>
                <a:ext uri="{FF2B5EF4-FFF2-40B4-BE49-F238E27FC236}">
                  <a16:creationId xmlns:a16="http://schemas.microsoft.com/office/drawing/2014/main" id="{8D2A2FE2-C869-4255-8C8A-F090E608B130}"/>
                </a:ext>
              </a:extLst>
            </p:cNvPr>
            <p:cNvSpPr/>
            <p:nvPr/>
          </p:nvSpPr>
          <p:spPr>
            <a:xfrm>
              <a:off x="1498451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38" name="Graphic 37" descr="Server with solid fill">
              <a:extLst>
                <a:ext uri="{FF2B5EF4-FFF2-40B4-BE49-F238E27FC236}">
                  <a16:creationId xmlns:a16="http://schemas.microsoft.com/office/drawing/2014/main" id="{9BEEB004-33A4-48E1-B16F-92408AC7C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8B9BDCF8-8318-4A7E-8A35-43737B115D75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50" y="5446231"/>
            <a:ext cx="257724" cy="258976"/>
          </a:xfrm>
          <a:prstGeom prst="ellipse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359CEA4-E1DA-E4C5-2DCF-B24231C9700B}"/>
              </a:ext>
            </a:extLst>
          </p:cNvPr>
          <p:cNvGrpSpPr/>
          <p:nvPr/>
        </p:nvGrpSpPr>
        <p:grpSpPr>
          <a:xfrm>
            <a:off x="1497733" y="1333284"/>
            <a:ext cx="760884" cy="647850"/>
            <a:chOff x="1497733" y="1297772"/>
            <a:chExt cx="760884" cy="64785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4BACD4E-D0ED-C108-D8C3-DCC3B9E6FB63}"/>
                </a:ext>
              </a:extLst>
            </p:cNvPr>
            <p:cNvGrpSpPr/>
            <p:nvPr/>
          </p:nvGrpSpPr>
          <p:grpSpPr>
            <a:xfrm>
              <a:off x="1497733" y="1297772"/>
              <a:ext cx="647850" cy="647850"/>
              <a:chOff x="1497733" y="1297772"/>
              <a:chExt cx="647850" cy="64785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AA980D3C-CC05-11FA-0567-5A0FD058BA9A}"/>
                  </a:ext>
                </a:extLst>
              </p:cNvPr>
              <p:cNvSpPr/>
              <p:nvPr/>
            </p:nvSpPr>
            <p:spPr>
              <a:xfrm>
                <a:off x="1497733" y="1297772"/>
                <a:ext cx="647850" cy="64785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" name="Graphic 3" descr="Server with solid fill">
                <a:extLst>
                  <a:ext uri="{FF2B5EF4-FFF2-40B4-BE49-F238E27FC236}">
                    <a16:creationId xmlns:a16="http://schemas.microsoft.com/office/drawing/2014/main" id="{13BE708A-1076-15A8-B6F2-4517493A6D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605708" y="1405747"/>
                <a:ext cx="431900" cy="431900"/>
              </a:xfrm>
              <a:prstGeom prst="rect">
                <a:avLst/>
              </a:prstGeom>
            </p:spPr>
          </p:pic>
        </p:grpSp>
        <p:pic>
          <p:nvPicPr>
            <p:cNvPr id="93" name="Graphic 92" descr="Single gear outline">
              <a:extLst>
                <a:ext uri="{FF2B5EF4-FFF2-40B4-BE49-F238E27FC236}">
                  <a16:creationId xmlns:a16="http://schemas.microsoft.com/office/drawing/2014/main" id="{4AE68E92-2F58-A5C3-84A0-350D8E08C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970684" y="1299407"/>
              <a:ext cx="287933" cy="287933"/>
            </a:xfrm>
            <a:prstGeom prst="rect">
              <a:avLst/>
            </a:prstGeom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205512-5C80-5A32-767B-369BE25B1970}"/>
              </a:ext>
            </a:extLst>
          </p:cNvPr>
          <p:cNvCxnSpPr>
            <a:cxnSpLocks/>
          </p:cNvCxnSpPr>
          <p:nvPr/>
        </p:nvCxnSpPr>
        <p:spPr>
          <a:xfrm>
            <a:off x="2122577" y="3817791"/>
            <a:ext cx="309936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2C5583A-2E62-FA40-FDA8-86011B8D19F3}"/>
              </a:ext>
            </a:extLst>
          </p:cNvPr>
          <p:cNvCxnSpPr>
            <a:cxnSpLocks/>
          </p:cNvCxnSpPr>
          <p:nvPr/>
        </p:nvCxnSpPr>
        <p:spPr>
          <a:xfrm flipV="1">
            <a:off x="2154985" y="3644771"/>
            <a:ext cx="3075832" cy="2085505"/>
          </a:xfrm>
          <a:prstGeom prst="bentConnector3">
            <a:avLst>
              <a:gd name="adj1" fmla="val 99932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20EDF2-BAF7-52B0-A773-AEF1167325DA}"/>
              </a:ext>
            </a:extLst>
          </p:cNvPr>
          <p:cNvCxnSpPr>
            <a:cxnSpLocks/>
          </p:cNvCxnSpPr>
          <p:nvPr/>
        </p:nvCxnSpPr>
        <p:spPr>
          <a:xfrm>
            <a:off x="2122577" y="4746220"/>
            <a:ext cx="309936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6DB6F8-B16A-2169-F091-C7F34F309318}"/>
              </a:ext>
            </a:extLst>
          </p:cNvPr>
          <p:cNvCxnSpPr>
            <a:cxnSpLocks/>
          </p:cNvCxnSpPr>
          <p:nvPr/>
        </p:nvCxnSpPr>
        <p:spPr>
          <a:xfrm>
            <a:off x="2122577" y="2791240"/>
            <a:ext cx="309936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165753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MIS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80" idx="6"/>
            <a:endCxn id="98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8EEBF01-A123-1E4D-CD56-03A0F422D16A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D7AA6780-8B39-3E6C-701C-239A68725B2C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92AE27DD-D943-9F0D-CE06-898B1D5662F0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EBA999BF-0327-9C5D-271E-4A0F00DFD536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9BEBB76-3939-35D8-D380-9339A9519D55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Sintra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4169E0-155E-7D90-13B2-3A1A728C76C0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AECD81-A37F-BAF2-0E3A-339D14E444EB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7B9758-28EF-72D2-ED22-14E2A5A18CDC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B1256BC-86A4-91B6-38DC-B48409DD319E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DD45EEE2-F670-AA7D-609C-F48B6D06A7A3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21EA9476-50AD-D8A3-4008-229CF3177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2EDC6F4-3732-EB40-00E8-47E247648AC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D3EFF87-C4F8-F1C3-D320-8C6042C2CED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6D433A65-7BB1-CBC0-E406-4651C15DE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32E3826-CE81-D44A-D31D-B16DFBA2F617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07BA372F-A96F-172F-DB00-9127C150DE7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E0467E23-FDD5-B4FF-9CDA-8BB11DD4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48FFAAA-B219-3FCC-EEE3-EF766882B068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6EE77FC-3EDD-AC6C-F789-99FDE8FC2BD7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4646B15E-1168-DEF6-8BF0-3C0932265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3DC9353D-7A9D-8C02-F818-73BD2A2265E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0DF1C231-6E1B-ABBE-831B-C212ABF2FEA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5F1746F1-BA09-0D61-49F9-0D5D1756FDA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29F09C5C-E734-F3FC-23B4-30ED342CE2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219B0331-AD1B-7600-4326-96790802FDA3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BE6385D-DBDC-5D3B-855D-94A8C859088E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773947C7-61BB-6929-0B62-B25516147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1B93158C-3E59-7D9C-F06F-3AF825A2AE5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83190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IFRS9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Sintra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72948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DW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DW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Sintra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  <p:pic>
        <p:nvPicPr>
          <p:cNvPr id="2" name="Imagen 18">
            <a:extLst>
              <a:ext uri="{FF2B5EF4-FFF2-40B4-BE49-F238E27FC236}">
                <a16:creationId xmlns:a16="http://schemas.microsoft.com/office/drawing/2014/main" id="{55EBC073-94D7-EC46-6537-E65E305A217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83" y="3293285"/>
            <a:ext cx="241113" cy="24111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914073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5709424" y="3407197"/>
            <a:ext cx="647850" cy="64785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6F58E4A-7AC9-4064-22FF-32B71709F6E6}"/>
              </a:ext>
            </a:extLst>
          </p:cNvPr>
          <p:cNvGrpSpPr/>
          <p:nvPr/>
        </p:nvGrpSpPr>
        <p:grpSpPr>
          <a:xfrm>
            <a:off x="9222641" y="4905438"/>
            <a:ext cx="647850" cy="647850"/>
            <a:chOff x="455122" y="4977513"/>
            <a:chExt cx="648000" cy="648000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9C18689-DAA3-8CFC-1A13-DCEAAB2E301F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6" name="Graphic 105" descr="Database with solid fill">
              <a:extLst>
                <a:ext uri="{FF2B5EF4-FFF2-40B4-BE49-F238E27FC236}">
                  <a16:creationId xmlns:a16="http://schemas.microsoft.com/office/drawing/2014/main" id="{B15D669A-6E5B-DC5B-E374-BFF90ED44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7505998" y="4905438"/>
            <a:ext cx="647850" cy="64785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B073369-30B9-1B0E-9E31-0FCDE96AEE9F}"/>
              </a:ext>
            </a:extLst>
          </p:cNvPr>
          <p:cNvGrpSpPr/>
          <p:nvPr/>
        </p:nvGrpSpPr>
        <p:grpSpPr>
          <a:xfrm>
            <a:off x="6038109" y="4905438"/>
            <a:ext cx="647850" cy="647850"/>
            <a:chOff x="455122" y="4977513"/>
            <a:chExt cx="648000" cy="648000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82CE9CA-14BB-419C-B5E9-109F40C3D87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3" name="Graphic 112" descr="Database with solid fill">
              <a:extLst>
                <a:ext uri="{FF2B5EF4-FFF2-40B4-BE49-F238E27FC236}">
                  <a16:creationId xmlns:a16="http://schemas.microsoft.com/office/drawing/2014/main" id="{E5BEABFD-26B0-1DFA-0A19-D27274E00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CapTools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19" idx="2"/>
          </p:cNvCxnSpPr>
          <p:nvPr/>
        </p:nvCxnSpPr>
        <p:spPr>
          <a:xfrm>
            <a:off x="2177635" y="2150305"/>
            <a:ext cx="3531788" cy="15808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E5B5498-D998-4564-D586-04BEED0E0297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Sintra /Partenón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83E99-C85E-4F60-0169-F794D6114CB8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A1EF7-F86B-CB16-60D7-31D2DDCC084E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8A320-0477-CEFC-A37C-D73C564F0E46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138" idx="6"/>
            <a:endCxn id="119" idx="2"/>
          </p:cNvCxnSpPr>
          <p:nvPr/>
        </p:nvCxnSpPr>
        <p:spPr>
          <a:xfrm>
            <a:off x="2177635" y="3203476"/>
            <a:ext cx="3531788" cy="5276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141" idx="6"/>
            <a:endCxn id="119" idx="2"/>
          </p:cNvCxnSpPr>
          <p:nvPr/>
        </p:nvCxnSpPr>
        <p:spPr>
          <a:xfrm flipV="1">
            <a:off x="2177635" y="3731121"/>
            <a:ext cx="3531788" cy="53678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144" idx="6"/>
            <a:endCxn id="119" idx="2"/>
          </p:cNvCxnSpPr>
          <p:nvPr/>
        </p:nvCxnSpPr>
        <p:spPr>
          <a:xfrm flipV="1">
            <a:off x="2177635" y="3731123"/>
            <a:ext cx="3531788" cy="160120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5606209" y="407752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AFC339-3D24-BB7C-CA67-14A5DF8DC7F6}"/>
              </a:ext>
            </a:extLst>
          </p:cNvPr>
          <p:cNvGrpSpPr/>
          <p:nvPr/>
        </p:nvGrpSpPr>
        <p:grpSpPr>
          <a:xfrm>
            <a:off x="5435970" y="1687768"/>
            <a:ext cx="827808" cy="891795"/>
            <a:chOff x="1422208" y="1189977"/>
            <a:chExt cx="828000" cy="892001"/>
          </a:xfrm>
        </p:grpSpPr>
        <p:pic>
          <p:nvPicPr>
            <p:cNvPr id="33" name="Picture 6">
              <a:extLst>
                <a:ext uri="{FF2B5EF4-FFF2-40B4-BE49-F238E27FC236}">
                  <a16:creationId xmlns:a16="http://schemas.microsoft.com/office/drawing/2014/main" id="{B09626C4-C599-E7C1-8A26-A986F2E9B0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208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3C8746-A200-A851-CC9A-A0FFF65DF3A3}"/>
                </a:ext>
              </a:extLst>
            </p:cNvPr>
            <p:cNvSpPr txBox="1"/>
            <p:nvPr/>
          </p:nvSpPr>
          <p:spPr>
            <a:xfrm>
              <a:off x="1422208" y="1835757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Balancetes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46ED98-30CA-5055-F4F4-7EFEF9609A01}"/>
              </a:ext>
            </a:extLst>
          </p:cNvPr>
          <p:cNvGrpSpPr/>
          <p:nvPr/>
        </p:nvGrpSpPr>
        <p:grpSpPr>
          <a:xfrm>
            <a:off x="6983328" y="1687768"/>
            <a:ext cx="899792" cy="891795"/>
            <a:chOff x="2986732" y="1189977"/>
            <a:chExt cx="900000" cy="892001"/>
          </a:xfrm>
        </p:grpSpPr>
        <p:pic>
          <p:nvPicPr>
            <p:cNvPr id="35" name="Picture 6">
              <a:extLst>
                <a:ext uri="{FF2B5EF4-FFF2-40B4-BE49-F238E27FC236}">
                  <a16:creationId xmlns:a16="http://schemas.microsoft.com/office/drawing/2014/main" id="{86F4444F-02A8-19F2-FD5B-C4161AA3BB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2732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A29597-5E3E-7482-BACB-2F00AE99E0DC}"/>
                </a:ext>
              </a:extLst>
            </p:cNvPr>
            <p:cNvSpPr txBox="1"/>
            <p:nvPr/>
          </p:nvSpPr>
          <p:spPr>
            <a:xfrm>
              <a:off x="2986732" y="1835757"/>
              <a:ext cx="90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Fich.Comp,</a:t>
              </a:r>
            </a:p>
          </p:txBody>
        </p:sp>
      </p:grpSp>
      <p:cxnSp>
        <p:nvCxnSpPr>
          <p:cNvPr id="45" name="Elbow Connector 69">
            <a:extLst>
              <a:ext uri="{FF2B5EF4-FFF2-40B4-BE49-F238E27FC236}">
                <a16:creationId xmlns:a16="http://schemas.microsoft.com/office/drawing/2014/main" id="{A06EA36C-2395-E5F9-97BE-34BCAB79EA45}"/>
              </a:ext>
            </a:extLst>
          </p:cNvPr>
          <p:cNvCxnSpPr>
            <a:cxnSpLocks/>
            <a:stCxn id="33" idx="3"/>
            <a:endCxn id="119" idx="0"/>
          </p:cNvCxnSpPr>
          <p:nvPr/>
        </p:nvCxnSpPr>
        <p:spPr>
          <a:xfrm flipH="1">
            <a:off x="6033350" y="2011694"/>
            <a:ext cx="140450" cy="1395504"/>
          </a:xfrm>
          <a:prstGeom prst="bentConnector4">
            <a:avLst>
              <a:gd name="adj1" fmla="val -162724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69">
            <a:extLst>
              <a:ext uri="{FF2B5EF4-FFF2-40B4-BE49-F238E27FC236}">
                <a16:creationId xmlns:a16="http://schemas.microsoft.com/office/drawing/2014/main" id="{23CCDD3D-0C08-17B8-515F-AADD14123C9C}"/>
              </a:ext>
            </a:extLst>
          </p:cNvPr>
          <p:cNvCxnSpPr>
            <a:cxnSpLocks/>
            <a:stCxn id="35" idx="3"/>
            <a:endCxn id="119" idx="0"/>
          </p:cNvCxnSpPr>
          <p:nvPr/>
        </p:nvCxnSpPr>
        <p:spPr>
          <a:xfrm flipH="1">
            <a:off x="6033348" y="2011694"/>
            <a:ext cx="1723801" cy="1395504"/>
          </a:xfrm>
          <a:prstGeom prst="bentConnector4">
            <a:avLst>
              <a:gd name="adj1" fmla="val -13258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137" y="1682607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39" descr="Related image">
            <a:extLst>
              <a:ext uri="{FF2B5EF4-FFF2-40B4-BE49-F238E27FC236}">
                <a16:creationId xmlns:a16="http://schemas.microsoft.com/office/drawing/2014/main" id="{AA9CE8F4-A94B-BA07-6729-D56AEDFA2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756" y="1682607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083" y="3354231"/>
            <a:ext cx="241113" cy="2411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7613973" y="5575764"/>
            <a:ext cx="4319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987" y="4877878"/>
            <a:ext cx="241113" cy="241113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16BA29F3-0E5E-3726-0303-A15E706F546B}"/>
              </a:ext>
            </a:extLst>
          </p:cNvPr>
          <p:cNvSpPr txBox="1"/>
          <p:nvPr/>
        </p:nvSpPr>
        <p:spPr>
          <a:xfrm>
            <a:off x="9276629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6357274" y="3731123"/>
            <a:ext cx="1796574" cy="1498242"/>
          </a:xfrm>
          <a:prstGeom prst="bentConnector3">
            <a:avLst>
              <a:gd name="adj1" fmla="val -1272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69">
            <a:extLst>
              <a:ext uri="{FF2B5EF4-FFF2-40B4-BE49-F238E27FC236}">
                <a16:creationId xmlns:a16="http://schemas.microsoft.com/office/drawing/2014/main" id="{BFCD648A-8FF7-1AFD-DB0C-55EAC21DD25E}"/>
              </a:ext>
            </a:extLst>
          </p:cNvPr>
          <p:cNvCxnSpPr>
            <a:cxnSpLocks/>
            <a:stCxn id="105" idx="6"/>
            <a:endCxn id="119" idx="6"/>
          </p:cNvCxnSpPr>
          <p:nvPr/>
        </p:nvCxnSpPr>
        <p:spPr>
          <a:xfrm flipH="1" flipV="1">
            <a:off x="6357273" y="3731123"/>
            <a:ext cx="3513217" cy="1498242"/>
          </a:xfrm>
          <a:prstGeom prst="bentConnector3">
            <a:avLst>
              <a:gd name="adj1" fmla="val -65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5F56BE9-2C01-5F1E-A23E-BE1AFF401F84}"/>
              </a:ext>
            </a:extLst>
          </p:cNvPr>
          <p:cNvSpPr txBox="1"/>
          <p:nvPr/>
        </p:nvSpPr>
        <p:spPr>
          <a:xfrm>
            <a:off x="6092097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60377" y="3354230"/>
            <a:ext cx="287933" cy="287933"/>
          </a:xfrm>
          <a:prstGeom prst="rect">
            <a:avLst/>
          </a:prstGeom>
        </p:spPr>
      </p:pic>
      <p:pic>
        <p:nvPicPr>
          <p:cNvPr id="98" name="Graphic 97" descr="Single gear outline">
            <a:extLst>
              <a:ext uri="{FF2B5EF4-FFF2-40B4-BE49-F238E27FC236}">
                <a16:creationId xmlns:a16="http://schemas.microsoft.com/office/drawing/2014/main" id="{75CED94C-8F6A-D644-D3CE-B2FAF17CC4A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52142" y="4835015"/>
            <a:ext cx="287933" cy="287933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45362" y="4835015"/>
            <a:ext cx="287933" cy="287933"/>
          </a:xfrm>
          <a:prstGeom prst="rect">
            <a:avLst/>
          </a:prstGeom>
        </p:spPr>
      </p:pic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70361C75-80CC-1F43-344A-719470E50E2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66006" y="4835015"/>
            <a:ext cx="287933" cy="287933"/>
          </a:xfrm>
          <a:prstGeom prst="rect">
            <a:avLst/>
          </a:prstGeom>
        </p:spPr>
      </p:pic>
      <p:cxnSp>
        <p:nvCxnSpPr>
          <p:cNvPr id="114" name="Elbow Connector 69">
            <a:extLst>
              <a:ext uri="{FF2B5EF4-FFF2-40B4-BE49-F238E27FC236}">
                <a16:creationId xmlns:a16="http://schemas.microsoft.com/office/drawing/2014/main" id="{4ABA2CEA-7B5E-B6DC-0E84-1D497B52677C}"/>
              </a:ext>
            </a:extLst>
          </p:cNvPr>
          <p:cNvCxnSpPr>
            <a:cxnSpLocks/>
            <a:stCxn id="112" idx="6"/>
            <a:endCxn id="119" idx="6"/>
          </p:cNvCxnSpPr>
          <p:nvPr/>
        </p:nvCxnSpPr>
        <p:spPr>
          <a:xfrm flipH="1" flipV="1">
            <a:off x="6357273" y="3731123"/>
            <a:ext cx="328686" cy="1498242"/>
          </a:xfrm>
          <a:prstGeom prst="bentConnector3">
            <a:avLst>
              <a:gd name="adj1" fmla="val -6953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7218299-A22D-5297-2FD7-F48DCD5CCD86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134" name="Oval 2">
              <a:extLst>
                <a:ext uri="{FF2B5EF4-FFF2-40B4-BE49-F238E27FC236}">
                  <a16:creationId xmlns:a16="http://schemas.microsoft.com/office/drawing/2014/main" id="{D243C843-3449-6442-18E6-9CE89F478B54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5" name="Graphic 134" descr="Server with solid fill">
              <a:extLst>
                <a:ext uri="{FF2B5EF4-FFF2-40B4-BE49-F238E27FC236}">
                  <a16:creationId xmlns:a16="http://schemas.microsoft.com/office/drawing/2014/main" id="{7FAF07F6-13D5-D116-9BCE-929C34FD9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8990CF9-C253-6FC6-9998-1C063A5E3B69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138" name="Oval 2">
              <a:extLst>
                <a:ext uri="{FF2B5EF4-FFF2-40B4-BE49-F238E27FC236}">
                  <a16:creationId xmlns:a16="http://schemas.microsoft.com/office/drawing/2014/main" id="{B5B814C6-7127-0762-0E76-E3A6BA52F71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9" name="Graphic 138" descr="Server with solid fill">
              <a:extLst>
                <a:ext uri="{FF2B5EF4-FFF2-40B4-BE49-F238E27FC236}">
                  <a16:creationId xmlns:a16="http://schemas.microsoft.com/office/drawing/2014/main" id="{26EC8B5C-9CD7-2A55-4345-5BE63F648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807EAF0-1505-CB4B-DAC8-5A396AF53998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141" name="Oval 2">
              <a:extLst>
                <a:ext uri="{FF2B5EF4-FFF2-40B4-BE49-F238E27FC236}">
                  <a16:creationId xmlns:a16="http://schemas.microsoft.com/office/drawing/2014/main" id="{8607840F-C263-3F6D-15F3-6951DD29BF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2" name="Graphic 141" descr="Server with solid fill">
              <a:extLst>
                <a:ext uri="{FF2B5EF4-FFF2-40B4-BE49-F238E27FC236}">
                  <a16:creationId xmlns:a16="http://schemas.microsoft.com/office/drawing/2014/main" id="{C5D890B8-DBD7-AB25-2303-A562F885E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5AECFF3-4594-8C99-AAEF-B0308CDEFEE2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144" name="Oval 2">
              <a:extLst>
                <a:ext uri="{FF2B5EF4-FFF2-40B4-BE49-F238E27FC236}">
                  <a16:creationId xmlns:a16="http://schemas.microsoft.com/office/drawing/2014/main" id="{9E149001-73C5-CF7F-85F6-9C220748C21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5" name="Graphic 144" descr="Server with solid fill">
              <a:extLst>
                <a:ext uri="{FF2B5EF4-FFF2-40B4-BE49-F238E27FC236}">
                  <a16:creationId xmlns:a16="http://schemas.microsoft.com/office/drawing/2014/main" id="{609BD441-E854-32CE-E809-636ABDA1B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154" name="Graphic 153" descr="Single gear outline">
            <a:extLst>
              <a:ext uri="{FF2B5EF4-FFF2-40B4-BE49-F238E27FC236}">
                <a16:creationId xmlns:a16="http://schemas.microsoft.com/office/drawing/2014/main" id="{B49E83CF-918B-BEE6-542B-08DB2584DB3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155" name="Graphic 154" descr="Single gear outline">
            <a:extLst>
              <a:ext uri="{FF2B5EF4-FFF2-40B4-BE49-F238E27FC236}">
                <a16:creationId xmlns:a16="http://schemas.microsoft.com/office/drawing/2014/main" id="{9BB43AE3-26B2-F738-9C13-433DA3678D5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156" name="Graphic 155" descr="Single gear outline">
            <a:extLst>
              <a:ext uri="{FF2B5EF4-FFF2-40B4-BE49-F238E27FC236}">
                <a16:creationId xmlns:a16="http://schemas.microsoft.com/office/drawing/2014/main" id="{85E24736-1214-8C49-CA83-00419DD8BC7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157" name="Graphic 156" descr="Single gear outline">
            <a:extLst>
              <a:ext uri="{FF2B5EF4-FFF2-40B4-BE49-F238E27FC236}">
                <a16:creationId xmlns:a16="http://schemas.microsoft.com/office/drawing/2014/main" id="{680B1414-5DB3-A90F-AB67-6860607FAAF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573717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7997986" y="3407197"/>
            <a:ext cx="647850" cy="64785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8952397" y="4905438"/>
            <a:ext cx="647850" cy="64785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DLALM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3" idx="2"/>
          </p:cNvCxnSpPr>
          <p:nvPr/>
        </p:nvCxnSpPr>
        <p:spPr>
          <a:xfrm>
            <a:off x="2177637" y="1668075"/>
            <a:ext cx="3368433" cy="75965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7894772" y="407752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DL ALM</a:t>
            </a: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645" y="3354231"/>
            <a:ext cx="241113" cy="2411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8844422" y="5575764"/>
            <a:ext cx="835273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386" y="4877878"/>
            <a:ext cx="241113" cy="241113"/>
          </a:xfrm>
          <a:prstGeom prst="rect">
            <a:avLst/>
          </a:prstGeom>
        </p:spPr>
      </p:pic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8645836" y="3731122"/>
            <a:ext cx="954411" cy="1498241"/>
          </a:xfrm>
          <a:prstGeom prst="bentConnector3">
            <a:avLst>
              <a:gd name="adj1" fmla="val -2394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48940" y="3354230"/>
            <a:ext cx="287933" cy="287933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91761" y="4835015"/>
            <a:ext cx="287933" cy="287933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15947" y="1302427"/>
            <a:ext cx="1043758" cy="931569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Sintra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49B1ABF-829E-4687-4867-2317EB797160}"/>
              </a:ext>
            </a:extLst>
          </p:cNvPr>
          <p:cNvGrpSpPr/>
          <p:nvPr/>
        </p:nvGrpSpPr>
        <p:grpSpPr>
          <a:xfrm>
            <a:off x="5438094" y="2033377"/>
            <a:ext cx="835273" cy="971528"/>
            <a:chOff x="5440743" y="2497182"/>
            <a:chExt cx="835466" cy="97175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C89520-5582-9E32-1526-4CF1E091AB63}"/>
                </a:ext>
              </a:extLst>
            </p:cNvPr>
            <p:cNvGrpSpPr/>
            <p:nvPr/>
          </p:nvGrpSpPr>
          <p:grpSpPr>
            <a:xfrm>
              <a:off x="5548743" y="2567622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D5D891D-EECA-1D14-8779-430B76ECBDB0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7FAB385F-7924-F4AA-7284-C45E61715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D7876A-8671-FE19-04E2-0CAA9C2F7CFB}"/>
                </a:ext>
              </a:extLst>
            </p:cNvPr>
            <p:cNvSpPr txBox="1"/>
            <p:nvPr/>
          </p:nvSpPr>
          <p:spPr>
            <a:xfrm>
              <a:off x="5440743" y="3238103"/>
              <a:ext cx="8354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FGD</a:t>
              </a:r>
            </a:p>
          </p:txBody>
        </p:sp>
        <p:pic>
          <p:nvPicPr>
            <p:cNvPr id="16" name="Imagen 18">
              <a:extLst>
                <a:ext uri="{FF2B5EF4-FFF2-40B4-BE49-F238E27FC236}">
                  <a16:creationId xmlns:a16="http://schemas.microsoft.com/office/drawing/2014/main" id="{F28DAFBF-6754-A73B-15CD-3F8E3E921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721" y="2540055"/>
              <a:ext cx="241169" cy="241169"/>
            </a:xfrm>
            <a:prstGeom prst="rect">
              <a:avLst/>
            </a:prstGeom>
          </p:spPr>
        </p:pic>
        <p:pic>
          <p:nvPicPr>
            <p:cNvPr id="17" name="Graphic 16" descr="Single gear outline">
              <a:extLst>
                <a:ext uri="{FF2B5EF4-FFF2-40B4-BE49-F238E27FC236}">
                  <a16:creationId xmlns:a16="http://schemas.microsoft.com/office/drawing/2014/main" id="{F78B4965-C164-B255-2E2F-9AB4E3A70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988209" y="2497182"/>
              <a:ext cx="288000" cy="2880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E3C47A-EF57-67D4-395A-CE6067C8515D}"/>
              </a:ext>
            </a:extLst>
          </p:cNvPr>
          <p:cNvGrpSpPr/>
          <p:nvPr/>
        </p:nvGrpSpPr>
        <p:grpSpPr>
          <a:xfrm>
            <a:off x="5549663" y="4905438"/>
            <a:ext cx="647850" cy="647850"/>
            <a:chOff x="455122" y="4977513"/>
            <a:chExt cx="648000" cy="648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CF8F865-A189-A3A3-34B4-BB38179621B0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" name="Graphic 21" descr="Database with solid fill">
              <a:extLst>
                <a:ext uri="{FF2B5EF4-FFF2-40B4-BE49-F238E27FC236}">
                  <a16:creationId xmlns:a16="http://schemas.microsoft.com/office/drawing/2014/main" id="{DC74D23A-FE56-CA9A-4D5A-1F12C8A30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19EBC42-F034-3B35-225D-B12DD6EE01A1}"/>
              </a:ext>
            </a:extLst>
          </p:cNvPr>
          <p:cNvSpPr txBox="1"/>
          <p:nvPr/>
        </p:nvSpPr>
        <p:spPr>
          <a:xfrm>
            <a:off x="5383334" y="5575765"/>
            <a:ext cx="944793" cy="507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Marketing</a:t>
            </a:r>
          </a:p>
          <a:p>
            <a:pPr algn="ctr"/>
            <a:r>
              <a:rPr lang="en-US" sz="900" dirty="0"/>
              <a:t>Automation</a:t>
            </a:r>
          </a:p>
          <a:p>
            <a:pPr algn="ctr"/>
            <a:r>
              <a:rPr lang="en-US" sz="900" dirty="0"/>
              <a:t>(Vinculação)</a:t>
            </a:r>
          </a:p>
        </p:txBody>
      </p:sp>
      <p:pic>
        <p:nvPicPr>
          <p:cNvPr id="25" name="Imagen 18">
            <a:extLst>
              <a:ext uri="{FF2B5EF4-FFF2-40B4-BE49-F238E27FC236}">
                <a16:creationId xmlns:a16="http://schemas.microsoft.com/office/drawing/2014/main" id="{D5586BDA-2A7B-3C98-F95F-FB0BDBDE45B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653" y="4877878"/>
            <a:ext cx="241113" cy="241113"/>
          </a:xfrm>
          <a:prstGeom prst="rect">
            <a:avLst/>
          </a:prstGeom>
        </p:spPr>
      </p:pic>
      <p:cxnSp>
        <p:nvCxnSpPr>
          <p:cNvPr id="31" name="Elbow Connector 69">
            <a:extLst>
              <a:ext uri="{FF2B5EF4-FFF2-40B4-BE49-F238E27FC236}">
                <a16:creationId xmlns:a16="http://schemas.microsoft.com/office/drawing/2014/main" id="{022EFF94-87D4-5A81-CB16-3E67FB67E060}"/>
              </a:ext>
            </a:extLst>
          </p:cNvPr>
          <p:cNvCxnSpPr>
            <a:cxnSpLocks/>
            <a:stCxn id="21" idx="6"/>
            <a:endCxn id="119" idx="2"/>
          </p:cNvCxnSpPr>
          <p:nvPr/>
        </p:nvCxnSpPr>
        <p:spPr>
          <a:xfrm flipV="1">
            <a:off x="6197514" y="3731122"/>
            <a:ext cx="1800472" cy="149824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69">
            <a:extLst>
              <a:ext uri="{FF2B5EF4-FFF2-40B4-BE49-F238E27FC236}">
                <a16:creationId xmlns:a16="http://schemas.microsoft.com/office/drawing/2014/main" id="{145DAFBD-1D28-33D5-1580-FA5B8AF2EB12}"/>
              </a:ext>
            </a:extLst>
          </p:cNvPr>
          <p:cNvCxnSpPr>
            <a:cxnSpLocks/>
            <a:stCxn id="13" idx="6"/>
            <a:endCxn id="119" idx="0"/>
          </p:cNvCxnSpPr>
          <p:nvPr/>
        </p:nvCxnSpPr>
        <p:spPr>
          <a:xfrm>
            <a:off x="6193920" y="2427725"/>
            <a:ext cx="2127991" cy="979472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22280" y="5157404"/>
            <a:ext cx="727242" cy="926074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62BAFF4-255F-08E3-AFB8-DF05539A1748}"/>
              </a:ext>
            </a:extLst>
          </p:cNvPr>
          <p:cNvGrpSpPr/>
          <p:nvPr/>
        </p:nvGrpSpPr>
        <p:grpSpPr>
          <a:xfrm>
            <a:off x="1547089" y="3775189"/>
            <a:ext cx="755825" cy="1034354"/>
            <a:chOff x="3909558" y="2488901"/>
            <a:chExt cx="756000" cy="103459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6E91F50-D86D-40A7-9CE3-51C4E0FBC838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DW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66B7B19-70FD-E05D-8F92-C4D57269B04F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69D285E-BAF0-E4B4-2CE3-50D0DE5D4C2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68" descr="Database with solid fill">
                <a:extLst>
                  <a:ext uri="{FF2B5EF4-FFF2-40B4-BE49-F238E27FC236}">
                    <a16:creationId xmlns:a16="http://schemas.microsoft.com/office/drawing/2014/main" id="{205CC7A4-90E3-D006-3AF3-A23966993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6" name="Graphic 65" descr="Single gear outline">
              <a:extLst>
                <a:ext uri="{FF2B5EF4-FFF2-40B4-BE49-F238E27FC236}">
                  <a16:creationId xmlns:a16="http://schemas.microsoft.com/office/drawing/2014/main" id="{DE3112B6-21E1-070D-5D0C-FC264D067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1" idx="2"/>
          </p:cNvCxnSpPr>
          <p:nvPr/>
        </p:nvCxnSpPr>
        <p:spPr>
          <a:xfrm flipV="1">
            <a:off x="2170130" y="5229363"/>
            <a:ext cx="3379534" cy="27693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69">
            <a:extLst>
              <a:ext uri="{FF2B5EF4-FFF2-40B4-BE49-F238E27FC236}">
                <a16:creationId xmlns:a16="http://schemas.microsoft.com/office/drawing/2014/main" id="{35AAD688-B72D-A04D-A074-1ED9B10D56B0}"/>
              </a:ext>
            </a:extLst>
          </p:cNvPr>
          <p:cNvCxnSpPr>
            <a:cxnSpLocks/>
            <a:stCxn id="67" idx="6"/>
            <a:endCxn id="21" idx="0"/>
          </p:cNvCxnSpPr>
          <p:nvPr/>
        </p:nvCxnSpPr>
        <p:spPr>
          <a:xfrm>
            <a:off x="2194940" y="4194277"/>
            <a:ext cx="3678649" cy="711161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Imagen 18">
            <a:extLst>
              <a:ext uri="{FF2B5EF4-FFF2-40B4-BE49-F238E27FC236}">
                <a16:creationId xmlns:a16="http://schemas.microsoft.com/office/drawing/2014/main" id="{F0607F12-E009-A643-3D32-8AFF5F2FBEF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280" y="3821225"/>
            <a:ext cx="241113" cy="241113"/>
          </a:xfrm>
          <a:prstGeom prst="rect">
            <a:avLst/>
          </a:prstGeom>
        </p:spPr>
      </p:pic>
      <p:cxnSp>
        <p:nvCxnSpPr>
          <p:cNvPr id="81" name="Elbow Connector 69">
            <a:extLst>
              <a:ext uri="{FF2B5EF4-FFF2-40B4-BE49-F238E27FC236}">
                <a16:creationId xmlns:a16="http://schemas.microsoft.com/office/drawing/2014/main" id="{DF40C24C-796E-E80D-0611-FD4C851F8A51}"/>
              </a:ext>
            </a:extLst>
          </p:cNvPr>
          <p:cNvCxnSpPr>
            <a:cxnSpLocks/>
            <a:stCxn id="67" idx="6"/>
            <a:endCxn id="119" idx="2"/>
          </p:cNvCxnSpPr>
          <p:nvPr/>
        </p:nvCxnSpPr>
        <p:spPr>
          <a:xfrm flipV="1">
            <a:off x="2194939" y="3731122"/>
            <a:ext cx="5803047" cy="463155"/>
          </a:xfrm>
          <a:prstGeom prst="bentConnector3">
            <a:avLst>
              <a:gd name="adj1" fmla="val 761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1A42D42-E7AD-ED24-F3AC-16F8D5DBC1B8}"/>
              </a:ext>
            </a:extLst>
          </p:cNvPr>
          <p:cNvGrpSpPr/>
          <p:nvPr/>
        </p:nvGrpSpPr>
        <p:grpSpPr>
          <a:xfrm>
            <a:off x="10444135" y="4905438"/>
            <a:ext cx="647850" cy="647850"/>
            <a:chOff x="455122" y="4977513"/>
            <a:chExt cx="648000" cy="648000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B84BCFF-88D3-3845-ABFE-3D86EE2D84B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7" name="Graphic 86" descr="Database with solid fill">
              <a:extLst>
                <a:ext uri="{FF2B5EF4-FFF2-40B4-BE49-F238E27FC236}">
                  <a16:creationId xmlns:a16="http://schemas.microsoft.com/office/drawing/2014/main" id="{13AFA886-6065-B978-AAE4-1F97DA4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7F1F6BD8-E69E-D18E-1985-AEE763A2E2B4}"/>
              </a:ext>
            </a:extLst>
          </p:cNvPr>
          <p:cNvSpPr txBox="1"/>
          <p:nvPr/>
        </p:nvSpPr>
        <p:spPr>
          <a:xfrm>
            <a:off x="10498122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94E0405A-EA87-5402-C895-2ABF1D3B156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87499" y="4835015"/>
            <a:ext cx="287933" cy="287933"/>
          </a:xfrm>
          <a:prstGeom prst="rect">
            <a:avLst/>
          </a:prstGeom>
        </p:spPr>
      </p:pic>
      <p:cxnSp>
        <p:nvCxnSpPr>
          <p:cNvPr id="90" name="Elbow Connector 69">
            <a:extLst>
              <a:ext uri="{FF2B5EF4-FFF2-40B4-BE49-F238E27FC236}">
                <a16:creationId xmlns:a16="http://schemas.microsoft.com/office/drawing/2014/main" id="{A632863F-0DEC-DFCE-6B28-F1BFF053554A}"/>
              </a:ext>
            </a:extLst>
          </p:cNvPr>
          <p:cNvCxnSpPr>
            <a:cxnSpLocks/>
            <a:stCxn id="86" idx="6"/>
            <a:endCxn id="119" idx="6"/>
          </p:cNvCxnSpPr>
          <p:nvPr/>
        </p:nvCxnSpPr>
        <p:spPr>
          <a:xfrm flipH="1" flipV="1">
            <a:off x="8645836" y="3731122"/>
            <a:ext cx="2446149" cy="1498241"/>
          </a:xfrm>
          <a:prstGeom prst="bentConnector3">
            <a:avLst>
              <a:gd name="adj1" fmla="val -934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529786" y="2649091"/>
            <a:ext cx="728831" cy="946774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29" name="Elbow Connector 69">
            <a:extLst>
              <a:ext uri="{FF2B5EF4-FFF2-40B4-BE49-F238E27FC236}">
                <a16:creationId xmlns:a16="http://schemas.microsoft.com/office/drawing/2014/main" id="{9C564FBA-D093-E421-907A-9A5AF1EBFB36}"/>
              </a:ext>
            </a:extLst>
          </p:cNvPr>
          <p:cNvCxnSpPr>
            <a:cxnSpLocks/>
            <a:stCxn id="134" idx="6"/>
            <a:endCxn id="119" idx="2"/>
          </p:cNvCxnSpPr>
          <p:nvPr/>
        </p:nvCxnSpPr>
        <p:spPr>
          <a:xfrm>
            <a:off x="2177636" y="1668075"/>
            <a:ext cx="5820350" cy="2063047"/>
          </a:xfrm>
          <a:prstGeom prst="bentConnector3">
            <a:avLst>
              <a:gd name="adj1" fmla="val 18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119" idx="2"/>
          </p:cNvCxnSpPr>
          <p:nvPr/>
        </p:nvCxnSpPr>
        <p:spPr>
          <a:xfrm>
            <a:off x="2177636" y="3018685"/>
            <a:ext cx="5820350" cy="712437"/>
          </a:xfrm>
          <a:prstGeom prst="bentConnector3">
            <a:avLst>
              <a:gd name="adj1" fmla="val 1106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188937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DMALM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24" idx="2"/>
          </p:cNvCxnSpPr>
          <p:nvPr/>
        </p:nvCxnSpPr>
        <p:spPr>
          <a:xfrm>
            <a:off x="2260746" y="1668075"/>
            <a:ext cx="6103088" cy="194330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99056" y="1302427"/>
            <a:ext cx="1043758" cy="931569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Sintra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89796" y="5230912"/>
            <a:ext cx="727242" cy="926074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4" idx="2"/>
          </p:cNvCxnSpPr>
          <p:nvPr/>
        </p:nvCxnSpPr>
        <p:spPr>
          <a:xfrm flipV="1">
            <a:off x="2237646" y="3611377"/>
            <a:ext cx="6126188" cy="1968430"/>
          </a:xfrm>
          <a:prstGeom prst="bentConnector3">
            <a:avLst>
              <a:gd name="adj1" fmla="val 502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612896" y="2649091"/>
            <a:ext cx="728831" cy="946774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24" idx="2"/>
          </p:cNvCxnSpPr>
          <p:nvPr/>
        </p:nvCxnSpPr>
        <p:spPr>
          <a:xfrm>
            <a:off x="2260746" y="3018685"/>
            <a:ext cx="6103088" cy="592692"/>
          </a:xfrm>
          <a:prstGeom prst="bentConnector3">
            <a:avLst>
              <a:gd name="adj1" fmla="val 5003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AD9CD5F-B492-162E-B314-81BAE6E4121A}"/>
              </a:ext>
            </a:extLst>
          </p:cNvPr>
          <p:cNvGrpSpPr/>
          <p:nvPr/>
        </p:nvGrpSpPr>
        <p:grpSpPr>
          <a:xfrm>
            <a:off x="1589796" y="3902718"/>
            <a:ext cx="675104" cy="966865"/>
            <a:chOff x="5042481" y="1353861"/>
            <a:chExt cx="675260" cy="9670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F9AEB1E-01CB-1DC5-37FE-6CCF7705D41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33A2860-6984-95FE-6217-911558734D14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5" name="Oval 2">
                <a:extLst>
                  <a:ext uri="{FF2B5EF4-FFF2-40B4-BE49-F238E27FC236}">
                    <a16:creationId xmlns:a16="http://schemas.microsoft.com/office/drawing/2014/main" id="{61E1C7E5-18D1-ED28-A051-C57DDC0E2EB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" name="Graphic 5" descr="Server with solid fill">
                <a:extLst>
                  <a:ext uri="{FF2B5EF4-FFF2-40B4-BE49-F238E27FC236}">
                    <a16:creationId xmlns:a16="http://schemas.microsoft.com/office/drawing/2014/main" id="{65CA0FB9-3397-7BDE-CCFF-0432D0DB5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97E55F8-CFD6-AAF3-F5AC-8730C5FF27AD}"/>
              </a:ext>
            </a:extLst>
          </p:cNvPr>
          <p:cNvGrpSpPr/>
          <p:nvPr/>
        </p:nvGrpSpPr>
        <p:grpSpPr>
          <a:xfrm>
            <a:off x="8346916" y="3192289"/>
            <a:ext cx="772744" cy="1034354"/>
            <a:chOff x="8424327" y="2488901"/>
            <a:chExt cx="772923" cy="10345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D4F84B-F3CC-833C-E42A-DB3221FC1198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ALM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86D33F9-4ED1-492E-0FE6-11B44310DBE9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A7BC7F3-238E-2DB1-D9AD-204B5D2A9DA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5ECB6409-38DA-B052-1A21-CB8FD37FD9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0" name="Graphic 9" descr="Single gear outline">
              <a:extLst>
                <a:ext uri="{FF2B5EF4-FFF2-40B4-BE49-F238E27FC236}">
                  <a16:creationId xmlns:a16="http://schemas.microsoft.com/office/drawing/2014/main" id="{45DFE9D3-BD56-F8EF-2B7A-EDF368F94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8" name="Imagen 18">
              <a:extLst>
                <a:ext uri="{FF2B5EF4-FFF2-40B4-BE49-F238E27FC236}">
                  <a16:creationId xmlns:a16="http://schemas.microsoft.com/office/drawing/2014/main" id="{21A28C15-6206-13C8-5DE0-0DB74AB84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cxnSp>
        <p:nvCxnSpPr>
          <p:cNvPr id="27" name="Elbow Connector 69">
            <a:extLst>
              <a:ext uri="{FF2B5EF4-FFF2-40B4-BE49-F238E27FC236}">
                <a16:creationId xmlns:a16="http://schemas.microsoft.com/office/drawing/2014/main" id="{C383D232-5004-5A13-8D7D-A8A443FBDA23}"/>
              </a:ext>
            </a:extLst>
          </p:cNvPr>
          <p:cNvCxnSpPr>
            <a:cxnSpLocks/>
            <a:stCxn id="5" idx="6"/>
            <a:endCxn id="24" idx="2"/>
          </p:cNvCxnSpPr>
          <p:nvPr/>
        </p:nvCxnSpPr>
        <p:spPr>
          <a:xfrm flipV="1">
            <a:off x="2237646" y="3611377"/>
            <a:ext cx="6126188" cy="615266"/>
          </a:xfrm>
          <a:prstGeom prst="bentConnector3">
            <a:avLst>
              <a:gd name="adj1" fmla="val 5019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3C6DC6-6BD5-2455-0F4F-6BD54C4A3B43}"/>
              </a:ext>
            </a:extLst>
          </p:cNvPr>
          <p:cNvGrpSpPr/>
          <p:nvPr/>
        </p:nvGrpSpPr>
        <p:grpSpPr>
          <a:xfrm>
            <a:off x="8246675" y="1775668"/>
            <a:ext cx="935783" cy="915758"/>
            <a:chOff x="1495099" y="5044535"/>
            <a:chExt cx="936000" cy="91597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57C8F7B-E01E-D5A2-7095-2AEAC9B2091D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BANCWARE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CA3FA94-64F0-E017-A90E-8398B8821CA4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43" name="Oval 2">
                <a:extLst>
                  <a:ext uri="{FF2B5EF4-FFF2-40B4-BE49-F238E27FC236}">
                    <a16:creationId xmlns:a16="http://schemas.microsoft.com/office/drawing/2014/main" id="{79DEB19F-FC5A-163B-71BF-A7BBEDD09955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44" name="Grupo 14">
                <a:extLst>
                  <a:ext uri="{FF2B5EF4-FFF2-40B4-BE49-F238E27FC236}">
                    <a16:creationId xmlns:a16="http://schemas.microsoft.com/office/drawing/2014/main" id="{0671D6C4-22F5-6C14-0239-563A811BAE1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45" name="Freeform 52">
                  <a:extLst>
                    <a:ext uri="{FF2B5EF4-FFF2-40B4-BE49-F238E27FC236}">
                      <a16:creationId xmlns:a16="http://schemas.microsoft.com/office/drawing/2014/main" id="{E573D7ED-3127-21CA-AF99-B8DF62688F0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46" name="Freeform 53">
                  <a:extLst>
                    <a:ext uri="{FF2B5EF4-FFF2-40B4-BE49-F238E27FC236}">
                      <a16:creationId xmlns:a16="http://schemas.microsoft.com/office/drawing/2014/main" id="{767F94A3-FEB7-096A-8E68-D2A1EDF386C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47" name="Freeform 54">
                  <a:extLst>
                    <a:ext uri="{FF2B5EF4-FFF2-40B4-BE49-F238E27FC236}">
                      <a16:creationId xmlns:a16="http://schemas.microsoft.com/office/drawing/2014/main" id="{F040A10B-C437-65D2-1527-D5B67673A7E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48" name="Freeform 55">
                  <a:extLst>
                    <a:ext uri="{FF2B5EF4-FFF2-40B4-BE49-F238E27FC236}">
                      <a16:creationId xmlns:a16="http://schemas.microsoft.com/office/drawing/2014/main" id="{B92C6886-0F2D-0327-7D63-38DEA682B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49" name="Freeform 56">
                  <a:extLst>
                    <a:ext uri="{FF2B5EF4-FFF2-40B4-BE49-F238E27FC236}">
                      <a16:creationId xmlns:a16="http://schemas.microsoft.com/office/drawing/2014/main" id="{20586697-6697-6DD1-9E65-D10970A75B6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50" name="Freeform 57">
                  <a:extLst>
                    <a:ext uri="{FF2B5EF4-FFF2-40B4-BE49-F238E27FC236}">
                      <a16:creationId xmlns:a16="http://schemas.microsoft.com/office/drawing/2014/main" id="{BE430DD0-68F5-6F29-D54C-0FE7C437AA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</p:grpSp>
        </p:grpSp>
      </p:grpSp>
      <p:cxnSp>
        <p:nvCxnSpPr>
          <p:cNvPr id="51" name="Elbow Connector 69">
            <a:extLst>
              <a:ext uri="{FF2B5EF4-FFF2-40B4-BE49-F238E27FC236}">
                <a16:creationId xmlns:a16="http://schemas.microsoft.com/office/drawing/2014/main" id="{14D34697-F67B-0496-D043-DF6C9CE484F6}"/>
              </a:ext>
            </a:extLst>
          </p:cNvPr>
          <p:cNvCxnSpPr>
            <a:cxnSpLocks/>
            <a:stCxn id="24" idx="6"/>
            <a:endCxn id="43" idx="6"/>
          </p:cNvCxnSpPr>
          <p:nvPr/>
        </p:nvCxnSpPr>
        <p:spPr>
          <a:xfrm flipV="1">
            <a:off x="9011684" y="2099593"/>
            <a:ext cx="31420" cy="151178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F5F4B327-01AE-BEC1-9F6C-A7292D02DF09}"/>
              </a:ext>
            </a:extLst>
          </p:cNvPr>
          <p:cNvCxnSpPr>
            <a:cxnSpLocks/>
            <a:stCxn id="43" idx="2"/>
            <a:endCxn id="24" idx="2"/>
          </p:cNvCxnSpPr>
          <p:nvPr/>
        </p:nvCxnSpPr>
        <p:spPr>
          <a:xfrm rot="10800000" flipV="1">
            <a:off x="8363835" y="2099593"/>
            <a:ext cx="31420" cy="151178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762783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Primários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6914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Universo Full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2241462" y="4539317"/>
            <a:ext cx="647850" cy="647850"/>
            <a:chOff x="455122" y="4977513"/>
            <a:chExt cx="648000" cy="6480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5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76" y="4415316"/>
            <a:ext cx="241113" cy="241113"/>
          </a:xfrm>
          <a:prstGeom prst="rect">
            <a:avLst/>
          </a:prstGeom>
        </p:spPr>
      </p:pic>
      <p:pic>
        <p:nvPicPr>
          <p:cNvPr id="5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26471" y="4415316"/>
            <a:ext cx="287933" cy="28793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2172303" y="5138607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879691" y="5302248"/>
            <a:ext cx="2279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cd_captools.nm001_master_cto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cd_captools.ct001_univ_saldo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cd_captools.kt_chaves_finrep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2059" y="2086243"/>
            <a:ext cx="12228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 dirty="0"/>
              <a:t>MdD_79_CESG_CNAE_ESG_v5.2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6818" y="3474247"/>
            <a:ext cx="1222873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PT" sz="900" dirty="0"/>
              <a:t>MdD_84_GARB_GAR &amp; BTAR_v5.2</a:t>
            </a:r>
            <a:endParaRPr lang="pt-PT" sz="900" dirty="0">
              <a:cs typeface="Arial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797028" y="2086243"/>
            <a:ext cx="16298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 dirty="0"/>
              <a:t>MdD_80_ENPC_Energy_Performance_Certificate_v4.2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81318" y="3486738"/>
            <a:ext cx="1222872" cy="5078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PT" sz="900" dirty="0">
                <a:ea typeface="+mn-lt"/>
                <a:cs typeface="+mn-lt"/>
              </a:rPr>
              <a:t>MdD_93_GHGE_GHG Financed emissions_v6.2</a:t>
            </a:r>
            <a:endParaRPr lang="en-US" sz="900" dirty="0"/>
          </a:p>
        </p:txBody>
      </p:sp>
      <p:sp>
        <p:nvSpPr>
          <p:cNvPr id="70" name="Rectangle 69"/>
          <p:cNvSpPr/>
          <p:nvPr/>
        </p:nvSpPr>
        <p:spPr>
          <a:xfrm>
            <a:off x="3398986" y="2086243"/>
            <a:ext cx="109163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 dirty="0"/>
              <a:t>MdD_83_MITI_Mitigation actions_v4.2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91059" y="3474247"/>
            <a:ext cx="125034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 dirty="0"/>
              <a:t>MdD_109_IESG_Interest and Commisions_v3.1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3393" y="6087078"/>
            <a:ext cx="4915673" cy="230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 dirty="0"/>
              <a:t>Nota: Ficheiros “xlsx” com os IDCOMBs para os respetivos satélites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D9E5EE-4FBA-6B66-A25A-38CC31F78D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7422" y="2798534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7C8D59-6F9B-FAF8-9DA0-BE10F97B181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7422" y="1398661"/>
            <a:ext cx="647850" cy="647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6B2CD2-4E12-BE6D-DD64-C6D4DB2EB8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4111" y="2798534"/>
            <a:ext cx="647850" cy="647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81380A-1835-DAE2-58F5-40CA17E6D9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4111" y="1398661"/>
            <a:ext cx="647850" cy="647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728735-DF2C-A03F-7AFA-1783EFC3949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61620" y="1398661"/>
            <a:ext cx="647850" cy="647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D149A7-21B0-5366-F536-61B727A271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61620" y="2798534"/>
            <a:ext cx="647850" cy="647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9132EF-3B79-05B8-A4B2-11BC6B99F7D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222" y="1346808"/>
            <a:ext cx="238885" cy="238885"/>
          </a:xfrm>
          <a:prstGeom prst="ellipse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378FB6-53A9-3065-E1AA-99F5300526D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222" y="2757247"/>
            <a:ext cx="238885" cy="238885"/>
          </a:xfrm>
          <a:prstGeom prst="ellipse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9CD38E-0A5D-3D5E-6C08-18BD1906D33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47" y="1346808"/>
            <a:ext cx="238885" cy="238885"/>
          </a:xfrm>
          <a:prstGeom prst="ellipse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B73697-F1F2-24D4-E930-A75CDD65AFD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47" y="2757247"/>
            <a:ext cx="238885" cy="238885"/>
          </a:xfrm>
          <a:prstGeom prst="ellipse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8FE561-5B95-10BD-2E97-24F59D33581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700" y="1346808"/>
            <a:ext cx="238885" cy="238885"/>
          </a:xfrm>
          <a:prstGeom prst="ellipse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B606BC-2748-AA7D-4A50-7833480FF66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700" y="2757247"/>
            <a:ext cx="238885" cy="238885"/>
          </a:xfrm>
          <a:prstGeom prst="ellipse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9F4083-84DA-3054-322A-2FFD850CF1B9}"/>
              </a:ext>
            </a:extLst>
          </p:cNvPr>
          <p:cNvSpPr/>
          <p:nvPr/>
        </p:nvSpPr>
        <p:spPr>
          <a:xfrm>
            <a:off x="564675" y="1267770"/>
            <a:ext cx="4315334" cy="4819308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26" name="Elbow Connector 69">
            <a:extLst>
              <a:ext uri="{FF2B5EF4-FFF2-40B4-BE49-F238E27FC236}">
                <a16:creationId xmlns:a16="http://schemas.microsoft.com/office/drawing/2014/main" id="{80FCE532-E84B-34D0-6265-8732770CA99B}"/>
              </a:ext>
            </a:extLst>
          </p:cNvPr>
          <p:cNvCxnSpPr>
            <a:cxnSpLocks/>
          </p:cNvCxnSpPr>
          <p:nvPr/>
        </p:nvCxnSpPr>
        <p:spPr>
          <a:xfrm flipV="1">
            <a:off x="4880009" y="3377035"/>
            <a:ext cx="3240000" cy="0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0E55121-42DA-7CA6-B7CA-86572C7048F7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8725A71-A991-DCAD-05E7-AB1E8EACDAA4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8" name="Graphic 119" descr="Database with solid fill">
              <a:extLst>
                <a:ext uri="{FF2B5EF4-FFF2-40B4-BE49-F238E27FC236}">
                  <a16:creationId xmlns:a16="http://schemas.microsoft.com/office/drawing/2014/main" id="{FBCF855B-703B-9D15-EBA9-36021148F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79" name="Graphic 116" descr="Single gear with solid fill">
            <a:extLst>
              <a:ext uri="{FF2B5EF4-FFF2-40B4-BE49-F238E27FC236}">
                <a16:creationId xmlns:a16="http://schemas.microsoft.com/office/drawing/2014/main" id="{B09E7110-84CB-A721-88F1-AD44D96B8DF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80" name="Elbow Connector 69">
            <a:extLst>
              <a:ext uri="{FF2B5EF4-FFF2-40B4-BE49-F238E27FC236}">
                <a16:creationId xmlns:a16="http://schemas.microsoft.com/office/drawing/2014/main" id="{AE1109FC-80FE-0152-875C-9E5D73C2BB2D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219BA20-CD99-E50F-D649-0B1F7BDF034C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58" name="Picture 4">
              <a:extLst>
                <a:ext uri="{FF2B5EF4-FFF2-40B4-BE49-F238E27FC236}">
                  <a16:creationId xmlns:a16="http://schemas.microsoft.com/office/drawing/2014/main" id="{99EE2443-484D-2170-72D5-CE5197DEF3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" name="Picture 139" descr="Related image">
              <a:extLst>
                <a:ext uri="{FF2B5EF4-FFF2-40B4-BE49-F238E27FC236}">
                  <a16:creationId xmlns:a16="http://schemas.microsoft.com/office/drawing/2014/main" id="{8730ABB4-13C6-05FD-A993-439AB9908A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1F25BB0-7405-6D55-B313-86E05BB62B75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C6160AD-6021-C3DE-FF79-A4F7EF42F168}"/>
              </a:ext>
            </a:extLst>
          </p:cNvPr>
          <p:cNvSpPr/>
          <p:nvPr/>
        </p:nvSpPr>
        <p:spPr>
          <a:xfrm>
            <a:off x="10694771" y="3712355"/>
            <a:ext cx="1233609" cy="50783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</a:t>
            </a:r>
          </a:p>
          <a:p>
            <a:pPr algn="ctr"/>
            <a:r>
              <a:rPr lang="en-US" sz="900" dirty="0"/>
              <a:t>bu_esg_work.rf_pilar3_universo_full_v3</a:t>
            </a:r>
            <a:endParaRPr lang="pt-PT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D8792A-91BF-38C6-4F63-012FD1B6EA6F}"/>
              </a:ext>
            </a:extLst>
          </p:cNvPr>
          <p:cNvSpPr txBox="1"/>
          <p:nvPr/>
        </p:nvSpPr>
        <p:spPr>
          <a:xfrm>
            <a:off x="7760628" y="3929958"/>
            <a:ext cx="223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Metodologia de obtenção de informação utilizada no mapeamento de definição do universo do perímetro de cada satélite.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003530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C9000F-3361-D565-91AC-1AC05F580E53}"/>
              </a:ext>
            </a:extLst>
          </p:cNvPr>
          <p:cNvCxnSpPr/>
          <p:nvPr/>
        </p:nvCxnSpPr>
        <p:spPr>
          <a:xfrm flipV="1">
            <a:off x="4517859" y="4159664"/>
            <a:ext cx="1683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Informação Gloval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AC5004-53E5-5C7E-8883-6E5EAD1D55FE}"/>
              </a:ext>
            </a:extLst>
          </p:cNvPr>
          <p:cNvGrpSpPr/>
          <p:nvPr/>
        </p:nvGrpSpPr>
        <p:grpSpPr>
          <a:xfrm>
            <a:off x="3579561" y="3771964"/>
            <a:ext cx="2405030" cy="1322600"/>
            <a:chOff x="8056855" y="3792423"/>
            <a:chExt cx="2405030" cy="1322600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3852314"/>
              <a:ext cx="647850" cy="647850"/>
              <a:chOff x="455122" y="4977513"/>
              <a:chExt cx="648000" cy="648000"/>
            </a:xfrm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0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5209" y="448232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ESTRUTURAIS</a:t>
              </a:r>
            </a:p>
          </p:txBody>
        </p:sp>
        <p:pic>
          <p:nvPicPr>
            <p:cNvPr id="19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3792423"/>
              <a:ext cx="241113" cy="241113"/>
            </a:xfrm>
            <a:prstGeom prst="rect">
              <a:avLst/>
            </a:prstGeom>
          </p:spPr>
        </p:pic>
        <p:pic>
          <p:nvPicPr>
            <p:cNvPr id="19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84368" y="3792423"/>
              <a:ext cx="287933" cy="287933"/>
            </a:xfrm>
            <a:prstGeom prst="rect">
              <a:avLst/>
            </a:prstGeom>
          </p:spPr>
        </p:pic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56855" y="4607192"/>
              <a:ext cx="240503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cd_estruturais.tat91_tabelas (ctabela = 'J48’; '438’; '190’; '437')</a:t>
              </a:r>
              <a:endParaRPr lang="pt-PT" sz="1000" dirty="0"/>
            </a:p>
          </p:txBody>
        </p:sp>
      </p:grp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2651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1706558" y="1340913"/>
            <a:ext cx="647850" cy="64785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1601030" y="1978841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GARANTIAS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317031" y="2101164"/>
            <a:ext cx="2304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cd_garantias.gt008_trz_gt_imv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cd_garantias.gt001_trz_rsp_gt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cd_garantias.gt009_bens_imov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cd_garantias.cst08_caucbem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cd_garantias.gt018_rateio_aval</a:t>
            </a:r>
          </a:p>
        </p:txBody>
      </p: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17" y="1287947"/>
            <a:ext cx="241113" cy="241113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57512" y="1287947"/>
            <a:ext cx="287933" cy="28793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67AF6E5-1E69-F0DE-C858-479FE813DC8E}"/>
              </a:ext>
            </a:extLst>
          </p:cNvPr>
          <p:cNvGrpSpPr/>
          <p:nvPr/>
        </p:nvGrpSpPr>
        <p:grpSpPr>
          <a:xfrm>
            <a:off x="3579561" y="1901208"/>
            <a:ext cx="2304956" cy="1598047"/>
            <a:chOff x="8056854" y="1287947"/>
            <a:chExt cx="2304956" cy="1598047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29144" y="1970315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EMPRÉSTIMOS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56854" y="2101164"/>
              <a:ext cx="2304956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cd_emprestimos.gpt32_bemimove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cd_emprestimos.gpt18_bens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cd_emprestimos.gpt14_registos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cd_emprestimos.gpt31_contrato</a:t>
              </a:r>
            </a:p>
          </p:txBody>
        </p:sp>
        <p:pic>
          <p:nvPicPr>
            <p:cNvPr id="7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7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3E6F3F-37A8-A46C-3B04-85C7058C3355}"/>
              </a:ext>
            </a:extLst>
          </p:cNvPr>
          <p:cNvCxnSpPr>
            <a:stCxn id="68" idx="6"/>
          </p:cNvCxnSpPr>
          <p:nvPr/>
        </p:nvCxnSpPr>
        <p:spPr>
          <a:xfrm flipV="1">
            <a:off x="4606489" y="2268278"/>
            <a:ext cx="1585905" cy="98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4FE18F9C-BF74-3842-BDBA-3384BC0F0A66}"/>
              </a:ext>
            </a:extLst>
          </p:cNvPr>
          <p:cNvCxnSpPr>
            <a:cxnSpLocks/>
          </p:cNvCxnSpPr>
          <p:nvPr/>
        </p:nvCxnSpPr>
        <p:spPr>
          <a:xfrm flipV="1">
            <a:off x="2354407" y="3378842"/>
            <a:ext cx="5760000" cy="1815975"/>
          </a:xfrm>
          <a:prstGeom prst="bentConnector3">
            <a:avLst>
              <a:gd name="adj1" fmla="val 66602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69">
            <a:extLst>
              <a:ext uri="{FF2B5EF4-FFF2-40B4-BE49-F238E27FC236}">
                <a16:creationId xmlns:a16="http://schemas.microsoft.com/office/drawing/2014/main" id="{57B99B77-69BA-A507-2C28-5618F1596AE2}"/>
              </a:ext>
            </a:extLst>
          </p:cNvPr>
          <p:cNvCxnSpPr>
            <a:cxnSpLocks/>
          </p:cNvCxnSpPr>
          <p:nvPr/>
        </p:nvCxnSpPr>
        <p:spPr>
          <a:xfrm>
            <a:off x="2357047" y="1707522"/>
            <a:ext cx="5760000" cy="1669513"/>
          </a:xfrm>
          <a:prstGeom prst="bentConnector3">
            <a:avLst>
              <a:gd name="adj1" fmla="val 6663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4ADE09B-5F08-C62C-BE21-B94E0DF2CAFD}"/>
              </a:ext>
            </a:extLst>
          </p:cNvPr>
          <p:cNvGrpSpPr/>
          <p:nvPr/>
        </p:nvGrpSpPr>
        <p:grpSpPr>
          <a:xfrm>
            <a:off x="1237964" y="4721098"/>
            <a:ext cx="2310666" cy="1603283"/>
            <a:chOff x="1237574" y="4012190"/>
            <a:chExt cx="2310666" cy="1603283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ED25F70-7414-72C3-2C4B-2FEBB5F4E437}"/>
                </a:ext>
              </a:extLst>
            </p:cNvPr>
            <p:cNvGrpSpPr/>
            <p:nvPr/>
          </p:nvGrpSpPr>
          <p:grpSpPr>
            <a:xfrm>
              <a:off x="1706558" y="4214264"/>
              <a:ext cx="647850" cy="647850"/>
              <a:chOff x="455122" y="4977513"/>
              <a:chExt cx="648000" cy="648000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756F8FC5-B3EA-EFDB-2749-17C6F5D0BA4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2" name="Graphic 119" descr="Database with solid fill">
                <a:extLst>
                  <a:ext uri="{FF2B5EF4-FFF2-40B4-BE49-F238E27FC236}">
                    <a16:creationId xmlns:a16="http://schemas.microsoft.com/office/drawing/2014/main" id="{67EEADCD-969C-6A80-59B4-D5E3542484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D8656D4-981C-4A5E-0E05-5F84696E01EB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7CB5AA2-5D8F-4202-4572-07090588149C}"/>
                </a:ext>
              </a:extLst>
            </p:cNvPr>
            <p:cNvSpPr txBox="1"/>
            <p:nvPr/>
          </p:nvSpPr>
          <p:spPr>
            <a:xfrm>
              <a:off x="1607303" y="483703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pic>
          <p:nvPicPr>
            <p:cNvPr id="98" name="Imagen 18">
              <a:extLst>
                <a:ext uri="{FF2B5EF4-FFF2-40B4-BE49-F238E27FC236}">
                  <a16:creationId xmlns:a16="http://schemas.microsoft.com/office/drawing/2014/main" id="{479E18AA-5698-1133-0C62-CC0CFD4FE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217" y="4154373"/>
              <a:ext cx="241113" cy="241113"/>
            </a:xfrm>
            <a:prstGeom prst="rect">
              <a:avLst/>
            </a:prstGeom>
          </p:spPr>
        </p:pic>
        <p:pic>
          <p:nvPicPr>
            <p:cNvPr id="99" name="Graphic 96" descr="Single gear outline">
              <a:extLst>
                <a:ext uri="{FF2B5EF4-FFF2-40B4-BE49-F238E27FC236}">
                  <a16:creationId xmlns:a16="http://schemas.microsoft.com/office/drawing/2014/main" id="{8C61868F-54D0-CEC5-84AE-8D7CF47FC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157512" y="4154373"/>
              <a:ext cx="287933" cy="287933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E1F37F1-7C37-5243-91F5-E2453D6D1606}"/>
                </a:ext>
              </a:extLst>
            </p:cNvPr>
            <p:cNvSpPr txBox="1"/>
            <p:nvPr/>
          </p:nvSpPr>
          <p:spPr>
            <a:xfrm>
              <a:off x="1317031" y="4969142"/>
              <a:ext cx="22312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cd_captools.ct001_univ_saldo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cd_captools.ct005_univ_perim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cd_captools.ct802_codigo_emp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8DC97D9-8278-AC7D-85B4-3564C33E5F72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06C81D9-198F-A419-8DCD-8936DA781B07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9" name="Graphic 119" descr="Database with solid fill">
              <a:extLst>
                <a:ext uri="{FF2B5EF4-FFF2-40B4-BE49-F238E27FC236}">
                  <a16:creationId xmlns:a16="http://schemas.microsoft.com/office/drawing/2014/main" id="{BBEBE4F6-78E8-C6E7-AD18-43639F85C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110" name="Graphic 116" descr="Single gear with solid fill">
            <a:extLst>
              <a:ext uri="{FF2B5EF4-FFF2-40B4-BE49-F238E27FC236}">
                <a16:creationId xmlns:a16="http://schemas.microsoft.com/office/drawing/2014/main" id="{E9158B5F-E272-C567-5C1E-35E16C0CF67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111" name="Elbow Connector 69">
            <a:extLst>
              <a:ext uri="{FF2B5EF4-FFF2-40B4-BE49-F238E27FC236}">
                <a16:creationId xmlns:a16="http://schemas.microsoft.com/office/drawing/2014/main" id="{7D61EE91-DC87-8E71-60D1-115E5AD9A41E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E79833F-4E19-0377-50E0-E00EAB546B06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104" name="Picture 4">
              <a:extLst>
                <a:ext uri="{FF2B5EF4-FFF2-40B4-BE49-F238E27FC236}">
                  <a16:creationId xmlns:a16="http://schemas.microsoft.com/office/drawing/2014/main" id="{01EFF079-0259-CF89-EC7C-C02B4E3A0C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139" descr="Related image">
              <a:extLst>
                <a:ext uri="{FF2B5EF4-FFF2-40B4-BE49-F238E27FC236}">
                  <a16:creationId xmlns:a16="http://schemas.microsoft.com/office/drawing/2014/main" id="{55E3A36B-7982-4DFF-58FA-4B7290DB1F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A698F54-DF05-56E3-0433-0FA32F7C7101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0A1B328-F403-EB47-1EF9-B715ADCAFED5}"/>
              </a:ext>
            </a:extLst>
          </p:cNvPr>
          <p:cNvSpPr/>
          <p:nvPr/>
        </p:nvSpPr>
        <p:spPr>
          <a:xfrm>
            <a:off x="10694771" y="3712355"/>
            <a:ext cx="1233609" cy="50783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</a:t>
            </a:r>
          </a:p>
          <a:p>
            <a:pPr algn="ctr"/>
            <a:r>
              <a:rPr lang="pt-PT" sz="900" dirty="0"/>
              <a:t>bu_esg_work.envio_final_gloval_jun23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878A9-E14F-7F62-3553-53712E519514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Metodologia de obtenção de dados utilizados no mapeamento do processo de informação Gloval.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731792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000" dirty="0"/>
              <a:t>O </a:t>
            </a:r>
            <a:r>
              <a:rPr lang="en-US" sz="1000" dirty="0" err="1"/>
              <a:t>processo</a:t>
            </a:r>
            <a:r>
              <a:rPr lang="en-US" sz="1000" dirty="0"/>
              <a:t> de </a:t>
            </a:r>
            <a:r>
              <a:rPr lang="en-US" sz="1000" dirty="0" err="1"/>
              <a:t>geração</a:t>
            </a:r>
            <a:r>
              <a:rPr lang="en-US" sz="1000" dirty="0"/>
              <a:t> </a:t>
            </a:r>
            <a:r>
              <a:rPr lang="en-US" sz="1000" dirty="0" smtClean="0"/>
              <a:t>da </a:t>
            </a:r>
            <a:r>
              <a:rPr lang="en-US" sz="1000" dirty="0" err="1" smtClean="0"/>
              <a:t>informação</a:t>
            </a:r>
            <a:r>
              <a:rPr lang="en-US" sz="1000" dirty="0" smtClean="0"/>
              <a:t> </a:t>
            </a:r>
            <a:r>
              <a:rPr lang="en-US" sz="1000" i="1" dirty="0" smtClean="0"/>
              <a:t>via </a:t>
            </a:r>
            <a:r>
              <a:rPr lang="en-US" sz="1000" dirty="0" err="1" smtClean="0"/>
              <a:t>Gloval</a:t>
            </a:r>
            <a:r>
              <a:rPr lang="en-US" sz="1000" dirty="0" smtClean="0"/>
              <a:t> </a:t>
            </a:r>
            <a:r>
              <a:rPr lang="en-US" sz="1000" dirty="0" smtClean="0"/>
              <a:t>(</a:t>
            </a:r>
            <a:r>
              <a:rPr lang="en-US" sz="1000" dirty="0" err="1" smtClean="0"/>
              <a:t>descrito</a:t>
            </a:r>
            <a:r>
              <a:rPr lang="en-US" sz="1000" dirty="0" smtClean="0"/>
              <a:t> </a:t>
            </a:r>
            <a:r>
              <a:rPr lang="en-US" sz="1000" dirty="0"/>
              <a:t>no </a:t>
            </a:r>
            <a:r>
              <a:rPr lang="en-US" sz="1000" i="1" dirty="0"/>
              <a:t>slide </a:t>
            </a:r>
            <a:r>
              <a:rPr lang="en-US" sz="1000" dirty="0" smtClean="0"/>
              <a:t>anterior), </a:t>
            </a:r>
            <a:r>
              <a:rPr lang="en-US" sz="1000" dirty="0"/>
              <a:t>visa o </a:t>
            </a:r>
            <a:r>
              <a:rPr lang="en-US" sz="1000" dirty="0" err="1"/>
              <a:t>reporte</a:t>
            </a:r>
            <a:r>
              <a:rPr lang="en-US" sz="1000" dirty="0"/>
              <a:t> das </a:t>
            </a:r>
            <a:r>
              <a:rPr lang="en-US" sz="1000" dirty="0" err="1"/>
              <a:t>seguintes</a:t>
            </a:r>
            <a:r>
              <a:rPr lang="en-US" sz="1000" dirty="0"/>
              <a:t> </a:t>
            </a:r>
            <a:r>
              <a:rPr lang="en-US" sz="1000" dirty="0" err="1" smtClean="0"/>
              <a:t>métricas</a:t>
            </a:r>
            <a:r>
              <a:rPr lang="en-US" sz="1000" dirty="0" smtClean="0"/>
              <a:t>: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Informação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Gloval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820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 smtClean="0"/>
              <a:t>Clase_energetica</a:t>
            </a:r>
            <a:endParaRPr lang="pt-PT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625778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emisiones</a:t>
            </a:r>
            <a:endParaRPr lang="pt-PT" sz="1100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9137370" y="1816771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consumos</a:t>
            </a:r>
            <a:endParaRPr lang="pt-PT" sz="1100" dirty="0" smtClean="0"/>
          </a:p>
        </p:txBody>
      </p:sp>
      <p:sp>
        <p:nvSpPr>
          <p:cNvPr id="30" name="TextBox 29"/>
          <p:cNvSpPr txBox="1"/>
          <p:nvPr/>
        </p:nvSpPr>
        <p:spPr>
          <a:xfrm>
            <a:off x="49862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fiabilidad</a:t>
            </a:r>
            <a:endParaRPr lang="pt-PT" sz="1100" dirty="0"/>
          </a:p>
        </p:txBody>
      </p:sp>
    </p:spTree>
    <p:extLst>
      <p:ext uri="{BB962C8B-B14F-4D97-AF65-F5344CB8AC3E}">
        <p14:creationId xmlns:p14="http://schemas.microsoft.com/office/powerpoint/2010/main" val="407550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C9000F-3361-D565-91AC-1AC05F580E53}"/>
              </a:ext>
            </a:extLst>
          </p:cNvPr>
          <p:cNvCxnSpPr>
            <a:cxnSpLocks/>
          </p:cNvCxnSpPr>
          <p:nvPr/>
        </p:nvCxnSpPr>
        <p:spPr>
          <a:xfrm>
            <a:off x="2039203" y="3380778"/>
            <a:ext cx="3862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Métricas Colaterais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1706558" y="1340913"/>
            <a:ext cx="647850" cy="64785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1601030" y="1978841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317031" y="2101164"/>
            <a:ext cx="2304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cd_captools.fr003_colaterais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cd_captools.fr801_tip_garan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cd_captools.kt_chaves_finrep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E1353F0-3A2D-9633-A394-4E168A6C5C24}"/>
              </a:ext>
            </a:extLst>
          </p:cNvPr>
          <p:cNvGrpSpPr/>
          <p:nvPr/>
        </p:nvGrpSpPr>
        <p:grpSpPr>
          <a:xfrm>
            <a:off x="1237574" y="4717040"/>
            <a:ext cx="2310666" cy="1464783"/>
            <a:chOff x="1237574" y="4012190"/>
            <a:chExt cx="2310666" cy="1464783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1706558" y="4214264"/>
              <a:ext cx="647850" cy="647850"/>
              <a:chOff x="455122" y="4977513"/>
              <a:chExt cx="648000" cy="6480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1607303" y="483703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GARANTIAS</a:t>
              </a:r>
            </a:p>
          </p:txBody>
        </p:sp>
        <p:pic>
          <p:nvPicPr>
            <p:cNvPr id="48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217" y="4154373"/>
              <a:ext cx="241113" cy="241113"/>
            </a:xfrm>
            <a:prstGeom prst="rect">
              <a:avLst/>
            </a:prstGeom>
          </p:spPr>
        </p:pic>
        <p:pic>
          <p:nvPicPr>
            <p:cNvPr id="49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157512" y="4154373"/>
              <a:ext cx="287933" cy="287933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1317031" y="4969142"/>
              <a:ext cx="223120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cd_garantias.gt009_bens_imov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cd_garantias.gt018_rateio_aval</a:t>
              </a:r>
            </a:p>
          </p:txBody>
        </p:sp>
      </p:grp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17" y="1287947"/>
            <a:ext cx="241113" cy="241113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57512" y="1287947"/>
            <a:ext cx="287933" cy="287933"/>
          </a:xfrm>
          <a:prstGeom prst="rect">
            <a:avLst/>
          </a:prstGeom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1244A69F-E8AD-0120-CE01-969F30A44312}"/>
              </a:ext>
            </a:extLst>
          </p:cNvPr>
          <p:cNvCxnSpPr>
            <a:cxnSpLocks/>
          </p:cNvCxnSpPr>
          <p:nvPr/>
        </p:nvCxnSpPr>
        <p:spPr>
          <a:xfrm flipV="1">
            <a:off x="2354407" y="3378842"/>
            <a:ext cx="5760000" cy="1815975"/>
          </a:xfrm>
          <a:prstGeom prst="bentConnector3">
            <a:avLst>
              <a:gd name="adj1" fmla="val 50560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BBEB62E-0C45-4CA2-B4C4-BDBE9DF70F56}"/>
              </a:ext>
            </a:extLst>
          </p:cNvPr>
          <p:cNvGrpSpPr/>
          <p:nvPr/>
        </p:nvGrpSpPr>
        <p:grpSpPr>
          <a:xfrm>
            <a:off x="11007832" y="3005846"/>
            <a:ext cx="706458" cy="680862"/>
            <a:chOff x="11007832" y="3005846"/>
            <a:chExt cx="706458" cy="68086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6D81DF1-FF07-0400-31E1-4D1E8EEE67B4}"/>
                </a:ext>
              </a:extLst>
            </p:cNvPr>
            <p:cNvGrpSpPr/>
            <p:nvPr/>
          </p:nvGrpSpPr>
          <p:grpSpPr>
            <a:xfrm>
              <a:off x="11007832" y="3042684"/>
              <a:ext cx="639433" cy="644024"/>
              <a:chOff x="10931012" y="2482312"/>
              <a:chExt cx="639433" cy="64402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2A72D1C-E943-4CD9-1DE5-4E3981668FDC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119" descr="Database with solid fill">
                <a:extLst>
                  <a:ext uri="{FF2B5EF4-FFF2-40B4-BE49-F238E27FC236}">
                    <a16:creationId xmlns:a16="http://schemas.microsoft.com/office/drawing/2014/main" id="{36474B2F-1BD7-5351-1ED9-0C9ABFA38D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29" name="Graphic 116" descr="Single gear with solid fill">
              <a:extLst>
                <a:ext uri="{FF2B5EF4-FFF2-40B4-BE49-F238E27FC236}">
                  <a16:creationId xmlns:a16="http://schemas.microsoft.com/office/drawing/2014/main" id="{A6D3D1D9-DFD4-B334-5B43-06E51F829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426357" y="3005846"/>
              <a:ext cx="287933" cy="28793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9A2BDF4-4108-64EB-BAE7-E5EA56389B14}"/>
              </a:ext>
            </a:extLst>
          </p:cNvPr>
          <p:cNvGrpSpPr/>
          <p:nvPr/>
        </p:nvGrpSpPr>
        <p:grpSpPr>
          <a:xfrm>
            <a:off x="1237574" y="2904781"/>
            <a:ext cx="2795411" cy="1326284"/>
            <a:chOff x="1237574" y="4012190"/>
            <a:chExt cx="2795411" cy="132628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FE9B27F-7C44-B08E-1635-F02AD8D23FD7}"/>
                </a:ext>
              </a:extLst>
            </p:cNvPr>
            <p:cNvGrpSpPr/>
            <p:nvPr/>
          </p:nvGrpSpPr>
          <p:grpSpPr>
            <a:xfrm>
              <a:off x="1706558" y="4214264"/>
              <a:ext cx="647850" cy="647850"/>
              <a:chOff x="455122" y="4977513"/>
              <a:chExt cx="648000" cy="648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AA7D49F-9793-AAFF-38AD-E0DAE7AE49A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8" name="Graphic 119" descr="Database with solid fill">
                <a:extLst>
                  <a:ext uri="{FF2B5EF4-FFF2-40B4-BE49-F238E27FC236}">
                    <a16:creationId xmlns:a16="http://schemas.microsoft.com/office/drawing/2014/main" id="{8764C538-7ED2-3620-C3AF-B91C874227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6ECC41-96DC-BD16-080B-74BACD801869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088F90-7358-81C6-33AC-DF5E74F21421}"/>
                </a:ext>
              </a:extLst>
            </p:cNvPr>
            <p:cNvSpPr txBox="1"/>
            <p:nvPr/>
          </p:nvSpPr>
          <p:spPr>
            <a:xfrm>
              <a:off x="1607303" y="483703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ESTRUTURAIS</a:t>
              </a:r>
            </a:p>
          </p:txBody>
        </p:sp>
        <p:pic>
          <p:nvPicPr>
            <p:cNvPr id="14" name="Imagen 18">
              <a:extLst>
                <a:ext uri="{FF2B5EF4-FFF2-40B4-BE49-F238E27FC236}">
                  <a16:creationId xmlns:a16="http://schemas.microsoft.com/office/drawing/2014/main" id="{123497EA-9CBF-E8D6-9666-9669BC988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217" y="4154373"/>
              <a:ext cx="241113" cy="241113"/>
            </a:xfrm>
            <a:prstGeom prst="rect">
              <a:avLst/>
            </a:prstGeom>
          </p:spPr>
        </p:pic>
        <p:pic>
          <p:nvPicPr>
            <p:cNvPr id="15" name="Graphic 96" descr="Single gear outline">
              <a:extLst>
                <a:ext uri="{FF2B5EF4-FFF2-40B4-BE49-F238E27FC236}">
                  <a16:creationId xmlns:a16="http://schemas.microsoft.com/office/drawing/2014/main" id="{890E5B8C-A9D0-7B50-4D86-60FEC0EE1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157512" y="4154373"/>
              <a:ext cx="287933" cy="28793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C445968-DC7E-6BAF-ECC1-A7859C92D2F6}"/>
                </a:ext>
              </a:extLst>
            </p:cNvPr>
            <p:cNvSpPr txBox="1"/>
            <p:nvPr/>
          </p:nvSpPr>
          <p:spPr>
            <a:xfrm>
              <a:off x="1317031" y="4969142"/>
              <a:ext cx="27159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  <a:endParaRPr lang="pt-PT" sz="900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cd_estruturais.tat91_tabelas </a:t>
              </a:r>
              <a:r>
                <a:rPr lang="pt-PT" sz="800" dirty="0"/>
                <a:t>(ctabela = 'J48’)</a:t>
              </a:r>
              <a:endParaRPr lang="en-US" sz="900" dirty="0"/>
            </a:p>
          </p:txBody>
        </p:sp>
      </p:grpSp>
      <p:cxnSp>
        <p:nvCxnSpPr>
          <p:cNvPr id="41" name="Elbow Connector 69">
            <a:extLst>
              <a:ext uri="{FF2B5EF4-FFF2-40B4-BE49-F238E27FC236}">
                <a16:creationId xmlns:a16="http://schemas.microsoft.com/office/drawing/2014/main" id="{BD59E79E-E6FD-5688-3FA8-5BBE698662D9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26FFD7C-F99F-8924-EA68-A5239073A5D2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46" name="Picture 4">
              <a:extLst>
                <a:ext uri="{FF2B5EF4-FFF2-40B4-BE49-F238E27FC236}">
                  <a16:creationId xmlns:a16="http://schemas.microsoft.com/office/drawing/2014/main" id="{371A544C-21B5-9F8F-FF23-81086E408F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" name="Picture 139" descr="Related image">
              <a:extLst>
                <a:ext uri="{FF2B5EF4-FFF2-40B4-BE49-F238E27FC236}">
                  <a16:creationId xmlns:a16="http://schemas.microsoft.com/office/drawing/2014/main" id="{13DE11EA-B614-DE44-7495-E7D5092F32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EFA46F1-DFDC-4B27-35F7-5C0FDFE329B8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cxnSp>
        <p:nvCxnSpPr>
          <p:cNvPr id="83" name="Elbow Connector 69">
            <a:extLst>
              <a:ext uri="{FF2B5EF4-FFF2-40B4-BE49-F238E27FC236}">
                <a16:creationId xmlns:a16="http://schemas.microsoft.com/office/drawing/2014/main" id="{76039810-1BB3-C79C-E3DC-9AE0B6D5C52A}"/>
              </a:ext>
            </a:extLst>
          </p:cNvPr>
          <p:cNvCxnSpPr>
            <a:cxnSpLocks/>
          </p:cNvCxnSpPr>
          <p:nvPr/>
        </p:nvCxnSpPr>
        <p:spPr>
          <a:xfrm>
            <a:off x="2357047" y="1707522"/>
            <a:ext cx="5760000" cy="1669513"/>
          </a:xfrm>
          <a:prstGeom prst="bentConnector3">
            <a:avLst>
              <a:gd name="adj1" fmla="val 5058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09B5B467-161B-0679-5F5B-FA1E7EE6E23F}"/>
              </a:ext>
            </a:extLst>
          </p:cNvPr>
          <p:cNvSpPr/>
          <p:nvPr/>
        </p:nvSpPr>
        <p:spPr>
          <a:xfrm>
            <a:off x="10694771" y="3712355"/>
            <a:ext cx="123360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</a:t>
            </a:r>
          </a:p>
          <a:p>
            <a:pPr algn="ctr"/>
            <a:r>
              <a:rPr lang="pt-PT" sz="900" dirty="0"/>
              <a:t>bu_esg_work.colaterais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A6C215-6F57-343E-8955-03AE963BD6BD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Metodologia de obtenção de informação utilizada no mapeamento do processo de colaterais.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77214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000" dirty="0"/>
              <a:t>O </a:t>
            </a:r>
            <a:r>
              <a:rPr lang="en-US" sz="1000" dirty="0" err="1"/>
              <a:t>processo</a:t>
            </a:r>
            <a:r>
              <a:rPr lang="en-US" sz="1000" dirty="0"/>
              <a:t> de </a:t>
            </a:r>
            <a:r>
              <a:rPr lang="en-US" sz="1000" dirty="0" err="1"/>
              <a:t>geração</a:t>
            </a:r>
            <a:r>
              <a:rPr lang="en-US" sz="1000" dirty="0"/>
              <a:t> </a:t>
            </a:r>
            <a:r>
              <a:rPr lang="en-US" sz="1000" dirty="0" smtClean="0"/>
              <a:t>das </a:t>
            </a:r>
            <a:r>
              <a:rPr lang="en-US" sz="1000" dirty="0" err="1" smtClean="0"/>
              <a:t>métricas</a:t>
            </a:r>
            <a:r>
              <a:rPr lang="en-US" sz="1000" dirty="0" smtClean="0"/>
              <a:t> </a:t>
            </a:r>
            <a:r>
              <a:rPr lang="en-US" sz="1000" dirty="0" err="1" smtClean="0"/>
              <a:t>associadas</a:t>
            </a:r>
            <a:r>
              <a:rPr lang="en-US" sz="1000" dirty="0" smtClean="0"/>
              <a:t> </a:t>
            </a:r>
            <a:r>
              <a:rPr lang="en-US" sz="1000" dirty="0" err="1" smtClean="0"/>
              <a:t>aos</a:t>
            </a:r>
            <a:r>
              <a:rPr lang="en-US" sz="1000" dirty="0" smtClean="0"/>
              <a:t> </a:t>
            </a:r>
            <a:r>
              <a:rPr lang="en-US" sz="1000" dirty="0" err="1" smtClean="0"/>
              <a:t>colaterais</a:t>
            </a:r>
            <a:r>
              <a:rPr lang="en-US" sz="1000" dirty="0" smtClean="0"/>
              <a:t> (</a:t>
            </a:r>
            <a:r>
              <a:rPr lang="en-US" sz="1000" dirty="0" err="1" smtClean="0"/>
              <a:t>descrito</a:t>
            </a:r>
            <a:r>
              <a:rPr lang="en-US" sz="1000" dirty="0" smtClean="0"/>
              <a:t> </a:t>
            </a:r>
            <a:r>
              <a:rPr lang="en-US" sz="1000" dirty="0"/>
              <a:t>no </a:t>
            </a:r>
            <a:r>
              <a:rPr lang="en-US" sz="1000" i="1" dirty="0"/>
              <a:t>slide </a:t>
            </a:r>
            <a:r>
              <a:rPr lang="en-US" sz="1000" dirty="0" smtClean="0"/>
              <a:t>anterior), </a:t>
            </a:r>
            <a:r>
              <a:rPr lang="en-US" sz="1000" dirty="0"/>
              <a:t>visa o </a:t>
            </a:r>
            <a:r>
              <a:rPr lang="en-US" sz="1000" dirty="0" err="1"/>
              <a:t>reporte</a:t>
            </a:r>
            <a:r>
              <a:rPr lang="en-US" sz="1000" dirty="0"/>
              <a:t> das </a:t>
            </a:r>
            <a:r>
              <a:rPr lang="en-US" sz="1000" dirty="0" err="1"/>
              <a:t>seguintes</a:t>
            </a:r>
            <a:r>
              <a:rPr lang="en-US" sz="1000" dirty="0"/>
              <a:t> </a:t>
            </a:r>
            <a:r>
              <a:rPr lang="en-US" sz="1000" dirty="0" err="1" smtClean="0"/>
              <a:t>métricas</a:t>
            </a:r>
            <a:r>
              <a:rPr lang="en-US" sz="1000" dirty="0" smtClean="0"/>
              <a:t>: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Colaterais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820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Type Collateral</a:t>
            </a:r>
            <a:endParaRPr lang="pt-PT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625778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Tipo </a:t>
            </a:r>
            <a:r>
              <a:rPr lang="pt-PT" sz="1100" dirty="0" err="1" smtClean="0"/>
              <a:t>imovel</a:t>
            </a:r>
            <a:endParaRPr lang="pt-PT" sz="1100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9137370" y="1816771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Collateral</a:t>
            </a:r>
            <a:r>
              <a:rPr lang="pt-PT" sz="1100" dirty="0" smtClean="0"/>
              <a:t> zip </a:t>
            </a:r>
            <a:r>
              <a:rPr lang="pt-PT" sz="1100" dirty="0" err="1" smtClean="0"/>
              <a:t>code</a:t>
            </a:r>
            <a:endParaRPr lang="pt-PT" sz="1100" dirty="0" smtClean="0"/>
          </a:p>
        </p:txBody>
      </p:sp>
      <p:sp>
        <p:nvSpPr>
          <p:cNvPr id="28" name="TextBox 27"/>
          <p:cNvSpPr txBox="1"/>
          <p:nvPr/>
        </p:nvSpPr>
        <p:spPr>
          <a:xfrm>
            <a:off x="498629" y="2253685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Collateral</a:t>
            </a:r>
            <a:r>
              <a:rPr lang="pt-PT" sz="1100" dirty="0" smtClean="0"/>
              <a:t> </a:t>
            </a:r>
            <a:r>
              <a:rPr lang="pt-PT" sz="1100" dirty="0" err="1" smtClean="0"/>
              <a:t>Nuts</a:t>
            </a:r>
            <a:endParaRPr lang="pt-PT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49862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Percent</a:t>
            </a:r>
            <a:r>
              <a:rPr lang="pt-PT" sz="1100" dirty="0" smtClean="0"/>
              <a:t> </a:t>
            </a:r>
            <a:r>
              <a:rPr lang="pt-PT" sz="1100" dirty="0" err="1" smtClean="0"/>
              <a:t>Collateral</a:t>
            </a:r>
            <a:endParaRPr lang="pt-PT" sz="1100" dirty="0"/>
          </a:p>
        </p:txBody>
      </p:sp>
    </p:spTree>
    <p:extLst>
      <p:ext uri="{BB962C8B-B14F-4D97-AF65-F5344CB8AC3E}">
        <p14:creationId xmlns:p14="http://schemas.microsoft.com/office/powerpoint/2010/main" val="1275259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C9000F-3361-D565-91AC-1AC05F580E53}"/>
              </a:ext>
            </a:extLst>
          </p:cNvPr>
          <p:cNvCxnSpPr>
            <a:cxnSpLocks/>
          </p:cNvCxnSpPr>
          <p:nvPr/>
        </p:nvCxnSpPr>
        <p:spPr>
          <a:xfrm>
            <a:off x="4207119" y="3963927"/>
            <a:ext cx="151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Métricas Contrato e cliente 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AC5004-53E5-5C7E-8883-6E5EAD1D55FE}"/>
              </a:ext>
            </a:extLst>
          </p:cNvPr>
          <p:cNvGrpSpPr/>
          <p:nvPr/>
        </p:nvGrpSpPr>
        <p:grpSpPr>
          <a:xfrm>
            <a:off x="3271200" y="3574943"/>
            <a:ext cx="2471841" cy="1445711"/>
            <a:chOff x="8056855" y="3792423"/>
            <a:chExt cx="2471841" cy="1445711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3852314"/>
              <a:ext cx="647850" cy="647850"/>
              <a:chOff x="455122" y="4977513"/>
              <a:chExt cx="648000" cy="648000"/>
            </a:xfrm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0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5209" y="448232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ESTRUTURAIS</a:t>
              </a:r>
            </a:p>
          </p:txBody>
        </p:sp>
        <p:pic>
          <p:nvPicPr>
            <p:cNvPr id="19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3792423"/>
              <a:ext cx="241113" cy="241113"/>
            </a:xfrm>
            <a:prstGeom prst="rect">
              <a:avLst/>
            </a:prstGeom>
          </p:spPr>
        </p:pic>
        <p:pic>
          <p:nvPicPr>
            <p:cNvPr id="19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84368" y="3792423"/>
              <a:ext cx="287933" cy="287933"/>
            </a:xfrm>
            <a:prstGeom prst="rect">
              <a:avLst/>
            </a:prstGeom>
          </p:spPr>
        </p:pic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56855" y="4607192"/>
              <a:ext cx="2471841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cd_estruturais.tat91_tabelas </a:t>
              </a:r>
              <a:r>
                <a:rPr lang="pt-PT" sz="800" dirty="0"/>
                <a:t>(ctabela = 'J48’)</a:t>
              </a:r>
              <a:endParaRPr lang="pt-PT" sz="900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cd_estruturais.interface_moradas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1706558" y="1340913"/>
            <a:ext cx="647850" cy="64785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1601030" y="1978841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317031" y="2101164"/>
            <a:ext cx="23049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cd_captools.ct001_univ_salo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cd_captools.ct003_univ_cli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dirty="0"/>
              <a:t>cd_captools.ct063_univ_pme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dirty="0"/>
              <a:t>cd_captools.ct610_titulos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dirty="0"/>
              <a:t>cd_captools.ct021_rwa_cli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dirty="0"/>
              <a:t>cd_captools.ct802_codigo_emp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dirty="0"/>
              <a:t>cd_captools.ct070_univ_gr_cli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cd_captools.fr004_cto</a:t>
            </a:r>
            <a:endParaRPr lang="en-US" sz="9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dirty="0"/>
              <a:t>cd_captools.bdr_jm_clien_juri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E1353F0-3A2D-9633-A394-4E168A6C5C24}"/>
              </a:ext>
            </a:extLst>
          </p:cNvPr>
          <p:cNvGrpSpPr/>
          <p:nvPr/>
        </p:nvGrpSpPr>
        <p:grpSpPr>
          <a:xfrm>
            <a:off x="1237574" y="4717040"/>
            <a:ext cx="2310666" cy="1464783"/>
            <a:chOff x="1237574" y="4012190"/>
            <a:chExt cx="2310666" cy="1464783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1706558" y="4214264"/>
              <a:ext cx="647850" cy="647850"/>
              <a:chOff x="455122" y="4977513"/>
              <a:chExt cx="648000" cy="6480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1607303" y="483703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ALM</a:t>
              </a:r>
            </a:p>
          </p:txBody>
        </p:sp>
        <p:pic>
          <p:nvPicPr>
            <p:cNvPr id="48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217" y="4154373"/>
              <a:ext cx="241113" cy="241113"/>
            </a:xfrm>
            <a:prstGeom prst="rect">
              <a:avLst/>
            </a:prstGeom>
          </p:spPr>
        </p:pic>
        <p:pic>
          <p:nvPicPr>
            <p:cNvPr id="49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157512" y="4154373"/>
              <a:ext cx="287933" cy="287933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1317031" y="4969142"/>
              <a:ext cx="223120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cd_alm.kt_chaves_alm_m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cd_alm.al006_saq_ppc</a:t>
              </a:r>
            </a:p>
          </p:txBody>
        </p:sp>
      </p:grp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17" y="1287947"/>
            <a:ext cx="241113" cy="241113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57512" y="1287947"/>
            <a:ext cx="287933" cy="28793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67AF6E5-1E69-F0DE-C858-479FE813DC8E}"/>
              </a:ext>
            </a:extLst>
          </p:cNvPr>
          <p:cNvGrpSpPr/>
          <p:nvPr/>
        </p:nvGrpSpPr>
        <p:grpSpPr>
          <a:xfrm>
            <a:off x="3271200" y="1980412"/>
            <a:ext cx="2231209" cy="1182549"/>
            <a:chOff x="8056854" y="1287947"/>
            <a:chExt cx="2231209" cy="1182549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29144" y="1970315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RISCOS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56854" y="2101164"/>
              <a:ext cx="2231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cd_riscos.rsv176sa1_balanco</a:t>
              </a:r>
              <a:endParaRPr lang="en-US" sz="900" dirty="0"/>
            </a:p>
          </p:txBody>
        </p:sp>
        <p:pic>
          <p:nvPicPr>
            <p:cNvPr id="7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7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3E6F3F-37A8-A46C-3B04-85C7058C3355}"/>
              </a:ext>
            </a:extLst>
          </p:cNvPr>
          <p:cNvCxnSpPr>
            <a:cxnSpLocks/>
          </p:cNvCxnSpPr>
          <p:nvPr/>
        </p:nvCxnSpPr>
        <p:spPr>
          <a:xfrm flipV="1">
            <a:off x="4293894" y="2345672"/>
            <a:ext cx="144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0A4AE4E0-57B2-054B-3A6E-02E468F82B6C}"/>
              </a:ext>
            </a:extLst>
          </p:cNvPr>
          <p:cNvCxnSpPr>
            <a:cxnSpLocks/>
          </p:cNvCxnSpPr>
          <p:nvPr/>
        </p:nvCxnSpPr>
        <p:spPr>
          <a:xfrm flipV="1">
            <a:off x="2354407" y="3378842"/>
            <a:ext cx="5760000" cy="1815975"/>
          </a:xfrm>
          <a:prstGeom prst="bentConnector3">
            <a:avLst>
              <a:gd name="adj1" fmla="val 58414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69">
            <a:extLst>
              <a:ext uri="{FF2B5EF4-FFF2-40B4-BE49-F238E27FC236}">
                <a16:creationId xmlns:a16="http://schemas.microsoft.com/office/drawing/2014/main" id="{0A2E4BE9-8DF4-3E67-27AA-640CA9627135}"/>
              </a:ext>
            </a:extLst>
          </p:cNvPr>
          <p:cNvCxnSpPr>
            <a:cxnSpLocks/>
          </p:cNvCxnSpPr>
          <p:nvPr/>
        </p:nvCxnSpPr>
        <p:spPr>
          <a:xfrm>
            <a:off x="2357047" y="1707522"/>
            <a:ext cx="5760000" cy="1669513"/>
          </a:xfrm>
          <a:prstGeom prst="bentConnector3">
            <a:avLst>
              <a:gd name="adj1" fmla="val 58442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861875E-110E-82E4-60DA-93000F0BC4A4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FF241FB-A7BF-E738-3447-4147AD7BF343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119" descr="Database with solid fill">
              <a:extLst>
                <a:ext uri="{FF2B5EF4-FFF2-40B4-BE49-F238E27FC236}">
                  <a16:creationId xmlns:a16="http://schemas.microsoft.com/office/drawing/2014/main" id="{1A4808F7-0F9E-C3F2-FC34-CD7F428E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90" name="Graphic 116" descr="Single gear with solid fill">
            <a:extLst>
              <a:ext uri="{FF2B5EF4-FFF2-40B4-BE49-F238E27FC236}">
                <a16:creationId xmlns:a16="http://schemas.microsoft.com/office/drawing/2014/main" id="{F87546AA-E758-67C0-8AF8-BF710C99802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91" name="Elbow Connector 69">
            <a:extLst>
              <a:ext uri="{FF2B5EF4-FFF2-40B4-BE49-F238E27FC236}">
                <a16:creationId xmlns:a16="http://schemas.microsoft.com/office/drawing/2014/main" id="{4C52BBA5-48DE-5D39-9F83-CE656249EAF3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E2B684C-A47E-F48F-771F-A0544D5D5986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94" name="Picture 4">
              <a:extLst>
                <a:ext uri="{FF2B5EF4-FFF2-40B4-BE49-F238E27FC236}">
                  <a16:creationId xmlns:a16="http://schemas.microsoft.com/office/drawing/2014/main" id="{11F53F31-75B0-76CF-75BC-5FF818C653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5" name="Picture 139" descr="Related image">
              <a:extLst>
                <a:ext uri="{FF2B5EF4-FFF2-40B4-BE49-F238E27FC236}">
                  <a16:creationId xmlns:a16="http://schemas.microsoft.com/office/drawing/2014/main" id="{91F52196-7823-74CD-2AE6-9DD1C7F95F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91A30B5-BA4A-FA9B-EF53-42077A6CFAAB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C82FFC4-D909-13D3-9D56-CD2093CABFCD}"/>
              </a:ext>
            </a:extLst>
          </p:cNvPr>
          <p:cNvSpPr/>
          <p:nvPr/>
        </p:nvSpPr>
        <p:spPr>
          <a:xfrm>
            <a:off x="10694771" y="3712355"/>
            <a:ext cx="1233609" cy="50783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</a:t>
            </a:r>
          </a:p>
          <a:p>
            <a:pPr algn="ctr"/>
            <a:r>
              <a:rPr lang="pt-PT" sz="900" dirty="0"/>
              <a:t>bu_esg_work.rf_metricas_pilar3_ctr_cli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D6780D-1FCB-33FF-11B4-B5A13851EC67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E9B7FBA-2E91-5D08-631E-D0E436141ABB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Metodologia de obtenção de informação utilizada no mapeamento do processo de contratos e clientes.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99386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000" dirty="0"/>
              <a:t>O </a:t>
            </a:r>
            <a:r>
              <a:rPr lang="en-US" sz="1000" dirty="0" err="1"/>
              <a:t>processo</a:t>
            </a:r>
            <a:r>
              <a:rPr lang="en-US" sz="1000" dirty="0"/>
              <a:t> de </a:t>
            </a:r>
            <a:r>
              <a:rPr lang="en-US" sz="1000" dirty="0" err="1"/>
              <a:t>geração</a:t>
            </a:r>
            <a:r>
              <a:rPr lang="en-US" sz="1000" dirty="0"/>
              <a:t> </a:t>
            </a:r>
            <a:r>
              <a:rPr lang="en-US" sz="1000" dirty="0" smtClean="0"/>
              <a:t>das </a:t>
            </a:r>
            <a:r>
              <a:rPr lang="en-US" sz="1000" dirty="0" err="1" smtClean="0"/>
              <a:t>métricas</a:t>
            </a:r>
            <a:r>
              <a:rPr lang="en-US" sz="1000" dirty="0" smtClean="0"/>
              <a:t> </a:t>
            </a:r>
            <a:r>
              <a:rPr lang="en-US" sz="1000" dirty="0" err="1" smtClean="0"/>
              <a:t>associadas</a:t>
            </a:r>
            <a:r>
              <a:rPr lang="en-US" sz="1000" dirty="0" smtClean="0"/>
              <a:t> </a:t>
            </a:r>
            <a:r>
              <a:rPr lang="en-US" sz="1000" dirty="0" err="1" smtClean="0"/>
              <a:t>aos</a:t>
            </a:r>
            <a:r>
              <a:rPr lang="en-US" sz="1000" dirty="0" smtClean="0"/>
              <a:t> </a:t>
            </a:r>
            <a:r>
              <a:rPr lang="en-US" sz="1000" dirty="0" err="1" smtClean="0"/>
              <a:t>contratos</a:t>
            </a:r>
            <a:r>
              <a:rPr lang="en-US" sz="1000" dirty="0" smtClean="0"/>
              <a:t> e </a:t>
            </a:r>
            <a:r>
              <a:rPr lang="en-US" sz="1000" dirty="0" err="1" smtClean="0"/>
              <a:t>clientes</a:t>
            </a:r>
            <a:r>
              <a:rPr lang="en-US" sz="1000" dirty="0" smtClean="0"/>
              <a:t> (</a:t>
            </a:r>
            <a:r>
              <a:rPr lang="en-US" sz="1000" dirty="0" err="1" smtClean="0"/>
              <a:t>descrito</a:t>
            </a:r>
            <a:r>
              <a:rPr lang="en-US" sz="1000" dirty="0" smtClean="0"/>
              <a:t> </a:t>
            </a:r>
            <a:r>
              <a:rPr lang="en-US" sz="1000" dirty="0"/>
              <a:t>no </a:t>
            </a:r>
            <a:r>
              <a:rPr lang="en-US" sz="1000" i="1" dirty="0"/>
              <a:t>slide </a:t>
            </a:r>
            <a:r>
              <a:rPr lang="en-US" sz="1000" dirty="0" smtClean="0"/>
              <a:t>anterior), </a:t>
            </a:r>
            <a:r>
              <a:rPr lang="en-US" sz="1000" dirty="0"/>
              <a:t>visa o </a:t>
            </a:r>
            <a:r>
              <a:rPr lang="en-US" sz="1000" dirty="0" err="1"/>
              <a:t>reporte</a:t>
            </a:r>
            <a:r>
              <a:rPr lang="en-US" sz="1000" dirty="0"/>
              <a:t> das </a:t>
            </a:r>
            <a:r>
              <a:rPr lang="en-US" sz="1000" dirty="0" err="1"/>
              <a:t>seguintes</a:t>
            </a:r>
            <a:r>
              <a:rPr lang="en-US" sz="1000" dirty="0"/>
              <a:t> </a:t>
            </a:r>
            <a:r>
              <a:rPr lang="en-US" sz="1000" dirty="0" err="1" smtClean="0"/>
              <a:t>métricas</a:t>
            </a:r>
            <a:r>
              <a:rPr lang="en-US" sz="1000" dirty="0" smtClean="0"/>
              <a:t>: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Métricas Contrato e cliente </a:t>
            </a:r>
            <a:endParaRPr lang="es-ES" sz="1600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888181"/>
              </p:ext>
            </p:extLst>
          </p:nvPr>
        </p:nvGraphicFramePr>
        <p:xfrm>
          <a:off x="498629" y="1957974"/>
          <a:ext cx="7251700" cy="259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780339385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51280962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352565270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401380885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12_non_performing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23_counterparty_zipcode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47_client_turnover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71_dt_financial_statements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65509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13_gross_carrying_amount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cp3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48_group_turnover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73_client_total_assets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1589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14_nace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cpais_residencia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51_client_own_funds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74_group_total_assets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03422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15_nace_esg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28_dt_maturity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client_debt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75_isin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1726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nace_hold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29_flag_specialised_lending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client_revenue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93_european_union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68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flag_spv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30_stage_ifrs9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53_client_nr_employees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84_dt_origination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0224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17_accumulated_impairment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33_counterparty_type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54_group_nr_employees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55348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22_counterparty_nuts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83_dt_reference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1000" u="none" strike="noStrike">
                          <a:effectLst/>
                        </a:rPr>
                        <a:t>70_flag_audited_financial_sttmnts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83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496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000" dirty="0"/>
              <a:t>O </a:t>
            </a:r>
            <a:r>
              <a:rPr lang="en-US" sz="1000" dirty="0" err="1"/>
              <a:t>processo</a:t>
            </a:r>
            <a:r>
              <a:rPr lang="en-US" sz="1000" dirty="0"/>
              <a:t> de </a:t>
            </a:r>
            <a:r>
              <a:rPr lang="en-US" sz="1000" dirty="0" err="1"/>
              <a:t>geração</a:t>
            </a:r>
            <a:r>
              <a:rPr lang="en-US" sz="1000" dirty="0"/>
              <a:t> </a:t>
            </a:r>
            <a:r>
              <a:rPr lang="en-US" sz="1000" dirty="0" smtClean="0"/>
              <a:t>das </a:t>
            </a:r>
            <a:r>
              <a:rPr lang="en-US" sz="1000" dirty="0" err="1" smtClean="0"/>
              <a:t>métricas</a:t>
            </a:r>
            <a:r>
              <a:rPr lang="en-US" sz="1000" dirty="0" smtClean="0"/>
              <a:t> </a:t>
            </a:r>
            <a:r>
              <a:rPr lang="en-US" sz="1000" dirty="0" err="1" smtClean="0"/>
              <a:t>associadas</a:t>
            </a:r>
            <a:r>
              <a:rPr lang="en-US" sz="1000" dirty="0" smtClean="0"/>
              <a:t> </a:t>
            </a:r>
            <a:r>
              <a:rPr lang="en-US" sz="1000" dirty="0" err="1" smtClean="0"/>
              <a:t>aos</a:t>
            </a:r>
            <a:r>
              <a:rPr lang="en-US" sz="1000" dirty="0" smtClean="0"/>
              <a:t> </a:t>
            </a:r>
            <a:r>
              <a:rPr lang="en-US" sz="1000" dirty="0" err="1" smtClean="0"/>
              <a:t>contratos</a:t>
            </a:r>
            <a:r>
              <a:rPr lang="en-US" sz="1000" dirty="0" smtClean="0"/>
              <a:t> e </a:t>
            </a:r>
            <a:r>
              <a:rPr lang="en-US" sz="1000" dirty="0" err="1" smtClean="0"/>
              <a:t>clientes</a:t>
            </a:r>
            <a:r>
              <a:rPr lang="en-US" sz="1000" dirty="0" smtClean="0"/>
              <a:t> (</a:t>
            </a:r>
            <a:r>
              <a:rPr lang="en-US" sz="1000" dirty="0" err="1" smtClean="0"/>
              <a:t>descrito</a:t>
            </a:r>
            <a:r>
              <a:rPr lang="en-US" sz="1000" dirty="0" smtClean="0"/>
              <a:t> </a:t>
            </a:r>
            <a:r>
              <a:rPr lang="en-US" sz="1000" dirty="0"/>
              <a:t>no </a:t>
            </a:r>
            <a:r>
              <a:rPr lang="en-US" sz="1000" i="1" dirty="0"/>
              <a:t>slide </a:t>
            </a:r>
            <a:r>
              <a:rPr lang="en-US" sz="1000" dirty="0" smtClean="0"/>
              <a:t>anterior), </a:t>
            </a:r>
            <a:r>
              <a:rPr lang="en-US" sz="1000" dirty="0"/>
              <a:t>visa o </a:t>
            </a:r>
            <a:r>
              <a:rPr lang="en-US" sz="1000" dirty="0" err="1"/>
              <a:t>reporte</a:t>
            </a:r>
            <a:r>
              <a:rPr lang="en-US" sz="1000" dirty="0"/>
              <a:t> das </a:t>
            </a:r>
            <a:r>
              <a:rPr lang="en-US" sz="1000" dirty="0" err="1"/>
              <a:t>seguintes</a:t>
            </a:r>
            <a:r>
              <a:rPr lang="en-US" sz="1000" dirty="0"/>
              <a:t> </a:t>
            </a:r>
            <a:r>
              <a:rPr lang="en-US" sz="1000" dirty="0" err="1" smtClean="0"/>
              <a:t>métricas</a:t>
            </a:r>
            <a:r>
              <a:rPr lang="en-US" sz="1000" dirty="0" smtClean="0"/>
              <a:t>: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Métricas Contrato e cliente 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78209" y="2253685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CP3</a:t>
            </a:r>
            <a:endParaRPr lang="pt-PT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3378209" y="268666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Geography of the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820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Geography of counterparty: </a:t>
            </a:r>
            <a:r>
              <a:rPr lang="en-US" sz="1100" dirty="0" smtClean="0"/>
              <a:t>zip-code</a:t>
            </a:r>
            <a:endParaRPr lang="pt-PT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3378209" y="3119635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Maturity</a:t>
            </a:r>
            <a:endParaRPr lang="pt-PT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3378209" y="3552612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Flag</a:t>
            </a:r>
            <a:r>
              <a:rPr lang="pt-PT" sz="1100" dirty="0" smtClean="0"/>
              <a:t> </a:t>
            </a:r>
            <a:r>
              <a:rPr lang="pt-PT" sz="1100" dirty="0" err="1" smtClean="0"/>
              <a:t>of</a:t>
            </a:r>
            <a:r>
              <a:rPr lang="pt-PT" sz="1100" dirty="0" smtClean="0"/>
              <a:t> </a:t>
            </a:r>
            <a:r>
              <a:rPr lang="pt-PT" sz="1100" dirty="0" err="1" smtClean="0"/>
              <a:t>Specialised</a:t>
            </a:r>
            <a:r>
              <a:rPr lang="pt-PT" sz="1100" dirty="0" smtClean="0"/>
              <a:t> </a:t>
            </a:r>
            <a:r>
              <a:rPr lang="pt-PT" sz="1100" dirty="0" err="1" smtClean="0"/>
              <a:t>Lending</a:t>
            </a:r>
            <a:endParaRPr lang="pt-PT" sz="11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3378209" y="3985585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Stage</a:t>
            </a:r>
            <a:r>
              <a:rPr lang="pt-PT" sz="1100" dirty="0" smtClean="0"/>
              <a:t> IFRS9</a:t>
            </a:r>
            <a:endParaRPr lang="pt-PT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3378209" y="441856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Type</a:t>
            </a:r>
            <a:r>
              <a:rPr lang="pt-PT" sz="1100" dirty="0" smtClean="0"/>
              <a:t> </a:t>
            </a:r>
            <a:r>
              <a:rPr lang="pt-PT" sz="1100" dirty="0" err="1" smtClean="0"/>
              <a:t>of</a:t>
            </a:r>
            <a:r>
              <a:rPr lang="pt-PT" sz="1100" dirty="0" smtClean="0"/>
              <a:t> </a:t>
            </a:r>
            <a:r>
              <a:rPr lang="pt-PT" sz="1100" dirty="0" err="1" smtClean="0"/>
              <a:t>Counterparty</a:t>
            </a:r>
            <a:endParaRPr lang="pt-PT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3378209" y="4851537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Date of reference</a:t>
            </a:r>
            <a:endParaRPr lang="pt-PT" sz="1100" dirty="0"/>
          </a:p>
        </p:txBody>
      </p:sp>
      <p:sp>
        <p:nvSpPr>
          <p:cNvPr id="14" name="TextBox 13"/>
          <p:cNvSpPr txBox="1"/>
          <p:nvPr/>
        </p:nvSpPr>
        <p:spPr>
          <a:xfrm>
            <a:off x="6257789" y="2253685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Group</a:t>
            </a:r>
            <a:r>
              <a:rPr lang="pt-PT" sz="1100" dirty="0" smtClean="0"/>
              <a:t> Turnover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7789" y="268666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Client</a:t>
            </a:r>
            <a:r>
              <a:rPr lang="pt-PT" sz="1100" dirty="0" smtClean="0"/>
              <a:t> </a:t>
            </a:r>
            <a:r>
              <a:rPr lang="pt-PT" sz="1100" dirty="0" err="1" smtClean="0"/>
              <a:t>own</a:t>
            </a:r>
            <a:r>
              <a:rPr lang="pt-PT" sz="1100" dirty="0" smtClean="0"/>
              <a:t> </a:t>
            </a:r>
            <a:r>
              <a:rPr lang="pt-PT" sz="1100" dirty="0" err="1" smtClean="0"/>
              <a:t>Funds</a:t>
            </a:r>
            <a:endParaRPr lang="pt-PT" sz="11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625778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Client</a:t>
            </a:r>
            <a:r>
              <a:rPr lang="pt-PT" sz="1100" dirty="0" smtClean="0"/>
              <a:t> Turnover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7789" y="3119635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Client</a:t>
            </a:r>
            <a:r>
              <a:rPr lang="pt-PT" sz="1100" dirty="0" smtClean="0"/>
              <a:t> </a:t>
            </a:r>
            <a:r>
              <a:rPr lang="pt-PT" sz="1100" dirty="0" err="1" smtClean="0"/>
              <a:t>Debt</a:t>
            </a:r>
            <a:endParaRPr lang="pt-PT" sz="11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6257789" y="3552612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Client</a:t>
            </a:r>
            <a:r>
              <a:rPr lang="pt-PT" sz="1100" dirty="0" smtClean="0"/>
              <a:t> </a:t>
            </a:r>
            <a:r>
              <a:rPr lang="pt-PT" sz="1100" dirty="0" err="1" smtClean="0"/>
              <a:t>Revenue</a:t>
            </a:r>
            <a:endParaRPr lang="pt-PT" sz="1100" dirty="0" smtClean="0"/>
          </a:p>
        </p:txBody>
      </p:sp>
      <p:sp>
        <p:nvSpPr>
          <p:cNvPr id="19" name="TextBox 18"/>
          <p:cNvSpPr txBox="1"/>
          <p:nvPr/>
        </p:nvSpPr>
        <p:spPr>
          <a:xfrm>
            <a:off x="6257789" y="3985585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Client</a:t>
            </a:r>
            <a:r>
              <a:rPr lang="pt-PT" sz="1100" dirty="0" smtClean="0"/>
              <a:t> </a:t>
            </a:r>
            <a:r>
              <a:rPr lang="pt-PT" sz="1100" dirty="0" err="1" smtClean="0"/>
              <a:t>number</a:t>
            </a:r>
            <a:r>
              <a:rPr lang="pt-PT" sz="1100" dirty="0" smtClean="0"/>
              <a:t> </a:t>
            </a:r>
            <a:r>
              <a:rPr lang="pt-PT" sz="1100" dirty="0" err="1" smtClean="0"/>
              <a:t>of</a:t>
            </a:r>
            <a:r>
              <a:rPr lang="pt-PT" sz="1100" dirty="0" smtClean="0"/>
              <a:t> </a:t>
            </a:r>
            <a:r>
              <a:rPr lang="pt-PT" sz="1100" dirty="0" err="1" smtClean="0"/>
              <a:t>employees</a:t>
            </a:r>
            <a:endParaRPr lang="pt-PT" sz="1100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6257789" y="441856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Group number of employees</a:t>
            </a:r>
            <a:endParaRPr lang="pt-PT" sz="1100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6257789" y="4851537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Flag of audited financial statements</a:t>
            </a:r>
            <a:endParaRPr lang="pt-PT" sz="1100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9137370" y="2249746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Client</a:t>
            </a:r>
            <a:r>
              <a:rPr lang="pt-PT" sz="1100" dirty="0" smtClean="0"/>
              <a:t> Total </a:t>
            </a:r>
            <a:r>
              <a:rPr lang="pt-PT" sz="1100" dirty="0" err="1" smtClean="0"/>
              <a:t>Assets</a:t>
            </a:r>
            <a:endParaRPr lang="pt-PT" sz="1100" dirty="0" smtClean="0"/>
          </a:p>
        </p:txBody>
      </p:sp>
      <p:sp>
        <p:nvSpPr>
          <p:cNvPr id="23" name="TextBox 22"/>
          <p:cNvSpPr txBox="1"/>
          <p:nvPr/>
        </p:nvSpPr>
        <p:spPr>
          <a:xfrm>
            <a:off x="9137370" y="2682721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Group</a:t>
            </a:r>
            <a:r>
              <a:rPr lang="pt-PT" sz="1100" dirty="0" smtClean="0"/>
              <a:t> Total </a:t>
            </a:r>
            <a:r>
              <a:rPr lang="pt-PT" sz="1100" dirty="0" err="1" smtClean="0"/>
              <a:t>Assets</a:t>
            </a:r>
            <a:endParaRPr lang="pt-PT" sz="1100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9137370" y="1816771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Date </a:t>
            </a:r>
            <a:r>
              <a:rPr lang="pt-PT" sz="1100" dirty="0" err="1" smtClean="0"/>
              <a:t>of</a:t>
            </a:r>
            <a:r>
              <a:rPr lang="pt-PT" sz="1100" dirty="0" smtClean="0"/>
              <a:t> Financial </a:t>
            </a:r>
            <a:r>
              <a:rPr lang="pt-PT" sz="1100" dirty="0" err="1" smtClean="0"/>
              <a:t>Statements</a:t>
            </a:r>
            <a:endParaRPr lang="pt-PT" sz="11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9137370" y="3115696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ISIN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7370" y="3548673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European</a:t>
            </a:r>
            <a:r>
              <a:rPr lang="pt-PT" sz="1100" dirty="0" smtClean="0"/>
              <a:t> </a:t>
            </a:r>
            <a:r>
              <a:rPr lang="pt-PT" sz="1100" dirty="0" err="1" smtClean="0"/>
              <a:t>Union</a:t>
            </a:r>
            <a:endParaRPr lang="pt-PT" sz="1100" dirty="0" smtClean="0"/>
          </a:p>
        </p:txBody>
      </p:sp>
      <p:sp>
        <p:nvSpPr>
          <p:cNvPr id="27" name="TextBox 26"/>
          <p:cNvSpPr txBox="1"/>
          <p:nvPr/>
        </p:nvSpPr>
        <p:spPr>
          <a:xfrm>
            <a:off x="9137370" y="3981646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Date </a:t>
            </a:r>
            <a:r>
              <a:rPr lang="pt-PT" sz="1100" dirty="0" err="1" smtClean="0"/>
              <a:t>of</a:t>
            </a:r>
            <a:r>
              <a:rPr lang="pt-PT" sz="1100" dirty="0" smtClean="0"/>
              <a:t> </a:t>
            </a:r>
            <a:r>
              <a:rPr lang="pt-PT" sz="1100" dirty="0" err="1" smtClean="0"/>
              <a:t>Origination</a:t>
            </a:r>
            <a:endParaRPr lang="pt-PT" sz="1100" dirty="0" smtClean="0"/>
          </a:p>
        </p:txBody>
      </p:sp>
      <p:sp>
        <p:nvSpPr>
          <p:cNvPr id="28" name="TextBox 27"/>
          <p:cNvSpPr txBox="1"/>
          <p:nvPr/>
        </p:nvSpPr>
        <p:spPr>
          <a:xfrm>
            <a:off x="498629" y="2253685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Gross </a:t>
            </a:r>
            <a:r>
              <a:rPr lang="pt-PT" sz="1100" dirty="0" err="1" smtClean="0"/>
              <a:t>Carrying</a:t>
            </a:r>
            <a:r>
              <a:rPr lang="pt-PT" sz="1100" dirty="0" smtClean="0"/>
              <a:t> </a:t>
            </a:r>
            <a:r>
              <a:rPr lang="pt-PT" sz="1100" dirty="0" err="1" smtClean="0"/>
              <a:t>Amount</a:t>
            </a:r>
            <a:endParaRPr lang="pt-PT" sz="1100" dirty="0"/>
          </a:p>
        </p:txBody>
      </p:sp>
      <p:sp>
        <p:nvSpPr>
          <p:cNvPr id="29" name="TextBox 28"/>
          <p:cNvSpPr txBox="1"/>
          <p:nvPr/>
        </p:nvSpPr>
        <p:spPr>
          <a:xfrm>
            <a:off x="498629" y="268666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NACE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62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Non </a:t>
            </a:r>
            <a:r>
              <a:rPr lang="pt-PT" sz="1100" dirty="0" err="1" smtClean="0"/>
              <a:t>Performing</a:t>
            </a:r>
            <a:endParaRPr lang="pt-PT" sz="1100" dirty="0"/>
          </a:p>
        </p:txBody>
      </p:sp>
      <p:sp>
        <p:nvSpPr>
          <p:cNvPr id="31" name="TextBox 30"/>
          <p:cNvSpPr txBox="1"/>
          <p:nvPr/>
        </p:nvSpPr>
        <p:spPr>
          <a:xfrm>
            <a:off x="498629" y="3119635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NACE ESG</a:t>
            </a:r>
            <a:endParaRPr lang="pt-PT" sz="1100" dirty="0"/>
          </a:p>
        </p:txBody>
      </p:sp>
      <p:sp>
        <p:nvSpPr>
          <p:cNvPr id="32" name="TextBox 31"/>
          <p:cNvSpPr txBox="1"/>
          <p:nvPr/>
        </p:nvSpPr>
        <p:spPr>
          <a:xfrm>
            <a:off x="498629" y="3552612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NACE Holding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629" y="3985585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Flag</a:t>
            </a:r>
            <a:r>
              <a:rPr lang="pt-PT" sz="1100" dirty="0" smtClean="0"/>
              <a:t> SPV</a:t>
            </a:r>
            <a:endParaRPr lang="pt-PT" sz="1100" dirty="0"/>
          </a:p>
        </p:txBody>
      </p:sp>
      <p:sp>
        <p:nvSpPr>
          <p:cNvPr id="34" name="TextBox 33"/>
          <p:cNvSpPr txBox="1"/>
          <p:nvPr/>
        </p:nvSpPr>
        <p:spPr>
          <a:xfrm>
            <a:off x="498629" y="441856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Accumulated</a:t>
            </a:r>
            <a:r>
              <a:rPr lang="pt-PT" sz="1100" dirty="0" smtClean="0"/>
              <a:t> </a:t>
            </a:r>
            <a:r>
              <a:rPr lang="pt-PT" sz="1100" dirty="0" err="1" smtClean="0"/>
              <a:t>Impairment</a:t>
            </a:r>
            <a:endParaRPr lang="pt-PT" sz="1100" dirty="0"/>
          </a:p>
        </p:txBody>
      </p:sp>
      <p:sp>
        <p:nvSpPr>
          <p:cNvPr id="35" name="TextBox 34"/>
          <p:cNvSpPr txBox="1"/>
          <p:nvPr/>
        </p:nvSpPr>
        <p:spPr>
          <a:xfrm>
            <a:off x="498629" y="4851537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Geography of </a:t>
            </a:r>
            <a:r>
              <a:rPr lang="en-US" sz="1100" dirty="0" smtClean="0"/>
              <a:t>counterparty: </a:t>
            </a:r>
            <a:r>
              <a:rPr lang="en-US" sz="1100" dirty="0"/>
              <a:t>NUTS</a:t>
            </a:r>
            <a:endParaRPr lang="pt-PT" sz="1100" dirty="0"/>
          </a:p>
        </p:txBody>
      </p:sp>
    </p:spTree>
    <p:extLst>
      <p:ext uri="{BB962C8B-B14F-4D97-AF65-F5344CB8AC3E}">
        <p14:creationId xmlns:p14="http://schemas.microsoft.com/office/powerpoint/2010/main" val="1168784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Métricas Adjudicados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872878" y="3817884"/>
            <a:ext cx="29950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900" dirty="0"/>
              <a:t>12-DEZEMBRO-2022-StockAdjudicadosTOTTA URBE_2022-12-30</a:t>
            </a:r>
            <a:r>
              <a:rPr lang="en-US" sz="800" dirty="0"/>
              <a:t>.xlsx</a:t>
            </a:r>
            <a:endParaRPr lang="en-US" sz="700" dirty="0"/>
          </a:p>
          <a:p>
            <a:pPr algn="just"/>
            <a:endParaRPr lang="en-US" sz="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903973" y="5390696"/>
            <a:ext cx="400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CarteiraGlobalDeImoveis-2022-12-30_Em desinvestimento_v2.xlsx</a:t>
            </a:r>
          </a:p>
          <a:p>
            <a:pPr algn="ctr"/>
            <a:endParaRPr lang="en-US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996733" y="2069344"/>
            <a:ext cx="16938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Imoveis BST Dez22.xlsx</a:t>
            </a:r>
            <a:endParaRPr lang="en-US" sz="8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996734" y="2311345"/>
            <a:ext cx="259791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Ficheiro  “xlsx” que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Dações+Arrematações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Stock IFIC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Stock Adjudicados</a:t>
            </a:r>
            <a:endParaRPr lang="en-US" sz="9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981881" y="5607813"/>
            <a:ext cx="2595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Ficheiro  “xlsx” que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Stock Adjudicados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Totta URBE</a:t>
            </a:r>
            <a:endParaRPr lang="en-US" sz="9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981881" y="4162219"/>
            <a:ext cx="261406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Ficheiro  “xlsx” que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Totta URBE</a:t>
            </a:r>
            <a:endParaRPr lang="en-US" sz="900" dirty="0"/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5358146" y="-2671879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5923238" y="1442814"/>
            <a:ext cx="647850" cy="64785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379" y="1389848"/>
            <a:ext cx="241113" cy="241113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71674" y="1389847"/>
            <a:ext cx="287933" cy="287933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949216" y="1353285"/>
            <a:ext cx="647850" cy="647850"/>
            <a:chOff x="455122" y="4977513"/>
            <a:chExt cx="648000" cy="648000"/>
          </a:xfrm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75" y="1300319"/>
            <a:ext cx="241113" cy="241113"/>
          </a:xfrm>
          <a:prstGeom prst="rect">
            <a:avLst/>
          </a:prstGeom>
        </p:spPr>
      </p:pic>
      <p:pic>
        <p:nvPicPr>
          <p:cNvPr id="13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00170" y="1300319"/>
            <a:ext cx="287933" cy="287933"/>
          </a:xfrm>
          <a:prstGeom prst="rect">
            <a:avLst/>
          </a:prstGeom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961304" y="2619393"/>
            <a:ext cx="647850" cy="647850"/>
            <a:chOff x="455122" y="4977513"/>
            <a:chExt cx="648000" cy="648000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4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3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45" y="2566427"/>
            <a:ext cx="241113" cy="241113"/>
          </a:xfrm>
          <a:prstGeom prst="rect">
            <a:avLst/>
          </a:prstGeom>
        </p:spPr>
      </p:pic>
      <p:pic>
        <p:nvPicPr>
          <p:cNvPr id="13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09740" y="2566427"/>
            <a:ext cx="287933" cy="287933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949216" y="3947080"/>
            <a:ext cx="647850" cy="647850"/>
            <a:chOff x="455122" y="4977513"/>
            <a:chExt cx="648000" cy="648000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1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4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08" y="3894593"/>
            <a:ext cx="241113" cy="241113"/>
          </a:xfrm>
          <a:prstGeom prst="rect">
            <a:avLst/>
          </a:prstGeom>
        </p:spPr>
      </p:pic>
      <p:pic>
        <p:nvPicPr>
          <p:cNvPr id="14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82649" y="3894592"/>
            <a:ext cx="287933" cy="287933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5817506" y="2113139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EMPRÉSTIMOS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524893" y="2285874"/>
            <a:ext cx="24327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cd_emprestimos.gpt32_bemimove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cd_emprestimos.gpt18_bens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46002" y="2023610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RISCOS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55572" y="328971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LEASING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912817" y="4619315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53390" y="2187252"/>
            <a:ext cx="2279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cd_riscos.ivt01_imoveis</a:t>
            </a:r>
            <a:endParaRPr lang="en-US" sz="9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62960" y="3445415"/>
            <a:ext cx="223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cd_leasing.lgt03_ravalimo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55119" y="4790619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cd_estruturais.tat91_tabelas (ctabela = 'J48’</a:t>
            </a:r>
            <a:endParaRPr lang="en-US" sz="9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grpSp>
        <p:nvGrpSpPr>
          <p:cNvPr id="171" name="Group 170"/>
          <p:cNvGrpSpPr/>
          <p:nvPr/>
        </p:nvGrpSpPr>
        <p:grpSpPr>
          <a:xfrm>
            <a:off x="730584" y="5918607"/>
            <a:ext cx="2173390" cy="294934"/>
            <a:chOff x="4002570" y="2628000"/>
            <a:chExt cx="1370101" cy="295002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4061164" y="2676781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4002570" y="2628000"/>
              <a:ext cx="1370101" cy="230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PT" sz="900" dirty="0"/>
                <a:t>bu_esg_work.envio_final_gloval_jun23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244BD71-A3C7-A4B6-F74A-A8119D00AB11}"/>
              </a:ext>
            </a:extLst>
          </p:cNvPr>
          <p:cNvGrpSpPr/>
          <p:nvPr/>
        </p:nvGrpSpPr>
        <p:grpSpPr>
          <a:xfrm>
            <a:off x="3404381" y="1305119"/>
            <a:ext cx="693296" cy="687594"/>
            <a:chOff x="887422" y="1301169"/>
            <a:chExt cx="693296" cy="687594"/>
          </a:xfrm>
        </p:grpSpPr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F1626CE6-E784-2E6F-3629-734D143C9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87422" y="1340913"/>
              <a:ext cx="647850" cy="647850"/>
            </a:xfrm>
            <a:prstGeom prst="rect">
              <a:avLst/>
            </a:prstGeom>
          </p:spPr>
        </p:pic>
        <p:pic>
          <p:nvPicPr>
            <p:cNvPr id="63" name="Picture 139" descr="Related image">
              <a:extLst>
                <a:ext uri="{FF2B5EF4-FFF2-40B4-BE49-F238E27FC236}">
                  <a16:creationId xmlns:a16="http://schemas.microsoft.com/office/drawing/2014/main" id="{C5DEE586-4FCA-414E-3790-68DE73F775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636" y="1301169"/>
              <a:ext cx="241082" cy="241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AE0B7F-12BD-894D-E52E-0FEC8910C736}"/>
              </a:ext>
            </a:extLst>
          </p:cNvPr>
          <p:cNvGrpSpPr/>
          <p:nvPr/>
        </p:nvGrpSpPr>
        <p:grpSpPr>
          <a:xfrm>
            <a:off x="3411714" y="3091784"/>
            <a:ext cx="693296" cy="687594"/>
            <a:chOff x="887422" y="1301169"/>
            <a:chExt cx="693296" cy="68759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DEB0D52-B5D4-ED87-2390-29AC3A348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87422" y="1340913"/>
              <a:ext cx="647850" cy="647850"/>
            </a:xfrm>
            <a:prstGeom prst="rect">
              <a:avLst/>
            </a:prstGeom>
          </p:spPr>
        </p:pic>
        <p:pic>
          <p:nvPicPr>
            <p:cNvPr id="15" name="Picture 139" descr="Related image">
              <a:extLst>
                <a:ext uri="{FF2B5EF4-FFF2-40B4-BE49-F238E27FC236}">
                  <a16:creationId xmlns:a16="http://schemas.microsoft.com/office/drawing/2014/main" id="{901BC49A-6B66-49CB-3E02-60053DC8B7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636" y="1301169"/>
              <a:ext cx="241082" cy="241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FB779E-5B29-F76B-2D05-CBB025F9DE80}"/>
              </a:ext>
            </a:extLst>
          </p:cNvPr>
          <p:cNvGrpSpPr/>
          <p:nvPr/>
        </p:nvGrpSpPr>
        <p:grpSpPr>
          <a:xfrm>
            <a:off x="3401298" y="4686038"/>
            <a:ext cx="693296" cy="687594"/>
            <a:chOff x="887422" y="1301169"/>
            <a:chExt cx="693296" cy="68759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9411270-9C75-F147-A148-A0A84BF8B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87422" y="1340913"/>
              <a:ext cx="647850" cy="647850"/>
            </a:xfrm>
            <a:prstGeom prst="rect">
              <a:avLst/>
            </a:prstGeom>
          </p:spPr>
        </p:pic>
        <p:pic>
          <p:nvPicPr>
            <p:cNvPr id="19" name="Picture 139" descr="Related image">
              <a:extLst>
                <a:ext uri="{FF2B5EF4-FFF2-40B4-BE49-F238E27FC236}">
                  <a16:creationId xmlns:a16="http://schemas.microsoft.com/office/drawing/2014/main" id="{B8135F6F-5BC6-5E6E-0A0C-032BE8F83B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636" y="1301169"/>
              <a:ext cx="241082" cy="241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DD129F0-6EEB-469C-AE08-4751B56DAEAC}"/>
              </a:ext>
            </a:extLst>
          </p:cNvPr>
          <p:cNvSpPr/>
          <p:nvPr/>
        </p:nvSpPr>
        <p:spPr>
          <a:xfrm>
            <a:off x="572329" y="1251727"/>
            <a:ext cx="7041254" cy="4981064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38" name="Elbow Connector 69">
            <a:extLst>
              <a:ext uri="{FF2B5EF4-FFF2-40B4-BE49-F238E27FC236}">
                <a16:creationId xmlns:a16="http://schemas.microsoft.com/office/drawing/2014/main" id="{7466644B-BF20-9950-0B46-C8E58F43886A}"/>
              </a:ext>
            </a:extLst>
          </p:cNvPr>
          <p:cNvCxnSpPr>
            <a:cxnSpLocks/>
          </p:cNvCxnSpPr>
          <p:nvPr/>
        </p:nvCxnSpPr>
        <p:spPr>
          <a:xfrm flipV="1">
            <a:off x="7610915" y="3377035"/>
            <a:ext cx="504000" cy="0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F77781F-D1EB-386B-0685-1978698A2993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06C89EF-CD06-9528-14C1-AD101397FFA6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6" name="Graphic 119" descr="Database with solid fill">
              <a:extLst>
                <a:ext uri="{FF2B5EF4-FFF2-40B4-BE49-F238E27FC236}">
                  <a16:creationId xmlns:a16="http://schemas.microsoft.com/office/drawing/2014/main" id="{D7E2FFC0-AC73-E873-1703-F0158670E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67" name="Graphic 116" descr="Single gear with solid fill">
            <a:extLst>
              <a:ext uri="{FF2B5EF4-FFF2-40B4-BE49-F238E27FC236}">
                <a16:creationId xmlns:a16="http://schemas.microsoft.com/office/drawing/2014/main" id="{7AE490A8-1D8F-9CD3-9BBE-895738F157B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779285F6-EA2F-9C3B-A9DB-8E2E29FBFD2E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5B89CEB-7B56-34F8-D9F3-C5807F793323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55" name="Picture 4">
              <a:extLst>
                <a:ext uri="{FF2B5EF4-FFF2-40B4-BE49-F238E27FC236}">
                  <a16:creationId xmlns:a16="http://schemas.microsoft.com/office/drawing/2014/main" id="{E97BBF1C-B1C1-E9FA-B419-AF514B6498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8" name="Picture 139" descr="Related image">
              <a:extLst>
                <a:ext uri="{FF2B5EF4-FFF2-40B4-BE49-F238E27FC236}">
                  <a16:creationId xmlns:a16="http://schemas.microsoft.com/office/drawing/2014/main" id="{B567F218-232C-98E8-65D3-4967C2A97F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B7D74B8-F5F2-DB35-3DF4-E765E151C34A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F405EA5-FC9B-8BC0-5503-8A4115196AEB}"/>
              </a:ext>
            </a:extLst>
          </p:cNvPr>
          <p:cNvGrpSpPr/>
          <p:nvPr/>
        </p:nvGrpSpPr>
        <p:grpSpPr>
          <a:xfrm>
            <a:off x="949216" y="5258389"/>
            <a:ext cx="706458" cy="680862"/>
            <a:chOff x="11007832" y="3054746"/>
            <a:chExt cx="706458" cy="680862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9EE6E191-6BE5-4859-436A-BA1F29796D16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124BE0E2-FE2C-942B-BF18-585015687AD9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5" name="Graphic 119" descr="Database with solid fill">
                <a:extLst>
                  <a:ext uri="{FF2B5EF4-FFF2-40B4-BE49-F238E27FC236}">
                    <a16:creationId xmlns:a16="http://schemas.microsoft.com/office/drawing/2014/main" id="{B7B3A9C3-90D7-4FA7-6FD2-3047DC2326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73" name="Graphic 116" descr="Single gear with solid fill">
              <a:extLst>
                <a:ext uri="{FF2B5EF4-FFF2-40B4-BE49-F238E27FC236}">
                  <a16:creationId xmlns:a16="http://schemas.microsoft.com/office/drawing/2014/main" id="{924D0C76-4B55-51B7-5C5E-1BAF8BDB1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4DCDE05-9D7D-8A23-6625-8A8E5C87A588}"/>
              </a:ext>
            </a:extLst>
          </p:cNvPr>
          <p:cNvSpPr/>
          <p:nvPr/>
        </p:nvSpPr>
        <p:spPr>
          <a:xfrm>
            <a:off x="10694771" y="3712355"/>
            <a:ext cx="1233609" cy="50783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</a:t>
            </a:r>
          </a:p>
          <a:p>
            <a:pPr algn="ctr"/>
            <a:r>
              <a:rPr lang="pt-PT" sz="900" dirty="0"/>
              <a:t>bu_esg_work.adjudicados_final</a:t>
            </a:r>
            <a:endParaRPr lang="pt-PT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0DF38A-F0D4-9AEB-4E3A-12D362D9EB57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Metodologia de obtenção de informação utilizada no mapeamento do processo de adjudicados.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447126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000" dirty="0"/>
              <a:t>O </a:t>
            </a:r>
            <a:r>
              <a:rPr lang="en-US" sz="1000" dirty="0" err="1"/>
              <a:t>processo</a:t>
            </a:r>
            <a:r>
              <a:rPr lang="en-US" sz="1000" dirty="0"/>
              <a:t> de </a:t>
            </a:r>
            <a:r>
              <a:rPr lang="en-US" sz="1000" dirty="0" err="1"/>
              <a:t>geração</a:t>
            </a:r>
            <a:r>
              <a:rPr lang="en-US" sz="1000" dirty="0"/>
              <a:t> </a:t>
            </a:r>
            <a:r>
              <a:rPr lang="en-US" sz="1000" dirty="0" smtClean="0"/>
              <a:t>das </a:t>
            </a:r>
            <a:r>
              <a:rPr lang="en-US" sz="1000" dirty="0" err="1" smtClean="0"/>
              <a:t>métricas</a:t>
            </a:r>
            <a:r>
              <a:rPr lang="en-US" sz="1000" dirty="0" smtClean="0"/>
              <a:t> </a:t>
            </a:r>
            <a:r>
              <a:rPr lang="en-US" sz="1000" dirty="0" err="1" smtClean="0"/>
              <a:t>associadas</a:t>
            </a:r>
            <a:r>
              <a:rPr lang="en-US" sz="1000" dirty="0" smtClean="0"/>
              <a:t> </a:t>
            </a:r>
            <a:r>
              <a:rPr lang="en-US" sz="1000" dirty="0" err="1" smtClean="0"/>
              <a:t>aos</a:t>
            </a:r>
            <a:r>
              <a:rPr lang="en-US" sz="1000" dirty="0" smtClean="0"/>
              <a:t> </a:t>
            </a:r>
            <a:r>
              <a:rPr lang="en-US" sz="1000" dirty="0" err="1" smtClean="0"/>
              <a:t>colaterais</a:t>
            </a:r>
            <a:r>
              <a:rPr lang="en-US" sz="1000" dirty="0" smtClean="0"/>
              <a:t> (</a:t>
            </a:r>
            <a:r>
              <a:rPr lang="en-US" sz="1000" dirty="0" err="1" smtClean="0"/>
              <a:t>descrito</a:t>
            </a:r>
            <a:r>
              <a:rPr lang="en-US" sz="1000" dirty="0" smtClean="0"/>
              <a:t> </a:t>
            </a:r>
            <a:r>
              <a:rPr lang="en-US" sz="1000" dirty="0"/>
              <a:t>no </a:t>
            </a:r>
            <a:r>
              <a:rPr lang="en-US" sz="1000" i="1" dirty="0"/>
              <a:t>slide </a:t>
            </a:r>
            <a:r>
              <a:rPr lang="en-US" sz="1000" dirty="0" smtClean="0"/>
              <a:t>anterior), </a:t>
            </a:r>
            <a:r>
              <a:rPr lang="en-US" sz="1000" dirty="0"/>
              <a:t>visa o </a:t>
            </a:r>
            <a:r>
              <a:rPr lang="en-US" sz="1000" dirty="0" err="1"/>
              <a:t>reporte</a:t>
            </a:r>
            <a:r>
              <a:rPr lang="en-US" sz="1000" dirty="0"/>
              <a:t> das </a:t>
            </a:r>
            <a:r>
              <a:rPr lang="en-US" sz="1000" dirty="0" err="1"/>
              <a:t>seguintes</a:t>
            </a:r>
            <a:r>
              <a:rPr lang="en-US" sz="1000" dirty="0"/>
              <a:t> </a:t>
            </a:r>
            <a:r>
              <a:rPr lang="en-US" sz="1000" dirty="0" err="1" smtClean="0"/>
              <a:t>métricas</a:t>
            </a:r>
            <a:r>
              <a:rPr lang="en-US" sz="1000" dirty="0" smtClean="0"/>
              <a:t>: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Adjudicados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820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Tipo </a:t>
            </a:r>
            <a:r>
              <a:rPr lang="pt-PT" sz="1100" dirty="0" err="1"/>
              <a:t>imovel</a:t>
            </a:r>
            <a:endParaRPr lang="pt-PT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625778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Collateral</a:t>
            </a:r>
            <a:r>
              <a:rPr lang="pt-PT" sz="1100" dirty="0"/>
              <a:t> zip </a:t>
            </a:r>
            <a:r>
              <a:rPr lang="pt-PT" sz="1100" dirty="0" err="1"/>
              <a:t>code</a:t>
            </a:r>
            <a:endParaRPr lang="pt-PT"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9137370" y="1816771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Collateral</a:t>
            </a:r>
            <a:r>
              <a:rPr lang="pt-PT" sz="1100" dirty="0"/>
              <a:t> </a:t>
            </a:r>
            <a:r>
              <a:rPr lang="pt-PT" sz="1100" dirty="0" err="1"/>
              <a:t>Nuts</a:t>
            </a:r>
            <a:endParaRPr lang="pt-PT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49862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Fin_imovel</a:t>
            </a:r>
            <a:endParaRPr lang="pt-PT" sz="1100" dirty="0"/>
          </a:p>
        </p:txBody>
      </p:sp>
    </p:spTree>
    <p:extLst>
      <p:ext uri="{BB962C8B-B14F-4D97-AF65-F5344CB8AC3E}">
        <p14:creationId xmlns:p14="http://schemas.microsoft.com/office/powerpoint/2010/main" val="2244471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Repartição de Garantias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1475190" y="1982066"/>
            <a:ext cx="14426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bu_esg_work.colaterais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9A2BDF4-4108-64EB-BAE7-E5EA56389B14}"/>
              </a:ext>
            </a:extLst>
          </p:cNvPr>
          <p:cNvGrpSpPr/>
          <p:nvPr/>
        </p:nvGrpSpPr>
        <p:grpSpPr>
          <a:xfrm>
            <a:off x="1166785" y="3013981"/>
            <a:ext cx="2815685" cy="1054733"/>
            <a:chOff x="1114936" y="4012190"/>
            <a:chExt cx="2815685" cy="105473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6ECC41-96DC-BD16-080B-74BACD801869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088F90-7358-81C6-33AC-DF5E74F21421}"/>
                </a:ext>
              </a:extLst>
            </p:cNvPr>
            <p:cNvSpPr txBox="1"/>
            <p:nvPr/>
          </p:nvSpPr>
          <p:spPr>
            <a:xfrm>
              <a:off x="1114936" y="4836091"/>
              <a:ext cx="2815685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pt-PT" sz="900" dirty="0"/>
                <a:t>bu_esg_work.envio_final_gloval_jun23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893C404-49AE-4574-5083-8ED300758CFC}"/>
              </a:ext>
            </a:extLst>
          </p:cNvPr>
          <p:cNvGrpSpPr/>
          <p:nvPr/>
        </p:nvGrpSpPr>
        <p:grpSpPr>
          <a:xfrm>
            <a:off x="1685974" y="1292209"/>
            <a:ext cx="706458" cy="680862"/>
            <a:chOff x="11007832" y="3054746"/>
            <a:chExt cx="706458" cy="68086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F2E40F4-D1A4-65C2-C497-A12C194E8A2F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D9D85B8-86D1-85F5-8992-38E837B5E09B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5" name="Graphic 119" descr="Database with solid fill">
                <a:extLst>
                  <a:ext uri="{FF2B5EF4-FFF2-40B4-BE49-F238E27FC236}">
                    <a16:creationId xmlns:a16="http://schemas.microsoft.com/office/drawing/2014/main" id="{8160C09F-8F45-2941-241C-0815984EA2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33" name="Graphic 116" descr="Single gear with solid fill">
              <a:extLst>
                <a:ext uri="{FF2B5EF4-FFF2-40B4-BE49-F238E27FC236}">
                  <a16:creationId xmlns:a16="http://schemas.microsoft.com/office/drawing/2014/main" id="{26151BD6-8350-069C-89FD-3F11ACC6C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56ECEE-EE8C-1BBF-539B-FDE04064474B}"/>
              </a:ext>
            </a:extLst>
          </p:cNvPr>
          <p:cNvGrpSpPr/>
          <p:nvPr/>
        </p:nvGrpSpPr>
        <p:grpSpPr>
          <a:xfrm>
            <a:off x="1692019" y="3074595"/>
            <a:ext cx="706458" cy="680862"/>
            <a:chOff x="11007832" y="3054746"/>
            <a:chExt cx="706458" cy="68086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B79F546-51AF-97CE-38B1-760A2DDD724D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2233CB15-56FD-1116-7953-A561CBB78A59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0" name="Graphic 119" descr="Database with solid fill">
                <a:extLst>
                  <a:ext uri="{FF2B5EF4-FFF2-40B4-BE49-F238E27FC236}">
                    <a16:creationId xmlns:a16="http://schemas.microsoft.com/office/drawing/2014/main" id="{AAB08991-A2E8-D5E6-9D47-E4B6795B8C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38" name="Graphic 116" descr="Single gear with solid fill">
              <a:extLst>
                <a:ext uri="{FF2B5EF4-FFF2-40B4-BE49-F238E27FC236}">
                  <a16:creationId xmlns:a16="http://schemas.microsoft.com/office/drawing/2014/main" id="{400EE5E8-69BD-9516-3BBC-6E1FA3AD5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BA6AA01-909A-DB5B-0A26-CA60C4BF0A15}"/>
              </a:ext>
            </a:extLst>
          </p:cNvPr>
          <p:cNvGrpSpPr/>
          <p:nvPr/>
        </p:nvGrpSpPr>
        <p:grpSpPr>
          <a:xfrm>
            <a:off x="1237574" y="4717040"/>
            <a:ext cx="2420025" cy="1056594"/>
            <a:chOff x="1237574" y="4717040"/>
            <a:chExt cx="2420025" cy="105659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E1353F0-3A2D-9633-A394-4E168A6C5C24}"/>
                </a:ext>
              </a:extLst>
            </p:cNvPr>
            <p:cNvGrpSpPr/>
            <p:nvPr/>
          </p:nvGrpSpPr>
          <p:grpSpPr>
            <a:xfrm>
              <a:off x="1237574" y="4717040"/>
              <a:ext cx="2420025" cy="1056594"/>
              <a:chOff x="1237574" y="4012190"/>
              <a:chExt cx="2420025" cy="1056594"/>
            </a:xfrm>
          </p:grpSpPr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10C464CC-F2F1-ABB8-F4F2-C2AC0D25866A}"/>
                  </a:ext>
                </a:extLst>
              </p:cNvPr>
              <p:cNvSpPr txBox="1"/>
              <p:nvPr/>
            </p:nvSpPr>
            <p:spPr>
              <a:xfrm>
                <a:off x="1237574" y="4012190"/>
                <a:ext cx="755825" cy="246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1507122" y="4837952"/>
                <a:ext cx="2150477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pt-PT" sz="900" dirty="0"/>
                  <a:t>bu_esg_work.rf_metricas_pilar3_ctr_cli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0DC4228-04DA-EABD-A4B6-FCD9FAAB5661}"/>
                </a:ext>
              </a:extLst>
            </p:cNvPr>
            <p:cNvGrpSpPr/>
            <p:nvPr/>
          </p:nvGrpSpPr>
          <p:grpSpPr>
            <a:xfrm>
              <a:off x="1679701" y="4861024"/>
              <a:ext cx="706458" cy="680862"/>
              <a:chOff x="11007832" y="3054746"/>
              <a:chExt cx="706458" cy="680862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4AAE78B6-9AFE-2DD8-7232-7A4A6CCCBDEC}"/>
                  </a:ext>
                </a:extLst>
              </p:cNvPr>
              <p:cNvGrpSpPr/>
              <p:nvPr/>
            </p:nvGrpSpPr>
            <p:grpSpPr>
              <a:xfrm>
                <a:off x="11007832" y="3091584"/>
                <a:ext cx="639433" cy="644024"/>
                <a:chOff x="10931012" y="2482312"/>
                <a:chExt cx="639433" cy="644024"/>
              </a:xfrm>
            </p:grpSpPr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76751434-B974-B360-9BCF-56486D91FF9A}"/>
                    </a:ext>
                  </a:extLst>
                </p:cNvPr>
                <p:cNvSpPr/>
                <p:nvPr/>
              </p:nvSpPr>
              <p:spPr>
                <a:xfrm>
                  <a:off x="10931012" y="2482312"/>
                  <a:ext cx="639433" cy="644024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99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45" name="Graphic 119" descr="Database with solid fill">
                  <a:extLst>
                    <a:ext uri="{FF2B5EF4-FFF2-40B4-BE49-F238E27FC236}">
                      <a16:creationId xmlns:a16="http://schemas.microsoft.com/office/drawing/2014/main" id="{06B83368-EF8A-C0AF-44FA-3190177345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=""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035643" y="2591032"/>
                  <a:ext cx="426289" cy="429349"/>
                </a:xfrm>
                <a:prstGeom prst="rect">
                  <a:avLst/>
                </a:prstGeom>
              </p:spPr>
            </p:pic>
          </p:grpSp>
          <p:pic>
            <p:nvPicPr>
              <p:cNvPr id="43" name="Graphic 116" descr="Single gear with solid fill">
                <a:extLst>
                  <a:ext uri="{FF2B5EF4-FFF2-40B4-BE49-F238E27FC236}">
                    <a16:creationId xmlns:a16="http://schemas.microsoft.com/office/drawing/2014/main" id="{79EB8603-1464-42AF-8885-E3ED09CCAC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1426357" y="3054746"/>
                <a:ext cx="287933" cy="287933"/>
              </a:xfrm>
              <a:prstGeom prst="rect">
                <a:avLst/>
              </a:prstGeom>
            </p:spPr>
          </p:pic>
        </p:grpSp>
      </p:grp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6246596D-F437-219C-EBAD-212D84662DF3}"/>
              </a:ext>
            </a:extLst>
          </p:cNvPr>
          <p:cNvCxnSpPr>
            <a:cxnSpLocks/>
          </p:cNvCxnSpPr>
          <p:nvPr/>
        </p:nvCxnSpPr>
        <p:spPr>
          <a:xfrm flipV="1">
            <a:off x="2359297" y="3378842"/>
            <a:ext cx="5760000" cy="1815975"/>
          </a:xfrm>
          <a:prstGeom prst="bentConnector3">
            <a:avLst>
              <a:gd name="adj1" fmla="val 58414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69">
            <a:extLst>
              <a:ext uri="{FF2B5EF4-FFF2-40B4-BE49-F238E27FC236}">
                <a16:creationId xmlns:a16="http://schemas.microsoft.com/office/drawing/2014/main" id="{6F617D66-FC81-90CF-254E-028337493A8B}"/>
              </a:ext>
            </a:extLst>
          </p:cNvPr>
          <p:cNvCxnSpPr>
            <a:cxnSpLocks/>
          </p:cNvCxnSpPr>
          <p:nvPr/>
        </p:nvCxnSpPr>
        <p:spPr>
          <a:xfrm>
            <a:off x="2357047" y="1707522"/>
            <a:ext cx="5760000" cy="1669513"/>
          </a:xfrm>
          <a:prstGeom prst="bentConnector3">
            <a:avLst>
              <a:gd name="adj1" fmla="val 58442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7547761-1926-705B-3605-B38193007EAE}"/>
              </a:ext>
            </a:extLst>
          </p:cNvPr>
          <p:cNvCxnSpPr>
            <a:cxnSpLocks/>
          </p:cNvCxnSpPr>
          <p:nvPr/>
        </p:nvCxnSpPr>
        <p:spPr>
          <a:xfrm>
            <a:off x="2327959" y="3380778"/>
            <a:ext cx="342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788322C-9AC7-F868-0D48-165972510776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C20542A8-CD36-1EB8-C19E-8A1219B69DBE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7" name="Graphic 119" descr="Database with solid fill">
              <a:extLst>
                <a:ext uri="{FF2B5EF4-FFF2-40B4-BE49-F238E27FC236}">
                  <a16:creationId xmlns:a16="http://schemas.microsoft.com/office/drawing/2014/main" id="{64F9E83B-B983-CDC3-BA1A-E29EFA4D2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128" name="Graphic 116" descr="Single gear with solid fill">
            <a:extLst>
              <a:ext uri="{FF2B5EF4-FFF2-40B4-BE49-F238E27FC236}">
                <a16:creationId xmlns:a16="http://schemas.microsoft.com/office/drawing/2014/main" id="{6297704D-79AB-B45A-8085-AE7F7853821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129" name="Elbow Connector 69">
            <a:extLst>
              <a:ext uri="{FF2B5EF4-FFF2-40B4-BE49-F238E27FC236}">
                <a16:creationId xmlns:a16="http://schemas.microsoft.com/office/drawing/2014/main" id="{BB4CA217-D6BF-5DDC-65EB-E04E7A34D966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62BE224-CDD9-E369-AE6F-5A6E5E42608C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122" name="Picture 4">
              <a:extLst>
                <a:ext uri="{FF2B5EF4-FFF2-40B4-BE49-F238E27FC236}">
                  <a16:creationId xmlns:a16="http://schemas.microsoft.com/office/drawing/2014/main" id="{CEB3649E-6DF8-451E-FB5D-09FE111B51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" name="Picture 139" descr="Related image">
              <a:extLst>
                <a:ext uri="{FF2B5EF4-FFF2-40B4-BE49-F238E27FC236}">
                  <a16:creationId xmlns:a16="http://schemas.microsoft.com/office/drawing/2014/main" id="{C4326E21-8242-F9E0-B164-0EC841EF70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AB8790F3-1007-4CD8-F534-59CEFA1804DD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AEE248B9-B43A-5D1B-89D8-6C835C16CC6B}"/>
              </a:ext>
            </a:extLst>
          </p:cNvPr>
          <p:cNvSpPr/>
          <p:nvPr/>
        </p:nvSpPr>
        <p:spPr>
          <a:xfrm>
            <a:off x="10694771" y="3712355"/>
            <a:ext cx="123360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bu_esg_work.reparticao_garantias_final</a:t>
            </a:r>
            <a:endParaRPr lang="pt-PT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756224-CC8A-29E1-41A2-AF0329A0939A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Metodologia de obtenção de informação utilizada no mapeamento do processo de repartição de garantias.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927432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Secundários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1212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ESG |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79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000" dirty="0"/>
              <a:t>O </a:t>
            </a:r>
            <a:r>
              <a:rPr lang="en-US" sz="1000" dirty="0" err="1"/>
              <a:t>processo</a:t>
            </a:r>
            <a:r>
              <a:rPr lang="en-US" sz="1000" dirty="0"/>
              <a:t> de </a:t>
            </a:r>
            <a:r>
              <a:rPr lang="en-US" sz="1000" dirty="0" err="1"/>
              <a:t>geração</a:t>
            </a:r>
            <a:r>
              <a:rPr lang="en-US" sz="1000" dirty="0"/>
              <a:t> do </a:t>
            </a:r>
            <a:r>
              <a:rPr lang="en-US" sz="1000" dirty="0" err="1"/>
              <a:t>satélite</a:t>
            </a:r>
            <a:r>
              <a:rPr lang="en-US" sz="1000" dirty="0"/>
              <a:t> 79 (</a:t>
            </a:r>
            <a:r>
              <a:rPr lang="en-US" sz="1000" dirty="0" err="1"/>
              <a:t>descrito</a:t>
            </a:r>
            <a:r>
              <a:rPr lang="en-US" sz="1000" dirty="0"/>
              <a:t> no </a:t>
            </a:r>
            <a:r>
              <a:rPr lang="en-US" sz="1000" i="1" dirty="0"/>
              <a:t>slide </a:t>
            </a:r>
            <a:r>
              <a:rPr lang="en-US" sz="1000" dirty="0" err="1"/>
              <a:t>seguinte</a:t>
            </a:r>
            <a:r>
              <a:rPr lang="en-US" sz="1000" dirty="0"/>
              <a:t>), visa o </a:t>
            </a:r>
            <a:r>
              <a:rPr lang="en-US" sz="1000" dirty="0" err="1"/>
              <a:t>reporte</a:t>
            </a:r>
            <a:r>
              <a:rPr lang="en-US" sz="1000" dirty="0"/>
              <a:t> das </a:t>
            </a:r>
            <a:r>
              <a:rPr lang="en-US" sz="1000" dirty="0" err="1"/>
              <a:t>seguintes</a:t>
            </a:r>
            <a:r>
              <a:rPr lang="en-US" sz="1000" dirty="0"/>
              <a:t> </a:t>
            </a:r>
            <a:r>
              <a:rPr lang="en-US" sz="1000" dirty="0" err="1"/>
              <a:t>métricas</a:t>
            </a:r>
            <a:r>
              <a:rPr lang="en-US" sz="1000" dirty="0"/>
              <a:t> ESG:</a:t>
            </a:r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graphicFrame>
        <p:nvGraphicFramePr>
          <p:cNvPr id="28" name="Table 28">
            <a:extLst>
              <a:ext uri="{FF2B5EF4-FFF2-40B4-BE49-F238E27FC236}">
                <a16:creationId xmlns:a16="http://schemas.microsoft.com/office/drawing/2014/main" id="{7672743C-F470-EF58-E8A3-C9B551D59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447731"/>
              </p:ext>
            </p:extLst>
          </p:nvPr>
        </p:nvGraphicFramePr>
        <p:xfrm>
          <a:off x="609599" y="1902356"/>
          <a:ext cx="5444838" cy="342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4946">
                  <a:extLst>
                    <a:ext uri="{9D8B030D-6E8A-4147-A177-3AD203B41FA5}">
                      <a16:colId xmlns:a16="http://schemas.microsoft.com/office/drawing/2014/main" val="3451685743"/>
                    </a:ext>
                  </a:extLst>
                </a:gridCol>
                <a:gridCol w="1814946">
                  <a:extLst>
                    <a:ext uri="{9D8B030D-6E8A-4147-A177-3AD203B41FA5}">
                      <a16:colId xmlns:a16="http://schemas.microsoft.com/office/drawing/2014/main" val="3266161671"/>
                    </a:ext>
                  </a:extLst>
                </a:gridCol>
                <a:gridCol w="1814946">
                  <a:extLst>
                    <a:ext uri="{9D8B030D-6E8A-4147-A177-3AD203B41FA5}">
                      <a16:colId xmlns:a16="http://schemas.microsoft.com/office/drawing/2014/main" val="501812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Physical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risk_Geographical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Area</a:t>
                      </a:r>
                      <a:endParaRPr lang="en-US" sz="1000" b="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Stage</a:t>
                      </a:r>
                      <a:r>
                        <a:rPr lang="pt-PT" sz="100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2 IFRS9</a:t>
                      </a:r>
                      <a:endParaRPr lang="en-US" sz="1000" b="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NACE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main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code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63882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Chronic changes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Type of counterparty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NACE ESG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287748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Acute changes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Type of product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Geography of the collateral: NUTS</a:t>
                      </a: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69254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Gross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Carrying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Amount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Type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of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collateral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Geography of the collateral: ZIP Code</a:t>
                      </a: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50566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Accumulated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impairment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%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collateralised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Geography of the collateral: Full address</a:t>
                      </a: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47709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Flag: Companies excluded from EU Paris-aligned benchmarks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Sensitive to impact from acute climate change events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Geography of the counterparty: ZIP Code</a:t>
                      </a: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52354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Maturity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Sensitive to impact from chronic climate change events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Geography of the counterparty: Full address</a:t>
                      </a: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483175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Non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performing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European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Union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Flag: Banking book</a:t>
                      </a: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299310560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1C7A3E62-8015-98B8-5343-1080536DE5A4}"/>
              </a:ext>
            </a:extLst>
          </p:cNvPr>
          <p:cNvSpPr/>
          <p:nvPr/>
        </p:nvSpPr>
        <p:spPr>
          <a:xfrm>
            <a:off x="5338618" y="212436"/>
            <a:ext cx="4802909" cy="116348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CF: há métricas do satélite 79 que não estão identificadas no dicionário de conceitos </a:t>
            </a:r>
            <a:r>
              <a:rPr lang="pt-PT" sz="1100" dirty="0">
                <a:sym typeface="Wingdings" panose="05000000000000000000" pitchFamily="2" charset="2"/>
              </a:rPr>
              <a:t>e há métricas que não calculamos ou calculamos previamente. Deixar aqui?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735784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ESG |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79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000" dirty="0"/>
              <a:t>O </a:t>
            </a:r>
            <a:r>
              <a:rPr lang="en-US" sz="1000" dirty="0" err="1"/>
              <a:t>processo</a:t>
            </a:r>
            <a:r>
              <a:rPr lang="en-US" sz="1000" dirty="0"/>
              <a:t> de </a:t>
            </a:r>
            <a:r>
              <a:rPr lang="en-US" sz="1000" dirty="0" err="1"/>
              <a:t>geração</a:t>
            </a:r>
            <a:r>
              <a:rPr lang="en-US" sz="1000" dirty="0"/>
              <a:t> do </a:t>
            </a:r>
            <a:r>
              <a:rPr lang="en-US" sz="1000" dirty="0" err="1"/>
              <a:t>satélite</a:t>
            </a:r>
            <a:r>
              <a:rPr lang="en-US" sz="1000" dirty="0"/>
              <a:t> 79 (</a:t>
            </a:r>
            <a:r>
              <a:rPr lang="en-US" sz="1000" dirty="0" err="1"/>
              <a:t>descrito</a:t>
            </a:r>
            <a:r>
              <a:rPr lang="en-US" sz="1000" dirty="0"/>
              <a:t> no </a:t>
            </a:r>
            <a:r>
              <a:rPr lang="en-US" sz="1000" i="1" dirty="0"/>
              <a:t>slide </a:t>
            </a:r>
            <a:r>
              <a:rPr lang="en-US" sz="1000" dirty="0" err="1"/>
              <a:t>seguinte</a:t>
            </a:r>
            <a:r>
              <a:rPr lang="en-US" sz="1000" dirty="0"/>
              <a:t>), visa o </a:t>
            </a:r>
            <a:r>
              <a:rPr lang="en-US" sz="1000" dirty="0" err="1"/>
              <a:t>reporte</a:t>
            </a:r>
            <a:r>
              <a:rPr lang="en-US" sz="1000" dirty="0"/>
              <a:t> das </a:t>
            </a:r>
            <a:r>
              <a:rPr lang="en-US" sz="1000" dirty="0" err="1"/>
              <a:t>seguintes</a:t>
            </a:r>
            <a:r>
              <a:rPr lang="en-US" sz="1000" dirty="0"/>
              <a:t> </a:t>
            </a:r>
            <a:r>
              <a:rPr lang="en-US" sz="1000" dirty="0" err="1"/>
              <a:t>métricas</a:t>
            </a:r>
            <a:r>
              <a:rPr lang="en-US" sz="1000" dirty="0"/>
              <a:t> ESG:</a:t>
            </a:r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grpSp>
        <p:nvGrpSpPr>
          <p:cNvPr id="8" name="Group 7"/>
          <p:cNvGrpSpPr/>
          <p:nvPr/>
        </p:nvGrpSpPr>
        <p:grpSpPr>
          <a:xfrm>
            <a:off x="2433710" y="1826344"/>
            <a:ext cx="7324581" cy="4191851"/>
            <a:chOff x="2444732" y="2064469"/>
            <a:chExt cx="7324581" cy="4191851"/>
          </a:xfrm>
        </p:grpSpPr>
        <p:sp>
          <p:nvSpPr>
            <p:cNvPr id="4" name="TextBox 3"/>
            <p:cNvSpPr txBox="1"/>
            <p:nvPr/>
          </p:nvSpPr>
          <p:spPr>
            <a:xfrm>
              <a:off x="2444732" y="2064469"/>
              <a:ext cx="2969444" cy="289441"/>
            </a:xfrm>
            <a:prstGeom prst="round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b="1" dirty="0" smtClean="0">
                  <a:solidFill>
                    <a:schemeClr val="bg1"/>
                  </a:solidFill>
                </a:rPr>
                <a:t>Métrica Final de Satélite</a:t>
              </a:r>
              <a:endParaRPr lang="pt-PT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99869" y="2064469"/>
              <a:ext cx="2969444" cy="289441"/>
            </a:xfrm>
            <a:prstGeom prst="round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b="1" dirty="0" smtClean="0">
                  <a:solidFill>
                    <a:schemeClr val="bg1"/>
                  </a:solidFill>
                </a:rPr>
                <a:t>Métrica de Suporte ao Cálculo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444732" y="2930419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Chronic</a:t>
              </a:r>
              <a:r>
                <a:rPr lang="pt-PT" sz="1100" dirty="0"/>
                <a:t> </a:t>
              </a:r>
              <a:r>
                <a:rPr lang="pt-PT" sz="1100" dirty="0" err="1"/>
                <a:t>changes</a:t>
              </a:r>
              <a:endParaRPr lang="pt-PT" sz="11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99869" y="2930419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Accumulated</a:t>
              </a:r>
              <a:r>
                <a:rPr lang="pt-PT" sz="1100" dirty="0"/>
                <a:t> </a:t>
              </a:r>
              <a:r>
                <a:rPr lang="pt-PT" sz="1100" dirty="0" err="1"/>
                <a:t>impairment</a:t>
              </a:r>
              <a:endParaRPr lang="pt-PT" sz="1100" dirty="0" smtClean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444732" y="3363394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smtClean="0"/>
                <a:t>Acute Changes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799869" y="3363394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Type</a:t>
              </a:r>
              <a:r>
                <a:rPr lang="pt-PT" sz="1100" dirty="0"/>
                <a:t> </a:t>
              </a:r>
              <a:r>
                <a:rPr lang="pt-PT" sz="1100" dirty="0" err="1"/>
                <a:t>of</a:t>
              </a:r>
              <a:r>
                <a:rPr lang="pt-PT" sz="1100" dirty="0"/>
                <a:t> </a:t>
              </a:r>
              <a:r>
                <a:rPr lang="pt-PT" sz="1100" dirty="0" err="1"/>
                <a:t>counterparty</a:t>
              </a:r>
              <a:endParaRPr lang="pt-PT" sz="1100" dirty="0" smtClean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44732" y="2497444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Physical</a:t>
              </a:r>
              <a:r>
                <a:rPr lang="pt-PT" sz="1100" dirty="0"/>
                <a:t> </a:t>
              </a:r>
              <a:r>
                <a:rPr lang="pt-PT" sz="1100" dirty="0" err="1"/>
                <a:t>risk_Geographical</a:t>
              </a:r>
              <a:r>
                <a:rPr lang="pt-PT" sz="1100" dirty="0"/>
                <a:t> </a:t>
              </a:r>
              <a:r>
                <a:rPr lang="pt-PT" sz="1100" dirty="0" err="1"/>
                <a:t>Area</a:t>
              </a:r>
              <a:endParaRPr lang="pt-PT" sz="11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799869" y="2497444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Gross </a:t>
              </a:r>
              <a:r>
                <a:rPr lang="pt-PT" sz="1100" dirty="0" err="1"/>
                <a:t>Carrying</a:t>
              </a:r>
              <a:r>
                <a:rPr lang="pt-PT" sz="1100" dirty="0"/>
                <a:t> </a:t>
              </a:r>
              <a:r>
                <a:rPr lang="pt-PT" sz="1100" dirty="0" err="1"/>
                <a:t>Amount</a:t>
              </a:r>
              <a:endParaRPr lang="pt-PT" sz="1100" dirty="0" smtClean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444732" y="3796369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Maturity</a:t>
              </a:r>
              <a:endParaRPr lang="pt-PT" sz="11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799869" y="3796369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16_percent_collateral</a:t>
              </a:r>
              <a:endParaRPr lang="pt-PT" sz="1100" dirty="0" smtClean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444732" y="4229346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smtClean="0"/>
                <a:t>NACE_level1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799869" y="4229346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30_stage_ifrs9</a:t>
              </a:r>
              <a:endParaRPr lang="pt-PT" sz="1100" dirty="0" smtClean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444732" y="4662319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/>
                <a:t>NACE ESG</a:t>
              </a:r>
              <a:endParaRPr lang="pt-PT" sz="11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799869" y="4662319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european_union</a:t>
              </a:r>
              <a:endParaRPr lang="pt-PT" sz="1100" dirty="0" smtClean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444732" y="5095294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Non </a:t>
              </a:r>
              <a:r>
                <a:rPr lang="pt-PT" sz="1100" dirty="0" err="1"/>
                <a:t>performing</a:t>
              </a:r>
              <a:endParaRPr lang="pt-PT" sz="11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799869" y="5095294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Geography of the collateral: NUTS</a:t>
              </a:r>
              <a:endParaRPr lang="pt-PT" sz="1100" dirty="0" smtClean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444732" y="5528271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Excluded from EU Paris-aligned benchmark</a:t>
              </a:r>
              <a:endParaRPr lang="pt-PT" sz="1100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799869" y="5528271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Geography of the collateral: ZIP Code</a:t>
              </a:r>
              <a:endParaRPr lang="pt-PT" sz="1100" dirty="0" smtClean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444732" y="5966879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Environmentally sustainable (CCM)</a:t>
              </a:r>
              <a:endParaRPr lang="pt-PT" sz="11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799869" y="5966879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Geography of the counterparty: NUTS</a:t>
              </a:r>
              <a:endParaRPr lang="pt-PT" sz="11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5832912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Satélite 79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82708" y="2176395"/>
            <a:ext cx="2032608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en-US" sz="900" dirty="0"/>
              <a:t>bu_esg_work.rf_pilar3_universo_full_v3</a:t>
            </a:r>
            <a:endParaRPr lang="pt-PT" sz="1050" dirty="0"/>
          </a:p>
        </p:txBody>
      </p:sp>
      <p:sp>
        <p:nvSpPr>
          <p:cNvPr id="56" name="Rectangle 55"/>
          <p:cNvSpPr/>
          <p:nvPr/>
        </p:nvSpPr>
        <p:spPr>
          <a:xfrm>
            <a:off x="2853759" y="2188174"/>
            <a:ext cx="22300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bu_esg_work.reparticao_garantias_final</a:t>
            </a:r>
            <a:endParaRPr lang="pt-PT" sz="1050" dirty="0"/>
          </a:p>
        </p:txBody>
      </p:sp>
      <p:sp>
        <p:nvSpPr>
          <p:cNvPr id="71" name="Rectangle 70"/>
          <p:cNvSpPr/>
          <p:nvPr/>
        </p:nvSpPr>
        <p:spPr>
          <a:xfrm>
            <a:off x="2854914" y="3271936"/>
            <a:ext cx="179408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bu_esg_work.adjudicados_final</a:t>
            </a:r>
            <a:endParaRPr lang="pt-PT" sz="1000" dirty="0"/>
          </a:p>
        </p:txBody>
      </p:sp>
      <p:pic>
        <p:nvPicPr>
          <p:cNvPr id="73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" name="Rectangle 124"/>
          <p:cNvSpPr/>
          <p:nvPr/>
        </p:nvSpPr>
        <p:spPr>
          <a:xfrm>
            <a:off x="765256" y="3260155"/>
            <a:ext cx="203978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bu_esg_work.rf_metricas_pilar3_ctr_cli</a:t>
            </a:r>
          </a:p>
        </p:txBody>
      </p:sp>
      <p:cxnSp>
        <p:nvCxnSpPr>
          <p:cNvPr id="50" name="Straight Connector 49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9B1A519-39F2-6545-B7B0-5E31C40A33AB}"/>
              </a:ext>
            </a:extLst>
          </p:cNvPr>
          <p:cNvGrpSpPr/>
          <p:nvPr/>
        </p:nvGrpSpPr>
        <p:grpSpPr>
          <a:xfrm>
            <a:off x="524014" y="3516837"/>
            <a:ext cx="2279967" cy="1394763"/>
            <a:chOff x="5791246" y="1287947"/>
            <a:chExt cx="2279967" cy="1394763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187072" y="1340913"/>
              <a:ext cx="647850" cy="647850"/>
              <a:chOff x="455122" y="4977513"/>
              <a:chExt cx="648000" cy="648000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2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77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731" y="1287947"/>
              <a:ext cx="241113" cy="241113"/>
            </a:xfrm>
            <a:prstGeom prst="rect">
              <a:avLst/>
            </a:prstGeom>
          </p:spPr>
        </p:pic>
        <p:pic>
          <p:nvPicPr>
            <p:cNvPr id="78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638026" y="1287947"/>
              <a:ext cx="287933" cy="287933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6083858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5791246" y="2174879"/>
              <a:ext cx="227996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  <a:endParaRPr lang="pt-PT" sz="900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cd_captools.fr802_pl_contas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cd_captools.kt_chaves_mis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DBD0CF-54FD-AA77-3542-F4D27223DE71}"/>
              </a:ext>
            </a:extLst>
          </p:cNvPr>
          <p:cNvGrpSpPr/>
          <p:nvPr/>
        </p:nvGrpSpPr>
        <p:grpSpPr>
          <a:xfrm>
            <a:off x="2671443" y="3516837"/>
            <a:ext cx="2231209" cy="1265359"/>
            <a:chOff x="5791246" y="3220480"/>
            <a:chExt cx="2231209" cy="1265359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187072" y="3273447"/>
              <a:ext cx="647850" cy="647850"/>
              <a:chOff x="455122" y="4977513"/>
              <a:chExt cx="648000" cy="648000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1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8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4485" y="3220481"/>
              <a:ext cx="241113" cy="241113"/>
            </a:xfrm>
            <a:prstGeom prst="rect">
              <a:avLst/>
            </a:prstGeom>
          </p:spPr>
        </p:pic>
        <p:pic>
          <p:nvPicPr>
            <p:cNvPr id="8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638026" y="3220480"/>
              <a:ext cx="287933" cy="287933"/>
            </a:xfrm>
            <a:prstGeom prst="rect">
              <a:avLst/>
            </a:prstGeom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6145762" y="3943772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ESTRUTURAIS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5791246" y="4116507"/>
              <a:ext cx="2231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  <a:endParaRPr lang="pt-PT" sz="900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cd_estruturais.tat91_tabelas</a:t>
              </a:r>
              <a:endParaRPr lang="en-US" sz="900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7C16BE-88B3-DCF8-A03E-D5FDA65F1934}"/>
              </a:ext>
            </a:extLst>
          </p:cNvPr>
          <p:cNvGrpSpPr/>
          <p:nvPr/>
        </p:nvGrpSpPr>
        <p:grpSpPr>
          <a:xfrm>
            <a:off x="524014" y="4938248"/>
            <a:ext cx="2436270" cy="1248320"/>
            <a:chOff x="8037588" y="1287947"/>
            <a:chExt cx="2436270" cy="1248320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3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0200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CTRLGEST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37588" y="2166935"/>
              <a:ext cx="2436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  <a:endParaRPr lang="pt-PT" sz="900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bu_ctrlgest. prod_esg_sfcs_2023 </a:t>
              </a:r>
            </a:p>
          </p:txBody>
        </p:sp>
        <p:pic>
          <p:nvPicPr>
            <p:cNvPr id="11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11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922452E-9F4F-05B0-1BCE-161AA81F17AE}"/>
              </a:ext>
            </a:extLst>
          </p:cNvPr>
          <p:cNvGrpSpPr/>
          <p:nvPr/>
        </p:nvGrpSpPr>
        <p:grpSpPr>
          <a:xfrm>
            <a:off x="4750204" y="3539538"/>
            <a:ext cx="2269819" cy="1555815"/>
            <a:chOff x="7720293" y="4278786"/>
            <a:chExt cx="2269819" cy="15558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B15DB3-EA42-3F8F-2D44-998FE30B8835}"/>
                </a:ext>
              </a:extLst>
            </p:cNvPr>
            <p:cNvSpPr txBox="1"/>
            <p:nvPr/>
          </p:nvSpPr>
          <p:spPr>
            <a:xfrm>
              <a:off x="7814559" y="4986102"/>
              <a:ext cx="2175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20221021 Pillar 3 ESG - List of Paris excluded companies.xlsx</a:t>
              </a:r>
              <a:endParaRPr lang="en-US" sz="8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789C67A-009F-456D-81C1-7CB3407C3221}"/>
                </a:ext>
              </a:extLst>
            </p:cNvPr>
            <p:cNvSpPr txBox="1"/>
            <p:nvPr/>
          </p:nvSpPr>
          <p:spPr>
            <a:xfrm>
              <a:off x="7720293" y="5326770"/>
              <a:ext cx="218514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dirty="0"/>
                <a:t>Ficheiro  “xlsx” que contém informação sobre as entidades excluídas pelo acordo de Paris.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D55035E-619B-4179-7840-19EF97166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555504" y="4317857"/>
              <a:ext cx="647850" cy="64785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79F6722-271E-8544-96EC-BD186B1ED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8580" y="4278786"/>
              <a:ext cx="238885" cy="238885"/>
            </a:xfrm>
            <a:prstGeom prst="ellipse">
              <a:avLst/>
            </a:prstGeom>
          </p:spPr>
        </p:pic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8534CCC-C53D-F65F-1B90-745776D9377A}"/>
              </a:ext>
            </a:extLst>
          </p:cNvPr>
          <p:cNvSpPr/>
          <p:nvPr/>
        </p:nvSpPr>
        <p:spPr>
          <a:xfrm>
            <a:off x="564674" y="1267770"/>
            <a:ext cx="6368865" cy="4918798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90EA82-0647-0137-957D-6035DC17EC43}"/>
              </a:ext>
            </a:extLst>
          </p:cNvPr>
          <p:cNvGrpSpPr/>
          <p:nvPr/>
        </p:nvGrpSpPr>
        <p:grpSpPr>
          <a:xfrm>
            <a:off x="4749745" y="1337124"/>
            <a:ext cx="2231209" cy="1527302"/>
            <a:chOff x="4349058" y="1337124"/>
            <a:chExt cx="2231209" cy="152730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8D07362-8ABB-BD23-2FCE-DC2A00B447D8}"/>
                </a:ext>
              </a:extLst>
            </p:cNvPr>
            <p:cNvGrpSpPr/>
            <p:nvPr/>
          </p:nvGrpSpPr>
          <p:grpSpPr>
            <a:xfrm>
              <a:off x="4349058" y="2015135"/>
              <a:ext cx="2231209" cy="849291"/>
              <a:chOff x="2615808" y="5236220"/>
              <a:chExt cx="2231209" cy="849291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FB15DB3-EA42-3F8F-2D44-998FE30B8835}"/>
                  </a:ext>
                </a:extLst>
              </p:cNvPr>
              <p:cNvSpPr txBox="1"/>
              <p:nvPr/>
            </p:nvSpPr>
            <p:spPr>
              <a:xfrm>
                <a:off x="2845599" y="5236220"/>
                <a:ext cx="1693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/>
                  <a:t>20230523 Pillar 3 ESG - Physical risk.v4.xlsx</a:t>
                </a:r>
                <a:endParaRPr lang="en-US" sz="800" dirty="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789C67A-009F-456D-81C1-7CB3407C3221}"/>
                  </a:ext>
                </a:extLst>
              </p:cNvPr>
              <p:cNvSpPr txBox="1"/>
              <p:nvPr/>
            </p:nvSpPr>
            <p:spPr>
              <a:xfrm>
                <a:off x="2615808" y="5577680"/>
                <a:ext cx="2231209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900" dirty="0"/>
                  <a:t>Ficheiro  “xlsx” que contém informação sobre os riscos físicos associados aos colaterais imóveis.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4AC38C0-861C-B8DF-D700-3B9BF0E9A8D1}"/>
                </a:ext>
              </a:extLst>
            </p:cNvPr>
            <p:cNvGrpSpPr/>
            <p:nvPr/>
          </p:nvGrpSpPr>
          <p:grpSpPr>
            <a:xfrm>
              <a:off x="5126397" y="1337124"/>
              <a:ext cx="731961" cy="686921"/>
              <a:chOff x="5126397" y="1337124"/>
              <a:chExt cx="731961" cy="686921"/>
            </a:xfrm>
          </p:grpSpPr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A84BBCC3-4CFF-86DD-8CBA-CE5F185566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126397" y="1376195"/>
                <a:ext cx="647850" cy="647850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E1E07787-2751-8139-682D-2A91B19F8A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19473" y="1337124"/>
                <a:ext cx="238885" cy="238885"/>
              </a:xfrm>
              <a:prstGeom prst="ellipse">
                <a:avLst/>
              </a:prstGeom>
            </p:spPr>
          </p:pic>
        </p:grpSp>
      </p:grpSp>
      <p:cxnSp>
        <p:nvCxnSpPr>
          <p:cNvPr id="51" name="Elbow Connector 69">
            <a:extLst>
              <a:ext uri="{FF2B5EF4-FFF2-40B4-BE49-F238E27FC236}">
                <a16:creationId xmlns:a16="http://schemas.microsoft.com/office/drawing/2014/main" id="{4DAF3BF9-C3A3-D7A2-CF05-B36E7B3F71FD}"/>
              </a:ext>
            </a:extLst>
          </p:cNvPr>
          <p:cNvCxnSpPr>
            <a:cxnSpLocks/>
          </p:cNvCxnSpPr>
          <p:nvPr/>
        </p:nvCxnSpPr>
        <p:spPr>
          <a:xfrm flipV="1">
            <a:off x="6939440" y="3377035"/>
            <a:ext cx="1188000" cy="0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737F93D-ED23-6AF3-A154-D76245423F6F}"/>
              </a:ext>
            </a:extLst>
          </p:cNvPr>
          <p:cNvGrpSpPr/>
          <p:nvPr/>
        </p:nvGrpSpPr>
        <p:grpSpPr>
          <a:xfrm>
            <a:off x="922266" y="2394062"/>
            <a:ext cx="706458" cy="680862"/>
            <a:chOff x="11007832" y="3054746"/>
            <a:chExt cx="706458" cy="680862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6740C118-1444-21FD-5CCD-0CA39CD5B860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37B8F3A9-AFDC-5B57-1C76-8F833F04E76A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2" name="Graphic 119" descr="Database with solid fill">
                <a:extLst>
                  <a:ext uri="{FF2B5EF4-FFF2-40B4-BE49-F238E27FC236}">
                    <a16:creationId xmlns:a16="http://schemas.microsoft.com/office/drawing/2014/main" id="{709E74F7-A2DA-465D-A312-F16C1EDD67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100" name="Graphic 116" descr="Single gear with solid fill">
              <a:extLst>
                <a:ext uri="{FF2B5EF4-FFF2-40B4-BE49-F238E27FC236}">
                  <a16:creationId xmlns:a16="http://schemas.microsoft.com/office/drawing/2014/main" id="{84AAF4D6-CD8E-8475-B968-5A124B955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7F26D2E-694B-61CA-6BF2-6AC37BB2DE95}"/>
              </a:ext>
            </a:extLst>
          </p:cNvPr>
          <p:cNvGrpSpPr/>
          <p:nvPr/>
        </p:nvGrpSpPr>
        <p:grpSpPr>
          <a:xfrm>
            <a:off x="927135" y="1320942"/>
            <a:ext cx="706458" cy="680862"/>
            <a:chOff x="11007832" y="3054746"/>
            <a:chExt cx="706458" cy="680862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9A877BAD-BB26-7229-FF95-4E9B3B46771D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3A972E67-83A4-0483-4C7D-315F7DA36972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2" name="Graphic 119" descr="Database with solid fill">
                <a:extLst>
                  <a:ext uri="{FF2B5EF4-FFF2-40B4-BE49-F238E27FC236}">
                    <a16:creationId xmlns:a16="http://schemas.microsoft.com/office/drawing/2014/main" id="{70953A31-4EEC-DA3B-BE42-CF61FC7A63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109" name="Graphic 116" descr="Single gear with solid fill">
              <a:extLst>
                <a:ext uri="{FF2B5EF4-FFF2-40B4-BE49-F238E27FC236}">
                  <a16:creationId xmlns:a16="http://schemas.microsoft.com/office/drawing/2014/main" id="{902A3BEE-6727-28EA-38C8-1459A58D0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F6EB45C-3821-3D5B-4E41-8F5F5A5F8320}"/>
              </a:ext>
            </a:extLst>
          </p:cNvPr>
          <p:cNvGrpSpPr/>
          <p:nvPr/>
        </p:nvGrpSpPr>
        <p:grpSpPr>
          <a:xfrm>
            <a:off x="3065009" y="1315193"/>
            <a:ext cx="706458" cy="680862"/>
            <a:chOff x="11007832" y="3054746"/>
            <a:chExt cx="706458" cy="680862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31B67B52-49E1-BAD1-93E8-3BAB75BBF942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189C452D-9F19-91D3-531D-C7BDC04485EB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9" name="Graphic 119" descr="Database with solid fill">
                <a:extLst>
                  <a:ext uri="{FF2B5EF4-FFF2-40B4-BE49-F238E27FC236}">
                    <a16:creationId xmlns:a16="http://schemas.microsoft.com/office/drawing/2014/main" id="{13EF4601-4EE2-2C74-611A-81738746C5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127" name="Graphic 116" descr="Single gear with solid fill">
              <a:extLst>
                <a:ext uri="{FF2B5EF4-FFF2-40B4-BE49-F238E27FC236}">
                  <a16:creationId xmlns:a16="http://schemas.microsoft.com/office/drawing/2014/main" id="{F8DF81B3-C75D-A849-A6BD-B78903655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B43CB4C-112E-BC07-EC18-5D5396406CF9}"/>
              </a:ext>
            </a:extLst>
          </p:cNvPr>
          <p:cNvGrpSpPr/>
          <p:nvPr/>
        </p:nvGrpSpPr>
        <p:grpSpPr>
          <a:xfrm>
            <a:off x="3066530" y="2392732"/>
            <a:ext cx="706458" cy="680862"/>
            <a:chOff x="11007832" y="3054746"/>
            <a:chExt cx="706458" cy="680862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F0FE71C-DA70-C131-F7A0-B5BE86285F05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4F02485E-7619-FA9B-3DCB-5D26CD4DAE17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4" name="Graphic 119" descr="Database with solid fill">
                <a:extLst>
                  <a:ext uri="{FF2B5EF4-FFF2-40B4-BE49-F238E27FC236}">
                    <a16:creationId xmlns:a16="http://schemas.microsoft.com/office/drawing/2014/main" id="{DFB8C168-AF0C-2FAA-7A32-8BB8C37ADB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132" name="Graphic 116" descr="Single gear with solid fill">
              <a:extLst>
                <a:ext uri="{FF2B5EF4-FFF2-40B4-BE49-F238E27FC236}">
                  <a16:creationId xmlns:a16="http://schemas.microsoft.com/office/drawing/2014/main" id="{8F203B67-CAFC-BEAD-1A69-FA07F7F2C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cxnSp>
        <p:nvCxnSpPr>
          <p:cNvPr id="144" name="Elbow Connector 69">
            <a:extLst>
              <a:ext uri="{FF2B5EF4-FFF2-40B4-BE49-F238E27FC236}">
                <a16:creationId xmlns:a16="http://schemas.microsoft.com/office/drawing/2014/main" id="{7172A852-943C-F8F2-72BA-CC13A818CA89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5954E92-DC84-F55D-5784-7741A122CE0B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Satélite 79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91D5281-B76E-58B0-90A8-385FA5155044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136" name="Picture 4">
              <a:extLst>
                <a:ext uri="{FF2B5EF4-FFF2-40B4-BE49-F238E27FC236}">
                  <a16:creationId xmlns:a16="http://schemas.microsoft.com/office/drawing/2014/main" id="{1A003A78-AE5F-A603-B44A-2AC06DA58F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" name="Picture 139" descr="Related image">
              <a:extLst>
                <a:ext uri="{FF2B5EF4-FFF2-40B4-BE49-F238E27FC236}">
                  <a16:creationId xmlns:a16="http://schemas.microsoft.com/office/drawing/2014/main" id="{EE38E3E0-1EC7-39C8-A89E-4ADD6D3FF7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0E84024-3ECB-6C7C-1B5E-AD7D951A3BE7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020ED97-EE3C-BA42-A82B-AD61EC42E8D4}"/>
              </a:ext>
            </a:extLst>
          </p:cNvPr>
          <p:cNvSpPr txBox="1"/>
          <p:nvPr/>
        </p:nvSpPr>
        <p:spPr>
          <a:xfrm>
            <a:off x="814831" y="2030924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54DB5D-0BA4-EC22-FBF3-CBE83A60850F}"/>
              </a:ext>
            </a:extLst>
          </p:cNvPr>
          <p:cNvSpPr txBox="1"/>
          <p:nvPr/>
        </p:nvSpPr>
        <p:spPr>
          <a:xfrm>
            <a:off x="2956158" y="3091317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4317CF-9CB9-A607-3C99-BEA429196C11}"/>
              </a:ext>
            </a:extLst>
          </p:cNvPr>
          <p:cNvSpPr txBox="1"/>
          <p:nvPr/>
        </p:nvSpPr>
        <p:spPr>
          <a:xfrm>
            <a:off x="2949808" y="2018167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C43B52-F954-A882-534E-D9D4C58F3494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Desenvolvimento para obtenção de métricas ESG no âmbito do respetivo satélite.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96E2D-E6D6-A3F7-A8C2-5DD1DCFAC624}"/>
              </a:ext>
            </a:extLst>
          </p:cNvPr>
          <p:cNvSpPr txBox="1"/>
          <p:nvPr/>
        </p:nvSpPr>
        <p:spPr>
          <a:xfrm>
            <a:off x="814831" y="3091317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79382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ESG |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80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000" dirty="0"/>
              <a:t>O </a:t>
            </a:r>
            <a:r>
              <a:rPr lang="en-US" sz="1000" dirty="0" err="1"/>
              <a:t>processo</a:t>
            </a:r>
            <a:r>
              <a:rPr lang="en-US" sz="1000" dirty="0"/>
              <a:t> de </a:t>
            </a:r>
            <a:r>
              <a:rPr lang="en-US" sz="1000" dirty="0" err="1"/>
              <a:t>geração</a:t>
            </a:r>
            <a:r>
              <a:rPr lang="en-US" sz="1000" dirty="0"/>
              <a:t> do </a:t>
            </a:r>
            <a:r>
              <a:rPr lang="en-US" sz="1000" dirty="0" err="1"/>
              <a:t>satélite</a:t>
            </a:r>
            <a:r>
              <a:rPr lang="en-US" sz="1000" dirty="0"/>
              <a:t> 80 (</a:t>
            </a:r>
            <a:r>
              <a:rPr lang="en-US" sz="1000" dirty="0" err="1"/>
              <a:t>descrito</a:t>
            </a:r>
            <a:r>
              <a:rPr lang="en-US" sz="1000" dirty="0"/>
              <a:t> no </a:t>
            </a:r>
            <a:r>
              <a:rPr lang="en-US" sz="1000" i="1" dirty="0"/>
              <a:t>slide </a:t>
            </a:r>
            <a:r>
              <a:rPr lang="en-US" sz="1000" dirty="0" err="1"/>
              <a:t>seguinte</a:t>
            </a:r>
            <a:r>
              <a:rPr lang="en-US" sz="1000" dirty="0"/>
              <a:t>), visa o </a:t>
            </a:r>
            <a:r>
              <a:rPr lang="en-US" sz="1000" dirty="0" err="1"/>
              <a:t>reporte</a:t>
            </a:r>
            <a:r>
              <a:rPr lang="en-US" sz="1000" dirty="0"/>
              <a:t> das </a:t>
            </a:r>
            <a:r>
              <a:rPr lang="en-US" sz="1000" dirty="0" err="1"/>
              <a:t>seguintes</a:t>
            </a:r>
            <a:r>
              <a:rPr lang="en-US" sz="1000" dirty="0"/>
              <a:t> </a:t>
            </a:r>
            <a:r>
              <a:rPr lang="en-US" sz="1000" dirty="0" err="1"/>
              <a:t>métricas</a:t>
            </a:r>
            <a:r>
              <a:rPr lang="en-US" sz="1000" dirty="0"/>
              <a:t> ESG:</a:t>
            </a:r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graphicFrame>
        <p:nvGraphicFramePr>
          <p:cNvPr id="28" name="Table 28">
            <a:extLst>
              <a:ext uri="{FF2B5EF4-FFF2-40B4-BE49-F238E27FC236}">
                <a16:creationId xmlns:a16="http://schemas.microsoft.com/office/drawing/2014/main" id="{7672743C-F470-EF58-E8A3-C9B551D59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219655"/>
              </p:ext>
            </p:extLst>
          </p:nvPr>
        </p:nvGraphicFramePr>
        <p:xfrm>
          <a:off x="609599" y="1902356"/>
          <a:ext cx="5444838" cy="272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4946">
                  <a:extLst>
                    <a:ext uri="{9D8B030D-6E8A-4147-A177-3AD203B41FA5}">
                      <a16:colId xmlns:a16="http://schemas.microsoft.com/office/drawing/2014/main" val="3451685743"/>
                    </a:ext>
                  </a:extLst>
                </a:gridCol>
                <a:gridCol w="1814946">
                  <a:extLst>
                    <a:ext uri="{9D8B030D-6E8A-4147-A177-3AD203B41FA5}">
                      <a16:colId xmlns:a16="http://schemas.microsoft.com/office/drawing/2014/main" val="3266161671"/>
                    </a:ext>
                  </a:extLst>
                </a:gridCol>
                <a:gridCol w="1814946">
                  <a:extLst>
                    <a:ext uri="{9D8B030D-6E8A-4147-A177-3AD203B41FA5}">
                      <a16:colId xmlns:a16="http://schemas.microsoft.com/office/drawing/2014/main" val="501812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sz="1000" b="0" dirty="0">
                          <a:solidFill>
                            <a:srgbClr val="000000"/>
                          </a:solidFill>
                        </a:rPr>
                        <a:t>EPC </a:t>
                      </a:r>
                      <a:r>
                        <a:rPr lang="pt-PT" sz="1000" b="0" dirty="0" err="1">
                          <a:solidFill>
                            <a:srgbClr val="000000"/>
                          </a:solidFill>
                        </a:rPr>
                        <a:t>label</a:t>
                      </a:r>
                      <a:endParaRPr lang="en-US" sz="1000" b="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Type of counterparty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NACE ESG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63882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EP score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Type of product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Geography of the collateral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: NUTS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287748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EPC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label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data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Type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of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collateral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Geography of the collateral: ZIP Code</a:t>
                      </a: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69254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EP score data 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%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collateralised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Geography of the collateral: Full address</a:t>
                      </a: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50566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E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</a:rPr>
                        <a:t>uropean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 Union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Taken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possesion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Geography of the counterparty: ZIP Code</a:t>
                      </a: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47709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Gross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carrying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amount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Flag: Banking book</a:t>
                      </a:r>
                    </a:p>
                    <a:p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Geography of the counterparty: Full address</a:t>
                      </a: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52354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Type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of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asset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NACE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main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code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48317518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C65BCFF-8818-F7F4-99C0-0DFE7F41CBFD}"/>
              </a:ext>
            </a:extLst>
          </p:cNvPr>
          <p:cNvSpPr/>
          <p:nvPr/>
        </p:nvSpPr>
        <p:spPr>
          <a:xfrm>
            <a:off x="5338618" y="212436"/>
            <a:ext cx="4802909" cy="116348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CF: há métricas do satélite 80 que não estão identificadas no dicionário de conceitos </a:t>
            </a:r>
            <a:r>
              <a:rPr lang="pt-PT" sz="1100" dirty="0">
                <a:sym typeface="Wingdings" panose="05000000000000000000" pitchFamily="2" charset="2"/>
              </a:rPr>
              <a:t>e há métricas que não calculamos ou calculamos previamente. Deixar aqui?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968925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ESG |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80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000" dirty="0"/>
              <a:t>O </a:t>
            </a:r>
            <a:r>
              <a:rPr lang="en-US" sz="1000" dirty="0" err="1"/>
              <a:t>processo</a:t>
            </a:r>
            <a:r>
              <a:rPr lang="en-US" sz="1000" dirty="0"/>
              <a:t> de </a:t>
            </a:r>
            <a:r>
              <a:rPr lang="en-US" sz="1000" dirty="0" err="1"/>
              <a:t>geração</a:t>
            </a:r>
            <a:r>
              <a:rPr lang="en-US" sz="1000" dirty="0"/>
              <a:t> do </a:t>
            </a:r>
            <a:r>
              <a:rPr lang="en-US" sz="1000" dirty="0" err="1"/>
              <a:t>satélite</a:t>
            </a:r>
            <a:r>
              <a:rPr lang="en-US" sz="1000" dirty="0"/>
              <a:t> </a:t>
            </a:r>
            <a:r>
              <a:rPr lang="en-US" sz="1000" dirty="0" smtClean="0"/>
              <a:t>80 </a:t>
            </a:r>
            <a:r>
              <a:rPr lang="en-US" sz="1000" dirty="0"/>
              <a:t>(</a:t>
            </a:r>
            <a:r>
              <a:rPr lang="en-US" sz="1000" dirty="0" err="1"/>
              <a:t>descrito</a:t>
            </a:r>
            <a:r>
              <a:rPr lang="en-US" sz="1000" dirty="0"/>
              <a:t> no </a:t>
            </a:r>
            <a:r>
              <a:rPr lang="en-US" sz="1000" i="1" dirty="0"/>
              <a:t>slide </a:t>
            </a:r>
            <a:r>
              <a:rPr lang="en-US" sz="1000" dirty="0" err="1"/>
              <a:t>seguinte</a:t>
            </a:r>
            <a:r>
              <a:rPr lang="en-US" sz="1000" dirty="0"/>
              <a:t>), visa o </a:t>
            </a:r>
            <a:r>
              <a:rPr lang="en-US" sz="1000" dirty="0" err="1"/>
              <a:t>reporte</a:t>
            </a:r>
            <a:r>
              <a:rPr lang="en-US" sz="1000" dirty="0"/>
              <a:t> das </a:t>
            </a:r>
            <a:r>
              <a:rPr lang="en-US" sz="1000" dirty="0" err="1"/>
              <a:t>seguintes</a:t>
            </a:r>
            <a:r>
              <a:rPr lang="en-US" sz="1000" dirty="0"/>
              <a:t> </a:t>
            </a:r>
            <a:r>
              <a:rPr lang="en-US" sz="1000" dirty="0" err="1"/>
              <a:t>métricas</a:t>
            </a:r>
            <a:r>
              <a:rPr lang="en-US" sz="1000" dirty="0"/>
              <a:t> ESG:</a:t>
            </a:r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2433710" y="1826344"/>
            <a:ext cx="2969444" cy="28944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100" b="1" dirty="0" smtClean="0">
                <a:solidFill>
                  <a:schemeClr val="bg1"/>
                </a:solidFill>
              </a:rPr>
              <a:t>Métrica Final de Satélite</a:t>
            </a:r>
            <a:endParaRPr lang="pt-PT" sz="11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88847" y="1826344"/>
            <a:ext cx="2969444" cy="28944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100" b="1" dirty="0" smtClean="0">
                <a:solidFill>
                  <a:schemeClr val="bg1"/>
                </a:solidFill>
              </a:rPr>
              <a:t>Métrica de Suporte ao Cálculo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3710" y="269229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EP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8847" y="269229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Type</a:t>
            </a:r>
            <a:r>
              <a:rPr lang="pt-PT" sz="1100" dirty="0"/>
              <a:t> </a:t>
            </a:r>
            <a:r>
              <a:rPr lang="pt-PT" sz="1100" dirty="0" err="1"/>
              <a:t>of</a:t>
            </a:r>
            <a:r>
              <a:rPr lang="pt-PT" sz="1100" dirty="0"/>
              <a:t> </a:t>
            </a:r>
            <a:r>
              <a:rPr lang="pt-PT" sz="1100" dirty="0" err="1"/>
              <a:t>asset</a:t>
            </a:r>
            <a:endParaRPr lang="pt-PT" sz="11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2433710" y="312526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EPC label data</a:t>
            </a:r>
            <a:endParaRPr lang="en-US" sz="11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6788847" y="312526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Type</a:t>
            </a:r>
            <a:r>
              <a:rPr lang="pt-PT" sz="1100" dirty="0"/>
              <a:t> </a:t>
            </a:r>
            <a:r>
              <a:rPr lang="pt-PT" sz="1100" dirty="0" err="1"/>
              <a:t>of</a:t>
            </a:r>
            <a:r>
              <a:rPr lang="pt-PT" sz="1100" dirty="0"/>
              <a:t> </a:t>
            </a:r>
            <a:r>
              <a:rPr lang="pt-PT" sz="1100" dirty="0" err="1"/>
              <a:t>collateral</a:t>
            </a:r>
            <a:endParaRPr lang="pt-PT" sz="11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2433710" y="225931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EP score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8847" y="225931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Gross </a:t>
            </a:r>
            <a:r>
              <a:rPr lang="pt-PT" sz="1100" dirty="0" err="1"/>
              <a:t>Carrying</a:t>
            </a:r>
            <a:r>
              <a:rPr lang="pt-PT" sz="1100" dirty="0"/>
              <a:t> </a:t>
            </a:r>
            <a:r>
              <a:rPr lang="pt-PT" sz="1100" dirty="0" err="1"/>
              <a:t>Amount</a:t>
            </a:r>
            <a:endParaRPr lang="pt-PT" sz="1100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2433710" y="355824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EPC </a:t>
            </a:r>
            <a:r>
              <a:rPr lang="pt-PT" sz="1100" dirty="0" err="1"/>
              <a:t>label</a:t>
            </a:r>
            <a:endParaRPr lang="pt-PT" sz="1100" dirty="0"/>
          </a:p>
        </p:txBody>
      </p:sp>
      <p:sp>
        <p:nvSpPr>
          <p:cNvPr id="23" name="TextBox 22"/>
          <p:cNvSpPr txBox="1"/>
          <p:nvPr/>
        </p:nvSpPr>
        <p:spPr>
          <a:xfrm>
            <a:off x="6788847" y="355824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% </a:t>
            </a:r>
            <a:r>
              <a:rPr lang="pt-PT" sz="1100" dirty="0" err="1"/>
              <a:t>collateralised</a:t>
            </a:r>
            <a:endParaRPr lang="pt-PT" sz="11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2433710" y="3991221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European</a:t>
            </a:r>
            <a:r>
              <a:rPr lang="pt-PT" sz="1100" dirty="0"/>
              <a:t> </a:t>
            </a:r>
            <a:r>
              <a:rPr lang="pt-PT" sz="1100" dirty="0" err="1"/>
              <a:t>Union</a:t>
            </a:r>
            <a:endParaRPr lang="pt-PT" sz="1100" dirty="0" smtClean="0"/>
          </a:p>
        </p:txBody>
      </p:sp>
      <p:sp>
        <p:nvSpPr>
          <p:cNvPr id="26" name="TextBox 25"/>
          <p:cNvSpPr txBox="1"/>
          <p:nvPr/>
        </p:nvSpPr>
        <p:spPr>
          <a:xfrm>
            <a:off x="6788847" y="3991221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Geography of the collateral: NUTS</a:t>
            </a:r>
            <a:endParaRPr lang="pt-PT" sz="1100" dirty="0" smtClean="0"/>
          </a:p>
        </p:txBody>
      </p:sp>
      <p:sp>
        <p:nvSpPr>
          <p:cNvPr id="29" name="TextBox 28"/>
          <p:cNvSpPr txBox="1"/>
          <p:nvPr/>
        </p:nvSpPr>
        <p:spPr>
          <a:xfrm>
            <a:off x="6788847" y="442419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Geography of the collateral: ZIP Code</a:t>
            </a:r>
            <a:endParaRPr lang="pt-PT" sz="1100" dirty="0" smtClean="0"/>
          </a:p>
        </p:txBody>
      </p:sp>
    </p:spTree>
    <p:extLst>
      <p:ext uri="{BB962C8B-B14F-4D97-AF65-F5344CB8AC3E}">
        <p14:creationId xmlns:p14="http://schemas.microsoft.com/office/powerpoint/2010/main" val="7458211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Satélite 80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60820" y="2336349"/>
            <a:ext cx="221727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dirty="0"/>
              <a:t>bu_esg_work.rf_pilar3_universo_full_v3</a:t>
            </a:r>
            <a:endParaRPr lang="pt-PT" sz="1050" dirty="0"/>
          </a:p>
        </p:txBody>
      </p:sp>
      <p:sp>
        <p:nvSpPr>
          <p:cNvPr id="39" name="Rectangle 38"/>
          <p:cNvSpPr/>
          <p:nvPr/>
        </p:nvSpPr>
        <p:spPr>
          <a:xfrm>
            <a:off x="3128343" y="2351422"/>
            <a:ext cx="22300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bu_esg_work.reparticao_garantias_final</a:t>
            </a:r>
            <a:endParaRPr lang="pt-PT" sz="1050" dirty="0"/>
          </a:p>
        </p:txBody>
      </p:sp>
      <p:sp>
        <p:nvSpPr>
          <p:cNvPr id="54" name="Rectangle 53"/>
          <p:cNvSpPr/>
          <p:nvPr/>
        </p:nvSpPr>
        <p:spPr>
          <a:xfrm>
            <a:off x="3127994" y="3976075"/>
            <a:ext cx="179408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bu_esg_work.adjudicados_final</a:t>
            </a:r>
            <a:endParaRPr lang="pt-PT" sz="1000" dirty="0"/>
          </a:p>
        </p:txBody>
      </p:sp>
      <p:cxnSp>
        <p:nvCxnSpPr>
          <p:cNvPr id="58" name="Straight Connector 57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131" y="3972246"/>
            <a:ext cx="21852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bu_esg_work.rf_metricas_pilar3_ctr_cli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C408C7-4181-6229-3CB5-85B948BE44C2}"/>
              </a:ext>
            </a:extLst>
          </p:cNvPr>
          <p:cNvGrpSpPr/>
          <p:nvPr/>
        </p:nvGrpSpPr>
        <p:grpSpPr>
          <a:xfrm>
            <a:off x="694987" y="4739917"/>
            <a:ext cx="2279967" cy="1256265"/>
            <a:chOff x="5791246" y="1287947"/>
            <a:chExt cx="2279967" cy="1256265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187072" y="1340913"/>
              <a:ext cx="647850" cy="647850"/>
              <a:chOff x="455122" y="4977513"/>
              <a:chExt cx="648000" cy="6480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2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73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731" y="1287947"/>
              <a:ext cx="241113" cy="241113"/>
            </a:xfrm>
            <a:prstGeom prst="rect">
              <a:avLst/>
            </a:prstGeom>
          </p:spPr>
        </p:pic>
        <p:pic>
          <p:nvPicPr>
            <p:cNvPr id="74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638026" y="1287947"/>
              <a:ext cx="287933" cy="287933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6083858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5791246" y="2174880"/>
              <a:ext cx="22799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cd_captools.kt_chaves_mis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FF610B9-1881-65A3-CC58-B0548BFB0C2C}"/>
              </a:ext>
            </a:extLst>
          </p:cNvPr>
          <p:cNvGrpSpPr/>
          <p:nvPr/>
        </p:nvGrpSpPr>
        <p:grpSpPr>
          <a:xfrm>
            <a:off x="2952961" y="4747862"/>
            <a:ext cx="2436270" cy="1248320"/>
            <a:chOff x="8037588" y="1287947"/>
            <a:chExt cx="2436270" cy="124832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9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0200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CTRLGEST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37588" y="2166935"/>
              <a:ext cx="2436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  <a:endParaRPr lang="pt-PT" sz="900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bu_ctrlgest. prod_esg_sfcs_2023 </a:t>
              </a:r>
            </a:p>
          </p:txBody>
        </p:sp>
        <p:pic>
          <p:nvPicPr>
            <p:cNvPr id="8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8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A3A1841-2060-3804-091A-47A3E1A616C1}"/>
              </a:ext>
            </a:extLst>
          </p:cNvPr>
          <p:cNvSpPr/>
          <p:nvPr/>
        </p:nvSpPr>
        <p:spPr>
          <a:xfrm>
            <a:off x="694987" y="1267770"/>
            <a:ext cx="4724036" cy="4918798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27" name="Elbow Connector 69">
            <a:extLst>
              <a:ext uri="{FF2B5EF4-FFF2-40B4-BE49-F238E27FC236}">
                <a16:creationId xmlns:a16="http://schemas.microsoft.com/office/drawing/2014/main" id="{8232ED25-20B9-D7E9-C795-C504B4B2E644}"/>
              </a:ext>
            </a:extLst>
          </p:cNvPr>
          <p:cNvCxnSpPr>
            <a:cxnSpLocks/>
          </p:cNvCxnSpPr>
          <p:nvPr/>
        </p:nvCxnSpPr>
        <p:spPr>
          <a:xfrm flipV="1">
            <a:off x="5422847" y="3377035"/>
            <a:ext cx="2700000" cy="0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A513B4-D42B-3C13-CF43-BA69891603A0}"/>
              </a:ext>
            </a:extLst>
          </p:cNvPr>
          <p:cNvGrpSpPr/>
          <p:nvPr/>
        </p:nvGrpSpPr>
        <p:grpSpPr>
          <a:xfrm>
            <a:off x="1090813" y="1469331"/>
            <a:ext cx="706458" cy="680862"/>
            <a:chOff x="11007832" y="3054746"/>
            <a:chExt cx="706458" cy="68086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DA63EB1-DED0-F524-4763-FBAB5FC3EE94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8BB526B-3935-A657-F6AB-ED8629158257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3" name="Graphic 119" descr="Database with solid fill">
                <a:extLst>
                  <a:ext uri="{FF2B5EF4-FFF2-40B4-BE49-F238E27FC236}">
                    <a16:creationId xmlns:a16="http://schemas.microsoft.com/office/drawing/2014/main" id="{75526892-A115-EF65-37EE-A7404DCE42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40" name="Graphic 116" descr="Single gear with solid fill">
              <a:extLst>
                <a:ext uri="{FF2B5EF4-FFF2-40B4-BE49-F238E27FC236}">
                  <a16:creationId xmlns:a16="http://schemas.microsoft.com/office/drawing/2014/main" id="{F6EBB09D-E56C-C6F0-B46E-A583772D1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17A368-CB5D-B057-02B4-40AA6AECEA35}"/>
              </a:ext>
            </a:extLst>
          </p:cNvPr>
          <p:cNvGrpSpPr/>
          <p:nvPr/>
        </p:nvGrpSpPr>
        <p:grpSpPr>
          <a:xfrm>
            <a:off x="1091443" y="3095600"/>
            <a:ext cx="706458" cy="680862"/>
            <a:chOff x="11007832" y="3054746"/>
            <a:chExt cx="706458" cy="680862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BE55A5C-77B3-28F3-39C2-E50395205E3D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19119748-DB2C-F1FE-FAC7-9DE19F7815C7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3" name="Graphic 119" descr="Database with solid fill">
                <a:extLst>
                  <a:ext uri="{FF2B5EF4-FFF2-40B4-BE49-F238E27FC236}">
                    <a16:creationId xmlns:a16="http://schemas.microsoft.com/office/drawing/2014/main" id="{99D0E7AC-BA06-ECC6-B10F-77C788A062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50" name="Graphic 116" descr="Single gear with solid fill">
              <a:extLst>
                <a:ext uri="{FF2B5EF4-FFF2-40B4-BE49-F238E27FC236}">
                  <a16:creationId xmlns:a16="http://schemas.microsoft.com/office/drawing/2014/main" id="{3B6A5FDE-7C0A-CA9A-7B42-7F1CA3E2F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7B02800-38E0-B448-5788-C32EF8982667}"/>
              </a:ext>
            </a:extLst>
          </p:cNvPr>
          <p:cNvGrpSpPr/>
          <p:nvPr/>
        </p:nvGrpSpPr>
        <p:grpSpPr>
          <a:xfrm>
            <a:off x="3351305" y="1463463"/>
            <a:ext cx="706458" cy="680862"/>
            <a:chOff x="11007832" y="3054746"/>
            <a:chExt cx="706458" cy="680862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A749CDB-5D61-30DD-18B6-D56F7158DFCF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CB5196A-5A1C-609E-701F-1321D2B9C04E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3" name="Graphic 119" descr="Database with solid fill">
                <a:extLst>
                  <a:ext uri="{FF2B5EF4-FFF2-40B4-BE49-F238E27FC236}">
                    <a16:creationId xmlns:a16="http://schemas.microsoft.com/office/drawing/2014/main" id="{53E3C50E-A41E-6B5F-0CD2-6F1116EA8D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60" name="Graphic 116" descr="Single gear with solid fill">
              <a:extLst>
                <a:ext uri="{FF2B5EF4-FFF2-40B4-BE49-F238E27FC236}">
                  <a16:creationId xmlns:a16="http://schemas.microsoft.com/office/drawing/2014/main" id="{51ED4E2C-7D61-5FA5-C6C8-B795FF06C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A1F39E0-6F36-3827-2AA8-FBACAFF8E53E}"/>
              </a:ext>
            </a:extLst>
          </p:cNvPr>
          <p:cNvGrpSpPr/>
          <p:nvPr/>
        </p:nvGrpSpPr>
        <p:grpSpPr>
          <a:xfrm>
            <a:off x="3351305" y="3094994"/>
            <a:ext cx="706458" cy="680862"/>
            <a:chOff x="11007832" y="3054746"/>
            <a:chExt cx="706458" cy="680862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98ACD30A-02CC-3E4E-4693-41DB026BE7DB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B2A11822-56E2-AA92-7BC0-0EB510B41EC3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90" name="Graphic 119" descr="Database with solid fill">
                <a:extLst>
                  <a:ext uri="{FF2B5EF4-FFF2-40B4-BE49-F238E27FC236}">
                    <a16:creationId xmlns:a16="http://schemas.microsoft.com/office/drawing/2014/main" id="{36D3E571-EFF5-86F6-5D07-CA43883562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88" name="Graphic 116" descr="Single gear with solid fill">
              <a:extLst>
                <a:ext uri="{FF2B5EF4-FFF2-40B4-BE49-F238E27FC236}">
                  <a16:creationId xmlns:a16="http://schemas.microsoft.com/office/drawing/2014/main" id="{68BAF5E4-7204-E501-6D80-C4A3742AC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pic>
        <p:nvPicPr>
          <p:cNvPr id="95" name="Picture 3">
            <a:extLst>
              <a:ext uri="{FF2B5EF4-FFF2-40B4-BE49-F238E27FC236}">
                <a16:creationId xmlns:a16="http://schemas.microsoft.com/office/drawing/2014/main" id="{5974EC12-1B9E-36D7-B51B-FEB587EF9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2856096-4807-BDC8-6E15-DD5CAC20F5C9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69">
            <a:extLst>
              <a:ext uri="{FF2B5EF4-FFF2-40B4-BE49-F238E27FC236}">
                <a16:creationId xmlns:a16="http://schemas.microsoft.com/office/drawing/2014/main" id="{B505A9FF-C9D0-59EF-A04F-6B67A2B4B8A6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282F4DCB-B780-F143-3241-139869A9057A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Satélite 80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F44D192-2495-C12B-B343-329A3DE2D589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92" name="Picture 4">
              <a:extLst>
                <a:ext uri="{FF2B5EF4-FFF2-40B4-BE49-F238E27FC236}">
                  <a16:creationId xmlns:a16="http://schemas.microsoft.com/office/drawing/2014/main" id="{4111496F-9AEB-CD42-316A-3228FC1CD1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3" name="Picture 139" descr="Related image">
              <a:extLst>
                <a:ext uri="{FF2B5EF4-FFF2-40B4-BE49-F238E27FC236}">
                  <a16:creationId xmlns:a16="http://schemas.microsoft.com/office/drawing/2014/main" id="{374AA77A-811C-CD7E-5563-2B64FB68F6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7ABA339-F165-E9EF-176B-AE435ADC7C52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185631-D1FB-CE8F-31AD-CDF43A82970A}"/>
              </a:ext>
            </a:extLst>
          </p:cNvPr>
          <p:cNvSpPr txBox="1"/>
          <p:nvPr/>
        </p:nvSpPr>
        <p:spPr>
          <a:xfrm>
            <a:off x="984623" y="2183570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CCD50E-E323-CD01-2E1E-50B2B1BA94D8}"/>
              </a:ext>
            </a:extLst>
          </p:cNvPr>
          <p:cNvSpPr txBox="1"/>
          <p:nvPr/>
        </p:nvSpPr>
        <p:spPr>
          <a:xfrm>
            <a:off x="990719" y="3817298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FBA34-E161-464F-410B-AFEFD9DE0E8E}"/>
              </a:ext>
            </a:extLst>
          </p:cNvPr>
          <p:cNvSpPr txBox="1"/>
          <p:nvPr/>
        </p:nvSpPr>
        <p:spPr>
          <a:xfrm>
            <a:off x="3246239" y="3814250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5C3B98-83C8-5ACA-7E8E-27921F31B4B2}"/>
              </a:ext>
            </a:extLst>
          </p:cNvPr>
          <p:cNvSpPr txBox="1"/>
          <p:nvPr/>
        </p:nvSpPr>
        <p:spPr>
          <a:xfrm>
            <a:off x="3252335" y="2183570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389873-AADF-3FFC-DB80-BD89DD531B82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Desenvolvimento para obtenção de métricas ESG no âmbito do respetivo satélite.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5643734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ESG |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83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000" dirty="0"/>
              <a:t>O </a:t>
            </a:r>
            <a:r>
              <a:rPr lang="en-US" sz="1000" dirty="0" err="1"/>
              <a:t>processo</a:t>
            </a:r>
            <a:r>
              <a:rPr lang="en-US" sz="1000" dirty="0"/>
              <a:t> de </a:t>
            </a:r>
            <a:r>
              <a:rPr lang="en-US" sz="1000" dirty="0" err="1"/>
              <a:t>geração</a:t>
            </a:r>
            <a:r>
              <a:rPr lang="en-US" sz="1000" dirty="0"/>
              <a:t> do </a:t>
            </a:r>
            <a:r>
              <a:rPr lang="en-US" sz="1000" dirty="0" err="1"/>
              <a:t>satélite</a:t>
            </a:r>
            <a:r>
              <a:rPr lang="en-US" sz="1000" dirty="0"/>
              <a:t> 84 (</a:t>
            </a:r>
            <a:r>
              <a:rPr lang="en-US" sz="1000" dirty="0" err="1"/>
              <a:t>descrito</a:t>
            </a:r>
            <a:r>
              <a:rPr lang="en-US" sz="1000" dirty="0"/>
              <a:t> no </a:t>
            </a:r>
            <a:r>
              <a:rPr lang="en-US" sz="1000" i="1" dirty="0"/>
              <a:t>slide </a:t>
            </a:r>
            <a:r>
              <a:rPr lang="en-US" sz="1000" dirty="0" err="1"/>
              <a:t>seguinte</a:t>
            </a:r>
            <a:r>
              <a:rPr lang="en-US" sz="1000" dirty="0"/>
              <a:t>), visa o </a:t>
            </a:r>
            <a:r>
              <a:rPr lang="en-US" sz="1000" dirty="0" err="1"/>
              <a:t>reporte</a:t>
            </a:r>
            <a:r>
              <a:rPr lang="en-US" sz="1000" dirty="0"/>
              <a:t> das </a:t>
            </a:r>
            <a:r>
              <a:rPr lang="en-US" sz="1000" dirty="0" err="1"/>
              <a:t>seguintes</a:t>
            </a:r>
            <a:r>
              <a:rPr lang="en-US" sz="1000" dirty="0"/>
              <a:t> </a:t>
            </a:r>
            <a:r>
              <a:rPr lang="en-US" sz="1000" dirty="0" err="1"/>
              <a:t>métricas</a:t>
            </a:r>
            <a:r>
              <a:rPr lang="en-US" sz="1000" dirty="0"/>
              <a:t> ESG:</a:t>
            </a:r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graphicFrame>
        <p:nvGraphicFramePr>
          <p:cNvPr id="28" name="Table 28">
            <a:extLst>
              <a:ext uri="{FF2B5EF4-FFF2-40B4-BE49-F238E27FC236}">
                <a16:creationId xmlns:a16="http://schemas.microsoft.com/office/drawing/2014/main" id="{7672743C-F470-EF58-E8A3-C9B551D59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437170"/>
              </p:ext>
            </p:extLst>
          </p:nvPr>
        </p:nvGraphicFramePr>
        <p:xfrm>
          <a:off x="609599" y="1902356"/>
          <a:ext cx="3629892" cy="2621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4946">
                  <a:extLst>
                    <a:ext uri="{9D8B030D-6E8A-4147-A177-3AD203B41FA5}">
                      <a16:colId xmlns:a16="http://schemas.microsoft.com/office/drawing/2014/main" val="3451685743"/>
                    </a:ext>
                  </a:extLst>
                </a:gridCol>
                <a:gridCol w="1814946">
                  <a:extLst>
                    <a:ext uri="{9D8B030D-6E8A-4147-A177-3AD203B41FA5}">
                      <a16:colId xmlns:a16="http://schemas.microsoft.com/office/drawing/2014/main" val="32661616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Purpose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ESG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Type of counterparty</a:t>
                      </a: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63882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Green financial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instrument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Type of product</a:t>
                      </a: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287748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Flag of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</a:rPr>
                        <a:t>specialised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 lending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%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collateralised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69254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Funding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Financing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category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50566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Risk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mitigated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CCT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SFCS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categories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47709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Risk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mitigated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CCP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Climate change physical risk</a:t>
                      </a: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52354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Gross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Carrying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Amount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Climate change transition risk</a:t>
                      </a: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483175184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0B7E1C36-B7CC-0AD5-207E-D7DE314720E8}"/>
              </a:ext>
            </a:extLst>
          </p:cNvPr>
          <p:cNvSpPr/>
          <p:nvPr/>
        </p:nvSpPr>
        <p:spPr>
          <a:xfrm>
            <a:off x="5338618" y="212436"/>
            <a:ext cx="4802909" cy="116348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CF: há métricas do satélite 83 que não estão identificadas no dicionário de conceitos </a:t>
            </a:r>
            <a:r>
              <a:rPr lang="pt-PT" sz="1100" dirty="0">
                <a:sym typeface="Wingdings" panose="05000000000000000000" pitchFamily="2" charset="2"/>
              </a:rPr>
              <a:t>e há métricas que não calculamos ou calculamos previamente. Deixar aqui?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984410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ESG |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83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000" dirty="0"/>
              <a:t>O </a:t>
            </a:r>
            <a:r>
              <a:rPr lang="en-US" sz="1000" dirty="0" err="1"/>
              <a:t>processo</a:t>
            </a:r>
            <a:r>
              <a:rPr lang="en-US" sz="1000" dirty="0"/>
              <a:t> de </a:t>
            </a:r>
            <a:r>
              <a:rPr lang="en-US" sz="1000" dirty="0" err="1"/>
              <a:t>geração</a:t>
            </a:r>
            <a:r>
              <a:rPr lang="en-US" sz="1000" dirty="0"/>
              <a:t> do </a:t>
            </a:r>
            <a:r>
              <a:rPr lang="en-US" sz="1000" dirty="0" err="1"/>
              <a:t>satélite</a:t>
            </a:r>
            <a:r>
              <a:rPr lang="en-US" sz="1000" dirty="0"/>
              <a:t> </a:t>
            </a:r>
            <a:r>
              <a:rPr lang="en-US" sz="1000" dirty="0" smtClean="0"/>
              <a:t>83 </a:t>
            </a:r>
            <a:r>
              <a:rPr lang="en-US" sz="1000" dirty="0"/>
              <a:t>(</a:t>
            </a:r>
            <a:r>
              <a:rPr lang="en-US" sz="1000" dirty="0" err="1"/>
              <a:t>descrito</a:t>
            </a:r>
            <a:r>
              <a:rPr lang="en-US" sz="1000" dirty="0"/>
              <a:t> no </a:t>
            </a:r>
            <a:r>
              <a:rPr lang="en-US" sz="1000" i="1" dirty="0"/>
              <a:t>slide </a:t>
            </a:r>
            <a:r>
              <a:rPr lang="en-US" sz="1000" dirty="0" err="1"/>
              <a:t>seguinte</a:t>
            </a:r>
            <a:r>
              <a:rPr lang="en-US" sz="1000" dirty="0"/>
              <a:t>), visa o </a:t>
            </a:r>
            <a:r>
              <a:rPr lang="en-US" sz="1000" dirty="0" err="1"/>
              <a:t>reporte</a:t>
            </a:r>
            <a:r>
              <a:rPr lang="en-US" sz="1000" dirty="0"/>
              <a:t> das </a:t>
            </a:r>
            <a:r>
              <a:rPr lang="en-US" sz="1000" dirty="0" err="1"/>
              <a:t>seguintes</a:t>
            </a:r>
            <a:r>
              <a:rPr lang="en-US" sz="1000" dirty="0"/>
              <a:t> </a:t>
            </a:r>
            <a:r>
              <a:rPr lang="en-US" sz="1000" dirty="0" err="1"/>
              <a:t>métricas</a:t>
            </a:r>
            <a:r>
              <a:rPr lang="en-US" sz="1000" dirty="0"/>
              <a:t> ESG:</a:t>
            </a:r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2433710" y="1826344"/>
            <a:ext cx="2969444" cy="28944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100" b="1" dirty="0" smtClean="0">
                <a:solidFill>
                  <a:schemeClr val="bg1"/>
                </a:solidFill>
              </a:rPr>
              <a:t>Métrica Final de Satélite</a:t>
            </a:r>
            <a:endParaRPr lang="pt-PT" sz="11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88847" y="1826344"/>
            <a:ext cx="2969444" cy="28944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100" b="1" dirty="0" smtClean="0">
                <a:solidFill>
                  <a:schemeClr val="bg1"/>
                </a:solidFill>
              </a:rPr>
              <a:t>Métrica de Suporte ao Cálculo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3710" y="269229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Green financial </a:t>
            </a:r>
            <a:r>
              <a:rPr lang="pt-PT" sz="1100" dirty="0" err="1"/>
              <a:t>instrument</a:t>
            </a:r>
            <a:endParaRPr lang="pt-PT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6788847" y="269229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Gross </a:t>
            </a:r>
            <a:r>
              <a:rPr lang="pt-PT" sz="1100" dirty="0" err="1"/>
              <a:t>Carrying</a:t>
            </a:r>
            <a:r>
              <a:rPr lang="pt-PT" sz="1100" dirty="0"/>
              <a:t> </a:t>
            </a:r>
            <a:r>
              <a:rPr lang="pt-PT" sz="1100" dirty="0" err="1"/>
              <a:t>Amount</a:t>
            </a:r>
            <a:endParaRPr lang="pt-PT" sz="11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2433710" y="312526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Funding type</a:t>
            </a:r>
            <a:endParaRPr lang="en-US" sz="11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6788847" y="312526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Type</a:t>
            </a:r>
            <a:r>
              <a:rPr lang="pt-PT" sz="1100" dirty="0"/>
              <a:t> </a:t>
            </a:r>
            <a:r>
              <a:rPr lang="pt-PT" sz="1100" dirty="0" err="1"/>
              <a:t>of</a:t>
            </a:r>
            <a:r>
              <a:rPr lang="pt-PT" sz="1100" dirty="0"/>
              <a:t> </a:t>
            </a:r>
            <a:r>
              <a:rPr lang="pt-PT" sz="1100" dirty="0" err="1"/>
              <a:t>counterparty</a:t>
            </a:r>
            <a:endParaRPr lang="pt-PT" sz="11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2433710" y="225931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Purpose</a:t>
            </a:r>
            <a:r>
              <a:rPr lang="pt-PT" sz="1100" dirty="0"/>
              <a:t> ESG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8847" y="225931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Flag</a:t>
            </a:r>
            <a:r>
              <a:rPr lang="pt-PT" sz="1100" dirty="0"/>
              <a:t> </a:t>
            </a:r>
            <a:r>
              <a:rPr lang="pt-PT" sz="1100" dirty="0" err="1"/>
              <a:t>of</a:t>
            </a:r>
            <a:r>
              <a:rPr lang="pt-PT" sz="1100" dirty="0"/>
              <a:t> </a:t>
            </a:r>
            <a:r>
              <a:rPr lang="pt-PT" sz="1100" dirty="0" err="1"/>
              <a:t>specialised</a:t>
            </a:r>
            <a:r>
              <a:rPr lang="pt-PT" sz="1100" dirty="0"/>
              <a:t> </a:t>
            </a:r>
            <a:r>
              <a:rPr lang="pt-PT" sz="1100" dirty="0" err="1"/>
              <a:t>lending</a:t>
            </a:r>
            <a:endParaRPr lang="pt-PT" sz="1100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2433710" y="355824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Risk</a:t>
            </a:r>
            <a:r>
              <a:rPr lang="pt-PT" sz="1100" dirty="0"/>
              <a:t> </a:t>
            </a:r>
            <a:r>
              <a:rPr lang="pt-PT" sz="1100" dirty="0" err="1"/>
              <a:t>mitigated</a:t>
            </a:r>
            <a:r>
              <a:rPr lang="pt-PT" sz="1100" dirty="0"/>
              <a:t> CCT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8847" y="355824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Type</a:t>
            </a:r>
            <a:r>
              <a:rPr lang="pt-PT" sz="1100" dirty="0"/>
              <a:t> </a:t>
            </a:r>
            <a:r>
              <a:rPr lang="pt-PT" sz="1100" dirty="0" err="1"/>
              <a:t>of</a:t>
            </a:r>
            <a:r>
              <a:rPr lang="pt-PT" sz="1100" dirty="0"/>
              <a:t> </a:t>
            </a:r>
            <a:r>
              <a:rPr lang="pt-PT" sz="1100" dirty="0" err="1"/>
              <a:t>product</a:t>
            </a:r>
            <a:endParaRPr lang="pt-PT" sz="11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2433710" y="3991221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Risk</a:t>
            </a:r>
            <a:r>
              <a:rPr lang="pt-PT" sz="1100" dirty="0"/>
              <a:t> </a:t>
            </a:r>
            <a:r>
              <a:rPr lang="pt-PT" sz="1100" dirty="0" err="1"/>
              <a:t>mitigated</a:t>
            </a:r>
            <a:r>
              <a:rPr lang="pt-PT" sz="1100" dirty="0"/>
              <a:t> CCP</a:t>
            </a:r>
            <a:endParaRPr lang="pt-PT" sz="1100" dirty="0" smtClean="0"/>
          </a:p>
        </p:txBody>
      </p:sp>
      <p:sp>
        <p:nvSpPr>
          <p:cNvPr id="26" name="TextBox 25"/>
          <p:cNvSpPr txBox="1"/>
          <p:nvPr/>
        </p:nvSpPr>
        <p:spPr>
          <a:xfrm>
            <a:off x="6788847" y="3991221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% </a:t>
            </a:r>
            <a:r>
              <a:rPr lang="pt-PT" sz="1100" dirty="0" err="1"/>
              <a:t>collateralised</a:t>
            </a:r>
            <a:endParaRPr lang="pt-PT" sz="1100" dirty="0" smtClean="0"/>
          </a:p>
        </p:txBody>
      </p:sp>
      <p:sp>
        <p:nvSpPr>
          <p:cNvPr id="29" name="TextBox 28"/>
          <p:cNvSpPr txBox="1"/>
          <p:nvPr/>
        </p:nvSpPr>
        <p:spPr>
          <a:xfrm>
            <a:off x="6788847" y="442419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Financing</a:t>
            </a:r>
            <a:r>
              <a:rPr lang="pt-PT" sz="1100" dirty="0"/>
              <a:t> </a:t>
            </a:r>
            <a:r>
              <a:rPr lang="pt-PT" sz="1100" dirty="0" err="1"/>
              <a:t>category</a:t>
            </a:r>
            <a:endParaRPr lang="pt-PT" sz="1100" dirty="0" smtClean="0"/>
          </a:p>
        </p:txBody>
      </p:sp>
      <p:sp>
        <p:nvSpPr>
          <p:cNvPr id="31" name="TextBox 30"/>
          <p:cNvSpPr txBox="1"/>
          <p:nvPr/>
        </p:nvSpPr>
        <p:spPr>
          <a:xfrm>
            <a:off x="6788847" y="485716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SFCS categories</a:t>
            </a:r>
            <a:endParaRPr lang="pt-PT" sz="1100" dirty="0" smtClean="0"/>
          </a:p>
        </p:txBody>
      </p:sp>
      <p:sp>
        <p:nvSpPr>
          <p:cNvPr id="34" name="TextBox 33"/>
          <p:cNvSpPr txBox="1"/>
          <p:nvPr/>
        </p:nvSpPr>
        <p:spPr>
          <a:xfrm>
            <a:off x="6788847" y="5290146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Climate change physical risk</a:t>
            </a:r>
            <a:endParaRPr lang="pt-PT" sz="1100" dirty="0" smtClean="0"/>
          </a:p>
        </p:txBody>
      </p:sp>
      <p:sp>
        <p:nvSpPr>
          <p:cNvPr id="36" name="TextBox 35"/>
          <p:cNvSpPr txBox="1"/>
          <p:nvPr/>
        </p:nvSpPr>
        <p:spPr>
          <a:xfrm>
            <a:off x="6788847" y="572875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Climate change transition risk</a:t>
            </a:r>
            <a:endParaRPr lang="pt-PT" sz="1100" dirty="0" smtClean="0"/>
          </a:p>
        </p:txBody>
      </p:sp>
    </p:spTree>
    <p:extLst>
      <p:ext uri="{BB962C8B-B14F-4D97-AF65-F5344CB8AC3E}">
        <p14:creationId xmlns:p14="http://schemas.microsoft.com/office/powerpoint/2010/main" val="28897354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Satélite 83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3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2234275" y="3374996"/>
            <a:ext cx="5904000" cy="1160371"/>
          </a:xfrm>
          <a:prstGeom prst="bentConnector3">
            <a:avLst>
              <a:gd name="adj1" fmla="val 469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09C4CF6-B2C7-7F54-33A3-BF66D6B67F58}"/>
              </a:ext>
            </a:extLst>
          </p:cNvPr>
          <p:cNvGrpSpPr/>
          <p:nvPr/>
        </p:nvGrpSpPr>
        <p:grpSpPr>
          <a:xfrm>
            <a:off x="1213919" y="4154390"/>
            <a:ext cx="2352166" cy="1256265"/>
            <a:chOff x="1158260" y="4205313"/>
            <a:chExt cx="2352166" cy="1256265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F8503E0C-B88F-05D7-68F6-DA3CB89E3FD4}"/>
                </a:ext>
              </a:extLst>
            </p:cNvPr>
            <p:cNvGrpSpPr/>
            <p:nvPr/>
          </p:nvGrpSpPr>
          <p:grpSpPr>
            <a:xfrm>
              <a:off x="1158260" y="4258279"/>
              <a:ext cx="2352166" cy="1203299"/>
              <a:chOff x="1158260" y="4258279"/>
              <a:chExt cx="2352166" cy="1203299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1554087" y="4258279"/>
                <a:ext cx="647850" cy="647850"/>
                <a:chOff x="455122" y="4977513"/>
                <a:chExt cx="648000" cy="648000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99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48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=""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1450873" y="4928604"/>
                <a:ext cx="863800" cy="230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/>
                  <a:t>CTRLGEST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D28984F-186B-1A0E-8DF4-5F30E73FB014}"/>
                  </a:ext>
                </a:extLst>
              </p:cNvPr>
              <p:cNvSpPr txBox="1"/>
              <p:nvPr/>
            </p:nvSpPr>
            <p:spPr>
              <a:xfrm>
                <a:off x="1158260" y="5092246"/>
                <a:ext cx="23521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900" b="1" dirty="0"/>
                  <a:t>Modelação das tabelas:</a:t>
                </a:r>
              </a:p>
              <a:p>
                <a:pPr marL="171416" indent="-171416">
                  <a:buFont typeface="Arial" panose="020B0604020202020204" pitchFamily="34" charset="0"/>
                  <a:buChar char="•"/>
                </a:pPr>
                <a:r>
                  <a:rPr lang="pt-PT" sz="900" dirty="0"/>
                  <a:t>bu_ctrlgest. prod_esg_sfcs_2023 </a:t>
                </a:r>
              </a:p>
            </p:txBody>
          </p:sp>
        </p:grpSp>
        <p:pic>
          <p:nvPicPr>
            <p:cNvPr id="63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6746" y="4205313"/>
              <a:ext cx="241113" cy="241113"/>
            </a:xfrm>
            <a:prstGeom prst="rect">
              <a:avLst/>
            </a:prstGeom>
          </p:spPr>
        </p:pic>
        <p:pic>
          <p:nvPicPr>
            <p:cNvPr id="64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005041" y="4205313"/>
              <a:ext cx="287933" cy="287933"/>
            </a:xfrm>
            <a:prstGeom prst="rect">
              <a:avLst/>
            </a:prstGeom>
          </p:spPr>
        </p:pic>
      </p:grpSp>
      <p:cxnSp>
        <p:nvCxnSpPr>
          <p:cNvPr id="2" name="Elbow Connector 69">
            <a:extLst>
              <a:ext uri="{FF2B5EF4-FFF2-40B4-BE49-F238E27FC236}">
                <a16:creationId xmlns:a16="http://schemas.microsoft.com/office/drawing/2014/main" id="{BC277D94-C050-6A67-9FC4-6C48EAF2009A}"/>
              </a:ext>
            </a:extLst>
          </p:cNvPr>
          <p:cNvCxnSpPr>
            <a:cxnSpLocks/>
          </p:cNvCxnSpPr>
          <p:nvPr/>
        </p:nvCxnSpPr>
        <p:spPr>
          <a:xfrm>
            <a:off x="2190118" y="2101574"/>
            <a:ext cx="5940000" cy="1275461"/>
          </a:xfrm>
          <a:prstGeom prst="bentConnector3">
            <a:avLst>
              <a:gd name="adj1" fmla="val 4737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8F62BE3-E46E-166F-935C-776D64CDBCEF}"/>
              </a:ext>
            </a:extLst>
          </p:cNvPr>
          <p:cNvGrpSpPr/>
          <p:nvPr/>
        </p:nvGrpSpPr>
        <p:grpSpPr>
          <a:xfrm>
            <a:off x="1403148" y="1746416"/>
            <a:ext cx="2217275" cy="1098761"/>
            <a:chOff x="1312500" y="1777546"/>
            <a:chExt cx="2217275" cy="1098761"/>
          </a:xfrm>
        </p:grpSpPr>
        <p:sp>
          <p:nvSpPr>
            <p:cNvPr id="29" name="Rectangle 28"/>
            <p:cNvSpPr/>
            <p:nvPr/>
          </p:nvSpPr>
          <p:spPr>
            <a:xfrm>
              <a:off x="1312500" y="2645475"/>
              <a:ext cx="221727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900" dirty="0"/>
                <a:t>bu_esg_work.rf_pilar3_universo_full_v3</a:t>
              </a:r>
              <a:endParaRPr lang="pt-PT" sz="1050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78085DC-8960-43D4-F1B1-D4FBB83B4A8C}"/>
                </a:ext>
              </a:extLst>
            </p:cNvPr>
            <p:cNvGrpSpPr/>
            <p:nvPr/>
          </p:nvGrpSpPr>
          <p:grpSpPr>
            <a:xfrm>
              <a:off x="1529946" y="1777546"/>
              <a:ext cx="706458" cy="680862"/>
              <a:chOff x="11007832" y="3054746"/>
              <a:chExt cx="706458" cy="680862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868FC841-29C6-404F-842B-295652BE2D03}"/>
                  </a:ext>
                </a:extLst>
              </p:cNvPr>
              <p:cNvGrpSpPr/>
              <p:nvPr/>
            </p:nvGrpSpPr>
            <p:grpSpPr>
              <a:xfrm>
                <a:off x="11007832" y="3091584"/>
                <a:ext cx="639433" cy="644024"/>
                <a:chOff x="10931012" y="2482312"/>
                <a:chExt cx="639433" cy="644024"/>
              </a:xfrm>
            </p:grpSpPr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B01FA266-DBBC-2449-81B9-13EBFFF44776}"/>
                    </a:ext>
                  </a:extLst>
                </p:cNvPr>
                <p:cNvSpPr/>
                <p:nvPr/>
              </p:nvSpPr>
              <p:spPr>
                <a:xfrm>
                  <a:off x="10931012" y="2482312"/>
                  <a:ext cx="639433" cy="644024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99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45" name="Graphic 119" descr="Database with solid fill">
                  <a:extLst>
                    <a:ext uri="{FF2B5EF4-FFF2-40B4-BE49-F238E27FC236}">
                      <a16:creationId xmlns:a16="http://schemas.microsoft.com/office/drawing/2014/main" id="{10FD02C4-23F6-E823-55AF-C055B7512D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=""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035643" y="2591032"/>
                  <a:ext cx="426289" cy="429349"/>
                </a:xfrm>
                <a:prstGeom prst="rect">
                  <a:avLst/>
                </a:prstGeom>
              </p:spPr>
            </p:pic>
          </p:grpSp>
          <p:pic>
            <p:nvPicPr>
              <p:cNvPr id="43" name="Graphic 116" descr="Single gear with solid fill">
                <a:extLst>
                  <a:ext uri="{FF2B5EF4-FFF2-40B4-BE49-F238E27FC236}">
                    <a16:creationId xmlns:a16="http://schemas.microsoft.com/office/drawing/2014/main" id="{1260B72E-22BF-5F95-AB6F-A8F8F975F1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426357" y="3054746"/>
                <a:ext cx="287933" cy="287933"/>
              </a:xfrm>
              <a:prstGeom prst="rect">
                <a:avLst/>
              </a:prstGeom>
            </p:spPr>
          </p:pic>
        </p:grpSp>
      </p:grpSp>
      <p:pic>
        <p:nvPicPr>
          <p:cNvPr id="69" name="Picture 3">
            <a:extLst>
              <a:ext uri="{FF2B5EF4-FFF2-40B4-BE49-F238E27FC236}">
                <a16:creationId xmlns:a16="http://schemas.microsoft.com/office/drawing/2014/main" id="{DDE1588E-6C05-56D2-FD99-A31D4B232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3A32FBE-5FC6-E688-E6FC-C16C8AF7C7B2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D0C3B386-7FBD-A095-0812-3EE8CE1F44AC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DDEA017A-411B-BC8B-80FE-03132846850F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Satélite 84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6383ACF-6EBF-A4BC-1BDA-3BF90158A1F0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66" name="Picture 4">
              <a:extLst>
                <a:ext uri="{FF2B5EF4-FFF2-40B4-BE49-F238E27FC236}">
                  <a16:creationId xmlns:a16="http://schemas.microsoft.com/office/drawing/2014/main" id="{C5C555FD-E852-02A6-3A60-7C772687A1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" name="Picture 139" descr="Related image">
              <a:extLst>
                <a:ext uri="{FF2B5EF4-FFF2-40B4-BE49-F238E27FC236}">
                  <a16:creationId xmlns:a16="http://schemas.microsoft.com/office/drawing/2014/main" id="{5DBE7525-81D7-B5E1-6C90-AED8946433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6718602-B23D-B26D-2462-B1E78027B01B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B02A205-3123-DE42-5C15-9212C5342EDF}"/>
              </a:ext>
            </a:extLst>
          </p:cNvPr>
          <p:cNvSpPr txBox="1"/>
          <p:nvPr/>
        </p:nvSpPr>
        <p:spPr>
          <a:xfrm>
            <a:off x="1514975" y="2439602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550050-534B-1BA9-49D2-02C51AF18412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Desenvolvimento para obtenção de métricas ESG no âmbito do respetivo satélite.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6774738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ESG |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84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000" dirty="0"/>
              <a:t>O </a:t>
            </a:r>
            <a:r>
              <a:rPr lang="en-US" sz="1000" dirty="0" err="1"/>
              <a:t>processo</a:t>
            </a:r>
            <a:r>
              <a:rPr lang="en-US" sz="1000" dirty="0"/>
              <a:t> de </a:t>
            </a:r>
            <a:r>
              <a:rPr lang="en-US" sz="1000" dirty="0" err="1"/>
              <a:t>geração</a:t>
            </a:r>
            <a:r>
              <a:rPr lang="en-US" sz="1000" dirty="0"/>
              <a:t> do </a:t>
            </a:r>
            <a:r>
              <a:rPr lang="en-US" sz="1000" dirty="0" err="1"/>
              <a:t>satélite</a:t>
            </a:r>
            <a:r>
              <a:rPr lang="en-US" sz="1000" dirty="0"/>
              <a:t> 84 (</a:t>
            </a:r>
            <a:r>
              <a:rPr lang="en-US" sz="1000" dirty="0" err="1"/>
              <a:t>descrito</a:t>
            </a:r>
            <a:r>
              <a:rPr lang="en-US" sz="1000" dirty="0"/>
              <a:t> no </a:t>
            </a:r>
            <a:r>
              <a:rPr lang="en-US" sz="1000" i="1" dirty="0"/>
              <a:t>slide </a:t>
            </a:r>
            <a:r>
              <a:rPr lang="en-US" sz="1000" dirty="0" err="1"/>
              <a:t>seguinte</a:t>
            </a:r>
            <a:r>
              <a:rPr lang="en-US" sz="1000" dirty="0"/>
              <a:t>), visa o </a:t>
            </a:r>
            <a:r>
              <a:rPr lang="en-US" sz="1000" dirty="0" err="1"/>
              <a:t>reporte</a:t>
            </a:r>
            <a:r>
              <a:rPr lang="en-US" sz="1000" dirty="0"/>
              <a:t> das </a:t>
            </a:r>
            <a:r>
              <a:rPr lang="en-US" sz="1000" dirty="0" err="1"/>
              <a:t>seguintes</a:t>
            </a:r>
            <a:r>
              <a:rPr lang="en-US" sz="1000" dirty="0"/>
              <a:t> </a:t>
            </a:r>
            <a:r>
              <a:rPr lang="en-US" sz="1000" dirty="0" err="1"/>
              <a:t>métricas</a:t>
            </a:r>
            <a:r>
              <a:rPr lang="en-US" sz="1000" dirty="0"/>
              <a:t> ESG:</a:t>
            </a:r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graphicFrame>
        <p:nvGraphicFramePr>
          <p:cNvPr id="28" name="Table 28">
            <a:extLst>
              <a:ext uri="{FF2B5EF4-FFF2-40B4-BE49-F238E27FC236}">
                <a16:creationId xmlns:a16="http://schemas.microsoft.com/office/drawing/2014/main" id="{7672743C-F470-EF58-E8A3-C9B551D59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566210"/>
              </p:ext>
            </p:extLst>
          </p:nvPr>
        </p:nvGraphicFramePr>
        <p:xfrm>
          <a:off x="609599" y="1902356"/>
          <a:ext cx="10889676" cy="3093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4946">
                  <a:extLst>
                    <a:ext uri="{9D8B030D-6E8A-4147-A177-3AD203B41FA5}">
                      <a16:colId xmlns:a16="http://schemas.microsoft.com/office/drawing/2014/main" val="3451685743"/>
                    </a:ext>
                  </a:extLst>
                </a:gridCol>
                <a:gridCol w="1814946">
                  <a:extLst>
                    <a:ext uri="{9D8B030D-6E8A-4147-A177-3AD203B41FA5}">
                      <a16:colId xmlns:a16="http://schemas.microsoft.com/office/drawing/2014/main" val="1989101339"/>
                    </a:ext>
                  </a:extLst>
                </a:gridCol>
                <a:gridCol w="1814946">
                  <a:extLst>
                    <a:ext uri="{9D8B030D-6E8A-4147-A177-3AD203B41FA5}">
                      <a16:colId xmlns:a16="http://schemas.microsoft.com/office/drawing/2014/main" val="3263617819"/>
                    </a:ext>
                  </a:extLst>
                </a:gridCol>
                <a:gridCol w="1814946">
                  <a:extLst>
                    <a:ext uri="{9D8B030D-6E8A-4147-A177-3AD203B41FA5}">
                      <a16:colId xmlns:a16="http://schemas.microsoft.com/office/drawing/2014/main" val="3266161671"/>
                    </a:ext>
                  </a:extLst>
                </a:gridCol>
                <a:gridCol w="1814946">
                  <a:extLst>
                    <a:ext uri="{9D8B030D-6E8A-4147-A177-3AD203B41FA5}">
                      <a16:colId xmlns:a16="http://schemas.microsoft.com/office/drawing/2014/main" val="1835376397"/>
                    </a:ext>
                  </a:extLst>
                </a:gridCol>
                <a:gridCol w="1814946">
                  <a:extLst>
                    <a:ext uri="{9D8B030D-6E8A-4147-A177-3AD203B41FA5}">
                      <a16:colId xmlns:a16="http://schemas.microsoft.com/office/drawing/2014/main" val="501812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sz="1000" b="0" dirty="0">
                          <a:solidFill>
                            <a:srgbClr val="000000"/>
                          </a:solidFill>
                        </a:rPr>
                        <a:t>ESG subsector</a:t>
                      </a:r>
                      <a:endParaRPr lang="en-US" sz="1000" b="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Taxonomy-eligible Turnover CCM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Taxonomy-aligned Capex CCM Pure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Type of counterparty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SFCS </a:t>
                      </a:r>
                      <a:r>
                        <a:rPr lang="pt-PT" sz="1000" b="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Category</a:t>
                      </a:r>
                      <a:endParaRPr lang="en-US" sz="1000" b="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Flag: Banking book</a:t>
                      </a: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63882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Flag of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</a:rPr>
                        <a:t>specialised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 lending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Taxonomy-aligned Turnover CCM Pure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Taxonomy-aligned Capex CCM Transitional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Type of product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Flag eligible under EU Taxonomy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NACE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main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code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287748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Purpose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ESG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Taxonomy-aligned Turnover CCM Transitional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Taxonomy-aligned Capex CCM Enabling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Type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of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actvity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Flag aligned under EU Taxonomy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NACE ESG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69254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General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specific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purpose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Taxonomy-aligned Turnover CCM Enabling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Taxonomy-eligible Capex CCA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Type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of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asset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Reference date of the information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50566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Specific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eligible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Taxonomy-eligible Turnover CCA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Taxonomy-aligned Capex CCA Adaptation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Taken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possesion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Date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of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origination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47709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Specific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sustainable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Taxonomy-aligned Turnover CCA Adaptation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Taxonomy-aligned Capex CCA Enabling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Type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of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collateral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Environmental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objective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52354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European Union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Taxonomy-aligned Turnover CCA Enabling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Gross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Carrying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Amount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Use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of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proceeds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Environmentally sustainable activity 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483175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Flag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of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NFRD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Taxonomy-eligible Capex CCM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Flag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aligned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under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 SFCS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KPI for Financial Institutions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2993105601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0B7E1C36-B7CC-0AD5-207E-D7DE314720E8}"/>
              </a:ext>
            </a:extLst>
          </p:cNvPr>
          <p:cNvSpPr/>
          <p:nvPr/>
        </p:nvSpPr>
        <p:spPr>
          <a:xfrm>
            <a:off x="5338618" y="212436"/>
            <a:ext cx="4802909" cy="116348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CF: há métricas do satélite 84 que não estão identificadas no dicionário de conceitos (ou seja, enviámos o dicionário tendo em conta as antigas </a:t>
            </a:r>
            <a:r>
              <a:rPr lang="pt-PT" sz="1100" dirty="0" err="1"/>
              <a:t>functional</a:t>
            </a:r>
            <a:r>
              <a:rPr lang="pt-PT" sz="1100" dirty="0"/>
              <a:t> </a:t>
            </a:r>
            <a:r>
              <a:rPr lang="pt-PT" sz="1100" dirty="0" err="1"/>
              <a:t>guidelines</a:t>
            </a:r>
            <a:r>
              <a:rPr lang="pt-PT" sz="1100" dirty="0"/>
              <a:t> </a:t>
            </a:r>
            <a:r>
              <a:rPr lang="pt-PT" sz="1100" dirty="0">
                <a:sym typeface="Wingdings" panose="05000000000000000000" pitchFamily="2" charset="2"/>
              </a:rPr>
              <a:t>) e há métricas que não </a:t>
            </a:r>
            <a:r>
              <a:rPr lang="pt-PT" sz="1100" dirty="0" err="1">
                <a:sym typeface="Wingdings" panose="05000000000000000000" pitchFamily="2" charset="2"/>
              </a:rPr>
              <a:t>calculameos</a:t>
            </a:r>
            <a:r>
              <a:rPr lang="pt-PT" sz="1100" dirty="0">
                <a:sym typeface="Wingdings" panose="05000000000000000000" pitchFamily="2" charset="2"/>
              </a:rPr>
              <a:t> ou </a:t>
            </a:r>
            <a:r>
              <a:rPr lang="pt-PT" sz="1100" dirty="0" err="1">
                <a:sym typeface="Wingdings" panose="05000000000000000000" pitchFamily="2" charset="2"/>
              </a:rPr>
              <a:t>calculameos</a:t>
            </a:r>
            <a:r>
              <a:rPr lang="pt-PT" sz="1100" dirty="0">
                <a:sym typeface="Wingdings" panose="05000000000000000000" pitchFamily="2" charset="2"/>
              </a:rPr>
              <a:t> previamente. Deixar aqui?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570961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ESG |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84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000" dirty="0"/>
              <a:t>O </a:t>
            </a:r>
            <a:r>
              <a:rPr lang="en-US" sz="1000" dirty="0" err="1"/>
              <a:t>processo</a:t>
            </a:r>
            <a:r>
              <a:rPr lang="en-US" sz="1000" dirty="0"/>
              <a:t> de </a:t>
            </a:r>
            <a:r>
              <a:rPr lang="en-US" sz="1000" dirty="0" err="1"/>
              <a:t>geração</a:t>
            </a:r>
            <a:r>
              <a:rPr lang="en-US" sz="1000" dirty="0"/>
              <a:t> do </a:t>
            </a:r>
            <a:r>
              <a:rPr lang="en-US" sz="1000" dirty="0" err="1"/>
              <a:t>satélite</a:t>
            </a:r>
            <a:r>
              <a:rPr lang="en-US" sz="1000" dirty="0"/>
              <a:t> </a:t>
            </a:r>
            <a:r>
              <a:rPr lang="en-US" sz="1000" dirty="0" smtClean="0"/>
              <a:t>84 </a:t>
            </a:r>
            <a:r>
              <a:rPr lang="en-US" sz="1000" dirty="0"/>
              <a:t>(</a:t>
            </a:r>
            <a:r>
              <a:rPr lang="en-US" sz="1000" dirty="0" err="1"/>
              <a:t>descrito</a:t>
            </a:r>
            <a:r>
              <a:rPr lang="en-US" sz="1000" dirty="0"/>
              <a:t> no </a:t>
            </a:r>
            <a:r>
              <a:rPr lang="en-US" sz="1000" i="1" dirty="0"/>
              <a:t>slide </a:t>
            </a:r>
            <a:r>
              <a:rPr lang="en-US" sz="1000" dirty="0" err="1"/>
              <a:t>seguinte</a:t>
            </a:r>
            <a:r>
              <a:rPr lang="en-US" sz="1000" dirty="0"/>
              <a:t>), visa o </a:t>
            </a:r>
            <a:r>
              <a:rPr lang="en-US" sz="1000" dirty="0" err="1"/>
              <a:t>reporte</a:t>
            </a:r>
            <a:r>
              <a:rPr lang="en-US" sz="1000" dirty="0"/>
              <a:t> das </a:t>
            </a:r>
            <a:r>
              <a:rPr lang="en-US" sz="1000" dirty="0" err="1"/>
              <a:t>seguintes</a:t>
            </a:r>
            <a:r>
              <a:rPr lang="en-US" sz="1000" dirty="0"/>
              <a:t> </a:t>
            </a:r>
            <a:r>
              <a:rPr lang="en-US" sz="1000" dirty="0" err="1"/>
              <a:t>métricas</a:t>
            </a:r>
            <a:r>
              <a:rPr lang="en-US" sz="1000" dirty="0"/>
              <a:t> ESG:</a:t>
            </a:r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1805070" y="1816771"/>
            <a:ext cx="2556000" cy="28944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100" b="1" dirty="0" smtClean="0">
                <a:solidFill>
                  <a:schemeClr val="bg1"/>
                </a:solidFill>
              </a:rPr>
              <a:t>Métrica Final de Satélite</a:t>
            </a:r>
            <a:endParaRPr lang="pt-PT" sz="11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18001" y="1816771"/>
            <a:ext cx="5568930" cy="28944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100" b="1" dirty="0" smtClean="0">
                <a:solidFill>
                  <a:schemeClr val="bg1"/>
                </a:solidFill>
              </a:rPr>
              <a:t>Métrica de Suporte ao Cálculo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805070" y="2259319"/>
            <a:ext cx="2556000" cy="3758876"/>
            <a:chOff x="498629" y="2259319"/>
            <a:chExt cx="2736000" cy="3758876"/>
          </a:xfrm>
        </p:grpSpPr>
        <p:sp>
          <p:nvSpPr>
            <p:cNvPr id="12" name="TextBox 11"/>
            <p:cNvSpPr txBox="1"/>
            <p:nvPr/>
          </p:nvSpPr>
          <p:spPr>
            <a:xfrm>
              <a:off x="498629" y="2692294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Purpose</a:t>
              </a:r>
              <a:r>
                <a:rPr lang="pt-PT" sz="1100" dirty="0"/>
                <a:t> ESG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98629" y="3125269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General specific purpose</a:t>
              </a:r>
              <a:endParaRPr lang="en-US" sz="1100" dirty="0" smtClean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98629" y="2259319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ESG subsector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8629" y="3558244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Specific</a:t>
              </a:r>
              <a:r>
                <a:rPr lang="pt-PT" sz="1100" dirty="0"/>
                <a:t> </a:t>
              </a:r>
              <a:r>
                <a:rPr lang="pt-PT" sz="1100" dirty="0" err="1"/>
                <a:t>eligible</a:t>
              </a:r>
              <a:endParaRPr lang="pt-PT" sz="11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98629" y="3991221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Specific</a:t>
              </a:r>
              <a:r>
                <a:rPr lang="pt-PT" sz="1100" dirty="0"/>
                <a:t> </a:t>
              </a:r>
              <a:r>
                <a:rPr lang="pt-PT" sz="1100" dirty="0" err="1"/>
                <a:t>sustainable</a:t>
              </a:r>
              <a:endParaRPr lang="pt-PT" sz="1100" dirty="0" smtClean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98629" y="4424194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Flag</a:t>
              </a:r>
              <a:r>
                <a:rPr lang="pt-PT" sz="1100" dirty="0"/>
                <a:t> </a:t>
              </a:r>
              <a:r>
                <a:rPr lang="pt-PT" sz="1100" dirty="0" err="1"/>
                <a:t>of</a:t>
              </a:r>
              <a:r>
                <a:rPr lang="pt-PT" sz="1100" dirty="0"/>
                <a:t> </a:t>
              </a:r>
              <a:r>
                <a:rPr lang="pt-PT" sz="1100" dirty="0" err="1"/>
                <a:t>specialised</a:t>
              </a:r>
              <a:r>
                <a:rPr lang="pt-PT" sz="1100" dirty="0"/>
                <a:t> </a:t>
              </a:r>
              <a:r>
                <a:rPr lang="pt-PT" sz="1100" dirty="0" err="1"/>
                <a:t>lending</a:t>
              </a:r>
              <a:endParaRPr lang="pt-PT" sz="11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8629" y="4857169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Flag</a:t>
              </a:r>
              <a:r>
                <a:rPr lang="pt-PT" sz="1100" dirty="0"/>
                <a:t> </a:t>
              </a:r>
              <a:r>
                <a:rPr lang="pt-PT" sz="1100" dirty="0" err="1"/>
                <a:t>of</a:t>
              </a:r>
              <a:r>
                <a:rPr lang="pt-PT" sz="1100" dirty="0"/>
                <a:t> NFRD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98629" y="5290146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Taxonomy </a:t>
              </a:r>
              <a:r>
                <a:rPr lang="en-US" sz="1100" dirty="0" err="1"/>
                <a:t>Elegible</a:t>
              </a:r>
              <a:r>
                <a:rPr lang="en-US" sz="1100" dirty="0"/>
                <a:t> Ratio</a:t>
              </a:r>
              <a:endParaRPr lang="pt-PT" sz="11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98629" y="5728754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Originated During Period</a:t>
              </a:r>
              <a:endParaRPr lang="pt-PT" sz="11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818000" y="2255379"/>
            <a:ext cx="2556000" cy="3320268"/>
            <a:chOff x="5635634" y="2255379"/>
            <a:chExt cx="2556000" cy="3320268"/>
          </a:xfrm>
        </p:grpSpPr>
        <p:sp>
          <p:nvSpPr>
            <p:cNvPr id="45" name="TextBox 44"/>
            <p:cNvSpPr txBox="1"/>
            <p:nvPr/>
          </p:nvSpPr>
          <p:spPr>
            <a:xfrm>
              <a:off x="5635634" y="268835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Taxonomy-eligible</a:t>
              </a:r>
              <a:r>
                <a:rPr lang="pt-PT" sz="1100" dirty="0"/>
                <a:t> Turnover CCM</a:t>
              </a:r>
              <a:endParaRPr lang="pt-PT" sz="1100" dirty="0" smtClean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635634" y="312132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Taxonomy-eligible</a:t>
              </a:r>
              <a:r>
                <a:rPr lang="pt-PT" sz="1100" dirty="0"/>
                <a:t> Turnover CCA</a:t>
              </a:r>
              <a:endParaRPr lang="pt-PT" sz="1100" dirty="0" smtClean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635634" y="225537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European</a:t>
              </a:r>
              <a:r>
                <a:rPr lang="pt-PT" sz="1100" dirty="0"/>
                <a:t> </a:t>
              </a:r>
              <a:r>
                <a:rPr lang="pt-PT" sz="1100" dirty="0" err="1"/>
                <a:t>Union</a:t>
              </a:r>
              <a:endParaRPr lang="pt-PT" sz="1100" dirty="0" smtClean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635634" y="355430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Taxonomy-eligible</a:t>
              </a:r>
              <a:r>
                <a:rPr lang="pt-PT" sz="1100" dirty="0"/>
                <a:t> </a:t>
              </a:r>
              <a:r>
                <a:rPr lang="pt-PT" sz="1100" dirty="0" err="1"/>
                <a:t>Capex</a:t>
              </a:r>
              <a:r>
                <a:rPr lang="pt-PT" sz="1100" dirty="0"/>
                <a:t> CCM</a:t>
              </a:r>
              <a:endParaRPr lang="pt-PT" sz="1100" dirty="0" smtClean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635634" y="3987281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Taxonomy-eligible</a:t>
              </a:r>
              <a:r>
                <a:rPr lang="pt-PT" sz="1100" dirty="0"/>
                <a:t> </a:t>
              </a:r>
              <a:r>
                <a:rPr lang="pt-PT" sz="1100" dirty="0" err="1"/>
                <a:t>Capex</a:t>
              </a:r>
              <a:r>
                <a:rPr lang="pt-PT" sz="1100" dirty="0"/>
                <a:t> CCA</a:t>
              </a:r>
              <a:endParaRPr lang="pt-PT" sz="1100" dirty="0" smtClean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635634" y="442025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Gross </a:t>
              </a:r>
              <a:r>
                <a:rPr lang="pt-PT" sz="1100" dirty="0" err="1"/>
                <a:t>Carrying</a:t>
              </a:r>
              <a:r>
                <a:rPr lang="pt-PT" sz="1100" dirty="0"/>
                <a:t> </a:t>
              </a:r>
              <a:r>
                <a:rPr lang="pt-PT" sz="1100" dirty="0" err="1"/>
                <a:t>Amount</a:t>
              </a:r>
              <a:endParaRPr lang="pt-PT" sz="1100" dirty="0" smtClean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635634" y="485322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Type of counterparty</a:t>
              </a:r>
              <a:endParaRPr lang="pt-PT" sz="1100" dirty="0" smtClean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635634" y="5286206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Type of product</a:t>
              </a:r>
              <a:endParaRPr lang="pt-PT" sz="1100" dirty="0" smtClean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830930" y="2255379"/>
            <a:ext cx="2556000" cy="3324207"/>
            <a:chOff x="8515214" y="2255379"/>
            <a:chExt cx="2556000" cy="3324207"/>
          </a:xfrm>
        </p:grpSpPr>
        <p:sp>
          <p:nvSpPr>
            <p:cNvPr id="28" name="TextBox 27"/>
            <p:cNvSpPr txBox="1"/>
            <p:nvPr/>
          </p:nvSpPr>
          <p:spPr>
            <a:xfrm>
              <a:off x="8515214" y="268835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Type</a:t>
              </a:r>
              <a:r>
                <a:rPr lang="pt-PT" sz="1100" dirty="0"/>
                <a:t> </a:t>
              </a:r>
              <a:r>
                <a:rPr lang="pt-PT" sz="1100" dirty="0" err="1"/>
                <a:t>of</a:t>
              </a:r>
              <a:r>
                <a:rPr lang="pt-PT" sz="1100" dirty="0"/>
                <a:t> colateral</a:t>
              </a:r>
              <a:endParaRPr lang="pt-PT" sz="1100" dirty="0" smtClean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515214" y="312132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Use </a:t>
              </a:r>
              <a:r>
                <a:rPr lang="pt-PT" sz="1100" dirty="0" err="1"/>
                <a:t>of</a:t>
              </a:r>
              <a:r>
                <a:rPr lang="pt-PT" sz="1100" dirty="0"/>
                <a:t> </a:t>
              </a:r>
              <a:r>
                <a:rPr lang="pt-PT" sz="1100" dirty="0" err="1"/>
                <a:t>proceeds</a:t>
              </a:r>
              <a:endParaRPr lang="pt-PT" sz="1100" dirty="0" smtClean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515214" y="225537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Type</a:t>
              </a:r>
              <a:r>
                <a:rPr lang="pt-PT" sz="1100" dirty="0"/>
                <a:t> </a:t>
              </a:r>
              <a:r>
                <a:rPr lang="pt-PT" sz="1100" dirty="0" err="1"/>
                <a:t>of</a:t>
              </a:r>
              <a:r>
                <a:rPr lang="pt-PT" sz="1100" dirty="0"/>
                <a:t> </a:t>
              </a:r>
              <a:r>
                <a:rPr lang="pt-PT" sz="1100" dirty="0" err="1"/>
                <a:t>asset</a:t>
              </a:r>
              <a:endParaRPr lang="pt-PT" sz="1100" dirty="0" smtClean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515214" y="355430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Flag</a:t>
              </a:r>
              <a:r>
                <a:rPr lang="pt-PT" sz="1100" dirty="0"/>
                <a:t> </a:t>
              </a:r>
              <a:r>
                <a:rPr lang="pt-PT" sz="1100" dirty="0" err="1"/>
                <a:t>aligned</a:t>
              </a:r>
              <a:r>
                <a:rPr lang="pt-PT" sz="1100" dirty="0"/>
                <a:t> </a:t>
              </a:r>
              <a:r>
                <a:rPr lang="pt-PT" sz="1100" dirty="0" err="1"/>
                <a:t>under</a:t>
              </a:r>
              <a:r>
                <a:rPr lang="pt-PT" sz="1100" dirty="0"/>
                <a:t> SFCS</a:t>
              </a:r>
              <a:endParaRPr lang="pt-PT" sz="1100" dirty="0" smtClean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515214" y="3987281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Environmental</a:t>
              </a:r>
              <a:r>
                <a:rPr lang="pt-PT" sz="1100" dirty="0"/>
                <a:t> </a:t>
              </a:r>
              <a:r>
                <a:rPr lang="pt-PT" sz="1100" dirty="0" err="1"/>
                <a:t>objective</a:t>
              </a:r>
              <a:endParaRPr lang="pt-PT" sz="1100" dirty="0" smtClean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515214" y="442025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NACE </a:t>
              </a:r>
              <a:r>
                <a:rPr lang="pt-PT" sz="1100" dirty="0" err="1"/>
                <a:t>main</a:t>
              </a:r>
              <a:r>
                <a:rPr lang="pt-PT" sz="1100" dirty="0"/>
                <a:t> </a:t>
              </a:r>
              <a:r>
                <a:rPr lang="pt-PT" sz="1100" dirty="0" err="1"/>
                <a:t>code</a:t>
              </a:r>
              <a:endParaRPr lang="pt-PT" sz="1100" dirty="0" smtClean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515214" y="485322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NACE ESG</a:t>
              </a:r>
              <a:endParaRPr lang="pt-PT" sz="1100" dirty="0" smtClean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515214" y="5290145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err="1"/>
                <a:t>sfcs_green_activity_comgloval</a:t>
              </a:r>
              <a:endParaRPr lang="pt-PT" sz="11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831590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Satélite 84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36695" y="2441243"/>
            <a:ext cx="221727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dirty="0"/>
              <a:t>bu_esg_work.rf_pilar3_universo_full_v3</a:t>
            </a:r>
            <a:endParaRPr lang="pt-PT" sz="1050" dirty="0"/>
          </a:p>
        </p:txBody>
      </p:sp>
      <p:sp>
        <p:nvSpPr>
          <p:cNvPr id="52" name="Rectangle 51"/>
          <p:cNvSpPr/>
          <p:nvPr/>
        </p:nvSpPr>
        <p:spPr>
          <a:xfrm>
            <a:off x="2925285" y="2450738"/>
            <a:ext cx="22300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bu_esg_work.reparticao_garantias_final</a:t>
            </a:r>
            <a:endParaRPr lang="pt-PT" sz="1050" dirty="0"/>
          </a:p>
        </p:txBody>
      </p:sp>
      <p:sp>
        <p:nvSpPr>
          <p:cNvPr id="54" name="Rectangle 53"/>
          <p:cNvSpPr/>
          <p:nvPr/>
        </p:nvSpPr>
        <p:spPr>
          <a:xfrm>
            <a:off x="2923751" y="3690225"/>
            <a:ext cx="179408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bu_esg_work.adjudicados_final</a:t>
            </a:r>
            <a:endParaRPr lang="pt-PT" sz="1000" dirty="0"/>
          </a:p>
        </p:txBody>
      </p:sp>
      <p:sp>
        <p:nvSpPr>
          <p:cNvPr id="56" name="Rectangle 55"/>
          <p:cNvSpPr/>
          <p:nvPr/>
        </p:nvSpPr>
        <p:spPr>
          <a:xfrm>
            <a:off x="784517" y="3694545"/>
            <a:ext cx="21852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bu_esg_work.rf_metricas_pilar3_ctr_cli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3171136" y="4181233"/>
            <a:ext cx="647850" cy="64785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549" y="4128267"/>
            <a:ext cx="241113" cy="241113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22090" y="4128266"/>
            <a:ext cx="287933" cy="287933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3133040" y="4853333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76CBAD-FAC7-4357-6A1A-DC59C9D62D38}"/>
              </a:ext>
            </a:extLst>
          </p:cNvPr>
          <p:cNvGrpSpPr/>
          <p:nvPr/>
        </p:nvGrpSpPr>
        <p:grpSpPr>
          <a:xfrm>
            <a:off x="5517930" y="4130043"/>
            <a:ext cx="2486918" cy="1256264"/>
            <a:chOff x="7602219" y="4111463"/>
            <a:chExt cx="2486918" cy="1256264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7998045" y="4164429"/>
              <a:ext cx="647850" cy="647850"/>
              <a:chOff x="455122" y="4977513"/>
              <a:chExt cx="648000" cy="648000"/>
            </a:xfrm>
          </p:grpSpPr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8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19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0704" y="4111463"/>
              <a:ext cx="241113" cy="241113"/>
            </a:xfrm>
            <a:prstGeom prst="rect">
              <a:avLst/>
            </a:prstGeom>
          </p:spPr>
        </p:pic>
        <p:pic>
          <p:nvPicPr>
            <p:cNvPr id="120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448999" y="4111463"/>
              <a:ext cx="287933" cy="287933"/>
            </a:xfrm>
            <a:prstGeom prst="rect">
              <a:avLst/>
            </a:prstGeom>
          </p:spPr>
        </p:pic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7894831" y="4834754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CTRLGEST</a:t>
              </a:r>
              <a:endParaRPr lang="en-US" sz="900" dirty="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7602219" y="4998395"/>
              <a:ext cx="2486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bu_ctrlgest.prod_esg_sfcs_2023</a:t>
              </a:r>
              <a:endParaRPr lang="en-US" sz="900" dirty="0"/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2775310" y="5024293"/>
            <a:ext cx="223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  <a:endParaRPr lang="pt-PT" sz="9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cd_estruturais.tat91_tabelas</a:t>
            </a:r>
            <a:endParaRPr lang="en-US" sz="900" dirty="0"/>
          </a:p>
        </p:txBody>
      </p:sp>
      <p:cxnSp>
        <p:nvCxnSpPr>
          <p:cNvPr id="132" name="Straight Connector 131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5148624" y="2291373"/>
            <a:ext cx="217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20221222 Pillar 3 ESG - eligibility ratios.v5.xlsx</a:t>
            </a:r>
            <a:endParaRPr lang="en-US" sz="8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4792609" y="2727016"/>
            <a:ext cx="287626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Ficheiro  “xlsx” que contém informação sobre os rácios de elegibilidade para as operações CIB e não CIB.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917A12-79FC-5AB7-B05A-4DA2A8BBC628}"/>
              </a:ext>
            </a:extLst>
          </p:cNvPr>
          <p:cNvGrpSpPr/>
          <p:nvPr/>
        </p:nvGrpSpPr>
        <p:grpSpPr>
          <a:xfrm>
            <a:off x="549559" y="4138347"/>
            <a:ext cx="2436270" cy="1940818"/>
            <a:chOff x="8037588" y="1287947"/>
            <a:chExt cx="2436270" cy="1940818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52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0200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37588" y="2166936"/>
              <a:ext cx="2436270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cd_captools.ct003_univ_cli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cd_captools.kt_chaves_mis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cd_captools.kt_chaves_bdr 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cd_captools.ct013_rwa_princ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cd_captools.ct071_rwa_gr_ec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cd_captools.ct070_univ_gr_cli</a:t>
              </a:r>
            </a:p>
          </p:txBody>
        </p:sp>
        <p:pic>
          <p:nvPicPr>
            <p:cNvPr id="15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15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6E8DA83-9C0A-144B-8141-2ED9BD69853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16943" y="1613680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D74D45-79C3-E2DE-DEB7-4A37FE37B18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019" y="1574609"/>
            <a:ext cx="238885" cy="238885"/>
          </a:xfrm>
          <a:prstGeom prst="ellipse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7C6261-5BE0-22C3-5D6C-451397857E30}"/>
              </a:ext>
            </a:extLst>
          </p:cNvPr>
          <p:cNvSpPr/>
          <p:nvPr/>
        </p:nvSpPr>
        <p:spPr>
          <a:xfrm>
            <a:off x="545424" y="1274276"/>
            <a:ext cx="7047177" cy="4918798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8" name="Elbow Connector 69">
            <a:extLst>
              <a:ext uri="{FF2B5EF4-FFF2-40B4-BE49-F238E27FC236}">
                <a16:creationId xmlns:a16="http://schemas.microsoft.com/office/drawing/2014/main" id="{264BE87F-4BB6-A8A6-2FD0-A41FF918653A}"/>
              </a:ext>
            </a:extLst>
          </p:cNvPr>
          <p:cNvCxnSpPr>
            <a:cxnSpLocks/>
          </p:cNvCxnSpPr>
          <p:nvPr/>
        </p:nvCxnSpPr>
        <p:spPr>
          <a:xfrm>
            <a:off x="7587361" y="3388892"/>
            <a:ext cx="540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D5316C-B725-99F5-ABB4-3CB5F62F267D}"/>
              </a:ext>
            </a:extLst>
          </p:cNvPr>
          <p:cNvGrpSpPr/>
          <p:nvPr/>
        </p:nvGrpSpPr>
        <p:grpSpPr>
          <a:xfrm>
            <a:off x="947895" y="1578450"/>
            <a:ext cx="706458" cy="680862"/>
            <a:chOff x="11007832" y="3054746"/>
            <a:chExt cx="706458" cy="68086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0BE5B6C-FA16-E38B-1947-48859D7605D4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ECD9D1E-5974-0790-6C63-26DDC3E72763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1" name="Graphic 119" descr="Database with solid fill">
                <a:extLst>
                  <a:ext uri="{FF2B5EF4-FFF2-40B4-BE49-F238E27FC236}">
                    <a16:creationId xmlns:a16="http://schemas.microsoft.com/office/drawing/2014/main" id="{A1B209D2-9202-9343-5F32-14B12CEEB3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29" name="Graphic 116" descr="Single gear with solid fill">
              <a:extLst>
                <a:ext uri="{FF2B5EF4-FFF2-40B4-BE49-F238E27FC236}">
                  <a16:creationId xmlns:a16="http://schemas.microsoft.com/office/drawing/2014/main" id="{4C47ECCF-B117-8D1C-AB6E-B6454EE41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041146E-ADF7-FB47-28DE-444F5F2FAC05}"/>
              </a:ext>
            </a:extLst>
          </p:cNvPr>
          <p:cNvGrpSpPr/>
          <p:nvPr/>
        </p:nvGrpSpPr>
        <p:grpSpPr>
          <a:xfrm>
            <a:off x="3166223" y="1580668"/>
            <a:ext cx="706458" cy="680862"/>
            <a:chOff x="11007832" y="3054746"/>
            <a:chExt cx="706458" cy="6808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EC379E6-7952-E177-8EB4-C5C48E29D7D9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7415F4A-EBE9-D147-A1E9-C7D605F82C47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6" name="Graphic 119" descr="Database with solid fill">
                <a:extLst>
                  <a:ext uri="{FF2B5EF4-FFF2-40B4-BE49-F238E27FC236}">
                    <a16:creationId xmlns:a16="http://schemas.microsoft.com/office/drawing/2014/main" id="{6C8E4F27-6382-46C0-C146-B6C2FD64AC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34" name="Graphic 116" descr="Single gear with solid fill">
              <a:extLst>
                <a:ext uri="{FF2B5EF4-FFF2-40B4-BE49-F238E27FC236}">
                  <a16:creationId xmlns:a16="http://schemas.microsoft.com/office/drawing/2014/main" id="{52B415B0-A405-4585-E35F-DC4BBF557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CAE5DA7-8F0C-9C39-11E9-64D381C67452}"/>
              </a:ext>
            </a:extLst>
          </p:cNvPr>
          <p:cNvGrpSpPr/>
          <p:nvPr/>
        </p:nvGrpSpPr>
        <p:grpSpPr>
          <a:xfrm>
            <a:off x="3166223" y="2814831"/>
            <a:ext cx="706458" cy="680862"/>
            <a:chOff x="11007832" y="3054746"/>
            <a:chExt cx="706458" cy="68086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6D36C55-93B2-4481-2EDE-901BA0945E27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D710772-9847-BF35-9206-774DCD0A81A1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1" name="Graphic 119" descr="Database with solid fill">
                <a:extLst>
                  <a:ext uri="{FF2B5EF4-FFF2-40B4-BE49-F238E27FC236}">
                    <a16:creationId xmlns:a16="http://schemas.microsoft.com/office/drawing/2014/main" id="{B5365419-70A4-ADAD-1F99-C8DAA3C8A7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39" name="Graphic 116" descr="Single gear with solid fill">
              <a:extLst>
                <a:ext uri="{FF2B5EF4-FFF2-40B4-BE49-F238E27FC236}">
                  <a16:creationId xmlns:a16="http://schemas.microsoft.com/office/drawing/2014/main" id="{D6D4F086-90EC-0D36-194A-A3575AC44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3F13DC-BCF3-3471-E1D6-CBA2BDEC7617}"/>
              </a:ext>
            </a:extLst>
          </p:cNvPr>
          <p:cNvGrpSpPr/>
          <p:nvPr/>
        </p:nvGrpSpPr>
        <p:grpSpPr>
          <a:xfrm>
            <a:off x="966595" y="2784174"/>
            <a:ext cx="706458" cy="680862"/>
            <a:chOff x="11007832" y="3054746"/>
            <a:chExt cx="706458" cy="680862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0F0715B-06E2-5083-3151-EEDF7D93E245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00846CD-3C5D-8B8B-9E2A-C43F12EA7D32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6" name="Graphic 119" descr="Database with solid fill">
                <a:extLst>
                  <a:ext uri="{FF2B5EF4-FFF2-40B4-BE49-F238E27FC236}">
                    <a16:creationId xmlns:a16="http://schemas.microsoft.com/office/drawing/2014/main" id="{576E57C4-5850-C7DE-E377-EC19817F6F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44" name="Graphic 116" descr="Single gear with solid fill">
              <a:extLst>
                <a:ext uri="{FF2B5EF4-FFF2-40B4-BE49-F238E27FC236}">
                  <a16:creationId xmlns:a16="http://schemas.microsoft.com/office/drawing/2014/main" id="{7A963E21-B64E-1FEB-D62F-72AE830AB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pic>
        <p:nvPicPr>
          <p:cNvPr id="64" name="Picture 3">
            <a:extLst>
              <a:ext uri="{FF2B5EF4-FFF2-40B4-BE49-F238E27FC236}">
                <a16:creationId xmlns:a16="http://schemas.microsoft.com/office/drawing/2014/main" id="{D8B5FC0D-9A7E-6E3B-5446-DB957DB24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4F3EBF4-B614-F1B2-96D0-FC84340560AD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9">
            <a:extLst>
              <a:ext uri="{FF2B5EF4-FFF2-40B4-BE49-F238E27FC236}">
                <a16:creationId xmlns:a16="http://schemas.microsoft.com/office/drawing/2014/main" id="{C4FD80F9-70B5-CB9E-F9D7-9B8C4354F7F2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94FF19D8-0473-0201-833A-9CB01B7CF962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Satélite 84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9AC5E53-FEC1-9B6B-A8F4-291DC41D66B7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60" name="Picture 4">
              <a:extLst>
                <a:ext uri="{FF2B5EF4-FFF2-40B4-BE49-F238E27FC236}">
                  <a16:creationId xmlns:a16="http://schemas.microsoft.com/office/drawing/2014/main" id="{A4651A38-078F-E33F-C9DE-2022F23993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" name="Picture 139" descr="Related image">
              <a:extLst>
                <a:ext uri="{FF2B5EF4-FFF2-40B4-BE49-F238E27FC236}">
                  <a16:creationId xmlns:a16="http://schemas.microsoft.com/office/drawing/2014/main" id="{27E3B98D-7D71-04D0-0034-74C31EB59D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30D0CC2-FE10-A76B-5FBF-6968E82D3DCC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257927A-9296-1176-FCFA-99645FBA8BBA}"/>
              </a:ext>
            </a:extLst>
          </p:cNvPr>
          <p:cNvSpPr txBox="1"/>
          <p:nvPr/>
        </p:nvSpPr>
        <p:spPr>
          <a:xfrm>
            <a:off x="853061" y="2292826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911BB0-90AB-4709-76D8-AADD1FA71C22}"/>
              </a:ext>
            </a:extLst>
          </p:cNvPr>
          <p:cNvSpPr txBox="1"/>
          <p:nvPr/>
        </p:nvSpPr>
        <p:spPr>
          <a:xfrm>
            <a:off x="3044573" y="2298922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74AA7-4643-ED40-C44D-874F652BB9C1}"/>
              </a:ext>
            </a:extLst>
          </p:cNvPr>
          <p:cNvSpPr txBox="1"/>
          <p:nvPr/>
        </p:nvSpPr>
        <p:spPr>
          <a:xfrm>
            <a:off x="3042884" y="3529682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7B8777-F7F7-2562-51C4-769D7E58247B}"/>
              </a:ext>
            </a:extLst>
          </p:cNvPr>
          <p:cNvSpPr txBox="1"/>
          <p:nvPr/>
        </p:nvSpPr>
        <p:spPr>
          <a:xfrm>
            <a:off x="890651" y="3523907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6DE60D-D420-7BC7-3F65-392FDE1D7FE9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Desenvolvimento para obtenção de métricas ESG no âmbito do respetivo satélite.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9378490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ESG |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93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000" dirty="0"/>
              <a:t>O </a:t>
            </a:r>
            <a:r>
              <a:rPr lang="en-US" sz="1000" dirty="0" err="1"/>
              <a:t>processo</a:t>
            </a:r>
            <a:r>
              <a:rPr lang="en-US" sz="1000" dirty="0"/>
              <a:t> de </a:t>
            </a:r>
            <a:r>
              <a:rPr lang="en-US" sz="1000" dirty="0" err="1"/>
              <a:t>geração</a:t>
            </a:r>
            <a:r>
              <a:rPr lang="en-US" sz="1000" dirty="0"/>
              <a:t> do </a:t>
            </a:r>
            <a:r>
              <a:rPr lang="en-US" sz="1000" dirty="0" err="1"/>
              <a:t>satélite</a:t>
            </a:r>
            <a:r>
              <a:rPr lang="en-US" sz="1000" dirty="0"/>
              <a:t> 93 (</a:t>
            </a:r>
            <a:r>
              <a:rPr lang="en-US" sz="1000" dirty="0" err="1"/>
              <a:t>descrito</a:t>
            </a:r>
            <a:r>
              <a:rPr lang="en-US" sz="1000" dirty="0"/>
              <a:t> no </a:t>
            </a:r>
            <a:r>
              <a:rPr lang="en-US" sz="1000" i="1" dirty="0"/>
              <a:t>slide </a:t>
            </a:r>
            <a:r>
              <a:rPr lang="en-US" sz="1000" dirty="0" err="1"/>
              <a:t>seguinte</a:t>
            </a:r>
            <a:r>
              <a:rPr lang="en-US" sz="1000" dirty="0"/>
              <a:t>), visa o </a:t>
            </a:r>
            <a:r>
              <a:rPr lang="en-US" sz="1000" dirty="0" err="1"/>
              <a:t>reporte</a:t>
            </a:r>
            <a:r>
              <a:rPr lang="en-US" sz="1000" dirty="0"/>
              <a:t> das </a:t>
            </a:r>
            <a:r>
              <a:rPr lang="en-US" sz="1000" dirty="0" err="1"/>
              <a:t>seguintes</a:t>
            </a:r>
            <a:r>
              <a:rPr lang="en-US" sz="1000" dirty="0"/>
              <a:t> </a:t>
            </a:r>
            <a:r>
              <a:rPr lang="en-US" sz="1000" dirty="0" err="1"/>
              <a:t>métricas</a:t>
            </a:r>
            <a:r>
              <a:rPr lang="en-US" sz="1000" dirty="0"/>
              <a:t> ESG:</a:t>
            </a:r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graphicFrame>
        <p:nvGraphicFramePr>
          <p:cNvPr id="28" name="Table 28">
            <a:extLst>
              <a:ext uri="{FF2B5EF4-FFF2-40B4-BE49-F238E27FC236}">
                <a16:creationId xmlns:a16="http://schemas.microsoft.com/office/drawing/2014/main" id="{7672743C-F470-EF58-E8A3-C9B551D59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350901"/>
              </p:ext>
            </p:extLst>
          </p:nvPr>
        </p:nvGraphicFramePr>
        <p:xfrm>
          <a:off x="609599" y="1902356"/>
          <a:ext cx="7296729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2243">
                  <a:extLst>
                    <a:ext uri="{9D8B030D-6E8A-4147-A177-3AD203B41FA5}">
                      <a16:colId xmlns:a16="http://schemas.microsoft.com/office/drawing/2014/main" val="3451685743"/>
                    </a:ext>
                  </a:extLst>
                </a:gridCol>
                <a:gridCol w="2432243">
                  <a:extLst>
                    <a:ext uri="{9D8B030D-6E8A-4147-A177-3AD203B41FA5}">
                      <a16:colId xmlns:a16="http://schemas.microsoft.com/office/drawing/2014/main" val="1989101339"/>
                    </a:ext>
                  </a:extLst>
                </a:gridCol>
                <a:gridCol w="2432243">
                  <a:extLst>
                    <a:ext uri="{9D8B030D-6E8A-4147-A177-3AD203B41FA5}">
                      <a16:colId xmlns:a16="http://schemas.microsoft.com/office/drawing/2014/main" val="3263617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GHG Financed  Emissions: Scope 1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GHG reported emissions: Scope 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European</a:t>
                      </a: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Union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63882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GHG Financed  Emissions: Scope 2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DQ score emissions scope 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Client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emission</a:t>
                      </a:r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pt-PT" sz="1000" dirty="0" err="1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287748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GHG Financed  Emissions: Scope 3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DQ score emissions scope 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NACE </a:t>
                      </a: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main</a:t>
                      </a: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code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692546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GHG Reported  Emissions - scope 1: flag original / calculated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DQ score emissions scope 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pt-PT" sz="1000" dirty="0">
                          <a:solidFill>
                            <a:srgbClr val="000000"/>
                          </a:solidFill>
                        </a:rPr>
                        <a:t>NACE ESG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50566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GHG Reported  Emissions - scope 2: flag original / calculated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Calculation</a:t>
                      </a: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approach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kern="12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Flag: Banking book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47709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GHG Reported  Emissions - scope 3: flag original / calculated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Gross </a:t>
                      </a:r>
                      <a:r>
                        <a:rPr lang="pt-PT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carrying</a:t>
                      </a: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amount</a:t>
                      </a: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scope </a:t>
                      </a:r>
                      <a:r>
                        <a:rPr lang="pt-PT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(</a:t>
                      </a:r>
                      <a:r>
                        <a:rPr lang="pt-PT" sz="10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asci</a:t>
                      </a:r>
                      <a:r>
                        <a:rPr lang="pt-PT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52354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GHG reported emissions: Scope 1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Gross </a:t>
                      </a: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carrying</a:t>
                      </a: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amount</a:t>
                      </a: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scope </a:t>
                      </a:r>
                      <a:r>
                        <a:rPr lang="pt-PT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 (</a:t>
                      </a:r>
                      <a:r>
                        <a:rPr lang="pt-PT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ascii</a:t>
                      </a:r>
                      <a:r>
                        <a:rPr lang="pt-PT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1483175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9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GHG reported emissions: Scope 2</a:t>
                      </a: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Gross </a:t>
                      </a:r>
                      <a:r>
                        <a:rPr lang="pt-PT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carrying</a:t>
                      </a: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amount</a:t>
                      </a: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scope </a:t>
                      </a:r>
                      <a:r>
                        <a:rPr lang="pt-PT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(</a:t>
                      </a:r>
                      <a:r>
                        <a:rPr lang="pt-PT" sz="10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asciii</a:t>
                      </a:r>
                      <a:r>
                        <a:rPr lang="pt-PT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72000" anchor="ctr"/>
                </a:tc>
                <a:extLst>
                  <a:ext uri="{0D108BD9-81ED-4DB2-BD59-A6C34878D82A}">
                    <a16:rowId xmlns:a16="http://schemas.microsoft.com/office/drawing/2014/main" val="299310560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79AF210-B561-8E72-D421-8E65FEBCFB52}"/>
              </a:ext>
            </a:extLst>
          </p:cNvPr>
          <p:cNvSpPr/>
          <p:nvPr/>
        </p:nvSpPr>
        <p:spPr>
          <a:xfrm>
            <a:off x="5338618" y="212436"/>
            <a:ext cx="4802909" cy="116348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CF: no dicionário de conceitos há métricas como por exemplo tipo de veiculo, combustível , </a:t>
            </a:r>
            <a:r>
              <a:rPr lang="pt-PT" sz="1100" dirty="0" err="1"/>
              <a:t>etc</a:t>
            </a:r>
            <a:r>
              <a:rPr lang="pt-PT" sz="1100" dirty="0"/>
              <a:t>, que nós não implementámos ate agora no </a:t>
            </a:r>
            <a:r>
              <a:rPr lang="pt-PT" sz="1100" dirty="0" err="1"/>
              <a:t>atelite</a:t>
            </a:r>
            <a:r>
              <a:rPr lang="pt-PT" sz="1100" dirty="0"/>
              <a:t> 93. é para incluir?</a:t>
            </a:r>
          </a:p>
          <a:p>
            <a:pPr algn="ctr"/>
            <a:r>
              <a:rPr lang="pt-PT" sz="1100" dirty="0"/>
              <a:t>O dicionário de conceitos tem também </a:t>
            </a:r>
            <a:r>
              <a:rPr lang="pt-PT" sz="1100" dirty="0" err="1"/>
              <a:t>metrcas</a:t>
            </a:r>
            <a:r>
              <a:rPr lang="pt-PT" sz="1100" dirty="0"/>
              <a:t> como cliente </a:t>
            </a:r>
            <a:r>
              <a:rPr lang="pt-PT" sz="1100" dirty="0" err="1"/>
              <a:t>own</a:t>
            </a:r>
            <a:r>
              <a:rPr lang="pt-PT" sz="1100" dirty="0"/>
              <a:t> </a:t>
            </a:r>
            <a:r>
              <a:rPr lang="pt-PT" sz="1100" dirty="0" err="1"/>
              <a:t>funds</a:t>
            </a:r>
            <a:r>
              <a:rPr lang="pt-PT" sz="1100" dirty="0"/>
              <a:t>, </a:t>
            </a:r>
            <a:r>
              <a:rPr lang="pt-PT" sz="1100" dirty="0" err="1"/>
              <a:t>group</a:t>
            </a:r>
            <a:r>
              <a:rPr lang="pt-PT" sz="1100" dirty="0"/>
              <a:t> total </a:t>
            </a:r>
            <a:r>
              <a:rPr lang="pt-PT" sz="1100" dirty="0" err="1"/>
              <a:t>assets</a:t>
            </a:r>
            <a:r>
              <a:rPr lang="pt-PT" sz="1100" dirty="0"/>
              <a:t> que usamos nos numeradores e denominadores do calculo de emissões . </a:t>
            </a:r>
            <a:r>
              <a:rPr lang="pt-PT" sz="1100"/>
              <a:t>Colocar aqui?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711368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ESG |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93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000" dirty="0"/>
              <a:t>O </a:t>
            </a:r>
            <a:r>
              <a:rPr lang="en-US" sz="1000" dirty="0" err="1"/>
              <a:t>processo</a:t>
            </a:r>
            <a:r>
              <a:rPr lang="en-US" sz="1000" dirty="0"/>
              <a:t> de </a:t>
            </a:r>
            <a:r>
              <a:rPr lang="en-US" sz="1000" dirty="0" err="1"/>
              <a:t>geração</a:t>
            </a:r>
            <a:r>
              <a:rPr lang="en-US" sz="1000" dirty="0"/>
              <a:t> do </a:t>
            </a:r>
            <a:r>
              <a:rPr lang="en-US" sz="1000" dirty="0" err="1"/>
              <a:t>satélite</a:t>
            </a:r>
            <a:r>
              <a:rPr lang="en-US" sz="1000" dirty="0"/>
              <a:t> </a:t>
            </a:r>
            <a:r>
              <a:rPr lang="en-US" sz="1000" dirty="0" smtClean="0"/>
              <a:t>93 </a:t>
            </a:r>
            <a:r>
              <a:rPr lang="en-US" sz="1000" dirty="0"/>
              <a:t>(</a:t>
            </a:r>
            <a:r>
              <a:rPr lang="en-US" sz="1000" dirty="0" err="1"/>
              <a:t>descrito</a:t>
            </a:r>
            <a:r>
              <a:rPr lang="en-US" sz="1000" dirty="0"/>
              <a:t> no </a:t>
            </a:r>
            <a:r>
              <a:rPr lang="en-US" sz="1000" i="1" dirty="0"/>
              <a:t>slide </a:t>
            </a:r>
            <a:r>
              <a:rPr lang="en-US" sz="1000" dirty="0" err="1"/>
              <a:t>seguinte</a:t>
            </a:r>
            <a:r>
              <a:rPr lang="en-US" sz="1000" dirty="0"/>
              <a:t>), visa o </a:t>
            </a:r>
            <a:r>
              <a:rPr lang="en-US" sz="1000" dirty="0" err="1"/>
              <a:t>reporte</a:t>
            </a:r>
            <a:r>
              <a:rPr lang="en-US" sz="1000" dirty="0"/>
              <a:t> das </a:t>
            </a:r>
            <a:r>
              <a:rPr lang="en-US" sz="1000" dirty="0" err="1"/>
              <a:t>seguintes</a:t>
            </a:r>
            <a:r>
              <a:rPr lang="en-US" sz="1000" dirty="0"/>
              <a:t> </a:t>
            </a:r>
            <a:r>
              <a:rPr lang="en-US" sz="1000" dirty="0" err="1"/>
              <a:t>métricas</a:t>
            </a:r>
            <a:r>
              <a:rPr lang="en-US" sz="1000" dirty="0"/>
              <a:t> ESG:</a:t>
            </a:r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1805070" y="1816771"/>
            <a:ext cx="2556000" cy="28944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100" b="1" dirty="0" smtClean="0">
                <a:solidFill>
                  <a:schemeClr val="bg1"/>
                </a:solidFill>
              </a:rPr>
              <a:t>Métrica Final de Satélite</a:t>
            </a:r>
            <a:endParaRPr lang="pt-PT" sz="11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18001" y="1816771"/>
            <a:ext cx="5568930" cy="28944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100" b="1" dirty="0" smtClean="0">
                <a:solidFill>
                  <a:schemeClr val="bg1"/>
                </a:solidFill>
              </a:rPr>
              <a:t>Métrica de Suporte ao Cálculo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5070" y="2692294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Source</a:t>
            </a:r>
            <a:r>
              <a:rPr lang="pt-PT" sz="1100" dirty="0"/>
              <a:t> </a:t>
            </a:r>
            <a:r>
              <a:rPr lang="pt-PT" sz="1100" dirty="0" err="1"/>
              <a:t>emissions</a:t>
            </a:r>
            <a:endParaRPr lang="pt-PT" sz="1100" dirty="0"/>
          </a:p>
        </p:txBody>
      </p:sp>
      <p:sp>
        <p:nvSpPr>
          <p:cNvPr id="15" name="TextBox 14"/>
          <p:cNvSpPr txBox="1"/>
          <p:nvPr/>
        </p:nvSpPr>
        <p:spPr>
          <a:xfrm>
            <a:off x="1805070" y="3125269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Data Quality Score</a:t>
            </a:r>
            <a:endParaRPr lang="en-US" sz="11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1805070" y="2259319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Calculation</a:t>
            </a:r>
            <a:r>
              <a:rPr lang="pt-PT" sz="1100" dirty="0"/>
              <a:t> </a:t>
            </a:r>
            <a:r>
              <a:rPr lang="pt-PT" sz="1100" dirty="0" err="1"/>
              <a:t>approach</a:t>
            </a:r>
            <a:endParaRPr lang="pt-PT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1805070" y="3558244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Client</a:t>
            </a:r>
            <a:r>
              <a:rPr lang="pt-PT" sz="1100" dirty="0"/>
              <a:t> </a:t>
            </a:r>
            <a:r>
              <a:rPr lang="pt-PT" sz="1100" dirty="0" err="1"/>
              <a:t>emission</a:t>
            </a:r>
            <a:r>
              <a:rPr lang="pt-PT" sz="1100" dirty="0"/>
              <a:t> </a:t>
            </a:r>
            <a:r>
              <a:rPr lang="pt-PT" sz="1100" dirty="0" err="1"/>
              <a:t>area</a:t>
            </a:r>
            <a:endParaRPr lang="pt-PT" sz="1100" dirty="0"/>
          </a:p>
        </p:txBody>
      </p:sp>
      <p:sp>
        <p:nvSpPr>
          <p:cNvPr id="45" name="TextBox 44"/>
          <p:cNvSpPr txBox="1"/>
          <p:nvPr/>
        </p:nvSpPr>
        <p:spPr>
          <a:xfrm>
            <a:off x="4818000" y="2688354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Financed  Emissions: Scope 2</a:t>
            </a:r>
            <a:endParaRPr lang="pt-PT" sz="1100" dirty="0" smtClean="0"/>
          </a:p>
        </p:txBody>
      </p:sp>
      <p:sp>
        <p:nvSpPr>
          <p:cNvPr id="46" name="TextBox 45"/>
          <p:cNvSpPr txBox="1"/>
          <p:nvPr/>
        </p:nvSpPr>
        <p:spPr>
          <a:xfrm>
            <a:off x="4818000" y="3121329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Financed  Emissions: Scope 3</a:t>
            </a:r>
            <a:endParaRPr lang="pt-PT" sz="1100" dirty="0" smtClean="0"/>
          </a:p>
        </p:txBody>
      </p:sp>
      <p:sp>
        <p:nvSpPr>
          <p:cNvPr id="47" name="TextBox 46"/>
          <p:cNvSpPr txBox="1"/>
          <p:nvPr/>
        </p:nvSpPr>
        <p:spPr>
          <a:xfrm>
            <a:off x="4818000" y="2255379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Financed  Emissions: Scope 1</a:t>
            </a:r>
            <a:endParaRPr lang="pt-PT" sz="1100" dirty="0" smtClean="0"/>
          </a:p>
        </p:txBody>
      </p:sp>
      <p:sp>
        <p:nvSpPr>
          <p:cNvPr id="48" name="TextBox 47"/>
          <p:cNvSpPr txBox="1"/>
          <p:nvPr/>
        </p:nvSpPr>
        <p:spPr>
          <a:xfrm>
            <a:off x="4818000" y="3554304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</a:t>
            </a:r>
            <a:r>
              <a:rPr lang="en-US" sz="1100" dirty="0" smtClean="0"/>
              <a:t>Rep. </a:t>
            </a:r>
            <a:r>
              <a:rPr lang="en-US" sz="1100" dirty="0" err="1" smtClean="0"/>
              <a:t>Emis</a:t>
            </a:r>
            <a:r>
              <a:rPr lang="en-US" sz="1100" dirty="0" smtClean="0"/>
              <a:t>.- 1</a:t>
            </a:r>
            <a:r>
              <a:rPr lang="en-US" sz="1100" dirty="0"/>
              <a:t>: flag </a:t>
            </a:r>
            <a:r>
              <a:rPr lang="en-US" sz="1100" dirty="0" smtClean="0"/>
              <a:t>original/</a:t>
            </a:r>
            <a:r>
              <a:rPr lang="en-US" sz="1100" dirty="0" err="1" smtClean="0"/>
              <a:t>calc</a:t>
            </a:r>
            <a:endParaRPr lang="pt-PT" sz="1100" dirty="0" smtClean="0"/>
          </a:p>
        </p:txBody>
      </p:sp>
      <p:sp>
        <p:nvSpPr>
          <p:cNvPr id="49" name="TextBox 48"/>
          <p:cNvSpPr txBox="1"/>
          <p:nvPr/>
        </p:nvSpPr>
        <p:spPr>
          <a:xfrm>
            <a:off x="4818000" y="3987281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Rep. </a:t>
            </a:r>
            <a:r>
              <a:rPr lang="en-US" sz="1100" dirty="0" err="1"/>
              <a:t>Emis</a:t>
            </a:r>
            <a:r>
              <a:rPr lang="en-US" sz="1100" dirty="0"/>
              <a:t>.- </a:t>
            </a:r>
            <a:r>
              <a:rPr lang="en-US" sz="1100" dirty="0" smtClean="0"/>
              <a:t>2: </a:t>
            </a:r>
            <a:r>
              <a:rPr lang="en-US" sz="1100" dirty="0"/>
              <a:t>flag original/</a:t>
            </a:r>
            <a:r>
              <a:rPr lang="en-US" sz="1100" dirty="0" err="1"/>
              <a:t>calc</a:t>
            </a:r>
            <a:endParaRPr lang="pt-PT" sz="1100" dirty="0"/>
          </a:p>
        </p:txBody>
      </p:sp>
      <p:sp>
        <p:nvSpPr>
          <p:cNvPr id="50" name="TextBox 49"/>
          <p:cNvSpPr txBox="1"/>
          <p:nvPr/>
        </p:nvSpPr>
        <p:spPr>
          <a:xfrm>
            <a:off x="4818000" y="4420254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Rep. </a:t>
            </a:r>
            <a:r>
              <a:rPr lang="en-US" sz="1100" dirty="0" err="1"/>
              <a:t>Emis</a:t>
            </a:r>
            <a:r>
              <a:rPr lang="en-US" sz="1100" dirty="0"/>
              <a:t>.- </a:t>
            </a:r>
            <a:r>
              <a:rPr lang="en-US" sz="1100" dirty="0" smtClean="0"/>
              <a:t>3: </a:t>
            </a:r>
            <a:r>
              <a:rPr lang="en-US" sz="1100" dirty="0"/>
              <a:t>flag original/</a:t>
            </a:r>
            <a:r>
              <a:rPr lang="en-US" sz="1100" dirty="0" err="1"/>
              <a:t>calc</a:t>
            </a:r>
            <a:endParaRPr lang="pt-PT" sz="1100" dirty="0"/>
          </a:p>
        </p:txBody>
      </p:sp>
      <p:sp>
        <p:nvSpPr>
          <p:cNvPr id="51" name="TextBox 50"/>
          <p:cNvSpPr txBox="1"/>
          <p:nvPr/>
        </p:nvSpPr>
        <p:spPr>
          <a:xfrm>
            <a:off x="4818000" y="4853229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reported emissions: Scope 1</a:t>
            </a:r>
            <a:endParaRPr lang="pt-PT" sz="1100" dirty="0" smtClean="0"/>
          </a:p>
        </p:txBody>
      </p:sp>
      <p:sp>
        <p:nvSpPr>
          <p:cNvPr id="52" name="TextBox 51"/>
          <p:cNvSpPr txBox="1"/>
          <p:nvPr/>
        </p:nvSpPr>
        <p:spPr>
          <a:xfrm>
            <a:off x="4818000" y="5286206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reported emissions: Scope </a:t>
            </a:r>
            <a:r>
              <a:rPr lang="en-US" sz="1100" dirty="0" smtClean="0"/>
              <a:t>2</a:t>
            </a:r>
            <a:endParaRPr lang="pt-PT" sz="1100" dirty="0" smtClean="0"/>
          </a:p>
        </p:txBody>
      </p:sp>
      <p:grpSp>
        <p:nvGrpSpPr>
          <p:cNvPr id="14" name="Group 13"/>
          <p:cNvGrpSpPr/>
          <p:nvPr/>
        </p:nvGrpSpPr>
        <p:grpSpPr>
          <a:xfrm>
            <a:off x="7830930" y="2255379"/>
            <a:ext cx="2556000" cy="3324207"/>
            <a:chOff x="8515214" y="2255379"/>
            <a:chExt cx="2556000" cy="3324207"/>
          </a:xfrm>
        </p:grpSpPr>
        <p:sp>
          <p:nvSpPr>
            <p:cNvPr id="28" name="TextBox 27"/>
            <p:cNvSpPr txBox="1"/>
            <p:nvPr/>
          </p:nvSpPr>
          <p:spPr>
            <a:xfrm>
              <a:off x="8515214" y="268835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DQ score </a:t>
              </a:r>
              <a:r>
                <a:rPr lang="pt-PT" sz="1100" dirty="0" err="1"/>
                <a:t>emissions</a:t>
              </a:r>
              <a:r>
                <a:rPr lang="pt-PT" sz="1100" dirty="0"/>
                <a:t> scope 2</a:t>
              </a:r>
              <a:endParaRPr lang="pt-PT" sz="1100" dirty="0" smtClean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515214" y="312132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DQ score </a:t>
              </a:r>
              <a:r>
                <a:rPr lang="pt-PT" sz="1100" dirty="0" err="1"/>
                <a:t>emissions</a:t>
              </a:r>
              <a:r>
                <a:rPr lang="pt-PT" sz="1100" dirty="0"/>
                <a:t> scope 3</a:t>
              </a:r>
              <a:endParaRPr lang="pt-PT" sz="1100" dirty="0" smtClean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515214" y="225537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DQ score </a:t>
              </a:r>
              <a:r>
                <a:rPr lang="pt-PT" sz="1100" dirty="0" err="1"/>
                <a:t>emissions</a:t>
              </a:r>
              <a:r>
                <a:rPr lang="pt-PT" sz="1100" dirty="0"/>
                <a:t> scope 1</a:t>
              </a:r>
              <a:endParaRPr lang="pt-PT" sz="1100" dirty="0" smtClean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515214" y="355430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Gross carrying amount scope </a:t>
              </a:r>
              <a:r>
                <a:rPr lang="en-US" sz="1100" dirty="0" smtClean="0"/>
                <a:t>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515214" y="3987281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Gross carrying amount scope 2</a:t>
              </a:r>
              <a:endParaRPr lang="pt-PT" sz="1100" dirty="0" smtClean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515214" y="442025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Gross carrying amount scope </a:t>
              </a:r>
              <a:r>
                <a:rPr lang="en-US" sz="1100" dirty="0" smtClean="0"/>
                <a:t>3</a:t>
              </a:r>
              <a:endParaRPr lang="pt-PT" sz="1100" dirty="0" smtClean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515214" y="485322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European Union</a:t>
              </a:r>
              <a:endParaRPr lang="pt-PT" sz="1100" dirty="0" smtClean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515214" y="5290145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NACE ESG</a:t>
              </a:r>
              <a:endParaRPr lang="pt-PT" sz="1100" dirty="0" smtClean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818000" y="5714229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reported emissions: Scope </a:t>
            </a:r>
            <a:r>
              <a:rPr lang="en-US" sz="1100" dirty="0" smtClean="0"/>
              <a:t>3</a:t>
            </a:r>
            <a:endParaRPr lang="pt-PT" sz="1100" dirty="0" smtClean="0"/>
          </a:p>
        </p:txBody>
      </p:sp>
      <p:sp>
        <p:nvSpPr>
          <p:cNvPr id="36" name="TextBox 35"/>
          <p:cNvSpPr txBox="1"/>
          <p:nvPr/>
        </p:nvSpPr>
        <p:spPr>
          <a:xfrm>
            <a:off x="7830930" y="5713458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NACE main code</a:t>
            </a:r>
            <a:endParaRPr lang="pt-PT" sz="1100" dirty="0" smtClean="0"/>
          </a:p>
        </p:txBody>
      </p:sp>
    </p:spTree>
    <p:extLst>
      <p:ext uri="{BB962C8B-B14F-4D97-AF65-F5344CB8AC3E}">
        <p14:creationId xmlns:p14="http://schemas.microsoft.com/office/powerpoint/2010/main" val="5204623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Satélite 93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01578" y="2264593"/>
            <a:ext cx="221727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dirty="0"/>
              <a:t>bu_esg_work.rf_pilar3_universo_full_v3</a:t>
            </a:r>
            <a:endParaRPr lang="pt-PT" sz="1050" dirty="0"/>
          </a:p>
        </p:txBody>
      </p:sp>
      <p:sp>
        <p:nvSpPr>
          <p:cNvPr id="76" name="Rectangle 75"/>
          <p:cNvSpPr/>
          <p:nvPr/>
        </p:nvSpPr>
        <p:spPr>
          <a:xfrm>
            <a:off x="3589510" y="2247571"/>
            <a:ext cx="22300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bu_esg_work.reparticao_garantias_final</a:t>
            </a:r>
            <a:endParaRPr lang="pt-PT" sz="1050" dirty="0"/>
          </a:p>
        </p:txBody>
      </p:sp>
      <p:sp>
        <p:nvSpPr>
          <p:cNvPr id="77" name="Rectangle 76"/>
          <p:cNvSpPr/>
          <p:nvPr/>
        </p:nvSpPr>
        <p:spPr>
          <a:xfrm>
            <a:off x="806441" y="3585420"/>
            <a:ext cx="21852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bu_esg_work.rf_metricas_pilar3_ctr_cli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1039239" y="4511177"/>
            <a:ext cx="647850" cy="647850"/>
            <a:chOff x="455122" y="4977513"/>
            <a:chExt cx="648000" cy="648000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5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9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98" y="4458211"/>
            <a:ext cx="241113" cy="241113"/>
          </a:xfrm>
          <a:prstGeom prst="rect">
            <a:avLst/>
          </a:prstGeom>
        </p:spPr>
      </p:pic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90193" y="4458211"/>
            <a:ext cx="287933" cy="287933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3819557" y="2802416"/>
            <a:ext cx="647850" cy="647850"/>
            <a:chOff x="455122" y="4977513"/>
            <a:chExt cx="648000" cy="648000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1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970" y="2749450"/>
            <a:ext cx="241113" cy="241113"/>
          </a:xfrm>
          <a:prstGeom prst="rect">
            <a:avLst/>
          </a:prstGeom>
        </p:spPr>
      </p:pic>
      <p:pic>
        <p:nvPicPr>
          <p:cNvPr id="102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70511" y="2749449"/>
            <a:ext cx="287933" cy="287933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936025" y="518150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3785105" y="3472741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643413" y="5345143"/>
            <a:ext cx="2279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cd_captools.ct071_rwa_gr_ec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dirty="0"/>
              <a:t>cd_captools.ct070_univ_gr_cli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dirty="0"/>
              <a:t>cd_captools.ct003_univ_cli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3423731" y="3645476"/>
            <a:ext cx="223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  <a:endParaRPr lang="pt-PT" sz="9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cd_estruturais.tat91_tabelas</a:t>
            </a:r>
            <a:endParaRPr lang="en-US" sz="9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3029990" y="5213300"/>
            <a:ext cx="217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20230519 Pillar 3 ESG - Emissions data Post-Feb.xlsx</a:t>
            </a:r>
            <a:endParaRPr lang="en-US" sz="8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679633" y="5612225"/>
            <a:ext cx="2876265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Ficheiro  “xlsx” que contém informação sobre as emissões das operações do banco.</a:t>
            </a:r>
          </a:p>
        </p:txBody>
      </p:sp>
      <p:cxnSp>
        <p:nvCxnSpPr>
          <p:cNvPr id="115" name="Straight Connector 114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50641D-8D53-EE85-A218-446079E47C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2698" y="4527533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885CC6-4C38-BFFE-1639-3B363E6B502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774" y="4488462"/>
            <a:ext cx="238885" cy="238885"/>
          </a:xfrm>
          <a:prstGeom prst="ellipse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13514F9-20DE-6FF6-C84E-94E79E940F46}"/>
              </a:ext>
            </a:extLst>
          </p:cNvPr>
          <p:cNvSpPr/>
          <p:nvPr/>
        </p:nvSpPr>
        <p:spPr>
          <a:xfrm>
            <a:off x="622426" y="1268750"/>
            <a:ext cx="5201624" cy="4918798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6" name="Elbow Connector 69">
            <a:extLst>
              <a:ext uri="{FF2B5EF4-FFF2-40B4-BE49-F238E27FC236}">
                <a16:creationId xmlns:a16="http://schemas.microsoft.com/office/drawing/2014/main" id="{487C3740-0B4E-A71E-65B8-AB29BDB69BFC}"/>
              </a:ext>
            </a:extLst>
          </p:cNvPr>
          <p:cNvCxnSpPr>
            <a:cxnSpLocks/>
          </p:cNvCxnSpPr>
          <p:nvPr/>
        </p:nvCxnSpPr>
        <p:spPr>
          <a:xfrm>
            <a:off x="5822511" y="3393847"/>
            <a:ext cx="2304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3">
            <a:extLst>
              <a:ext uri="{FF2B5EF4-FFF2-40B4-BE49-F238E27FC236}">
                <a16:creationId xmlns:a16="http://schemas.microsoft.com/office/drawing/2014/main" id="{F22A513E-8CF0-3C34-4900-D15F83605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6B4619F-DA98-810B-D2BC-3BE50D342900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69">
            <a:extLst>
              <a:ext uri="{FF2B5EF4-FFF2-40B4-BE49-F238E27FC236}">
                <a16:creationId xmlns:a16="http://schemas.microsoft.com/office/drawing/2014/main" id="{59D52091-D922-4D76-E040-0ED49DA2D0E9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D5EE3E78-0694-740B-B86D-ABDAF090866D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Satélite 93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BABE3F5-C1AC-C2E4-7988-CAD38D95DF45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38" name="Picture 4">
              <a:extLst>
                <a:ext uri="{FF2B5EF4-FFF2-40B4-BE49-F238E27FC236}">
                  <a16:creationId xmlns:a16="http://schemas.microsoft.com/office/drawing/2014/main" id="{E1863FE8-1C14-0FA6-FC56-E88934999B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139" descr="Related image">
              <a:extLst>
                <a:ext uri="{FF2B5EF4-FFF2-40B4-BE49-F238E27FC236}">
                  <a16:creationId xmlns:a16="http://schemas.microsoft.com/office/drawing/2014/main" id="{28E8C5A2-FF33-AAF6-517F-2803443B29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FDDD09-2188-470C-16B0-A9DEB2EC9CBC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7DF1F21-0549-1E2B-0B73-F0B70F706BF6}"/>
              </a:ext>
            </a:extLst>
          </p:cNvPr>
          <p:cNvGrpSpPr/>
          <p:nvPr/>
        </p:nvGrpSpPr>
        <p:grpSpPr>
          <a:xfrm>
            <a:off x="1039239" y="2700910"/>
            <a:ext cx="706458" cy="680862"/>
            <a:chOff x="11007832" y="3054746"/>
            <a:chExt cx="706458" cy="68086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BAE199A-42DE-EA83-9746-740FD5453009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B782215-A26E-628F-5F51-8238E9C9D939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0" name="Graphic 119" descr="Database with solid fill">
                <a:extLst>
                  <a:ext uri="{FF2B5EF4-FFF2-40B4-BE49-F238E27FC236}">
                    <a16:creationId xmlns:a16="http://schemas.microsoft.com/office/drawing/2014/main" id="{54101A69-75FB-AC31-078A-5EA38AE8E9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47" name="Graphic 116" descr="Single gear with solid fill">
              <a:extLst>
                <a:ext uri="{FF2B5EF4-FFF2-40B4-BE49-F238E27FC236}">
                  <a16:creationId xmlns:a16="http://schemas.microsoft.com/office/drawing/2014/main" id="{5B88BED6-FD9E-E95F-84A2-24443C40B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478F5B9-8695-4C06-EE29-7AE6F82A1644}"/>
              </a:ext>
            </a:extLst>
          </p:cNvPr>
          <p:cNvGrpSpPr/>
          <p:nvPr/>
        </p:nvGrpSpPr>
        <p:grpSpPr>
          <a:xfrm>
            <a:off x="1039239" y="1352071"/>
            <a:ext cx="706458" cy="680862"/>
            <a:chOff x="11007832" y="3054746"/>
            <a:chExt cx="706458" cy="680862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32047AD-E4FC-8882-C890-94DA6A836CA6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6A0DBCD-BE2C-CF38-5267-37FAD52CEA3A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6" name="Graphic 119" descr="Database with solid fill">
                <a:extLst>
                  <a:ext uri="{FF2B5EF4-FFF2-40B4-BE49-F238E27FC236}">
                    <a16:creationId xmlns:a16="http://schemas.microsoft.com/office/drawing/2014/main" id="{94118EF9-6CE0-2A88-6D9E-CB76CD802D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53" name="Graphic 116" descr="Single gear with solid fill">
              <a:extLst>
                <a:ext uri="{FF2B5EF4-FFF2-40B4-BE49-F238E27FC236}">
                  <a16:creationId xmlns:a16="http://schemas.microsoft.com/office/drawing/2014/main" id="{7AF1FB3F-EFF3-9B5C-A1DD-9E49D5723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F9F7DF7-4B38-CF29-EEDC-E61C64B5AA9E}"/>
              </a:ext>
            </a:extLst>
          </p:cNvPr>
          <p:cNvGrpSpPr/>
          <p:nvPr/>
        </p:nvGrpSpPr>
        <p:grpSpPr>
          <a:xfrm>
            <a:off x="3819557" y="1367197"/>
            <a:ext cx="706458" cy="680862"/>
            <a:chOff x="11007832" y="3054746"/>
            <a:chExt cx="706458" cy="680862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A1CBC3A-E6C9-2227-71F8-182A9AF78275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4F0BAB43-52DE-3854-C193-2EA8F11A18C6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119" descr="Database with solid fill">
                <a:extLst>
                  <a:ext uri="{FF2B5EF4-FFF2-40B4-BE49-F238E27FC236}">
                    <a16:creationId xmlns:a16="http://schemas.microsoft.com/office/drawing/2014/main" id="{9A591DDE-B62C-72A3-37EF-E2168BA890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59" name="Graphic 116" descr="Single gear with solid fill">
              <a:extLst>
                <a:ext uri="{FF2B5EF4-FFF2-40B4-BE49-F238E27FC236}">
                  <a16:creationId xmlns:a16="http://schemas.microsoft.com/office/drawing/2014/main" id="{7D29ABED-A6F8-0A9A-81C0-38E492402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3D21E70-CD27-8E99-C54F-32B2C365B15E}"/>
              </a:ext>
            </a:extLst>
          </p:cNvPr>
          <p:cNvSpPr txBox="1"/>
          <p:nvPr/>
        </p:nvSpPr>
        <p:spPr>
          <a:xfrm>
            <a:off x="935688" y="3422912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4D141C-446C-E74D-20E0-43A97F128B65}"/>
              </a:ext>
            </a:extLst>
          </p:cNvPr>
          <p:cNvSpPr txBox="1"/>
          <p:nvPr/>
        </p:nvSpPr>
        <p:spPr>
          <a:xfrm>
            <a:off x="3710609" y="2093418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97DD2-B958-AC4F-5079-D8BB59228042}"/>
              </a:ext>
            </a:extLst>
          </p:cNvPr>
          <p:cNvSpPr txBox="1"/>
          <p:nvPr/>
        </p:nvSpPr>
        <p:spPr>
          <a:xfrm>
            <a:off x="921357" y="2082680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AE3A50-4AD3-1831-8D47-0E568FAAE8C2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Desenvolvimento para obtenção de métricas ESG no âmbito do respetivo satélite.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3055229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 smtClean="0"/>
              <a:t>Anexos</a:t>
            </a: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06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69100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 smtClean="0">
                <a:solidFill>
                  <a:srgbClr val="FF0000"/>
                </a:solidFill>
              </a:rPr>
              <a:t>Anexos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000" dirty="0" smtClean="0"/>
              <a:t>Para </a:t>
            </a:r>
            <a:r>
              <a:rPr lang="en-US" sz="1000" dirty="0" err="1" smtClean="0"/>
              <a:t>garantir</a:t>
            </a:r>
            <a:r>
              <a:rPr lang="en-US" sz="1000" dirty="0" smtClean="0"/>
              <a:t> a </a:t>
            </a:r>
            <a:r>
              <a:rPr lang="en-US" sz="1000" dirty="0" err="1" smtClean="0"/>
              <a:t>integridade</a:t>
            </a:r>
            <a:r>
              <a:rPr lang="en-US" sz="1000" dirty="0" smtClean="0"/>
              <a:t>, </a:t>
            </a:r>
            <a:r>
              <a:rPr lang="en-US" sz="1000" dirty="0" err="1" smtClean="0"/>
              <a:t>completude</a:t>
            </a:r>
            <a:r>
              <a:rPr lang="en-US" sz="1000" dirty="0" smtClean="0"/>
              <a:t> e a </a:t>
            </a:r>
            <a:r>
              <a:rPr lang="en-US" sz="1000" dirty="0" err="1" smtClean="0"/>
              <a:t>qualidade</a:t>
            </a:r>
            <a:r>
              <a:rPr lang="en-US" sz="1000" dirty="0" smtClean="0"/>
              <a:t> dos dados </a:t>
            </a:r>
            <a:r>
              <a:rPr lang="en-US" sz="1000" dirty="0" err="1" smtClean="0"/>
              <a:t>foi</a:t>
            </a:r>
            <a:r>
              <a:rPr lang="en-US" sz="1000" dirty="0" smtClean="0"/>
              <a:t> </a:t>
            </a:r>
            <a:r>
              <a:rPr lang="en-US" sz="1000" dirty="0" err="1" smtClean="0"/>
              <a:t>implementada</a:t>
            </a:r>
            <a:r>
              <a:rPr lang="en-US" sz="1000" dirty="0" smtClean="0"/>
              <a:t> </a:t>
            </a:r>
            <a:r>
              <a:rPr lang="en-US" sz="1000" dirty="0" err="1" smtClean="0"/>
              <a:t>uma</a:t>
            </a:r>
            <a:r>
              <a:rPr lang="en-US" sz="1000" dirty="0" smtClean="0"/>
              <a:t> </a:t>
            </a:r>
            <a:r>
              <a:rPr lang="en-US" sz="1000" dirty="0" err="1" smtClean="0"/>
              <a:t>bateria</a:t>
            </a:r>
            <a:r>
              <a:rPr lang="en-US" sz="1000" dirty="0" smtClean="0"/>
              <a:t> de </a:t>
            </a:r>
            <a:r>
              <a:rPr lang="en-US" sz="1000" dirty="0" err="1" smtClean="0"/>
              <a:t>controlos</a:t>
            </a:r>
            <a:r>
              <a:rPr lang="en-US" sz="1000" dirty="0" smtClean="0"/>
              <a:t> </a:t>
            </a:r>
            <a:r>
              <a:rPr lang="en-US" sz="1000" dirty="0" err="1" smtClean="0"/>
              <a:t>sobre</a:t>
            </a:r>
            <a:r>
              <a:rPr lang="en-US" sz="1000" dirty="0"/>
              <a:t> </a:t>
            </a:r>
            <a:r>
              <a:rPr lang="en-US" sz="1000" dirty="0" err="1" smtClean="0"/>
              <a:t>os</a:t>
            </a:r>
            <a:r>
              <a:rPr lang="en-US" sz="1000" dirty="0" smtClean="0"/>
              <a:t> </a:t>
            </a:r>
            <a:r>
              <a:rPr lang="en-US" sz="1000" dirty="0" err="1" smtClean="0"/>
              <a:t>mesmos</a:t>
            </a:r>
            <a:r>
              <a:rPr lang="en-US" sz="1000" dirty="0" smtClean="0"/>
              <a:t>.</a:t>
            </a:r>
          </a:p>
          <a:p>
            <a:endParaRPr lang="en-US" sz="1000" dirty="0" smtClean="0"/>
          </a:p>
          <a:p>
            <a:r>
              <a:rPr lang="en-US" sz="1000" dirty="0" err="1" smtClean="0"/>
              <a:t>Os</a:t>
            </a:r>
            <a:r>
              <a:rPr lang="en-US" sz="1000" dirty="0" smtClean="0"/>
              <a:t> </a:t>
            </a:r>
            <a:r>
              <a:rPr lang="en-US" sz="1000" dirty="0" err="1" smtClean="0"/>
              <a:t>ficheiros</a:t>
            </a:r>
            <a:r>
              <a:rPr lang="en-US" sz="1000" dirty="0" smtClean="0"/>
              <a:t> infra </a:t>
            </a:r>
            <a:r>
              <a:rPr lang="en-US" sz="1000" dirty="0" err="1" smtClean="0"/>
              <a:t>apresentam</a:t>
            </a:r>
            <a:r>
              <a:rPr lang="en-US" sz="1000" dirty="0" smtClean="0"/>
              <a:t>, </a:t>
            </a:r>
            <a:r>
              <a:rPr lang="en-US" sz="1000" dirty="0" err="1" smtClean="0"/>
              <a:t>em</a:t>
            </a:r>
            <a:r>
              <a:rPr lang="en-US" sz="1000" dirty="0" smtClean="0"/>
              <a:t> </a:t>
            </a:r>
            <a:r>
              <a:rPr lang="en-US" sz="1000" dirty="0" err="1" smtClean="0"/>
              <a:t>maior</a:t>
            </a:r>
            <a:r>
              <a:rPr lang="en-US" sz="1000" dirty="0" smtClean="0"/>
              <a:t> </a:t>
            </a:r>
            <a:r>
              <a:rPr lang="en-US" sz="1000" dirty="0" err="1" smtClean="0"/>
              <a:t>detalhe</a:t>
            </a:r>
            <a:r>
              <a:rPr lang="en-US" sz="1000" dirty="0" smtClean="0"/>
              <a:t>, o </a:t>
            </a:r>
            <a:r>
              <a:rPr lang="en-US" sz="1000" dirty="0" err="1" smtClean="0"/>
              <a:t>conjunto</a:t>
            </a:r>
            <a:r>
              <a:rPr lang="en-US" sz="1000" dirty="0" smtClean="0"/>
              <a:t> de </a:t>
            </a:r>
            <a:r>
              <a:rPr lang="en-US" sz="1000" dirty="0" err="1" smtClean="0"/>
              <a:t>controlos</a:t>
            </a:r>
            <a:r>
              <a:rPr lang="en-US" sz="1000" dirty="0" smtClean="0"/>
              <a:t> </a:t>
            </a:r>
            <a:r>
              <a:rPr lang="en-US" sz="1000" dirty="0" err="1" smtClean="0"/>
              <a:t>implementados</a:t>
            </a:r>
            <a:r>
              <a:rPr lang="en-US" sz="1000" dirty="0" smtClean="0"/>
              <a:t>. </a:t>
            </a:r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661049"/>
              </p:ext>
            </p:extLst>
          </p:nvPr>
        </p:nvGraphicFramePr>
        <p:xfrm>
          <a:off x="498629" y="2278079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" name="Macro-Enabled Worksheet" showAsIcon="1" r:id="rId3" imgW="914400" imgH="771480" progId="Excel.SheetMacroEnabled.12">
                  <p:embed/>
                </p:oleObj>
              </mc:Choice>
              <mc:Fallback>
                <p:oleObj name="Macro-Enabled Worksheet" showAsIcon="1" r:id="rId3" imgW="914400" imgH="771480" progId="Excel.SheetMacroEnabled.12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8629" y="2278079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268585"/>
              </p:ext>
            </p:extLst>
          </p:nvPr>
        </p:nvGraphicFramePr>
        <p:xfrm>
          <a:off x="1668834" y="2278079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" name="Macro-Enabled Worksheet" showAsIcon="1" r:id="rId5" imgW="914400" imgH="771480" progId="Excel.SheetMacroEnabled.12">
                  <p:embed/>
                </p:oleObj>
              </mc:Choice>
              <mc:Fallback>
                <p:oleObj name="Macro-Enabled Worksheet" showAsIcon="1" r:id="rId5" imgW="914400" imgH="771480" progId="Excel.SheetMacroEnabled.12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68834" y="2278079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83476"/>
              </p:ext>
            </p:extLst>
          </p:nvPr>
        </p:nvGraphicFramePr>
        <p:xfrm>
          <a:off x="2839039" y="2278079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4" name="Worksheet" showAsIcon="1" r:id="rId7" imgW="914400" imgH="771480" progId="Excel.Sheet.12">
                  <p:embed/>
                </p:oleObj>
              </mc:Choice>
              <mc:Fallback>
                <p:oleObj name="Worksheet" showAsIcon="1" r:id="rId7" imgW="914400" imgH="771480" progId="Excel.Sheet.12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39039" y="2278079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7637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75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 BS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 BS" id="{423A8E32-BBFD-4BD3-AA33-22AAA9B35801}" vid="{06EFB12C-3F03-4E75-BBCC-C8FC2823E7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5A6BCA4ACA584C9A1C03FD3956D51C" ma:contentTypeVersion="5" ma:contentTypeDescription="Criar um novo documento." ma:contentTypeScope="" ma:versionID="9f803a9406b07ac8ad9c30cbedd75642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targetNamespace="http://schemas.microsoft.com/office/2006/metadata/properties" ma:root="true" ma:fieldsID="8aa30c6fb3715066d0f24195f322e0c8" ns1:_="" ns2:_="">
    <xsd:import namespace="http://schemas.microsoft.com/sharepoint/v3"/>
    <xsd:import namespace="767d911d-09c2-43d9-a326-6ded42ddcc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2EBCFB-3A96-480D-8204-463971BC4F8B}">
  <ds:schemaRefs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767d911d-09c2-43d9-a326-6ded42ddccd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D18E8A5-5A53-4FC4-A450-66CDA081DBC5}"/>
</file>

<file path=customXml/itemProps3.xml><?xml version="1.0" encoding="utf-8"?>
<ds:datastoreItem xmlns:ds="http://schemas.openxmlformats.org/officeDocument/2006/customXml" ds:itemID="{B9D817DF-67AB-4BB4-872E-34E3FEC8FCF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BS</Template>
  <TotalTime>723</TotalTime>
  <Words>2737</Words>
  <Application>Microsoft Office PowerPoint</Application>
  <PresentationFormat>Widescreen</PresentationFormat>
  <Paragraphs>1185</Paragraphs>
  <Slides>46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Calibri</vt:lpstr>
      <vt:lpstr>Santander Text</vt:lpstr>
      <vt:lpstr>Wingdings</vt:lpstr>
      <vt:lpstr>Theme BS</vt:lpstr>
      <vt:lpstr>think-cell Slide</vt:lpstr>
      <vt:lpstr>Macro-Enabled Worksheet</vt:lpstr>
      <vt:lpstr>Worksheet</vt:lpstr>
      <vt:lpstr>Fluxo de Dados</vt:lpstr>
      <vt:lpstr>PowerPoint Presentation</vt:lpstr>
      <vt:lpstr>Símbolos</vt:lpstr>
      <vt:lpstr>PowerPoint Presentation</vt:lpstr>
      <vt:lpstr>PowerPoint Presentation</vt:lpstr>
      <vt:lpstr>Governance </vt:lpstr>
      <vt:lpstr>PowerPoint Presentation</vt:lpstr>
      <vt:lpstr>Fluxos Comuns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Primários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Secundários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de Dados</dc:title>
  <dc:creator>Neyond</dc:creator>
  <cp:lastModifiedBy>Joaquim Pedro Gariso Coimbra</cp:lastModifiedBy>
  <cp:revision>29</cp:revision>
  <dcterms:created xsi:type="dcterms:W3CDTF">2023-06-28T11:37:37Z</dcterms:created>
  <dcterms:modified xsi:type="dcterms:W3CDTF">2023-09-08T13:45:48Z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2023-06-28T11:38:29Z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b6b05ac1-930d-4af0-93fb-75e9a7d9fc40</vt:lpwstr>
  </property>
  <property fmtid="{D5CDD505-2E9C-101B-9397-08002B2CF9AE}" pid="8" name="MSIP_Label_41b88ec2-a72b-4523-9e84-0458a1764731_ContentBits">
    <vt:lpwstr>0</vt:lpwstr>
  </property>
  <property fmtid="{D5CDD505-2E9C-101B-9397-08002B2CF9AE}" pid="9" name="ContentTypeId">
    <vt:lpwstr>0x010100845A6BCA4ACA584C9A1C03FD3956D51C</vt:lpwstr>
  </property>
</Properties>
</file>