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authors.xml" ContentType="application/vnd.ms-powerpoint.author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5"/>
  </p:notesMasterIdLst>
  <p:sldIdLst>
    <p:sldId id="257" r:id="rId5"/>
    <p:sldId id="258" r:id="rId6"/>
    <p:sldId id="259" r:id="rId7"/>
    <p:sldId id="260" r:id="rId8"/>
    <p:sldId id="261" r:id="rId9"/>
    <p:sldId id="262" r:id="rId10"/>
    <p:sldId id="28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6" r:id="rId21"/>
    <p:sldId id="289" r:id="rId22"/>
    <p:sldId id="316" r:id="rId23"/>
    <p:sldId id="290" r:id="rId24"/>
    <p:sldId id="314" r:id="rId25"/>
    <p:sldId id="291" r:id="rId26"/>
    <p:sldId id="299" r:id="rId27"/>
    <p:sldId id="277" r:id="rId28"/>
    <p:sldId id="315" r:id="rId29"/>
    <p:sldId id="292" r:id="rId30"/>
    <p:sldId id="279" r:id="rId31"/>
    <p:sldId id="300" r:id="rId32"/>
    <p:sldId id="280" r:id="rId33"/>
    <p:sldId id="305" r:id="rId34"/>
    <p:sldId id="281" r:id="rId35"/>
    <p:sldId id="306" r:id="rId36"/>
    <p:sldId id="282" r:id="rId37"/>
    <p:sldId id="307" r:id="rId38"/>
    <p:sldId id="293" r:id="rId39"/>
    <p:sldId id="308" r:id="rId40"/>
    <p:sldId id="284" r:id="rId41"/>
    <p:sldId id="311" r:id="rId42"/>
    <p:sldId id="313" r:id="rId43"/>
    <p:sldId id="285" r:id="rId44"/>
  </p:sldIdLst>
  <p:sldSz cx="12192000" cy="6858000"/>
  <p:notesSz cx="6858000" cy="9144000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B7A726-351F-AC51-3650-C06BCA5CB59A}" name="Freire, Catarina Lopes" initials="FCL" userId="S::cfreire@neyond.pt::ddca15c1-05cd-4dd1-99e2-6430845d1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101"/>
    <a:srgbClr val="000000"/>
    <a:srgbClr val="FF9F9F"/>
    <a:srgbClr val="F3F3F3"/>
    <a:srgbClr val="FFD9D9"/>
    <a:srgbClr val="FFC5C5"/>
    <a:srgbClr val="FFF3F3"/>
    <a:srgbClr val="FF8181"/>
    <a:srgbClr val="FF5353"/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CC3028-3820-45DF-81B7-6E7DF0CFBA68}" v="132" dt="2023-09-06T12:17:13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eire, Catarina Lopes" userId="ddca15c1-05cd-4dd1-99e2-6430845d19b2" providerId="ADAL" clId="{78CC3028-3820-45DF-81B7-6E7DF0CFBA68}"/>
    <pc:docChg chg="undo custSel addSld delSld modSld sldOrd">
      <pc:chgData name="Freire, Catarina Lopes" userId="ddca15c1-05cd-4dd1-99e2-6430845d19b2" providerId="ADAL" clId="{78CC3028-3820-45DF-81B7-6E7DF0CFBA68}" dt="2023-09-06T12:19:01.412" v="2599" actId="20577"/>
      <pc:docMkLst>
        <pc:docMk/>
      </pc:docMkLst>
      <pc:sldChg chg="delSp del mod">
        <pc:chgData name="Freire, Catarina Lopes" userId="ddca15c1-05cd-4dd1-99e2-6430845d19b2" providerId="ADAL" clId="{78CC3028-3820-45DF-81B7-6E7DF0CFBA68}" dt="2023-09-06T10:50:53.779" v="8" actId="47"/>
        <pc:sldMkLst>
          <pc:docMk/>
          <pc:sldMk cId="666129779" sldId="283"/>
        </pc:sldMkLst>
        <pc:spChg chg="del">
          <ac:chgData name="Freire, Catarina Lopes" userId="ddca15c1-05cd-4dd1-99e2-6430845d19b2" providerId="ADAL" clId="{78CC3028-3820-45DF-81B7-6E7DF0CFBA68}" dt="2023-09-06T10:49:58.187" v="1" actId="478"/>
          <ac:spMkLst>
            <pc:docMk/>
            <pc:sldMk cId="666129779" sldId="283"/>
            <ac:spMk id="7" creationId="{C77C6261-5BE0-22C3-5D6C-451397857E30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4" creationId="{8257927A-9296-1176-FCFA-99645FBA8BBA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5" creationId="{AD911BB0-90AB-4709-76D8-AADD1FA71C22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6" creationId="{98E74AA7-4643-ED40-C44D-874F652BB9C1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7" creationId="{B57B8777-F7F7-2562-51C4-769D7E58247B}"/>
          </ac:spMkLst>
        </pc:spChg>
        <pc:spChg chg="del">
          <ac:chgData name="Freire, Catarina Lopes" userId="ddca15c1-05cd-4dd1-99e2-6430845d19b2" providerId="ADAL" clId="{78CC3028-3820-45DF-81B7-6E7DF0CFBA68}" dt="2023-09-06T10:50:13.581" v="2" actId="478"/>
          <ac:spMkLst>
            <pc:docMk/>
            <pc:sldMk cId="666129779" sldId="283"/>
            <ac:spMk id="18" creationId="{346DE60D-D420-7BC7-3F65-392FDE1D7FE9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51" creationId="{00000000-0000-0000-0000-000000000000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52" creationId="{00000000-0000-0000-0000-000000000000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54" creationId="{00000000-0000-0000-0000-000000000000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56" creationId="{00000000-0000-0000-0000-000000000000}"/>
          </ac:spMkLst>
        </pc:spChg>
        <pc:spChg chg="del">
          <ac:chgData name="Freire, Catarina Lopes" userId="ddca15c1-05cd-4dd1-99e2-6430845d19b2" providerId="ADAL" clId="{78CC3028-3820-45DF-81B7-6E7DF0CFBA68}" dt="2023-09-06T10:50:13.581" v="2" actId="478"/>
          <ac:spMkLst>
            <pc:docMk/>
            <pc:sldMk cId="666129779" sldId="283"/>
            <ac:spMk id="68" creationId="{94FF19D8-0473-0201-833A-9CB01B7CF962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27" creationId="{5B260461-7425-D2C7-661E-F3A2808D1D0B}"/>
          </ac:spMkLst>
        </pc:spChg>
        <pc:spChg chg="del">
          <ac:chgData name="Freire, Catarina Lopes" userId="ddca15c1-05cd-4dd1-99e2-6430845d19b2" providerId="ADAL" clId="{78CC3028-3820-45DF-81B7-6E7DF0CFBA68}" dt="2023-09-06T10:50:30.208" v="3" actId="478"/>
          <ac:spMkLst>
            <pc:docMk/>
            <pc:sldMk cId="666129779" sldId="283"/>
            <ac:spMk id="129" creationId="{BD28984F-186B-1A0E-8DF4-5F30E73FB014}"/>
          </ac:spMkLst>
        </pc:spChg>
        <pc:spChg chg="del">
          <ac:chgData name="Freire, Catarina Lopes" userId="ddca15c1-05cd-4dd1-99e2-6430845d19b2" providerId="ADAL" clId="{78CC3028-3820-45DF-81B7-6E7DF0CFBA68}" dt="2023-09-06T10:50:34.652" v="4" actId="478"/>
          <ac:spMkLst>
            <pc:docMk/>
            <pc:sldMk cId="666129779" sldId="283"/>
            <ac:spMk id="136" creationId="{F91FC4B8-A24D-4672-B416-1ED8AA9B6D21}"/>
          </ac:spMkLst>
        </pc:spChg>
        <pc:spChg chg="del">
          <ac:chgData name="Freire, Catarina Lopes" userId="ddca15c1-05cd-4dd1-99e2-6430845d19b2" providerId="ADAL" clId="{78CC3028-3820-45DF-81B7-6E7DF0CFBA68}" dt="2023-09-06T10:50:38.117" v="5" actId="478"/>
          <ac:spMkLst>
            <pc:docMk/>
            <pc:sldMk cId="666129779" sldId="283"/>
            <ac:spMk id="138" creationId="{F91FC4B8-A24D-4672-B416-1ED8AA9B6D21}"/>
          </ac:spMkLst>
        </pc:spChg>
        <pc:spChg chg="del">
          <ac:chgData name="Freire, Catarina Lopes" userId="ddca15c1-05cd-4dd1-99e2-6430845d19b2" providerId="ADAL" clId="{78CC3028-3820-45DF-81B7-6E7DF0CFBA68}" dt="2023-09-06T10:50:13.581" v="2" actId="478"/>
          <ac:spMkLst>
            <pc:docMk/>
            <pc:sldMk cId="666129779" sldId="283"/>
            <ac:spMk id="147" creationId="{FFB15DB3-EA42-3F8F-2D44-998FE30B8835}"/>
          </ac:spMkLst>
        </pc:spChg>
        <pc:spChg chg="del">
          <ac:chgData name="Freire, Catarina Lopes" userId="ddca15c1-05cd-4dd1-99e2-6430845d19b2" providerId="ADAL" clId="{78CC3028-3820-45DF-81B7-6E7DF0CFBA68}" dt="2023-09-06T10:50:13.581" v="2" actId="478"/>
          <ac:spMkLst>
            <pc:docMk/>
            <pc:sldMk cId="666129779" sldId="283"/>
            <ac:spMk id="148" creationId="{1789C67A-009F-456D-81C1-7CB3407C3221}"/>
          </ac:spMkLst>
        </pc:s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5" creationId="{16917A12-79FC-5AB7-B05A-4DA2A8BBC628}"/>
          </ac:grpSpMkLst>
        </pc:grpChg>
        <pc:grpChg chg="del">
          <ac:chgData name="Freire, Catarina Lopes" userId="ddca15c1-05cd-4dd1-99e2-6430845d19b2" providerId="ADAL" clId="{78CC3028-3820-45DF-81B7-6E7DF0CFBA68}" dt="2023-09-06T10:50:13.581" v="2" actId="478"/>
          <ac:grpSpMkLst>
            <pc:docMk/>
            <pc:sldMk cId="666129779" sldId="283"/>
            <ac:grpSpMk id="6" creationId="{C276CBAD-FAC7-4357-6A1A-DC59C9D62D38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26" creationId="{DBD5316C-B725-99F5-ABB4-3CB5F62F267D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32" creationId="{3041146E-ADF7-FB47-28DE-444F5F2FAC05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37" creationId="{FCAE5DA7-8F0C-9C39-11E9-64D381C67452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42" creationId="{DC3F13DC-BCF3-3471-E1D6-CBA2BDEC7617}"/>
          </ac:grpSpMkLst>
        </pc:grpChg>
        <pc:grpChg chg="del">
          <ac:chgData name="Freire, Catarina Lopes" userId="ddca15c1-05cd-4dd1-99e2-6430845d19b2" providerId="ADAL" clId="{78CC3028-3820-45DF-81B7-6E7DF0CFBA68}" dt="2023-09-06T10:50:13.581" v="2" actId="478"/>
          <ac:grpSpMkLst>
            <pc:docMk/>
            <pc:sldMk cId="666129779" sldId="283"/>
            <ac:grpSpMk id="59" creationId="{79AC5E53-FEC1-9B6B-A8F4-291DC41D66B7}"/>
          </ac:grpSpMkLst>
        </pc:grpChg>
        <pc:grpChg chg="del">
          <ac:chgData name="Freire, Catarina Lopes" userId="ddca15c1-05cd-4dd1-99e2-6430845d19b2" providerId="ADAL" clId="{78CC3028-3820-45DF-81B7-6E7DF0CFBA68}" dt="2023-09-06T10:50:30.208" v="3" actId="478"/>
          <ac:grpSpMkLst>
            <pc:docMk/>
            <pc:sldMk cId="666129779" sldId="283"/>
            <ac:grpSpMk id="121" creationId="{75A1838B-B301-0466-8FBE-6AA51216D45E}"/>
          </ac:grpSpMkLst>
        </pc:grpChg>
        <pc:picChg chg="del">
          <ac:chgData name="Freire, Catarina Lopes" userId="ddca15c1-05cd-4dd1-99e2-6430845d19b2" providerId="ADAL" clId="{78CC3028-3820-45DF-81B7-6E7DF0CFBA68}" dt="2023-09-06T10:50:13.581" v="2" actId="478"/>
          <ac:picMkLst>
            <pc:docMk/>
            <pc:sldMk cId="666129779" sldId="283"/>
            <ac:picMk id="2" creationId="{A6E8DA83-9C0A-144B-8141-2ED9BD698537}"/>
          </ac:picMkLst>
        </pc:picChg>
        <pc:picChg chg="del">
          <ac:chgData name="Freire, Catarina Lopes" userId="ddca15c1-05cd-4dd1-99e2-6430845d19b2" providerId="ADAL" clId="{78CC3028-3820-45DF-81B7-6E7DF0CFBA68}" dt="2023-09-06T10:50:13.581" v="2" actId="478"/>
          <ac:picMkLst>
            <pc:docMk/>
            <pc:sldMk cId="666129779" sldId="283"/>
            <ac:picMk id="3" creationId="{31D74D45-79C3-E2DE-DEB7-4A37FE37B18D}"/>
          </ac:picMkLst>
        </pc:picChg>
        <pc:picChg chg="del">
          <ac:chgData name="Freire, Catarina Lopes" userId="ddca15c1-05cd-4dd1-99e2-6430845d19b2" providerId="ADAL" clId="{78CC3028-3820-45DF-81B7-6E7DF0CFBA68}" dt="2023-09-06T10:50:13.581" v="2" actId="478"/>
          <ac:picMkLst>
            <pc:docMk/>
            <pc:sldMk cId="666129779" sldId="283"/>
            <ac:picMk id="64" creationId="{D8B5FC0D-9A7E-6E3B-5446-DB957DB24D23}"/>
          </ac:picMkLst>
        </pc:picChg>
        <pc:picChg chg="del">
          <ac:chgData name="Freire, Catarina Lopes" userId="ddca15c1-05cd-4dd1-99e2-6430845d19b2" providerId="ADAL" clId="{78CC3028-3820-45DF-81B7-6E7DF0CFBA68}" dt="2023-09-06T10:50:30.208" v="3" actId="478"/>
          <ac:picMkLst>
            <pc:docMk/>
            <pc:sldMk cId="666129779" sldId="283"/>
            <ac:picMk id="124" creationId="{7CC36514-7F52-F9FD-CCF9-54D6CF53AEC5}"/>
          </ac:picMkLst>
        </pc:picChg>
        <pc:picChg chg="del">
          <ac:chgData name="Freire, Catarina Lopes" userId="ddca15c1-05cd-4dd1-99e2-6430845d19b2" providerId="ADAL" clId="{78CC3028-3820-45DF-81B7-6E7DF0CFBA68}" dt="2023-09-06T10:50:30.208" v="3" actId="478"/>
          <ac:picMkLst>
            <pc:docMk/>
            <pc:sldMk cId="666129779" sldId="283"/>
            <ac:picMk id="125" creationId="{C400457E-6E05-B0F2-DDCF-A37DAFEF98BA}"/>
          </ac:picMkLst>
        </pc:picChg>
        <pc:cxnChg chg="del">
          <ac:chgData name="Freire, Catarina Lopes" userId="ddca15c1-05cd-4dd1-99e2-6430845d19b2" providerId="ADAL" clId="{78CC3028-3820-45DF-81B7-6E7DF0CFBA68}" dt="2023-09-06T10:50:13.581" v="2" actId="478"/>
          <ac:cxnSpMkLst>
            <pc:docMk/>
            <pc:sldMk cId="666129779" sldId="283"/>
            <ac:cxnSpMk id="8" creationId="{264BE87F-4BB6-A8A6-2FD0-A41FF918653A}"/>
          </ac:cxnSpMkLst>
        </pc:cxnChg>
        <pc:cxnChg chg="del">
          <ac:chgData name="Freire, Catarina Lopes" userId="ddca15c1-05cd-4dd1-99e2-6430845d19b2" providerId="ADAL" clId="{78CC3028-3820-45DF-81B7-6E7DF0CFBA68}" dt="2023-09-06T10:50:44.443" v="6" actId="478"/>
          <ac:cxnSpMkLst>
            <pc:docMk/>
            <pc:sldMk cId="666129779" sldId="283"/>
            <ac:cxnSpMk id="65" creationId="{04F3EBF4-B614-F1B2-96D0-FC84340560AD}"/>
          </ac:cxnSpMkLst>
        </pc:cxnChg>
        <pc:cxnChg chg="del">
          <ac:chgData name="Freire, Catarina Lopes" userId="ddca15c1-05cd-4dd1-99e2-6430845d19b2" providerId="ADAL" clId="{78CC3028-3820-45DF-81B7-6E7DF0CFBA68}" dt="2023-09-06T10:50:13.581" v="2" actId="478"/>
          <ac:cxnSpMkLst>
            <pc:docMk/>
            <pc:sldMk cId="666129779" sldId="283"/>
            <ac:cxnSpMk id="66" creationId="{C4FD80F9-70B5-CB9E-F9D7-9B8C4354F7F2}"/>
          </ac:cxnSpMkLst>
        </pc:cxnChg>
        <pc:cxnChg chg="del">
          <ac:chgData name="Freire, Catarina Lopes" userId="ddca15c1-05cd-4dd1-99e2-6430845d19b2" providerId="ADAL" clId="{78CC3028-3820-45DF-81B7-6E7DF0CFBA68}" dt="2023-09-06T10:50:45.861" v="7" actId="478"/>
          <ac:cxnSpMkLst>
            <pc:docMk/>
            <pc:sldMk cId="666129779" sldId="283"/>
            <ac:cxnSpMk id="132" creationId="{00000000-0000-0000-0000-000000000000}"/>
          </ac:cxnSpMkLst>
        </pc:cxnChg>
      </pc:sldChg>
      <pc:sldChg chg="add">
        <pc:chgData name="Freire, Catarina Lopes" userId="ddca15c1-05cd-4dd1-99e2-6430845d19b2" providerId="ADAL" clId="{78CC3028-3820-45DF-81B7-6E7DF0CFBA68}" dt="2023-09-06T10:49:36.506" v="0"/>
        <pc:sldMkLst>
          <pc:docMk/>
          <pc:sldMk cId="2937849047" sldId="293"/>
        </pc:sldMkLst>
      </pc:sldChg>
      <pc:sldChg chg="addSp delSp modSp add mod ord">
        <pc:chgData name="Freire, Catarina Lopes" userId="ddca15c1-05cd-4dd1-99e2-6430845d19b2" providerId="ADAL" clId="{78CC3028-3820-45DF-81B7-6E7DF0CFBA68}" dt="2023-09-06T11:38:25.075" v="1479" actId="242"/>
        <pc:sldMkLst>
          <pc:docMk/>
          <pc:sldMk cId="2957096109" sldId="294"/>
        </pc:sldMkLst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" creationId="{46088BF3-703A-BB75-1389-2AD8B2E03CAF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3" creationId="{0ECB1048-3568-E9D0-1CA5-56935CD3A13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4" creationId="{77065354-0DC8-AF6E-8385-8A86C440578D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5" creationId="{C6DD4C61-1B0B-B40A-D091-1D03E777D273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6" creationId="{566A46C7-9C13-B7DA-B618-C61F2BD50D7B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7" creationId="{58CEBAE9-0132-F2DB-52B4-C2157D5B2B3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8" creationId="{6D61CB54-7693-9AEB-44B7-3F2D4E836CB0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9" creationId="{A9DF516D-43BC-49D4-3A1B-03C639042EC0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0" creationId="{59E9024C-6D3B-46F1-AC26-27CD19164EA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1" creationId="{66440D88-7A06-7A6D-7260-F9B08BC23B9E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2" creationId="{8B36A6A7-F983-3A7F-CA8A-2D38B5FE9AFF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3" creationId="{EB491EC7-BA90-5E47-25CF-697A9ED53D74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4" creationId="{95CEF503-DED4-6BAC-FA15-00F1E3093A5E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5" creationId="{4B73AB0B-8799-0D20-48A0-963EADC02633}"/>
          </ac:spMkLst>
        </pc:spChg>
        <pc:spChg chg="add del">
          <ac:chgData name="Freire, Catarina Lopes" userId="ddca15c1-05cd-4dd1-99e2-6430845d19b2" providerId="ADAL" clId="{78CC3028-3820-45DF-81B7-6E7DF0CFBA68}" dt="2023-09-06T10:52:07.162" v="44" actId="478"/>
          <ac:spMkLst>
            <pc:docMk/>
            <pc:sldMk cId="2957096109" sldId="294"/>
            <ac:spMk id="16" creationId="{5DFF0B6E-AB34-2C67-B9EA-89CA10DB635B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7" creationId="{0450F73E-C80C-3516-22FE-1CBCE901F66F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18" creationId="{2C6A2BAF-F4BD-E17D-F139-1E5115512D70}"/>
          </ac:spMkLst>
        </pc:spChg>
        <pc:spChg chg="add mod">
          <ac:chgData name="Freire, Catarina Lopes" userId="ddca15c1-05cd-4dd1-99e2-6430845d19b2" providerId="ADAL" clId="{78CC3028-3820-45DF-81B7-6E7DF0CFBA68}" dt="2023-09-06T11:20:54.617" v="909" actId="1076"/>
          <ac:spMkLst>
            <pc:docMk/>
            <pc:sldMk cId="2957096109" sldId="294"/>
            <ac:spMk id="19" creationId="{A6F2D26C-7EBA-7C8B-117B-3BECDEAE251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1" creationId="{80D0FE24-4BC1-756F-0B9B-2BC40F06AD17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2" creationId="{00015064-5266-555B-64B3-F6FB8C7D4991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3" creationId="{C33277F3-BEC6-22DF-5826-E5F2B335714C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5" creationId="{39BB5C70-9D8B-4DBE-5A54-D3A916A18DCA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6" creationId="{37EE23C5-B5F2-5DB2-B13D-0D744837525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27" creationId="{30BA96A5-F700-3FA7-4DAA-EE89224BC042}"/>
          </ac:spMkLst>
        </pc:spChg>
        <pc:spChg chg="add mod">
          <ac:chgData name="Freire, Catarina Lopes" userId="ddca15c1-05cd-4dd1-99e2-6430845d19b2" providerId="ADAL" clId="{78CC3028-3820-45DF-81B7-6E7DF0CFBA68}" dt="2023-09-06T11:22:43.912" v="1189" actId="207"/>
          <ac:spMkLst>
            <pc:docMk/>
            <pc:sldMk cId="2957096109" sldId="294"/>
            <ac:spMk id="29" creationId="{0B7E1C36-B7CC-0AD5-207E-D7DE314720E8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30" creationId="{4F2CC605-0E56-7C78-0C42-0A9E734FE6BD}"/>
          </ac:spMkLst>
        </pc:spChg>
        <pc:spChg chg="del">
          <ac:chgData name="Freire, Catarina Lopes" userId="ddca15c1-05cd-4dd1-99e2-6430845d19b2" providerId="ADAL" clId="{78CC3028-3820-45DF-81B7-6E7DF0CFBA68}" dt="2023-09-06T10:51:58.511" v="42" actId="478"/>
          <ac:spMkLst>
            <pc:docMk/>
            <pc:sldMk cId="2957096109" sldId="294"/>
            <ac:spMk id="31" creationId="{E46F32B6-C413-4A06-F823-552A38388303}"/>
          </ac:spMkLst>
        </pc:spChg>
        <pc:spChg chg="mod">
          <ac:chgData name="Freire, Catarina Lopes" userId="ddca15c1-05cd-4dd1-99e2-6430845d19b2" providerId="ADAL" clId="{78CC3028-3820-45DF-81B7-6E7DF0CFBA68}" dt="2023-09-06T11:20:58.037" v="910" actId="1076"/>
          <ac:spMkLst>
            <pc:docMk/>
            <pc:sldMk cId="2957096109" sldId="294"/>
            <ac:spMk id="33" creationId="{5B462505-3E49-18ED-E8B6-1A38676B0057}"/>
          </ac:spMkLst>
        </pc:spChg>
        <pc:graphicFrameChg chg="add mod modGraphic">
          <ac:chgData name="Freire, Catarina Lopes" userId="ddca15c1-05cd-4dd1-99e2-6430845d19b2" providerId="ADAL" clId="{78CC3028-3820-45DF-81B7-6E7DF0CFBA68}" dt="2023-09-06T11:38:25.075" v="1479" actId="242"/>
          <ac:graphicFrameMkLst>
            <pc:docMk/>
            <pc:sldMk cId="2957096109" sldId="294"/>
            <ac:graphicFrameMk id="28" creationId="{7672743C-F470-EF58-E8A3-C9B551D5983F}"/>
          </ac:graphicFrameMkLst>
        </pc:graphicFrameChg>
        <pc:cxnChg chg="del">
          <ac:chgData name="Freire, Catarina Lopes" userId="ddca15c1-05cd-4dd1-99e2-6430845d19b2" providerId="ADAL" clId="{78CC3028-3820-45DF-81B7-6E7DF0CFBA68}" dt="2023-09-06T10:51:58.511" v="42" actId="478"/>
          <ac:cxnSpMkLst>
            <pc:docMk/>
            <pc:sldMk cId="2957096109" sldId="294"/>
            <ac:cxnSpMk id="20" creationId="{393AA751-7401-0375-4A8F-3A0A31DD17C8}"/>
          </ac:cxnSpMkLst>
        </pc:cxnChg>
        <pc:cxnChg chg="del">
          <ac:chgData name="Freire, Catarina Lopes" userId="ddca15c1-05cd-4dd1-99e2-6430845d19b2" providerId="ADAL" clId="{78CC3028-3820-45DF-81B7-6E7DF0CFBA68}" dt="2023-09-06T10:51:58.511" v="42" actId="478"/>
          <ac:cxnSpMkLst>
            <pc:docMk/>
            <pc:sldMk cId="2957096109" sldId="294"/>
            <ac:cxnSpMk id="24" creationId="{7501E6F2-5509-87CC-EF02-357B109142E4}"/>
          </ac:cxnSpMkLst>
        </pc:cxnChg>
        <pc:cxnChg chg="del">
          <ac:chgData name="Freire, Catarina Lopes" userId="ddca15c1-05cd-4dd1-99e2-6430845d19b2" providerId="ADAL" clId="{78CC3028-3820-45DF-81B7-6E7DF0CFBA68}" dt="2023-09-06T10:51:58.511" v="42" actId="478"/>
          <ac:cxnSpMkLst>
            <pc:docMk/>
            <pc:sldMk cId="2957096109" sldId="294"/>
            <ac:cxnSpMk id="32" creationId="{FE0F9258-8530-7AD3-5074-F6D9DCBCF24B}"/>
          </ac:cxnSpMkLst>
        </pc:cxnChg>
      </pc:sldChg>
      <pc:sldChg chg="new del">
        <pc:chgData name="Freire, Catarina Lopes" userId="ddca15c1-05cd-4dd1-99e2-6430845d19b2" providerId="ADAL" clId="{78CC3028-3820-45DF-81B7-6E7DF0CFBA68}" dt="2023-09-06T10:51:03.362" v="10" actId="680"/>
        <pc:sldMkLst>
          <pc:docMk/>
          <pc:sldMk cId="3430163716" sldId="294"/>
        </pc:sldMkLst>
      </pc:sldChg>
      <pc:sldChg chg="addSp delSp modSp add mod ord">
        <pc:chgData name="Freire, Catarina Lopes" userId="ddca15c1-05cd-4dd1-99e2-6430845d19b2" providerId="ADAL" clId="{78CC3028-3820-45DF-81B7-6E7DF0CFBA68}" dt="2023-09-06T12:19:01.412" v="2599" actId="20577"/>
        <pc:sldMkLst>
          <pc:docMk/>
          <pc:sldMk cId="2071136801" sldId="295"/>
        </pc:sldMkLst>
        <pc:spChg chg="add mod">
          <ac:chgData name="Freire, Catarina Lopes" userId="ddca15c1-05cd-4dd1-99e2-6430845d19b2" providerId="ADAL" clId="{78CC3028-3820-45DF-81B7-6E7DF0CFBA68}" dt="2023-09-06T12:19:01.412" v="2599" actId="20577"/>
          <ac:spMkLst>
            <pc:docMk/>
            <pc:sldMk cId="2071136801" sldId="295"/>
            <ac:spMk id="2" creationId="{279AF210-B561-8E72-D421-8E65FEBCFB52}"/>
          </ac:spMkLst>
        </pc:spChg>
        <pc:spChg chg="mod">
          <ac:chgData name="Freire, Catarina Lopes" userId="ddca15c1-05cd-4dd1-99e2-6430845d19b2" providerId="ADAL" clId="{78CC3028-3820-45DF-81B7-6E7DF0CFBA68}" dt="2023-09-06T11:23:15.049" v="1203" actId="20577"/>
          <ac:spMkLst>
            <pc:docMk/>
            <pc:sldMk cId="2071136801" sldId="295"/>
            <ac:spMk id="19" creationId="{A6F2D26C-7EBA-7C8B-117B-3BECDEAE2518}"/>
          </ac:spMkLst>
        </pc:spChg>
        <pc:spChg chg="del mod">
          <ac:chgData name="Freire, Catarina Lopes" userId="ddca15c1-05cd-4dd1-99e2-6430845d19b2" providerId="ADAL" clId="{78CC3028-3820-45DF-81B7-6E7DF0CFBA68}" dt="2023-09-06T11:36:29.362" v="1465" actId="478"/>
          <ac:spMkLst>
            <pc:docMk/>
            <pc:sldMk cId="2071136801" sldId="295"/>
            <ac:spMk id="29" creationId="{0B7E1C36-B7CC-0AD5-207E-D7DE314720E8}"/>
          </ac:spMkLst>
        </pc:spChg>
        <pc:spChg chg="mod">
          <ac:chgData name="Freire, Catarina Lopes" userId="ddca15c1-05cd-4dd1-99e2-6430845d19b2" providerId="ADAL" clId="{78CC3028-3820-45DF-81B7-6E7DF0CFBA68}" dt="2023-09-06T11:23:12.177" v="1199" actId="20577"/>
          <ac:spMkLst>
            <pc:docMk/>
            <pc:sldMk cId="2071136801" sldId="295"/>
            <ac:spMk id="33" creationId="{5B462505-3E49-18ED-E8B6-1A38676B0057}"/>
          </ac:spMkLst>
        </pc:spChg>
        <pc:graphicFrameChg chg="mod modGraphic">
          <ac:chgData name="Freire, Catarina Lopes" userId="ddca15c1-05cd-4dd1-99e2-6430845d19b2" providerId="ADAL" clId="{78CC3028-3820-45DF-81B7-6E7DF0CFBA68}" dt="2023-09-06T11:36:40.884" v="1467" actId="14100"/>
          <ac:graphicFrameMkLst>
            <pc:docMk/>
            <pc:sldMk cId="2071136801" sldId="295"/>
            <ac:graphicFrameMk id="28" creationId="{7672743C-F470-EF58-E8A3-C9B551D5983F}"/>
          </ac:graphicFrameMkLst>
        </pc:graphicFrameChg>
      </pc:sldChg>
      <pc:sldChg chg="modSp add mod ord">
        <pc:chgData name="Freire, Catarina Lopes" userId="ddca15c1-05cd-4dd1-99e2-6430845d19b2" providerId="ADAL" clId="{78CC3028-3820-45DF-81B7-6E7DF0CFBA68}" dt="2023-09-06T11:47:46.046" v="1703" actId="20577"/>
        <pc:sldMkLst>
          <pc:docMk/>
          <pc:sldMk cId="2898441017" sldId="296"/>
        </pc:sldMkLst>
        <pc:spChg chg="mod">
          <ac:chgData name="Freire, Catarina Lopes" userId="ddca15c1-05cd-4dd1-99e2-6430845d19b2" providerId="ADAL" clId="{78CC3028-3820-45DF-81B7-6E7DF0CFBA68}" dt="2023-09-06T11:37:06.662" v="1474" actId="20577"/>
          <ac:spMkLst>
            <pc:docMk/>
            <pc:sldMk cId="2898441017" sldId="296"/>
            <ac:spMk id="19" creationId="{A6F2D26C-7EBA-7C8B-117B-3BECDEAE2518}"/>
          </ac:spMkLst>
        </pc:spChg>
        <pc:spChg chg="mod">
          <ac:chgData name="Freire, Catarina Lopes" userId="ddca15c1-05cd-4dd1-99e2-6430845d19b2" providerId="ADAL" clId="{78CC3028-3820-45DF-81B7-6E7DF0CFBA68}" dt="2023-09-06T11:47:46.046" v="1703" actId="20577"/>
          <ac:spMkLst>
            <pc:docMk/>
            <pc:sldMk cId="2898441017" sldId="296"/>
            <ac:spMk id="29" creationId="{0B7E1C36-B7CC-0AD5-207E-D7DE314720E8}"/>
          </ac:spMkLst>
        </pc:spChg>
        <pc:spChg chg="mod">
          <ac:chgData name="Freire, Catarina Lopes" userId="ddca15c1-05cd-4dd1-99e2-6430845d19b2" providerId="ADAL" clId="{78CC3028-3820-45DF-81B7-6E7DF0CFBA68}" dt="2023-09-06T11:37:04.377" v="1472" actId="20577"/>
          <ac:spMkLst>
            <pc:docMk/>
            <pc:sldMk cId="2898441017" sldId="296"/>
            <ac:spMk id="33" creationId="{5B462505-3E49-18ED-E8B6-1A38676B0057}"/>
          </ac:spMkLst>
        </pc:spChg>
        <pc:graphicFrameChg chg="mod modGraphic">
          <ac:chgData name="Freire, Catarina Lopes" userId="ddca15c1-05cd-4dd1-99e2-6430845d19b2" providerId="ADAL" clId="{78CC3028-3820-45DF-81B7-6E7DF0CFBA68}" dt="2023-09-06T11:47:30.522" v="1695" actId="13926"/>
          <ac:graphicFrameMkLst>
            <pc:docMk/>
            <pc:sldMk cId="2898441017" sldId="296"/>
            <ac:graphicFrameMk id="28" creationId="{7672743C-F470-EF58-E8A3-C9B551D5983F}"/>
          </ac:graphicFrameMkLst>
        </pc:graphicFrameChg>
      </pc:sldChg>
      <pc:sldChg chg="addSp delSp modSp add mod">
        <pc:chgData name="Freire, Catarina Lopes" userId="ddca15c1-05cd-4dd1-99e2-6430845d19b2" providerId="ADAL" clId="{78CC3028-3820-45DF-81B7-6E7DF0CFBA68}" dt="2023-09-06T12:06:12.217" v="1947" actId="20577"/>
        <pc:sldMkLst>
          <pc:docMk/>
          <pc:sldMk cId="3847195296" sldId="297"/>
        </pc:sldMkLst>
        <pc:spChg chg="add mod">
          <ac:chgData name="Freire, Catarina Lopes" userId="ddca15c1-05cd-4dd1-99e2-6430845d19b2" providerId="ADAL" clId="{78CC3028-3820-45DF-81B7-6E7DF0CFBA68}" dt="2023-09-06T12:06:12.217" v="1947" actId="20577"/>
          <ac:spMkLst>
            <pc:docMk/>
            <pc:sldMk cId="3847195296" sldId="297"/>
            <ac:spMk id="2" creationId="{6C65BCFF-8818-F7F4-99C0-0DFE7F41CBFD}"/>
          </ac:spMkLst>
        </pc:spChg>
        <pc:spChg chg="mod">
          <ac:chgData name="Freire, Catarina Lopes" userId="ddca15c1-05cd-4dd1-99e2-6430845d19b2" providerId="ADAL" clId="{78CC3028-3820-45DF-81B7-6E7DF0CFBA68}" dt="2023-09-06T11:48:07.481" v="1708" actId="20577"/>
          <ac:spMkLst>
            <pc:docMk/>
            <pc:sldMk cId="3847195296" sldId="297"/>
            <ac:spMk id="19" creationId="{A6F2D26C-7EBA-7C8B-117B-3BECDEAE2518}"/>
          </ac:spMkLst>
        </pc:spChg>
        <pc:spChg chg="del mod">
          <ac:chgData name="Freire, Catarina Lopes" userId="ddca15c1-05cd-4dd1-99e2-6430845d19b2" providerId="ADAL" clId="{78CC3028-3820-45DF-81B7-6E7DF0CFBA68}" dt="2023-09-06T12:06:03.754" v="1944" actId="478"/>
          <ac:spMkLst>
            <pc:docMk/>
            <pc:sldMk cId="3847195296" sldId="297"/>
            <ac:spMk id="29" creationId="{0B7E1C36-B7CC-0AD5-207E-D7DE314720E8}"/>
          </ac:spMkLst>
        </pc:spChg>
        <pc:spChg chg="mod">
          <ac:chgData name="Freire, Catarina Lopes" userId="ddca15c1-05cd-4dd1-99e2-6430845d19b2" providerId="ADAL" clId="{78CC3028-3820-45DF-81B7-6E7DF0CFBA68}" dt="2023-09-06T11:48:04.288" v="1706" actId="20577"/>
          <ac:spMkLst>
            <pc:docMk/>
            <pc:sldMk cId="3847195296" sldId="297"/>
            <ac:spMk id="33" creationId="{5B462505-3E49-18ED-E8B6-1A38676B0057}"/>
          </ac:spMkLst>
        </pc:spChg>
        <pc:graphicFrameChg chg="mod modGraphic">
          <ac:chgData name="Freire, Catarina Lopes" userId="ddca15c1-05cd-4dd1-99e2-6430845d19b2" providerId="ADAL" clId="{78CC3028-3820-45DF-81B7-6E7DF0CFBA68}" dt="2023-09-06T12:02:12.072" v="1941" actId="2165"/>
          <ac:graphicFrameMkLst>
            <pc:docMk/>
            <pc:sldMk cId="3847195296" sldId="297"/>
            <ac:graphicFrameMk id="28" creationId="{7672743C-F470-EF58-E8A3-C9B551D5983F}"/>
          </ac:graphicFrameMkLst>
        </pc:graphicFrameChg>
      </pc:sldChg>
      <pc:sldChg chg="addSp delSp modSp add mod">
        <pc:chgData name="Freire, Catarina Lopes" userId="ddca15c1-05cd-4dd1-99e2-6430845d19b2" providerId="ADAL" clId="{78CC3028-3820-45DF-81B7-6E7DF0CFBA68}" dt="2023-09-06T12:15:13.030" v="2158" actId="20577"/>
        <pc:sldMkLst>
          <pc:docMk/>
          <pc:sldMk cId="3273578417" sldId="298"/>
        </pc:sldMkLst>
        <pc:spChg chg="add mod">
          <ac:chgData name="Freire, Catarina Lopes" userId="ddca15c1-05cd-4dd1-99e2-6430845d19b2" providerId="ADAL" clId="{78CC3028-3820-45DF-81B7-6E7DF0CFBA68}" dt="2023-09-06T12:15:13.030" v="2158" actId="20577"/>
          <ac:spMkLst>
            <pc:docMk/>
            <pc:sldMk cId="3273578417" sldId="298"/>
            <ac:spMk id="2" creationId="{1C7A3E62-8015-98B8-5343-1080536DE5A4}"/>
          </ac:spMkLst>
        </pc:spChg>
        <pc:spChg chg="mod">
          <ac:chgData name="Freire, Catarina Lopes" userId="ddca15c1-05cd-4dd1-99e2-6430845d19b2" providerId="ADAL" clId="{78CC3028-3820-45DF-81B7-6E7DF0CFBA68}" dt="2023-09-06T12:06:30.564" v="1956" actId="20577"/>
          <ac:spMkLst>
            <pc:docMk/>
            <pc:sldMk cId="3273578417" sldId="298"/>
            <ac:spMk id="19" creationId="{A6F2D26C-7EBA-7C8B-117B-3BECDEAE2518}"/>
          </ac:spMkLst>
        </pc:spChg>
        <pc:spChg chg="del">
          <ac:chgData name="Freire, Catarina Lopes" userId="ddca15c1-05cd-4dd1-99e2-6430845d19b2" providerId="ADAL" clId="{78CC3028-3820-45DF-81B7-6E7DF0CFBA68}" dt="2023-09-06T12:15:04.601" v="2153" actId="478"/>
          <ac:spMkLst>
            <pc:docMk/>
            <pc:sldMk cId="3273578417" sldId="298"/>
            <ac:spMk id="29" creationId="{0B7E1C36-B7CC-0AD5-207E-D7DE314720E8}"/>
          </ac:spMkLst>
        </pc:spChg>
        <pc:spChg chg="mod">
          <ac:chgData name="Freire, Catarina Lopes" userId="ddca15c1-05cd-4dd1-99e2-6430845d19b2" providerId="ADAL" clId="{78CC3028-3820-45DF-81B7-6E7DF0CFBA68}" dt="2023-09-06T12:06:26.944" v="1952" actId="20577"/>
          <ac:spMkLst>
            <pc:docMk/>
            <pc:sldMk cId="3273578417" sldId="298"/>
            <ac:spMk id="33" creationId="{5B462505-3E49-18ED-E8B6-1A38676B0057}"/>
          </ac:spMkLst>
        </pc:spChg>
        <pc:graphicFrameChg chg="mod modGraphic">
          <ac:chgData name="Freire, Catarina Lopes" userId="ddca15c1-05cd-4dd1-99e2-6430845d19b2" providerId="ADAL" clId="{78CC3028-3820-45DF-81B7-6E7DF0CFBA68}" dt="2023-09-06T12:14:59.141" v="2152" actId="20577"/>
          <ac:graphicFrameMkLst>
            <pc:docMk/>
            <pc:sldMk cId="3273578417" sldId="298"/>
            <ac:graphicFrameMk id="28" creationId="{7672743C-F470-EF58-E8A3-C9B551D5983F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A185-3A53-4383-8D85-3951E9DB2EE9}" type="datetimeFigureOut">
              <a:rPr lang="pt-PT" smtClean="0"/>
              <a:t>13/09/2023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4CBB9-860E-4584-9943-013173697D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7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58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44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4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985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991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360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740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35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077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73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58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4CBB9-860E-4584-9943-013173697DFF}" type="slidenum">
              <a:rPr lang="pt-PT" smtClean="0"/>
              <a:t>34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904088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8976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4CBB9-860E-4584-9943-013173697DFF}" type="slidenum">
              <a:rPr lang="pt-PT" smtClean="0"/>
              <a:t>36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890967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6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7.png"/><Relationship Id="rId12" Type="http://schemas.openxmlformats.org/officeDocument/2006/relationships/image" Target="../media/image14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7" y="1096486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31" y="2722153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98" indent="0" algn="ctr">
              <a:buNone/>
              <a:defRPr sz="2000"/>
            </a:lvl2pPr>
            <a:lvl3pPr marL="914194" indent="0" algn="ctr">
              <a:buNone/>
              <a:defRPr sz="1900"/>
            </a:lvl3pPr>
            <a:lvl4pPr marL="1371292" indent="0" algn="ctr">
              <a:buNone/>
              <a:defRPr sz="1600"/>
            </a:lvl4pPr>
            <a:lvl5pPr marL="1828388" indent="0" algn="ctr">
              <a:buNone/>
              <a:defRPr sz="1600"/>
            </a:lvl5pPr>
            <a:lvl6pPr marL="2285485" indent="0" algn="ctr">
              <a:buNone/>
              <a:defRPr sz="1600"/>
            </a:lvl6pPr>
            <a:lvl7pPr marL="2742581" indent="0" algn="ctr">
              <a:buNone/>
              <a:defRPr sz="1600"/>
            </a:lvl7pPr>
            <a:lvl8pPr marL="3199679" indent="0" algn="ctr">
              <a:buNone/>
              <a:defRPr sz="1600"/>
            </a:lvl8pPr>
            <a:lvl9pPr marL="365677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 dirty="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49" y="333654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98" indent="0">
              <a:buNone/>
              <a:defRPr sz="1300">
                <a:solidFill>
                  <a:schemeClr val="tx2"/>
                </a:solidFill>
              </a:defRPr>
            </a:lvl2pPr>
            <a:lvl3pPr marL="914194" indent="0">
              <a:buNone/>
              <a:defRPr sz="1300">
                <a:solidFill>
                  <a:schemeClr val="tx2"/>
                </a:solidFill>
              </a:defRPr>
            </a:lvl3pPr>
            <a:lvl4pPr marL="1371292" indent="0">
              <a:buNone/>
              <a:defRPr sz="1300">
                <a:solidFill>
                  <a:schemeClr val="tx2"/>
                </a:solidFill>
              </a:defRPr>
            </a:lvl4pPr>
            <a:lvl5pPr marL="182838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5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79"/>
            <a:ext cx="1849822" cy="29751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es-ES" sz="1300" dirty="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2" y="1100250"/>
            <a:ext cx="10635842" cy="4906665"/>
          </a:xfrm>
        </p:spPr>
        <p:txBody>
          <a:bodyPr>
            <a:normAutofit/>
          </a:bodyPr>
          <a:lstStyle>
            <a:lvl1pPr marL="431903" indent="-39591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61227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2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 dirty="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9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7">
                <a:solidFill>
                  <a:schemeClr val="bg1"/>
                </a:solidFill>
              </a:defRPr>
            </a:lvl1pPr>
            <a:lvl2pPr>
              <a:defRPr sz="13897">
                <a:solidFill>
                  <a:schemeClr val="tx1"/>
                </a:solidFill>
              </a:defRPr>
            </a:lvl2pPr>
            <a:lvl3pPr>
              <a:defRPr sz="11498">
                <a:solidFill>
                  <a:schemeClr val="tx1"/>
                </a:solidFill>
              </a:defRPr>
            </a:lvl3pPr>
            <a:lvl4pPr>
              <a:defRPr sz="9598">
                <a:solidFill>
                  <a:schemeClr val="tx1"/>
                </a:solidFill>
              </a:defRPr>
            </a:lvl4pPr>
            <a:lvl5pPr>
              <a:defRPr sz="9598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3111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70"/>
            <a:ext cx="5297558" cy="1606047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7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81" y="1087467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017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4" y="1087469"/>
            <a:ext cx="10758733" cy="1823011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34" y="3093575"/>
            <a:ext cx="10758733" cy="3083401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45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2" y="1109773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3" y="1126273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35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3911401" cy="1183132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2517178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6" y="1087448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dirty="0" err="1"/>
              <a:t>Insira</a:t>
            </a:r>
            <a:r>
              <a:rPr lang="es-MX" dirty="0"/>
              <a:t> </a:t>
            </a:r>
            <a:r>
              <a:rPr lang="es-MX" dirty="0" err="1"/>
              <a:t>aqui</a:t>
            </a:r>
            <a:r>
              <a:rPr lang="es-MX" dirty="0"/>
              <a:t> </a:t>
            </a:r>
            <a:r>
              <a:rPr lang="es-MX" dirty="0" err="1"/>
              <a:t>seu</a:t>
            </a:r>
            <a:r>
              <a:rPr lang="es-MX" dirty="0"/>
              <a:t> gráfico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64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6" y="1707778"/>
            <a:ext cx="6612966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6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4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4" y="1191812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1" y="1993912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72" y="1993912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7" y="3685073"/>
            <a:ext cx="187150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0007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1" y="5229931"/>
            <a:ext cx="12192000" cy="162807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9" y="5573156"/>
            <a:ext cx="1347482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71" y="5573588"/>
            <a:ext cx="578706" cy="455018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98" y="1945652"/>
            <a:ext cx="3365479" cy="1384672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5" y="628205"/>
            <a:ext cx="3365479" cy="70788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6" y="3458200"/>
            <a:ext cx="3046638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/>
        </p:nvGrpSpPr>
        <p:grpSpPr>
          <a:xfrm>
            <a:off x="9357756" y="40633"/>
            <a:ext cx="2803762" cy="1059262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xmlns="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/>
        </p:nvSpPr>
        <p:spPr>
          <a:xfrm>
            <a:off x="2413768" y="6438184"/>
            <a:ext cx="1944000" cy="246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1" y="6440690"/>
            <a:ext cx="241169" cy="241082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/>
        </p:nvSpPr>
        <p:spPr>
          <a:xfrm>
            <a:off x="7295783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911" y="6440690"/>
            <a:ext cx="241169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/>
        </p:nvSpPr>
        <p:spPr>
          <a:xfrm>
            <a:off x="9683270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3969766" y="6435260"/>
            <a:ext cx="252033" cy="251942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/>
        </p:nvSpPr>
        <p:spPr>
          <a:xfrm>
            <a:off x="4238716" y="6438152"/>
            <a:ext cx="2568263" cy="246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2130727" y="6417264"/>
            <a:ext cx="288037" cy="28793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77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4"/>
            <a:ext cx="10515600" cy="435133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10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8D38-0FC1-424A-9F8E-E8315B0648D8}" type="datetimeFigureOut">
              <a:rPr lang="pt-PT" smtClean="0"/>
              <a:t>13/09/2023</a:t>
            </a:fld>
            <a:endParaRPr lang="pt-P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351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194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8" indent="-228548" algn="l" defTabSz="91419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6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4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40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3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34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2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5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4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2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5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79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6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svg"/><Relationship Id="rId3" Type="http://schemas.openxmlformats.org/officeDocument/2006/relationships/tags" Target="../tags/tag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6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18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17.emf"/><Relationship Id="rId12" Type="http://schemas.openxmlformats.org/officeDocument/2006/relationships/image" Target="../media/image23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2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emf"/><Relationship Id="rId3" Type="http://schemas.openxmlformats.org/officeDocument/2006/relationships/tags" Target="../tags/tag6.xml"/><Relationship Id="rId7" Type="http://schemas.openxmlformats.org/officeDocument/2006/relationships/image" Target="../media/image16.svg"/><Relationship Id="rId12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png"/><Relationship Id="rId11" Type="http://schemas.openxmlformats.org/officeDocument/2006/relationships/image" Target="../media/image14.sv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28.png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png"/><Relationship Id="rId3" Type="http://schemas.openxmlformats.org/officeDocument/2006/relationships/tags" Target="../tags/tag14.xml"/><Relationship Id="rId7" Type="http://schemas.openxmlformats.org/officeDocument/2006/relationships/image" Target="../media/image14.svg"/><Relationship Id="rId12" Type="http://schemas.openxmlformats.org/officeDocument/2006/relationships/image" Target="../media/image13.png"/><Relationship Id="rId2" Type="http://schemas.openxmlformats.org/officeDocument/2006/relationships/tags" Target="../tags/tag13.xml"/><Relationship Id="rId16" Type="http://schemas.openxmlformats.org/officeDocument/2006/relationships/image" Target="../media/image16.svg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7.xml"/><Relationship Id="rId15" Type="http://schemas.openxmlformats.org/officeDocument/2006/relationships/image" Target="../media/image19.png"/><Relationship Id="rId10" Type="http://schemas.openxmlformats.org/officeDocument/2006/relationships/image" Target="../media/image29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png"/><Relationship Id="rId3" Type="http://schemas.openxmlformats.org/officeDocument/2006/relationships/tags" Target="../tags/tag16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18" Type="http://schemas.openxmlformats.org/officeDocument/2006/relationships/image" Target="../media/image22.png"/><Relationship Id="rId3" Type="http://schemas.openxmlformats.org/officeDocument/2006/relationships/tags" Target="../tags/tag20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0.svg"/><Relationship Id="rId2" Type="http://schemas.openxmlformats.org/officeDocument/2006/relationships/tags" Target="../tags/tag19.xml"/><Relationship Id="rId16" Type="http://schemas.openxmlformats.org/officeDocument/2006/relationships/image" Target="../media/image32.png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0.xml"/><Relationship Id="rId15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14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3" Type="http://schemas.openxmlformats.org/officeDocument/2006/relationships/tags" Target="../tags/tag22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14.png"/><Relationship Id="rId2" Type="http://schemas.openxmlformats.org/officeDocument/2006/relationships/tags" Target="../tags/tag21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3" Type="http://schemas.openxmlformats.org/officeDocument/2006/relationships/tags" Target="../tags/tag24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14.png"/><Relationship Id="rId2" Type="http://schemas.openxmlformats.org/officeDocument/2006/relationships/tags" Target="../tags/tag23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2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3" Type="http://schemas.openxmlformats.org/officeDocument/2006/relationships/tags" Target="../tags/tag26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14.png"/><Relationship Id="rId2" Type="http://schemas.openxmlformats.org/officeDocument/2006/relationships/tags" Target="../tags/tag25.xml"/><Relationship Id="rId16" Type="http://schemas.openxmlformats.org/officeDocument/2006/relationships/image" Target="../media/image22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18" Type="http://schemas.openxmlformats.org/officeDocument/2006/relationships/image" Target="../media/image22.png"/><Relationship Id="rId3" Type="http://schemas.openxmlformats.org/officeDocument/2006/relationships/tags" Target="../tags/tag28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0.svg"/><Relationship Id="rId2" Type="http://schemas.openxmlformats.org/officeDocument/2006/relationships/tags" Target="../tags/tag27.xml"/><Relationship Id="rId16" Type="http://schemas.openxmlformats.org/officeDocument/2006/relationships/image" Target="../media/image32.pn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4.xml"/><Relationship Id="rId1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14.png"/><Relationship Id="rId3" Type="http://schemas.openxmlformats.org/officeDocument/2006/relationships/tags" Target="../tags/tag30.xml"/><Relationship Id="rId7" Type="http://schemas.openxmlformats.org/officeDocument/2006/relationships/image" Target="../media/image17.emf"/><Relationship Id="rId12" Type="http://schemas.openxmlformats.org/officeDocument/2006/relationships/image" Target="../media/image22.png"/><Relationship Id="rId2" Type="http://schemas.openxmlformats.org/officeDocument/2006/relationships/tags" Target="../tags/tag29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3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2.svg"/><Relationship Id="rId18" Type="http://schemas.openxmlformats.org/officeDocument/2006/relationships/image" Target="../media/image20.svg"/><Relationship Id="rId3" Type="http://schemas.openxmlformats.org/officeDocument/2006/relationships/tags" Target="../tags/tag3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32.png"/><Relationship Id="rId2" Type="http://schemas.openxmlformats.org/officeDocument/2006/relationships/tags" Target="../tags/tag31.xml"/><Relationship Id="rId16" Type="http://schemas.openxmlformats.org/officeDocument/2006/relationships/image" Target="../media/image31.png"/><Relationship Id="rId20" Type="http://schemas.openxmlformats.org/officeDocument/2006/relationships/image" Target="../media/image14.png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6.xml"/><Relationship Id="rId15" Type="http://schemas.openxmlformats.org/officeDocument/2006/relationships/image" Target="../media/image30.png"/><Relationship Id="rId10" Type="http://schemas.openxmlformats.org/officeDocument/2006/relationships/image" Target="../media/image14.svg"/><Relationship Id="rId19" Type="http://schemas.openxmlformats.org/officeDocument/2006/relationships/image" Target="../media/image2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18" Type="http://schemas.openxmlformats.org/officeDocument/2006/relationships/image" Target="../media/image14.png"/><Relationship Id="rId3" Type="http://schemas.openxmlformats.org/officeDocument/2006/relationships/tags" Target="../tags/tag34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2.png"/><Relationship Id="rId2" Type="http://schemas.openxmlformats.org/officeDocument/2006/relationships/tags" Target="../tags/tag33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7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1.png"/><Relationship Id="rId18" Type="http://schemas.openxmlformats.org/officeDocument/2006/relationships/image" Target="../media/image14.png"/><Relationship Id="rId3" Type="http://schemas.openxmlformats.org/officeDocument/2006/relationships/tags" Target="../tags/tag36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2.png"/><Relationship Id="rId2" Type="http://schemas.openxmlformats.org/officeDocument/2006/relationships/tags" Target="../tags/tag35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8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18" Type="http://schemas.openxmlformats.org/officeDocument/2006/relationships/image" Target="../media/image23.png"/><Relationship Id="rId3" Type="http://schemas.openxmlformats.org/officeDocument/2006/relationships/tags" Target="../tags/tag38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20.svg"/><Relationship Id="rId2" Type="http://schemas.openxmlformats.org/officeDocument/2006/relationships/tags" Target="../tags/tag37.xml"/><Relationship Id="rId16" Type="http://schemas.openxmlformats.org/officeDocument/2006/relationships/image" Target="../media/image32.png"/><Relationship Id="rId20" Type="http://schemas.openxmlformats.org/officeDocument/2006/relationships/image" Target="../media/image14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20.xml"/><Relationship Id="rId15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8.png"/><Relationship Id="rId18" Type="http://schemas.openxmlformats.org/officeDocument/2006/relationships/image" Target="../media/image31.png"/><Relationship Id="rId3" Type="http://schemas.openxmlformats.org/officeDocument/2006/relationships/tags" Target="../tags/tag40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14.png"/><Relationship Id="rId2" Type="http://schemas.openxmlformats.org/officeDocument/2006/relationships/tags" Target="../tags/tag39.xml"/><Relationship Id="rId16" Type="http://schemas.openxmlformats.org/officeDocument/2006/relationships/image" Target="../media/image22.png"/><Relationship Id="rId20" Type="http://schemas.openxmlformats.org/officeDocument/2006/relationships/image" Target="../media/image20.sv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22.xml"/><Relationship Id="rId15" Type="http://schemas.openxmlformats.org/officeDocument/2006/relationships/image" Target="../media/image23.png"/><Relationship Id="rId10" Type="http://schemas.openxmlformats.org/officeDocument/2006/relationships/image" Target="../media/image13.png"/><Relationship Id="rId19" Type="http://schemas.openxmlformats.org/officeDocument/2006/relationships/image" Target="../media/image32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3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85" y="1096486"/>
            <a:ext cx="6423711" cy="1407004"/>
          </a:xfrm>
        </p:spPr>
        <p:txBody>
          <a:bodyPr>
            <a:normAutofit/>
          </a:bodyPr>
          <a:lstStyle/>
          <a:p>
            <a:r>
              <a:rPr lang="pt-PT" dirty="0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BS | Pilar III ESG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 smtClean="0"/>
              <a:t>Lisboa</a:t>
            </a:r>
            <a:r>
              <a:rPr lang="pt-PT" dirty="0"/>
              <a:t>	</a:t>
            </a:r>
            <a:r>
              <a:rPr lang="pt-PT" dirty="0" smtClean="0"/>
              <a:t>13</a:t>
            </a:r>
            <a:r>
              <a:rPr lang="pt-PT" dirty="0" smtClean="0"/>
              <a:t>/09/2023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78942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/>
              <a:t>Símbolos</a:t>
            </a:r>
          </a:p>
          <a:p>
            <a:r>
              <a:rPr lang="pt-PT" i="1" dirty="0"/>
              <a:t>Governance</a:t>
            </a:r>
          </a:p>
          <a:p>
            <a:r>
              <a:rPr lang="pt-PT" dirty="0"/>
              <a:t>Fluxos Comuns</a:t>
            </a:r>
          </a:p>
          <a:p>
            <a:r>
              <a:rPr lang="pt-PT" dirty="0"/>
              <a:t>Fluxos Primários</a:t>
            </a:r>
          </a:p>
          <a:p>
            <a:r>
              <a:rPr lang="pt-PT" dirty="0"/>
              <a:t>Fluxos </a:t>
            </a:r>
            <a:r>
              <a:rPr lang="pt-PT" dirty="0" smtClean="0"/>
              <a:t>Secundários</a:t>
            </a:r>
          </a:p>
          <a:p>
            <a:r>
              <a:rPr lang="pt-PT" dirty="0" smtClean="0"/>
              <a:t>Anexos</a:t>
            </a:r>
            <a:endParaRPr lang="pt-PT" dirty="0"/>
          </a:p>
          <a:p>
            <a:pPr marL="35992" indent="0">
              <a:buNone/>
            </a:pPr>
            <a:endParaRPr lang="pt-PT" dirty="0"/>
          </a:p>
          <a:p>
            <a:pPr marL="35992" indent="0">
              <a:buNone/>
            </a:pPr>
            <a:endParaRPr lang="pt-PT" i="1" dirty="0"/>
          </a:p>
          <a:p>
            <a:endParaRPr lang="pt-PT" dirty="0"/>
          </a:p>
          <a:p>
            <a:pPr marL="35992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6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3701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Operacionais, Sistemas Informacionais,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460" y="5578383"/>
            <a:ext cx="647850" cy="64785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 dirty="0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039" y="5578383"/>
            <a:ext cx="647850" cy="64785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619" y="5578383"/>
            <a:ext cx="647850" cy="64785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5895" y="1204677"/>
            <a:ext cx="675104" cy="966865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732" y="1202126"/>
            <a:ext cx="827808" cy="966865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4724" y="1168768"/>
            <a:ext cx="1043758" cy="1105333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7408" y="5341244"/>
            <a:ext cx="827808" cy="915758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6958" y="5341244"/>
            <a:ext cx="935783" cy="915758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6487" y="1160159"/>
            <a:ext cx="935783" cy="966865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ConsolS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7668" y="1160158"/>
            <a:ext cx="1043758" cy="1047382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Sintra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8284" y="1160158"/>
            <a:ext cx="719774" cy="1057539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50944" y="1160158"/>
            <a:ext cx="744988" cy="1057539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5046" y="1160158"/>
            <a:ext cx="787419" cy="1057539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519" y="1098302"/>
            <a:ext cx="827808" cy="1057539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2212" y="5341244"/>
            <a:ext cx="1007843" cy="915758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477" y="1188976"/>
            <a:ext cx="827808" cy="966865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6665" y="5338455"/>
            <a:ext cx="1066766" cy="918547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183" y="1204677"/>
            <a:ext cx="827808" cy="966865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sp>
        <p:nvSpPr>
          <p:cNvPr id="1038" name="TextBox 1037">
            <a:extLst>
              <a:ext uri="{FF2B5EF4-FFF2-40B4-BE49-F238E27FC236}">
                <a16:creationId xmlns:a16="http://schemas.microsoft.com/office/drawing/2014/main" id="{45653F47-2D95-FCE6-73D9-22630BDA9E4E}"/>
              </a:ext>
            </a:extLst>
          </p:cNvPr>
          <p:cNvSpPr txBox="1"/>
          <p:nvPr/>
        </p:nvSpPr>
        <p:spPr>
          <a:xfrm>
            <a:off x="7268846" y="2964734"/>
            <a:ext cx="71983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MIS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8754EF-32FB-EC62-F6F4-05A09951D432}"/>
              </a:ext>
            </a:extLst>
          </p:cNvPr>
          <p:cNvGrpSpPr/>
          <p:nvPr/>
        </p:nvGrpSpPr>
        <p:grpSpPr>
          <a:xfrm>
            <a:off x="7308841" y="2256322"/>
            <a:ext cx="647850" cy="647850"/>
            <a:chOff x="455122" y="4977513"/>
            <a:chExt cx="648000" cy="64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477604C-0C8D-031A-5D6E-C91AF03AF70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" name="Graphic 13" descr="Database with solid fill">
              <a:extLst>
                <a:ext uri="{FF2B5EF4-FFF2-40B4-BE49-F238E27FC236}">
                  <a16:creationId xmlns:a16="http://schemas.microsoft.com/office/drawing/2014/main" id="{585BA91B-D55E-96F3-1575-C38D96950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040" name="TextBox 1039">
            <a:extLst>
              <a:ext uri="{FF2B5EF4-FFF2-40B4-BE49-F238E27FC236}">
                <a16:creationId xmlns:a16="http://schemas.microsoft.com/office/drawing/2014/main" id="{D4D29B66-51C2-A40D-B918-A5416A0D9944}"/>
              </a:ext>
            </a:extLst>
          </p:cNvPr>
          <p:cNvSpPr txBox="1"/>
          <p:nvPr/>
        </p:nvSpPr>
        <p:spPr>
          <a:xfrm>
            <a:off x="4908028" y="2964734"/>
            <a:ext cx="863800" cy="36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Controlo Interno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4AB31A-E500-B05D-6335-41E70F547F0F}"/>
              </a:ext>
            </a:extLst>
          </p:cNvPr>
          <p:cNvGrpSpPr/>
          <p:nvPr/>
        </p:nvGrpSpPr>
        <p:grpSpPr>
          <a:xfrm>
            <a:off x="5032381" y="2256322"/>
            <a:ext cx="647850" cy="647850"/>
            <a:chOff x="455122" y="4977513"/>
            <a:chExt cx="648000" cy="64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CEE4FB8-FB5C-5D71-1235-C12E4CE4C0C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F81DEF0F-2401-7617-A817-7B470C03003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042" name="TextBox 1041">
            <a:extLst>
              <a:ext uri="{FF2B5EF4-FFF2-40B4-BE49-F238E27FC236}">
                <a16:creationId xmlns:a16="http://schemas.microsoft.com/office/drawing/2014/main" id="{3508BB35-3174-0529-0EC5-75CCA8C8093A}"/>
              </a:ext>
            </a:extLst>
          </p:cNvPr>
          <p:cNvSpPr txBox="1"/>
          <p:nvPr/>
        </p:nvSpPr>
        <p:spPr>
          <a:xfrm>
            <a:off x="6135556" y="2964734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Riscos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C5B8357-776F-D283-7297-D9CA9EA454D1}"/>
              </a:ext>
            </a:extLst>
          </p:cNvPr>
          <p:cNvGrpSpPr/>
          <p:nvPr/>
        </p:nvGrpSpPr>
        <p:grpSpPr>
          <a:xfrm>
            <a:off x="6176181" y="2256322"/>
            <a:ext cx="647850" cy="647850"/>
            <a:chOff x="455122" y="4977513"/>
            <a:chExt cx="648000" cy="648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7D27280-B6E4-113E-C1A2-B0B686B5768C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0" name="Graphic 19" descr="Database with solid fill">
              <a:extLst>
                <a:ext uri="{FF2B5EF4-FFF2-40B4-BE49-F238E27FC236}">
                  <a16:creationId xmlns:a16="http://schemas.microsoft.com/office/drawing/2014/main" id="{811F777C-D0F3-69B5-5473-E4E1FD449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6D870519-0C1B-2128-0DD8-0615F97EA4D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44073" y="2176421"/>
            <a:ext cx="287933" cy="287933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D11B03F3-192B-EF53-F97B-E7C723444D80}"/>
              </a:ext>
            </a:extLst>
          </p:cNvPr>
          <p:cNvSpPr txBox="1"/>
          <p:nvPr/>
        </p:nvSpPr>
        <p:spPr>
          <a:xfrm>
            <a:off x="4040421" y="2964734"/>
            <a:ext cx="395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35A4F8-D556-3B33-0670-3B858DF74527}"/>
              </a:ext>
            </a:extLst>
          </p:cNvPr>
          <p:cNvGrpSpPr/>
          <p:nvPr/>
        </p:nvGrpSpPr>
        <p:grpSpPr>
          <a:xfrm>
            <a:off x="3910858" y="2256322"/>
            <a:ext cx="647850" cy="647850"/>
            <a:chOff x="455122" y="4977513"/>
            <a:chExt cx="648000" cy="6480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A272668-37D6-4959-4770-96DB05B8A83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" name="Graphic 3" descr="Database with solid fill">
              <a:extLst>
                <a:ext uri="{FF2B5EF4-FFF2-40B4-BE49-F238E27FC236}">
                  <a16:creationId xmlns:a16="http://schemas.microsoft.com/office/drawing/2014/main" id="{821165D7-2AF0-24C4-A171-EFA124940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F7BD5B3F-C924-242A-4346-030FD650FAE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378750" y="2176421"/>
            <a:ext cx="287933" cy="287933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1B7B6C9-BCB7-E05D-A26F-CB94E0742B72}"/>
              </a:ext>
            </a:extLst>
          </p:cNvPr>
          <p:cNvSpPr txBox="1"/>
          <p:nvPr/>
        </p:nvSpPr>
        <p:spPr>
          <a:xfrm>
            <a:off x="2839344" y="296473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6EF092C-384F-BD0D-6556-7E0192A3CFA7}"/>
              </a:ext>
            </a:extLst>
          </p:cNvPr>
          <p:cNvGrpSpPr/>
          <p:nvPr/>
        </p:nvGrpSpPr>
        <p:grpSpPr>
          <a:xfrm>
            <a:off x="2778198" y="2256322"/>
            <a:ext cx="647850" cy="647850"/>
            <a:chOff x="455122" y="4977513"/>
            <a:chExt cx="648000" cy="64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44D71BC-A0EB-5EC9-9662-D84E36C11B6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30" name="Graphic 29" descr="Database with solid fill">
              <a:extLst>
                <a:ext uri="{FF2B5EF4-FFF2-40B4-BE49-F238E27FC236}">
                  <a16:creationId xmlns:a16="http://schemas.microsoft.com/office/drawing/2014/main" id="{753A0CFA-72C3-2DBD-8BCD-D7B33C103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B3D794E0-8420-CA24-0446-2B8C9EE79417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226128" y="2176421"/>
            <a:ext cx="287933" cy="28793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4B683E9-90DC-82DD-4219-C5D8AB0A22D5}"/>
              </a:ext>
            </a:extLst>
          </p:cNvPr>
          <p:cNvSpPr txBox="1"/>
          <p:nvPr/>
        </p:nvSpPr>
        <p:spPr>
          <a:xfrm>
            <a:off x="611175" y="296473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EF439CC-E913-6D42-FCFF-A66A67AB7401}"/>
              </a:ext>
            </a:extLst>
          </p:cNvPr>
          <p:cNvGrpSpPr/>
          <p:nvPr/>
        </p:nvGrpSpPr>
        <p:grpSpPr>
          <a:xfrm>
            <a:off x="512877" y="2256322"/>
            <a:ext cx="647850" cy="647850"/>
            <a:chOff x="455122" y="4977513"/>
            <a:chExt cx="648000" cy="64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1304C03-BC2C-951E-35C3-38C0EF14E768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0" name="Graphic 39" descr="Database with solid fill">
              <a:extLst>
                <a:ext uri="{FF2B5EF4-FFF2-40B4-BE49-F238E27FC236}">
                  <a16:creationId xmlns:a16="http://schemas.microsoft.com/office/drawing/2014/main" id="{297FBE6E-14EA-D6BA-3B2A-D50E8498A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9" name="Graphic 158" descr="Single gear outline">
            <a:extLst>
              <a:ext uri="{FF2B5EF4-FFF2-40B4-BE49-F238E27FC236}">
                <a16:creationId xmlns:a16="http://schemas.microsoft.com/office/drawing/2014/main" id="{C47D417B-6630-2860-BAA8-1EC4CA8C7B7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69804" y="2176421"/>
            <a:ext cx="287934" cy="28793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670C8E7-6F55-D6D2-7827-5A37435AC4F6}"/>
              </a:ext>
            </a:extLst>
          </p:cNvPr>
          <p:cNvSpPr txBox="1"/>
          <p:nvPr/>
        </p:nvSpPr>
        <p:spPr>
          <a:xfrm>
            <a:off x="1774937" y="296473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CE7974-0473-BACB-801E-57475F0A6A51}"/>
              </a:ext>
            </a:extLst>
          </p:cNvPr>
          <p:cNvGrpSpPr/>
          <p:nvPr/>
        </p:nvGrpSpPr>
        <p:grpSpPr>
          <a:xfrm>
            <a:off x="1645537" y="2256322"/>
            <a:ext cx="647850" cy="647850"/>
            <a:chOff x="455122" y="4977513"/>
            <a:chExt cx="648000" cy="64800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689A130-40AF-047A-D79A-7949292DF53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35" name="Graphic 34" descr="Database with solid fill">
              <a:extLst>
                <a:ext uri="{FF2B5EF4-FFF2-40B4-BE49-F238E27FC236}">
                  <a16:creationId xmlns:a16="http://schemas.microsoft.com/office/drawing/2014/main" id="{7D22AC59-206D-5A84-6AC8-A8650892B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8" name="Graphic 157" descr="Single gear outline">
            <a:extLst>
              <a:ext uri="{FF2B5EF4-FFF2-40B4-BE49-F238E27FC236}">
                <a16:creationId xmlns:a16="http://schemas.microsoft.com/office/drawing/2014/main" id="{7965C152-6DA2-BD19-5D73-0D9797A4861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2106278" y="2176421"/>
            <a:ext cx="287933" cy="287933"/>
          </a:xfrm>
          <a:prstGeom prst="rect">
            <a:avLst/>
          </a:prstGeom>
        </p:spPr>
      </p:pic>
      <p:pic>
        <p:nvPicPr>
          <p:cNvPr id="162" name="Imagen 18">
            <a:extLst>
              <a:ext uri="{FF2B5EF4-FFF2-40B4-BE49-F238E27FC236}">
                <a16:creationId xmlns:a16="http://schemas.microsoft.com/office/drawing/2014/main" id="{B4989550-1910-3C54-F767-B263D7E7329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380" y="2176421"/>
            <a:ext cx="241113" cy="241113"/>
          </a:xfrm>
          <a:prstGeom prst="rect">
            <a:avLst/>
          </a:prstGeom>
        </p:spPr>
      </p:pic>
      <p:sp>
        <p:nvSpPr>
          <p:cNvPr id="1050" name="TextBox 1049">
            <a:extLst>
              <a:ext uri="{FF2B5EF4-FFF2-40B4-BE49-F238E27FC236}">
                <a16:creationId xmlns:a16="http://schemas.microsoft.com/office/drawing/2014/main" id="{2044B185-9DB2-B6C0-F07D-9EFAB91D2B74}"/>
              </a:ext>
            </a:extLst>
          </p:cNvPr>
          <p:cNvSpPr txBox="1"/>
          <p:nvPr/>
        </p:nvSpPr>
        <p:spPr>
          <a:xfrm>
            <a:off x="8432319" y="2964734"/>
            <a:ext cx="71983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ALM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9E4F4A-1561-6E21-52CA-8DC295A78914}"/>
              </a:ext>
            </a:extLst>
          </p:cNvPr>
          <p:cNvGrpSpPr/>
          <p:nvPr/>
        </p:nvGrpSpPr>
        <p:grpSpPr>
          <a:xfrm>
            <a:off x="8441503" y="2256322"/>
            <a:ext cx="647850" cy="647850"/>
            <a:chOff x="455122" y="4977513"/>
            <a:chExt cx="648000" cy="64800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39AEC8A-2463-5139-98C6-09A1B56A8F8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" name="Graphic 6" descr="Database with solid fill">
              <a:extLst>
                <a:ext uri="{FF2B5EF4-FFF2-40B4-BE49-F238E27FC236}">
                  <a16:creationId xmlns:a16="http://schemas.microsoft.com/office/drawing/2014/main" id="{B78E220A-C246-8234-2BE3-44832749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80C495BA-43C8-B81F-0868-BDD06599A0A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909395" y="2176421"/>
            <a:ext cx="287933" cy="287933"/>
          </a:xfrm>
          <a:prstGeom prst="rect">
            <a:avLst/>
          </a:prstGeom>
        </p:spPr>
      </p:pic>
      <p:pic>
        <p:nvPicPr>
          <p:cNvPr id="163" name="Imagen 18">
            <a:extLst>
              <a:ext uri="{FF2B5EF4-FFF2-40B4-BE49-F238E27FC236}">
                <a16:creationId xmlns:a16="http://schemas.microsoft.com/office/drawing/2014/main" id="{20BD548F-C010-0343-0E10-F6226858A28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584" y="2176421"/>
            <a:ext cx="241113" cy="241113"/>
          </a:xfrm>
          <a:prstGeom prst="rect">
            <a:avLst/>
          </a:prstGeom>
        </p:spPr>
      </p:pic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77" y="2176421"/>
            <a:ext cx="241113" cy="241113"/>
          </a:xfrm>
          <a:prstGeom prst="rect">
            <a:avLst/>
          </a:prstGeom>
        </p:spPr>
      </p:pic>
      <p:sp>
        <p:nvSpPr>
          <p:cNvPr id="213" name="TextBox 212">
            <a:extLst>
              <a:ext uri="{FF2B5EF4-FFF2-40B4-BE49-F238E27FC236}">
                <a16:creationId xmlns:a16="http://schemas.microsoft.com/office/drawing/2014/main" id="{D51F7AA2-1522-4164-86E5-B353F40285EF}"/>
              </a:ext>
            </a:extLst>
          </p:cNvPr>
          <p:cNvSpPr txBox="1"/>
          <p:nvPr/>
        </p:nvSpPr>
        <p:spPr>
          <a:xfrm>
            <a:off x="11011187" y="2964734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BLANCA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236D8FE-E0FD-406B-8848-5E2B65DF1D24}"/>
              </a:ext>
            </a:extLst>
          </p:cNvPr>
          <p:cNvGrpSpPr/>
          <p:nvPr/>
        </p:nvGrpSpPr>
        <p:grpSpPr>
          <a:xfrm>
            <a:off x="11078635" y="2256322"/>
            <a:ext cx="647850" cy="647850"/>
            <a:chOff x="1498452" y="4969551"/>
            <a:chExt cx="648000" cy="648000"/>
          </a:xfrm>
        </p:grpSpPr>
        <p:sp>
          <p:nvSpPr>
            <p:cNvPr id="215" name="Oval 2">
              <a:extLst>
                <a:ext uri="{FF2B5EF4-FFF2-40B4-BE49-F238E27FC236}">
                  <a16:creationId xmlns:a16="http://schemas.microsoft.com/office/drawing/2014/main" id="{0E42D5B1-1A41-46CD-87CF-6814E97095F0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16" name="Graphic 215" descr="Server with solid fill">
              <a:extLst>
                <a:ext uri="{FF2B5EF4-FFF2-40B4-BE49-F238E27FC236}">
                  <a16:creationId xmlns:a16="http://schemas.microsoft.com/office/drawing/2014/main" id="{D627E14E-3C1A-4278-AC93-8A79330C8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sp>
        <p:nvSpPr>
          <p:cNvPr id="225" name="TextBox 224">
            <a:extLst>
              <a:ext uri="{FF2B5EF4-FFF2-40B4-BE49-F238E27FC236}">
                <a16:creationId xmlns:a16="http://schemas.microsoft.com/office/drawing/2014/main" id="{0A656547-DA10-41C1-951A-714FDF597E08}"/>
              </a:ext>
            </a:extLst>
          </p:cNvPr>
          <p:cNvSpPr txBox="1"/>
          <p:nvPr/>
        </p:nvSpPr>
        <p:spPr>
          <a:xfrm>
            <a:off x="10103726" y="2964734"/>
            <a:ext cx="827808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Microsoft </a:t>
            </a:r>
          </a:p>
          <a:p>
            <a:pPr algn="ctr"/>
            <a:r>
              <a:rPr lang="pt-PT" sz="900" dirty="0"/>
              <a:t>Active Directory</a:t>
            </a:r>
            <a:endParaRPr lang="en-US" sz="900" dirty="0"/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BE81CBAD-FD15-47F3-8EAF-8F05F61E86C3}"/>
              </a:ext>
            </a:extLst>
          </p:cNvPr>
          <p:cNvGrpSpPr/>
          <p:nvPr/>
        </p:nvGrpSpPr>
        <p:grpSpPr>
          <a:xfrm>
            <a:off x="10171174" y="2256322"/>
            <a:ext cx="647850" cy="647850"/>
            <a:chOff x="1498452" y="4969551"/>
            <a:chExt cx="648000" cy="648000"/>
          </a:xfrm>
        </p:grpSpPr>
        <p:sp>
          <p:nvSpPr>
            <p:cNvPr id="227" name="Oval 2">
              <a:extLst>
                <a:ext uri="{FF2B5EF4-FFF2-40B4-BE49-F238E27FC236}">
                  <a16:creationId xmlns:a16="http://schemas.microsoft.com/office/drawing/2014/main" id="{9B674B17-7B9B-46B6-B7F8-758CE457DF7D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8" name="Graphic 227" descr="Server with solid fill">
              <a:extLst>
                <a:ext uri="{FF2B5EF4-FFF2-40B4-BE49-F238E27FC236}">
                  <a16:creationId xmlns:a16="http://schemas.microsoft.com/office/drawing/2014/main" id="{0F12C3CD-D315-47ED-8A03-970C74A89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sp>
        <p:nvSpPr>
          <p:cNvPr id="237" name="TextBox 236">
            <a:extLst>
              <a:ext uri="{FF2B5EF4-FFF2-40B4-BE49-F238E27FC236}">
                <a16:creationId xmlns:a16="http://schemas.microsoft.com/office/drawing/2014/main" id="{1771CA7E-3998-4A1B-8098-1CFBBCB4F6C5}"/>
              </a:ext>
            </a:extLst>
          </p:cNvPr>
          <p:cNvSpPr txBox="1"/>
          <p:nvPr/>
        </p:nvSpPr>
        <p:spPr>
          <a:xfrm>
            <a:off x="9252108" y="2964734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CREAM</a:t>
            </a:r>
            <a:endParaRPr lang="en-US" sz="900" dirty="0"/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977BB77F-5A41-42DA-928E-09D84B10294F}"/>
              </a:ext>
            </a:extLst>
          </p:cNvPr>
          <p:cNvGrpSpPr/>
          <p:nvPr/>
        </p:nvGrpSpPr>
        <p:grpSpPr>
          <a:xfrm>
            <a:off x="9319556" y="2256322"/>
            <a:ext cx="647850" cy="647850"/>
            <a:chOff x="1498452" y="4969551"/>
            <a:chExt cx="648000" cy="648000"/>
          </a:xfrm>
        </p:grpSpPr>
        <p:sp>
          <p:nvSpPr>
            <p:cNvPr id="239" name="Oval 2">
              <a:extLst>
                <a:ext uri="{FF2B5EF4-FFF2-40B4-BE49-F238E27FC236}">
                  <a16:creationId xmlns:a16="http://schemas.microsoft.com/office/drawing/2014/main" id="{7CC1C194-DF82-406D-ADC2-2E860A9D3AF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40" name="Graphic 239" descr="Server with solid fill">
              <a:extLst>
                <a:ext uri="{FF2B5EF4-FFF2-40B4-BE49-F238E27FC236}">
                  <a16:creationId xmlns:a16="http://schemas.microsoft.com/office/drawing/2014/main" id="{8E8AAEDF-C428-4D5A-A8AA-5A96542FF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23" y="2176421"/>
            <a:ext cx="257724" cy="293227"/>
          </a:xfrm>
          <a:prstGeom prst="ellipse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B3885A85-4AD3-6D3B-A01B-CAE2918FA69C}"/>
              </a:ext>
            </a:extLst>
          </p:cNvPr>
          <p:cNvSpPr txBox="1"/>
          <p:nvPr/>
        </p:nvSpPr>
        <p:spPr>
          <a:xfrm>
            <a:off x="5017157" y="4229392"/>
            <a:ext cx="71983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CRM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89BC00-12EE-96C8-9248-23BF879FE2D4}"/>
              </a:ext>
            </a:extLst>
          </p:cNvPr>
          <p:cNvGrpSpPr/>
          <p:nvPr/>
        </p:nvGrpSpPr>
        <p:grpSpPr>
          <a:xfrm>
            <a:off x="5035372" y="3493305"/>
            <a:ext cx="647850" cy="647850"/>
            <a:chOff x="455122" y="4977513"/>
            <a:chExt cx="648000" cy="648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EF40B0-EE14-E9CB-3FCD-E0BEBAA34B55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" name="Graphic 9" descr="Database with solid fill">
              <a:extLst>
                <a:ext uri="{FF2B5EF4-FFF2-40B4-BE49-F238E27FC236}">
                  <a16:creationId xmlns:a16="http://schemas.microsoft.com/office/drawing/2014/main" id="{86F98DDD-782C-3C41-1DE0-BEF414F2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A49EF82-965D-5820-79A2-E49868B1C054}"/>
              </a:ext>
            </a:extLst>
          </p:cNvPr>
          <p:cNvSpPr txBox="1"/>
          <p:nvPr/>
        </p:nvSpPr>
        <p:spPr>
          <a:xfrm>
            <a:off x="2659096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CRISTINE II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5FB48B-2239-44DA-B570-16225119A418}"/>
              </a:ext>
            </a:extLst>
          </p:cNvPr>
          <p:cNvGrpSpPr/>
          <p:nvPr/>
        </p:nvGrpSpPr>
        <p:grpSpPr>
          <a:xfrm>
            <a:off x="2778197" y="3493305"/>
            <a:ext cx="647850" cy="647850"/>
            <a:chOff x="455122" y="4977513"/>
            <a:chExt cx="648000" cy="648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74565F-705B-EF9B-EB93-211EEDE4641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29EDDD1C-B625-1942-7FA3-306A142A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287035F-70DD-C85A-6190-A7808F17333D}"/>
              </a:ext>
            </a:extLst>
          </p:cNvPr>
          <p:cNvSpPr txBox="1"/>
          <p:nvPr/>
        </p:nvSpPr>
        <p:spPr>
          <a:xfrm>
            <a:off x="402684" y="422939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38DC5C-5FB2-425F-5231-DE5743DE56AC}"/>
              </a:ext>
            </a:extLst>
          </p:cNvPr>
          <p:cNvGrpSpPr/>
          <p:nvPr/>
        </p:nvGrpSpPr>
        <p:grpSpPr>
          <a:xfrm>
            <a:off x="512875" y="3493305"/>
            <a:ext cx="647850" cy="647850"/>
            <a:chOff x="455122" y="4977513"/>
            <a:chExt cx="648000" cy="648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1854E57-47F6-0316-DCA8-185453247B5A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910A2CAC-3B4E-5F0A-ACE6-3459D4FA0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60" name="Graphic 159" descr="Single gear outline">
            <a:extLst>
              <a:ext uri="{FF2B5EF4-FFF2-40B4-BE49-F238E27FC236}">
                <a16:creationId xmlns:a16="http://schemas.microsoft.com/office/drawing/2014/main" id="{B747AC7A-0ACB-0D20-5D0A-3934D28E9C3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69803" y="3404788"/>
            <a:ext cx="287933" cy="287933"/>
          </a:xfrm>
          <a:prstGeom prst="rect">
            <a:avLst/>
          </a:prstGeom>
        </p:spPr>
      </p:pic>
      <p:pic>
        <p:nvPicPr>
          <p:cNvPr id="164" name="Imagen 18">
            <a:extLst>
              <a:ext uri="{FF2B5EF4-FFF2-40B4-BE49-F238E27FC236}">
                <a16:creationId xmlns:a16="http://schemas.microsoft.com/office/drawing/2014/main" id="{291A18E5-E655-208D-FD18-F597E829534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57" y="3404788"/>
            <a:ext cx="241113" cy="24111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A7E8F40-5E0E-C84B-D5EC-300BBD71368F}"/>
              </a:ext>
            </a:extLst>
          </p:cNvPr>
          <p:cNvSpPr txBox="1"/>
          <p:nvPr/>
        </p:nvSpPr>
        <p:spPr>
          <a:xfrm>
            <a:off x="1733581" y="4229392"/>
            <a:ext cx="503884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ALM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8C3BCC-C516-5B52-A361-5CEB96E38462}"/>
              </a:ext>
            </a:extLst>
          </p:cNvPr>
          <p:cNvGrpSpPr/>
          <p:nvPr/>
        </p:nvGrpSpPr>
        <p:grpSpPr>
          <a:xfrm>
            <a:off x="1645538" y="3493305"/>
            <a:ext cx="647850" cy="647850"/>
            <a:chOff x="455122" y="4977513"/>
            <a:chExt cx="648000" cy="648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FE26504-2E01-E33F-68F2-BDD0D5A43942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3" name="Graphic 22" descr="Database with solid fill">
              <a:extLst>
                <a:ext uri="{FF2B5EF4-FFF2-40B4-BE49-F238E27FC236}">
                  <a16:creationId xmlns:a16="http://schemas.microsoft.com/office/drawing/2014/main" id="{4283FAC4-F54B-E41D-1931-2CC714EEB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61" name="Graphic 160" descr="Single gear outline">
            <a:extLst>
              <a:ext uri="{FF2B5EF4-FFF2-40B4-BE49-F238E27FC236}">
                <a16:creationId xmlns:a16="http://schemas.microsoft.com/office/drawing/2014/main" id="{F4510D8A-9685-31E5-DF8F-12C392B09CB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2093498" y="3404788"/>
            <a:ext cx="287933" cy="287933"/>
          </a:xfrm>
          <a:prstGeom prst="rect">
            <a:avLst/>
          </a:prstGeom>
        </p:spPr>
      </p:pic>
      <p:pic>
        <p:nvPicPr>
          <p:cNvPr id="165" name="Imagen 18">
            <a:extLst>
              <a:ext uri="{FF2B5EF4-FFF2-40B4-BE49-F238E27FC236}">
                <a16:creationId xmlns:a16="http://schemas.microsoft.com/office/drawing/2014/main" id="{A5254EE5-6A6D-A712-8838-2EBF54B5EFB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32" y="3404788"/>
            <a:ext cx="241113" cy="241113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7E26243C-CF8B-49FB-90F6-CE5BA6CA4CF9}"/>
              </a:ext>
            </a:extLst>
          </p:cNvPr>
          <p:cNvSpPr txBox="1"/>
          <p:nvPr/>
        </p:nvSpPr>
        <p:spPr>
          <a:xfrm>
            <a:off x="3868404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MARS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B27635E-F257-459D-8687-7E6006272D64}"/>
              </a:ext>
            </a:extLst>
          </p:cNvPr>
          <p:cNvGrpSpPr/>
          <p:nvPr/>
        </p:nvGrpSpPr>
        <p:grpSpPr>
          <a:xfrm>
            <a:off x="3938014" y="3493305"/>
            <a:ext cx="647850" cy="647850"/>
            <a:chOff x="455122" y="4977513"/>
            <a:chExt cx="648000" cy="648000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7BDAD7E-4C9C-4AC5-A24C-4801E127E015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05" name="Graphic 204" descr="Database with solid fill">
              <a:extLst>
                <a:ext uri="{FF2B5EF4-FFF2-40B4-BE49-F238E27FC236}">
                  <a16:creationId xmlns:a16="http://schemas.microsoft.com/office/drawing/2014/main" id="{F87057EB-5DCE-4629-81E9-AFC333500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2A1B8E7D-47C1-401B-BDF1-EBE426D70622}"/>
              </a:ext>
            </a:extLst>
          </p:cNvPr>
          <p:cNvSpPr txBox="1"/>
          <p:nvPr/>
        </p:nvSpPr>
        <p:spPr>
          <a:xfrm>
            <a:off x="5701106" y="4229392"/>
            <a:ext cx="1680501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ServiceNow</a:t>
            </a:r>
            <a:endParaRPr lang="en-US" sz="900" dirty="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EF51205-3C0E-44FE-9AC6-21204C8F6DBE}"/>
              </a:ext>
            </a:extLst>
          </p:cNvPr>
          <p:cNvGrpSpPr/>
          <p:nvPr/>
        </p:nvGrpSpPr>
        <p:grpSpPr>
          <a:xfrm>
            <a:off x="6159366" y="3493305"/>
            <a:ext cx="647850" cy="647850"/>
            <a:chOff x="455122" y="4977513"/>
            <a:chExt cx="648000" cy="648000"/>
          </a:xfrm>
        </p:grpSpPr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73EBA4E7-DB8D-46FF-8A1C-1BC18915B63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3" name="Graphic 222" descr="Database with solid fill">
              <a:extLst>
                <a:ext uri="{FF2B5EF4-FFF2-40B4-BE49-F238E27FC236}">
                  <a16:creationId xmlns:a16="http://schemas.microsoft.com/office/drawing/2014/main" id="{1C7B6A82-1C25-4015-B27D-4F406DD50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220" name="Graphic 219" descr="Single gear outline">
            <a:extLst>
              <a:ext uri="{FF2B5EF4-FFF2-40B4-BE49-F238E27FC236}">
                <a16:creationId xmlns:a16="http://schemas.microsoft.com/office/drawing/2014/main" id="{522BAC32-C537-40B4-A43C-3595287B8C5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27258" y="3404788"/>
            <a:ext cx="287933" cy="287933"/>
          </a:xfrm>
          <a:prstGeom prst="rect">
            <a:avLst/>
          </a:prstGeom>
        </p:spPr>
      </p:pic>
      <p:pic>
        <p:nvPicPr>
          <p:cNvPr id="221" name="Imagen 18">
            <a:extLst>
              <a:ext uri="{FF2B5EF4-FFF2-40B4-BE49-F238E27FC236}">
                <a16:creationId xmlns:a16="http://schemas.microsoft.com/office/drawing/2014/main" id="{5D43E741-6CBE-4C90-9EC7-08E3B56E166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447" y="3404788"/>
            <a:ext cx="241113" cy="241113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47405D6C-B1BB-4DDB-BF19-EAAD4754CED7}"/>
              </a:ext>
            </a:extLst>
          </p:cNvPr>
          <p:cNvSpPr txBox="1"/>
          <p:nvPr/>
        </p:nvSpPr>
        <p:spPr>
          <a:xfrm>
            <a:off x="10978285" y="4229392"/>
            <a:ext cx="827808" cy="369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SERVIÇO FRAUDE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5EA2551-9F14-4511-B743-6540E3A1A481}"/>
              </a:ext>
            </a:extLst>
          </p:cNvPr>
          <p:cNvGrpSpPr/>
          <p:nvPr/>
        </p:nvGrpSpPr>
        <p:grpSpPr>
          <a:xfrm>
            <a:off x="11045733" y="3493305"/>
            <a:ext cx="647850" cy="647850"/>
            <a:chOff x="1498452" y="4969551"/>
            <a:chExt cx="648000" cy="648000"/>
          </a:xfrm>
        </p:grpSpPr>
        <p:sp>
          <p:nvSpPr>
            <p:cNvPr id="232" name="Oval 2">
              <a:extLst>
                <a:ext uri="{FF2B5EF4-FFF2-40B4-BE49-F238E27FC236}">
                  <a16:creationId xmlns:a16="http://schemas.microsoft.com/office/drawing/2014/main" id="{C104A1E0-7EE0-4BB5-8818-2B7C83B14045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33" name="Graphic 232" descr="Server with solid fill">
              <a:extLst>
                <a:ext uri="{FF2B5EF4-FFF2-40B4-BE49-F238E27FC236}">
                  <a16:creationId xmlns:a16="http://schemas.microsoft.com/office/drawing/2014/main" id="{3CF97295-60AF-4FB5-8387-274C8D790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495629" y="3404788"/>
            <a:ext cx="287933" cy="287933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345" y="3404788"/>
            <a:ext cx="241113" cy="24111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C93C162-D8C4-D319-FC08-DEB5E838B41B}"/>
              </a:ext>
            </a:extLst>
          </p:cNvPr>
          <p:cNvSpPr txBox="1"/>
          <p:nvPr/>
        </p:nvSpPr>
        <p:spPr>
          <a:xfrm>
            <a:off x="6839700" y="4229392"/>
            <a:ext cx="1680501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ConsolS</a:t>
            </a:r>
            <a:endParaRPr lang="en-US" sz="9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A2EC1C4-EB10-DBF7-991A-D88DA7315D88}"/>
              </a:ext>
            </a:extLst>
          </p:cNvPr>
          <p:cNvGrpSpPr/>
          <p:nvPr/>
        </p:nvGrpSpPr>
        <p:grpSpPr>
          <a:xfrm>
            <a:off x="7297960" y="3493305"/>
            <a:ext cx="647850" cy="647850"/>
            <a:chOff x="455122" y="4977513"/>
            <a:chExt cx="648000" cy="648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E9C0000-0579-FF41-9FC9-FA4E621B09E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0" name="Graphic 59" descr="Database with solid fill">
              <a:extLst>
                <a:ext uri="{FF2B5EF4-FFF2-40B4-BE49-F238E27FC236}">
                  <a16:creationId xmlns:a16="http://schemas.microsoft.com/office/drawing/2014/main" id="{1D742A0A-D4AD-78A8-831F-8D164368C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7" name="Graphic 56" descr="Single gear outline">
            <a:extLst>
              <a:ext uri="{FF2B5EF4-FFF2-40B4-BE49-F238E27FC236}">
                <a16:creationId xmlns:a16="http://schemas.microsoft.com/office/drawing/2014/main" id="{676FF3D2-0838-AC7B-94C8-64843479747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7765852" y="3404788"/>
            <a:ext cx="287933" cy="287933"/>
          </a:xfrm>
          <a:prstGeom prst="rect">
            <a:avLst/>
          </a:prstGeom>
        </p:spPr>
      </p:pic>
      <p:pic>
        <p:nvPicPr>
          <p:cNvPr id="58" name="Imagen 18">
            <a:extLst>
              <a:ext uri="{FF2B5EF4-FFF2-40B4-BE49-F238E27FC236}">
                <a16:creationId xmlns:a16="http://schemas.microsoft.com/office/drawing/2014/main" id="{D59B127A-128A-ADE1-C7A9-4AA3A4A185C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041" y="3404788"/>
            <a:ext cx="241113" cy="241113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95A3059-3AF1-B827-5952-348A9C821B86}"/>
              </a:ext>
            </a:extLst>
          </p:cNvPr>
          <p:cNvSpPr txBox="1"/>
          <p:nvPr/>
        </p:nvSpPr>
        <p:spPr>
          <a:xfrm>
            <a:off x="8838203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PGR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9E6C668-7A1F-4B78-80BC-3976567530E7}"/>
              </a:ext>
            </a:extLst>
          </p:cNvPr>
          <p:cNvGrpSpPr/>
          <p:nvPr/>
        </p:nvGrpSpPr>
        <p:grpSpPr>
          <a:xfrm>
            <a:off x="8905651" y="3493305"/>
            <a:ext cx="647850" cy="647850"/>
            <a:chOff x="1498452" y="4969551"/>
            <a:chExt cx="648000" cy="648000"/>
          </a:xfrm>
        </p:grpSpPr>
        <p:sp>
          <p:nvSpPr>
            <p:cNvPr id="74" name="Oval 2">
              <a:extLst>
                <a:ext uri="{FF2B5EF4-FFF2-40B4-BE49-F238E27FC236}">
                  <a16:creationId xmlns:a16="http://schemas.microsoft.com/office/drawing/2014/main" id="{139BB48F-D15D-D126-3597-6C9F0196E355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8" name="Graphic 87" descr="Server with solid fill">
              <a:extLst>
                <a:ext uri="{FF2B5EF4-FFF2-40B4-BE49-F238E27FC236}">
                  <a16:creationId xmlns:a16="http://schemas.microsoft.com/office/drawing/2014/main" id="{2F763CB8-0880-898A-2BD4-368E788EF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322668" y="3404788"/>
            <a:ext cx="287933" cy="28793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BB99CED-F50D-F0E8-88D7-9B92395348C0}"/>
              </a:ext>
            </a:extLst>
          </p:cNvPr>
          <p:cNvSpPr txBox="1"/>
          <p:nvPr/>
        </p:nvSpPr>
        <p:spPr>
          <a:xfrm>
            <a:off x="9838630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REMEDY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E7FC424-C916-4469-FF1F-72173975A2AD}"/>
              </a:ext>
            </a:extLst>
          </p:cNvPr>
          <p:cNvGrpSpPr/>
          <p:nvPr/>
        </p:nvGrpSpPr>
        <p:grpSpPr>
          <a:xfrm>
            <a:off x="9906078" y="3493305"/>
            <a:ext cx="647850" cy="647850"/>
            <a:chOff x="1498452" y="4969551"/>
            <a:chExt cx="648000" cy="648000"/>
          </a:xfrm>
        </p:grpSpPr>
        <p:sp>
          <p:nvSpPr>
            <p:cNvPr id="99" name="Oval 2">
              <a:extLst>
                <a:ext uri="{FF2B5EF4-FFF2-40B4-BE49-F238E27FC236}">
                  <a16:creationId xmlns:a16="http://schemas.microsoft.com/office/drawing/2014/main" id="{4C376069-0FE5-FE76-464B-8DCD3DB42C22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3" name="Graphic 102" descr="Server with solid fill">
              <a:extLst>
                <a:ext uri="{FF2B5EF4-FFF2-40B4-BE49-F238E27FC236}">
                  <a16:creationId xmlns:a16="http://schemas.microsoft.com/office/drawing/2014/main" id="{C1A7134E-930B-D459-BB45-A004018B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66" y="1160159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6678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Processos, Output, EUC, Fontes Externas, Fonte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9270" y="3203039"/>
            <a:ext cx="5758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BPNet</a:t>
            </a:r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512875" y="2555800"/>
            <a:ext cx="647850" cy="64785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9764" y="1358144"/>
            <a:ext cx="647850" cy="647850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848903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Ficheiro</a:t>
            </a:r>
            <a:r>
              <a:rPr lang="en-US" sz="900" dirty="0"/>
              <a:t>.xls</a:t>
            </a:r>
          </a:p>
        </p:txBody>
      </p: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75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3258" y="2011619"/>
            <a:ext cx="4678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22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3954" y="2011619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25" y="1358144"/>
            <a:ext cx="647850" cy="64785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6060" y="2005995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Corporação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4956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1645537" y="2555800"/>
            <a:ext cx="647850" cy="64785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960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6141" y="2011619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Métrica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4702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2698378" y="2555800"/>
            <a:ext cx="647850" cy="64785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88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2341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QlikSense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8294" y="3203039"/>
            <a:ext cx="910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449" y="2555800"/>
            <a:ext cx="647850" cy="6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54" y="2555800"/>
            <a:ext cx="719833" cy="659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8913" y="3203039"/>
            <a:ext cx="169332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68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3719" y="2011619"/>
            <a:ext cx="118990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00" y="1447936"/>
            <a:ext cx="257724" cy="293227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94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6136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86" y="1347646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4" y="1327379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0543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Governance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1461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88BF3-703A-BB75-1389-2AD8B2E03CAF}"/>
              </a:ext>
            </a:extLst>
          </p:cNvPr>
          <p:cNvSpPr/>
          <p:nvPr/>
        </p:nvSpPr>
        <p:spPr>
          <a:xfrm>
            <a:off x="3471828" y="1805556"/>
            <a:ext cx="130159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1. Envio de </a:t>
            </a:r>
            <a:r>
              <a:rPr lang="pt-PT" sz="1000" b="1" i="1" dirty="0">
                <a:latin typeface="+mj-lt"/>
              </a:rPr>
              <a:t>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B1048-3568-E9D0-1CA5-56935CD3A138}"/>
              </a:ext>
            </a:extLst>
          </p:cNvPr>
          <p:cNvSpPr/>
          <p:nvPr/>
        </p:nvSpPr>
        <p:spPr>
          <a:xfrm>
            <a:off x="3129535" y="2302440"/>
            <a:ext cx="878766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2. Geração </a:t>
            </a:r>
          </a:p>
          <a:p>
            <a:pPr algn="ctr"/>
            <a:r>
              <a:rPr lang="pt-PT" sz="1000" b="1" dirty="0">
                <a:latin typeface="+mj-lt"/>
              </a:rPr>
              <a:t>de satélites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5354-0DC8-AF6E-8385-8A86C440578D}"/>
              </a:ext>
            </a:extLst>
          </p:cNvPr>
          <p:cNvSpPr/>
          <p:nvPr/>
        </p:nvSpPr>
        <p:spPr>
          <a:xfrm>
            <a:off x="2668701" y="2878043"/>
            <a:ext cx="1135743" cy="7077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 dirty="0">
                <a:latin typeface="+mj-lt"/>
              </a:rPr>
              <a:t>3. </a:t>
            </a:r>
            <a:r>
              <a:rPr lang="pt-PT" sz="1000" b="1" dirty="0">
                <a:latin typeface="+mj-lt"/>
              </a:rPr>
              <a:t>Validação de satélites corporativos</a:t>
            </a:r>
          </a:p>
          <a:p>
            <a:pPr defTabSz="914034">
              <a:defRPr/>
            </a:pPr>
            <a:endParaRPr lang="pt-PT" sz="1000" kern="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D4C61-1B0B-B40A-D091-1D03E777D273}"/>
              </a:ext>
            </a:extLst>
          </p:cNvPr>
          <p:cNvSpPr/>
          <p:nvPr/>
        </p:nvSpPr>
        <p:spPr>
          <a:xfrm>
            <a:off x="1621154" y="3761304"/>
            <a:ext cx="1487561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4. </a:t>
            </a:r>
            <a:r>
              <a:rPr lang="pt-PT" sz="1000" b="1" kern="0" dirty="0">
                <a:latin typeface="+mj-lt"/>
              </a:rPr>
              <a:t>Geração dos </a:t>
            </a:r>
            <a:r>
              <a:rPr lang="pt-PT" sz="1000" b="1" i="1" kern="0" dirty="0">
                <a:latin typeface="+mj-lt"/>
              </a:rPr>
              <a:t>templates </a:t>
            </a:r>
            <a:r>
              <a:rPr lang="pt-PT" sz="1000" b="1" kern="0" dirty="0">
                <a:latin typeface="+mj-lt"/>
              </a:rPr>
              <a:t>locais</a:t>
            </a:r>
            <a:endParaRPr lang="pt-PT" sz="1000" b="1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A46C7-9C13-B7DA-B618-C61F2BD50D7B}"/>
              </a:ext>
            </a:extLst>
          </p:cNvPr>
          <p:cNvSpPr/>
          <p:nvPr/>
        </p:nvSpPr>
        <p:spPr>
          <a:xfrm>
            <a:off x="1500572" y="4452165"/>
            <a:ext cx="1502955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5. Validação dos </a:t>
            </a:r>
            <a:r>
              <a:rPr lang="pt-PT" sz="1000" b="1" i="1" dirty="0">
                <a:latin typeface="+mj-lt"/>
              </a:rPr>
              <a:t>templates</a:t>
            </a:r>
            <a:r>
              <a:rPr lang="pt-PT" sz="1000" b="1" dirty="0">
                <a:latin typeface="+mj-lt"/>
              </a:rPr>
              <a:t> locais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EBAE9-0132-F2DB-52B4-C2157D5B2B38}"/>
              </a:ext>
            </a:extLst>
          </p:cNvPr>
          <p:cNvSpPr/>
          <p:nvPr/>
        </p:nvSpPr>
        <p:spPr>
          <a:xfrm>
            <a:off x="5484700" y="4290032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232000" tIns="0" rIns="108000" bIns="0" rtlCol="0" anchor="ctr">
            <a:noAutofit/>
          </a:bodyPr>
          <a:lstStyle/>
          <a:p>
            <a:pPr marL="628639" lvl="1" indent="-17145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Validação dos </a:t>
            </a:r>
            <a:r>
              <a:rPr lang="pt-PT" sz="800" i="1" dirty="0">
                <a:latin typeface="+mj-lt"/>
              </a:rPr>
              <a:t>templates </a:t>
            </a:r>
            <a:r>
              <a:rPr lang="pt-PT" sz="800" dirty="0">
                <a:latin typeface="+mj-lt"/>
              </a:rPr>
              <a:t>locais através de conciliações com a área de Contabilidade.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1CB54-7693-9AEB-44B7-3F2D4E836CB0}"/>
              </a:ext>
            </a:extLst>
          </p:cNvPr>
          <p:cNvSpPr/>
          <p:nvPr/>
        </p:nvSpPr>
        <p:spPr>
          <a:xfrm>
            <a:off x="5484700" y="361027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728000" tIns="0" rIns="108000" bIns="108000" rtlCol="0" anchor="ctr">
            <a:noAutofit/>
          </a:bodyPr>
          <a:lstStyle/>
          <a:p>
            <a:pPr lvl="1" defTabSz="1375089"/>
            <a:endParaRPr lang="pt-PT" sz="800" dirty="0">
              <a:latin typeface="+mj-lt"/>
            </a:endParaRP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Geração dos </a:t>
            </a:r>
            <a:r>
              <a:rPr lang="pt-PT" sz="800" i="1" dirty="0">
                <a:latin typeface="+mj-lt"/>
              </a:rPr>
              <a:t>templates </a:t>
            </a:r>
            <a:r>
              <a:rPr lang="pt-PT" sz="800" dirty="0">
                <a:latin typeface="+mj-lt"/>
              </a:rPr>
              <a:t>locais.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F516D-43BC-49D4-3A1B-03C639042EC0}"/>
              </a:ext>
            </a:extLst>
          </p:cNvPr>
          <p:cNvSpPr/>
          <p:nvPr/>
        </p:nvSpPr>
        <p:spPr>
          <a:xfrm>
            <a:off x="5484700" y="293051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152000" tIns="0" rIns="108000" bIns="0" rtlCol="0" anchor="ctr">
            <a:noAutofit/>
          </a:bodyPr>
          <a:lstStyle/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Validação das combinações de elementos contabilísticos e ESG presentes nos IDCOMBs dos satélites.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9024C-6D3B-46F1-AC26-27CD19164EA8}"/>
              </a:ext>
            </a:extLst>
          </p:cNvPr>
          <p:cNvSpPr/>
          <p:nvPr/>
        </p:nvSpPr>
        <p:spPr>
          <a:xfrm>
            <a:off x="5484700" y="2250754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92000" tIns="0" rIns="108000" bIns="0" rtlCol="0" anchor="ctr">
            <a:noAutofit/>
          </a:bodyPr>
          <a:lstStyle/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Modelação de dados provenientes dos inputs para obtenção de métricas necessárias à geração dos satélites.</a:t>
            </a: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Geração dos satélites incorporando as </a:t>
            </a:r>
            <a:r>
              <a:rPr lang="pt-PT" sz="800" i="1" dirty="0">
                <a:latin typeface="+mj-lt"/>
              </a:rPr>
              <a:t>guidelines</a:t>
            </a:r>
            <a:r>
              <a:rPr lang="pt-PT" sz="800" dirty="0">
                <a:latin typeface="+mj-lt"/>
              </a:rPr>
              <a:t> da Corporação.</a:t>
            </a: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Submissão dos satélites gerados para a Corporação.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40D88-7A06-7A6D-7260-F9B08BC23B9E}"/>
              </a:ext>
            </a:extLst>
          </p:cNvPr>
          <p:cNvSpPr/>
          <p:nvPr/>
        </p:nvSpPr>
        <p:spPr>
          <a:xfrm>
            <a:off x="5484700" y="1570360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576000" tIns="0" rIns="108000" bIns="71983" rtlCol="0" anchor="ctr">
            <a:noAutofit/>
          </a:bodyPr>
          <a:lstStyle/>
          <a:p>
            <a:pPr defTabSz="1375089"/>
            <a:endParaRPr lang="pt-PT" sz="800" dirty="0">
              <a:latin typeface="+mj-lt"/>
            </a:endParaRPr>
          </a:p>
          <a:p>
            <a:pPr marL="228554" indent="-228554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Envio dos ficheiros “xlsx”  auxiliares aos satélites e ficheiros com os IDCOMBs dos satélites por parte da Corporação para a equipa de Green Finance.</a:t>
            </a:r>
            <a:endParaRPr lang="pt-PT" sz="800" dirty="0">
              <a:highlight>
                <a:srgbClr val="FFFF00"/>
              </a:highlight>
              <a:latin typeface="+mj-lt"/>
            </a:endParaRPr>
          </a:p>
          <a:p>
            <a:pPr marL="228554" indent="-228554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Envio dos ficheiros “xlsx” relativos aos adjudicados por parte da área de Contabilidade e Desinvestimento para </a:t>
            </a:r>
            <a:r>
              <a:rPr lang="pt-PT" sz="800" dirty="0"/>
              <a:t>a equipa de Green Finance.</a:t>
            </a:r>
            <a:endParaRPr lang="pt-PT" sz="800" dirty="0">
              <a:highlight>
                <a:srgbClr val="FFFF00"/>
              </a:highlight>
            </a:endParaRPr>
          </a:p>
          <a:p>
            <a:pPr defTabSz="1375089"/>
            <a:r>
              <a:rPr lang="pt-PT" sz="1000" dirty="0">
                <a:latin typeface="+mj-lt"/>
              </a:rPr>
              <a:t> </a:t>
            </a: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8B36A6A7-F983-3A7F-CA8A-2D38B5FE9AFF}"/>
              </a:ext>
            </a:extLst>
          </p:cNvPr>
          <p:cNvSpPr/>
          <p:nvPr/>
        </p:nvSpPr>
        <p:spPr>
          <a:xfrm>
            <a:off x="4485134" y="2250754"/>
            <a:ext cx="2012484" cy="642996"/>
          </a:xfrm>
          <a:prstGeom prst="trapezoid">
            <a:avLst>
              <a:gd name="adj" fmla="val 77144"/>
            </a:avLst>
          </a:prstGeom>
          <a:solidFill>
            <a:srgbClr val="FF535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EB491EC7-BA90-5E47-25CF-697A9ED53D74}"/>
              </a:ext>
            </a:extLst>
          </p:cNvPr>
          <p:cNvSpPr/>
          <p:nvPr/>
        </p:nvSpPr>
        <p:spPr>
          <a:xfrm>
            <a:off x="4998761" y="1570360"/>
            <a:ext cx="979099" cy="643629"/>
          </a:xfrm>
          <a:prstGeom prst="trapezoid">
            <a:avLst>
              <a:gd name="adj" fmla="val 93230"/>
            </a:avLst>
          </a:prstGeom>
          <a:solidFill>
            <a:srgbClr val="FA0000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95CEF503-DED4-6BAC-FA15-00F1E3093A5E}"/>
              </a:ext>
            </a:extLst>
          </p:cNvPr>
          <p:cNvSpPr/>
          <p:nvPr/>
        </p:nvSpPr>
        <p:spPr>
          <a:xfrm>
            <a:off x="3964555" y="2930513"/>
            <a:ext cx="3053643" cy="642996"/>
          </a:xfrm>
          <a:prstGeom prst="trapezoid">
            <a:avLst>
              <a:gd name="adj" fmla="val 76861"/>
            </a:avLst>
          </a:prstGeom>
          <a:solidFill>
            <a:srgbClr val="FF818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50F73E-C80C-3516-22FE-1CBCE901F66F}"/>
              </a:ext>
            </a:extLst>
          </p:cNvPr>
          <p:cNvSpPr/>
          <p:nvPr/>
        </p:nvSpPr>
        <p:spPr>
          <a:xfrm>
            <a:off x="973644" y="5143023"/>
            <a:ext cx="1469717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6. </a:t>
            </a:r>
            <a:r>
              <a:rPr lang="pt-PT" sz="1000" b="1" kern="0" dirty="0">
                <a:latin typeface="+mj-lt"/>
              </a:rPr>
              <a:t>Documentação</a:t>
            </a:r>
            <a:endParaRPr lang="pt-PT" sz="1000" b="1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A2BAF-F4BD-E17D-F139-1E5115512D70}"/>
              </a:ext>
            </a:extLst>
          </p:cNvPr>
          <p:cNvSpPr/>
          <p:nvPr/>
        </p:nvSpPr>
        <p:spPr>
          <a:xfrm>
            <a:off x="5484700" y="4969791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808000" tIns="0" rIns="108000" bIns="0" rtlCol="0" anchor="ctr">
            <a:noAutofit/>
          </a:bodyPr>
          <a:lstStyle/>
          <a:p>
            <a:pPr marL="628639" lvl="1" indent="-171450" defTabSz="1375089">
              <a:buFont typeface="Arial" panose="020B0604020202020204" pitchFamily="34" charset="0"/>
              <a:buChar char="•"/>
            </a:pPr>
            <a:r>
              <a:rPr lang="pt-PT" sz="800" dirty="0">
                <a:latin typeface="+mj-lt"/>
              </a:rPr>
              <a:t>Documentação dos processos desenvolvidos para geração dos satélites e dos </a:t>
            </a:r>
            <a:r>
              <a:rPr lang="pt-PT" sz="800" i="1" dirty="0">
                <a:latin typeface="+mj-lt"/>
              </a:rPr>
              <a:t>templates</a:t>
            </a:r>
            <a:r>
              <a:rPr lang="pt-PT" sz="800" dirty="0">
                <a:latin typeface="+mj-lt"/>
              </a:rPr>
              <a:t> locais.</a:t>
            </a: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4B73AB0B-8799-0D20-48A0-963EADC02633}"/>
              </a:ext>
            </a:extLst>
          </p:cNvPr>
          <p:cNvSpPr/>
          <p:nvPr/>
        </p:nvSpPr>
        <p:spPr>
          <a:xfrm>
            <a:off x="2396467" y="3610273"/>
            <a:ext cx="6170771" cy="2002514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 dirty="0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AA751-7401-0375-4A8F-3A0A31DD17C8}"/>
              </a:ext>
            </a:extLst>
          </p:cNvPr>
          <p:cNvCxnSpPr>
            <a:cxnSpLocks/>
          </p:cNvCxnSpPr>
          <p:nvPr/>
        </p:nvCxnSpPr>
        <p:spPr>
          <a:xfrm flipH="1">
            <a:off x="2183907" y="1570361"/>
            <a:ext cx="3091843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0D0FE24-4BC1-756F-0B9B-2BC40F06AD17}"/>
              </a:ext>
            </a:extLst>
          </p:cNvPr>
          <p:cNvSpPr/>
          <p:nvPr/>
        </p:nvSpPr>
        <p:spPr>
          <a:xfrm rot="18464285">
            <a:off x="3097676" y="3589661"/>
            <a:ext cx="1301598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Atividades</a:t>
            </a:r>
            <a:endParaRPr lang="pt-PT" sz="1000" b="1" i="1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15064-5266-555B-64B3-F6FB8C7D4991}"/>
              </a:ext>
            </a:extLst>
          </p:cNvPr>
          <p:cNvSpPr/>
          <p:nvPr/>
        </p:nvSpPr>
        <p:spPr>
          <a:xfrm rot="19357493">
            <a:off x="7060286" y="1113438"/>
            <a:ext cx="154800" cy="4967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277F3-BEC6-22DF-5826-E5F2B335714C}"/>
              </a:ext>
            </a:extLst>
          </p:cNvPr>
          <p:cNvSpPr/>
          <p:nvPr/>
        </p:nvSpPr>
        <p:spPr>
          <a:xfrm rot="3165747">
            <a:off x="6502645" y="3720850"/>
            <a:ext cx="164571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i="1" dirty="0">
                <a:latin typeface="+mj-lt"/>
              </a:rPr>
              <a:t>Descrição (High Level)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01E6F2-5509-87CC-EF02-357B109142E4}"/>
              </a:ext>
            </a:extLst>
          </p:cNvPr>
          <p:cNvCxnSpPr>
            <a:cxnSpLocks/>
          </p:cNvCxnSpPr>
          <p:nvPr/>
        </p:nvCxnSpPr>
        <p:spPr>
          <a:xfrm>
            <a:off x="2396467" y="5695318"/>
            <a:ext cx="61707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9BB5C70-9D8B-4DBE-5A54-D3A916A18DCA}"/>
              </a:ext>
            </a:extLst>
          </p:cNvPr>
          <p:cNvSpPr/>
          <p:nvPr/>
        </p:nvSpPr>
        <p:spPr>
          <a:xfrm>
            <a:off x="4967985" y="5655009"/>
            <a:ext cx="1027735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Responsável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EE23C5-B5F2-5DB2-B13D-0D7448375258}"/>
              </a:ext>
            </a:extLst>
          </p:cNvPr>
          <p:cNvSpPr/>
          <p:nvPr/>
        </p:nvSpPr>
        <p:spPr>
          <a:xfrm>
            <a:off x="5165125" y="1785229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Dep.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Internos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BA96A5-F700-3FA7-4DAA-EE89224BC042}"/>
              </a:ext>
            </a:extLst>
          </p:cNvPr>
          <p:cNvSpPr/>
          <p:nvPr/>
        </p:nvSpPr>
        <p:spPr>
          <a:xfrm>
            <a:off x="5165125" y="240348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Green Finance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2CC605-0E56-7C78-0C42-0A9E734FE6BD}"/>
              </a:ext>
            </a:extLst>
          </p:cNvPr>
          <p:cNvSpPr/>
          <p:nvPr/>
        </p:nvSpPr>
        <p:spPr>
          <a:xfrm>
            <a:off x="5165125" y="314230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Corporação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F32B6-C413-4A06-F823-552A38388303}"/>
              </a:ext>
            </a:extLst>
          </p:cNvPr>
          <p:cNvSpPr/>
          <p:nvPr/>
        </p:nvSpPr>
        <p:spPr>
          <a:xfrm>
            <a:off x="5165125" y="448103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</a:rPr>
              <a:t>Green Finance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0F9258-8530-7AD3-5074-F6D9DCBCF24B}"/>
              </a:ext>
            </a:extLst>
          </p:cNvPr>
          <p:cNvCxnSpPr>
            <a:cxnSpLocks/>
          </p:cNvCxnSpPr>
          <p:nvPr/>
        </p:nvCxnSpPr>
        <p:spPr>
          <a:xfrm>
            <a:off x="5698944" y="1570361"/>
            <a:ext cx="3078928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Modelo de </a:t>
            </a:r>
            <a:r>
              <a:rPr lang="en-US" sz="2000" i="1" dirty="0">
                <a:solidFill>
                  <a:srgbClr val="FF0000"/>
                </a:solidFill>
              </a:rPr>
              <a:t>Governance</a:t>
            </a:r>
            <a:endParaRPr lang="es-ES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0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Comuns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2320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</p:cNvCxnSpPr>
          <p:nvPr/>
        </p:nvCxnSpPr>
        <p:spPr>
          <a:xfrm>
            <a:off x="2035591" y="1664763"/>
            <a:ext cx="6228000" cy="1980008"/>
          </a:xfrm>
          <a:prstGeom prst="bentConnector3">
            <a:avLst>
              <a:gd name="adj1" fmla="val 512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20329" y="1981649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54275" y="3137640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438670" y="5107477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10653" y="4152062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7733" y="2467315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4727" y="349386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71187" y="4422295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49741" y="2464896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5946" y="3461344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2523" y="4409827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737604" y="3240018"/>
            <a:ext cx="287933" cy="287933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40018"/>
            <a:ext cx="241113" cy="2411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0DBF849-88CA-40AC-ADA1-8DE52739DC73}"/>
              </a:ext>
            </a:extLst>
          </p:cNvPr>
          <p:cNvSpPr txBox="1"/>
          <p:nvPr/>
        </p:nvSpPr>
        <p:spPr>
          <a:xfrm>
            <a:off x="1402678" y="6076992"/>
            <a:ext cx="827808" cy="23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CREAM1</a:t>
            </a:r>
            <a:endParaRPr lang="en-US" sz="9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B70321-BBFF-4924-8666-21C0DE9BABE4}"/>
              </a:ext>
            </a:extLst>
          </p:cNvPr>
          <p:cNvGrpSpPr/>
          <p:nvPr/>
        </p:nvGrpSpPr>
        <p:grpSpPr>
          <a:xfrm>
            <a:off x="1498257" y="5406351"/>
            <a:ext cx="647850" cy="647850"/>
            <a:chOff x="1498451" y="4969551"/>
            <a:chExt cx="648000" cy="648000"/>
          </a:xfrm>
        </p:grpSpPr>
        <p:sp>
          <p:nvSpPr>
            <p:cNvPr id="37" name="Oval 2">
              <a:extLst>
                <a:ext uri="{FF2B5EF4-FFF2-40B4-BE49-F238E27FC236}">
                  <a16:creationId xmlns:a16="http://schemas.microsoft.com/office/drawing/2014/main" id="{8D2A2FE2-C869-4255-8C8A-F090E608B130}"/>
                </a:ext>
              </a:extLst>
            </p:cNvPr>
            <p:cNvSpPr/>
            <p:nvPr/>
          </p:nvSpPr>
          <p:spPr>
            <a:xfrm>
              <a:off x="1498451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38" name="Graphic 37" descr="Server with solid fill">
              <a:extLst>
                <a:ext uri="{FF2B5EF4-FFF2-40B4-BE49-F238E27FC236}">
                  <a16:creationId xmlns:a16="http://schemas.microsoft.com/office/drawing/2014/main" id="{9BEEB004-33A4-48E1-B16F-92408AC7C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50" y="5446231"/>
            <a:ext cx="257724" cy="258976"/>
          </a:xfrm>
          <a:prstGeom prst="ellipse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59CEA4-E1DA-E4C5-2DCF-B24231C9700B}"/>
              </a:ext>
            </a:extLst>
          </p:cNvPr>
          <p:cNvGrpSpPr/>
          <p:nvPr/>
        </p:nvGrpSpPr>
        <p:grpSpPr>
          <a:xfrm>
            <a:off x="1497733" y="1333284"/>
            <a:ext cx="760884" cy="647850"/>
            <a:chOff x="1497733" y="1297772"/>
            <a:chExt cx="760884" cy="64785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4BACD4E-D0ED-C108-D8C3-DCC3B9E6FB63}"/>
                </a:ext>
              </a:extLst>
            </p:cNvPr>
            <p:cNvGrpSpPr/>
            <p:nvPr/>
          </p:nvGrpSpPr>
          <p:grpSpPr>
            <a:xfrm>
              <a:off x="1497733" y="1297772"/>
              <a:ext cx="647850" cy="647850"/>
              <a:chOff x="1497733" y="1297772"/>
              <a:chExt cx="647850" cy="64785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AA980D3C-CC05-11FA-0567-5A0FD058BA9A}"/>
                  </a:ext>
                </a:extLst>
              </p:cNvPr>
              <p:cNvSpPr/>
              <p:nvPr/>
            </p:nvSpPr>
            <p:spPr>
              <a:xfrm>
                <a:off x="1497733" y="1297772"/>
                <a:ext cx="647850" cy="6478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Server with solid fill">
                <a:extLst>
                  <a:ext uri="{FF2B5EF4-FFF2-40B4-BE49-F238E27FC236}">
                    <a16:creationId xmlns:a16="http://schemas.microsoft.com/office/drawing/2014/main" id="{13BE708A-1076-15A8-B6F2-4517493A6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5708" y="1405747"/>
                <a:ext cx="431900" cy="431900"/>
              </a:xfrm>
              <a:prstGeom prst="rect">
                <a:avLst/>
              </a:prstGeom>
            </p:spPr>
          </p:pic>
        </p:grpSp>
        <p:pic>
          <p:nvPicPr>
            <p:cNvPr id="93" name="Graphic 92" descr="Single gear outline">
              <a:extLst>
                <a:ext uri="{FF2B5EF4-FFF2-40B4-BE49-F238E27FC236}">
                  <a16:creationId xmlns:a16="http://schemas.microsoft.com/office/drawing/2014/main" id="{4AE68E92-2F58-A5C3-84A0-350D8E08C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970684" y="129940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205512-5C80-5A32-767B-369BE25B1970}"/>
              </a:ext>
            </a:extLst>
          </p:cNvPr>
          <p:cNvCxnSpPr>
            <a:cxnSpLocks/>
          </p:cNvCxnSpPr>
          <p:nvPr/>
        </p:nvCxnSpPr>
        <p:spPr>
          <a:xfrm>
            <a:off x="2122577" y="3817791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2C5583A-2E62-FA40-FDA8-86011B8D19F3}"/>
              </a:ext>
            </a:extLst>
          </p:cNvPr>
          <p:cNvCxnSpPr>
            <a:cxnSpLocks/>
          </p:cNvCxnSpPr>
          <p:nvPr/>
        </p:nvCxnSpPr>
        <p:spPr>
          <a:xfrm flipV="1">
            <a:off x="2154985" y="3644771"/>
            <a:ext cx="3075832" cy="2085505"/>
          </a:xfrm>
          <a:prstGeom prst="bentConnector3">
            <a:avLst>
              <a:gd name="adj1" fmla="val 99932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20EDF2-BAF7-52B0-A773-AEF1167325DA}"/>
              </a:ext>
            </a:extLst>
          </p:cNvPr>
          <p:cNvCxnSpPr>
            <a:cxnSpLocks/>
          </p:cNvCxnSpPr>
          <p:nvPr/>
        </p:nvCxnSpPr>
        <p:spPr>
          <a:xfrm>
            <a:off x="2122577" y="4746220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6DB6F8-B16A-2169-F091-C7F34F309318}"/>
              </a:ext>
            </a:extLst>
          </p:cNvPr>
          <p:cNvCxnSpPr>
            <a:cxnSpLocks/>
          </p:cNvCxnSpPr>
          <p:nvPr/>
        </p:nvCxnSpPr>
        <p:spPr>
          <a:xfrm>
            <a:off x="2122577" y="2791240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6575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319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72948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91407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9424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641" y="4905438"/>
            <a:ext cx="647850" cy="64785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998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8109" y="4905438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7635" y="2150305"/>
            <a:ext cx="3531788" cy="15808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Sintra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7635" y="3203476"/>
            <a:ext cx="3531788" cy="5276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7635" y="3731121"/>
            <a:ext cx="3531788" cy="5367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7635" y="3731123"/>
            <a:ext cx="3531788" cy="16012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6209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970" y="1687768"/>
            <a:ext cx="827808" cy="891795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Balancetes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3328" y="1687768"/>
            <a:ext cx="899792" cy="891795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Fich.Comp,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3350" y="2011694"/>
            <a:ext cx="140450" cy="1395504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3348" y="2011694"/>
            <a:ext cx="1723801" cy="1395504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37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56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83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973" y="557576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7" y="4877878"/>
            <a:ext cx="241113" cy="24111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629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7274" y="3731123"/>
            <a:ext cx="1796574" cy="1498242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7273" y="3731123"/>
            <a:ext cx="3513217" cy="1498242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2097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160377" y="3354230"/>
            <a:ext cx="287933" cy="287933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452142" y="4835015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945362" y="4835015"/>
            <a:ext cx="287933" cy="287933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9666006" y="4835015"/>
            <a:ext cx="287933" cy="287933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7273" y="3731123"/>
            <a:ext cx="328686" cy="1498242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7371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986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397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7637" y="1668075"/>
            <a:ext cx="3368433" cy="7596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772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5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422" y="5575764"/>
            <a:ext cx="83527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386" y="4877878"/>
            <a:ext cx="241113" cy="241113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836" y="3731122"/>
            <a:ext cx="954411" cy="1498241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448940" y="3354230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391761" y="4835015"/>
            <a:ext cx="287933" cy="28793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5947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Sintra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8094" y="2033377"/>
            <a:ext cx="835273" cy="971528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9663" y="4905438"/>
            <a:ext cx="647850" cy="64785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3334" y="5575765"/>
            <a:ext cx="944793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(Vinculação)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653" y="4877878"/>
            <a:ext cx="241113" cy="241113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7514" y="3731122"/>
            <a:ext cx="1800472" cy="149824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920" y="2427725"/>
            <a:ext cx="2127991" cy="97947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2280" y="5157404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7089" y="3775189"/>
            <a:ext cx="755825" cy="1034354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70130" y="5229363"/>
            <a:ext cx="3379534" cy="2769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4940" y="4194277"/>
            <a:ext cx="3678649" cy="71116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80" y="3821225"/>
            <a:ext cx="241113" cy="241113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4939" y="3731122"/>
            <a:ext cx="5803047" cy="463155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135" y="4905438"/>
            <a:ext cx="647850" cy="64785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122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887499" y="4835015"/>
            <a:ext cx="287933" cy="287933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836" y="3731122"/>
            <a:ext cx="2446149" cy="1498241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978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7636" y="1668075"/>
            <a:ext cx="5820350" cy="2063047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7636" y="3018685"/>
            <a:ext cx="5820350" cy="712437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8893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60746" y="1668075"/>
            <a:ext cx="6103088" cy="194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9056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Sintra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9796" y="5230912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7646" y="3611377"/>
            <a:ext cx="6126188" cy="1968430"/>
          </a:xfrm>
          <a:prstGeom prst="bentConnector3">
            <a:avLst>
              <a:gd name="adj1" fmla="val 502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289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60746" y="3018685"/>
            <a:ext cx="6103088" cy="592692"/>
          </a:xfrm>
          <a:prstGeom prst="bentConnector3">
            <a:avLst>
              <a:gd name="adj1" fmla="val 5003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9796" y="3902718"/>
            <a:ext cx="675104" cy="966865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916" y="3192289"/>
            <a:ext cx="772744" cy="1034354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7646" y="3611377"/>
            <a:ext cx="6126188" cy="615266"/>
          </a:xfrm>
          <a:prstGeom prst="bentConnector3">
            <a:avLst>
              <a:gd name="adj1" fmla="val 501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675" y="1775668"/>
            <a:ext cx="935783" cy="915758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 dirty="0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684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835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6278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Primários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914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Universo Full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2241462" y="4539317"/>
            <a:ext cx="647850" cy="64785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76" y="4415316"/>
            <a:ext cx="241113" cy="241113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2726471" y="4415316"/>
            <a:ext cx="287933" cy="2879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2172303" y="5138607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879691" y="5302248"/>
            <a:ext cx="227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cd_captools.nm001_master_cto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cd_captools.kt_chaves_finrep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2059" y="2086243"/>
            <a:ext cx="1222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MdD_79_CESG_CNAE_ESG_v5.2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818" y="3474247"/>
            <a:ext cx="122287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900" dirty="0"/>
              <a:t>MdD_84_GARB_GAR &amp; BTAR_v5.2</a:t>
            </a:r>
            <a:endParaRPr lang="pt-PT" sz="900" dirty="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797028" y="2086243"/>
            <a:ext cx="16298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MdD_80_ENPC_Energy_Performance_Certificate_v4.2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81318" y="3486738"/>
            <a:ext cx="1222872" cy="5078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900" dirty="0">
                <a:ea typeface="+mn-lt"/>
                <a:cs typeface="+mn-lt"/>
              </a:rPr>
              <a:t>MdD_93_GHGE_GHG Financed emissions_v6.2</a:t>
            </a:r>
            <a:endParaRPr lang="en-US" sz="900" dirty="0"/>
          </a:p>
        </p:txBody>
      </p:sp>
      <p:sp>
        <p:nvSpPr>
          <p:cNvPr id="70" name="Rectangle 69"/>
          <p:cNvSpPr/>
          <p:nvPr/>
        </p:nvSpPr>
        <p:spPr>
          <a:xfrm>
            <a:off x="3398986" y="2086243"/>
            <a:ext cx="109163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MdD_83_MITI_Mitigation actions_v4.2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059" y="3474247"/>
            <a:ext cx="125034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MdD_109_IESG_Interest and Commisions_v3.1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393" y="6087078"/>
            <a:ext cx="4915673" cy="23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Nota: Ficheiros “xlsx” com os IDCOMBs para os respetivos satélites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D9E5EE-4FBA-6B66-A25A-38CC31F78D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422" y="2798534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C8D59-6F9B-FAF8-9DA0-BE10F97B18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7422" y="1398661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B2CD2-4E12-BE6D-DD64-C6D4DB2EB8C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4111" y="2798534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1380A-1835-DAE2-58F5-40CA17E6D92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4111" y="1398661"/>
            <a:ext cx="647850" cy="647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728735-DF2C-A03F-7AFA-1783EFC3949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1620" y="1398661"/>
            <a:ext cx="647850" cy="6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149A7-21B0-5366-F536-61B727A271F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61620" y="2798534"/>
            <a:ext cx="647850" cy="6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132EF-3B79-05B8-A4B2-11BC6B99F7DE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1346808"/>
            <a:ext cx="238885" cy="238885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378FB6-53A9-3065-E1AA-99F5300526D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2757247"/>
            <a:ext cx="238885" cy="238885"/>
          </a:xfrm>
          <a:prstGeom prst="ellipse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9CD38E-0A5D-3D5E-6C08-18BD1906D33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1346808"/>
            <a:ext cx="238885" cy="238885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B73697-F1F2-24D4-E930-A75CDD65AFD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2757247"/>
            <a:ext cx="238885" cy="238885"/>
          </a:xfrm>
          <a:prstGeom prst="ellipse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8FE561-5B95-10BD-2E97-24F59D33581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1346808"/>
            <a:ext cx="238885" cy="238885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B606BC-2748-AA7D-4A50-7833480FF66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2757247"/>
            <a:ext cx="238885" cy="238885"/>
          </a:xfrm>
          <a:prstGeom prst="ellipse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9F4083-84DA-3054-322A-2FFD850CF1B9}"/>
              </a:ext>
            </a:extLst>
          </p:cNvPr>
          <p:cNvSpPr/>
          <p:nvPr/>
        </p:nvSpPr>
        <p:spPr>
          <a:xfrm>
            <a:off x="564675" y="1267770"/>
            <a:ext cx="4315334" cy="481930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26" name="Elbow Connector 69">
            <a:extLst>
              <a:ext uri="{FF2B5EF4-FFF2-40B4-BE49-F238E27FC236}">
                <a16:creationId xmlns:a16="http://schemas.microsoft.com/office/drawing/2014/main" id="{80FCE532-E84B-34D0-6265-8732770CA99B}"/>
              </a:ext>
            </a:extLst>
          </p:cNvPr>
          <p:cNvCxnSpPr>
            <a:cxnSpLocks/>
          </p:cNvCxnSpPr>
          <p:nvPr/>
        </p:nvCxnSpPr>
        <p:spPr>
          <a:xfrm flipV="1">
            <a:off x="4880009" y="3377035"/>
            <a:ext cx="3240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0E55121-42DA-7CA6-B7CA-86572C7048F7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8725A71-A991-DCAD-05E7-AB1E8EACDAA4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8" name="Graphic 119" descr="Database with solid fill">
              <a:extLst>
                <a:ext uri="{FF2B5EF4-FFF2-40B4-BE49-F238E27FC236}">
                  <a16:creationId xmlns:a16="http://schemas.microsoft.com/office/drawing/2014/main" id="{FBCF855B-703B-9D15-EBA9-36021148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79" name="Graphic 116" descr="Single gear with solid fill">
            <a:extLst>
              <a:ext uri="{FF2B5EF4-FFF2-40B4-BE49-F238E27FC236}">
                <a16:creationId xmlns:a16="http://schemas.microsoft.com/office/drawing/2014/main" id="{B09E7110-84CB-A721-88F1-AD44D96B8DF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80" name="Elbow Connector 69">
            <a:extLst>
              <a:ext uri="{FF2B5EF4-FFF2-40B4-BE49-F238E27FC236}">
                <a16:creationId xmlns:a16="http://schemas.microsoft.com/office/drawing/2014/main" id="{AE1109FC-80FE-0152-875C-9E5D73C2BB2D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219BA20-CD99-E50F-D649-0B1F7BDF034C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58" name="Picture 4">
              <a:extLst>
                <a:ext uri="{FF2B5EF4-FFF2-40B4-BE49-F238E27FC236}">
                  <a16:creationId xmlns:a16="http://schemas.microsoft.com/office/drawing/2014/main" id="{99EE2443-484D-2170-72D5-CE5197DEF3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139" descr="Related image">
              <a:extLst>
                <a:ext uri="{FF2B5EF4-FFF2-40B4-BE49-F238E27FC236}">
                  <a16:creationId xmlns:a16="http://schemas.microsoft.com/office/drawing/2014/main" id="{8730ABB4-13C6-05FD-A993-439AB9908A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1F25BB0-7405-6D55-B313-86E05BB62B75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160AD-6021-C3DE-FF79-A4F7EF42F168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D8792A-91BF-38C6-4F63-012FD1B6EA6F}"/>
              </a:ext>
            </a:extLst>
          </p:cNvPr>
          <p:cNvSpPr txBox="1"/>
          <p:nvPr/>
        </p:nvSpPr>
        <p:spPr>
          <a:xfrm>
            <a:off x="7760628" y="3929958"/>
            <a:ext cx="2231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de definição do universo do perímetro de cada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003530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/>
          <p:nvPr/>
        </p:nvCxnSpPr>
        <p:spPr>
          <a:xfrm flipV="1">
            <a:off x="4517859" y="4159664"/>
            <a:ext cx="1683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Informação Gloval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C5004-53E5-5C7E-8883-6E5EAD1D55FE}"/>
              </a:ext>
            </a:extLst>
          </p:cNvPr>
          <p:cNvGrpSpPr/>
          <p:nvPr/>
        </p:nvGrpSpPr>
        <p:grpSpPr>
          <a:xfrm>
            <a:off x="3579561" y="3771964"/>
            <a:ext cx="2405030" cy="1322600"/>
            <a:chOff x="8056855" y="3792423"/>
            <a:chExt cx="2405030" cy="132260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3852314"/>
              <a:ext cx="647850" cy="647850"/>
              <a:chOff x="455122" y="4977513"/>
              <a:chExt cx="648000" cy="648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0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5209" y="448232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3792423"/>
              <a:ext cx="241113" cy="241113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8884368" y="3792423"/>
              <a:ext cx="287933" cy="287933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5" y="4607192"/>
              <a:ext cx="240503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(ctabela = 'J48’; '438’; '190’; '437')</a:t>
              </a:r>
              <a:endParaRPr lang="pt-PT" sz="1000" dirty="0"/>
            </a:p>
          </p:txBody>
        </p:sp>
      </p:grp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2651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cd_garantias.gt008_trz_gt_imv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cd_garantias.gt001_trz_rsp_gt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cd_garantias.gt009_bens_imov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cd_garantias.cst08_caucbem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cd_garantias.gt018_rateio_aval</a:t>
            </a:r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7AF6E5-1E69-F0DE-C858-479FE813DC8E}"/>
              </a:ext>
            </a:extLst>
          </p:cNvPr>
          <p:cNvGrpSpPr/>
          <p:nvPr/>
        </p:nvGrpSpPr>
        <p:grpSpPr>
          <a:xfrm>
            <a:off x="3579561" y="1901208"/>
            <a:ext cx="2304956" cy="1598047"/>
            <a:chOff x="8056854" y="1287947"/>
            <a:chExt cx="2304956" cy="159804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29144" y="1970315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EMPRÉSTIMOS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4" y="2101164"/>
              <a:ext cx="230495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cd_emprestimos.gpt32_bemimove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cd_emprestimos.gpt18_bens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cd_emprestimos.gpt14_registos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cd_emprestimos.gpt31_contrato</a:t>
              </a:r>
            </a:p>
          </p:txBody>
        </p:sp>
        <p:pic>
          <p:nvPicPr>
            <p:cNvPr id="7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7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E6F3F-37A8-A46C-3B04-85C7058C3355}"/>
              </a:ext>
            </a:extLst>
          </p:cNvPr>
          <p:cNvCxnSpPr>
            <a:stCxn id="68" idx="6"/>
          </p:cNvCxnSpPr>
          <p:nvPr/>
        </p:nvCxnSpPr>
        <p:spPr>
          <a:xfrm flipV="1">
            <a:off x="4606489" y="2268278"/>
            <a:ext cx="1585905" cy="98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FE18F9C-BF74-3842-BDBA-3384BC0F0A66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66602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57B99B77-69BA-A507-2C28-5618F1596AE2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6663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4ADE09B-5F08-C62C-BE21-B94E0DF2CAFD}"/>
              </a:ext>
            </a:extLst>
          </p:cNvPr>
          <p:cNvGrpSpPr/>
          <p:nvPr/>
        </p:nvGrpSpPr>
        <p:grpSpPr>
          <a:xfrm>
            <a:off x="1237964" y="4721098"/>
            <a:ext cx="2310666" cy="1603283"/>
            <a:chOff x="1237574" y="4012190"/>
            <a:chExt cx="2310666" cy="160328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ED25F70-7414-72C3-2C4B-2FEBB5F4E437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756F8FC5-B3EA-EFDB-2749-17C6F5D0BA4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2" name="Graphic 119" descr="Database with solid fill">
                <a:extLst>
                  <a:ext uri="{FF2B5EF4-FFF2-40B4-BE49-F238E27FC236}">
                    <a16:creationId xmlns:a16="http://schemas.microsoft.com/office/drawing/2014/main" id="{67EEADCD-969C-6A80-59B4-D5E354248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D8656D4-981C-4A5E-0E05-5F84696E01EB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7CB5AA2-5D8F-4202-4572-07090588149C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pic>
          <p:nvPicPr>
            <p:cNvPr id="98" name="Imagen 18">
              <a:extLst>
                <a:ext uri="{FF2B5EF4-FFF2-40B4-BE49-F238E27FC236}">
                  <a16:creationId xmlns:a16="http://schemas.microsoft.com/office/drawing/2014/main" id="{479E18AA-5698-1133-0C62-CC0CFD4F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99" name="Graphic 96" descr="Single gear outline">
              <a:extLst>
                <a:ext uri="{FF2B5EF4-FFF2-40B4-BE49-F238E27FC236}">
                  <a16:creationId xmlns:a16="http://schemas.microsoft.com/office/drawing/2014/main" id="{8C61868F-54D0-CEC5-84AE-8D7CF47FC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E1F37F1-7C37-5243-91F5-E2453D6D1606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cd_captools.ct001_univ_saldo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cd_captools.ct005_univ_perim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cd_captools.ct802_codigo_emp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8DC97D9-8278-AC7D-85B4-3564C33E5F72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06C81D9-198F-A419-8DCD-8936DA781B07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9" name="Graphic 119" descr="Database with solid fill">
              <a:extLst>
                <a:ext uri="{FF2B5EF4-FFF2-40B4-BE49-F238E27FC236}">
                  <a16:creationId xmlns:a16="http://schemas.microsoft.com/office/drawing/2014/main" id="{BBEBE4F6-78E8-C6E7-AD18-43639F85C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110" name="Graphic 116" descr="Single gear with solid fill">
            <a:extLst>
              <a:ext uri="{FF2B5EF4-FFF2-40B4-BE49-F238E27FC236}">
                <a16:creationId xmlns:a16="http://schemas.microsoft.com/office/drawing/2014/main" id="{E9158B5F-E272-C567-5C1E-35E16C0CF67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111" name="Elbow Connector 69">
            <a:extLst>
              <a:ext uri="{FF2B5EF4-FFF2-40B4-BE49-F238E27FC236}">
                <a16:creationId xmlns:a16="http://schemas.microsoft.com/office/drawing/2014/main" id="{7D61EE91-DC87-8E71-60D1-115E5AD9A41E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E79833F-4E19-0377-50E0-E00EAB546B06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04" name="Picture 4">
              <a:extLst>
                <a:ext uri="{FF2B5EF4-FFF2-40B4-BE49-F238E27FC236}">
                  <a16:creationId xmlns:a16="http://schemas.microsoft.com/office/drawing/2014/main" id="{01EFF079-0259-CF89-EC7C-C02B4E3A0C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139" descr="Related image">
              <a:extLst>
                <a:ext uri="{FF2B5EF4-FFF2-40B4-BE49-F238E27FC236}">
                  <a16:creationId xmlns:a16="http://schemas.microsoft.com/office/drawing/2014/main" id="{55E3A36B-7982-4DFF-58FA-4B7290DB1F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A698F54-DF05-56E3-0433-0FA32F7C7101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0A1B328-F403-EB47-1EF9-B715ADCAFED5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pt-PT" sz="900" dirty="0"/>
              <a:t>bu_esg_work.envio_final_gloval_jun23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878A9-E14F-7F62-3553-53712E519514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dados utilizados no mapeamento do processo de informação Gloval.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731792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</a:t>
            </a:r>
            <a:r>
              <a:rPr lang="en-US" sz="1100" dirty="0" smtClean="0"/>
              <a:t>da </a:t>
            </a:r>
            <a:r>
              <a:rPr lang="en-US" sz="1100" dirty="0" err="1" smtClean="0"/>
              <a:t>informação</a:t>
            </a:r>
            <a:r>
              <a:rPr lang="en-US" sz="1100" dirty="0" smtClean="0"/>
              <a:t> </a:t>
            </a:r>
            <a:r>
              <a:rPr lang="en-US" sz="1100" i="1" dirty="0" smtClean="0"/>
              <a:t>via </a:t>
            </a:r>
            <a:r>
              <a:rPr lang="en-US" sz="1100" dirty="0" err="1" smtClean="0"/>
              <a:t>Gloval</a:t>
            </a:r>
            <a:r>
              <a:rPr lang="en-US" sz="1100" dirty="0" smtClean="0"/>
              <a:t> (</a:t>
            </a:r>
            <a:r>
              <a:rPr lang="en-US" sz="1100" dirty="0" err="1" smtClean="0"/>
              <a:t>descrito</a:t>
            </a:r>
            <a:r>
              <a:rPr lang="en-US" sz="1100" dirty="0" smtClean="0"/>
              <a:t> </a:t>
            </a:r>
            <a:r>
              <a:rPr lang="en-US" sz="1100" dirty="0"/>
              <a:t>no </a:t>
            </a:r>
            <a:r>
              <a:rPr lang="en-US" sz="1100" i="1" dirty="0"/>
              <a:t>slide </a:t>
            </a:r>
            <a:r>
              <a:rPr lang="en-US" sz="1100" dirty="0" smtClean="0"/>
              <a:t>anterior), </a:t>
            </a:r>
            <a:r>
              <a:rPr lang="en-US" sz="1100" dirty="0"/>
              <a:t>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 smtClean="0"/>
              <a:t>métricas</a:t>
            </a:r>
            <a:r>
              <a:rPr lang="en-US" sz="1100" dirty="0" smtClean="0"/>
              <a:t>:</a:t>
            </a:r>
            <a:endParaRPr lang="en-US" sz="1100" dirty="0"/>
          </a:p>
          <a:p>
            <a:endParaRPr lang="en-US" sz="11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Informação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820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 smtClean="0"/>
              <a:t>Clase_energetica</a:t>
            </a:r>
            <a:endParaRPr lang="pt-PT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625778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emisiones</a:t>
            </a:r>
            <a:endParaRPr lang="pt-PT" sz="11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9137370" y="181677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consumos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62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fiabilidad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407550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>
            <a:cxnSpLocks/>
          </p:cNvCxnSpPr>
          <p:nvPr/>
        </p:nvCxnSpPr>
        <p:spPr>
          <a:xfrm>
            <a:off x="2039203" y="3380778"/>
            <a:ext cx="3862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cd_captools.fr003_colaterais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cd_captools.fr801_tip_garan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cd_captools.kt_chaves_finrep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1353F0-3A2D-9633-A394-4E168A6C5C24}"/>
              </a:ext>
            </a:extLst>
          </p:cNvPr>
          <p:cNvGrpSpPr/>
          <p:nvPr/>
        </p:nvGrpSpPr>
        <p:grpSpPr>
          <a:xfrm>
            <a:off x="1237574" y="4717040"/>
            <a:ext cx="2310666" cy="1464783"/>
            <a:chOff x="1237574" y="4012190"/>
            <a:chExt cx="2310666" cy="146478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GARANTIAS</a:t>
              </a:r>
            </a:p>
          </p:txBody>
        </p:sp>
        <p:pic>
          <p:nvPicPr>
            <p:cNvPr id="48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49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cd_garantias.gt009_bens_imov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cd_garantias.gt018_rateio_aval</a:t>
              </a:r>
            </a:p>
          </p:txBody>
        </p:sp>
      </p:grp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244A69F-E8AD-0120-CE01-969F30A44312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50560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BBEB62E-0C45-4CA2-B4C4-BDBE9DF70F56}"/>
              </a:ext>
            </a:extLst>
          </p:cNvPr>
          <p:cNvGrpSpPr/>
          <p:nvPr/>
        </p:nvGrpSpPr>
        <p:grpSpPr>
          <a:xfrm>
            <a:off x="11007832" y="3005846"/>
            <a:ext cx="706458" cy="680862"/>
            <a:chOff x="11007832" y="3005846"/>
            <a:chExt cx="706458" cy="68086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6D81DF1-FF07-0400-31E1-4D1E8EEE67B4}"/>
                </a:ext>
              </a:extLst>
            </p:cNvPr>
            <p:cNvGrpSpPr/>
            <p:nvPr/>
          </p:nvGrpSpPr>
          <p:grpSpPr>
            <a:xfrm>
              <a:off x="11007832" y="3042684"/>
              <a:ext cx="639433" cy="644024"/>
              <a:chOff x="10931012" y="2482312"/>
              <a:chExt cx="639433" cy="64402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2A72D1C-E943-4CD9-1DE5-4E3981668FDC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119" descr="Database with solid fill">
                <a:extLst>
                  <a:ext uri="{FF2B5EF4-FFF2-40B4-BE49-F238E27FC236}">
                    <a16:creationId xmlns:a16="http://schemas.microsoft.com/office/drawing/2014/main" id="{36474B2F-1BD7-5351-1ED9-0C9ABFA38D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29" name="Graphic 116" descr="Single gear with solid fill">
              <a:extLst>
                <a:ext uri="{FF2B5EF4-FFF2-40B4-BE49-F238E27FC236}">
                  <a16:creationId xmlns:a16="http://schemas.microsoft.com/office/drawing/2014/main" id="{A6D3D1D9-DFD4-B334-5B43-06E51F829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11426357" y="3005846"/>
              <a:ext cx="287933" cy="28793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DF4-4108-64EB-BAE7-E5EA56389B14}"/>
              </a:ext>
            </a:extLst>
          </p:cNvPr>
          <p:cNvGrpSpPr/>
          <p:nvPr/>
        </p:nvGrpSpPr>
        <p:grpSpPr>
          <a:xfrm>
            <a:off x="1237574" y="2904781"/>
            <a:ext cx="2795411" cy="1326284"/>
            <a:chOff x="1237574" y="4012190"/>
            <a:chExt cx="2795411" cy="13262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E9B27F-7C44-B08E-1635-F02AD8D23FD7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AA7D49F-9793-AAFF-38AD-E0DAE7AE49A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8" name="Graphic 119" descr="Database with solid fill">
                <a:extLst>
                  <a:ext uri="{FF2B5EF4-FFF2-40B4-BE49-F238E27FC236}">
                    <a16:creationId xmlns:a16="http://schemas.microsoft.com/office/drawing/2014/main" id="{8764C538-7ED2-3620-C3AF-B91C874227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6ECC41-96DC-BD16-080B-74BACD801869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088F90-7358-81C6-33AC-DF5E74F21421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pic>
          <p:nvPicPr>
            <p:cNvPr id="14" name="Imagen 18">
              <a:extLst>
                <a:ext uri="{FF2B5EF4-FFF2-40B4-BE49-F238E27FC236}">
                  <a16:creationId xmlns:a16="http://schemas.microsoft.com/office/drawing/2014/main" id="{123497EA-9CBF-E8D6-9666-9669BC988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15" name="Graphic 96" descr="Single gear outline">
              <a:extLst>
                <a:ext uri="{FF2B5EF4-FFF2-40B4-BE49-F238E27FC236}">
                  <a16:creationId xmlns:a16="http://schemas.microsoft.com/office/drawing/2014/main" id="{890E5B8C-A9D0-7B50-4D86-60FEC0EE1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445968-DC7E-6BAF-ECC1-A7859C92D2F6}"/>
                </a:ext>
              </a:extLst>
            </p:cNvPr>
            <p:cNvSpPr txBox="1"/>
            <p:nvPr/>
          </p:nvSpPr>
          <p:spPr>
            <a:xfrm>
              <a:off x="1317031" y="4969142"/>
              <a:ext cx="2715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</a:t>
              </a:r>
              <a:r>
                <a:rPr lang="pt-PT" sz="800" dirty="0"/>
                <a:t>(ctabela = 'J48’)</a:t>
              </a:r>
              <a:endParaRPr lang="en-US" sz="900" dirty="0"/>
            </a:p>
          </p:txBody>
        </p:sp>
      </p:grpSp>
      <p:cxnSp>
        <p:nvCxnSpPr>
          <p:cNvPr id="41" name="Elbow Connector 69">
            <a:extLst>
              <a:ext uri="{FF2B5EF4-FFF2-40B4-BE49-F238E27FC236}">
                <a16:creationId xmlns:a16="http://schemas.microsoft.com/office/drawing/2014/main" id="{BD59E79E-E6FD-5688-3FA8-5BBE698662D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26FFD7C-F99F-8924-EA68-A5239073A5D2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46" name="Picture 4">
              <a:extLst>
                <a:ext uri="{FF2B5EF4-FFF2-40B4-BE49-F238E27FC236}">
                  <a16:creationId xmlns:a16="http://schemas.microsoft.com/office/drawing/2014/main" id="{371A544C-21B5-9F8F-FF23-81086E408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139" descr="Related image">
              <a:extLst>
                <a:ext uri="{FF2B5EF4-FFF2-40B4-BE49-F238E27FC236}">
                  <a16:creationId xmlns:a16="http://schemas.microsoft.com/office/drawing/2014/main" id="{13DE11EA-B614-DE44-7495-E7D5092F3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EFA46F1-DFDC-4B27-35F7-5C0FDFE329B8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cxnSp>
        <p:nvCxnSpPr>
          <p:cNvPr id="83" name="Elbow Connector 69">
            <a:extLst>
              <a:ext uri="{FF2B5EF4-FFF2-40B4-BE49-F238E27FC236}">
                <a16:creationId xmlns:a16="http://schemas.microsoft.com/office/drawing/2014/main" id="{76039810-1BB3-C79C-E3DC-9AE0B6D5C52A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05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9B5B467-161B-0679-5F5B-FA1E7EE6E23F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pt-PT" sz="900" dirty="0"/>
              <a:t>bu_esg_work.colaterais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A6C215-6F57-343E-8955-03AE963BD6BD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do processo de colaterais.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7214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</a:t>
            </a:r>
            <a:r>
              <a:rPr lang="en-US" sz="1100" dirty="0" smtClean="0"/>
              <a:t>das </a:t>
            </a:r>
            <a:r>
              <a:rPr lang="en-US" sz="1100" dirty="0" err="1" smtClean="0"/>
              <a:t>métricas</a:t>
            </a:r>
            <a:r>
              <a:rPr lang="en-US" sz="1100" dirty="0" smtClean="0"/>
              <a:t> </a:t>
            </a:r>
            <a:r>
              <a:rPr lang="en-US" sz="1100" dirty="0" err="1" smtClean="0"/>
              <a:t>associadas</a:t>
            </a:r>
            <a:r>
              <a:rPr lang="en-US" sz="1100" dirty="0" smtClean="0"/>
              <a:t> </a:t>
            </a:r>
            <a:r>
              <a:rPr lang="en-US" sz="1100" dirty="0" err="1" smtClean="0"/>
              <a:t>aos</a:t>
            </a:r>
            <a:r>
              <a:rPr lang="en-US" sz="1100" dirty="0" smtClean="0"/>
              <a:t> </a:t>
            </a:r>
            <a:r>
              <a:rPr lang="en-US" sz="1100" dirty="0" err="1" smtClean="0"/>
              <a:t>colaterais</a:t>
            </a:r>
            <a:r>
              <a:rPr lang="en-US" sz="1100" dirty="0" smtClean="0"/>
              <a:t> (</a:t>
            </a:r>
            <a:r>
              <a:rPr lang="en-US" sz="1100" dirty="0" err="1" smtClean="0"/>
              <a:t>descrito</a:t>
            </a:r>
            <a:r>
              <a:rPr lang="en-US" sz="1100" dirty="0" smtClean="0"/>
              <a:t> </a:t>
            </a:r>
            <a:r>
              <a:rPr lang="en-US" sz="1100" dirty="0"/>
              <a:t>no </a:t>
            </a:r>
            <a:r>
              <a:rPr lang="en-US" sz="1100" i="1" dirty="0"/>
              <a:t>slide </a:t>
            </a:r>
            <a:r>
              <a:rPr lang="en-US" sz="1100" dirty="0" smtClean="0"/>
              <a:t>anterior), </a:t>
            </a:r>
            <a:r>
              <a:rPr lang="en-US" sz="1100" dirty="0"/>
              <a:t>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 smtClean="0"/>
              <a:t>métricas</a:t>
            </a:r>
            <a:r>
              <a:rPr lang="en-US" sz="1100" dirty="0" smtClean="0"/>
              <a:t>:</a:t>
            </a:r>
            <a:endParaRPr lang="en-US" sz="1100" dirty="0"/>
          </a:p>
          <a:p>
            <a:endParaRPr lang="en-US" sz="11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820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Type Collateral</a:t>
            </a:r>
            <a:endParaRPr lang="pt-PT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625778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Tipo </a:t>
            </a:r>
            <a:r>
              <a:rPr lang="pt-PT" sz="1100" dirty="0" err="1" smtClean="0"/>
              <a:t>imovel</a:t>
            </a:r>
            <a:endParaRPr lang="pt-PT" sz="11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9137370" y="181677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Collateral</a:t>
            </a:r>
            <a:r>
              <a:rPr lang="pt-PT" sz="1100" dirty="0" smtClean="0"/>
              <a:t> zip </a:t>
            </a:r>
            <a:r>
              <a:rPr lang="pt-PT" sz="1100" dirty="0" err="1" smtClean="0"/>
              <a:t>code</a:t>
            </a:r>
            <a:endParaRPr lang="pt-PT" sz="1100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498629" y="225368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Collateral</a:t>
            </a:r>
            <a:r>
              <a:rPr lang="pt-PT" sz="1100" dirty="0" smtClean="0"/>
              <a:t> </a:t>
            </a:r>
            <a:r>
              <a:rPr lang="pt-PT" sz="1100" dirty="0" err="1" smtClean="0"/>
              <a:t>Nuts</a:t>
            </a:r>
            <a:endParaRPr lang="pt-PT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49862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Percent</a:t>
            </a:r>
            <a:r>
              <a:rPr lang="pt-PT" sz="1100" dirty="0" smtClean="0"/>
              <a:t> </a:t>
            </a:r>
            <a:r>
              <a:rPr lang="pt-PT" sz="1100" dirty="0" err="1" smtClean="0"/>
              <a:t>Collateral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1275259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>
            <a:cxnSpLocks/>
          </p:cNvCxnSpPr>
          <p:nvPr/>
        </p:nvCxnSpPr>
        <p:spPr>
          <a:xfrm>
            <a:off x="4207119" y="3963927"/>
            <a:ext cx="151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Contrato e cliente 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C5004-53E5-5C7E-8883-6E5EAD1D55FE}"/>
              </a:ext>
            </a:extLst>
          </p:cNvPr>
          <p:cNvGrpSpPr/>
          <p:nvPr/>
        </p:nvGrpSpPr>
        <p:grpSpPr>
          <a:xfrm>
            <a:off x="3271200" y="3574943"/>
            <a:ext cx="2471841" cy="1445711"/>
            <a:chOff x="8056855" y="3792423"/>
            <a:chExt cx="2471841" cy="144571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3852314"/>
              <a:ext cx="647850" cy="647850"/>
              <a:chOff x="455122" y="4977513"/>
              <a:chExt cx="648000" cy="648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0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5209" y="448232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3792423"/>
              <a:ext cx="241113" cy="241113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8884368" y="3792423"/>
              <a:ext cx="287933" cy="287933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5" y="4607192"/>
              <a:ext cx="2471841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</a:t>
              </a:r>
              <a:r>
                <a:rPr lang="pt-PT" sz="800" dirty="0"/>
                <a:t>(ctabela = 'J48’)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cd_estruturais.interface_moradas</a:t>
              </a: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cd_captools.ct001_univ_salo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cd_captools.ct003_univ_cli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cd_captools.ct063_univ_pme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cd_captools.ct610_titulos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cd_captools.ct021_rwa_cli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cd_captools.fr004_cto</a:t>
            </a:r>
            <a:endParaRPr lang="en-US" sz="9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cd_captools.bdr_jm_clien_juri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1353F0-3A2D-9633-A394-4E168A6C5C24}"/>
              </a:ext>
            </a:extLst>
          </p:cNvPr>
          <p:cNvGrpSpPr/>
          <p:nvPr/>
        </p:nvGrpSpPr>
        <p:grpSpPr>
          <a:xfrm>
            <a:off x="1237574" y="4717040"/>
            <a:ext cx="2310666" cy="1464783"/>
            <a:chOff x="1237574" y="4012190"/>
            <a:chExt cx="2310666" cy="146478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pic>
          <p:nvPicPr>
            <p:cNvPr id="48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49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cd_alm.kt_chaves_alm_m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cd_alm.al006_saq_ppc</a:t>
              </a:r>
            </a:p>
          </p:txBody>
        </p:sp>
      </p:grp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7AF6E5-1E69-F0DE-C858-479FE813DC8E}"/>
              </a:ext>
            </a:extLst>
          </p:cNvPr>
          <p:cNvGrpSpPr/>
          <p:nvPr/>
        </p:nvGrpSpPr>
        <p:grpSpPr>
          <a:xfrm>
            <a:off x="3271200" y="1980412"/>
            <a:ext cx="2231209" cy="1182549"/>
            <a:chOff x="8056854" y="1287947"/>
            <a:chExt cx="2231209" cy="118254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29144" y="1970315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RISCOS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4" y="2101164"/>
              <a:ext cx="2231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cd_riscos.rsv176sa1_balanco</a:t>
              </a:r>
              <a:endParaRPr lang="en-US" sz="900" dirty="0"/>
            </a:p>
          </p:txBody>
        </p:sp>
        <p:pic>
          <p:nvPicPr>
            <p:cNvPr id="7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7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E6F3F-37A8-A46C-3B04-85C7058C3355}"/>
              </a:ext>
            </a:extLst>
          </p:cNvPr>
          <p:cNvCxnSpPr>
            <a:cxnSpLocks/>
          </p:cNvCxnSpPr>
          <p:nvPr/>
        </p:nvCxnSpPr>
        <p:spPr>
          <a:xfrm flipV="1">
            <a:off x="4293894" y="2345672"/>
            <a:ext cx="14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A4AE4E0-57B2-054B-3A6E-02E468F82B6C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58414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0A2E4BE9-8DF4-3E67-27AA-640CA9627135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8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861875E-110E-82E4-60DA-93000F0BC4A4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FF241FB-A7BF-E738-3447-4147AD7BF343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119" descr="Database with solid fill">
              <a:extLst>
                <a:ext uri="{FF2B5EF4-FFF2-40B4-BE49-F238E27FC236}">
                  <a16:creationId xmlns:a16="http://schemas.microsoft.com/office/drawing/2014/main" id="{1A4808F7-0F9E-C3F2-FC34-CD7F428E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90" name="Graphic 116" descr="Single gear with solid fill">
            <a:extLst>
              <a:ext uri="{FF2B5EF4-FFF2-40B4-BE49-F238E27FC236}">
                <a16:creationId xmlns:a16="http://schemas.microsoft.com/office/drawing/2014/main" id="{F87546AA-E758-67C0-8AF8-BF710C99802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91" name="Elbow Connector 69">
            <a:extLst>
              <a:ext uri="{FF2B5EF4-FFF2-40B4-BE49-F238E27FC236}">
                <a16:creationId xmlns:a16="http://schemas.microsoft.com/office/drawing/2014/main" id="{4C52BBA5-48DE-5D39-9F83-CE656249EAF3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2B684C-A47E-F48F-771F-A0544D5D5986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94" name="Picture 4">
              <a:extLst>
                <a:ext uri="{FF2B5EF4-FFF2-40B4-BE49-F238E27FC236}">
                  <a16:creationId xmlns:a16="http://schemas.microsoft.com/office/drawing/2014/main" id="{11F53F31-75B0-76CF-75BC-5FF818C65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139" descr="Related image">
              <a:extLst>
                <a:ext uri="{FF2B5EF4-FFF2-40B4-BE49-F238E27FC236}">
                  <a16:creationId xmlns:a16="http://schemas.microsoft.com/office/drawing/2014/main" id="{91F52196-7823-74CD-2AE6-9DD1C7F95F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91A30B5-BA4A-FA9B-EF53-42077A6CFAAB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C82FFC4-D909-13D3-9D56-CD2093CABFCD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pt-PT" sz="900" dirty="0"/>
              <a:t>bu_esg_work.rf_metricas_pilar3_ctr_cli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D6780D-1FCB-33FF-11B4-B5A13851EC67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9B7FBA-2E91-5D08-631E-D0E436141ABB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do processo de contratos e clientes.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9386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</a:t>
            </a:r>
            <a:r>
              <a:rPr lang="en-US" sz="1100" dirty="0" smtClean="0"/>
              <a:t>das </a:t>
            </a:r>
            <a:r>
              <a:rPr lang="en-US" sz="1100" dirty="0" err="1" smtClean="0"/>
              <a:t>métricas</a:t>
            </a:r>
            <a:r>
              <a:rPr lang="en-US" sz="1100" dirty="0" smtClean="0"/>
              <a:t> </a:t>
            </a:r>
            <a:r>
              <a:rPr lang="en-US" sz="1100" dirty="0" err="1" smtClean="0"/>
              <a:t>associadas</a:t>
            </a:r>
            <a:r>
              <a:rPr lang="en-US" sz="1100" dirty="0" smtClean="0"/>
              <a:t> </a:t>
            </a:r>
            <a:r>
              <a:rPr lang="en-US" sz="1100" dirty="0" err="1" smtClean="0"/>
              <a:t>aos</a:t>
            </a:r>
            <a:r>
              <a:rPr lang="en-US" sz="1100" dirty="0" smtClean="0"/>
              <a:t> </a:t>
            </a:r>
            <a:r>
              <a:rPr lang="en-US" sz="1100" dirty="0" err="1" smtClean="0"/>
              <a:t>contratos</a:t>
            </a:r>
            <a:r>
              <a:rPr lang="en-US" sz="1100" dirty="0" smtClean="0"/>
              <a:t> e </a:t>
            </a:r>
            <a:r>
              <a:rPr lang="en-US" sz="1100" dirty="0" err="1" smtClean="0"/>
              <a:t>clientes</a:t>
            </a:r>
            <a:r>
              <a:rPr lang="en-US" sz="1100" dirty="0" smtClean="0"/>
              <a:t> (</a:t>
            </a:r>
            <a:r>
              <a:rPr lang="en-US" sz="1100" dirty="0" err="1" smtClean="0"/>
              <a:t>descrito</a:t>
            </a:r>
            <a:r>
              <a:rPr lang="en-US" sz="1100" dirty="0" smtClean="0"/>
              <a:t> </a:t>
            </a:r>
            <a:r>
              <a:rPr lang="en-US" sz="1100" dirty="0"/>
              <a:t>no </a:t>
            </a:r>
            <a:r>
              <a:rPr lang="en-US" sz="1100" i="1" dirty="0"/>
              <a:t>slide </a:t>
            </a:r>
            <a:r>
              <a:rPr lang="en-US" sz="1100" dirty="0" smtClean="0"/>
              <a:t>anterior), </a:t>
            </a:r>
            <a:r>
              <a:rPr lang="en-US" sz="1100" dirty="0"/>
              <a:t>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 smtClean="0"/>
              <a:t>métricas</a:t>
            </a:r>
            <a:r>
              <a:rPr lang="en-US" sz="1100" dirty="0" smtClean="0"/>
              <a:t>:</a:t>
            </a:r>
            <a:endParaRPr lang="en-US" sz="1100" dirty="0"/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Contrato e cliente 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37820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Counterparty Zip Code</a:t>
            </a:r>
            <a:endParaRPr lang="pt-PT" sz="1100" dirty="0"/>
          </a:p>
        </p:txBody>
      </p:sp>
      <p:sp>
        <p:nvSpPr>
          <p:cNvPr id="7" name="TextBox 6"/>
          <p:cNvSpPr txBox="1"/>
          <p:nvPr/>
        </p:nvSpPr>
        <p:spPr>
          <a:xfrm>
            <a:off x="625778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Turnover</a:t>
            </a:r>
            <a:endParaRPr lang="pt-PT" sz="11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9137370" y="181677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Date </a:t>
            </a:r>
            <a:r>
              <a:rPr lang="pt-PT" sz="1100" dirty="0" err="1" smtClean="0"/>
              <a:t>of</a:t>
            </a:r>
            <a:r>
              <a:rPr lang="pt-PT" sz="1100" dirty="0" smtClean="0"/>
              <a:t> Financial </a:t>
            </a:r>
            <a:r>
              <a:rPr lang="pt-PT" sz="1100" dirty="0" err="1" smtClean="0"/>
              <a:t>Statements</a:t>
            </a:r>
            <a:endParaRPr lang="pt-PT" sz="11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49862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Non </a:t>
            </a:r>
            <a:r>
              <a:rPr lang="pt-PT" sz="1100" dirty="0" err="1" smtClean="0"/>
              <a:t>Performing</a:t>
            </a:r>
            <a:endParaRPr lang="pt-PT" sz="1100" dirty="0"/>
          </a:p>
        </p:txBody>
      </p:sp>
      <p:sp>
        <p:nvSpPr>
          <p:cNvPr id="10" name="TextBox 9"/>
          <p:cNvSpPr txBox="1"/>
          <p:nvPr/>
        </p:nvSpPr>
        <p:spPr>
          <a:xfrm>
            <a:off x="3378209" y="235701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 smtClean="0"/>
              <a:t>CP3</a:t>
            </a:r>
            <a:endParaRPr lang="pt-PT" sz="1100" dirty="0"/>
          </a:p>
        </p:txBody>
      </p:sp>
      <p:sp>
        <p:nvSpPr>
          <p:cNvPr id="11" name="TextBox 10"/>
          <p:cNvSpPr txBox="1"/>
          <p:nvPr/>
        </p:nvSpPr>
        <p:spPr>
          <a:xfrm>
            <a:off x="6257789" y="235701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Group</a:t>
            </a:r>
            <a:r>
              <a:rPr lang="pt-PT" sz="1100" dirty="0" smtClean="0"/>
              <a:t> Turnover</a:t>
            </a:r>
            <a:endParaRPr lang="pt-PT" sz="11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9137370" y="2353729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Total </a:t>
            </a:r>
            <a:r>
              <a:rPr lang="pt-PT" sz="1100" dirty="0" err="1" smtClean="0"/>
              <a:t>Assets</a:t>
            </a:r>
            <a:endParaRPr lang="pt-PT" sz="11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498629" y="235701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Gross </a:t>
            </a:r>
            <a:r>
              <a:rPr lang="pt-PT" sz="1100" dirty="0" err="1" smtClean="0"/>
              <a:t>Carrying</a:t>
            </a:r>
            <a:r>
              <a:rPr lang="pt-PT" sz="1100" dirty="0" smtClean="0"/>
              <a:t> </a:t>
            </a:r>
            <a:r>
              <a:rPr lang="pt-PT" sz="1100" dirty="0" err="1" smtClean="0"/>
              <a:t>Amount</a:t>
            </a:r>
            <a:endParaRPr lang="pt-PT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3378209" y="2893312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Geography of the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7789" y="2893312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</a:t>
            </a:r>
            <a:r>
              <a:rPr lang="pt-PT" sz="1100" dirty="0" err="1" smtClean="0"/>
              <a:t>Own</a:t>
            </a:r>
            <a:r>
              <a:rPr lang="pt-PT" sz="1100" dirty="0" smtClean="0"/>
              <a:t> </a:t>
            </a:r>
            <a:r>
              <a:rPr lang="pt-PT" sz="1100" dirty="0" err="1" smtClean="0"/>
              <a:t>Funds</a:t>
            </a:r>
            <a:endParaRPr lang="pt-PT" sz="11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9137370" y="2890687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Group</a:t>
            </a:r>
            <a:r>
              <a:rPr lang="pt-PT" sz="1100" dirty="0" smtClean="0"/>
              <a:t> Total </a:t>
            </a:r>
            <a:r>
              <a:rPr lang="pt-PT" sz="1100" dirty="0" err="1" smtClean="0"/>
              <a:t>Assets</a:t>
            </a:r>
            <a:endParaRPr lang="pt-PT" sz="11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378209" y="3429613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Date </a:t>
            </a:r>
            <a:r>
              <a:rPr lang="pt-PT" sz="1100" dirty="0" err="1" smtClean="0"/>
              <a:t>of</a:t>
            </a:r>
            <a:r>
              <a:rPr lang="pt-PT" sz="1100" dirty="0" smtClean="0"/>
              <a:t> </a:t>
            </a:r>
            <a:r>
              <a:rPr lang="pt-PT" sz="1100" dirty="0" err="1" smtClean="0"/>
              <a:t>Maturity</a:t>
            </a:r>
            <a:endParaRPr lang="pt-PT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6257789" y="3429613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</a:t>
            </a:r>
            <a:r>
              <a:rPr lang="pt-PT" sz="1100" dirty="0" err="1" smtClean="0"/>
              <a:t>Debt</a:t>
            </a:r>
            <a:endParaRPr lang="pt-PT" sz="11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9137370" y="342764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ISIN CODE</a:t>
            </a:r>
            <a:endParaRPr lang="pt-PT" sz="11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3378209" y="3965914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Flag</a:t>
            </a:r>
            <a:r>
              <a:rPr lang="pt-PT" sz="1100" dirty="0" smtClean="0"/>
              <a:t> </a:t>
            </a:r>
            <a:r>
              <a:rPr lang="pt-PT" sz="1100" dirty="0" err="1" smtClean="0"/>
              <a:t>Specialised</a:t>
            </a:r>
            <a:r>
              <a:rPr lang="pt-PT" sz="1100" dirty="0" smtClean="0"/>
              <a:t> </a:t>
            </a:r>
            <a:r>
              <a:rPr lang="pt-PT" sz="1100" dirty="0" err="1" smtClean="0"/>
              <a:t>Lending</a:t>
            </a:r>
            <a:endParaRPr lang="pt-PT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6257789" y="3965914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</a:t>
            </a:r>
            <a:r>
              <a:rPr lang="pt-PT" sz="1100" dirty="0" err="1" smtClean="0"/>
              <a:t>Revenue</a:t>
            </a:r>
            <a:endParaRPr lang="pt-PT" sz="1100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9137370" y="3964603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European</a:t>
            </a:r>
            <a:r>
              <a:rPr lang="pt-PT" sz="1100" dirty="0" smtClean="0"/>
              <a:t> </a:t>
            </a:r>
            <a:r>
              <a:rPr lang="pt-PT" sz="1100" dirty="0" err="1" smtClean="0"/>
              <a:t>Union</a:t>
            </a:r>
            <a:endParaRPr lang="pt-PT" sz="11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3378209" y="450221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Stage</a:t>
            </a:r>
            <a:r>
              <a:rPr lang="pt-PT" sz="1100" dirty="0" smtClean="0"/>
              <a:t> IFR9</a:t>
            </a:r>
            <a:endParaRPr lang="pt-PT" sz="1100" dirty="0"/>
          </a:p>
        </p:txBody>
      </p:sp>
      <p:sp>
        <p:nvSpPr>
          <p:cNvPr id="27" name="TextBox 26"/>
          <p:cNvSpPr txBox="1"/>
          <p:nvPr/>
        </p:nvSpPr>
        <p:spPr>
          <a:xfrm>
            <a:off x="6257789" y="450221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Client</a:t>
            </a:r>
            <a:r>
              <a:rPr lang="pt-PT" sz="1100" dirty="0" smtClean="0"/>
              <a:t> </a:t>
            </a:r>
            <a:r>
              <a:rPr lang="pt-PT" sz="1100" dirty="0" err="1" smtClean="0"/>
              <a:t>Number</a:t>
            </a:r>
            <a:r>
              <a:rPr lang="pt-PT" sz="1100" dirty="0" smtClean="0"/>
              <a:t> </a:t>
            </a:r>
            <a:r>
              <a:rPr lang="pt-PT" sz="1100" dirty="0" err="1" smtClean="0"/>
              <a:t>Employees</a:t>
            </a:r>
            <a:endParaRPr lang="pt-PT" sz="1100" dirty="0" smtClean="0"/>
          </a:p>
        </p:txBody>
      </p:sp>
      <p:sp>
        <p:nvSpPr>
          <p:cNvPr id="28" name="TextBox 27"/>
          <p:cNvSpPr txBox="1"/>
          <p:nvPr/>
        </p:nvSpPr>
        <p:spPr>
          <a:xfrm>
            <a:off x="9137370" y="450156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Data </a:t>
            </a:r>
            <a:r>
              <a:rPr lang="pt-PT" sz="1100" dirty="0" err="1" smtClean="0"/>
              <a:t>of</a:t>
            </a:r>
            <a:r>
              <a:rPr lang="pt-PT" sz="1100" dirty="0" smtClean="0"/>
              <a:t> </a:t>
            </a:r>
            <a:r>
              <a:rPr lang="pt-PT" sz="1100" dirty="0" err="1" smtClean="0"/>
              <a:t>Origination</a:t>
            </a:r>
            <a:endParaRPr lang="pt-PT" sz="1100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3378209" y="5038516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Counterparty</a:t>
            </a:r>
            <a:r>
              <a:rPr lang="pt-PT" sz="1100" dirty="0" smtClean="0"/>
              <a:t> </a:t>
            </a:r>
            <a:r>
              <a:rPr lang="pt-PT" sz="1100" dirty="0" err="1" smtClean="0"/>
              <a:t>Type</a:t>
            </a:r>
            <a:endParaRPr lang="pt-PT" sz="1100" dirty="0"/>
          </a:p>
        </p:txBody>
      </p:sp>
      <p:sp>
        <p:nvSpPr>
          <p:cNvPr id="31" name="TextBox 30"/>
          <p:cNvSpPr txBox="1"/>
          <p:nvPr/>
        </p:nvSpPr>
        <p:spPr>
          <a:xfrm>
            <a:off x="6257789" y="5038516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Group</a:t>
            </a:r>
            <a:r>
              <a:rPr lang="pt-PT" sz="1100" dirty="0" smtClean="0"/>
              <a:t> </a:t>
            </a:r>
            <a:r>
              <a:rPr lang="pt-PT" sz="1100" dirty="0" err="1" smtClean="0"/>
              <a:t>Number</a:t>
            </a:r>
            <a:r>
              <a:rPr lang="pt-PT" sz="1100" dirty="0" smtClean="0"/>
              <a:t> </a:t>
            </a:r>
            <a:r>
              <a:rPr lang="pt-PT" sz="1100" dirty="0" err="1" smtClean="0"/>
              <a:t>Employees</a:t>
            </a:r>
            <a:endParaRPr lang="pt-PT" sz="1100" dirty="0" smtClean="0"/>
          </a:p>
        </p:txBody>
      </p:sp>
      <p:sp>
        <p:nvSpPr>
          <p:cNvPr id="32" name="TextBox 31"/>
          <p:cNvSpPr txBox="1"/>
          <p:nvPr/>
        </p:nvSpPr>
        <p:spPr>
          <a:xfrm>
            <a:off x="9137370" y="5038516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Geography of counterparty: NUTS</a:t>
            </a:r>
            <a:endParaRPr lang="pt-PT" sz="1100" dirty="0"/>
          </a:p>
        </p:txBody>
      </p:sp>
      <p:sp>
        <p:nvSpPr>
          <p:cNvPr id="34" name="TextBox 33"/>
          <p:cNvSpPr txBox="1"/>
          <p:nvPr/>
        </p:nvSpPr>
        <p:spPr>
          <a:xfrm>
            <a:off x="3378209" y="5574818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Date of reference</a:t>
            </a:r>
            <a:endParaRPr lang="pt-PT" sz="1100" dirty="0"/>
          </a:p>
        </p:txBody>
      </p:sp>
      <p:sp>
        <p:nvSpPr>
          <p:cNvPr id="35" name="TextBox 34"/>
          <p:cNvSpPr txBox="1"/>
          <p:nvPr/>
        </p:nvSpPr>
        <p:spPr>
          <a:xfrm>
            <a:off x="6257789" y="5574818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Flag</a:t>
            </a:r>
            <a:r>
              <a:rPr lang="pt-PT" sz="1100" dirty="0" smtClean="0"/>
              <a:t> </a:t>
            </a:r>
            <a:r>
              <a:rPr lang="pt-PT" sz="1100" dirty="0" err="1" smtClean="0"/>
              <a:t>Audited</a:t>
            </a:r>
            <a:r>
              <a:rPr lang="pt-PT" sz="1100" dirty="0" smtClean="0"/>
              <a:t> Financial </a:t>
            </a:r>
            <a:r>
              <a:rPr lang="pt-PT" sz="1100" dirty="0" err="1" smtClean="0"/>
              <a:t>Statments</a:t>
            </a:r>
            <a:endParaRPr lang="pt-PT" sz="1100" dirty="0" smtClean="0"/>
          </a:p>
        </p:txBody>
      </p:sp>
      <p:sp>
        <p:nvSpPr>
          <p:cNvPr id="38" name="TextBox 37"/>
          <p:cNvSpPr txBox="1"/>
          <p:nvPr/>
        </p:nvSpPr>
        <p:spPr>
          <a:xfrm>
            <a:off x="498628" y="2893312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NACE </a:t>
            </a:r>
            <a:endParaRPr lang="pt-PT" sz="1100" dirty="0"/>
          </a:p>
        </p:txBody>
      </p:sp>
      <p:sp>
        <p:nvSpPr>
          <p:cNvPr id="39" name="TextBox 38"/>
          <p:cNvSpPr txBox="1"/>
          <p:nvPr/>
        </p:nvSpPr>
        <p:spPr>
          <a:xfrm>
            <a:off x="498628" y="3429613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NACE ESG</a:t>
            </a:r>
            <a:endParaRPr lang="pt-PT" sz="1100" dirty="0"/>
          </a:p>
        </p:txBody>
      </p:sp>
      <p:sp>
        <p:nvSpPr>
          <p:cNvPr id="40" name="TextBox 39"/>
          <p:cNvSpPr txBox="1"/>
          <p:nvPr/>
        </p:nvSpPr>
        <p:spPr>
          <a:xfrm>
            <a:off x="498628" y="3965914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smtClean="0"/>
              <a:t>NACE Holding</a:t>
            </a:r>
            <a:endParaRPr lang="pt-PT" sz="1100" dirty="0"/>
          </a:p>
        </p:txBody>
      </p:sp>
      <p:sp>
        <p:nvSpPr>
          <p:cNvPr id="41" name="TextBox 40"/>
          <p:cNvSpPr txBox="1"/>
          <p:nvPr/>
        </p:nvSpPr>
        <p:spPr>
          <a:xfrm>
            <a:off x="498628" y="4502215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Flag</a:t>
            </a:r>
            <a:r>
              <a:rPr lang="pt-PT" sz="1100" dirty="0" smtClean="0"/>
              <a:t> SPV</a:t>
            </a:r>
            <a:endParaRPr lang="pt-PT" sz="1100" dirty="0"/>
          </a:p>
        </p:txBody>
      </p:sp>
      <p:sp>
        <p:nvSpPr>
          <p:cNvPr id="42" name="TextBox 41"/>
          <p:cNvSpPr txBox="1"/>
          <p:nvPr/>
        </p:nvSpPr>
        <p:spPr>
          <a:xfrm>
            <a:off x="498628" y="5038516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Accumulated</a:t>
            </a:r>
            <a:r>
              <a:rPr lang="pt-PT" sz="1100" dirty="0" smtClean="0"/>
              <a:t> </a:t>
            </a:r>
            <a:r>
              <a:rPr lang="pt-PT" sz="1100" dirty="0" err="1" smtClean="0"/>
              <a:t>Impairment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3390496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Métricas 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872878" y="3817884"/>
            <a:ext cx="29950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/>
              <a:t>12-DEZEMBRO-2022-StockAdjudicadosTOTTA URBE_2022-12-30</a:t>
            </a:r>
            <a:r>
              <a:rPr lang="en-US" sz="800" dirty="0"/>
              <a:t>.xlsx</a:t>
            </a:r>
            <a:endParaRPr lang="en-US" sz="700" dirty="0"/>
          </a:p>
          <a:p>
            <a:pPr algn="just"/>
            <a:endParaRPr lang="en-US" sz="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903973" y="5390696"/>
            <a:ext cx="400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CarteiraGlobalDeImoveis-2022-12-30_Em desinvestimento_v2.xlsx</a:t>
            </a:r>
          </a:p>
          <a:p>
            <a:pPr algn="ctr"/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996733" y="2069344"/>
            <a:ext cx="16938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Imoveis BST Dez22.xlsx</a:t>
            </a:r>
            <a:endParaRPr lang="en-US" sz="8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96734" y="2311345"/>
            <a:ext cx="25979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Dações+Arrematações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Stock IFIC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Stock Adjudicados</a:t>
            </a:r>
            <a:endParaRPr lang="en-US" sz="9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81881" y="5607813"/>
            <a:ext cx="2595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Stock Adjudicados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Totta URBE</a:t>
            </a:r>
            <a:endParaRPr lang="en-US" sz="9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81881" y="4162219"/>
            <a:ext cx="261406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Totta URBE</a:t>
            </a:r>
            <a:endParaRPr lang="en-US" sz="900" dirty="0"/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8146" y="-2671879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923238" y="1442814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379" y="1389848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371674" y="1389847"/>
            <a:ext cx="287933" cy="287933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49216" y="1353285"/>
            <a:ext cx="647850" cy="64785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75" y="1300319"/>
            <a:ext cx="241113" cy="241113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400170" y="1300319"/>
            <a:ext cx="287933" cy="287933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61304" y="2619393"/>
            <a:ext cx="647850" cy="64785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45" y="2566427"/>
            <a:ext cx="241113" cy="241113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409740" y="2566427"/>
            <a:ext cx="287933" cy="287933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49216" y="3947080"/>
            <a:ext cx="647850" cy="64785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08" y="3894593"/>
            <a:ext cx="241113" cy="241113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382649" y="3894592"/>
            <a:ext cx="287933" cy="287933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817506" y="2113139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24893" y="2285874"/>
            <a:ext cx="24327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cd_emprestimos.gpt18_bens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46002" y="2023610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55572" y="328971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912817" y="4619315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3390" y="2187252"/>
            <a:ext cx="2279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cd_riscos.ivt01_imoveis</a:t>
            </a:r>
            <a:endParaRPr lang="en-US" sz="9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62960" y="3445415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5119" y="4790619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cd_estruturais.tat91_tabelas (ctabela = 'J48’</a:t>
            </a:r>
            <a:endParaRPr lang="en-US" sz="9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grpSp>
        <p:nvGrpSpPr>
          <p:cNvPr id="171" name="Group 170"/>
          <p:cNvGrpSpPr/>
          <p:nvPr/>
        </p:nvGrpSpPr>
        <p:grpSpPr>
          <a:xfrm>
            <a:off x="730584" y="5918607"/>
            <a:ext cx="2173390" cy="294934"/>
            <a:chOff x="4002570" y="2628000"/>
            <a:chExt cx="1370101" cy="29500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4002570" y="2628000"/>
              <a:ext cx="1370101" cy="230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900" dirty="0"/>
                <a:t>bu_esg_work.envio_final_gloval_jun23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244BD71-A3C7-A4B6-F74A-A8119D00AB11}"/>
              </a:ext>
            </a:extLst>
          </p:cNvPr>
          <p:cNvGrpSpPr/>
          <p:nvPr/>
        </p:nvGrpSpPr>
        <p:grpSpPr>
          <a:xfrm>
            <a:off x="3404381" y="1305119"/>
            <a:ext cx="693296" cy="687594"/>
            <a:chOff x="887422" y="1301169"/>
            <a:chExt cx="693296" cy="687594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63" name="Picture 139" descr="Related image">
              <a:extLst>
                <a:ext uri="{FF2B5EF4-FFF2-40B4-BE49-F238E27FC236}">
                  <a16:creationId xmlns:a16="http://schemas.microsoft.com/office/drawing/2014/main" id="{C5DEE586-4FCA-414E-3790-68DE73F77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AE0B7F-12BD-894D-E52E-0FEC8910C736}"/>
              </a:ext>
            </a:extLst>
          </p:cNvPr>
          <p:cNvGrpSpPr/>
          <p:nvPr/>
        </p:nvGrpSpPr>
        <p:grpSpPr>
          <a:xfrm>
            <a:off x="3411714" y="3091784"/>
            <a:ext cx="693296" cy="687594"/>
            <a:chOff x="887422" y="1301169"/>
            <a:chExt cx="693296" cy="68759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DEB0D52-B5D4-ED87-2390-29AC3A348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15" name="Picture 139" descr="Related image">
              <a:extLst>
                <a:ext uri="{FF2B5EF4-FFF2-40B4-BE49-F238E27FC236}">
                  <a16:creationId xmlns:a16="http://schemas.microsoft.com/office/drawing/2014/main" id="{901BC49A-6B66-49CB-3E02-60053DC8B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FB779E-5B29-F76B-2D05-CBB025F9DE80}"/>
              </a:ext>
            </a:extLst>
          </p:cNvPr>
          <p:cNvGrpSpPr/>
          <p:nvPr/>
        </p:nvGrpSpPr>
        <p:grpSpPr>
          <a:xfrm>
            <a:off x="3401298" y="4686038"/>
            <a:ext cx="693296" cy="687594"/>
            <a:chOff x="887422" y="1301169"/>
            <a:chExt cx="693296" cy="68759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9411270-9C75-F147-A148-A0A84BF8B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19" name="Picture 139" descr="Related image">
              <a:extLst>
                <a:ext uri="{FF2B5EF4-FFF2-40B4-BE49-F238E27FC236}">
                  <a16:creationId xmlns:a16="http://schemas.microsoft.com/office/drawing/2014/main" id="{B8135F6F-5BC6-5E6E-0A0C-032BE8F83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DD129F0-6EEB-469C-AE08-4751B56DAEAC}"/>
              </a:ext>
            </a:extLst>
          </p:cNvPr>
          <p:cNvSpPr/>
          <p:nvPr/>
        </p:nvSpPr>
        <p:spPr>
          <a:xfrm>
            <a:off x="572329" y="1251727"/>
            <a:ext cx="7041254" cy="4981064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38" name="Elbow Connector 69">
            <a:extLst>
              <a:ext uri="{FF2B5EF4-FFF2-40B4-BE49-F238E27FC236}">
                <a16:creationId xmlns:a16="http://schemas.microsoft.com/office/drawing/2014/main" id="{7466644B-BF20-9950-0B46-C8E58F43886A}"/>
              </a:ext>
            </a:extLst>
          </p:cNvPr>
          <p:cNvCxnSpPr>
            <a:cxnSpLocks/>
          </p:cNvCxnSpPr>
          <p:nvPr/>
        </p:nvCxnSpPr>
        <p:spPr>
          <a:xfrm flipV="1">
            <a:off x="7610915" y="3377035"/>
            <a:ext cx="504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F77781F-D1EB-386B-0685-1978698A2993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06C89EF-CD06-9528-14C1-AD101397FFA6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D7E2FFC0-AC73-E873-1703-F0158670E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7AE490A8-1D8F-9CD3-9BBE-895738F157B3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779285F6-EA2F-9C3B-A9DB-8E2E29FBFD2E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5B89CEB-7B56-34F8-D9F3-C5807F793323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55" name="Picture 4">
              <a:extLst>
                <a:ext uri="{FF2B5EF4-FFF2-40B4-BE49-F238E27FC236}">
                  <a16:creationId xmlns:a16="http://schemas.microsoft.com/office/drawing/2014/main" id="{E97BBF1C-B1C1-E9FA-B419-AF514B649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" name="Picture 139" descr="Related image">
              <a:extLst>
                <a:ext uri="{FF2B5EF4-FFF2-40B4-BE49-F238E27FC236}">
                  <a16:creationId xmlns:a16="http://schemas.microsoft.com/office/drawing/2014/main" id="{B567F218-232C-98E8-65D3-4967C2A97F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B7D74B8-F5F2-DB35-3DF4-E765E151C34A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F405EA5-FC9B-8BC0-5503-8A4115196AEB}"/>
              </a:ext>
            </a:extLst>
          </p:cNvPr>
          <p:cNvGrpSpPr/>
          <p:nvPr/>
        </p:nvGrpSpPr>
        <p:grpSpPr>
          <a:xfrm>
            <a:off x="949216" y="5258389"/>
            <a:ext cx="706458" cy="680862"/>
            <a:chOff x="11007832" y="3054746"/>
            <a:chExt cx="706458" cy="68086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EE6E191-6BE5-4859-436A-BA1F29796D16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124BE0E2-FE2C-942B-BF18-585015687AD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5" name="Graphic 119" descr="Database with solid fill">
                <a:extLst>
                  <a:ext uri="{FF2B5EF4-FFF2-40B4-BE49-F238E27FC236}">
                    <a16:creationId xmlns:a16="http://schemas.microsoft.com/office/drawing/2014/main" id="{B7B3A9C3-90D7-4FA7-6FD2-3047DC2326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73" name="Graphic 116" descr="Single gear with solid fill">
              <a:extLst>
                <a:ext uri="{FF2B5EF4-FFF2-40B4-BE49-F238E27FC236}">
                  <a16:creationId xmlns:a16="http://schemas.microsoft.com/office/drawing/2014/main" id="{924D0C76-4B55-51B7-5C5E-1BAF8BDB1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4DCDE05-9D7D-8A23-6625-8A8E5C87A588}"/>
              </a:ext>
            </a:extLst>
          </p:cNvPr>
          <p:cNvSpPr/>
          <p:nvPr/>
        </p:nvSpPr>
        <p:spPr>
          <a:xfrm>
            <a:off x="10694771" y="3712355"/>
            <a:ext cx="1233609" cy="507831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</a:t>
            </a:r>
          </a:p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0DF38A-F0D4-9AEB-4E3A-12D362D9EB57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do processo de adjudicados.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447126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</a:t>
            </a:r>
            <a:r>
              <a:rPr lang="en-US" sz="1100" dirty="0" smtClean="0"/>
              <a:t>das </a:t>
            </a:r>
            <a:r>
              <a:rPr lang="en-US" sz="1100" dirty="0" err="1" smtClean="0"/>
              <a:t>métricas</a:t>
            </a:r>
            <a:r>
              <a:rPr lang="en-US" sz="1100" dirty="0" smtClean="0"/>
              <a:t> </a:t>
            </a:r>
            <a:r>
              <a:rPr lang="en-US" sz="1100" dirty="0" err="1" smtClean="0"/>
              <a:t>associadas</a:t>
            </a:r>
            <a:r>
              <a:rPr lang="en-US" sz="1100" dirty="0" smtClean="0"/>
              <a:t> </a:t>
            </a:r>
            <a:r>
              <a:rPr lang="en-US" sz="1100" dirty="0" err="1" smtClean="0"/>
              <a:t>aos</a:t>
            </a:r>
            <a:r>
              <a:rPr lang="en-US" sz="1100" dirty="0" smtClean="0"/>
              <a:t> </a:t>
            </a:r>
            <a:r>
              <a:rPr lang="en-US" sz="1100" dirty="0" err="1" smtClean="0"/>
              <a:t>colaterais</a:t>
            </a:r>
            <a:r>
              <a:rPr lang="en-US" sz="1100" dirty="0" smtClean="0"/>
              <a:t> (</a:t>
            </a:r>
            <a:r>
              <a:rPr lang="en-US" sz="1100" dirty="0" err="1" smtClean="0"/>
              <a:t>descrito</a:t>
            </a:r>
            <a:r>
              <a:rPr lang="en-US" sz="1100" dirty="0" smtClean="0"/>
              <a:t> </a:t>
            </a:r>
            <a:r>
              <a:rPr lang="en-US" sz="1100" dirty="0"/>
              <a:t>no </a:t>
            </a:r>
            <a:r>
              <a:rPr lang="en-US" sz="1100" i="1" dirty="0"/>
              <a:t>slide </a:t>
            </a:r>
            <a:r>
              <a:rPr lang="en-US" sz="1100" dirty="0" smtClean="0"/>
              <a:t>anterior), </a:t>
            </a:r>
            <a:r>
              <a:rPr lang="en-US" sz="1100" dirty="0"/>
              <a:t>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 smtClean="0"/>
              <a:t>métricas</a:t>
            </a:r>
            <a:r>
              <a:rPr lang="en-US" sz="1100" dirty="0" smtClean="0"/>
              <a:t>:</a:t>
            </a:r>
            <a:endParaRPr lang="en-US" sz="1100" dirty="0"/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</a:rPr>
              <a:t>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820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Tipo </a:t>
            </a:r>
            <a:r>
              <a:rPr lang="pt-PT" sz="1100" dirty="0" err="1"/>
              <a:t>imovel</a:t>
            </a:r>
            <a:endParaRPr lang="pt-PT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625778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Collateral</a:t>
            </a:r>
            <a:r>
              <a:rPr lang="pt-PT" sz="1100" dirty="0"/>
              <a:t> zip </a:t>
            </a:r>
            <a:r>
              <a:rPr lang="pt-PT" sz="1100" dirty="0" err="1"/>
              <a:t>code</a:t>
            </a:r>
            <a:endParaRPr lang="pt-PT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9137370" y="1816771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Collateral</a:t>
            </a:r>
            <a:r>
              <a:rPr lang="pt-PT" sz="1100" dirty="0"/>
              <a:t> </a:t>
            </a:r>
            <a:r>
              <a:rPr lang="pt-PT" sz="1100" dirty="0" err="1"/>
              <a:t>Nuts</a:t>
            </a:r>
            <a:endParaRPr lang="pt-PT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498629" y="1820710"/>
            <a:ext cx="2556000" cy="28944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 smtClean="0"/>
              <a:t>Fin_imovel</a:t>
            </a:r>
            <a:endParaRPr lang="pt-PT" sz="1100" dirty="0"/>
          </a:p>
        </p:txBody>
      </p:sp>
    </p:spTree>
    <p:extLst>
      <p:ext uri="{BB962C8B-B14F-4D97-AF65-F5344CB8AC3E}">
        <p14:creationId xmlns:p14="http://schemas.microsoft.com/office/powerpoint/2010/main" val="2244471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Repartição de Garantias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475190" y="1982066"/>
            <a:ext cx="14426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bu_esg_work.colaterais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DF4-4108-64EB-BAE7-E5EA56389B14}"/>
              </a:ext>
            </a:extLst>
          </p:cNvPr>
          <p:cNvGrpSpPr/>
          <p:nvPr/>
        </p:nvGrpSpPr>
        <p:grpSpPr>
          <a:xfrm>
            <a:off x="1166785" y="3013981"/>
            <a:ext cx="2815685" cy="1054733"/>
            <a:chOff x="1114936" y="4012190"/>
            <a:chExt cx="2815685" cy="105473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6ECC41-96DC-BD16-080B-74BACD801869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088F90-7358-81C6-33AC-DF5E74F21421}"/>
                </a:ext>
              </a:extLst>
            </p:cNvPr>
            <p:cNvSpPr txBox="1"/>
            <p:nvPr/>
          </p:nvSpPr>
          <p:spPr>
            <a:xfrm>
              <a:off x="1114936" y="4836091"/>
              <a:ext cx="2815685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pt-PT" sz="900" dirty="0"/>
                <a:t>bu_esg_work.envio_final_gloval_jun23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93C404-49AE-4574-5083-8ED300758CFC}"/>
              </a:ext>
            </a:extLst>
          </p:cNvPr>
          <p:cNvGrpSpPr/>
          <p:nvPr/>
        </p:nvGrpSpPr>
        <p:grpSpPr>
          <a:xfrm>
            <a:off x="1685974" y="1292209"/>
            <a:ext cx="706458" cy="680862"/>
            <a:chOff x="11007832" y="3054746"/>
            <a:chExt cx="706458" cy="68086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F2E40F4-D1A4-65C2-C497-A12C194E8A2F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D9D85B8-86D1-85F5-8992-38E837B5E09B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119" descr="Database with solid fill">
                <a:extLst>
                  <a:ext uri="{FF2B5EF4-FFF2-40B4-BE49-F238E27FC236}">
                    <a16:creationId xmlns:a16="http://schemas.microsoft.com/office/drawing/2014/main" id="{8160C09F-8F45-2941-241C-0815984EA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3" name="Graphic 116" descr="Single gear with solid fill">
              <a:extLst>
                <a:ext uri="{FF2B5EF4-FFF2-40B4-BE49-F238E27FC236}">
                  <a16:creationId xmlns:a16="http://schemas.microsoft.com/office/drawing/2014/main" id="{26151BD6-8350-069C-89FD-3F11ACC6C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56ECEE-EE8C-1BBF-539B-FDE04064474B}"/>
              </a:ext>
            </a:extLst>
          </p:cNvPr>
          <p:cNvGrpSpPr/>
          <p:nvPr/>
        </p:nvGrpSpPr>
        <p:grpSpPr>
          <a:xfrm>
            <a:off x="1692019" y="3074595"/>
            <a:ext cx="706458" cy="680862"/>
            <a:chOff x="11007832" y="3054746"/>
            <a:chExt cx="706458" cy="68086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B79F546-51AF-97CE-38B1-760A2DDD724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233CB15-56FD-1116-7953-A561CBB78A5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119" descr="Database with solid fill">
                <a:extLst>
                  <a:ext uri="{FF2B5EF4-FFF2-40B4-BE49-F238E27FC236}">
                    <a16:creationId xmlns:a16="http://schemas.microsoft.com/office/drawing/2014/main" id="{AAB08991-A2E8-D5E6-9D47-E4B6795B8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8" name="Graphic 116" descr="Single gear with solid fill">
              <a:extLst>
                <a:ext uri="{FF2B5EF4-FFF2-40B4-BE49-F238E27FC236}">
                  <a16:creationId xmlns:a16="http://schemas.microsoft.com/office/drawing/2014/main" id="{400EE5E8-69BD-9516-3BBC-6E1FA3AD5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BA6AA01-909A-DB5B-0A26-CA60C4BF0A15}"/>
              </a:ext>
            </a:extLst>
          </p:cNvPr>
          <p:cNvGrpSpPr/>
          <p:nvPr/>
        </p:nvGrpSpPr>
        <p:grpSpPr>
          <a:xfrm>
            <a:off x="1237574" y="4717040"/>
            <a:ext cx="2420025" cy="1056594"/>
            <a:chOff x="1237574" y="4717040"/>
            <a:chExt cx="2420025" cy="105659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E1353F0-3A2D-9633-A394-4E168A6C5C24}"/>
                </a:ext>
              </a:extLst>
            </p:cNvPr>
            <p:cNvGrpSpPr/>
            <p:nvPr/>
          </p:nvGrpSpPr>
          <p:grpSpPr>
            <a:xfrm>
              <a:off x="1237574" y="4717040"/>
              <a:ext cx="2420025" cy="1056594"/>
              <a:chOff x="1237574" y="4012190"/>
              <a:chExt cx="2420025" cy="1056594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0C464CC-F2F1-ABB8-F4F2-C2AC0D25866A}"/>
                  </a:ext>
                </a:extLst>
              </p:cNvPr>
              <p:cNvSpPr txBox="1"/>
              <p:nvPr/>
            </p:nvSpPr>
            <p:spPr>
              <a:xfrm>
                <a:off x="1237574" y="4012190"/>
                <a:ext cx="755825" cy="246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000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1507122" y="4837952"/>
                <a:ext cx="2150477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pt-PT" sz="900" dirty="0"/>
                  <a:t>bu_esg_work.rf_metricas_pilar3_ctr_cli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0DC4228-04DA-EABD-A4B6-FCD9FAAB5661}"/>
                </a:ext>
              </a:extLst>
            </p:cNvPr>
            <p:cNvGrpSpPr/>
            <p:nvPr/>
          </p:nvGrpSpPr>
          <p:grpSpPr>
            <a:xfrm>
              <a:off x="1679701" y="4861024"/>
              <a:ext cx="706458" cy="680862"/>
              <a:chOff x="11007832" y="3054746"/>
              <a:chExt cx="706458" cy="68086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AAE78B6-9AFE-2DD8-7232-7A4A6CCCBDEC}"/>
                  </a:ext>
                </a:extLst>
              </p:cNvPr>
              <p:cNvGrpSpPr/>
              <p:nvPr/>
            </p:nvGrpSpPr>
            <p:grpSpPr>
              <a:xfrm>
                <a:off x="11007832" y="3091584"/>
                <a:ext cx="639433" cy="644024"/>
                <a:chOff x="10931012" y="2482312"/>
                <a:chExt cx="639433" cy="644024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6751434-B974-B360-9BCF-56486D91FF9A}"/>
                    </a:ext>
                  </a:extLst>
                </p:cNvPr>
                <p:cNvSpPr/>
                <p:nvPr/>
              </p:nvSpPr>
              <p:spPr>
                <a:xfrm>
                  <a:off x="10931012" y="2482312"/>
                  <a:ext cx="639433" cy="64402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5" name="Graphic 119" descr="Database with solid fill">
                  <a:extLst>
                    <a:ext uri="{FF2B5EF4-FFF2-40B4-BE49-F238E27FC236}">
                      <a16:creationId xmlns:a16="http://schemas.microsoft.com/office/drawing/2014/main" id="{06B83368-EF8A-C0AF-44FA-319017734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35643" y="2591032"/>
                  <a:ext cx="426289" cy="429349"/>
                </a:xfrm>
                <a:prstGeom prst="rect">
                  <a:avLst/>
                </a:prstGeom>
              </p:spPr>
            </p:pic>
          </p:grpSp>
          <p:pic>
            <p:nvPicPr>
              <p:cNvPr id="43" name="Graphic 116" descr="Single gear with solid fill">
                <a:extLst>
                  <a:ext uri="{FF2B5EF4-FFF2-40B4-BE49-F238E27FC236}">
                    <a16:creationId xmlns:a16="http://schemas.microsoft.com/office/drawing/2014/main" id="{79EB8603-1464-42AF-8885-E3ED09CCA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1426357" y="3054746"/>
                <a:ext cx="287933" cy="287933"/>
              </a:xfrm>
              <a:prstGeom prst="rect">
                <a:avLst/>
              </a:prstGeom>
            </p:spPr>
          </p:pic>
        </p:grpSp>
      </p:grp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246596D-F437-219C-EBAD-212D84662DF3}"/>
              </a:ext>
            </a:extLst>
          </p:cNvPr>
          <p:cNvCxnSpPr>
            <a:cxnSpLocks/>
          </p:cNvCxnSpPr>
          <p:nvPr/>
        </p:nvCxnSpPr>
        <p:spPr>
          <a:xfrm flipV="1">
            <a:off x="2359297" y="3378842"/>
            <a:ext cx="5760000" cy="1815975"/>
          </a:xfrm>
          <a:prstGeom prst="bentConnector3">
            <a:avLst>
              <a:gd name="adj1" fmla="val 58414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6F617D66-FC81-90CF-254E-028337493A8B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8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7547761-1926-705B-3605-B38193007EAE}"/>
              </a:ext>
            </a:extLst>
          </p:cNvPr>
          <p:cNvCxnSpPr>
            <a:cxnSpLocks/>
          </p:cNvCxnSpPr>
          <p:nvPr/>
        </p:nvCxnSpPr>
        <p:spPr>
          <a:xfrm>
            <a:off x="2327959" y="3380778"/>
            <a:ext cx="342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788322C-9AC7-F868-0D48-165972510776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20542A8-CD36-1EB8-C19E-8A1219B69DBE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7" name="Graphic 119" descr="Database with solid fill">
              <a:extLst>
                <a:ext uri="{FF2B5EF4-FFF2-40B4-BE49-F238E27FC236}">
                  <a16:creationId xmlns:a16="http://schemas.microsoft.com/office/drawing/2014/main" id="{64F9E83B-B983-CDC3-BA1A-E29EFA4D2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128" name="Graphic 116" descr="Single gear with solid fill">
            <a:extLst>
              <a:ext uri="{FF2B5EF4-FFF2-40B4-BE49-F238E27FC236}">
                <a16:creationId xmlns:a16="http://schemas.microsoft.com/office/drawing/2014/main" id="{6297704D-79AB-B45A-8085-AE7F7853821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BB4CA217-D6BF-5DDC-65EB-E04E7A34D966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62BE224-CDD9-E369-AE6F-5A6E5E42608C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22" name="Picture 4">
              <a:extLst>
                <a:ext uri="{FF2B5EF4-FFF2-40B4-BE49-F238E27FC236}">
                  <a16:creationId xmlns:a16="http://schemas.microsoft.com/office/drawing/2014/main" id="{CEB3649E-6DF8-451E-FB5D-09FE111B51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" name="Picture 139" descr="Related image">
              <a:extLst>
                <a:ext uri="{FF2B5EF4-FFF2-40B4-BE49-F238E27FC236}">
                  <a16:creationId xmlns:a16="http://schemas.microsoft.com/office/drawing/2014/main" id="{C4326E21-8242-F9E0-B164-0EC841EF7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B8790F3-1007-4CD8-F534-59CEFA1804DD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EE248B9-B43A-5D1B-89D8-6C835C16CC6B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756224-CC8A-29E1-41A2-AF0329A0939A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Metodologia de obtenção de informação utilizada no mapeamento do processo de repartição de garantias.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927432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Secundários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12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79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do </a:t>
            </a:r>
            <a:r>
              <a:rPr lang="en-US" sz="1100" dirty="0" err="1"/>
              <a:t>satélite</a:t>
            </a:r>
            <a:r>
              <a:rPr lang="en-US" sz="1100" dirty="0"/>
              <a:t> 79 (</a:t>
            </a:r>
            <a:r>
              <a:rPr lang="en-US" sz="1100" dirty="0" err="1"/>
              <a:t>descrito</a:t>
            </a:r>
            <a:r>
              <a:rPr lang="en-US" sz="1100" dirty="0"/>
              <a:t> no </a:t>
            </a:r>
            <a:r>
              <a:rPr lang="en-US" sz="1100" i="1" dirty="0"/>
              <a:t>slide </a:t>
            </a:r>
            <a:r>
              <a:rPr lang="en-US" sz="1100" dirty="0" err="1"/>
              <a:t>seguinte</a:t>
            </a:r>
            <a:r>
              <a:rPr lang="en-US" sz="1100" dirty="0"/>
              <a:t>), 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/>
              <a:t>métricas</a:t>
            </a:r>
            <a:r>
              <a:rPr lang="en-US" sz="11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pSp>
        <p:nvGrpSpPr>
          <p:cNvPr id="8" name="Group 7"/>
          <p:cNvGrpSpPr/>
          <p:nvPr/>
        </p:nvGrpSpPr>
        <p:grpSpPr>
          <a:xfrm>
            <a:off x="2433710" y="1826344"/>
            <a:ext cx="7324581" cy="4191851"/>
            <a:chOff x="2444732" y="2064469"/>
            <a:chExt cx="7324581" cy="4191851"/>
          </a:xfrm>
        </p:grpSpPr>
        <p:sp>
          <p:nvSpPr>
            <p:cNvPr id="4" name="TextBox 3"/>
            <p:cNvSpPr txBox="1"/>
            <p:nvPr/>
          </p:nvSpPr>
          <p:spPr>
            <a:xfrm>
              <a:off x="2444732" y="2064469"/>
              <a:ext cx="2969444" cy="289441"/>
            </a:xfrm>
            <a:prstGeom prst="round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b="1" dirty="0" smtClean="0">
                  <a:solidFill>
                    <a:schemeClr val="bg1"/>
                  </a:solidFill>
                </a:rPr>
                <a:t>Métrica Final de Satélite</a:t>
              </a:r>
              <a:endParaRPr lang="pt-PT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799869" y="2064469"/>
              <a:ext cx="2969444" cy="289441"/>
            </a:xfrm>
            <a:prstGeom prst="round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b="1" dirty="0" smtClean="0">
                  <a:solidFill>
                    <a:schemeClr val="bg1"/>
                  </a:solidFill>
                </a:rPr>
                <a:t>Métrica de Suporte ao Cálculo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444732" y="293041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Chronic</a:t>
              </a:r>
              <a:r>
                <a:rPr lang="pt-PT" sz="1100" dirty="0"/>
                <a:t> </a:t>
              </a:r>
              <a:r>
                <a:rPr lang="pt-PT" sz="1100" dirty="0" err="1"/>
                <a:t>changes</a:t>
              </a:r>
              <a:endParaRPr lang="pt-PT" sz="11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99869" y="293041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Accumulated</a:t>
              </a:r>
              <a:r>
                <a:rPr lang="pt-PT" sz="1100" dirty="0"/>
                <a:t> </a:t>
              </a:r>
              <a:r>
                <a:rPr lang="pt-PT" sz="1100" dirty="0" err="1"/>
                <a:t>impairment</a:t>
              </a:r>
              <a:endParaRPr lang="pt-PT" sz="1100" dirty="0" smtClean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44732" y="336339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smtClean="0"/>
                <a:t>Acute Changes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99869" y="336339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Type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</a:t>
              </a:r>
              <a:r>
                <a:rPr lang="pt-PT" sz="1100" dirty="0" err="1"/>
                <a:t>counterparty</a:t>
              </a:r>
              <a:endParaRPr lang="pt-PT" sz="1100" dirty="0" smtClean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44732" y="249744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Physical</a:t>
              </a:r>
              <a:r>
                <a:rPr lang="pt-PT" sz="1100" dirty="0"/>
                <a:t> </a:t>
              </a:r>
              <a:r>
                <a:rPr lang="pt-PT" sz="1100" dirty="0" err="1"/>
                <a:t>risk_Geographical</a:t>
              </a:r>
              <a:r>
                <a:rPr lang="pt-PT" sz="1100" dirty="0"/>
                <a:t> </a:t>
              </a:r>
              <a:r>
                <a:rPr lang="pt-PT" sz="1100" dirty="0" err="1"/>
                <a:t>Area</a:t>
              </a:r>
              <a:endParaRPr lang="pt-PT" sz="11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99869" y="249744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Gross </a:t>
              </a:r>
              <a:r>
                <a:rPr lang="pt-PT" sz="1100" dirty="0" err="1"/>
                <a:t>Carrying</a:t>
              </a:r>
              <a:r>
                <a:rPr lang="pt-PT" sz="1100" dirty="0"/>
                <a:t> </a:t>
              </a:r>
              <a:r>
                <a:rPr lang="pt-PT" sz="1100" dirty="0" err="1"/>
                <a:t>Amount</a:t>
              </a:r>
              <a:endParaRPr lang="pt-PT" sz="1100" dirty="0" smtClean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44732" y="379636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Maturity</a:t>
              </a:r>
              <a:endParaRPr lang="pt-PT" sz="11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99869" y="379636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16_percent_collateral</a:t>
              </a:r>
              <a:endParaRPr lang="pt-PT" sz="1100" dirty="0" smtClean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444732" y="4229346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smtClean="0"/>
                <a:t>NACE_level1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99869" y="4229346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30_stage_ifrs9</a:t>
              </a:r>
              <a:endParaRPr lang="pt-PT" sz="1100" dirty="0" smtClean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444732" y="466231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/>
                <a:t>NACE ESG</a:t>
              </a:r>
              <a:endParaRPr lang="pt-PT" sz="11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799869" y="466231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E</a:t>
              </a:r>
              <a:r>
                <a:rPr lang="pt-PT" sz="1100" dirty="0" err="1" smtClean="0"/>
                <a:t>uropean_union</a:t>
              </a:r>
              <a:endParaRPr lang="pt-PT" sz="1100" dirty="0" smtClean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444732" y="509529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Non </a:t>
              </a:r>
              <a:r>
                <a:rPr lang="pt-PT" sz="1100" dirty="0" err="1"/>
                <a:t>performing</a:t>
              </a:r>
              <a:endParaRPr lang="pt-PT" sz="11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799869" y="5095294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Geography of the collateral: NUTS</a:t>
              </a:r>
              <a:endParaRPr lang="pt-PT" sz="1100" dirty="0" smtClean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444732" y="5528271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Excluded from EU Paris-aligned benchmark</a:t>
              </a:r>
              <a:endParaRPr lang="pt-PT" sz="11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799869" y="5528271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Geography of the collateral: ZIP Code</a:t>
              </a:r>
              <a:endParaRPr lang="pt-PT" sz="1100" dirty="0" smtClean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444732" y="596687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Environmentally sustainable (CCM)</a:t>
              </a:r>
              <a:endParaRPr lang="pt-PT" sz="11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99869" y="5966879"/>
              <a:ext cx="2969444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Geography of the counterparty: NUTS</a:t>
              </a:r>
              <a:endParaRPr lang="pt-PT" sz="11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583291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79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82708" y="2176395"/>
            <a:ext cx="2032608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56" name="Rectangle 55"/>
          <p:cNvSpPr/>
          <p:nvPr/>
        </p:nvSpPr>
        <p:spPr>
          <a:xfrm>
            <a:off x="2853759" y="2188174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71" name="Rectangle 70"/>
          <p:cNvSpPr/>
          <p:nvPr/>
        </p:nvSpPr>
        <p:spPr>
          <a:xfrm>
            <a:off x="2854914" y="3271936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" name="Rectangle 124"/>
          <p:cNvSpPr/>
          <p:nvPr/>
        </p:nvSpPr>
        <p:spPr>
          <a:xfrm>
            <a:off x="765256" y="3260155"/>
            <a:ext cx="20397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B1A519-39F2-6545-B7B0-5E31C40A33AB}"/>
              </a:ext>
            </a:extLst>
          </p:cNvPr>
          <p:cNvGrpSpPr/>
          <p:nvPr/>
        </p:nvGrpSpPr>
        <p:grpSpPr>
          <a:xfrm>
            <a:off x="524014" y="3516837"/>
            <a:ext cx="2279967" cy="1394763"/>
            <a:chOff x="5791246" y="1287947"/>
            <a:chExt cx="2279967" cy="1394763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1340913"/>
              <a:ext cx="647850" cy="647850"/>
              <a:chOff x="455122" y="4977513"/>
              <a:chExt cx="648000" cy="6480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77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731" y="1287947"/>
              <a:ext cx="241113" cy="241113"/>
            </a:xfrm>
            <a:prstGeom prst="rect">
              <a:avLst/>
            </a:prstGeom>
          </p:spPr>
        </p:pic>
        <p:pic>
          <p:nvPicPr>
            <p:cNvPr id="78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6638026" y="1287947"/>
              <a:ext cx="287933" cy="287933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3858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2174879"/>
              <a:ext cx="227996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cd_captools.fr802_pl_contas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cd_captools.kt_chaves_mis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DBD0CF-54FD-AA77-3542-F4D27223DE71}"/>
              </a:ext>
            </a:extLst>
          </p:cNvPr>
          <p:cNvGrpSpPr/>
          <p:nvPr/>
        </p:nvGrpSpPr>
        <p:grpSpPr>
          <a:xfrm>
            <a:off x="2671443" y="3516837"/>
            <a:ext cx="2231209" cy="1265359"/>
            <a:chOff x="5791246" y="3220480"/>
            <a:chExt cx="2231209" cy="1265359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3273447"/>
              <a:ext cx="647850" cy="647850"/>
              <a:chOff x="455122" y="4977513"/>
              <a:chExt cx="648000" cy="6480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1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4485" y="3220481"/>
              <a:ext cx="241113" cy="241113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6638026" y="3220480"/>
              <a:ext cx="287933" cy="287933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145762" y="3943772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4116507"/>
              <a:ext cx="2231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</a:t>
              </a:r>
              <a:endParaRPr lang="en-US" sz="900" dirty="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7C16BE-88B3-DCF8-A03E-D5FDA65F1934}"/>
              </a:ext>
            </a:extLst>
          </p:cNvPr>
          <p:cNvGrpSpPr/>
          <p:nvPr/>
        </p:nvGrpSpPr>
        <p:grpSpPr>
          <a:xfrm>
            <a:off x="524014" y="4938248"/>
            <a:ext cx="2436270" cy="1248320"/>
            <a:chOff x="8037588" y="1287947"/>
            <a:chExt cx="2436270" cy="124832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CTRLGEST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5"/>
              <a:ext cx="243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bu_ctrlgest. prod_esg_sfcs_2023 </a:t>
              </a:r>
            </a:p>
          </p:txBody>
        </p:sp>
        <p:pic>
          <p:nvPicPr>
            <p:cNvPr id="11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1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22452E-9F4F-05B0-1BCE-161AA81F17AE}"/>
              </a:ext>
            </a:extLst>
          </p:cNvPr>
          <p:cNvGrpSpPr/>
          <p:nvPr/>
        </p:nvGrpSpPr>
        <p:grpSpPr>
          <a:xfrm>
            <a:off x="4750204" y="3539538"/>
            <a:ext cx="2269819" cy="1555815"/>
            <a:chOff x="7720293" y="4278786"/>
            <a:chExt cx="2269819" cy="15558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7814559" y="4986102"/>
              <a:ext cx="2175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20221021 Pillar 3 ESG - List of Paris excluded companies.xlsx</a:t>
              </a:r>
              <a:endParaRPr lang="en-US" sz="800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789C67A-009F-456D-81C1-7CB3407C3221}"/>
                </a:ext>
              </a:extLst>
            </p:cNvPr>
            <p:cNvSpPr txBox="1"/>
            <p:nvPr/>
          </p:nvSpPr>
          <p:spPr>
            <a:xfrm>
              <a:off x="7720293" y="5326770"/>
              <a:ext cx="218514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dirty="0"/>
                <a:t>Ficheiro  “xlsx” que contém informação sobre as entidades excluídas pelo acordo de Paris.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D55035E-619B-4179-7840-19EF97166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555504" y="4317857"/>
              <a:ext cx="647850" cy="6478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9F6722-271E-8544-96EC-BD186B1ED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8580" y="4278786"/>
              <a:ext cx="238885" cy="238885"/>
            </a:xfrm>
            <a:prstGeom prst="ellipse">
              <a:avLst/>
            </a:prstGeom>
          </p:spPr>
        </p:pic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B8534CCC-C53D-F65F-1B90-745776D9377A}"/>
              </a:ext>
            </a:extLst>
          </p:cNvPr>
          <p:cNvSpPr/>
          <p:nvPr/>
        </p:nvSpPr>
        <p:spPr>
          <a:xfrm>
            <a:off x="564674" y="1267770"/>
            <a:ext cx="6368865" cy="49187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90EA82-0647-0137-957D-6035DC17EC43}"/>
              </a:ext>
            </a:extLst>
          </p:cNvPr>
          <p:cNvGrpSpPr/>
          <p:nvPr/>
        </p:nvGrpSpPr>
        <p:grpSpPr>
          <a:xfrm>
            <a:off x="4749745" y="1337124"/>
            <a:ext cx="2231209" cy="1527302"/>
            <a:chOff x="4349058" y="1337124"/>
            <a:chExt cx="2231209" cy="152730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8D07362-8ABB-BD23-2FCE-DC2A00B447D8}"/>
                </a:ext>
              </a:extLst>
            </p:cNvPr>
            <p:cNvGrpSpPr/>
            <p:nvPr/>
          </p:nvGrpSpPr>
          <p:grpSpPr>
            <a:xfrm>
              <a:off x="4349058" y="2015135"/>
              <a:ext cx="2231209" cy="849291"/>
              <a:chOff x="2615808" y="5236220"/>
              <a:chExt cx="2231209" cy="849291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FB15DB3-EA42-3F8F-2D44-998FE30B8835}"/>
                  </a:ext>
                </a:extLst>
              </p:cNvPr>
              <p:cNvSpPr txBox="1"/>
              <p:nvPr/>
            </p:nvSpPr>
            <p:spPr>
              <a:xfrm>
                <a:off x="2845599" y="5236220"/>
                <a:ext cx="1693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20230523 Pillar 3 ESG - Physical risk.v4.xlsx</a:t>
                </a:r>
                <a:endParaRPr lang="en-US" sz="8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789C67A-009F-456D-81C1-7CB3407C3221}"/>
                  </a:ext>
                </a:extLst>
              </p:cNvPr>
              <p:cNvSpPr txBox="1"/>
              <p:nvPr/>
            </p:nvSpPr>
            <p:spPr>
              <a:xfrm>
                <a:off x="2615808" y="5577680"/>
                <a:ext cx="223120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900" dirty="0"/>
                  <a:t>Ficheiro  “xlsx” que contém informação sobre os riscos físicos associados aos colaterais imóveis.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4AC38C0-861C-B8DF-D700-3B9BF0E9A8D1}"/>
                </a:ext>
              </a:extLst>
            </p:cNvPr>
            <p:cNvGrpSpPr/>
            <p:nvPr/>
          </p:nvGrpSpPr>
          <p:grpSpPr>
            <a:xfrm>
              <a:off x="5126397" y="1337124"/>
              <a:ext cx="731961" cy="686921"/>
              <a:chOff x="5126397" y="1337124"/>
              <a:chExt cx="731961" cy="686921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A84BBCC3-4CFF-86DD-8CBA-CE5F185566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26397" y="1376195"/>
                <a:ext cx="647850" cy="647850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E1E07787-2751-8139-682D-2A91B19F8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9473" y="1337124"/>
                <a:ext cx="238885" cy="238885"/>
              </a:xfrm>
              <a:prstGeom prst="ellipse">
                <a:avLst/>
              </a:prstGeom>
            </p:spPr>
          </p:pic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4DAF3BF9-C3A3-D7A2-CF05-B36E7B3F71FD}"/>
              </a:ext>
            </a:extLst>
          </p:cNvPr>
          <p:cNvCxnSpPr>
            <a:cxnSpLocks/>
          </p:cNvCxnSpPr>
          <p:nvPr/>
        </p:nvCxnSpPr>
        <p:spPr>
          <a:xfrm flipV="1">
            <a:off x="6939440" y="3377035"/>
            <a:ext cx="1188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737F93D-ED23-6AF3-A154-D76245423F6F}"/>
              </a:ext>
            </a:extLst>
          </p:cNvPr>
          <p:cNvGrpSpPr/>
          <p:nvPr/>
        </p:nvGrpSpPr>
        <p:grpSpPr>
          <a:xfrm>
            <a:off x="922266" y="2394062"/>
            <a:ext cx="706458" cy="680862"/>
            <a:chOff x="11007832" y="3054746"/>
            <a:chExt cx="706458" cy="68086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740C118-1444-21FD-5CCD-0CA39CD5B860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7B8F3A9-AFDC-5B57-1C76-8F833F04E76A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2" name="Graphic 119" descr="Database with solid fill">
                <a:extLst>
                  <a:ext uri="{FF2B5EF4-FFF2-40B4-BE49-F238E27FC236}">
                    <a16:creationId xmlns:a16="http://schemas.microsoft.com/office/drawing/2014/main" id="{709E74F7-A2DA-465D-A312-F16C1EDD6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00" name="Graphic 116" descr="Single gear with solid fill">
              <a:extLst>
                <a:ext uri="{FF2B5EF4-FFF2-40B4-BE49-F238E27FC236}">
                  <a16:creationId xmlns:a16="http://schemas.microsoft.com/office/drawing/2014/main" id="{84AAF4D6-CD8E-8475-B968-5A124B955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7F26D2E-694B-61CA-6BF2-6AC37BB2DE95}"/>
              </a:ext>
            </a:extLst>
          </p:cNvPr>
          <p:cNvGrpSpPr/>
          <p:nvPr/>
        </p:nvGrpSpPr>
        <p:grpSpPr>
          <a:xfrm>
            <a:off x="927135" y="1320942"/>
            <a:ext cx="706458" cy="680862"/>
            <a:chOff x="11007832" y="3054746"/>
            <a:chExt cx="706458" cy="68086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A877BAD-BB26-7229-FF95-4E9B3B46771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A972E67-83A4-0483-4C7D-315F7DA36972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2" name="Graphic 119" descr="Database with solid fill">
                <a:extLst>
                  <a:ext uri="{FF2B5EF4-FFF2-40B4-BE49-F238E27FC236}">
                    <a16:creationId xmlns:a16="http://schemas.microsoft.com/office/drawing/2014/main" id="{70953A31-4EEC-DA3B-BE42-CF61FC7A6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09" name="Graphic 116" descr="Single gear with solid fill">
              <a:extLst>
                <a:ext uri="{FF2B5EF4-FFF2-40B4-BE49-F238E27FC236}">
                  <a16:creationId xmlns:a16="http://schemas.microsoft.com/office/drawing/2014/main" id="{902A3BEE-6727-28EA-38C8-1459A58D0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F6EB45C-3821-3D5B-4E41-8F5F5A5F8320}"/>
              </a:ext>
            </a:extLst>
          </p:cNvPr>
          <p:cNvGrpSpPr/>
          <p:nvPr/>
        </p:nvGrpSpPr>
        <p:grpSpPr>
          <a:xfrm>
            <a:off x="3065009" y="1315193"/>
            <a:ext cx="706458" cy="680862"/>
            <a:chOff x="11007832" y="3054746"/>
            <a:chExt cx="706458" cy="680862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1B67B52-49E1-BAD1-93E8-3BAB75BBF942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89C452D-9F19-91D3-531D-C7BDC04485EB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9" name="Graphic 119" descr="Database with solid fill">
                <a:extLst>
                  <a:ext uri="{FF2B5EF4-FFF2-40B4-BE49-F238E27FC236}">
                    <a16:creationId xmlns:a16="http://schemas.microsoft.com/office/drawing/2014/main" id="{13EF4601-4EE2-2C74-611A-81738746C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27" name="Graphic 116" descr="Single gear with solid fill">
              <a:extLst>
                <a:ext uri="{FF2B5EF4-FFF2-40B4-BE49-F238E27FC236}">
                  <a16:creationId xmlns:a16="http://schemas.microsoft.com/office/drawing/2014/main" id="{F8DF81B3-C75D-A849-A6BD-B78903655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B43CB4C-112E-BC07-EC18-5D5396406CF9}"/>
              </a:ext>
            </a:extLst>
          </p:cNvPr>
          <p:cNvGrpSpPr/>
          <p:nvPr/>
        </p:nvGrpSpPr>
        <p:grpSpPr>
          <a:xfrm>
            <a:off x="3066530" y="2392732"/>
            <a:ext cx="706458" cy="680862"/>
            <a:chOff x="11007832" y="3054746"/>
            <a:chExt cx="706458" cy="680862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F0FE71C-DA70-C131-F7A0-B5BE86285F0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4F02485E-7619-FA9B-3DCB-5D26CD4DAE1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4" name="Graphic 119" descr="Database with solid fill">
                <a:extLst>
                  <a:ext uri="{FF2B5EF4-FFF2-40B4-BE49-F238E27FC236}">
                    <a16:creationId xmlns:a16="http://schemas.microsoft.com/office/drawing/2014/main" id="{DFB8C168-AF0C-2FAA-7A32-8BB8C37AD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32" name="Graphic 116" descr="Single gear with solid fill">
              <a:extLst>
                <a:ext uri="{FF2B5EF4-FFF2-40B4-BE49-F238E27FC236}">
                  <a16:creationId xmlns:a16="http://schemas.microsoft.com/office/drawing/2014/main" id="{8F203B67-CAFC-BEAD-1A69-FA07F7F2C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7172A852-943C-F8F2-72BA-CC13A818CA8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5954E92-DC84-F55D-5784-7741A122CE0B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79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91D5281-B76E-58B0-90A8-385FA5155044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36" name="Picture 4">
              <a:extLst>
                <a:ext uri="{FF2B5EF4-FFF2-40B4-BE49-F238E27FC236}">
                  <a16:creationId xmlns:a16="http://schemas.microsoft.com/office/drawing/2014/main" id="{1A003A78-AE5F-A603-B44A-2AC06DA58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139" descr="Related image">
              <a:extLst>
                <a:ext uri="{FF2B5EF4-FFF2-40B4-BE49-F238E27FC236}">
                  <a16:creationId xmlns:a16="http://schemas.microsoft.com/office/drawing/2014/main" id="{EE38E3E0-1EC7-39C8-A89E-4ADD6D3FF7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0E84024-3ECB-6C7C-1B5E-AD7D951A3BE7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020ED97-EE3C-BA42-A82B-AD61EC42E8D4}"/>
              </a:ext>
            </a:extLst>
          </p:cNvPr>
          <p:cNvSpPr txBox="1"/>
          <p:nvPr/>
        </p:nvSpPr>
        <p:spPr>
          <a:xfrm>
            <a:off x="814831" y="2030924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54DB5D-0BA4-EC22-FBF3-CBE83A60850F}"/>
              </a:ext>
            </a:extLst>
          </p:cNvPr>
          <p:cNvSpPr txBox="1"/>
          <p:nvPr/>
        </p:nvSpPr>
        <p:spPr>
          <a:xfrm>
            <a:off x="2956158" y="309131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317CF-9CB9-A607-3C99-BEA429196C11}"/>
              </a:ext>
            </a:extLst>
          </p:cNvPr>
          <p:cNvSpPr txBox="1"/>
          <p:nvPr/>
        </p:nvSpPr>
        <p:spPr>
          <a:xfrm>
            <a:off x="2949808" y="201816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C43B52-F954-A882-534E-D9D4C58F3494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96E2D-E6D6-A3F7-A8C2-5DD1DCFAC624}"/>
              </a:ext>
            </a:extLst>
          </p:cNvPr>
          <p:cNvSpPr txBox="1"/>
          <p:nvPr/>
        </p:nvSpPr>
        <p:spPr>
          <a:xfrm>
            <a:off x="814831" y="309131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938263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80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do </a:t>
            </a:r>
            <a:r>
              <a:rPr lang="en-US" sz="1100" dirty="0" err="1"/>
              <a:t>satélite</a:t>
            </a:r>
            <a:r>
              <a:rPr lang="en-US" sz="1100" dirty="0"/>
              <a:t> </a:t>
            </a:r>
            <a:r>
              <a:rPr lang="en-US" sz="1100" dirty="0" smtClean="0"/>
              <a:t>80 </a:t>
            </a:r>
            <a:r>
              <a:rPr lang="en-US" sz="1100" dirty="0"/>
              <a:t>(</a:t>
            </a:r>
            <a:r>
              <a:rPr lang="en-US" sz="1100" dirty="0" err="1"/>
              <a:t>descrito</a:t>
            </a:r>
            <a:r>
              <a:rPr lang="en-US" sz="1100" dirty="0"/>
              <a:t> no </a:t>
            </a:r>
            <a:r>
              <a:rPr lang="en-US" sz="1100" i="1" dirty="0"/>
              <a:t>slide </a:t>
            </a:r>
            <a:r>
              <a:rPr lang="en-US" sz="1100" dirty="0" err="1"/>
              <a:t>seguinte</a:t>
            </a:r>
            <a:r>
              <a:rPr lang="en-US" sz="1100" dirty="0"/>
              <a:t>), 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/>
              <a:t>métricas</a:t>
            </a:r>
            <a:r>
              <a:rPr lang="en-US" sz="11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2433710" y="1826344"/>
            <a:ext cx="2969444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Final de Satélite</a:t>
            </a:r>
            <a:endParaRPr lang="pt-PT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8847" y="1826344"/>
            <a:ext cx="2969444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de Suporte ao Cálculo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3710" y="26922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EP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8847" y="26922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Type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asset</a:t>
            </a:r>
            <a:endParaRPr lang="pt-PT" sz="11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433710" y="31252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EPC label data</a:t>
            </a:r>
            <a:endParaRPr lang="en-US" sz="11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788847" y="31252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Type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collateral</a:t>
            </a:r>
            <a:endParaRPr lang="pt-PT" sz="11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2433710" y="225931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EP score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8847" y="225931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Gross </a:t>
            </a:r>
            <a:r>
              <a:rPr lang="pt-PT" sz="1100" dirty="0" err="1"/>
              <a:t>Carrying</a:t>
            </a:r>
            <a:r>
              <a:rPr lang="pt-PT" sz="1100" dirty="0"/>
              <a:t> </a:t>
            </a:r>
            <a:r>
              <a:rPr lang="pt-PT" sz="1100" dirty="0" err="1"/>
              <a:t>Amount</a:t>
            </a:r>
            <a:endParaRPr lang="pt-PT" sz="11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2433710" y="355824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EPC </a:t>
            </a:r>
            <a:r>
              <a:rPr lang="pt-PT" sz="1100" dirty="0" err="1"/>
              <a:t>label</a:t>
            </a:r>
            <a:endParaRPr lang="pt-PT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6788847" y="355824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% </a:t>
            </a:r>
            <a:r>
              <a:rPr lang="pt-PT" sz="1100" dirty="0" err="1"/>
              <a:t>collateralised</a:t>
            </a:r>
            <a:endParaRPr lang="pt-PT" sz="11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2433710" y="3991221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European</a:t>
            </a:r>
            <a:r>
              <a:rPr lang="pt-PT" sz="1100" dirty="0"/>
              <a:t> </a:t>
            </a:r>
            <a:r>
              <a:rPr lang="pt-PT" sz="1100" dirty="0" err="1"/>
              <a:t>Union</a:t>
            </a:r>
            <a:endParaRPr lang="pt-PT" sz="11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6788847" y="3991221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Geography of the collateral: NUTS</a:t>
            </a:r>
            <a:endParaRPr lang="pt-PT" sz="1100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6788847" y="44241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Geography of the collateral: ZIP Code</a:t>
            </a:r>
            <a:endParaRPr lang="pt-PT" sz="1100" dirty="0" smtClean="0"/>
          </a:p>
        </p:txBody>
      </p:sp>
    </p:spTree>
    <p:extLst>
      <p:ext uri="{BB962C8B-B14F-4D97-AF65-F5344CB8AC3E}">
        <p14:creationId xmlns:p14="http://schemas.microsoft.com/office/powerpoint/2010/main" val="745821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80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60820" y="2336349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39" name="Rectangle 38"/>
          <p:cNvSpPr/>
          <p:nvPr/>
        </p:nvSpPr>
        <p:spPr>
          <a:xfrm>
            <a:off x="3128343" y="2351422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54" name="Rectangle 53"/>
          <p:cNvSpPr/>
          <p:nvPr/>
        </p:nvSpPr>
        <p:spPr>
          <a:xfrm>
            <a:off x="3127994" y="3976075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131" y="3972246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C408C7-4181-6229-3CB5-85B948BE44C2}"/>
              </a:ext>
            </a:extLst>
          </p:cNvPr>
          <p:cNvGrpSpPr/>
          <p:nvPr/>
        </p:nvGrpSpPr>
        <p:grpSpPr>
          <a:xfrm>
            <a:off x="694987" y="4739917"/>
            <a:ext cx="2279967" cy="1256265"/>
            <a:chOff x="5791246" y="1287947"/>
            <a:chExt cx="2279967" cy="125626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1340913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7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731" y="1287947"/>
              <a:ext cx="241113" cy="241113"/>
            </a:xfrm>
            <a:prstGeom prst="rect">
              <a:avLst/>
            </a:prstGeom>
          </p:spPr>
        </p:pic>
        <p:pic>
          <p:nvPicPr>
            <p:cNvPr id="7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6638026" y="1287947"/>
              <a:ext cx="287933" cy="287933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3858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2174880"/>
              <a:ext cx="2279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cd_captools.kt_chaves_mis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610B9-1881-65A3-CC58-B0548BFB0C2C}"/>
              </a:ext>
            </a:extLst>
          </p:cNvPr>
          <p:cNvGrpSpPr/>
          <p:nvPr/>
        </p:nvGrpSpPr>
        <p:grpSpPr>
          <a:xfrm>
            <a:off x="2952961" y="4747862"/>
            <a:ext cx="2436270" cy="1248320"/>
            <a:chOff x="8037588" y="1287947"/>
            <a:chExt cx="2436270" cy="12483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CTRLGEST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5"/>
              <a:ext cx="243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bu_ctrlgest. prod_esg_sfcs_2023 </a:t>
              </a:r>
            </a:p>
          </p:txBody>
        </p: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A3A1841-2060-3804-091A-47A3E1A616C1}"/>
              </a:ext>
            </a:extLst>
          </p:cNvPr>
          <p:cNvSpPr/>
          <p:nvPr/>
        </p:nvSpPr>
        <p:spPr>
          <a:xfrm>
            <a:off x="694987" y="1267770"/>
            <a:ext cx="4724036" cy="49187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8232ED25-20B9-D7E9-C795-C504B4B2E644}"/>
              </a:ext>
            </a:extLst>
          </p:cNvPr>
          <p:cNvCxnSpPr>
            <a:cxnSpLocks/>
          </p:cNvCxnSpPr>
          <p:nvPr/>
        </p:nvCxnSpPr>
        <p:spPr>
          <a:xfrm flipV="1">
            <a:off x="5422847" y="3377035"/>
            <a:ext cx="2700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A513B4-D42B-3C13-CF43-BA69891603A0}"/>
              </a:ext>
            </a:extLst>
          </p:cNvPr>
          <p:cNvGrpSpPr/>
          <p:nvPr/>
        </p:nvGrpSpPr>
        <p:grpSpPr>
          <a:xfrm>
            <a:off x="1090813" y="1469331"/>
            <a:ext cx="706458" cy="680862"/>
            <a:chOff x="11007832" y="3054746"/>
            <a:chExt cx="706458" cy="6808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A63EB1-DED0-F524-4763-FBAB5FC3EE94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8BB526B-3935-A657-F6AB-ED862915825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119" descr="Database with solid fill">
                <a:extLst>
                  <a:ext uri="{FF2B5EF4-FFF2-40B4-BE49-F238E27FC236}">
                    <a16:creationId xmlns:a16="http://schemas.microsoft.com/office/drawing/2014/main" id="{75526892-A115-EF65-37EE-A7404DCE42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0" name="Graphic 116" descr="Single gear with solid fill">
              <a:extLst>
                <a:ext uri="{FF2B5EF4-FFF2-40B4-BE49-F238E27FC236}">
                  <a16:creationId xmlns:a16="http://schemas.microsoft.com/office/drawing/2014/main" id="{F6EBB09D-E56C-C6F0-B46E-A583772D1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17A368-CB5D-B057-02B4-40AA6AECEA35}"/>
              </a:ext>
            </a:extLst>
          </p:cNvPr>
          <p:cNvGrpSpPr/>
          <p:nvPr/>
        </p:nvGrpSpPr>
        <p:grpSpPr>
          <a:xfrm>
            <a:off x="1091443" y="3095600"/>
            <a:ext cx="706458" cy="680862"/>
            <a:chOff x="11007832" y="3054746"/>
            <a:chExt cx="706458" cy="68086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BE55A5C-77B3-28F3-39C2-E50395205E3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9119748-DB2C-F1FE-FAC7-9DE19F7815C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3" name="Graphic 119" descr="Database with solid fill">
                <a:extLst>
                  <a:ext uri="{FF2B5EF4-FFF2-40B4-BE49-F238E27FC236}">
                    <a16:creationId xmlns:a16="http://schemas.microsoft.com/office/drawing/2014/main" id="{99D0E7AC-BA06-ECC6-B10F-77C788A06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0" name="Graphic 116" descr="Single gear with solid fill">
              <a:extLst>
                <a:ext uri="{FF2B5EF4-FFF2-40B4-BE49-F238E27FC236}">
                  <a16:creationId xmlns:a16="http://schemas.microsoft.com/office/drawing/2014/main" id="{3B6A5FDE-7C0A-CA9A-7B42-7F1CA3E2F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B02800-38E0-B448-5788-C32EF8982667}"/>
              </a:ext>
            </a:extLst>
          </p:cNvPr>
          <p:cNvGrpSpPr/>
          <p:nvPr/>
        </p:nvGrpSpPr>
        <p:grpSpPr>
          <a:xfrm>
            <a:off x="3351305" y="1463463"/>
            <a:ext cx="706458" cy="680862"/>
            <a:chOff x="11007832" y="3054746"/>
            <a:chExt cx="706458" cy="68086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A749CDB-5D61-30DD-18B6-D56F7158DFCF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CB5196A-5A1C-609E-701F-1321D2B9C04E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3" name="Graphic 119" descr="Database with solid fill">
                <a:extLst>
                  <a:ext uri="{FF2B5EF4-FFF2-40B4-BE49-F238E27FC236}">
                    <a16:creationId xmlns:a16="http://schemas.microsoft.com/office/drawing/2014/main" id="{53E3C50E-A41E-6B5F-0CD2-6F1116EA8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60" name="Graphic 116" descr="Single gear with solid fill">
              <a:extLst>
                <a:ext uri="{FF2B5EF4-FFF2-40B4-BE49-F238E27FC236}">
                  <a16:creationId xmlns:a16="http://schemas.microsoft.com/office/drawing/2014/main" id="{51ED4E2C-7D61-5FA5-C6C8-B795FF06C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A1F39E0-6F36-3827-2AA8-FBACAFF8E53E}"/>
              </a:ext>
            </a:extLst>
          </p:cNvPr>
          <p:cNvGrpSpPr/>
          <p:nvPr/>
        </p:nvGrpSpPr>
        <p:grpSpPr>
          <a:xfrm>
            <a:off x="3351305" y="3094994"/>
            <a:ext cx="706458" cy="680862"/>
            <a:chOff x="11007832" y="3054746"/>
            <a:chExt cx="706458" cy="68086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8ACD30A-02CC-3E4E-4693-41DB026BE7DB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2A11822-56E2-AA92-7BC0-0EB510B41EC3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90" name="Graphic 119" descr="Database with solid fill">
                <a:extLst>
                  <a:ext uri="{FF2B5EF4-FFF2-40B4-BE49-F238E27FC236}">
                    <a16:creationId xmlns:a16="http://schemas.microsoft.com/office/drawing/2014/main" id="{36D3E571-EFF5-86F6-5D07-CA4388356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88" name="Graphic 116" descr="Single gear with solid fill">
              <a:extLst>
                <a:ext uri="{FF2B5EF4-FFF2-40B4-BE49-F238E27FC236}">
                  <a16:creationId xmlns:a16="http://schemas.microsoft.com/office/drawing/2014/main" id="{68BAF5E4-7204-E501-6D80-C4A3742AC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pic>
        <p:nvPicPr>
          <p:cNvPr id="95" name="Picture 3">
            <a:extLst>
              <a:ext uri="{FF2B5EF4-FFF2-40B4-BE49-F238E27FC236}">
                <a16:creationId xmlns:a16="http://schemas.microsoft.com/office/drawing/2014/main" id="{5974EC12-1B9E-36D7-B51B-FEB587EF9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856096-4807-BDC8-6E15-DD5CAC20F5C9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69">
            <a:extLst>
              <a:ext uri="{FF2B5EF4-FFF2-40B4-BE49-F238E27FC236}">
                <a16:creationId xmlns:a16="http://schemas.microsoft.com/office/drawing/2014/main" id="{B505A9FF-C9D0-59EF-A04F-6B67A2B4B8A6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282F4DCB-B780-F143-3241-139869A9057A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80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F44D192-2495-C12B-B343-329A3DE2D589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92" name="Picture 4">
              <a:extLst>
                <a:ext uri="{FF2B5EF4-FFF2-40B4-BE49-F238E27FC236}">
                  <a16:creationId xmlns:a16="http://schemas.microsoft.com/office/drawing/2014/main" id="{4111496F-9AEB-CD42-316A-3228FC1CD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139" descr="Related image">
              <a:extLst>
                <a:ext uri="{FF2B5EF4-FFF2-40B4-BE49-F238E27FC236}">
                  <a16:creationId xmlns:a16="http://schemas.microsoft.com/office/drawing/2014/main" id="{374AA77A-811C-CD7E-5563-2B64FB68F6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7ABA339-F165-E9EF-176B-AE435ADC7C52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4185631-D1FB-CE8F-31AD-CDF43A82970A}"/>
              </a:ext>
            </a:extLst>
          </p:cNvPr>
          <p:cNvSpPr txBox="1"/>
          <p:nvPr/>
        </p:nvSpPr>
        <p:spPr>
          <a:xfrm>
            <a:off x="984623" y="218357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CCD50E-E323-CD01-2E1E-50B2B1BA94D8}"/>
              </a:ext>
            </a:extLst>
          </p:cNvPr>
          <p:cNvSpPr txBox="1"/>
          <p:nvPr/>
        </p:nvSpPr>
        <p:spPr>
          <a:xfrm>
            <a:off x="990719" y="3817298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7FBA34-E161-464F-410B-AFEFD9DE0E8E}"/>
              </a:ext>
            </a:extLst>
          </p:cNvPr>
          <p:cNvSpPr txBox="1"/>
          <p:nvPr/>
        </p:nvSpPr>
        <p:spPr>
          <a:xfrm>
            <a:off x="3246239" y="381425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C3B98-83C8-5ACA-7E8E-27921F31B4B2}"/>
              </a:ext>
            </a:extLst>
          </p:cNvPr>
          <p:cNvSpPr txBox="1"/>
          <p:nvPr/>
        </p:nvSpPr>
        <p:spPr>
          <a:xfrm>
            <a:off x="3252335" y="218357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389873-AADF-3FFC-DB80-BD89DD531B82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5643734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83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do </a:t>
            </a:r>
            <a:r>
              <a:rPr lang="en-US" sz="1100" dirty="0" err="1"/>
              <a:t>satélite</a:t>
            </a:r>
            <a:r>
              <a:rPr lang="en-US" sz="1100" dirty="0"/>
              <a:t> </a:t>
            </a:r>
            <a:r>
              <a:rPr lang="en-US" sz="1100" dirty="0" smtClean="0"/>
              <a:t>83 </a:t>
            </a:r>
            <a:r>
              <a:rPr lang="en-US" sz="1100" dirty="0"/>
              <a:t>(</a:t>
            </a:r>
            <a:r>
              <a:rPr lang="en-US" sz="1100" dirty="0" err="1"/>
              <a:t>descrito</a:t>
            </a:r>
            <a:r>
              <a:rPr lang="en-US" sz="1100" dirty="0"/>
              <a:t> no </a:t>
            </a:r>
            <a:r>
              <a:rPr lang="en-US" sz="1100" i="1" dirty="0"/>
              <a:t>slide </a:t>
            </a:r>
            <a:r>
              <a:rPr lang="en-US" sz="1100" dirty="0" err="1"/>
              <a:t>seguinte</a:t>
            </a:r>
            <a:r>
              <a:rPr lang="en-US" sz="1100" dirty="0"/>
              <a:t>), 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/>
              <a:t>métricas</a:t>
            </a:r>
            <a:r>
              <a:rPr lang="en-US" sz="11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2433710" y="1826344"/>
            <a:ext cx="2969444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Final de Satélite</a:t>
            </a:r>
            <a:endParaRPr lang="pt-PT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8847" y="1826344"/>
            <a:ext cx="2969444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de Suporte ao Cálculo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3710" y="26922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Green financial </a:t>
            </a:r>
            <a:r>
              <a:rPr lang="pt-PT" sz="1100" dirty="0" err="1"/>
              <a:t>instrument</a:t>
            </a:r>
            <a:endParaRPr lang="pt-PT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6788847" y="26922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Gross </a:t>
            </a:r>
            <a:r>
              <a:rPr lang="pt-PT" sz="1100" dirty="0" err="1"/>
              <a:t>Carrying</a:t>
            </a:r>
            <a:r>
              <a:rPr lang="pt-PT" sz="1100" dirty="0"/>
              <a:t> </a:t>
            </a:r>
            <a:r>
              <a:rPr lang="pt-PT" sz="1100" dirty="0" err="1"/>
              <a:t>Amount</a:t>
            </a:r>
            <a:endParaRPr lang="pt-PT" sz="11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433710" y="31252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Funding type</a:t>
            </a:r>
            <a:endParaRPr lang="en-US" sz="11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6788847" y="31252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Type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counterparty</a:t>
            </a:r>
            <a:endParaRPr lang="pt-PT" sz="11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2433710" y="225931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Purpose</a:t>
            </a:r>
            <a:r>
              <a:rPr lang="pt-PT" sz="1100" dirty="0"/>
              <a:t> ESG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8847" y="225931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Flag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specialised</a:t>
            </a:r>
            <a:r>
              <a:rPr lang="pt-PT" sz="1100" dirty="0"/>
              <a:t> </a:t>
            </a:r>
            <a:r>
              <a:rPr lang="pt-PT" sz="1100" dirty="0" err="1"/>
              <a:t>lending</a:t>
            </a:r>
            <a:endParaRPr lang="pt-PT" sz="1100" dirty="0" smtClean="0"/>
          </a:p>
        </p:txBody>
      </p:sp>
      <p:sp>
        <p:nvSpPr>
          <p:cNvPr id="22" name="TextBox 21"/>
          <p:cNvSpPr txBox="1"/>
          <p:nvPr/>
        </p:nvSpPr>
        <p:spPr>
          <a:xfrm>
            <a:off x="2433710" y="355824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Risk</a:t>
            </a:r>
            <a:r>
              <a:rPr lang="pt-PT" sz="1100" dirty="0"/>
              <a:t> </a:t>
            </a:r>
            <a:r>
              <a:rPr lang="pt-PT" sz="1100" dirty="0" err="1"/>
              <a:t>mitigated</a:t>
            </a:r>
            <a:r>
              <a:rPr lang="pt-PT" sz="1100" dirty="0"/>
              <a:t> CCT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8847" y="355824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Type</a:t>
            </a:r>
            <a:r>
              <a:rPr lang="pt-PT" sz="1100" dirty="0"/>
              <a:t> </a:t>
            </a:r>
            <a:r>
              <a:rPr lang="pt-PT" sz="1100" dirty="0" err="1"/>
              <a:t>of</a:t>
            </a:r>
            <a:r>
              <a:rPr lang="pt-PT" sz="1100" dirty="0"/>
              <a:t> </a:t>
            </a:r>
            <a:r>
              <a:rPr lang="pt-PT" sz="1100" dirty="0" err="1"/>
              <a:t>product</a:t>
            </a:r>
            <a:endParaRPr lang="pt-PT" sz="1100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2433710" y="3991221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Risk</a:t>
            </a:r>
            <a:r>
              <a:rPr lang="pt-PT" sz="1100" dirty="0"/>
              <a:t> </a:t>
            </a:r>
            <a:r>
              <a:rPr lang="pt-PT" sz="1100" dirty="0" err="1"/>
              <a:t>mitigated</a:t>
            </a:r>
            <a:r>
              <a:rPr lang="pt-PT" sz="1100" dirty="0"/>
              <a:t> CCP</a:t>
            </a:r>
            <a:endParaRPr lang="pt-PT" sz="11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6788847" y="3991221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/>
              <a:t>% </a:t>
            </a:r>
            <a:r>
              <a:rPr lang="pt-PT" sz="1100" dirty="0" err="1"/>
              <a:t>collateralised</a:t>
            </a:r>
            <a:endParaRPr lang="pt-PT" sz="1100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6788847" y="442419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Financing</a:t>
            </a:r>
            <a:r>
              <a:rPr lang="pt-PT" sz="1100" dirty="0"/>
              <a:t> </a:t>
            </a:r>
            <a:r>
              <a:rPr lang="pt-PT" sz="1100" dirty="0" err="1"/>
              <a:t>category</a:t>
            </a:r>
            <a:endParaRPr lang="pt-PT" sz="1100" dirty="0" smtClean="0"/>
          </a:p>
        </p:txBody>
      </p:sp>
      <p:sp>
        <p:nvSpPr>
          <p:cNvPr id="31" name="TextBox 30"/>
          <p:cNvSpPr txBox="1"/>
          <p:nvPr/>
        </p:nvSpPr>
        <p:spPr>
          <a:xfrm>
            <a:off x="6788847" y="4857169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SFCS categories</a:t>
            </a:r>
            <a:endParaRPr lang="pt-PT" sz="1100" dirty="0" smtClean="0"/>
          </a:p>
        </p:txBody>
      </p:sp>
      <p:sp>
        <p:nvSpPr>
          <p:cNvPr id="34" name="TextBox 33"/>
          <p:cNvSpPr txBox="1"/>
          <p:nvPr/>
        </p:nvSpPr>
        <p:spPr>
          <a:xfrm>
            <a:off x="6788847" y="5290146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Climate change physical risk</a:t>
            </a:r>
            <a:endParaRPr lang="pt-PT" sz="1100" dirty="0" smtClean="0"/>
          </a:p>
        </p:txBody>
      </p:sp>
      <p:sp>
        <p:nvSpPr>
          <p:cNvPr id="36" name="TextBox 35"/>
          <p:cNvSpPr txBox="1"/>
          <p:nvPr/>
        </p:nvSpPr>
        <p:spPr>
          <a:xfrm>
            <a:off x="6788847" y="5728754"/>
            <a:ext cx="2969444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Climate change transition risk</a:t>
            </a:r>
            <a:endParaRPr lang="pt-PT" sz="1100" dirty="0" smtClean="0"/>
          </a:p>
        </p:txBody>
      </p:sp>
    </p:spTree>
    <p:extLst>
      <p:ext uri="{BB962C8B-B14F-4D97-AF65-F5344CB8AC3E}">
        <p14:creationId xmlns:p14="http://schemas.microsoft.com/office/powerpoint/2010/main" val="2889735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83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2234275" y="3374996"/>
            <a:ext cx="5904000" cy="1160371"/>
          </a:xfrm>
          <a:prstGeom prst="bentConnector3">
            <a:avLst>
              <a:gd name="adj1" fmla="val 469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09C4CF6-B2C7-7F54-33A3-BF66D6B67F58}"/>
              </a:ext>
            </a:extLst>
          </p:cNvPr>
          <p:cNvGrpSpPr/>
          <p:nvPr/>
        </p:nvGrpSpPr>
        <p:grpSpPr>
          <a:xfrm>
            <a:off x="1213919" y="4154390"/>
            <a:ext cx="2352166" cy="1256265"/>
            <a:chOff x="1158260" y="4205313"/>
            <a:chExt cx="2352166" cy="1256265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8503E0C-B88F-05D7-68F6-DA3CB89E3FD4}"/>
                </a:ext>
              </a:extLst>
            </p:cNvPr>
            <p:cNvGrpSpPr/>
            <p:nvPr/>
          </p:nvGrpSpPr>
          <p:grpSpPr>
            <a:xfrm>
              <a:off x="1158260" y="4258279"/>
              <a:ext cx="2352166" cy="1203299"/>
              <a:chOff x="1158260" y="4258279"/>
              <a:chExt cx="2352166" cy="1203299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1554087" y="4258279"/>
                <a:ext cx="647850" cy="647850"/>
                <a:chOff x="455122" y="4977513"/>
                <a:chExt cx="648000" cy="648000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8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1450873" y="4928604"/>
                <a:ext cx="863800" cy="230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CTRLGEST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D28984F-186B-1A0E-8DF4-5F30E73FB014}"/>
                  </a:ext>
                </a:extLst>
              </p:cNvPr>
              <p:cNvSpPr txBox="1"/>
              <p:nvPr/>
            </p:nvSpPr>
            <p:spPr>
              <a:xfrm>
                <a:off x="1158260" y="5092246"/>
                <a:ext cx="23521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900" b="1" dirty="0"/>
                  <a:t>Modelação das tabelas:</a:t>
                </a:r>
              </a:p>
              <a:p>
                <a:pPr marL="171416" indent="-171416">
                  <a:buFont typeface="Arial" panose="020B0604020202020204" pitchFamily="34" charset="0"/>
                  <a:buChar char="•"/>
                </a:pPr>
                <a:r>
                  <a:rPr lang="pt-PT" sz="900" dirty="0"/>
                  <a:t>bu_ctrlgest. prod_esg_sfcs_2023 </a:t>
                </a:r>
              </a:p>
            </p:txBody>
          </p:sp>
        </p:grpSp>
        <p:pic>
          <p:nvPicPr>
            <p:cNvPr id="6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6746" y="4205313"/>
              <a:ext cx="241113" cy="241113"/>
            </a:xfrm>
            <a:prstGeom prst="rect">
              <a:avLst/>
            </a:prstGeom>
          </p:spPr>
        </p:pic>
        <p:pic>
          <p:nvPicPr>
            <p:cNvPr id="6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2005041" y="4205313"/>
              <a:ext cx="287933" cy="287933"/>
            </a:xfrm>
            <a:prstGeom prst="rect">
              <a:avLst/>
            </a:prstGeom>
          </p:spPr>
        </p:pic>
      </p:grpSp>
      <p:cxnSp>
        <p:nvCxnSpPr>
          <p:cNvPr id="2" name="Elbow Connector 69">
            <a:extLst>
              <a:ext uri="{FF2B5EF4-FFF2-40B4-BE49-F238E27FC236}">
                <a16:creationId xmlns:a16="http://schemas.microsoft.com/office/drawing/2014/main" id="{BC277D94-C050-6A67-9FC4-6C48EAF2009A}"/>
              </a:ext>
            </a:extLst>
          </p:cNvPr>
          <p:cNvCxnSpPr>
            <a:cxnSpLocks/>
          </p:cNvCxnSpPr>
          <p:nvPr/>
        </p:nvCxnSpPr>
        <p:spPr>
          <a:xfrm>
            <a:off x="2190118" y="2101574"/>
            <a:ext cx="5940000" cy="1275461"/>
          </a:xfrm>
          <a:prstGeom prst="bentConnector3">
            <a:avLst>
              <a:gd name="adj1" fmla="val 4737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8F62BE3-E46E-166F-935C-776D64CDBCEF}"/>
              </a:ext>
            </a:extLst>
          </p:cNvPr>
          <p:cNvGrpSpPr/>
          <p:nvPr/>
        </p:nvGrpSpPr>
        <p:grpSpPr>
          <a:xfrm>
            <a:off x="1403148" y="1746416"/>
            <a:ext cx="2217275" cy="1098761"/>
            <a:chOff x="1312500" y="1777546"/>
            <a:chExt cx="2217275" cy="1098761"/>
          </a:xfrm>
        </p:grpSpPr>
        <p:sp>
          <p:nvSpPr>
            <p:cNvPr id="29" name="Rectangle 28"/>
            <p:cNvSpPr/>
            <p:nvPr/>
          </p:nvSpPr>
          <p:spPr>
            <a:xfrm>
              <a:off x="1312500" y="2645475"/>
              <a:ext cx="22172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900" dirty="0"/>
                <a:t>bu_esg_work.rf_pilar3_universo_full_v3</a:t>
              </a:r>
              <a:endParaRPr lang="pt-PT" sz="1050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78085DC-8960-43D4-F1B1-D4FBB83B4A8C}"/>
                </a:ext>
              </a:extLst>
            </p:cNvPr>
            <p:cNvGrpSpPr/>
            <p:nvPr/>
          </p:nvGrpSpPr>
          <p:grpSpPr>
            <a:xfrm>
              <a:off x="1529946" y="1777546"/>
              <a:ext cx="706458" cy="680862"/>
              <a:chOff x="11007832" y="3054746"/>
              <a:chExt cx="706458" cy="68086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68FC841-29C6-404F-842B-295652BE2D03}"/>
                  </a:ext>
                </a:extLst>
              </p:cNvPr>
              <p:cNvGrpSpPr/>
              <p:nvPr/>
            </p:nvGrpSpPr>
            <p:grpSpPr>
              <a:xfrm>
                <a:off x="11007832" y="3091584"/>
                <a:ext cx="639433" cy="644024"/>
                <a:chOff x="10931012" y="2482312"/>
                <a:chExt cx="639433" cy="644024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B01FA266-DBBC-2449-81B9-13EBFFF44776}"/>
                    </a:ext>
                  </a:extLst>
                </p:cNvPr>
                <p:cNvSpPr/>
                <p:nvPr/>
              </p:nvSpPr>
              <p:spPr>
                <a:xfrm>
                  <a:off x="10931012" y="2482312"/>
                  <a:ext cx="639433" cy="64402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5" name="Graphic 119" descr="Database with solid fill">
                  <a:extLst>
                    <a:ext uri="{FF2B5EF4-FFF2-40B4-BE49-F238E27FC236}">
                      <a16:creationId xmlns:a16="http://schemas.microsoft.com/office/drawing/2014/main" id="{10FD02C4-23F6-E823-55AF-C055B7512D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xmlns="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35643" y="2591032"/>
                  <a:ext cx="426289" cy="429349"/>
                </a:xfrm>
                <a:prstGeom prst="rect">
                  <a:avLst/>
                </a:prstGeom>
              </p:spPr>
            </p:pic>
          </p:grpSp>
          <p:pic>
            <p:nvPicPr>
              <p:cNvPr id="43" name="Graphic 116" descr="Single gear with solid fill">
                <a:extLst>
                  <a:ext uri="{FF2B5EF4-FFF2-40B4-BE49-F238E27FC236}">
                    <a16:creationId xmlns:a16="http://schemas.microsoft.com/office/drawing/2014/main" id="{1260B72E-22BF-5F95-AB6F-A8F8F975F1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5"/>
                  </a:ext>
                </a:extLst>
              </a:blip>
              <a:stretch>
                <a:fillRect/>
              </a:stretch>
            </p:blipFill>
            <p:spPr>
              <a:xfrm>
                <a:off x="11426357" y="3054746"/>
                <a:ext cx="287933" cy="287933"/>
              </a:xfrm>
              <a:prstGeom prst="rect">
                <a:avLst/>
              </a:prstGeom>
            </p:spPr>
          </p:pic>
        </p:grpSp>
      </p:grpSp>
      <p:pic>
        <p:nvPicPr>
          <p:cNvPr id="69" name="Picture 3">
            <a:extLst>
              <a:ext uri="{FF2B5EF4-FFF2-40B4-BE49-F238E27FC236}">
                <a16:creationId xmlns:a16="http://schemas.microsoft.com/office/drawing/2014/main" id="{DDE1588E-6C05-56D2-FD99-A31D4B232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3A32FBE-5FC6-E688-E6FC-C16C8AF7C7B2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0C3B386-7FBD-A095-0812-3EE8CE1F44AC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DEA017A-411B-BC8B-80FE-03132846850F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84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6383ACF-6EBF-A4BC-1BDA-3BF90158A1F0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66" name="Picture 4">
              <a:extLst>
                <a:ext uri="{FF2B5EF4-FFF2-40B4-BE49-F238E27FC236}">
                  <a16:creationId xmlns:a16="http://schemas.microsoft.com/office/drawing/2014/main" id="{C5C555FD-E852-02A6-3A60-7C772687A1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139" descr="Related image">
              <a:extLst>
                <a:ext uri="{FF2B5EF4-FFF2-40B4-BE49-F238E27FC236}">
                  <a16:creationId xmlns:a16="http://schemas.microsoft.com/office/drawing/2014/main" id="{5DBE7525-81D7-B5E1-6C90-AED894643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718602-B23D-B26D-2462-B1E78027B01B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B02A205-3123-DE42-5C15-9212C5342EDF}"/>
              </a:ext>
            </a:extLst>
          </p:cNvPr>
          <p:cNvSpPr txBox="1"/>
          <p:nvPr/>
        </p:nvSpPr>
        <p:spPr>
          <a:xfrm>
            <a:off x="1514975" y="243960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550050-534B-1BA9-49D2-02C51AF18412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77473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84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do </a:t>
            </a:r>
            <a:r>
              <a:rPr lang="en-US" sz="1100" dirty="0" err="1"/>
              <a:t>satélite</a:t>
            </a:r>
            <a:r>
              <a:rPr lang="en-US" sz="1100" dirty="0"/>
              <a:t> </a:t>
            </a:r>
            <a:r>
              <a:rPr lang="en-US" sz="1100" dirty="0" smtClean="0"/>
              <a:t>84 </a:t>
            </a:r>
            <a:r>
              <a:rPr lang="en-US" sz="1100" dirty="0"/>
              <a:t>(</a:t>
            </a:r>
            <a:r>
              <a:rPr lang="en-US" sz="1100" dirty="0" err="1"/>
              <a:t>descrito</a:t>
            </a:r>
            <a:r>
              <a:rPr lang="en-US" sz="1100" dirty="0"/>
              <a:t> no </a:t>
            </a:r>
            <a:r>
              <a:rPr lang="en-US" sz="1100" i="1" dirty="0"/>
              <a:t>slide </a:t>
            </a:r>
            <a:r>
              <a:rPr lang="en-US" sz="1100" dirty="0" err="1"/>
              <a:t>seguinte</a:t>
            </a:r>
            <a:r>
              <a:rPr lang="en-US" sz="1100" dirty="0"/>
              <a:t>), 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/>
              <a:t>métricas</a:t>
            </a:r>
            <a:r>
              <a:rPr lang="en-US" sz="11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1805070" y="1816771"/>
            <a:ext cx="2556000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Final de Satélite</a:t>
            </a:r>
            <a:endParaRPr lang="pt-PT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8001" y="1816771"/>
            <a:ext cx="5568930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de Suporte ao Cálculo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805070" y="2259319"/>
            <a:ext cx="2556000" cy="3758876"/>
            <a:chOff x="498629" y="2259319"/>
            <a:chExt cx="2736000" cy="3758876"/>
          </a:xfrm>
        </p:grpSpPr>
        <p:sp>
          <p:nvSpPr>
            <p:cNvPr id="12" name="TextBox 11"/>
            <p:cNvSpPr txBox="1"/>
            <p:nvPr/>
          </p:nvSpPr>
          <p:spPr>
            <a:xfrm>
              <a:off x="498629" y="2692294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Purpose</a:t>
              </a:r>
              <a:r>
                <a:rPr lang="pt-PT" sz="1100" dirty="0"/>
                <a:t> ESG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8629" y="3125269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General specific purpose</a:t>
              </a:r>
              <a:endParaRPr lang="en-US" sz="1100" dirty="0" smtClean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98629" y="2259319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ESG subsector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8629" y="3558244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Specific</a:t>
              </a:r>
              <a:r>
                <a:rPr lang="pt-PT" sz="1100" dirty="0"/>
                <a:t> </a:t>
              </a:r>
              <a:r>
                <a:rPr lang="pt-PT" sz="1100" dirty="0" err="1"/>
                <a:t>eligible</a:t>
              </a:r>
              <a:endParaRPr lang="pt-PT" sz="11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98629" y="3991221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Specific</a:t>
              </a:r>
              <a:r>
                <a:rPr lang="pt-PT" sz="1100" dirty="0"/>
                <a:t> </a:t>
              </a:r>
              <a:r>
                <a:rPr lang="pt-PT" sz="1100" dirty="0" err="1"/>
                <a:t>sustainable</a:t>
              </a:r>
              <a:endParaRPr lang="pt-PT" sz="1100" dirty="0" smtClean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98629" y="4424194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Flag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</a:t>
              </a:r>
              <a:r>
                <a:rPr lang="pt-PT" sz="1100" dirty="0" err="1"/>
                <a:t>specialised</a:t>
              </a:r>
              <a:r>
                <a:rPr lang="pt-PT" sz="1100" dirty="0"/>
                <a:t> </a:t>
              </a:r>
              <a:r>
                <a:rPr lang="pt-PT" sz="1100" dirty="0" err="1"/>
                <a:t>lending</a:t>
              </a:r>
              <a:endParaRPr lang="pt-PT" sz="11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8629" y="4857169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Flag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NFRD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8629" y="5290146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Taxonomy </a:t>
              </a:r>
              <a:r>
                <a:rPr lang="en-US" sz="1100" dirty="0" err="1"/>
                <a:t>Elegible</a:t>
              </a:r>
              <a:r>
                <a:rPr lang="en-US" sz="1100" dirty="0"/>
                <a:t> Ratio</a:t>
              </a:r>
              <a:endParaRPr lang="pt-PT" sz="11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98629" y="5728754"/>
              <a:ext cx="273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Originated During Period</a:t>
              </a:r>
              <a:endParaRPr lang="pt-PT" sz="11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818000" y="2255379"/>
            <a:ext cx="2556000" cy="3320268"/>
            <a:chOff x="5635634" y="2255379"/>
            <a:chExt cx="2556000" cy="3320268"/>
          </a:xfrm>
        </p:grpSpPr>
        <p:sp>
          <p:nvSpPr>
            <p:cNvPr id="45" name="TextBox 44"/>
            <p:cNvSpPr txBox="1"/>
            <p:nvPr/>
          </p:nvSpPr>
          <p:spPr>
            <a:xfrm>
              <a:off x="5635634" y="26883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Taxonomy-eligible</a:t>
              </a:r>
              <a:r>
                <a:rPr lang="pt-PT" sz="1100" dirty="0"/>
                <a:t> Turnover CCM</a:t>
              </a:r>
              <a:endParaRPr lang="pt-PT" sz="1100" dirty="0" smtClean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635634" y="31213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Taxonomy-eligible</a:t>
              </a:r>
              <a:r>
                <a:rPr lang="pt-PT" sz="1100" dirty="0"/>
                <a:t> Turnover CCA</a:t>
              </a:r>
              <a:endParaRPr lang="pt-PT" sz="1100" dirty="0" smtClean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635634" y="225537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European</a:t>
              </a:r>
              <a:r>
                <a:rPr lang="pt-PT" sz="1100" dirty="0"/>
                <a:t> </a:t>
              </a:r>
              <a:r>
                <a:rPr lang="pt-PT" sz="1100" dirty="0" err="1"/>
                <a:t>Union</a:t>
              </a:r>
              <a:endParaRPr lang="pt-PT" sz="1100" dirty="0" smtClean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635634" y="355430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Taxonomy-eligible</a:t>
              </a:r>
              <a:r>
                <a:rPr lang="pt-PT" sz="1100" dirty="0"/>
                <a:t> </a:t>
              </a:r>
              <a:r>
                <a:rPr lang="pt-PT" sz="1100" dirty="0" err="1"/>
                <a:t>Capex</a:t>
              </a:r>
              <a:r>
                <a:rPr lang="pt-PT" sz="1100" dirty="0"/>
                <a:t> CCM</a:t>
              </a:r>
              <a:endParaRPr lang="pt-PT" sz="1100" dirty="0" smtClean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35634" y="3987281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Taxonomy-eligible</a:t>
              </a:r>
              <a:r>
                <a:rPr lang="pt-PT" sz="1100" dirty="0"/>
                <a:t> </a:t>
              </a:r>
              <a:r>
                <a:rPr lang="pt-PT" sz="1100" dirty="0" err="1"/>
                <a:t>Capex</a:t>
              </a:r>
              <a:r>
                <a:rPr lang="pt-PT" sz="1100" dirty="0"/>
                <a:t> CCA</a:t>
              </a:r>
              <a:endParaRPr lang="pt-PT" sz="1100" dirty="0" smtClean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635634" y="44202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Gross </a:t>
              </a:r>
              <a:r>
                <a:rPr lang="pt-PT" sz="1100" dirty="0" err="1"/>
                <a:t>Carrying</a:t>
              </a:r>
              <a:r>
                <a:rPr lang="pt-PT" sz="1100" dirty="0"/>
                <a:t> </a:t>
              </a:r>
              <a:r>
                <a:rPr lang="pt-PT" sz="1100" dirty="0" err="1"/>
                <a:t>Amount</a:t>
              </a:r>
              <a:endParaRPr lang="pt-PT" sz="1100" dirty="0" smtClean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635634" y="48532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Type of counterparty</a:t>
              </a:r>
              <a:endParaRPr lang="pt-PT" sz="1100" dirty="0" smtClean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635634" y="5286206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Type of product</a:t>
              </a:r>
              <a:endParaRPr lang="pt-PT" sz="1100" dirty="0" smtClean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7830930" y="2255379"/>
            <a:ext cx="2556000" cy="3324207"/>
            <a:chOff x="8515214" y="2255379"/>
            <a:chExt cx="2556000" cy="3324207"/>
          </a:xfrm>
        </p:grpSpPr>
        <p:sp>
          <p:nvSpPr>
            <p:cNvPr id="28" name="TextBox 27"/>
            <p:cNvSpPr txBox="1"/>
            <p:nvPr/>
          </p:nvSpPr>
          <p:spPr>
            <a:xfrm>
              <a:off x="8515214" y="26883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Type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colateral</a:t>
              </a:r>
              <a:endParaRPr lang="pt-PT" sz="1100" dirty="0" smtClean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15214" y="31213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Use </a:t>
              </a:r>
              <a:r>
                <a:rPr lang="pt-PT" sz="1100" dirty="0" err="1"/>
                <a:t>of</a:t>
              </a:r>
              <a:r>
                <a:rPr lang="pt-PT" sz="1100" dirty="0"/>
                <a:t> </a:t>
              </a:r>
              <a:r>
                <a:rPr lang="pt-PT" sz="1100" dirty="0" err="1"/>
                <a:t>proceeds</a:t>
              </a:r>
              <a:endParaRPr lang="pt-PT" sz="1100" dirty="0" smtClean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515214" y="225537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Type</a:t>
              </a:r>
              <a:r>
                <a:rPr lang="pt-PT" sz="1100" dirty="0"/>
                <a:t> </a:t>
              </a:r>
              <a:r>
                <a:rPr lang="pt-PT" sz="1100" dirty="0" err="1"/>
                <a:t>of</a:t>
              </a:r>
              <a:r>
                <a:rPr lang="pt-PT" sz="1100" dirty="0"/>
                <a:t> </a:t>
              </a:r>
              <a:r>
                <a:rPr lang="pt-PT" sz="1100" dirty="0" err="1"/>
                <a:t>asset</a:t>
              </a:r>
              <a:endParaRPr lang="pt-PT" sz="1100" dirty="0" smtClean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15214" y="355430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Flag</a:t>
              </a:r>
              <a:r>
                <a:rPr lang="pt-PT" sz="1100" dirty="0"/>
                <a:t> </a:t>
              </a:r>
              <a:r>
                <a:rPr lang="pt-PT" sz="1100" dirty="0" err="1"/>
                <a:t>aligned</a:t>
              </a:r>
              <a:r>
                <a:rPr lang="pt-PT" sz="1100" dirty="0"/>
                <a:t> </a:t>
              </a:r>
              <a:r>
                <a:rPr lang="pt-PT" sz="1100" dirty="0" err="1"/>
                <a:t>under</a:t>
              </a:r>
              <a:r>
                <a:rPr lang="pt-PT" sz="1100" dirty="0"/>
                <a:t> SFCS</a:t>
              </a:r>
              <a:endParaRPr lang="pt-PT" sz="1100" dirty="0" smtClean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515214" y="3987281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 err="1"/>
                <a:t>Environmental</a:t>
              </a:r>
              <a:r>
                <a:rPr lang="pt-PT" sz="1100" dirty="0"/>
                <a:t> </a:t>
              </a:r>
              <a:r>
                <a:rPr lang="pt-PT" sz="1100" dirty="0" err="1"/>
                <a:t>objective</a:t>
              </a:r>
              <a:endParaRPr lang="pt-PT" sz="1100" dirty="0" smtClean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15214" y="44202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NACE </a:t>
              </a:r>
              <a:r>
                <a:rPr lang="pt-PT" sz="1100" dirty="0" err="1"/>
                <a:t>main</a:t>
              </a:r>
              <a:r>
                <a:rPr lang="pt-PT" sz="1100" dirty="0"/>
                <a:t> </a:t>
              </a:r>
              <a:r>
                <a:rPr lang="pt-PT" sz="1100" dirty="0" err="1"/>
                <a:t>code</a:t>
              </a:r>
              <a:endParaRPr lang="pt-PT" sz="1100" dirty="0" smtClean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515214" y="48532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NACE ESG</a:t>
              </a:r>
              <a:endParaRPr lang="pt-PT" sz="1100" dirty="0" smtClean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515214" y="5290145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/>
                <a:t>sfcs_green_activity_comgloval</a:t>
              </a:r>
              <a:endParaRPr lang="pt-PT" sz="11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83159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84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36695" y="2441243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52" name="Rectangle 51"/>
          <p:cNvSpPr/>
          <p:nvPr/>
        </p:nvSpPr>
        <p:spPr>
          <a:xfrm>
            <a:off x="2925285" y="2450738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54" name="Rectangle 53"/>
          <p:cNvSpPr/>
          <p:nvPr/>
        </p:nvSpPr>
        <p:spPr>
          <a:xfrm>
            <a:off x="2923751" y="3690225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sp>
        <p:nvSpPr>
          <p:cNvPr id="56" name="Rectangle 55"/>
          <p:cNvSpPr/>
          <p:nvPr/>
        </p:nvSpPr>
        <p:spPr>
          <a:xfrm>
            <a:off x="784517" y="3694545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3171136" y="4181233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549" y="4128267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3622090" y="4128266"/>
            <a:ext cx="287933" cy="287933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3133040" y="4853333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76CBAD-FAC7-4357-6A1A-DC59C9D62D38}"/>
              </a:ext>
            </a:extLst>
          </p:cNvPr>
          <p:cNvGrpSpPr/>
          <p:nvPr/>
        </p:nvGrpSpPr>
        <p:grpSpPr>
          <a:xfrm>
            <a:off x="5517930" y="4130043"/>
            <a:ext cx="2486918" cy="1256264"/>
            <a:chOff x="7602219" y="4111463"/>
            <a:chExt cx="2486918" cy="1256264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7998045" y="4164429"/>
              <a:ext cx="647850" cy="647850"/>
              <a:chOff x="455122" y="4977513"/>
              <a:chExt cx="648000" cy="648000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8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19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0704" y="4111463"/>
              <a:ext cx="241113" cy="241113"/>
            </a:xfrm>
            <a:prstGeom prst="rect">
              <a:avLst/>
            </a:prstGeom>
          </p:spPr>
        </p:pic>
        <p:pic>
          <p:nvPicPr>
            <p:cNvPr id="120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8448999" y="4111463"/>
              <a:ext cx="287933" cy="287933"/>
            </a:xfrm>
            <a:prstGeom prst="rect">
              <a:avLst/>
            </a:prstGeom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7894831" y="4834754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CTRLGEST</a:t>
              </a:r>
              <a:endParaRPr lang="en-US" sz="9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7602219" y="4998395"/>
              <a:ext cx="2486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bu_ctrlgest.prod_esg_sfcs_2023</a:t>
              </a:r>
              <a:endParaRPr lang="en-US" sz="900" dirty="0"/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2775310" y="5024293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  <a:endParaRPr lang="pt-PT" sz="9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cd_estruturais.tat91_tabelas</a:t>
            </a:r>
            <a:endParaRPr lang="en-US" sz="900" dirty="0"/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148624" y="2291373"/>
            <a:ext cx="217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20221222 Pillar 3 ESG - eligibility ratios.v5.xlsx</a:t>
            </a:r>
            <a:endParaRPr lang="en-US" sz="8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92609" y="2727016"/>
            <a:ext cx="28762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Ficheiro  “xlsx” que contém informação sobre os rácios de elegibilidade para as operações CIB e não CIB.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917A12-79FC-5AB7-B05A-4DA2A8BBC628}"/>
              </a:ext>
            </a:extLst>
          </p:cNvPr>
          <p:cNvGrpSpPr/>
          <p:nvPr/>
        </p:nvGrpSpPr>
        <p:grpSpPr>
          <a:xfrm>
            <a:off x="549559" y="4138347"/>
            <a:ext cx="2436270" cy="1940818"/>
            <a:chOff x="8037588" y="1287947"/>
            <a:chExt cx="2436270" cy="19408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5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6"/>
              <a:ext cx="243627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cd_captools.ct003_univ_cli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cd_captools.kt_chaves_mis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cd_captools.kt_chaves_bdr 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cd_captools.ct013_rwa_princ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cd_captools.ct071_rwa_gr_ec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cd_captools.ct070_univ_gr_cli</a:t>
              </a:r>
            </a:p>
          </p:txBody>
        </p:sp>
        <p:pic>
          <p:nvPicPr>
            <p:cNvPr id="15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5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6E8DA83-9C0A-144B-8141-2ED9BD6985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16943" y="161368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D74D45-79C3-E2DE-DEB7-4A37FE37B18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19" y="1574609"/>
            <a:ext cx="238885" cy="238885"/>
          </a:xfrm>
          <a:prstGeom prst="ellipse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C6261-5BE0-22C3-5D6C-451397857E30}"/>
              </a:ext>
            </a:extLst>
          </p:cNvPr>
          <p:cNvSpPr/>
          <p:nvPr/>
        </p:nvSpPr>
        <p:spPr>
          <a:xfrm>
            <a:off x="545424" y="1274276"/>
            <a:ext cx="7047177" cy="49187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8" name="Elbow Connector 69">
            <a:extLst>
              <a:ext uri="{FF2B5EF4-FFF2-40B4-BE49-F238E27FC236}">
                <a16:creationId xmlns:a16="http://schemas.microsoft.com/office/drawing/2014/main" id="{264BE87F-4BB6-A8A6-2FD0-A41FF918653A}"/>
              </a:ext>
            </a:extLst>
          </p:cNvPr>
          <p:cNvCxnSpPr>
            <a:cxnSpLocks/>
          </p:cNvCxnSpPr>
          <p:nvPr/>
        </p:nvCxnSpPr>
        <p:spPr>
          <a:xfrm>
            <a:off x="7587361" y="3388892"/>
            <a:ext cx="540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D5316C-B725-99F5-ABB4-3CB5F62F267D}"/>
              </a:ext>
            </a:extLst>
          </p:cNvPr>
          <p:cNvGrpSpPr/>
          <p:nvPr/>
        </p:nvGrpSpPr>
        <p:grpSpPr>
          <a:xfrm>
            <a:off x="947895" y="1578450"/>
            <a:ext cx="706458" cy="680862"/>
            <a:chOff x="11007832" y="3054746"/>
            <a:chExt cx="706458" cy="68086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0BE5B6C-FA16-E38B-1947-48859D7605D4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ECD9D1E-5974-0790-6C63-26DDC3E72763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1" name="Graphic 119" descr="Database with solid fill">
                <a:extLst>
                  <a:ext uri="{FF2B5EF4-FFF2-40B4-BE49-F238E27FC236}">
                    <a16:creationId xmlns:a16="http://schemas.microsoft.com/office/drawing/2014/main" id="{A1B209D2-9202-9343-5F32-14B12CEEB3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29" name="Graphic 116" descr="Single gear with solid fill">
              <a:extLst>
                <a:ext uri="{FF2B5EF4-FFF2-40B4-BE49-F238E27FC236}">
                  <a16:creationId xmlns:a16="http://schemas.microsoft.com/office/drawing/2014/main" id="{4C47ECCF-B117-8D1C-AB6E-B6454EE41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41146E-ADF7-FB47-28DE-444F5F2FAC05}"/>
              </a:ext>
            </a:extLst>
          </p:cNvPr>
          <p:cNvGrpSpPr/>
          <p:nvPr/>
        </p:nvGrpSpPr>
        <p:grpSpPr>
          <a:xfrm>
            <a:off x="3166223" y="1580668"/>
            <a:ext cx="706458" cy="680862"/>
            <a:chOff x="11007832" y="3054746"/>
            <a:chExt cx="706458" cy="6808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EC379E6-7952-E177-8EB4-C5C48E29D7D9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7415F4A-EBE9-D147-A1E9-C7D605F82C4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6" name="Graphic 119" descr="Database with solid fill">
                <a:extLst>
                  <a:ext uri="{FF2B5EF4-FFF2-40B4-BE49-F238E27FC236}">
                    <a16:creationId xmlns:a16="http://schemas.microsoft.com/office/drawing/2014/main" id="{6C8E4F27-6382-46C0-C146-B6C2FD64A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4" name="Graphic 116" descr="Single gear with solid fill">
              <a:extLst>
                <a:ext uri="{FF2B5EF4-FFF2-40B4-BE49-F238E27FC236}">
                  <a16:creationId xmlns:a16="http://schemas.microsoft.com/office/drawing/2014/main" id="{52B415B0-A405-4585-E35F-DC4BBF557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AE5DA7-8F0C-9C39-11E9-64D381C67452}"/>
              </a:ext>
            </a:extLst>
          </p:cNvPr>
          <p:cNvGrpSpPr/>
          <p:nvPr/>
        </p:nvGrpSpPr>
        <p:grpSpPr>
          <a:xfrm>
            <a:off x="3166223" y="2814831"/>
            <a:ext cx="706458" cy="680862"/>
            <a:chOff x="11007832" y="3054746"/>
            <a:chExt cx="706458" cy="68086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6D36C55-93B2-4481-2EDE-901BA0945E27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D710772-9847-BF35-9206-774DCD0A81A1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1" name="Graphic 119" descr="Database with solid fill">
                <a:extLst>
                  <a:ext uri="{FF2B5EF4-FFF2-40B4-BE49-F238E27FC236}">
                    <a16:creationId xmlns:a16="http://schemas.microsoft.com/office/drawing/2014/main" id="{B5365419-70A4-ADAD-1F99-C8DAA3C8A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9" name="Graphic 116" descr="Single gear with solid fill">
              <a:extLst>
                <a:ext uri="{FF2B5EF4-FFF2-40B4-BE49-F238E27FC236}">
                  <a16:creationId xmlns:a16="http://schemas.microsoft.com/office/drawing/2014/main" id="{D6D4F086-90EC-0D36-194A-A3575AC44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3F13DC-BCF3-3471-E1D6-CBA2BDEC7617}"/>
              </a:ext>
            </a:extLst>
          </p:cNvPr>
          <p:cNvGrpSpPr/>
          <p:nvPr/>
        </p:nvGrpSpPr>
        <p:grpSpPr>
          <a:xfrm>
            <a:off x="966595" y="2784174"/>
            <a:ext cx="706458" cy="680862"/>
            <a:chOff x="11007832" y="3054746"/>
            <a:chExt cx="706458" cy="68086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0F0715B-06E2-5083-3151-EEDF7D93E24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00846CD-3C5D-8B8B-9E2A-C43F12EA7D32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6" name="Graphic 119" descr="Database with solid fill">
                <a:extLst>
                  <a:ext uri="{FF2B5EF4-FFF2-40B4-BE49-F238E27FC236}">
                    <a16:creationId xmlns:a16="http://schemas.microsoft.com/office/drawing/2014/main" id="{576E57C4-5850-C7DE-E377-EC19817F6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4" name="Graphic 116" descr="Single gear with solid fill">
              <a:extLst>
                <a:ext uri="{FF2B5EF4-FFF2-40B4-BE49-F238E27FC236}">
                  <a16:creationId xmlns:a16="http://schemas.microsoft.com/office/drawing/2014/main" id="{7A963E21-B64E-1FEB-D62F-72AE830AB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pic>
        <p:nvPicPr>
          <p:cNvPr id="64" name="Picture 3">
            <a:extLst>
              <a:ext uri="{FF2B5EF4-FFF2-40B4-BE49-F238E27FC236}">
                <a16:creationId xmlns:a16="http://schemas.microsoft.com/office/drawing/2014/main" id="{D8B5FC0D-9A7E-6E3B-5446-DB957DB24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4F3EBF4-B614-F1B2-96D0-FC84340560AD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9">
            <a:extLst>
              <a:ext uri="{FF2B5EF4-FFF2-40B4-BE49-F238E27FC236}">
                <a16:creationId xmlns:a16="http://schemas.microsoft.com/office/drawing/2014/main" id="{C4FD80F9-70B5-CB9E-F9D7-9B8C4354F7F2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4FF19D8-0473-0201-833A-9CB01B7CF962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84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AC5E53-FEC1-9B6B-A8F4-291DC41D66B7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60" name="Picture 4">
              <a:extLst>
                <a:ext uri="{FF2B5EF4-FFF2-40B4-BE49-F238E27FC236}">
                  <a16:creationId xmlns:a16="http://schemas.microsoft.com/office/drawing/2014/main" id="{A4651A38-078F-E33F-C9DE-2022F2399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Picture 139" descr="Related image">
              <a:extLst>
                <a:ext uri="{FF2B5EF4-FFF2-40B4-BE49-F238E27FC236}">
                  <a16:creationId xmlns:a16="http://schemas.microsoft.com/office/drawing/2014/main" id="{27E3B98D-7D71-04D0-0034-74C31EB59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0D0CC2-FE10-A76B-5FBF-6968E82D3DCC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257927A-9296-1176-FCFA-99645FBA8BBA}"/>
              </a:ext>
            </a:extLst>
          </p:cNvPr>
          <p:cNvSpPr txBox="1"/>
          <p:nvPr/>
        </p:nvSpPr>
        <p:spPr>
          <a:xfrm>
            <a:off x="853061" y="2292826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911BB0-90AB-4709-76D8-AADD1FA71C22}"/>
              </a:ext>
            </a:extLst>
          </p:cNvPr>
          <p:cNvSpPr txBox="1"/>
          <p:nvPr/>
        </p:nvSpPr>
        <p:spPr>
          <a:xfrm>
            <a:off x="3044573" y="229892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74AA7-4643-ED40-C44D-874F652BB9C1}"/>
              </a:ext>
            </a:extLst>
          </p:cNvPr>
          <p:cNvSpPr txBox="1"/>
          <p:nvPr/>
        </p:nvSpPr>
        <p:spPr>
          <a:xfrm>
            <a:off x="3042884" y="352968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7B8777-F7F7-2562-51C4-769D7E58247B}"/>
              </a:ext>
            </a:extLst>
          </p:cNvPr>
          <p:cNvSpPr txBox="1"/>
          <p:nvPr/>
        </p:nvSpPr>
        <p:spPr>
          <a:xfrm>
            <a:off x="890651" y="3523907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6DE60D-D420-7BC7-3F65-392FDE1D7FE9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937849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ESG |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93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/>
              <a:t>O </a:t>
            </a:r>
            <a:r>
              <a:rPr lang="en-US" sz="1100" dirty="0" err="1"/>
              <a:t>processo</a:t>
            </a:r>
            <a:r>
              <a:rPr lang="en-US" sz="1100" dirty="0"/>
              <a:t> de </a:t>
            </a:r>
            <a:r>
              <a:rPr lang="en-US" sz="1100" dirty="0" err="1"/>
              <a:t>geração</a:t>
            </a:r>
            <a:r>
              <a:rPr lang="en-US" sz="1100" dirty="0"/>
              <a:t> do </a:t>
            </a:r>
            <a:r>
              <a:rPr lang="en-US" sz="1100" dirty="0" err="1"/>
              <a:t>satélite</a:t>
            </a:r>
            <a:r>
              <a:rPr lang="en-US" sz="1100" dirty="0"/>
              <a:t> </a:t>
            </a:r>
            <a:r>
              <a:rPr lang="en-US" sz="1100" dirty="0" smtClean="0"/>
              <a:t>93 </a:t>
            </a:r>
            <a:r>
              <a:rPr lang="en-US" sz="1100" dirty="0"/>
              <a:t>(</a:t>
            </a:r>
            <a:r>
              <a:rPr lang="en-US" sz="1100" dirty="0" err="1"/>
              <a:t>descrito</a:t>
            </a:r>
            <a:r>
              <a:rPr lang="en-US" sz="1100" dirty="0"/>
              <a:t> no </a:t>
            </a:r>
            <a:r>
              <a:rPr lang="en-US" sz="1100" i="1" dirty="0"/>
              <a:t>slide </a:t>
            </a:r>
            <a:r>
              <a:rPr lang="en-US" sz="1100" dirty="0" err="1"/>
              <a:t>seguinte</a:t>
            </a:r>
            <a:r>
              <a:rPr lang="en-US" sz="1100" dirty="0"/>
              <a:t>), visa o </a:t>
            </a:r>
            <a:r>
              <a:rPr lang="en-US" sz="1100" dirty="0" err="1"/>
              <a:t>reporte</a:t>
            </a:r>
            <a:r>
              <a:rPr lang="en-US" sz="1100" dirty="0"/>
              <a:t> das </a:t>
            </a:r>
            <a:r>
              <a:rPr lang="en-US" sz="1100" dirty="0" err="1"/>
              <a:t>seguintes</a:t>
            </a:r>
            <a:r>
              <a:rPr lang="en-US" sz="1100" dirty="0"/>
              <a:t> </a:t>
            </a:r>
            <a:r>
              <a:rPr lang="en-US" sz="1100" dirty="0" err="1"/>
              <a:t>métricas</a:t>
            </a:r>
            <a:r>
              <a:rPr lang="en-US" sz="1100" dirty="0"/>
              <a:t> ESG:</a:t>
            </a:r>
          </a:p>
          <a:p>
            <a:endParaRPr lang="en-US" sz="10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1805070" y="1816771"/>
            <a:ext cx="2556000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Final de Satélite</a:t>
            </a:r>
            <a:endParaRPr lang="pt-PT" sz="11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8001" y="1816771"/>
            <a:ext cx="5568930" cy="289441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PT" sz="1100" b="1" dirty="0" smtClean="0">
                <a:solidFill>
                  <a:schemeClr val="bg1"/>
                </a:solidFill>
              </a:rPr>
              <a:t>Métrica de Suporte ao Cálculo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5070" y="269229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Source</a:t>
            </a:r>
            <a:r>
              <a:rPr lang="pt-PT" sz="1100" dirty="0"/>
              <a:t> </a:t>
            </a:r>
            <a:r>
              <a:rPr lang="pt-PT" sz="1100" dirty="0" err="1"/>
              <a:t>emissions</a:t>
            </a:r>
            <a:endParaRPr lang="pt-PT" sz="1100" dirty="0"/>
          </a:p>
        </p:txBody>
      </p:sp>
      <p:sp>
        <p:nvSpPr>
          <p:cNvPr id="15" name="TextBox 14"/>
          <p:cNvSpPr txBox="1"/>
          <p:nvPr/>
        </p:nvSpPr>
        <p:spPr>
          <a:xfrm>
            <a:off x="1805070" y="312526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Data Quality Score</a:t>
            </a:r>
            <a:endParaRPr lang="en-US" sz="11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1805070" y="225931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Calculation</a:t>
            </a:r>
            <a:r>
              <a:rPr lang="pt-PT" sz="1100" dirty="0"/>
              <a:t> </a:t>
            </a:r>
            <a:r>
              <a:rPr lang="pt-PT" sz="1100" dirty="0" err="1"/>
              <a:t>approach</a:t>
            </a:r>
            <a:endParaRPr lang="pt-PT" sz="1100" dirty="0"/>
          </a:p>
        </p:txBody>
      </p:sp>
      <p:sp>
        <p:nvSpPr>
          <p:cNvPr id="22" name="TextBox 21"/>
          <p:cNvSpPr txBox="1"/>
          <p:nvPr/>
        </p:nvSpPr>
        <p:spPr>
          <a:xfrm>
            <a:off x="1805070" y="355824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100" dirty="0" err="1"/>
              <a:t>Client</a:t>
            </a:r>
            <a:r>
              <a:rPr lang="pt-PT" sz="1100" dirty="0"/>
              <a:t> </a:t>
            </a:r>
            <a:r>
              <a:rPr lang="pt-PT" sz="1100" dirty="0" err="1"/>
              <a:t>emission</a:t>
            </a:r>
            <a:r>
              <a:rPr lang="pt-PT" sz="1100" dirty="0"/>
              <a:t> </a:t>
            </a:r>
            <a:r>
              <a:rPr lang="pt-PT" sz="1100" dirty="0" err="1"/>
              <a:t>area</a:t>
            </a:r>
            <a:endParaRPr lang="pt-PT" sz="1100" dirty="0"/>
          </a:p>
        </p:txBody>
      </p:sp>
      <p:sp>
        <p:nvSpPr>
          <p:cNvPr id="45" name="TextBox 44"/>
          <p:cNvSpPr txBox="1"/>
          <p:nvPr/>
        </p:nvSpPr>
        <p:spPr>
          <a:xfrm>
            <a:off x="4818000" y="268835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Financed  Emissions: Scope 2</a:t>
            </a:r>
            <a:endParaRPr lang="pt-PT" sz="1100" dirty="0" smtClean="0"/>
          </a:p>
        </p:txBody>
      </p:sp>
      <p:sp>
        <p:nvSpPr>
          <p:cNvPr id="46" name="TextBox 45"/>
          <p:cNvSpPr txBox="1"/>
          <p:nvPr/>
        </p:nvSpPr>
        <p:spPr>
          <a:xfrm>
            <a:off x="4818000" y="312132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Financed  Emissions: Scope 3</a:t>
            </a:r>
            <a:endParaRPr lang="pt-PT" sz="1100" dirty="0" smtClean="0"/>
          </a:p>
        </p:txBody>
      </p:sp>
      <p:sp>
        <p:nvSpPr>
          <p:cNvPr id="47" name="TextBox 46"/>
          <p:cNvSpPr txBox="1"/>
          <p:nvPr/>
        </p:nvSpPr>
        <p:spPr>
          <a:xfrm>
            <a:off x="4818000" y="225537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Financed  Emissions: Scope 1</a:t>
            </a:r>
            <a:endParaRPr lang="pt-PT" sz="1100" dirty="0" smtClean="0"/>
          </a:p>
        </p:txBody>
      </p:sp>
      <p:sp>
        <p:nvSpPr>
          <p:cNvPr id="48" name="TextBox 47"/>
          <p:cNvSpPr txBox="1"/>
          <p:nvPr/>
        </p:nvSpPr>
        <p:spPr>
          <a:xfrm>
            <a:off x="4818000" y="355430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</a:t>
            </a:r>
            <a:r>
              <a:rPr lang="en-US" sz="1100" dirty="0" smtClean="0"/>
              <a:t>Rep. </a:t>
            </a:r>
            <a:r>
              <a:rPr lang="en-US" sz="1100" dirty="0" err="1" smtClean="0"/>
              <a:t>Emis</a:t>
            </a:r>
            <a:r>
              <a:rPr lang="en-US" sz="1100" dirty="0" smtClean="0"/>
              <a:t>.- 1</a:t>
            </a:r>
            <a:r>
              <a:rPr lang="en-US" sz="1100" dirty="0"/>
              <a:t>: flag </a:t>
            </a:r>
            <a:r>
              <a:rPr lang="en-US" sz="1100" dirty="0" smtClean="0"/>
              <a:t>original/</a:t>
            </a:r>
            <a:r>
              <a:rPr lang="en-US" sz="1100" dirty="0" err="1" smtClean="0"/>
              <a:t>calc</a:t>
            </a:r>
            <a:endParaRPr lang="pt-PT" sz="1100" dirty="0" smtClean="0"/>
          </a:p>
        </p:txBody>
      </p:sp>
      <p:sp>
        <p:nvSpPr>
          <p:cNvPr id="49" name="TextBox 48"/>
          <p:cNvSpPr txBox="1"/>
          <p:nvPr/>
        </p:nvSpPr>
        <p:spPr>
          <a:xfrm>
            <a:off x="4818000" y="3987281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Rep. </a:t>
            </a:r>
            <a:r>
              <a:rPr lang="en-US" sz="1100" dirty="0" err="1"/>
              <a:t>Emis</a:t>
            </a:r>
            <a:r>
              <a:rPr lang="en-US" sz="1100" dirty="0"/>
              <a:t>.- </a:t>
            </a:r>
            <a:r>
              <a:rPr lang="en-US" sz="1100" dirty="0" smtClean="0"/>
              <a:t>2: </a:t>
            </a:r>
            <a:r>
              <a:rPr lang="en-US" sz="1100" dirty="0"/>
              <a:t>flag original/</a:t>
            </a:r>
            <a:r>
              <a:rPr lang="en-US" sz="1100" dirty="0" err="1"/>
              <a:t>calc</a:t>
            </a:r>
            <a:endParaRPr lang="pt-PT" sz="1100" dirty="0"/>
          </a:p>
        </p:txBody>
      </p:sp>
      <p:sp>
        <p:nvSpPr>
          <p:cNvPr id="50" name="TextBox 49"/>
          <p:cNvSpPr txBox="1"/>
          <p:nvPr/>
        </p:nvSpPr>
        <p:spPr>
          <a:xfrm>
            <a:off x="4818000" y="4420254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Rep. </a:t>
            </a:r>
            <a:r>
              <a:rPr lang="en-US" sz="1100" dirty="0" err="1"/>
              <a:t>Emis</a:t>
            </a:r>
            <a:r>
              <a:rPr lang="en-US" sz="1100" dirty="0"/>
              <a:t>.- </a:t>
            </a:r>
            <a:r>
              <a:rPr lang="en-US" sz="1100" dirty="0" smtClean="0"/>
              <a:t>3: </a:t>
            </a:r>
            <a:r>
              <a:rPr lang="en-US" sz="1100" dirty="0"/>
              <a:t>flag original/</a:t>
            </a:r>
            <a:r>
              <a:rPr lang="en-US" sz="1100" dirty="0" err="1"/>
              <a:t>calc</a:t>
            </a:r>
            <a:endParaRPr lang="pt-PT" sz="1100" dirty="0"/>
          </a:p>
        </p:txBody>
      </p:sp>
      <p:sp>
        <p:nvSpPr>
          <p:cNvPr id="51" name="TextBox 50"/>
          <p:cNvSpPr txBox="1"/>
          <p:nvPr/>
        </p:nvSpPr>
        <p:spPr>
          <a:xfrm>
            <a:off x="4818000" y="485322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reported emissions: Scope 1</a:t>
            </a:r>
            <a:endParaRPr lang="pt-PT" sz="1100" dirty="0" smtClean="0"/>
          </a:p>
        </p:txBody>
      </p:sp>
      <p:sp>
        <p:nvSpPr>
          <p:cNvPr id="52" name="TextBox 51"/>
          <p:cNvSpPr txBox="1"/>
          <p:nvPr/>
        </p:nvSpPr>
        <p:spPr>
          <a:xfrm>
            <a:off x="4818000" y="5286206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reported emissions: Scope </a:t>
            </a:r>
            <a:r>
              <a:rPr lang="en-US" sz="1100" dirty="0" smtClean="0"/>
              <a:t>2</a:t>
            </a:r>
            <a:endParaRPr lang="pt-PT" sz="1100" dirty="0" smtClean="0"/>
          </a:p>
        </p:txBody>
      </p:sp>
      <p:grpSp>
        <p:nvGrpSpPr>
          <p:cNvPr id="14" name="Group 13"/>
          <p:cNvGrpSpPr/>
          <p:nvPr/>
        </p:nvGrpSpPr>
        <p:grpSpPr>
          <a:xfrm>
            <a:off x="7830930" y="2255379"/>
            <a:ext cx="2556000" cy="3324207"/>
            <a:chOff x="8515214" y="2255379"/>
            <a:chExt cx="2556000" cy="3324207"/>
          </a:xfrm>
        </p:grpSpPr>
        <p:sp>
          <p:nvSpPr>
            <p:cNvPr id="28" name="TextBox 27"/>
            <p:cNvSpPr txBox="1"/>
            <p:nvPr/>
          </p:nvSpPr>
          <p:spPr>
            <a:xfrm>
              <a:off x="8515214" y="26883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DQ score </a:t>
              </a:r>
              <a:r>
                <a:rPr lang="pt-PT" sz="1100" dirty="0" err="1"/>
                <a:t>emissions</a:t>
              </a:r>
              <a:r>
                <a:rPr lang="pt-PT" sz="1100" dirty="0"/>
                <a:t> scope 2</a:t>
              </a:r>
              <a:endParaRPr lang="pt-PT" sz="1100" dirty="0" smtClean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515214" y="31213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DQ score </a:t>
              </a:r>
              <a:r>
                <a:rPr lang="pt-PT" sz="1100" dirty="0" err="1"/>
                <a:t>emissions</a:t>
              </a:r>
              <a:r>
                <a:rPr lang="pt-PT" sz="1100" dirty="0"/>
                <a:t> scope 3</a:t>
              </a:r>
              <a:endParaRPr lang="pt-PT" sz="1100" dirty="0" smtClean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515214" y="225537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1100" dirty="0"/>
                <a:t>DQ score </a:t>
              </a:r>
              <a:r>
                <a:rPr lang="pt-PT" sz="1100" dirty="0" err="1"/>
                <a:t>emissions</a:t>
              </a:r>
              <a:r>
                <a:rPr lang="pt-PT" sz="1100" dirty="0"/>
                <a:t> scope 1</a:t>
              </a:r>
              <a:endParaRPr lang="pt-PT" sz="1100" dirty="0" smtClean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515214" y="355430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Gross carrying amount scope </a:t>
              </a:r>
              <a:r>
                <a:rPr lang="en-US" sz="1100" dirty="0" smtClean="0"/>
                <a:t>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515214" y="3987281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Gross carrying amount scope 2</a:t>
              </a:r>
              <a:endParaRPr lang="pt-PT" sz="1100" dirty="0" smtClean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515214" y="4420254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Gross carrying amount scope </a:t>
              </a:r>
              <a:r>
                <a:rPr lang="en-US" sz="1100" dirty="0" smtClean="0"/>
                <a:t>3</a:t>
              </a:r>
              <a:endParaRPr lang="pt-PT" sz="1100" dirty="0" smtClean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8515214" y="4853229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European Union</a:t>
              </a:r>
              <a:endParaRPr lang="pt-PT" sz="1100" dirty="0" smtClean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515214" y="5290145"/>
              <a:ext cx="2556000" cy="2894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NACE ESG</a:t>
              </a:r>
              <a:endParaRPr lang="pt-PT" sz="1100" dirty="0" smtClean="0"/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4818000" y="5714229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GHG reported emissions: Scope </a:t>
            </a:r>
            <a:r>
              <a:rPr lang="en-US" sz="1100" dirty="0" smtClean="0"/>
              <a:t>3</a:t>
            </a:r>
            <a:endParaRPr lang="pt-PT" sz="1100" dirty="0" smtClean="0"/>
          </a:p>
        </p:txBody>
      </p:sp>
      <p:sp>
        <p:nvSpPr>
          <p:cNvPr id="36" name="TextBox 35"/>
          <p:cNvSpPr txBox="1"/>
          <p:nvPr/>
        </p:nvSpPr>
        <p:spPr>
          <a:xfrm>
            <a:off x="7830930" y="5713458"/>
            <a:ext cx="2556000" cy="28944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NACE main code</a:t>
            </a:r>
            <a:endParaRPr lang="pt-PT" sz="1100" dirty="0" smtClean="0"/>
          </a:p>
        </p:txBody>
      </p:sp>
    </p:spTree>
    <p:extLst>
      <p:ext uri="{BB962C8B-B14F-4D97-AF65-F5344CB8AC3E}">
        <p14:creationId xmlns:p14="http://schemas.microsoft.com/office/powerpoint/2010/main" val="520462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solidFill>
                  <a:srgbClr val="FF0000"/>
                </a:solidFill>
              </a:rPr>
              <a:t>Fluxo Satélite 93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01578" y="2264593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76" name="Rectangle 75"/>
          <p:cNvSpPr/>
          <p:nvPr/>
        </p:nvSpPr>
        <p:spPr>
          <a:xfrm>
            <a:off x="3589510" y="2247571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77" name="Rectangle 76"/>
          <p:cNvSpPr/>
          <p:nvPr/>
        </p:nvSpPr>
        <p:spPr>
          <a:xfrm>
            <a:off x="806441" y="3585420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039239" y="4511177"/>
            <a:ext cx="647850" cy="64785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98" y="4458211"/>
            <a:ext cx="241113" cy="241113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490193" y="4458211"/>
            <a:ext cx="287933" cy="28793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3819557" y="2802416"/>
            <a:ext cx="647850" cy="64785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970" y="2749450"/>
            <a:ext cx="241113" cy="241113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270511" y="2749449"/>
            <a:ext cx="287933" cy="28793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936025" y="518150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3785105" y="3472741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643413" y="5345143"/>
            <a:ext cx="227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dirty="0"/>
              <a:t>cd_captools.ct003_univ_cli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3423731" y="3645476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  <a:endParaRPr lang="pt-PT" sz="9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cd_estruturais.tat91_tabelas</a:t>
            </a:r>
            <a:endParaRPr lang="en-US" sz="9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29990" y="5213300"/>
            <a:ext cx="217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20230519 Pillar 3 ESG - Emissions data Post-Feb.xlsx</a:t>
            </a:r>
            <a:endParaRPr lang="en-US" sz="8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679633" y="5612225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Ficheiro  “xlsx” que contém informação sobre as emissões das operações do banco.</a:t>
            </a:r>
          </a:p>
        </p:txBody>
      </p: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Modelação de dados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50641D-8D53-EE85-A218-446079E47C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2698" y="4527533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885CC6-4C38-BFFE-1639-3B363E6B5028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774" y="4488462"/>
            <a:ext cx="238885" cy="238885"/>
          </a:xfrm>
          <a:prstGeom prst="ellipse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13514F9-20DE-6FF6-C84E-94E79E940F46}"/>
              </a:ext>
            </a:extLst>
          </p:cNvPr>
          <p:cNvSpPr/>
          <p:nvPr/>
        </p:nvSpPr>
        <p:spPr>
          <a:xfrm>
            <a:off x="622426" y="1268750"/>
            <a:ext cx="5201624" cy="4918798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cxnSp>
        <p:nvCxnSpPr>
          <p:cNvPr id="6" name="Elbow Connector 69">
            <a:extLst>
              <a:ext uri="{FF2B5EF4-FFF2-40B4-BE49-F238E27FC236}">
                <a16:creationId xmlns:a16="http://schemas.microsoft.com/office/drawing/2014/main" id="{487C3740-0B4E-A71E-65B8-AB29BDB69BFC}"/>
              </a:ext>
            </a:extLst>
          </p:cNvPr>
          <p:cNvCxnSpPr>
            <a:cxnSpLocks/>
          </p:cNvCxnSpPr>
          <p:nvPr/>
        </p:nvCxnSpPr>
        <p:spPr>
          <a:xfrm>
            <a:off x="5822511" y="3393847"/>
            <a:ext cx="2304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3">
            <a:extLst>
              <a:ext uri="{FF2B5EF4-FFF2-40B4-BE49-F238E27FC236}">
                <a16:creationId xmlns:a16="http://schemas.microsoft.com/office/drawing/2014/main" id="{F22A513E-8CF0-3C34-4900-D15F83605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B4619F-DA98-810B-D2BC-3BE50D342900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69">
            <a:extLst>
              <a:ext uri="{FF2B5EF4-FFF2-40B4-BE49-F238E27FC236}">
                <a16:creationId xmlns:a16="http://schemas.microsoft.com/office/drawing/2014/main" id="{59D52091-D922-4D76-E040-0ED49DA2D0E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5EE3E78-0694-740B-B86D-ABDAF090866D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Satélite 93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ABE3F5-C1AC-C2E4-7988-CAD38D95DF45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38" name="Picture 4">
              <a:extLst>
                <a:ext uri="{FF2B5EF4-FFF2-40B4-BE49-F238E27FC236}">
                  <a16:creationId xmlns:a16="http://schemas.microsoft.com/office/drawing/2014/main" id="{E1863FE8-1C14-0FA6-FC56-E88934999B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39" descr="Related image">
              <a:extLst>
                <a:ext uri="{FF2B5EF4-FFF2-40B4-BE49-F238E27FC236}">
                  <a16:creationId xmlns:a16="http://schemas.microsoft.com/office/drawing/2014/main" id="{28E8C5A2-FF33-AAF6-517F-2803443B29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FDDD09-2188-470C-16B0-A9DEB2EC9CBC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Impala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DF1F21-0549-1E2B-0B73-F0B70F706BF6}"/>
              </a:ext>
            </a:extLst>
          </p:cNvPr>
          <p:cNvGrpSpPr/>
          <p:nvPr/>
        </p:nvGrpSpPr>
        <p:grpSpPr>
          <a:xfrm>
            <a:off x="1039239" y="2700910"/>
            <a:ext cx="706458" cy="680862"/>
            <a:chOff x="11007832" y="3054746"/>
            <a:chExt cx="706458" cy="68086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BAE199A-42DE-EA83-9746-740FD5453009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B782215-A26E-628F-5F51-8238E9C9D93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0" name="Graphic 119" descr="Database with solid fill">
                <a:extLst>
                  <a:ext uri="{FF2B5EF4-FFF2-40B4-BE49-F238E27FC236}">
                    <a16:creationId xmlns:a16="http://schemas.microsoft.com/office/drawing/2014/main" id="{54101A69-75FB-AC31-078A-5EA38AE8E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7" name="Graphic 116" descr="Single gear with solid fill">
              <a:extLst>
                <a:ext uri="{FF2B5EF4-FFF2-40B4-BE49-F238E27FC236}">
                  <a16:creationId xmlns:a16="http://schemas.microsoft.com/office/drawing/2014/main" id="{5B88BED6-FD9E-E95F-84A2-24443C40B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78F5B9-8695-4C06-EE29-7AE6F82A1644}"/>
              </a:ext>
            </a:extLst>
          </p:cNvPr>
          <p:cNvGrpSpPr/>
          <p:nvPr/>
        </p:nvGrpSpPr>
        <p:grpSpPr>
          <a:xfrm>
            <a:off x="1039239" y="1352071"/>
            <a:ext cx="706458" cy="680862"/>
            <a:chOff x="11007832" y="3054746"/>
            <a:chExt cx="706458" cy="68086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32047AD-E4FC-8882-C890-94DA6A836CA6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6A0DBCD-BE2C-CF38-5267-37FAD52CEA3A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6" name="Graphic 119" descr="Database with solid fill">
                <a:extLst>
                  <a:ext uri="{FF2B5EF4-FFF2-40B4-BE49-F238E27FC236}">
                    <a16:creationId xmlns:a16="http://schemas.microsoft.com/office/drawing/2014/main" id="{94118EF9-6CE0-2A88-6D9E-CB76CD802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3" name="Graphic 116" descr="Single gear with solid fill">
              <a:extLst>
                <a:ext uri="{FF2B5EF4-FFF2-40B4-BE49-F238E27FC236}">
                  <a16:creationId xmlns:a16="http://schemas.microsoft.com/office/drawing/2014/main" id="{7AF1FB3F-EFF3-9B5C-A1DD-9E49D5723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9F7DF7-4B38-CF29-EEDC-E61C64B5AA9E}"/>
              </a:ext>
            </a:extLst>
          </p:cNvPr>
          <p:cNvGrpSpPr/>
          <p:nvPr/>
        </p:nvGrpSpPr>
        <p:grpSpPr>
          <a:xfrm>
            <a:off x="3819557" y="1367197"/>
            <a:ext cx="706458" cy="680862"/>
            <a:chOff x="11007832" y="3054746"/>
            <a:chExt cx="706458" cy="68086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A1CBC3A-E6C9-2227-71F8-182A9AF7827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F0BAB43-52DE-3854-C193-2EA8F11A18C6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119" descr="Database with solid fill">
                <a:extLst>
                  <a:ext uri="{FF2B5EF4-FFF2-40B4-BE49-F238E27FC236}">
                    <a16:creationId xmlns:a16="http://schemas.microsoft.com/office/drawing/2014/main" id="{9A591DDE-B62C-72A3-37EF-E2168BA890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9" name="Graphic 116" descr="Single gear with solid fill">
              <a:extLst>
                <a:ext uri="{FF2B5EF4-FFF2-40B4-BE49-F238E27FC236}">
                  <a16:creationId xmlns:a16="http://schemas.microsoft.com/office/drawing/2014/main" id="{7D29ABED-A6F8-0A9A-81C0-38E492402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0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3D21E70-CD27-8E99-C54F-32B2C365B15E}"/>
              </a:ext>
            </a:extLst>
          </p:cNvPr>
          <p:cNvSpPr txBox="1"/>
          <p:nvPr/>
        </p:nvSpPr>
        <p:spPr>
          <a:xfrm>
            <a:off x="935688" y="3422912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D141C-446C-E74D-20E0-43A97F128B65}"/>
              </a:ext>
            </a:extLst>
          </p:cNvPr>
          <p:cNvSpPr txBox="1"/>
          <p:nvPr/>
        </p:nvSpPr>
        <p:spPr>
          <a:xfrm>
            <a:off x="3710609" y="2093418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97DD2-B958-AC4F-5079-D8BB59228042}"/>
              </a:ext>
            </a:extLst>
          </p:cNvPr>
          <p:cNvSpPr txBox="1"/>
          <p:nvPr/>
        </p:nvSpPr>
        <p:spPr>
          <a:xfrm>
            <a:off x="921357" y="2082680"/>
            <a:ext cx="1095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BU_ESG_WORK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AE3A50-4AD3-1831-8D47-0E568FAAE8C2}"/>
              </a:ext>
            </a:extLst>
          </p:cNvPr>
          <p:cNvSpPr txBox="1"/>
          <p:nvPr/>
        </p:nvSpPr>
        <p:spPr>
          <a:xfrm>
            <a:off x="7760628" y="3929958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/>
              <a:t>Desenvolvimento para obtenção de métricas ESG no âmbito do respetivo satélite.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3055229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 smtClean="0"/>
              <a:t>Anexos</a:t>
            </a: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 smtClean="0"/>
              <a:t>06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910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98413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 smtClean="0">
                <a:solidFill>
                  <a:srgbClr val="FF0000"/>
                </a:solidFill>
              </a:rPr>
              <a:t>Anexos</a:t>
            </a:r>
            <a:endParaRPr lang="es-ES" sz="1600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F2D26C-7EBA-7C8B-117B-3BECDEAE2518}"/>
              </a:ext>
            </a:extLst>
          </p:cNvPr>
          <p:cNvSpPr/>
          <p:nvPr/>
        </p:nvSpPr>
        <p:spPr>
          <a:xfrm>
            <a:off x="498629" y="1375921"/>
            <a:ext cx="11194741" cy="48628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sz="1100" dirty="0" smtClean="0"/>
              <a:t>Para </a:t>
            </a:r>
            <a:r>
              <a:rPr lang="en-US" sz="1100" dirty="0" err="1" smtClean="0"/>
              <a:t>garantir</a:t>
            </a:r>
            <a:r>
              <a:rPr lang="en-US" sz="1100" dirty="0" smtClean="0"/>
              <a:t> a </a:t>
            </a:r>
            <a:r>
              <a:rPr lang="en-US" sz="1100" dirty="0" err="1" smtClean="0"/>
              <a:t>integridade</a:t>
            </a:r>
            <a:r>
              <a:rPr lang="en-US" sz="1100" dirty="0" smtClean="0"/>
              <a:t>, </a:t>
            </a:r>
            <a:r>
              <a:rPr lang="en-US" sz="1100" dirty="0" err="1" smtClean="0"/>
              <a:t>completude</a:t>
            </a:r>
            <a:r>
              <a:rPr lang="en-US" sz="1100" dirty="0" smtClean="0"/>
              <a:t> e a </a:t>
            </a:r>
            <a:r>
              <a:rPr lang="en-US" sz="1100" dirty="0" err="1" smtClean="0"/>
              <a:t>qualidade</a:t>
            </a:r>
            <a:r>
              <a:rPr lang="en-US" sz="1100" dirty="0" smtClean="0"/>
              <a:t> dos dados </a:t>
            </a:r>
            <a:r>
              <a:rPr lang="en-US" sz="1100" dirty="0" err="1" smtClean="0"/>
              <a:t>foi</a:t>
            </a:r>
            <a:r>
              <a:rPr lang="en-US" sz="1100" dirty="0" smtClean="0"/>
              <a:t> </a:t>
            </a:r>
            <a:r>
              <a:rPr lang="en-US" sz="1100" dirty="0" err="1" smtClean="0"/>
              <a:t>implementada</a:t>
            </a:r>
            <a:r>
              <a:rPr lang="en-US" sz="1100" dirty="0" smtClean="0"/>
              <a:t> </a:t>
            </a:r>
            <a:r>
              <a:rPr lang="en-US" sz="1100" dirty="0" err="1" smtClean="0"/>
              <a:t>uma</a:t>
            </a:r>
            <a:r>
              <a:rPr lang="en-US" sz="1100" dirty="0" smtClean="0"/>
              <a:t> </a:t>
            </a:r>
            <a:r>
              <a:rPr lang="en-US" sz="1100" dirty="0" err="1" smtClean="0"/>
              <a:t>bateria</a:t>
            </a:r>
            <a:r>
              <a:rPr lang="en-US" sz="1100" dirty="0" smtClean="0"/>
              <a:t> de </a:t>
            </a:r>
            <a:r>
              <a:rPr lang="en-US" sz="1100" dirty="0" err="1" smtClean="0"/>
              <a:t>controlos</a:t>
            </a:r>
            <a:r>
              <a:rPr lang="en-US" sz="1100" dirty="0" smtClean="0"/>
              <a:t> </a:t>
            </a:r>
            <a:r>
              <a:rPr lang="en-US" sz="1100" dirty="0" err="1" smtClean="0"/>
              <a:t>sobre</a:t>
            </a:r>
            <a:r>
              <a:rPr lang="en-US" sz="1100" dirty="0"/>
              <a:t> </a:t>
            </a:r>
            <a:r>
              <a:rPr lang="en-US" sz="1100" dirty="0" err="1" smtClean="0"/>
              <a:t>os</a:t>
            </a:r>
            <a:r>
              <a:rPr lang="en-US" sz="1100" dirty="0" smtClean="0"/>
              <a:t> </a:t>
            </a:r>
            <a:r>
              <a:rPr lang="en-US" sz="1100" dirty="0" err="1" smtClean="0"/>
              <a:t>mesmos</a:t>
            </a:r>
            <a:r>
              <a:rPr lang="en-US" sz="1100" dirty="0" smtClean="0"/>
              <a:t>.</a:t>
            </a:r>
          </a:p>
          <a:p>
            <a:endParaRPr lang="en-US" sz="1100" dirty="0" smtClean="0"/>
          </a:p>
          <a:p>
            <a:r>
              <a:rPr lang="en-US" sz="1100" dirty="0" err="1" smtClean="0"/>
              <a:t>Os</a:t>
            </a:r>
            <a:r>
              <a:rPr lang="en-US" sz="1100" dirty="0" smtClean="0"/>
              <a:t> </a:t>
            </a:r>
            <a:r>
              <a:rPr lang="en-US" sz="1100" dirty="0" err="1" smtClean="0"/>
              <a:t>ficheiros</a:t>
            </a:r>
            <a:r>
              <a:rPr lang="en-US" sz="1100" dirty="0" smtClean="0"/>
              <a:t> infra </a:t>
            </a:r>
            <a:r>
              <a:rPr lang="en-US" sz="1100" dirty="0" err="1" smtClean="0"/>
              <a:t>apresentam</a:t>
            </a:r>
            <a:r>
              <a:rPr lang="en-US" sz="1100" dirty="0" smtClean="0"/>
              <a:t>, </a:t>
            </a:r>
            <a:r>
              <a:rPr lang="en-US" sz="1100" dirty="0" err="1" smtClean="0"/>
              <a:t>em</a:t>
            </a:r>
            <a:r>
              <a:rPr lang="en-US" sz="1100" dirty="0" smtClean="0"/>
              <a:t> </a:t>
            </a:r>
            <a:r>
              <a:rPr lang="en-US" sz="1100" dirty="0" err="1" smtClean="0"/>
              <a:t>maior</a:t>
            </a:r>
            <a:r>
              <a:rPr lang="en-US" sz="1100" dirty="0" smtClean="0"/>
              <a:t> </a:t>
            </a:r>
            <a:r>
              <a:rPr lang="en-US" sz="1100" dirty="0" err="1" smtClean="0"/>
              <a:t>detalhe</a:t>
            </a:r>
            <a:r>
              <a:rPr lang="en-US" sz="1100" dirty="0" smtClean="0"/>
              <a:t>, o </a:t>
            </a:r>
            <a:r>
              <a:rPr lang="en-US" sz="1100" dirty="0" err="1" smtClean="0"/>
              <a:t>conjunto</a:t>
            </a:r>
            <a:r>
              <a:rPr lang="en-US" sz="1100" dirty="0" smtClean="0"/>
              <a:t> de </a:t>
            </a:r>
            <a:r>
              <a:rPr lang="en-US" sz="1100" dirty="0" err="1" smtClean="0"/>
              <a:t>controlos</a:t>
            </a:r>
            <a:r>
              <a:rPr lang="en-US" sz="1100" dirty="0" smtClean="0"/>
              <a:t> </a:t>
            </a:r>
            <a:r>
              <a:rPr lang="en-US" sz="1100" dirty="0" err="1" smtClean="0"/>
              <a:t>implementados</a:t>
            </a:r>
            <a:r>
              <a:rPr lang="en-US" sz="1100" dirty="0" smtClean="0"/>
              <a:t>. </a:t>
            </a:r>
            <a:endParaRPr lang="en-US" sz="1100" dirty="0"/>
          </a:p>
          <a:p>
            <a:r>
              <a:rPr lang="en-US" sz="1000" dirty="0"/>
              <a:t> 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171134"/>
              </p:ext>
            </p:extLst>
          </p:nvPr>
        </p:nvGraphicFramePr>
        <p:xfrm>
          <a:off x="727229" y="236951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8" name="Macro-Enabled Worksheet" showAsIcon="1" r:id="rId3" imgW="914400" imgH="771480" progId="Excel.SheetMacroEnabled.12">
                  <p:embed/>
                </p:oleObj>
              </mc:Choice>
              <mc:Fallback>
                <p:oleObj name="Macro-Enabled Worksheet" showAsIcon="1" r:id="rId3" imgW="914400" imgH="771480" progId="Excel.SheetMacroEnabled.12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7229" y="236951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113694"/>
              </p:ext>
            </p:extLst>
          </p:nvPr>
        </p:nvGraphicFramePr>
        <p:xfrm>
          <a:off x="1897434" y="236951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Macro-Enabled Worksheet" showAsIcon="1" r:id="rId5" imgW="914400" imgH="771480" progId="Excel.SheetMacroEnabled.12">
                  <p:embed/>
                </p:oleObj>
              </mc:Choice>
              <mc:Fallback>
                <p:oleObj name="Macro-Enabled Worksheet" showAsIcon="1" r:id="rId5" imgW="914400" imgH="771480" progId="Excel.SheetMacroEnabled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97434" y="236951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461323"/>
              </p:ext>
            </p:extLst>
          </p:nvPr>
        </p:nvGraphicFramePr>
        <p:xfrm>
          <a:off x="3067639" y="236951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Worksheet" showAsIcon="1" r:id="rId7" imgW="914400" imgH="771480" progId="Excel.Sheet.12">
                  <p:embed/>
                </p:oleObj>
              </mc:Choice>
              <mc:Fallback>
                <p:oleObj name="Worksheet" showAsIcon="1" r:id="rId7" imgW="914400" imgH="771480" progId="Excel.Sheet.12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67639" y="236951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7637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 BS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 BS" id="{423A8E32-BBFD-4BD3-AA33-22AAA9B35801}" vid="{06EFB12C-3F03-4E75-BBCC-C8FC2823E7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5" ma:contentTypeDescription="Criar um novo documento." ma:contentTypeScope="" ma:versionID="9f803a9406b07ac8ad9c30cbedd75642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targetNamespace="http://schemas.microsoft.com/office/2006/metadata/properties" ma:root="true" ma:fieldsID="8aa30c6fb3715066d0f24195f322e0c8" ns1:_="" ns2:_="">
    <xsd:import namespace="http://schemas.microsoft.com/sharepoint/v3"/>
    <xsd:import namespace="767d911d-09c2-43d9-a326-6ded42ddcc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D18E8A5-5A53-4FC4-A450-66CDA081DB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67d911d-09c2-43d9-a326-6ded42ddcc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D817DF-67AB-4BB4-872E-34E3FEC8FC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2EBCFB-3A96-480D-8204-463971BC4F8B}">
  <ds:schemaRefs>
    <ds:schemaRef ds:uri="http://schemas.microsoft.com/sharepoint/v3"/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67d911d-09c2-43d9-a326-6ded42ddccd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BS</Template>
  <TotalTime>953</TotalTime>
  <Words>1865</Words>
  <Application>Microsoft Office PowerPoint</Application>
  <PresentationFormat>Widescreen</PresentationFormat>
  <Paragraphs>858</Paragraphs>
  <Slides>40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Santander Text</vt:lpstr>
      <vt:lpstr>Theme BS</vt:lpstr>
      <vt:lpstr>think-cell Slide</vt:lpstr>
      <vt:lpstr>Macro-Enabled Worksheet</vt:lpstr>
      <vt:lpstr>Worksheet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Dados</dc:title>
  <dc:creator>Neyond</dc:creator>
  <cp:lastModifiedBy>Diogo Alexandre Escaleira</cp:lastModifiedBy>
  <cp:revision>33</cp:revision>
  <dcterms:created xsi:type="dcterms:W3CDTF">2023-06-28T11:37:37Z</dcterms:created>
  <dcterms:modified xsi:type="dcterms:W3CDTF">2023-09-13T20:34:29Z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2023-06-28T11:38:29Z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b6b05ac1-930d-4af0-93fb-75e9a7d9fc40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</Properties>
</file>