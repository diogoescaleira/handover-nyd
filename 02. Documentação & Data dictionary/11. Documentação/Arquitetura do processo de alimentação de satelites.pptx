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31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780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615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952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124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232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684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684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220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051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616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746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725CA-B5A1-4CF6-A478-F950471D08AA}" type="datetimeFigureOut">
              <a:rPr lang="pt-PT" smtClean="0"/>
              <a:t>05/05/2023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9986D-4C47-4344-A1B3-97BDF9B0708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299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3622"/>
            <a:ext cx="9144000" cy="253963"/>
          </a:xfrm>
        </p:spPr>
        <p:txBody>
          <a:bodyPr>
            <a:noAutofit/>
          </a:bodyPr>
          <a:lstStyle/>
          <a:p>
            <a:r>
              <a:rPr lang="pt-PT" sz="2000" b="1" dirty="0" smtClean="0"/>
              <a:t>Fluxo processual – Pilar III</a:t>
            </a:r>
            <a:endParaRPr lang="pt-PT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81487" y="1630392"/>
            <a:ext cx="2087592" cy="3381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Universo </a:t>
            </a:r>
            <a:r>
              <a:rPr lang="pt-PT" dirty="0" err="1" smtClean="0"/>
              <a:t>Full</a:t>
            </a:r>
            <a:endParaRPr lang="pt-PT" dirty="0" smtClean="0"/>
          </a:p>
          <a:p>
            <a:pPr algn="ctr"/>
            <a:endParaRPr lang="pt-PT" dirty="0"/>
          </a:p>
          <a:p>
            <a:pPr algn="ctr"/>
            <a:r>
              <a:rPr lang="pt-PT" sz="1400" dirty="0" smtClean="0"/>
              <a:t>Enviado pela corporação</a:t>
            </a:r>
            <a:endParaRPr lang="pt-PT" sz="1400" dirty="0"/>
          </a:p>
        </p:txBody>
      </p:sp>
      <p:sp>
        <p:nvSpPr>
          <p:cNvPr id="5" name="Right Arrow 4"/>
          <p:cNvSpPr/>
          <p:nvPr/>
        </p:nvSpPr>
        <p:spPr>
          <a:xfrm>
            <a:off x="2907102" y="3118446"/>
            <a:ext cx="56934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ctangle 5"/>
          <p:cNvSpPr/>
          <p:nvPr/>
        </p:nvSpPr>
        <p:spPr>
          <a:xfrm>
            <a:off x="3614469" y="1630391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Contrato + Cliente</a:t>
            </a:r>
            <a:endParaRPr lang="pt-PT" sz="1400" dirty="0"/>
          </a:p>
        </p:txBody>
      </p:sp>
      <p:sp>
        <p:nvSpPr>
          <p:cNvPr id="7" name="Rectangle 6"/>
          <p:cNvSpPr/>
          <p:nvPr/>
        </p:nvSpPr>
        <p:spPr>
          <a:xfrm>
            <a:off x="3614469" y="2556293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Colaterais</a:t>
            </a:r>
            <a:endParaRPr lang="pt-PT" sz="1400" dirty="0"/>
          </a:p>
        </p:txBody>
      </p:sp>
      <p:sp>
        <p:nvSpPr>
          <p:cNvPr id="8" name="Rectangle 7"/>
          <p:cNvSpPr/>
          <p:nvPr/>
        </p:nvSpPr>
        <p:spPr>
          <a:xfrm>
            <a:off x="3614469" y="3482195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Adjudicados</a:t>
            </a:r>
            <a:endParaRPr lang="pt-PT" sz="1400" dirty="0"/>
          </a:p>
        </p:txBody>
      </p:sp>
      <p:sp>
        <p:nvSpPr>
          <p:cNvPr id="9" name="Rectangle 8"/>
          <p:cNvSpPr/>
          <p:nvPr/>
        </p:nvSpPr>
        <p:spPr>
          <a:xfrm>
            <a:off x="3614469" y="4408096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Preparação de informação para envio à </a:t>
            </a:r>
            <a:r>
              <a:rPr lang="pt-PT" sz="1400" dirty="0" err="1" smtClean="0"/>
              <a:t>Gloval</a:t>
            </a:r>
            <a:endParaRPr lang="pt-PT" sz="1400" dirty="0"/>
          </a:p>
        </p:txBody>
      </p:sp>
      <p:sp>
        <p:nvSpPr>
          <p:cNvPr id="10" name="Rectangle 9"/>
          <p:cNvSpPr/>
          <p:nvPr/>
        </p:nvSpPr>
        <p:spPr>
          <a:xfrm>
            <a:off x="9097995" y="1630392"/>
            <a:ext cx="2087592" cy="3381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Universo a popular satélites</a:t>
            </a:r>
            <a:endParaRPr lang="pt-PT" sz="1400" dirty="0"/>
          </a:p>
        </p:txBody>
      </p:sp>
      <p:sp>
        <p:nvSpPr>
          <p:cNvPr id="11" name="Curved Up Arrow 10"/>
          <p:cNvSpPr/>
          <p:nvPr/>
        </p:nvSpPr>
        <p:spPr>
          <a:xfrm>
            <a:off x="5417388" y="5083831"/>
            <a:ext cx="1190446" cy="50033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8529" y="4408095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Tabela complementada com </a:t>
            </a:r>
            <a:r>
              <a:rPr lang="pt-PT" sz="1400" dirty="0" err="1" smtClean="0"/>
              <a:t>info</a:t>
            </a:r>
            <a:r>
              <a:rPr lang="pt-PT" sz="1400" dirty="0" smtClean="0"/>
              <a:t> via </a:t>
            </a:r>
            <a:r>
              <a:rPr lang="pt-PT" sz="1400" dirty="0" err="1" smtClean="0"/>
              <a:t>Gloval</a:t>
            </a:r>
            <a:endParaRPr lang="pt-PT" sz="1400" dirty="0"/>
          </a:p>
        </p:txBody>
      </p:sp>
      <p:sp>
        <p:nvSpPr>
          <p:cNvPr id="13" name="Right Arrow 12"/>
          <p:cNvSpPr/>
          <p:nvPr/>
        </p:nvSpPr>
        <p:spPr>
          <a:xfrm>
            <a:off x="8451014" y="4507297"/>
            <a:ext cx="56934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ight Arrow 13"/>
          <p:cNvSpPr/>
          <p:nvPr/>
        </p:nvSpPr>
        <p:spPr>
          <a:xfrm>
            <a:off x="6262778" y="3581397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ight Arrow 14"/>
          <p:cNvSpPr/>
          <p:nvPr/>
        </p:nvSpPr>
        <p:spPr>
          <a:xfrm>
            <a:off x="6262777" y="2655495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ight Arrow 15"/>
          <p:cNvSpPr/>
          <p:nvPr/>
        </p:nvSpPr>
        <p:spPr>
          <a:xfrm>
            <a:off x="6262776" y="1746848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ctangle 16"/>
          <p:cNvSpPr/>
          <p:nvPr/>
        </p:nvSpPr>
        <p:spPr>
          <a:xfrm>
            <a:off x="5546784" y="5656047"/>
            <a:ext cx="931653" cy="6412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smtClean="0">
                <a:solidFill>
                  <a:schemeClr val="tx1"/>
                </a:solidFill>
              </a:rPr>
              <a:t>Envio de informação à </a:t>
            </a:r>
            <a:r>
              <a:rPr lang="pt-PT" sz="1200" dirty="0" err="1" smtClean="0">
                <a:solidFill>
                  <a:schemeClr val="tx1"/>
                </a:solidFill>
              </a:rPr>
              <a:t>Gloval</a:t>
            </a:r>
            <a:endParaRPr lang="pt-PT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0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3622"/>
            <a:ext cx="9144000" cy="253963"/>
          </a:xfrm>
        </p:spPr>
        <p:txBody>
          <a:bodyPr>
            <a:noAutofit/>
          </a:bodyPr>
          <a:lstStyle/>
          <a:p>
            <a:r>
              <a:rPr lang="pt-PT" sz="2000" b="1" dirty="0" smtClean="0"/>
              <a:t>Fluxo processual – Pilar III</a:t>
            </a:r>
            <a:endParaRPr lang="pt-PT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8869" y="1630392"/>
            <a:ext cx="1207698" cy="3381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Universo </a:t>
            </a:r>
            <a:r>
              <a:rPr lang="pt-PT" dirty="0" err="1" smtClean="0"/>
              <a:t>Full</a:t>
            </a:r>
            <a:endParaRPr lang="pt-PT" dirty="0" smtClean="0"/>
          </a:p>
          <a:p>
            <a:pPr algn="ctr"/>
            <a:endParaRPr lang="pt-PT" dirty="0"/>
          </a:p>
          <a:p>
            <a:pPr algn="ctr"/>
            <a:r>
              <a:rPr lang="pt-PT" sz="1400" dirty="0" smtClean="0"/>
              <a:t>Enviado pela corporação</a:t>
            </a:r>
            <a:endParaRPr lang="pt-PT" sz="1400" dirty="0"/>
          </a:p>
        </p:txBody>
      </p:sp>
      <p:sp>
        <p:nvSpPr>
          <p:cNvPr id="5" name="Right Arrow 4"/>
          <p:cNvSpPr/>
          <p:nvPr/>
        </p:nvSpPr>
        <p:spPr>
          <a:xfrm>
            <a:off x="1384397" y="3581397"/>
            <a:ext cx="150962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ctangle 5"/>
          <p:cNvSpPr/>
          <p:nvPr/>
        </p:nvSpPr>
        <p:spPr>
          <a:xfrm>
            <a:off x="3001851" y="1630391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Contrato + Cliente</a:t>
            </a:r>
            <a:endParaRPr lang="pt-PT" sz="1400" dirty="0"/>
          </a:p>
        </p:txBody>
      </p:sp>
      <p:sp>
        <p:nvSpPr>
          <p:cNvPr id="7" name="Rectangle 6"/>
          <p:cNvSpPr/>
          <p:nvPr/>
        </p:nvSpPr>
        <p:spPr>
          <a:xfrm>
            <a:off x="3001852" y="2657869"/>
            <a:ext cx="2087592" cy="442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Colaterais</a:t>
            </a:r>
          </a:p>
          <a:p>
            <a:pPr algn="ctr"/>
            <a:r>
              <a:rPr lang="pt-PT" sz="1050" dirty="0" smtClean="0"/>
              <a:t>(</a:t>
            </a:r>
            <a:r>
              <a:rPr lang="pt-PT" sz="1050" dirty="0" err="1" smtClean="0"/>
              <a:t>bu_esg_work.colaterais</a:t>
            </a:r>
            <a:r>
              <a:rPr lang="pt-PT" sz="1050" dirty="0" smtClean="0"/>
              <a:t>)</a:t>
            </a:r>
            <a:endParaRPr lang="pt-PT" sz="1050" dirty="0"/>
          </a:p>
        </p:txBody>
      </p:sp>
      <p:sp>
        <p:nvSpPr>
          <p:cNvPr id="8" name="Rectangle 7"/>
          <p:cNvSpPr/>
          <p:nvPr/>
        </p:nvSpPr>
        <p:spPr>
          <a:xfrm>
            <a:off x="3001851" y="3482195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Adjudicados</a:t>
            </a:r>
            <a:endParaRPr lang="pt-PT" sz="1400" dirty="0"/>
          </a:p>
        </p:txBody>
      </p:sp>
      <p:sp>
        <p:nvSpPr>
          <p:cNvPr id="9" name="Rectangle 8"/>
          <p:cNvSpPr/>
          <p:nvPr/>
        </p:nvSpPr>
        <p:spPr>
          <a:xfrm>
            <a:off x="3001851" y="4408096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Preparação de informação para envio à </a:t>
            </a:r>
            <a:r>
              <a:rPr lang="pt-PT" sz="1400" dirty="0" err="1" smtClean="0"/>
              <a:t>Gloval</a:t>
            </a:r>
            <a:endParaRPr lang="pt-PT" sz="1400" dirty="0"/>
          </a:p>
        </p:txBody>
      </p:sp>
      <p:sp>
        <p:nvSpPr>
          <p:cNvPr id="10" name="Rectangle 9"/>
          <p:cNvSpPr/>
          <p:nvPr/>
        </p:nvSpPr>
        <p:spPr>
          <a:xfrm>
            <a:off x="8485377" y="1630392"/>
            <a:ext cx="1563498" cy="3381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Universo a popular satélites</a:t>
            </a:r>
            <a:endParaRPr lang="pt-PT" sz="1400" dirty="0"/>
          </a:p>
        </p:txBody>
      </p:sp>
      <p:sp>
        <p:nvSpPr>
          <p:cNvPr id="11" name="Curved Up Arrow 10"/>
          <p:cNvSpPr/>
          <p:nvPr/>
        </p:nvSpPr>
        <p:spPr>
          <a:xfrm>
            <a:off x="4804770" y="5083831"/>
            <a:ext cx="1190446" cy="50033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55911" y="4408095"/>
            <a:ext cx="2087592" cy="60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smtClean="0"/>
              <a:t>Tabela complementada com </a:t>
            </a:r>
            <a:r>
              <a:rPr lang="pt-PT" sz="1400" dirty="0" err="1" smtClean="0"/>
              <a:t>info</a:t>
            </a:r>
            <a:r>
              <a:rPr lang="pt-PT" sz="1400" dirty="0" smtClean="0"/>
              <a:t> via </a:t>
            </a:r>
            <a:r>
              <a:rPr lang="pt-PT" sz="1400" dirty="0" err="1" smtClean="0"/>
              <a:t>Gloval</a:t>
            </a:r>
            <a:endParaRPr lang="pt-PT" sz="1400" dirty="0"/>
          </a:p>
        </p:txBody>
      </p:sp>
      <p:sp>
        <p:nvSpPr>
          <p:cNvPr id="13" name="Right Arrow 12"/>
          <p:cNvSpPr/>
          <p:nvPr/>
        </p:nvSpPr>
        <p:spPr>
          <a:xfrm>
            <a:off x="7838396" y="4507297"/>
            <a:ext cx="56934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ight Arrow 13"/>
          <p:cNvSpPr/>
          <p:nvPr/>
        </p:nvSpPr>
        <p:spPr>
          <a:xfrm>
            <a:off x="5650160" y="3581397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ight Arrow 14"/>
          <p:cNvSpPr/>
          <p:nvPr/>
        </p:nvSpPr>
        <p:spPr>
          <a:xfrm>
            <a:off x="5650159" y="2655495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ight Arrow 15"/>
          <p:cNvSpPr/>
          <p:nvPr/>
        </p:nvSpPr>
        <p:spPr>
          <a:xfrm>
            <a:off x="5650158" y="1746848"/>
            <a:ext cx="2757579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ctangle 16"/>
          <p:cNvSpPr/>
          <p:nvPr/>
        </p:nvSpPr>
        <p:spPr>
          <a:xfrm>
            <a:off x="4934166" y="5656047"/>
            <a:ext cx="931653" cy="6412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smtClean="0">
                <a:solidFill>
                  <a:schemeClr val="tx1"/>
                </a:solidFill>
              </a:rPr>
              <a:t>Envio de informação à </a:t>
            </a:r>
            <a:r>
              <a:rPr lang="pt-PT" sz="1200" dirty="0" err="1" smtClean="0">
                <a:solidFill>
                  <a:schemeClr val="tx1"/>
                </a:solidFill>
              </a:rPr>
              <a:t>Gloval</a:t>
            </a:r>
            <a:endParaRPr lang="pt-PT" sz="1200" dirty="0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1414590" y="4597662"/>
            <a:ext cx="150962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Right Arrow 18"/>
          <p:cNvSpPr/>
          <p:nvPr/>
        </p:nvSpPr>
        <p:spPr>
          <a:xfrm>
            <a:off x="1384397" y="2719365"/>
            <a:ext cx="150962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ight Arrow 19"/>
          <p:cNvSpPr/>
          <p:nvPr/>
        </p:nvSpPr>
        <p:spPr>
          <a:xfrm>
            <a:off x="1384397" y="1734316"/>
            <a:ext cx="1509624" cy="3960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TextBox 1"/>
          <p:cNvSpPr txBox="1"/>
          <p:nvPr/>
        </p:nvSpPr>
        <p:spPr>
          <a:xfrm>
            <a:off x="1561166" y="2793914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 err="1"/>
              <a:t>SP_Colaterais.sql</a:t>
            </a:r>
            <a:endParaRPr lang="pt-PT" sz="1050" dirty="0"/>
          </a:p>
        </p:txBody>
      </p:sp>
      <p:sp>
        <p:nvSpPr>
          <p:cNvPr id="21" name="Rectangle 20"/>
          <p:cNvSpPr/>
          <p:nvPr/>
        </p:nvSpPr>
        <p:spPr>
          <a:xfrm>
            <a:off x="8226366" y="925703"/>
            <a:ext cx="1994354" cy="556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 smtClean="0"/>
              <a:t>Layer</a:t>
            </a:r>
            <a:r>
              <a:rPr lang="pt-PT" dirty="0" smtClean="0"/>
              <a:t> </a:t>
            </a:r>
          </a:p>
          <a:p>
            <a:pPr algn="ctr"/>
            <a:r>
              <a:rPr lang="pt-PT" dirty="0" smtClean="0">
                <a:solidFill>
                  <a:srgbClr val="FF0000"/>
                </a:solidFill>
              </a:rPr>
              <a:t>DM_PILAR3</a:t>
            </a:r>
            <a:r>
              <a:rPr lang="pt-PT" dirty="0" smtClean="0"/>
              <a:t>_&lt;</a:t>
            </a:r>
            <a:r>
              <a:rPr lang="pt-PT" dirty="0" err="1" smtClean="0"/>
              <a:t>xxx</a:t>
            </a:r>
            <a:r>
              <a:rPr lang="pt-PT" dirty="0" smtClean="0"/>
              <a:t>&gt;</a:t>
            </a:r>
            <a:endParaRPr lang="pt-PT" dirty="0"/>
          </a:p>
        </p:txBody>
      </p:sp>
      <p:sp>
        <p:nvSpPr>
          <p:cNvPr id="22" name="Rectangle 21"/>
          <p:cNvSpPr/>
          <p:nvPr/>
        </p:nvSpPr>
        <p:spPr>
          <a:xfrm>
            <a:off x="10353675" y="1635911"/>
            <a:ext cx="1533525" cy="3381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Universo a popular satélites</a:t>
            </a:r>
            <a:endParaRPr lang="pt-PT" sz="1400" dirty="0"/>
          </a:p>
        </p:txBody>
      </p:sp>
      <p:sp>
        <p:nvSpPr>
          <p:cNvPr id="24" name="Rectangle 23"/>
          <p:cNvSpPr/>
          <p:nvPr/>
        </p:nvSpPr>
        <p:spPr>
          <a:xfrm>
            <a:off x="10353675" y="946531"/>
            <a:ext cx="1994354" cy="556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 smtClean="0"/>
              <a:t>Layer</a:t>
            </a:r>
            <a:r>
              <a:rPr lang="pt-PT" dirty="0" smtClean="0"/>
              <a:t> </a:t>
            </a:r>
          </a:p>
          <a:p>
            <a:pPr algn="ctr"/>
            <a:r>
              <a:rPr lang="pt-PT" dirty="0" smtClean="0">
                <a:solidFill>
                  <a:srgbClr val="FF0000"/>
                </a:solidFill>
              </a:rPr>
              <a:t>RT_PILAR3</a:t>
            </a:r>
            <a:r>
              <a:rPr lang="pt-PT" dirty="0" smtClean="0"/>
              <a:t>_&lt;</a:t>
            </a:r>
            <a:r>
              <a:rPr lang="pt-PT" dirty="0" err="1" smtClean="0"/>
              <a:t>xxx</a:t>
            </a:r>
            <a:r>
              <a:rPr lang="pt-PT" dirty="0" smtClean="0"/>
              <a:t>&gt;</a:t>
            </a:r>
            <a:endParaRPr lang="pt-PT" dirty="0"/>
          </a:p>
        </p:txBody>
      </p:sp>
      <p:sp>
        <p:nvSpPr>
          <p:cNvPr id="25" name="Rectangle 24"/>
          <p:cNvSpPr/>
          <p:nvPr/>
        </p:nvSpPr>
        <p:spPr>
          <a:xfrm>
            <a:off x="68869" y="779065"/>
            <a:ext cx="5020574" cy="556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 smtClean="0"/>
              <a:t>Layer</a:t>
            </a:r>
            <a:r>
              <a:rPr lang="pt-PT" dirty="0" smtClean="0"/>
              <a:t> </a:t>
            </a:r>
          </a:p>
          <a:p>
            <a:pPr algn="ctr"/>
            <a:r>
              <a:rPr lang="pt-PT" dirty="0" smtClean="0">
                <a:solidFill>
                  <a:srgbClr val="FF0000"/>
                </a:solidFill>
              </a:rPr>
              <a:t>CM_PILAR3</a:t>
            </a:r>
            <a:r>
              <a:rPr lang="pt-PT" dirty="0" smtClean="0"/>
              <a:t>_&lt;</a:t>
            </a:r>
            <a:r>
              <a:rPr lang="pt-PT" dirty="0" err="1" smtClean="0"/>
              <a:t>xxx</a:t>
            </a:r>
            <a:r>
              <a:rPr lang="pt-PT" dirty="0" smtClean="0"/>
              <a:t>&gt;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0542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5D693B-2D82-47B6-87DD-EE137DDD1453}"/>
</file>

<file path=customXml/itemProps2.xml><?xml version="1.0" encoding="utf-8"?>
<ds:datastoreItem xmlns:ds="http://schemas.openxmlformats.org/officeDocument/2006/customXml" ds:itemID="{9D5ED1BF-C733-4AD0-8645-E4F4EA993B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81FBB9-AE11-4FEE-9F51-031813A3B29D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67d911d-09c2-43d9-a326-6ded42ddccd2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97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Banco Santander Portugal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Joaquim Pedro Gariso Coimbra</dc:creator>
  <cp:lastModifiedBy>Hugo Alexandre Redondo Reia</cp:lastModifiedBy>
  <cp:revision>6</cp:revision>
  <dcterms:created xsi:type="dcterms:W3CDTF">2023-05-02T14:31:55Z</dcterms:created>
  <dcterms:modified xsi:type="dcterms:W3CDTF">2023-05-05T14:54:30Z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2023-05-02T14:31:56Z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56e68782-66d3-4b6e-8e09-4954bfc38b8f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