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22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ags/tag3.xml" ContentType="application/vnd.openxmlformats-officedocument.presentationml.tags+xml"/>
  <Override PartName="/ppt/tags/tag8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1.xml" ContentType="application/vnd.openxmlformats-officedocument.presentationml.tags+xml"/>
  <Override PartName="/ppt/tags/tag5.xml" ContentType="application/vnd.openxmlformats-officedocument.presentationml.tags+xml"/>
  <Override PartName="/ppt/tags/tag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14.xml" ContentType="application/vnd.openxmlformats-officedocument.presentationml.tags+xml"/>
  <Override PartName="/ppt/tags/tag10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8.xml" ContentType="application/vnd.openxmlformats-officedocument.presentationml.tags+xml"/>
  <Override PartName="/ppt/tags/tag32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1.xml" ContentType="application/vnd.openxmlformats-officedocument.presentationml.tags+xml"/>
  <Override PartName="/ppt/tags/tag37.xml" ContentType="application/vnd.openxmlformats-officedocument.presentationml.tags+xml"/>
  <Override PartName="/ppt/tags/tag27.xml" ContentType="application/vnd.openxmlformats-officedocument.presentationml.tags+xml"/>
  <Override PartName="/ppt/tags/tag9.xml" ContentType="application/vnd.openxmlformats-officedocument.presentationml.tags+xml"/>
  <Override PartName="/ppt/tags/tag25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18.xml" ContentType="application/vnd.openxmlformats-officedocument.presentationml.tags+xml"/>
  <Override PartName="/ppt/tags/tag17.xml" ContentType="application/vnd.openxmlformats-officedocument.presentationml.tags+xml"/>
  <Override PartName="/ppt/tags/tag1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34.xml" ContentType="application/vnd.openxmlformats-officedocument.presentationml.tags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26.xml" ContentType="application/vnd.openxmlformats-officedocument.presentationml.tags+xml"/>
  <Override PartName="/ppt/comments/modernComment_114_776B72A7.xml" ContentType="application/vnd.ms-powerpoint.comments+xml"/>
  <Override PartName="/ppt/comments/modernComment_115_CD76FB9F.xml" ContentType="application/vnd.ms-powerpoint.comments+xml"/>
  <Override PartName="/ppt/comments/modernComment_118_E221325E.xml" ContentType="application/vnd.ms-powerpoint.comments+xml"/>
  <Override PartName="/ppt/authors.xml" ContentType="application/vnd.ms-powerpoint.authors+xml"/>
  <Override PartName="/ppt/revisionInfo.xml" ContentType="application/vnd.ms-powerpoint.revisioninfo+xml"/>
  <Override PartName="/ppt/comments/modernComment_112_F9FE6780.xml" ContentType="application/vnd.ms-powerpoint.comments+xml"/>
  <Override PartName="/ppt/comments/modernComment_111_27737CFD.xml" ContentType="application/vnd.ms-powerpoint.comments+xml"/>
  <Override PartName="/ppt/comments/modernComment_11E_2276B348.xml" ContentType="application/vnd.ms-powerpoint.comment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7" r:id="rId2"/>
    <p:sldId id="258" r:id="rId3"/>
    <p:sldId id="259" r:id="rId4"/>
    <p:sldId id="260" r:id="rId5"/>
    <p:sldId id="261" r:id="rId6"/>
    <p:sldId id="262" r:id="rId7"/>
    <p:sldId id="286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B7A726-351F-AC51-3650-C06BCA5CB59A}" name="Freire, Catarina Lopes" initials="FCL" userId="S::cfreire@neyond.pt::ddca15c1-05cd-4dd1-99e2-6430845d19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  <a:srgbClr val="FFD9D9"/>
    <a:srgbClr val="FFC5C5"/>
    <a:srgbClr val="FFF3F3"/>
    <a:srgbClr val="FF9F9F"/>
    <a:srgbClr val="FF8181"/>
    <a:srgbClr val="FF5353"/>
    <a:srgbClr val="FA0000"/>
    <a:srgbClr val="FF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CF1DC2-EEC5-4997-8D83-B2B1689A3E64}" v="38" dt="2023-06-28T17:16:03.6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11E_2276B34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619850-ED12-4110-AD31-996474AA9775}" authorId="{DDB7A726-351F-AC51-3650-C06BCA5CB59A}" created="2023-06-28T21:03:54.389">
    <pc:sldMkLst xmlns:pc="http://schemas.microsoft.com/office/powerpoint/2013/main/command">
      <pc:docMk/>
      <pc:sldMk cId="578204488" sldId="286"/>
    </pc:sldMkLst>
    <p188:txBody>
      <a:bodyPr/>
      <a:lstStyle/>
      <a:p>
        <a:r>
          <a:rPr lang="en-US"/>
          <a:t>Retirei a legendas e os simbolos no canto superior esquerdo porque não fazem match com o conteúdo deste slide</a:t>
        </a:r>
      </a:p>
    </p188:txBody>
  </p188:cm>
</p188:cmLst>
</file>

<file path=ppt/comments/modernComment_111_27737CF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7A60716-78FB-40E2-9643-6255E81D043D}" authorId="{DDB7A726-351F-AC51-3650-C06BCA5CB59A}" created="2023-06-28T20:44:25.685">
    <pc:sldMkLst xmlns:pc="http://schemas.microsoft.com/office/powerpoint/2013/main/command">
      <pc:docMk/>
      <pc:sldMk cId="661880061" sldId="273"/>
    </pc:sldMkLst>
    <p188:txBody>
      <a:bodyPr/>
      <a:lstStyle/>
      <a:p>
        <a:r>
          <a:rPr lang="en-US"/>
          <a:t>Nos slides do capítulo "Fluxos comuns" não temos processo da base de dados de GARANTIAS e ESTRUTURAIS. Não deveriamos ter para manter coerência?</a:t>
        </a:r>
      </a:p>
    </p188:txBody>
  </p188:cm>
</p188:cmLst>
</file>

<file path=ppt/comments/modernComment_112_F9FE678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DEC64A-EBF3-49DF-B376-701F9CDB602E}" authorId="{DDB7A726-351F-AC51-3650-C06BCA5CB59A}" created="2023-06-28T20:55:14.952">
    <pc:sldMkLst xmlns:pc="http://schemas.microsoft.com/office/powerpoint/2013/main/command">
      <pc:docMk/>
      <pc:sldMk cId="4194199424" sldId="274"/>
    </pc:sldMkLst>
    <p188:txBody>
      <a:bodyPr/>
      <a:lstStyle/>
      <a:p>
        <a:r>
          <a:rPr lang="en-US"/>
          <a:t>Nos slides do capítulo "Fluxos comuns" não temos processo da base de dados de RISCOS. Não deveriamos ter para manter coerência?</a:t>
        </a:r>
      </a:p>
    </p188:txBody>
  </p188:cm>
</p188:cmLst>
</file>

<file path=ppt/comments/modernComment_114_776B72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1BF8338-0688-4146-B87C-0AEAC3EC7849}" authorId="{DDB7A726-351F-AC51-3650-C06BCA5CB59A}" created="2023-06-28T20:36:07.416">
    <pc:sldMkLst xmlns:pc="http://schemas.microsoft.com/office/powerpoint/2013/main/command">
      <pc:docMk/>
      <pc:sldMk cId="2003530407" sldId="276"/>
    </pc:sldMkLst>
    <p188:replyLst>
      <p188:reply id="{11726330-84AD-4066-B338-7516E1C52C47}" authorId="{DDB7A726-351F-AC51-3650-C06BCA5CB59A}" created="2023-06-28T20:36:20.211">
        <p188:txBody>
          <a:bodyPr/>
          <a:lstStyle/>
          <a:p>
            <a:r>
              <a:rPr lang="en-US"/>
              <a:t>Processos manuais têm que ter o simbolo da pessoazinha (ver legenda)</a:t>
            </a:r>
          </a:p>
        </p188:txBody>
      </p188:reply>
      <p188:reply id="{A2817FE7-6589-4357-9FB9-683C0DBA19FC}" authorId="{DDB7A726-351F-AC51-3650-C06BCA5CB59A}" created="2023-06-28T21:05:32.677">
        <p188:txBody>
          <a:bodyPr/>
          <a:lstStyle/>
          <a:p>
            <a:r>
              <a:rPr lang="en-US"/>
              <a:t>Os exceis que estão identificados nos processos manuais não são inpits corporativos? Reparei que a secção de inputs corporativos está vazia em todos os slides deste capítulo. Qual o objetivo da sua criação?</a:t>
            </a:r>
          </a:p>
        </p188:txBody>
      </p188:reply>
    </p188:replyLst>
    <p188:txBody>
      <a:bodyPr/>
      <a:lstStyle/>
      <a:p>
        <a:r>
          <a:rPr lang="en-US"/>
          <a:t>2 exceis com nome igual</a:t>
        </a:r>
      </a:p>
    </p188:txBody>
  </p188:cm>
</p188:cmLst>
</file>

<file path=ppt/comments/modernComment_115_CD76FB9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883E38-B327-46D2-BF9E-A6EBC74C7FDD}" authorId="{DDB7A726-351F-AC51-3650-C06BCA5CB59A}" created="2023-06-28T20:36:34.840">
    <pc:sldMkLst xmlns:pc="http://schemas.microsoft.com/office/powerpoint/2013/main/command">
      <pc:docMk/>
      <pc:sldMk cId="3447126943" sldId="277"/>
    </pc:sldMkLst>
    <p188:replyLst>
      <p188:reply id="{F35FE6ED-959F-4313-ABD4-E4CBF7BDE243}" authorId="{DDB7A726-351F-AC51-3650-C06BCA5CB59A}" created="2023-06-28T20:37:52.928">
        <p188:txBody>
          <a:bodyPr/>
          <a:lstStyle/>
          <a:p>
            <a:r>
              <a:rPr lang="en-US"/>
              <a:t>Eu substitui todos os "possui" por "contém". Possuir significa ter posse de . É mais usado para pessoas com posse do que documentos que contêm informação</a:t>
            </a:r>
          </a:p>
        </p188:txBody>
      </p188:reply>
    </p188:replyLst>
    <p188:txBody>
      <a:bodyPr/>
      <a:lstStyle/>
      <a:p>
        <a:r>
          <a:rPr lang="en-US"/>
          <a:t>Processos manuais têm que ter o simbolo da pessoazinha (ver legenda)</a:t>
        </a:r>
      </a:p>
    </p188:txBody>
  </p188:cm>
  <p188:cm id="{D5CFAEB1-4221-436D-9ACB-501592C08954}" authorId="{DDB7A726-351F-AC51-3650-C06BCA5CB59A}" created="2023-06-28T20:38:53.5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47126943" sldId="277"/>
      <ac:spMk id="173" creationId="{00000000-0000-0000-0000-000000000000}"/>
    </ac:deMkLst>
    <p188:txBody>
      <a:bodyPr/>
      <a:lstStyle/>
      <a:p>
        <a:r>
          <a:rPr lang="en-US"/>
          <a:t>A métrica Gloval imóveis sem letra depende de que ficheiros? Comparativamente com as métricas adjudicados ? Ou é um input para as métricas de adjudicados? Fica confuso o sentido das setas</a:t>
        </a:r>
      </a:p>
    </p188:txBody>
  </p188:cm>
  <p188:cm id="{7FC3907F-74B7-43FB-BC30-A0B5CC2D73AD}" authorId="{DDB7A726-351F-AC51-3650-C06BCA5CB59A}" created="2023-06-28T20:55:38.40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47126943" sldId="277"/>
      <ac:spMk id="86" creationId="{F91FC4B8-A24D-4672-B416-1ED8AA9B6D21}"/>
    </ac:deMkLst>
    <p188:txBody>
      <a:bodyPr/>
      <a:lstStyle/>
      <a:p>
        <a:r>
          <a:rPr lang="en-US"/>
          <a:t>Gloval imóveis sem letra deveria ser "modelação de dados"?</a:t>
        </a:r>
      </a:p>
    </p188:txBody>
  </p188:cm>
</p188:cmLst>
</file>

<file path=ppt/comments/modernComment_118_E22132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AFAFCFC-CCD3-4080-B903-65A3376D4895}" authorId="{DDB7A726-351F-AC51-3650-C06BCA5CB59A}" created="2023-06-28T20:40:53.015">
    <pc:sldMkLst xmlns:pc="http://schemas.microsoft.com/office/powerpoint/2013/main/command">
      <pc:docMk/>
      <pc:sldMk cId="3793826398" sldId="280"/>
    </pc:sldMkLst>
    <p188:txBody>
      <a:bodyPr/>
      <a:lstStyle/>
      <a:p>
        <a:r>
          <a:rPr lang="en-US"/>
          <a:t>Qual o significado de métricas obtidas anteriormente vs modelação de dados ? Ou seja a CAPTOOLS e  CTRLGEST vão ser modelados apenas nesta fase para geração do tabela, partindo de cruzamentos de dados om o universo full e repartição de garantias?</a:t>
        </a:r>
      </a:p>
    </p188:txBody>
  </p188:cm>
</p188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1A185-3A53-4383-8D85-3951E9DB2EE9}" type="datetimeFigureOut">
              <a:rPr lang="pt-PT" smtClean="0"/>
              <a:t>29/06/2023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4CBB9-860E-4584-9943-013173697D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070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521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605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158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0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558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39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744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784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147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744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492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921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98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935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967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873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3589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7742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270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36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20.svg"/><Relationship Id="rId3" Type="http://schemas.openxmlformats.org/officeDocument/2006/relationships/image" Target="../media/image6.svg"/><Relationship Id="rId7" Type="http://schemas.openxmlformats.org/officeDocument/2006/relationships/image" Target="../media/image7.png"/><Relationship Id="rId12" Type="http://schemas.openxmlformats.org/officeDocument/2006/relationships/image" Target="../media/image14.sv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en.wikipedia.org/wiki/File:Circle-icons-global.svg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19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7" y="1096486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99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31" y="2722153"/>
            <a:ext cx="4934309" cy="24364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098" indent="0" algn="ctr">
              <a:buNone/>
              <a:defRPr sz="2000"/>
            </a:lvl2pPr>
            <a:lvl3pPr marL="914194" indent="0" algn="ctr">
              <a:buNone/>
              <a:defRPr sz="1900"/>
            </a:lvl3pPr>
            <a:lvl4pPr marL="1371292" indent="0" algn="ctr">
              <a:buNone/>
              <a:defRPr sz="1600"/>
            </a:lvl4pPr>
            <a:lvl5pPr marL="1828388" indent="0" algn="ctr">
              <a:buNone/>
              <a:defRPr sz="1600"/>
            </a:lvl5pPr>
            <a:lvl6pPr marL="2285485" indent="0" algn="ctr">
              <a:buNone/>
              <a:defRPr sz="1600"/>
            </a:lvl6pPr>
            <a:lvl7pPr marL="2742581" indent="0" algn="ctr">
              <a:buNone/>
              <a:defRPr sz="1600"/>
            </a:lvl7pPr>
            <a:lvl8pPr marL="3199679" indent="0" algn="ctr">
              <a:buNone/>
              <a:defRPr sz="1600"/>
            </a:lvl8pPr>
            <a:lvl9pPr marL="365677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49" y="333654"/>
            <a:ext cx="11177551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098" indent="0">
              <a:buNone/>
              <a:defRPr sz="1300">
                <a:solidFill>
                  <a:schemeClr val="tx2"/>
                </a:solidFill>
              </a:defRPr>
            </a:lvl2pPr>
            <a:lvl3pPr marL="914194" indent="0">
              <a:buNone/>
              <a:defRPr sz="1300">
                <a:solidFill>
                  <a:schemeClr val="tx2"/>
                </a:solidFill>
              </a:defRPr>
            </a:lvl3pPr>
            <a:lvl4pPr marL="1371292" indent="0">
              <a:buNone/>
              <a:defRPr sz="1300">
                <a:solidFill>
                  <a:schemeClr val="tx2"/>
                </a:solidFill>
              </a:defRPr>
            </a:lvl4pPr>
            <a:lvl5pPr marL="182838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635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/>
        </p:nvSpPr>
        <p:spPr>
          <a:xfrm>
            <a:off x="722533" y="312279"/>
            <a:ext cx="1849822" cy="29751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2" y="1100250"/>
            <a:ext cx="10635842" cy="4906665"/>
          </a:xfrm>
        </p:spPr>
        <p:txBody>
          <a:bodyPr>
            <a:normAutofit/>
          </a:bodyPr>
          <a:lstStyle>
            <a:lvl1pPr marL="431903" indent="-395911">
              <a:buClr>
                <a:schemeClr val="accent1"/>
              </a:buClr>
              <a:buSzPct val="45000"/>
              <a:buFont typeface="+mj-lt"/>
              <a:buAutoNum type="arabicPeriod"/>
              <a:defRPr lang="es-ES" sz="3999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61227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26374"/>
            <a:ext cx="4386195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9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/>
        </p:nvSpPr>
        <p:spPr>
          <a:xfrm>
            <a:off x="8925342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39"/>
            <a:ext cx="2958755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97">
                <a:solidFill>
                  <a:schemeClr val="bg1"/>
                </a:solidFill>
              </a:defRPr>
            </a:lvl1pPr>
            <a:lvl2pPr>
              <a:defRPr sz="13897">
                <a:solidFill>
                  <a:schemeClr val="tx1"/>
                </a:solidFill>
              </a:defRPr>
            </a:lvl2pPr>
            <a:lvl3pPr>
              <a:defRPr sz="11498">
                <a:solidFill>
                  <a:schemeClr val="tx1"/>
                </a:solidFill>
              </a:defRPr>
            </a:lvl3pPr>
            <a:lvl4pPr>
              <a:defRPr sz="9598">
                <a:solidFill>
                  <a:schemeClr val="tx1"/>
                </a:solidFill>
              </a:defRPr>
            </a:lvl4pPr>
            <a:lvl5pPr>
              <a:defRPr sz="9598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13111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087470"/>
            <a:ext cx="5297558" cy="1606047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7" y="3093575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81" y="1087467"/>
            <a:ext cx="5081004" cy="50895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017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4" y="1087469"/>
            <a:ext cx="10758733" cy="1823011"/>
          </a:xfrm>
        </p:spPr>
        <p:txBody>
          <a:bodyPr anchor="t">
            <a:no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34" y="3093575"/>
            <a:ext cx="10758733" cy="3083401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645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2" y="1109773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33" y="1126273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350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087459"/>
            <a:ext cx="3911401" cy="1183132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2517178"/>
            <a:ext cx="3911401" cy="365979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6" y="1087448"/>
            <a:ext cx="6683551" cy="5122863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647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49851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6" y="1707778"/>
            <a:ext cx="6612966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6" y="1191803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4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4" y="1191812"/>
            <a:ext cx="6456737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1" y="1993912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72" y="1993912"/>
            <a:ext cx="6472719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/>
        </p:nvSpPr>
        <p:spPr>
          <a:xfrm>
            <a:off x="4742397" y="3685073"/>
            <a:ext cx="187150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300071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11" y="5229931"/>
            <a:ext cx="12192000" cy="1628079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9" y="5573156"/>
            <a:ext cx="1347482" cy="45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/>
        </p:nvGrpSpPr>
        <p:grpSpPr>
          <a:xfrm>
            <a:off x="7612571" y="5573588"/>
            <a:ext cx="578706" cy="455018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98" y="1945652"/>
            <a:ext cx="3365479" cy="1384672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15" y="628205"/>
            <a:ext cx="3365479" cy="70788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3999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pic>
        <p:nvPicPr>
          <p:cNvPr id="14" name="Imagen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6" y="3458200"/>
            <a:ext cx="3046638" cy="29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 dirty="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A15B30-D7C7-F3D3-1E4D-D8B366C42DCA}"/>
              </a:ext>
            </a:extLst>
          </p:cNvPr>
          <p:cNvGrpSpPr/>
          <p:nvPr/>
        </p:nvGrpSpPr>
        <p:grpSpPr>
          <a:xfrm>
            <a:off x="9357756" y="40633"/>
            <a:ext cx="2803762" cy="1059262"/>
            <a:chOff x="9354484" y="1805841"/>
            <a:chExt cx="2803397" cy="1059507"/>
          </a:xfrm>
        </p:grpSpPr>
        <p:sp>
          <p:nvSpPr>
            <p:cNvPr id="4" name="Rectangle 38">
              <a:extLst>
                <a:ext uri="{FF2B5EF4-FFF2-40B4-BE49-F238E27FC236}">
                  <a16:creationId xmlns:a16="http://schemas.microsoft.com/office/drawing/2014/main" id="{8CA58985-9CC8-8896-BD97-014C3900916C}"/>
                </a:ext>
              </a:extLst>
            </p:cNvPr>
            <p:cNvSpPr/>
            <p:nvPr/>
          </p:nvSpPr>
          <p:spPr>
            <a:xfrm>
              <a:off x="9354484" y="1805841"/>
              <a:ext cx="2803397" cy="1059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00" dirty="0"/>
            </a:p>
          </p:txBody>
        </p:sp>
        <p:sp>
          <p:nvSpPr>
            <p:cNvPr id="5" name="TextBox 46">
              <a:extLst>
                <a:ext uri="{FF2B5EF4-FFF2-40B4-BE49-F238E27FC236}">
                  <a16:creationId xmlns:a16="http://schemas.microsoft.com/office/drawing/2014/main" id="{89456AD8-C20C-B71C-4D91-193C279194C5}"/>
                </a:ext>
              </a:extLst>
            </p:cNvPr>
            <p:cNvSpPr txBox="1"/>
            <p:nvPr/>
          </p:nvSpPr>
          <p:spPr>
            <a:xfrm>
              <a:off x="10509154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Process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A960643-94D8-531F-1A13-74881734AF1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1908391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A4EB97E2-93A6-1AFC-BB27-6680F82A8155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xmlns="" r:id="rId6"/>
                </a:ext>
              </a:extLst>
            </a:blip>
            <a:stretch>
              <a:fillRect/>
            </a:stretch>
          </p:blipFill>
          <p:spPr>
            <a:xfrm>
              <a:off x="11170862" y="1908391"/>
              <a:ext cx="252000" cy="252000"/>
            </a:xfrm>
            <a:prstGeom prst="rect">
              <a:avLst/>
            </a:prstGeom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EC0B4DCB-F371-59B3-9242-8524A08231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2198865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9A1534-6E16-2182-5AE3-939C8050B34F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11569" y="2489339"/>
              <a:ext cx="252000" cy="252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E1C53A-6DF4-15DF-6DC4-D5E70A32BB82}"/>
                </a:ext>
              </a:extLst>
            </p:cNvPr>
            <p:cNvPicPr>
              <a:picLocks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0862" y="2198865"/>
              <a:ext cx="252000" cy="252000"/>
            </a:xfrm>
            <a:prstGeom prst="ellipse">
              <a:avLst/>
            </a:prstGeom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C9E3940-3A23-D23F-E647-EF5CB645B22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0862" y="2489339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92B64F1-C557-F3EF-3265-8E2CE27B90E6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489339"/>
              <a:ext cx="252000" cy="252000"/>
              <a:chOff x="455122" y="3851392"/>
              <a:chExt cx="648000" cy="648000"/>
            </a:xfrm>
          </p:grpSpPr>
          <p:sp>
            <p:nvSpPr>
              <p:cNvPr id="28" name="Oval 2">
                <a:extLst>
                  <a:ext uri="{FF2B5EF4-FFF2-40B4-BE49-F238E27FC236}">
                    <a16:creationId xmlns:a16="http://schemas.microsoft.com/office/drawing/2014/main" id="{BCC75B9A-22B4-8C1D-ABFB-D21763710FD4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29" name="Grupo 14">
                <a:extLst>
                  <a:ext uri="{FF2B5EF4-FFF2-40B4-BE49-F238E27FC236}">
                    <a16:creationId xmlns:a16="http://schemas.microsoft.com/office/drawing/2014/main" id="{71B8431D-BB60-D858-2E6C-D578B71A94B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30" name="Freeform 52">
                  <a:extLst>
                    <a:ext uri="{FF2B5EF4-FFF2-40B4-BE49-F238E27FC236}">
                      <a16:creationId xmlns:a16="http://schemas.microsoft.com/office/drawing/2014/main" id="{10E60A65-5922-1D4A-E1FF-E9DDF15557A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1" name="Freeform 53">
                  <a:extLst>
                    <a:ext uri="{FF2B5EF4-FFF2-40B4-BE49-F238E27FC236}">
                      <a16:creationId xmlns:a16="http://schemas.microsoft.com/office/drawing/2014/main" id="{9ADFC2AA-4E01-3665-763A-AE3544F719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2" name="Freeform 54">
                  <a:extLst>
                    <a:ext uri="{FF2B5EF4-FFF2-40B4-BE49-F238E27FC236}">
                      <a16:creationId xmlns:a16="http://schemas.microsoft.com/office/drawing/2014/main" id="{EE18430C-5A4F-46A0-D968-DA89E814E08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3" name="Freeform 55">
                  <a:extLst>
                    <a:ext uri="{FF2B5EF4-FFF2-40B4-BE49-F238E27FC236}">
                      <a16:creationId xmlns:a16="http://schemas.microsoft.com/office/drawing/2014/main" id="{BC78A244-578B-D097-F939-17E7A5BB0DA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4" name="Freeform 56">
                  <a:extLst>
                    <a:ext uri="{FF2B5EF4-FFF2-40B4-BE49-F238E27FC236}">
                      <a16:creationId xmlns:a16="http://schemas.microsoft.com/office/drawing/2014/main" id="{D53A2118-ABFE-AB5D-9DBA-4BD9779834B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5" name="Freeform 57">
                  <a:extLst>
                    <a:ext uri="{FF2B5EF4-FFF2-40B4-BE49-F238E27FC236}">
                      <a16:creationId xmlns:a16="http://schemas.microsoft.com/office/drawing/2014/main" id="{8DC9B12B-A1FD-6D7D-BDF6-E012CDE51E3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0B8236-9567-6F29-8D0A-99F51FFCA2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198865"/>
              <a:ext cx="252000" cy="252000"/>
              <a:chOff x="455122" y="4977513"/>
              <a:chExt cx="648000" cy="648000"/>
            </a:xfrm>
          </p:grpSpPr>
          <p:sp>
            <p:nvSpPr>
              <p:cNvPr id="26" name="Oval 2">
                <a:extLst>
                  <a:ext uri="{FF2B5EF4-FFF2-40B4-BE49-F238E27FC236}">
                    <a16:creationId xmlns:a16="http://schemas.microsoft.com/office/drawing/2014/main" id="{2034CF06-4482-17F0-D263-A83CFD42F1C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7" name="Graphic 26" descr="Database with solid fill">
                <a:extLst>
                  <a:ext uri="{FF2B5EF4-FFF2-40B4-BE49-F238E27FC236}">
                    <a16:creationId xmlns:a16="http://schemas.microsoft.com/office/drawing/2014/main" id="{4F92ACC6-380C-FE3B-6F6F-256235FE8F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B8514FD-462B-E658-D111-2C8C242F18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1908391"/>
              <a:ext cx="252000" cy="252000"/>
              <a:chOff x="1498452" y="4969551"/>
              <a:chExt cx="648000" cy="648000"/>
            </a:xfrm>
          </p:grpSpPr>
          <p:sp>
            <p:nvSpPr>
              <p:cNvPr id="24" name="Oval 2">
                <a:extLst>
                  <a:ext uri="{FF2B5EF4-FFF2-40B4-BE49-F238E27FC236}">
                    <a16:creationId xmlns:a16="http://schemas.microsoft.com/office/drawing/2014/main" id="{86F4A0D8-4FDC-36F9-0302-F881BEA9BCE6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5" name="Graphic 24" descr="Server with solid fill">
                <a:extLst>
                  <a:ext uri="{FF2B5EF4-FFF2-40B4-BE49-F238E27FC236}">
                    <a16:creationId xmlns:a16="http://schemas.microsoft.com/office/drawing/2014/main" id="{622FDC57-B3D7-ADC4-4E67-DDF742907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6" name="TextBox 46">
              <a:extLst>
                <a:ext uri="{FF2B5EF4-FFF2-40B4-BE49-F238E27FC236}">
                  <a16:creationId xmlns:a16="http://schemas.microsoft.com/office/drawing/2014/main" id="{B26B2B32-7538-7F5C-D44B-83A945610AA3}"/>
                </a:ext>
              </a:extLst>
            </p:cNvPr>
            <p:cNvSpPr txBox="1"/>
            <p:nvPr/>
          </p:nvSpPr>
          <p:spPr>
            <a:xfrm>
              <a:off x="10509154" y="2221086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Output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7" name="TextBox 46">
              <a:extLst>
                <a:ext uri="{FF2B5EF4-FFF2-40B4-BE49-F238E27FC236}">
                  <a16:creationId xmlns:a16="http://schemas.microsoft.com/office/drawing/2014/main" id="{850B8860-CA69-AACC-54E7-402FBA53B86F}"/>
                </a:ext>
              </a:extLst>
            </p:cNvPr>
            <p:cNvSpPr txBox="1"/>
            <p:nvPr/>
          </p:nvSpPr>
          <p:spPr>
            <a:xfrm>
              <a:off x="10509154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EUC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TextBox 46">
              <a:extLst>
                <a:ext uri="{FF2B5EF4-FFF2-40B4-BE49-F238E27FC236}">
                  <a16:creationId xmlns:a16="http://schemas.microsoft.com/office/drawing/2014/main" id="{9A4A7983-145A-4B9D-F863-03FB892AE2E8}"/>
                </a:ext>
              </a:extLst>
            </p:cNvPr>
            <p:cNvSpPr txBox="1"/>
            <p:nvPr/>
          </p:nvSpPr>
          <p:spPr>
            <a:xfrm>
              <a:off x="9658053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S.Ope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TextBox 46">
              <a:extLst>
                <a:ext uri="{FF2B5EF4-FFF2-40B4-BE49-F238E27FC236}">
                  <a16:creationId xmlns:a16="http://schemas.microsoft.com/office/drawing/2014/main" id="{522527F4-E338-3679-4C37-4A317E34E55A}"/>
                </a:ext>
              </a:extLst>
            </p:cNvPr>
            <p:cNvSpPr txBox="1"/>
            <p:nvPr/>
          </p:nvSpPr>
          <p:spPr>
            <a:xfrm>
              <a:off x="9658053" y="2221086"/>
              <a:ext cx="5932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S.Inf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" name="TextBox 46">
              <a:extLst>
                <a:ext uri="{FF2B5EF4-FFF2-40B4-BE49-F238E27FC236}">
                  <a16:creationId xmlns:a16="http://schemas.microsoft.com/office/drawing/2014/main" id="{651E1137-51DD-A959-937F-44E1ECE7C854}"/>
                </a:ext>
              </a:extLst>
            </p:cNvPr>
            <p:cNvSpPr txBox="1"/>
            <p:nvPr/>
          </p:nvSpPr>
          <p:spPr>
            <a:xfrm>
              <a:off x="9658053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Motor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1" name="TextBox 46">
              <a:extLst>
                <a:ext uri="{FF2B5EF4-FFF2-40B4-BE49-F238E27FC236}">
                  <a16:creationId xmlns:a16="http://schemas.microsoft.com/office/drawing/2014/main" id="{6AF95050-5BEA-46FF-CB7A-2DEC8F16FF28}"/>
                </a:ext>
              </a:extLst>
            </p:cNvPr>
            <p:cNvSpPr txBox="1"/>
            <p:nvPr/>
          </p:nvSpPr>
          <p:spPr>
            <a:xfrm>
              <a:off x="11430372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Externo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46">
              <a:extLst>
                <a:ext uri="{FF2B5EF4-FFF2-40B4-BE49-F238E27FC236}">
                  <a16:creationId xmlns:a16="http://schemas.microsoft.com/office/drawing/2014/main" id="{596D2C81-8C62-610C-CADD-F60E8BCADB1E}"/>
                </a:ext>
              </a:extLst>
            </p:cNvPr>
            <p:cNvSpPr txBox="1"/>
            <p:nvPr/>
          </p:nvSpPr>
          <p:spPr>
            <a:xfrm>
              <a:off x="11430372" y="2221086"/>
              <a:ext cx="72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Corporação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TextBox 46">
              <a:extLst>
                <a:ext uri="{FF2B5EF4-FFF2-40B4-BE49-F238E27FC236}">
                  <a16:creationId xmlns:a16="http://schemas.microsoft.com/office/drawing/2014/main" id="{AF54E3E0-80BA-EC39-C78E-EE08B5A575C9}"/>
                </a:ext>
              </a:extLst>
            </p:cNvPr>
            <p:cNvSpPr txBox="1"/>
            <p:nvPr/>
          </p:nvSpPr>
          <p:spPr>
            <a:xfrm>
              <a:off x="11430372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Métrica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6" name="MetricID">
            <a:extLst>
              <a:ext uri="{FF2B5EF4-FFF2-40B4-BE49-F238E27FC236}">
                <a16:creationId xmlns:a16="http://schemas.microsoft.com/office/drawing/2014/main" id="{934D16A5-F4B1-2E54-640F-0CDFB5B821E0}"/>
              </a:ext>
            </a:extLst>
          </p:cNvPr>
          <p:cNvSpPr txBox="1"/>
          <p:nvPr/>
        </p:nvSpPr>
        <p:spPr>
          <a:xfrm>
            <a:off x="2413768" y="6438184"/>
            <a:ext cx="1944000" cy="2461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Existem Controlos</a:t>
            </a:r>
          </a:p>
        </p:txBody>
      </p:sp>
      <p:pic>
        <p:nvPicPr>
          <p:cNvPr id="37" name="Imagen 18">
            <a:extLst>
              <a:ext uri="{FF2B5EF4-FFF2-40B4-BE49-F238E27FC236}">
                <a16:creationId xmlns:a16="http://schemas.microsoft.com/office/drawing/2014/main" id="{777A7514-5840-5B6B-F509-CC44C2F2C929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1" y="6440690"/>
            <a:ext cx="241169" cy="241082"/>
          </a:xfrm>
          <a:prstGeom prst="rect">
            <a:avLst/>
          </a:prstGeom>
        </p:spPr>
      </p:pic>
      <p:sp>
        <p:nvSpPr>
          <p:cNvPr id="38" name="MetricID">
            <a:extLst>
              <a:ext uri="{FF2B5EF4-FFF2-40B4-BE49-F238E27FC236}">
                <a16:creationId xmlns:a16="http://schemas.microsoft.com/office/drawing/2014/main" id="{E95AB4DF-04AD-8A3D-8557-4E27E244D1E5}"/>
              </a:ext>
            </a:extLst>
          </p:cNvPr>
          <p:cNvSpPr txBox="1"/>
          <p:nvPr/>
        </p:nvSpPr>
        <p:spPr>
          <a:xfrm>
            <a:off x="7295783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 documentação técnica</a:t>
            </a:r>
          </a:p>
        </p:txBody>
      </p:sp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271CCEFC-5D0E-650C-3E34-53E4014B2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911" y="6440690"/>
            <a:ext cx="241169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MetricID">
            <a:extLst>
              <a:ext uri="{FF2B5EF4-FFF2-40B4-BE49-F238E27FC236}">
                <a16:creationId xmlns:a16="http://schemas.microsoft.com/office/drawing/2014/main" id="{6E52B15F-569E-6C50-2845-60B47C381230}"/>
              </a:ext>
            </a:extLst>
          </p:cNvPr>
          <p:cNvSpPr txBox="1"/>
          <p:nvPr/>
        </p:nvSpPr>
        <p:spPr>
          <a:xfrm>
            <a:off x="9683270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Processo manual</a:t>
            </a:r>
          </a:p>
        </p:txBody>
      </p:sp>
      <p:pic>
        <p:nvPicPr>
          <p:cNvPr id="41" name="Graphic 40" descr="Single gear with solid fill">
            <a:extLst>
              <a:ext uri="{FF2B5EF4-FFF2-40B4-BE49-F238E27FC236}">
                <a16:creationId xmlns:a16="http://schemas.microsoft.com/office/drawing/2014/main" id="{7BF27852-3D87-78CF-4799-97993DFB2B8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3969766" y="6435260"/>
            <a:ext cx="252033" cy="251942"/>
          </a:xfrm>
          <a:prstGeom prst="rect">
            <a:avLst/>
          </a:prstGeom>
        </p:spPr>
      </p:pic>
      <p:sp>
        <p:nvSpPr>
          <p:cNvPr id="42" name="MetricID">
            <a:extLst>
              <a:ext uri="{FF2B5EF4-FFF2-40B4-BE49-F238E27FC236}">
                <a16:creationId xmlns:a16="http://schemas.microsoft.com/office/drawing/2014/main" id="{30BF2E23-1C7C-A9ED-1426-9CBB364A072C}"/>
              </a:ext>
            </a:extLst>
          </p:cNvPr>
          <p:cNvSpPr txBox="1"/>
          <p:nvPr/>
        </p:nvSpPr>
        <p:spPr>
          <a:xfrm>
            <a:off x="4238716" y="6438152"/>
            <a:ext cx="2568263" cy="246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Existem Controlos não documentados</a:t>
            </a:r>
          </a:p>
        </p:txBody>
      </p:sp>
      <p:pic>
        <p:nvPicPr>
          <p:cNvPr id="43" name="Graphic 42" descr="Single gear outline">
            <a:extLst>
              <a:ext uri="{FF2B5EF4-FFF2-40B4-BE49-F238E27FC236}">
                <a16:creationId xmlns:a16="http://schemas.microsoft.com/office/drawing/2014/main" id="{E076CB04-0133-53FC-CD89-830F8E78D2E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2130727" y="6417264"/>
            <a:ext cx="288037" cy="287933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775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 dirty="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77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1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10" y="1825624"/>
            <a:ext cx="10515600" cy="4351338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10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08D38-0FC1-424A-9F8E-E8315B0648D8}" type="datetimeFigureOut">
              <a:rPr lang="pt-PT" smtClean="0"/>
              <a:t>29/06/2023</a:t>
            </a:fld>
            <a:endParaRPr lang="pt-P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0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3511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194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8" indent="-228548" algn="l" defTabSz="91419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46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4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40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3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34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3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2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325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94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92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8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85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81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79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76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svg"/><Relationship Id="rId3" Type="http://schemas.openxmlformats.org/officeDocument/2006/relationships/tags" Target="../tags/tag2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6.sv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20.png"/><Relationship Id="rId10" Type="http://schemas.openxmlformats.org/officeDocument/2006/relationships/image" Target="../media/image19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18" Type="http://schemas.openxmlformats.org/officeDocument/2006/relationships/image" Target="../media/image14.png"/><Relationship Id="rId3" Type="http://schemas.openxmlformats.org/officeDocument/2006/relationships/tags" Target="../tags/tag4.xml"/><Relationship Id="rId7" Type="http://schemas.openxmlformats.org/officeDocument/2006/relationships/image" Target="../media/image17.emf"/><Relationship Id="rId12" Type="http://schemas.openxmlformats.org/officeDocument/2006/relationships/image" Target="../media/image23.png"/><Relationship Id="rId17" Type="http://schemas.openxmlformats.org/officeDocument/2006/relationships/image" Target="../media/image20.png"/><Relationship Id="rId2" Type="http://schemas.openxmlformats.org/officeDocument/2006/relationships/tags" Target="../tags/tag3.xml"/><Relationship Id="rId16" Type="http://schemas.openxmlformats.org/officeDocument/2006/relationships/image" Target="../media/image27.png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2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26.png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1.xml"/><Relationship Id="rId9" Type="http://schemas.openxmlformats.org/officeDocument/2006/relationships/hyperlink" Target="https://en.wikipedia.org/wiki/File:Circle-icons-global.svg" TargetMode="External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E_2276B348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7.emf"/><Relationship Id="rId3" Type="http://schemas.openxmlformats.org/officeDocument/2006/relationships/tags" Target="../tags/tag6.xml"/><Relationship Id="rId7" Type="http://schemas.openxmlformats.org/officeDocument/2006/relationships/image" Target="../media/image16.svg"/><Relationship Id="rId12" Type="http://schemas.openxmlformats.org/officeDocument/2006/relationships/oleObject" Target="../embeddings/oleObject3.bin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png"/><Relationship Id="rId11" Type="http://schemas.openxmlformats.org/officeDocument/2006/relationships/image" Target="../media/image14.svg"/><Relationship Id="rId5" Type="http://schemas.openxmlformats.org/officeDocument/2006/relationships/notesSlide" Target="../notesSlides/notesSlide3.xml"/><Relationship Id="rId15" Type="http://schemas.openxmlformats.org/officeDocument/2006/relationships/image" Target="../media/image20.png"/><Relationship Id="rId10" Type="http://schemas.openxmlformats.org/officeDocument/2006/relationships/image" Target="../media/image18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2.sv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8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0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2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Relationship Id="rId1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6.png"/><Relationship Id="rId3" Type="http://schemas.openxmlformats.org/officeDocument/2006/relationships/tags" Target="../tags/tag14.xml"/><Relationship Id="rId7" Type="http://schemas.openxmlformats.org/officeDocument/2006/relationships/image" Target="../media/image14.svg"/><Relationship Id="rId12" Type="http://schemas.openxmlformats.org/officeDocument/2006/relationships/image" Target="../media/image13.png"/><Relationship Id="rId2" Type="http://schemas.openxmlformats.org/officeDocument/2006/relationships/tags" Target="../tags/tag13.xml"/><Relationship Id="rId16" Type="http://schemas.openxmlformats.org/officeDocument/2006/relationships/image" Target="../media/image16.svg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notesSlide" Target="../notesSlides/notesSlide7.xml"/><Relationship Id="rId15" Type="http://schemas.openxmlformats.org/officeDocument/2006/relationships/image" Target="../media/image19.png"/><Relationship Id="rId10" Type="http://schemas.openxmlformats.org/officeDocument/2006/relationships/image" Target="../media/image28.jpe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9.png"/><Relationship Id="rId3" Type="http://schemas.openxmlformats.org/officeDocument/2006/relationships/tags" Target="../tags/tag16.xml"/><Relationship Id="rId7" Type="http://schemas.openxmlformats.org/officeDocument/2006/relationships/image" Target="../media/image14.svg"/><Relationship Id="rId12" Type="http://schemas.openxmlformats.org/officeDocument/2006/relationships/image" Target="../media/image22.svg"/><Relationship Id="rId2" Type="http://schemas.openxmlformats.org/officeDocument/2006/relationships/tags" Target="../tags/tag1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png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8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Relationship Id="rId1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png"/><Relationship Id="rId3" Type="http://schemas.openxmlformats.org/officeDocument/2006/relationships/tags" Target="../tags/tag20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2" Type="http://schemas.openxmlformats.org/officeDocument/2006/relationships/tags" Target="../tags/tag19.xml"/><Relationship Id="rId16" Type="http://schemas.microsoft.com/office/2018/10/relationships/comments" Target="../comments/modernComment_111_27737CFD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0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25.png"/><Relationship Id="rId3" Type="http://schemas.openxmlformats.org/officeDocument/2006/relationships/tags" Target="../tags/tag22.xml"/><Relationship Id="rId7" Type="http://schemas.openxmlformats.org/officeDocument/2006/relationships/image" Target="../media/image14.svg"/><Relationship Id="rId12" Type="http://schemas.openxmlformats.org/officeDocument/2006/relationships/image" Target="../media/image22.svg"/><Relationship Id="rId2" Type="http://schemas.openxmlformats.org/officeDocument/2006/relationships/tags" Target="../tags/tag21.xml"/><Relationship Id="rId16" Type="http://schemas.microsoft.com/office/2018/10/relationships/comments" Target="../comments/modernComment_112_F9FE6780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png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1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png"/><Relationship Id="rId3" Type="http://schemas.openxmlformats.org/officeDocument/2006/relationships/tags" Target="../tags/tag24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2" Type="http://schemas.openxmlformats.org/officeDocument/2006/relationships/tags" Target="../tags/tag2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2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png"/><Relationship Id="rId18" Type="http://schemas.microsoft.com/office/2018/10/relationships/comments" Target="../comments/modernComment_114_776B72A7.xml"/><Relationship Id="rId3" Type="http://schemas.openxmlformats.org/officeDocument/2006/relationships/tags" Target="../tags/tag26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30.png"/><Relationship Id="rId2" Type="http://schemas.openxmlformats.org/officeDocument/2006/relationships/tags" Target="../tags/tag25.xml"/><Relationship Id="rId16" Type="http://schemas.openxmlformats.org/officeDocument/2006/relationships/image" Target="../media/image8.png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3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2.svg"/><Relationship Id="rId3" Type="http://schemas.openxmlformats.org/officeDocument/2006/relationships/tags" Target="../tags/tag28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17" Type="http://schemas.microsoft.com/office/2018/10/relationships/comments" Target="../comments/modernComment_115_CD76FB9F.xml"/><Relationship Id="rId2" Type="http://schemas.openxmlformats.org/officeDocument/2006/relationships/tags" Target="../tags/tag27.xml"/><Relationship Id="rId16" Type="http://schemas.openxmlformats.org/officeDocument/2006/relationships/image" Target="../media/image20.svg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14.xml"/><Relationship Id="rId15" Type="http://schemas.openxmlformats.org/officeDocument/2006/relationships/image" Target="../media/image29.png"/><Relationship Id="rId10" Type="http://schemas.openxmlformats.org/officeDocument/2006/relationships/image" Target="../media/image14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8.png"/><Relationship Id="rId1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30.xml"/><Relationship Id="rId7" Type="http://schemas.openxmlformats.org/officeDocument/2006/relationships/image" Target="../media/image17.emf"/><Relationship Id="rId2" Type="http://schemas.openxmlformats.org/officeDocument/2006/relationships/tags" Target="../tags/tag29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15.xml"/><Relationship Id="rId10" Type="http://schemas.openxmlformats.org/officeDocument/2006/relationships/image" Target="../media/image2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4.svg"/><Relationship Id="rId18" Type="http://schemas.openxmlformats.org/officeDocument/2006/relationships/image" Target="../media/image30.png"/><Relationship Id="rId3" Type="http://schemas.openxmlformats.org/officeDocument/2006/relationships/tags" Target="../tags/tag32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17" Type="http://schemas.openxmlformats.org/officeDocument/2006/relationships/image" Target="../media/image8.png"/><Relationship Id="rId2" Type="http://schemas.openxmlformats.org/officeDocument/2006/relationships/tags" Target="../tags/tag31.xml"/><Relationship Id="rId16" Type="http://schemas.openxmlformats.org/officeDocument/2006/relationships/image" Target="../media/image22.svg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0.svg"/><Relationship Id="rId5" Type="http://schemas.openxmlformats.org/officeDocument/2006/relationships/notesSlide" Target="../notesSlides/notesSlide16.xml"/><Relationship Id="rId15" Type="http://schemas.openxmlformats.org/officeDocument/2006/relationships/image" Target="../media/image16.png"/><Relationship Id="rId10" Type="http://schemas.openxmlformats.org/officeDocument/2006/relationships/image" Target="../media/image29.png"/><Relationship Id="rId19" Type="http://schemas.microsoft.com/office/2018/10/relationships/comments" Target="../comments/modernComment_118_E221325E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5.png"/><Relationship Id="rId1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4.svg"/><Relationship Id="rId3" Type="http://schemas.openxmlformats.org/officeDocument/2006/relationships/tags" Target="../tags/tag34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33.xml"/><Relationship Id="rId16" Type="http://schemas.openxmlformats.org/officeDocument/2006/relationships/image" Target="../media/image22.svg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0.svg"/><Relationship Id="rId5" Type="http://schemas.openxmlformats.org/officeDocument/2006/relationships/notesSlide" Target="../notesSlides/notesSlide17.xml"/><Relationship Id="rId15" Type="http://schemas.openxmlformats.org/officeDocument/2006/relationships/image" Target="../media/image16.png"/><Relationship Id="rId10" Type="http://schemas.openxmlformats.org/officeDocument/2006/relationships/image" Target="../media/image29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5.png"/><Relationship Id="rId1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3.png"/><Relationship Id="rId3" Type="http://schemas.openxmlformats.org/officeDocument/2006/relationships/tags" Target="../tags/tag36.xml"/><Relationship Id="rId7" Type="http://schemas.openxmlformats.org/officeDocument/2006/relationships/image" Target="../media/image17.emf"/><Relationship Id="rId12" Type="http://schemas.openxmlformats.org/officeDocument/2006/relationships/image" Target="../media/image14.svg"/><Relationship Id="rId2" Type="http://schemas.openxmlformats.org/officeDocument/2006/relationships/tags" Target="../tags/tag35.xml"/><Relationship Id="rId16" Type="http://schemas.openxmlformats.org/officeDocument/2006/relationships/image" Target="../media/image22.svg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8.png"/><Relationship Id="rId5" Type="http://schemas.openxmlformats.org/officeDocument/2006/relationships/notesSlide" Target="../notesSlides/notesSlide18.xml"/><Relationship Id="rId15" Type="http://schemas.openxmlformats.org/officeDocument/2006/relationships/image" Target="../media/image16.png"/><Relationship Id="rId10" Type="http://schemas.openxmlformats.org/officeDocument/2006/relationships/image" Target="../media/image2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Relationship Id="rId1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3.png"/><Relationship Id="rId18" Type="http://schemas.openxmlformats.org/officeDocument/2006/relationships/image" Target="../media/image23.png"/><Relationship Id="rId3" Type="http://schemas.openxmlformats.org/officeDocument/2006/relationships/tags" Target="../tags/tag38.xml"/><Relationship Id="rId7" Type="http://schemas.openxmlformats.org/officeDocument/2006/relationships/image" Target="../media/image17.emf"/><Relationship Id="rId12" Type="http://schemas.openxmlformats.org/officeDocument/2006/relationships/image" Target="../media/image14.svg"/><Relationship Id="rId17" Type="http://schemas.openxmlformats.org/officeDocument/2006/relationships/image" Target="../media/image30.png"/><Relationship Id="rId2" Type="http://schemas.openxmlformats.org/officeDocument/2006/relationships/tags" Target="../tags/tag37.xml"/><Relationship Id="rId16" Type="http://schemas.openxmlformats.org/officeDocument/2006/relationships/image" Target="../media/image8.png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8.png"/><Relationship Id="rId5" Type="http://schemas.openxmlformats.org/officeDocument/2006/relationships/notesSlide" Target="../notesSlides/notesSlide19.xml"/><Relationship Id="rId15" Type="http://schemas.openxmlformats.org/officeDocument/2006/relationships/image" Target="../media/image22.svg"/><Relationship Id="rId10" Type="http://schemas.openxmlformats.org/officeDocument/2006/relationships/image" Target="../media/image2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Relationship Id="rId1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3.png"/><Relationship Id="rId18" Type="http://schemas.openxmlformats.org/officeDocument/2006/relationships/image" Target="../media/image30.png"/><Relationship Id="rId3" Type="http://schemas.openxmlformats.org/officeDocument/2006/relationships/tags" Target="../tags/tag40.xml"/><Relationship Id="rId7" Type="http://schemas.openxmlformats.org/officeDocument/2006/relationships/image" Target="../media/image17.emf"/><Relationship Id="rId12" Type="http://schemas.openxmlformats.org/officeDocument/2006/relationships/image" Target="../media/image14.svg"/><Relationship Id="rId17" Type="http://schemas.openxmlformats.org/officeDocument/2006/relationships/image" Target="../media/image8.png"/><Relationship Id="rId2" Type="http://schemas.openxmlformats.org/officeDocument/2006/relationships/tags" Target="../tags/tag39.xml"/><Relationship Id="rId16" Type="http://schemas.openxmlformats.org/officeDocument/2006/relationships/image" Target="../media/image23.png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8.png"/><Relationship Id="rId5" Type="http://schemas.openxmlformats.org/officeDocument/2006/relationships/notesSlide" Target="../notesSlides/notesSlide20.xml"/><Relationship Id="rId15" Type="http://schemas.openxmlformats.org/officeDocument/2006/relationships/image" Target="../media/image22.svg"/><Relationship Id="rId10" Type="http://schemas.openxmlformats.org/officeDocument/2006/relationships/image" Target="../media/image2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Relationship Id="rId1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685" y="1096486"/>
            <a:ext cx="6423711" cy="1407004"/>
          </a:xfrm>
        </p:spPr>
        <p:txBody>
          <a:bodyPr>
            <a:normAutofit/>
          </a:bodyPr>
          <a:lstStyle/>
          <a:p>
            <a:r>
              <a:rPr lang="pt-PT" dirty="0"/>
              <a:t>Fluxo de Dados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 err="1"/>
              <a:t>Neyond</a:t>
            </a:r>
            <a:r>
              <a:rPr lang="pt-PT" dirty="0"/>
              <a:t> – BS | Pilar III ESG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/>
              <a:t>Data 	Lisboa	30/06/2023</a:t>
            </a:r>
          </a:p>
        </p:txBody>
      </p:sp>
    </p:spTree>
    <p:extLst>
      <p:ext uri="{BB962C8B-B14F-4D97-AF65-F5344CB8AC3E}">
        <p14:creationId xmlns:p14="http://schemas.microsoft.com/office/powerpoint/2010/main" val="378942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pt-PT" dirty="0"/>
              <a:t>Símbolos</a:t>
            </a:r>
          </a:p>
          <a:p>
            <a:r>
              <a:rPr lang="pt-PT" i="1" dirty="0" err="1"/>
              <a:t>Governance</a:t>
            </a:r>
            <a:endParaRPr lang="pt-PT" i="1" dirty="0"/>
          </a:p>
          <a:p>
            <a:r>
              <a:rPr lang="pt-PT" dirty="0"/>
              <a:t>Fluxos Comuns</a:t>
            </a:r>
          </a:p>
          <a:p>
            <a:r>
              <a:rPr lang="pt-PT" dirty="0"/>
              <a:t>Fluxos Primários</a:t>
            </a:r>
          </a:p>
          <a:p>
            <a:r>
              <a:rPr lang="pt-PT" dirty="0"/>
              <a:t>Fluxos Secundários</a:t>
            </a:r>
          </a:p>
          <a:p>
            <a:pPr marL="35992" indent="0">
              <a:buNone/>
            </a:pPr>
            <a:endParaRPr lang="pt-PT" dirty="0"/>
          </a:p>
          <a:p>
            <a:pPr marL="35992" indent="0">
              <a:buNone/>
            </a:pPr>
            <a:endParaRPr lang="pt-PT" i="1" dirty="0"/>
          </a:p>
          <a:p>
            <a:endParaRPr lang="pt-PT" dirty="0"/>
          </a:p>
          <a:p>
            <a:pPr marL="35992" indent="0">
              <a:buNone/>
            </a:pPr>
            <a:endParaRPr lang="pt-PT" dirty="0"/>
          </a:p>
          <a:p>
            <a:endParaRPr lang="pt-PT" dirty="0"/>
          </a:p>
          <a:p>
            <a:endParaRPr lang="pt-PT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6C0ABA-C9DE-4F35-90D1-E94A1D3C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64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Símbolos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3701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>
                <a:solidFill>
                  <a:srgbClr val="FF0000"/>
                </a:solidFill>
              </a:rPr>
              <a:t>Sistemas </a:t>
            </a:r>
            <a:r>
              <a:rPr lang="es-ES" sz="1600" b="1" dirty="0" err="1">
                <a:solidFill>
                  <a:srgbClr val="FF0000"/>
                </a:solidFill>
              </a:rPr>
              <a:t>Operacionais</a:t>
            </a:r>
            <a:r>
              <a:rPr lang="es-ES" sz="1600" b="1" dirty="0">
                <a:solidFill>
                  <a:srgbClr val="FF0000"/>
                </a:solidFill>
              </a:rPr>
              <a:t>, Sistemas </a:t>
            </a:r>
            <a:r>
              <a:rPr lang="es-ES" sz="1600" b="1" dirty="0" err="1">
                <a:solidFill>
                  <a:srgbClr val="FF0000"/>
                </a:solidFill>
              </a:rPr>
              <a:t>Informacionais</a:t>
            </a:r>
            <a:r>
              <a:rPr lang="es-ES" sz="1600" b="1" dirty="0">
                <a:solidFill>
                  <a:srgbClr val="FF0000"/>
                </a:solidFill>
              </a:rPr>
              <a:t>, Motores</a:t>
            </a: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C4B3192C-1A1F-1FA0-1C84-C81A5A316BEE}"/>
              </a:ext>
            </a:extLst>
          </p:cNvPr>
          <p:cNvGrpSpPr/>
          <p:nvPr/>
        </p:nvGrpSpPr>
        <p:grpSpPr>
          <a:xfrm>
            <a:off x="11126460" y="5578383"/>
            <a:ext cx="647850" cy="647850"/>
            <a:chOff x="455122" y="3851392"/>
            <a:chExt cx="648000" cy="648000"/>
          </a:xfrm>
        </p:grpSpPr>
        <p:sp>
          <p:nvSpPr>
            <p:cNvPr id="1078" name="Oval 2">
              <a:extLst>
                <a:ext uri="{FF2B5EF4-FFF2-40B4-BE49-F238E27FC236}">
                  <a16:creationId xmlns:a16="http://schemas.microsoft.com/office/drawing/2014/main" id="{3C18B0AF-1AF2-6C1F-B982-9B02462070FA}"/>
                </a:ext>
              </a:extLst>
            </p:cNvPr>
            <p:cNvSpPr/>
            <p:nvPr/>
          </p:nvSpPr>
          <p:spPr>
            <a:xfrm>
              <a:off x="455122" y="3851392"/>
              <a:ext cx="648000" cy="648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grpSp>
          <p:nvGrpSpPr>
            <p:cNvPr id="1079" name="Grupo 14">
              <a:extLst>
                <a:ext uri="{FF2B5EF4-FFF2-40B4-BE49-F238E27FC236}">
                  <a16:creationId xmlns:a16="http://schemas.microsoft.com/office/drawing/2014/main" id="{518515BA-5F45-1BD5-62A8-C3B9C719D367}"/>
                </a:ext>
              </a:extLst>
            </p:cNvPr>
            <p:cNvGrpSpPr/>
            <p:nvPr/>
          </p:nvGrpSpPr>
          <p:grpSpPr>
            <a:xfrm>
              <a:off x="617140" y="4013410"/>
              <a:ext cx="323964" cy="323964"/>
              <a:chOff x="8467725" y="4843463"/>
              <a:chExt cx="568325" cy="566738"/>
            </a:xfrm>
            <a:solidFill>
              <a:schemeClr val="bg1"/>
            </a:solidFill>
          </p:grpSpPr>
          <p:sp>
            <p:nvSpPr>
              <p:cNvPr id="1080" name="Freeform 52">
                <a:extLst>
                  <a:ext uri="{FF2B5EF4-FFF2-40B4-BE49-F238E27FC236}">
                    <a16:creationId xmlns:a16="http://schemas.microsoft.com/office/drawing/2014/main" id="{A967B69C-3FEA-EBE5-AE9D-0022659F49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2025" y="5049838"/>
                <a:ext cx="155575" cy="158750"/>
              </a:xfrm>
              <a:custGeom>
                <a:avLst/>
                <a:gdLst>
                  <a:gd name="T0" fmla="*/ 24 w 49"/>
                  <a:gd name="T1" fmla="*/ 50 h 50"/>
                  <a:gd name="T2" fmla="*/ 42 w 49"/>
                  <a:gd name="T3" fmla="*/ 42 h 50"/>
                  <a:gd name="T4" fmla="*/ 49 w 49"/>
                  <a:gd name="T5" fmla="*/ 25 h 50"/>
                  <a:gd name="T6" fmla="*/ 42 w 49"/>
                  <a:gd name="T7" fmla="*/ 8 h 50"/>
                  <a:gd name="T8" fmla="*/ 24 w 49"/>
                  <a:gd name="T9" fmla="*/ 0 h 50"/>
                  <a:gd name="T10" fmla="*/ 7 w 49"/>
                  <a:gd name="T11" fmla="*/ 8 h 50"/>
                  <a:gd name="T12" fmla="*/ 0 w 49"/>
                  <a:gd name="T13" fmla="*/ 25 h 50"/>
                  <a:gd name="T14" fmla="*/ 7 w 49"/>
                  <a:gd name="T15" fmla="*/ 42 h 50"/>
                  <a:gd name="T16" fmla="*/ 24 w 49"/>
                  <a:gd name="T17" fmla="*/ 50 h 50"/>
                  <a:gd name="T18" fmla="*/ 7 w 49"/>
                  <a:gd name="T19" fmla="*/ 25 h 50"/>
                  <a:gd name="T20" fmla="*/ 12 w 49"/>
                  <a:gd name="T21" fmla="*/ 13 h 50"/>
                  <a:gd name="T22" fmla="*/ 24 w 49"/>
                  <a:gd name="T23" fmla="*/ 8 h 50"/>
                  <a:gd name="T24" fmla="*/ 37 w 49"/>
                  <a:gd name="T25" fmla="*/ 13 h 50"/>
                  <a:gd name="T26" fmla="*/ 42 w 49"/>
                  <a:gd name="T27" fmla="*/ 25 h 50"/>
                  <a:gd name="T28" fmla="*/ 37 w 49"/>
                  <a:gd name="T29" fmla="*/ 37 h 50"/>
                  <a:gd name="T30" fmla="*/ 24 w 49"/>
                  <a:gd name="T31" fmla="*/ 42 h 50"/>
                  <a:gd name="T32" fmla="*/ 12 w 49"/>
                  <a:gd name="T33" fmla="*/ 37 h 50"/>
                  <a:gd name="T34" fmla="*/ 7 w 49"/>
                  <a:gd name="T35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" h="50">
                    <a:moveTo>
                      <a:pt x="24" y="50"/>
                    </a:moveTo>
                    <a:cubicBezTo>
                      <a:pt x="31" y="50"/>
                      <a:pt x="37" y="47"/>
                      <a:pt x="42" y="42"/>
                    </a:cubicBezTo>
                    <a:cubicBezTo>
                      <a:pt x="46" y="38"/>
                      <a:pt x="49" y="32"/>
                      <a:pt x="49" y="25"/>
                    </a:cubicBezTo>
                    <a:cubicBezTo>
                      <a:pt x="49" y="18"/>
                      <a:pt x="46" y="12"/>
                      <a:pt x="42" y="8"/>
                    </a:cubicBezTo>
                    <a:cubicBezTo>
                      <a:pt x="37" y="3"/>
                      <a:pt x="31" y="0"/>
                      <a:pt x="24" y="0"/>
                    </a:cubicBezTo>
                    <a:cubicBezTo>
                      <a:pt x="17" y="0"/>
                      <a:pt x="12" y="3"/>
                      <a:pt x="7" y="8"/>
                    </a:cubicBezTo>
                    <a:cubicBezTo>
                      <a:pt x="2" y="12"/>
                      <a:pt x="0" y="18"/>
                      <a:pt x="0" y="25"/>
                    </a:cubicBezTo>
                    <a:cubicBezTo>
                      <a:pt x="0" y="32"/>
                      <a:pt x="2" y="38"/>
                      <a:pt x="7" y="42"/>
                    </a:cubicBezTo>
                    <a:cubicBezTo>
                      <a:pt x="12" y="47"/>
                      <a:pt x="17" y="50"/>
                      <a:pt x="24" y="50"/>
                    </a:cubicBezTo>
                    <a:close/>
                    <a:moveTo>
                      <a:pt x="7" y="25"/>
                    </a:moveTo>
                    <a:cubicBezTo>
                      <a:pt x="7" y="20"/>
                      <a:pt x="9" y="16"/>
                      <a:pt x="12" y="13"/>
                    </a:cubicBezTo>
                    <a:cubicBezTo>
                      <a:pt x="15" y="9"/>
                      <a:pt x="19" y="8"/>
                      <a:pt x="24" y="8"/>
                    </a:cubicBezTo>
                    <a:cubicBezTo>
                      <a:pt x="29" y="8"/>
                      <a:pt x="33" y="9"/>
                      <a:pt x="37" y="13"/>
                    </a:cubicBezTo>
                    <a:cubicBezTo>
                      <a:pt x="40" y="16"/>
                      <a:pt x="42" y="20"/>
                      <a:pt x="42" y="25"/>
                    </a:cubicBezTo>
                    <a:cubicBezTo>
                      <a:pt x="42" y="30"/>
                      <a:pt x="40" y="34"/>
                      <a:pt x="37" y="37"/>
                    </a:cubicBezTo>
                    <a:cubicBezTo>
                      <a:pt x="33" y="41"/>
                      <a:pt x="29" y="42"/>
                      <a:pt x="24" y="42"/>
                    </a:cubicBezTo>
                    <a:cubicBezTo>
                      <a:pt x="19" y="42"/>
                      <a:pt x="15" y="41"/>
                      <a:pt x="12" y="37"/>
                    </a:cubicBezTo>
                    <a:cubicBezTo>
                      <a:pt x="9" y="34"/>
                      <a:pt x="7" y="30"/>
                      <a:pt x="7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1" name="Freeform 53">
                <a:extLst>
                  <a:ext uri="{FF2B5EF4-FFF2-40B4-BE49-F238E27FC236}">
                    <a16:creationId xmlns:a16="http://schemas.microsoft.com/office/drawing/2014/main" id="{76C95B67-EA04-820D-B8BB-3D7106CFCE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67725" y="4938713"/>
                <a:ext cx="381000" cy="381000"/>
              </a:xfrm>
              <a:custGeom>
                <a:avLst/>
                <a:gdLst>
                  <a:gd name="T0" fmla="*/ 109 w 120"/>
                  <a:gd name="T1" fmla="*/ 91 h 120"/>
                  <a:gd name="T2" fmla="*/ 103 w 120"/>
                  <a:gd name="T3" fmla="*/ 75 h 120"/>
                  <a:gd name="T4" fmla="*/ 119 w 120"/>
                  <a:gd name="T5" fmla="*/ 71 h 120"/>
                  <a:gd name="T6" fmla="*/ 120 w 120"/>
                  <a:gd name="T7" fmla="*/ 52 h 120"/>
                  <a:gd name="T8" fmla="*/ 117 w 120"/>
                  <a:gd name="T9" fmla="*/ 48 h 120"/>
                  <a:gd name="T10" fmla="*/ 101 w 120"/>
                  <a:gd name="T11" fmla="*/ 39 h 120"/>
                  <a:gd name="T12" fmla="*/ 109 w 120"/>
                  <a:gd name="T13" fmla="*/ 29 h 120"/>
                  <a:gd name="T14" fmla="*/ 96 w 120"/>
                  <a:gd name="T15" fmla="*/ 11 h 120"/>
                  <a:gd name="T16" fmla="*/ 80 w 120"/>
                  <a:gd name="T17" fmla="*/ 19 h 120"/>
                  <a:gd name="T18" fmla="*/ 72 w 120"/>
                  <a:gd name="T19" fmla="*/ 3 h 120"/>
                  <a:gd name="T20" fmla="*/ 69 w 120"/>
                  <a:gd name="T21" fmla="*/ 0 h 120"/>
                  <a:gd name="T22" fmla="*/ 48 w 120"/>
                  <a:gd name="T23" fmla="*/ 3 h 120"/>
                  <a:gd name="T24" fmla="*/ 40 w 120"/>
                  <a:gd name="T25" fmla="*/ 19 h 120"/>
                  <a:gd name="T26" fmla="*/ 27 w 120"/>
                  <a:gd name="T27" fmla="*/ 10 h 120"/>
                  <a:gd name="T28" fmla="*/ 12 w 120"/>
                  <a:gd name="T29" fmla="*/ 24 h 120"/>
                  <a:gd name="T30" fmla="*/ 11 w 120"/>
                  <a:gd name="T31" fmla="*/ 29 h 120"/>
                  <a:gd name="T32" fmla="*/ 17 w 120"/>
                  <a:gd name="T33" fmla="*/ 46 h 120"/>
                  <a:gd name="T34" fmla="*/ 1 w 120"/>
                  <a:gd name="T35" fmla="*/ 49 h 120"/>
                  <a:gd name="T36" fmla="*/ 0 w 120"/>
                  <a:gd name="T37" fmla="*/ 68 h 120"/>
                  <a:gd name="T38" fmla="*/ 3 w 120"/>
                  <a:gd name="T39" fmla="*/ 72 h 120"/>
                  <a:gd name="T40" fmla="*/ 19 w 120"/>
                  <a:gd name="T41" fmla="*/ 81 h 120"/>
                  <a:gd name="T42" fmla="*/ 12 w 120"/>
                  <a:gd name="T43" fmla="*/ 91 h 120"/>
                  <a:gd name="T44" fmla="*/ 25 w 120"/>
                  <a:gd name="T45" fmla="*/ 109 h 120"/>
                  <a:gd name="T46" fmla="*/ 40 w 120"/>
                  <a:gd name="T47" fmla="*/ 101 h 120"/>
                  <a:gd name="T48" fmla="*/ 48 w 120"/>
                  <a:gd name="T49" fmla="*/ 117 h 120"/>
                  <a:gd name="T50" fmla="*/ 52 w 120"/>
                  <a:gd name="T51" fmla="*/ 120 h 120"/>
                  <a:gd name="T52" fmla="*/ 72 w 120"/>
                  <a:gd name="T53" fmla="*/ 117 h 120"/>
                  <a:gd name="T54" fmla="*/ 81 w 120"/>
                  <a:gd name="T55" fmla="*/ 101 h 120"/>
                  <a:gd name="T56" fmla="*/ 93 w 120"/>
                  <a:gd name="T57" fmla="*/ 110 h 120"/>
                  <a:gd name="T58" fmla="*/ 109 w 120"/>
                  <a:gd name="T59" fmla="*/ 96 h 120"/>
                  <a:gd name="T60" fmla="*/ 26 w 120"/>
                  <a:gd name="T61" fmla="*/ 85 h 120"/>
                  <a:gd name="T62" fmla="*/ 23 w 120"/>
                  <a:gd name="T63" fmla="*/ 71 h 120"/>
                  <a:gd name="T64" fmla="*/ 7 w 120"/>
                  <a:gd name="T65" fmla="*/ 66 h 120"/>
                  <a:gd name="T66" fmla="*/ 19 w 120"/>
                  <a:gd name="T67" fmla="*/ 53 h 120"/>
                  <a:gd name="T68" fmla="*/ 26 w 120"/>
                  <a:gd name="T69" fmla="*/ 42 h 120"/>
                  <a:gd name="T70" fmla="*/ 19 w 120"/>
                  <a:gd name="T71" fmla="*/ 27 h 120"/>
                  <a:gd name="T72" fmla="*/ 27 w 120"/>
                  <a:gd name="T73" fmla="*/ 18 h 120"/>
                  <a:gd name="T74" fmla="*/ 43 w 120"/>
                  <a:gd name="T75" fmla="*/ 26 h 120"/>
                  <a:gd name="T76" fmla="*/ 53 w 120"/>
                  <a:gd name="T77" fmla="*/ 18 h 120"/>
                  <a:gd name="T78" fmla="*/ 66 w 120"/>
                  <a:gd name="T79" fmla="*/ 7 h 120"/>
                  <a:gd name="T80" fmla="*/ 72 w 120"/>
                  <a:gd name="T81" fmla="*/ 23 h 120"/>
                  <a:gd name="T82" fmla="*/ 84 w 120"/>
                  <a:gd name="T83" fmla="*/ 25 h 120"/>
                  <a:gd name="T84" fmla="*/ 101 w 120"/>
                  <a:gd name="T85" fmla="*/ 27 h 120"/>
                  <a:gd name="T86" fmla="*/ 95 w 120"/>
                  <a:gd name="T87" fmla="*/ 36 h 120"/>
                  <a:gd name="T88" fmla="*/ 97 w 120"/>
                  <a:gd name="T89" fmla="*/ 49 h 120"/>
                  <a:gd name="T90" fmla="*/ 113 w 120"/>
                  <a:gd name="T91" fmla="*/ 55 h 120"/>
                  <a:gd name="T92" fmla="*/ 102 w 120"/>
                  <a:gd name="T93" fmla="*/ 68 h 120"/>
                  <a:gd name="T94" fmla="*/ 94 w 120"/>
                  <a:gd name="T95" fmla="*/ 78 h 120"/>
                  <a:gd name="T96" fmla="*/ 101 w 120"/>
                  <a:gd name="T97" fmla="*/ 93 h 120"/>
                  <a:gd name="T98" fmla="*/ 93 w 120"/>
                  <a:gd name="T99" fmla="*/ 102 h 120"/>
                  <a:gd name="T100" fmla="*/ 78 w 120"/>
                  <a:gd name="T101" fmla="*/ 94 h 120"/>
                  <a:gd name="T102" fmla="*/ 67 w 120"/>
                  <a:gd name="T103" fmla="*/ 102 h 120"/>
                  <a:gd name="T104" fmla="*/ 54 w 120"/>
                  <a:gd name="T105" fmla="*/ 113 h 120"/>
                  <a:gd name="T106" fmla="*/ 48 w 120"/>
                  <a:gd name="T107" fmla="*/ 97 h 120"/>
                  <a:gd name="T108" fmla="*/ 36 w 120"/>
                  <a:gd name="T109" fmla="*/ 95 h 120"/>
                  <a:gd name="T110" fmla="*/ 19 w 120"/>
                  <a:gd name="T111" fmla="*/ 93 h 120"/>
                  <a:gd name="T112" fmla="*/ 26 w 120"/>
                  <a:gd name="T113" fmla="*/ 85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0" h="120">
                    <a:moveTo>
                      <a:pt x="110" y="93"/>
                    </a:moveTo>
                    <a:cubicBezTo>
                      <a:pt x="110" y="92"/>
                      <a:pt x="109" y="92"/>
                      <a:pt x="109" y="91"/>
                    </a:cubicBezTo>
                    <a:cubicBezTo>
                      <a:pt x="106" y="87"/>
                      <a:pt x="103" y="84"/>
                      <a:pt x="101" y="81"/>
                    </a:cubicBezTo>
                    <a:cubicBezTo>
                      <a:pt x="102" y="78"/>
                      <a:pt x="103" y="76"/>
                      <a:pt x="103" y="75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18" y="72"/>
                      <a:pt x="119" y="72"/>
                      <a:pt x="119" y="71"/>
                    </a:cubicBezTo>
                    <a:cubicBezTo>
                      <a:pt x="120" y="70"/>
                      <a:pt x="120" y="70"/>
                      <a:pt x="120" y="69"/>
                    </a:cubicBezTo>
                    <a:cubicBezTo>
                      <a:pt x="120" y="52"/>
                      <a:pt x="120" y="52"/>
                      <a:pt x="120" y="52"/>
                    </a:cubicBezTo>
                    <a:cubicBezTo>
                      <a:pt x="120" y="51"/>
                      <a:pt x="120" y="50"/>
                      <a:pt x="119" y="49"/>
                    </a:cubicBezTo>
                    <a:cubicBezTo>
                      <a:pt x="119" y="49"/>
                      <a:pt x="118" y="48"/>
                      <a:pt x="117" y="48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3" y="44"/>
                      <a:pt x="102" y="42"/>
                      <a:pt x="101" y="39"/>
                    </a:cubicBezTo>
                    <a:cubicBezTo>
                      <a:pt x="102" y="38"/>
                      <a:pt x="103" y="36"/>
                      <a:pt x="105" y="34"/>
                    </a:cubicBezTo>
                    <a:cubicBezTo>
                      <a:pt x="107" y="32"/>
                      <a:pt x="108" y="30"/>
                      <a:pt x="109" y="29"/>
                    </a:cubicBezTo>
                    <a:cubicBezTo>
                      <a:pt x="109" y="28"/>
                      <a:pt x="109" y="28"/>
                      <a:pt x="109" y="27"/>
                    </a:cubicBezTo>
                    <a:cubicBezTo>
                      <a:pt x="109" y="25"/>
                      <a:pt x="108" y="23"/>
                      <a:pt x="96" y="11"/>
                    </a:cubicBezTo>
                    <a:cubicBezTo>
                      <a:pt x="94" y="10"/>
                      <a:pt x="92" y="10"/>
                      <a:pt x="91" y="11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78" y="18"/>
                      <a:pt x="76" y="17"/>
                      <a:pt x="74" y="17"/>
                    </a:cubicBezTo>
                    <a:cubicBezTo>
                      <a:pt x="72" y="3"/>
                      <a:pt x="72" y="3"/>
                      <a:pt x="72" y="3"/>
                    </a:cubicBezTo>
                    <a:cubicBezTo>
                      <a:pt x="72" y="2"/>
                      <a:pt x="72" y="2"/>
                      <a:pt x="71" y="1"/>
                    </a:cubicBezTo>
                    <a:cubicBezTo>
                      <a:pt x="70" y="0"/>
                      <a:pt x="70" y="0"/>
                      <a:pt x="69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0" y="0"/>
                      <a:pt x="48" y="1"/>
                      <a:pt x="48" y="3"/>
                    </a:cubicBezTo>
                    <a:cubicBezTo>
                      <a:pt x="47" y="6"/>
                      <a:pt x="46" y="10"/>
                      <a:pt x="46" y="17"/>
                    </a:cubicBezTo>
                    <a:cubicBezTo>
                      <a:pt x="44" y="17"/>
                      <a:pt x="42" y="18"/>
                      <a:pt x="40" y="19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9" y="11"/>
                      <a:pt x="28" y="10"/>
                      <a:pt x="27" y="10"/>
                    </a:cubicBezTo>
                    <a:cubicBezTo>
                      <a:pt x="26" y="10"/>
                      <a:pt x="24" y="11"/>
                      <a:pt x="19" y="16"/>
                    </a:cubicBezTo>
                    <a:cubicBezTo>
                      <a:pt x="15" y="20"/>
                      <a:pt x="13" y="23"/>
                      <a:pt x="12" y="24"/>
                    </a:cubicBezTo>
                    <a:cubicBezTo>
                      <a:pt x="11" y="25"/>
                      <a:pt x="11" y="26"/>
                      <a:pt x="11" y="27"/>
                    </a:cubicBezTo>
                    <a:cubicBezTo>
                      <a:pt x="11" y="28"/>
                      <a:pt x="11" y="28"/>
                      <a:pt x="11" y="29"/>
                    </a:cubicBezTo>
                    <a:cubicBezTo>
                      <a:pt x="15" y="33"/>
                      <a:pt x="17" y="37"/>
                      <a:pt x="19" y="39"/>
                    </a:cubicBezTo>
                    <a:cubicBezTo>
                      <a:pt x="18" y="42"/>
                      <a:pt x="17" y="44"/>
                      <a:pt x="17" y="46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2" y="48"/>
                      <a:pt x="2" y="48"/>
                      <a:pt x="1" y="49"/>
                    </a:cubicBezTo>
                    <a:cubicBezTo>
                      <a:pt x="1" y="50"/>
                      <a:pt x="0" y="51"/>
                      <a:pt x="0" y="51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9"/>
                      <a:pt x="1" y="70"/>
                      <a:pt x="1" y="71"/>
                    </a:cubicBezTo>
                    <a:cubicBezTo>
                      <a:pt x="2" y="72"/>
                      <a:pt x="2" y="72"/>
                      <a:pt x="3" y="72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6"/>
                      <a:pt x="18" y="79"/>
                      <a:pt x="19" y="81"/>
                    </a:cubicBezTo>
                    <a:cubicBezTo>
                      <a:pt x="19" y="82"/>
                      <a:pt x="17" y="84"/>
                      <a:pt x="16" y="86"/>
                    </a:cubicBezTo>
                    <a:cubicBezTo>
                      <a:pt x="14" y="88"/>
                      <a:pt x="12" y="90"/>
                      <a:pt x="12" y="91"/>
                    </a:cubicBezTo>
                    <a:cubicBezTo>
                      <a:pt x="11" y="92"/>
                      <a:pt x="11" y="92"/>
                      <a:pt x="11" y="93"/>
                    </a:cubicBezTo>
                    <a:cubicBezTo>
                      <a:pt x="11" y="95"/>
                      <a:pt x="13" y="98"/>
                      <a:pt x="25" y="109"/>
                    </a:cubicBezTo>
                    <a:cubicBezTo>
                      <a:pt x="26" y="110"/>
                      <a:pt x="29" y="110"/>
                      <a:pt x="30" y="109"/>
                    </a:cubicBezTo>
                    <a:cubicBezTo>
                      <a:pt x="40" y="101"/>
                      <a:pt x="40" y="101"/>
                      <a:pt x="40" y="101"/>
                    </a:cubicBezTo>
                    <a:cubicBezTo>
                      <a:pt x="42" y="102"/>
                      <a:pt x="44" y="103"/>
                      <a:pt x="46" y="103"/>
                    </a:cubicBezTo>
                    <a:cubicBezTo>
                      <a:pt x="48" y="117"/>
                      <a:pt x="48" y="117"/>
                      <a:pt x="48" y="117"/>
                    </a:cubicBezTo>
                    <a:cubicBezTo>
                      <a:pt x="48" y="118"/>
                      <a:pt x="48" y="119"/>
                      <a:pt x="49" y="119"/>
                    </a:cubicBezTo>
                    <a:cubicBezTo>
                      <a:pt x="50" y="120"/>
                      <a:pt x="51" y="120"/>
                      <a:pt x="52" y="120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71" y="120"/>
                      <a:pt x="72" y="119"/>
                      <a:pt x="72" y="117"/>
                    </a:cubicBezTo>
                    <a:cubicBezTo>
                      <a:pt x="73" y="114"/>
                      <a:pt x="74" y="110"/>
                      <a:pt x="75" y="103"/>
                    </a:cubicBezTo>
                    <a:cubicBezTo>
                      <a:pt x="77" y="103"/>
                      <a:pt x="79" y="102"/>
                      <a:pt x="81" y="101"/>
                    </a:cubicBezTo>
                    <a:cubicBezTo>
                      <a:pt x="91" y="109"/>
                      <a:pt x="91" y="109"/>
                      <a:pt x="91" y="109"/>
                    </a:cubicBezTo>
                    <a:cubicBezTo>
                      <a:pt x="91" y="109"/>
                      <a:pt x="92" y="110"/>
                      <a:pt x="93" y="110"/>
                    </a:cubicBezTo>
                    <a:cubicBezTo>
                      <a:pt x="94" y="110"/>
                      <a:pt x="96" y="109"/>
                      <a:pt x="101" y="104"/>
                    </a:cubicBezTo>
                    <a:cubicBezTo>
                      <a:pt x="105" y="100"/>
                      <a:pt x="107" y="97"/>
                      <a:pt x="109" y="96"/>
                    </a:cubicBezTo>
                    <a:cubicBezTo>
                      <a:pt x="109" y="95"/>
                      <a:pt x="110" y="94"/>
                      <a:pt x="110" y="93"/>
                    </a:cubicBezTo>
                    <a:close/>
                    <a:moveTo>
                      <a:pt x="26" y="85"/>
                    </a:moveTo>
                    <a:cubicBezTo>
                      <a:pt x="27" y="83"/>
                      <a:pt x="27" y="80"/>
                      <a:pt x="26" y="78"/>
                    </a:cubicBezTo>
                    <a:cubicBezTo>
                      <a:pt x="25" y="76"/>
                      <a:pt x="24" y="74"/>
                      <a:pt x="23" y="71"/>
                    </a:cubicBezTo>
                    <a:cubicBezTo>
                      <a:pt x="23" y="69"/>
                      <a:pt x="21" y="68"/>
                      <a:pt x="18" y="67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21" y="52"/>
                      <a:pt x="23" y="50"/>
                      <a:pt x="24" y="48"/>
                    </a:cubicBezTo>
                    <a:cubicBezTo>
                      <a:pt x="24" y="46"/>
                      <a:pt x="25" y="44"/>
                      <a:pt x="26" y="42"/>
                    </a:cubicBezTo>
                    <a:cubicBezTo>
                      <a:pt x="27" y="40"/>
                      <a:pt x="27" y="38"/>
                      <a:pt x="26" y="36"/>
                    </a:cubicBezTo>
                    <a:cubicBezTo>
                      <a:pt x="24" y="33"/>
                      <a:pt x="22" y="30"/>
                      <a:pt x="19" y="27"/>
                    </a:cubicBezTo>
                    <a:cubicBezTo>
                      <a:pt x="20" y="25"/>
                      <a:pt x="22" y="24"/>
                      <a:pt x="24" y="21"/>
                    </a:cubicBezTo>
                    <a:cubicBezTo>
                      <a:pt x="25" y="20"/>
                      <a:pt x="26" y="19"/>
                      <a:pt x="27" y="18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8" y="27"/>
                      <a:pt x="40" y="27"/>
                      <a:pt x="43" y="26"/>
                    </a:cubicBezTo>
                    <a:cubicBezTo>
                      <a:pt x="44" y="25"/>
                      <a:pt x="46" y="24"/>
                      <a:pt x="49" y="23"/>
                    </a:cubicBezTo>
                    <a:cubicBezTo>
                      <a:pt x="51" y="23"/>
                      <a:pt x="53" y="20"/>
                      <a:pt x="53" y="18"/>
                    </a:cubicBezTo>
                    <a:cubicBezTo>
                      <a:pt x="53" y="14"/>
                      <a:pt x="54" y="10"/>
                      <a:pt x="54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8" y="21"/>
                      <a:pt x="70" y="23"/>
                      <a:pt x="72" y="23"/>
                    </a:cubicBezTo>
                    <a:cubicBezTo>
                      <a:pt x="74" y="24"/>
                      <a:pt x="76" y="25"/>
                      <a:pt x="78" y="26"/>
                    </a:cubicBezTo>
                    <a:cubicBezTo>
                      <a:pt x="80" y="27"/>
                      <a:pt x="82" y="27"/>
                      <a:pt x="84" y="25"/>
                    </a:cubicBezTo>
                    <a:cubicBezTo>
                      <a:pt x="93" y="19"/>
                      <a:pt x="93" y="19"/>
                      <a:pt x="93" y="19"/>
                    </a:cubicBezTo>
                    <a:cubicBezTo>
                      <a:pt x="98" y="23"/>
                      <a:pt x="100" y="25"/>
                      <a:pt x="101" y="27"/>
                    </a:cubicBezTo>
                    <a:cubicBezTo>
                      <a:pt x="101" y="28"/>
                      <a:pt x="100" y="29"/>
                      <a:pt x="99" y="30"/>
                    </a:cubicBezTo>
                    <a:cubicBezTo>
                      <a:pt x="97" y="32"/>
                      <a:pt x="96" y="34"/>
                      <a:pt x="95" y="36"/>
                    </a:cubicBezTo>
                    <a:cubicBezTo>
                      <a:pt x="93" y="38"/>
                      <a:pt x="93" y="40"/>
                      <a:pt x="94" y="42"/>
                    </a:cubicBezTo>
                    <a:cubicBezTo>
                      <a:pt x="95" y="45"/>
                      <a:pt x="96" y="47"/>
                      <a:pt x="97" y="49"/>
                    </a:cubicBezTo>
                    <a:cubicBezTo>
                      <a:pt x="98" y="51"/>
                      <a:pt x="100" y="53"/>
                      <a:pt x="102" y="53"/>
                    </a:cubicBezTo>
                    <a:cubicBezTo>
                      <a:pt x="113" y="55"/>
                      <a:pt x="113" y="55"/>
                      <a:pt x="113" y="55"/>
                    </a:cubicBezTo>
                    <a:cubicBezTo>
                      <a:pt x="113" y="66"/>
                      <a:pt x="113" y="66"/>
                      <a:pt x="113" y="66"/>
                    </a:cubicBezTo>
                    <a:cubicBezTo>
                      <a:pt x="102" y="68"/>
                      <a:pt x="102" y="68"/>
                      <a:pt x="102" y="68"/>
                    </a:cubicBezTo>
                    <a:cubicBezTo>
                      <a:pt x="99" y="68"/>
                      <a:pt x="97" y="70"/>
                      <a:pt x="97" y="72"/>
                    </a:cubicBezTo>
                    <a:cubicBezTo>
                      <a:pt x="96" y="74"/>
                      <a:pt x="95" y="76"/>
                      <a:pt x="94" y="78"/>
                    </a:cubicBezTo>
                    <a:cubicBezTo>
                      <a:pt x="93" y="80"/>
                      <a:pt x="93" y="82"/>
                      <a:pt x="95" y="84"/>
                    </a:cubicBezTo>
                    <a:cubicBezTo>
                      <a:pt x="97" y="87"/>
                      <a:pt x="99" y="90"/>
                      <a:pt x="101" y="93"/>
                    </a:cubicBezTo>
                    <a:cubicBezTo>
                      <a:pt x="100" y="95"/>
                      <a:pt x="98" y="97"/>
                      <a:pt x="96" y="99"/>
                    </a:cubicBezTo>
                    <a:cubicBezTo>
                      <a:pt x="95" y="100"/>
                      <a:pt x="94" y="101"/>
                      <a:pt x="93" y="102"/>
                    </a:cubicBezTo>
                    <a:cubicBezTo>
                      <a:pt x="85" y="95"/>
                      <a:pt x="85" y="95"/>
                      <a:pt x="85" y="95"/>
                    </a:cubicBezTo>
                    <a:cubicBezTo>
                      <a:pt x="83" y="93"/>
                      <a:pt x="80" y="93"/>
                      <a:pt x="78" y="94"/>
                    </a:cubicBezTo>
                    <a:cubicBezTo>
                      <a:pt x="76" y="95"/>
                      <a:pt x="74" y="96"/>
                      <a:pt x="72" y="97"/>
                    </a:cubicBezTo>
                    <a:cubicBezTo>
                      <a:pt x="69" y="97"/>
                      <a:pt x="68" y="99"/>
                      <a:pt x="67" y="102"/>
                    </a:cubicBezTo>
                    <a:cubicBezTo>
                      <a:pt x="67" y="107"/>
                      <a:pt x="66" y="110"/>
                      <a:pt x="66" y="113"/>
                    </a:cubicBezTo>
                    <a:cubicBezTo>
                      <a:pt x="54" y="113"/>
                      <a:pt x="54" y="113"/>
                      <a:pt x="54" y="113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2" y="99"/>
                      <a:pt x="51" y="97"/>
                      <a:pt x="48" y="97"/>
                    </a:cubicBezTo>
                    <a:cubicBezTo>
                      <a:pt x="47" y="96"/>
                      <a:pt x="45" y="95"/>
                      <a:pt x="43" y="94"/>
                    </a:cubicBezTo>
                    <a:cubicBezTo>
                      <a:pt x="41" y="93"/>
                      <a:pt x="38" y="94"/>
                      <a:pt x="36" y="95"/>
                    </a:cubicBezTo>
                    <a:cubicBezTo>
                      <a:pt x="27" y="102"/>
                      <a:pt x="27" y="102"/>
                      <a:pt x="27" y="102"/>
                    </a:cubicBezTo>
                    <a:cubicBezTo>
                      <a:pt x="23" y="97"/>
                      <a:pt x="20" y="95"/>
                      <a:pt x="19" y="93"/>
                    </a:cubicBezTo>
                    <a:cubicBezTo>
                      <a:pt x="20" y="92"/>
                      <a:pt x="20" y="91"/>
                      <a:pt x="21" y="90"/>
                    </a:cubicBezTo>
                    <a:cubicBezTo>
                      <a:pt x="23" y="88"/>
                      <a:pt x="25" y="86"/>
                      <a:pt x="26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2" name="Freeform 54">
                <a:extLst>
                  <a:ext uri="{FF2B5EF4-FFF2-40B4-BE49-F238E27FC236}">
                    <a16:creationId xmlns:a16="http://schemas.microsoft.com/office/drawing/2014/main" id="{0F834FC5-7AB7-3786-D71C-5B6E094C6A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5259388"/>
                <a:ext cx="82550" cy="79375"/>
              </a:xfrm>
              <a:custGeom>
                <a:avLst/>
                <a:gdLst>
                  <a:gd name="T0" fmla="*/ 13 w 26"/>
                  <a:gd name="T1" fmla="*/ 0 h 25"/>
                  <a:gd name="T2" fmla="*/ 4 w 26"/>
                  <a:gd name="T3" fmla="*/ 4 h 25"/>
                  <a:gd name="T4" fmla="*/ 0 w 26"/>
                  <a:gd name="T5" fmla="*/ 13 h 25"/>
                  <a:gd name="T6" fmla="*/ 4 w 26"/>
                  <a:gd name="T7" fmla="*/ 22 h 25"/>
                  <a:gd name="T8" fmla="*/ 13 w 26"/>
                  <a:gd name="T9" fmla="*/ 25 h 25"/>
                  <a:gd name="T10" fmla="*/ 22 w 26"/>
                  <a:gd name="T11" fmla="*/ 22 h 25"/>
                  <a:gd name="T12" fmla="*/ 26 w 26"/>
                  <a:gd name="T13" fmla="*/ 13 h 25"/>
                  <a:gd name="T14" fmla="*/ 22 w 26"/>
                  <a:gd name="T15" fmla="*/ 4 h 25"/>
                  <a:gd name="T16" fmla="*/ 13 w 26"/>
                  <a:gd name="T17" fmla="*/ 0 h 25"/>
                  <a:gd name="T18" fmla="*/ 18 w 26"/>
                  <a:gd name="T19" fmla="*/ 13 h 25"/>
                  <a:gd name="T20" fmla="*/ 17 w 26"/>
                  <a:gd name="T21" fmla="*/ 17 h 25"/>
                  <a:gd name="T22" fmla="*/ 13 w 26"/>
                  <a:gd name="T23" fmla="*/ 18 h 25"/>
                  <a:gd name="T24" fmla="*/ 9 w 26"/>
                  <a:gd name="T25" fmla="*/ 17 h 25"/>
                  <a:gd name="T26" fmla="*/ 7 w 26"/>
                  <a:gd name="T27" fmla="*/ 13 h 25"/>
                  <a:gd name="T28" fmla="*/ 9 w 26"/>
                  <a:gd name="T29" fmla="*/ 9 h 25"/>
                  <a:gd name="T30" fmla="*/ 13 w 26"/>
                  <a:gd name="T31" fmla="*/ 7 h 25"/>
                  <a:gd name="T32" fmla="*/ 17 w 26"/>
                  <a:gd name="T33" fmla="*/ 9 h 25"/>
                  <a:gd name="T34" fmla="*/ 18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13" y="0"/>
                    </a:move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lose/>
                    <a:moveTo>
                      <a:pt x="18" y="13"/>
                    </a:move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3" name="Freeform 55">
                <a:extLst>
                  <a:ext uri="{FF2B5EF4-FFF2-40B4-BE49-F238E27FC236}">
                    <a16:creationId xmlns:a16="http://schemas.microsoft.com/office/drawing/2014/main" id="{B35A9119-7F43-F89A-9970-3308EE7A12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5189538"/>
                <a:ext cx="228600" cy="220663"/>
              </a:xfrm>
              <a:custGeom>
                <a:avLst/>
                <a:gdLst>
                  <a:gd name="T0" fmla="*/ 43 w 72"/>
                  <a:gd name="T1" fmla="*/ 65 h 70"/>
                  <a:gd name="T2" fmla="*/ 60 w 72"/>
                  <a:gd name="T3" fmla="*/ 63 h 70"/>
                  <a:gd name="T4" fmla="*/ 56 w 72"/>
                  <a:gd name="T5" fmla="*/ 49 h 70"/>
                  <a:gd name="T6" fmla="*/ 72 w 72"/>
                  <a:gd name="T7" fmla="*/ 41 h 70"/>
                  <a:gd name="T8" fmla="*/ 58 w 72"/>
                  <a:gd name="T9" fmla="*/ 24 h 70"/>
                  <a:gd name="T10" fmla="*/ 60 w 72"/>
                  <a:gd name="T11" fmla="*/ 8 h 70"/>
                  <a:gd name="T12" fmla="*/ 48 w 72"/>
                  <a:gd name="T13" fmla="*/ 0 h 70"/>
                  <a:gd name="T14" fmla="*/ 46 w 72"/>
                  <a:gd name="T15" fmla="*/ 0 h 70"/>
                  <a:gd name="T16" fmla="*/ 34 w 72"/>
                  <a:gd name="T17" fmla="*/ 10 h 70"/>
                  <a:gd name="T18" fmla="*/ 24 w 72"/>
                  <a:gd name="T19" fmla="*/ 0 h 70"/>
                  <a:gd name="T20" fmla="*/ 15 w 72"/>
                  <a:gd name="T21" fmla="*/ 4 h 70"/>
                  <a:gd name="T22" fmla="*/ 11 w 72"/>
                  <a:gd name="T23" fmla="*/ 8 h 70"/>
                  <a:gd name="T24" fmla="*/ 14 w 72"/>
                  <a:gd name="T25" fmla="*/ 24 h 70"/>
                  <a:gd name="T26" fmla="*/ 0 w 72"/>
                  <a:gd name="T27" fmla="*/ 41 h 70"/>
                  <a:gd name="T28" fmla="*/ 16 w 72"/>
                  <a:gd name="T29" fmla="*/ 49 h 70"/>
                  <a:gd name="T30" fmla="*/ 12 w 72"/>
                  <a:gd name="T31" fmla="*/ 63 h 70"/>
                  <a:gd name="T32" fmla="*/ 29 w 72"/>
                  <a:gd name="T33" fmla="*/ 65 h 70"/>
                  <a:gd name="T34" fmla="*/ 38 w 72"/>
                  <a:gd name="T35" fmla="*/ 59 h 70"/>
                  <a:gd name="T36" fmla="*/ 52 w 72"/>
                  <a:gd name="T37" fmla="*/ 41 h 70"/>
                  <a:gd name="T38" fmla="*/ 49 w 72"/>
                  <a:gd name="T39" fmla="*/ 51 h 70"/>
                  <a:gd name="T40" fmla="*/ 49 w 72"/>
                  <a:gd name="T41" fmla="*/ 61 h 70"/>
                  <a:gd name="T42" fmla="*/ 44 w 72"/>
                  <a:gd name="T43" fmla="*/ 55 h 70"/>
                  <a:gd name="T44" fmla="*/ 34 w 72"/>
                  <a:gd name="T45" fmla="*/ 52 h 70"/>
                  <a:gd name="T46" fmla="*/ 23 w 72"/>
                  <a:gd name="T47" fmla="*/ 60 h 70"/>
                  <a:gd name="T48" fmla="*/ 19 w 72"/>
                  <a:gd name="T49" fmla="*/ 59 h 70"/>
                  <a:gd name="T50" fmla="*/ 22 w 72"/>
                  <a:gd name="T51" fmla="*/ 45 h 70"/>
                  <a:gd name="T52" fmla="*/ 15 w 72"/>
                  <a:gd name="T53" fmla="*/ 38 h 70"/>
                  <a:gd name="T54" fmla="*/ 7 w 72"/>
                  <a:gd name="T55" fmla="*/ 32 h 70"/>
                  <a:gd name="T56" fmla="*/ 20 w 72"/>
                  <a:gd name="T57" fmla="*/ 28 h 70"/>
                  <a:gd name="T58" fmla="*/ 23 w 72"/>
                  <a:gd name="T59" fmla="*/ 18 h 70"/>
                  <a:gd name="T60" fmla="*/ 23 w 72"/>
                  <a:gd name="T61" fmla="*/ 8 h 70"/>
                  <a:gd name="T62" fmla="*/ 28 w 72"/>
                  <a:gd name="T63" fmla="*/ 15 h 70"/>
                  <a:gd name="T64" fmla="*/ 36 w 72"/>
                  <a:gd name="T65" fmla="*/ 17 h 70"/>
                  <a:gd name="T66" fmla="*/ 44 w 72"/>
                  <a:gd name="T67" fmla="*/ 15 h 70"/>
                  <a:gd name="T68" fmla="*/ 52 w 72"/>
                  <a:gd name="T69" fmla="*/ 10 h 70"/>
                  <a:gd name="T70" fmla="*/ 50 w 72"/>
                  <a:gd name="T71" fmla="*/ 24 h 70"/>
                  <a:gd name="T72" fmla="*/ 57 w 72"/>
                  <a:gd name="T73" fmla="*/ 31 h 70"/>
                  <a:gd name="T74" fmla="*/ 65 w 72"/>
                  <a:gd name="T75" fmla="*/ 37 h 70"/>
                  <a:gd name="T76" fmla="*/ 52 w 72"/>
                  <a:gd name="T77" fmla="*/ 4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" h="70">
                    <a:moveTo>
                      <a:pt x="42" y="64"/>
                    </a:moveTo>
                    <a:cubicBezTo>
                      <a:pt x="42" y="65"/>
                      <a:pt x="42" y="65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2"/>
                      <a:pt x="60" y="62"/>
                      <a:pt x="60" y="61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3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ubicBezTo>
                      <a:pt x="57" y="23"/>
                      <a:pt x="57" y="21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5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3"/>
                      <a:pt x="14" y="45"/>
                    </a:cubicBezTo>
                    <a:cubicBezTo>
                      <a:pt x="14" y="46"/>
                      <a:pt x="15" y="47"/>
                      <a:pt x="16" y="49"/>
                    </a:cubicBezTo>
                    <a:cubicBezTo>
                      <a:pt x="12" y="58"/>
                      <a:pt x="11" y="60"/>
                      <a:pt x="11" y="61"/>
                    </a:cubicBezTo>
                    <a:cubicBezTo>
                      <a:pt x="11" y="62"/>
                      <a:pt x="11" y="62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2"/>
                      <a:pt x="33" y="60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0"/>
                      <a:pt x="40" y="62"/>
                      <a:pt x="42" y="64"/>
                    </a:cubicBezTo>
                    <a:moveTo>
                      <a:pt x="52" y="41"/>
                    </a:move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0"/>
                      <a:pt x="49" y="6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6" y="57"/>
                      <a:pt x="44" y="55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6" y="52"/>
                      <a:pt x="36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5"/>
                      <a:pt x="26" y="57"/>
                      <a:pt x="23" y="60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0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1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7"/>
                      <a:pt x="9" y="37"/>
                      <a:pt x="7" y="37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9" y="32"/>
                      <a:pt x="11" y="32"/>
                      <a:pt x="15" y="31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6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ubicBezTo>
                      <a:pt x="23" y="8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6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9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1"/>
                    </a:cubicBezTo>
                    <a:cubicBezTo>
                      <a:pt x="60" y="32"/>
                      <a:pt x="63" y="32"/>
                      <a:pt x="65" y="32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7"/>
                      <a:pt x="57" y="38"/>
                    </a:cubicBezTo>
                    <a:cubicBezTo>
                      <a:pt x="55" y="38"/>
                      <a:pt x="53" y="39"/>
                      <a:pt x="5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4" name="Freeform 56">
                <a:extLst>
                  <a:ext uri="{FF2B5EF4-FFF2-40B4-BE49-F238E27FC236}">
                    <a16:creationId xmlns:a16="http://schemas.microsoft.com/office/drawing/2014/main" id="{C21C1B92-8FDD-E4C1-0EBB-4A3884445F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4913313"/>
                <a:ext cx="82550" cy="79375"/>
              </a:xfrm>
              <a:custGeom>
                <a:avLst/>
                <a:gdLst>
                  <a:gd name="T0" fmla="*/ 4 w 26"/>
                  <a:gd name="T1" fmla="*/ 22 h 25"/>
                  <a:gd name="T2" fmla="*/ 13 w 26"/>
                  <a:gd name="T3" fmla="*/ 25 h 25"/>
                  <a:gd name="T4" fmla="*/ 22 w 26"/>
                  <a:gd name="T5" fmla="*/ 22 h 25"/>
                  <a:gd name="T6" fmla="*/ 26 w 26"/>
                  <a:gd name="T7" fmla="*/ 13 h 25"/>
                  <a:gd name="T8" fmla="*/ 22 w 26"/>
                  <a:gd name="T9" fmla="*/ 4 h 25"/>
                  <a:gd name="T10" fmla="*/ 13 w 26"/>
                  <a:gd name="T11" fmla="*/ 0 h 25"/>
                  <a:gd name="T12" fmla="*/ 4 w 26"/>
                  <a:gd name="T13" fmla="*/ 4 h 25"/>
                  <a:gd name="T14" fmla="*/ 0 w 26"/>
                  <a:gd name="T15" fmla="*/ 13 h 25"/>
                  <a:gd name="T16" fmla="*/ 4 w 26"/>
                  <a:gd name="T17" fmla="*/ 22 h 25"/>
                  <a:gd name="T18" fmla="*/ 7 w 26"/>
                  <a:gd name="T19" fmla="*/ 13 h 25"/>
                  <a:gd name="T20" fmla="*/ 9 w 26"/>
                  <a:gd name="T21" fmla="*/ 9 h 25"/>
                  <a:gd name="T22" fmla="*/ 13 w 26"/>
                  <a:gd name="T23" fmla="*/ 7 h 25"/>
                  <a:gd name="T24" fmla="*/ 17 w 26"/>
                  <a:gd name="T25" fmla="*/ 9 h 25"/>
                  <a:gd name="T26" fmla="*/ 18 w 26"/>
                  <a:gd name="T27" fmla="*/ 13 h 25"/>
                  <a:gd name="T28" fmla="*/ 17 w 26"/>
                  <a:gd name="T29" fmla="*/ 17 h 25"/>
                  <a:gd name="T30" fmla="*/ 13 w 26"/>
                  <a:gd name="T31" fmla="*/ 18 h 25"/>
                  <a:gd name="T32" fmla="*/ 9 w 26"/>
                  <a:gd name="T33" fmla="*/ 17 h 25"/>
                  <a:gd name="T34" fmla="*/ 7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4" y="22"/>
                    </a:move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lose/>
                    <a:moveTo>
                      <a:pt x="7" y="13"/>
                    </a:move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5" name="Freeform 57">
                <a:extLst>
                  <a:ext uri="{FF2B5EF4-FFF2-40B4-BE49-F238E27FC236}">
                    <a16:creationId xmlns:a16="http://schemas.microsoft.com/office/drawing/2014/main" id="{CA907993-3029-0E49-CD62-D44AE0DCE4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4843463"/>
                <a:ext cx="228600" cy="222250"/>
              </a:xfrm>
              <a:custGeom>
                <a:avLst/>
                <a:gdLst>
                  <a:gd name="T0" fmla="*/ 56 w 72"/>
                  <a:gd name="T1" fmla="*/ 20 h 70"/>
                  <a:gd name="T2" fmla="*/ 60 w 72"/>
                  <a:gd name="T3" fmla="*/ 6 h 70"/>
                  <a:gd name="T4" fmla="*/ 47 w 72"/>
                  <a:gd name="T5" fmla="*/ 0 h 70"/>
                  <a:gd name="T6" fmla="*/ 38 w 72"/>
                  <a:gd name="T7" fmla="*/ 10 h 70"/>
                  <a:gd name="T8" fmla="*/ 29 w 72"/>
                  <a:gd name="T9" fmla="*/ 4 h 70"/>
                  <a:gd name="T10" fmla="*/ 21 w 72"/>
                  <a:gd name="T11" fmla="*/ 1 h 70"/>
                  <a:gd name="T12" fmla="*/ 12 w 72"/>
                  <a:gd name="T13" fmla="*/ 6 h 70"/>
                  <a:gd name="T14" fmla="*/ 16 w 72"/>
                  <a:gd name="T15" fmla="*/ 20 h 70"/>
                  <a:gd name="T16" fmla="*/ 0 w 72"/>
                  <a:gd name="T17" fmla="*/ 28 h 70"/>
                  <a:gd name="T18" fmla="*/ 14 w 72"/>
                  <a:gd name="T19" fmla="*/ 45 h 70"/>
                  <a:gd name="T20" fmla="*/ 11 w 72"/>
                  <a:gd name="T21" fmla="*/ 62 h 70"/>
                  <a:gd name="T22" fmla="*/ 24 w 72"/>
                  <a:gd name="T23" fmla="*/ 70 h 70"/>
                  <a:gd name="T24" fmla="*/ 34 w 72"/>
                  <a:gd name="T25" fmla="*/ 59 h 70"/>
                  <a:gd name="T26" fmla="*/ 43 w 72"/>
                  <a:gd name="T27" fmla="*/ 65 h 70"/>
                  <a:gd name="T28" fmla="*/ 60 w 72"/>
                  <a:gd name="T29" fmla="*/ 63 h 70"/>
                  <a:gd name="T30" fmla="*/ 56 w 72"/>
                  <a:gd name="T31" fmla="*/ 49 h 70"/>
                  <a:gd name="T32" fmla="*/ 72 w 72"/>
                  <a:gd name="T33" fmla="*/ 41 h 70"/>
                  <a:gd name="T34" fmla="*/ 58 w 72"/>
                  <a:gd name="T35" fmla="*/ 24 h 70"/>
                  <a:gd name="T36" fmla="*/ 24 w 72"/>
                  <a:gd name="T37" fmla="*/ 9 h 70"/>
                  <a:gd name="T38" fmla="*/ 34 w 72"/>
                  <a:gd name="T39" fmla="*/ 17 h 70"/>
                  <a:gd name="T40" fmla="*/ 38 w 72"/>
                  <a:gd name="T41" fmla="*/ 17 h 70"/>
                  <a:gd name="T42" fmla="*/ 49 w 72"/>
                  <a:gd name="T43" fmla="*/ 8 h 70"/>
                  <a:gd name="T44" fmla="*/ 49 w 72"/>
                  <a:gd name="T45" fmla="*/ 18 h 70"/>
                  <a:gd name="T46" fmla="*/ 52 w 72"/>
                  <a:gd name="T47" fmla="*/ 28 h 70"/>
                  <a:gd name="T48" fmla="*/ 65 w 72"/>
                  <a:gd name="T49" fmla="*/ 33 h 70"/>
                  <a:gd name="T50" fmla="*/ 57 w 72"/>
                  <a:gd name="T51" fmla="*/ 38 h 70"/>
                  <a:gd name="T52" fmla="*/ 50 w 72"/>
                  <a:gd name="T53" fmla="*/ 45 h 70"/>
                  <a:gd name="T54" fmla="*/ 52 w 72"/>
                  <a:gd name="T55" fmla="*/ 59 h 70"/>
                  <a:gd name="T56" fmla="*/ 48 w 72"/>
                  <a:gd name="T57" fmla="*/ 61 h 70"/>
                  <a:gd name="T58" fmla="*/ 38 w 72"/>
                  <a:gd name="T59" fmla="*/ 52 h 70"/>
                  <a:gd name="T60" fmla="*/ 34 w 72"/>
                  <a:gd name="T61" fmla="*/ 52 h 70"/>
                  <a:gd name="T62" fmla="*/ 23 w 72"/>
                  <a:gd name="T63" fmla="*/ 61 h 70"/>
                  <a:gd name="T64" fmla="*/ 19 w 72"/>
                  <a:gd name="T65" fmla="*/ 59 h 70"/>
                  <a:gd name="T66" fmla="*/ 22 w 72"/>
                  <a:gd name="T67" fmla="*/ 45 h 70"/>
                  <a:gd name="T68" fmla="*/ 15 w 72"/>
                  <a:gd name="T69" fmla="*/ 38 h 70"/>
                  <a:gd name="T70" fmla="*/ 7 w 72"/>
                  <a:gd name="T71" fmla="*/ 33 h 70"/>
                  <a:gd name="T72" fmla="*/ 20 w 72"/>
                  <a:gd name="T73" fmla="*/ 28 h 70"/>
                  <a:gd name="T74" fmla="*/ 23 w 72"/>
                  <a:gd name="T75" fmla="*/ 18 h 70"/>
                  <a:gd name="T76" fmla="*/ 23 w 72"/>
                  <a:gd name="T77" fmla="*/ 8 h 70"/>
                  <a:gd name="T78" fmla="*/ 19 w 72"/>
                  <a:gd name="T79" fmla="*/ 1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2" h="70">
                    <a:moveTo>
                      <a:pt x="58" y="24"/>
                    </a:moveTo>
                    <a:cubicBezTo>
                      <a:pt x="57" y="23"/>
                      <a:pt x="57" y="22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6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4"/>
                      <a:pt x="14" y="45"/>
                    </a:cubicBezTo>
                    <a:cubicBezTo>
                      <a:pt x="14" y="46"/>
                      <a:pt x="15" y="48"/>
                      <a:pt x="16" y="49"/>
                    </a:cubicBezTo>
                    <a:cubicBezTo>
                      <a:pt x="12" y="58"/>
                      <a:pt x="11" y="60"/>
                      <a:pt x="11" y="62"/>
                    </a:cubicBezTo>
                    <a:cubicBezTo>
                      <a:pt x="11" y="62"/>
                      <a:pt x="11" y="63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3"/>
                      <a:pt x="33" y="61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1"/>
                      <a:pt x="41" y="63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3"/>
                      <a:pt x="60" y="62"/>
                      <a:pt x="60" y="62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4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lose/>
                    <a:moveTo>
                      <a:pt x="23" y="8"/>
                    </a:moveTo>
                    <a:cubicBezTo>
                      <a:pt x="23" y="9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7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10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2"/>
                    </a:cubicBezTo>
                    <a:cubicBezTo>
                      <a:pt x="60" y="32"/>
                      <a:pt x="63" y="32"/>
                      <a:pt x="65" y="33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8"/>
                      <a:pt x="57" y="38"/>
                    </a:cubicBezTo>
                    <a:cubicBezTo>
                      <a:pt x="55" y="38"/>
                      <a:pt x="53" y="39"/>
                      <a:pt x="52" y="42"/>
                    </a:cubicBez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1"/>
                      <a:pt x="49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6" y="57"/>
                      <a:pt x="44" y="56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7" y="52"/>
                      <a:pt x="36" y="52"/>
                      <a:pt x="36" y="52"/>
                    </a:cubicBezTo>
                    <a:cubicBezTo>
                      <a:pt x="35" y="52"/>
                      <a:pt x="35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6"/>
                      <a:pt x="26" y="57"/>
                      <a:pt x="23" y="6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1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2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8"/>
                      <a:pt x="9" y="37"/>
                      <a:pt x="7" y="37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2"/>
                      <a:pt x="11" y="32"/>
                      <a:pt x="15" y="32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7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lose/>
                    <a:moveTo>
                      <a:pt x="19" y="10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</p:grp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87992EDA-1539-97B1-E7CE-D2E79407AEA7}"/>
              </a:ext>
            </a:extLst>
          </p:cNvPr>
          <p:cNvGrpSpPr/>
          <p:nvPr/>
        </p:nvGrpSpPr>
        <p:grpSpPr>
          <a:xfrm>
            <a:off x="10182039" y="5578383"/>
            <a:ext cx="647850" cy="647850"/>
            <a:chOff x="455122" y="4977513"/>
            <a:chExt cx="648000" cy="648000"/>
          </a:xfrm>
        </p:grpSpPr>
        <p:sp>
          <p:nvSpPr>
            <p:cNvPr id="1087" name="Oval 2">
              <a:extLst>
                <a:ext uri="{FF2B5EF4-FFF2-40B4-BE49-F238E27FC236}">
                  <a16:creationId xmlns:a16="http://schemas.microsoft.com/office/drawing/2014/main" id="{8EC11093-84F6-2BCE-0BAD-79E977DB91B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27" descr="Database with solid fill">
              <a:extLst>
                <a:ext uri="{FF2B5EF4-FFF2-40B4-BE49-F238E27FC236}">
                  <a16:creationId xmlns:a16="http://schemas.microsoft.com/office/drawing/2014/main" id="{36AD6EEA-76D3-3C39-E262-6A6BA59CC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890791-5015-60DA-3E67-B2C1CE8C48A9}"/>
              </a:ext>
            </a:extLst>
          </p:cNvPr>
          <p:cNvGrpSpPr/>
          <p:nvPr/>
        </p:nvGrpSpPr>
        <p:grpSpPr>
          <a:xfrm>
            <a:off x="9237619" y="5578383"/>
            <a:ext cx="647850" cy="647850"/>
            <a:chOff x="1498452" y="4969551"/>
            <a:chExt cx="648000" cy="648000"/>
          </a:xfrm>
        </p:grpSpPr>
        <p:sp>
          <p:nvSpPr>
            <p:cNvPr id="132" name="Oval 2">
              <a:extLst>
                <a:ext uri="{FF2B5EF4-FFF2-40B4-BE49-F238E27FC236}">
                  <a16:creationId xmlns:a16="http://schemas.microsoft.com/office/drawing/2014/main" id="{204A365C-3FA1-410A-20AF-14D7C7F61E07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3" name="Graphic 132" descr="Server with solid fill">
              <a:extLst>
                <a:ext uri="{FF2B5EF4-FFF2-40B4-BE49-F238E27FC236}">
                  <a16:creationId xmlns:a16="http://schemas.microsoft.com/office/drawing/2014/main" id="{EF46911F-D3A0-97D5-A8C0-5078EE46E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1BCD1D6-0AC4-FF4C-FE48-10C714B15227}"/>
              </a:ext>
            </a:extLst>
          </p:cNvPr>
          <p:cNvGrpSpPr/>
          <p:nvPr/>
        </p:nvGrpSpPr>
        <p:grpSpPr>
          <a:xfrm>
            <a:off x="5017157" y="3556471"/>
            <a:ext cx="719833" cy="939191"/>
            <a:chOff x="9555954" y="2584086"/>
            <a:chExt cx="720000" cy="939408"/>
          </a:xfrm>
        </p:grpSpPr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B3885A85-4AD3-6D3B-A01B-CAE2918FA69C}"/>
                </a:ext>
              </a:extLst>
            </p:cNvPr>
            <p:cNvSpPr txBox="1"/>
            <p:nvPr/>
          </p:nvSpPr>
          <p:spPr>
            <a:xfrm>
              <a:off x="955595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CRM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589BC00-12EE-96C8-9248-23BF879FE2D4}"/>
                </a:ext>
              </a:extLst>
            </p:cNvPr>
            <p:cNvGrpSpPr/>
            <p:nvPr/>
          </p:nvGrpSpPr>
          <p:grpSpPr>
            <a:xfrm>
              <a:off x="9574173" y="2584086"/>
              <a:ext cx="648000" cy="648000"/>
              <a:chOff x="455122" y="4977513"/>
              <a:chExt cx="648000" cy="648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DEF40B0-EE14-E9CB-3FCD-E0BEBAA34B55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" name="Graphic 9" descr="Database with solid fill">
                <a:extLst>
                  <a:ext uri="{FF2B5EF4-FFF2-40B4-BE49-F238E27FC236}">
                    <a16:creationId xmlns:a16="http://schemas.microsoft.com/office/drawing/2014/main" id="{86F98DDD-782C-3C41-1DE0-BEF414F2F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199A6E-3CB9-0C54-FFE8-8658E3D7B7B6}"/>
              </a:ext>
            </a:extLst>
          </p:cNvPr>
          <p:cNvGrpSpPr/>
          <p:nvPr/>
        </p:nvGrpSpPr>
        <p:grpSpPr>
          <a:xfrm>
            <a:off x="7268846" y="2449952"/>
            <a:ext cx="719833" cy="939191"/>
            <a:chOff x="7268323" y="2584086"/>
            <a:chExt cx="720000" cy="939408"/>
          </a:xfrm>
        </p:grpSpPr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45653F47-2D95-FCE6-73D9-22630BDA9E4E}"/>
                </a:ext>
              </a:extLst>
            </p:cNvPr>
            <p:cNvSpPr txBox="1"/>
            <p:nvPr/>
          </p:nvSpPr>
          <p:spPr>
            <a:xfrm>
              <a:off x="7268323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MIS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8754EF-32FB-EC62-F6F4-05A09951D432}"/>
                </a:ext>
              </a:extLst>
            </p:cNvPr>
            <p:cNvGrpSpPr/>
            <p:nvPr/>
          </p:nvGrpSpPr>
          <p:grpSpPr>
            <a:xfrm>
              <a:off x="7308327" y="2584086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477604C-0C8D-031A-5D6E-C91AF03AF70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585BA91B-D55E-96F3-1575-C38D96950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82486FD-80B4-59AE-E05F-D1D849FF3E97}"/>
              </a:ext>
            </a:extLst>
          </p:cNvPr>
          <p:cNvGrpSpPr/>
          <p:nvPr/>
        </p:nvGrpSpPr>
        <p:grpSpPr>
          <a:xfrm>
            <a:off x="4908028" y="2367753"/>
            <a:ext cx="863800" cy="1077659"/>
            <a:chOff x="4918099" y="2584086"/>
            <a:chExt cx="864000" cy="1077908"/>
          </a:xfrm>
        </p:grpSpPr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D4D29B66-51C2-A40D-B918-A5416A0D9944}"/>
                </a:ext>
              </a:extLst>
            </p:cNvPr>
            <p:cNvSpPr txBox="1"/>
            <p:nvPr/>
          </p:nvSpPr>
          <p:spPr>
            <a:xfrm>
              <a:off x="4918099" y="3292662"/>
              <a:ext cx="86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</a:t>
              </a:r>
              <a:r>
                <a:rPr lang="en-US" sz="900" dirty="0" err="1"/>
                <a:t>Controlo</a:t>
              </a:r>
              <a:r>
                <a:rPr lang="en-US" sz="900" dirty="0"/>
                <a:t> Interno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74AB31A-E500-B05D-6335-41E70F547F0F}"/>
                </a:ext>
              </a:extLst>
            </p:cNvPr>
            <p:cNvGrpSpPr/>
            <p:nvPr/>
          </p:nvGrpSpPr>
          <p:grpSpPr>
            <a:xfrm>
              <a:off x="5042481" y="2584086"/>
              <a:ext cx="648000" cy="648000"/>
              <a:chOff x="455122" y="4977513"/>
              <a:chExt cx="648000" cy="648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EE4FB8-FB5C-5D71-1235-C12E4CE4C0C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7" name="Graphic 16" descr="Database with solid fill">
                <a:extLst>
                  <a:ext uri="{FF2B5EF4-FFF2-40B4-BE49-F238E27FC236}">
                    <a16:creationId xmlns:a16="http://schemas.microsoft.com/office/drawing/2014/main" id="{F81DEF0F-2401-7617-A817-7B470C0300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4099441-DEB0-1D58-5279-D22923F7618B}"/>
              </a:ext>
            </a:extLst>
          </p:cNvPr>
          <p:cNvGrpSpPr/>
          <p:nvPr/>
        </p:nvGrpSpPr>
        <p:grpSpPr>
          <a:xfrm>
            <a:off x="2659096" y="3566901"/>
            <a:ext cx="827808" cy="968982"/>
            <a:chOff x="2657506" y="3814311"/>
            <a:chExt cx="828000" cy="969206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A49EF82-965D-5820-79A2-E49868B1C054}"/>
                </a:ext>
              </a:extLst>
            </p:cNvPr>
            <p:cNvSpPr txBox="1"/>
            <p:nvPr/>
          </p:nvSpPr>
          <p:spPr>
            <a:xfrm>
              <a:off x="2657506" y="4552685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CRISTINE II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55FB48B-2239-44DA-B570-16225119A418}"/>
                </a:ext>
              </a:extLst>
            </p:cNvPr>
            <p:cNvGrpSpPr/>
            <p:nvPr/>
          </p:nvGrpSpPr>
          <p:grpSpPr>
            <a:xfrm>
              <a:off x="2776635" y="3814311"/>
              <a:ext cx="648000" cy="648000"/>
              <a:chOff x="455122" y="4977513"/>
              <a:chExt cx="648000" cy="6480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174565F-705B-EF9B-EB93-211EEDE4641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9" name="Graphic 48" descr="Database with solid fill">
                <a:extLst>
                  <a:ext uri="{FF2B5EF4-FFF2-40B4-BE49-F238E27FC236}">
                    <a16:creationId xmlns:a16="http://schemas.microsoft.com/office/drawing/2014/main" id="{29EDDD1C-B625-1942-7FA3-306A142A61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EACAC15-DF26-D0C1-A23B-C3321A3B5DCB}"/>
              </a:ext>
            </a:extLst>
          </p:cNvPr>
          <p:cNvGrpSpPr/>
          <p:nvPr/>
        </p:nvGrpSpPr>
        <p:grpSpPr>
          <a:xfrm>
            <a:off x="5025895" y="1204677"/>
            <a:ext cx="675104" cy="966865"/>
            <a:chOff x="5042481" y="1353861"/>
            <a:chExt cx="675260" cy="96708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D48F5F-3D5F-62F8-6EC7-E4FE02C7468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8860AA3-69C9-5704-E72D-C88D20FCC81D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68" name="Oval 2">
                <a:extLst>
                  <a:ext uri="{FF2B5EF4-FFF2-40B4-BE49-F238E27FC236}">
                    <a16:creationId xmlns:a16="http://schemas.microsoft.com/office/drawing/2014/main" id="{AC34BBF6-FF1C-A1B0-3D08-900B858DED6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0" name="Graphic 69" descr="Server with solid fill">
                <a:extLst>
                  <a:ext uri="{FF2B5EF4-FFF2-40B4-BE49-F238E27FC236}">
                    <a16:creationId xmlns:a16="http://schemas.microsoft.com/office/drawing/2014/main" id="{257AD899-A327-80EB-6C6A-D518368B3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2EBF25D-829E-FD2E-8998-8201520652D4}"/>
              </a:ext>
            </a:extLst>
          </p:cNvPr>
          <p:cNvGrpSpPr/>
          <p:nvPr/>
        </p:nvGrpSpPr>
        <p:grpSpPr>
          <a:xfrm>
            <a:off x="9284732" y="1202126"/>
            <a:ext cx="827808" cy="966865"/>
            <a:chOff x="9506709" y="1353861"/>
            <a:chExt cx="828000" cy="967089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8CD6221-4E8B-2337-EF4F-6FD0B8E2AE7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WORKDAY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D49E6D0-46C2-2A27-6755-2A116D925C99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2" name="Oval 2">
                <a:extLst>
                  <a:ext uri="{FF2B5EF4-FFF2-40B4-BE49-F238E27FC236}">
                    <a16:creationId xmlns:a16="http://schemas.microsoft.com/office/drawing/2014/main" id="{A9C74042-845F-0E19-2BCC-F274C5CE4D8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72" descr="Server with solid fill">
                <a:extLst>
                  <a:ext uri="{FF2B5EF4-FFF2-40B4-BE49-F238E27FC236}">
                    <a16:creationId xmlns:a16="http://schemas.microsoft.com/office/drawing/2014/main" id="{A77B468E-6E36-6AD7-3447-6D0C5F65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3FCA364-C61E-08A5-6A90-CF03D33E862C}"/>
              </a:ext>
            </a:extLst>
          </p:cNvPr>
          <p:cNvGrpSpPr/>
          <p:nvPr/>
        </p:nvGrpSpPr>
        <p:grpSpPr>
          <a:xfrm>
            <a:off x="5994724" y="1168768"/>
            <a:ext cx="1043758" cy="1105333"/>
            <a:chOff x="5986962" y="1353861"/>
            <a:chExt cx="1044000" cy="1105589"/>
          </a:xfrm>
        </p:grpSpPr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10390450-6F41-4BE5-7F60-4EB31B9BFC2D}"/>
                </a:ext>
              </a:extLst>
            </p:cNvPr>
            <p:cNvSpPr txBox="1"/>
            <p:nvPr/>
          </p:nvSpPr>
          <p:spPr>
            <a:xfrm>
              <a:off x="5986962" y="2090118"/>
              <a:ext cx="104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TERMINAL CONTENCIOSO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604EEC6-D222-1DA1-991C-86FA0051A153}"/>
                </a:ext>
              </a:extLst>
            </p:cNvPr>
            <p:cNvGrpSpPr/>
            <p:nvPr/>
          </p:nvGrpSpPr>
          <p:grpSpPr>
            <a:xfrm>
              <a:off x="6175404" y="1353861"/>
              <a:ext cx="648000" cy="648000"/>
              <a:chOff x="1498452" y="4969551"/>
              <a:chExt cx="648000" cy="648000"/>
            </a:xfrm>
          </p:grpSpPr>
          <p:sp>
            <p:nvSpPr>
              <p:cNvPr id="76" name="Oval 2">
                <a:extLst>
                  <a:ext uri="{FF2B5EF4-FFF2-40B4-BE49-F238E27FC236}">
                    <a16:creationId xmlns:a16="http://schemas.microsoft.com/office/drawing/2014/main" id="{A8421478-4383-153B-0EE4-73C94B6590F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7" name="Graphic 76" descr="Server with solid fill">
                <a:extLst>
                  <a:ext uri="{FF2B5EF4-FFF2-40B4-BE49-F238E27FC236}">
                    <a16:creationId xmlns:a16="http://schemas.microsoft.com/office/drawing/2014/main" id="{5E11F8B7-A674-F6E7-CA42-FA99F033A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A1740D0-12E6-6652-A721-32ABD7A095C1}"/>
              </a:ext>
            </a:extLst>
          </p:cNvPr>
          <p:cNvGrpSpPr/>
          <p:nvPr/>
        </p:nvGrpSpPr>
        <p:grpSpPr>
          <a:xfrm>
            <a:off x="417408" y="5341244"/>
            <a:ext cx="827808" cy="915758"/>
            <a:chOff x="415299" y="5044535"/>
            <a:chExt cx="828000" cy="915970"/>
          </a:xfrm>
        </p:grpSpPr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ABB3D027-A65E-B6DD-AA15-BD02BDE78010}"/>
                </a:ext>
              </a:extLst>
            </p:cNvPr>
            <p:cNvSpPr txBox="1"/>
            <p:nvPr/>
          </p:nvSpPr>
          <p:spPr>
            <a:xfrm>
              <a:off x="415299" y="5729673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MODELICA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CFF664F-0909-FEAA-66DF-8D40D4DC758A}"/>
                </a:ext>
              </a:extLst>
            </p:cNvPr>
            <p:cNvGrpSpPr/>
            <p:nvPr/>
          </p:nvGrpSpPr>
          <p:grpSpPr>
            <a:xfrm>
              <a:off x="510789" y="5044535"/>
              <a:ext cx="648000" cy="648000"/>
              <a:chOff x="455122" y="3851392"/>
              <a:chExt cx="648000" cy="648000"/>
            </a:xfrm>
          </p:grpSpPr>
          <p:sp>
            <p:nvSpPr>
              <p:cNvPr id="79" name="Oval 2">
                <a:extLst>
                  <a:ext uri="{FF2B5EF4-FFF2-40B4-BE49-F238E27FC236}">
                    <a16:creationId xmlns:a16="http://schemas.microsoft.com/office/drawing/2014/main" id="{ABA82FDE-F0DC-872E-797D-E076A396729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80" name="Grupo 14">
                <a:extLst>
                  <a:ext uri="{FF2B5EF4-FFF2-40B4-BE49-F238E27FC236}">
                    <a16:creationId xmlns:a16="http://schemas.microsoft.com/office/drawing/2014/main" id="{4ADD5418-6523-6333-16CA-DA87D12B8D1C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81" name="Freeform 52">
                  <a:extLst>
                    <a:ext uri="{FF2B5EF4-FFF2-40B4-BE49-F238E27FC236}">
                      <a16:creationId xmlns:a16="http://schemas.microsoft.com/office/drawing/2014/main" id="{51C9EFD7-8455-E543-6EF5-2AD3E728E4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2" name="Freeform 53">
                  <a:extLst>
                    <a:ext uri="{FF2B5EF4-FFF2-40B4-BE49-F238E27FC236}">
                      <a16:creationId xmlns:a16="http://schemas.microsoft.com/office/drawing/2014/main" id="{BE0D4C42-5761-579E-8388-D4DA8ADA27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4" name="Freeform 54">
                  <a:extLst>
                    <a:ext uri="{FF2B5EF4-FFF2-40B4-BE49-F238E27FC236}">
                      <a16:creationId xmlns:a16="http://schemas.microsoft.com/office/drawing/2014/main" id="{AB805DBF-9D80-FA19-5640-57FFD37B35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5" name="Freeform 55">
                  <a:extLst>
                    <a:ext uri="{FF2B5EF4-FFF2-40B4-BE49-F238E27FC236}">
                      <a16:creationId xmlns:a16="http://schemas.microsoft.com/office/drawing/2014/main" id="{CA8A74E4-B24A-B2A3-312A-68A6C2592E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6" name="Freeform 56">
                  <a:extLst>
                    <a:ext uri="{FF2B5EF4-FFF2-40B4-BE49-F238E27FC236}">
                      <a16:creationId xmlns:a16="http://schemas.microsoft.com/office/drawing/2014/main" id="{892E4A2D-5D71-130F-B053-B7227FCAFD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7" name="Freeform 57">
                  <a:extLst>
                    <a:ext uri="{FF2B5EF4-FFF2-40B4-BE49-F238E27FC236}">
                      <a16:creationId xmlns:a16="http://schemas.microsoft.com/office/drawing/2014/main" id="{8BFFDDDB-700D-301A-AEDA-13ED65C21D5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3495B04-3496-AACD-C2D9-9EEBF73BF289}"/>
              </a:ext>
            </a:extLst>
          </p:cNvPr>
          <p:cNvGrpSpPr/>
          <p:nvPr/>
        </p:nvGrpSpPr>
        <p:grpSpPr>
          <a:xfrm>
            <a:off x="1496958" y="5341244"/>
            <a:ext cx="935783" cy="915758"/>
            <a:chOff x="1495099" y="5044535"/>
            <a:chExt cx="936000" cy="91597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0290D73-1F45-55C3-ABEF-34DCE8CF50D5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BANCWARE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8FC423F-571A-4E61-439F-A6E0E46BF62D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93" name="Oval 2">
                <a:extLst>
                  <a:ext uri="{FF2B5EF4-FFF2-40B4-BE49-F238E27FC236}">
                    <a16:creationId xmlns:a16="http://schemas.microsoft.com/office/drawing/2014/main" id="{6ED38323-7A6C-A749-49B5-7E3C564A045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94" name="Grupo 14">
                <a:extLst>
                  <a:ext uri="{FF2B5EF4-FFF2-40B4-BE49-F238E27FC236}">
                    <a16:creationId xmlns:a16="http://schemas.microsoft.com/office/drawing/2014/main" id="{D4225319-C948-AFAB-76F3-4562F75C1149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96" name="Freeform 52">
                  <a:extLst>
                    <a:ext uri="{FF2B5EF4-FFF2-40B4-BE49-F238E27FC236}">
                      <a16:creationId xmlns:a16="http://schemas.microsoft.com/office/drawing/2014/main" id="{67AD644D-B67B-09B0-F893-384868E4310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97" name="Freeform 53">
                  <a:extLst>
                    <a:ext uri="{FF2B5EF4-FFF2-40B4-BE49-F238E27FC236}">
                      <a16:creationId xmlns:a16="http://schemas.microsoft.com/office/drawing/2014/main" id="{547719A3-AE22-62CC-F12E-29DA10550F7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0" name="Freeform 54">
                  <a:extLst>
                    <a:ext uri="{FF2B5EF4-FFF2-40B4-BE49-F238E27FC236}">
                      <a16:creationId xmlns:a16="http://schemas.microsoft.com/office/drawing/2014/main" id="{C2E16A47-B8A9-D456-CD16-0DB1B696AFC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1" name="Freeform 55">
                  <a:extLst>
                    <a:ext uri="{FF2B5EF4-FFF2-40B4-BE49-F238E27FC236}">
                      <a16:creationId xmlns:a16="http://schemas.microsoft.com/office/drawing/2014/main" id="{F0E5E47A-E226-6132-55B6-1848F779F2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2" name="Freeform 56">
                  <a:extLst>
                    <a:ext uri="{FF2B5EF4-FFF2-40B4-BE49-F238E27FC236}">
                      <a16:creationId xmlns:a16="http://schemas.microsoft.com/office/drawing/2014/main" id="{2A3CC22E-74A6-CA52-7A92-7FA126AEB65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4" name="Freeform 57">
                  <a:extLst>
                    <a:ext uri="{FF2B5EF4-FFF2-40B4-BE49-F238E27FC236}">
                      <a16:creationId xmlns:a16="http://schemas.microsoft.com/office/drawing/2014/main" id="{514921D4-684C-7155-3601-7E49655AF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753C7E6-84A3-A820-8823-6A562A67E48F}"/>
              </a:ext>
            </a:extLst>
          </p:cNvPr>
          <p:cNvGrpSpPr/>
          <p:nvPr/>
        </p:nvGrpSpPr>
        <p:grpSpPr>
          <a:xfrm>
            <a:off x="7176487" y="1160159"/>
            <a:ext cx="935783" cy="966865"/>
            <a:chOff x="7188423" y="1353861"/>
            <a:chExt cx="936000" cy="967089"/>
          </a:xfrm>
        </p:grpSpPr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F9D3EC4F-7FC8-F3B7-5AA4-2A1FB9DBFE52}"/>
                </a:ext>
              </a:extLst>
            </p:cNvPr>
            <p:cNvSpPr txBox="1"/>
            <p:nvPr/>
          </p:nvSpPr>
          <p:spPr>
            <a:xfrm>
              <a:off x="7188423" y="2090118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ConsolS</a:t>
              </a:r>
              <a:endParaRPr lang="en-US" sz="900" dirty="0"/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AC84B90-7583-D2A5-AB7F-D1BCF940BEEE}"/>
                </a:ext>
              </a:extLst>
            </p:cNvPr>
            <p:cNvGrpSpPr/>
            <p:nvPr/>
          </p:nvGrpSpPr>
          <p:grpSpPr>
            <a:xfrm>
              <a:off x="7308327" y="1353861"/>
              <a:ext cx="648000" cy="648000"/>
              <a:chOff x="1498452" y="4969551"/>
              <a:chExt cx="648000" cy="648000"/>
            </a:xfrm>
          </p:grpSpPr>
          <p:sp>
            <p:nvSpPr>
              <p:cNvPr id="108" name="Oval 2">
                <a:extLst>
                  <a:ext uri="{FF2B5EF4-FFF2-40B4-BE49-F238E27FC236}">
                    <a16:creationId xmlns:a16="http://schemas.microsoft.com/office/drawing/2014/main" id="{1241621A-62FE-5F48-C5D8-B15736F6120E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9" name="Graphic 108" descr="Server with solid fill">
                <a:extLst>
                  <a:ext uri="{FF2B5EF4-FFF2-40B4-BE49-F238E27FC236}">
                    <a16:creationId xmlns:a16="http://schemas.microsoft.com/office/drawing/2014/main" id="{DD2F4364-4A77-C4B6-12D8-0E902780A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EBA2BD4-BC9C-B34E-EF37-DD6F54A0DD81}"/>
              </a:ext>
            </a:extLst>
          </p:cNvPr>
          <p:cNvGrpSpPr/>
          <p:nvPr/>
        </p:nvGrpSpPr>
        <p:grpSpPr>
          <a:xfrm>
            <a:off x="287668" y="1160158"/>
            <a:ext cx="1043758" cy="1047382"/>
            <a:chOff x="312789" y="1263166"/>
            <a:chExt cx="1044000" cy="104762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BA9F8D-53B9-42C3-42D7-97EF9FD619B8}"/>
                </a:ext>
              </a:extLst>
            </p:cNvPr>
            <p:cNvSpPr txBox="1"/>
            <p:nvPr/>
          </p:nvSpPr>
          <p:spPr>
            <a:xfrm>
              <a:off x="312789" y="2079958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50213C-50E1-6CC7-082B-F161B9A86038}"/>
                </a:ext>
              </a:extLst>
            </p:cNvPr>
            <p:cNvGrpSpPr/>
            <p:nvPr/>
          </p:nvGrpSpPr>
          <p:grpSpPr>
            <a:xfrm>
              <a:off x="510789" y="1353861"/>
              <a:ext cx="648000" cy="648000"/>
              <a:chOff x="1498452" y="4969551"/>
              <a:chExt cx="648000" cy="648000"/>
            </a:xfrm>
          </p:grpSpPr>
          <p:sp>
            <p:nvSpPr>
              <p:cNvPr id="42" name="Oval 2">
                <a:extLst>
                  <a:ext uri="{FF2B5EF4-FFF2-40B4-BE49-F238E27FC236}">
                    <a16:creationId xmlns:a16="http://schemas.microsoft.com/office/drawing/2014/main" id="{EE206986-28E4-2CAF-06FF-E44C01182811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42" descr="Server with solid fill">
                <a:extLst>
                  <a:ext uri="{FF2B5EF4-FFF2-40B4-BE49-F238E27FC236}">
                    <a16:creationId xmlns:a16="http://schemas.microsoft.com/office/drawing/2014/main" id="{7FA3223A-0958-0FFF-98F1-462FBF229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49" name="Graphic 148" descr="Single gear outline">
              <a:extLst>
                <a:ext uri="{FF2B5EF4-FFF2-40B4-BE49-F238E27FC236}">
                  <a16:creationId xmlns:a16="http://schemas.microsoft.com/office/drawing/2014/main" id="{F99FABC9-7FA1-C7C8-AFAD-121C226CA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35774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B0DB5CF-0EFE-167F-3509-EEADF7D75802}"/>
              </a:ext>
            </a:extLst>
          </p:cNvPr>
          <p:cNvGrpSpPr/>
          <p:nvPr/>
        </p:nvGrpSpPr>
        <p:grpSpPr>
          <a:xfrm>
            <a:off x="1618284" y="1160158"/>
            <a:ext cx="719774" cy="1057539"/>
            <a:chOff x="1643712" y="1263166"/>
            <a:chExt cx="719941" cy="105778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3E3212B-F255-511F-AC1E-1FB917EA162F}"/>
                </a:ext>
              </a:extLst>
            </p:cNvPr>
            <p:cNvSpPr txBox="1"/>
            <p:nvPr/>
          </p:nvSpPr>
          <p:spPr>
            <a:xfrm>
              <a:off x="1678012" y="2090118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FD15938-B438-27A3-E0E6-F3536272F517}"/>
                </a:ext>
              </a:extLst>
            </p:cNvPr>
            <p:cNvGrpSpPr/>
            <p:nvPr/>
          </p:nvGrpSpPr>
          <p:grpSpPr>
            <a:xfrm>
              <a:off x="1643712" y="1353861"/>
              <a:ext cx="648000" cy="648000"/>
              <a:chOff x="1498452" y="4969551"/>
              <a:chExt cx="648000" cy="648000"/>
            </a:xfrm>
          </p:grpSpPr>
          <p:sp>
            <p:nvSpPr>
              <p:cNvPr id="52" name="Oval 2">
                <a:extLst>
                  <a:ext uri="{FF2B5EF4-FFF2-40B4-BE49-F238E27FC236}">
                    <a16:creationId xmlns:a16="http://schemas.microsoft.com/office/drawing/2014/main" id="{AAF7EE2A-5033-A477-7A49-908235DCF84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4" name="Graphic 53" descr="Server with solid fill">
                <a:extLst>
                  <a:ext uri="{FF2B5EF4-FFF2-40B4-BE49-F238E27FC236}">
                    <a16:creationId xmlns:a16="http://schemas.microsoft.com/office/drawing/2014/main" id="{41822AAE-87E7-0C50-AFE1-6F5787D59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0" name="Graphic 149" descr="Single gear outline">
              <a:extLst>
                <a:ext uri="{FF2B5EF4-FFF2-40B4-BE49-F238E27FC236}">
                  <a16:creationId xmlns:a16="http://schemas.microsoft.com/office/drawing/2014/main" id="{B5C94437-EC78-B7C0-7591-ED9543FE1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075653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A5657F4-3D6C-1926-C4F7-E32D6C995FA7}"/>
              </a:ext>
            </a:extLst>
          </p:cNvPr>
          <p:cNvGrpSpPr/>
          <p:nvPr/>
        </p:nvGrpSpPr>
        <p:grpSpPr>
          <a:xfrm>
            <a:off x="2750944" y="1160158"/>
            <a:ext cx="744988" cy="1057539"/>
            <a:chOff x="2776635" y="1263166"/>
            <a:chExt cx="745160" cy="1057784"/>
          </a:xfrm>
        </p:grpSpPr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64B60AAA-FCCC-7210-4BB3-1F3F7493D861}"/>
                </a:ext>
              </a:extLst>
            </p:cNvPr>
            <p:cNvSpPr txBox="1"/>
            <p:nvPr/>
          </p:nvSpPr>
          <p:spPr>
            <a:xfrm>
              <a:off x="2782783" y="2090118"/>
              <a:ext cx="61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LEASE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6C45D51-D210-C54B-FD9C-594A2E7C5425}"/>
                </a:ext>
              </a:extLst>
            </p:cNvPr>
            <p:cNvGrpSpPr/>
            <p:nvPr/>
          </p:nvGrpSpPr>
          <p:grpSpPr>
            <a:xfrm>
              <a:off x="2776635" y="1353861"/>
              <a:ext cx="648000" cy="648000"/>
              <a:chOff x="1498452" y="4969551"/>
              <a:chExt cx="648000" cy="648000"/>
            </a:xfrm>
          </p:grpSpPr>
          <p:sp>
            <p:nvSpPr>
              <p:cNvPr id="120" name="Oval 2">
                <a:extLst>
                  <a:ext uri="{FF2B5EF4-FFF2-40B4-BE49-F238E27FC236}">
                    <a16:creationId xmlns:a16="http://schemas.microsoft.com/office/drawing/2014/main" id="{70D87ABB-656D-FDFD-33F5-EC1E163854C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1" name="Graphic 120" descr="Server with solid fill">
                <a:extLst>
                  <a:ext uri="{FF2B5EF4-FFF2-40B4-BE49-F238E27FC236}">
                    <a16:creationId xmlns:a16="http://schemas.microsoft.com/office/drawing/2014/main" id="{E1BADDF8-6D3C-FFF7-A8F7-1D50CF126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1" name="Graphic 150" descr="Single gear outline">
              <a:extLst>
                <a:ext uri="{FF2B5EF4-FFF2-40B4-BE49-F238E27FC236}">
                  <a16:creationId xmlns:a16="http://schemas.microsoft.com/office/drawing/2014/main" id="{AFE4F019-7117-D483-F733-8701CEE3E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3233795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481893D-3C48-2B9E-BEA2-1ED33F023BB6}"/>
              </a:ext>
            </a:extLst>
          </p:cNvPr>
          <p:cNvGrpSpPr/>
          <p:nvPr/>
        </p:nvGrpSpPr>
        <p:grpSpPr>
          <a:xfrm>
            <a:off x="3835046" y="1160158"/>
            <a:ext cx="787419" cy="1057539"/>
            <a:chOff x="3860987" y="1263166"/>
            <a:chExt cx="787601" cy="1057784"/>
          </a:xfrm>
        </p:grpSpPr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C3B35C3C-8C62-C426-1EC3-595D4B9BECE6}"/>
                </a:ext>
              </a:extLst>
            </p:cNvPr>
            <p:cNvSpPr txBox="1"/>
            <p:nvPr/>
          </p:nvSpPr>
          <p:spPr>
            <a:xfrm>
              <a:off x="3860987" y="2090118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EUROFAC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419CFB5-789D-ED32-3C1A-6FBC20A9E10F}"/>
                </a:ext>
              </a:extLst>
            </p:cNvPr>
            <p:cNvGrpSpPr/>
            <p:nvPr/>
          </p:nvGrpSpPr>
          <p:grpSpPr>
            <a:xfrm>
              <a:off x="3909558" y="1353861"/>
              <a:ext cx="648000" cy="648000"/>
              <a:chOff x="1498452" y="4969551"/>
              <a:chExt cx="648000" cy="648000"/>
            </a:xfrm>
          </p:grpSpPr>
          <p:sp>
            <p:nvSpPr>
              <p:cNvPr id="115" name="Oval 2">
                <a:extLst>
                  <a:ext uri="{FF2B5EF4-FFF2-40B4-BE49-F238E27FC236}">
                    <a16:creationId xmlns:a16="http://schemas.microsoft.com/office/drawing/2014/main" id="{D9B8D76E-B415-451C-4C9F-85BCF3852EC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6" name="Graphic 115" descr="Server with solid fill">
                <a:extLst>
                  <a:ext uri="{FF2B5EF4-FFF2-40B4-BE49-F238E27FC236}">
                    <a16:creationId xmlns:a16="http://schemas.microsoft.com/office/drawing/2014/main" id="{DC814EEF-F6FA-7D96-3638-3AC823152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2" name="Graphic 151" descr="Single gear outline">
              <a:extLst>
                <a:ext uri="{FF2B5EF4-FFF2-40B4-BE49-F238E27FC236}">
                  <a16:creationId xmlns:a16="http://schemas.microsoft.com/office/drawing/2014/main" id="{33C36F5C-5806-C169-6579-1FA0FDF01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4360588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CBD09C9-A63F-5F10-1F5B-37BA9848E76C}"/>
              </a:ext>
            </a:extLst>
          </p:cNvPr>
          <p:cNvGrpSpPr/>
          <p:nvPr/>
        </p:nvGrpSpPr>
        <p:grpSpPr>
          <a:xfrm>
            <a:off x="8369519" y="1098302"/>
            <a:ext cx="827808" cy="1057539"/>
            <a:chOff x="8370197" y="1263166"/>
            <a:chExt cx="828000" cy="105778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7B020C-F7BD-1B15-C963-17A25B7C7061}"/>
                </a:ext>
              </a:extLst>
            </p:cNvPr>
            <p:cNvSpPr txBox="1"/>
            <p:nvPr/>
          </p:nvSpPr>
          <p:spPr>
            <a:xfrm>
              <a:off x="8370197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HERACLES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832FE0E-6760-ECE8-0E87-8C058BC3E525}"/>
                </a:ext>
              </a:extLst>
            </p:cNvPr>
            <p:cNvGrpSpPr/>
            <p:nvPr/>
          </p:nvGrpSpPr>
          <p:grpSpPr>
            <a:xfrm>
              <a:off x="8441250" y="1353861"/>
              <a:ext cx="648000" cy="648000"/>
              <a:chOff x="1498452" y="4969551"/>
              <a:chExt cx="648000" cy="648000"/>
            </a:xfrm>
          </p:grpSpPr>
          <p:sp>
            <p:nvSpPr>
              <p:cNvPr id="63" name="Oval 2">
                <a:extLst>
                  <a:ext uri="{FF2B5EF4-FFF2-40B4-BE49-F238E27FC236}">
                    <a16:creationId xmlns:a16="http://schemas.microsoft.com/office/drawing/2014/main" id="{E0017416-C967-E606-7162-32B00BA71DA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4" name="Graphic 63" descr="Server with solid fill">
                <a:extLst>
                  <a:ext uri="{FF2B5EF4-FFF2-40B4-BE49-F238E27FC236}">
                    <a16:creationId xmlns:a16="http://schemas.microsoft.com/office/drawing/2014/main" id="{BB150DC7-76A4-9C86-E856-08B7168F9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3" name="Graphic 152" descr="Single gear outline">
              <a:extLst>
                <a:ext uri="{FF2B5EF4-FFF2-40B4-BE49-F238E27FC236}">
                  <a16:creationId xmlns:a16="http://schemas.microsoft.com/office/drawing/2014/main" id="{A9C50749-BC2E-DC37-61BD-99BDB8836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A076E94-5BE3-E3C4-0DE1-96C193E1494E}"/>
              </a:ext>
            </a:extLst>
          </p:cNvPr>
          <p:cNvGrpSpPr/>
          <p:nvPr/>
        </p:nvGrpSpPr>
        <p:grpSpPr>
          <a:xfrm>
            <a:off x="6135556" y="2354790"/>
            <a:ext cx="796450" cy="1034354"/>
            <a:chOff x="6134770" y="2488901"/>
            <a:chExt cx="796634" cy="1034593"/>
          </a:xfrm>
        </p:grpSpPr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3508BB35-3174-0529-0EC5-75CCA8C8093A}"/>
                </a:ext>
              </a:extLst>
            </p:cNvPr>
            <p:cNvSpPr txBox="1"/>
            <p:nvPr/>
          </p:nvSpPr>
          <p:spPr>
            <a:xfrm>
              <a:off x="6134770" y="3292662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</a:t>
              </a:r>
              <a:r>
                <a:rPr lang="en-US" sz="900" dirty="0" err="1"/>
                <a:t>Riscos</a:t>
              </a:r>
              <a:endParaRPr lang="en-US" sz="90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5B8357-776F-D283-7297-D9CA9EA454D1}"/>
                </a:ext>
              </a:extLst>
            </p:cNvPr>
            <p:cNvGrpSpPr/>
            <p:nvPr/>
          </p:nvGrpSpPr>
          <p:grpSpPr>
            <a:xfrm>
              <a:off x="6175404" y="2584086"/>
              <a:ext cx="648000" cy="648000"/>
              <a:chOff x="455122" y="4977513"/>
              <a:chExt cx="648000" cy="648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7D27280-B6E4-113E-C1A2-B0B686B5768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" name="Graphic 19" descr="Database with solid fill">
                <a:extLst>
                  <a:ext uri="{FF2B5EF4-FFF2-40B4-BE49-F238E27FC236}">
                    <a16:creationId xmlns:a16="http://schemas.microsoft.com/office/drawing/2014/main" id="{811F777C-D0F3-69B5-5473-E4E1FD449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5" name="Graphic 154" descr="Single gear outline">
              <a:extLst>
                <a:ext uri="{FF2B5EF4-FFF2-40B4-BE49-F238E27FC236}">
                  <a16:creationId xmlns:a16="http://schemas.microsoft.com/office/drawing/2014/main" id="{6D870519-0C1B-2128-0DD8-0615F97EA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6643404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DC291DD-3434-DB82-5E97-B95152CDB80A}"/>
              </a:ext>
            </a:extLst>
          </p:cNvPr>
          <p:cNvGrpSpPr/>
          <p:nvPr/>
        </p:nvGrpSpPr>
        <p:grpSpPr>
          <a:xfrm>
            <a:off x="3910858" y="2354790"/>
            <a:ext cx="755825" cy="1034354"/>
            <a:chOff x="3909558" y="2488901"/>
            <a:chExt cx="756000" cy="1034593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D11B03F3-192B-EF53-F97B-E7C723444D80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C35A4F8-D556-3B33-0670-3B858DF74527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A272668-37D6-4959-4770-96DB05B8A83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" name="Graphic 3" descr="Database with solid fill">
                <a:extLst>
                  <a:ext uri="{FF2B5EF4-FFF2-40B4-BE49-F238E27FC236}">
                    <a16:creationId xmlns:a16="http://schemas.microsoft.com/office/drawing/2014/main" id="{821165D7-2AF0-24C4-A171-EFA1249409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6" name="Graphic 155" descr="Single gear outline">
              <a:extLst>
                <a:ext uri="{FF2B5EF4-FFF2-40B4-BE49-F238E27FC236}">
                  <a16:creationId xmlns:a16="http://schemas.microsoft.com/office/drawing/2014/main" id="{F7BD5B3F-C924-242A-4346-030FD650F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95499EF-7378-1CC6-857F-DA5C5C7DA3AF}"/>
              </a:ext>
            </a:extLst>
          </p:cNvPr>
          <p:cNvGrpSpPr/>
          <p:nvPr/>
        </p:nvGrpSpPr>
        <p:grpSpPr>
          <a:xfrm>
            <a:off x="2778198" y="2354790"/>
            <a:ext cx="735863" cy="1034354"/>
            <a:chOff x="2776635" y="2488901"/>
            <a:chExt cx="736033" cy="103459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1B7B6C9-BCB7-E05D-A26F-CB94E0742B72}"/>
                </a:ext>
              </a:extLst>
            </p:cNvPr>
            <p:cNvSpPr txBox="1"/>
            <p:nvPr/>
          </p:nvSpPr>
          <p:spPr>
            <a:xfrm>
              <a:off x="2837795" y="3292662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IFRS9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6EF092C-384F-BD0D-6556-7E0192A3CFA7}"/>
                </a:ext>
              </a:extLst>
            </p:cNvPr>
            <p:cNvGrpSpPr/>
            <p:nvPr/>
          </p:nvGrpSpPr>
          <p:grpSpPr>
            <a:xfrm>
              <a:off x="2776635" y="2584086"/>
              <a:ext cx="648000" cy="648000"/>
              <a:chOff x="455122" y="4977513"/>
              <a:chExt cx="648000" cy="648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44D71BC-A0EB-5EC9-9662-D84E36C11B6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0" name="Graphic 29" descr="Database with solid fill">
                <a:extLst>
                  <a:ext uri="{FF2B5EF4-FFF2-40B4-BE49-F238E27FC236}">
                    <a16:creationId xmlns:a16="http://schemas.microsoft.com/office/drawing/2014/main" id="{753A0CFA-72C3-2DBD-8BCD-D7B33C103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7" name="Graphic 156" descr="Single gear outline">
              <a:extLst>
                <a:ext uri="{FF2B5EF4-FFF2-40B4-BE49-F238E27FC236}">
                  <a16:creationId xmlns:a16="http://schemas.microsoft.com/office/drawing/2014/main" id="{B3D794E0-8420-CA24-0446-2B8C9EE79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3224668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B3EAD0A-456A-7FC2-C0EA-10C3F0C7A4E6}"/>
              </a:ext>
            </a:extLst>
          </p:cNvPr>
          <p:cNvGrpSpPr/>
          <p:nvPr/>
        </p:nvGrpSpPr>
        <p:grpSpPr>
          <a:xfrm>
            <a:off x="512877" y="2354790"/>
            <a:ext cx="744861" cy="1034354"/>
            <a:chOff x="510789" y="2488901"/>
            <a:chExt cx="745033" cy="103459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B683E9-90DC-82DD-4219-C5D8AB0A22D5}"/>
                </a:ext>
              </a:extLst>
            </p:cNvPr>
            <p:cNvSpPr txBox="1"/>
            <p:nvPr/>
          </p:nvSpPr>
          <p:spPr>
            <a:xfrm>
              <a:off x="609110" y="3292662"/>
              <a:ext cx="43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EF439CC-E913-6D42-FCFF-A66A67AB7401}"/>
                </a:ext>
              </a:extLst>
            </p:cNvPr>
            <p:cNvGrpSpPr/>
            <p:nvPr/>
          </p:nvGrpSpPr>
          <p:grpSpPr>
            <a:xfrm>
              <a:off x="510789" y="2584086"/>
              <a:ext cx="648000" cy="648000"/>
              <a:chOff x="455122" y="4977513"/>
              <a:chExt cx="648000" cy="648000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21304C03-BC2C-951E-35C3-38C0EF14E76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0" name="Graphic 39" descr="Database with solid fill">
                <a:extLst>
                  <a:ext uri="{FF2B5EF4-FFF2-40B4-BE49-F238E27FC236}">
                    <a16:creationId xmlns:a16="http://schemas.microsoft.com/office/drawing/2014/main" id="{297FBE6E-14EA-D6BA-3B2A-D50E8498A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9" name="Graphic 158" descr="Single gear outline">
              <a:extLst>
                <a:ext uri="{FF2B5EF4-FFF2-40B4-BE49-F238E27FC236}">
                  <a16:creationId xmlns:a16="http://schemas.microsoft.com/office/drawing/2014/main" id="{C47D417B-6630-2860-BAA8-1EC4CA8C7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67822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BB18944-2731-C28D-BE8A-13B2F14D0696}"/>
              </a:ext>
            </a:extLst>
          </p:cNvPr>
          <p:cNvGrpSpPr/>
          <p:nvPr/>
        </p:nvGrpSpPr>
        <p:grpSpPr>
          <a:xfrm>
            <a:off x="1645537" y="2354790"/>
            <a:ext cx="748674" cy="1034354"/>
            <a:chOff x="1643712" y="2488901"/>
            <a:chExt cx="748847" cy="103459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70C8E7-6F55-D6D2-7827-5A37435AC4F6}"/>
                </a:ext>
              </a:extLst>
            </p:cNvPr>
            <p:cNvSpPr txBox="1"/>
            <p:nvPr/>
          </p:nvSpPr>
          <p:spPr>
            <a:xfrm>
              <a:off x="1773142" y="3292662"/>
              <a:ext cx="43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BDR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1CE7974-0473-BACB-801E-57475F0A6A51}"/>
                </a:ext>
              </a:extLst>
            </p:cNvPr>
            <p:cNvGrpSpPr/>
            <p:nvPr/>
          </p:nvGrpSpPr>
          <p:grpSpPr>
            <a:xfrm>
              <a:off x="1643712" y="2584086"/>
              <a:ext cx="648000" cy="648000"/>
              <a:chOff x="455122" y="4977513"/>
              <a:chExt cx="648000" cy="6480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689A130-40AF-047A-D79A-7949292DF53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5" name="Graphic 34" descr="Database with solid fill">
                <a:extLst>
                  <a:ext uri="{FF2B5EF4-FFF2-40B4-BE49-F238E27FC236}">
                    <a16:creationId xmlns:a16="http://schemas.microsoft.com/office/drawing/2014/main" id="{7D22AC59-206D-5A84-6AC8-A8650892B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8" name="Graphic 157" descr="Single gear outline">
              <a:extLst>
                <a:ext uri="{FF2B5EF4-FFF2-40B4-BE49-F238E27FC236}">
                  <a16:creationId xmlns:a16="http://schemas.microsoft.com/office/drawing/2014/main" id="{7965C152-6DA2-BD19-5D73-0D9797A48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104559" y="2488901"/>
              <a:ext cx="288000" cy="288000"/>
            </a:xfrm>
            <a:prstGeom prst="rect">
              <a:avLst/>
            </a:prstGeom>
          </p:spPr>
        </p:pic>
        <p:pic>
          <p:nvPicPr>
            <p:cNvPr id="162" name="Imagen 18">
              <a:extLst>
                <a:ext uri="{FF2B5EF4-FFF2-40B4-BE49-F238E27FC236}">
                  <a16:creationId xmlns:a16="http://schemas.microsoft.com/office/drawing/2014/main" id="{B4989550-1910-3C54-F767-B263D7E73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255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1A10C5C-9786-51D9-855F-AE204EEC8D0B}"/>
              </a:ext>
            </a:extLst>
          </p:cNvPr>
          <p:cNvGrpSpPr/>
          <p:nvPr/>
        </p:nvGrpSpPr>
        <p:grpSpPr>
          <a:xfrm>
            <a:off x="8424584" y="2354790"/>
            <a:ext cx="772744" cy="1034354"/>
            <a:chOff x="8424327" y="2488901"/>
            <a:chExt cx="772923" cy="1034593"/>
          </a:xfrm>
        </p:grpSpPr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2044B185-9DB2-B6C0-F07D-9EFAB91D2B74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9E4F4A-1561-6E21-52CA-8DC295A78914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39AEC8A-2463-5139-98C6-09A1B56A8F8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" name="Graphic 6" descr="Database with solid fill">
                <a:extLst>
                  <a:ext uri="{FF2B5EF4-FFF2-40B4-BE49-F238E27FC236}">
                    <a16:creationId xmlns:a16="http://schemas.microsoft.com/office/drawing/2014/main" id="{B78E220A-C246-8234-2BE3-448327492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80C495BA-43C8-B81F-0868-BDD06599A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63" name="Imagen 18">
              <a:extLst>
                <a:ext uri="{FF2B5EF4-FFF2-40B4-BE49-F238E27FC236}">
                  <a16:creationId xmlns:a16="http://schemas.microsoft.com/office/drawing/2014/main" id="{20BD548F-C010-0343-0E10-F6226858A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0D8E5FD-709C-9E1D-7BF7-ED2C3F848F4A}"/>
              </a:ext>
            </a:extLst>
          </p:cNvPr>
          <p:cNvGrpSpPr/>
          <p:nvPr/>
        </p:nvGrpSpPr>
        <p:grpSpPr>
          <a:xfrm>
            <a:off x="402684" y="3438132"/>
            <a:ext cx="863800" cy="1097751"/>
            <a:chOff x="400572" y="3685512"/>
            <a:chExt cx="864000" cy="109800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287035F-70DD-C85A-6190-A7808F17333D}"/>
                </a:ext>
              </a:extLst>
            </p:cNvPr>
            <p:cNvSpPr txBox="1"/>
            <p:nvPr/>
          </p:nvSpPr>
          <p:spPr>
            <a:xfrm>
              <a:off x="400572" y="4552685"/>
              <a:ext cx="86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838DC5C-5FB2-425F-5231-DE5743DE56AC}"/>
                </a:ext>
              </a:extLst>
            </p:cNvPr>
            <p:cNvGrpSpPr/>
            <p:nvPr/>
          </p:nvGrpSpPr>
          <p:grpSpPr>
            <a:xfrm>
              <a:off x="510789" y="3814311"/>
              <a:ext cx="648000" cy="648000"/>
              <a:chOff x="455122" y="4977513"/>
              <a:chExt cx="648000" cy="648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854E57-47F6-0316-DCA8-185453247B5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910A2CAC-3B4E-5F0A-ACE6-3459D4FA0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60" name="Graphic 159" descr="Single gear outline">
              <a:extLst>
                <a:ext uri="{FF2B5EF4-FFF2-40B4-BE49-F238E27FC236}">
                  <a16:creationId xmlns:a16="http://schemas.microsoft.com/office/drawing/2014/main" id="{B747AC7A-0ACB-0D20-5D0A-3934D28E9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67822" y="3685512"/>
              <a:ext cx="288000" cy="288000"/>
            </a:xfrm>
            <a:prstGeom prst="rect">
              <a:avLst/>
            </a:prstGeom>
          </p:spPr>
        </p:pic>
        <p:pic>
          <p:nvPicPr>
            <p:cNvPr id="164" name="Imagen 18">
              <a:extLst>
                <a:ext uri="{FF2B5EF4-FFF2-40B4-BE49-F238E27FC236}">
                  <a16:creationId xmlns:a16="http://schemas.microsoft.com/office/drawing/2014/main" id="{291A18E5-E655-208D-FD18-F597E8295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763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0E70162-9779-FEB4-0891-B2EAFC3B3B17}"/>
              </a:ext>
            </a:extLst>
          </p:cNvPr>
          <p:cNvGrpSpPr/>
          <p:nvPr/>
        </p:nvGrpSpPr>
        <p:grpSpPr>
          <a:xfrm>
            <a:off x="1645432" y="3438132"/>
            <a:ext cx="735999" cy="1097751"/>
            <a:chOff x="1643606" y="3685512"/>
            <a:chExt cx="736169" cy="109800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A7E8F40-5E0E-C84B-D5EC-300BBD71368F}"/>
                </a:ext>
              </a:extLst>
            </p:cNvPr>
            <p:cNvSpPr txBox="1"/>
            <p:nvPr/>
          </p:nvSpPr>
          <p:spPr>
            <a:xfrm>
              <a:off x="1731775" y="4552685"/>
              <a:ext cx="50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ALM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98C3BCC-C516-5B52-A361-5CEB96E38462}"/>
                </a:ext>
              </a:extLst>
            </p:cNvPr>
            <p:cNvGrpSpPr/>
            <p:nvPr/>
          </p:nvGrpSpPr>
          <p:grpSpPr>
            <a:xfrm>
              <a:off x="1643712" y="3814311"/>
              <a:ext cx="648000" cy="648000"/>
              <a:chOff x="455122" y="4977513"/>
              <a:chExt cx="648000" cy="648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FE26504-2E01-E33F-68F2-BDD0D5A43942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3" name="Graphic 22" descr="Database with solid fill">
                <a:extLst>
                  <a:ext uri="{FF2B5EF4-FFF2-40B4-BE49-F238E27FC236}">
                    <a16:creationId xmlns:a16="http://schemas.microsoft.com/office/drawing/2014/main" id="{4283FAC4-F54B-E41D-1931-2CC714EEB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61" name="Graphic 160" descr="Single gear outline">
              <a:extLst>
                <a:ext uri="{FF2B5EF4-FFF2-40B4-BE49-F238E27FC236}">
                  <a16:creationId xmlns:a16="http://schemas.microsoft.com/office/drawing/2014/main" id="{F4510D8A-9685-31E5-DF8F-12C392B09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091775" y="3685512"/>
              <a:ext cx="288000" cy="288000"/>
            </a:xfrm>
            <a:prstGeom prst="rect">
              <a:avLst/>
            </a:prstGeom>
          </p:spPr>
        </p:pic>
        <p:pic>
          <p:nvPicPr>
            <p:cNvPr id="165" name="Imagen 18">
              <a:extLst>
                <a:ext uri="{FF2B5EF4-FFF2-40B4-BE49-F238E27FC236}">
                  <a16:creationId xmlns:a16="http://schemas.microsoft.com/office/drawing/2014/main" id="{A5254EE5-6A6D-A712-8838-2EBF54B5E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606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14EFC98C-148C-7C98-7B25-78D27E2EB0A5}"/>
              </a:ext>
            </a:extLst>
          </p:cNvPr>
          <p:cNvGrpSpPr/>
          <p:nvPr/>
        </p:nvGrpSpPr>
        <p:grpSpPr>
          <a:xfrm>
            <a:off x="2612212" y="5341244"/>
            <a:ext cx="1007843" cy="915758"/>
            <a:chOff x="2610612" y="5044535"/>
            <a:chExt cx="1008076" cy="915970"/>
          </a:xfrm>
        </p:grpSpPr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D85B83A5-5F7C-023C-C018-11B9DB34D7E9}"/>
                </a:ext>
              </a:extLst>
            </p:cNvPr>
            <p:cNvSpPr txBox="1"/>
            <p:nvPr/>
          </p:nvSpPr>
          <p:spPr>
            <a:xfrm>
              <a:off x="2610612" y="572967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NEW DEFAULT</a:t>
              </a:r>
            </a:p>
          </p:txBody>
        </p:sp>
        <p:grpSp>
          <p:nvGrpSpPr>
            <p:cNvPr id="1091" name="Group 1090">
              <a:extLst>
                <a:ext uri="{FF2B5EF4-FFF2-40B4-BE49-F238E27FC236}">
                  <a16:creationId xmlns:a16="http://schemas.microsoft.com/office/drawing/2014/main" id="{C12E7D10-BC6E-0E23-4640-B4E0D392B1D1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092" name="Oval 2">
                <a:extLst>
                  <a:ext uri="{FF2B5EF4-FFF2-40B4-BE49-F238E27FC236}">
                    <a16:creationId xmlns:a16="http://schemas.microsoft.com/office/drawing/2014/main" id="{E2984FE0-4AF0-5AC9-A596-16C61137DDE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093" name="Grupo 14">
                <a:extLst>
                  <a:ext uri="{FF2B5EF4-FFF2-40B4-BE49-F238E27FC236}">
                    <a16:creationId xmlns:a16="http://schemas.microsoft.com/office/drawing/2014/main" id="{21A9B27C-7E91-DFC0-29A3-8A338D727A73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094" name="Freeform 52">
                  <a:extLst>
                    <a:ext uri="{FF2B5EF4-FFF2-40B4-BE49-F238E27FC236}">
                      <a16:creationId xmlns:a16="http://schemas.microsoft.com/office/drawing/2014/main" id="{ECB100F9-1C30-C10B-22B7-89A87EF9AF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5" name="Freeform 53">
                  <a:extLst>
                    <a:ext uri="{FF2B5EF4-FFF2-40B4-BE49-F238E27FC236}">
                      <a16:creationId xmlns:a16="http://schemas.microsoft.com/office/drawing/2014/main" id="{FFBC6316-96CE-12CD-ABC5-9F384EED5E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6" name="Freeform 54">
                  <a:extLst>
                    <a:ext uri="{FF2B5EF4-FFF2-40B4-BE49-F238E27FC236}">
                      <a16:creationId xmlns:a16="http://schemas.microsoft.com/office/drawing/2014/main" id="{548D7D7D-9021-3839-FB98-18E76D9CDD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7" name="Freeform 55">
                  <a:extLst>
                    <a:ext uri="{FF2B5EF4-FFF2-40B4-BE49-F238E27FC236}">
                      <a16:creationId xmlns:a16="http://schemas.microsoft.com/office/drawing/2014/main" id="{09CD9D4C-1138-5137-DA52-A4CEF33C6E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8" name="Freeform 56">
                  <a:extLst>
                    <a:ext uri="{FF2B5EF4-FFF2-40B4-BE49-F238E27FC236}">
                      <a16:creationId xmlns:a16="http://schemas.microsoft.com/office/drawing/2014/main" id="{F67C4B88-FD0D-FE6A-41C7-E02A4509A5F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9" name="Freeform 57">
                  <a:extLst>
                    <a:ext uri="{FF2B5EF4-FFF2-40B4-BE49-F238E27FC236}">
                      <a16:creationId xmlns:a16="http://schemas.microsoft.com/office/drawing/2014/main" id="{02BF30F4-17C3-0EBF-17A7-25A525DB94A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D20190AA-D6A4-C685-760F-DB34F2AEA02F}"/>
              </a:ext>
            </a:extLst>
          </p:cNvPr>
          <p:cNvGrpSpPr/>
          <p:nvPr/>
        </p:nvGrpSpPr>
        <p:grpSpPr>
          <a:xfrm>
            <a:off x="10150477" y="1188976"/>
            <a:ext cx="827808" cy="966865"/>
            <a:chOff x="9506709" y="1353861"/>
            <a:chExt cx="828000" cy="967089"/>
          </a:xfrm>
        </p:grpSpPr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F940E53F-290B-C8A9-A689-904613A4DFBA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NORKOM</a:t>
              </a:r>
            </a:p>
          </p:txBody>
        </p:sp>
        <p:grpSp>
          <p:nvGrpSpPr>
            <p:cNvPr id="1103" name="Group 1102">
              <a:extLst>
                <a:ext uri="{FF2B5EF4-FFF2-40B4-BE49-F238E27FC236}">
                  <a16:creationId xmlns:a16="http://schemas.microsoft.com/office/drawing/2014/main" id="{A97B214E-A56E-96B4-2FE8-2FB066173400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1104" name="Oval 2">
                <a:extLst>
                  <a:ext uri="{FF2B5EF4-FFF2-40B4-BE49-F238E27FC236}">
                    <a16:creationId xmlns:a16="http://schemas.microsoft.com/office/drawing/2014/main" id="{D5514AEB-DB6C-1E19-AEAD-919FCA7CEFB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05" name="Graphic 1104" descr="Server with solid fill">
                <a:extLst>
                  <a:ext uri="{FF2B5EF4-FFF2-40B4-BE49-F238E27FC236}">
                    <a16:creationId xmlns:a16="http://schemas.microsoft.com/office/drawing/2014/main" id="{A5337E76-1B5E-2A4A-5913-D2CD2AA2C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2114CA1-A064-4A6C-A5A4-BB2008588B86}"/>
              </a:ext>
            </a:extLst>
          </p:cNvPr>
          <p:cNvGrpSpPr/>
          <p:nvPr/>
        </p:nvGrpSpPr>
        <p:grpSpPr>
          <a:xfrm>
            <a:off x="3766665" y="5338455"/>
            <a:ext cx="1066766" cy="918547"/>
            <a:chOff x="2788409" y="5044535"/>
            <a:chExt cx="1067013" cy="918760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9BC8421B-D23F-43F0-958E-AE2263D8DF00}"/>
                </a:ext>
              </a:extLst>
            </p:cNvPr>
            <p:cNvSpPr txBox="1"/>
            <p:nvPr/>
          </p:nvSpPr>
          <p:spPr>
            <a:xfrm>
              <a:off x="2847346" y="573246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SIGMA</a:t>
              </a: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F778918E-23E6-4EEF-996A-B865C3B00733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93" name="Oval 2">
                <a:extLst>
                  <a:ext uri="{FF2B5EF4-FFF2-40B4-BE49-F238E27FC236}">
                    <a16:creationId xmlns:a16="http://schemas.microsoft.com/office/drawing/2014/main" id="{69B54FEE-87F4-4A15-87BB-BE54A83BA9E3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94" name="Grupo 14">
                <a:extLst>
                  <a:ext uri="{FF2B5EF4-FFF2-40B4-BE49-F238E27FC236}">
                    <a16:creationId xmlns:a16="http://schemas.microsoft.com/office/drawing/2014/main" id="{43C5CC13-6DF1-41ED-9D33-29494B26AECA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95" name="Freeform 52">
                  <a:extLst>
                    <a:ext uri="{FF2B5EF4-FFF2-40B4-BE49-F238E27FC236}">
                      <a16:creationId xmlns:a16="http://schemas.microsoft.com/office/drawing/2014/main" id="{64F58104-45F2-43D0-86F1-6D6DADFB85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6" name="Freeform 53">
                  <a:extLst>
                    <a:ext uri="{FF2B5EF4-FFF2-40B4-BE49-F238E27FC236}">
                      <a16:creationId xmlns:a16="http://schemas.microsoft.com/office/drawing/2014/main" id="{A5CAA09D-3DD5-4849-9D58-01E08E124E3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7" name="Freeform 54">
                  <a:extLst>
                    <a:ext uri="{FF2B5EF4-FFF2-40B4-BE49-F238E27FC236}">
                      <a16:creationId xmlns:a16="http://schemas.microsoft.com/office/drawing/2014/main" id="{E310E113-DC87-4548-85DE-B0FC16C4E2D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8" name="Freeform 55">
                  <a:extLst>
                    <a:ext uri="{FF2B5EF4-FFF2-40B4-BE49-F238E27FC236}">
                      <a16:creationId xmlns:a16="http://schemas.microsoft.com/office/drawing/2014/main" id="{7D1B4A38-FB3D-4966-BFF6-9332D241B89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9" name="Freeform 56">
                  <a:extLst>
                    <a:ext uri="{FF2B5EF4-FFF2-40B4-BE49-F238E27FC236}">
                      <a16:creationId xmlns:a16="http://schemas.microsoft.com/office/drawing/2014/main" id="{48C59780-5AF7-4CC4-B1F8-7A190363B8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200" name="Freeform 57">
                  <a:extLst>
                    <a:ext uri="{FF2B5EF4-FFF2-40B4-BE49-F238E27FC236}">
                      <a16:creationId xmlns:a16="http://schemas.microsoft.com/office/drawing/2014/main" id="{2A3968FE-9A0C-4EDD-BA92-B3444A956AC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8C1018AC-6274-4DDF-A884-1E514EB90BA6}"/>
              </a:ext>
            </a:extLst>
          </p:cNvPr>
          <p:cNvGrpSpPr/>
          <p:nvPr/>
        </p:nvGrpSpPr>
        <p:grpSpPr>
          <a:xfrm>
            <a:off x="3868404" y="3542902"/>
            <a:ext cx="827808" cy="965378"/>
            <a:chOff x="2707009" y="3814311"/>
            <a:chExt cx="828000" cy="965601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7E26243C-CF8B-49FB-90F6-CE5BA6CA4CF9}"/>
                </a:ext>
              </a:extLst>
            </p:cNvPr>
            <p:cNvSpPr txBox="1"/>
            <p:nvPr/>
          </p:nvSpPr>
          <p:spPr>
            <a:xfrm>
              <a:off x="2707009" y="4549080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MARS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4B27635E-F257-459D-8687-7E6006272D64}"/>
                </a:ext>
              </a:extLst>
            </p:cNvPr>
            <p:cNvGrpSpPr/>
            <p:nvPr/>
          </p:nvGrpSpPr>
          <p:grpSpPr>
            <a:xfrm>
              <a:off x="2776635" y="3814311"/>
              <a:ext cx="648000" cy="648000"/>
              <a:chOff x="455122" y="4977513"/>
              <a:chExt cx="648000" cy="648000"/>
            </a:xfrm>
          </p:grpSpPr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7BDAD7E-4C9C-4AC5-A24C-4801E127E015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5" name="Graphic 204" descr="Database with solid fill">
                <a:extLst>
                  <a:ext uri="{FF2B5EF4-FFF2-40B4-BE49-F238E27FC236}">
                    <a16:creationId xmlns:a16="http://schemas.microsoft.com/office/drawing/2014/main" id="{F87057EB-5DCE-4629-81E9-AFC3335000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06" name="Imagen 18">
            <a:extLst>
              <a:ext uri="{FF2B5EF4-FFF2-40B4-BE49-F238E27FC236}">
                <a16:creationId xmlns:a16="http://schemas.microsoft.com/office/drawing/2014/main" id="{43742EB3-0B9A-46E6-9C53-AA0DA53D5B2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877" y="2428627"/>
            <a:ext cx="241113" cy="241113"/>
          </a:xfrm>
          <a:prstGeom prst="rect">
            <a:avLst/>
          </a:prstGeom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FBBAF6E-9230-4989-BC68-E8ECBC66C4BB}"/>
              </a:ext>
            </a:extLst>
          </p:cNvPr>
          <p:cNvGrpSpPr/>
          <p:nvPr/>
        </p:nvGrpSpPr>
        <p:grpSpPr>
          <a:xfrm>
            <a:off x="11024183" y="1204677"/>
            <a:ext cx="827808" cy="966865"/>
            <a:chOff x="9506709" y="1353861"/>
            <a:chExt cx="828000" cy="967089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B9394515-545E-4C11-BF39-95B4E0898C1E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AQUANIMA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A3D594BC-FEF6-4C9E-B81D-5912B5C877B6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0" name="Oval 2">
                <a:extLst>
                  <a:ext uri="{FF2B5EF4-FFF2-40B4-BE49-F238E27FC236}">
                    <a16:creationId xmlns:a16="http://schemas.microsoft.com/office/drawing/2014/main" id="{D598D43B-844E-4F19-A610-144D2D985E3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1" name="Graphic 210" descr="Server with solid fill">
                <a:extLst>
                  <a:ext uri="{FF2B5EF4-FFF2-40B4-BE49-F238E27FC236}">
                    <a16:creationId xmlns:a16="http://schemas.microsoft.com/office/drawing/2014/main" id="{E1F48952-0710-406A-BE10-F3F4C92FC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CDEEA41-5A62-450E-B029-83A9C6A126E6}"/>
              </a:ext>
            </a:extLst>
          </p:cNvPr>
          <p:cNvGrpSpPr/>
          <p:nvPr/>
        </p:nvGrpSpPr>
        <p:grpSpPr>
          <a:xfrm>
            <a:off x="11011187" y="2274101"/>
            <a:ext cx="827808" cy="966865"/>
            <a:chOff x="9506709" y="1353861"/>
            <a:chExt cx="828000" cy="967089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51F7AA2-1522-4164-86E5-B353F40285EF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BLANCA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236D8FE-E0FD-406B-8848-5E2B65DF1D24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5" name="Oval 2">
                <a:extLst>
                  <a:ext uri="{FF2B5EF4-FFF2-40B4-BE49-F238E27FC236}">
                    <a16:creationId xmlns:a16="http://schemas.microsoft.com/office/drawing/2014/main" id="{0E42D5B1-1A41-46CD-87CF-6814E97095F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6" name="Graphic 215" descr="Server with solid fill">
                <a:extLst>
                  <a:ext uri="{FF2B5EF4-FFF2-40B4-BE49-F238E27FC236}">
                    <a16:creationId xmlns:a16="http://schemas.microsoft.com/office/drawing/2014/main" id="{D627E14E-3C1A-4278-AC93-8A79330C8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49D51F73-04A4-4AB3-A883-E3FEA371115C}"/>
              </a:ext>
            </a:extLst>
          </p:cNvPr>
          <p:cNvGrpSpPr/>
          <p:nvPr/>
        </p:nvGrpSpPr>
        <p:grpSpPr>
          <a:xfrm>
            <a:off x="5701106" y="3468858"/>
            <a:ext cx="1680501" cy="1033910"/>
            <a:chOff x="7982884" y="2488901"/>
            <a:chExt cx="1680890" cy="1034149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A1B8E7D-47C1-401B-BDF1-EBE426D70622}"/>
                </a:ext>
              </a:extLst>
            </p:cNvPr>
            <p:cNvSpPr txBox="1"/>
            <p:nvPr/>
          </p:nvSpPr>
          <p:spPr>
            <a:xfrm>
              <a:off x="7982884" y="3292218"/>
              <a:ext cx="1680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ServiceNow</a:t>
              </a:r>
              <a:endParaRPr lang="en-US" sz="900" dirty="0"/>
            </a:p>
          </p:txBody>
        </p: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8EF51205-3C0E-44FE-9AC6-21204C8F6DBE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73EBA4E7-DB8D-46FF-8A1C-1BC18915B633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3" name="Graphic 222" descr="Database with solid fill">
                <a:extLst>
                  <a:ext uri="{FF2B5EF4-FFF2-40B4-BE49-F238E27FC236}">
                    <a16:creationId xmlns:a16="http://schemas.microsoft.com/office/drawing/2014/main" id="{1C7B6A82-1C25-4015-B27D-4F406DD50F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220" name="Graphic 219" descr="Single gear outline">
              <a:extLst>
                <a:ext uri="{FF2B5EF4-FFF2-40B4-BE49-F238E27FC236}">
                  <a16:creationId xmlns:a16="http://schemas.microsoft.com/office/drawing/2014/main" id="{522BAC32-C537-40B4-A43C-3595287B8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221" name="Imagen 18">
              <a:extLst>
                <a:ext uri="{FF2B5EF4-FFF2-40B4-BE49-F238E27FC236}">
                  <a16:creationId xmlns:a16="http://schemas.microsoft.com/office/drawing/2014/main" id="{5D43E741-6CBE-4C90-9EC7-08E3B56E1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1192F9A8-1950-4390-9C06-EA28EC35FA49}"/>
              </a:ext>
            </a:extLst>
          </p:cNvPr>
          <p:cNvGrpSpPr/>
          <p:nvPr/>
        </p:nvGrpSpPr>
        <p:grpSpPr>
          <a:xfrm>
            <a:off x="10103726" y="2265206"/>
            <a:ext cx="827808" cy="1243800"/>
            <a:chOff x="9506709" y="1353861"/>
            <a:chExt cx="828000" cy="1244088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0A656547-DA10-41C1-951A-714FDF597E08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Microsoft </a:t>
              </a:r>
            </a:p>
            <a:p>
              <a:pPr algn="ctr"/>
              <a:r>
                <a:rPr lang="pt-PT" sz="900" dirty="0"/>
                <a:t>Active Directory</a:t>
              </a:r>
              <a:endParaRPr lang="en-US" sz="900" dirty="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BE81CBAD-FD15-47F3-8EAF-8F05F61E86C3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27" name="Oval 2">
                <a:extLst>
                  <a:ext uri="{FF2B5EF4-FFF2-40B4-BE49-F238E27FC236}">
                    <a16:creationId xmlns:a16="http://schemas.microsoft.com/office/drawing/2014/main" id="{9B674B17-7B9B-46B6-B7F8-758CE457DF7D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8" name="Graphic 227" descr="Server with solid fill">
                <a:extLst>
                  <a:ext uri="{FF2B5EF4-FFF2-40B4-BE49-F238E27FC236}">
                    <a16:creationId xmlns:a16="http://schemas.microsoft.com/office/drawing/2014/main" id="{0F12C3CD-D315-47ED-8A03-970C74A89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408AF3C-CC7B-4C3D-9563-6F40EC78FA57}"/>
              </a:ext>
            </a:extLst>
          </p:cNvPr>
          <p:cNvGrpSpPr/>
          <p:nvPr/>
        </p:nvGrpSpPr>
        <p:grpSpPr>
          <a:xfrm>
            <a:off x="10978285" y="3413408"/>
            <a:ext cx="827808" cy="1105333"/>
            <a:chOff x="9506709" y="1353861"/>
            <a:chExt cx="828000" cy="1105589"/>
          </a:xfrm>
        </p:grpSpPr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47405D6C-B1BB-4DDB-BF19-EAAD4754CED7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SERVIÇO FRAUDE</a:t>
              </a: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75EA2551-9F14-4511-B743-6540E3A1A481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32" name="Oval 2">
                <a:extLst>
                  <a:ext uri="{FF2B5EF4-FFF2-40B4-BE49-F238E27FC236}">
                    <a16:creationId xmlns:a16="http://schemas.microsoft.com/office/drawing/2014/main" id="{C104A1E0-7EE0-4BB5-8818-2B7C83B14045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33" name="Graphic 232" descr="Server with solid fill">
                <a:extLst>
                  <a:ext uri="{FF2B5EF4-FFF2-40B4-BE49-F238E27FC236}">
                    <a16:creationId xmlns:a16="http://schemas.microsoft.com/office/drawing/2014/main" id="{3CF97295-60AF-4FB5-8387-274C8D790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34" name="Graphic 233" descr="Single gear outline">
            <a:extLst>
              <a:ext uri="{FF2B5EF4-FFF2-40B4-BE49-F238E27FC236}">
                <a16:creationId xmlns:a16="http://schemas.microsoft.com/office/drawing/2014/main" id="{ED01EEE0-C2AB-4503-8101-0709CDD2DAB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1495629" y="3324891"/>
            <a:ext cx="287933" cy="287933"/>
          </a:xfrm>
          <a:prstGeom prst="rect">
            <a:avLst/>
          </a:prstGeom>
        </p:spPr>
      </p:pic>
      <p:pic>
        <p:nvPicPr>
          <p:cNvPr id="235" name="Imagen 18">
            <a:extLst>
              <a:ext uri="{FF2B5EF4-FFF2-40B4-BE49-F238E27FC236}">
                <a16:creationId xmlns:a16="http://schemas.microsoft.com/office/drawing/2014/main" id="{A9AB721D-75C2-43D7-8597-CD16F3FC904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345" y="3400826"/>
            <a:ext cx="241113" cy="241113"/>
          </a:xfrm>
          <a:prstGeom prst="rect">
            <a:avLst/>
          </a:prstGeom>
        </p:spPr>
      </p:pic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5A5C4EF-F6E2-496F-87C5-7C8139FA13F8}"/>
              </a:ext>
            </a:extLst>
          </p:cNvPr>
          <p:cNvGrpSpPr/>
          <p:nvPr/>
        </p:nvGrpSpPr>
        <p:grpSpPr>
          <a:xfrm>
            <a:off x="9252108" y="2298175"/>
            <a:ext cx="827808" cy="966865"/>
            <a:chOff x="9506709" y="1353861"/>
            <a:chExt cx="828000" cy="967089"/>
          </a:xfrm>
        </p:grpSpPr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1771CA7E-3998-4A1B-8098-1CFBBCB4F6C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CREAM</a:t>
              </a:r>
              <a:endParaRPr lang="en-US" sz="900" dirty="0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977BB77F-5A41-42DA-928E-09D84B10294F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39" name="Oval 2">
                <a:extLst>
                  <a:ext uri="{FF2B5EF4-FFF2-40B4-BE49-F238E27FC236}">
                    <a16:creationId xmlns:a16="http://schemas.microsoft.com/office/drawing/2014/main" id="{7CC1C194-DF82-406D-ADC2-2E860A9D3AF7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40" name="Graphic 239" descr="Server with solid fill">
                <a:extLst>
                  <a:ext uri="{FF2B5EF4-FFF2-40B4-BE49-F238E27FC236}">
                    <a16:creationId xmlns:a16="http://schemas.microsoft.com/office/drawing/2014/main" id="{8E8AAEDF-C428-4D5A-A8AA-5A96542FF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41" name="Picture 240">
            <a:extLst>
              <a:ext uri="{FF2B5EF4-FFF2-40B4-BE49-F238E27FC236}">
                <a16:creationId xmlns:a16="http://schemas.microsoft.com/office/drawing/2014/main" id="{69B37443-823D-4068-9B6E-44C9279E7C8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623" y="2291915"/>
            <a:ext cx="257724" cy="293227"/>
          </a:xfrm>
          <a:prstGeom prst="ellipse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A052B8B1-CD97-7CF9-6862-364828D0E273}"/>
              </a:ext>
            </a:extLst>
          </p:cNvPr>
          <p:cNvGrpSpPr/>
          <p:nvPr/>
        </p:nvGrpSpPr>
        <p:grpSpPr>
          <a:xfrm>
            <a:off x="6839700" y="3425270"/>
            <a:ext cx="1680501" cy="1033910"/>
            <a:chOff x="7982884" y="2488901"/>
            <a:chExt cx="1680890" cy="1034149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C93C162-D8C4-D319-FC08-DEB5E838B41B}"/>
                </a:ext>
              </a:extLst>
            </p:cNvPr>
            <p:cNvSpPr txBox="1"/>
            <p:nvPr/>
          </p:nvSpPr>
          <p:spPr>
            <a:xfrm>
              <a:off x="7982884" y="3292218"/>
              <a:ext cx="1680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ConsolS</a:t>
              </a:r>
              <a:endParaRPr lang="en-US" sz="900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A2EC1C4-EB10-DBF7-991A-D88DA7315D88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E9C0000-0579-FF41-9FC9-FA4E621B09E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0" name="Graphic 59" descr="Database with solid fill">
                <a:extLst>
                  <a:ext uri="{FF2B5EF4-FFF2-40B4-BE49-F238E27FC236}">
                    <a16:creationId xmlns:a16="http://schemas.microsoft.com/office/drawing/2014/main" id="{1D742A0A-D4AD-78A8-831F-8D164368C0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57" name="Graphic 56" descr="Single gear outline">
              <a:extLst>
                <a:ext uri="{FF2B5EF4-FFF2-40B4-BE49-F238E27FC236}">
                  <a16:creationId xmlns:a16="http://schemas.microsoft.com/office/drawing/2014/main" id="{676FF3D2-0838-AC7B-94C8-648434797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58" name="Imagen 18">
              <a:extLst>
                <a:ext uri="{FF2B5EF4-FFF2-40B4-BE49-F238E27FC236}">
                  <a16:creationId xmlns:a16="http://schemas.microsoft.com/office/drawing/2014/main" id="{D59B127A-128A-ADE1-C7A9-4AA3A4A18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247B10F-1054-0675-391F-36E4862D117C}"/>
              </a:ext>
            </a:extLst>
          </p:cNvPr>
          <p:cNvGrpSpPr/>
          <p:nvPr/>
        </p:nvGrpSpPr>
        <p:grpSpPr>
          <a:xfrm>
            <a:off x="8838203" y="3500027"/>
            <a:ext cx="827808" cy="966865"/>
            <a:chOff x="9506709" y="1353861"/>
            <a:chExt cx="828000" cy="967089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95A3059-3AF1-B827-5952-348A9C821B86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PGR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9E6C668-7A1F-4B78-80BC-3976567530E7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4" name="Oval 2">
                <a:extLst>
                  <a:ext uri="{FF2B5EF4-FFF2-40B4-BE49-F238E27FC236}">
                    <a16:creationId xmlns:a16="http://schemas.microsoft.com/office/drawing/2014/main" id="{139BB48F-D15D-D126-3597-6C9F0196E355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8" name="Graphic 87" descr="Server with solid fill">
                <a:extLst>
                  <a:ext uri="{FF2B5EF4-FFF2-40B4-BE49-F238E27FC236}">
                    <a16:creationId xmlns:a16="http://schemas.microsoft.com/office/drawing/2014/main" id="{2F763CB8-0880-898A-2BD4-368E788EF9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AE1C4B7-6C1D-8C86-947D-882B7C833B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9322668" y="3420054"/>
            <a:ext cx="287933" cy="287933"/>
          </a:xfrm>
          <a:prstGeom prst="rect">
            <a:avLst/>
          </a:prstGeom>
        </p:spPr>
      </p:pic>
      <p:grpSp>
        <p:nvGrpSpPr>
          <p:cNvPr id="92" name="Group 91">
            <a:extLst>
              <a:ext uri="{FF2B5EF4-FFF2-40B4-BE49-F238E27FC236}">
                <a16:creationId xmlns:a16="http://schemas.microsoft.com/office/drawing/2014/main" id="{CAC34084-B569-11CB-583D-A7A2C77EA48C}"/>
              </a:ext>
            </a:extLst>
          </p:cNvPr>
          <p:cNvGrpSpPr/>
          <p:nvPr/>
        </p:nvGrpSpPr>
        <p:grpSpPr>
          <a:xfrm>
            <a:off x="9838630" y="3524780"/>
            <a:ext cx="827808" cy="966865"/>
            <a:chOff x="9506709" y="1353861"/>
            <a:chExt cx="828000" cy="967089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BB99CED-F50D-F0E8-88D7-9B92395348C0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REMEDY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8E7FC424-C916-4469-FF1F-72173975A2AD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99" name="Oval 2">
                <a:extLst>
                  <a:ext uri="{FF2B5EF4-FFF2-40B4-BE49-F238E27FC236}">
                    <a16:creationId xmlns:a16="http://schemas.microsoft.com/office/drawing/2014/main" id="{4C376069-0FE5-FE76-464B-8DCD3DB42C2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3" name="Graphic 102" descr="Server with solid fill">
                <a:extLst>
                  <a:ext uri="{FF2B5EF4-FFF2-40B4-BE49-F238E27FC236}">
                    <a16:creationId xmlns:a16="http://schemas.microsoft.com/office/drawing/2014/main" id="{C1A7134E-930B-D459-BB45-A004018BB7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106" name="Imagen 18">
            <a:extLst>
              <a:ext uri="{FF2B5EF4-FFF2-40B4-BE49-F238E27FC236}">
                <a16:creationId xmlns:a16="http://schemas.microsoft.com/office/drawing/2014/main" id="{AAE2547E-0B2C-26F8-B7EB-7377BCF22D8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066" y="1160159"/>
            <a:ext cx="241113" cy="24111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86678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 err="1">
                <a:solidFill>
                  <a:srgbClr val="FF0000"/>
                </a:solidFill>
              </a:rPr>
              <a:t>Processos</a:t>
            </a:r>
            <a:r>
              <a:rPr lang="es-ES" sz="1600" b="1" dirty="0">
                <a:solidFill>
                  <a:srgbClr val="FF0000"/>
                </a:solidFill>
              </a:rPr>
              <a:t>, Output, EUC, </a:t>
            </a:r>
            <a:r>
              <a:rPr lang="es-ES" sz="1600" b="1" dirty="0" err="1">
                <a:solidFill>
                  <a:srgbClr val="FF0000"/>
                </a:solidFill>
              </a:rPr>
              <a:t>Fontes</a:t>
            </a:r>
            <a:r>
              <a:rPr lang="es-ES" sz="1600" b="1" dirty="0">
                <a:solidFill>
                  <a:srgbClr val="FF0000"/>
                </a:solidFill>
              </a:rPr>
              <a:t> Externas, </a:t>
            </a:r>
            <a:r>
              <a:rPr lang="es-ES" sz="1600" b="1" dirty="0" err="1">
                <a:solidFill>
                  <a:srgbClr val="FF0000"/>
                </a:solidFill>
              </a:rPr>
              <a:t>Fonte</a:t>
            </a:r>
            <a:r>
              <a:rPr lang="es-ES" sz="1600" b="1" dirty="0">
                <a:solidFill>
                  <a:srgbClr val="FF0000"/>
                </a:solidFill>
              </a:rPr>
              <a:t> Corporativa, Métricas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CE2701D-A027-CC34-5CED-AE0AE79E10C7}"/>
              </a:ext>
            </a:extLst>
          </p:cNvPr>
          <p:cNvSpPr txBox="1"/>
          <p:nvPr/>
        </p:nvSpPr>
        <p:spPr>
          <a:xfrm>
            <a:off x="559270" y="3203039"/>
            <a:ext cx="5758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BPNet</a:t>
            </a:r>
            <a:endParaRPr lang="en-US" sz="1000" dirty="0"/>
          </a:p>
        </p:txBody>
      </p:sp>
      <p:pic>
        <p:nvPicPr>
          <p:cNvPr id="86" name="Picture 85" descr="Icon&#10;&#10;Description automatically generated">
            <a:extLst>
              <a:ext uri="{FF2B5EF4-FFF2-40B4-BE49-F238E27FC236}">
                <a16:creationId xmlns:a16="http://schemas.microsoft.com/office/drawing/2014/main" id="{0E41B5F1-F326-3BDE-743A-4AAD81E60DFC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512875" y="2555800"/>
            <a:ext cx="647850" cy="64785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5848903" y="1381475"/>
            <a:ext cx="827808" cy="905612"/>
            <a:chOff x="5848052" y="1381795"/>
            <a:chExt cx="828000" cy="905822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F1626CE6-E784-2E6F-3629-734D143C9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878920" y="1381795"/>
              <a:ext cx="648000" cy="648000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B15DB3-EA42-3F8F-2D44-998FE30B8835}"/>
                </a:ext>
              </a:extLst>
            </p:cNvPr>
            <p:cNvSpPr txBox="1"/>
            <p:nvPr/>
          </p:nvSpPr>
          <p:spPr>
            <a:xfrm>
              <a:off x="5848052" y="2041396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Ficheiro</a:t>
              </a:r>
              <a:r>
                <a:rPr lang="en-US" sz="900" dirty="0"/>
                <a:t>.xls</a:t>
              </a:r>
            </a:p>
          </p:txBody>
        </p:sp>
      </p:grpSp>
      <p:pic>
        <p:nvPicPr>
          <p:cNvPr id="115" name="Picture 4">
            <a:extLst>
              <a:ext uri="{FF2B5EF4-FFF2-40B4-BE49-F238E27FC236}">
                <a16:creationId xmlns:a16="http://schemas.microsoft.com/office/drawing/2014/main" id="{99E82821-A0BE-8409-93D9-F0F1925C7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75" y="1370526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F30938C-6492-A94D-FBB7-B906388E625D}"/>
              </a:ext>
            </a:extLst>
          </p:cNvPr>
          <p:cNvSpPr txBox="1"/>
          <p:nvPr/>
        </p:nvSpPr>
        <p:spPr>
          <a:xfrm>
            <a:off x="613258" y="2029974"/>
            <a:ext cx="4678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SAS</a:t>
            </a: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922" y="13814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4743954" y="2040924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Output.txt</a:t>
            </a:r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425" y="1393073"/>
            <a:ext cx="647850" cy="647850"/>
          </a:xfrm>
          <a:prstGeom prst="ellipse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BF68C6E9-F5F9-D00A-0C22-9991B2D38896}"/>
              </a:ext>
            </a:extLst>
          </p:cNvPr>
          <p:cNvSpPr txBox="1"/>
          <p:nvPr/>
        </p:nvSpPr>
        <p:spPr>
          <a:xfrm>
            <a:off x="6906060" y="2005995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Corporação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39BDA-A9EB-13E8-A22A-7AB2EE76078A}"/>
              </a:ext>
            </a:extLst>
          </p:cNvPr>
          <p:cNvSpPr txBox="1"/>
          <p:nvPr/>
        </p:nvSpPr>
        <p:spPr>
          <a:xfrm>
            <a:off x="1554956" y="320303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Bloomberg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B4709F44-83DD-0F9A-F0CA-BC9540A24D35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1645537" y="2555800"/>
            <a:ext cx="647850" cy="647850"/>
          </a:xfrm>
          <a:prstGeom prst="rect">
            <a:avLst/>
          </a:prstGeom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960" y="137947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3C3DDB-2EE1-758A-A98B-4BF76303DF66}"/>
              </a:ext>
            </a:extLst>
          </p:cNvPr>
          <p:cNvSpPr txBox="1"/>
          <p:nvPr/>
        </p:nvSpPr>
        <p:spPr>
          <a:xfrm>
            <a:off x="7926141" y="2011619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Métrica</a:t>
            </a:r>
            <a:endParaRPr lang="en-US" sz="1000" dirty="0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43FA2607-B4BD-2FEE-50BC-14C96CFE85EE}"/>
              </a:ext>
            </a:extLst>
          </p:cNvPr>
          <p:cNvSpPr txBox="1"/>
          <p:nvPr/>
        </p:nvSpPr>
        <p:spPr>
          <a:xfrm>
            <a:off x="2614702" y="3236832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INE</a:t>
            </a:r>
          </a:p>
        </p:txBody>
      </p:sp>
      <p:pic>
        <p:nvPicPr>
          <p:cNvPr id="1074" name="Picture 1073" descr="Icon&#10;&#10;Description automatically generated">
            <a:extLst>
              <a:ext uri="{FF2B5EF4-FFF2-40B4-BE49-F238E27FC236}">
                <a16:creationId xmlns:a16="http://schemas.microsoft.com/office/drawing/2014/main" id="{CEF14D2E-914A-6B0A-9E86-834DF57BBD5F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2698378" y="2596558"/>
            <a:ext cx="647850" cy="64785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8E21E4B6-7E9F-46BC-9343-ACF2412E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288" y="1370526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70A5D78-43A0-49F5-AD5C-C81F722003E1}"/>
              </a:ext>
            </a:extLst>
          </p:cNvPr>
          <p:cNvSpPr txBox="1"/>
          <p:nvPr/>
        </p:nvSpPr>
        <p:spPr>
          <a:xfrm>
            <a:off x="1482341" y="2040924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QlikSense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261AF-2053-48C2-A475-39CEDE66251E}"/>
              </a:ext>
            </a:extLst>
          </p:cNvPr>
          <p:cNvSpPr txBox="1"/>
          <p:nvPr/>
        </p:nvSpPr>
        <p:spPr>
          <a:xfrm>
            <a:off x="3578294" y="3252217"/>
            <a:ext cx="9109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POWER BI</a:t>
            </a:r>
          </a:p>
        </p:txBody>
      </p:sp>
      <p:pic>
        <p:nvPicPr>
          <p:cNvPr id="24" name="Picture 2" descr="Business Intelligence Certification Training Course – Gpearls">
            <a:extLst>
              <a:ext uri="{FF2B5EF4-FFF2-40B4-BE49-F238E27FC236}">
                <a16:creationId xmlns:a16="http://schemas.microsoft.com/office/drawing/2014/main" id="{F529E13E-407D-4FCD-8303-D99B606F7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449" y="2596558"/>
            <a:ext cx="647850" cy="65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930953-4299-4212-B541-F856EBBBDED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954" y="2555800"/>
            <a:ext cx="719833" cy="6593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B1BA94-3041-46D2-A53C-BF4473F64180}"/>
              </a:ext>
            </a:extLst>
          </p:cNvPr>
          <p:cNvSpPr txBox="1"/>
          <p:nvPr/>
        </p:nvSpPr>
        <p:spPr>
          <a:xfrm>
            <a:off x="4518913" y="3252217"/>
            <a:ext cx="169332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BALCÕES / CALL CENTER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B861D152-6814-448D-97E3-605025EDD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368" y="1396906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E875CE9-00BA-4F2F-9FF9-30386D3E44AA}"/>
              </a:ext>
            </a:extLst>
          </p:cNvPr>
          <p:cNvSpPr txBox="1"/>
          <p:nvPr/>
        </p:nvSpPr>
        <p:spPr>
          <a:xfrm>
            <a:off x="2493719" y="2032746"/>
            <a:ext cx="1189902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 dirty="0">
                <a:solidFill>
                  <a:srgbClr val="535353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QLIK Sense - MashUp </a:t>
            </a:r>
            <a:endParaRPr lang="en-US" sz="1000" b="1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44E32E0-5431-413F-BBE7-27E2C56B619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800" y="1447936"/>
            <a:ext cx="257724" cy="293227"/>
          </a:xfrm>
          <a:prstGeom prst="ellipse">
            <a:avLst/>
          </a:prstGeom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454864B4-067A-4084-96D1-577397C29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694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249CB4C-5A22-4328-8B83-730BB52CCE19}"/>
              </a:ext>
            </a:extLst>
          </p:cNvPr>
          <p:cNvSpPr txBox="1"/>
          <p:nvPr/>
        </p:nvSpPr>
        <p:spPr>
          <a:xfrm>
            <a:off x="3576136" y="2027330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Impala</a:t>
            </a:r>
          </a:p>
        </p:txBody>
      </p:sp>
      <p:pic>
        <p:nvPicPr>
          <p:cNvPr id="36" name="Picture 139" descr="Related image">
            <a:extLst>
              <a:ext uri="{FF2B5EF4-FFF2-40B4-BE49-F238E27FC236}">
                <a16:creationId xmlns:a16="http://schemas.microsoft.com/office/drawing/2014/main" id="{A03B1872-3441-4871-9064-379F48F9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86" y="1347646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8299850B-CCD7-4A01-BBF7-0B9A427EC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74" y="1327379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10543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 err="1"/>
              <a:t>Governance</a:t>
            </a:r>
            <a:r>
              <a:rPr lang="pt-PT" dirty="0"/>
              <a:t/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1461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088BF3-703A-BB75-1389-2AD8B2E03CAF}"/>
              </a:ext>
            </a:extLst>
          </p:cNvPr>
          <p:cNvSpPr/>
          <p:nvPr/>
        </p:nvSpPr>
        <p:spPr>
          <a:xfrm>
            <a:off x="3471828" y="1805556"/>
            <a:ext cx="1301598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+mj-lt"/>
              </a:rPr>
              <a:t>1. Envio de </a:t>
            </a:r>
            <a:r>
              <a:rPr lang="pt-PT" sz="1000" b="1" i="1" dirty="0">
                <a:latin typeface="+mj-lt"/>
              </a:rPr>
              <a:t>inputs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B1048-3568-E9D0-1CA5-56935CD3A138}"/>
              </a:ext>
            </a:extLst>
          </p:cNvPr>
          <p:cNvSpPr/>
          <p:nvPr/>
        </p:nvSpPr>
        <p:spPr>
          <a:xfrm>
            <a:off x="3129535" y="2302440"/>
            <a:ext cx="878766" cy="40011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pt-PT" sz="1000" b="1" dirty="0">
                <a:latin typeface="+mj-lt"/>
              </a:rPr>
              <a:t>2. Geração </a:t>
            </a:r>
          </a:p>
          <a:p>
            <a:pPr algn="ctr"/>
            <a:r>
              <a:rPr lang="pt-PT" sz="1000" b="1" dirty="0">
                <a:latin typeface="+mj-lt"/>
              </a:rPr>
              <a:t>de satélites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065354-0DC8-AF6E-8385-8A86C440578D}"/>
              </a:ext>
            </a:extLst>
          </p:cNvPr>
          <p:cNvSpPr/>
          <p:nvPr/>
        </p:nvSpPr>
        <p:spPr>
          <a:xfrm>
            <a:off x="2668701" y="2878043"/>
            <a:ext cx="1135743" cy="70772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kern="0" dirty="0">
                <a:latin typeface="+mj-lt"/>
              </a:rPr>
              <a:t>3. </a:t>
            </a:r>
            <a:r>
              <a:rPr lang="pt-PT" sz="1000" b="1" dirty="0">
                <a:latin typeface="+mj-lt"/>
              </a:rPr>
              <a:t>Validação de satélites corporativos</a:t>
            </a:r>
          </a:p>
          <a:p>
            <a:pPr defTabSz="914034">
              <a:defRPr/>
            </a:pPr>
            <a:endParaRPr lang="pt-PT" sz="1000" kern="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DD4C61-1B0B-B40A-D091-1D03E777D273}"/>
              </a:ext>
            </a:extLst>
          </p:cNvPr>
          <p:cNvSpPr/>
          <p:nvPr/>
        </p:nvSpPr>
        <p:spPr>
          <a:xfrm>
            <a:off x="1621154" y="3761304"/>
            <a:ext cx="1487561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+mj-lt"/>
              </a:rPr>
              <a:t>4. </a:t>
            </a:r>
            <a:r>
              <a:rPr lang="pt-PT" sz="1000" b="1" kern="0" dirty="0">
                <a:latin typeface="+mj-lt"/>
              </a:rPr>
              <a:t>Geração dos </a:t>
            </a:r>
            <a:r>
              <a:rPr lang="pt-PT" sz="1000" b="1" i="1" kern="0" dirty="0" err="1">
                <a:latin typeface="+mj-lt"/>
              </a:rPr>
              <a:t>templates</a:t>
            </a:r>
            <a:r>
              <a:rPr lang="pt-PT" sz="1000" b="1" i="1" kern="0" dirty="0">
                <a:latin typeface="+mj-lt"/>
              </a:rPr>
              <a:t> </a:t>
            </a:r>
            <a:r>
              <a:rPr lang="pt-PT" sz="1000" b="1" kern="0" dirty="0">
                <a:latin typeface="+mj-lt"/>
              </a:rPr>
              <a:t>locais</a:t>
            </a:r>
            <a:endParaRPr lang="pt-PT" sz="1000" b="1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6A46C7-9C13-B7DA-B618-C61F2BD50D7B}"/>
              </a:ext>
            </a:extLst>
          </p:cNvPr>
          <p:cNvSpPr/>
          <p:nvPr/>
        </p:nvSpPr>
        <p:spPr>
          <a:xfrm>
            <a:off x="1500572" y="4452165"/>
            <a:ext cx="1502955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5. Validação dos </a:t>
            </a:r>
            <a:r>
              <a:rPr lang="pt-PT" sz="1000" b="1" i="1" dirty="0" err="1">
                <a:latin typeface="+mj-lt"/>
              </a:rPr>
              <a:t>templates</a:t>
            </a:r>
            <a:r>
              <a:rPr lang="pt-PT" sz="1000" b="1" dirty="0">
                <a:latin typeface="+mj-lt"/>
              </a:rPr>
              <a:t> locais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CEBAE9-0132-F2DB-52B4-C2157D5B2B38}"/>
              </a:ext>
            </a:extLst>
          </p:cNvPr>
          <p:cNvSpPr/>
          <p:nvPr/>
        </p:nvSpPr>
        <p:spPr>
          <a:xfrm>
            <a:off x="5484700" y="4290032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232000" tIns="0" rIns="108000" bIns="0" rtlCol="0" anchor="ctr">
            <a:noAutofit/>
          </a:bodyPr>
          <a:lstStyle/>
          <a:p>
            <a:pPr lvl="1" defTabSz="1375089"/>
            <a:r>
              <a:rPr lang="pt-PT" sz="800" dirty="0">
                <a:latin typeface="+mj-lt"/>
              </a:rPr>
              <a:t>1. Validação dos </a:t>
            </a:r>
            <a:r>
              <a:rPr lang="pt-PT" sz="800" i="1" dirty="0" err="1">
                <a:latin typeface="+mj-lt"/>
              </a:rPr>
              <a:t>templates</a:t>
            </a:r>
            <a:r>
              <a:rPr lang="pt-PT" sz="800" i="1" dirty="0">
                <a:latin typeface="+mj-lt"/>
              </a:rPr>
              <a:t> </a:t>
            </a:r>
            <a:r>
              <a:rPr lang="pt-PT" sz="800" dirty="0">
                <a:latin typeface="+mj-lt"/>
              </a:rPr>
              <a:t>locais através de conciliações com o departamento de Contabilidade.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61CB54-7693-9AEB-44B7-3F2D4E836CB0}"/>
              </a:ext>
            </a:extLst>
          </p:cNvPr>
          <p:cNvSpPr/>
          <p:nvPr/>
        </p:nvSpPr>
        <p:spPr>
          <a:xfrm>
            <a:off x="5484700" y="3610273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728000" tIns="0" rIns="108000" bIns="108000" rtlCol="0" anchor="ctr">
            <a:noAutofit/>
          </a:bodyPr>
          <a:lstStyle/>
          <a:p>
            <a:pPr lvl="1" defTabSz="1375089"/>
            <a:endParaRPr lang="pt-PT" sz="800" dirty="0">
              <a:latin typeface="+mj-lt"/>
            </a:endParaRPr>
          </a:p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Geração dos </a:t>
            </a:r>
            <a:r>
              <a:rPr lang="pt-PT" sz="800" i="1" dirty="0" err="1">
                <a:latin typeface="+mj-lt"/>
              </a:rPr>
              <a:t>templates</a:t>
            </a:r>
            <a:r>
              <a:rPr lang="pt-PT" sz="800" i="1" dirty="0">
                <a:latin typeface="+mj-lt"/>
              </a:rPr>
              <a:t> </a:t>
            </a:r>
            <a:r>
              <a:rPr lang="pt-PT" sz="800" dirty="0">
                <a:latin typeface="+mj-lt"/>
              </a:rPr>
              <a:t>locais.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DF516D-43BC-49D4-3A1B-03C639042EC0}"/>
              </a:ext>
            </a:extLst>
          </p:cNvPr>
          <p:cNvSpPr/>
          <p:nvPr/>
        </p:nvSpPr>
        <p:spPr>
          <a:xfrm>
            <a:off x="5484700" y="2930513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152000" tIns="0" rIns="108000" bIns="0" rtlCol="0" anchor="ctr">
            <a:noAutofit/>
          </a:bodyPr>
          <a:lstStyle/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Validação das combinações de elementos contabilísticos e ESG presentes nos </a:t>
            </a:r>
            <a:r>
              <a:rPr lang="pt-PT" sz="800" dirty="0" err="1">
                <a:latin typeface="+mj-lt"/>
              </a:rPr>
              <a:t>IDCOMBs</a:t>
            </a:r>
            <a:r>
              <a:rPr lang="pt-PT" sz="800" dirty="0">
                <a:latin typeface="+mj-lt"/>
              </a:rPr>
              <a:t> dos satélites.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E9024C-6D3B-46F1-AC26-27CD19164EA8}"/>
              </a:ext>
            </a:extLst>
          </p:cNvPr>
          <p:cNvSpPr/>
          <p:nvPr/>
        </p:nvSpPr>
        <p:spPr>
          <a:xfrm>
            <a:off x="5484700" y="2250754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792000" tIns="0" rIns="108000" bIns="0" rtlCol="0" anchor="ctr">
            <a:noAutofit/>
          </a:bodyPr>
          <a:lstStyle/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Modelação de dados provenientes dos inputs para obtenção de métricas necessárias à geração dos satélites.</a:t>
            </a:r>
          </a:p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Geração dos satélites incorporando as </a:t>
            </a:r>
            <a:r>
              <a:rPr lang="pt-PT" sz="800" i="1" dirty="0" err="1">
                <a:latin typeface="+mj-lt"/>
              </a:rPr>
              <a:t>guidelines</a:t>
            </a:r>
            <a:r>
              <a:rPr lang="pt-PT" sz="800" dirty="0">
                <a:latin typeface="+mj-lt"/>
              </a:rPr>
              <a:t> da Corporação.</a:t>
            </a:r>
          </a:p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Submissão dos satélites gerados para a Corporação.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40D88-7A06-7A6D-7260-F9B08BC23B9E}"/>
              </a:ext>
            </a:extLst>
          </p:cNvPr>
          <p:cNvSpPr/>
          <p:nvPr/>
        </p:nvSpPr>
        <p:spPr>
          <a:xfrm>
            <a:off x="5484700" y="1570360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576000" tIns="0" rIns="108000" bIns="71983" rtlCol="0" anchor="ctr">
            <a:noAutofit/>
          </a:bodyPr>
          <a:lstStyle/>
          <a:p>
            <a:pPr defTabSz="1375089"/>
            <a:endParaRPr lang="pt-PT" sz="800" dirty="0">
              <a:latin typeface="+mj-lt"/>
            </a:endParaRPr>
          </a:p>
          <a:p>
            <a:pPr marL="228554" indent="-228554" defTabSz="1375089">
              <a:buFontTx/>
              <a:buAutoNum type="arabicPeriod"/>
            </a:pPr>
            <a:r>
              <a:rPr lang="pt-PT" sz="800" dirty="0">
                <a:latin typeface="+mj-lt"/>
              </a:rPr>
              <a:t>Envio dos ficheiros “</a:t>
            </a:r>
            <a:r>
              <a:rPr lang="pt-PT" sz="800" dirty="0" err="1">
                <a:latin typeface="+mj-lt"/>
              </a:rPr>
              <a:t>xlsx</a:t>
            </a:r>
            <a:r>
              <a:rPr lang="pt-PT" sz="800" dirty="0">
                <a:latin typeface="+mj-lt"/>
              </a:rPr>
              <a:t>”  auxiliares aos satélites e ficheiros com os </a:t>
            </a:r>
            <a:r>
              <a:rPr lang="pt-PT" sz="800" dirty="0" err="1">
                <a:latin typeface="+mj-lt"/>
              </a:rPr>
              <a:t>IDCOMBs</a:t>
            </a:r>
            <a:r>
              <a:rPr lang="pt-PT" sz="800" dirty="0">
                <a:latin typeface="+mj-lt"/>
              </a:rPr>
              <a:t> dos satélites por parte da Corporação para a Equipa </a:t>
            </a:r>
            <a:r>
              <a:rPr lang="pt-PT" sz="800" dirty="0">
                <a:highlight>
                  <a:srgbClr val="FFFF00"/>
                </a:highlight>
                <a:latin typeface="+mj-lt"/>
              </a:rPr>
              <a:t>Susana Bernardo.</a:t>
            </a:r>
          </a:p>
          <a:p>
            <a:pPr marL="228554" indent="-228554" defTabSz="1375089">
              <a:buFontTx/>
              <a:buAutoNum type="arabicPeriod"/>
            </a:pPr>
            <a:r>
              <a:rPr lang="pt-PT" sz="800" dirty="0">
                <a:latin typeface="+mj-lt"/>
              </a:rPr>
              <a:t>Envio dos ficheiros “</a:t>
            </a:r>
            <a:r>
              <a:rPr lang="pt-PT" sz="800" dirty="0" err="1">
                <a:latin typeface="+mj-lt"/>
              </a:rPr>
              <a:t>xlsx</a:t>
            </a:r>
            <a:r>
              <a:rPr lang="pt-PT" sz="800" dirty="0">
                <a:latin typeface="+mj-lt"/>
              </a:rPr>
              <a:t>” relativos aos adjudicados por parte do departamento de Contabilidade e Desinvestimento para a Equipa </a:t>
            </a:r>
            <a:r>
              <a:rPr lang="pt-PT" sz="800" dirty="0">
                <a:highlight>
                  <a:srgbClr val="FFFF00"/>
                </a:highlight>
                <a:latin typeface="+mj-lt"/>
              </a:rPr>
              <a:t>Susana Bernardo.</a:t>
            </a:r>
            <a:endParaRPr lang="pt-PT" sz="800" dirty="0">
              <a:latin typeface="+mj-lt"/>
            </a:endParaRPr>
          </a:p>
          <a:p>
            <a:pPr defTabSz="1375089"/>
            <a:r>
              <a:rPr lang="pt-PT" sz="1000" dirty="0">
                <a:latin typeface="+mj-lt"/>
              </a:rPr>
              <a:t> </a:t>
            </a:r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8B36A6A7-F983-3A7F-CA8A-2D38B5FE9AFF}"/>
              </a:ext>
            </a:extLst>
          </p:cNvPr>
          <p:cNvSpPr/>
          <p:nvPr/>
        </p:nvSpPr>
        <p:spPr>
          <a:xfrm>
            <a:off x="4485134" y="2250754"/>
            <a:ext cx="2012484" cy="642996"/>
          </a:xfrm>
          <a:prstGeom prst="trapezoid">
            <a:avLst>
              <a:gd name="adj" fmla="val 77144"/>
            </a:avLst>
          </a:prstGeom>
          <a:solidFill>
            <a:srgbClr val="FF5353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EB491EC7-BA90-5E47-25CF-697A9ED53D74}"/>
              </a:ext>
            </a:extLst>
          </p:cNvPr>
          <p:cNvSpPr/>
          <p:nvPr/>
        </p:nvSpPr>
        <p:spPr>
          <a:xfrm>
            <a:off x="4998761" y="1570360"/>
            <a:ext cx="979099" cy="643629"/>
          </a:xfrm>
          <a:prstGeom prst="trapezoid">
            <a:avLst>
              <a:gd name="adj" fmla="val 93230"/>
            </a:avLst>
          </a:prstGeom>
          <a:solidFill>
            <a:srgbClr val="FA0000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5089"/>
            <a:endParaRPr lang="pt-PT" sz="3199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95CEF503-DED4-6BAC-FA15-00F1E3093A5E}"/>
              </a:ext>
            </a:extLst>
          </p:cNvPr>
          <p:cNvSpPr/>
          <p:nvPr/>
        </p:nvSpPr>
        <p:spPr>
          <a:xfrm>
            <a:off x="3964555" y="2930513"/>
            <a:ext cx="3053643" cy="642996"/>
          </a:xfrm>
          <a:prstGeom prst="trapezoid">
            <a:avLst>
              <a:gd name="adj" fmla="val 76861"/>
            </a:avLst>
          </a:prstGeom>
          <a:solidFill>
            <a:srgbClr val="FF8181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4B73AB0B-8799-0D20-48A0-963EADC02633}"/>
              </a:ext>
            </a:extLst>
          </p:cNvPr>
          <p:cNvSpPr/>
          <p:nvPr/>
        </p:nvSpPr>
        <p:spPr>
          <a:xfrm>
            <a:off x="3450324" y="3610273"/>
            <a:ext cx="4082105" cy="642996"/>
          </a:xfrm>
          <a:prstGeom prst="trapezoid">
            <a:avLst>
              <a:gd name="adj" fmla="val 76861"/>
            </a:avLst>
          </a:prstGeom>
          <a:solidFill>
            <a:srgbClr val="FF9F9F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BBE8323C-0421-9452-626C-E2DF5B23CABD}"/>
              </a:ext>
            </a:extLst>
          </p:cNvPr>
          <p:cNvSpPr/>
          <p:nvPr/>
        </p:nvSpPr>
        <p:spPr>
          <a:xfrm>
            <a:off x="2919971" y="4290032"/>
            <a:ext cx="5126689" cy="642996"/>
          </a:xfrm>
          <a:prstGeom prst="trapezoid">
            <a:avLst>
              <a:gd name="adj" fmla="val 76861"/>
            </a:avLst>
          </a:prstGeom>
          <a:solidFill>
            <a:srgbClr val="FFC5C5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50F73E-C80C-3516-22FE-1CBCE901F66F}"/>
              </a:ext>
            </a:extLst>
          </p:cNvPr>
          <p:cNvSpPr/>
          <p:nvPr/>
        </p:nvSpPr>
        <p:spPr>
          <a:xfrm>
            <a:off x="973644" y="5143023"/>
            <a:ext cx="1469717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6. </a:t>
            </a:r>
            <a:r>
              <a:rPr lang="pt-PT" sz="1000" b="1" kern="0" dirty="0">
                <a:latin typeface="+mj-lt"/>
              </a:rPr>
              <a:t>Documentação</a:t>
            </a:r>
            <a:endParaRPr lang="pt-PT" sz="1000" b="1" dirty="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6A2BAF-F4BD-E17D-F139-1E5115512D70}"/>
              </a:ext>
            </a:extLst>
          </p:cNvPr>
          <p:cNvSpPr/>
          <p:nvPr/>
        </p:nvSpPr>
        <p:spPr>
          <a:xfrm>
            <a:off x="5484700" y="4969791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808000" tIns="0" rIns="108000" bIns="0" rtlCol="0" anchor="ctr">
            <a:noAutofit/>
          </a:bodyPr>
          <a:lstStyle/>
          <a:p>
            <a:pPr lvl="1" defTabSz="1375089"/>
            <a:r>
              <a:rPr lang="pt-PT" sz="800" dirty="0">
                <a:latin typeface="+mj-lt"/>
              </a:rPr>
              <a:t>1. Documentação dos processos desenvolvidos para geração dos satélites e dos </a:t>
            </a:r>
            <a:r>
              <a:rPr lang="pt-PT" sz="800" i="1" dirty="0" err="1">
                <a:latin typeface="+mj-lt"/>
              </a:rPr>
              <a:t>templates</a:t>
            </a:r>
            <a:r>
              <a:rPr lang="pt-PT" sz="800" dirty="0">
                <a:latin typeface="+mj-lt"/>
              </a:rPr>
              <a:t> locais.</a:t>
            </a:r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7BFD4DF7-B290-0258-2696-86DE57C06B4A}"/>
              </a:ext>
            </a:extLst>
          </p:cNvPr>
          <p:cNvSpPr/>
          <p:nvPr/>
        </p:nvSpPr>
        <p:spPr>
          <a:xfrm>
            <a:off x="2396467" y="4969791"/>
            <a:ext cx="6170772" cy="642996"/>
          </a:xfrm>
          <a:prstGeom prst="trapezoid">
            <a:avLst>
              <a:gd name="adj" fmla="val 76861"/>
            </a:avLst>
          </a:prstGeom>
          <a:solidFill>
            <a:srgbClr val="FFD9D9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+mj-lt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3AA751-7401-0375-4A8F-3A0A31DD17C8}"/>
              </a:ext>
            </a:extLst>
          </p:cNvPr>
          <p:cNvCxnSpPr>
            <a:cxnSpLocks/>
          </p:cNvCxnSpPr>
          <p:nvPr/>
        </p:nvCxnSpPr>
        <p:spPr>
          <a:xfrm flipH="1">
            <a:off x="2183907" y="1570361"/>
            <a:ext cx="3091843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0D0FE24-4BC1-756F-0B9B-2BC40F06AD17}"/>
              </a:ext>
            </a:extLst>
          </p:cNvPr>
          <p:cNvSpPr/>
          <p:nvPr/>
        </p:nvSpPr>
        <p:spPr>
          <a:xfrm rot="18464285">
            <a:off x="3097676" y="3589661"/>
            <a:ext cx="1301598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sz="1000" b="1" dirty="0">
                <a:latin typeface="+mj-lt"/>
              </a:rPr>
              <a:t>Atividades</a:t>
            </a:r>
            <a:endParaRPr lang="pt-PT" sz="1000" b="1" i="1" dirty="0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15064-5266-555B-64B3-F6FB8C7D4991}"/>
              </a:ext>
            </a:extLst>
          </p:cNvPr>
          <p:cNvSpPr/>
          <p:nvPr/>
        </p:nvSpPr>
        <p:spPr>
          <a:xfrm rot="19357493">
            <a:off x="7060286" y="1113438"/>
            <a:ext cx="154800" cy="49674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3277F3-BEC6-22DF-5826-E5F2B335714C}"/>
              </a:ext>
            </a:extLst>
          </p:cNvPr>
          <p:cNvSpPr/>
          <p:nvPr/>
        </p:nvSpPr>
        <p:spPr>
          <a:xfrm rot="3165747">
            <a:off x="6502645" y="3720850"/>
            <a:ext cx="1645718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sz="1000" b="1" i="1" dirty="0">
                <a:latin typeface="+mj-lt"/>
              </a:rPr>
              <a:t>Descrição (</a:t>
            </a:r>
            <a:r>
              <a:rPr lang="pt-PT" sz="1000" b="1" i="1" dirty="0" err="1">
                <a:latin typeface="+mj-lt"/>
              </a:rPr>
              <a:t>High</a:t>
            </a:r>
            <a:r>
              <a:rPr lang="pt-PT" sz="1000" b="1" i="1" dirty="0">
                <a:latin typeface="+mj-lt"/>
              </a:rPr>
              <a:t> </a:t>
            </a:r>
            <a:r>
              <a:rPr lang="pt-PT" sz="1000" b="1" i="1" dirty="0" err="1">
                <a:latin typeface="+mj-lt"/>
              </a:rPr>
              <a:t>Level</a:t>
            </a:r>
            <a:r>
              <a:rPr lang="pt-PT" sz="1000" b="1" i="1" dirty="0">
                <a:latin typeface="+mj-lt"/>
              </a:rPr>
              <a:t>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01E6F2-5509-87CC-EF02-357B109142E4}"/>
              </a:ext>
            </a:extLst>
          </p:cNvPr>
          <p:cNvCxnSpPr>
            <a:cxnSpLocks/>
          </p:cNvCxnSpPr>
          <p:nvPr/>
        </p:nvCxnSpPr>
        <p:spPr>
          <a:xfrm>
            <a:off x="2396467" y="5695318"/>
            <a:ext cx="617077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9BB5C70-9D8B-4DBE-5A54-D3A916A18DCA}"/>
              </a:ext>
            </a:extLst>
          </p:cNvPr>
          <p:cNvSpPr/>
          <p:nvPr/>
        </p:nvSpPr>
        <p:spPr>
          <a:xfrm>
            <a:off x="4967985" y="5655009"/>
            <a:ext cx="1027735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Responsável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EE23C5-B5F2-5DB2-B13D-0D7448375258}"/>
              </a:ext>
            </a:extLst>
          </p:cNvPr>
          <p:cNvSpPr/>
          <p:nvPr/>
        </p:nvSpPr>
        <p:spPr>
          <a:xfrm>
            <a:off x="5165125" y="1785229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Dep. </a:t>
            </a:r>
          </a:p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Internos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BA96A5-F700-3FA7-4DAA-EE89224BC042}"/>
              </a:ext>
            </a:extLst>
          </p:cNvPr>
          <p:cNvSpPr/>
          <p:nvPr/>
        </p:nvSpPr>
        <p:spPr>
          <a:xfrm>
            <a:off x="5165125" y="2403484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Equipa </a:t>
            </a:r>
          </a:p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Susana </a:t>
            </a:r>
            <a:r>
              <a:rPr lang="pt-PT" sz="1050" b="1" kern="0" dirty="0">
                <a:solidFill>
                  <a:srgbClr val="FFFF00"/>
                </a:solidFill>
                <a:latin typeface="+mj-lt"/>
              </a:rPr>
              <a:t>Bernardo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831515-A5E7-5BBA-E1D1-FA2A29D0AC13}"/>
              </a:ext>
            </a:extLst>
          </p:cNvPr>
          <p:cNvSpPr/>
          <p:nvPr/>
        </p:nvSpPr>
        <p:spPr>
          <a:xfrm>
            <a:off x="5165125" y="3749516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1050" b="1" kern="0" dirty="0">
                <a:solidFill>
                  <a:srgbClr val="FFFF00"/>
                </a:solidFill>
                <a:latin typeface="+mj-lt"/>
              </a:rPr>
              <a:t>Equipa</a:t>
            </a: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Susana Bernardo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AC563D-4D63-9428-1A09-110D08791576}"/>
              </a:ext>
            </a:extLst>
          </p:cNvPr>
          <p:cNvSpPr/>
          <p:nvPr/>
        </p:nvSpPr>
        <p:spPr>
          <a:xfrm>
            <a:off x="5165125" y="5057453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1050" b="1" kern="0" dirty="0">
                <a:solidFill>
                  <a:srgbClr val="FFFF00"/>
                </a:solidFill>
                <a:latin typeface="+mj-lt"/>
              </a:rPr>
              <a:t>Equipa</a:t>
            </a: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Susana Bernardo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2CC605-0E56-7C78-0C42-0A9E734FE6BD}"/>
              </a:ext>
            </a:extLst>
          </p:cNvPr>
          <p:cNvSpPr/>
          <p:nvPr/>
        </p:nvSpPr>
        <p:spPr>
          <a:xfrm>
            <a:off x="5165125" y="3142306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Corporação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6F32B6-C413-4A06-F823-552A38388303}"/>
              </a:ext>
            </a:extLst>
          </p:cNvPr>
          <p:cNvSpPr/>
          <p:nvPr/>
        </p:nvSpPr>
        <p:spPr>
          <a:xfrm>
            <a:off x="5165125" y="4481034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1050" b="1" kern="0" dirty="0">
                <a:solidFill>
                  <a:srgbClr val="FFFF00"/>
                </a:solidFill>
                <a:latin typeface="+mj-lt"/>
              </a:rPr>
              <a:t>Equipa</a:t>
            </a: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Susana Bernardo</a:t>
            </a:r>
          </a:p>
          <a:p>
            <a:pPr algn="ctr" defTabSz="914034">
              <a:defRPr/>
            </a:pPr>
            <a:endParaRPr lang="pt-PT" sz="1050" b="1" kern="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0F9258-8530-7AD3-5074-F6D9DCBCF24B}"/>
              </a:ext>
            </a:extLst>
          </p:cNvPr>
          <p:cNvCxnSpPr>
            <a:cxnSpLocks/>
          </p:cNvCxnSpPr>
          <p:nvPr/>
        </p:nvCxnSpPr>
        <p:spPr>
          <a:xfrm>
            <a:off x="5698944" y="1570361"/>
            <a:ext cx="3078928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Modelo</a:t>
            </a:r>
            <a:r>
              <a:rPr lang="en-US" sz="2000" dirty="0">
                <a:solidFill>
                  <a:srgbClr val="FF0000"/>
                </a:solidFill>
              </a:rPr>
              <a:t> de </a:t>
            </a:r>
            <a:r>
              <a:rPr lang="en-US" sz="2000" i="1" dirty="0">
                <a:solidFill>
                  <a:srgbClr val="FF0000"/>
                </a:solidFill>
              </a:rPr>
              <a:t>Governance</a:t>
            </a:r>
            <a:endParaRPr lang="es-ES" sz="16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204488"/>
      </p:ext>
    </p:extLst>
  </p:cSld>
  <p:clrMapOvr>
    <a:masterClrMapping/>
  </p:clrMapOvr>
  <p:extLst>
    <p:ext uri="{6950BFC3-D8DA-4A85-94F7-54DA5524770B}">
      <p188:commentRel xmlns:p188="http://schemas.microsoft.com/office/powerpoint/2018/8/main" xmlns="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Comuns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2320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324B9150-E122-DFBD-AD0D-F67361543930}"/>
              </a:ext>
            </a:extLst>
          </p:cNvPr>
          <p:cNvCxnSpPr>
            <a:cxnSpLocks/>
            <a:endCxn id="98" idx="2"/>
          </p:cNvCxnSpPr>
          <p:nvPr/>
        </p:nvCxnSpPr>
        <p:spPr>
          <a:xfrm>
            <a:off x="2177636" y="1664763"/>
            <a:ext cx="6120659" cy="1980008"/>
          </a:xfrm>
          <a:prstGeom prst="bentConnector3">
            <a:avLst>
              <a:gd name="adj1" fmla="val 510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294E4E8-1B92-4A6E-F2F6-73BAF7B8EE41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0E88E8E0-DC24-AD6D-28B8-3B33C1A4303A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45583" y="2791240"/>
            <a:ext cx="6152712" cy="853531"/>
          </a:xfrm>
          <a:prstGeom prst="bentConnector3">
            <a:avLst>
              <a:gd name="adj1" fmla="val 5125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63DFF627-5DF4-902C-D159-59539736AB74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22577" y="3644771"/>
            <a:ext cx="6175718" cy="173020"/>
          </a:xfrm>
          <a:prstGeom prst="bentConnector3">
            <a:avLst>
              <a:gd name="adj1" fmla="val 5143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CE894F13-C5CB-BFFF-03A5-98938D00296D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19037" y="3644771"/>
            <a:ext cx="6179259" cy="1101449"/>
          </a:xfrm>
          <a:prstGeom prst="bentConnector3">
            <a:avLst>
              <a:gd name="adj1" fmla="val 51442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20CDE68-182D-678A-10DA-2F14AC445002}"/>
              </a:ext>
            </a:extLst>
          </p:cNvPr>
          <p:cNvSpPr txBox="1"/>
          <p:nvPr/>
        </p:nvSpPr>
        <p:spPr>
          <a:xfrm>
            <a:off x="1320329" y="1981649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2AD550-775D-2099-3A14-FE1EB2D89C17}"/>
              </a:ext>
            </a:extLst>
          </p:cNvPr>
          <p:cNvSpPr txBox="1"/>
          <p:nvPr/>
        </p:nvSpPr>
        <p:spPr>
          <a:xfrm>
            <a:off x="1517841" y="3137640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0AB5D30-93CB-43D8-B728-4AF10BC1D6D7}"/>
              </a:ext>
            </a:extLst>
          </p:cNvPr>
          <p:cNvSpPr txBox="1"/>
          <p:nvPr/>
        </p:nvSpPr>
        <p:spPr>
          <a:xfrm>
            <a:off x="1389758" y="5107477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0F9BD1-5D73-30C3-565A-883FA944ED85}"/>
              </a:ext>
            </a:extLst>
          </p:cNvPr>
          <p:cNvSpPr txBox="1"/>
          <p:nvPr/>
        </p:nvSpPr>
        <p:spPr>
          <a:xfrm>
            <a:off x="1510719" y="4152062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B1D0C81-10CF-EE9B-902E-ECC45CB7B37C}"/>
              </a:ext>
            </a:extLst>
          </p:cNvPr>
          <p:cNvGrpSpPr/>
          <p:nvPr/>
        </p:nvGrpSpPr>
        <p:grpSpPr>
          <a:xfrm>
            <a:off x="1534168" y="1322582"/>
            <a:ext cx="647850" cy="64785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0F33AD57-ED9C-658B-75E2-F61F9114C44D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D2F8FA44-5C28-B063-BC42-7A6B00161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5F9A2E1-B0CB-17DE-2C42-438CEA5E280C}"/>
              </a:ext>
            </a:extLst>
          </p:cNvPr>
          <p:cNvGrpSpPr/>
          <p:nvPr/>
        </p:nvGrpSpPr>
        <p:grpSpPr>
          <a:xfrm>
            <a:off x="1497733" y="2467315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E84FB30-C95F-B7CF-E359-918734788C96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5EFC96EA-7148-A667-217F-48F08FB18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2A7837-23CA-AD08-2B3B-3EBE260E8AAD}"/>
              </a:ext>
            </a:extLst>
          </p:cNvPr>
          <p:cNvGrpSpPr/>
          <p:nvPr/>
        </p:nvGrpSpPr>
        <p:grpSpPr>
          <a:xfrm>
            <a:off x="1474727" y="349386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2A4DD77F-F1AC-23D5-A5FE-648FD3E4757F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17BA9B2F-EA6C-1FA6-6C78-252829DFD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0171F82-4CFD-086F-55AF-F98EDFC1BBCB}"/>
              </a:ext>
            </a:extLst>
          </p:cNvPr>
          <p:cNvGrpSpPr/>
          <p:nvPr/>
        </p:nvGrpSpPr>
        <p:grpSpPr>
          <a:xfrm>
            <a:off x="1471187" y="4422295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F5DD215-6423-DF85-A95D-71F96CAE9E0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27D48B75-C086-9123-8B82-B5D824794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4AE68E92-2F58-A5C3-84A0-350D8E08CFD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70684" y="1299407"/>
            <a:ext cx="287933" cy="287933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965679E7-A9CD-DBA0-6A49-86FD0B19734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49741" y="2464896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FBFBF20D-71C7-60F3-3B9F-26C4D84BBD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15946" y="3461344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BDF050C7-4EF2-11DB-A9C1-8F296468DB4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12523" y="4409827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9CCDFF82-9496-1380-6859-7C3863FB51EE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0D503C6-90C7-9BE8-F4B1-6DE119C25AC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85E26626-A915-871A-7446-B27833A41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AC04CB78-3A59-247E-8FFA-1D006F255C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BDR</a:t>
            </a: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491C24CA-7270-0C72-1E70-53B6CE94C8B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93285"/>
            <a:ext cx="241113" cy="241113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87C20147-6495-4988-9D32-64CA6B7698F4}"/>
              </a:ext>
            </a:extLst>
          </p:cNvPr>
          <p:cNvGrpSpPr/>
          <p:nvPr/>
        </p:nvGrpSpPr>
        <p:grpSpPr>
          <a:xfrm>
            <a:off x="1326821" y="5406351"/>
            <a:ext cx="827808" cy="901419"/>
            <a:chOff x="9402697" y="1353861"/>
            <a:chExt cx="828000" cy="90162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0DBF849-88CA-40AC-ADA1-8DE52739DC73}"/>
                </a:ext>
              </a:extLst>
            </p:cNvPr>
            <p:cNvSpPr txBox="1"/>
            <p:nvPr/>
          </p:nvSpPr>
          <p:spPr>
            <a:xfrm>
              <a:off x="9402697" y="2024657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CREAM</a:t>
              </a:r>
              <a:endParaRPr lang="en-US" sz="900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CB70321-BBFF-4924-8666-21C0DE9BABE4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37" name="Oval 2">
                <a:extLst>
                  <a:ext uri="{FF2B5EF4-FFF2-40B4-BE49-F238E27FC236}">
                    <a16:creationId xmlns:a16="http://schemas.microsoft.com/office/drawing/2014/main" id="{8D2A2FE2-C869-4255-8C8A-F090E608B13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8" name="Graphic 37" descr="Server with solid fill">
                <a:extLst>
                  <a:ext uri="{FF2B5EF4-FFF2-40B4-BE49-F238E27FC236}">
                    <a16:creationId xmlns:a16="http://schemas.microsoft.com/office/drawing/2014/main" id="{9BEEB004-33A4-48E1-B16F-92408AC7C8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8B9BDCF8-8318-4A7E-8A35-43737B115D7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50" y="5411980"/>
            <a:ext cx="257724" cy="293227"/>
          </a:xfrm>
          <a:prstGeom prst="ellipse">
            <a:avLst/>
          </a:prstGeom>
        </p:spPr>
      </p:pic>
      <p:cxnSp>
        <p:nvCxnSpPr>
          <p:cNvPr id="15" name="Elbow Connector 69">
            <a:extLst>
              <a:ext uri="{FF2B5EF4-FFF2-40B4-BE49-F238E27FC236}">
                <a16:creationId xmlns:a16="http://schemas.microsoft.com/office/drawing/2014/main" id="{A711F72B-8770-DC81-E3D6-D41530CEC9B5}"/>
              </a:ext>
            </a:extLst>
          </p:cNvPr>
          <p:cNvCxnSpPr>
            <a:cxnSpLocks/>
            <a:stCxn id="37" idx="6"/>
            <a:endCxn id="98" idx="2"/>
          </p:cNvCxnSpPr>
          <p:nvPr/>
        </p:nvCxnSpPr>
        <p:spPr>
          <a:xfrm flipV="1">
            <a:off x="2146107" y="3644771"/>
            <a:ext cx="6152188" cy="2085505"/>
          </a:xfrm>
          <a:prstGeom prst="bentConnector3">
            <a:avLst>
              <a:gd name="adj1" fmla="val 5125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16575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MIS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80" idx="6"/>
            <a:endCxn id="98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8EEBF01-A123-1E4D-CD56-03A0F422D16A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7AA6780-8B39-3E6C-701C-239A68725B2C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92AE27DD-D943-9F0D-CE06-898B1D5662F0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EBA999BF-0327-9C5D-271E-4A0F00DFD536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9BEBB76-3939-35D8-D380-9339A9519D55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4169E0-155E-7D90-13B2-3A1A728C76C0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AECD81-A37F-BAF2-0E3A-339D14E444EB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7B9758-28EF-72D2-ED22-14E2A5A18CDC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B1256BC-86A4-91B6-38DC-B48409DD319E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DD45EEE2-F670-AA7D-609C-F48B6D06A7A3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21EA9476-50AD-D8A3-4008-229CF3177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2EDC6F4-3732-EB40-00E8-47E247648AC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D3EFF87-C4F8-F1C3-D320-8C6042C2CED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6D433A65-7BB1-CBC0-E406-4651C15DE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32E3826-CE81-D44A-D31D-B16DFBA2F617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07BA372F-A96F-172F-DB00-9127C150DE7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E0467E23-FDD5-B4FF-9CDA-8BB11DD4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48FFAAA-B219-3FCC-EEE3-EF766882B068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6EE77FC-3EDD-AC6C-F789-99FDE8FC2BD7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4646B15E-1168-DEF6-8BF0-3C0932265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3DC9353D-7A9D-8C02-F818-73BD2A2265E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0DF1C231-6E1B-ABBE-831B-C212ABF2FEA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5F1746F1-BA09-0D61-49F9-0D5D1756FDA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29F09C5C-E734-F3FC-23B4-30ED342CE2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19B0331-AD1B-7600-4326-96790802FDA3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BE6385D-DBDC-5D3B-855D-94A8C859088E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773947C7-61BB-6929-0B62-B25516147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1B93158C-3E59-7D9C-F06F-3AF825A2AE5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83190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IFRS9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72948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DW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DW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  <p:pic>
        <p:nvPicPr>
          <p:cNvPr id="2" name="Imagen 18">
            <a:extLst>
              <a:ext uri="{FF2B5EF4-FFF2-40B4-BE49-F238E27FC236}">
                <a16:creationId xmlns:a16="http://schemas.microsoft.com/office/drawing/2014/main" id="{55EBC073-94D7-EC46-6537-E65E305A217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93285"/>
            <a:ext cx="241113" cy="24111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91407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709424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6F58E4A-7AC9-4064-22FF-32B71709F6E6}"/>
              </a:ext>
            </a:extLst>
          </p:cNvPr>
          <p:cNvGrpSpPr/>
          <p:nvPr/>
        </p:nvGrpSpPr>
        <p:grpSpPr>
          <a:xfrm>
            <a:off x="9222641" y="4905438"/>
            <a:ext cx="647850" cy="647850"/>
            <a:chOff x="455122" y="4977513"/>
            <a:chExt cx="648000" cy="64800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9C18689-DAA3-8CFC-1A13-DCEAAB2E301F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6" name="Graphic 105" descr="Database with solid fill">
              <a:extLst>
                <a:ext uri="{FF2B5EF4-FFF2-40B4-BE49-F238E27FC236}">
                  <a16:creationId xmlns:a16="http://schemas.microsoft.com/office/drawing/2014/main" id="{B15D669A-6E5B-DC5B-E374-BFF90ED44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7505998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B073369-30B9-1B0E-9E31-0FCDE96AEE9F}"/>
              </a:ext>
            </a:extLst>
          </p:cNvPr>
          <p:cNvGrpSpPr/>
          <p:nvPr/>
        </p:nvGrpSpPr>
        <p:grpSpPr>
          <a:xfrm>
            <a:off x="6038109" y="4905438"/>
            <a:ext cx="647850" cy="64785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82CE9CA-14BB-419C-B5E9-109F40C3D87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2" descr="Database with solid fill">
              <a:extLst>
                <a:ext uri="{FF2B5EF4-FFF2-40B4-BE49-F238E27FC236}">
                  <a16:creationId xmlns:a16="http://schemas.microsoft.com/office/drawing/2014/main" id="{E5BEABFD-26B0-1DFA-0A19-D27274E00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CapTools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19" idx="2"/>
          </p:cNvCxnSpPr>
          <p:nvPr/>
        </p:nvCxnSpPr>
        <p:spPr>
          <a:xfrm>
            <a:off x="2177635" y="2150305"/>
            <a:ext cx="3531788" cy="15808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5B5498-D998-4564-D586-04BEED0E0297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83E99-C85E-4F60-0169-F794D6114CB8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1EF7-F86B-CB16-60D7-31D2DDCC084E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8A320-0477-CEFC-A37C-D73C564F0E46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138" idx="6"/>
            <a:endCxn id="119" idx="2"/>
          </p:cNvCxnSpPr>
          <p:nvPr/>
        </p:nvCxnSpPr>
        <p:spPr>
          <a:xfrm>
            <a:off x="2177635" y="3203476"/>
            <a:ext cx="3531788" cy="5276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141" idx="6"/>
            <a:endCxn id="119" idx="2"/>
          </p:cNvCxnSpPr>
          <p:nvPr/>
        </p:nvCxnSpPr>
        <p:spPr>
          <a:xfrm flipV="1">
            <a:off x="2177635" y="3731121"/>
            <a:ext cx="3531788" cy="53678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144" idx="6"/>
            <a:endCxn id="119" idx="2"/>
          </p:cNvCxnSpPr>
          <p:nvPr/>
        </p:nvCxnSpPr>
        <p:spPr>
          <a:xfrm flipV="1">
            <a:off x="2177635" y="3731123"/>
            <a:ext cx="3531788" cy="160120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606209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AFC339-3D24-BB7C-CA67-14A5DF8DC7F6}"/>
              </a:ext>
            </a:extLst>
          </p:cNvPr>
          <p:cNvGrpSpPr/>
          <p:nvPr/>
        </p:nvGrpSpPr>
        <p:grpSpPr>
          <a:xfrm>
            <a:off x="5435970" y="1687768"/>
            <a:ext cx="827808" cy="891795"/>
            <a:chOff x="1422208" y="1189977"/>
            <a:chExt cx="828000" cy="892001"/>
          </a:xfrm>
        </p:grpSpPr>
        <p:pic>
          <p:nvPicPr>
            <p:cNvPr id="33" name="Picture 6">
              <a:extLst>
                <a:ext uri="{FF2B5EF4-FFF2-40B4-BE49-F238E27FC236}">
                  <a16:creationId xmlns:a16="http://schemas.microsoft.com/office/drawing/2014/main" id="{B09626C4-C599-E7C1-8A26-A986F2E9B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208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3C8746-A200-A851-CC9A-A0FFF65DF3A3}"/>
                </a:ext>
              </a:extLst>
            </p:cNvPr>
            <p:cNvSpPr txBox="1"/>
            <p:nvPr/>
          </p:nvSpPr>
          <p:spPr>
            <a:xfrm>
              <a:off x="1422208" y="1835757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Balancetes</a:t>
              </a:r>
              <a:endParaRPr lang="en-US" sz="10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46ED98-30CA-5055-F4F4-7EFEF9609A01}"/>
              </a:ext>
            </a:extLst>
          </p:cNvPr>
          <p:cNvGrpSpPr/>
          <p:nvPr/>
        </p:nvGrpSpPr>
        <p:grpSpPr>
          <a:xfrm>
            <a:off x="6983328" y="1687768"/>
            <a:ext cx="899792" cy="891795"/>
            <a:chOff x="2986732" y="1189977"/>
            <a:chExt cx="900000" cy="892001"/>
          </a:xfrm>
        </p:grpSpPr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86F4444F-02A8-19F2-FD5B-C4161AA3B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2732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A29597-5E3E-7482-BACB-2F00AE99E0DC}"/>
                </a:ext>
              </a:extLst>
            </p:cNvPr>
            <p:cNvSpPr txBox="1"/>
            <p:nvPr/>
          </p:nvSpPr>
          <p:spPr>
            <a:xfrm>
              <a:off x="2986732" y="1835757"/>
              <a:ext cx="90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Fich.Comp</a:t>
              </a:r>
              <a:r>
                <a:rPr lang="en-US" sz="1000" dirty="0"/>
                <a:t>,</a:t>
              </a:r>
            </a:p>
          </p:txBody>
        </p:sp>
      </p:grpSp>
      <p:cxnSp>
        <p:nvCxnSpPr>
          <p:cNvPr id="45" name="Elbow Connector 69">
            <a:extLst>
              <a:ext uri="{FF2B5EF4-FFF2-40B4-BE49-F238E27FC236}">
                <a16:creationId xmlns:a16="http://schemas.microsoft.com/office/drawing/2014/main" id="{A06EA36C-2395-E5F9-97BE-34BCAB79EA45}"/>
              </a:ext>
            </a:extLst>
          </p:cNvPr>
          <p:cNvCxnSpPr>
            <a:cxnSpLocks/>
            <a:stCxn id="33" idx="3"/>
            <a:endCxn id="119" idx="0"/>
          </p:cNvCxnSpPr>
          <p:nvPr/>
        </p:nvCxnSpPr>
        <p:spPr>
          <a:xfrm flipH="1">
            <a:off x="6033350" y="2011694"/>
            <a:ext cx="140450" cy="1395504"/>
          </a:xfrm>
          <a:prstGeom prst="bentConnector4">
            <a:avLst>
              <a:gd name="adj1" fmla="val -162724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69">
            <a:extLst>
              <a:ext uri="{FF2B5EF4-FFF2-40B4-BE49-F238E27FC236}">
                <a16:creationId xmlns:a16="http://schemas.microsoft.com/office/drawing/2014/main" id="{23CCDD3D-0C08-17B8-515F-AADD14123C9C}"/>
              </a:ext>
            </a:extLst>
          </p:cNvPr>
          <p:cNvCxnSpPr>
            <a:cxnSpLocks/>
            <a:stCxn id="35" idx="3"/>
            <a:endCxn id="119" idx="0"/>
          </p:cNvCxnSpPr>
          <p:nvPr/>
        </p:nvCxnSpPr>
        <p:spPr>
          <a:xfrm flipH="1">
            <a:off x="6033348" y="2011694"/>
            <a:ext cx="1723801" cy="1395504"/>
          </a:xfrm>
          <a:prstGeom prst="bentConnector4">
            <a:avLst>
              <a:gd name="adj1" fmla="val -13258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137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39" descr="Related image">
            <a:extLst>
              <a:ext uri="{FF2B5EF4-FFF2-40B4-BE49-F238E27FC236}">
                <a16:creationId xmlns:a16="http://schemas.microsoft.com/office/drawing/2014/main" id="{AA9CE8F4-A94B-BA07-6729-D56AEDFA2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756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083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7613973" y="5575764"/>
            <a:ext cx="4319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87" y="4877878"/>
            <a:ext cx="241113" cy="241113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16BA29F3-0E5E-3726-0303-A15E706F546B}"/>
              </a:ext>
            </a:extLst>
          </p:cNvPr>
          <p:cNvSpPr txBox="1"/>
          <p:nvPr/>
        </p:nvSpPr>
        <p:spPr>
          <a:xfrm>
            <a:off x="9276629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6357274" y="3731123"/>
            <a:ext cx="1796574" cy="1498242"/>
          </a:xfrm>
          <a:prstGeom prst="bentConnector3">
            <a:avLst>
              <a:gd name="adj1" fmla="val -1272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69">
            <a:extLst>
              <a:ext uri="{FF2B5EF4-FFF2-40B4-BE49-F238E27FC236}">
                <a16:creationId xmlns:a16="http://schemas.microsoft.com/office/drawing/2014/main" id="{BFCD648A-8FF7-1AFD-DB0C-55EAC21DD25E}"/>
              </a:ext>
            </a:extLst>
          </p:cNvPr>
          <p:cNvCxnSpPr>
            <a:cxnSpLocks/>
            <a:stCxn id="105" idx="6"/>
            <a:endCxn id="119" idx="6"/>
          </p:cNvCxnSpPr>
          <p:nvPr/>
        </p:nvCxnSpPr>
        <p:spPr>
          <a:xfrm flipH="1" flipV="1">
            <a:off x="6357273" y="3731123"/>
            <a:ext cx="3513217" cy="1498242"/>
          </a:xfrm>
          <a:prstGeom prst="bentConnector3">
            <a:avLst>
              <a:gd name="adj1" fmla="val -65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5F56BE9-2C01-5F1E-A23E-BE1AFF401F84}"/>
              </a:ext>
            </a:extLst>
          </p:cNvPr>
          <p:cNvSpPr txBox="1"/>
          <p:nvPr/>
        </p:nvSpPr>
        <p:spPr>
          <a:xfrm>
            <a:off x="6092097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160377" y="3354230"/>
            <a:ext cx="287933" cy="287933"/>
          </a:xfrm>
          <a:prstGeom prst="rect">
            <a:avLst/>
          </a:prstGeom>
        </p:spPr>
      </p:pic>
      <p:pic>
        <p:nvPicPr>
          <p:cNvPr id="98" name="Graphic 97" descr="Single gear outline">
            <a:extLst>
              <a:ext uri="{FF2B5EF4-FFF2-40B4-BE49-F238E27FC236}">
                <a16:creationId xmlns:a16="http://schemas.microsoft.com/office/drawing/2014/main" id="{75CED94C-8F6A-D644-D3CE-B2FAF17CC4A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452142" y="4835015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7945362" y="4835015"/>
            <a:ext cx="287933" cy="287933"/>
          </a:xfrm>
          <a:prstGeom prst="rect">
            <a:avLst/>
          </a:prstGeom>
        </p:spPr>
      </p:pic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70361C75-80CC-1F43-344A-719470E50E2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9666006" y="4835015"/>
            <a:ext cx="287933" cy="287933"/>
          </a:xfrm>
          <a:prstGeom prst="rect">
            <a:avLst/>
          </a:prstGeom>
        </p:spPr>
      </p:pic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4ABA2CEA-7B5E-B6DC-0E84-1D497B52677C}"/>
              </a:ext>
            </a:extLst>
          </p:cNvPr>
          <p:cNvCxnSpPr>
            <a:cxnSpLocks/>
            <a:stCxn id="112" idx="6"/>
            <a:endCxn id="119" idx="6"/>
          </p:cNvCxnSpPr>
          <p:nvPr/>
        </p:nvCxnSpPr>
        <p:spPr>
          <a:xfrm flipH="1" flipV="1">
            <a:off x="6357273" y="3731123"/>
            <a:ext cx="328686" cy="1498242"/>
          </a:xfrm>
          <a:prstGeom prst="bentConnector3">
            <a:avLst>
              <a:gd name="adj1" fmla="val -6953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7218299-A22D-5297-2FD7-F48DCD5CCD86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134" name="Oval 2">
              <a:extLst>
                <a:ext uri="{FF2B5EF4-FFF2-40B4-BE49-F238E27FC236}">
                  <a16:creationId xmlns:a16="http://schemas.microsoft.com/office/drawing/2014/main" id="{D243C843-3449-6442-18E6-9CE89F478B54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5" name="Graphic 134" descr="Server with solid fill">
              <a:extLst>
                <a:ext uri="{FF2B5EF4-FFF2-40B4-BE49-F238E27FC236}">
                  <a16:creationId xmlns:a16="http://schemas.microsoft.com/office/drawing/2014/main" id="{7FAF07F6-13D5-D116-9BCE-929C34FD9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8990CF9-C253-6FC6-9998-1C063A5E3B69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138" name="Oval 2">
              <a:extLst>
                <a:ext uri="{FF2B5EF4-FFF2-40B4-BE49-F238E27FC236}">
                  <a16:creationId xmlns:a16="http://schemas.microsoft.com/office/drawing/2014/main" id="{B5B814C6-7127-0762-0E76-E3A6BA52F71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9" name="Graphic 138" descr="Server with solid fill">
              <a:extLst>
                <a:ext uri="{FF2B5EF4-FFF2-40B4-BE49-F238E27FC236}">
                  <a16:creationId xmlns:a16="http://schemas.microsoft.com/office/drawing/2014/main" id="{26EC8B5C-9CD7-2A55-4345-5BE63F648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807EAF0-1505-CB4B-DAC8-5A396AF53998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141" name="Oval 2">
              <a:extLst>
                <a:ext uri="{FF2B5EF4-FFF2-40B4-BE49-F238E27FC236}">
                  <a16:creationId xmlns:a16="http://schemas.microsoft.com/office/drawing/2014/main" id="{8607840F-C263-3F6D-15F3-6951DD29BF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2" name="Graphic 141" descr="Server with solid fill">
              <a:extLst>
                <a:ext uri="{FF2B5EF4-FFF2-40B4-BE49-F238E27FC236}">
                  <a16:creationId xmlns:a16="http://schemas.microsoft.com/office/drawing/2014/main" id="{C5D890B8-DBD7-AB25-2303-A562F885E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5AECFF3-4594-8C99-AAEF-B0308CDEFEE2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144" name="Oval 2">
              <a:extLst>
                <a:ext uri="{FF2B5EF4-FFF2-40B4-BE49-F238E27FC236}">
                  <a16:creationId xmlns:a16="http://schemas.microsoft.com/office/drawing/2014/main" id="{9E149001-73C5-CF7F-85F6-9C220748C21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5" name="Graphic 144" descr="Server with solid fill">
              <a:extLst>
                <a:ext uri="{FF2B5EF4-FFF2-40B4-BE49-F238E27FC236}">
                  <a16:creationId xmlns:a16="http://schemas.microsoft.com/office/drawing/2014/main" id="{609BD441-E854-32CE-E809-636ABDA1B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154" name="Graphic 153" descr="Single gear outline">
            <a:extLst>
              <a:ext uri="{FF2B5EF4-FFF2-40B4-BE49-F238E27FC236}">
                <a16:creationId xmlns:a16="http://schemas.microsoft.com/office/drawing/2014/main" id="{B49E83CF-918B-BEE6-542B-08DB2584DB3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155" name="Graphic 154" descr="Single gear outline">
            <a:extLst>
              <a:ext uri="{FF2B5EF4-FFF2-40B4-BE49-F238E27FC236}">
                <a16:creationId xmlns:a16="http://schemas.microsoft.com/office/drawing/2014/main" id="{9BB43AE3-26B2-F738-9C13-433DA3678D5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156" name="Graphic 155" descr="Single gear outline">
            <a:extLst>
              <a:ext uri="{FF2B5EF4-FFF2-40B4-BE49-F238E27FC236}">
                <a16:creationId xmlns:a16="http://schemas.microsoft.com/office/drawing/2014/main" id="{85E24736-1214-8C49-CA83-00419DD8BC7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157" name="Graphic 156" descr="Single gear outline">
            <a:extLst>
              <a:ext uri="{FF2B5EF4-FFF2-40B4-BE49-F238E27FC236}">
                <a16:creationId xmlns:a16="http://schemas.microsoft.com/office/drawing/2014/main" id="{680B1414-5DB3-A90F-AB67-6860607FAAF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573717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7997986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8952397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DLALM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3" idx="2"/>
          </p:cNvCxnSpPr>
          <p:nvPr/>
        </p:nvCxnSpPr>
        <p:spPr>
          <a:xfrm>
            <a:off x="2177637" y="1668075"/>
            <a:ext cx="3368433" cy="75965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7894772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DL ALM</a:t>
            </a: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645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8844422" y="5575764"/>
            <a:ext cx="83527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386" y="4877878"/>
            <a:ext cx="241113" cy="241113"/>
          </a:xfrm>
          <a:prstGeom prst="rect">
            <a:avLst/>
          </a:prstGeom>
        </p:spPr>
      </p:pic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8645836" y="3731122"/>
            <a:ext cx="954411" cy="1498241"/>
          </a:xfrm>
          <a:prstGeom prst="bentConnector3">
            <a:avLst>
              <a:gd name="adj1" fmla="val -239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448940" y="3354230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9391761" y="4835015"/>
            <a:ext cx="287933" cy="287933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15947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49B1ABF-829E-4687-4867-2317EB797160}"/>
              </a:ext>
            </a:extLst>
          </p:cNvPr>
          <p:cNvGrpSpPr/>
          <p:nvPr/>
        </p:nvGrpSpPr>
        <p:grpSpPr>
          <a:xfrm>
            <a:off x="5438094" y="2033377"/>
            <a:ext cx="835273" cy="971528"/>
            <a:chOff x="5440743" y="2497182"/>
            <a:chExt cx="835466" cy="97175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C89520-5582-9E32-1526-4CF1E091AB63}"/>
                </a:ext>
              </a:extLst>
            </p:cNvPr>
            <p:cNvGrpSpPr/>
            <p:nvPr/>
          </p:nvGrpSpPr>
          <p:grpSpPr>
            <a:xfrm>
              <a:off x="5548743" y="2567622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D5D891D-EECA-1D14-8779-430B76ECBDB0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7FAB385F-7924-F4AA-7284-C45E61715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D7876A-8671-FE19-04E2-0CAA9C2F7CFB}"/>
                </a:ext>
              </a:extLst>
            </p:cNvPr>
            <p:cNvSpPr txBox="1"/>
            <p:nvPr/>
          </p:nvSpPr>
          <p:spPr>
            <a:xfrm>
              <a:off x="5440743" y="3238103"/>
              <a:ext cx="8354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FGD</a:t>
              </a:r>
            </a:p>
          </p:txBody>
        </p:sp>
        <p:pic>
          <p:nvPicPr>
            <p:cNvPr id="16" name="Imagen 18">
              <a:extLst>
                <a:ext uri="{FF2B5EF4-FFF2-40B4-BE49-F238E27FC236}">
                  <a16:creationId xmlns:a16="http://schemas.microsoft.com/office/drawing/2014/main" id="{F28DAFBF-6754-A73B-15CD-3F8E3E921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721" y="2540055"/>
              <a:ext cx="241169" cy="241169"/>
            </a:xfrm>
            <a:prstGeom prst="rect">
              <a:avLst/>
            </a:prstGeom>
          </p:spPr>
        </p:pic>
        <p:pic>
          <p:nvPicPr>
            <p:cNvPr id="17" name="Graphic 16" descr="Single gear outline">
              <a:extLst>
                <a:ext uri="{FF2B5EF4-FFF2-40B4-BE49-F238E27FC236}">
                  <a16:creationId xmlns:a16="http://schemas.microsoft.com/office/drawing/2014/main" id="{F78B4965-C164-B255-2E2F-9AB4E3A70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988209" y="2497182"/>
              <a:ext cx="288000" cy="288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E3C47A-EF57-67D4-395A-CE6067C8515D}"/>
              </a:ext>
            </a:extLst>
          </p:cNvPr>
          <p:cNvGrpSpPr/>
          <p:nvPr/>
        </p:nvGrpSpPr>
        <p:grpSpPr>
          <a:xfrm>
            <a:off x="5549663" y="4905438"/>
            <a:ext cx="647850" cy="647850"/>
            <a:chOff x="455122" y="4977513"/>
            <a:chExt cx="648000" cy="648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CF8F865-A189-A3A3-34B4-BB38179621B0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" name="Graphic 21" descr="Database with solid fill">
              <a:extLst>
                <a:ext uri="{FF2B5EF4-FFF2-40B4-BE49-F238E27FC236}">
                  <a16:creationId xmlns:a16="http://schemas.microsoft.com/office/drawing/2014/main" id="{DC74D23A-FE56-CA9A-4D5A-1F12C8A30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19EBC42-F034-3B35-225D-B12DD6EE01A1}"/>
              </a:ext>
            </a:extLst>
          </p:cNvPr>
          <p:cNvSpPr txBox="1"/>
          <p:nvPr/>
        </p:nvSpPr>
        <p:spPr>
          <a:xfrm>
            <a:off x="5383334" y="5575765"/>
            <a:ext cx="944793" cy="507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Marketing</a:t>
            </a:r>
          </a:p>
          <a:p>
            <a:pPr algn="ctr"/>
            <a:r>
              <a:rPr lang="en-US" sz="900" dirty="0"/>
              <a:t>Automation</a:t>
            </a:r>
          </a:p>
          <a:p>
            <a:pPr algn="ctr"/>
            <a:r>
              <a:rPr lang="en-US" sz="900" dirty="0"/>
              <a:t>(</a:t>
            </a:r>
            <a:r>
              <a:rPr lang="en-US" sz="900" dirty="0" err="1"/>
              <a:t>Vinculação</a:t>
            </a:r>
            <a:r>
              <a:rPr lang="en-US" sz="900" dirty="0"/>
              <a:t>)</a:t>
            </a:r>
          </a:p>
        </p:txBody>
      </p:sp>
      <p:pic>
        <p:nvPicPr>
          <p:cNvPr id="25" name="Imagen 18">
            <a:extLst>
              <a:ext uri="{FF2B5EF4-FFF2-40B4-BE49-F238E27FC236}">
                <a16:creationId xmlns:a16="http://schemas.microsoft.com/office/drawing/2014/main" id="{D5586BDA-2A7B-3C98-F95F-FB0BDBDE45B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653" y="4877878"/>
            <a:ext cx="241113" cy="241113"/>
          </a:xfrm>
          <a:prstGeom prst="rect">
            <a:avLst/>
          </a:prstGeom>
        </p:spPr>
      </p:pic>
      <p:cxnSp>
        <p:nvCxnSpPr>
          <p:cNvPr id="31" name="Elbow Connector 69">
            <a:extLst>
              <a:ext uri="{FF2B5EF4-FFF2-40B4-BE49-F238E27FC236}">
                <a16:creationId xmlns:a16="http://schemas.microsoft.com/office/drawing/2014/main" id="{022EFF94-87D4-5A81-CB16-3E67FB67E060}"/>
              </a:ext>
            </a:extLst>
          </p:cNvPr>
          <p:cNvCxnSpPr>
            <a:cxnSpLocks/>
            <a:stCxn id="21" idx="6"/>
            <a:endCxn id="119" idx="2"/>
          </p:cNvCxnSpPr>
          <p:nvPr/>
        </p:nvCxnSpPr>
        <p:spPr>
          <a:xfrm flipV="1">
            <a:off x="6197514" y="3731122"/>
            <a:ext cx="1800472" cy="149824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69">
            <a:extLst>
              <a:ext uri="{FF2B5EF4-FFF2-40B4-BE49-F238E27FC236}">
                <a16:creationId xmlns:a16="http://schemas.microsoft.com/office/drawing/2014/main" id="{145DAFBD-1D28-33D5-1580-FA5B8AF2EB12}"/>
              </a:ext>
            </a:extLst>
          </p:cNvPr>
          <p:cNvCxnSpPr>
            <a:cxnSpLocks/>
            <a:stCxn id="13" idx="6"/>
            <a:endCxn id="119" idx="0"/>
          </p:cNvCxnSpPr>
          <p:nvPr/>
        </p:nvCxnSpPr>
        <p:spPr>
          <a:xfrm>
            <a:off x="6193920" y="2427725"/>
            <a:ext cx="2127991" cy="979472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22280" y="5157404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62BAFF4-255F-08E3-AFB8-DF05539A1748}"/>
              </a:ext>
            </a:extLst>
          </p:cNvPr>
          <p:cNvGrpSpPr/>
          <p:nvPr/>
        </p:nvGrpSpPr>
        <p:grpSpPr>
          <a:xfrm>
            <a:off x="1547089" y="3775189"/>
            <a:ext cx="755825" cy="1034354"/>
            <a:chOff x="3909558" y="2488901"/>
            <a:chExt cx="756000" cy="103459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6E91F50-D86D-40A7-9CE3-51C4E0FBC838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66B7B19-70FD-E05D-8F92-C4D57269B04F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69D285E-BAF0-E4B4-2CE3-50D0DE5D4C2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68" descr="Database with solid fill">
                <a:extLst>
                  <a:ext uri="{FF2B5EF4-FFF2-40B4-BE49-F238E27FC236}">
                    <a16:creationId xmlns:a16="http://schemas.microsoft.com/office/drawing/2014/main" id="{205CC7A4-90E3-D006-3AF3-A23966993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6" name="Graphic 65" descr="Single gear outline">
              <a:extLst>
                <a:ext uri="{FF2B5EF4-FFF2-40B4-BE49-F238E27FC236}">
                  <a16:creationId xmlns:a16="http://schemas.microsoft.com/office/drawing/2014/main" id="{DE3112B6-21E1-070D-5D0C-FC264D067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1" idx="2"/>
          </p:cNvCxnSpPr>
          <p:nvPr/>
        </p:nvCxnSpPr>
        <p:spPr>
          <a:xfrm flipV="1">
            <a:off x="2170130" y="5229363"/>
            <a:ext cx="3379534" cy="27693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69">
            <a:extLst>
              <a:ext uri="{FF2B5EF4-FFF2-40B4-BE49-F238E27FC236}">
                <a16:creationId xmlns:a16="http://schemas.microsoft.com/office/drawing/2014/main" id="{35AAD688-B72D-A04D-A074-1ED9B10D56B0}"/>
              </a:ext>
            </a:extLst>
          </p:cNvPr>
          <p:cNvCxnSpPr>
            <a:cxnSpLocks/>
            <a:stCxn id="67" idx="6"/>
            <a:endCxn id="21" idx="0"/>
          </p:cNvCxnSpPr>
          <p:nvPr/>
        </p:nvCxnSpPr>
        <p:spPr>
          <a:xfrm>
            <a:off x="2194940" y="4194277"/>
            <a:ext cx="3678649" cy="711161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Imagen 18">
            <a:extLst>
              <a:ext uri="{FF2B5EF4-FFF2-40B4-BE49-F238E27FC236}">
                <a16:creationId xmlns:a16="http://schemas.microsoft.com/office/drawing/2014/main" id="{F0607F12-E009-A643-3D32-8AFF5F2FBEF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280" y="3821225"/>
            <a:ext cx="241113" cy="241113"/>
          </a:xfrm>
          <a:prstGeom prst="rect">
            <a:avLst/>
          </a:prstGeom>
        </p:spPr>
      </p:pic>
      <p:cxnSp>
        <p:nvCxnSpPr>
          <p:cNvPr id="81" name="Elbow Connector 69">
            <a:extLst>
              <a:ext uri="{FF2B5EF4-FFF2-40B4-BE49-F238E27FC236}">
                <a16:creationId xmlns:a16="http://schemas.microsoft.com/office/drawing/2014/main" id="{DF40C24C-796E-E80D-0611-FD4C851F8A51}"/>
              </a:ext>
            </a:extLst>
          </p:cNvPr>
          <p:cNvCxnSpPr>
            <a:cxnSpLocks/>
            <a:stCxn id="67" idx="6"/>
            <a:endCxn id="119" idx="2"/>
          </p:cNvCxnSpPr>
          <p:nvPr/>
        </p:nvCxnSpPr>
        <p:spPr>
          <a:xfrm flipV="1">
            <a:off x="2194939" y="3731122"/>
            <a:ext cx="5803047" cy="463155"/>
          </a:xfrm>
          <a:prstGeom prst="bentConnector3">
            <a:avLst>
              <a:gd name="adj1" fmla="val 761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A42D42-E7AD-ED24-F3AC-16F8D5DBC1B8}"/>
              </a:ext>
            </a:extLst>
          </p:cNvPr>
          <p:cNvGrpSpPr/>
          <p:nvPr/>
        </p:nvGrpSpPr>
        <p:grpSpPr>
          <a:xfrm>
            <a:off x="10444135" y="4905438"/>
            <a:ext cx="647850" cy="647850"/>
            <a:chOff x="455122" y="4977513"/>
            <a:chExt cx="648000" cy="64800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B84BCFF-88D3-3845-ABFE-3D86EE2D84B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7" name="Graphic 86" descr="Database with solid fill">
              <a:extLst>
                <a:ext uri="{FF2B5EF4-FFF2-40B4-BE49-F238E27FC236}">
                  <a16:creationId xmlns:a16="http://schemas.microsoft.com/office/drawing/2014/main" id="{13AFA886-6065-B978-AAE4-1F97DA4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7F1F6BD8-E69E-D18E-1985-AEE763A2E2B4}"/>
              </a:ext>
            </a:extLst>
          </p:cNvPr>
          <p:cNvSpPr txBox="1"/>
          <p:nvPr/>
        </p:nvSpPr>
        <p:spPr>
          <a:xfrm>
            <a:off x="10498122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94E0405A-EA87-5402-C895-2ABF1D3B156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10887499" y="4835015"/>
            <a:ext cx="287933" cy="287933"/>
          </a:xfrm>
          <a:prstGeom prst="rect">
            <a:avLst/>
          </a:prstGeom>
        </p:spPr>
      </p:pic>
      <p:cxnSp>
        <p:nvCxnSpPr>
          <p:cNvPr id="90" name="Elbow Connector 69">
            <a:extLst>
              <a:ext uri="{FF2B5EF4-FFF2-40B4-BE49-F238E27FC236}">
                <a16:creationId xmlns:a16="http://schemas.microsoft.com/office/drawing/2014/main" id="{A632863F-0DEC-DFCE-6B28-F1BFF053554A}"/>
              </a:ext>
            </a:extLst>
          </p:cNvPr>
          <p:cNvCxnSpPr>
            <a:cxnSpLocks/>
            <a:stCxn id="86" idx="6"/>
            <a:endCxn id="119" idx="6"/>
          </p:cNvCxnSpPr>
          <p:nvPr/>
        </p:nvCxnSpPr>
        <p:spPr>
          <a:xfrm flipH="1" flipV="1">
            <a:off x="8645836" y="3731122"/>
            <a:ext cx="2446149" cy="1498241"/>
          </a:xfrm>
          <a:prstGeom prst="bentConnector3">
            <a:avLst>
              <a:gd name="adj1" fmla="val -934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52978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9C564FBA-D093-E421-907A-9A5AF1EBFB36}"/>
              </a:ext>
            </a:extLst>
          </p:cNvPr>
          <p:cNvCxnSpPr>
            <a:cxnSpLocks/>
            <a:stCxn id="134" idx="6"/>
            <a:endCxn id="119" idx="2"/>
          </p:cNvCxnSpPr>
          <p:nvPr/>
        </p:nvCxnSpPr>
        <p:spPr>
          <a:xfrm>
            <a:off x="2177636" y="1668075"/>
            <a:ext cx="5820350" cy="2063047"/>
          </a:xfrm>
          <a:prstGeom prst="bentConnector3">
            <a:avLst>
              <a:gd name="adj1" fmla="val 18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119" idx="2"/>
          </p:cNvCxnSpPr>
          <p:nvPr/>
        </p:nvCxnSpPr>
        <p:spPr>
          <a:xfrm>
            <a:off x="2177636" y="3018685"/>
            <a:ext cx="5820350" cy="712437"/>
          </a:xfrm>
          <a:prstGeom prst="bentConnector3">
            <a:avLst>
              <a:gd name="adj1" fmla="val 1106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18893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DMALM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24" idx="2"/>
          </p:cNvCxnSpPr>
          <p:nvPr/>
        </p:nvCxnSpPr>
        <p:spPr>
          <a:xfrm>
            <a:off x="2260746" y="1668075"/>
            <a:ext cx="6103088" cy="194330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99056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89796" y="5230912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4" idx="2"/>
          </p:cNvCxnSpPr>
          <p:nvPr/>
        </p:nvCxnSpPr>
        <p:spPr>
          <a:xfrm flipV="1">
            <a:off x="2237646" y="3611377"/>
            <a:ext cx="6126188" cy="1968430"/>
          </a:xfrm>
          <a:prstGeom prst="bentConnector3">
            <a:avLst>
              <a:gd name="adj1" fmla="val 502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61289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24" idx="2"/>
          </p:cNvCxnSpPr>
          <p:nvPr/>
        </p:nvCxnSpPr>
        <p:spPr>
          <a:xfrm>
            <a:off x="2260746" y="3018685"/>
            <a:ext cx="6103088" cy="592692"/>
          </a:xfrm>
          <a:prstGeom prst="bentConnector3">
            <a:avLst>
              <a:gd name="adj1" fmla="val 5003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AD9CD5F-B492-162E-B314-81BAE6E4121A}"/>
              </a:ext>
            </a:extLst>
          </p:cNvPr>
          <p:cNvGrpSpPr/>
          <p:nvPr/>
        </p:nvGrpSpPr>
        <p:grpSpPr>
          <a:xfrm>
            <a:off x="1589796" y="3902718"/>
            <a:ext cx="675104" cy="966865"/>
            <a:chOff x="5042481" y="1353861"/>
            <a:chExt cx="675260" cy="9670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9AEB1E-01CB-1DC5-37FE-6CCF7705D41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33A2860-6984-95FE-6217-911558734D14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5" name="Oval 2">
                <a:extLst>
                  <a:ext uri="{FF2B5EF4-FFF2-40B4-BE49-F238E27FC236}">
                    <a16:creationId xmlns:a16="http://schemas.microsoft.com/office/drawing/2014/main" id="{61E1C7E5-18D1-ED28-A051-C57DDC0E2EB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" name="Graphic 5" descr="Server with solid fill">
                <a:extLst>
                  <a:ext uri="{FF2B5EF4-FFF2-40B4-BE49-F238E27FC236}">
                    <a16:creationId xmlns:a16="http://schemas.microsoft.com/office/drawing/2014/main" id="{65CA0FB9-3397-7BDE-CCFF-0432D0DB5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7E55F8-CFD6-AAF3-F5AC-8730C5FF27AD}"/>
              </a:ext>
            </a:extLst>
          </p:cNvPr>
          <p:cNvGrpSpPr/>
          <p:nvPr/>
        </p:nvGrpSpPr>
        <p:grpSpPr>
          <a:xfrm>
            <a:off x="8346916" y="3192289"/>
            <a:ext cx="772744" cy="1034354"/>
            <a:chOff x="8424327" y="2488901"/>
            <a:chExt cx="772923" cy="10345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4F84B-F3CC-833C-E42A-DB3221FC1198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6D33F9-4ED1-492E-0FE6-11B44310DBE9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A7BC7F3-238E-2DB1-D9AD-204B5D2A9DA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5ECB6409-38DA-B052-1A21-CB8FD37FD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0" name="Graphic 9" descr="Single gear outline">
              <a:extLst>
                <a:ext uri="{FF2B5EF4-FFF2-40B4-BE49-F238E27FC236}">
                  <a16:creationId xmlns:a16="http://schemas.microsoft.com/office/drawing/2014/main" id="{45DFE9D3-BD56-F8EF-2B7A-EDF368F94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8" name="Imagen 18">
              <a:extLst>
                <a:ext uri="{FF2B5EF4-FFF2-40B4-BE49-F238E27FC236}">
                  <a16:creationId xmlns:a16="http://schemas.microsoft.com/office/drawing/2014/main" id="{21A28C15-6206-13C8-5DE0-0DB74AB8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C383D232-5004-5A13-8D7D-A8A443FBDA23}"/>
              </a:ext>
            </a:extLst>
          </p:cNvPr>
          <p:cNvCxnSpPr>
            <a:cxnSpLocks/>
            <a:stCxn id="5" idx="6"/>
            <a:endCxn id="24" idx="2"/>
          </p:cNvCxnSpPr>
          <p:nvPr/>
        </p:nvCxnSpPr>
        <p:spPr>
          <a:xfrm flipV="1">
            <a:off x="2237646" y="3611377"/>
            <a:ext cx="6126188" cy="615266"/>
          </a:xfrm>
          <a:prstGeom prst="bentConnector3">
            <a:avLst>
              <a:gd name="adj1" fmla="val 5019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3C6DC6-6BD5-2455-0F4F-6BD54C4A3B43}"/>
              </a:ext>
            </a:extLst>
          </p:cNvPr>
          <p:cNvGrpSpPr/>
          <p:nvPr/>
        </p:nvGrpSpPr>
        <p:grpSpPr>
          <a:xfrm>
            <a:off x="8246675" y="1775668"/>
            <a:ext cx="935783" cy="915758"/>
            <a:chOff x="1495099" y="5044535"/>
            <a:chExt cx="936000" cy="91597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7C8F7B-E01E-D5A2-7095-2AEAC9B2091D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BANCWARE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CA3FA94-64F0-E017-A90E-8398B8821CA4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43" name="Oval 2">
                <a:extLst>
                  <a:ext uri="{FF2B5EF4-FFF2-40B4-BE49-F238E27FC236}">
                    <a16:creationId xmlns:a16="http://schemas.microsoft.com/office/drawing/2014/main" id="{79DEB19F-FC5A-163B-71BF-A7BBEDD09955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44" name="Grupo 14">
                <a:extLst>
                  <a:ext uri="{FF2B5EF4-FFF2-40B4-BE49-F238E27FC236}">
                    <a16:creationId xmlns:a16="http://schemas.microsoft.com/office/drawing/2014/main" id="{0671D6C4-22F5-6C14-0239-563A811BAE1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45" name="Freeform 52">
                  <a:extLst>
                    <a:ext uri="{FF2B5EF4-FFF2-40B4-BE49-F238E27FC236}">
                      <a16:creationId xmlns:a16="http://schemas.microsoft.com/office/drawing/2014/main" id="{E573D7ED-3127-21CA-AF99-B8DF62688F0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6" name="Freeform 53">
                  <a:extLst>
                    <a:ext uri="{FF2B5EF4-FFF2-40B4-BE49-F238E27FC236}">
                      <a16:creationId xmlns:a16="http://schemas.microsoft.com/office/drawing/2014/main" id="{767F94A3-FEB7-096A-8E68-D2A1EDF386C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7" name="Freeform 54">
                  <a:extLst>
                    <a:ext uri="{FF2B5EF4-FFF2-40B4-BE49-F238E27FC236}">
                      <a16:creationId xmlns:a16="http://schemas.microsoft.com/office/drawing/2014/main" id="{F040A10B-C437-65D2-1527-D5B67673A7E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8" name="Freeform 55">
                  <a:extLst>
                    <a:ext uri="{FF2B5EF4-FFF2-40B4-BE49-F238E27FC236}">
                      <a16:creationId xmlns:a16="http://schemas.microsoft.com/office/drawing/2014/main" id="{B92C6886-0F2D-0327-7D63-38DEA682B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9" name="Freeform 56">
                  <a:extLst>
                    <a:ext uri="{FF2B5EF4-FFF2-40B4-BE49-F238E27FC236}">
                      <a16:creationId xmlns:a16="http://schemas.microsoft.com/office/drawing/2014/main" id="{20586697-6697-6DD1-9E65-D10970A75B6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50" name="Freeform 57">
                  <a:extLst>
                    <a:ext uri="{FF2B5EF4-FFF2-40B4-BE49-F238E27FC236}">
                      <a16:creationId xmlns:a16="http://schemas.microsoft.com/office/drawing/2014/main" id="{BE430DD0-68F5-6F29-D54C-0FE7C437AA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14D34697-F67B-0496-D043-DF6C9CE484F6}"/>
              </a:ext>
            </a:extLst>
          </p:cNvPr>
          <p:cNvCxnSpPr>
            <a:cxnSpLocks/>
            <a:stCxn id="24" idx="6"/>
            <a:endCxn id="43" idx="6"/>
          </p:cNvCxnSpPr>
          <p:nvPr/>
        </p:nvCxnSpPr>
        <p:spPr>
          <a:xfrm flipV="1">
            <a:off x="9011684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F5F4B327-01AE-BEC1-9F6C-A7292D02DF09}"/>
              </a:ext>
            </a:extLst>
          </p:cNvPr>
          <p:cNvCxnSpPr>
            <a:cxnSpLocks/>
            <a:stCxn id="43" idx="2"/>
            <a:endCxn id="24" idx="2"/>
          </p:cNvCxnSpPr>
          <p:nvPr/>
        </p:nvCxnSpPr>
        <p:spPr>
          <a:xfrm rot="10800000" flipV="1">
            <a:off x="8363835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762783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Primários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6914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de </a:t>
            </a:r>
            <a:r>
              <a:rPr lang="en-US" sz="2000" dirty="0" err="1">
                <a:solidFill>
                  <a:srgbClr val="FF0000"/>
                </a:solidFill>
              </a:rPr>
              <a:t>Colaterais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6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170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171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8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GARANTIAS</a:t>
            </a:r>
          </a:p>
        </p:txBody>
      </p:sp>
      <p:pic>
        <p:nvPicPr>
          <p:cNvPr id="185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186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67" idx="6"/>
            <a:endCxn id="36" idx="1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2771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87" idx="6"/>
            <a:endCxn id="36" idx="1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662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5" idx="6"/>
            <a:endCxn id="36" idx="1"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2771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8344643" y="3857437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225" name="Rectangle 224"/>
          <p:cNvSpPr/>
          <p:nvPr/>
        </p:nvSpPr>
        <p:spPr>
          <a:xfrm>
            <a:off x="10870713" y="3755300"/>
            <a:ext cx="894885" cy="415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Métricas de Colaterais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31209" cy="861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cd_captools.fr003_colaterais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cd_captools.fr801_tip_garan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cd_captools.kt_chaves_finrep</a:t>
            </a:r>
            <a:endParaRPr lang="pt-PT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231209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cd_garantias.gt018_rateio_aval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cd_garantias.gt009_bens_imov</a:t>
            </a:r>
            <a:endParaRPr lang="en-US" sz="1000" dirty="0"/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39" name="Straight Connector 38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5349001"/>
            <a:ext cx="10144302" cy="91045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6"/>
            <a:ext cx="5280650" cy="4043871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4"/>
            <a:ext cx="4789816" cy="404878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Processo</a:t>
            </a:r>
            <a:r>
              <a:rPr lang="en-US" sz="1000" dirty="0"/>
              <a:t> Manual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5321139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6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6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6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661880061"/>
      </p:ext>
    </p:extLst>
  </p:cSld>
  <p:clrMapOvr>
    <a:masterClrMapping/>
  </p:clrMapOvr>
  <p:extLst>
    <p:ext uri="{6950BFC3-D8DA-4A85-94F7-54DA5524770B}">
      <p188:commentRel xmlns:p188="http://schemas.microsoft.com/office/powerpoint/2018/8/main" xmlns="" r:id="rId16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3852314"/>
            <a:ext cx="647850" cy="647850"/>
            <a:chOff x="455122" y="4977513"/>
            <a:chExt cx="648000" cy="648000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9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852314"/>
            <a:ext cx="647850" cy="647850"/>
            <a:chOff x="455122" y="4977513"/>
            <a:chExt cx="648000" cy="64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Contrato</a:t>
            </a:r>
            <a:r>
              <a:rPr lang="en-US" sz="2000" dirty="0">
                <a:solidFill>
                  <a:srgbClr val="FF0000"/>
                </a:solidFill>
              </a:rPr>
              <a:t> e </a:t>
            </a:r>
            <a:r>
              <a:rPr lang="en-US" sz="2000" dirty="0" err="1">
                <a:solidFill>
                  <a:srgbClr val="FF0000"/>
                </a:solidFill>
              </a:rPr>
              <a:t>cliente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6893552" y="1632442"/>
            <a:ext cx="4105174" cy="1796558"/>
          </a:xfrm>
          <a:prstGeom prst="bentConnector3">
            <a:avLst>
              <a:gd name="adj1" fmla="val 2888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79" idx="6"/>
          </p:cNvCxnSpPr>
          <p:nvPr/>
        </p:nvCxnSpPr>
        <p:spPr>
          <a:xfrm flipV="1">
            <a:off x="9083783" y="3429000"/>
            <a:ext cx="1914944" cy="74723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5718088" y="3650240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225" name="Rectangle 224"/>
          <p:cNvSpPr/>
          <p:nvPr/>
        </p:nvSpPr>
        <p:spPr>
          <a:xfrm>
            <a:off x="10712225" y="3758583"/>
            <a:ext cx="1208206" cy="415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Métricas contrato e cliente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1544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7545" y="2101164"/>
            <a:ext cx="2304956" cy="163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cd_captools.ct001_univ_salo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cd_captools.ct003_univ_cli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cd_captools.fr004_cto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cd_captools.ct063_univ_pme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cd_captools.ct610_titulos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cd_captools.bdr_jm_clien_juri</a:t>
            </a:r>
            <a:endParaRPr lang="en-US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cd_captools.ct021_rwa_cli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cd_captools.ct802_codigo_emp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cd_captools.ct070_univ_gr_cli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5209" y="4482326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pic>
        <p:nvPicPr>
          <p:cNvPr id="19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3792423"/>
            <a:ext cx="241113" cy="241113"/>
          </a:xfrm>
          <a:prstGeom prst="rect">
            <a:avLst/>
          </a:prstGeom>
        </p:spPr>
      </p:pic>
      <p:pic>
        <p:nvPicPr>
          <p:cNvPr id="19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3792423"/>
            <a:ext cx="287933" cy="287933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56855" y="4607192"/>
            <a:ext cx="2405030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cd_estruturais.interface_moradas</a:t>
            </a:r>
            <a:endParaRPr lang="en-US" sz="1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29144" y="1970315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RISCOS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56854" y="2101164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cd_riscos.rsv176sa1_balanco</a:t>
            </a:r>
            <a:endParaRPr lang="en-US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7817" y="4475086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ALM</a:t>
            </a:r>
          </a:p>
        </p:txBody>
      </p:sp>
      <p:pic>
        <p:nvPicPr>
          <p:cNvPr id="48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3792423"/>
            <a:ext cx="241113" cy="241113"/>
          </a:xfrm>
          <a:prstGeom prst="rect">
            <a:avLst/>
          </a:prstGeom>
        </p:spPr>
      </p:pic>
      <p:pic>
        <p:nvPicPr>
          <p:cNvPr id="49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3792423"/>
            <a:ext cx="287933" cy="28793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7545" y="4607192"/>
            <a:ext cx="2231209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cd_alm.kt_chaves_alm_m</a:t>
            </a:r>
            <a:endParaRPr lang="pt-PT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cd_alm.al006_saq_ppc</a:t>
            </a:r>
          </a:p>
        </p:txBody>
      </p:sp>
      <p:cxnSp>
        <p:nvCxnSpPr>
          <p:cNvPr id="61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8" idx="6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202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917677" y="3429001"/>
            <a:ext cx="4071813" cy="699687"/>
          </a:xfrm>
          <a:prstGeom prst="bentConnector3">
            <a:avLst>
              <a:gd name="adj1" fmla="val 2838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5349001"/>
            <a:ext cx="10144302" cy="91045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6"/>
            <a:ext cx="5280650" cy="4043871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4"/>
            <a:ext cx="4789816" cy="404878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Processo</a:t>
            </a:r>
            <a:r>
              <a:rPr lang="en-US" sz="1000" dirty="0"/>
              <a:t> Manual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5321139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pic>
        <p:nvPicPr>
          <p:cNvPr id="7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7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pic>
        <p:nvPicPr>
          <p:cNvPr id="8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4194199424"/>
      </p:ext>
    </p:extLst>
  </p:cSld>
  <p:clrMapOvr>
    <a:masterClrMapping/>
  </p:clrMapOvr>
  <p:extLst>
    <p:ext uri="{6950BFC3-D8DA-4A85-94F7-54DA5524770B}">
      <p188:commentRel xmlns:p188="http://schemas.microsoft.com/office/powerpoint/2018/8/main" xmlns="" r:id="rId16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Gloval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3273447"/>
            <a:ext cx="647850" cy="647850"/>
            <a:chOff x="455122" y="4977513"/>
            <a:chExt cx="648000" cy="6480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EMPRÉSTIMOS</a:t>
            </a:r>
          </a:p>
        </p:txBody>
      </p:sp>
      <p:pic>
        <p:nvPicPr>
          <p:cNvPr id="3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3220481"/>
            <a:ext cx="241113" cy="241113"/>
          </a:xfrm>
          <a:prstGeom prst="rect">
            <a:avLst/>
          </a:prstGeom>
        </p:spPr>
      </p:pic>
      <p:pic>
        <p:nvPicPr>
          <p:cNvPr id="4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3220480"/>
            <a:ext cx="287933" cy="28793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7" y="4116507"/>
            <a:ext cx="2432721" cy="1015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cd_emprestimos.gpt32_bemimove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cd_emprestimos.gpt18_bens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cd_emprestimos.gpt14_registos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cd_emprestimos.gpt31_contrato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5349001"/>
            <a:ext cx="10144302" cy="91045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2" name="Straight Connector 51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6"/>
            <a:ext cx="5280650" cy="4043871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Processo</a:t>
            </a:r>
            <a:r>
              <a:rPr lang="en-US" sz="1000" dirty="0"/>
              <a:t> Manual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5321139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5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61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4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GARANTIAS</a:t>
            </a:r>
          </a:p>
        </p:txBody>
      </p:sp>
      <p:pic>
        <p:nvPicPr>
          <p:cNvPr id="6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6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sp>
        <p:nvSpPr>
          <p:cNvPr id="70" name="Oval 69">
            <a:extLst>
              <a:ext uri="{FF2B5EF4-FFF2-40B4-BE49-F238E27FC236}">
                <a16:creationId xmlns:a16="http://schemas.microsoft.com/office/drawing/2014/main" id="{EBFCE12C-1CA3-59CA-332B-BC05E3EB5727}"/>
              </a:ext>
            </a:extLst>
          </p:cNvPr>
          <p:cNvSpPr/>
          <p:nvPr/>
        </p:nvSpPr>
        <p:spPr>
          <a:xfrm>
            <a:off x="6187072" y="3273447"/>
            <a:ext cx="647850" cy="6478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pic>
        <p:nvPicPr>
          <p:cNvPr id="71" name="Graphic 119" descr="Database with solid fill">
            <a:extLst>
              <a:ext uri="{FF2B5EF4-FFF2-40B4-BE49-F238E27FC236}">
                <a16:creationId xmlns:a16="http://schemas.microsoft.com/office/drawing/2014/main" id="{C155FEBF-BA9A-1FF5-B40F-88830AD6841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293080" y="3382813"/>
            <a:ext cx="431900" cy="4319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pic>
        <p:nvPicPr>
          <p:cNvPr id="7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7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861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cd_captools.ct001_univ_saldo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cd_captools.ct005_univ_perim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cd_captools.ct802_codigo_emp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6"/>
            <a:ext cx="2231209" cy="1015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cd_garantias.gt008_trz_gt_imv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cd_garantias.gt001_trz_rsp_gt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cd_garantias.gt009_bens_imov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cd_garantias.cst08_caucbem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cd_garantias.gt018_rateio_aval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4"/>
            <a:ext cx="4789816" cy="404878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cxnSp>
        <p:nvCxnSpPr>
          <p:cNvPr id="7" name="Straight Connector 6"/>
          <p:cNvCxnSpPr>
            <a:stCxn id="70" idx="6"/>
            <a:endCxn id="41" idx="2"/>
          </p:cNvCxnSpPr>
          <p:nvPr/>
        </p:nvCxnSpPr>
        <p:spPr>
          <a:xfrm>
            <a:off x="6834923" y="3597372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57" idx="6"/>
            <a:endCxn id="63" idx="2"/>
          </p:cNvCxnSpPr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3" idx="6"/>
            <a:endCxn id="103" idx="1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10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1" idx="6"/>
            <a:endCxn id="103" idx="1"/>
          </p:cNvCxnSpPr>
          <p:nvPr/>
        </p:nvCxnSpPr>
        <p:spPr>
          <a:xfrm flipV="1">
            <a:off x="9083783" y="3429001"/>
            <a:ext cx="1914944" cy="16837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/>
          <p:cNvGrpSpPr/>
          <p:nvPr/>
        </p:nvGrpSpPr>
        <p:grpSpPr>
          <a:xfrm>
            <a:off x="10710724" y="3751765"/>
            <a:ext cx="1224360" cy="415402"/>
            <a:chOff x="2905382" y="2549677"/>
            <a:chExt cx="1224643" cy="415498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3030044" y="2549677"/>
              <a:ext cx="109998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PT" sz="1050" dirty="0" err="1"/>
                <a:t>Gloval</a:t>
              </a:r>
              <a:r>
                <a:rPr lang="pt-PT" sz="1050" dirty="0"/>
                <a:t> imóveis </a:t>
              </a:r>
            </a:p>
            <a:p>
              <a:pPr algn="ctr"/>
              <a:r>
                <a:rPr lang="pt-PT" sz="1050" dirty="0"/>
                <a:t>sem letra</a:t>
              </a:r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2691803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Universo</a:t>
            </a:r>
            <a:r>
              <a:rPr lang="en-US" sz="2000" dirty="0">
                <a:solidFill>
                  <a:srgbClr val="FF0000"/>
                </a:solidFill>
              </a:rPr>
              <a:t> Full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5349001"/>
            <a:ext cx="10144302" cy="91045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6"/>
            <a:ext cx="5280650" cy="4043871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4"/>
            <a:ext cx="4789816" cy="404878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Processo</a:t>
            </a:r>
            <a:r>
              <a:rPr lang="en-US" sz="1000" dirty="0"/>
              <a:t> Manual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5321139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5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5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cd_captools.nm001_master_cto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cd_captools.ct001_univ_saldo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cd_captools.kt_chaves_finrep</a:t>
            </a:r>
            <a:endParaRPr lang="en-US" sz="1000" dirty="0"/>
          </a:p>
        </p:txBody>
      </p:sp>
      <p:cxnSp>
        <p:nvCxnSpPr>
          <p:cNvPr id="6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4" idx="6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0836927" y="3759610"/>
            <a:ext cx="973119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pic>
        <p:nvPicPr>
          <p:cNvPr id="6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46" name="Straight Connector 45"/>
          <p:cNvCxnSpPr/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87196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cxnSpLocks/>
          </p:cNvCxnSpPr>
          <p:nvPr/>
        </p:nvCxnSpPr>
        <p:spPr>
          <a:xfrm>
            <a:off x="2871961" y="3597372"/>
            <a:ext cx="68965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cxnSpLocks/>
          </p:cNvCxnSpPr>
          <p:nvPr/>
        </p:nvCxnSpPr>
        <p:spPr>
          <a:xfrm>
            <a:off x="1535272" y="3597372"/>
            <a:ext cx="6888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02059" y="2028495"/>
            <a:ext cx="1222873" cy="400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MdD_79_CESG_CNAE_ESG_v5.2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6818" y="3949160"/>
            <a:ext cx="1222873" cy="576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50" dirty="0">
                <a:highlight>
                  <a:srgbClr val="FFFF00"/>
                </a:highlight>
              </a:rPr>
              <a:t>MdD_84_GARB_GAR &amp; BTAR_v5.2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97028" y="2028495"/>
            <a:ext cx="1629862" cy="553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MdD_80_ENPC_Energy_Performance_Certificate_v4.2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57910" y="3949160"/>
            <a:ext cx="1021361" cy="576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50" dirty="0">
                <a:highlight>
                  <a:srgbClr val="FFFF00"/>
                </a:highlight>
              </a:rPr>
              <a:t>MdD_84_GARB_GAR &amp; BTAR_v5.2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98986" y="2028495"/>
            <a:ext cx="1091630" cy="553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MdD_83_MITI_Mitigation actions_v4.2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91059" y="3949160"/>
            <a:ext cx="1250345" cy="576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50" dirty="0"/>
              <a:t>MdD_109_IESG_Interest </a:t>
            </a:r>
            <a:r>
              <a:rPr lang="pt-PT" sz="1050" dirty="0" err="1"/>
              <a:t>and</a:t>
            </a:r>
            <a:r>
              <a:rPr lang="pt-PT" sz="1050" dirty="0"/>
              <a:t> Commisions_v3.1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3393" y="4988902"/>
            <a:ext cx="4915673" cy="230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/>
              <a:t>Nota: Ficheiros “</a:t>
            </a:r>
            <a:r>
              <a:rPr lang="pt-PT" sz="900" dirty="0" err="1"/>
              <a:t>xlsx</a:t>
            </a:r>
            <a:r>
              <a:rPr lang="pt-PT" sz="900" dirty="0"/>
              <a:t>” com os </a:t>
            </a:r>
            <a:r>
              <a:rPr lang="pt-PT" sz="900" dirty="0" err="1"/>
              <a:t>IDCOMBs</a:t>
            </a:r>
            <a:r>
              <a:rPr lang="pt-PT" sz="900" dirty="0"/>
              <a:t> para os respetivos satélites</a:t>
            </a:r>
          </a:p>
        </p:txBody>
      </p:sp>
      <p:cxnSp>
        <p:nvCxnSpPr>
          <p:cNvPr id="73" name="Straight Connector 72"/>
          <p:cNvCxnSpPr>
            <a:cxnSpLocks/>
          </p:cNvCxnSpPr>
          <p:nvPr/>
        </p:nvCxnSpPr>
        <p:spPr>
          <a:xfrm>
            <a:off x="4209470" y="1664838"/>
            <a:ext cx="181749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4209470" y="1664838"/>
            <a:ext cx="1977602" cy="1932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8D9E5EE-4FBA-6B66-A25A-38CC31F78D0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7422" y="3273447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7C8D59-6F9B-FAF8-9DA0-BE10F97B181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7422" y="1340913"/>
            <a:ext cx="647850" cy="647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6B2CD2-4E12-BE6D-DD64-C6D4DB2EB8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24111" y="3273447"/>
            <a:ext cx="647850" cy="647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81380A-1835-DAE2-58F5-40CA17E6D92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24111" y="1340913"/>
            <a:ext cx="647850" cy="647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728735-DF2C-A03F-7AFA-1783EFC3949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61620" y="1340913"/>
            <a:ext cx="647850" cy="647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D149A7-21B0-5366-F536-61B727A271F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61620" y="3273447"/>
            <a:ext cx="647850" cy="647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9132EF-3B79-05B8-A4B2-11BC6B99F7DE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22" y="1289060"/>
            <a:ext cx="238885" cy="238885"/>
          </a:xfrm>
          <a:prstGeom prst="ellipse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378FB6-53A9-3065-E1AA-99F5300526D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22" y="3232160"/>
            <a:ext cx="238885" cy="238885"/>
          </a:xfrm>
          <a:prstGeom prst="ellipse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9CD38E-0A5D-3D5E-6C08-18BD1906D33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47" y="1289060"/>
            <a:ext cx="238885" cy="238885"/>
          </a:xfrm>
          <a:prstGeom prst="ellipse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B73697-F1F2-24D4-E930-A75CDD65AFD6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47" y="3232160"/>
            <a:ext cx="238885" cy="238885"/>
          </a:xfrm>
          <a:prstGeom prst="ellipse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8FE561-5B95-10BD-2E97-24F59D33581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00" y="1289060"/>
            <a:ext cx="238885" cy="238885"/>
          </a:xfrm>
          <a:prstGeom prst="ellipse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B606BC-2748-AA7D-4A50-7833480FF661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00" y="3232160"/>
            <a:ext cx="238885" cy="238885"/>
          </a:xfrm>
          <a:prstGeom prst="ellipse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003530407"/>
      </p:ext>
    </p:extLst>
  </p:cSld>
  <p:clrMapOvr>
    <a:masterClrMapping/>
  </p:clrMapOvr>
  <p:extLst>
    <p:ext uri="{6950BFC3-D8DA-4A85-94F7-54DA5524770B}">
      <p188:commentRel xmlns:p188="http://schemas.microsoft.com/office/powerpoint/2018/8/main" xmlns="" r:id="rId18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Adjudicados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3043925" y="2410676"/>
            <a:ext cx="2076386" cy="692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12-DEZEMBRO-2022-StockAdjudicadosTOTTA URBE_2022-12-30</a:t>
            </a:r>
            <a:r>
              <a:rPr lang="en-US" sz="900" dirty="0"/>
              <a:t>.xlsx</a:t>
            </a:r>
            <a:endParaRPr lang="en-US" sz="800" dirty="0"/>
          </a:p>
          <a:p>
            <a:pPr algn="ctr"/>
            <a:endParaRPr lang="en-US" sz="9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479773" y="3887128"/>
            <a:ext cx="432225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CarteiraGlobalDeImoveis-2022-12-30_Em desinvestimento_v2</a:t>
            </a:r>
            <a:r>
              <a:rPr lang="en-US" sz="900" dirty="0"/>
              <a:t>.xlsx</a:t>
            </a:r>
            <a:endParaRPr lang="en-US" sz="800" dirty="0"/>
          </a:p>
          <a:p>
            <a:pPr algn="ctr"/>
            <a:endParaRPr lang="en-US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479774" y="2065394"/>
            <a:ext cx="1693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Imoveis</a:t>
            </a:r>
            <a:r>
              <a:rPr lang="en-US" sz="1000" dirty="0"/>
              <a:t> BST Dez22.xlsx</a:t>
            </a:r>
            <a:endParaRPr lang="en-US" sz="900" dirty="0"/>
          </a:p>
        </p:txBody>
      </p:sp>
      <p:sp>
        <p:nvSpPr>
          <p:cNvPr id="96" name="Rectangle 95"/>
          <p:cNvSpPr/>
          <p:nvPr/>
        </p:nvSpPr>
        <p:spPr>
          <a:xfrm>
            <a:off x="10854786" y="3799104"/>
            <a:ext cx="922047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</a:t>
            </a:r>
          </a:p>
          <a:p>
            <a:pPr algn="ctr"/>
            <a:r>
              <a:rPr lang="pt-PT" sz="1050" dirty="0"/>
              <a:t>Adjudicados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79775" y="2307395"/>
            <a:ext cx="2876265" cy="861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 err="1"/>
              <a:t>Dações+Arrematações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/>
              <a:t>Stock IFIC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/>
              <a:t>Stock Adjudicados</a:t>
            </a:r>
            <a:endParaRPr lang="en-US" sz="10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88797" y="4105286"/>
            <a:ext cx="2876265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/>
              <a:t>Stock Adjudicados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 err="1"/>
              <a:t>Totta</a:t>
            </a:r>
            <a:r>
              <a:rPr lang="pt-PT" sz="1000" dirty="0"/>
              <a:t> URBE</a:t>
            </a:r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790771" y="2892035"/>
            <a:ext cx="2876265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 err="1"/>
              <a:t>Totta</a:t>
            </a:r>
            <a:r>
              <a:rPr lang="pt-PT" sz="1000" dirty="0"/>
              <a:t> URBE</a:t>
            </a:r>
            <a:endParaRPr lang="en-US" sz="1000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4650" y="1776425"/>
            <a:ext cx="647850" cy="64785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422" y="3273447"/>
            <a:ext cx="647850" cy="6478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422" y="1340913"/>
            <a:ext cx="647850" cy="64785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5349001"/>
            <a:ext cx="10144302" cy="91045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6"/>
            <a:ext cx="5280650" cy="4043871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Processo</a:t>
            </a:r>
            <a:r>
              <a:rPr lang="en-US" sz="1000" dirty="0"/>
              <a:t> Manual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5358146" y="-2671879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5321139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>
                <a:highlight>
                  <a:srgbClr val="FFFF00"/>
                </a:highlight>
              </a:rPr>
              <a:t>Modelação</a:t>
            </a:r>
            <a:r>
              <a:rPr lang="en-US" sz="1000" dirty="0">
                <a:highlight>
                  <a:srgbClr val="FFFF00"/>
                </a:highlight>
              </a:rPr>
              <a:t> de dados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3273447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3220481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368" y="3220480"/>
            <a:ext cx="287933" cy="287933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13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4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3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13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1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4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14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cxnSp>
        <p:nvCxnSpPr>
          <p:cNvPr id="144" name="Straight Connector 143"/>
          <p:cNvCxnSpPr>
            <a:stCxn id="140" idx="6"/>
            <a:endCxn id="122" idx="2"/>
          </p:cNvCxnSpPr>
          <p:nvPr/>
        </p:nvCxnSpPr>
        <p:spPr>
          <a:xfrm>
            <a:off x="6834923" y="3597372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stCxn id="127" idx="6"/>
            <a:endCxn id="132" idx="2"/>
          </p:cNvCxnSpPr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EMPRÉSTIMOS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7" y="4116507"/>
            <a:ext cx="2432721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cd_emprestimos.gpt32_bemimove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cd_emprestimos.gpt18_bens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RISCOS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LEASING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80"/>
            <a:ext cx="2279967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cd_riscos.ivt01_imoveis</a:t>
            </a:r>
            <a:endParaRPr lang="en-US" sz="10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cd_leasing.lgt03_ravalimo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4"/>
            <a:ext cx="4789816" cy="404878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pic>
        <p:nvPicPr>
          <p:cNvPr id="15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161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9083783" y="3429001"/>
            <a:ext cx="1914944" cy="16837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>
            <a:stCxn id="103" idx="3"/>
            <a:endCxn id="127" idx="2"/>
          </p:cNvCxnSpPr>
          <p:nvPr/>
        </p:nvCxnSpPr>
        <p:spPr>
          <a:xfrm>
            <a:off x="1535272" y="1664838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>
            <a:stCxn id="101" idx="3"/>
            <a:endCxn id="140" idx="2"/>
          </p:cNvCxnSpPr>
          <p:nvPr/>
        </p:nvCxnSpPr>
        <p:spPr>
          <a:xfrm>
            <a:off x="1535272" y="3597372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Elbow Connector 167"/>
          <p:cNvCxnSpPr>
            <a:stCxn id="99" idx="3"/>
            <a:endCxn id="140" idx="2"/>
          </p:cNvCxnSpPr>
          <p:nvPr/>
        </p:nvCxnSpPr>
        <p:spPr>
          <a:xfrm>
            <a:off x="4382500" y="2100350"/>
            <a:ext cx="1804572" cy="1497022"/>
          </a:xfrm>
          <a:prstGeom prst="bentConnector3">
            <a:avLst>
              <a:gd name="adj1" fmla="val 69889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71" name="Group 170"/>
          <p:cNvGrpSpPr/>
          <p:nvPr/>
        </p:nvGrpSpPr>
        <p:grpSpPr>
          <a:xfrm>
            <a:off x="4867687" y="5988252"/>
            <a:ext cx="1770338" cy="294934"/>
            <a:chOff x="3887281" y="2628000"/>
            <a:chExt cx="1116018" cy="295002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3887281" y="2628000"/>
              <a:ext cx="1116018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1050" dirty="0" err="1"/>
                <a:t>Gloval</a:t>
              </a:r>
              <a:r>
                <a:rPr lang="pt-PT" sz="1050" dirty="0"/>
                <a:t> imoveis sem letra</a:t>
              </a:r>
            </a:p>
          </p:txBody>
        </p:sp>
      </p:grpSp>
      <p:pic>
        <p:nvPicPr>
          <p:cNvPr id="17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146" y="5399851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5768596" y="5362304"/>
            <a:ext cx="287933" cy="287933"/>
          </a:xfrm>
          <a:prstGeom prst="rect">
            <a:avLst/>
          </a:prstGeom>
        </p:spPr>
      </p:pic>
      <p:cxnSp>
        <p:nvCxnSpPr>
          <p:cNvPr id="176" name="Elbow Connector 175"/>
          <p:cNvCxnSpPr>
            <a:stCxn id="174" idx="1"/>
          </p:cNvCxnSpPr>
          <p:nvPr/>
        </p:nvCxnSpPr>
        <p:spPr>
          <a:xfrm rot="10800000">
            <a:off x="5013312" y="3597372"/>
            <a:ext cx="344834" cy="2126404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Elbow Connector 167">
            <a:extLst>
              <a:ext uri="{FF2B5EF4-FFF2-40B4-BE49-F238E27FC236}">
                <a16:creationId xmlns:a16="http://schemas.microsoft.com/office/drawing/2014/main" id="{F32CF710-F9AA-C027-5DBE-A127E3959CDE}"/>
              </a:ext>
            </a:extLst>
          </p:cNvPr>
          <p:cNvCxnSpPr>
            <a:cxnSpLocks/>
            <a:stCxn id="101" idx="3"/>
            <a:endCxn id="127" idx="2"/>
          </p:cNvCxnSpPr>
          <p:nvPr/>
        </p:nvCxnSpPr>
        <p:spPr>
          <a:xfrm flipV="1">
            <a:off x="1535272" y="1664838"/>
            <a:ext cx="4651800" cy="1932534"/>
          </a:xfrm>
          <a:prstGeom prst="bentConnector3">
            <a:avLst>
              <a:gd name="adj1" fmla="val 8827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3447126943"/>
      </p:ext>
    </p:extLst>
  </p:cSld>
  <p:clrMapOvr>
    <a:masterClrMapping/>
  </p:clrMapOvr>
  <p:extLst>
    <p:ext uri="{6950BFC3-D8DA-4A85-94F7-54DA5524770B}">
      <p188:commentRel xmlns:p188="http://schemas.microsoft.com/office/powerpoint/2018/8/main" xmlns="" r:id="rId17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Repartição</a:t>
            </a:r>
            <a:r>
              <a:rPr lang="en-US" sz="2000" dirty="0">
                <a:solidFill>
                  <a:srgbClr val="FF0000"/>
                </a:solidFill>
              </a:rPr>
              <a:t> de </a:t>
            </a:r>
            <a:r>
              <a:rPr lang="en-US" sz="2000" dirty="0" err="1">
                <a:solidFill>
                  <a:srgbClr val="FF0000"/>
                </a:solidFill>
              </a:rPr>
              <a:t>Garantias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496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24" idx="3"/>
            <a:endCxn id="49" idx="1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2219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5792297" y="1942892"/>
            <a:ext cx="2508454" cy="1046126"/>
            <a:chOff x="1152347" y="1804102"/>
            <a:chExt cx="2509035" cy="1046368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1152347" y="1804102"/>
              <a:ext cx="1527982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/>
                <a:t>Métricas de Colaterais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544926" y="1942892"/>
            <a:ext cx="2134769" cy="2686094"/>
            <a:chOff x="3215652" y="1804102"/>
            <a:chExt cx="2135263" cy="268671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3215652" y="4244597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92100" y="1804102"/>
              <a:ext cx="1758815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/>
                <a:t>Métricas contrato e cliente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0768030" y="3751765"/>
            <a:ext cx="1101329" cy="415402"/>
            <a:chOff x="2752725" y="2549677"/>
            <a:chExt cx="1101584" cy="41549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752725" y="2549677"/>
              <a:ext cx="110158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/>
                <a:t>Repartição de </a:t>
              </a:r>
            </a:p>
            <a:p>
              <a:r>
                <a:rPr lang="pt-PT" sz="1050" dirty="0"/>
                <a:t>    Garantias</a:t>
              </a:r>
            </a:p>
          </p:txBody>
        </p:sp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93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07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847326" y="1300745"/>
            <a:ext cx="287933" cy="287933"/>
          </a:xfrm>
          <a:prstGeom prst="rect">
            <a:avLst/>
          </a:prstGeom>
        </p:spPr>
      </p:pic>
      <p:pic>
        <p:nvPicPr>
          <p:cNvPr id="2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597522" y="1300745"/>
            <a:ext cx="287933" cy="287933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5349001"/>
            <a:ext cx="10144302" cy="91045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30" name="Straight Connector 29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6"/>
            <a:ext cx="5280650" cy="4043871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4"/>
            <a:ext cx="4789816" cy="404878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Processo</a:t>
            </a:r>
            <a:r>
              <a:rPr lang="en-US" sz="1000" dirty="0"/>
              <a:t> Manual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5321139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grpSp>
        <p:nvGrpSpPr>
          <p:cNvPr id="51" name="Group 50"/>
          <p:cNvGrpSpPr/>
          <p:nvPr/>
        </p:nvGrpSpPr>
        <p:grpSpPr>
          <a:xfrm>
            <a:off x="6006247" y="3892081"/>
            <a:ext cx="1099726" cy="415402"/>
            <a:chOff x="3887281" y="2628000"/>
            <a:chExt cx="1099981" cy="41549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887281" y="2628000"/>
              <a:ext cx="109998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 err="1"/>
                <a:t>Gloval</a:t>
              </a:r>
              <a:r>
                <a:rPr lang="pt-PT" sz="1050" dirty="0"/>
                <a:t> imoveis </a:t>
              </a:r>
            </a:p>
            <a:p>
              <a:r>
                <a:rPr lang="pt-PT" sz="1050" dirty="0"/>
                <a:t>     sem letra</a:t>
              </a:r>
            </a:p>
          </p:txBody>
        </p:sp>
      </p:grpSp>
      <p:pic>
        <p:nvPicPr>
          <p:cNvPr id="5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07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597522" y="3235900"/>
            <a:ext cx="287933" cy="287933"/>
          </a:xfrm>
          <a:prstGeom prst="rect">
            <a:avLst/>
          </a:prstGeom>
        </p:spPr>
      </p:pic>
      <p:cxnSp>
        <p:nvCxnSpPr>
          <p:cNvPr id="5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54" idx="3"/>
            <a:endCxn id="49" idx="1"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221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1801355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Secundários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1212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79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1303" y="5327003"/>
            <a:ext cx="217555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20221021 Pillar 3 ESG - List of Paris excluded companies.xlsx</a:t>
            </a:r>
            <a:endParaRPr lang="en-US" sz="900" dirty="0"/>
          </a:p>
        </p:txBody>
      </p:sp>
      <p:sp>
        <p:nvSpPr>
          <p:cNvPr id="56" name="Rectangle 55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664263" y="5327003"/>
            <a:ext cx="1693808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20230523 Pillar 3 ESG - Physical risk.v4.xlsx</a:t>
            </a:r>
            <a:endParaRPr lang="en-US" sz="900" dirty="0"/>
          </a:p>
        </p:txBody>
      </p:sp>
      <p:sp>
        <p:nvSpPr>
          <p:cNvPr id="71" name="Rectangle 70"/>
          <p:cNvSpPr/>
          <p:nvPr/>
        </p:nvSpPr>
        <p:spPr>
          <a:xfrm>
            <a:off x="2109690" y="3877152"/>
            <a:ext cx="921834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Adjudicados</a:t>
            </a:r>
          </a:p>
        </p:txBody>
      </p:sp>
      <p:pic>
        <p:nvPicPr>
          <p:cNvPr id="7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Rectangle 73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339405" y="5759577"/>
            <a:ext cx="2876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riscos físicos associados aos colaterais imóveis.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707" y="5759578"/>
            <a:ext cx="2876265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as entidades excluídas pelo acordo de Paris.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5912712" y="5734936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125" name="Rectangle 124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</a:p>
        </p:txBody>
      </p:sp>
      <p:pic>
        <p:nvPicPr>
          <p:cNvPr id="8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641490" y="3237525"/>
            <a:ext cx="287933" cy="287933"/>
          </a:xfrm>
          <a:prstGeom prst="rect">
            <a:avLst/>
          </a:prstGeom>
        </p:spPr>
      </p:pic>
      <p:pic>
        <p:nvPicPr>
          <p:cNvPr id="92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93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pic>
        <p:nvPicPr>
          <p:cNvPr id="94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4585099"/>
            <a:ext cx="10144302" cy="1674355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0" name="Straight Connector 49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5"/>
            <a:ext cx="5280650" cy="331702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5"/>
            <a:ext cx="4789816" cy="332105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Métricas</a:t>
            </a:r>
            <a:r>
              <a:rPr lang="en-US" sz="1000" dirty="0"/>
              <a:t> </a:t>
            </a:r>
            <a:r>
              <a:rPr lang="en-US" sz="1000" dirty="0" err="1"/>
              <a:t>obtidas</a:t>
            </a:r>
            <a:r>
              <a:rPr lang="en-US" sz="1000" dirty="0"/>
              <a:t> </a:t>
            </a:r>
            <a:r>
              <a:rPr lang="en-US" sz="1000" dirty="0" err="1"/>
              <a:t>anteriormente</a:t>
            </a:r>
            <a:endParaRPr lang="en-US" sz="1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4550542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7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7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8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8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cd_captools.fr802_pl_contas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cd_captools.kt_chaves_mis</a:t>
            </a:r>
            <a:endParaRPr lang="en-US" sz="10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cxnSp>
        <p:nvCxnSpPr>
          <p:cNvPr id="3" name="Straight Connector 2"/>
          <p:cNvCxnSpPr>
            <a:stCxn id="89" idx="3"/>
            <a:endCxn id="87" idx="1"/>
          </p:cNvCxnSpPr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87" idx="3"/>
            <a:endCxn id="70" idx="2"/>
          </p:cNvCxnSpPr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90" idx="3"/>
            <a:endCxn id="88" idx="1"/>
          </p:cNvCxnSpPr>
          <p:nvPr/>
        </p:nvCxnSpPr>
        <p:spPr>
          <a:xfrm>
            <a:off x="1535272" y="3597372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88" idx="3"/>
            <a:endCxn id="80" idx="2"/>
          </p:cNvCxnSpPr>
          <p:nvPr/>
        </p:nvCxnSpPr>
        <p:spPr>
          <a:xfrm>
            <a:off x="2871961" y="3597372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Elbow Connector 105"/>
          <p:cNvCxnSpPr>
            <a:cxnSpLocks/>
            <a:endCxn id="80" idx="2"/>
          </p:cNvCxnSpPr>
          <p:nvPr/>
        </p:nvCxnSpPr>
        <p:spPr>
          <a:xfrm flipV="1">
            <a:off x="3798401" y="3597372"/>
            <a:ext cx="2388671" cy="1350723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436270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11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11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cxnSp>
        <p:nvCxnSpPr>
          <p:cNvPr id="11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83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cxnSpLocks/>
          </p:cNvCxnSpPr>
          <p:nvPr/>
        </p:nvCxnSpPr>
        <p:spPr>
          <a:xfrm>
            <a:off x="3798401" y="4948095"/>
            <a:ext cx="3863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D55035E-619B-4179-7840-19EF971667A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2248" y="4624170"/>
            <a:ext cx="647850" cy="647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519CD4-5B48-D4A6-6C2A-B49A8B6327B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50551" y="4624170"/>
            <a:ext cx="647850" cy="647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908505-2B2F-B826-D442-A6EC34C4AFF7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024" y="4585099"/>
            <a:ext cx="238885" cy="238885"/>
          </a:xfrm>
          <a:prstGeom prst="ellipse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9F6722-271E-8544-96EC-BD186B1ED51E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324" y="4585099"/>
            <a:ext cx="238885" cy="238885"/>
          </a:xfrm>
          <a:prstGeom prst="ellipse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793826398"/>
      </p:ext>
    </p:extLst>
  </p:cSld>
  <p:clrMapOvr>
    <a:masterClrMapping/>
  </p:clrMapOvr>
  <p:extLst>
    <p:ext uri="{6950BFC3-D8DA-4A85-94F7-54DA5524770B}">
      <p188:commentRel xmlns:p188="http://schemas.microsoft.com/office/powerpoint/2018/8/main" xmlns="" r:id="rId19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80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36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ectangle 36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39" name="Rectangle 38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</a:p>
        </p:txBody>
      </p:sp>
      <p:pic>
        <p:nvPicPr>
          <p:cNvPr id="42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49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cxnSp>
        <p:nvCxnSpPr>
          <p:cNvPr id="51" name="Straight Connector 50"/>
          <p:cNvCxnSpPr>
            <a:stCxn id="45" idx="3"/>
            <a:endCxn id="42" idx="1"/>
          </p:cNvCxnSpPr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2109690" y="3877152"/>
            <a:ext cx="921834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Adjudicados</a:t>
            </a:r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641490" y="3237525"/>
            <a:ext cx="287933" cy="287933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4585099"/>
            <a:ext cx="10144302" cy="1674355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8" name="Straight Connector 57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5"/>
            <a:ext cx="5280650" cy="331702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5"/>
            <a:ext cx="4789816" cy="332105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Métricas</a:t>
            </a:r>
            <a:r>
              <a:rPr lang="en-US" sz="1000" dirty="0"/>
              <a:t> </a:t>
            </a:r>
            <a:r>
              <a:rPr lang="en-US" sz="1000" dirty="0" err="1"/>
              <a:t>obtidas</a:t>
            </a:r>
            <a:r>
              <a:rPr lang="en-US" sz="1000" dirty="0"/>
              <a:t> </a:t>
            </a:r>
            <a:r>
              <a:rPr lang="en-US" sz="1000" dirty="0" err="1"/>
              <a:t>anteriormente</a:t>
            </a:r>
            <a:endParaRPr 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4550542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</a:p>
        </p:txBody>
      </p:sp>
      <p:pic>
        <p:nvPicPr>
          <p:cNvPr id="66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cxnSp>
        <p:nvCxnSpPr>
          <p:cNvPr id="68" name="Straight Connector 67"/>
          <p:cNvCxnSpPr>
            <a:stCxn id="66" idx="3"/>
          </p:cNvCxnSpPr>
          <p:nvPr/>
        </p:nvCxnSpPr>
        <p:spPr>
          <a:xfrm>
            <a:off x="1535272" y="3597372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73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74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80"/>
            <a:ext cx="2279967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  <a:endParaRPr lang="pt-PT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cd_captools.kt_chaves_mis</a:t>
            </a:r>
            <a:endParaRPr lang="en-US" sz="1000" b="1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9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436270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8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8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cxnSp>
        <p:nvCxnSpPr>
          <p:cNvPr id="84" name="Straight Connector 83"/>
          <p:cNvCxnSpPr/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83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55" idx="3"/>
            <a:endCxn id="71" idx="2"/>
          </p:cNvCxnSpPr>
          <p:nvPr/>
        </p:nvCxnSpPr>
        <p:spPr>
          <a:xfrm flipV="1">
            <a:off x="2871961" y="1664839"/>
            <a:ext cx="3315111" cy="1932534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564373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3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7" idx="6"/>
            <a:endCxn id="53" idx="1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5" y="2174880"/>
            <a:ext cx="2352166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5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 53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83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4585099"/>
            <a:ext cx="10144302" cy="1674355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5"/>
            <a:ext cx="5280650" cy="331702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5"/>
            <a:ext cx="4789816" cy="332105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Métricas</a:t>
            </a:r>
            <a:r>
              <a:rPr lang="en-US" sz="1000" dirty="0"/>
              <a:t> </a:t>
            </a:r>
            <a:r>
              <a:rPr lang="en-US" sz="1000" dirty="0" err="1"/>
              <a:t>obtidas</a:t>
            </a:r>
            <a:r>
              <a:rPr lang="en-US" sz="1000" dirty="0"/>
              <a:t> </a:t>
            </a:r>
            <a:r>
              <a:rPr lang="en-US" sz="1000" dirty="0" err="1"/>
              <a:t>anteriormente</a:t>
            </a:r>
            <a:endParaRPr lang="en-US" sz="1000" dirty="0"/>
          </a:p>
        </p:txBody>
      </p:sp>
      <p:cxnSp>
        <p:nvCxnSpPr>
          <p:cNvPr id="52" name="Straight Connector 51"/>
          <p:cNvCxnSpPr>
            <a:stCxn id="38" idx="3"/>
          </p:cNvCxnSpPr>
          <p:nvPr/>
        </p:nvCxnSpPr>
        <p:spPr>
          <a:xfrm>
            <a:off x="1535272" y="1664838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4550542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pic>
        <p:nvPicPr>
          <p:cNvPr id="63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64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677473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84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52" name="Rectangle 51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9690" y="3877152"/>
            <a:ext cx="921834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Adjudicados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641490" y="3237525"/>
            <a:ext cx="287933" cy="287933"/>
          </a:xfrm>
          <a:prstGeom prst="rect">
            <a:avLst/>
          </a:prstGeom>
        </p:spPr>
      </p:pic>
      <p:pic>
        <p:nvPicPr>
          <p:cNvPr id="7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7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pic>
        <p:nvPicPr>
          <p:cNvPr id="7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cxnSp>
        <p:nvCxnSpPr>
          <p:cNvPr id="79" name="Straight Connector 78"/>
          <p:cNvCxnSpPr>
            <a:stCxn id="67" idx="3"/>
            <a:endCxn id="57" idx="1"/>
          </p:cNvCxnSpPr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74" idx="3"/>
            <a:endCxn id="58" idx="1"/>
          </p:cNvCxnSpPr>
          <p:nvPr/>
        </p:nvCxnSpPr>
        <p:spPr>
          <a:xfrm>
            <a:off x="1535272" y="3597372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1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12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CTRLGEST</a:t>
            </a:r>
            <a:endParaRPr lang="en-US" sz="9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486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</a:t>
            </a:r>
            <a:endParaRPr lang="en-US" sz="10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4585099"/>
            <a:ext cx="10144302" cy="1674355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132" name="Straight Connector 131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5"/>
            <a:ext cx="5280650" cy="331702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5"/>
            <a:ext cx="4789816" cy="332105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Métricas</a:t>
            </a:r>
            <a:r>
              <a:rPr lang="en-US" sz="1000" dirty="0"/>
              <a:t> </a:t>
            </a:r>
            <a:r>
              <a:rPr lang="en-US" sz="1000" dirty="0" err="1"/>
              <a:t>obtidas</a:t>
            </a:r>
            <a:r>
              <a:rPr lang="en-US" sz="1000" dirty="0"/>
              <a:t> </a:t>
            </a:r>
            <a:r>
              <a:rPr lang="en-US" sz="1000" dirty="0" err="1"/>
              <a:t>anteriormente</a:t>
            </a:r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4550542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84</a:t>
            </a:r>
          </a:p>
        </p:txBody>
      </p:sp>
      <p:cxnSp>
        <p:nvCxnSpPr>
          <p:cNvPr id="141" name="Straight Connector 140"/>
          <p:cNvCxnSpPr/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51" idx="6"/>
          </p:cNvCxnSpPr>
          <p:nvPr/>
        </p:nvCxnSpPr>
        <p:spPr>
          <a:xfrm>
            <a:off x="9222323" y="1664838"/>
            <a:ext cx="1914944" cy="1764162"/>
          </a:xfrm>
          <a:prstGeom prst="bentConnector3">
            <a:avLst>
              <a:gd name="adj1" fmla="val 6163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>
            <a:off x="2871961" y="3597372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1303" y="5327003"/>
            <a:ext cx="217555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20221222 Pillar 3 ESG - eligibility ratios.v5.xlsx</a:t>
            </a:r>
            <a:endParaRPr lang="en-US" sz="9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707" y="5759577"/>
            <a:ext cx="2876265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rácios de elegibilidade para as operações CIB e não CIB.</a:t>
            </a:r>
          </a:p>
        </p:txBody>
      </p:sp>
      <p:cxnSp>
        <p:nvCxnSpPr>
          <p:cNvPr id="149" name="Elbow Connector 148"/>
          <p:cNvCxnSpPr/>
          <p:nvPr/>
        </p:nvCxnSpPr>
        <p:spPr>
          <a:xfrm rot="10800000">
            <a:off x="6187072" y="3597372"/>
            <a:ext cx="1475177" cy="1350723"/>
          </a:xfrm>
          <a:prstGeom prst="bentConnector3">
            <a:avLst>
              <a:gd name="adj1" fmla="val 18037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>
            <a:stCxn id="117" idx="6"/>
            <a:endCxn id="151" idx="2"/>
          </p:cNvCxnSpPr>
          <p:nvPr/>
        </p:nvCxnSpPr>
        <p:spPr>
          <a:xfrm>
            <a:off x="6834922" y="1664838"/>
            <a:ext cx="17395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16917A12-79FC-5AB7-B05A-4DA2A8BBC628}"/>
              </a:ext>
            </a:extLst>
          </p:cNvPr>
          <p:cNvGrpSpPr/>
          <p:nvPr/>
        </p:nvGrpSpPr>
        <p:grpSpPr>
          <a:xfrm>
            <a:off x="8176128" y="1287947"/>
            <a:ext cx="2436270" cy="2048269"/>
            <a:chOff x="8037588" y="1287947"/>
            <a:chExt cx="2436270" cy="2048269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5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6"/>
              <a:ext cx="2436270" cy="1169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cd_captools.ct003_univ_cli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 err="1"/>
                <a:t>Cd_captools.kt_chaves_mis</a:t>
              </a:r>
              <a:endParaRPr lang="en-US" sz="1000" b="1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 err="1"/>
                <a:t>cd_captools.kt_chaves_bdr</a:t>
              </a:r>
              <a:r>
                <a:rPr lang="en-US" sz="1000" b="1" dirty="0"/>
                <a:t> 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cd_captools.ct013_rwa_princ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cd_captools.ct071_rwa_gr_ec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cd_captools.ct070_univ_gr_cli</a:t>
              </a:r>
            </a:p>
          </p:txBody>
        </p:sp>
        <p:pic>
          <p:nvPicPr>
            <p:cNvPr id="15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15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6E8DA83-9C0A-144B-8141-2ED9BD69853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62248" y="4624170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D74D45-79C3-E2DE-DEB7-4A37FE37B18D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324" y="4585099"/>
            <a:ext cx="238885" cy="238885"/>
          </a:xfrm>
          <a:prstGeom prst="ellipse">
            <a:avLst/>
          </a:prstGeom>
        </p:spPr>
      </p:pic>
      <p:cxnSp>
        <p:nvCxnSpPr>
          <p:cNvPr id="4" name="Elbow Connector 148">
            <a:extLst>
              <a:ext uri="{FF2B5EF4-FFF2-40B4-BE49-F238E27FC236}">
                <a16:creationId xmlns:a16="http://schemas.microsoft.com/office/drawing/2014/main" id="{2A046BF2-C090-2B67-00BF-288886245CAE}"/>
              </a:ext>
            </a:extLst>
          </p:cNvPr>
          <p:cNvCxnSpPr>
            <a:cxnSpLocks/>
            <a:stCxn id="2" idx="1"/>
            <a:endCxn id="117" idx="2"/>
          </p:cNvCxnSpPr>
          <p:nvPr/>
        </p:nvCxnSpPr>
        <p:spPr>
          <a:xfrm rot="10800000">
            <a:off x="6187072" y="1664839"/>
            <a:ext cx="1475176" cy="3283257"/>
          </a:xfrm>
          <a:prstGeom prst="bentConnector3">
            <a:avLst>
              <a:gd name="adj1" fmla="val 180469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9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666129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93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76" name="Rectangle 75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</a:p>
        </p:txBody>
      </p:sp>
      <p:pic>
        <p:nvPicPr>
          <p:cNvPr id="7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8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pic>
        <p:nvPicPr>
          <p:cNvPr id="92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5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9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1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102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cd_captools.ct071_rwa_gr_ec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cd_captools.ct070_univ_gr_cli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cd_captools.ct003_univ_cli</a:t>
            </a:r>
            <a:endParaRPr lang="en-US" sz="1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pic>
        <p:nvPicPr>
          <p:cNvPr id="107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" name="Rectangle 107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93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1303" y="5327003"/>
            <a:ext cx="217555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20230519 Pillar 3 ESG - Emissions data Post-Feb.xlsx</a:t>
            </a:r>
            <a:endParaRPr lang="en-US" sz="9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707" y="5759578"/>
            <a:ext cx="2876265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as emissões das operações do banco.</a:t>
            </a:r>
          </a:p>
        </p:txBody>
      </p:sp>
      <p:cxnSp>
        <p:nvCxnSpPr>
          <p:cNvPr id="112" name="Straight Connector 111"/>
          <p:cNvCxnSpPr/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4585099"/>
            <a:ext cx="10144302" cy="1674355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115" name="Straight Connector 11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5"/>
            <a:ext cx="5280650" cy="331702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5"/>
            <a:ext cx="4789816" cy="332105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Métricas</a:t>
            </a:r>
            <a:r>
              <a:rPr lang="en-US" sz="1000" dirty="0"/>
              <a:t> </a:t>
            </a:r>
            <a:r>
              <a:rPr lang="en-US" sz="1000" dirty="0" err="1"/>
              <a:t>obtidas</a:t>
            </a:r>
            <a:r>
              <a:rPr lang="en-US" sz="1000" dirty="0"/>
              <a:t> </a:t>
            </a:r>
            <a:r>
              <a:rPr lang="en-US" sz="1000" dirty="0" err="1"/>
              <a:t>anteriormente</a:t>
            </a:r>
            <a:endParaRPr lang="en-US" sz="10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4550542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cxnSp>
        <p:nvCxnSpPr>
          <p:cNvPr id="122" name="Straight Connector 121"/>
          <p:cNvCxnSpPr/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3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80" idx="3"/>
          </p:cNvCxnSpPr>
          <p:nvPr/>
        </p:nvCxnSpPr>
        <p:spPr>
          <a:xfrm>
            <a:off x="1535272" y="3597372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Elbow Connector 125"/>
          <p:cNvCxnSpPr/>
          <p:nvPr/>
        </p:nvCxnSpPr>
        <p:spPr>
          <a:xfrm rot="10800000">
            <a:off x="6187072" y="3597372"/>
            <a:ext cx="1475177" cy="1350723"/>
          </a:xfrm>
          <a:prstGeom prst="bentConnector3">
            <a:avLst>
              <a:gd name="adj1" fmla="val 18037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750641D-8D53-EE85-A218-446079E47C5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2248" y="4624170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885CC6-4C38-BFFE-1639-3B363E6B502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324" y="4585099"/>
            <a:ext cx="238885" cy="238885"/>
          </a:xfrm>
          <a:prstGeom prst="ellipse">
            <a:avLst/>
          </a:prstGeom>
        </p:spPr>
      </p:pic>
      <p:cxnSp>
        <p:nvCxnSpPr>
          <p:cNvPr id="4" name="Elbow Connector 148">
            <a:extLst>
              <a:ext uri="{FF2B5EF4-FFF2-40B4-BE49-F238E27FC236}">
                <a16:creationId xmlns:a16="http://schemas.microsoft.com/office/drawing/2014/main" id="{3C050778-D5AC-E446-2FFC-24CF624D7649}"/>
              </a:ext>
            </a:extLst>
          </p:cNvPr>
          <p:cNvCxnSpPr>
            <a:cxnSpLocks/>
          </p:cNvCxnSpPr>
          <p:nvPr/>
        </p:nvCxnSpPr>
        <p:spPr>
          <a:xfrm rot="10800000">
            <a:off x="6187072" y="1664839"/>
            <a:ext cx="1475176" cy="3283257"/>
          </a:xfrm>
          <a:prstGeom prst="bentConnector3">
            <a:avLst>
              <a:gd name="adj1" fmla="val 180469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3305522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75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 BS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 BS" id="{423A8E32-BBFD-4BD3-AA33-22AAA9B35801}" vid="{06EFB12C-3F03-4E75-BBCC-C8FC2823E7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5A6BCA4ACA584C9A1C03FD3956D51C" ma:contentTypeVersion="16" ma:contentTypeDescription="Criar um novo documento." ma:contentTypeScope="" ma:versionID="25cd4bb1aaf04bf7c36d581853a12fbf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2898a58c724212c25df4c06f581a570c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67058B4-3383-4D07-94D7-4EF4630B67D1}"/>
</file>

<file path=customXml/itemProps2.xml><?xml version="1.0" encoding="utf-8"?>
<ds:datastoreItem xmlns:ds="http://schemas.openxmlformats.org/officeDocument/2006/customXml" ds:itemID="{F67A0D80-8A2B-474B-87A5-11F9E4344C6A}"/>
</file>

<file path=customXml/itemProps3.xml><?xml version="1.0" encoding="utf-8"?>
<ds:datastoreItem xmlns:ds="http://schemas.openxmlformats.org/officeDocument/2006/customXml" ds:itemID="{EB2B0D02-6FCE-4691-AC0D-AF0813E8088F}"/>
</file>

<file path=docProps/app.xml><?xml version="1.0" encoding="utf-8"?>
<Properties xmlns="http://schemas.openxmlformats.org/officeDocument/2006/extended-properties" xmlns:vt="http://schemas.openxmlformats.org/officeDocument/2006/docPropsVTypes">
  <Template>Theme BS</Template>
  <TotalTime>374</TotalTime>
  <Words>1044</Words>
  <Application>Microsoft Office PowerPoint</Application>
  <PresentationFormat>Widescreen</PresentationFormat>
  <Paragraphs>430</Paragraphs>
  <Slides>29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Santander Text</vt:lpstr>
      <vt:lpstr>Santander Text Light</vt:lpstr>
      <vt:lpstr>Theme BS</vt:lpstr>
      <vt:lpstr>think-cell Slide</vt:lpstr>
      <vt:lpstr>Fluxo de Dados</vt:lpstr>
      <vt:lpstr>PowerPoint Presentation</vt:lpstr>
      <vt:lpstr>Símbolos</vt:lpstr>
      <vt:lpstr>PowerPoint Presentation</vt:lpstr>
      <vt:lpstr>PowerPoint Presentation</vt:lpstr>
      <vt:lpstr>Governance </vt:lpstr>
      <vt:lpstr>PowerPoint Presentation</vt:lpstr>
      <vt:lpstr>Fluxos Comuns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Primários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Secundários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de Dados</dc:title>
  <dc:creator>João Pedro Alexandre Pires de Carvalho</dc:creator>
  <cp:lastModifiedBy>João Pedro Alexandre Pires de Carvalho</cp:lastModifiedBy>
  <cp:revision>3</cp:revision>
  <dcterms:created xsi:type="dcterms:W3CDTF">2023-06-28T11:37:37Z</dcterms:created>
  <dcterms:modified xsi:type="dcterms:W3CDTF">2023-06-29T08:43:45Z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2023-06-28T11:38:29Z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b6b05ac1-930d-4af0-93fb-75e9a7d9fc40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0x010100845A6BCA4ACA584C9A1C03FD3956D51C</vt:lpwstr>
  </property>
</Properties>
</file>