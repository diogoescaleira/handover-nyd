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1E_2276B348.xml" ContentType="application/vnd.ms-powerpoint.comments+xml"/>
  <Override PartName="/ppt/comments/modernComment_111_27737CFD.xml" ContentType="application/vnd.ms-powerpoint.comments+xml"/>
  <Override PartName="/ppt/comments/modernComment_112_F9FE6780.xml" ContentType="application/vnd.ms-powerpoint.comments+xml"/>
  <Override PartName="/ppt/comments/modernComment_114_776B72A7.xml" ContentType="application/vnd.ms-powerpoint.comments+xml"/>
  <Override PartName="/ppt/comments/modernComment_115_CD76FB9F.xml" ContentType="application/vnd.ms-powerpoint.comments+xml"/>
  <Override PartName="/ppt/comments/modernComment_118_E221325E.xml" ContentType="application/vnd.ms-powerpoint.comment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sldIdLst>
    <p:sldId id="257" r:id="rId5"/>
    <p:sldId id="258" r:id="rId6"/>
    <p:sldId id="259" r:id="rId7"/>
    <p:sldId id="260" r:id="rId8"/>
    <p:sldId id="261" r:id="rId9"/>
    <p:sldId id="262" r:id="rId10"/>
    <p:sldId id="28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7A726-351F-AC51-3650-C06BCA5CB59A}" name="Freire, Catarina Lopes" initials="FCL" userId="S::cfreire@neyond.pt::ddca15c1-05cd-4dd1-99e2-6430845d1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9F"/>
    <a:srgbClr val="F3F3F3"/>
    <a:srgbClr val="FFD9D9"/>
    <a:srgbClr val="FFC5C5"/>
    <a:srgbClr val="FFF3F3"/>
    <a:srgbClr val="FF8181"/>
    <a:srgbClr val="FF5353"/>
    <a:srgbClr val="FA0000"/>
    <a:srgbClr val="FF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CE049-56C1-4955-9ABF-242315834EEB}" v="41" dt="2023-06-29T09:18:28.999"/>
    <p1510:client id="{D8CF1DC2-EEC5-4997-8D83-B2B1689A3E64}" v="38" dt="2023-06-28T17:16:03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8" d="100"/>
          <a:sy n="338" d="100"/>
        </p:scale>
        <p:origin x="-15101" y="-57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1E_2276B3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619850-ED12-4110-AD31-996474AA9775}" authorId="{DDB7A726-351F-AC51-3650-C06BCA5CB59A}" created="2023-06-28T21:03:54.389">
    <pc:sldMkLst xmlns:pc="http://schemas.microsoft.com/office/powerpoint/2013/main/command">
      <pc:docMk/>
      <pc:sldMk cId="578204488" sldId="286"/>
    </pc:sldMkLst>
    <p188:txBody>
      <a:bodyPr/>
      <a:lstStyle/>
      <a:p>
        <a:r>
          <a:rPr lang="en-US"/>
          <a:t>Retirei a legendas e os simbolos no canto superior esquerdo porque não fazem match com o conteúdo deste slide</a:t>
        </a:r>
      </a:p>
    </p188:txBody>
  </p188:cm>
</p188:cmLst>
</file>

<file path=ppt/comments/modernComment_111_27737C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A60716-78FB-40E2-9643-6255E81D043D}" authorId="{DDB7A726-351F-AC51-3650-C06BCA5CB59A}" created="2023-06-28T20:44:25.685">
    <pc:sldMkLst xmlns:pc="http://schemas.microsoft.com/office/powerpoint/2013/main/command">
      <pc:docMk/>
      <pc:sldMk cId="661880061" sldId="273"/>
    </pc:sldMkLst>
    <p188:txBody>
      <a:bodyPr/>
      <a:lstStyle/>
      <a:p>
        <a:r>
          <a:rPr lang="en-US"/>
          <a:t>Nos slides do capítulo "Fluxos comuns" não temos processo da base de dados de GARANTIAS e ESTRUTURAIS. Não deveriamos ter para manter coerência?</a:t>
        </a:r>
      </a:p>
    </p188:txBody>
  </p188:cm>
</p188:cmLst>
</file>

<file path=ppt/comments/modernComment_112_F9FE67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DEC64A-EBF3-49DF-B376-701F9CDB602E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comments/modernComment_114_776B72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BF8338-0688-4146-B87C-0AEAC3EC7849}" authorId="{DDB7A726-351F-AC51-3650-C06BCA5CB59A}" created="2023-06-28T20:36:07.416">
    <pc:sldMkLst xmlns:pc="http://schemas.microsoft.com/office/powerpoint/2013/main/command">
      <pc:docMk/>
      <pc:sldMk cId="2003530407" sldId="276"/>
    </pc:sldMkLst>
    <p188:replyLst>
      <p188:reply id="{11726330-84AD-4066-B338-7516E1C52C47}" authorId="{DDB7A726-351F-AC51-3650-C06BCA5CB59A}" created="2023-06-28T20:36:20.211">
        <p188:txBody>
          <a:bodyPr/>
          <a:lstStyle/>
          <a:p>
            <a:r>
              <a:rPr lang="en-US"/>
              <a:t>Processos manuais têm que ter o simbolo da pessoazinha (ver legenda)</a:t>
            </a:r>
          </a:p>
        </p188:txBody>
      </p188:reply>
      <p188:reply id="{A2817FE7-6589-4357-9FB9-683C0DBA19FC}" authorId="{DDB7A726-351F-AC51-3650-C06BCA5CB59A}" created="2023-06-28T21:05:32.677">
        <p188:txBody>
          <a:bodyPr/>
          <a:lstStyle/>
          <a:p>
            <a:r>
              <a:rPr lang="en-US"/>
              <a:t>Os exceis que estão identificados nos processos manuais não são inpits corporativos? Reparei que a secção de inputs corporativos está vazia em todos os slides deste capítulo. Qual o objetivo da sua criação?</a:t>
            </a:r>
          </a:p>
        </p188:txBody>
      </p188:reply>
    </p188:replyLst>
    <p188:txBody>
      <a:bodyPr/>
      <a:lstStyle/>
      <a:p>
        <a:r>
          <a:rPr lang="en-US"/>
          <a:t>2 exceis com nome igual</a:t>
        </a:r>
      </a:p>
    </p188:txBody>
  </p188:cm>
</p188:cmLst>
</file>

<file path=ppt/comments/modernComment_115_CD76FB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883E38-B327-46D2-BF9E-A6EBC74C7FDD}" authorId="{DDB7A726-351F-AC51-3650-C06BCA5CB59A}" created="2023-06-28T20:36:34.840">
    <pc:sldMkLst xmlns:pc="http://schemas.microsoft.com/office/powerpoint/2013/main/command">
      <pc:docMk/>
      <pc:sldMk cId="3447126943" sldId="277"/>
    </pc:sldMkLst>
    <p188:replyLst>
      <p188:reply id="{F35FE6ED-959F-4313-ABD4-E4CBF7BDE243}" authorId="{DDB7A726-351F-AC51-3650-C06BCA5CB59A}" created="2023-06-28T20:37:52.928">
        <p188:txBody>
          <a:bodyPr/>
          <a:lstStyle/>
          <a:p>
            <a:r>
              <a:rPr lang="en-US"/>
              <a:t>Eu substitui todos os "possui" por "contém". Possuir significa ter posse de . É mais usado para pessoas com posse do que documentos que contêm informação</a:t>
            </a:r>
          </a:p>
        </p188:txBody>
      </p188:reply>
    </p188:replyLst>
    <p188:txBody>
      <a:bodyPr/>
      <a:lstStyle/>
      <a:p>
        <a:r>
          <a:rPr lang="en-US"/>
          <a:t>Processos manuais têm que ter o simbolo da pessoazinha (ver legenda)</a:t>
        </a:r>
      </a:p>
    </p188:txBody>
  </p188:cm>
  <p188:cm id="{D5CFAEB1-4221-436D-9ACB-501592C08954}" authorId="{DDB7A726-351F-AC51-3650-C06BCA5CB59A}" created="2023-06-28T20:38:53.5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47126943" sldId="277"/>
      <ac:spMk id="173" creationId="{00000000-0000-0000-0000-000000000000}"/>
    </ac:deMkLst>
    <p188:txBody>
      <a:bodyPr/>
      <a:lstStyle/>
      <a:p>
        <a:r>
          <a:rPr lang="en-US"/>
          <a:t>A métrica Gloval imóveis sem letra depende de que ficheiros? Comparativamente com as métricas adjudicados ? Ou é um input para as métricas de adjudicados? Fica confuso o sentido das setas</a:t>
        </a:r>
      </a:p>
    </p188:txBody>
  </p188:cm>
  <p188:cm id="{7FC3907F-74B7-43FB-BC30-A0B5CC2D73AD}" authorId="{DDB7A726-351F-AC51-3650-C06BCA5CB59A}" created="2023-06-28T20:55:38.4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47126943" sldId="277"/>
      <ac:spMk id="86" creationId="{F91FC4B8-A24D-4672-B416-1ED8AA9B6D21}"/>
    </ac:deMkLst>
    <p188:txBody>
      <a:bodyPr/>
      <a:lstStyle/>
      <a:p>
        <a:r>
          <a:rPr lang="en-US"/>
          <a:t>Gloval imóveis sem letra deveria ser "modelação de dados"?</a:t>
        </a:r>
      </a:p>
    </p188:txBody>
  </p188:cm>
</p188:cmLst>
</file>

<file path=ppt/comments/modernComment_118_E22132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FAFCFC-CCD3-4080-B903-65A3376D4895}" authorId="{DDB7A726-351F-AC51-3650-C06BCA5CB59A}" created="2023-06-28T20:40:53.015">
    <pc:sldMkLst xmlns:pc="http://schemas.microsoft.com/office/powerpoint/2013/main/command">
      <pc:docMk/>
      <pc:sldMk cId="3793826398" sldId="280"/>
    </pc:sldMkLst>
    <p188:txBody>
      <a:bodyPr/>
      <a:lstStyle/>
      <a:p>
        <a:r>
          <a:rPr lang="en-US"/>
          <a:t>Qual o significado de métricas obtidas anteriormente vs modelação de dados ? Ou seja a CAPTOOLS e  CTRLGEST vão ser modelados apenas nesta fase para geração do tabela, partindo de cruzamentos de dados om o universo full e repartição de garantias?</a:t>
        </a:r>
      </a:p>
    </p188:txBody>
  </p188:cm>
</p188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29/06/2023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744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492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21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967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7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 dirty="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xmlns="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77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29/06/2023</a:t>
            </a:fld>
            <a:endParaRPr lang="pt-P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6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2276B348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6.xml"/><Relationship Id="rId7" Type="http://schemas.openxmlformats.org/officeDocument/2006/relationships/image" Target="../media/image16.svg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11" Type="http://schemas.openxmlformats.org/officeDocument/2006/relationships/image" Target="../media/image14.sv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4.xml"/><Relationship Id="rId7" Type="http://schemas.openxmlformats.org/officeDocument/2006/relationships/image" Target="../media/image14.svg"/><Relationship Id="rId12" Type="http://schemas.openxmlformats.org/officeDocument/2006/relationships/image" Target="../media/image13.png"/><Relationship Id="rId2" Type="http://schemas.openxmlformats.org/officeDocument/2006/relationships/tags" Target="../tags/tag13.xml"/><Relationship Id="rId16" Type="http://schemas.openxmlformats.org/officeDocument/2006/relationships/image" Target="../media/image16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15" Type="http://schemas.openxmlformats.org/officeDocument/2006/relationships/image" Target="../media/image19.png"/><Relationship Id="rId10" Type="http://schemas.openxmlformats.org/officeDocument/2006/relationships/image" Target="../media/image28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6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2" Type="http://schemas.openxmlformats.org/officeDocument/2006/relationships/tags" Target="../tags/tag19.xml"/><Relationship Id="rId16" Type="http://schemas.microsoft.com/office/2018/10/relationships/comments" Target="../comments/modernComment_111_27737CFD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0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5.png"/><Relationship Id="rId3" Type="http://schemas.openxmlformats.org/officeDocument/2006/relationships/tags" Target="../tags/tag22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21.xml"/><Relationship Id="rId16" Type="http://schemas.microsoft.com/office/2018/10/relationships/comments" Target="../comments/modernComment_112_F9FE6780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3" Type="http://schemas.openxmlformats.org/officeDocument/2006/relationships/tags" Target="../tags/tag24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18" Type="http://schemas.microsoft.com/office/2018/10/relationships/comments" Target="../comments/modernComment_114_776B72A7.xml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30.png"/><Relationship Id="rId2" Type="http://schemas.openxmlformats.org/officeDocument/2006/relationships/tags" Target="../tags/tag25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svg"/><Relationship Id="rId18" Type="http://schemas.microsoft.com/office/2018/10/relationships/comments" Target="../comments/modernComment_115_CD76FB9F.xml"/><Relationship Id="rId3" Type="http://schemas.openxmlformats.org/officeDocument/2006/relationships/tags" Target="../tags/tag28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14.png"/><Relationship Id="rId2" Type="http://schemas.openxmlformats.org/officeDocument/2006/relationships/tags" Target="../tags/tag27.xml"/><Relationship Id="rId16" Type="http://schemas.openxmlformats.org/officeDocument/2006/relationships/image" Target="../media/image20.sv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4.xml"/><Relationship Id="rId15" Type="http://schemas.openxmlformats.org/officeDocument/2006/relationships/image" Target="../media/image29.png"/><Relationship Id="rId10" Type="http://schemas.openxmlformats.org/officeDocument/2006/relationships/image" Target="../media/image14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svg"/><Relationship Id="rId18" Type="http://schemas.openxmlformats.org/officeDocument/2006/relationships/image" Target="../media/image30.pn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17" Type="http://schemas.openxmlformats.org/officeDocument/2006/relationships/image" Target="../media/image8.png"/><Relationship Id="rId2" Type="http://schemas.openxmlformats.org/officeDocument/2006/relationships/tags" Target="../tags/tag31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6.xml"/><Relationship Id="rId15" Type="http://schemas.openxmlformats.org/officeDocument/2006/relationships/image" Target="../media/image16.png"/><Relationship Id="rId10" Type="http://schemas.openxmlformats.org/officeDocument/2006/relationships/image" Target="../media/image29.png"/><Relationship Id="rId19" Type="http://schemas.microsoft.com/office/2018/10/relationships/comments" Target="../comments/modernComment_118_E221325E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5.png"/><Relationship Id="rId1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svg"/><Relationship Id="rId3" Type="http://schemas.openxmlformats.org/officeDocument/2006/relationships/tags" Target="../tags/tag34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33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7.xml"/><Relationship Id="rId15" Type="http://schemas.openxmlformats.org/officeDocument/2006/relationships/image" Target="../media/image16.png"/><Relationship Id="rId10" Type="http://schemas.openxmlformats.org/officeDocument/2006/relationships/image" Target="../media/image2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5.png"/><Relationship Id="rId1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3.png"/><Relationship Id="rId3" Type="http://schemas.openxmlformats.org/officeDocument/2006/relationships/tags" Target="../tags/tag36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2" Type="http://schemas.openxmlformats.org/officeDocument/2006/relationships/tags" Target="../tags/tag35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18.xml"/><Relationship Id="rId15" Type="http://schemas.openxmlformats.org/officeDocument/2006/relationships/image" Target="../media/image16.pn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18" Type="http://schemas.openxmlformats.org/officeDocument/2006/relationships/image" Target="../media/image23.png"/><Relationship Id="rId3" Type="http://schemas.openxmlformats.org/officeDocument/2006/relationships/tags" Target="../tags/tag38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17" Type="http://schemas.openxmlformats.org/officeDocument/2006/relationships/image" Target="../media/image30.png"/><Relationship Id="rId2" Type="http://schemas.openxmlformats.org/officeDocument/2006/relationships/tags" Target="../tags/tag37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19.xml"/><Relationship Id="rId15" Type="http://schemas.openxmlformats.org/officeDocument/2006/relationships/image" Target="../media/image22.sv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18" Type="http://schemas.openxmlformats.org/officeDocument/2006/relationships/image" Target="../media/image30.png"/><Relationship Id="rId3" Type="http://schemas.openxmlformats.org/officeDocument/2006/relationships/tags" Target="../tags/tag40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17" Type="http://schemas.openxmlformats.org/officeDocument/2006/relationships/image" Target="../media/image8.png"/><Relationship Id="rId2" Type="http://schemas.openxmlformats.org/officeDocument/2006/relationships/tags" Target="../tags/tag39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22.sv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err="1"/>
              <a:t>Neyond</a:t>
            </a:r>
            <a:r>
              <a:rPr lang="pt-PT" dirty="0"/>
              <a:t> – BS | Pilar III ESG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30/06/2023</a:t>
            </a:r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/>
              <a:t>Símbolos</a:t>
            </a:r>
          </a:p>
          <a:p>
            <a:r>
              <a:rPr lang="pt-PT" i="1" dirty="0" err="1"/>
              <a:t>Governance</a:t>
            </a:r>
            <a:endParaRPr lang="pt-PT" i="1" dirty="0"/>
          </a:p>
          <a:p>
            <a:r>
              <a:rPr lang="pt-PT" dirty="0"/>
              <a:t>Fluxos Comuns</a:t>
            </a:r>
          </a:p>
          <a:p>
            <a:r>
              <a:rPr lang="pt-PT" dirty="0"/>
              <a:t>Fluxos Primários</a:t>
            </a:r>
          </a:p>
          <a:p>
            <a:r>
              <a:rPr lang="pt-PT" dirty="0"/>
              <a:t>Fluxos Secundários</a:t>
            </a:r>
          </a:p>
          <a:p>
            <a:pPr marL="35992" indent="0">
              <a:buNone/>
            </a:pPr>
            <a:endParaRPr lang="pt-PT" dirty="0"/>
          </a:p>
          <a:p>
            <a:pPr marL="35992" indent="0">
              <a:buNone/>
            </a:pPr>
            <a:endParaRPr lang="pt-PT" i="1" dirty="0"/>
          </a:p>
          <a:p>
            <a:endParaRPr lang="pt-PT" dirty="0"/>
          </a:p>
          <a:p>
            <a:pPr marL="35992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</a:t>
            </a:r>
            <a:r>
              <a:rPr lang="es-ES" sz="1600" b="1" dirty="0" err="1">
                <a:solidFill>
                  <a:srgbClr val="FF0000"/>
                </a:solidFill>
              </a:rPr>
              <a:t>Operacionais</a:t>
            </a:r>
            <a:r>
              <a:rPr lang="es-ES" sz="1600" b="1" dirty="0">
                <a:solidFill>
                  <a:srgbClr val="FF0000"/>
                </a:solidFill>
              </a:rPr>
              <a:t>, Sistemas </a:t>
            </a:r>
            <a:r>
              <a:rPr lang="es-ES" sz="1600" b="1" dirty="0" err="1">
                <a:solidFill>
                  <a:srgbClr val="FF0000"/>
                </a:solidFill>
              </a:rPr>
              <a:t>Informacionais</a:t>
            </a:r>
            <a:r>
              <a:rPr lang="es-ES" sz="1600" b="1" dirty="0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1BCD1D6-0AC4-FF4C-FE48-10C714B15227}"/>
              </a:ext>
            </a:extLst>
          </p:cNvPr>
          <p:cNvGrpSpPr/>
          <p:nvPr/>
        </p:nvGrpSpPr>
        <p:grpSpPr>
          <a:xfrm>
            <a:off x="5017157" y="3556471"/>
            <a:ext cx="719833" cy="939191"/>
            <a:chOff x="9555954" y="2584086"/>
            <a:chExt cx="720000" cy="939408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B3885A85-4AD3-6D3B-A01B-CAE2918FA69C}"/>
                </a:ext>
              </a:extLst>
            </p:cNvPr>
            <p:cNvSpPr txBox="1"/>
            <p:nvPr/>
          </p:nvSpPr>
          <p:spPr>
            <a:xfrm>
              <a:off x="955595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CRM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9BC00-12EE-96C8-9248-23BF879FE2D4}"/>
                </a:ext>
              </a:extLst>
            </p:cNvPr>
            <p:cNvGrpSpPr/>
            <p:nvPr/>
          </p:nvGrpSpPr>
          <p:grpSpPr>
            <a:xfrm>
              <a:off x="9574173" y="2584086"/>
              <a:ext cx="648000" cy="648000"/>
              <a:chOff x="455122" y="4977513"/>
              <a:chExt cx="648000" cy="64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EF40B0-EE14-E9CB-3FCD-E0BEBAA34B5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6F98DDD-782C-3C41-1DE0-BEF414F2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199A6E-3CB9-0C54-FFE8-8658E3D7B7B6}"/>
              </a:ext>
            </a:extLst>
          </p:cNvPr>
          <p:cNvGrpSpPr/>
          <p:nvPr/>
        </p:nvGrpSpPr>
        <p:grpSpPr>
          <a:xfrm>
            <a:off x="7268846" y="2449952"/>
            <a:ext cx="719833" cy="939191"/>
            <a:chOff x="7268323" y="2584086"/>
            <a:chExt cx="720000" cy="939408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323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327" y="2584086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2486FD-80B4-59AE-E05F-D1D849FF3E97}"/>
              </a:ext>
            </a:extLst>
          </p:cNvPr>
          <p:cNvGrpSpPr/>
          <p:nvPr/>
        </p:nvGrpSpPr>
        <p:grpSpPr>
          <a:xfrm>
            <a:off x="4908028" y="2367753"/>
            <a:ext cx="863800" cy="1077659"/>
            <a:chOff x="4918099" y="2584086"/>
            <a:chExt cx="864000" cy="1077908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18099" y="3292662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Controlo</a:t>
              </a:r>
              <a:r>
                <a:rPr lang="en-US" sz="900" dirty="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42481" y="2584086"/>
              <a:ext cx="648000" cy="64800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099441-DEB0-1D58-5279-D22923F7618B}"/>
              </a:ext>
            </a:extLst>
          </p:cNvPr>
          <p:cNvGrpSpPr/>
          <p:nvPr/>
        </p:nvGrpSpPr>
        <p:grpSpPr>
          <a:xfrm>
            <a:off x="2659096" y="3566901"/>
            <a:ext cx="827808" cy="968982"/>
            <a:chOff x="2657506" y="3814311"/>
            <a:chExt cx="828000" cy="96920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49EF82-965D-5820-79A2-E49868B1C054}"/>
                </a:ext>
              </a:extLst>
            </p:cNvPr>
            <p:cNvSpPr txBox="1"/>
            <p:nvPr/>
          </p:nvSpPr>
          <p:spPr>
            <a:xfrm>
              <a:off x="2657506" y="4552685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CRISTINE II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55FB48B-2239-44DA-B570-16225119A418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74565F-705B-EF9B-EB93-211EEDE4641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9" name="Graphic 48" descr="Database with solid fill">
                <a:extLst>
                  <a:ext uri="{FF2B5EF4-FFF2-40B4-BE49-F238E27FC236}">
                    <a16:creationId xmlns:a16="http://schemas.microsoft.com/office/drawing/2014/main" id="{29EDDD1C-B625-1942-7FA3-306A142A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ConsolS</a:t>
              </a:r>
              <a:endParaRPr lang="en-US" sz="9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076E94-5BE3-E3C4-0DE1-96C193E1494E}"/>
              </a:ext>
            </a:extLst>
          </p:cNvPr>
          <p:cNvGrpSpPr/>
          <p:nvPr/>
        </p:nvGrpSpPr>
        <p:grpSpPr>
          <a:xfrm>
            <a:off x="6135556" y="2354790"/>
            <a:ext cx="796450" cy="1034354"/>
            <a:chOff x="6134770" y="2488901"/>
            <a:chExt cx="796634" cy="1034593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4770" y="3292662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Riscos</a:t>
              </a:r>
              <a:endParaRPr lang="en-US" sz="9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5404" y="2584086"/>
              <a:ext cx="648000" cy="64800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6643404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DC291DD-3434-DB82-5E97-B95152CDB80A}"/>
              </a:ext>
            </a:extLst>
          </p:cNvPr>
          <p:cNvGrpSpPr/>
          <p:nvPr/>
        </p:nvGrpSpPr>
        <p:grpSpPr>
          <a:xfrm>
            <a:off x="3910858" y="2354790"/>
            <a:ext cx="755825" cy="1034354"/>
            <a:chOff x="3909558" y="2488901"/>
            <a:chExt cx="756000" cy="1034593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5499EF-7378-1CC6-857F-DA5C5C7DA3AF}"/>
              </a:ext>
            </a:extLst>
          </p:cNvPr>
          <p:cNvGrpSpPr/>
          <p:nvPr/>
        </p:nvGrpSpPr>
        <p:grpSpPr>
          <a:xfrm>
            <a:off x="2778198" y="2354790"/>
            <a:ext cx="735863" cy="1034354"/>
            <a:chOff x="2776635" y="2488901"/>
            <a:chExt cx="736033" cy="10345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7795" y="3292662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6635" y="2584086"/>
              <a:ext cx="648000" cy="64800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2466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3EAD0A-456A-7FC2-C0EA-10C3F0C7A4E6}"/>
              </a:ext>
            </a:extLst>
          </p:cNvPr>
          <p:cNvGrpSpPr/>
          <p:nvPr/>
        </p:nvGrpSpPr>
        <p:grpSpPr>
          <a:xfrm>
            <a:off x="512877" y="2354790"/>
            <a:ext cx="744861" cy="1034354"/>
            <a:chOff x="510789" y="2488901"/>
            <a:chExt cx="745033" cy="10345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09110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0789" y="2584086"/>
              <a:ext cx="648000" cy="64800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BB18944-2731-C28D-BE8A-13B2F14D0696}"/>
              </a:ext>
            </a:extLst>
          </p:cNvPr>
          <p:cNvGrpSpPr/>
          <p:nvPr/>
        </p:nvGrpSpPr>
        <p:grpSpPr>
          <a:xfrm>
            <a:off x="1645537" y="2354790"/>
            <a:ext cx="748674" cy="1034354"/>
            <a:chOff x="1643712" y="2488901"/>
            <a:chExt cx="748847" cy="103459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3142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3712" y="2584086"/>
              <a:ext cx="648000" cy="64800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104559" y="2488901"/>
              <a:ext cx="288000" cy="288000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55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1A10C5C-9786-51D9-855F-AE204EEC8D0B}"/>
              </a:ext>
            </a:extLst>
          </p:cNvPr>
          <p:cNvGrpSpPr/>
          <p:nvPr/>
        </p:nvGrpSpPr>
        <p:grpSpPr>
          <a:xfrm>
            <a:off x="8424584" y="2354790"/>
            <a:ext cx="772744" cy="1034354"/>
            <a:chOff x="8424327" y="2488901"/>
            <a:chExt cx="772923" cy="1034593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D8E5FD-709C-9E1D-7BF7-ED2C3F848F4A}"/>
              </a:ext>
            </a:extLst>
          </p:cNvPr>
          <p:cNvGrpSpPr/>
          <p:nvPr/>
        </p:nvGrpSpPr>
        <p:grpSpPr>
          <a:xfrm>
            <a:off x="402684" y="3438132"/>
            <a:ext cx="863800" cy="1097751"/>
            <a:chOff x="400572" y="3685512"/>
            <a:chExt cx="864000" cy="10980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287035F-70DD-C85A-6190-A7808F17333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38DC5C-5FB2-425F-5231-DE5743DE56AC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854E57-47F6-0316-DCA8-185453247B5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910A2CAC-3B4E-5F0A-ACE6-3459D4FA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0" name="Graphic 159" descr="Single gear outline">
              <a:extLst>
                <a:ext uri="{FF2B5EF4-FFF2-40B4-BE49-F238E27FC236}">
                  <a16:creationId xmlns:a16="http://schemas.microsoft.com/office/drawing/2014/main" id="{B747AC7A-0ACB-0D20-5D0A-3934D28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64" name="Imagen 18">
              <a:extLst>
                <a:ext uri="{FF2B5EF4-FFF2-40B4-BE49-F238E27FC236}">
                  <a16:creationId xmlns:a16="http://schemas.microsoft.com/office/drawing/2014/main" id="{291A18E5-E655-208D-FD18-F597E8295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0E70162-9779-FEB4-0891-B2EAFC3B3B17}"/>
              </a:ext>
            </a:extLst>
          </p:cNvPr>
          <p:cNvGrpSpPr/>
          <p:nvPr/>
        </p:nvGrpSpPr>
        <p:grpSpPr>
          <a:xfrm>
            <a:off x="1645432" y="3438132"/>
            <a:ext cx="735999" cy="1097751"/>
            <a:chOff x="1643606" y="3685512"/>
            <a:chExt cx="736169" cy="10980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7E8F40-5E0E-C84B-D5EC-300BBD71368F}"/>
                </a:ext>
              </a:extLst>
            </p:cNvPr>
            <p:cNvSpPr txBox="1"/>
            <p:nvPr/>
          </p:nvSpPr>
          <p:spPr>
            <a:xfrm>
              <a:off x="1731775" y="4552685"/>
              <a:ext cx="50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8C3BCC-C516-5B52-A361-5CEB96E38462}"/>
                </a:ext>
              </a:extLst>
            </p:cNvPr>
            <p:cNvGrpSpPr/>
            <p:nvPr/>
          </p:nvGrpSpPr>
          <p:grpSpPr>
            <a:xfrm>
              <a:off x="1643712" y="3814311"/>
              <a:ext cx="648000" cy="648000"/>
              <a:chOff x="455122" y="4977513"/>
              <a:chExt cx="648000" cy="64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E26504-2E01-E33F-68F2-BDD0D5A43942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" name="Graphic 22" descr="Database with solid fill">
                <a:extLst>
                  <a:ext uri="{FF2B5EF4-FFF2-40B4-BE49-F238E27FC236}">
                    <a16:creationId xmlns:a16="http://schemas.microsoft.com/office/drawing/2014/main" id="{4283FAC4-F54B-E41D-1931-2CC714EEB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1" name="Graphic 160" descr="Single gear outline">
              <a:extLst>
                <a:ext uri="{FF2B5EF4-FFF2-40B4-BE49-F238E27FC236}">
                  <a16:creationId xmlns:a16="http://schemas.microsoft.com/office/drawing/2014/main" id="{F4510D8A-9685-31E5-DF8F-12C392B0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91775" y="3685512"/>
              <a:ext cx="288000" cy="288000"/>
            </a:xfrm>
            <a:prstGeom prst="rect">
              <a:avLst/>
            </a:prstGeom>
          </p:spPr>
        </p:pic>
        <p:pic>
          <p:nvPicPr>
            <p:cNvPr id="165" name="Imagen 18">
              <a:extLst>
                <a:ext uri="{FF2B5EF4-FFF2-40B4-BE49-F238E27FC236}">
                  <a16:creationId xmlns:a16="http://schemas.microsoft.com/office/drawing/2014/main" id="{A5254EE5-6A6D-A712-8838-2EBF54B5E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606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1018AC-6274-4DDF-A884-1E514EB90BA6}"/>
              </a:ext>
            </a:extLst>
          </p:cNvPr>
          <p:cNvGrpSpPr/>
          <p:nvPr/>
        </p:nvGrpSpPr>
        <p:grpSpPr>
          <a:xfrm>
            <a:off x="3868404" y="3542902"/>
            <a:ext cx="827808" cy="965378"/>
            <a:chOff x="2707009" y="3814311"/>
            <a:chExt cx="828000" cy="965601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E26243C-CF8B-49FB-90F6-CE5BA6CA4CF9}"/>
                </a:ext>
              </a:extLst>
            </p:cNvPr>
            <p:cNvSpPr txBox="1"/>
            <p:nvPr/>
          </p:nvSpPr>
          <p:spPr>
            <a:xfrm>
              <a:off x="2707009" y="4549080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MARS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B27635E-F257-459D-8687-7E6006272D64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7BDAD7E-4C9C-4AC5-A24C-4801E127E01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5" name="Graphic 204" descr="Database with solid fill">
                <a:extLst>
                  <a:ext uri="{FF2B5EF4-FFF2-40B4-BE49-F238E27FC236}">
                    <a16:creationId xmlns:a16="http://schemas.microsoft.com/office/drawing/2014/main" id="{F87057EB-5DCE-4629-81E9-AFC333500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7" y="2428627"/>
            <a:ext cx="241113" cy="241113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CDEEA41-5A62-450E-B029-83A9C6A126E6}"/>
              </a:ext>
            </a:extLst>
          </p:cNvPr>
          <p:cNvGrpSpPr/>
          <p:nvPr/>
        </p:nvGrpSpPr>
        <p:grpSpPr>
          <a:xfrm>
            <a:off x="11011187" y="2274101"/>
            <a:ext cx="827808" cy="966865"/>
            <a:chOff x="9506709" y="1353861"/>
            <a:chExt cx="828000" cy="96708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D51F73-04A4-4AB3-A883-E3FEA371115C}"/>
              </a:ext>
            </a:extLst>
          </p:cNvPr>
          <p:cNvGrpSpPr/>
          <p:nvPr/>
        </p:nvGrpSpPr>
        <p:grpSpPr>
          <a:xfrm>
            <a:off x="5701106" y="3468858"/>
            <a:ext cx="1680501" cy="1033910"/>
            <a:chOff x="7982884" y="2488901"/>
            <a:chExt cx="1680890" cy="1034149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B8E7D-47C1-401B-BDF1-EBE426D70622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ServiceNow</a:t>
              </a:r>
              <a:endParaRPr lang="en-US" sz="900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EF51205-3C0E-44FE-9AC6-21204C8F6DBE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3EBA4E7-DB8D-46FF-8A1C-1BC18915B633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3" name="Graphic 222" descr="Database with solid fill">
                <a:extLst>
                  <a:ext uri="{FF2B5EF4-FFF2-40B4-BE49-F238E27FC236}">
                    <a16:creationId xmlns:a16="http://schemas.microsoft.com/office/drawing/2014/main" id="{1C7B6A82-1C25-4015-B27D-4F406DD50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20" name="Graphic 219" descr="Single gear outline">
              <a:extLst>
                <a:ext uri="{FF2B5EF4-FFF2-40B4-BE49-F238E27FC236}">
                  <a16:creationId xmlns:a16="http://schemas.microsoft.com/office/drawing/2014/main" id="{522BAC32-C537-40B4-A43C-3595287B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221" name="Imagen 18">
              <a:extLst>
                <a:ext uri="{FF2B5EF4-FFF2-40B4-BE49-F238E27FC236}">
                  <a16:creationId xmlns:a16="http://schemas.microsoft.com/office/drawing/2014/main" id="{5D43E741-6CBE-4C90-9EC7-08E3B56E1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92F9A8-1950-4390-9C06-EA28EC35FA49}"/>
              </a:ext>
            </a:extLst>
          </p:cNvPr>
          <p:cNvGrpSpPr/>
          <p:nvPr/>
        </p:nvGrpSpPr>
        <p:grpSpPr>
          <a:xfrm>
            <a:off x="10103726" y="2265206"/>
            <a:ext cx="827808" cy="1243800"/>
            <a:chOff x="9506709" y="1353861"/>
            <a:chExt cx="828000" cy="1244088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Microsoft </a:t>
              </a:r>
            </a:p>
            <a:p>
              <a:pPr algn="ctr"/>
              <a:r>
                <a:rPr lang="pt-PT" sz="900" dirty="0"/>
                <a:t>Active Directory</a:t>
              </a:r>
              <a:endParaRPr lang="en-US" sz="9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08AF3C-CC7B-4C3D-9563-6F40EC78FA57}"/>
              </a:ext>
            </a:extLst>
          </p:cNvPr>
          <p:cNvGrpSpPr/>
          <p:nvPr/>
        </p:nvGrpSpPr>
        <p:grpSpPr>
          <a:xfrm>
            <a:off x="10978285" y="3413408"/>
            <a:ext cx="827808" cy="1105333"/>
            <a:chOff x="9506709" y="1353861"/>
            <a:chExt cx="828000" cy="1105589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7405D6C-B1BB-4DDB-BF19-EAAD4754CED7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SERVIÇO FRAUDE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EA2551-9F14-4511-B743-6540E3A1A481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2" name="Oval 2">
                <a:extLst>
                  <a:ext uri="{FF2B5EF4-FFF2-40B4-BE49-F238E27FC236}">
                    <a16:creationId xmlns:a16="http://schemas.microsoft.com/office/drawing/2014/main" id="{C104A1E0-7EE0-4BB5-8818-2B7C83B1404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3" name="Graphic 232" descr="Server with solid fill">
                <a:extLst>
                  <a:ext uri="{FF2B5EF4-FFF2-40B4-BE49-F238E27FC236}">
                    <a16:creationId xmlns:a16="http://schemas.microsoft.com/office/drawing/2014/main" id="{3CF97295-60AF-4FB5-8387-274C8D790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495629" y="3324891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0826"/>
            <a:ext cx="241113" cy="241113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A5C4EF-F6E2-496F-87C5-7C8139FA13F8}"/>
              </a:ext>
            </a:extLst>
          </p:cNvPr>
          <p:cNvGrpSpPr/>
          <p:nvPr/>
        </p:nvGrpSpPr>
        <p:grpSpPr>
          <a:xfrm>
            <a:off x="9252108" y="2298175"/>
            <a:ext cx="827808" cy="966865"/>
            <a:chOff x="9506709" y="1353861"/>
            <a:chExt cx="828000" cy="967089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23" y="2291915"/>
            <a:ext cx="257724" cy="293227"/>
          </a:xfrm>
          <a:prstGeom prst="ellipse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52B8B1-CD97-7CF9-6862-364828D0E273}"/>
              </a:ext>
            </a:extLst>
          </p:cNvPr>
          <p:cNvGrpSpPr/>
          <p:nvPr/>
        </p:nvGrpSpPr>
        <p:grpSpPr>
          <a:xfrm>
            <a:off x="6839700" y="3425270"/>
            <a:ext cx="1680501" cy="1033910"/>
            <a:chOff x="7982884" y="2488901"/>
            <a:chExt cx="1680890" cy="103414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93C162-D8C4-D319-FC08-DEB5E838B41B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ConsolS</a:t>
              </a:r>
              <a:endParaRPr lang="en-US" sz="900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A2EC1C4-EB10-DBF7-991A-D88DA7315D88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9C0000-0579-FF41-9FC9-FA4E621B09E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0" name="Graphic 59" descr="Database with solid fill">
                <a:extLst>
                  <a:ext uri="{FF2B5EF4-FFF2-40B4-BE49-F238E27FC236}">
                    <a16:creationId xmlns:a16="http://schemas.microsoft.com/office/drawing/2014/main" id="{1D742A0A-D4AD-78A8-831F-8D164368C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57" name="Graphic 56" descr="Single gear outline">
              <a:extLst>
                <a:ext uri="{FF2B5EF4-FFF2-40B4-BE49-F238E27FC236}">
                  <a16:creationId xmlns:a16="http://schemas.microsoft.com/office/drawing/2014/main" id="{676FF3D2-0838-AC7B-94C8-64843479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58" name="Imagen 18">
              <a:extLst>
                <a:ext uri="{FF2B5EF4-FFF2-40B4-BE49-F238E27FC236}">
                  <a16:creationId xmlns:a16="http://schemas.microsoft.com/office/drawing/2014/main" id="{D59B127A-128A-ADE1-C7A9-4AA3A4A1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47B10F-1054-0675-391F-36E4862D117C}"/>
              </a:ext>
            </a:extLst>
          </p:cNvPr>
          <p:cNvGrpSpPr/>
          <p:nvPr/>
        </p:nvGrpSpPr>
        <p:grpSpPr>
          <a:xfrm>
            <a:off x="8838203" y="3500027"/>
            <a:ext cx="827808" cy="966865"/>
            <a:chOff x="9506709" y="1353861"/>
            <a:chExt cx="828000" cy="96708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5A3059-3AF1-B827-5952-348A9C821B86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PGR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9E6C668-7A1F-4B78-80BC-3976567530E7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4" name="Oval 2">
                <a:extLst>
                  <a:ext uri="{FF2B5EF4-FFF2-40B4-BE49-F238E27FC236}">
                    <a16:creationId xmlns:a16="http://schemas.microsoft.com/office/drawing/2014/main" id="{139BB48F-D15D-D126-3597-6C9F0196E35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8" name="Graphic 87" descr="Server with solid fill">
                <a:extLst>
                  <a:ext uri="{FF2B5EF4-FFF2-40B4-BE49-F238E27FC236}">
                    <a16:creationId xmlns:a16="http://schemas.microsoft.com/office/drawing/2014/main" id="{2F763CB8-0880-898A-2BD4-368E788EF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322668" y="3420054"/>
            <a:ext cx="287933" cy="287933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AC34084-B569-11CB-583D-A7A2C77EA48C}"/>
              </a:ext>
            </a:extLst>
          </p:cNvPr>
          <p:cNvGrpSpPr/>
          <p:nvPr/>
        </p:nvGrpSpPr>
        <p:grpSpPr>
          <a:xfrm>
            <a:off x="9838630" y="3524780"/>
            <a:ext cx="827808" cy="966865"/>
            <a:chOff x="9506709" y="1353861"/>
            <a:chExt cx="828000" cy="967089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99CED-F50D-F0E8-88D7-9B92395348C0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REMEDY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E7FC424-C916-4469-FF1F-72173975A2AD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99" name="Oval 2">
                <a:extLst>
                  <a:ext uri="{FF2B5EF4-FFF2-40B4-BE49-F238E27FC236}">
                    <a16:creationId xmlns:a16="http://schemas.microsoft.com/office/drawing/2014/main" id="{4C376069-0FE5-FE76-464B-8DCD3DB42C2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3" name="Graphic 102" descr="Server with solid fill">
                <a:extLst>
                  <a:ext uri="{FF2B5EF4-FFF2-40B4-BE49-F238E27FC236}">
                    <a16:creationId xmlns:a16="http://schemas.microsoft.com/office/drawing/2014/main" id="{C1A7134E-930B-D459-BB45-A004018B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 err="1">
                <a:solidFill>
                  <a:srgbClr val="FF0000"/>
                </a:solidFill>
              </a:rPr>
              <a:t>Processos</a:t>
            </a:r>
            <a:r>
              <a:rPr lang="es-ES" sz="1600" b="1" dirty="0">
                <a:solidFill>
                  <a:srgbClr val="FF0000"/>
                </a:solidFill>
              </a:rPr>
              <a:t>, Output, EUC, </a:t>
            </a:r>
            <a:r>
              <a:rPr lang="es-ES" sz="1600" b="1" dirty="0" err="1">
                <a:solidFill>
                  <a:srgbClr val="FF0000"/>
                </a:solidFill>
              </a:rPr>
              <a:t>Fontes</a:t>
            </a:r>
            <a:r>
              <a:rPr lang="es-ES" sz="1600" b="1" dirty="0">
                <a:solidFill>
                  <a:srgbClr val="FF0000"/>
                </a:solidFill>
              </a:rPr>
              <a:t> Externas, </a:t>
            </a:r>
            <a:r>
              <a:rPr lang="es-ES" sz="1600" b="1" dirty="0" err="1">
                <a:solidFill>
                  <a:srgbClr val="FF0000"/>
                </a:solidFill>
              </a:rPr>
              <a:t>Fonte</a:t>
            </a:r>
            <a:r>
              <a:rPr lang="es-ES" sz="1600" b="1" dirty="0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BPNet</a:t>
            </a:r>
            <a:endParaRPr lang="en-US" sz="1000" dirty="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848903" y="1381475"/>
            <a:ext cx="827808" cy="905612"/>
            <a:chOff x="5848052" y="1381795"/>
            <a:chExt cx="828000" cy="905822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78920" y="1381795"/>
              <a:ext cx="648000" cy="648000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5848052" y="204139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Ficheiro</a:t>
              </a:r>
              <a:r>
                <a:rPr lang="en-US" sz="900" dirty="0"/>
                <a:t>.xls</a:t>
              </a:r>
            </a:p>
          </p:txBody>
        </p:sp>
      </p:grp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29974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814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40924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93073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Corporação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7947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Métrica</a:t>
            </a:r>
            <a:endParaRPr lang="en-US" sz="1000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36832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2698378" y="2596558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40924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QlikSense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52217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96558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52217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9690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32746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27330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 err="1"/>
              <a:t>Governance</a:t>
            </a:r>
            <a:r>
              <a:rPr lang="pt-PT" dirty="0"/>
              <a:t/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88BF3-703A-BB75-1389-2AD8B2E03CAF}"/>
              </a:ext>
            </a:extLst>
          </p:cNvPr>
          <p:cNvSpPr/>
          <p:nvPr/>
        </p:nvSpPr>
        <p:spPr>
          <a:xfrm>
            <a:off x="3471828" y="1805556"/>
            <a:ext cx="130159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1. Envio de </a:t>
            </a:r>
            <a:r>
              <a:rPr lang="pt-PT" sz="1000" b="1" i="1" dirty="0">
                <a:latin typeface="+mj-lt"/>
              </a:rPr>
              <a:t>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B1048-3568-E9D0-1CA5-56935CD3A138}"/>
              </a:ext>
            </a:extLst>
          </p:cNvPr>
          <p:cNvSpPr/>
          <p:nvPr/>
        </p:nvSpPr>
        <p:spPr>
          <a:xfrm>
            <a:off x="3129535" y="2302440"/>
            <a:ext cx="878766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2. Geração </a:t>
            </a:r>
          </a:p>
          <a:p>
            <a:pPr algn="ctr"/>
            <a:r>
              <a:rPr lang="pt-PT" sz="1000" b="1" dirty="0">
                <a:latin typeface="+mj-lt"/>
              </a:rPr>
              <a:t>de satélites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5354-0DC8-AF6E-8385-8A86C440578D}"/>
              </a:ext>
            </a:extLst>
          </p:cNvPr>
          <p:cNvSpPr/>
          <p:nvPr/>
        </p:nvSpPr>
        <p:spPr>
          <a:xfrm>
            <a:off x="2668701" y="2878043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 dirty="0">
                <a:latin typeface="+mj-lt"/>
              </a:rPr>
              <a:t>3. </a:t>
            </a:r>
            <a:r>
              <a:rPr lang="pt-PT" sz="1000" b="1" dirty="0">
                <a:latin typeface="+mj-lt"/>
              </a:rPr>
              <a:t>Validação de satélites corporativos</a:t>
            </a:r>
          </a:p>
          <a:p>
            <a:pPr defTabSz="914034">
              <a:defRPr/>
            </a:pPr>
            <a:endParaRPr lang="pt-PT" sz="1000" kern="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D4C61-1B0B-B40A-D091-1D03E777D273}"/>
              </a:ext>
            </a:extLst>
          </p:cNvPr>
          <p:cNvSpPr/>
          <p:nvPr/>
        </p:nvSpPr>
        <p:spPr>
          <a:xfrm>
            <a:off x="1621154" y="3761304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4. </a:t>
            </a:r>
            <a:r>
              <a:rPr lang="pt-PT" sz="1000" b="1" kern="0" dirty="0">
                <a:latin typeface="+mj-lt"/>
              </a:rPr>
              <a:t>Geração dos </a:t>
            </a:r>
            <a:r>
              <a:rPr lang="pt-PT" sz="1000" b="1" i="1" kern="0" dirty="0" err="1">
                <a:latin typeface="+mj-lt"/>
              </a:rPr>
              <a:t>templates</a:t>
            </a:r>
            <a:r>
              <a:rPr lang="pt-PT" sz="1000" b="1" i="1" kern="0" dirty="0">
                <a:latin typeface="+mj-lt"/>
              </a:rPr>
              <a:t> </a:t>
            </a:r>
            <a:r>
              <a:rPr lang="pt-PT" sz="1000" b="1" kern="0" dirty="0">
                <a:latin typeface="+mj-lt"/>
              </a:rPr>
              <a:t>locais</a:t>
            </a:r>
            <a:endParaRPr lang="pt-PT" sz="1000" b="1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A46C7-9C13-B7DA-B618-C61F2BD50D7B}"/>
              </a:ext>
            </a:extLst>
          </p:cNvPr>
          <p:cNvSpPr/>
          <p:nvPr/>
        </p:nvSpPr>
        <p:spPr>
          <a:xfrm>
            <a:off x="1500572" y="4452165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5. Validação dos </a:t>
            </a:r>
            <a:r>
              <a:rPr lang="pt-PT" sz="1000" b="1" i="1" dirty="0" err="1">
                <a:latin typeface="+mj-lt"/>
              </a:rPr>
              <a:t>templates</a:t>
            </a:r>
            <a:r>
              <a:rPr lang="pt-PT" sz="1000" b="1" dirty="0">
                <a:latin typeface="+mj-lt"/>
              </a:rPr>
              <a:t> locais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EBAE9-0132-F2DB-52B4-C2157D5B2B38}"/>
              </a:ext>
            </a:extLst>
          </p:cNvPr>
          <p:cNvSpPr/>
          <p:nvPr/>
        </p:nvSpPr>
        <p:spPr>
          <a:xfrm>
            <a:off x="5484700" y="4290032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232000" tIns="0" rIns="108000" bIns="0" rtlCol="0" anchor="ctr">
            <a:noAutofit/>
          </a:bodyPr>
          <a:lstStyle/>
          <a:p>
            <a:pPr lvl="1" defTabSz="1375089"/>
            <a:r>
              <a:rPr lang="pt-PT" sz="800" dirty="0">
                <a:latin typeface="+mj-lt"/>
              </a:rPr>
              <a:t>1. Validação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i="1" dirty="0">
                <a:latin typeface="+mj-lt"/>
              </a:rPr>
              <a:t> </a:t>
            </a:r>
            <a:r>
              <a:rPr lang="pt-PT" sz="800" dirty="0">
                <a:latin typeface="+mj-lt"/>
              </a:rPr>
              <a:t>locais através de conciliações com o departamento de Contabilidade.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1CB54-7693-9AEB-44B7-3F2D4E836CB0}"/>
              </a:ext>
            </a:extLst>
          </p:cNvPr>
          <p:cNvSpPr/>
          <p:nvPr/>
        </p:nvSpPr>
        <p:spPr>
          <a:xfrm>
            <a:off x="5484700" y="361027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728000" tIns="0" rIns="108000" bIns="108000" rtlCol="0" anchor="ctr">
            <a:noAutofit/>
          </a:bodyPr>
          <a:lstStyle/>
          <a:p>
            <a:pPr lvl="1" defTabSz="1375089"/>
            <a:endParaRPr lang="pt-PT" sz="800" dirty="0">
              <a:latin typeface="+mj-lt"/>
            </a:endParaRP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Geração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i="1" dirty="0">
                <a:latin typeface="+mj-lt"/>
              </a:rPr>
              <a:t> </a:t>
            </a:r>
            <a:r>
              <a:rPr lang="pt-PT" sz="800" dirty="0">
                <a:latin typeface="+mj-lt"/>
              </a:rPr>
              <a:t>locais.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516D-43BC-49D4-3A1B-03C639042EC0}"/>
              </a:ext>
            </a:extLst>
          </p:cNvPr>
          <p:cNvSpPr/>
          <p:nvPr/>
        </p:nvSpPr>
        <p:spPr>
          <a:xfrm>
            <a:off x="5484700" y="293051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152000" tIns="0" rIns="108000" bIns="0" rtlCol="0" anchor="ctr">
            <a:noAutofit/>
          </a:bodyPr>
          <a:lstStyle/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Validação das combinações de elementos contabilísticos e ESG presentes nos </a:t>
            </a:r>
            <a:r>
              <a:rPr lang="pt-PT" sz="800" dirty="0" err="1">
                <a:latin typeface="+mj-lt"/>
              </a:rPr>
              <a:t>IDCOMBs</a:t>
            </a:r>
            <a:r>
              <a:rPr lang="pt-PT" sz="800" dirty="0">
                <a:latin typeface="+mj-lt"/>
              </a:rPr>
              <a:t> dos satélites.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9024C-6D3B-46F1-AC26-27CD19164EA8}"/>
              </a:ext>
            </a:extLst>
          </p:cNvPr>
          <p:cNvSpPr/>
          <p:nvPr/>
        </p:nvSpPr>
        <p:spPr>
          <a:xfrm>
            <a:off x="5484700" y="2250754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92000" tIns="0" rIns="108000" bIns="0" rtlCol="0" anchor="ctr">
            <a:noAutofit/>
          </a:bodyPr>
          <a:lstStyle/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Modelação de dados provenientes dos inputs para obtenção de métricas necessárias à geração dos satélites.</a:t>
            </a: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Geração dos satélites incorporando as </a:t>
            </a:r>
            <a:r>
              <a:rPr lang="pt-PT" sz="800" i="1" dirty="0" err="1">
                <a:latin typeface="+mj-lt"/>
              </a:rPr>
              <a:t>guidelines</a:t>
            </a:r>
            <a:r>
              <a:rPr lang="pt-PT" sz="800" dirty="0">
                <a:latin typeface="+mj-lt"/>
              </a:rPr>
              <a:t> da Corporação.</a:t>
            </a: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Submissão dos satélites gerados para a Corporação.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40D88-7A06-7A6D-7260-F9B08BC23B9E}"/>
              </a:ext>
            </a:extLst>
          </p:cNvPr>
          <p:cNvSpPr/>
          <p:nvPr/>
        </p:nvSpPr>
        <p:spPr>
          <a:xfrm>
            <a:off x="5484700" y="1570360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576000" tIns="0" rIns="108000" bIns="71983" rtlCol="0" anchor="ctr">
            <a:noAutofit/>
          </a:bodyPr>
          <a:lstStyle/>
          <a:p>
            <a:pPr defTabSz="1375089"/>
            <a:endParaRPr lang="pt-PT" sz="800" dirty="0">
              <a:latin typeface="+mj-lt"/>
            </a:endParaRPr>
          </a:p>
          <a:p>
            <a:pPr marL="228554" indent="-228554" defTabSz="1375089">
              <a:buFontTx/>
              <a:buAutoNum type="arabicPeriod"/>
            </a:pPr>
            <a:r>
              <a:rPr lang="pt-PT" sz="800" dirty="0">
                <a:latin typeface="+mj-lt"/>
              </a:rPr>
              <a:t>Envio dos ficheiros “</a:t>
            </a:r>
            <a:r>
              <a:rPr lang="pt-PT" sz="800" dirty="0" err="1">
                <a:latin typeface="+mj-lt"/>
              </a:rPr>
              <a:t>xlsx</a:t>
            </a:r>
            <a:r>
              <a:rPr lang="pt-PT" sz="800" dirty="0">
                <a:latin typeface="+mj-lt"/>
              </a:rPr>
              <a:t>”  auxiliares aos satélites e ficheiros com os </a:t>
            </a:r>
            <a:r>
              <a:rPr lang="pt-PT" sz="800" dirty="0" err="1">
                <a:latin typeface="+mj-lt"/>
              </a:rPr>
              <a:t>IDCOMBs</a:t>
            </a:r>
            <a:r>
              <a:rPr lang="pt-PT" sz="800" dirty="0">
                <a:latin typeface="+mj-lt"/>
              </a:rPr>
              <a:t> dos satélites por parte da Corporação para a </a:t>
            </a:r>
            <a:r>
              <a:rPr lang="pt-PT" sz="800" dirty="0" smtClean="0">
                <a:latin typeface="+mj-lt"/>
              </a:rPr>
              <a:t>equipa de Green </a:t>
            </a:r>
            <a:r>
              <a:rPr lang="pt-PT" sz="800" dirty="0" err="1" smtClean="0">
                <a:latin typeface="+mj-lt"/>
              </a:rPr>
              <a:t>Finance</a:t>
            </a:r>
            <a:r>
              <a:rPr lang="pt-PT" sz="800" dirty="0" smtClean="0">
                <a:latin typeface="+mj-lt"/>
              </a:rPr>
              <a:t>.</a:t>
            </a:r>
            <a:endParaRPr lang="pt-PT" sz="800" dirty="0">
              <a:highlight>
                <a:srgbClr val="FFFF00"/>
              </a:highlight>
              <a:latin typeface="+mj-lt"/>
            </a:endParaRPr>
          </a:p>
          <a:p>
            <a:pPr marL="228554" indent="-228554" defTabSz="1375089">
              <a:buFontTx/>
              <a:buAutoNum type="arabicPeriod"/>
            </a:pPr>
            <a:r>
              <a:rPr lang="pt-PT" sz="800" dirty="0">
                <a:latin typeface="+mj-lt"/>
              </a:rPr>
              <a:t>Envio dos ficheiros “</a:t>
            </a:r>
            <a:r>
              <a:rPr lang="pt-PT" sz="800" dirty="0" err="1">
                <a:latin typeface="+mj-lt"/>
              </a:rPr>
              <a:t>xlsx</a:t>
            </a:r>
            <a:r>
              <a:rPr lang="pt-PT" sz="800" dirty="0">
                <a:latin typeface="+mj-lt"/>
              </a:rPr>
              <a:t>” relativos aos adjudicados por parte do departamento de Contabilidade e Desinvestimento para </a:t>
            </a:r>
            <a:r>
              <a:rPr lang="pt-PT" sz="800" dirty="0"/>
              <a:t>a equipa de Green </a:t>
            </a:r>
            <a:r>
              <a:rPr lang="pt-PT" sz="800" dirty="0" err="1"/>
              <a:t>Finance</a:t>
            </a:r>
            <a:r>
              <a:rPr lang="pt-PT" sz="800" dirty="0"/>
              <a:t>.</a:t>
            </a:r>
            <a:endParaRPr lang="pt-PT" sz="800" dirty="0">
              <a:highlight>
                <a:srgbClr val="FFFF00"/>
              </a:highlight>
            </a:endParaRPr>
          </a:p>
          <a:p>
            <a:pPr defTabSz="1375089"/>
            <a:r>
              <a:rPr lang="pt-PT" sz="1000" dirty="0" smtClean="0">
                <a:latin typeface="+mj-lt"/>
              </a:rPr>
              <a:t> </a:t>
            </a:r>
            <a:endParaRPr lang="pt-PT" sz="1000" dirty="0">
              <a:latin typeface="+mj-lt"/>
            </a:endParaRP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B36A6A7-F983-3A7F-CA8A-2D38B5FE9AFF}"/>
              </a:ext>
            </a:extLst>
          </p:cNvPr>
          <p:cNvSpPr/>
          <p:nvPr/>
        </p:nvSpPr>
        <p:spPr>
          <a:xfrm>
            <a:off x="4485134" y="2250754"/>
            <a:ext cx="2012484" cy="642996"/>
          </a:xfrm>
          <a:prstGeom prst="trapezoid">
            <a:avLst>
              <a:gd name="adj" fmla="val 77144"/>
            </a:avLst>
          </a:prstGeom>
          <a:solidFill>
            <a:srgbClr val="FF535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EB491EC7-BA90-5E47-25CF-697A9ED53D74}"/>
              </a:ext>
            </a:extLst>
          </p:cNvPr>
          <p:cNvSpPr/>
          <p:nvPr/>
        </p:nvSpPr>
        <p:spPr>
          <a:xfrm>
            <a:off x="4998761" y="1570360"/>
            <a:ext cx="979099" cy="643629"/>
          </a:xfrm>
          <a:prstGeom prst="trapezoid">
            <a:avLst>
              <a:gd name="adj" fmla="val 93230"/>
            </a:avLst>
          </a:prstGeom>
          <a:solidFill>
            <a:srgbClr val="FA00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95CEF503-DED4-6BAC-FA15-00F1E3093A5E}"/>
              </a:ext>
            </a:extLst>
          </p:cNvPr>
          <p:cNvSpPr/>
          <p:nvPr/>
        </p:nvSpPr>
        <p:spPr>
          <a:xfrm>
            <a:off x="3964555" y="2930513"/>
            <a:ext cx="3053643" cy="642996"/>
          </a:xfrm>
          <a:prstGeom prst="trapezoid">
            <a:avLst>
              <a:gd name="adj" fmla="val 76861"/>
            </a:avLst>
          </a:prstGeom>
          <a:solidFill>
            <a:srgbClr val="FF818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0F73E-C80C-3516-22FE-1CBCE901F66F}"/>
              </a:ext>
            </a:extLst>
          </p:cNvPr>
          <p:cNvSpPr/>
          <p:nvPr/>
        </p:nvSpPr>
        <p:spPr>
          <a:xfrm>
            <a:off x="973644" y="5143023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6. </a:t>
            </a:r>
            <a:r>
              <a:rPr lang="pt-PT" sz="1000" b="1" kern="0" dirty="0">
                <a:latin typeface="+mj-lt"/>
              </a:rPr>
              <a:t>Documentação</a:t>
            </a:r>
            <a:endParaRPr lang="pt-PT" sz="1000" b="1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A2BAF-F4BD-E17D-F139-1E5115512D70}"/>
              </a:ext>
            </a:extLst>
          </p:cNvPr>
          <p:cNvSpPr/>
          <p:nvPr/>
        </p:nvSpPr>
        <p:spPr>
          <a:xfrm>
            <a:off x="5484700" y="4969791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808000" tIns="0" rIns="108000" bIns="0" rtlCol="0" anchor="ctr">
            <a:noAutofit/>
          </a:bodyPr>
          <a:lstStyle/>
          <a:p>
            <a:pPr lvl="1" defTabSz="1375089"/>
            <a:r>
              <a:rPr lang="pt-PT" sz="800" dirty="0">
                <a:latin typeface="+mj-lt"/>
              </a:rPr>
              <a:t>1. Documentação dos processos desenvolvidos para geração dos satélites e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dirty="0">
                <a:latin typeface="+mj-lt"/>
              </a:rPr>
              <a:t> locais.</a:t>
            </a: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4B73AB0B-8799-0D20-48A0-963EADC02633}"/>
              </a:ext>
            </a:extLst>
          </p:cNvPr>
          <p:cNvSpPr/>
          <p:nvPr/>
        </p:nvSpPr>
        <p:spPr>
          <a:xfrm>
            <a:off x="2396467" y="3610273"/>
            <a:ext cx="6170771" cy="2002514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AA751-7401-0375-4A8F-3A0A31DD17C8}"/>
              </a:ext>
            </a:extLst>
          </p:cNvPr>
          <p:cNvCxnSpPr>
            <a:cxnSpLocks/>
          </p:cNvCxnSpPr>
          <p:nvPr/>
        </p:nvCxnSpPr>
        <p:spPr>
          <a:xfrm flipH="1">
            <a:off x="2183907" y="1570361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0FE24-4BC1-756F-0B9B-2BC40F06AD17}"/>
              </a:ext>
            </a:extLst>
          </p:cNvPr>
          <p:cNvSpPr/>
          <p:nvPr/>
        </p:nvSpPr>
        <p:spPr>
          <a:xfrm rot="18464285">
            <a:off x="3097676" y="3589661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Atividades</a:t>
            </a:r>
            <a:endParaRPr lang="pt-PT" sz="1000" b="1" i="1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15064-5266-555B-64B3-F6FB8C7D4991}"/>
              </a:ext>
            </a:extLst>
          </p:cNvPr>
          <p:cNvSpPr/>
          <p:nvPr/>
        </p:nvSpPr>
        <p:spPr>
          <a:xfrm rot="19357493">
            <a:off x="7060286" y="1113438"/>
            <a:ext cx="154800" cy="4967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277F3-BEC6-22DF-5826-E5F2B335714C}"/>
              </a:ext>
            </a:extLst>
          </p:cNvPr>
          <p:cNvSpPr/>
          <p:nvPr/>
        </p:nvSpPr>
        <p:spPr>
          <a:xfrm rot="3165747">
            <a:off x="6502645" y="3720850"/>
            <a:ext cx="164571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i="1" dirty="0">
                <a:latin typeface="+mj-lt"/>
              </a:rPr>
              <a:t>Descrição (</a:t>
            </a:r>
            <a:r>
              <a:rPr lang="pt-PT" sz="1000" b="1" i="1" dirty="0" err="1">
                <a:latin typeface="+mj-lt"/>
              </a:rPr>
              <a:t>High</a:t>
            </a:r>
            <a:r>
              <a:rPr lang="pt-PT" sz="1000" b="1" i="1" dirty="0">
                <a:latin typeface="+mj-lt"/>
              </a:rPr>
              <a:t> </a:t>
            </a:r>
            <a:r>
              <a:rPr lang="pt-PT" sz="1000" b="1" i="1" dirty="0" err="1">
                <a:latin typeface="+mj-lt"/>
              </a:rPr>
              <a:t>Level</a:t>
            </a:r>
            <a:r>
              <a:rPr lang="pt-PT" sz="1000" b="1" i="1" dirty="0">
                <a:latin typeface="+mj-lt"/>
              </a:rPr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01E6F2-5509-87CC-EF02-357B109142E4}"/>
              </a:ext>
            </a:extLst>
          </p:cNvPr>
          <p:cNvCxnSpPr>
            <a:cxnSpLocks/>
          </p:cNvCxnSpPr>
          <p:nvPr/>
        </p:nvCxnSpPr>
        <p:spPr>
          <a:xfrm>
            <a:off x="2396467" y="5695318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B5C70-9D8B-4DBE-5A54-D3A916A18DCA}"/>
              </a:ext>
            </a:extLst>
          </p:cNvPr>
          <p:cNvSpPr/>
          <p:nvPr/>
        </p:nvSpPr>
        <p:spPr>
          <a:xfrm>
            <a:off x="4967985" y="5655009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Responsável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E23C5-B5F2-5DB2-B13D-0D7448375258}"/>
              </a:ext>
            </a:extLst>
          </p:cNvPr>
          <p:cNvSpPr/>
          <p:nvPr/>
        </p:nvSpPr>
        <p:spPr>
          <a:xfrm>
            <a:off x="5165125" y="1785229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Internos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BA96A5-F700-3FA7-4DAA-EE89224BC042}"/>
              </a:ext>
            </a:extLst>
          </p:cNvPr>
          <p:cNvSpPr/>
          <p:nvPr/>
        </p:nvSpPr>
        <p:spPr>
          <a:xfrm>
            <a:off x="5165125" y="240348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Green </a:t>
            </a:r>
            <a:r>
              <a:rPr lang="pt-PT" sz="1050" b="1" kern="0" dirty="0" err="1">
                <a:solidFill>
                  <a:schemeClr val="bg1"/>
                </a:solidFill>
                <a:latin typeface="+mj-lt"/>
              </a:rPr>
              <a:t>Finance</a:t>
            </a:r>
            <a:endParaRPr lang="pt-PT" sz="1050" b="1" kern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CC605-0E56-7C78-0C42-0A9E734FE6BD}"/>
              </a:ext>
            </a:extLst>
          </p:cNvPr>
          <p:cNvSpPr/>
          <p:nvPr/>
        </p:nvSpPr>
        <p:spPr>
          <a:xfrm>
            <a:off x="5165125" y="314230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Corporação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F32B6-C413-4A06-F823-552A38388303}"/>
              </a:ext>
            </a:extLst>
          </p:cNvPr>
          <p:cNvSpPr/>
          <p:nvPr/>
        </p:nvSpPr>
        <p:spPr>
          <a:xfrm>
            <a:off x="5165125" y="448103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</a:rPr>
              <a:t>Green Finance</a:t>
            </a:r>
            <a:endParaRPr lang="pt-PT" sz="1050" b="1" kern="0" dirty="0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F9258-8530-7AD3-5074-F6D9DCBCF24B}"/>
              </a:ext>
            </a:extLst>
          </p:cNvPr>
          <p:cNvCxnSpPr>
            <a:cxnSpLocks/>
          </p:cNvCxnSpPr>
          <p:nvPr/>
        </p:nvCxnSpPr>
        <p:spPr>
          <a:xfrm>
            <a:off x="5698944" y="1570361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Modelo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i="1" dirty="0">
                <a:solidFill>
                  <a:srgbClr val="FF0000"/>
                </a:solidFill>
              </a:rPr>
              <a:t>Governance</a:t>
            </a:r>
            <a:endParaRPr lang="es-ES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0448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Comuns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2177636" y="1664763"/>
            <a:ext cx="6120659" cy="1980008"/>
          </a:xfrm>
          <a:prstGeom prst="bentConnector3">
            <a:avLst>
              <a:gd name="adj1" fmla="val 510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0E88E8E0-DC24-AD6D-28B8-3B33C1A4303A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45583" y="2791240"/>
            <a:ext cx="6152712" cy="853531"/>
          </a:xfrm>
          <a:prstGeom prst="bentConnector3">
            <a:avLst>
              <a:gd name="adj1" fmla="val 5125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63DFF627-5DF4-902C-D159-59539736AB74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22577" y="3644771"/>
            <a:ext cx="6175718" cy="173020"/>
          </a:xfrm>
          <a:prstGeom prst="bentConnector3">
            <a:avLst>
              <a:gd name="adj1" fmla="val 5143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CE894F13-C5CB-BFFF-03A5-98938D00296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19037" y="3644771"/>
            <a:ext cx="6179259" cy="1101449"/>
          </a:xfrm>
          <a:prstGeom prst="bentConnector3">
            <a:avLst>
              <a:gd name="adj1" fmla="val 51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17841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389758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719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1D0C81-10CF-EE9B-902E-ECC45CB7B37C}"/>
              </a:ext>
            </a:extLst>
          </p:cNvPr>
          <p:cNvGrpSpPr/>
          <p:nvPr/>
        </p:nvGrpSpPr>
        <p:grpSpPr>
          <a:xfrm>
            <a:off x="1534168" y="1322582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0F33AD57-ED9C-658B-75E2-F61F9114C44D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D2F8FA44-5C28-B063-BC42-7A6B0016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4AE68E92-2F58-A5C3-84A0-350D8E08CFD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70684" y="1299407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20147-6495-4988-9D32-64CA6B7698F4}"/>
              </a:ext>
            </a:extLst>
          </p:cNvPr>
          <p:cNvGrpSpPr/>
          <p:nvPr/>
        </p:nvGrpSpPr>
        <p:grpSpPr>
          <a:xfrm>
            <a:off x="1326821" y="5406351"/>
            <a:ext cx="827808" cy="901419"/>
            <a:chOff x="9402697" y="1353861"/>
            <a:chExt cx="828000" cy="9016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BF849-88CA-40AC-ADA1-8DE52739DC73}"/>
                </a:ext>
              </a:extLst>
            </p:cNvPr>
            <p:cNvSpPr txBox="1"/>
            <p:nvPr/>
          </p:nvSpPr>
          <p:spPr>
            <a:xfrm>
              <a:off x="9402697" y="2024657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B70321-BBFF-4924-8666-21C0DE9BABE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37" name="Oval 2">
                <a:extLst>
                  <a:ext uri="{FF2B5EF4-FFF2-40B4-BE49-F238E27FC236}">
                    <a16:creationId xmlns:a16="http://schemas.microsoft.com/office/drawing/2014/main" id="{8D2A2FE2-C869-4255-8C8A-F090E608B13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8" name="Graphic 37" descr="Server with solid fill">
                <a:extLst>
                  <a:ext uri="{FF2B5EF4-FFF2-40B4-BE49-F238E27FC236}">
                    <a16:creationId xmlns:a16="http://schemas.microsoft.com/office/drawing/2014/main" id="{9BEEB004-33A4-48E1-B16F-92408AC7C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11980"/>
            <a:ext cx="257724" cy="293227"/>
          </a:xfrm>
          <a:prstGeom prst="ellipse">
            <a:avLst/>
          </a:prstGeom>
        </p:spPr>
      </p:pic>
      <p:cxnSp>
        <p:nvCxnSpPr>
          <p:cNvPr id="15" name="Elbow Connector 69">
            <a:extLst>
              <a:ext uri="{FF2B5EF4-FFF2-40B4-BE49-F238E27FC236}">
                <a16:creationId xmlns:a16="http://schemas.microsoft.com/office/drawing/2014/main" id="{A711F72B-8770-DC81-E3D6-D41530CEC9B5}"/>
              </a:ext>
            </a:extLst>
          </p:cNvPr>
          <p:cNvCxnSpPr>
            <a:cxnSpLocks/>
            <a:stCxn id="37" idx="6"/>
            <a:endCxn id="98" idx="2"/>
          </p:cNvCxnSpPr>
          <p:nvPr/>
        </p:nvCxnSpPr>
        <p:spPr>
          <a:xfrm flipV="1">
            <a:off x="2146107" y="3644771"/>
            <a:ext cx="6152188" cy="2085505"/>
          </a:xfrm>
          <a:prstGeom prst="bentConnector3">
            <a:avLst>
              <a:gd name="adj1" fmla="val 5125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Balancetes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Fich.Comp</a:t>
              </a:r>
              <a:r>
                <a:rPr lang="en-US" sz="1000" dirty="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Vinculação</a:t>
            </a:r>
            <a:r>
              <a:rPr lang="en-US" sz="900" dirty="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2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3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1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Primários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6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17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7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8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pic>
        <p:nvPicPr>
          <p:cNvPr id="185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86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6"/>
            <a:endCxn id="36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87" idx="6"/>
            <a:endCxn id="36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662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5" idx="6"/>
            <a:endCxn id="36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8344643" y="3857437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870713" y="3755300"/>
            <a:ext cx="894885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de Colaterais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31209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  <a:endParaRPr lang="en-US" sz="10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39" name="Straight Connector 38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61880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:p188="http://schemas.microsoft.com/office/powerpoint/2018/8/main" xmlns="" r:id="rId16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852314"/>
            <a:ext cx="647850" cy="647850"/>
            <a:chOff x="455122" y="4977513"/>
            <a:chExt cx="648000" cy="6480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852314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Contrato</a:t>
            </a:r>
            <a:r>
              <a:rPr lang="en-US" sz="2000" dirty="0">
                <a:solidFill>
                  <a:srgbClr val="FF0000"/>
                </a:solidFill>
              </a:rPr>
              <a:t> e </a:t>
            </a:r>
            <a:r>
              <a:rPr lang="en-US" sz="2000" dirty="0" err="1">
                <a:solidFill>
                  <a:srgbClr val="FF0000"/>
                </a:solidFill>
              </a:rPr>
              <a:t>cliente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993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9" idx="6"/>
          </p:cNvCxnSpPr>
          <p:nvPr/>
        </p:nvCxnSpPr>
        <p:spPr>
          <a:xfrm flipV="1">
            <a:off x="9083783" y="3429000"/>
            <a:ext cx="1914944" cy="747239"/>
          </a:xfrm>
          <a:prstGeom prst="bentConnector3">
            <a:avLst>
              <a:gd name="adj1" fmla="val 6207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718088" y="3650240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712225" y="3758583"/>
            <a:ext cx="1208206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contrato e cliente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1544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2101164"/>
            <a:ext cx="2304956" cy="163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cd_captools.fr004_cto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cd_captools.ct610_titulos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cd_captools.bdr_jm_clien_juri</a:t>
            </a:r>
            <a:endParaRPr lang="en-US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5209" y="448232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pic>
        <p:nvPicPr>
          <p:cNvPr id="19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792423"/>
            <a:ext cx="241113" cy="241113"/>
          </a:xfrm>
          <a:prstGeom prst="rect">
            <a:avLst/>
          </a:prstGeom>
        </p:spPr>
      </p:pic>
      <p:pic>
        <p:nvPicPr>
          <p:cNvPr id="19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3792423"/>
            <a:ext cx="287933" cy="287933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5" y="4607192"/>
            <a:ext cx="2405030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cd_estruturais.interface_moradas</a:t>
            </a:r>
            <a:endParaRPr 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144" y="1970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4" y="2101164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cd_riscos.rsv176sa1_balanco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7" y="447508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ALM</a:t>
            </a:r>
          </a:p>
        </p:txBody>
      </p:sp>
      <p:pic>
        <p:nvPicPr>
          <p:cNvPr id="48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3792423"/>
            <a:ext cx="241113" cy="241113"/>
          </a:xfrm>
          <a:prstGeom prst="rect">
            <a:avLst/>
          </a:prstGeom>
        </p:spPr>
      </p:pic>
      <p:pic>
        <p:nvPicPr>
          <p:cNvPr id="49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792423"/>
            <a:ext cx="287933" cy="28793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4607192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cd_alm.kt_chaves_alm_m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cd_alm.al006_saq_ppc</a:t>
            </a:r>
          </a:p>
        </p:txBody>
      </p:sp>
      <p:cxnSp>
        <p:nvCxnSpPr>
          <p:cNvPr id="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8" idx="6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202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1" idx="6"/>
          </p:cNvCxnSpPr>
          <p:nvPr/>
        </p:nvCxnSpPr>
        <p:spPr>
          <a:xfrm flipV="1">
            <a:off x="6834922" y="3429002"/>
            <a:ext cx="4154568" cy="747237"/>
          </a:xfrm>
          <a:prstGeom prst="bentConnector3">
            <a:avLst>
              <a:gd name="adj1" fmla="val 3001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pic>
        <p:nvPicPr>
          <p:cNvPr id="7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7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pic>
        <p:nvPicPr>
          <p:cNvPr id="8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0A88FF-E8B8-4ACE-A111-3F71766AA06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19419942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6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pic>
        <p:nvPicPr>
          <p:cNvPr id="3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4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cd_emprestimos.gpt14_registos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cd_emprestimos.gpt31_contrato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EBFCE12C-1CA3-59CA-332B-BC05E3EB5727}"/>
              </a:ext>
            </a:extLst>
          </p:cNvPr>
          <p:cNvSpPr/>
          <p:nvPr/>
        </p:nvSpPr>
        <p:spPr>
          <a:xfrm>
            <a:off x="6187072" y="3273447"/>
            <a:ext cx="647850" cy="6478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71" name="Graphic 119" descr="Database with solid fill">
            <a:extLst>
              <a:ext uri="{FF2B5EF4-FFF2-40B4-BE49-F238E27FC236}">
                <a16:creationId xmlns:a16="http://schemas.microsoft.com/office/drawing/2014/main" id="{C155FEBF-BA9A-1FF5-B40F-88830AD6841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93080" y="3382813"/>
            <a:ext cx="431900" cy="4319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cd_captools.ct005_univ_perim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6"/>
            <a:ext cx="2231209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cxnSp>
        <p:nvCxnSpPr>
          <p:cNvPr id="7" name="Straight Connector 6"/>
          <p:cNvCxnSpPr>
            <a:stCxn id="70" idx="6"/>
            <a:endCxn id="41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57" idx="6"/>
            <a:endCxn id="63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3" idx="6"/>
            <a:endCxn id="103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0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1" idx="6"/>
            <a:endCxn id="103" idx="1"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/>
          <p:cNvGrpSpPr/>
          <p:nvPr/>
        </p:nvGrpSpPr>
        <p:grpSpPr>
          <a:xfrm>
            <a:off x="10710724" y="3751765"/>
            <a:ext cx="1224360" cy="415402"/>
            <a:chOff x="2905382" y="2549677"/>
            <a:chExt cx="1224643" cy="415498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030044" y="2549677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PT" sz="1050" dirty="0" err="1"/>
                <a:t>Gloval</a:t>
              </a:r>
              <a:r>
                <a:rPr lang="pt-PT" sz="1050" dirty="0"/>
                <a:t> imóveis </a:t>
              </a:r>
            </a:p>
            <a:p>
              <a:pPr algn="ctr"/>
              <a:r>
                <a:rPr lang="pt-PT" sz="1050" dirty="0"/>
                <a:t>sem letra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606B7B5-BF68-EA80-CFCE-84E94E0D844D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69180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Universo</a:t>
            </a:r>
            <a:r>
              <a:rPr lang="en-US" sz="2000" dirty="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en-US" sz="1000" dirty="0"/>
          </a:p>
        </p:txBody>
      </p:sp>
      <p:cxnSp>
        <p:nvCxnSpPr>
          <p:cNvPr id="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4" idx="6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836927" y="3759610"/>
            <a:ext cx="973119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6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87196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2871961" y="3597372"/>
            <a:ext cx="68965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535272" y="3597372"/>
            <a:ext cx="6888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2059" y="2028495"/>
            <a:ext cx="1222873" cy="400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818" y="3949160"/>
            <a:ext cx="1222873" cy="57694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1050" dirty="0"/>
              <a:t>MdD_84_GARB_GAR &amp; BTAR_v5.2</a:t>
            </a:r>
            <a:endParaRPr lang="pt-PT" sz="1050" dirty="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797028" y="2028495"/>
            <a:ext cx="1629862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MdD_80_ENPC_Energy_Performance_Certificate_v4.2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910" y="3961651"/>
            <a:ext cx="1146279" cy="7386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1050" dirty="0">
                <a:ea typeface="+mn-lt"/>
                <a:cs typeface="+mn-lt"/>
              </a:rPr>
              <a:t>MdD_93_GHGE_GHG </a:t>
            </a:r>
            <a:r>
              <a:rPr lang="pt-PT" sz="1050" err="1">
                <a:ea typeface="+mn-lt"/>
                <a:cs typeface="+mn-lt"/>
              </a:rPr>
              <a:t>Financed</a:t>
            </a:r>
            <a:r>
              <a:rPr lang="pt-PT" sz="1050" dirty="0">
                <a:ea typeface="+mn-lt"/>
                <a:cs typeface="+mn-lt"/>
              </a:rPr>
              <a:t> emissions_v6.2</a:t>
            </a:r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3398986" y="2028495"/>
            <a:ext cx="1091630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MdD_83_MITI_Mitigation actions_v4.2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059" y="3949160"/>
            <a:ext cx="1250345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MdD_109_IESG_Interest </a:t>
            </a:r>
            <a:r>
              <a:rPr lang="pt-PT" sz="1050" dirty="0" err="1"/>
              <a:t>and</a:t>
            </a:r>
            <a:r>
              <a:rPr lang="pt-PT" sz="1050" dirty="0"/>
              <a:t>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6087078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Nota: Ficheiros “</a:t>
            </a:r>
            <a:r>
              <a:rPr lang="pt-PT" sz="900" dirty="0" err="1"/>
              <a:t>xlsx</a:t>
            </a:r>
            <a:r>
              <a:rPr lang="pt-PT" sz="900" dirty="0"/>
              <a:t>” com os </a:t>
            </a:r>
            <a:r>
              <a:rPr lang="pt-PT" sz="900" dirty="0" err="1"/>
              <a:t>IDCOMBs</a:t>
            </a:r>
            <a:r>
              <a:rPr lang="pt-PT" sz="900" dirty="0"/>
              <a:t> para os respetivos satélites</a:t>
            </a:r>
          </a:p>
        </p:txBody>
      </p:sp>
      <p:cxnSp>
        <p:nvCxnSpPr>
          <p:cNvPr id="73" name="Straight Connector 72"/>
          <p:cNvCxnSpPr>
            <a:cxnSpLocks/>
          </p:cNvCxnSpPr>
          <p:nvPr/>
        </p:nvCxnSpPr>
        <p:spPr>
          <a:xfrm>
            <a:off x="4209470" y="1664838"/>
            <a:ext cx="18174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8D9E5EE-4FBA-6B66-A25A-38CC31F78D0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422" y="3273447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C8D59-6F9B-FAF8-9DA0-BE10F97B18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422" y="1340913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B2CD2-4E12-BE6D-DD64-C6D4DB2EB8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4111" y="3273447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1380A-1835-DAE2-58F5-40CA17E6D9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4111" y="1340913"/>
            <a:ext cx="647850" cy="6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735-DF2C-A03F-7AFA-1783EFC3949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1620" y="1340913"/>
            <a:ext cx="647850" cy="6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149A7-21B0-5366-F536-61B727A271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1620" y="3273447"/>
            <a:ext cx="647850" cy="6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132EF-3B79-05B8-A4B2-11BC6B99F7D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1289060"/>
            <a:ext cx="238885" cy="238885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378FB6-53A9-3065-E1AA-99F5300526D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3232160"/>
            <a:ext cx="238885" cy="238885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9CD38E-0A5D-3D5E-6C08-18BD1906D33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1289060"/>
            <a:ext cx="238885" cy="238885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73697-F1F2-24D4-E930-A75CDD65AFD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3232160"/>
            <a:ext cx="238885" cy="238885"/>
          </a:xfrm>
          <a:prstGeom prst="ellipse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FE561-5B95-10BD-2E97-24F59D3358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1289060"/>
            <a:ext cx="238885" cy="238885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606BC-2748-AA7D-4A50-7833480FF66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3232160"/>
            <a:ext cx="238885" cy="238885"/>
          </a:xfrm>
          <a:prstGeom prst="ellipse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1" name="Elbow Connector 167">
            <a:extLst>
              <a:ext uri="{FF2B5EF4-FFF2-40B4-BE49-F238E27FC236}">
                <a16:creationId xmlns:a16="http://schemas.microsoft.com/office/drawing/2014/main" id="{F32CF710-F9AA-C027-5DBE-A127E3959CDE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209470" y="1664838"/>
            <a:ext cx="1977602" cy="1932534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8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43925" y="2410676"/>
            <a:ext cx="2076386" cy="692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12-DEZEMBRO-2022-StockAdjudicadosTOTTA URBE_2022-12-30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3" y="3887128"/>
            <a:ext cx="432225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CarteiraGlobalDeImoveis-2022-12-30_Em desinvestimento_v2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4" y="2065394"/>
            <a:ext cx="1693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Imoveis</a:t>
            </a:r>
            <a:r>
              <a:rPr lang="en-US" sz="1000" dirty="0"/>
              <a:t> BST Dez22.xlsx</a:t>
            </a:r>
            <a:endParaRPr lang="en-US" sz="9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775" y="2307395"/>
            <a:ext cx="2876265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Dações+Arrematações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  <a:endParaRPr lang="en-US"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88797" y="4105286"/>
            <a:ext cx="2876265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790771" y="2892035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650" y="1776425"/>
            <a:ext cx="647850" cy="64785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3273447"/>
            <a:ext cx="647850" cy="6478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1340913"/>
            <a:ext cx="647850" cy="647850"/>
          </a:xfrm>
          <a:prstGeom prst="rect">
            <a:avLst/>
          </a:prstGeom>
        </p:spPr>
      </p:pic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cxnSp>
        <p:nvCxnSpPr>
          <p:cNvPr id="144" name="Straight Connector 143"/>
          <p:cNvCxnSpPr>
            <a:stCxn id="140" idx="6"/>
            <a:endCxn id="122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27" idx="6"/>
            <a:endCxn id="132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cd_riscos.ivt01_imoveis</a:t>
            </a:r>
            <a:endParaRPr lang="en-US" sz="10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103" idx="3"/>
            <a:endCxn id="127" idx="2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01" idx="3"/>
            <a:endCxn id="140" idx="2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Elbow Connector 167"/>
          <p:cNvCxnSpPr>
            <a:stCxn id="99" idx="3"/>
            <a:endCxn id="140" idx="2"/>
          </p:cNvCxnSpPr>
          <p:nvPr/>
        </p:nvCxnSpPr>
        <p:spPr>
          <a:xfrm>
            <a:off x="4382500" y="2100350"/>
            <a:ext cx="1804572" cy="1497022"/>
          </a:xfrm>
          <a:prstGeom prst="bentConnector3">
            <a:avLst>
              <a:gd name="adj1" fmla="val 6933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4820062" y="5988252"/>
            <a:ext cx="1770338" cy="294934"/>
            <a:chOff x="3887281" y="2628000"/>
            <a:chExt cx="1116018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3887281" y="2628000"/>
              <a:ext cx="111601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imoveis sem letra</a:t>
              </a:r>
            </a:p>
          </p:txBody>
        </p:sp>
      </p:grpSp>
      <p:pic>
        <p:nvPicPr>
          <p:cNvPr id="1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521" y="5399851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5720971" y="5362304"/>
            <a:ext cx="287933" cy="287933"/>
          </a:xfrm>
          <a:prstGeom prst="rect">
            <a:avLst/>
          </a:prstGeom>
        </p:spPr>
      </p:pic>
      <p:cxnSp>
        <p:nvCxnSpPr>
          <p:cNvPr id="5" name="Elbow Connector 167">
            <a:extLst>
              <a:ext uri="{FF2B5EF4-FFF2-40B4-BE49-F238E27FC236}">
                <a16:creationId xmlns:a16="http://schemas.microsoft.com/office/drawing/2014/main" id="{F32CF710-F9AA-C027-5DBE-A127E3959CDE}"/>
              </a:ext>
            </a:extLst>
          </p:cNvPr>
          <p:cNvCxnSpPr>
            <a:cxnSpLocks/>
            <a:stCxn id="101" idx="3"/>
            <a:endCxn id="127" idx="2"/>
          </p:cNvCxnSpPr>
          <p:nvPr/>
        </p:nvCxnSpPr>
        <p:spPr>
          <a:xfrm flipV="1">
            <a:off x="1535272" y="1664838"/>
            <a:ext cx="4651800" cy="1932534"/>
          </a:xfrm>
          <a:prstGeom prst="bentConnector3">
            <a:avLst>
              <a:gd name="adj1" fmla="val 8813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37" y="1739130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636" y="1301169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17" y="3230021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71" name="Elbow Connector 167">
            <a:extLst>
              <a:ext uri="{FF2B5EF4-FFF2-40B4-BE49-F238E27FC236}">
                <a16:creationId xmlns:a16="http://schemas.microsoft.com/office/drawing/2014/main" id="{F32CF710-F9AA-C027-5DBE-A127E3959CDE}"/>
              </a:ext>
            </a:extLst>
          </p:cNvPr>
          <p:cNvCxnSpPr>
            <a:cxnSpLocks/>
            <a:stCxn id="174" idx="0"/>
            <a:endCxn id="127" idx="2"/>
          </p:cNvCxnSpPr>
          <p:nvPr/>
        </p:nvCxnSpPr>
        <p:spPr>
          <a:xfrm rot="5400000" flipH="1" flipV="1">
            <a:off x="4043253" y="3256032"/>
            <a:ext cx="3735013" cy="552626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10862464" y="3759610"/>
            <a:ext cx="92204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 smtClean="0"/>
              <a:t>Adjudicados</a:t>
            </a:r>
            <a:endParaRPr lang="pt-PT" sz="105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8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Repartição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496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4" idx="3"/>
            <a:endCxn id="49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219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5792297" y="1942892"/>
            <a:ext cx="2508454" cy="1046126"/>
            <a:chOff x="1152347" y="1804102"/>
            <a:chExt cx="2509035" cy="104636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152347" y="1804102"/>
              <a:ext cx="152798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de Colaterais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544926" y="1942892"/>
            <a:ext cx="2134769" cy="2686094"/>
            <a:chOff x="3215652" y="1804102"/>
            <a:chExt cx="2135263" cy="26867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3215652" y="4244597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92100" y="1804102"/>
              <a:ext cx="175881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contrato e cliente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768030" y="3751765"/>
            <a:ext cx="1101329" cy="415402"/>
            <a:chOff x="2752725" y="2549677"/>
            <a:chExt cx="1101584" cy="41549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52725" y="2549677"/>
              <a:ext cx="11015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Repartição de </a:t>
              </a:r>
            </a:p>
            <a:p>
              <a:r>
                <a:rPr lang="pt-PT" sz="1050" dirty="0"/>
                <a:t>    Garantias</a:t>
              </a:r>
            </a:p>
          </p:txBody>
        </p: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3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847326" y="1300745"/>
            <a:ext cx="287933" cy="287933"/>
          </a:xfrm>
          <a:prstGeom prst="rect">
            <a:avLst/>
          </a:prstGeom>
        </p:spPr>
      </p:pic>
      <p:pic>
        <p:nvPicPr>
          <p:cNvPr id="2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597522" y="1300745"/>
            <a:ext cx="287933" cy="287933"/>
          </a:xfrm>
          <a:prstGeom prst="rect">
            <a:avLst/>
          </a:prstGeom>
        </p:spPr>
      </p:pic>
      <p:cxnSp>
        <p:nvCxnSpPr>
          <p:cNvPr id="30" name="Straight Connector 2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6006247" y="3892081"/>
            <a:ext cx="1099726" cy="415402"/>
            <a:chOff x="3887281" y="2628000"/>
            <a:chExt cx="1099981" cy="41549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887281" y="2628000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imoveis </a:t>
              </a:r>
            </a:p>
            <a:p>
              <a:r>
                <a:rPr lang="pt-PT" sz="1050" dirty="0"/>
                <a:t>     sem letra</a:t>
              </a:r>
            </a:p>
          </p:txBody>
        </p: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597522" y="3235900"/>
            <a:ext cx="287933" cy="287933"/>
          </a:xfrm>
          <a:prstGeom prst="rect">
            <a:avLst/>
          </a:prstGeom>
        </p:spPr>
      </p:pic>
      <p:cxnSp>
        <p:nvCxnSpPr>
          <p:cNvPr id="5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4" idx="3"/>
            <a:endCxn id="49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21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80135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Secundários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20221021 Pillar 3 ESG - List of Paris excluded companies.xlsx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664263" y="5327003"/>
            <a:ext cx="1693808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20230523 Pillar 3 ESG - Physical risk.v4.xlsx</a:t>
            </a:r>
            <a:endParaRPr lang="en-US" sz="900" dirty="0"/>
          </a:p>
        </p:txBody>
      </p:sp>
      <p:sp>
        <p:nvSpPr>
          <p:cNvPr id="71" name="Rectangle 70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339405" y="5759577"/>
            <a:ext cx="2876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riscos físicos associados aos colaterais imóveis.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as entidades excluídas pelo acordo de Paris.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912712" y="5734936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125" name="Rectangle 12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8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9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cd_captools.fr802_pl_contas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cxnSp>
        <p:nvCxnSpPr>
          <p:cNvPr id="3" name="Straight Connector 2"/>
          <p:cNvCxnSpPr>
            <a:stCxn id="89" idx="3"/>
            <a:endCxn id="8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87" idx="3"/>
            <a:endCxn id="70" idx="2"/>
          </p:cNvCxnSpPr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90" idx="3"/>
            <a:endCxn id="8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88" idx="3"/>
            <a:endCxn id="80" idx="2"/>
          </p:cNvCxnSpPr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cxnSpLocks/>
            <a:endCxn id="80" idx="2"/>
          </p:cNvCxnSpPr>
          <p:nvPr/>
        </p:nvCxnSpPr>
        <p:spPr>
          <a:xfrm flipV="1">
            <a:off x="3798401" y="3597372"/>
            <a:ext cx="2388671" cy="1350723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11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1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1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cxnSpLocks/>
          </p:cNvCxnSpPr>
          <p:nvPr/>
        </p:nvCxnSpPr>
        <p:spPr>
          <a:xfrm>
            <a:off x="3798401" y="4948095"/>
            <a:ext cx="3863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D55035E-619B-4179-7840-19EF971667A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519CD4-5B48-D4A6-6C2A-B49A8B6327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0551" y="4624170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908505-2B2F-B826-D442-A6EC34C4AFF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24" y="4585099"/>
            <a:ext cx="238885" cy="238885"/>
          </a:xfrm>
          <a:prstGeom prst="ellipse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9F6722-271E-8544-96EC-BD186B1ED51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67" name="Elbow Connector 66"/>
          <p:cNvCxnSpPr>
            <a:cxnSpLocks/>
            <a:stCxn id="2" idx="1"/>
            <a:endCxn id="70" idx="2"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982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9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39" name="Rectangle 38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4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cxnSp>
        <p:nvCxnSpPr>
          <p:cNvPr id="51" name="Straight Connector 50"/>
          <p:cNvCxnSpPr>
            <a:stCxn id="45" idx="3"/>
            <a:endCxn id="42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6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68" name="Straight Connector 67"/>
          <p:cNvCxnSpPr>
            <a:stCxn id="66" idx="3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84" name="Straight Connector 83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5" idx="3"/>
            <a:endCxn id="71" idx="2"/>
          </p:cNvCxnSpPr>
          <p:nvPr/>
        </p:nvCxnSpPr>
        <p:spPr>
          <a:xfrm flipV="1">
            <a:off x="2871961" y="1664839"/>
            <a:ext cx="3315111" cy="193253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7" idx="6"/>
            <a:endCxn id="53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5" y="2174880"/>
            <a:ext cx="2352166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5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5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83</a:t>
            </a: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38" idx="3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6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52" name="Rectangle 51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7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7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7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67" idx="3"/>
            <a:endCxn id="5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4" idx="3"/>
            <a:endCxn id="5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1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2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CTRLGEST</a:t>
            </a:r>
            <a:endParaRPr lang="en-US" sz="9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486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</a:t>
            </a:r>
            <a:endParaRPr lang="en-US" sz="10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84</a:t>
            </a:r>
          </a:p>
        </p:txBody>
      </p:sp>
      <p:cxnSp>
        <p:nvCxnSpPr>
          <p:cNvPr id="141" name="Straight Connector 140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51" idx="6"/>
          </p:cNvCxnSpPr>
          <p:nvPr/>
        </p:nvCxnSpPr>
        <p:spPr>
          <a:xfrm>
            <a:off x="9222323" y="1664838"/>
            <a:ext cx="1914944" cy="1764162"/>
          </a:xfrm>
          <a:prstGeom prst="bentConnector3">
            <a:avLst>
              <a:gd name="adj1" fmla="val 6163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72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20221222 Pillar 3 ESG - eligibility ratios.v5.xlsx</a:t>
            </a:r>
            <a:endParaRPr lang="en-US" sz="9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7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rácios de elegibilidade para as operações CIB e não CIB.</a:t>
            </a:r>
          </a:p>
        </p:txBody>
      </p:sp>
      <p:cxnSp>
        <p:nvCxnSpPr>
          <p:cNvPr id="149" name="Elbow Connector 148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117" idx="6"/>
            <a:endCxn id="151" idx="2"/>
          </p:cNvCxnSpPr>
          <p:nvPr/>
        </p:nvCxnSpPr>
        <p:spPr>
          <a:xfrm>
            <a:off x="6834922" y="1664838"/>
            <a:ext cx="17395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6917A12-79FC-5AB7-B05A-4DA2A8BBC628}"/>
              </a:ext>
            </a:extLst>
          </p:cNvPr>
          <p:cNvGrpSpPr/>
          <p:nvPr/>
        </p:nvGrpSpPr>
        <p:grpSpPr>
          <a:xfrm>
            <a:off x="8176128" y="1287947"/>
            <a:ext cx="2436270" cy="2048269"/>
            <a:chOff x="8037588" y="1287947"/>
            <a:chExt cx="2436270" cy="2048269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5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6"/>
              <a:ext cx="2436270" cy="1169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cd_captools.ct003_univ_cli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Cd_captools.kt_chaves_mis</a:t>
              </a:r>
              <a:endParaRPr lang="en-US" sz="1000" b="1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cd_captools.kt_chaves_bdr</a:t>
              </a:r>
              <a:r>
                <a:rPr lang="en-US" sz="1000" b="1" dirty="0"/>
                <a:t> 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cd_captools.ct013_rwa_princ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cd_captools.ct071_rwa_gr_ec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cd_captools.ct070_univ_gr_cli</a:t>
              </a:r>
            </a:p>
          </p:txBody>
        </p:sp>
        <p:pic>
          <p:nvPicPr>
            <p:cNvPr id="15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5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E8DA83-9C0A-144B-8141-2ED9BD69853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74D45-79C3-E2DE-DEB7-4A37FE37B18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cxnSp>
        <p:nvCxnSpPr>
          <p:cNvPr id="4" name="Elbow Connector 148">
            <a:extLst>
              <a:ext uri="{FF2B5EF4-FFF2-40B4-BE49-F238E27FC236}">
                <a16:creationId xmlns:a16="http://schemas.microsoft.com/office/drawing/2014/main" id="{2A046BF2-C090-2B67-00BF-288886245CAE}"/>
              </a:ext>
            </a:extLst>
          </p:cNvPr>
          <p:cNvCxnSpPr>
            <a:cxnSpLocks/>
            <a:stCxn id="2" idx="1"/>
            <a:endCxn id="117" idx="2"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4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9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6612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76" name="Rectangle 7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7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8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cd_captools.ct003_univ_cli</a:t>
            </a:r>
            <a:endParaRPr lang="en-US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pic>
        <p:nvPicPr>
          <p:cNvPr id="107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Rectangle 107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93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20230519 Pillar 3 ESG - Emissions data Post-Feb.xlsx</a:t>
            </a:r>
            <a:endParaRPr lang="en-US" sz="9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as emissões das operações do banco.</a:t>
            </a:r>
          </a:p>
        </p:txBody>
      </p:sp>
      <p:cxnSp>
        <p:nvCxnSpPr>
          <p:cNvPr id="112" name="Straight Connector 111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cxnSp>
        <p:nvCxnSpPr>
          <p:cNvPr id="122" name="Straight Connector 121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80" idx="3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50641D-8D53-EE85-A218-446079E47C5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85CC6-4C38-BFFE-1639-3B363E6B502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cxnSp>
        <p:nvCxnSpPr>
          <p:cNvPr id="4" name="Elbow Connector 148">
            <a:extLst>
              <a:ext uri="{FF2B5EF4-FFF2-40B4-BE49-F238E27FC236}">
                <a16:creationId xmlns:a16="http://schemas.microsoft.com/office/drawing/2014/main" id="{3C050778-D5AC-E446-2FFC-24CF624D7649}"/>
              </a:ext>
            </a:extLst>
          </p:cNvPr>
          <p:cNvCxnSpPr>
            <a:cxnSpLocks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4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4C62C1B-8E3B-4A95-83B7-2F8FA57076DD}"/>
</file>

<file path=customXml/itemProps2.xml><?xml version="1.0" encoding="utf-8"?>
<ds:datastoreItem xmlns:ds="http://schemas.openxmlformats.org/officeDocument/2006/customXml" ds:itemID="{B9D817DF-67AB-4BB4-872E-34E3FEC8FC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2EBCFB-3A96-480D-8204-463971BC4F8B}">
  <ds:schemaRefs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67d911d-09c2-43d9-a326-6ded42ddccd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TotalTime>455</TotalTime>
  <Words>985</Words>
  <Application>Microsoft Office PowerPoint</Application>
  <PresentationFormat>Widescreen</PresentationFormat>
  <Paragraphs>402</Paragraphs>
  <Slides>29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Santander Text</vt:lpstr>
      <vt:lpstr>Santander Text Light</vt:lpstr>
      <vt:lpstr>Theme BS</vt:lpstr>
      <vt:lpstr>think-cell Slide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João Pedro Alexandre Pires de Carvalho</dc:creator>
  <cp:lastModifiedBy>João Pedro Alexandre Pires de Carvalho</cp:lastModifiedBy>
  <cp:revision>29</cp:revision>
  <dcterms:created xsi:type="dcterms:W3CDTF">2023-06-28T11:37:37Z</dcterms:created>
  <dcterms:modified xsi:type="dcterms:W3CDTF">2023-06-29T10:41:14Z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