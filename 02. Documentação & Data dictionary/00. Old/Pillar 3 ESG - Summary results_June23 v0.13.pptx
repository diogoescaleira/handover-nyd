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4"/>
    <p:sldMasterId id="2147483722" r:id="rId5"/>
  </p:sldMasterIdLst>
  <p:notesMasterIdLst>
    <p:notesMasterId r:id="rId35"/>
  </p:notesMasterIdLst>
  <p:handoutMasterIdLst>
    <p:handoutMasterId r:id="rId36"/>
  </p:handoutMasterIdLst>
  <p:sldIdLst>
    <p:sldId id="810" r:id="rId6"/>
    <p:sldId id="1163" r:id="rId7"/>
    <p:sldId id="1372" r:id="rId8"/>
    <p:sldId id="1377" r:id="rId9"/>
    <p:sldId id="1403" r:id="rId10"/>
    <p:sldId id="1389" r:id="rId11"/>
    <p:sldId id="1368" r:id="rId12"/>
    <p:sldId id="1390" r:id="rId13"/>
    <p:sldId id="1405" r:id="rId14"/>
    <p:sldId id="1391" r:id="rId15"/>
    <p:sldId id="1369" r:id="rId16"/>
    <p:sldId id="1392" r:id="rId17"/>
    <p:sldId id="1381" r:id="rId18"/>
    <p:sldId id="1393" r:id="rId19"/>
    <p:sldId id="1370" r:id="rId20"/>
    <p:sldId id="1382" r:id="rId21"/>
    <p:sldId id="1394" r:id="rId22"/>
    <p:sldId id="1375" r:id="rId23"/>
    <p:sldId id="1395" r:id="rId24"/>
    <p:sldId id="1396" r:id="rId25"/>
    <p:sldId id="1387" r:id="rId26"/>
    <p:sldId id="1397" r:id="rId27"/>
    <p:sldId id="1378" r:id="rId28"/>
    <p:sldId id="1388" r:id="rId29"/>
    <p:sldId id="1398" r:id="rId30"/>
    <p:sldId id="1399" r:id="rId31"/>
    <p:sldId id="1400" r:id="rId32"/>
    <p:sldId id="1401" r:id="rId33"/>
    <p:sldId id="1230" r:id="rId34"/>
  </p:sldIdLst>
  <p:sldSz cx="9144000" cy="5143500" type="screen16x9"/>
  <p:notesSz cx="6858000" cy="9144000"/>
  <p:custDataLst>
    <p:tags r:id="rId3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21" userDrawn="1">
          <p15:clr>
            <a:srgbClr val="A4A3A4"/>
          </p15:clr>
        </p15:guide>
        <p15:guide id="2" pos="2517" userDrawn="1">
          <p15:clr>
            <a:srgbClr val="A4A3A4"/>
          </p15:clr>
        </p15:guide>
        <p15:guide id="3" orient="horz" pos="2981" userDrawn="1">
          <p15:clr>
            <a:srgbClr val="A4A3A4"/>
          </p15:clr>
        </p15:guide>
        <p15:guide id="5" orient="horz" pos="123" userDrawn="1">
          <p15:clr>
            <a:srgbClr val="A4A3A4"/>
          </p15:clr>
        </p15:guide>
        <p15:guide id="6" pos="4241" userDrawn="1">
          <p15:clr>
            <a:srgbClr val="A4A3A4"/>
          </p15:clr>
        </p15:guide>
        <p15:guide id="7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Sanchez Lluch Gustavo" initials="SLG" lastIdx="2" clrIdx="6">
    <p:extLst>
      <p:ext uri="{19B8F6BF-5375-455C-9EA6-DF929625EA0E}">
        <p15:presenceInfo xmlns:p15="http://schemas.microsoft.com/office/powerpoint/2012/main" userId="S::n95991@gruposantander.com::00351ae3-475b-4879-8a3a-db0a28671299" providerId="AD"/>
      </p:ext>
    </p:extLst>
  </p:cmAuthor>
  <p:cmAuthor id="1" name="Félix Ramírez Backhaus" initials="FRB" lastIdx="127" clrIdx="0">
    <p:extLst>
      <p:ext uri="{19B8F6BF-5375-455C-9EA6-DF929625EA0E}">
        <p15:presenceInfo xmlns:p15="http://schemas.microsoft.com/office/powerpoint/2012/main" userId="Félix Ramírez Backhaus" providerId="None"/>
      </p:ext>
    </p:extLst>
  </p:cmAuthor>
  <p:cmAuthor id="8" name="Carlota Del Rio Barrera" initials="CDRB" lastIdx="1" clrIdx="7">
    <p:extLst>
      <p:ext uri="{19B8F6BF-5375-455C-9EA6-DF929625EA0E}">
        <p15:presenceInfo xmlns:p15="http://schemas.microsoft.com/office/powerpoint/2012/main" userId="S::carlota.del.rio.bar1@managementsolutions.com::7f4c89e0-8090-4456-bc38-0530eac047cb" providerId="AD"/>
      </p:ext>
    </p:extLst>
  </p:cmAuthor>
  <p:cmAuthor id="2" name="Félix Ramírez Backhaus" initials="FRB [2]" lastIdx="20" clrIdx="1">
    <p:extLst>
      <p:ext uri="{19B8F6BF-5375-455C-9EA6-DF929625EA0E}">
        <p15:presenceInfo xmlns:p15="http://schemas.microsoft.com/office/powerpoint/2012/main" userId="S-1-5-21-3589766136-3503691329-2759057371-7554" providerId="AD"/>
      </p:ext>
    </p:extLst>
  </p:cmAuthor>
  <p:cmAuthor id="3" name="Laura Carranceja Aranda" initials="LCA" lastIdx="4" clrIdx="2">
    <p:extLst>
      <p:ext uri="{19B8F6BF-5375-455C-9EA6-DF929625EA0E}">
        <p15:presenceInfo xmlns:p15="http://schemas.microsoft.com/office/powerpoint/2012/main" userId="S::laura.carranceja.ar1@managementsolutions.com::353e1d2e-88a4-413a-8663-1ec258ab11df" providerId="AD"/>
      </p:ext>
    </p:extLst>
  </p:cmAuthor>
  <p:cmAuthor id="4" name="Claudia Herrero García" initials="CHG" lastIdx="4" clrIdx="3">
    <p:extLst>
      <p:ext uri="{19B8F6BF-5375-455C-9EA6-DF929625EA0E}">
        <p15:presenceInfo xmlns:p15="http://schemas.microsoft.com/office/powerpoint/2012/main" userId="S-1-5-21-3589766136-3503691329-2759057371-16361" providerId="AD"/>
      </p:ext>
    </p:extLst>
  </p:cmAuthor>
  <p:cmAuthor id="5" name="Cristina Modino Crespo" initials="CMC" lastIdx="2" clrIdx="4">
    <p:extLst>
      <p:ext uri="{19B8F6BF-5375-455C-9EA6-DF929625EA0E}">
        <p15:presenceInfo xmlns:p15="http://schemas.microsoft.com/office/powerpoint/2012/main" userId="S-1-5-21-3589766136-3503691329-2759057371-5755" providerId="AD"/>
      </p:ext>
    </p:extLst>
  </p:cmAuthor>
  <p:cmAuthor id="6" name="Rodriguez Dalmau Raquel" initials="RDR" lastIdx="2" clrIdx="5">
    <p:extLst>
      <p:ext uri="{19B8F6BF-5375-455C-9EA6-DF929625EA0E}">
        <p15:presenceInfo xmlns:p15="http://schemas.microsoft.com/office/powerpoint/2012/main" userId="S-1-5-21-828144833-3262232118-2855860117-1612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1"/>
    <a:srgbClr val="FFFFFF"/>
    <a:srgbClr val="3A798A"/>
    <a:srgbClr val="595959"/>
    <a:srgbClr val="CCCCCC"/>
    <a:srgbClr val="DEEDF1"/>
    <a:srgbClr val="D0CECE"/>
    <a:srgbClr val="DDEBEF"/>
    <a:srgbClr val="86ADB7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3792" autoAdjust="0"/>
  </p:normalViewPr>
  <p:slideViewPr>
    <p:cSldViewPr>
      <p:cViewPr varScale="1">
        <p:scale>
          <a:sx n="147" d="100"/>
          <a:sy n="147" d="100"/>
        </p:scale>
        <p:origin x="834" y="132"/>
      </p:cViewPr>
      <p:guideLst>
        <p:guide orient="horz" pos="1121"/>
        <p:guide pos="2517"/>
        <p:guide orient="horz" pos="2981"/>
        <p:guide orient="horz" pos="123"/>
        <p:guide pos="4241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90" d="100"/>
        <a:sy n="190" d="100"/>
      </p:scale>
      <p:origin x="0" y="28038"/>
    </p:cViewPr>
  </p:sorterViewPr>
  <p:notesViewPr>
    <p:cSldViewPr>
      <p:cViewPr varScale="1">
        <p:scale>
          <a:sx n="53" d="100"/>
          <a:sy n="53" d="100"/>
        </p:scale>
        <p:origin x="284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s-ES" sz="1000" b="1" dirty="0">
                <a:solidFill>
                  <a:schemeClr val="tx1"/>
                </a:solidFill>
                <a:latin typeface="Santander Text" panose="020B0504020201020104" pitchFamily="34" charset="0"/>
              </a:rPr>
              <a:t>Real vs. </a:t>
            </a:r>
            <a:r>
              <a:rPr lang="es-ES" sz="1000" b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Estimated</a:t>
            </a:r>
            <a:r>
              <a:rPr lang="es-ES" sz="1000" b="1" dirty="0">
                <a:solidFill>
                  <a:schemeClr val="tx1"/>
                </a:solidFill>
                <a:latin typeface="Santander Text" panose="020B0504020201020104" pitchFamily="34" charset="0"/>
              </a:rPr>
              <a:t> vs. </a:t>
            </a:r>
            <a:r>
              <a:rPr lang="es-ES" sz="1000" b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Without</a:t>
            </a:r>
            <a:r>
              <a:rPr lang="es-ES" sz="1000" b="1" dirty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es-ES" sz="1000" b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emissions</a:t>
            </a:r>
            <a:endParaRPr lang="es-ES" sz="1000" b="1" dirty="0">
              <a:solidFill>
                <a:schemeClr val="tx1"/>
              </a:solidFill>
              <a:latin typeface="Santander Text" panose="020B0504020201020104" pitchFamily="34" charset="0"/>
            </a:endParaRPr>
          </a:p>
        </c:rich>
      </c:tx>
      <c:layout>
        <c:manualLayout>
          <c:xMode val="edge"/>
          <c:yMode val="edge"/>
          <c:x val="0.14915890593012154"/>
          <c:y val="4.70979414985636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chemeClr val="tx1"/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4.6109447443206261E-2"/>
          <c:y val="0.47265250950952531"/>
          <c:w val="0.21516031341430242"/>
          <c:h val="0.4712928722205469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% Source emission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16-4BBB-A861-D7A772F11E21}"/>
              </c:ext>
            </c:extLst>
          </c:dPt>
          <c:dPt>
            <c:idx val="1"/>
            <c:bubble3D val="0"/>
            <c:spPr>
              <a:solidFill>
                <a:srgbClr val="DDEB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16-4BBB-A861-D7A772F11E21}"/>
              </c:ext>
            </c:extLst>
          </c:dPt>
          <c:dPt>
            <c:idx val="2"/>
            <c:bubble3D val="0"/>
            <c:spPr>
              <a:solidFill>
                <a:srgbClr val="3A798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716-4BBB-A861-D7A772F11E21}"/>
              </c:ext>
            </c:extLst>
          </c:dPt>
          <c:dLbls>
            <c:dLbl>
              <c:idx val="0"/>
              <c:layout>
                <c:manualLayout>
                  <c:x val="-2.0275091065326895E-2"/>
                  <c:y val="1.8465540865829723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9716-4BBB-A861-D7A772F11E21}"/>
                </c:ext>
              </c:extLst>
            </c:dLbl>
            <c:dLbl>
              <c:idx val="1"/>
              <c:layout>
                <c:manualLayout>
                  <c:x val="4.4204368242431957E-2"/>
                  <c:y val="-0.15589736061072579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9716-4BBB-A861-D7A772F11E2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716-4BBB-A861-D7A772F11E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Hoja1!$A$2:$A$3</c:f>
              <c:strCache>
                <c:ptCount val="2"/>
                <c:pt idx="0">
                  <c:v>Real emissions</c:v>
                </c:pt>
                <c:pt idx="1">
                  <c:v>Estimated emissions</c:v>
                </c:pt>
              </c:strCache>
            </c:strRef>
          </c:cat>
          <c:val>
            <c:numRef>
              <c:f>Hoja1!$B$2:$B$3</c:f>
              <c:numCache>
                <c:formatCode>#,##0.00</c:formatCode>
                <c:ptCount val="2"/>
                <c:pt idx="0">
                  <c:v>8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716-4BBB-A861-D7A772F11E2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5955657912629349"/>
          <c:y val="0.2692941525015739"/>
          <c:w val="0.18270467637451501"/>
          <c:h val="0.680314621126753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247843673935219"/>
          <c:y val="0.28484996376064037"/>
          <c:w val="0.49574794719778609"/>
          <c:h val="0.5193549923024425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% Source emission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6E-473C-8FC8-949994807A88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6E-473C-8FC8-949994807A8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6E-473C-8FC8-949994807A88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56E-473C-8FC8-949994807A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Hoja1!$A$2:$A$3</c:f>
              <c:strCache>
                <c:ptCount val="2"/>
                <c:pt idx="0">
                  <c:v>Real emissions</c:v>
                </c:pt>
                <c:pt idx="1">
                  <c:v>Estimated emissions</c:v>
                </c:pt>
              </c:strCache>
            </c:strRef>
          </c:cat>
          <c:val>
            <c:numRef>
              <c:f>Hoja1!$B$2:$B$3</c:f>
              <c:numCache>
                <c:formatCode>#,##0.00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56E-473C-8FC8-949994807A88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247843673935219"/>
          <c:y val="0.28484996376064037"/>
          <c:w val="0.49574794719778609"/>
          <c:h val="0.5193549923024425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% Source emission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B5-437E-B4FF-EDCC131B8D50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7B5-437E-B4FF-EDCC131B8D5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7B5-437E-B4FF-EDCC131B8D50}"/>
              </c:ext>
            </c:extLst>
          </c:dPt>
          <c:dLbls>
            <c:dLbl>
              <c:idx val="0"/>
              <c:layout>
                <c:manualLayout>
                  <c:x val="-3.6332452959772145E-2"/>
                  <c:y val="2.9372507122507122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57B5-437E-B4FF-EDCC131B8D50}"/>
                </c:ext>
              </c:extLst>
            </c:dLbl>
            <c:dLbl>
              <c:idx val="1"/>
              <c:layout>
                <c:manualLayout>
                  <c:x val="0.11259165648261305"/>
                  <c:y val="-0.20123860398860399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57B5-437E-B4FF-EDCC131B8D5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B5-437E-B4FF-EDCC131B8D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Hoja1!$A$2:$A$3</c:f>
              <c:strCache>
                <c:ptCount val="2"/>
                <c:pt idx="0">
                  <c:v>Real emissions</c:v>
                </c:pt>
                <c:pt idx="1">
                  <c:v>Estimated emissions</c:v>
                </c:pt>
              </c:strCache>
            </c:strRef>
          </c:cat>
          <c:val>
            <c:numRef>
              <c:f>Hoja1!$B$2:$B$3</c:f>
              <c:numCache>
                <c:formatCode>#,##0.00</c:formatCode>
                <c:ptCount val="2"/>
                <c:pt idx="0">
                  <c:v>8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B5-437E-B4FF-EDCC131B8D5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s-ES" sz="1000" b="1" i="1" baseline="0" dirty="0">
                <a:solidFill>
                  <a:schemeClr val="tx1"/>
                </a:solidFill>
                <a:effectLst/>
              </a:rPr>
              <a:t>GHG </a:t>
            </a:r>
            <a:r>
              <a:rPr lang="es-ES" sz="1000" b="1" i="1" baseline="0" dirty="0" err="1">
                <a:solidFill>
                  <a:schemeClr val="tx1"/>
                </a:solidFill>
                <a:effectLst/>
              </a:rPr>
              <a:t>financed</a:t>
            </a:r>
            <a:r>
              <a:rPr lang="es-ES" sz="1000" b="1" i="1" baseline="0" dirty="0">
                <a:solidFill>
                  <a:schemeClr val="tx1"/>
                </a:solidFill>
                <a:effectLst/>
              </a:rPr>
              <a:t> emissions </a:t>
            </a:r>
            <a:r>
              <a:rPr lang="es-ES" sz="1000" b="1" i="1" baseline="0" dirty="0" err="1">
                <a:solidFill>
                  <a:schemeClr val="tx1"/>
                </a:solidFill>
                <a:effectLst/>
              </a:rPr>
              <a:t>breakdown</a:t>
            </a:r>
            <a:r>
              <a:rPr lang="es-ES" sz="1000" b="1" i="1" baseline="0" dirty="0">
                <a:solidFill>
                  <a:schemeClr val="tx1"/>
                </a:solidFill>
                <a:effectLst/>
              </a:rPr>
              <a:t> </a:t>
            </a:r>
            <a:r>
              <a:rPr lang="es-ES" sz="1000" b="1" i="1" baseline="0" dirty="0" err="1">
                <a:solidFill>
                  <a:schemeClr val="tx1"/>
                </a:solidFill>
                <a:effectLst/>
              </a:rPr>
              <a:t>by</a:t>
            </a:r>
            <a:r>
              <a:rPr lang="es-ES" sz="1000" b="1" i="1" baseline="0" dirty="0">
                <a:solidFill>
                  <a:schemeClr val="tx1"/>
                </a:solidFill>
                <a:effectLst/>
              </a:rPr>
              <a:t> </a:t>
            </a:r>
            <a:r>
              <a:rPr lang="es-ES" sz="1000" b="1" i="1" baseline="0" dirty="0" err="1">
                <a:solidFill>
                  <a:schemeClr val="tx1"/>
                </a:solidFill>
                <a:effectLst/>
              </a:rPr>
              <a:t>scope</a:t>
            </a:r>
            <a:endParaRPr lang="es-ES" sz="1000" dirty="0">
              <a:solidFill>
                <a:schemeClr val="tx1"/>
              </a:solidFill>
              <a:effectLst/>
            </a:endParaRPr>
          </a:p>
        </c:rich>
      </c:tx>
      <c:layout>
        <c:manualLayout>
          <c:xMode val="edge"/>
          <c:yMode val="edge"/>
          <c:x val="0.15213505617678993"/>
          <c:y val="7.013109654482836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15820774120150577"/>
          <c:y val="0.33094008073177061"/>
          <c:w val="0.73325958230023514"/>
          <c:h val="0.445473651075806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Hoja1!$A$2:$A$4</c:f>
              <c:strCache>
                <c:ptCount val="3"/>
                <c:pt idx="0">
                  <c:v>Scope 1</c:v>
                </c:pt>
                <c:pt idx="1">
                  <c:v>Scope 2</c:v>
                </c:pt>
                <c:pt idx="2">
                  <c:v>Scope 3</c:v>
                </c:pt>
              </c:strCache>
            </c:strRef>
          </c:cat>
          <c:val>
            <c:numRef>
              <c:f>Hoja1!$B$2:$B$4</c:f>
              <c:numCache>
                <c:formatCode>_-* #\ ##0\ _€_-;\-* #\ ##0\ _€_-;_-* "-"??\ _€_-;_-@_-</c:formatCode>
                <c:ptCount val="3"/>
                <c:pt idx="0">
                  <c:v>1956894</c:v>
                </c:pt>
                <c:pt idx="1">
                  <c:v>368104</c:v>
                </c:pt>
                <c:pt idx="2">
                  <c:v>5987323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2B-4CF9-83DA-4207FD9BF2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40711472"/>
        <c:axId val="-617526784"/>
      </c:barChart>
      <c:catAx>
        <c:axId val="-114071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6784"/>
        <c:crosses val="autoZero"/>
        <c:auto val="1"/>
        <c:lblAlgn val="ctr"/>
        <c:lblOffset val="100"/>
        <c:noMultiLvlLbl val="0"/>
      </c:catAx>
      <c:valAx>
        <c:axId val="-617526784"/>
        <c:scaling>
          <c:orientation val="minMax"/>
          <c:max val="700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€_-;\-* #\ ##0\ _€_-;_-* &quot;-&quot;??\ _€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114071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01662703010346"/>
          <c:y val="5.289738116311761E-2"/>
          <c:w val="0.45726517877106326"/>
          <c:h val="0.6246632304194651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EC9-42ED-84DC-981A61FB78C2}"/>
              </c:ext>
            </c:extLst>
          </c:dPt>
          <c:dPt>
            <c:idx val="1"/>
            <c:bubble3D val="0"/>
            <c:spPr>
              <a:solidFill>
                <a:srgbClr val="DEEDF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EC9-42ED-84DC-981A61FB78C2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EC9-42ED-84DC-981A61FB78C2}"/>
              </c:ext>
            </c:extLst>
          </c:dPt>
          <c:dLbls>
            <c:dLbl>
              <c:idx val="1"/>
              <c:layout>
                <c:manualLayout>
                  <c:x val="-0.18932963392076751"/>
                  <c:y val="-0.1273612051161902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antander Text" panose="020B0504020201020104" pitchFamily="34" charset="0"/>
                      <a:ea typeface="+mn-ea"/>
                      <a:cs typeface="+mn-cs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/>
                </c:ext>
                <c:ext xmlns:c16="http://schemas.microsoft.com/office/drawing/2014/chart" uri="{C3380CC4-5D6E-409C-BE32-E72D297353CC}">
                  <c16:uniqueId val="{00000003-3EC9-42ED-84DC-981A61FB78C2}"/>
                </c:ext>
              </c:extLst>
            </c:dLbl>
            <c:dLbl>
              <c:idx val="2"/>
              <c:layout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antander Text" panose="020B0504020201020104" pitchFamily="34" charset="0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/>
                </c:ext>
                <c:ext xmlns:c16="http://schemas.microsoft.com/office/drawing/2014/chart" uri="{C3380CC4-5D6E-409C-BE32-E72D297353CC}">
                  <c16:uniqueId val="{00000005-3EC9-42ED-84DC-981A61FB78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Without EPC label</c:v>
                </c:pt>
                <c:pt idx="1">
                  <c:v>Estimated</c:v>
                </c:pt>
                <c:pt idx="2">
                  <c:v>Real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47.253005000000002</c:v>
                </c:pt>
                <c:pt idx="1">
                  <c:v>14826.56899</c:v>
                </c:pt>
                <c:pt idx="2">
                  <c:v>7608.8615360000003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EC9-42ED-84DC-981A61FB78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097770189239182E-2"/>
          <c:y val="0.69718609534718246"/>
          <c:w val="0.593575319633311"/>
          <c:h val="0.26142042131600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03690415217204"/>
          <c:y val="9.1916481671314026E-2"/>
          <c:w val="0.68762843221929992"/>
          <c:h val="0.578797492923680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
Without EPC label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22-411F-93AE-C20726149CCB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GCA (Million)
Real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Hoja1!$C$2:$C$9</c:f>
              <c:numCache>
                <c:formatCode>General</c:formatCode>
                <c:ptCount val="8"/>
                <c:pt idx="0">
                  <c:v>872</c:v>
                </c:pt>
                <c:pt idx="1">
                  <c:v>1078</c:v>
                </c:pt>
                <c:pt idx="2">
                  <c:v>2041</c:v>
                </c:pt>
                <c:pt idx="3">
                  <c:v>2016</c:v>
                </c:pt>
                <c:pt idx="4">
                  <c:v>1136</c:v>
                </c:pt>
                <c:pt idx="5">
                  <c:v>462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22-411F-93AE-C20726149CCB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GCA (Million)
Estimated</c:v>
                </c:pt>
              </c:strCache>
            </c:strRef>
          </c:tx>
          <c:spPr>
            <a:solidFill>
              <a:srgbClr val="DEEDF1"/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Hoja1!$D$2:$D$9</c:f>
              <c:numCache>
                <c:formatCode>General</c:formatCode>
                <c:ptCount val="8"/>
                <c:pt idx="0">
                  <c:v>839</c:v>
                </c:pt>
                <c:pt idx="1">
                  <c:v>1697</c:v>
                </c:pt>
                <c:pt idx="2">
                  <c:v>4889</c:v>
                </c:pt>
                <c:pt idx="3">
                  <c:v>4308</c:v>
                </c:pt>
                <c:pt idx="4">
                  <c:v>1889</c:v>
                </c:pt>
                <c:pt idx="5">
                  <c:v>1124</c:v>
                </c:pt>
                <c:pt idx="6">
                  <c:v>78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22-411F-93AE-C20726149CCB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Total GCA (Million)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Hoja1!$E$2:$E$9</c:f>
              <c:numCache>
                <c:formatCode>General</c:formatCode>
                <c:ptCount val="8"/>
                <c:pt idx="0">
                  <c:v>1712</c:v>
                </c:pt>
                <c:pt idx="1">
                  <c:v>2776</c:v>
                </c:pt>
                <c:pt idx="2">
                  <c:v>6930</c:v>
                </c:pt>
                <c:pt idx="3">
                  <c:v>6324</c:v>
                </c:pt>
                <c:pt idx="4">
                  <c:v>3025</c:v>
                </c:pt>
                <c:pt idx="5">
                  <c:v>1587</c:v>
                </c:pt>
                <c:pt idx="6">
                  <c:v>79</c:v>
                </c:pt>
                <c:pt idx="7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6-4277-83EE-5A796055A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-617526240"/>
        <c:axId val="-617529504"/>
      </c:barChart>
      <c:catAx>
        <c:axId val="-617526240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9504"/>
        <c:crosses val="autoZero"/>
        <c:auto val="1"/>
        <c:lblAlgn val="ctr"/>
        <c:lblOffset val="100"/>
        <c:noMultiLvlLbl val="0"/>
      </c:catAx>
      <c:valAx>
        <c:axId val="-617529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6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4156415020145269E-2"/>
          <c:y val="0.75827412824092777"/>
          <c:w val="0.89423354314479286"/>
          <c:h val="0.233369827970770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48391010677765"/>
          <c:y val="7.8194162580536464E-2"/>
          <c:w val="0.53815239302330753"/>
          <c:h val="0.57407043793215196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10D-4BF8-887E-90CE2661E461}"/>
              </c:ext>
            </c:extLst>
          </c:dPt>
          <c:dPt>
            <c:idx val="1"/>
            <c:bubble3D val="0"/>
            <c:spPr>
              <a:solidFill>
                <a:srgbClr val="DEEDF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10D-4BF8-887E-90CE2661E461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10D-4BF8-887E-90CE2661E461}"/>
              </c:ext>
            </c:extLst>
          </c:dPt>
          <c:dLbls>
            <c:dLbl>
              <c:idx val="0"/>
              <c:layout>
                <c:manualLayout>
                  <c:x val="6.4811777706302531E-2"/>
                  <c:y val="1.2262127432909217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10D-4BF8-887E-90CE2661E461}"/>
                </c:ext>
              </c:extLst>
            </c:dLbl>
            <c:dLbl>
              <c:idx val="1"/>
              <c:layout>
                <c:manualLayout>
                  <c:x val="-8.7062802332357844E-2"/>
                  <c:y val="-0.2125347097426434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210D-4BF8-887E-90CE2661E461}"/>
                </c:ext>
              </c:extLst>
            </c:dLbl>
            <c:dLbl>
              <c:idx val="2"/>
              <c:layout>
                <c:manualLayout>
                  <c:x val="-7.9295070012133098E-4"/>
                  <c:y val="1.1659484091099018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210D-4BF8-887E-90CE2661E4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</c:ext>
            </c:extLst>
          </c:dLbls>
          <c:cat>
            <c:strRef>
              <c:f>Hoja1!$A$2:$A$4</c:f>
              <c:strCache>
                <c:ptCount val="3"/>
                <c:pt idx="0">
                  <c:v>Without EPC label</c:v>
                </c:pt>
                <c:pt idx="1">
                  <c:v>Estimated</c:v>
                </c:pt>
                <c:pt idx="2">
                  <c:v>Real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89.562126000000006</c:v>
                </c:pt>
                <c:pt idx="1">
                  <c:v>2812.574427</c:v>
                </c:pt>
                <c:pt idx="2">
                  <c:v>259.22418399999998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10D-4BF8-887E-90CE2661E4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097770189239182E-2"/>
          <c:y val="0.69718609534718246"/>
          <c:w val="0.593575319633311"/>
          <c:h val="0.26142042131600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709332867019895"/>
          <c:y val="0.14205274440112167"/>
          <c:w val="0.78683627619028329"/>
          <c:h val="0.528661230193873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
Without EPC label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Hoja1!$B$2:$B$9</c:f>
              <c:numCache>
                <c:formatCode>General</c:formatCode>
                <c:ptCount val="8"/>
                <c:pt idx="7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C4-4432-9A5E-C6232222745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GCA (Million)
Real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Hoja1!$C$2:$C$9</c:f>
              <c:numCache>
                <c:formatCode>General</c:formatCode>
                <c:ptCount val="8"/>
                <c:pt idx="0">
                  <c:v>8</c:v>
                </c:pt>
                <c:pt idx="1">
                  <c:v>97</c:v>
                </c:pt>
                <c:pt idx="2">
                  <c:v>53</c:v>
                </c:pt>
                <c:pt idx="3">
                  <c:v>58</c:v>
                </c:pt>
                <c:pt idx="4">
                  <c:v>28</c:v>
                </c:pt>
                <c:pt idx="5">
                  <c:v>12</c:v>
                </c:pt>
                <c:pt idx="6">
                  <c:v>0.9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C4-4432-9A5E-C62322227454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GCA (Million)
Estimated</c:v>
                </c:pt>
              </c:strCache>
            </c:strRef>
          </c:tx>
          <c:spPr>
            <a:solidFill>
              <a:srgbClr val="DEEDF1"/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Hoja1!$D$2:$D$9</c:f>
              <c:numCache>
                <c:formatCode>General</c:formatCode>
                <c:ptCount val="8"/>
                <c:pt idx="0">
                  <c:v>142</c:v>
                </c:pt>
                <c:pt idx="1">
                  <c:v>361</c:v>
                </c:pt>
                <c:pt idx="2">
                  <c:v>1306</c:v>
                </c:pt>
                <c:pt idx="3">
                  <c:v>586</c:v>
                </c:pt>
                <c:pt idx="4">
                  <c:v>279</c:v>
                </c:pt>
                <c:pt idx="5">
                  <c:v>104</c:v>
                </c:pt>
                <c:pt idx="6">
                  <c:v>31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C4-4432-9A5E-C62322227454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Total GCA (Million)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Hoja1!$E$2:$E$9</c:f>
              <c:numCache>
                <c:formatCode>General</c:formatCode>
                <c:ptCount val="8"/>
                <c:pt idx="0">
                  <c:v>150</c:v>
                </c:pt>
                <c:pt idx="1">
                  <c:v>458</c:v>
                </c:pt>
                <c:pt idx="2">
                  <c:v>1359</c:v>
                </c:pt>
                <c:pt idx="3">
                  <c:v>644</c:v>
                </c:pt>
                <c:pt idx="4">
                  <c:v>307</c:v>
                </c:pt>
                <c:pt idx="5">
                  <c:v>117</c:v>
                </c:pt>
                <c:pt idx="6">
                  <c:v>32</c:v>
                </c:pt>
                <c:pt idx="7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AC-47DF-AE4E-B3EF3FAFB8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-617527328"/>
        <c:axId val="-617528960"/>
      </c:barChart>
      <c:catAx>
        <c:axId val="-617527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8960"/>
        <c:crosses val="autoZero"/>
        <c:auto val="1"/>
        <c:lblAlgn val="ctr"/>
        <c:lblOffset val="100"/>
        <c:noMultiLvlLbl val="0"/>
      </c:catAx>
      <c:valAx>
        <c:axId val="-617528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5429601612687025E-2"/>
          <c:y val="0.74991808445262653"/>
          <c:w val="0.83438490564697876"/>
          <c:h val="0.250081915547373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48391010677765"/>
          <c:y val="7.8194162580536464E-2"/>
          <c:w val="0.53815239302330753"/>
          <c:h val="0.57407043793215196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2F6-4902-A83C-D7C3C7B2475D}"/>
              </c:ext>
            </c:extLst>
          </c:dPt>
          <c:dPt>
            <c:idx val="1"/>
            <c:bubble3D val="0"/>
            <c:spPr>
              <a:solidFill>
                <a:srgbClr val="DEEDF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2F6-4902-A83C-D7C3C7B2475D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2F6-4902-A83C-D7C3C7B2475D}"/>
              </c:ext>
            </c:extLst>
          </c:dPt>
          <c:dLbls>
            <c:dLbl>
              <c:idx val="0"/>
              <c:layout>
                <c:manualLayout>
                  <c:x val="8.9077979854593786E-2"/>
                  <c:y val="2.0890729959391213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2F6-4902-A83C-D7C3C7B2475D}"/>
                </c:ext>
              </c:extLst>
            </c:dLbl>
            <c:dLbl>
              <c:idx val="1"/>
              <c:layout>
                <c:manualLayout>
                  <c:x val="3.6792275577436855E-2"/>
                  <c:y val="-0.22138955830387491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2F6-4902-A83C-D7C3C7B2475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2F6-4902-A83C-D7C3C7B247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Hoja1!$A$2:$A$4</c:f>
              <c:strCache>
                <c:ptCount val="3"/>
                <c:pt idx="0">
                  <c:v>Without EPC label</c:v>
                </c:pt>
                <c:pt idx="1">
                  <c:v>Estimated</c:v>
                </c:pt>
                <c:pt idx="2">
                  <c:v>Real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89562126</c:v>
                </c:pt>
                <c:pt idx="1">
                  <c:v>3071798611</c:v>
                </c:pt>
                <c:pt idx="2" formatCode="_-* #\ ##0\ _€_-;\-* #\ ##0\ _€_-;_-* &quot;-&quot;??\ _€_-;_-@_-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F6-4902-A83C-D7C3C7B24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097770189239182E-2"/>
          <c:y val="0.69718609534718246"/>
          <c:w val="0.593575319633311"/>
          <c:h val="0.26142042131600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01662703010346"/>
          <c:y val="5.289738116311761E-2"/>
          <c:w val="0.45726517877106326"/>
          <c:h val="0.6246632304194651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C8E-499B-B954-60401ACDDD31}"/>
              </c:ext>
            </c:extLst>
          </c:dPt>
          <c:dPt>
            <c:idx val="1"/>
            <c:bubble3D val="0"/>
            <c:spPr>
              <a:solidFill>
                <a:srgbClr val="DEEDF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C8E-499B-B954-60401ACDDD31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C8E-499B-B954-60401ACDDD31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C8E-499B-B954-60401ACDDD31}"/>
                </c:ext>
              </c:extLst>
            </c:dLbl>
            <c:dLbl>
              <c:idx val="1"/>
              <c:layout>
                <c:manualLayout>
                  <c:x val="-1.0742524950708376E-3"/>
                  <c:y val="-0.30433557210044948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BC8E-499B-B954-60401ACDDD31}"/>
                </c:ext>
              </c:extLst>
            </c:dLbl>
            <c:dLbl>
              <c:idx val="2"/>
              <c:layout>
                <c:manualLayout>
                  <c:x val="-5.0845071853974896E-2"/>
                  <c:y val="5.5101438711580845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BC8E-499B-B954-60401ACDDD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</c:ext>
            </c:extLst>
          </c:dLbls>
          <c:cat>
            <c:strRef>
              <c:f>Hoja1!$A$2:$A$4</c:f>
              <c:strCache>
                <c:ptCount val="3"/>
                <c:pt idx="0">
                  <c:v>Without EPC label</c:v>
                </c:pt>
                <c:pt idx="1">
                  <c:v>Estimated</c:v>
                </c:pt>
                <c:pt idx="2">
                  <c:v>Real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47</c:v>
                </c:pt>
                <c:pt idx="1">
                  <c:v>22435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C8E-499B-B954-60401ACDDD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097770189239182E-2"/>
          <c:y val="0.69718609534718246"/>
          <c:w val="0.593575319633311"/>
          <c:h val="0.26142042131600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03690415217204"/>
          <c:y val="9.1916481671314026E-2"/>
          <c:w val="0.68762843221929992"/>
          <c:h val="0.578797492923680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
Without EPC label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Hoja1!$B$2:$B$8</c:f>
              <c:numCache>
                <c:formatCode>_-* #\ ##0\ _€_-;\-* #\ ##0\ _€_-;_-* "-"??\ _€_-;_-@_-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 formatCode="General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A7-4D69-AE79-AF8A3D63206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GCA (Million)
Real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Hoja1!$C$2:$C$8</c:f>
              <c:numCache>
                <c:formatCode>_-* #\ ##0\ _€_-;\-* #\ ##0\ _€_-;_-* "-"??\ _€_-;_-@_-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A7-4D69-AE79-AF8A3D63206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GCA (Million)
Estimated</c:v>
                </c:pt>
              </c:strCache>
            </c:strRef>
          </c:tx>
          <c:spPr>
            <a:solidFill>
              <a:srgbClr val="DEEDF1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Hoja1!$D$2:$D$8</c:f>
              <c:numCache>
                <c:formatCode>General</c:formatCode>
                <c:ptCount val="7"/>
                <c:pt idx="0">
                  <c:v>12512</c:v>
                </c:pt>
                <c:pt idx="1">
                  <c:v>8039</c:v>
                </c:pt>
                <c:pt idx="2">
                  <c:v>1745</c:v>
                </c:pt>
                <c:pt idx="3">
                  <c:v>136</c:v>
                </c:pt>
                <c:pt idx="4">
                  <c:v>0.9</c:v>
                </c:pt>
                <c:pt idx="5" formatCode="_-* #\ ##0\ _€_-;\-* #\ ##0\ _€_-;_-* &quot;-&quot;??\ _€_-;_-@_-">
                  <c:v>0</c:v>
                </c:pt>
                <c:pt idx="6" formatCode="_-* #\ ##0\ _€_-;\-* #\ ##0\ _€_-;_-* &quot;-&quot;??\ _€_-;_-@_-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A7-4D69-AE79-AF8A3D63206D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Total GCA (Million)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Hoja1!$E$2:$E$8</c:f>
              <c:numCache>
                <c:formatCode>General</c:formatCode>
                <c:ptCount val="7"/>
                <c:pt idx="0">
                  <c:v>12512</c:v>
                </c:pt>
                <c:pt idx="1">
                  <c:v>8039</c:v>
                </c:pt>
                <c:pt idx="2">
                  <c:v>1745</c:v>
                </c:pt>
                <c:pt idx="3">
                  <c:v>136</c:v>
                </c:pt>
                <c:pt idx="4">
                  <c:v>0.9</c:v>
                </c:pt>
                <c:pt idx="5">
                  <c:v>0</c:v>
                </c:pt>
                <c:pt idx="6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2-401F-ABD5-32E86D54D4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-617528416"/>
        <c:axId val="-617527872"/>
      </c:barChart>
      <c:catAx>
        <c:axId val="-61752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7872"/>
        <c:crosses val="autoZero"/>
        <c:auto val="1"/>
        <c:lblAlgn val="ctr"/>
        <c:lblOffset val="100"/>
        <c:noMultiLvlLbl val="0"/>
      </c:catAx>
      <c:valAx>
        <c:axId val="-61752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€_-;\-* #\ ##0\ _€_-;_-* &quot;-&quot;??\ _€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8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2659832926048778E-2"/>
          <c:y val="0.7809032159583329"/>
          <c:w val="0.9197730805180695"/>
          <c:h val="0.210740740253365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03690415217204"/>
          <c:y val="9.1916481671314026E-2"/>
          <c:w val="0.68762843221929992"/>
          <c:h val="0.578797492923680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
Without EPC label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Hoja1!$B$2:$B$8</c:f>
              <c:numCache>
                <c:formatCode>_-* #\ ##0\ _€_-;\-* #\ ##0\ _€_-;_-* "-"??\ _€_-;_-@_-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 formatCode="General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11-4839-B3EF-623458132660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GCA (Million)
Real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Hoja1!$C$2:$C$8</c:f>
              <c:numCache>
                <c:formatCode>_-* #\ ##0\ _€_-;\-* #\ ##0\ _€_-;_-* "-"??\ _€_-;_-@_-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11-4839-B3EF-623458132660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GCA (Million)
Estimated</c:v>
                </c:pt>
              </c:strCache>
            </c:strRef>
          </c:tx>
          <c:spPr>
            <a:solidFill>
              <a:srgbClr val="DEEDF1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Hoja1!$D$2:$D$8</c:f>
              <c:numCache>
                <c:formatCode>General</c:formatCode>
                <c:ptCount val="7"/>
                <c:pt idx="0">
                  <c:v>1206</c:v>
                </c:pt>
                <c:pt idx="1">
                  <c:v>1661</c:v>
                </c:pt>
                <c:pt idx="2">
                  <c:v>193</c:v>
                </c:pt>
                <c:pt idx="3">
                  <c:v>9</c:v>
                </c:pt>
                <c:pt idx="4">
                  <c:v>1</c:v>
                </c:pt>
                <c:pt idx="5">
                  <c:v>0.4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11-4839-B3EF-623458132660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Total GCA (Million)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Hoja1!$E$2:$E$8</c:f>
              <c:numCache>
                <c:formatCode>General</c:formatCode>
                <c:ptCount val="7"/>
                <c:pt idx="0">
                  <c:v>1206</c:v>
                </c:pt>
                <c:pt idx="1">
                  <c:v>1661</c:v>
                </c:pt>
                <c:pt idx="2">
                  <c:v>193</c:v>
                </c:pt>
                <c:pt idx="3">
                  <c:v>9</c:v>
                </c:pt>
                <c:pt idx="4">
                  <c:v>1</c:v>
                </c:pt>
                <c:pt idx="5">
                  <c:v>0.4</c:v>
                </c:pt>
                <c:pt idx="6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67-4B28-9409-405B66F15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-617974080"/>
        <c:axId val="-617973536"/>
      </c:barChart>
      <c:catAx>
        <c:axId val="-61797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973536"/>
        <c:crosses val="autoZero"/>
        <c:auto val="1"/>
        <c:lblAlgn val="ctr"/>
        <c:lblOffset val="100"/>
        <c:noMultiLvlLbl val="0"/>
      </c:catAx>
      <c:valAx>
        <c:axId val="-617973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€_-;\-* #\ ##0\ _€_-;_-* &quot;-&quot;??\ _€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974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1386646333507008E-2"/>
          <c:y val="0.77254717217003166"/>
          <c:w val="0.92540967381434036"/>
          <c:h val="0.210740740253365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01662703010346"/>
          <c:y val="5.289738116311761E-2"/>
          <c:w val="0.45726517877106326"/>
          <c:h val="0.6246632304194651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EC9-42ED-84DC-981A61FB78C2}"/>
              </c:ext>
            </c:extLst>
          </c:dPt>
          <c:dPt>
            <c:idx val="1"/>
            <c:bubble3D val="0"/>
            <c:spPr>
              <a:solidFill>
                <a:srgbClr val="DEEDF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EC9-42ED-84DC-981A61FB78C2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EC9-42ED-84DC-981A61FB78C2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EC9-42ED-84DC-981A61FB78C2}"/>
                </c:ext>
              </c:extLst>
            </c:dLbl>
            <c:dLbl>
              <c:idx val="1"/>
              <c:layout>
                <c:manualLayout>
                  <c:x val="-0.18175534703964857"/>
                  <c:y val="-9.5549968481081313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3EC9-42ED-84DC-981A61FB78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Hoja1!$A$2:$A$4</c:f>
              <c:strCache>
                <c:ptCount val="3"/>
                <c:pt idx="0">
                  <c:v>Without EPC label</c:v>
                </c:pt>
                <c:pt idx="1">
                  <c:v>Estimated</c:v>
                </c:pt>
                <c:pt idx="2">
                  <c:v>Real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46</c:v>
                </c:pt>
                <c:pt idx="1">
                  <c:v>14639</c:v>
                </c:pt>
                <c:pt idx="2">
                  <c:v>7795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EC9-42ED-84DC-981A61FB78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097770189239182E-2"/>
          <c:y val="0.69718609534718246"/>
          <c:w val="0.593575319633311"/>
          <c:h val="0.26142042131600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03690415217204"/>
          <c:y val="9.1916481671314026E-2"/>
          <c:w val="0.68762843221929992"/>
          <c:h val="0.578797492923680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
Without EPC label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Hoja1!$B$2:$B$9</c:f>
              <c:numCache>
                <c:formatCode>_-* #\ ##0\ "€"_-;\-* #\ ##0\ "€"_-;_-* "-"??\ "€"_-;_-@_-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45.558537999999999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22-411F-93AE-C20726149CCB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GCA (Million)
Real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Hoja1!$C$2:$C$9</c:f>
              <c:numCache>
                <c:formatCode>_-* #\ ##0\ "€"_-;\-* #\ ##0\ "€"_-;_-* "-"??\ "€"_-;_-@_-</c:formatCode>
                <c:ptCount val="8"/>
                <c:pt idx="0">
                  <c:v>894.43398300000001</c:v>
                </c:pt>
                <c:pt idx="1">
                  <c:v>1104.716664</c:v>
                </c:pt>
                <c:pt idx="2">
                  <c:v>2091.199556</c:v>
                </c:pt>
                <c:pt idx="3">
                  <c:v>2065.0608739999998</c:v>
                </c:pt>
                <c:pt idx="4">
                  <c:v>1164.018489</c:v>
                </c:pt>
                <c:pt idx="5">
                  <c:v>473.92301500000002</c:v>
                </c:pt>
                <c:pt idx="6">
                  <c:v>1.2540610000000001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22-411F-93AE-C20726149CCB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GCA (Million)
Estimated</c:v>
                </c:pt>
              </c:strCache>
            </c:strRef>
          </c:tx>
          <c:spPr>
            <a:solidFill>
              <a:srgbClr val="DEEDF1"/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Hoja1!$D$2:$D$9</c:f>
              <c:numCache>
                <c:formatCode>_-* #\ ##0\ "€"_-;\-* #\ ##0\ "€"_-;_-* "-"??\ "€"_-;_-@_-</c:formatCode>
                <c:ptCount val="8"/>
                <c:pt idx="0">
                  <c:v>836.70288400000004</c:v>
                </c:pt>
                <c:pt idx="1">
                  <c:v>1674.68316</c:v>
                </c:pt>
                <c:pt idx="2">
                  <c:v>4830.9985219999999</c:v>
                </c:pt>
                <c:pt idx="3">
                  <c:v>4254.1691300000002</c:v>
                </c:pt>
                <c:pt idx="4">
                  <c:v>1856.2581170000001</c:v>
                </c:pt>
                <c:pt idx="5">
                  <c:v>1112.1916289999999</c:v>
                </c:pt>
                <c:pt idx="6">
                  <c:v>74.313727999999998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22-411F-93AE-C20726149CCB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Total GCA (Million)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Hoja1!$E$2:$E$9</c:f>
              <c:numCache>
                <c:formatCode>_-* #\ ##0\ "€"_-;\-* #\ ##0\ "€"_-;_-* "-"??\ "€"_-;_-@_-</c:formatCode>
                <c:ptCount val="8"/>
                <c:pt idx="0">
                  <c:v>1731.1368669999999</c:v>
                </c:pt>
                <c:pt idx="1">
                  <c:v>2779.3998240000001</c:v>
                </c:pt>
                <c:pt idx="2">
                  <c:v>6922.1980780000004</c:v>
                </c:pt>
                <c:pt idx="3">
                  <c:v>6319.230004</c:v>
                </c:pt>
                <c:pt idx="4">
                  <c:v>3020.2766059999999</c:v>
                </c:pt>
                <c:pt idx="5">
                  <c:v>1586.114644</c:v>
                </c:pt>
                <c:pt idx="6">
                  <c:v>75.567789000000005</c:v>
                </c:pt>
                <c:pt idx="7">
                  <c:v>45.558537999999999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6-4277-83EE-5A796055A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-617526240"/>
        <c:axId val="-617529504"/>
      </c:barChart>
      <c:catAx>
        <c:axId val="-617526240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9504"/>
        <c:crosses val="autoZero"/>
        <c:auto val="1"/>
        <c:lblAlgn val="ctr"/>
        <c:lblOffset val="100"/>
        <c:noMultiLvlLbl val="0"/>
      </c:catAx>
      <c:valAx>
        <c:axId val="-617529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6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4156415020145269E-2"/>
          <c:y val="0.75827412824092777"/>
          <c:w val="0.89423354314479286"/>
          <c:h val="0.233369827970770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48391010677765"/>
          <c:y val="7.8194162580536464E-2"/>
          <c:w val="0.53815239302330753"/>
          <c:h val="0.57407043793215196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10D-4BF8-887E-90CE2661E461}"/>
              </c:ext>
            </c:extLst>
          </c:dPt>
          <c:dPt>
            <c:idx val="1"/>
            <c:bubble3D val="0"/>
            <c:spPr>
              <a:solidFill>
                <a:srgbClr val="DEEDF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10D-4BF8-887E-90CE2661E461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10D-4BF8-887E-90CE2661E461}"/>
              </c:ext>
            </c:extLst>
          </c:dPt>
          <c:dLbls>
            <c:dLbl>
              <c:idx val="0"/>
              <c:layout>
                <c:manualLayout>
                  <c:x val="1.5632963937975208E-2"/>
                  <c:y val="0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10D-4BF8-887E-90CE2661E461}"/>
                </c:ext>
              </c:extLst>
            </c:dLbl>
            <c:dLbl>
              <c:idx val="2"/>
              <c:layout>
                <c:manualLayout>
                  <c:x val="1.9364356237947321E-2"/>
                  <c:y val="0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210D-4BF8-887E-90CE2661E4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Hoja1!$A$2:$A$4</c:f>
              <c:strCache>
                <c:ptCount val="3"/>
                <c:pt idx="0">
                  <c:v>Without EPC label</c:v>
                </c:pt>
                <c:pt idx="1">
                  <c:v>Estimated</c:v>
                </c:pt>
                <c:pt idx="2">
                  <c:v>Real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258</c:v>
                </c:pt>
                <c:pt idx="1">
                  <c:v>2897</c:v>
                </c:pt>
                <c:pt idx="2">
                  <c:v>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10D-4BF8-887E-90CE2661E4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097770189239182E-2"/>
          <c:y val="0.69718609534718246"/>
          <c:w val="0.593575319633311"/>
          <c:h val="0.26142042131600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03690415217204"/>
          <c:y val="9.1916481671314026E-2"/>
          <c:w val="0.68762843221929992"/>
          <c:h val="0.578797492923680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
Without EPC label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Hoja1!$B$2:$B$9</c:f>
              <c:numCache>
                <c:formatCode>General</c:formatCode>
                <c:ptCount val="8"/>
                <c:pt idx="7" formatCode="_-* #\ ##0\ &quot;€&quot;_-;\-* #\ ##0\ &quot;€&quot;_-;_-* &quot;-&quot;??\ &quot;€&quot;_-;_-@_-">
                  <c:v>257.58750400000002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C4-4432-9A5E-C6232222745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GCA (Million)
Real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Hoja1!$C$2:$C$9</c:f>
              <c:numCache>
                <c:formatCode>_-* #\ ##0\ "€"_-;\-* #\ ##0\ "€"_-;_-* "-"??\ "€"_-;_-@_-</c:formatCode>
                <c:ptCount val="8"/>
                <c:pt idx="0">
                  <c:v>8.3393669999999993</c:v>
                </c:pt>
                <c:pt idx="1">
                  <c:v>98.994236000000001</c:v>
                </c:pt>
                <c:pt idx="2">
                  <c:v>54.397782999999997</c:v>
                </c:pt>
                <c:pt idx="3">
                  <c:v>59.213031000000001</c:v>
                </c:pt>
                <c:pt idx="4">
                  <c:v>28.937559</c:v>
                </c:pt>
                <c:pt idx="5">
                  <c:v>13.168663</c:v>
                </c:pt>
                <c:pt idx="6">
                  <c:v>0.96301999999999999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C4-4432-9A5E-C62322227454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GCA (Million)
Estimated</c:v>
                </c:pt>
              </c:strCache>
            </c:strRef>
          </c:tx>
          <c:spPr>
            <a:solidFill>
              <a:srgbClr val="DEEDF1"/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Hoja1!$D$2:$D$9</c:f>
              <c:numCache>
                <c:formatCode>_-* #\ ##0\ "€"_-;\-* #\ ##0\ "€"_-;_-* "-"??\ "€"_-;_-@_-</c:formatCode>
                <c:ptCount val="8"/>
                <c:pt idx="0">
                  <c:v>143.74841599999999</c:v>
                </c:pt>
                <c:pt idx="1">
                  <c:v>367.86048799999998</c:v>
                </c:pt>
                <c:pt idx="2">
                  <c:v>1372.85339</c:v>
                </c:pt>
                <c:pt idx="3">
                  <c:v>595.83377800000005</c:v>
                </c:pt>
                <c:pt idx="4">
                  <c:v>279.40026799999998</c:v>
                </c:pt>
                <c:pt idx="5">
                  <c:v>106.074517</c:v>
                </c:pt>
                <c:pt idx="6">
                  <c:v>31.551791999999999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C4-4432-9A5E-C62322227454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Total GCA (Million)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Hoja1!$A$2:$A$9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Without EPC label</c:v>
                </c:pt>
              </c:strCache>
            </c:strRef>
          </c:cat>
          <c:val>
            <c:numRef>
              <c:f>Hoja1!$E$2:$E$9</c:f>
              <c:numCache>
                <c:formatCode>_-* #\ ##0\ "€"_-;\-* #\ ##0\ "€"_-;_-* "-"??\ "€"_-;_-@_-</c:formatCode>
                <c:ptCount val="8"/>
                <c:pt idx="0">
                  <c:v>152.087783</c:v>
                </c:pt>
                <c:pt idx="1">
                  <c:v>466.85472399999998</c:v>
                </c:pt>
                <c:pt idx="2">
                  <c:v>1427.2511730000001</c:v>
                </c:pt>
                <c:pt idx="3">
                  <c:v>655.04680900000005</c:v>
                </c:pt>
                <c:pt idx="4">
                  <c:v>308.337827</c:v>
                </c:pt>
                <c:pt idx="5">
                  <c:v>119.24318</c:v>
                </c:pt>
                <c:pt idx="6">
                  <c:v>32.514811999999999</c:v>
                </c:pt>
                <c:pt idx="7">
                  <c:v>257.58750400000002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AC-47DF-AE4E-B3EF3FAFB8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-617527328"/>
        <c:axId val="-617528960"/>
      </c:barChart>
      <c:catAx>
        <c:axId val="-617527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8960"/>
        <c:crosses val="autoZero"/>
        <c:auto val="1"/>
        <c:lblAlgn val="ctr"/>
        <c:lblOffset val="100"/>
        <c:noMultiLvlLbl val="0"/>
      </c:catAx>
      <c:valAx>
        <c:axId val="-617528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5429601612687025E-2"/>
          <c:y val="0.74991808445262653"/>
          <c:w val="0.83438490564697876"/>
          <c:h val="0.250081915547373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01662703010346"/>
          <c:y val="5.289738116311761E-2"/>
          <c:w val="0.45726517877106326"/>
          <c:h val="0.6246632304194651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C8E-499B-B954-60401ACDDD31}"/>
              </c:ext>
            </c:extLst>
          </c:dPt>
          <c:dPt>
            <c:idx val="1"/>
            <c:bubble3D val="0"/>
            <c:spPr>
              <a:solidFill>
                <a:srgbClr val="DEEDF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C8E-499B-B954-60401ACDDD31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C8E-499B-B954-60401ACDDD31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C8E-499B-B954-60401ACDDD31}"/>
                </c:ext>
              </c:extLst>
            </c:dLbl>
            <c:dLbl>
              <c:idx val="1"/>
              <c:layout>
                <c:manualLayout>
                  <c:x val="2.5622732179982999E-3"/>
                  <c:y val="-0.30595224379284519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BC8E-499B-B954-60401ACDDD3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C8E-499B-B954-60401ACDDD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Hoja1!$A$2:$A$4</c:f>
              <c:strCache>
                <c:ptCount val="3"/>
                <c:pt idx="0">
                  <c:v>Without EPC label</c:v>
                </c:pt>
                <c:pt idx="1">
                  <c:v>Estimated</c:v>
                </c:pt>
                <c:pt idx="2">
                  <c:v>Real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46</c:v>
                </c:pt>
                <c:pt idx="1">
                  <c:v>22434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C8E-499B-B954-60401ACDDD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097770189239182E-2"/>
          <c:y val="0.69718609534718246"/>
          <c:w val="0.593575319633311"/>
          <c:h val="0.26142042131600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03690415217204"/>
          <c:y val="9.1916481671314026E-2"/>
          <c:w val="0.68762843221929992"/>
          <c:h val="0.578797492923680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
Without EPC label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Hoja1!$B$2:$B$8</c:f>
              <c:numCache>
                <c:formatCode>_-* #\ ##0\ _€_-;\-* #\ ##0\ _€_-;_-* "-"??\ _€_-;_-@_-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 formatCode="_-* #\ ##0\ &quot;€&quot;_-;\-* #\ ##0\ &quot;€&quot;_-;_-* &quot;-&quot;??\ &quot;€&quot;_-;_-@_-">
                  <c:v>45.558537999999999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A7-4D69-AE79-AF8A3D63206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GCA (Million)
Real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Hoja1!$C$2:$C$8</c:f>
              <c:numCache>
                <c:formatCode>_-* #\ ##0\ "€"_-;\-* #\ ##0\ "€"_-;_-* "-"??\ "€"_-;_-@_-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A7-4D69-AE79-AF8A3D63206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GCA (Million)
Estimated</c:v>
                </c:pt>
              </c:strCache>
            </c:strRef>
          </c:tx>
          <c:spPr>
            <a:solidFill>
              <a:srgbClr val="DEEDF1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Hoja1!$D$2:$D$8</c:f>
              <c:numCache>
                <c:formatCode>_-* #\ ##0\ "€"_-;\-* #\ ##0\ "€"_-;_-* "-"??\ "€"_-;_-@_-</c:formatCode>
                <c:ptCount val="7"/>
                <c:pt idx="0">
                  <c:v>12513.187575</c:v>
                </c:pt>
                <c:pt idx="1">
                  <c:v>8046.375153</c:v>
                </c:pt>
                <c:pt idx="2">
                  <c:v>1738.7908689999999</c:v>
                </c:pt>
                <c:pt idx="3">
                  <c:v>134.615612</c:v>
                </c:pt>
                <c:pt idx="4">
                  <c:v>0.95460299999999998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A7-4D69-AE79-AF8A3D63206D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Total GCA (Million)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Hoja1!$E$2:$E$8</c:f>
              <c:numCache>
                <c:formatCode>_-* #\ ##0\ "€"_-;\-* #\ ##0\ "€"_-;_-* "-"??\ "€"_-;_-@_-</c:formatCode>
                <c:ptCount val="7"/>
                <c:pt idx="0">
                  <c:v>12513.187575</c:v>
                </c:pt>
                <c:pt idx="1">
                  <c:v>8046.375153</c:v>
                </c:pt>
                <c:pt idx="2">
                  <c:v>1738.7908689999999</c:v>
                </c:pt>
                <c:pt idx="3">
                  <c:v>134.615612</c:v>
                </c:pt>
                <c:pt idx="4">
                  <c:v>0.95460299999999998</c:v>
                </c:pt>
                <c:pt idx="5">
                  <c:v>0</c:v>
                </c:pt>
                <c:pt idx="6">
                  <c:v>45.558537999999999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2-401F-ABD5-32E86D54D4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-617528416"/>
        <c:axId val="-617527872"/>
      </c:barChart>
      <c:catAx>
        <c:axId val="-61752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7872"/>
        <c:crosses val="autoZero"/>
        <c:auto val="1"/>
        <c:lblAlgn val="ctr"/>
        <c:lblOffset val="100"/>
        <c:noMultiLvlLbl val="0"/>
      </c:catAx>
      <c:valAx>
        <c:axId val="-61752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€_-;\-* #\ ##0\ _€_-;_-* &quot;-&quot;??\ _€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528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8103040939311144E-2"/>
          <c:y val="0.78957070707070709"/>
          <c:w val="0.94189695906068893"/>
          <c:h val="0.202072754572754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48391010677765"/>
          <c:y val="7.8194162580536464E-2"/>
          <c:w val="0.53815239302330753"/>
          <c:h val="0.57407043793215196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2F6-4902-A83C-D7C3C7B2475D}"/>
              </c:ext>
            </c:extLst>
          </c:dPt>
          <c:dPt>
            <c:idx val="1"/>
            <c:bubble3D val="0"/>
            <c:spPr>
              <a:solidFill>
                <a:srgbClr val="DEEDF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2F6-4902-A83C-D7C3C7B2475D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2F6-4902-A83C-D7C3C7B2475D}"/>
              </c:ext>
            </c:extLst>
          </c:dPt>
          <c:dLbls>
            <c:dLbl>
              <c:idx val="0"/>
              <c:layout>
                <c:manualLayout>
                  <c:x val="4.3132696637443194E-2"/>
                  <c:y val="5.1900704488028323E-3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2F6-4902-A83C-D7C3C7B2475D}"/>
                </c:ext>
              </c:extLst>
            </c:dLbl>
            <c:dLbl>
              <c:idx val="1"/>
              <c:layout>
                <c:manualLayout>
                  <c:x val="4.4849801125416741E-2"/>
                  <c:y val="-0.238521750532833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2F6-4902-A83C-D7C3C7B247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Hoja1!$A$2:$A$4</c:f>
              <c:strCache>
                <c:ptCount val="3"/>
                <c:pt idx="0">
                  <c:v>Without EPC label</c:v>
                </c:pt>
                <c:pt idx="1">
                  <c:v>Estimated</c:v>
                </c:pt>
                <c:pt idx="2">
                  <c:v>Real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3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F6-4902-A83C-D7C3C7B24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097770189239182E-2"/>
          <c:y val="0.69718609534718246"/>
          <c:w val="0.593575319633311"/>
          <c:h val="0.26142042131600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03690415217204"/>
          <c:y val="9.1916481671314026E-2"/>
          <c:w val="0.68762843221929992"/>
          <c:h val="0.578797492923680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GCA (Million)
Without EPC label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Hoja1!$B$2:$B$8</c:f>
              <c:numCache>
                <c:formatCode>_-* #\ ##0\ "€"_-;\-* #\ ##0\ "€"_-;_-* "-"??\ "€"_-;_-@_-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257.58750400000002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11-4839-B3EF-623458132660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GCA (Million)
Real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Hoja1!$C$2:$C$8</c:f>
              <c:numCache>
                <c:formatCode>_-* #\ ##0\ "€"_-;\-* #\ ##0\ "€"_-;_-* "-"??\ "€"_-;_-@_-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11-4839-B3EF-623458132660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GCA (Million)
Estimated</c:v>
                </c:pt>
              </c:strCache>
            </c:strRef>
          </c:tx>
          <c:spPr>
            <a:solidFill>
              <a:srgbClr val="DEEDF1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Hoja1!$D$2:$D$8</c:f>
              <c:numCache>
                <c:formatCode>_-* #\ ##0\ "€"_-;\-* #\ ##0\ "€"_-;_-* "-"??\ "€"_-;_-@_-</c:formatCode>
                <c:ptCount val="7"/>
                <c:pt idx="0">
                  <c:v>1227.5006860000001</c:v>
                </c:pt>
                <c:pt idx="1">
                  <c:v>1727.0605969999999</c:v>
                </c:pt>
                <c:pt idx="2">
                  <c:v>195.56030000000001</c:v>
                </c:pt>
                <c:pt idx="3">
                  <c:v>9.3439080000000008</c:v>
                </c:pt>
                <c:pt idx="4">
                  <c:v>1.4568810000000001</c:v>
                </c:pt>
                <c:pt idx="5">
                  <c:v>0.41393600000000003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11-4839-B3EF-623458132660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Total GCA (Million)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0; &lt;= 100</c:v>
                </c:pt>
                <c:pt idx="1">
                  <c:v>&gt; 100; &lt;= 200</c:v>
                </c:pt>
                <c:pt idx="2">
                  <c:v>&gt; 200; &lt;= 300</c:v>
                </c:pt>
                <c:pt idx="3">
                  <c:v>&gt; 300; &lt;= 400</c:v>
                </c:pt>
                <c:pt idx="4">
                  <c:v>&gt; 400; &lt;= 500</c:v>
                </c:pt>
                <c:pt idx="5">
                  <c:v>&gt; 500</c:v>
                </c:pt>
                <c:pt idx="6">
                  <c:v>Without EP Score</c:v>
                </c:pt>
              </c:strCache>
            </c:strRef>
          </c:cat>
          <c:val>
            <c:numRef>
              <c:f>Hoja1!$E$2:$E$8</c:f>
              <c:numCache>
                <c:formatCode>_-* #\ ##0\ "€"_-;\-* #\ ##0\ "€"_-;_-* "-"??\ "€"_-;_-@_-</c:formatCode>
                <c:ptCount val="7"/>
                <c:pt idx="0">
                  <c:v>1227.5006860000001</c:v>
                </c:pt>
                <c:pt idx="1">
                  <c:v>1727.0605969999999</c:v>
                </c:pt>
                <c:pt idx="2">
                  <c:v>195.56030000000001</c:v>
                </c:pt>
                <c:pt idx="3">
                  <c:v>9.3439080000000008</c:v>
                </c:pt>
                <c:pt idx="4">
                  <c:v>1.4568810000000001</c:v>
                </c:pt>
                <c:pt idx="5">
                  <c:v>0.41393600000000003</c:v>
                </c:pt>
                <c:pt idx="6">
                  <c:v>257.58750400000002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67-4B28-9409-405B66F15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-617974080"/>
        <c:axId val="-617973536"/>
      </c:barChart>
      <c:catAx>
        <c:axId val="-61797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973536"/>
        <c:crosses val="autoZero"/>
        <c:auto val="1"/>
        <c:lblAlgn val="ctr"/>
        <c:lblOffset val="100"/>
        <c:noMultiLvlLbl val="0"/>
      </c:catAx>
      <c:valAx>
        <c:axId val="-617973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&quot;€&quot;_-;\-* #\ ##0\ &quot;€&quot;_-;_-* &quot;-&quot;??\ &quot;€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974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1386646333507008E-2"/>
          <c:y val="0.77254717217003166"/>
          <c:w val="0.92540967381434036"/>
          <c:h val="0.210740740253365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baseline="0" dirty="0">
                <a:effectLst/>
              </a:rPr>
              <a:t>% of physical risk by NACE</a:t>
            </a:r>
            <a:endParaRPr lang="es-ES" sz="900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%Physical risk - acute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Hoja1!$A$2:$A$12</c:f>
              <c:strCache>
                <c:ptCount val="11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L</c:v>
                </c:pt>
              </c:strCache>
            </c:strRef>
          </c:cat>
          <c:val>
            <c:numRef>
              <c:f>Hoja1!$B$2:$B$12</c:f>
              <c:numCache>
                <c:formatCode>0.00%</c:formatCode>
                <c:ptCount val="11"/>
                <c:pt idx="0">
                  <c:v>6.7793752035125805E-4</c:v>
                </c:pt>
                <c:pt idx="1">
                  <c:v>2.0440939762664742E-5</c:v>
                </c:pt>
                <c:pt idx="2">
                  <c:v>6.5210115673762156E-3</c:v>
                </c:pt>
                <c:pt idx="3">
                  <c:v>1.5153175632258011E-4</c:v>
                </c:pt>
                <c:pt idx="4">
                  <c:v>2.7816278424625288E-4</c:v>
                </c:pt>
                <c:pt idx="5">
                  <c:v>1.7911751732318702E-2</c:v>
                </c:pt>
                <c:pt idx="6">
                  <c:v>5.628648470755288E-3</c:v>
                </c:pt>
                <c:pt idx="7">
                  <c:v>7.904987795562651E-3</c:v>
                </c:pt>
                <c:pt idx="8">
                  <c:v>2.4356484309521826E-2</c:v>
                </c:pt>
                <c:pt idx="9">
                  <c:v>9.7975300113416577E-4</c:v>
                </c:pt>
                <c:pt idx="10">
                  <c:v>6.2378990168321949E-2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E2-4CC0-A4C9-E0872EC25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617980064"/>
        <c:axId val="-617979520"/>
      </c:barChart>
      <c:catAx>
        <c:axId val="-617980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979520"/>
        <c:crosses val="autoZero"/>
        <c:auto val="1"/>
        <c:lblAlgn val="ctr"/>
        <c:lblOffset val="100"/>
        <c:noMultiLvlLbl val="0"/>
      </c:catAx>
      <c:valAx>
        <c:axId val="-61797952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crossAx val="-617980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baseline="0" dirty="0">
                <a:effectLst/>
              </a:rPr>
              <a:t>% of physical risk by NACE</a:t>
            </a:r>
            <a:endParaRPr lang="es-ES" sz="900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%Physical risk - chronic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Hoja1!$A$2:$A$12</c:f>
              <c:strCache>
                <c:ptCount val="11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L</c:v>
                </c:pt>
              </c:strCache>
            </c:strRef>
          </c:cat>
          <c:val>
            <c:numRef>
              <c:f>Hoja1!$B$2:$B$12</c:f>
              <c:numCache>
                <c:formatCode>0%</c:formatCode>
                <c:ptCount val="11"/>
                <c:pt idx="0">
                  <c:v>0.10926655745397902</c:v>
                </c:pt>
                <c:pt idx="1">
                  <c:v>8.1665258467221915E-3</c:v>
                </c:pt>
                <c:pt idx="2">
                  <c:v>0.60477117140563263</c:v>
                </c:pt>
                <c:pt idx="3">
                  <c:v>0.23897594509258571</c:v>
                </c:pt>
                <c:pt idx="4">
                  <c:v>2.1925438551955567E-6</c:v>
                </c:pt>
                <c:pt idx="5">
                  <c:v>8.7186808359118375E-3</c:v>
                </c:pt>
                <c:pt idx="6">
                  <c:v>2.8297928017686196E-2</c:v>
                </c:pt>
                <c:pt idx="7">
                  <c:v>1.8031913474824313E-3</c:v>
                </c:pt>
                <c:pt idx="8">
                  <c:v>1.8031913474824313E-3</c:v>
                </c:pt>
                <c:pt idx="9">
                  <c:v>1.8031913474824313E-3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6D-4D2E-AE9F-704AA6BCB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617972992"/>
        <c:axId val="-617978976"/>
      </c:barChart>
      <c:catAx>
        <c:axId val="-61797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978976"/>
        <c:crosses val="autoZero"/>
        <c:auto val="1"/>
        <c:lblAlgn val="ctr"/>
        <c:lblOffset val="100"/>
        <c:noMultiLvlLbl val="0"/>
      </c:catAx>
      <c:valAx>
        <c:axId val="-61797897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-617972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dirty="0">
                <a:latin typeface="Santander Text" panose="020B0504020201020104" pitchFamily="34" charset="0"/>
              </a:rPr>
              <a:t>Residential property</a:t>
            </a:r>
          </a:p>
        </c:rich>
      </c:tx>
      <c:layout>
        <c:manualLayout>
          <c:xMode val="edge"/>
          <c:yMode val="edge"/>
          <c:x val="0.32440981067877644"/>
          <c:y val="4.5998726523445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2319607063662828"/>
          <c:y val="0.20935433000138359"/>
          <c:w val="0.50182719064650994"/>
          <c:h val="0.673940743498786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Physical risk - Acute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2C9-41A5-AFAE-48FDFC813BC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2C9-41A5-AFAE-48FDFC813BC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1" u="none" strike="noStrike" kern="1200" baseline="0">
                      <a:solidFill>
                        <a:schemeClr val="bg1"/>
                      </a:solidFill>
                      <a:latin typeface="Santander Text" panose="020B0504020201020104" pitchFamily="34" charset="0"/>
                      <a:ea typeface="+mn-ea"/>
                      <a:cs typeface="+mn-cs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32C9-41A5-AFAE-48FDFC813B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8152454087</c:v>
                </c:pt>
                <c:pt idx="1">
                  <c:v>14136437119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C9-41A5-AFAE-48FDFC813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4691238492744372"/>
          <c:y val="0.37489874684328395"/>
          <c:w val="0.18435234384734342"/>
          <c:h val="0.175127948559120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dirty="0">
                <a:latin typeface="Santander Text" panose="020B0504020201020104" pitchFamily="34" charset="0"/>
              </a:rPr>
              <a:t>Commercial property</a:t>
            </a:r>
          </a:p>
        </c:rich>
      </c:tx>
      <c:layout>
        <c:manualLayout>
          <c:xMode val="edge"/>
          <c:yMode val="edge"/>
          <c:x val="0.156011066167765"/>
          <c:y val="4.5998726523445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2319607063662828"/>
          <c:y val="0.20935433000138359"/>
          <c:w val="0.50182719064650994"/>
          <c:h val="0.673940743498786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Physical risk - Acute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43-48A9-88CC-99141C573D3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43-48A9-88CC-99141C573D3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1" u="none" strike="noStrike" kern="1200" baseline="0">
                      <a:solidFill>
                        <a:schemeClr val="bg1"/>
                      </a:solidFill>
                      <a:latin typeface="Santander Text" panose="020B0504020201020104" pitchFamily="34" charset="0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EA43-48A9-88CC-99141C573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1408017412</c:v>
                </c:pt>
                <c:pt idx="1">
                  <c:v>1589303508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43-48A9-88CC-99141C573D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4691238492744372"/>
          <c:y val="0.37489874684328395"/>
          <c:w val="0.18435234384734342"/>
          <c:h val="0.175127948559120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baseline="0" dirty="0">
                <a:effectLst/>
              </a:rPr>
              <a:t>Residential property</a:t>
            </a:r>
            <a:endParaRPr lang="es-ES" sz="900" dirty="0">
              <a:effectLst/>
            </a:endParaRPr>
          </a:p>
        </c:rich>
      </c:tx>
      <c:layout>
        <c:manualLayout>
          <c:xMode val="edge"/>
          <c:yMode val="edge"/>
          <c:x val="0.32440981067877644"/>
          <c:y val="4.5998726523445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2319607063662828"/>
          <c:y val="0.20935433000138359"/>
          <c:w val="0.50182719064650994"/>
          <c:h val="0.673940743498786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Physical risk - chronic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C65-43E1-9B7B-D8047C48644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C65-43E1-9B7B-D8047C486443}"/>
              </c:ext>
            </c:extLst>
          </c:dPt>
          <c:dLbls>
            <c:dLbl>
              <c:idx val="0"/>
              <c:layout>
                <c:manualLayout>
                  <c:x val="2.903601466930681E-2"/>
                  <c:y val="0.1923137938952808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6C65-43E1-9B7B-D8047C4864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0</c:v>
                </c:pt>
                <c:pt idx="1">
                  <c:v>22288891206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65-43E1-9B7B-D8047C4864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4691238492744372"/>
          <c:y val="0.37489874684328395"/>
          <c:w val="0.18435234384734342"/>
          <c:h val="0.175127948559120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baseline="0" dirty="0">
                <a:effectLst/>
              </a:rPr>
              <a:t>Commercial property</a:t>
            </a:r>
            <a:endParaRPr lang="es-ES" sz="900" dirty="0">
              <a:effectLst/>
            </a:endParaRPr>
          </a:p>
        </c:rich>
      </c:tx>
      <c:layout>
        <c:manualLayout>
          <c:xMode val="edge"/>
          <c:yMode val="edge"/>
          <c:x val="0.156011066167765"/>
          <c:y val="4.5998726523445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2319607063662828"/>
          <c:y val="0.20935433000138359"/>
          <c:w val="0.50182719064650994"/>
          <c:h val="0.673940743498786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Physical risk - chronic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0E-4D17-B3B1-5369A8774DE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A0E-4D17-B3B1-5369A8774DE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0</c:v>
                </c:pt>
                <c:pt idx="1">
                  <c:v>2997320920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0E-4D17-B3B1-5369A8774D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4691238492744372"/>
          <c:y val="0.37489874684328395"/>
          <c:w val="0.18435234384734342"/>
          <c:h val="0.175127948559120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baseline="0" dirty="0">
                <a:effectLst/>
              </a:rPr>
              <a:t>% of physical risk by NACE</a:t>
            </a:r>
            <a:endParaRPr lang="es-ES" sz="900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%Physical risk - acute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Hoja1!$A$2:$A$13</c:f>
              <c:strCache>
                <c:ptCount val="12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K</c:v>
                </c:pt>
                <c:pt idx="10">
                  <c:v>L</c:v>
                </c:pt>
                <c:pt idx="11">
                  <c:v>Exposures to other sectors</c:v>
                </c:pt>
              </c:strCache>
            </c:strRef>
          </c:cat>
          <c:val>
            <c:numRef>
              <c:f>Hoja1!$B$2:$B$13</c:f>
              <c:numCache>
                <c:formatCode>0.00%</c:formatCode>
                <c:ptCount val="12"/>
                <c:pt idx="0" formatCode="0.0%">
                  <c:v>4.1719094727760099E-3</c:v>
                </c:pt>
                <c:pt idx="1">
                  <c:v>1.3602913621695281E-4</c:v>
                </c:pt>
                <c:pt idx="2" formatCode="0.0%">
                  <c:v>5.0511581049211843E-2</c:v>
                </c:pt>
                <c:pt idx="3" formatCode="0.0%">
                  <c:v>8.6803831212647897E-3</c:v>
                </c:pt>
                <c:pt idx="4" formatCode="0.0%">
                  <c:v>1.8698077036935793E-3</c:v>
                </c:pt>
                <c:pt idx="5" formatCode="0.0%">
                  <c:v>0.12655687231632509</c:v>
                </c:pt>
                <c:pt idx="6" formatCode="0.0%">
                  <c:v>4.005364550712702E-2</c:v>
                </c:pt>
                <c:pt idx="7" formatCode="0.0%">
                  <c:v>5.8908743121653749E-2</c:v>
                </c:pt>
                <c:pt idx="8" formatCode="0.0%">
                  <c:v>0.16617237816214359</c:v>
                </c:pt>
                <c:pt idx="9" formatCode="0.0%">
                  <c:v>6.9999999999999999E-4</c:v>
                </c:pt>
                <c:pt idx="10" formatCode="0.0%">
                  <c:v>0.43546157887372955</c:v>
                </c:pt>
                <c:pt idx="11" formatCode="0.0%">
                  <c:v>0.1067984808273223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E2-4CC0-A4C9-E0872EC25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617980064"/>
        <c:axId val="-617979520"/>
      </c:barChart>
      <c:catAx>
        <c:axId val="-617980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979520"/>
        <c:crosses val="autoZero"/>
        <c:auto val="1"/>
        <c:lblAlgn val="ctr"/>
        <c:lblOffset val="100"/>
        <c:noMultiLvlLbl val="0"/>
      </c:catAx>
      <c:valAx>
        <c:axId val="-61797952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-617980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baseline="0" dirty="0">
                <a:effectLst/>
              </a:rPr>
              <a:t>% of physical risk by NACE</a:t>
            </a:r>
            <a:endParaRPr lang="es-ES" sz="900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%Physical risk - chronic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Hoja1!$A$2:$A$13</c:f>
              <c:strCache>
                <c:ptCount val="12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K</c:v>
                </c:pt>
                <c:pt idx="10">
                  <c:v>L</c:v>
                </c:pt>
                <c:pt idx="11">
                  <c:v>Exposures to other sectors</c:v>
                </c:pt>
              </c:strCache>
            </c:strRef>
          </c:cat>
          <c:val>
            <c:numRef>
              <c:f>Hoja1!$B$2:$B$13</c:f>
              <c:numCache>
                <c:formatCode>0.0%</c:formatCode>
                <c:ptCount val="12"/>
                <c:pt idx="0">
                  <c:v>0.13653946632586372</c:v>
                </c:pt>
                <c:pt idx="1">
                  <c:v>1.023564050110279E-2</c:v>
                </c:pt>
                <c:pt idx="2">
                  <c:v>0.53727099503145381</c:v>
                </c:pt>
                <c:pt idx="3">
                  <c:v>0.26409274173522085</c:v>
                </c:pt>
                <c:pt idx="4">
                  <c:v>0</c:v>
                </c:pt>
                <c:pt idx="5">
                  <c:v>9.6817762300535851E-3</c:v>
                </c:pt>
                <c:pt idx="6">
                  <c:v>4.0016943750211309E-2</c:v>
                </c:pt>
                <c:pt idx="7">
                  <c:v>2.1624364260939095E-3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6D-4D2E-AE9F-704AA6BCB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617972992"/>
        <c:axId val="-617978976"/>
      </c:barChart>
      <c:catAx>
        <c:axId val="-61797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-617978976"/>
        <c:crosses val="autoZero"/>
        <c:auto val="1"/>
        <c:lblAlgn val="ctr"/>
        <c:lblOffset val="100"/>
        <c:noMultiLvlLbl val="0"/>
      </c:catAx>
      <c:valAx>
        <c:axId val="-61797897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-617972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dirty="0">
                <a:latin typeface="Santander Text" panose="020B0504020201020104" pitchFamily="34" charset="0"/>
              </a:rPr>
              <a:t>Residential property</a:t>
            </a:r>
          </a:p>
        </c:rich>
      </c:tx>
      <c:layout>
        <c:manualLayout>
          <c:xMode val="edge"/>
          <c:yMode val="edge"/>
          <c:x val="0.32440981067877644"/>
          <c:y val="4.5998726523445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2319607063662828"/>
          <c:y val="0.20935433000138359"/>
          <c:w val="0.50182719064650994"/>
          <c:h val="0.673940743498786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Physical risk - Acute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2C9-41A5-AFAE-48FDFC813BC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2C9-41A5-AFAE-48FDFC813BC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1" u="none" strike="noStrike" kern="1200" baseline="0">
                      <a:solidFill>
                        <a:schemeClr val="bg1"/>
                      </a:solidFill>
                      <a:latin typeface="Santander Text" panose="020B0504020201020104" pitchFamily="34" charset="0"/>
                      <a:ea typeface="+mn-ea"/>
                      <a:cs typeface="+mn-cs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32C9-41A5-AFAE-48FDFC813B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8943</c:v>
                </c:pt>
                <c:pt idx="1">
                  <c:v>13536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C9-41A5-AFAE-48FDFC813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4691238492744372"/>
          <c:y val="0.37489874684328395"/>
          <c:w val="0.18435234384734342"/>
          <c:h val="0.175127948559120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dirty="0">
                <a:latin typeface="Santander Text" panose="020B0504020201020104" pitchFamily="34" charset="0"/>
              </a:rPr>
              <a:t>Commercial property</a:t>
            </a:r>
          </a:p>
        </c:rich>
      </c:tx>
      <c:layout>
        <c:manualLayout>
          <c:xMode val="edge"/>
          <c:yMode val="edge"/>
          <c:x val="0.156011066167765"/>
          <c:y val="4.5998726523445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2319607063662828"/>
          <c:y val="0.20935433000138359"/>
          <c:w val="0.50182719064650994"/>
          <c:h val="0.673940743498786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Physical risk - Acute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43-48A9-88CC-99141C573D3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43-48A9-88CC-99141C573D3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1" u="none" strike="noStrike" kern="1200" baseline="0">
                      <a:solidFill>
                        <a:schemeClr val="bg1"/>
                      </a:solidFill>
                      <a:latin typeface="Santander Text" panose="020B0504020201020104" pitchFamily="34" charset="0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EA43-48A9-88CC-99141C573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1501</c:v>
                </c:pt>
                <c:pt idx="1">
                  <c:v>1918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43-48A9-88CC-99141C573D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4691238492744372"/>
          <c:y val="0.37489874684328395"/>
          <c:w val="0.18435234384734342"/>
          <c:h val="0.175127948559120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baseline="0" dirty="0">
                <a:effectLst/>
              </a:rPr>
              <a:t>Residential property</a:t>
            </a:r>
            <a:endParaRPr lang="es-ES" sz="900" dirty="0">
              <a:effectLst/>
            </a:endParaRPr>
          </a:p>
        </c:rich>
      </c:tx>
      <c:layout>
        <c:manualLayout>
          <c:xMode val="edge"/>
          <c:yMode val="edge"/>
          <c:x val="0.32440981067877644"/>
          <c:y val="4.5998726523445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2319607063662828"/>
          <c:y val="0.20935433000138359"/>
          <c:w val="0.50182719064650994"/>
          <c:h val="0.673940743498786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Physical risk - chronic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C65-43E1-9B7B-D8047C48644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C65-43E1-9B7B-D8047C486443}"/>
              </c:ext>
            </c:extLst>
          </c:dPt>
          <c:dLbls>
            <c:dLbl>
              <c:idx val="0"/>
              <c:layout>
                <c:manualLayout>
                  <c:x val="2.903601466930681E-2"/>
                  <c:y val="0.1923137938952808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6C65-43E1-9B7B-D8047C4864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Hoja1!$A$2:$A$3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0</c:v>
                </c:pt>
                <c:pt idx="1">
                  <c:v>22479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65-43E1-9B7B-D8047C4864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4691238492744372"/>
          <c:y val="0.37489874684328395"/>
          <c:w val="0.18435234384734342"/>
          <c:h val="0.175127948559120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900" b="1" i="1" baseline="0" dirty="0">
                <a:effectLst/>
              </a:rPr>
              <a:t>Commercial property</a:t>
            </a:r>
            <a:endParaRPr lang="es-ES" sz="900" dirty="0">
              <a:effectLst/>
            </a:endParaRPr>
          </a:p>
        </c:rich>
      </c:tx>
      <c:layout>
        <c:manualLayout>
          <c:xMode val="edge"/>
          <c:yMode val="edge"/>
          <c:x val="0.156011066167765"/>
          <c:y val="4.5998726523445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2319607063662828"/>
          <c:y val="0.20935433000138359"/>
          <c:w val="0.50182719064650994"/>
          <c:h val="0.673940743498786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Physical risk - chronic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0E-4D17-B3B1-5369A8774DE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A0E-4D17-B3B1-5369A8774DE2}"/>
              </c:ext>
            </c:extLst>
          </c:dPt>
          <c:dLbls>
            <c:dLbl>
              <c:idx val="0"/>
              <c:layout>
                <c:manualLayout>
                  <c:x val="0"/>
                  <c:y val="0.19252096926198481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EA0E-4D17-B3B1-5369A8774DE2}"/>
                </c:ext>
              </c:extLst>
            </c:dLbl>
            <c:dLbl>
              <c:idx val="1"/>
              <c:layout>
                <c:manualLayout>
                  <c:x val="0"/>
                  <c:y val="-0.17518560667249558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EA0E-4D17-B3B1-5369A8774DE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0</c:v>
                </c:pt>
                <c:pt idx="1">
                  <c:v>3419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0E-4D17-B3B1-5369A8774D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4691238492744372"/>
          <c:y val="0.37489874684328395"/>
          <c:w val="0.18435234384734342"/>
          <c:h val="0.175127948559120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C9D07-4931-4318-BA09-D44A16F5F135}" type="datetimeFigureOut">
              <a:rPr lang="es-ES" smtClean="0"/>
              <a:t>14/09/2023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64C038-684D-4819-8AA7-6D0ED255076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8629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2E268-6743-4FFA-9322-9A7B4CA4FB88}" type="datetimeFigureOut">
              <a:rPr lang="es-ES" smtClean="0"/>
              <a:t>14/09/2023</a:t>
            </a:fld>
            <a:endParaRPr lang="es-E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6213D-DFB0-4E1E-9BD7-A81A9D7274CE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871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5960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B29E3E-895A-46E6-8695-FEBA1E3C59C7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568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ED4AC-4179-44F2-89E8-26D205E056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08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446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tags" Target="../tags/tag9.xml"/><Relationship Id="rId11" Type="http://schemas.openxmlformats.org/officeDocument/2006/relationships/image" Target="../media/image10.emf"/><Relationship Id="rId5" Type="http://schemas.openxmlformats.org/officeDocument/2006/relationships/tags" Target="../tags/tag8.xml"/><Relationship Id="rId10" Type="http://schemas.openxmlformats.org/officeDocument/2006/relationships/oleObject" Target="../embeddings/oleObject4.bin"/><Relationship Id="rId4" Type="http://schemas.openxmlformats.org/officeDocument/2006/relationships/tags" Target="../tags/tag7.xml"/><Relationship Id="rId9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emf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emf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3.svg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3.svg"/><Relationship Id="rId2" Type="http://schemas.openxmlformats.org/officeDocument/2006/relationships/tags" Target="../tags/tag1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3.svg"/><Relationship Id="rId2" Type="http://schemas.openxmlformats.org/officeDocument/2006/relationships/tags" Target="../tags/tag1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0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3.svg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1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3.svg"/><Relationship Id="rId2" Type="http://schemas.openxmlformats.org/officeDocument/2006/relationships/tags" Target="../tags/tag19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2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.emf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3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sv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8134" y="4657203"/>
            <a:ext cx="2057400" cy="273844"/>
          </a:xfrm>
          <a:prstGeom prst="rect">
            <a:avLst/>
          </a:prstGeom>
        </p:spPr>
        <p:txBody>
          <a:bodyPr/>
          <a:lstStyle>
            <a:lvl1pPr algn="r">
              <a:defRPr sz="825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63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8B514A2-D5F1-4295-9947-805B7C2958A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s-ES" sz="1350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09" y="822364"/>
            <a:ext cx="3702888" cy="105525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075">
                <a:solidFill>
                  <a:schemeClr val="bg1"/>
                </a:solidFill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465" y="2041606"/>
            <a:ext cx="3700732" cy="18273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6484" y="4295551"/>
            <a:ext cx="1422444" cy="249441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2239" y="250238"/>
            <a:ext cx="8383163" cy="314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975">
                <a:solidFill>
                  <a:schemeClr val="bg1"/>
                </a:solidFill>
              </a:defRPr>
            </a:lvl1pPr>
            <a:lvl2pPr marL="342892" indent="0">
              <a:buNone/>
              <a:defRPr sz="975">
                <a:solidFill>
                  <a:schemeClr val="tx2"/>
                </a:solidFill>
              </a:defRPr>
            </a:lvl2pPr>
            <a:lvl3pPr marL="685783" indent="0">
              <a:buNone/>
              <a:defRPr sz="975">
                <a:solidFill>
                  <a:schemeClr val="tx2"/>
                </a:solidFill>
              </a:defRPr>
            </a:lvl3pPr>
            <a:lvl4pPr marL="1028675" indent="0">
              <a:buNone/>
              <a:defRPr sz="975">
                <a:solidFill>
                  <a:schemeClr val="tx2"/>
                </a:solidFill>
              </a:defRPr>
            </a:lvl4pPr>
            <a:lvl5pPr marL="1371566" indent="0">
              <a:buNone/>
              <a:defRPr sz="975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86912023-AE0D-4548-9487-75E047750798}"/>
              </a:ext>
            </a:extLst>
          </p:cNvPr>
          <p:cNvSpPr/>
          <p:nvPr userDrawn="1"/>
        </p:nvSpPr>
        <p:spPr>
          <a:xfrm>
            <a:off x="2" y="3922441"/>
            <a:ext cx="9147517" cy="122105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s-E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08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1CB60B27-3339-4968-B60C-5595DBAA9393}"/>
              </a:ext>
            </a:extLst>
          </p:cNvPr>
          <p:cNvSpPr/>
          <p:nvPr userDrawn="1"/>
        </p:nvSpPr>
        <p:spPr>
          <a:xfrm>
            <a:off x="3" y="0"/>
            <a:ext cx="7916518" cy="5143500"/>
          </a:xfrm>
          <a:custGeom>
            <a:avLst/>
            <a:gdLst>
              <a:gd name="connsiteX0" fmla="*/ 0 w 10555357"/>
              <a:gd name="connsiteY0" fmla="*/ 0 h 6858000"/>
              <a:gd name="connsiteX1" fmla="*/ 10555357 w 10555357"/>
              <a:gd name="connsiteY1" fmla="*/ 0 h 6858000"/>
              <a:gd name="connsiteX2" fmla="*/ 10555357 w 10555357"/>
              <a:gd name="connsiteY2" fmla="*/ 2822713 h 6858000"/>
              <a:gd name="connsiteX3" fmla="*/ 8925339 w 10555357"/>
              <a:gd name="connsiteY3" fmla="*/ 2822713 h 6858000"/>
              <a:gd name="connsiteX4" fmla="*/ 8925339 w 10555357"/>
              <a:gd name="connsiteY4" fmla="*/ 6858000 h 6858000"/>
              <a:gd name="connsiteX5" fmla="*/ 0 w 1055535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55357" h="6858000">
                <a:moveTo>
                  <a:pt x="0" y="0"/>
                </a:moveTo>
                <a:lnTo>
                  <a:pt x="10555357" y="0"/>
                </a:lnTo>
                <a:lnTo>
                  <a:pt x="10555357" y="2822713"/>
                </a:lnTo>
                <a:lnTo>
                  <a:pt x="8925339" y="2822713"/>
                </a:lnTo>
                <a:lnTo>
                  <a:pt x="892533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s-ES" sz="1350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91" y="469780"/>
            <a:ext cx="3289646" cy="213955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8913" y="2452898"/>
            <a:ext cx="2219066" cy="1773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FontTx/>
              <a:buNone/>
              <a:defRPr sz="12450">
                <a:solidFill>
                  <a:schemeClr val="accent1"/>
                </a:solidFill>
              </a:defRPr>
            </a:lvl1pPr>
            <a:lvl2pPr>
              <a:defRPr sz="10350">
                <a:solidFill>
                  <a:schemeClr val="tx1"/>
                </a:solidFill>
              </a:defRPr>
            </a:lvl2pPr>
            <a:lvl3pPr>
              <a:defRPr sz="8625">
                <a:solidFill>
                  <a:schemeClr val="tx1"/>
                </a:solidFill>
              </a:defRPr>
            </a:lvl3pPr>
            <a:lvl4pPr>
              <a:defRPr sz="7200">
                <a:solidFill>
                  <a:schemeClr val="tx1"/>
                </a:solidFill>
              </a:defRPr>
            </a:lvl4pPr>
            <a:lvl5pPr>
              <a:defRPr sz="72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59575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683" y="815596"/>
            <a:ext cx="3973168" cy="120453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4482" y="4696748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70" y="252825"/>
            <a:ext cx="8069051" cy="228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892" indent="0">
              <a:buFontTx/>
              <a:buNone/>
              <a:defRPr sz="825"/>
            </a:lvl2pPr>
            <a:lvl3pPr marL="685783" indent="0">
              <a:buFontTx/>
              <a:buNone/>
              <a:defRPr sz="788"/>
            </a:lvl3pPr>
            <a:lvl4pPr marL="1028675" indent="0">
              <a:buFontTx/>
              <a:buNone/>
              <a:defRPr sz="750"/>
            </a:lvl4pPr>
            <a:lvl5pPr marL="1371566" indent="0">
              <a:buFontTx/>
              <a:buNone/>
              <a:defRPr sz="75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269" y="2320175"/>
            <a:ext cx="3981582" cy="23125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892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783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675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566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9978" y="815593"/>
            <a:ext cx="3810753" cy="38171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892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783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675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566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8134" y="4657203"/>
            <a:ext cx="2057400" cy="273844"/>
          </a:xfrm>
          <a:prstGeom prst="rect">
            <a:avLst/>
          </a:prstGeom>
        </p:spPr>
        <p:txBody>
          <a:bodyPr/>
          <a:lstStyle>
            <a:lvl1pPr algn="r">
              <a:defRPr sz="825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86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682" y="815595"/>
            <a:ext cx="8069050" cy="136725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4482" y="4696748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70" y="252825"/>
            <a:ext cx="8069051" cy="228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892" indent="0">
              <a:buFontTx/>
              <a:buNone/>
              <a:defRPr sz="825"/>
            </a:lvl2pPr>
            <a:lvl3pPr marL="685783" indent="0">
              <a:buFontTx/>
              <a:buNone/>
              <a:defRPr sz="788"/>
            </a:lvl3pPr>
            <a:lvl4pPr marL="1028675" indent="0">
              <a:buFontTx/>
              <a:buNone/>
              <a:defRPr sz="750"/>
            </a:lvl4pPr>
            <a:lvl5pPr marL="1371566" indent="0">
              <a:buFontTx/>
              <a:buNone/>
              <a:defRPr sz="75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268" y="2320175"/>
            <a:ext cx="8069050" cy="2312551"/>
          </a:xfrm>
          <a:prstGeom prst="rect">
            <a:avLst/>
          </a:prstGeo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892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783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675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566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8134" y="4657203"/>
            <a:ext cx="2057400" cy="273844"/>
          </a:xfrm>
          <a:prstGeom prst="rect">
            <a:avLst/>
          </a:prstGeom>
        </p:spPr>
        <p:txBody>
          <a:bodyPr/>
          <a:lstStyle>
            <a:lvl1pPr algn="r">
              <a:defRPr sz="825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19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80" y="832323"/>
            <a:ext cx="2850839" cy="378801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1875" b="1"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8134" y="465720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975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4482" y="4696748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70" y="252825"/>
            <a:ext cx="8069051" cy="228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892" indent="0">
              <a:buFontTx/>
              <a:buNone/>
              <a:defRPr sz="825"/>
            </a:lvl2pPr>
            <a:lvl3pPr marL="685783" indent="0">
              <a:buFontTx/>
              <a:buNone/>
              <a:defRPr sz="788"/>
            </a:lvl3pPr>
            <a:lvl4pPr marL="1028675" indent="0">
              <a:buFontTx/>
              <a:buNone/>
              <a:defRPr sz="750"/>
            </a:lvl4pPr>
            <a:lvl5pPr marL="1371566" indent="0">
              <a:buFontTx/>
              <a:buNone/>
              <a:defRPr sz="75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79544" y="844705"/>
            <a:ext cx="5022776" cy="3788018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892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783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675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566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5816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8134" y="465720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975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4482" y="4696748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70" y="252825"/>
            <a:ext cx="8069051" cy="228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892" indent="0">
              <a:buFontTx/>
              <a:buNone/>
              <a:defRPr sz="825"/>
            </a:lvl2pPr>
            <a:lvl3pPr marL="685783" indent="0">
              <a:buFontTx/>
              <a:buNone/>
              <a:defRPr sz="788"/>
            </a:lvl3pPr>
            <a:lvl4pPr marL="1028675" indent="0">
              <a:buFontTx/>
              <a:buNone/>
              <a:defRPr sz="750"/>
            </a:lvl4pPr>
            <a:lvl5pPr marL="1371566" indent="0">
              <a:buFontTx/>
              <a:buNone/>
              <a:defRPr sz="75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685" y="815594"/>
            <a:ext cx="2933551" cy="88734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271" y="1887877"/>
            <a:ext cx="2933551" cy="27448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892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783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675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566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3598071" y="815578"/>
            <a:ext cx="5012663" cy="38421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s-MX"/>
              <a:t>Inserte </a:t>
            </a:r>
            <a:r>
              <a:rPr lang="es-MX" err="1"/>
              <a:t>aqu</a:t>
            </a:r>
            <a:r>
              <a:rPr lang="es-ES"/>
              <a:t>í su gráfico</a:t>
            </a:r>
          </a:p>
        </p:txBody>
      </p:sp>
    </p:spTree>
    <p:extLst>
      <p:ext uri="{BB962C8B-B14F-4D97-AF65-F5344CB8AC3E}">
        <p14:creationId xmlns:p14="http://schemas.microsoft.com/office/powerpoint/2010/main" val="68301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8134" y="465720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975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4482" y="4696748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70" y="252825"/>
            <a:ext cx="8069051" cy="228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892" indent="0">
              <a:buFontTx/>
              <a:buNone/>
              <a:defRPr sz="825"/>
            </a:lvl2pPr>
            <a:lvl3pPr marL="685783" indent="0">
              <a:buFontTx/>
              <a:buNone/>
              <a:defRPr sz="788"/>
            </a:lvl3pPr>
            <a:lvl4pPr marL="1028675" indent="0">
              <a:buFontTx/>
              <a:buNone/>
              <a:defRPr sz="750"/>
            </a:lvl4pPr>
            <a:lvl5pPr marL="1371566" indent="0">
              <a:buFontTx/>
              <a:buNone/>
              <a:defRPr sz="75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271" y="893851"/>
            <a:ext cx="2933551" cy="37388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892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783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675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566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3650876" y="1280832"/>
            <a:ext cx="4959724" cy="33768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50876" y="893852"/>
            <a:ext cx="4940682" cy="2861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892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783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675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566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5776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8134" y="465720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975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4482" y="4696748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70" y="252825"/>
            <a:ext cx="8069051" cy="228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892" indent="0">
              <a:buFontTx/>
              <a:buNone/>
              <a:defRPr sz="825"/>
            </a:lvl2pPr>
            <a:lvl3pPr marL="685783" indent="0">
              <a:buFontTx/>
              <a:buNone/>
              <a:defRPr sz="788"/>
            </a:lvl3pPr>
            <a:lvl4pPr marL="1028675" indent="0">
              <a:buFontTx/>
              <a:buNone/>
              <a:defRPr sz="750"/>
            </a:lvl4pPr>
            <a:lvl5pPr marL="1371566" indent="0">
              <a:buFontTx/>
              <a:buNone/>
              <a:defRPr sz="75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271" y="893851"/>
            <a:ext cx="2933551" cy="493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892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783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675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566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8049" y="893851"/>
            <a:ext cx="4842553" cy="493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892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783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675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566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3400" y="1495425"/>
            <a:ext cx="2933700" cy="27043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768049" y="1495425"/>
            <a:ext cx="4854539" cy="27043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3556799" y="2763799"/>
            <a:ext cx="140363" cy="155293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s-E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91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3922441"/>
            <a:ext cx="9144000" cy="122105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s-ES" sz="1350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6484" y="4295551"/>
            <a:ext cx="1422444" cy="249441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688" y="4179861"/>
            <a:ext cx="1010612" cy="34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5709421" y="4180185"/>
            <a:ext cx="434030" cy="34126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539468" y="1459237"/>
            <a:ext cx="252410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ES" sz="1050">
                <a:solidFill>
                  <a:srgbClr val="6E7678"/>
                </a:solidFill>
                <a:latin typeface="Arial"/>
              </a:rPr>
              <a:t>Nuestro propósito es ayudar a personas y empresas a prosperar.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s-ES" sz="1050">
              <a:solidFill>
                <a:srgbClr val="6E7678"/>
              </a:solidFill>
              <a:latin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ES" sz="1050">
                <a:solidFill>
                  <a:srgbClr val="6E7678"/>
                </a:solidFill>
                <a:latin typeface="Arial"/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14365" y="2596397"/>
            <a:ext cx="2093119" cy="151724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541131" y="471145"/>
            <a:ext cx="252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s-ES" sz="3000">
                <a:solidFill>
                  <a:srgbClr val="EB0000"/>
                </a:solidFill>
                <a:latin typeface="Arial"/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2" y="3922441"/>
            <a:ext cx="9147517" cy="122105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s-ES" sz="1350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539552" y="4690978"/>
            <a:ext cx="108012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096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09" y="822364"/>
            <a:ext cx="3702888" cy="105525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465" y="2041606"/>
            <a:ext cx="3700732" cy="182734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6484" y="4288332"/>
            <a:ext cx="1422444" cy="249441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2237" y="250238"/>
            <a:ext cx="8383163" cy="314325"/>
          </a:xfrm>
        </p:spPr>
        <p:txBody>
          <a:bodyPr>
            <a:noAutofit/>
          </a:bodyPr>
          <a:lstStyle>
            <a:lvl1pPr marL="0" indent="0">
              <a:buNone/>
              <a:defRPr sz="975">
                <a:solidFill>
                  <a:schemeClr val="tx2"/>
                </a:solidFill>
              </a:defRPr>
            </a:lvl1pPr>
            <a:lvl2pPr marL="342900" indent="0">
              <a:buNone/>
              <a:defRPr sz="975">
                <a:solidFill>
                  <a:schemeClr val="tx2"/>
                </a:solidFill>
              </a:defRPr>
            </a:lvl2pPr>
            <a:lvl3pPr marL="685800" indent="0">
              <a:buNone/>
              <a:defRPr sz="975">
                <a:solidFill>
                  <a:schemeClr val="tx2"/>
                </a:solidFill>
              </a:defRPr>
            </a:lvl3pPr>
            <a:lvl4pPr marL="1028700" indent="0">
              <a:buNone/>
              <a:defRPr sz="975">
                <a:solidFill>
                  <a:schemeClr val="tx2"/>
                </a:solidFill>
              </a:defRPr>
            </a:lvl4pPr>
            <a:lvl5pPr marL="1371600" indent="0">
              <a:buNone/>
              <a:defRPr sz="975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3965755"/>
            <a:ext cx="9147517" cy="122105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s-ES" sz="135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404261" y="4670659"/>
            <a:ext cx="1313849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/>
          </a:p>
        </p:txBody>
      </p:sp>
    </p:spTree>
    <p:extLst>
      <p:ext uri="{BB962C8B-B14F-4D97-AF65-F5344CB8AC3E}">
        <p14:creationId xmlns:p14="http://schemas.microsoft.com/office/powerpoint/2010/main" val="255184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&amp;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83" y="815593"/>
            <a:ext cx="3973168" cy="120453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8134" y="4657200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975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4482" y="4696745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68" y="252825"/>
            <a:ext cx="8069051" cy="228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 sz="825"/>
            </a:lvl2pPr>
            <a:lvl3pPr marL="685800" indent="0">
              <a:buFontTx/>
              <a:buNone/>
              <a:defRPr sz="788"/>
            </a:lvl3pPr>
            <a:lvl4pPr marL="1028700" indent="0">
              <a:buFontTx/>
              <a:buNone/>
              <a:defRPr sz="750"/>
            </a:lvl4pPr>
            <a:lvl5pPr marL="1371600" indent="0">
              <a:buFontTx/>
              <a:buNone/>
              <a:defRPr sz="7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269" y="2320172"/>
            <a:ext cx="3981582" cy="23125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9978" y="815593"/>
            <a:ext cx="3810753" cy="38171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01ABE733-7819-4DA6-8CAE-8CC1FE78BDD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751810" y="4727556"/>
            <a:ext cx="491400" cy="153412"/>
            <a:chOff x="4089401" y="2463800"/>
            <a:chExt cx="4084637" cy="1270001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66BF4F9D-5A9D-4092-A2B8-7B8F462BA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89401" y="2763838"/>
              <a:ext cx="433388" cy="673100"/>
            </a:xfrm>
            <a:custGeom>
              <a:avLst/>
              <a:gdLst>
                <a:gd name="T0" fmla="*/ 0 w 134"/>
                <a:gd name="T1" fmla="*/ 5 h 207"/>
                <a:gd name="T2" fmla="*/ 56 w 134"/>
                <a:gd name="T3" fmla="*/ 5 h 207"/>
                <a:gd name="T4" fmla="*/ 56 w 134"/>
                <a:gd name="T5" fmla="*/ 32 h 207"/>
                <a:gd name="T6" fmla="*/ 107 w 134"/>
                <a:gd name="T7" fmla="*/ 0 h 207"/>
                <a:gd name="T8" fmla="*/ 134 w 134"/>
                <a:gd name="T9" fmla="*/ 5 h 207"/>
                <a:gd name="T10" fmla="*/ 121 w 134"/>
                <a:gd name="T11" fmla="*/ 54 h 207"/>
                <a:gd name="T12" fmla="*/ 100 w 134"/>
                <a:gd name="T13" fmla="*/ 49 h 207"/>
                <a:gd name="T14" fmla="*/ 56 w 134"/>
                <a:gd name="T15" fmla="*/ 80 h 207"/>
                <a:gd name="T16" fmla="*/ 56 w 134"/>
                <a:gd name="T17" fmla="*/ 207 h 207"/>
                <a:gd name="T18" fmla="*/ 0 w 134"/>
                <a:gd name="T19" fmla="*/ 207 h 207"/>
                <a:gd name="T20" fmla="*/ 0 w 134"/>
                <a:gd name="T21" fmla="*/ 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4" h="207">
                  <a:moveTo>
                    <a:pt x="0" y="5"/>
                  </a:moveTo>
                  <a:cubicBezTo>
                    <a:pt x="56" y="5"/>
                    <a:pt x="56" y="5"/>
                    <a:pt x="56" y="5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64" y="18"/>
                    <a:pt x="81" y="0"/>
                    <a:pt x="107" y="0"/>
                  </a:cubicBezTo>
                  <a:cubicBezTo>
                    <a:pt x="122" y="0"/>
                    <a:pt x="130" y="3"/>
                    <a:pt x="134" y="5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18" y="52"/>
                    <a:pt x="111" y="49"/>
                    <a:pt x="100" y="49"/>
                  </a:cubicBezTo>
                  <a:cubicBezTo>
                    <a:pt x="75" y="49"/>
                    <a:pt x="61" y="71"/>
                    <a:pt x="56" y="80"/>
                  </a:cubicBezTo>
                  <a:cubicBezTo>
                    <a:pt x="56" y="207"/>
                    <a:pt x="56" y="207"/>
                    <a:pt x="56" y="207"/>
                  </a:cubicBezTo>
                  <a:cubicBezTo>
                    <a:pt x="0" y="207"/>
                    <a:pt x="0" y="207"/>
                    <a:pt x="0" y="207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35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2" name="Oval 6">
              <a:extLst>
                <a:ext uri="{FF2B5EF4-FFF2-40B4-BE49-F238E27FC236}">
                  <a16:creationId xmlns:a16="http://schemas.microsoft.com/office/drawing/2014/main" id="{C09A0149-9DBB-46C2-B255-3EE546CC509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75176" y="2479675"/>
              <a:ext cx="220663" cy="2143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35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172B6F8F-4728-4348-9623-40D09FC6953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94226" y="2779713"/>
              <a:ext cx="182563" cy="657225"/>
            </a:xfrm>
            <a:prstGeom prst="rect">
              <a:avLst/>
            </a:pr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35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297135A-94C7-4F53-9B56-E925A2AE6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76801" y="2763838"/>
              <a:ext cx="492125" cy="688975"/>
            </a:xfrm>
            <a:custGeom>
              <a:avLst/>
              <a:gdLst>
                <a:gd name="T0" fmla="*/ 0 w 152"/>
                <a:gd name="T1" fmla="*/ 193 h 212"/>
                <a:gd name="T2" fmla="*/ 18 w 152"/>
                <a:gd name="T3" fmla="*/ 155 h 212"/>
                <a:gd name="T4" fmla="*/ 68 w 152"/>
                <a:gd name="T5" fmla="*/ 171 h 212"/>
                <a:gd name="T6" fmla="*/ 102 w 152"/>
                <a:gd name="T7" fmla="*/ 153 h 212"/>
                <a:gd name="T8" fmla="*/ 50 w 152"/>
                <a:gd name="T9" fmla="*/ 122 h 212"/>
                <a:gd name="T10" fmla="*/ 5 w 152"/>
                <a:gd name="T11" fmla="*/ 62 h 212"/>
                <a:gd name="T12" fmla="*/ 81 w 152"/>
                <a:gd name="T13" fmla="*/ 0 h 212"/>
                <a:gd name="T14" fmla="*/ 146 w 152"/>
                <a:gd name="T15" fmla="*/ 16 h 212"/>
                <a:gd name="T16" fmla="*/ 126 w 152"/>
                <a:gd name="T17" fmla="*/ 54 h 212"/>
                <a:gd name="T18" fmla="*/ 83 w 152"/>
                <a:gd name="T19" fmla="*/ 41 h 212"/>
                <a:gd name="T20" fmla="*/ 55 w 152"/>
                <a:gd name="T21" fmla="*/ 59 h 212"/>
                <a:gd name="T22" fmla="*/ 97 w 152"/>
                <a:gd name="T23" fmla="*/ 86 h 212"/>
                <a:gd name="T24" fmla="*/ 152 w 152"/>
                <a:gd name="T25" fmla="*/ 148 h 212"/>
                <a:gd name="T26" fmla="*/ 72 w 152"/>
                <a:gd name="T27" fmla="*/ 212 h 212"/>
                <a:gd name="T28" fmla="*/ 0 w 152"/>
                <a:gd name="T29" fmla="*/ 193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2" h="212">
                  <a:moveTo>
                    <a:pt x="0" y="193"/>
                  </a:moveTo>
                  <a:cubicBezTo>
                    <a:pt x="18" y="155"/>
                    <a:pt x="18" y="155"/>
                    <a:pt x="18" y="155"/>
                  </a:cubicBezTo>
                  <a:cubicBezTo>
                    <a:pt x="26" y="160"/>
                    <a:pt x="46" y="171"/>
                    <a:pt x="68" y="171"/>
                  </a:cubicBezTo>
                  <a:cubicBezTo>
                    <a:pt x="89" y="171"/>
                    <a:pt x="102" y="165"/>
                    <a:pt x="102" y="153"/>
                  </a:cubicBezTo>
                  <a:cubicBezTo>
                    <a:pt x="102" y="139"/>
                    <a:pt x="79" y="136"/>
                    <a:pt x="50" y="122"/>
                  </a:cubicBezTo>
                  <a:cubicBezTo>
                    <a:pt x="22" y="109"/>
                    <a:pt x="5" y="93"/>
                    <a:pt x="5" y="62"/>
                  </a:cubicBezTo>
                  <a:cubicBezTo>
                    <a:pt x="5" y="24"/>
                    <a:pt x="35" y="0"/>
                    <a:pt x="81" y="0"/>
                  </a:cubicBezTo>
                  <a:cubicBezTo>
                    <a:pt x="115" y="0"/>
                    <a:pt x="136" y="11"/>
                    <a:pt x="146" y="16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18" y="49"/>
                    <a:pt x="102" y="41"/>
                    <a:pt x="83" y="41"/>
                  </a:cubicBezTo>
                  <a:cubicBezTo>
                    <a:pt x="63" y="41"/>
                    <a:pt x="55" y="48"/>
                    <a:pt x="55" y="59"/>
                  </a:cubicBezTo>
                  <a:cubicBezTo>
                    <a:pt x="55" y="73"/>
                    <a:pt x="73" y="77"/>
                    <a:pt x="97" y="86"/>
                  </a:cubicBezTo>
                  <a:cubicBezTo>
                    <a:pt x="129" y="99"/>
                    <a:pt x="152" y="114"/>
                    <a:pt x="152" y="148"/>
                  </a:cubicBezTo>
                  <a:cubicBezTo>
                    <a:pt x="152" y="190"/>
                    <a:pt x="121" y="212"/>
                    <a:pt x="72" y="212"/>
                  </a:cubicBezTo>
                  <a:cubicBezTo>
                    <a:pt x="35" y="212"/>
                    <a:pt x="12" y="202"/>
                    <a:pt x="0" y="193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35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7C40990F-2A55-4F1C-A822-C3A1E9AFFF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1001" y="2463800"/>
              <a:ext cx="595313" cy="973138"/>
            </a:xfrm>
            <a:custGeom>
              <a:avLst/>
              <a:gdLst>
                <a:gd name="T0" fmla="*/ 0 w 375"/>
                <a:gd name="T1" fmla="*/ 0 h 613"/>
                <a:gd name="T2" fmla="*/ 112 w 375"/>
                <a:gd name="T3" fmla="*/ 0 h 613"/>
                <a:gd name="T4" fmla="*/ 112 w 375"/>
                <a:gd name="T5" fmla="*/ 367 h 613"/>
                <a:gd name="T6" fmla="*/ 249 w 375"/>
                <a:gd name="T7" fmla="*/ 199 h 613"/>
                <a:gd name="T8" fmla="*/ 371 w 375"/>
                <a:gd name="T9" fmla="*/ 199 h 613"/>
                <a:gd name="T10" fmla="*/ 218 w 375"/>
                <a:gd name="T11" fmla="*/ 383 h 613"/>
                <a:gd name="T12" fmla="*/ 375 w 375"/>
                <a:gd name="T13" fmla="*/ 613 h 613"/>
                <a:gd name="T14" fmla="*/ 245 w 375"/>
                <a:gd name="T15" fmla="*/ 613 h 613"/>
                <a:gd name="T16" fmla="*/ 112 w 375"/>
                <a:gd name="T17" fmla="*/ 412 h 613"/>
                <a:gd name="T18" fmla="*/ 112 w 375"/>
                <a:gd name="T19" fmla="*/ 613 h 613"/>
                <a:gd name="T20" fmla="*/ 0 w 375"/>
                <a:gd name="T21" fmla="*/ 613 h 613"/>
                <a:gd name="T22" fmla="*/ 0 w 375"/>
                <a:gd name="T23" fmla="*/ 0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5" h="613">
                  <a:moveTo>
                    <a:pt x="0" y="0"/>
                  </a:moveTo>
                  <a:lnTo>
                    <a:pt x="112" y="0"/>
                  </a:lnTo>
                  <a:lnTo>
                    <a:pt x="112" y="367"/>
                  </a:lnTo>
                  <a:lnTo>
                    <a:pt x="249" y="199"/>
                  </a:lnTo>
                  <a:lnTo>
                    <a:pt x="371" y="199"/>
                  </a:lnTo>
                  <a:lnTo>
                    <a:pt x="218" y="383"/>
                  </a:lnTo>
                  <a:lnTo>
                    <a:pt x="375" y="613"/>
                  </a:lnTo>
                  <a:lnTo>
                    <a:pt x="245" y="613"/>
                  </a:lnTo>
                  <a:lnTo>
                    <a:pt x="112" y="412"/>
                  </a:lnTo>
                  <a:lnTo>
                    <a:pt x="112" y="613"/>
                  </a:lnTo>
                  <a:lnTo>
                    <a:pt x="0" y="6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35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7AEEBA30-AEF7-421C-B278-6C8ECD0AC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54763" y="2763838"/>
              <a:ext cx="623888" cy="969963"/>
            </a:xfrm>
            <a:custGeom>
              <a:avLst/>
              <a:gdLst>
                <a:gd name="T0" fmla="*/ 0 w 192"/>
                <a:gd name="T1" fmla="*/ 5 h 298"/>
                <a:gd name="T2" fmla="*/ 54 w 192"/>
                <a:gd name="T3" fmla="*/ 5 h 298"/>
                <a:gd name="T4" fmla="*/ 54 w 192"/>
                <a:gd name="T5" fmla="*/ 26 h 298"/>
                <a:gd name="T6" fmla="*/ 110 w 192"/>
                <a:gd name="T7" fmla="*/ 0 h 298"/>
                <a:gd name="T8" fmla="*/ 192 w 192"/>
                <a:gd name="T9" fmla="*/ 106 h 298"/>
                <a:gd name="T10" fmla="*/ 102 w 192"/>
                <a:gd name="T11" fmla="*/ 212 h 298"/>
                <a:gd name="T12" fmla="*/ 55 w 192"/>
                <a:gd name="T13" fmla="*/ 198 h 298"/>
                <a:gd name="T14" fmla="*/ 55 w 192"/>
                <a:gd name="T15" fmla="*/ 298 h 298"/>
                <a:gd name="T16" fmla="*/ 0 w 192"/>
                <a:gd name="T17" fmla="*/ 298 h 298"/>
                <a:gd name="T18" fmla="*/ 0 w 192"/>
                <a:gd name="T19" fmla="*/ 5 h 298"/>
                <a:gd name="T20" fmla="*/ 134 w 192"/>
                <a:gd name="T21" fmla="*/ 106 h 298"/>
                <a:gd name="T22" fmla="*/ 94 w 192"/>
                <a:gd name="T23" fmla="*/ 44 h 298"/>
                <a:gd name="T24" fmla="*/ 55 w 192"/>
                <a:gd name="T25" fmla="*/ 65 h 298"/>
                <a:gd name="T26" fmla="*/ 55 w 192"/>
                <a:gd name="T27" fmla="*/ 156 h 298"/>
                <a:gd name="T28" fmla="*/ 90 w 192"/>
                <a:gd name="T29" fmla="*/ 170 h 298"/>
                <a:gd name="T30" fmla="*/ 134 w 192"/>
                <a:gd name="T31" fmla="*/ 106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2" h="298">
                  <a:moveTo>
                    <a:pt x="0" y="5"/>
                  </a:moveTo>
                  <a:cubicBezTo>
                    <a:pt x="54" y="5"/>
                    <a:pt x="54" y="5"/>
                    <a:pt x="54" y="5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65" y="13"/>
                    <a:pt x="83" y="0"/>
                    <a:pt x="110" y="0"/>
                  </a:cubicBezTo>
                  <a:cubicBezTo>
                    <a:pt x="161" y="0"/>
                    <a:pt x="192" y="38"/>
                    <a:pt x="192" y="106"/>
                  </a:cubicBezTo>
                  <a:cubicBezTo>
                    <a:pt x="192" y="170"/>
                    <a:pt x="155" y="212"/>
                    <a:pt x="102" y="212"/>
                  </a:cubicBezTo>
                  <a:cubicBezTo>
                    <a:pt x="77" y="212"/>
                    <a:pt x="62" y="204"/>
                    <a:pt x="55" y="198"/>
                  </a:cubicBezTo>
                  <a:cubicBezTo>
                    <a:pt x="55" y="298"/>
                    <a:pt x="55" y="298"/>
                    <a:pt x="55" y="298"/>
                  </a:cubicBezTo>
                  <a:cubicBezTo>
                    <a:pt x="0" y="298"/>
                    <a:pt x="0" y="298"/>
                    <a:pt x="0" y="298"/>
                  </a:cubicBezTo>
                  <a:lnTo>
                    <a:pt x="0" y="5"/>
                  </a:lnTo>
                  <a:close/>
                  <a:moveTo>
                    <a:pt x="134" y="106"/>
                  </a:moveTo>
                  <a:cubicBezTo>
                    <a:pt x="134" y="68"/>
                    <a:pt x="121" y="44"/>
                    <a:pt x="94" y="44"/>
                  </a:cubicBezTo>
                  <a:cubicBezTo>
                    <a:pt x="73" y="44"/>
                    <a:pt x="59" y="59"/>
                    <a:pt x="55" y="65"/>
                  </a:cubicBezTo>
                  <a:cubicBezTo>
                    <a:pt x="55" y="156"/>
                    <a:pt x="55" y="156"/>
                    <a:pt x="55" y="156"/>
                  </a:cubicBezTo>
                  <a:cubicBezTo>
                    <a:pt x="62" y="162"/>
                    <a:pt x="73" y="170"/>
                    <a:pt x="90" y="170"/>
                  </a:cubicBezTo>
                  <a:cubicBezTo>
                    <a:pt x="118" y="170"/>
                    <a:pt x="134" y="146"/>
                    <a:pt x="134" y="10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35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23059AFD-0B80-40D5-B95B-BBE1C71246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5488" y="2763838"/>
              <a:ext cx="434975" cy="673100"/>
            </a:xfrm>
            <a:custGeom>
              <a:avLst/>
              <a:gdLst>
                <a:gd name="T0" fmla="*/ 0 w 134"/>
                <a:gd name="T1" fmla="*/ 5 h 207"/>
                <a:gd name="T2" fmla="*/ 56 w 134"/>
                <a:gd name="T3" fmla="*/ 5 h 207"/>
                <a:gd name="T4" fmla="*/ 56 w 134"/>
                <a:gd name="T5" fmla="*/ 32 h 207"/>
                <a:gd name="T6" fmla="*/ 107 w 134"/>
                <a:gd name="T7" fmla="*/ 0 h 207"/>
                <a:gd name="T8" fmla="*/ 134 w 134"/>
                <a:gd name="T9" fmla="*/ 5 h 207"/>
                <a:gd name="T10" fmla="*/ 121 w 134"/>
                <a:gd name="T11" fmla="*/ 54 h 207"/>
                <a:gd name="T12" fmla="*/ 100 w 134"/>
                <a:gd name="T13" fmla="*/ 49 h 207"/>
                <a:gd name="T14" fmla="*/ 56 w 134"/>
                <a:gd name="T15" fmla="*/ 80 h 207"/>
                <a:gd name="T16" fmla="*/ 56 w 134"/>
                <a:gd name="T17" fmla="*/ 207 h 207"/>
                <a:gd name="T18" fmla="*/ 0 w 134"/>
                <a:gd name="T19" fmla="*/ 207 h 207"/>
                <a:gd name="T20" fmla="*/ 0 w 134"/>
                <a:gd name="T21" fmla="*/ 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4" h="207">
                  <a:moveTo>
                    <a:pt x="0" y="5"/>
                  </a:moveTo>
                  <a:cubicBezTo>
                    <a:pt x="56" y="5"/>
                    <a:pt x="56" y="5"/>
                    <a:pt x="56" y="5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64" y="18"/>
                    <a:pt x="81" y="0"/>
                    <a:pt x="107" y="0"/>
                  </a:cubicBezTo>
                  <a:cubicBezTo>
                    <a:pt x="122" y="0"/>
                    <a:pt x="130" y="3"/>
                    <a:pt x="134" y="5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18" y="52"/>
                    <a:pt x="111" y="49"/>
                    <a:pt x="100" y="49"/>
                  </a:cubicBezTo>
                  <a:cubicBezTo>
                    <a:pt x="75" y="49"/>
                    <a:pt x="61" y="71"/>
                    <a:pt x="56" y="80"/>
                  </a:cubicBezTo>
                  <a:cubicBezTo>
                    <a:pt x="56" y="207"/>
                    <a:pt x="56" y="207"/>
                    <a:pt x="56" y="207"/>
                  </a:cubicBezTo>
                  <a:cubicBezTo>
                    <a:pt x="0" y="207"/>
                    <a:pt x="0" y="207"/>
                    <a:pt x="0" y="207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35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F7A116E-F9DC-4F18-8A0B-1422F51035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13638" y="2763838"/>
              <a:ext cx="660400" cy="688975"/>
            </a:xfrm>
            <a:custGeom>
              <a:avLst/>
              <a:gdLst>
                <a:gd name="T0" fmla="*/ 0 w 204"/>
                <a:gd name="T1" fmla="*/ 107 h 212"/>
                <a:gd name="T2" fmla="*/ 101 w 204"/>
                <a:gd name="T3" fmla="*/ 0 h 212"/>
                <a:gd name="T4" fmla="*/ 204 w 204"/>
                <a:gd name="T5" fmla="*/ 105 h 212"/>
                <a:gd name="T6" fmla="*/ 102 w 204"/>
                <a:gd name="T7" fmla="*/ 212 h 212"/>
                <a:gd name="T8" fmla="*/ 0 w 204"/>
                <a:gd name="T9" fmla="*/ 107 h 212"/>
                <a:gd name="T10" fmla="*/ 145 w 204"/>
                <a:gd name="T11" fmla="*/ 107 h 212"/>
                <a:gd name="T12" fmla="*/ 101 w 204"/>
                <a:gd name="T13" fmla="*/ 41 h 212"/>
                <a:gd name="T14" fmla="*/ 59 w 204"/>
                <a:gd name="T15" fmla="*/ 105 h 212"/>
                <a:gd name="T16" fmla="*/ 103 w 204"/>
                <a:gd name="T17" fmla="*/ 170 h 212"/>
                <a:gd name="T18" fmla="*/ 145 w 204"/>
                <a:gd name="T19" fmla="*/ 107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4" h="212">
                  <a:moveTo>
                    <a:pt x="0" y="107"/>
                  </a:moveTo>
                  <a:cubicBezTo>
                    <a:pt x="0" y="55"/>
                    <a:pt x="31" y="0"/>
                    <a:pt x="101" y="0"/>
                  </a:cubicBezTo>
                  <a:cubicBezTo>
                    <a:pt x="172" y="0"/>
                    <a:pt x="204" y="53"/>
                    <a:pt x="204" y="105"/>
                  </a:cubicBezTo>
                  <a:cubicBezTo>
                    <a:pt x="204" y="156"/>
                    <a:pt x="173" y="212"/>
                    <a:pt x="102" y="212"/>
                  </a:cubicBezTo>
                  <a:cubicBezTo>
                    <a:pt x="31" y="212"/>
                    <a:pt x="0" y="159"/>
                    <a:pt x="0" y="107"/>
                  </a:cubicBezTo>
                  <a:close/>
                  <a:moveTo>
                    <a:pt x="145" y="107"/>
                  </a:moveTo>
                  <a:cubicBezTo>
                    <a:pt x="145" y="69"/>
                    <a:pt x="132" y="41"/>
                    <a:pt x="101" y="41"/>
                  </a:cubicBezTo>
                  <a:cubicBezTo>
                    <a:pt x="69" y="41"/>
                    <a:pt x="59" y="67"/>
                    <a:pt x="59" y="105"/>
                  </a:cubicBezTo>
                  <a:cubicBezTo>
                    <a:pt x="59" y="143"/>
                    <a:pt x="71" y="170"/>
                    <a:pt x="103" y="170"/>
                  </a:cubicBezTo>
                  <a:cubicBezTo>
                    <a:pt x="134" y="170"/>
                    <a:pt x="145" y="145"/>
                    <a:pt x="145" y="107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350">
                <a:solidFill>
                  <a:prstClr val="black"/>
                </a:solidFill>
                <a:latin typeface="Arial"/>
              </a:endParaRPr>
            </a:p>
          </p:txBody>
        </p:sp>
      </p:grp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861C5EE8-1B78-475F-9520-5D50E104D5D4}"/>
              </a:ext>
            </a:extLst>
          </p:cNvPr>
          <p:cNvCxnSpPr/>
          <p:nvPr userDrawn="1"/>
        </p:nvCxnSpPr>
        <p:spPr>
          <a:xfrm>
            <a:off x="1626794" y="4696744"/>
            <a:ext cx="0" cy="189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03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4482" y="4696745"/>
            <a:ext cx="879081" cy="15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4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8B514A2-D5F1-4295-9947-805B7C2958A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09" y="822364"/>
            <a:ext cx="3702888" cy="105525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075">
                <a:solidFill>
                  <a:schemeClr val="bg1"/>
                </a:solidFill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465" y="2041606"/>
            <a:ext cx="3700732" cy="18273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6484" y="4295551"/>
            <a:ext cx="1422444" cy="249441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2239" y="250238"/>
            <a:ext cx="8383163" cy="314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975">
                <a:solidFill>
                  <a:schemeClr val="bg1"/>
                </a:solidFill>
              </a:defRPr>
            </a:lvl1pPr>
            <a:lvl2pPr marL="342892" indent="0">
              <a:buNone/>
              <a:defRPr sz="975">
                <a:solidFill>
                  <a:schemeClr val="tx2"/>
                </a:solidFill>
              </a:defRPr>
            </a:lvl2pPr>
            <a:lvl3pPr marL="685783" indent="0">
              <a:buNone/>
              <a:defRPr sz="975">
                <a:solidFill>
                  <a:schemeClr val="tx2"/>
                </a:solidFill>
              </a:defRPr>
            </a:lvl3pPr>
            <a:lvl4pPr marL="1028675" indent="0">
              <a:buNone/>
              <a:defRPr sz="975">
                <a:solidFill>
                  <a:schemeClr val="tx2"/>
                </a:solidFill>
              </a:defRPr>
            </a:lvl4pPr>
            <a:lvl5pPr marL="1371566" indent="0">
              <a:buNone/>
              <a:defRPr sz="975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86912023-AE0D-4548-9487-75E047750798}"/>
              </a:ext>
            </a:extLst>
          </p:cNvPr>
          <p:cNvSpPr/>
          <p:nvPr userDrawn="1"/>
        </p:nvSpPr>
        <p:spPr>
          <a:xfrm>
            <a:off x="2" y="3922441"/>
            <a:ext cx="9147517" cy="122105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6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1CB60B27-3339-4968-B60C-5595DBAA9393}"/>
              </a:ext>
            </a:extLst>
          </p:cNvPr>
          <p:cNvSpPr/>
          <p:nvPr userDrawn="1"/>
        </p:nvSpPr>
        <p:spPr>
          <a:xfrm>
            <a:off x="3" y="0"/>
            <a:ext cx="7916518" cy="5143500"/>
          </a:xfrm>
          <a:custGeom>
            <a:avLst/>
            <a:gdLst>
              <a:gd name="connsiteX0" fmla="*/ 0 w 10555357"/>
              <a:gd name="connsiteY0" fmla="*/ 0 h 6858000"/>
              <a:gd name="connsiteX1" fmla="*/ 10555357 w 10555357"/>
              <a:gd name="connsiteY1" fmla="*/ 0 h 6858000"/>
              <a:gd name="connsiteX2" fmla="*/ 10555357 w 10555357"/>
              <a:gd name="connsiteY2" fmla="*/ 2822713 h 6858000"/>
              <a:gd name="connsiteX3" fmla="*/ 8925339 w 10555357"/>
              <a:gd name="connsiteY3" fmla="*/ 2822713 h 6858000"/>
              <a:gd name="connsiteX4" fmla="*/ 8925339 w 10555357"/>
              <a:gd name="connsiteY4" fmla="*/ 6858000 h 6858000"/>
              <a:gd name="connsiteX5" fmla="*/ 0 w 1055535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55357" h="6858000">
                <a:moveTo>
                  <a:pt x="0" y="0"/>
                </a:moveTo>
                <a:lnTo>
                  <a:pt x="10555357" y="0"/>
                </a:lnTo>
                <a:lnTo>
                  <a:pt x="10555357" y="2822713"/>
                </a:lnTo>
                <a:lnTo>
                  <a:pt x="8925339" y="2822713"/>
                </a:lnTo>
                <a:lnTo>
                  <a:pt x="892533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91" y="469780"/>
            <a:ext cx="3289646" cy="213955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8913" y="2452898"/>
            <a:ext cx="2219066" cy="1773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FontTx/>
              <a:buNone/>
              <a:defRPr sz="12450">
                <a:solidFill>
                  <a:schemeClr val="accent1"/>
                </a:solidFill>
              </a:defRPr>
            </a:lvl1pPr>
            <a:lvl2pPr>
              <a:defRPr sz="10350">
                <a:solidFill>
                  <a:schemeClr val="tx1"/>
                </a:solidFill>
              </a:defRPr>
            </a:lvl2pPr>
            <a:lvl3pPr>
              <a:defRPr sz="8625">
                <a:solidFill>
                  <a:schemeClr val="tx1"/>
                </a:solidFill>
              </a:defRPr>
            </a:lvl3pPr>
            <a:lvl4pPr>
              <a:defRPr sz="7200">
                <a:solidFill>
                  <a:schemeClr val="tx1"/>
                </a:solidFill>
              </a:defRPr>
            </a:lvl4pPr>
            <a:lvl5pPr>
              <a:defRPr sz="72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99795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3922441"/>
            <a:ext cx="9144000" cy="122105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6484" y="4295551"/>
            <a:ext cx="1422444" cy="249441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688" y="4179861"/>
            <a:ext cx="1010612" cy="34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5709421" y="4180185"/>
            <a:ext cx="434030" cy="34126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539468" y="1459237"/>
            <a:ext cx="252410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>
                <a:solidFill>
                  <a:srgbClr val="6E7678"/>
                </a:solidFill>
              </a:rPr>
              <a:t>Nuestro propósito es ayudar a personas y empresas a prosperar.</a:t>
            </a:r>
          </a:p>
          <a:p>
            <a:endParaRPr lang="es-ES" sz="1050">
              <a:solidFill>
                <a:srgbClr val="6E7678"/>
              </a:solidFill>
            </a:endParaRPr>
          </a:p>
          <a:p>
            <a:r>
              <a:rPr lang="es-ES" sz="1050">
                <a:solidFill>
                  <a:srgbClr val="6E7678"/>
                </a:solidFill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14365" y="2596397"/>
            <a:ext cx="2093119" cy="151724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541131" y="471145"/>
            <a:ext cx="252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>
                <a:solidFill>
                  <a:srgbClr val="EB0000"/>
                </a:solidFill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2" y="3922441"/>
            <a:ext cx="9147517" cy="122105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69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09" y="822364"/>
            <a:ext cx="3702888" cy="105525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465" y="2041606"/>
            <a:ext cx="3700732" cy="182734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6484" y="4295551"/>
            <a:ext cx="1422444" cy="249441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2237" y="250238"/>
            <a:ext cx="8383163" cy="314325"/>
          </a:xfrm>
        </p:spPr>
        <p:txBody>
          <a:bodyPr>
            <a:noAutofit/>
          </a:bodyPr>
          <a:lstStyle>
            <a:lvl1pPr marL="0" indent="0">
              <a:buNone/>
              <a:defRPr sz="975">
                <a:solidFill>
                  <a:schemeClr val="tx2"/>
                </a:solidFill>
              </a:defRPr>
            </a:lvl1pPr>
            <a:lvl2pPr marL="342900" indent="0">
              <a:buNone/>
              <a:defRPr sz="975">
                <a:solidFill>
                  <a:schemeClr val="tx2"/>
                </a:solidFill>
              </a:defRPr>
            </a:lvl2pPr>
            <a:lvl3pPr marL="685800" indent="0">
              <a:buNone/>
              <a:defRPr sz="975">
                <a:solidFill>
                  <a:schemeClr val="tx2"/>
                </a:solidFill>
              </a:defRPr>
            </a:lvl3pPr>
            <a:lvl4pPr marL="1028700" indent="0">
              <a:buNone/>
              <a:defRPr sz="975">
                <a:solidFill>
                  <a:schemeClr val="tx2"/>
                </a:solidFill>
              </a:defRPr>
            </a:lvl4pPr>
            <a:lvl5pPr marL="1371600" indent="0">
              <a:buNone/>
              <a:defRPr sz="975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3922441"/>
            <a:ext cx="9147517" cy="122105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2_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493214" y="213300"/>
            <a:ext cx="7886700" cy="388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aseline="0">
                <a:solidFill>
                  <a:srgbClr val="FF0000"/>
                </a:solidFill>
              </a:defRPr>
            </a:lvl1pPr>
            <a:lvl2pPr marL="342900" indent="0">
              <a:buFontTx/>
              <a:buNone/>
              <a:defRPr sz="2400">
                <a:solidFill>
                  <a:srgbClr val="FF0000"/>
                </a:solidFill>
              </a:defRPr>
            </a:lvl2pPr>
            <a:lvl3pPr marL="685800" indent="0">
              <a:buFontTx/>
              <a:buNone/>
              <a:defRPr sz="2400">
                <a:solidFill>
                  <a:srgbClr val="FF0000"/>
                </a:solidFill>
              </a:defRPr>
            </a:lvl3pPr>
            <a:lvl4pPr marL="1028700" indent="0">
              <a:buFontTx/>
              <a:buNone/>
              <a:defRPr sz="2400">
                <a:solidFill>
                  <a:srgbClr val="FF0000"/>
                </a:solidFill>
              </a:defRPr>
            </a:lvl4pPr>
            <a:lvl5pPr marL="1371600" indent="0">
              <a:buFontTx/>
              <a:buNone/>
              <a:defRPr sz="2400">
                <a:solidFill>
                  <a:srgbClr val="FF0000"/>
                </a:solidFill>
              </a:defRPr>
            </a:lvl5pPr>
          </a:lstStyle>
          <a:p>
            <a:pPr lvl="0"/>
            <a:r>
              <a:rPr lang="es-ES"/>
              <a:t>Haga clic para insertar el título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3" hasCustomPrompt="1"/>
          </p:nvPr>
        </p:nvSpPr>
        <p:spPr>
          <a:xfrm>
            <a:off x="493200" y="648000"/>
            <a:ext cx="7887600" cy="2781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35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insertar el subtítulo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4"/>
          </p:nvPr>
        </p:nvSpPr>
        <p:spPr>
          <a:xfrm>
            <a:off x="622814" y="1134000"/>
            <a:ext cx="3888000" cy="2986200"/>
          </a:xfrm>
          <a:prstGeom prst="rect">
            <a:avLst/>
          </a:prstGeom>
        </p:spPr>
        <p:txBody>
          <a:bodyPr/>
          <a:lstStyle>
            <a:lvl1pPr>
              <a:buClr>
                <a:srgbClr val="FF0000"/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Clr>
                <a:srgbClr val="FF0000"/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rgbClr val="FF0000"/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FF0000"/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Marcador de posición de imagen 7"/>
          <p:cNvSpPr>
            <a:spLocks noGrp="1"/>
          </p:cNvSpPr>
          <p:nvPr>
            <p:ph type="pic" sz="quarter" idx="16" hasCustomPrompt="1"/>
          </p:nvPr>
        </p:nvSpPr>
        <p:spPr>
          <a:xfrm>
            <a:off x="4629614" y="1134000"/>
            <a:ext cx="3880800" cy="2980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</a:t>
            </a:r>
            <a:r>
              <a:rPr lang="es-ES" err="1"/>
              <a:t>click</a:t>
            </a:r>
            <a:r>
              <a:rPr lang="es-ES"/>
              <a:t> para insertar una imagen</a:t>
            </a: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48134" y="4657205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975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4484" y="4696750"/>
            <a:ext cx="879081" cy="15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04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915">
          <p15:clr>
            <a:srgbClr val="FBAE40"/>
          </p15:clr>
        </p15:guide>
        <p15:guide id="4" orient="horz" pos="785">
          <p15:clr>
            <a:srgbClr val="FBAE40"/>
          </p15:clr>
        </p15:guide>
        <p15:guide id="5" orient="horz" pos="562">
          <p15:clr>
            <a:srgbClr val="FBAE40"/>
          </p15:clr>
        </p15:guide>
        <p15:guide id="6" orient="horz" pos="543">
          <p15:clr>
            <a:srgbClr val="FBAE40"/>
          </p15:clr>
        </p15:guide>
        <p15:guide id="7" orient="horz" pos="17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15" y="2100402"/>
            <a:ext cx="8691298" cy="2793631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348" y="4195644"/>
            <a:ext cx="1728220" cy="502921"/>
          </a:xfrm>
          <a:prstGeom prst="rect">
            <a:avLst/>
          </a:prstGeom>
        </p:spPr>
      </p:pic>
      <p:cxnSp>
        <p:nvCxnSpPr>
          <p:cNvPr id="13" name="Conector recto 12"/>
          <p:cNvCxnSpPr/>
          <p:nvPr userDrawn="1"/>
        </p:nvCxnSpPr>
        <p:spPr>
          <a:xfrm flipH="1">
            <a:off x="491744" y="366881"/>
            <a:ext cx="865227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/>
          <p:cNvSpPr>
            <a:spLocks noGrp="1"/>
          </p:cNvSpPr>
          <p:nvPr>
            <p:ph type="body" sz="quarter" idx="12" hasCustomPrompt="1"/>
          </p:nvPr>
        </p:nvSpPr>
        <p:spPr>
          <a:xfrm>
            <a:off x="406690" y="496800"/>
            <a:ext cx="8235000" cy="772200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>
              <a:buFontTx/>
              <a:buNone/>
              <a:defRPr sz="25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tittle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23900" y="1835260"/>
            <a:ext cx="8235000" cy="189000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>
              <a:buFontTx/>
              <a:buNone/>
              <a:defRPr sz="127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27288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54574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1862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09148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subtittle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14" hasCustomPrompt="1"/>
          </p:nvPr>
        </p:nvSpPr>
        <p:spPr>
          <a:xfrm>
            <a:off x="423900" y="191700"/>
            <a:ext cx="8235000" cy="175500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>
              <a:buFontTx/>
              <a:buNone/>
              <a:defRPr sz="67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27288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54574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1862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09148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insert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date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30" y="4342621"/>
            <a:ext cx="1402740" cy="1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4405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texto a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/>
          <p:cNvSpPr>
            <a:spLocks noGrp="1"/>
          </p:cNvSpPr>
          <p:nvPr>
            <p:ph type="body" sz="quarter" idx="15" hasCustomPrompt="1"/>
          </p:nvPr>
        </p:nvSpPr>
        <p:spPr>
          <a:xfrm>
            <a:off x="472500" y="1134000"/>
            <a:ext cx="4050000" cy="2986200"/>
          </a:xfrm>
          <a:prstGeom prst="rect">
            <a:avLst/>
          </a:prstGeom>
        </p:spPr>
        <p:txBody>
          <a:bodyPr lIns="87268" tIns="43634" rIns="87268" bIns="43634"/>
          <a:lstStyle>
            <a:lvl1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111" y="213300"/>
            <a:ext cx="8235000" cy="388800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>
              <a:buFontTx/>
              <a:buNone/>
              <a:defRPr sz="2325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tittle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467111" y="648000"/>
            <a:ext cx="8235000" cy="278100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>
              <a:buFontTx/>
              <a:buNone/>
              <a:defRPr sz="1275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27288" indent="0">
              <a:buFontTx/>
              <a:buNone/>
              <a:defRPr sz="1275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54574" indent="0">
              <a:buFontTx/>
              <a:buNone/>
              <a:defRPr sz="1275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1862" indent="0">
              <a:buFontTx/>
              <a:buNone/>
              <a:defRPr sz="1275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09148" indent="0">
              <a:buFontTx/>
              <a:buNone/>
              <a:defRPr sz="1275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6" name="Marcador de texto 6"/>
          <p:cNvSpPr>
            <a:spLocks noGrp="1"/>
          </p:cNvSpPr>
          <p:nvPr>
            <p:ph type="body" sz="quarter" idx="16" hasCustomPrompt="1"/>
          </p:nvPr>
        </p:nvSpPr>
        <p:spPr>
          <a:xfrm>
            <a:off x="4652111" y="1134000"/>
            <a:ext cx="4050000" cy="2986200"/>
          </a:xfrm>
          <a:prstGeom prst="rect">
            <a:avLst/>
          </a:prstGeom>
        </p:spPr>
        <p:txBody>
          <a:bodyPr lIns="87268" tIns="43634" rIns="87268" bIns="43634"/>
          <a:lstStyle>
            <a:lvl1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8301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texto a una columna e imá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217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217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Marcador de texto 6"/>
          <p:cNvSpPr>
            <a:spLocks noGrp="1"/>
          </p:cNvSpPr>
          <p:nvPr>
            <p:ph type="body" sz="quarter" idx="15" hasCustomPrompt="1"/>
          </p:nvPr>
        </p:nvSpPr>
        <p:spPr>
          <a:xfrm>
            <a:off x="472500" y="1134000"/>
            <a:ext cx="4050000" cy="2986200"/>
          </a:xfrm>
          <a:prstGeom prst="rect">
            <a:avLst/>
          </a:prstGeom>
        </p:spPr>
        <p:txBody>
          <a:bodyPr lIns="87268" tIns="43634" rIns="87268" bIns="43634"/>
          <a:lstStyle>
            <a:lvl1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111" y="213300"/>
            <a:ext cx="8235000" cy="388800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>
              <a:buFontTx/>
              <a:buNone/>
              <a:defRPr sz="2325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tittle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467111" y="648000"/>
            <a:ext cx="8235000" cy="278100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>
              <a:buFontTx/>
              <a:buNone/>
              <a:defRPr sz="1275" i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27288" indent="0">
              <a:buFontTx/>
              <a:buNone/>
              <a:defRPr sz="1275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54574" indent="0">
              <a:buFontTx/>
              <a:buNone/>
              <a:defRPr sz="1275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1862" indent="0">
              <a:buFontTx/>
              <a:buNone/>
              <a:defRPr sz="1275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09148" indent="0">
              <a:buFontTx/>
              <a:buNone/>
              <a:defRPr sz="1275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8" name="Marcador de posición de imagen 2"/>
          <p:cNvSpPr>
            <a:spLocks noGrp="1"/>
          </p:cNvSpPr>
          <p:nvPr>
            <p:ph type="pic" sz="quarter" idx="16" hasCustomPrompt="1"/>
          </p:nvPr>
        </p:nvSpPr>
        <p:spPr>
          <a:xfrm>
            <a:off x="4652111" y="1134000"/>
            <a:ext cx="4050000" cy="2986200"/>
          </a:xfrm>
          <a:prstGeom prst="rect">
            <a:avLst/>
          </a:prstGeom>
        </p:spPr>
        <p:txBody>
          <a:bodyPr lIns="87268" tIns="43634" rIns="87268" bIns="43634"/>
          <a:lstStyle>
            <a:lvl1pPr>
              <a:buClr>
                <a:srgbClr val="FF0000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1057128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n subtítulo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/>
          <p:cNvSpPr>
            <a:spLocks noGrp="1"/>
          </p:cNvSpPr>
          <p:nvPr>
            <p:ph type="pic" sz="quarter" idx="14" hasCustomPrompt="1"/>
          </p:nvPr>
        </p:nvSpPr>
        <p:spPr>
          <a:xfrm>
            <a:off x="4652111" y="1836000"/>
            <a:ext cx="4050000" cy="2513700"/>
          </a:xfrm>
          <a:prstGeom prst="rect">
            <a:avLst/>
          </a:prstGeom>
        </p:spPr>
        <p:txBody>
          <a:bodyPr lIns="87268" tIns="43634" rIns="87268" bIns="43634"/>
          <a:lstStyle>
            <a:lvl1pPr>
              <a:buClr>
                <a:srgbClr val="FF0000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insert an image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5" hasCustomPrompt="1"/>
          </p:nvPr>
        </p:nvSpPr>
        <p:spPr>
          <a:xfrm>
            <a:off x="467111" y="213300"/>
            <a:ext cx="8235000" cy="712800"/>
          </a:xfrm>
          <a:prstGeom prst="rect">
            <a:avLst/>
          </a:prstGeom>
          <a:noFill/>
        </p:spPr>
        <p:txBody>
          <a:bodyPr lIns="87268" tIns="43634" rIns="87268" bIns="43634"/>
          <a:lstStyle>
            <a:lvl1pPr marL="0" indent="0">
              <a:buFontTx/>
              <a:buNone/>
              <a:defRPr sz="2325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tittle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6" hasCustomPrompt="1"/>
          </p:nvPr>
        </p:nvSpPr>
        <p:spPr>
          <a:xfrm>
            <a:off x="467111" y="1220402"/>
            <a:ext cx="8235000" cy="334800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>
              <a:buFontTx/>
              <a:buNone/>
              <a:defRPr sz="1725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10" name="Marcador de texto 6"/>
          <p:cNvSpPr>
            <a:spLocks noGrp="1"/>
          </p:cNvSpPr>
          <p:nvPr>
            <p:ph type="body" sz="quarter" idx="17" hasCustomPrompt="1"/>
          </p:nvPr>
        </p:nvSpPr>
        <p:spPr>
          <a:xfrm>
            <a:off x="472500" y="1836000"/>
            <a:ext cx="4050000" cy="2513700"/>
          </a:xfrm>
          <a:prstGeom prst="rect">
            <a:avLst/>
          </a:prstGeom>
        </p:spPr>
        <p:txBody>
          <a:bodyPr lIns="87268" tIns="43634" rIns="87268" bIns="43634"/>
          <a:lstStyle>
            <a:lvl1pPr>
              <a:buClr>
                <a:schemeClr val="accent1"/>
              </a:buClr>
              <a:defRPr sz="1125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to </a:t>
            </a:r>
            <a:r>
              <a:rPr lang="es-ES" err="1"/>
              <a:t>change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1763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par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 rot="16200000">
            <a:off x="2000251" y="-2000250"/>
            <a:ext cx="5143500" cy="9144000"/>
          </a:xfrm>
          <a:prstGeom prst="rect">
            <a:avLst/>
          </a:prstGeom>
          <a:gradFill>
            <a:gsLst>
              <a:gs pos="0">
                <a:srgbClr val="FF0000"/>
              </a:gs>
              <a:gs pos="77000">
                <a:srgbClr val="C00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451" tIns="32726" rIns="65451" bIns="32726" rtlCol="0" anchor="ctr"/>
          <a:lstStyle/>
          <a:p>
            <a:pPr algn="ctr" defTabSz="654574" eaLnBrk="1" fontAlgn="auto" hangingPunct="1">
              <a:spcBef>
                <a:spcPts val="0"/>
              </a:spcBef>
              <a:spcAft>
                <a:spcPts val="0"/>
              </a:spcAft>
            </a:pPr>
            <a:endParaRPr lang="es-ES" sz="2700">
              <a:solidFill>
                <a:prstClr val="white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1365762" y="2340025"/>
            <a:ext cx="6412500" cy="463457"/>
          </a:xfrm>
          <a:prstGeom prst="rect">
            <a:avLst/>
          </a:prstGeom>
        </p:spPr>
        <p:txBody>
          <a:bodyPr lIns="87268" tIns="43634" rIns="87268" bIns="43634"/>
          <a:lstStyle>
            <a:lvl1pPr marL="0" indent="0" algn="ctr">
              <a:buFontTx/>
              <a:buNone/>
              <a:defRPr sz="2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tittle</a:t>
            </a:r>
            <a:r>
              <a:rPr lang="es-ES"/>
              <a:t> of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63946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217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217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arcador de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623904" y="213300"/>
            <a:ext cx="7886700" cy="388800"/>
          </a:xfrm>
          <a:prstGeom prst="rect">
            <a:avLst/>
          </a:prstGeom>
        </p:spPr>
        <p:txBody>
          <a:bodyPr lIns="87259" tIns="43631" rIns="87259" bIns="43631"/>
          <a:lstStyle>
            <a:lvl1pPr marL="0" indent="0">
              <a:buFontTx/>
              <a:buNone/>
              <a:defRPr sz="2325" baseline="0">
                <a:solidFill>
                  <a:srgbClr val="FF0000"/>
                </a:solidFill>
              </a:defRPr>
            </a:lvl1pPr>
            <a:lvl2pPr marL="327253" indent="0">
              <a:buFontTx/>
              <a:buNone/>
              <a:defRPr sz="2325">
                <a:solidFill>
                  <a:srgbClr val="FF0000"/>
                </a:solidFill>
              </a:defRPr>
            </a:lvl2pPr>
            <a:lvl3pPr marL="654505" indent="0">
              <a:buFontTx/>
              <a:buNone/>
              <a:defRPr sz="2325">
                <a:solidFill>
                  <a:srgbClr val="FF0000"/>
                </a:solidFill>
              </a:defRPr>
            </a:lvl3pPr>
            <a:lvl4pPr marL="981758" indent="0">
              <a:buFontTx/>
              <a:buNone/>
              <a:defRPr sz="2325">
                <a:solidFill>
                  <a:srgbClr val="FF0000"/>
                </a:solidFill>
              </a:defRPr>
            </a:lvl4pPr>
            <a:lvl5pPr marL="1309010" indent="0">
              <a:buFontTx/>
              <a:buNone/>
              <a:defRPr sz="2325">
                <a:solidFill>
                  <a:srgbClr val="FF0000"/>
                </a:solidFill>
              </a:defRPr>
            </a:lvl5pPr>
          </a:lstStyle>
          <a:p>
            <a:pPr lvl="0"/>
            <a:r>
              <a:rPr lang="es-ES"/>
              <a:t>Haga clic para insertar el título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3" hasCustomPrompt="1"/>
          </p:nvPr>
        </p:nvSpPr>
        <p:spPr>
          <a:xfrm>
            <a:off x="623899" y="648000"/>
            <a:ext cx="7887600" cy="278100"/>
          </a:xfrm>
          <a:prstGeom prst="rect">
            <a:avLst/>
          </a:prstGeom>
        </p:spPr>
        <p:txBody>
          <a:bodyPr lIns="87259" tIns="43631" rIns="87259" bIns="43631"/>
          <a:lstStyle>
            <a:lvl1pPr marL="0" indent="0">
              <a:buFontTx/>
              <a:buNone/>
              <a:defRPr sz="1275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insertar el subtítulo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4"/>
          </p:nvPr>
        </p:nvSpPr>
        <p:spPr>
          <a:xfrm>
            <a:off x="622811" y="1134001"/>
            <a:ext cx="7887600" cy="2986200"/>
          </a:xfrm>
          <a:prstGeom prst="rect">
            <a:avLst/>
          </a:prstGeom>
        </p:spPr>
        <p:txBody>
          <a:bodyPr lIns="87259" tIns="43631" rIns="87259" bIns="43631"/>
          <a:lstStyle>
            <a:lvl1pPr>
              <a:buClr>
                <a:srgbClr val="FF0000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Clr>
                <a:srgbClr val="FF0000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rgbClr val="FF0000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FF0000"/>
              </a:buCl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947125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915">
          <p15:clr>
            <a:srgbClr val="FBAE40"/>
          </p15:clr>
        </p15:guide>
        <p15:guide id="4" orient="horz" pos="785">
          <p15:clr>
            <a:srgbClr val="FBAE40"/>
          </p15:clr>
        </p15:guide>
        <p15:guide id="5" orient="horz" pos="562">
          <p15:clr>
            <a:srgbClr val="FBAE40"/>
          </p15:clr>
        </p15:guide>
        <p15:guide id="6" orient="horz" pos="543">
          <p15:clr>
            <a:srgbClr val="FBAE40"/>
          </p15:clr>
        </p15:guide>
        <p15:guide id="7" orient="horz" pos="17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9567E78-F365-45DC-ADC0-F8793E66856A}" type="datetimeFigureOut">
              <a:rPr lang="es-ES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EBF23B0-92BC-49C0-A495-312356F5BB4C}" type="slidenum">
              <a:rPr lang="es-E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190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1636116" y="4882692"/>
            <a:ext cx="5458396" cy="9233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>
                <a:solidFill>
                  <a:srgbClr val="6E7678"/>
                </a:solidFill>
              </a:rPr>
              <a:t>Source: …</a:t>
            </a:r>
          </a:p>
        </p:txBody>
      </p:sp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25"/>
              </a:spcBef>
              <a:spcAft>
                <a:spcPts val="225"/>
              </a:spcAft>
            </a:pPr>
            <a:endParaRPr lang="en-US" sz="1875" b="1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416052" y="689438"/>
            <a:ext cx="8311896" cy="29084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solidFill>
                  <a:srgbClr val="6E7678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8484394" y="4874065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>
              <a:defRPr/>
            </a:pPr>
            <a:r>
              <a:rPr lang="es-ES" sz="675">
                <a:solidFill>
                  <a:srgbClr val="000000"/>
                </a:solidFill>
                <a:cs typeface="Arial" panose="020B0604020202020204" pitchFamily="34" charset="0"/>
              </a:rPr>
              <a:t>|  </a:t>
            </a:r>
            <a:fld id="{4ABDCABE-3F10-B64C-92F1-862014417034}" type="slidenum">
              <a:rPr lang="en-US" sz="675">
                <a:solidFill>
                  <a:srgbClr val="000000"/>
                </a:solidFill>
                <a:cs typeface="Arial" panose="020B0604020202020204" pitchFamily="34" charset="0"/>
              </a:rPr>
              <a:pPr algn="r" defTabSz="458058">
                <a:defRPr/>
              </a:pPr>
              <a:t>‹#›</a:t>
            </a:fld>
            <a:endParaRPr lang="en-US" sz="675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416051" y="31198"/>
            <a:ext cx="2882504" cy="83100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600" b="0" dirty="0">
                <a:solidFill>
                  <a:srgbClr val="6E7678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16052" y="129159"/>
            <a:ext cx="8311896" cy="54864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73078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465" y="2041606"/>
            <a:ext cx="3700732" cy="182734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dirty="0"/>
              <a:t>Esto clic para modificar el estilo de subtítulo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2237" y="250238"/>
            <a:ext cx="8383163" cy="314325"/>
          </a:xfrm>
        </p:spPr>
        <p:txBody>
          <a:bodyPr>
            <a:noAutofit/>
          </a:bodyPr>
          <a:lstStyle>
            <a:lvl1pPr marL="0" indent="0">
              <a:buNone/>
              <a:defRPr sz="975">
                <a:solidFill>
                  <a:schemeClr val="tx2"/>
                </a:solidFill>
              </a:defRPr>
            </a:lvl1pPr>
            <a:lvl2pPr marL="342900" indent="0">
              <a:buNone/>
              <a:defRPr sz="975">
                <a:solidFill>
                  <a:schemeClr val="tx2"/>
                </a:solidFill>
              </a:defRPr>
            </a:lvl2pPr>
            <a:lvl3pPr marL="685800" indent="0">
              <a:buNone/>
              <a:defRPr sz="975">
                <a:solidFill>
                  <a:schemeClr val="tx2"/>
                </a:solidFill>
              </a:defRPr>
            </a:lvl3pPr>
            <a:lvl4pPr marL="1028700" indent="0">
              <a:buNone/>
              <a:defRPr sz="975">
                <a:solidFill>
                  <a:schemeClr val="tx2"/>
                </a:solidFill>
              </a:defRPr>
            </a:lvl4pPr>
            <a:lvl5pPr marL="1371600" indent="0">
              <a:buNone/>
              <a:defRPr sz="975"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3922441"/>
            <a:ext cx="9147517" cy="122105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317474A-EDF5-4D6D-A13B-4159A5391A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6484" y="4295551"/>
            <a:ext cx="1422444" cy="24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3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481" y="825179"/>
            <a:ext cx="7976882" cy="3679999"/>
          </a:xfrm>
        </p:spPr>
        <p:txBody>
          <a:bodyPr>
            <a:normAutofit/>
          </a:bodyPr>
          <a:lstStyle>
            <a:lvl1pPr marL="324000" indent="-297000">
              <a:buClr>
                <a:schemeClr val="accent1"/>
              </a:buClr>
              <a:buSzPct val="45000"/>
              <a:buFont typeface="+mj-lt"/>
              <a:buAutoNum type="arabicPeriod"/>
              <a:defRPr lang="es-ES" sz="3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33268" y="252825"/>
            <a:ext cx="806905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r>
              <a:rPr lang="es-ES" dirty="0" err="1">
                <a:solidFill>
                  <a:schemeClr val="accent1"/>
                </a:solidFill>
              </a:rPr>
              <a:t>Index</a:t>
            </a:r>
            <a:endParaRPr lang="es-ES" dirty="0">
              <a:solidFill>
                <a:schemeClr val="accent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52D7316-C59A-4340-B3AD-98065139283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38" y="4673524"/>
            <a:ext cx="1882971" cy="334966"/>
          </a:xfrm>
          <a:prstGeom prst="rect">
            <a:avLst/>
          </a:prstGeom>
        </p:spPr>
      </p:pic>
      <p:sp>
        <p:nvSpPr>
          <p:cNvPr id="8" name="Rectángulo redondeado 7"/>
          <p:cNvSpPr/>
          <p:nvPr userDrawn="1"/>
        </p:nvSpPr>
        <p:spPr>
          <a:xfrm rot="1650342">
            <a:off x="8351246" y="178797"/>
            <a:ext cx="708227" cy="2355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50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Draft</a:t>
            </a:r>
            <a:endParaRPr lang="es-ES" sz="1350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6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 userDrawn="1"/>
        </p:nvSpPr>
        <p:spPr>
          <a:xfrm>
            <a:off x="6694005" y="0"/>
            <a:ext cx="2449995" cy="51435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9" y="469780"/>
            <a:ext cx="3289646" cy="213955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8913" y="2452895"/>
            <a:ext cx="2219066" cy="17737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450">
                <a:solidFill>
                  <a:schemeClr val="bg1"/>
                </a:solidFill>
              </a:defRPr>
            </a:lvl1pPr>
            <a:lvl2pPr>
              <a:defRPr sz="10350">
                <a:solidFill>
                  <a:schemeClr val="tx1"/>
                </a:solidFill>
              </a:defRPr>
            </a:lvl2pPr>
            <a:lvl3pPr>
              <a:defRPr sz="8625">
                <a:solidFill>
                  <a:schemeClr val="tx1"/>
                </a:solidFill>
              </a:defRPr>
            </a:lvl3pPr>
            <a:lvl4pPr>
              <a:defRPr sz="7200">
                <a:solidFill>
                  <a:schemeClr val="tx1"/>
                </a:solidFill>
              </a:defRPr>
            </a:lvl4pPr>
            <a:lvl5pPr>
              <a:defRPr sz="72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63752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683" y="815593"/>
            <a:ext cx="3973168" cy="1204535"/>
          </a:xfrm>
        </p:spPr>
        <p:txBody>
          <a:bodyPr anchor="t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68" y="252825"/>
            <a:ext cx="8069051" cy="2286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 sz="825"/>
            </a:lvl2pPr>
            <a:lvl3pPr marL="685800" indent="0">
              <a:buFontTx/>
              <a:buNone/>
              <a:defRPr sz="788"/>
            </a:lvl3pPr>
            <a:lvl4pPr marL="1028700" indent="0">
              <a:buFontTx/>
              <a:buNone/>
              <a:defRPr sz="750"/>
            </a:lvl4pPr>
            <a:lvl5pPr marL="1371600" indent="0">
              <a:buFontTx/>
              <a:buNone/>
              <a:defRPr sz="75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269" y="2320172"/>
            <a:ext cx="3981582" cy="23125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9978" y="815593"/>
            <a:ext cx="3810753" cy="381713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pic>
        <p:nvPicPr>
          <p:cNvPr id="9" name="Imagen 6">
            <a:extLst>
              <a:ext uri="{FF2B5EF4-FFF2-40B4-BE49-F238E27FC236}">
                <a16:creationId xmlns:a16="http://schemas.microsoft.com/office/drawing/2014/main" id="{A52D7316-C59A-4340-B3AD-98065139283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9" y="4800470"/>
            <a:ext cx="1468012" cy="26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682" y="815593"/>
            <a:ext cx="8069050" cy="1367258"/>
          </a:xfrm>
        </p:spPr>
        <p:txBody>
          <a:bodyPr anchor="t">
            <a:no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4482" y="4696745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68" y="252825"/>
            <a:ext cx="8069051" cy="2286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 sz="825"/>
            </a:lvl2pPr>
            <a:lvl3pPr marL="685800" indent="0">
              <a:buFontTx/>
              <a:buNone/>
              <a:defRPr sz="788"/>
            </a:lvl3pPr>
            <a:lvl4pPr marL="1028700" indent="0">
              <a:buFontTx/>
              <a:buNone/>
              <a:defRPr sz="750"/>
            </a:lvl4pPr>
            <a:lvl5pPr marL="1371600" indent="0">
              <a:buFontTx/>
              <a:buNone/>
              <a:defRPr sz="75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268" y="2320172"/>
            <a:ext cx="8069050" cy="231255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6316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78" y="832320"/>
            <a:ext cx="2850839" cy="3788017"/>
          </a:xfrm>
        </p:spPr>
        <p:txBody>
          <a:bodyPr anchor="t">
            <a:noAutofit/>
          </a:bodyPr>
          <a:lstStyle>
            <a:lvl1pPr>
              <a:defRPr sz="1875" b="1">
                <a:solidFill>
                  <a:schemeClr val="accent3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4482" y="4696745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68" y="252825"/>
            <a:ext cx="8069051" cy="2286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 sz="825"/>
            </a:lvl2pPr>
            <a:lvl3pPr marL="685800" indent="0">
              <a:buFontTx/>
              <a:buNone/>
              <a:defRPr sz="788"/>
            </a:lvl3pPr>
            <a:lvl4pPr marL="1028700" indent="0">
              <a:buFontTx/>
              <a:buNone/>
              <a:defRPr sz="750"/>
            </a:lvl4pPr>
            <a:lvl5pPr marL="1371600" indent="0">
              <a:buFontTx/>
              <a:buNone/>
              <a:defRPr sz="75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79542" y="844705"/>
            <a:ext cx="5022776" cy="3788018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8595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4482" y="4696745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68" y="252825"/>
            <a:ext cx="8069051" cy="2286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 sz="825"/>
            </a:lvl2pPr>
            <a:lvl3pPr marL="685800" indent="0">
              <a:buFontTx/>
              <a:buNone/>
              <a:defRPr sz="788"/>
            </a:lvl3pPr>
            <a:lvl4pPr marL="1028700" indent="0">
              <a:buFontTx/>
              <a:buNone/>
              <a:defRPr sz="750"/>
            </a:lvl4pPr>
            <a:lvl5pPr marL="1371600" indent="0">
              <a:buFontTx/>
              <a:buNone/>
              <a:defRPr sz="75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683" y="815594"/>
            <a:ext cx="2933551" cy="887349"/>
          </a:xfrm>
        </p:spPr>
        <p:txBody>
          <a:bodyPr anchor="t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269" y="1887877"/>
            <a:ext cx="2933551" cy="27448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3598069" y="815578"/>
            <a:ext cx="5012663" cy="3842147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s-MX" dirty="0"/>
              <a:t>Inserte </a:t>
            </a:r>
            <a:r>
              <a:rPr lang="es-MX" dirty="0" err="1"/>
              <a:t>aqu</a:t>
            </a:r>
            <a:r>
              <a:rPr lang="es-ES" dirty="0"/>
              <a:t>í su gráfico</a:t>
            </a:r>
          </a:p>
        </p:txBody>
      </p:sp>
    </p:spTree>
    <p:extLst>
      <p:ext uri="{BB962C8B-B14F-4D97-AF65-F5344CB8AC3E}">
        <p14:creationId xmlns:p14="http://schemas.microsoft.com/office/powerpoint/2010/main" val="132087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4482" y="4696745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68" y="252825"/>
            <a:ext cx="8069051" cy="2286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 sz="825"/>
            </a:lvl2pPr>
            <a:lvl3pPr marL="685800" indent="0">
              <a:buFontTx/>
              <a:buNone/>
              <a:defRPr sz="788"/>
            </a:lvl3pPr>
            <a:lvl4pPr marL="1028700" indent="0">
              <a:buFontTx/>
              <a:buNone/>
              <a:defRPr sz="750"/>
            </a:lvl4pPr>
            <a:lvl5pPr marL="1371600" indent="0">
              <a:buFontTx/>
              <a:buNone/>
              <a:defRPr sz="75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269" y="893851"/>
            <a:ext cx="2933551" cy="37388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3650876" y="1280832"/>
            <a:ext cx="4959724" cy="337689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50876" y="893852"/>
            <a:ext cx="4940682" cy="28612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3483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4482" y="4696745"/>
            <a:ext cx="879081" cy="15415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268" y="252825"/>
            <a:ext cx="8069051" cy="2286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75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 sz="825"/>
            </a:lvl2pPr>
            <a:lvl3pPr marL="685800" indent="0">
              <a:buFontTx/>
              <a:buNone/>
              <a:defRPr sz="788"/>
            </a:lvl3pPr>
            <a:lvl4pPr marL="1028700" indent="0">
              <a:buFontTx/>
              <a:buNone/>
              <a:defRPr sz="750"/>
            </a:lvl4pPr>
            <a:lvl5pPr marL="1371600" indent="0">
              <a:buFontTx/>
              <a:buNone/>
              <a:defRPr sz="75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269" y="893851"/>
            <a:ext cx="2933551" cy="4931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8047" y="893851"/>
            <a:ext cx="4842553" cy="4931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1650"/>
              </a:spcAft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FontTx/>
              <a:buNone/>
              <a:defRPr lang="es-E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FontTx/>
              <a:buNone/>
              <a:defRPr lang="es-ES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3400" y="1495425"/>
            <a:ext cx="2933700" cy="2704341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768047" y="1495425"/>
            <a:ext cx="4854539" cy="2704341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3556797" y="2763796"/>
            <a:ext cx="140363" cy="155293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21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15C5E64B-3225-45C7-B625-CC93DD9A41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916782"/>
            <a:ext cx="9144000" cy="4226719"/>
          </a:xfrm>
          <a:custGeom>
            <a:avLst/>
            <a:gdLst>
              <a:gd name="connsiteX0" fmla="*/ 6096000 w 12192000"/>
              <a:gd name="connsiteY0" fmla="*/ 0 h 5635625"/>
              <a:gd name="connsiteX1" fmla="*/ 12192000 w 12192000"/>
              <a:gd name="connsiteY1" fmla="*/ 0 h 5635625"/>
              <a:gd name="connsiteX2" fmla="*/ 12192000 w 12192000"/>
              <a:gd name="connsiteY2" fmla="*/ 5635625 h 5635625"/>
              <a:gd name="connsiteX3" fmla="*/ 0 w 12192000"/>
              <a:gd name="connsiteY3" fmla="*/ 5635625 h 5635625"/>
              <a:gd name="connsiteX4" fmla="*/ 0 w 12192000"/>
              <a:gd name="connsiteY4" fmla="*/ 5222492 h 5635625"/>
              <a:gd name="connsiteX5" fmla="*/ 6096000 w 12192000"/>
              <a:gd name="connsiteY5" fmla="*/ 5222492 h 563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5635625">
                <a:moveTo>
                  <a:pt x="6096000" y="0"/>
                </a:moveTo>
                <a:lnTo>
                  <a:pt x="12192000" y="0"/>
                </a:lnTo>
                <a:lnTo>
                  <a:pt x="12192000" y="5635625"/>
                </a:lnTo>
                <a:lnTo>
                  <a:pt x="0" y="5635625"/>
                </a:lnTo>
                <a:lnTo>
                  <a:pt x="0" y="5222492"/>
                </a:lnTo>
                <a:lnTo>
                  <a:pt x="6096000" y="522249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35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309" y="822364"/>
            <a:ext cx="3702888" cy="105525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lang="es-ES" sz="375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465" y="2041606"/>
            <a:ext cx="3700732" cy="182734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2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2238" y="250238"/>
            <a:ext cx="5801327" cy="314325"/>
          </a:xfrm>
        </p:spPr>
        <p:txBody>
          <a:bodyPr>
            <a:noAutofit/>
          </a:bodyPr>
          <a:lstStyle>
            <a:lvl1pPr marL="0" indent="0">
              <a:buNone/>
              <a:defRPr lang="en-US" sz="975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342900" indent="0">
              <a:buNone/>
              <a:defRPr sz="975">
                <a:solidFill>
                  <a:schemeClr val="tx2"/>
                </a:solidFill>
              </a:defRPr>
            </a:lvl2pPr>
            <a:lvl3pPr marL="685800" indent="0">
              <a:buNone/>
              <a:defRPr sz="975">
                <a:solidFill>
                  <a:schemeClr val="tx2"/>
                </a:solidFill>
              </a:defRPr>
            </a:lvl3pPr>
            <a:lvl4pPr marL="1028700" indent="0">
              <a:buNone/>
              <a:defRPr sz="975">
                <a:solidFill>
                  <a:schemeClr val="tx2"/>
                </a:solidFill>
              </a:defRPr>
            </a:lvl4pPr>
            <a:lvl5pPr marL="1371600" indent="0">
              <a:buNone/>
              <a:defRPr sz="975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FA12B4E-2916-42E5-9973-DA70C9ACE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17" y="4319760"/>
            <a:ext cx="2096366" cy="372927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6636544" y="72692"/>
            <a:ext cx="2507456" cy="314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6348" y="167100"/>
            <a:ext cx="8069051" cy="228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500">
                <a:solidFill>
                  <a:schemeClr val="accent1"/>
                </a:solidFill>
                <a:latin typeface="Santander Text" panose="020B0504020201020104" pitchFamily="34" charset="0"/>
                <a:sym typeface="Santander Text" panose="020B0504020201020104" pitchFamily="34" charset="0"/>
              </a:defRPr>
            </a:lvl1pPr>
            <a:lvl2pPr marL="342900" indent="0">
              <a:buFontTx/>
              <a:buNone/>
              <a:defRPr sz="825"/>
            </a:lvl2pPr>
            <a:lvl3pPr marL="685800" indent="0">
              <a:buFontTx/>
              <a:buNone/>
              <a:defRPr sz="788"/>
            </a:lvl3pPr>
            <a:lvl4pPr marL="1028700" indent="0">
              <a:buFontTx/>
              <a:buNone/>
              <a:defRPr sz="750"/>
            </a:lvl4pPr>
            <a:lvl5pPr marL="1371600" indent="0">
              <a:buFontTx/>
              <a:buNone/>
              <a:defRPr sz="7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ADBF68-3CF1-472B-98C5-1DB7D7F15C7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02" y="4695300"/>
            <a:ext cx="1585587" cy="282064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48879" y="618082"/>
            <a:ext cx="8056655" cy="3773086"/>
          </a:xfrm>
          <a:prstGeom prst="rect">
            <a:avLst/>
          </a:prstGeom>
        </p:spPr>
        <p:txBody>
          <a:bodyPr tIns="90000" bIns="90000"/>
          <a:lstStyle>
            <a:lvl1pPr marL="71438" indent="0">
              <a:lnSpc>
                <a:spcPct val="100000"/>
              </a:lnSpc>
              <a:spcBef>
                <a:spcPts val="450"/>
              </a:spcBef>
              <a:buClr>
                <a:schemeClr val="accent1"/>
              </a:buClr>
              <a:defRPr/>
            </a:lvl1pPr>
            <a:lvl2pPr marL="216000" indent="-135000">
              <a:lnSpc>
                <a:spcPct val="100000"/>
              </a:lnSpc>
              <a:spcBef>
                <a:spcPts val="450"/>
              </a:spcBef>
              <a:buClr>
                <a:schemeClr val="accent1"/>
              </a:buClr>
              <a:defRPr sz="900"/>
            </a:lvl2pPr>
            <a:lvl3pPr marL="378000" indent="-135000">
              <a:lnSpc>
                <a:spcPct val="100000"/>
              </a:lnSpc>
              <a:spcBef>
                <a:spcPts val="450"/>
              </a:spcBef>
              <a:buClr>
                <a:schemeClr val="accent1"/>
              </a:buClr>
              <a:buFont typeface="Arial" panose="020B0604020202020204" pitchFamily="34" charset="0"/>
              <a:buChar char="−"/>
              <a:defRPr sz="900"/>
            </a:lvl3pPr>
            <a:lvl4pPr marL="540000" indent="-135000">
              <a:lnSpc>
                <a:spcPct val="100000"/>
              </a:lnSpc>
              <a:spcBef>
                <a:spcPts val="45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900"/>
            </a:lvl4pPr>
            <a:lvl5pPr marL="675000" indent="-135000">
              <a:lnSpc>
                <a:spcPct val="100000"/>
              </a:lnSpc>
              <a:spcBef>
                <a:spcPts val="450"/>
              </a:spcBef>
              <a:buClr>
                <a:schemeClr val="accent1"/>
              </a:buClr>
              <a:defRPr sz="9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480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61">
          <p15:clr>
            <a:srgbClr val="F26B43"/>
          </p15:clr>
        </p15:guide>
        <p15:guide id="2" pos="7242">
          <p15:clr>
            <a:srgbClr val="F26B43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Contac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0DAC009-2BB8-4885-AC03-9FD05C47BE65}"/>
              </a:ext>
            </a:extLst>
          </p:cNvPr>
          <p:cNvSpPr/>
          <p:nvPr userDrawn="1"/>
        </p:nvSpPr>
        <p:spPr>
          <a:xfrm>
            <a:off x="615177" y="2598118"/>
            <a:ext cx="1834629" cy="186452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3922441"/>
            <a:ext cx="9144000" cy="122105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688" y="4179858"/>
            <a:ext cx="1010612" cy="34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5709420" y="4180182"/>
            <a:ext cx="434030" cy="34126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539466" y="1459237"/>
            <a:ext cx="252410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E7678"/>
                </a:solidFill>
              </a:rPr>
              <a:t>Our purpose is to help people </a:t>
            </a:r>
            <a:br>
              <a:rPr lang="en-US" sz="1050" dirty="0">
                <a:solidFill>
                  <a:srgbClr val="6E7678"/>
                </a:solidFill>
              </a:rPr>
            </a:br>
            <a:r>
              <a:rPr lang="en-US" sz="1050" dirty="0">
                <a:solidFill>
                  <a:srgbClr val="6E7678"/>
                </a:solidFill>
              </a:rPr>
              <a:t>and business prosper.</a:t>
            </a:r>
          </a:p>
          <a:p>
            <a:endParaRPr lang="en-US" sz="1050" dirty="0">
              <a:solidFill>
                <a:srgbClr val="6E7678"/>
              </a:solidFill>
            </a:endParaRPr>
          </a:p>
          <a:p>
            <a:r>
              <a:rPr lang="en-US" sz="1050" dirty="0">
                <a:solidFill>
                  <a:srgbClr val="6E7678"/>
                </a:solidFill>
              </a:rPr>
              <a:t>Our culture is based on believing </a:t>
            </a:r>
            <a:br>
              <a:rPr lang="en-US" sz="1050" dirty="0">
                <a:solidFill>
                  <a:srgbClr val="6E7678"/>
                </a:solidFill>
              </a:rPr>
            </a:br>
            <a:r>
              <a:rPr lang="en-US" sz="1050" dirty="0">
                <a:solidFill>
                  <a:srgbClr val="6E7678"/>
                </a:solidFill>
              </a:rPr>
              <a:t>that everything we do should be: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541129" y="471145"/>
            <a:ext cx="252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err="1">
                <a:solidFill>
                  <a:srgbClr val="EB0000"/>
                </a:solidFill>
              </a:rPr>
              <a:t>Thank</a:t>
            </a:r>
            <a:r>
              <a:rPr lang="es-ES" sz="3000" dirty="0">
                <a:solidFill>
                  <a:srgbClr val="EB0000"/>
                </a:solidFill>
              </a:rPr>
              <a:t> </a:t>
            </a:r>
            <a:r>
              <a:rPr lang="es-ES" sz="3000" dirty="0" err="1">
                <a:solidFill>
                  <a:srgbClr val="EB0000"/>
                </a:solidFill>
              </a:rPr>
              <a:t>You</a:t>
            </a:r>
            <a:r>
              <a:rPr lang="es-ES" sz="3000" dirty="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3922441"/>
            <a:ext cx="9147517" cy="122105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AE044304-7E8F-470C-BEF9-EEF0660E2CD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16484" y="4295551"/>
            <a:ext cx="1422444" cy="24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4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image" Target="../media/image5.emf"/><Relationship Id="rId2" Type="http://schemas.openxmlformats.org/officeDocument/2006/relationships/slideLayout" Target="../slideLayouts/slideLayout28.xml"/><Relationship Id="rId16" Type="http://schemas.openxmlformats.org/officeDocument/2006/relationships/oleObject" Target="../embeddings/oleObject5.bin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ags" Target="../tags/tag12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vmlDrawing" Target="../drawings/vmlDrawing5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xmlns="" r:embed="rId29"/>
              </a:ext>
            </a:extLst>
          </a:blip>
          <a:stretch>
            <a:fillRect/>
          </a:stretch>
        </p:blipFill>
        <p:spPr>
          <a:xfrm>
            <a:off x="624484" y="4696750"/>
            <a:ext cx="879081" cy="154157"/>
          </a:xfrm>
          <a:prstGeom prst="rect">
            <a:avLst/>
          </a:prstGeom>
        </p:spPr>
      </p:pic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3B6DEA8-0A6C-424E-9294-94444ECA0D2C}"/>
              </a:ext>
            </a:extLst>
          </p:cNvPr>
          <p:cNvSpPr txBox="1">
            <a:spLocks/>
          </p:cNvSpPr>
          <p:nvPr userDrawn="1"/>
        </p:nvSpPr>
        <p:spPr>
          <a:xfrm>
            <a:off x="6965024" y="4822032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r" defTabSz="914400" rtl="0" eaLnBrk="1" latinLnBrk="0" hangingPunct="1">
              <a:defRPr sz="825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  <a:latin typeface="Arial"/>
              </a:rPr>
              <a:pPr/>
              <a:t>‹#›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206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35" r:id="rId26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Diapositiva de think-cell" r:id="rId16" imgW="270" imgH="270" progId="TCLayout.ActiveDocument.1">
                  <p:embed/>
                </p:oleObj>
              </mc:Choice>
              <mc:Fallback>
                <p:oleObj name="Diapositiva de think-cell" r:id="rId16" imgW="270" imgH="270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1 CuadroTexto"/>
          <p:cNvSpPr txBox="1"/>
          <p:nvPr userDrawn="1"/>
        </p:nvSpPr>
        <p:spPr>
          <a:xfrm>
            <a:off x="8696325" y="4894165"/>
            <a:ext cx="3810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D759F66-99BC-4AB1-83F8-8F582847D04F}" type="slidenum">
              <a:rPr lang="es-ES" sz="750" b="1" smtClean="0">
                <a:solidFill>
                  <a:srgbClr val="FF0000"/>
                </a:solidFill>
              </a:rPr>
              <a:pPr algn="ctr"/>
              <a:t>‹#›</a:t>
            </a:fld>
            <a:endParaRPr lang="es-ES" sz="75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67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12.emf"/><Relationship Id="rId2" Type="http://schemas.openxmlformats.org/officeDocument/2006/relationships/tags" Target="../tags/tag2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4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8.png"/><Relationship Id="rId2" Type="http://schemas.openxmlformats.org/officeDocument/2006/relationships/tags" Target="../tags/tag2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image" Target="../media/image22.png"/><Relationship Id="rId7" Type="http://schemas.openxmlformats.org/officeDocument/2006/relationships/chart" Target="../charts/chart8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Relationship Id="rId6" Type="http://schemas.openxmlformats.org/officeDocument/2006/relationships/chart" Target="../charts/chart7.xml"/><Relationship Id="rId11" Type="http://schemas.openxmlformats.org/officeDocument/2006/relationships/chart" Target="../charts/chart12.xml"/><Relationship Id="rId5" Type="http://schemas.openxmlformats.org/officeDocument/2006/relationships/chart" Target="../charts/chart6.xml"/><Relationship Id="rId10" Type="http://schemas.openxmlformats.org/officeDocument/2006/relationships/chart" Target="../charts/chart11.xml"/><Relationship Id="rId4" Type="http://schemas.openxmlformats.org/officeDocument/2006/relationships/chart" Target="../charts/chart5.xml"/><Relationship Id="rId9" Type="http://schemas.openxmlformats.org/officeDocument/2006/relationships/chart" Target="../charts/char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7.xml"/><Relationship Id="rId3" Type="http://schemas.openxmlformats.org/officeDocument/2006/relationships/chart" Target="../charts/chart13.xml"/><Relationship Id="rId7" Type="http://schemas.openxmlformats.org/officeDocument/2006/relationships/chart" Target="../charts/chart1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Relationship Id="rId6" Type="http://schemas.openxmlformats.org/officeDocument/2006/relationships/chart" Target="../charts/chart15.xml"/><Relationship Id="rId11" Type="http://schemas.openxmlformats.org/officeDocument/2006/relationships/chart" Target="../charts/chart20.xml"/><Relationship Id="rId5" Type="http://schemas.openxmlformats.org/officeDocument/2006/relationships/image" Target="../media/image22.png"/><Relationship Id="rId10" Type="http://schemas.openxmlformats.org/officeDocument/2006/relationships/chart" Target="../charts/chart19.xml"/><Relationship Id="rId4" Type="http://schemas.openxmlformats.org/officeDocument/2006/relationships/chart" Target="../charts/chart14.xml"/><Relationship Id="rId9" Type="http://schemas.openxmlformats.org/officeDocument/2006/relationships/chart" Target="../charts/char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7" Type="http://schemas.openxmlformats.org/officeDocument/2006/relationships/chart" Target="../charts/chart26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5.xml"/><Relationship Id="rId6" Type="http://schemas.openxmlformats.org/officeDocument/2006/relationships/chart" Target="../charts/chart25.xml"/><Relationship Id="rId5" Type="http://schemas.openxmlformats.org/officeDocument/2006/relationships/chart" Target="../charts/chart24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7" Type="http://schemas.openxmlformats.org/officeDocument/2006/relationships/chart" Target="../charts/chart32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5.xml"/><Relationship Id="rId6" Type="http://schemas.openxmlformats.org/officeDocument/2006/relationships/chart" Target="../charts/chart31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12.emf"/><Relationship Id="rId2" Type="http://schemas.openxmlformats.org/officeDocument/2006/relationships/tags" Target="../tags/tag2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4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700">
              <a:solidFill>
                <a:prstClr val="white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308" y="960283"/>
            <a:ext cx="8374092" cy="443198"/>
          </a:xfrm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  <a:t>Pillar 3 ESG</a:t>
            </a:r>
            <a:b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</a:br>
            <a: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  <a:t/>
            </a:r>
            <a:b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</a:br>
            <a:r>
              <a:rPr lang="en-US" altLang="ko-KR" sz="3300" i="1" kern="0" dirty="0">
                <a:solidFill>
                  <a:schemeClr val="bg1">
                    <a:lumMod val="65000"/>
                  </a:schemeClr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  <a:t>Main results </a:t>
            </a:r>
            <a: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  <a:t/>
            </a:r>
            <a:b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</a:br>
            <a:endParaRPr lang="en-US" sz="2700" i="1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2237" y="281499"/>
            <a:ext cx="8383163" cy="204287"/>
          </a:xfrm>
          <a:noFill/>
        </p:spPr>
        <p:txBody>
          <a:bodyPr>
            <a:spAutoFit/>
          </a:bodyPr>
          <a:lstStyle/>
          <a:p>
            <a:r>
              <a:rPr lang="en-GB" dirty="0">
                <a:latin typeface="Santander Text" panose="020B0504020201020104" pitchFamily="34" charset="0"/>
              </a:rPr>
              <a:t>June 2023</a:t>
            </a:r>
          </a:p>
        </p:txBody>
      </p:sp>
    </p:spTree>
    <p:extLst>
      <p:ext uri="{BB962C8B-B14F-4D97-AF65-F5344CB8AC3E}">
        <p14:creationId xmlns:p14="http://schemas.microsoft.com/office/powerpoint/2010/main" val="254990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 txBox="1">
            <a:spLocks/>
          </p:cNvSpPr>
          <p:nvPr/>
        </p:nvSpPr>
        <p:spPr>
          <a:xfrm>
            <a:off x="6548134" y="4657203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z="900" b="1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s-ES" sz="9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91988" y="987574"/>
            <a:ext cx="352819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ID" sz="1600" dirty="0">
                <a:solidFill>
                  <a:srgbClr val="6E7678"/>
                </a:solidFill>
                <a:latin typeface="Santander Text" panose="020B0504020201020104"/>
              </a:rPr>
              <a:t>Introduction</a:t>
            </a:r>
          </a:p>
          <a:p>
            <a:pPr marL="342900" indent="-342900">
              <a:spcBef>
                <a:spcPts val="1200"/>
              </a:spcBef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1600" dirty="0">
                <a:solidFill>
                  <a:srgbClr val="6E7678"/>
                </a:solidFill>
                <a:latin typeface="Santander Text" panose="020B0504020201020104"/>
              </a:rPr>
              <a:t>Responsible areas</a:t>
            </a:r>
          </a:p>
          <a:p>
            <a:pPr marL="342900" indent="-342900">
              <a:spcBef>
                <a:spcPts val="1200"/>
              </a:spcBef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1600" dirty="0">
                <a:solidFill>
                  <a:srgbClr val="6E7678"/>
                </a:solidFill>
                <a:latin typeface="Santander Text" panose="020B0504020201020104"/>
              </a:rPr>
              <a:t>Credit quality of exposures by sector, emissions and residual maturity </a:t>
            </a:r>
            <a:r>
              <a:rPr lang="en-ID" sz="1600" dirty="0">
                <a:solidFill>
                  <a:srgbClr val="6E7678"/>
                </a:solidFill>
                <a:latin typeface="Santander Text" panose="020B0504020201020104"/>
              </a:rPr>
              <a:t> </a:t>
            </a:r>
          </a:p>
          <a:p>
            <a:pPr marL="342900" indent="-342900">
              <a:spcBef>
                <a:spcPts val="1200"/>
              </a:spcBef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ID" sz="1600" dirty="0">
                <a:solidFill>
                  <a:srgbClr val="6E7678"/>
                </a:solidFill>
                <a:latin typeface="Santander Text" panose="020B0504020201020104"/>
              </a:rPr>
              <a:t>EPCs</a:t>
            </a:r>
          </a:p>
          <a:p>
            <a:pPr marL="342900" indent="-342900">
              <a:spcBef>
                <a:spcPts val="1200"/>
              </a:spcBef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ID" sz="1600" dirty="0">
                <a:solidFill>
                  <a:srgbClr val="6E7678"/>
                </a:solidFill>
                <a:latin typeface="Santander Text" panose="020B0504020201020104"/>
              </a:rPr>
              <a:t>Physical risk</a:t>
            </a:r>
          </a:p>
          <a:p>
            <a:pPr marL="342900" indent="-342900">
              <a:spcBef>
                <a:spcPts val="1200"/>
              </a:spcBef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ID" sz="1600" dirty="0">
                <a:solidFill>
                  <a:srgbClr val="6E7678"/>
                </a:solidFill>
                <a:latin typeface="Santander Text" panose="020B0504020201020104"/>
              </a:rPr>
              <a:t>GAR/BTAR &amp; Mitigation actions</a:t>
            </a:r>
          </a:p>
          <a:p>
            <a:pPr marL="342900" indent="-342900">
              <a:spcBef>
                <a:spcPts val="1200"/>
              </a:spcBef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ID" sz="1600" dirty="0">
                <a:solidFill>
                  <a:srgbClr val="6E7678"/>
                </a:solidFill>
                <a:latin typeface="Santander Text" panose="020B0504020201020104"/>
              </a:rPr>
              <a:t>Next steps</a:t>
            </a:r>
          </a:p>
          <a:p>
            <a:pPr marL="342900" indent="-342900">
              <a:spcBef>
                <a:spcPts val="1200"/>
              </a:spcBef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ID" sz="1600" dirty="0">
                <a:solidFill>
                  <a:srgbClr val="6E7678"/>
                </a:solidFill>
                <a:latin typeface="Santander Text" panose="020B0504020201020104"/>
              </a:rPr>
              <a:t>Annexes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6" r="29230"/>
          <a:stretch/>
        </p:blipFill>
        <p:spPr>
          <a:xfrm>
            <a:off x="4289372" y="156656"/>
            <a:ext cx="4886432" cy="49862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CuadroTexto 7"/>
          <p:cNvSpPr txBox="1"/>
          <p:nvPr/>
        </p:nvSpPr>
        <p:spPr>
          <a:xfrm>
            <a:off x="491988" y="555526"/>
            <a:ext cx="24482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en-BZ" sz="2200" b="1" i="1" dirty="0">
                <a:solidFill>
                  <a:srgbClr val="C00000"/>
                </a:solidFill>
                <a:latin typeface="Santander Text" panose="020B0504020201020104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9630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467544" y="339502"/>
            <a:ext cx="828072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1. Introduction</a:t>
            </a: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647564" y="1118230"/>
            <a:ext cx="79206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1400" i="1" dirty="0">
              <a:latin typeface="Santander Text" panose="020B0504020201020104" pitchFamily="34" charset="0"/>
            </a:endParaRPr>
          </a:p>
          <a:p>
            <a:pPr algn="just"/>
            <a:r>
              <a:rPr lang="en-US" sz="1400" i="1" dirty="0">
                <a:latin typeface="Santander Text" panose="020B0504020201020104" pitchFamily="34" charset="0"/>
              </a:rPr>
              <a:t>In this local governance it is necessary to report that Pillar 3 has been executed according to the corporate guidelines and that the results reported during it are known locally. </a:t>
            </a:r>
          </a:p>
          <a:p>
            <a:pPr algn="just"/>
            <a:endParaRPr lang="en-US" sz="1400" i="1" dirty="0">
              <a:latin typeface="Santander Text" panose="020B0504020201020104" pitchFamily="34" charset="0"/>
            </a:endParaRPr>
          </a:p>
          <a:p>
            <a:pPr algn="just"/>
            <a:r>
              <a:rPr lang="en-US" sz="1400" i="1" dirty="0">
                <a:latin typeface="Santander Text" panose="020B0504020201020104" pitchFamily="34" charset="0"/>
              </a:rPr>
              <a:t>This is a proposal of presentation with the main results to be presented in local committees.</a:t>
            </a:r>
            <a:endParaRPr lang="en-IE" sz="1400" i="1" dirty="0">
              <a:latin typeface="Santander Text" panose="020B0504020201020104" pitchFamily="34" charset="0"/>
            </a:endParaRPr>
          </a:p>
          <a:p>
            <a:pPr algn="just"/>
            <a:endParaRPr lang="en-IE" sz="1400" i="1" dirty="0">
              <a:latin typeface="Santander Text" panose="020B0504020201020104" pitchFamily="34" charset="0"/>
            </a:endParaRPr>
          </a:p>
          <a:p>
            <a:pPr algn="just"/>
            <a:r>
              <a:rPr lang="en-US" sz="1400" i="1" dirty="0">
                <a:latin typeface="Santander Text" panose="020B0504020201020104" pitchFamily="34" charset="0"/>
              </a:rPr>
              <a:t>Disclaimers or limitations found during the exercise can be presented below:</a:t>
            </a:r>
          </a:p>
          <a:p>
            <a:pPr algn="just"/>
            <a:endParaRPr lang="en-IE" sz="1400" i="1" dirty="0">
              <a:latin typeface="Santander Text" panose="020B05040202010201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E" sz="1400" i="1" dirty="0">
                <a:latin typeface="Santander Text" panose="020B0504020201020104" pitchFamily="34" charset="0"/>
              </a:rPr>
              <a:t>XXX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E" sz="1400" i="1" dirty="0">
                <a:latin typeface="Santander Text" panose="020B0504020201020104" pitchFamily="34" charset="0"/>
              </a:rPr>
              <a:t>XXX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E" sz="1400" i="1" dirty="0">
              <a:latin typeface="Santander Text" panose="020B0504020201020104" pitchFamily="34" charset="0"/>
            </a:endParaRPr>
          </a:p>
          <a:p>
            <a:pPr algn="just"/>
            <a:endParaRPr lang="en-IE" sz="1400" i="1" dirty="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0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Diapositiva de think-cell" r:id="rId5" imgW="416" imgH="416" progId="TCLayout.ActiveDocument.1">
                  <p:embed/>
                </p:oleObj>
              </mc:Choice>
              <mc:Fallback>
                <p:oleObj name="Diapositiva de think-cell" r:id="rId5" imgW="416" imgH="416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025778D5-476A-4DC5-AE0B-33F1D293AC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2116" y="0"/>
            <a:ext cx="5691884" cy="5143500"/>
          </a:xfrm>
          <a:prstGeom prst="rect">
            <a:avLst/>
          </a:prstGeom>
        </p:spPr>
      </p:pic>
      <p:sp>
        <p:nvSpPr>
          <p:cNvPr id="50" name="Rectángulo redondeado 18">
            <a:extLst>
              <a:ext uri="{FF2B5EF4-FFF2-40B4-BE49-F238E27FC236}">
                <a16:creationId xmlns:a16="http://schemas.microsoft.com/office/drawing/2014/main" id="{5F027EB9-EC05-4904-A173-5ED940872423}"/>
              </a:ext>
            </a:extLst>
          </p:cNvPr>
          <p:cNvSpPr/>
          <p:nvPr/>
        </p:nvSpPr>
        <p:spPr>
          <a:xfrm>
            <a:off x="4871051" y="1726255"/>
            <a:ext cx="3719937" cy="2781555"/>
          </a:xfrm>
          <a:prstGeom prst="roundRect">
            <a:avLst>
              <a:gd name="adj" fmla="val 9914"/>
            </a:avLst>
          </a:prstGeom>
          <a:solidFill>
            <a:schemeClr val="accent2">
              <a:lumMod val="20000"/>
              <a:lumOff val="80000"/>
              <a:alpha val="32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4625" lvl="0" indent="-174625" defTabSz="914378">
              <a:lnSpc>
                <a:spcPts val="1200"/>
              </a:lnSpc>
              <a:spcAft>
                <a:spcPts val="100"/>
              </a:spcAft>
              <a:buFont typeface="Wingdings" panose="05000000000000000000" pitchFamily="2" charset="2"/>
              <a:buChar char="v"/>
              <a:tabLst>
                <a:tab pos="714375" algn="l"/>
              </a:tabLst>
              <a:defRPr/>
            </a:pPr>
            <a:r>
              <a:rPr lang="en-US" sz="1100" b="1" kern="0" dirty="0">
                <a:solidFill>
                  <a:schemeClr val="tx1"/>
                </a:solidFill>
                <a:latin typeface="Santander Text" panose="020B0504020201020104" pitchFamily="34" charset="0"/>
                <a:cs typeface="Arial"/>
                <a:sym typeface="Arial"/>
              </a:rPr>
              <a:t>Pillar III ESG functional guidelines</a:t>
            </a:r>
            <a:r>
              <a:rPr lang="en-US" sz="1100" kern="0" dirty="0">
                <a:solidFill>
                  <a:schemeClr val="tx1"/>
                </a:solidFill>
                <a:latin typeface="Santander Text" panose="020B0504020201020104" pitchFamily="34" charset="0"/>
                <a:cs typeface="Arial"/>
                <a:sym typeface="Arial"/>
              </a:rPr>
              <a:t>: t</a:t>
            </a:r>
            <a:r>
              <a:rPr lang="en-US" sz="1100" kern="0" dirty="0">
                <a:solidFill>
                  <a:schemeClr val="tx1"/>
                </a:solidFill>
                <a:latin typeface="Santander Text" panose="020B0504020201020104" pitchFamily="34" charset="0"/>
                <a:cs typeface="Segoe UI" panose="020B0502040204020203" pitchFamily="34" charset="0"/>
              </a:rPr>
              <a:t>he objective of these guides is to:</a:t>
            </a:r>
          </a:p>
          <a:p>
            <a:pPr marL="533400" lvl="1" indent="-174625" defTabSz="914378">
              <a:lnSpc>
                <a:spcPts val="1200"/>
              </a:lnSpc>
              <a:spcAft>
                <a:spcPts val="100"/>
              </a:spcAft>
              <a:buFont typeface="+mj-lt"/>
              <a:buAutoNum type="romanLcPeriod"/>
              <a:tabLst>
                <a:tab pos="714375" algn="l"/>
                <a:tab pos="719138" algn="l"/>
              </a:tabLst>
              <a:defRPr/>
            </a:pPr>
            <a:r>
              <a:rPr lang="en-US" sz="1100" kern="0" dirty="0">
                <a:solidFill>
                  <a:schemeClr val="tx1"/>
                </a:solidFill>
                <a:latin typeface="Santander Text" panose="020B0504020201020104" pitchFamily="34" charset="0"/>
                <a:cs typeface="Segoe UI" panose="020B0502040204020203" pitchFamily="34" charset="0"/>
              </a:rPr>
              <a:t>Assist the units in complying with Pillar 3 requirements and filling in the satellites</a:t>
            </a:r>
          </a:p>
          <a:p>
            <a:pPr marL="533400" lvl="1" indent="-174625" defTabSz="914378">
              <a:lnSpc>
                <a:spcPts val="1200"/>
              </a:lnSpc>
              <a:spcAft>
                <a:spcPts val="100"/>
              </a:spcAft>
              <a:buFont typeface="+mj-lt"/>
              <a:buAutoNum type="romanLcPeriod"/>
              <a:tabLst>
                <a:tab pos="714375" algn="l"/>
                <a:tab pos="719138" algn="l"/>
              </a:tabLst>
              <a:defRPr/>
            </a:pPr>
            <a:r>
              <a:rPr lang="en-US" sz="1100" kern="0" dirty="0">
                <a:solidFill>
                  <a:schemeClr val="tx1"/>
                </a:solidFill>
                <a:latin typeface="Santander Text" panose="020B0504020201020104" pitchFamily="34" charset="0"/>
                <a:cs typeface="Segoe UI" panose="020B0502040204020203" pitchFamily="34" charset="0"/>
              </a:rPr>
              <a:t>Support in the definition of the relevant climate metrics required in Pillar 3 ESG</a:t>
            </a:r>
          </a:p>
          <a:p>
            <a:pPr marL="446088" lvl="0" indent="-174625" defTabSz="914378">
              <a:lnSpc>
                <a:spcPts val="1200"/>
              </a:lnSpc>
              <a:spcAft>
                <a:spcPts val="100"/>
              </a:spcAft>
              <a:buAutoNum type="romanLcParenR"/>
              <a:tabLst>
                <a:tab pos="714375" algn="l"/>
              </a:tabLst>
              <a:defRPr/>
            </a:pPr>
            <a:endParaRPr lang="en-US" sz="1100" kern="0" dirty="0">
              <a:solidFill>
                <a:schemeClr val="tx1"/>
              </a:solidFill>
              <a:latin typeface="Santander Text" panose="020B0504020201020104" pitchFamily="34" charset="0"/>
              <a:cs typeface="Segoe UI" panose="020B0502040204020203" pitchFamily="34" charset="0"/>
            </a:endParaRPr>
          </a:p>
          <a:p>
            <a:pPr marL="174625" lvl="0" indent="-174625" defTabSz="914378">
              <a:lnSpc>
                <a:spcPts val="1200"/>
              </a:lnSpc>
              <a:spcAft>
                <a:spcPts val="100"/>
              </a:spcAft>
              <a:buFont typeface="Wingdings" panose="05000000000000000000" pitchFamily="2" charset="2"/>
              <a:buChar char="v"/>
              <a:tabLst>
                <a:tab pos="714375" algn="l"/>
              </a:tabLst>
              <a:defRPr/>
            </a:pPr>
            <a:r>
              <a:rPr lang="en-US" sz="1100" b="1" kern="0" dirty="0">
                <a:solidFill>
                  <a:schemeClr val="tx1"/>
                </a:solidFill>
                <a:latin typeface="Santander Text" panose="020B0504020201020104" pitchFamily="34" charset="0"/>
                <a:cs typeface="Segoe UI" panose="020B0502040204020203" pitchFamily="34" charset="0"/>
              </a:rPr>
              <a:t>External data</a:t>
            </a:r>
            <a:r>
              <a:rPr lang="en-US" sz="1100" kern="0" dirty="0">
                <a:solidFill>
                  <a:schemeClr val="tx1"/>
                </a:solidFill>
                <a:latin typeface="Santander Text" panose="020B0504020201020104" pitchFamily="34" charset="0"/>
                <a:cs typeface="Segoe UI" panose="020B0502040204020203" pitchFamily="34" charset="0"/>
              </a:rPr>
              <a:t> to complete the report:</a:t>
            </a:r>
          </a:p>
          <a:p>
            <a:pPr marL="555625" indent="-196850" algn="just">
              <a:spcAft>
                <a:spcPts val="100"/>
              </a:spcAft>
              <a:buFont typeface="+mj-lt"/>
              <a:buAutoNum type="romanLcPeriod"/>
              <a:defRPr/>
            </a:pPr>
            <a:r>
              <a:rPr lang="en-US" sz="1100" kern="0" dirty="0">
                <a:solidFill>
                  <a:schemeClr val="tx1"/>
                </a:solidFill>
                <a:latin typeface="Santander Text" panose="020B0504020201020104" pitchFamily="34" charset="0"/>
                <a:cs typeface="Arial"/>
                <a:sym typeface="Arial"/>
              </a:rPr>
              <a:t>List of companies excluded from the Paris Agreement</a:t>
            </a:r>
          </a:p>
          <a:p>
            <a:pPr marL="555625" indent="-196850" algn="just">
              <a:spcAft>
                <a:spcPts val="100"/>
              </a:spcAft>
              <a:buFont typeface="+mj-lt"/>
              <a:buAutoNum type="romanLcPeriod"/>
              <a:defRPr/>
            </a:pPr>
            <a:r>
              <a:rPr lang="en-GB" sz="1100" kern="0" dirty="0">
                <a:solidFill>
                  <a:schemeClr val="tx1"/>
                </a:solidFill>
                <a:latin typeface="Santander Text" panose="020B0504020201020104" pitchFamily="34" charset="0"/>
                <a:cs typeface="Arial"/>
                <a:sym typeface="Arial"/>
              </a:rPr>
              <a:t>Eligibility ratios</a:t>
            </a:r>
          </a:p>
          <a:p>
            <a:pPr marL="555625" indent="-196850" algn="just">
              <a:spcAft>
                <a:spcPts val="100"/>
              </a:spcAft>
              <a:buFont typeface="+mj-lt"/>
              <a:buAutoNum type="romanLcPeriod"/>
              <a:defRPr/>
            </a:pPr>
            <a:r>
              <a:rPr lang="en-GB" sz="1100" kern="0" dirty="0">
                <a:solidFill>
                  <a:schemeClr val="tx1"/>
                </a:solidFill>
                <a:latin typeface="Santander Text" panose="020B0504020201020104" pitchFamily="34" charset="0"/>
                <a:cs typeface="Arial"/>
                <a:sym typeface="Arial"/>
              </a:rPr>
              <a:t>Emissions data</a:t>
            </a:r>
          </a:p>
          <a:p>
            <a:pPr marL="555625" indent="-196850" algn="just">
              <a:spcAft>
                <a:spcPts val="100"/>
              </a:spcAft>
              <a:buFont typeface="+mj-lt"/>
              <a:buAutoNum type="romanLcPeriod"/>
              <a:defRPr/>
            </a:pPr>
            <a:r>
              <a:rPr lang="en-GB" sz="1100" kern="0" dirty="0">
                <a:solidFill>
                  <a:schemeClr val="tx1"/>
                </a:solidFill>
                <a:latin typeface="Santander Text" panose="020B0504020201020104" pitchFamily="34" charset="0"/>
                <a:cs typeface="Arial"/>
                <a:sym typeface="Arial"/>
              </a:rPr>
              <a:t>Physical risk</a:t>
            </a:r>
          </a:p>
        </p:txBody>
      </p:sp>
      <p:sp>
        <p:nvSpPr>
          <p:cNvPr id="27" name="Rectángulo redondeado 1">
            <a:extLst>
              <a:ext uri="{FF2B5EF4-FFF2-40B4-BE49-F238E27FC236}">
                <a16:creationId xmlns:a16="http://schemas.microsoft.com/office/drawing/2014/main" id="{5EE858FF-1E23-49C2-88D5-54B028AD6DBC}"/>
              </a:ext>
            </a:extLst>
          </p:cNvPr>
          <p:cNvSpPr/>
          <p:nvPr/>
        </p:nvSpPr>
        <p:spPr>
          <a:xfrm>
            <a:off x="4872538" y="1200655"/>
            <a:ext cx="3719938" cy="468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In order for the units to be able to fill in this information, HQ shared the following documentation</a:t>
            </a:r>
            <a:endParaRPr lang="es-ES" sz="1100" b="1" dirty="0">
              <a:latin typeface="Santander Text" panose="020B0504020201020104" pitchFamily="34" charset="0"/>
            </a:endParaRPr>
          </a:p>
        </p:txBody>
      </p:sp>
      <p:sp>
        <p:nvSpPr>
          <p:cNvPr id="5" name="Triángulo isósceles 4"/>
          <p:cNvSpPr/>
          <p:nvPr/>
        </p:nvSpPr>
        <p:spPr>
          <a:xfrm rot="5400000">
            <a:off x="4026746" y="2774720"/>
            <a:ext cx="1080120" cy="89960"/>
          </a:xfrm>
          <a:prstGeom prst="triangl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2. Pilar 3 ESG – Local responsible areas</a:t>
            </a: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sp>
        <p:nvSpPr>
          <p:cNvPr id="26" name="Rectángulo redondeado 1">
            <a:extLst>
              <a:ext uri="{FF2B5EF4-FFF2-40B4-BE49-F238E27FC236}">
                <a16:creationId xmlns:a16="http://schemas.microsoft.com/office/drawing/2014/main" id="{F33B1616-6464-423D-BF12-4254966FEB89}"/>
              </a:ext>
            </a:extLst>
          </p:cNvPr>
          <p:cNvSpPr/>
          <p:nvPr/>
        </p:nvSpPr>
        <p:spPr>
          <a:xfrm>
            <a:off x="2602848" y="1200655"/>
            <a:ext cx="1729677" cy="468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Santander Text" panose="020B0504020201020104" pitchFamily="34" charset="0"/>
              </a:rPr>
              <a:t>Responsible area(s)</a:t>
            </a:r>
            <a:endParaRPr lang="es-ES" sz="1050" b="1" dirty="0">
              <a:latin typeface="Santander Text" panose="020B0504020201020104" pitchFamily="34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491273" y="1739980"/>
            <a:ext cx="3792695" cy="1983898"/>
            <a:chOff x="491273" y="1739980"/>
            <a:chExt cx="3792695" cy="1983898"/>
          </a:xfrm>
        </p:grpSpPr>
        <p:sp>
          <p:nvSpPr>
            <p:cNvPr id="22" name="Rectángulo redondeado 18">
              <a:extLst>
                <a:ext uri="{FF2B5EF4-FFF2-40B4-BE49-F238E27FC236}">
                  <a16:creationId xmlns:a16="http://schemas.microsoft.com/office/drawing/2014/main" id="{D60663A0-0BD0-40CD-AF6F-E1A42331E6DF}"/>
                </a:ext>
              </a:extLst>
            </p:cNvPr>
            <p:cNvSpPr/>
            <p:nvPr/>
          </p:nvSpPr>
          <p:spPr>
            <a:xfrm>
              <a:off x="491273" y="1740166"/>
              <a:ext cx="2052000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u="sng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Template 1</a:t>
              </a:r>
              <a:r>
                <a:rPr lang="en-US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: exposures and emissions by sector</a:t>
              </a:r>
            </a:p>
          </p:txBody>
        </p:sp>
        <p:sp>
          <p:nvSpPr>
            <p:cNvPr id="24" name="Rectángulo redondeado 23">
              <a:extLst>
                <a:ext uri="{FF2B5EF4-FFF2-40B4-BE49-F238E27FC236}">
                  <a16:creationId xmlns:a16="http://schemas.microsoft.com/office/drawing/2014/main" id="{A12C9BE8-4AC6-45D8-8CB6-4367BCD93955}"/>
                </a:ext>
              </a:extLst>
            </p:cNvPr>
            <p:cNvSpPr/>
            <p:nvPr/>
          </p:nvSpPr>
          <p:spPr>
            <a:xfrm>
              <a:off x="491273" y="2146094"/>
              <a:ext cx="2052000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u="sng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Template 2</a:t>
              </a:r>
              <a:r>
                <a:rPr lang="en-US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: collateralized loans (EPCs)</a:t>
              </a:r>
            </a:p>
          </p:txBody>
        </p:sp>
        <p:sp>
          <p:nvSpPr>
            <p:cNvPr id="29" name="Rectángulo redondeado 24">
              <a:extLst>
                <a:ext uri="{FF2B5EF4-FFF2-40B4-BE49-F238E27FC236}">
                  <a16:creationId xmlns:a16="http://schemas.microsoft.com/office/drawing/2014/main" id="{173D588A-661A-4BE7-A9F9-FC04535DD7F1}"/>
                </a:ext>
              </a:extLst>
            </p:cNvPr>
            <p:cNvSpPr/>
            <p:nvPr/>
          </p:nvSpPr>
          <p:spPr>
            <a:xfrm>
              <a:off x="491273" y="2552022"/>
              <a:ext cx="2052000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u="sng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Template 5</a:t>
              </a:r>
              <a:r>
                <a:rPr lang="en-US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: physical risks</a:t>
              </a:r>
            </a:p>
          </p:txBody>
        </p:sp>
        <p:sp>
          <p:nvSpPr>
            <p:cNvPr id="35" name="Rectángulo redondeado 20">
              <a:extLst>
                <a:ext uri="{FF2B5EF4-FFF2-40B4-BE49-F238E27FC236}">
                  <a16:creationId xmlns:a16="http://schemas.microsoft.com/office/drawing/2014/main" id="{BBDF6761-6DFA-4CB9-B275-B0EB52A2DA07}"/>
                </a:ext>
              </a:extLst>
            </p:cNvPr>
            <p:cNvSpPr/>
            <p:nvPr/>
          </p:nvSpPr>
          <p:spPr>
            <a:xfrm>
              <a:off x="491273" y="3363878"/>
              <a:ext cx="2052000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u="sng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Template 10</a:t>
              </a:r>
              <a:r>
                <a:rPr lang="en-US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: Other mitigating actions</a:t>
              </a:r>
            </a:p>
          </p:txBody>
        </p:sp>
        <p:sp>
          <p:nvSpPr>
            <p:cNvPr id="52" name="Rectángulo redondeado 18">
              <a:extLst>
                <a:ext uri="{FF2B5EF4-FFF2-40B4-BE49-F238E27FC236}">
                  <a16:creationId xmlns:a16="http://schemas.microsoft.com/office/drawing/2014/main" id="{94B8B27A-5215-4D09-A36A-9B1524785E1D}"/>
                </a:ext>
              </a:extLst>
            </p:cNvPr>
            <p:cNvSpPr/>
            <p:nvPr/>
          </p:nvSpPr>
          <p:spPr>
            <a:xfrm>
              <a:off x="2635482" y="1739980"/>
              <a:ext cx="1637468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i="1" dirty="0" err="1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Riscos</a:t>
              </a:r>
              <a:endParaRPr lang="en-US" sz="900" i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3" name="Rectángulo redondeado 23">
              <a:extLst>
                <a:ext uri="{FF2B5EF4-FFF2-40B4-BE49-F238E27FC236}">
                  <a16:creationId xmlns:a16="http://schemas.microsoft.com/office/drawing/2014/main" id="{CBFECA4C-1C47-4CE4-BC2A-A8A763984374}"/>
                </a:ext>
              </a:extLst>
            </p:cNvPr>
            <p:cNvSpPr/>
            <p:nvPr/>
          </p:nvSpPr>
          <p:spPr>
            <a:xfrm>
              <a:off x="2635482" y="2145900"/>
              <a:ext cx="1637468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i="1" dirty="0" err="1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Comprar</a:t>
              </a:r>
              <a:r>
                <a:rPr lang="en-US" sz="9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 casa</a:t>
              </a:r>
            </a:p>
            <a:p>
              <a:pPr algn="ctr"/>
              <a:r>
                <a:rPr lang="en-US" sz="900" i="1" dirty="0" err="1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Fomento</a:t>
              </a:r>
              <a:r>
                <a:rPr lang="en-US" sz="9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 à </a:t>
              </a:r>
              <a:r>
                <a:rPr lang="en-US" sz="900" i="1" dirty="0" err="1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Construção</a:t>
              </a:r>
              <a:endParaRPr lang="en-US" sz="900" i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4" name="Rectángulo redondeado 24">
              <a:extLst>
                <a:ext uri="{FF2B5EF4-FFF2-40B4-BE49-F238E27FC236}">
                  <a16:creationId xmlns:a16="http://schemas.microsoft.com/office/drawing/2014/main" id="{6AEEDA1A-4003-441B-B951-11D5554A862F}"/>
                </a:ext>
              </a:extLst>
            </p:cNvPr>
            <p:cNvSpPr/>
            <p:nvPr/>
          </p:nvSpPr>
          <p:spPr>
            <a:xfrm>
              <a:off x="2635482" y="2551820"/>
              <a:ext cx="1637468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i="1" dirty="0" err="1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Riscos</a:t>
              </a:r>
              <a:endParaRPr lang="en-US" sz="900" i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6" name="Rectángulo redondeado 20">
              <a:extLst>
                <a:ext uri="{FF2B5EF4-FFF2-40B4-BE49-F238E27FC236}">
                  <a16:creationId xmlns:a16="http://schemas.microsoft.com/office/drawing/2014/main" id="{D415DD10-1379-4FFB-BCC6-B299238E7559}"/>
                </a:ext>
              </a:extLst>
            </p:cNvPr>
            <p:cNvSpPr/>
            <p:nvPr/>
          </p:nvSpPr>
          <p:spPr>
            <a:xfrm>
              <a:off x="2635482" y="3363662"/>
              <a:ext cx="1637468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Green Finance</a:t>
              </a:r>
            </a:p>
            <a:p>
              <a:pPr algn="ctr"/>
              <a:r>
                <a:rPr lang="en-US" sz="900" i="1" dirty="0" err="1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Controlo</a:t>
              </a:r>
              <a:r>
                <a:rPr lang="en-US" sz="9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 de </a:t>
              </a:r>
              <a:r>
                <a:rPr lang="en-US" sz="900" i="1" dirty="0" err="1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Gestão</a:t>
              </a:r>
              <a:endParaRPr lang="en-US" sz="900" i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5" name="Rectángulo redondeado 20">
              <a:extLst>
                <a:ext uri="{FF2B5EF4-FFF2-40B4-BE49-F238E27FC236}">
                  <a16:creationId xmlns:a16="http://schemas.microsoft.com/office/drawing/2014/main" id="{3F4F446F-2E88-4BE3-A8A7-B0AA39514DF7}"/>
                </a:ext>
              </a:extLst>
            </p:cNvPr>
            <p:cNvSpPr/>
            <p:nvPr/>
          </p:nvSpPr>
          <p:spPr>
            <a:xfrm>
              <a:off x="502291" y="2957950"/>
              <a:ext cx="2052000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u="sng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Templates 6-9</a:t>
              </a:r>
              <a:r>
                <a:rPr lang="en-US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: GAR - BTAR</a:t>
              </a:r>
            </a:p>
          </p:txBody>
        </p:sp>
        <p:sp>
          <p:nvSpPr>
            <p:cNvPr id="30" name="Rectángulo redondeado 20">
              <a:extLst>
                <a:ext uri="{FF2B5EF4-FFF2-40B4-BE49-F238E27FC236}">
                  <a16:creationId xmlns:a16="http://schemas.microsoft.com/office/drawing/2014/main" id="{FDBD9B3E-9847-4A15-9D56-E7725027AA61}"/>
                </a:ext>
              </a:extLst>
            </p:cNvPr>
            <p:cNvSpPr/>
            <p:nvPr/>
          </p:nvSpPr>
          <p:spPr>
            <a:xfrm>
              <a:off x="2646500" y="2957740"/>
              <a:ext cx="1637468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Green Finance</a:t>
              </a:r>
            </a:p>
            <a:p>
              <a:pPr algn="ctr"/>
              <a:r>
                <a:rPr lang="en-US" sz="900" i="1" dirty="0" err="1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Controlo</a:t>
              </a:r>
              <a:r>
                <a:rPr lang="en-US" sz="9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 de </a:t>
              </a:r>
              <a:r>
                <a:rPr lang="en-US" sz="900" i="1" dirty="0" err="1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Gestão</a:t>
              </a:r>
              <a:endParaRPr lang="en-US" sz="900" i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7" name="Rectángulo 6"/>
          <p:cNvSpPr/>
          <p:nvPr/>
        </p:nvSpPr>
        <p:spPr>
          <a:xfrm>
            <a:off x="502292" y="3846962"/>
            <a:ext cx="38302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2"/>
                </a:solidFill>
                <a:latin typeface="Santander Text" panose="020B0504020201020104" pitchFamily="34" charset="0"/>
              </a:rPr>
              <a:t>** These responsible areas may have been defined to </a:t>
            </a:r>
            <a:r>
              <a:rPr lang="en-US" sz="1000" b="1" i="1" dirty="0">
                <a:solidFill>
                  <a:schemeClr val="tx2"/>
                </a:solidFill>
                <a:latin typeface="Santander Text" panose="020B0504020201020104" pitchFamily="34" charset="0"/>
              </a:rPr>
              <a:t>support the first execution of the Pillar 3 ESG. </a:t>
            </a:r>
            <a:r>
              <a:rPr lang="en-US" sz="1000" i="1" dirty="0">
                <a:solidFill>
                  <a:schemeClr val="tx2"/>
                </a:solidFill>
                <a:latin typeface="Santander Text" panose="020B0504020201020104" pitchFamily="34" charset="0"/>
              </a:rPr>
              <a:t>The </a:t>
            </a:r>
            <a:r>
              <a:rPr lang="en-US" sz="1000" b="1" i="1" dirty="0">
                <a:solidFill>
                  <a:schemeClr val="tx2"/>
                </a:solidFill>
                <a:latin typeface="Santander Text" panose="020B0504020201020104" pitchFamily="34" charset="0"/>
              </a:rPr>
              <a:t>BAU </a:t>
            </a:r>
            <a:r>
              <a:rPr lang="en-US" sz="1000" i="1" dirty="0">
                <a:solidFill>
                  <a:schemeClr val="tx2"/>
                </a:solidFill>
                <a:latin typeface="Santander Text" panose="020B0504020201020104" pitchFamily="34" charset="0"/>
              </a:rPr>
              <a:t>Pillar 3 ESG final </a:t>
            </a:r>
            <a:r>
              <a:rPr lang="en-US" sz="1000" b="1" i="1" dirty="0">
                <a:solidFill>
                  <a:schemeClr val="tx2"/>
                </a:solidFill>
                <a:latin typeface="Santander Text" panose="020B0504020201020104" pitchFamily="34" charset="0"/>
              </a:rPr>
              <a:t>roles and responsibilities </a:t>
            </a:r>
            <a:r>
              <a:rPr lang="en-US" sz="1000" i="1" dirty="0">
                <a:solidFill>
                  <a:schemeClr val="tx2"/>
                </a:solidFill>
                <a:latin typeface="Santander Text" panose="020B0504020201020104" pitchFamily="34" charset="0"/>
              </a:rPr>
              <a:t>going forward after first year may change in upcoming months</a:t>
            </a:r>
            <a:endParaRPr lang="es-ES" sz="1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468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490118" y="4586223"/>
            <a:ext cx="2330354" cy="374571"/>
          </a:xfrm>
          <a:prstGeom prst="roundRect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accent2">
                    <a:lumMod val="25000"/>
                  </a:schemeClr>
                </a:solidFill>
                <a:latin typeface="Santander Text" panose="020B0504020201020104" pitchFamily="34" charset="0"/>
              </a:rPr>
              <a:t>Additional breakdown </a:t>
            </a:r>
          </a:p>
          <a:p>
            <a:pPr algn="ctr"/>
            <a:r>
              <a:rPr lang="en-US" sz="800" i="1" dirty="0">
                <a:solidFill>
                  <a:schemeClr val="accent2">
                    <a:lumMod val="25000"/>
                  </a:schemeClr>
                </a:solidFill>
                <a:latin typeface="Santander Text" panose="020B0504020201020104" pitchFamily="34" charset="0"/>
              </a:rPr>
              <a:t>of the NACEs (level 4)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3. Credit quality of exposures by sector, emissions and residual maturity - Satellite 79</a:t>
            </a: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cxnSp>
        <p:nvCxnSpPr>
          <p:cNvPr id="13" name="Conector recto 12"/>
          <p:cNvCxnSpPr>
            <a:cxnSpLocks/>
          </p:cNvCxnSpPr>
          <p:nvPr/>
        </p:nvCxnSpPr>
        <p:spPr>
          <a:xfrm>
            <a:off x="755650" y="832788"/>
            <a:ext cx="7524836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redondeado 10"/>
          <p:cNvSpPr/>
          <p:nvPr/>
        </p:nvSpPr>
        <p:spPr>
          <a:xfrm>
            <a:off x="2411835" y="732200"/>
            <a:ext cx="4212466" cy="201177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Gross carrying amount and Accumulates Impairment by NACE*</a:t>
            </a:r>
            <a:endParaRPr lang="es-ES" sz="1100" b="1" i="1" dirty="0">
              <a:solidFill>
                <a:schemeClr val="accent1">
                  <a:lumMod val="7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6876256" y="51470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691680" y="4744907"/>
            <a:ext cx="42484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900" i="1" dirty="0">
                <a:solidFill>
                  <a:schemeClr val="tx2"/>
                </a:solidFill>
                <a:latin typeface="Santander Text" panose="020B0504020201020104" pitchFamily="34" charset="0"/>
              </a:rPr>
              <a:t>* Summarized version of the template to be published, which will have a higher level of detail and granularity</a:t>
            </a:r>
            <a:endParaRPr lang="es-ES" sz="900" dirty="0">
              <a:solidFill>
                <a:schemeClr val="tx2"/>
              </a:solidFill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/>
          </p:nvPr>
        </p:nvGraphicFramePr>
        <p:xfrm>
          <a:off x="6588224" y="4611966"/>
          <a:ext cx="458146" cy="38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2" name="Worksheet" showAsIcon="1" r:id="rId3" imgW="914400" imgH="771480" progId="Excel.Sheet.12">
                  <p:embed/>
                </p:oleObj>
              </mc:Choice>
              <mc:Fallback>
                <p:oleObj name="Worksheet" showAsIcon="1" r:id="rId3" imgW="914400" imgH="771480" progId="Excel.Sheet.12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88224" y="4611966"/>
                        <a:ext cx="458146" cy="386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541868"/>
              </p:ext>
            </p:extLst>
          </p:nvPr>
        </p:nvGraphicFramePr>
        <p:xfrm>
          <a:off x="250332" y="987574"/>
          <a:ext cx="8643336" cy="3447630"/>
        </p:xfrm>
        <a:graphic>
          <a:graphicData uri="http://schemas.openxmlformats.org/drawingml/2006/table">
            <a:tbl>
              <a:tblPr/>
              <a:tblGrid>
                <a:gridCol w="3313556">
                  <a:extLst>
                    <a:ext uri="{9D8B030D-6E8A-4147-A177-3AD203B41FA5}">
                      <a16:colId xmlns:a16="http://schemas.microsoft.com/office/drawing/2014/main" val="147169684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930079034"/>
                    </a:ext>
                  </a:extLst>
                </a:gridCol>
                <a:gridCol w="866244">
                  <a:extLst>
                    <a:ext uri="{9D8B030D-6E8A-4147-A177-3AD203B41FA5}">
                      <a16:colId xmlns:a16="http://schemas.microsoft.com/office/drawing/2014/main" val="214808595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100004918"/>
                    </a:ext>
                  </a:extLst>
                </a:gridCol>
                <a:gridCol w="1005964">
                  <a:extLst>
                    <a:ext uri="{9D8B030D-6E8A-4147-A177-3AD203B41FA5}">
                      <a16:colId xmlns:a16="http://schemas.microsoft.com/office/drawing/2014/main" val="2261290015"/>
                    </a:ext>
                  </a:extLst>
                </a:gridCol>
                <a:gridCol w="794236">
                  <a:extLst>
                    <a:ext uri="{9D8B030D-6E8A-4147-A177-3AD203B41FA5}">
                      <a16:colId xmlns:a16="http://schemas.microsoft.com/office/drawing/2014/main" val="659295906"/>
                    </a:ext>
                  </a:extLst>
                </a:gridCol>
                <a:gridCol w="935144">
                  <a:extLst>
                    <a:ext uri="{9D8B030D-6E8A-4147-A177-3AD203B41FA5}">
                      <a16:colId xmlns:a16="http://schemas.microsoft.com/office/drawing/2014/main" val="1494220571"/>
                    </a:ext>
                  </a:extLst>
                </a:gridCol>
              </a:tblGrid>
              <a:tr h="3904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Sector </a:t>
                      </a:r>
                    </a:p>
                  </a:txBody>
                  <a:tcPr marL="8193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 gross </a:t>
                      </a:r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carrying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amount</a:t>
                      </a:r>
                      <a:endParaRPr lang="pt-PT" sz="9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which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pt-PT" sz="900" b="1" i="0" u="none" strike="noStrike" dirty="0" smtClean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algn="ctr" rtl="0" fontAlgn="ctr"/>
                      <a:r>
                        <a:rPr lang="pt-PT" sz="9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STAGE 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which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pt-PT" sz="900" b="1" i="0" u="none" strike="noStrike" dirty="0" smtClean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algn="ctr" rtl="0" fontAlgn="ctr"/>
                      <a:r>
                        <a:rPr lang="pt-PT" sz="9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STAGE 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 which </a:t>
                      </a:r>
                      <a:endParaRPr lang="en-US" sz="900" b="1" i="0" u="none" strike="noStrike" dirty="0" smtClean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algn="ctr" rtl="0" fontAlgn="ctr"/>
                      <a:r>
                        <a:rPr lang="en-US" sz="9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excluded 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from </a:t>
                      </a:r>
                      <a:endParaRPr lang="en-US" sz="900" b="1" i="0" u="none" strike="noStrike" dirty="0" smtClean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algn="ctr" rtl="0" fontAlgn="ctr"/>
                      <a:r>
                        <a:rPr lang="en-US" sz="9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Paris 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benchmarks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Accumulated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impairment</a:t>
                      </a:r>
                      <a:endParaRPr lang="pt-PT" sz="9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Average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pt-PT" sz="900" b="1" i="0" u="none" strike="noStrike" dirty="0" smtClean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algn="ctr" rtl="0" fontAlgn="ctr"/>
                      <a:r>
                        <a:rPr lang="pt-PT" sz="900" b="1" i="0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maturity</a:t>
                      </a:r>
                      <a:endParaRPr lang="pt-PT" sz="9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970151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Exposures towards sectors that highly contribute to climate change</a:t>
                      </a:r>
                    </a:p>
                  </a:txBody>
                  <a:tcPr marL="73734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9.495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2.177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572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495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868634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Agriculture, forestry and fishing</a:t>
                      </a:r>
                    </a:p>
                  </a:txBody>
                  <a:tcPr marL="294935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337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        - 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-16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344996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B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Mining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and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quarrying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294935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7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565760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Manufacturing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294935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2.337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411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117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-152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7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217519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 Electricity, gas, steam and air conditioning supply</a:t>
                      </a:r>
                    </a:p>
                  </a:txBody>
                  <a:tcPr marL="294935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444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83420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Water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supply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294935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700" b="0" i="0" u="none" strike="noStrike" dirty="0"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218797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Construction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294935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1.095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418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-84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382606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G Wholesale and retail trade</a:t>
                      </a:r>
                    </a:p>
                  </a:txBody>
                  <a:tcPr marL="294935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2.126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515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-103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  <a:endParaRPr lang="pt-PT" sz="7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397654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Transport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and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storage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294935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707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218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-29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165317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 Accommodation and food service activities</a:t>
                      </a:r>
                    </a:p>
                  </a:txBody>
                  <a:tcPr marL="294935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1.080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147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-67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955151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 Real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estate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activities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294935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1.300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69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-39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311496"/>
                  </a:ext>
                </a:extLst>
              </a:tr>
              <a:tr h="2908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Exposures towards sectors other than those that highly contribute to climate change</a:t>
                      </a:r>
                    </a:p>
                  </a:txBody>
                  <a:tcPr marL="73734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2.579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108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-92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608992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 general: Non Financial </a:t>
                      </a:r>
                      <a:r>
                        <a:rPr lang="pt-PT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Corporations</a:t>
                      </a:r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</a:p>
                  </a:txBody>
                  <a:tcPr marL="73734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12.196</a:t>
                      </a:r>
                      <a:endParaRPr lang="pt-PT" sz="7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2.284</a:t>
                      </a:r>
                      <a:endParaRPr lang="pt-PT" sz="7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695</a:t>
                      </a:r>
                      <a:endParaRPr lang="pt-PT" sz="7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352</a:t>
                      </a:r>
                      <a:endParaRPr lang="pt-PT" sz="7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  <a:r>
                        <a:rPr lang="pt-PT" sz="7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587</a:t>
                      </a:r>
                      <a:endParaRPr lang="pt-PT" sz="7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089588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 general: General </a:t>
                      </a:r>
                      <a:r>
                        <a:rPr lang="pt-PT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Governments</a:t>
                      </a:r>
                      <a:endParaRPr lang="pt-PT" sz="8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734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18001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 general: Other Financial Corporation</a:t>
                      </a:r>
                    </a:p>
                  </a:txBody>
                  <a:tcPr marL="73734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2.464</a:t>
                      </a:r>
                      <a:endParaRPr lang="pt-PT" sz="7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863960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 general: Households (loans </a:t>
                      </a:r>
                      <a:r>
                        <a:rPr lang="en-US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collateralised</a:t>
                      </a: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by immovable property)</a:t>
                      </a:r>
                    </a:p>
                  </a:txBody>
                  <a:tcPr marL="73734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22.659</a:t>
                      </a:r>
                      <a:endParaRPr lang="pt-PT" sz="7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2.179</a:t>
                      </a:r>
                      <a:endParaRPr lang="pt-PT" sz="7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198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-199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184918"/>
                  </a:ext>
                </a:extLst>
              </a:tr>
              <a:tr h="17107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 general: </a:t>
                      </a:r>
                      <a:r>
                        <a:rPr lang="pt-PT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Tangible</a:t>
                      </a:r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Assets</a:t>
                      </a:r>
                      <a:endParaRPr lang="pt-PT" sz="8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734" marR="8193" marT="81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56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-   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-29</a:t>
                      </a:r>
                    </a:p>
                  </a:txBody>
                  <a:tcPr marL="8193" marR="73734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8193" marR="8193" marT="8193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915283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Fechado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140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Credit quality of exposures by sector, emissions and residual maturity (</a:t>
            </a:r>
            <a:r>
              <a:rPr lang="en-US" sz="1600" kern="0" dirty="0" smtClean="0">
                <a:latin typeface="Santander Headline" panose="020B0504020201020104" pitchFamily="34" charset="0"/>
              </a:rPr>
              <a:t>Satellite 79)</a:t>
            </a:r>
            <a:endParaRPr lang="en-US" sz="1600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610557" y="4011910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11911"/>
              </p:ext>
            </p:extLst>
          </p:nvPr>
        </p:nvGraphicFramePr>
        <p:xfrm>
          <a:off x="395534" y="1203595"/>
          <a:ext cx="8352932" cy="2736310"/>
        </p:xfrm>
        <a:graphic>
          <a:graphicData uri="http://schemas.openxmlformats.org/drawingml/2006/table">
            <a:tbl>
              <a:tblPr/>
              <a:tblGrid>
                <a:gridCol w="3275987">
                  <a:extLst>
                    <a:ext uri="{9D8B030D-6E8A-4147-A177-3AD203B41FA5}">
                      <a16:colId xmlns:a16="http://schemas.microsoft.com/office/drawing/2014/main" val="1135116644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3007096448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11595694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2281754451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4205408328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3241137877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3261941745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1034465087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2488137242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2117650172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4180279886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2594344912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1622758803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4289119605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754545156"/>
                    </a:ext>
                  </a:extLst>
                </a:gridCol>
                <a:gridCol w="338463">
                  <a:extLst>
                    <a:ext uri="{9D8B030D-6E8A-4147-A177-3AD203B41FA5}">
                      <a16:colId xmlns:a16="http://schemas.microsoft.com/office/drawing/2014/main" val="329774652"/>
                    </a:ext>
                  </a:extLst>
                </a:gridCol>
              </a:tblGrid>
              <a:tr h="333873">
                <a:tc>
                  <a:txBody>
                    <a:bodyPr/>
                    <a:lstStyle/>
                    <a:p>
                      <a:pPr algn="l" fontAlgn="b"/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874" marR="5874" marT="5874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Total GCA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Stage</a:t>
                      </a:r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2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Stage</a:t>
                      </a:r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3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Excluded</a:t>
                      </a:r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from</a:t>
                      </a:r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Paris </a:t>
                      </a:r>
                      <a:r>
                        <a:rPr lang="pt-PT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Benchmarks</a:t>
                      </a:r>
                      <a:endParaRPr lang="pt-PT" sz="700" b="1" i="0" u="none" strike="noStrike" dirty="0">
                        <a:solidFill>
                          <a:srgbClr val="FFFFFF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Accumulated</a:t>
                      </a:r>
                      <a:r>
                        <a:rPr lang="pt-PT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Impairment</a:t>
                      </a:r>
                      <a:endParaRPr lang="pt-PT" sz="700" b="1" i="0" u="none" strike="noStrike" dirty="0">
                        <a:solidFill>
                          <a:srgbClr val="FFFFFF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139320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Sector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409410"/>
                  </a:ext>
                </a:extLst>
              </a:tr>
              <a:tr h="2250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Exposures towards sectors that highly contribute to climate change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9 730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9 495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-236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2 218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2 177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593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572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-104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-501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-495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808205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A Agriculture, forestry and fishing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336 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115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-83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913841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B Mining and quarrying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90563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C </a:t>
                      </a:r>
                      <a:r>
                        <a:rPr lang="pt-P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Manufacturing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2 439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2 337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-101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1 018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411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-608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117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-162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-152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953326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 Electricity, gas, steam and air conditioning supply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565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444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-121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262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262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-101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625496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 </a:t>
                      </a:r>
                      <a:r>
                        <a:rPr lang="pt-P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Water</a:t>
                      </a: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supply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701977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F Construction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929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1 095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166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260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418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158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-81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-84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185814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G Wholesale and retail trade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2 114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2 126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494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515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-105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-103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61943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H Transport and storage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779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707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-72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230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218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-29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-29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619650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I Accommodation and food service activities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1 200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1 080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-121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276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226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151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147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-63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-67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739791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L Real estate activities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1 294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1 300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-6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69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-39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-39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016841"/>
                  </a:ext>
                </a:extLst>
              </a:tr>
              <a:tr h="1814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Exposures towards sectors other than those that highly contribute to climate change</a:t>
                      </a:r>
                    </a:p>
                  </a:txBody>
                  <a:tcPr marL="5874" marR="5874" marT="5874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2 642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2 579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-63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108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123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-87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-92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-5</a:t>
                      </a:r>
                    </a:p>
                  </a:txBody>
                  <a:tcPr marL="5874" marR="5874" marT="5874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04012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9512" y="51470"/>
            <a:ext cx="3312368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Ajustar números pra esquerda 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827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/>
          <p:cNvSpPr/>
          <p:nvPr/>
        </p:nvSpPr>
        <p:spPr>
          <a:xfrm>
            <a:off x="652443" y="915315"/>
            <a:ext cx="7849730" cy="324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Financed emissions </a:t>
            </a:r>
            <a:r>
              <a:rPr lang="en-US" sz="1100" i="1" dirty="0">
                <a:latin typeface="Santander Text" panose="020B0504020201020104" pitchFamily="34" charset="0"/>
              </a:rPr>
              <a:t>(from non financial corporations)</a:t>
            </a:r>
            <a:endParaRPr lang="es-ES" sz="1100" i="1" dirty="0">
              <a:latin typeface="Santander Text" panose="020B0504020201020104" pitchFamily="34" charset="0"/>
            </a:endParaRPr>
          </a:p>
        </p:txBody>
      </p:sp>
      <p:sp>
        <p:nvSpPr>
          <p:cNvPr id="12" name="Rectángulo redondeado 11"/>
          <p:cNvSpPr/>
          <p:nvPr/>
        </p:nvSpPr>
        <p:spPr>
          <a:xfrm>
            <a:off x="652443" y="1384472"/>
            <a:ext cx="3559517" cy="1547318"/>
          </a:xfrm>
          <a:prstGeom prst="roundRect">
            <a:avLst>
              <a:gd name="adj" fmla="val 3508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</p:txBody>
      </p:sp>
      <p:sp>
        <p:nvSpPr>
          <p:cNvPr id="24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3. Credit quality of exposures by sector, emissions and residual maturity - Satellite 93</a:t>
            </a: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0E3778C-4F86-4250-82F3-0469EFB21E9A}"/>
              </a:ext>
            </a:extLst>
          </p:cNvPr>
          <p:cNvSpPr txBox="1"/>
          <p:nvPr/>
        </p:nvSpPr>
        <p:spPr>
          <a:xfrm>
            <a:off x="6372200" y="4511001"/>
            <a:ext cx="2137909" cy="4426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</a:t>
            </a:r>
            <a:r>
              <a:rPr lang="en-US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in tons of CO2 equivalent</a:t>
            </a:r>
            <a:endParaRPr lang="en-ZA" sz="1000" b="1" i="1" dirty="0">
              <a:solidFill>
                <a:schemeClr val="accent1"/>
              </a:solidFill>
              <a:latin typeface="Santander Text" panose="020B0504020201020104" pitchFamily="34" charset="0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1547664" y="4748118"/>
            <a:ext cx="42484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chemeClr val="tx2"/>
                </a:solidFill>
                <a:latin typeface="Santander Text" panose="020B0504020201020104" pitchFamily="34" charset="0"/>
              </a:rPr>
              <a:t>** Please note that since financed emissions is a phased reporting metric until 2024, the decision of which sectors to disclose in this first report is still under analysis.</a:t>
            </a:r>
            <a:endParaRPr lang="es-ES" sz="900" dirty="0">
              <a:solidFill>
                <a:schemeClr val="tx2"/>
              </a:solidFill>
            </a:endParaRP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F2F112E2-5C4F-45AD-BDEA-5DC97BDD1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83340"/>
              </p:ext>
            </p:extLst>
          </p:nvPr>
        </p:nvGraphicFramePr>
        <p:xfrm>
          <a:off x="4355976" y="1347614"/>
          <a:ext cx="4140000" cy="2985038"/>
        </p:xfrm>
        <a:graphic>
          <a:graphicData uri="http://schemas.openxmlformats.org/drawingml/2006/table">
            <a:tbl>
              <a:tblPr/>
              <a:tblGrid>
                <a:gridCol w="24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Sector </a:t>
                      </a:r>
                    </a:p>
                  </a:txBody>
                  <a:tcPr marL="4755" marR="4755" marT="475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GHG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financed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emissions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755" marR="4755" marT="475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which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Scope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3</a:t>
                      </a:r>
                    </a:p>
                  </a:txBody>
                  <a:tcPr marL="4755" marR="4755" marT="47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212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Sectors that highly contribute to climate change</a:t>
                      </a:r>
                      <a:endParaRPr lang="es-ES" sz="900" b="1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8000" marR="4755" marT="475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5.988.051</a:t>
                      </a:r>
                      <a:endParaRPr lang="es-ES" sz="800" b="0" i="1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755" marR="4755" marT="475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3.884.758</a:t>
                      </a:r>
                      <a:endParaRPr lang="es-ES" sz="800" b="0" i="1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755" marR="4755" marT="475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A Agriculture, forestry and fishing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751.805      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205.504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s-E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B </a:t>
                      </a:r>
                      <a:r>
                        <a:rPr lang="es-E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Mining</a:t>
                      </a:r>
                      <a:r>
                        <a:rPr lang="es-E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and </a:t>
                      </a:r>
                      <a:r>
                        <a:rPr lang="es-E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quarrying</a:t>
                      </a:r>
                      <a:endParaRPr lang="es-ES" sz="7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20.037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7.308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s-E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 </a:t>
                      </a:r>
                      <a:r>
                        <a:rPr lang="es-E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Manufacturing</a:t>
                      </a:r>
                      <a:endParaRPr lang="es-ES" sz="7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2.069.760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1.565.865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 Electricity, gas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228.548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57.459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s-E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 </a:t>
                      </a:r>
                      <a:r>
                        <a:rPr lang="es-E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Water</a:t>
                      </a:r>
                      <a:r>
                        <a:rPr lang="es-E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supply</a:t>
                      </a:r>
                      <a:endParaRPr lang="es-ES" sz="7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27.582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16.450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s-E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F </a:t>
                      </a:r>
                      <a:r>
                        <a:rPr lang="es-E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Construction</a:t>
                      </a:r>
                      <a:endParaRPr lang="es-ES" sz="7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427.848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370.641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 Wholesale and retail trade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1.532.037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1.066.960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s-E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H Transport and </a:t>
                      </a:r>
                      <a:r>
                        <a:rPr lang="es-E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storage</a:t>
                      </a:r>
                      <a:endParaRPr lang="es-ES" sz="7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651.299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387.703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 Accommodation and food service activities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227.238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170.448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s-E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J </a:t>
                      </a:r>
                      <a:r>
                        <a:rPr lang="es-E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Information</a:t>
                      </a:r>
                      <a:r>
                        <a:rPr lang="es-E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and </a:t>
                      </a:r>
                      <a:r>
                        <a:rPr lang="es-E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communication</a:t>
                      </a:r>
                      <a:endParaRPr lang="es-ES" sz="7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23.931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18.135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176213" lvl="1" indent="0" algn="l" fontAlgn="b"/>
                      <a:r>
                        <a:rPr lang="es-E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L Real estate </a:t>
                      </a:r>
                      <a:r>
                        <a:rPr lang="es-E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activities</a:t>
                      </a:r>
                      <a:endParaRPr lang="es-ES" sz="7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27.966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18.285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9826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Sectors other than those that highly contribute to climate change</a:t>
                      </a:r>
                      <a:endParaRPr lang="es-ES" sz="700" b="1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18000" marR="4755" marT="475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2.324.270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2.102.565</a:t>
                      </a:r>
                      <a:endParaRPr lang="pt-PT" sz="8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 general: Non Financial </a:t>
                      </a:r>
                      <a:r>
                        <a:rPr lang="es-E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Corporations</a:t>
                      </a:r>
                      <a:r>
                        <a:rPr lang="es-E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</a:p>
                  </a:txBody>
                  <a:tcPr marL="4755" marR="4755" marT="475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8.312.321</a:t>
                      </a:r>
                      <a:endParaRPr lang="pt-PT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8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5.987.323</a:t>
                      </a:r>
                      <a:endParaRPr lang="pt-PT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86E40D48-12A1-41A4-8108-3C1BD34F06EE}"/>
              </a:ext>
            </a:extLst>
          </p:cNvPr>
          <p:cNvSpPr txBox="1"/>
          <p:nvPr/>
        </p:nvSpPr>
        <p:spPr>
          <a:xfrm>
            <a:off x="927532" y="1724503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 err="1">
                <a:solidFill>
                  <a:srgbClr val="3A798A"/>
                </a:solidFill>
                <a:latin typeface="Santander Text" panose="020B0504020201020104" pitchFamily="34" charset="0"/>
              </a:rPr>
              <a:t>Scope</a:t>
            </a:r>
            <a:r>
              <a:rPr lang="es-ES" sz="1050" b="1" dirty="0">
                <a:solidFill>
                  <a:srgbClr val="3A798A"/>
                </a:solidFill>
                <a:latin typeface="Santander Text" panose="020B0504020201020104" pitchFamily="34" charset="0"/>
              </a:rPr>
              <a:t> 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DC2638B-C479-4532-88D5-E3A8DB07790C}"/>
              </a:ext>
            </a:extLst>
          </p:cNvPr>
          <p:cNvSpPr txBox="1"/>
          <p:nvPr/>
        </p:nvSpPr>
        <p:spPr>
          <a:xfrm>
            <a:off x="1708603" y="1724503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 err="1">
                <a:solidFill>
                  <a:srgbClr val="3A798A"/>
                </a:solidFill>
                <a:latin typeface="Santander Text" panose="020B0504020201020104" pitchFamily="34" charset="0"/>
              </a:rPr>
              <a:t>Scope</a:t>
            </a:r>
            <a:r>
              <a:rPr lang="es-ES" sz="1050" b="1" dirty="0">
                <a:solidFill>
                  <a:srgbClr val="3A798A"/>
                </a:solidFill>
                <a:latin typeface="Santander Text" panose="020B0504020201020104" pitchFamily="34" charset="0"/>
              </a:rPr>
              <a:t> 2</a:t>
            </a:r>
          </a:p>
        </p:txBody>
      </p:sp>
      <p:graphicFrame>
        <p:nvGraphicFramePr>
          <p:cNvPr id="14" name="Gráfico 13"/>
          <p:cNvGraphicFramePr/>
          <p:nvPr>
            <p:extLst>
              <p:ext uri="{D42A27DB-BD31-4B8C-83A1-F6EECF244321}">
                <p14:modId xmlns:p14="http://schemas.microsoft.com/office/powerpoint/2010/main" val="3440658682"/>
              </p:ext>
            </p:extLst>
          </p:nvPr>
        </p:nvGraphicFramePr>
        <p:xfrm>
          <a:off x="755650" y="1419622"/>
          <a:ext cx="3456310" cy="151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62DFBCEF-9618-47FB-A8FE-916BFB08A7AC}"/>
              </a:ext>
            </a:extLst>
          </p:cNvPr>
          <p:cNvSpPr txBox="1"/>
          <p:nvPr/>
        </p:nvSpPr>
        <p:spPr>
          <a:xfrm>
            <a:off x="2533742" y="1724503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 err="1">
                <a:solidFill>
                  <a:srgbClr val="3A798A"/>
                </a:solidFill>
                <a:latin typeface="Santander Text" panose="020B0504020201020104" pitchFamily="34" charset="0"/>
              </a:rPr>
              <a:t>Scope</a:t>
            </a:r>
            <a:r>
              <a:rPr lang="es-ES" sz="1050" b="1" dirty="0">
                <a:solidFill>
                  <a:srgbClr val="3A798A"/>
                </a:solidFill>
                <a:latin typeface="Santander Text" panose="020B0504020201020104" pitchFamily="34" charset="0"/>
              </a:rPr>
              <a:t> 3</a:t>
            </a: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37F843F2-3DA1-4E90-9CD3-B6D0107207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0642542"/>
              </p:ext>
            </p:extLst>
          </p:nvPr>
        </p:nvGraphicFramePr>
        <p:xfrm>
          <a:off x="2123728" y="1723782"/>
          <a:ext cx="1584176" cy="14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BE67FE43-2A8B-48D0-A621-A5FB3A2A0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152709"/>
              </p:ext>
            </p:extLst>
          </p:nvPr>
        </p:nvGraphicFramePr>
        <p:xfrm>
          <a:off x="1320623" y="1723782"/>
          <a:ext cx="1584176" cy="14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Rectángulo redondeado 12"/>
          <p:cNvSpPr/>
          <p:nvPr/>
        </p:nvSpPr>
        <p:spPr>
          <a:xfrm>
            <a:off x="683568" y="3075806"/>
            <a:ext cx="3528392" cy="1296144"/>
          </a:xfrm>
          <a:prstGeom prst="roundRect">
            <a:avLst>
              <a:gd name="adj" fmla="val 3508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</p:txBody>
      </p:sp>
      <p:graphicFrame>
        <p:nvGraphicFramePr>
          <p:cNvPr id="23" name="Gráfico 16"/>
          <p:cNvGraphicFramePr/>
          <p:nvPr>
            <p:extLst>
              <p:ext uri="{D42A27DB-BD31-4B8C-83A1-F6EECF244321}">
                <p14:modId xmlns:p14="http://schemas.microsoft.com/office/powerpoint/2010/main" val="653465506"/>
              </p:ext>
            </p:extLst>
          </p:nvPr>
        </p:nvGraphicFramePr>
        <p:xfrm>
          <a:off x="791580" y="3055643"/>
          <a:ext cx="3420380" cy="1388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Rectangle 24"/>
          <p:cNvSpPr/>
          <p:nvPr/>
        </p:nvSpPr>
        <p:spPr>
          <a:xfrm>
            <a:off x="179512" y="51470"/>
            <a:ext cx="2448272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WIP – Validar c/ </a:t>
            </a:r>
            <a:r>
              <a:rPr lang="pt-PT" dirty="0" err="1" smtClean="0">
                <a:solidFill>
                  <a:sysClr val="windowText" lastClr="000000"/>
                </a:solidFill>
              </a:rPr>
              <a:t>corp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346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Credit quality of exposures by sector, emissions and residual maturity (</a:t>
            </a:r>
            <a:r>
              <a:rPr lang="en-US" sz="1600" kern="0" dirty="0" smtClean="0">
                <a:latin typeface="Santander Headline" panose="020B0504020201020104" pitchFamily="34" charset="0"/>
              </a:rPr>
              <a:t>Satellite 93)</a:t>
            </a:r>
            <a:endParaRPr lang="en-US" sz="1600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079875"/>
              </p:ext>
            </p:extLst>
          </p:nvPr>
        </p:nvGraphicFramePr>
        <p:xfrm>
          <a:off x="647564" y="1527636"/>
          <a:ext cx="7848872" cy="2088229"/>
        </p:xfrm>
        <a:graphic>
          <a:graphicData uri="http://schemas.openxmlformats.org/drawingml/2006/table">
            <a:tbl>
              <a:tblPr/>
              <a:tblGrid>
                <a:gridCol w="1428671">
                  <a:extLst>
                    <a:ext uri="{9D8B030D-6E8A-4147-A177-3AD203B41FA5}">
                      <a16:colId xmlns:a16="http://schemas.microsoft.com/office/drawing/2014/main" val="961218006"/>
                    </a:ext>
                  </a:extLst>
                </a:gridCol>
                <a:gridCol w="917172">
                  <a:extLst>
                    <a:ext uri="{9D8B030D-6E8A-4147-A177-3AD203B41FA5}">
                      <a16:colId xmlns:a16="http://schemas.microsoft.com/office/drawing/2014/main" val="1028688146"/>
                    </a:ext>
                  </a:extLst>
                </a:gridCol>
                <a:gridCol w="550302">
                  <a:extLst>
                    <a:ext uri="{9D8B030D-6E8A-4147-A177-3AD203B41FA5}">
                      <a16:colId xmlns:a16="http://schemas.microsoft.com/office/drawing/2014/main" val="1673734362"/>
                    </a:ext>
                  </a:extLst>
                </a:gridCol>
                <a:gridCol w="656131">
                  <a:extLst>
                    <a:ext uri="{9D8B030D-6E8A-4147-A177-3AD203B41FA5}">
                      <a16:colId xmlns:a16="http://schemas.microsoft.com/office/drawing/2014/main" val="3748157196"/>
                    </a:ext>
                  </a:extLst>
                </a:gridCol>
                <a:gridCol w="592634">
                  <a:extLst>
                    <a:ext uri="{9D8B030D-6E8A-4147-A177-3AD203B41FA5}">
                      <a16:colId xmlns:a16="http://schemas.microsoft.com/office/drawing/2014/main" val="909347749"/>
                    </a:ext>
                  </a:extLst>
                </a:gridCol>
                <a:gridCol w="550302">
                  <a:extLst>
                    <a:ext uri="{9D8B030D-6E8A-4147-A177-3AD203B41FA5}">
                      <a16:colId xmlns:a16="http://schemas.microsoft.com/office/drawing/2014/main" val="3482919746"/>
                    </a:ext>
                  </a:extLst>
                </a:gridCol>
                <a:gridCol w="550302">
                  <a:extLst>
                    <a:ext uri="{9D8B030D-6E8A-4147-A177-3AD203B41FA5}">
                      <a16:colId xmlns:a16="http://schemas.microsoft.com/office/drawing/2014/main" val="2637490974"/>
                    </a:ext>
                  </a:extLst>
                </a:gridCol>
                <a:gridCol w="592634">
                  <a:extLst>
                    <a:ext uri="{9D8B030D-6E8A-4147-A177-3AD203B41FA5}">
                      <a16:colId xmlns:a16="http://schemas.microsoft.com/office/drawing/2014/main" val="2731246954"/>
                    </a:ext>
                  </a:extLst>
                </a:gridCol>
                <a:gridCol w="656131">
                  <a:extLst>
                    <a:ext uri="{9D8B030D-6E8A-4147-A177-3AD203B41FA5}">
                      <a16:colId xmlns:a16="http://schemas.microsoft.com/office/drawing/2014/main" val="3589173016"/>
                    </a:ext>
                  </a:extLst>
                </a:gridCol>
                <a:gridCol w="656131">
                  <a:extLst>
                    <a:ext uri="{9D8B030D-6E8A-4147-A177-3AD203B41FA5}">
                      <a16:colId xmlns:a16="http://schemas.microsoft.com/office/drawing/2014/main" val="3834411786"/>
                    </a:ext>
                  </a:extLst>
                </a:gridCol>
                <a:gridCol w="698462">
                  <a:extLst>
                    <a:ext uri="{9D8B030D-6E8A-4147-A177-3AD203B41FA5}">
                      <a16:colId xmlns:a16="http://schemas.microsoft.com/office/drawing/2014/main" val="376265470"/>
                    </a:ext>
                  </a:extLst>
                </a:gridCol>
              </a:tblGrid>
              <a:tr h="30559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Source Emission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 </a:t>
                      </a:r>
                      <a:r>
                        <a:rPr lang="pt-PT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Quality</a:t>
                      </a:r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GHG Financed Emissions (Tons OF CO</a:t>
                      </a:r>
                      <a:r>
                        <a:rPr lang="en-US" sz="1100" b="1" i="0" u="none" strike="noStrike" baseline="-250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302706"/>
                  </a:ext>
                </a:extLst>
              </a:tr>
              <a:tr h="254662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 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51589"/>
                  </a:ext>
                </a:extLst>
              </a:tr>
              <a:tr h="254662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38766"/>
                  </a:ext>
                </a:extLst>
              </a:tr>
              <a:tr h="25466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Real Emissions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Score 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</a:t>
                      </a:r>
                      <a:r>
                        <a:rPr lang="pt-PT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681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157 307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153 626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29 622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29 270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26 702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2 404 566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2 377 864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018428"/>
                  </a:ext>
                </a:extLst>
              </a:tr>
              <a:tr h="254662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Score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418112"/>
                  </a:ext>
                </a:extLst>
              </a:tr>
              <a:tr h="25466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Estimated Emissions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Score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911433"/>
                  </a:ext>
                </a:extLst>
              </a:tr>
              <a:tr h="254662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Score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606 159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1 230 187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624 028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87 604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232 161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144 557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1 359 268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2 666 764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1 307 496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787350"/>
                  </a:ext>
                </a:extLst>
              </a:tr>
              <a:tr h="254662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Score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887 332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569 314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-318 018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233 288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105 889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-127 399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2 370 628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915 776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-1 454 852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07673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9512" y="51470"/>
            <a:ext cx="3312368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Ajustar números pra esquerda 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096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3. Credit quality of exposures by sector, emissions and residual maturity (Local Template 1)</a:t>
            </a: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cxnSp>
        <p:nvCxnSpPr>
          <p:cNvPr id="13" name="Conector recto 12"/>
          <p:cNvCxnSpPr>
            <a:cxnSpLocks/>
          </p:cNvCxnSpPr>
          <p:nvPr/>
        </p:nvCxnSpPr>
        <p:spPr>
          <a:xfrm>
            <a:off x="755650" y="832788"/>
            <a:ext cx="7524836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redondeado 10"/>
          <p:cNvSpPr/>
          <p:nvPr/>
        </p:nvSpPr>
        <p:spPr>
          <a:xfrm>
            <a:off x="2411835" y="732200"/>
            <a:ext cx="4212466" cy="201177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Gross carrying amount and Accumulates Impairment by NACE*</a:t>
            </a:r>
            <a:endParaRPr lang="es-ES" sz="1100" b="1" i="1" dirty="0">
              <a:solidFill>
                <a:schemeClr val="accent1">
                  <a:lumMod val="7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6876256" y="51470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691680" y="4744907"/>
            <a:ext cx="42484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900" i="1" dirty="0">
                <a:solidFill>
                  <a:schemeClr val="tx2"/>
                </a:solidFill>
                <a:latin typeface="Santander Text" panose="020B0504020201020104" pitchFamily="34" charset="0"/>
              </a:rPr>
              <a:t>* Summarized version of the template to be published, which will have a higher level of detail and granularity</a:t>
            </a:r>
            <a:endParaRPr lang="es-ES" sz="900" dirty="0">
              <a:solidFill>
                <a:schemeClr val="tx2"/>
              </a:solidFill>
            </a:endParaRPr>
          </a:p>
        </p:txBody>
      </p:sp>
      <p:sp>
        <p:nvSpPr>
          <p:cNvPr id="12" name="CuadroTexto 3"/>
          <p:cNvSpPr txBox="1"/>
          <p:nvPr/>
        </p:nvSpPr>
        <p:spPr>
          <a:xfrm>
            <a:off x="6490118" y="4586223"/>
            <a:ext cx="2330354" cy="374571"/>
          </a:xfrm>
          <a:prstGeom prst="roundRect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accent2">
                    <a:lumMod val="25000"/>
                  </a:schemeClr>
                </a:solidFill>
                <a:latin typeface="Santander Text" panose="020B0504020201020104" pitchFamily="34" charset="0"/>
              </a:rPr>
              <a:t>Additional breakdown </a:t>
            </a:r>
          </a:p>
          <a:p>
            <a:pPr algn="ctr"/>
            <a:r>
              <a:rPr lang="en-US" sz="800" i="1" dirty="0">
                <a:solidFill>
                  <a:schemeClr val="accent2">
                    <a:lumMod val="25000"/>
                  </a:schemeClr>
                </a:solidFill>
                <a:latin typeface="Santander Text" panose="020B0504020201020104" pitchFamily="34" charset="0"/>
              </a:rPr>
              <a:t>of the NACEs (level 4)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6589170" y="4611966"/>
          <a:ext cx="4572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Worksheet" showAsIcon="1" r:id="rId3" imgW="914400" imgH="771480" progId="Excel.Sheet.12">
                  <p:embed/>
                </p:oleObj>
              </mc:Choice>
              <mc:Fallback>
                <p:oleObj name="Worksheet" showAsIcon="1" r:id="rId3" imgW="914400" imgH="771480" progId="Excel.Shee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89170" y="4611966"/>
                        <a:ext cx="457200" cy="385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070800"/>
              </p:ext>
            </p:extLst>
          </p:nvPr>
        </p:nvGraphicFramePr>
        <p:xfrm>
          <a:off x="252001" y="987574"/>
          <a:ext cx="8639999" cy="3309815"/>
        </p:xfrm>
        <a:graphic>
          <a:graphicData uri="http://schemas.openxmlformats.org/drawingml/2006/table">
            <a:tbl>
              <a:tblPr/>
              <a:tblGrid>
                <a:gridCol w="3240360">
                  <a:extLst>
                    <a:ext uri="{9D8B030D-6E8A-4147-A177-3AD203B41FA5}">
                      <a16:colId xmlns:a16="http://schemas.microsoft.com/office/drawing/2014/main" val="398844778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77987535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54501040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4509851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916286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262137718"/>
                    </a:ext>
                  </a:extLst>
                </a:gridCol>
                <a:gridCol w="935143">
                  <a:extLst>
                    <a:ext uri="{9D8B030D-6E8A-4147-A177-3AD203B41FA5}">
                      <a16:colId xmlns:a16="http://schemas.microsoft.com/office/drawing/2014/main" val="964008133"/>
                    </a:ext>
                  </a:extLst>
                </a:gridCol>
              </a:tblGrid>
              <a:tr h="372402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Sector </a:t>
                      </a:r>
                    </a:p>
                  </a:txBody>
                  <a:tcPr marL="8425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 gross </a:t>
                      </a:r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carrying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amount</a:t>
                      </a:r>
                      <a:endParaRPr lang="pt-PT" sz="9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which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pt-PT" sz="900" b="1" i="0" u="none" strike="noStrike" dirty="0" smtClean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algn="ctr" rtl="0" fontAlgn="ctr"/>
                      <a:r>
                        <a:rPr lang="pt-PT" sz="9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STAGE 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which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pt-PT" sz="900" b="1" i="0" u="none" strike="noStrike" dirty="0" smtClean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algn="ctr" rtl="0" fontAlgn="ctr"/>
                      <a:r>
                        <a:rPr lang="pt-PT" sz="9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STAGE 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425" marR="8425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 which </a:t>
                      </a:r>
                      <a:endParaRPr lang="en-US" sz="900" b="1" i="0" u="none" strike="noStrike" dirty="0" smtClean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algn="ctr" rtl="0" fontAlgn="ctr"/>
                      <a:r>
                        <a:rPr lang="en-US" sz="9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excluded 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from Paris benchmarks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Accumulated</a:t>
                      </a:r>
                      <a:r>
                        <a:rPr lang="pt-PT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impairment</a:t>
                      </a:r>
                      <a:endParaRPr lang="pt-PT" sz="9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1" i="0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Average</a:t>
                      </a:r>
                      <a:endParaRPr lang="pt-PT" sz="900" b="1" i="0" u="none" strike="noStrike" dirty="0" smtClean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algn="ctr" rtl="0" fontAlgn="ctr"/>
                      <a:r>
                        <a:rPr lang="pt-PT" sz="900" b="1" i="0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maturity</a:t>
                      </a:r>
                      <a:endParaRPr lang="pt-PT" sz="9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209325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Exposures towards sectors that highly contribute to climate change</a:t>
                      </a:r>
                    </a:p>
                  </a:txBody>
                  <a:tcPr marL="151657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9.551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2.149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572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-495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640508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- Agriculture, forestry and fishing</a:t>
                      </a: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337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113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  -   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-16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880361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B -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Mining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and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quarrying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-    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6076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 -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Manufacturing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2.341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992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117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-152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864920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 - Electricity, gas, steam and air conditioning supply</a:t>
                      </a: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488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10033"/>
                  </a:ext>
                </a:extLst>
              </a:tr>
              <a:tr h="2864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 - Water supply; sewerage, waste management and remediation activities</a:t>
                      </a: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745535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 -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Construction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1.012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253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  -   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-84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188402"/>
                  </a:ext>
                </a:extLst>
              </a:tr>
              <a:tr h="2864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G - Wholesale and retail trade; repair of motor vehicles and motorcycles</a:t>
                      </a: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2.129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475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92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-103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847185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 -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Transportation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and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storage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730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223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-29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435890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 - Accommodation and food service activities</a:t>
                      </a: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1.114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49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147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  -   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-67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299123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 - Real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estate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activities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1.330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69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  -   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-39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127275"/>
                  </a:ext>
                </a:extLst>
              </a:tr>
              <a:tr h="2864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Exposures towards sectors other than those that highly contribute to climate change*</a:t>
                      </a:r>
                    </a:p>
                  </a:txBody>
                  <a:tcPr marL="151657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3.003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95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124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338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-93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43806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K - Financial and insurance activities</a:t>
                      </a: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        -    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717447"/>
                  </a:ext>
                </a:extLst>
              </a:tr>
              <a:tr h="168508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Exposures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to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sectors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(NACE </a:t>
                      </a:r>
                      <a:r>
                        <a:rPr lang="pt-P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codes</a:t>
                      </a: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J, M - U)</a:t>
                      </a:r>
                    </a:p>
                  </a:txBody>
                  <a:tcPr marL="303314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2.935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95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122</a:t>
                      </a: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338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-91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341704"/>
                  </a:ext>
                </a:extLst>
              </a:tr>
              <a:tr h="176933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151657" marR="8425" marT="84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12.554</a:t>
                      </a:r>
                      <a:endParaRPr lang="pt-PT" sz="8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2.244</a:t>
                      </a:r>
                      <a:endParaRPr lang="pt-PT" sz="8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696</a:t>
                      </a:r>
                      <a:endParaRPr lang="pt-PT" sz="8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341</a:t>
                      </a: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-588</a:t>
                      </a:r>
                      <a:endParaRPr lang="pt-PT" sz="8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75829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8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193777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Fechado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1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Credit quality of exposures by sector, emissions and residual maturity (</a:t>
            </a:r>
            <a:r>
              <a:rPr lang="en-US" sz="1600" kern="0" dirty="0" smtClean="0">
                <a:latin typeface="Santander Headline" panose="020B0504020201020104" pitchFamily="34" charset="0"/>
              </a:rPr>
              <a:t>Local </a:t>
            </a:r>
            <a:r>
              <a:rPr lang="en-US" sz="1600" kern="0" dirty="0">
                <a:latin typeface="Santander Headline" panose="020B0504020201020104" pitchFamily="34" charset="0"/>
              </a:rPr>
              <a:t>Template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1)</a:t>
            </a:r>
            <a:endParaRPr lang="en-US" sz="1600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610557" y="4011910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241745"/>
              </p:ext>
            </p:extLst>
          </p:nvPr>
        </p:nvGraphicFramePr>
        <p:xfrm>
          <a:off x="396003" y="1203749"/>
          <a:ext cx="8351995" cy="2736002"/>
        </p:xfrm>
        <a:graphic>
          <a:graphicData uri="http://schemas.openxmlformats.org/drawingml/2006/table">
            <a:tbl>
              <a:tblPr/>
              <a:tblGrid>
                <a:gridCol w="3375205">
                  <a:extLst>
                    <a:ext uri="{9D8B030D-6E8A-4147-A177-3AD203B41FA5}">
                      <a16:colId xmlns:a16="http://schemas.microsoft.com/office/drawing/2014/main" val="2998207913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1273200358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770496221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3347000627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3052476124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39123134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3144659884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954787936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2295544533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2261253337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3848171192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3706512816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3167285802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3078178944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3791363115"/>
                    </a:ext>
                  </a:extLst>
                </a:gridCol>
                <a:gridCol w="331786">
                  <a:extLst>
                    <a:ext uri="{9D8B030D-6E8A-4147-A177-3AD203B41FA5}">
                      <a16:colId xmlns:a16="http://schemas.microsoft.com/office/drawing/2014/main" val="201267832"/>
                    </a:ext>
                  </a:extLst>
                </a:gridCol>
              </a:tblGrid>
              <a:tr h="279951">
                <a:tc>
                  <a:txBody>
                    <a:bodyPr/>
                    <a:lstStyle/>
                    <a:p>
                      <a:pPr algn="l" fontAlgn="b"/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Total GCA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Stage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Stage 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Excluded from Paris Benchmarks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Accumulated Impairment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445761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 dirty="0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Sector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7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06363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Exposures towards sectors that highly contribute to climate change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9 869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9 551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2 219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2 149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572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-501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32670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A Agriculture, forestry and fishing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7226159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B Mining and quarrying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397869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C Manufacturing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2 440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2 341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1 019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992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-162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003910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 Electricity, gas, steam and air conditioning supply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565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488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904555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 Water supply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715034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F Construction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1 012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1 012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-82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-84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475518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G Wholesale and retail trade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2 115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2 129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494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670788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H Transport and storage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779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056001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I Accommodation and food service activities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1 232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1 114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-63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452605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L Real estate activities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1 319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1 330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736375"/>
                  </a:ext>
                </a:extLst>
              </a:tr>
              <a:tr h="188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Exposures towards sectors other than those that highly contribute to climate change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3 386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3 003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-383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124</a:t>
                      </a:r>
                      <a:endParaRPr lang="pt-PT" sz="700" b="1" i="0" u="none" strike="noStrike" dirty="0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73066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9512" y="51470"/>
            <a:ext cx="3312368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Ajustar números pra esquerda 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57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/>
          <p:cNvSpPr/>
          <p:nvPr/>
        </p:nvSpPr>
        <p:spPr>
          <a:xfrm>
            <a:off x="755650" y="851713"/>
            <a:ext cx="7756966" cy="324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EPC Label</a:t>
            </a:r>
            <a:endParaRPr lang="es-ES" sz="1100" b="1" dirty="0">
              <a:latin typeface="Santander Text" panose="020B0504020201020104" pitchFamily="34" charset="0"/>
            </a:endParaRPr>
          </a:p>
        </p:txBody>
      </p:sp>
      <p:sp>
        <p:nvSpPr>
          <p:cNvPr id="12" name="Rectángulo redondeado 11"/>
          <p:cNvSpPr/>
          <p:nvPr/>
        </p:nvSpPr>
        <p:spPr>
          <a:xfrm>
            <a:off x="899592" y="1203598"/>
            <a:ext cx="3600400" cy="1512168"/>
          </a:xfrm>
          <a:prstGeom prst="roundRect">
            <a:avLst>
              <a:gd name="adj" fmla="val 3508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</p:txBody>
      </p:sp>
      <p:sp>
        <p:nvSpPr>
          <p:cNvPr id="17" name="Rectángulo redondeado 16"/>
          <p:cNvSpPr/>
          <p:nvPr/>
        </p:nvSpPr>
        <p:spPr>
          <a:xfrm>
            <a:off x="755650" y="2769790"/>
            <a:ext cx="7756966" cy="324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EP Score </a:t>
            </a:r>
            <a:r>
              <a:rPr lang="en-US" sz="900" i="1" dirty="0">
                <a:latin typeface="Santander Text" panose="020B0504020201020104" pitchFamily="34" charset="0"/>
              </a:rPr>
              <a:t>(kWh/m2)</a:t>
            </a:r>
            <a:endParaRPr lang="es-ES" sz="900" i="1" dirty="0">
              <a:latin typeface="Santander Text" panose="020B0504020201020104" pitchFamily="34" charset="0"/>
            </a:endParaRPr>
          </a:p>
        </p:txBody>
      </p:sp>
      <p:sp>
        <p:nvSpPr>
          <p:cNvPr id="16" name="Rectángulo redondeado 15"/>
          <p:cNvSpPr/>
          <p:nvPr/>
        </p:nvSpPr>
        <p:spPr>
          <a:xfrm rot="16200000">
            <a:off x="305649" y="1752492"/>
            <a:ext cx="1332000" cy="432000"/>
          </a:xfrm>
          <a:prstGeom prst="roundRect">
            <a:avLst/>
          </a:prstGeom>
          <a:solidFill>
            <a:srgbClr val="3A798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latin typeface="Santander Text" panose="020B0504020201020104" pitchFamily="34" charset="0"/>
              </a:rPr>
              <a:t>  Residential</a:t>
            </a:r>
            <a:endParaRPr lang="es-ES" sz="1100" b="1" dirty="0">
              <a:latin typeface="Santander Text" panose="020B0504020201020104" pitchFamily="34" charset="0"/>
            </a:endParaRPr>
          </a:p>
        </p:txBody>
      </p:sp>
      <p:sp>
        <p:nvSpPr>
          <p:cNvPr id="19" name="Rectángulo redondeado 18"/>
          <p:cNvSpPr/>
          <p:nvPr/>
        </p:nvSpPr>
        <p:spPr>
          <a:xfrm>
            <a:off x="4912216" y="1216667"/>
            <a:ext cx="3600400" cy="1512168"/>
          </a:xfrm>
          <a:prstGeom prst="roundRect">
            <a:avLst>
              <a:gd name="adj" fmla="val 3508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</p:txBody>
      </p:sp>
      <p:sp>
        <p:nvSpPr>
          <p:cNvPr id="18" name="Rectángulo redondeado 17"/>
          <p:cNvSpPr/>
          <p:nvPr/>
        </p:nvSpPr>
        <p:spPr>
          <a:xfrm rot="16200000">
            <a:off x="4315480" y="1752493"/>
            <a:ext cx="1332000" cy="432000"/>
          </a:xfrm>
          <a:prstGeom prst="roundRect">
            <a:avLst/>
          </a:prstGeom>
          <a:solidFill>
            <a:srgbClr val="3A798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latin typeface="Santander Text" panose="020B0504020201020104" pitchFamily="34" charset="0"/>
              </a:rPr>
              <a:t>  Commercial</a:t>
            </a:r>
            <a:endParaRPr lang="es-ES" sz="1100" b="1" dirty="0">
              <a:latin typeface="Santander Text" panose="020B0504020201020104" pitchFamily="34" charset="0"/>
            </a:endParaRPr>
          </a:p>
        </p:txBody>
      </p:sp>
      <p:pic>
        <p:nvPicPr>
          <p:cNvPr id="19460" name="Picture 4" descr="House 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87663"/>
            <a:ext cx="288000" cy="28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 descr="rascacielos 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480" y="1387663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ángulo redondeado 23"/>
          <p:cNvSpPr/>
          <p:nvPr/>
        </p:nvSpPr>
        <p:spPr>
          <a:xfrm>
            <a:off x="899591" y="3128730"/>
            <a:ext cx="3600401" cy="1512168"/>
          </a:xfrm>
          <a:prstGeom prst="roundRect">
            <a:avLst>
              <a:gd name="adj" fmla="val 3508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</p:txBody>
      </p:sp>
      <p:sp>
        <p:nvSpPr>
          <p:cNvPr id="25" name="Rectángulo redondeado 24"/>
          <p:cNvSpPr/>
          <p:nvPr/>
        </p:nvSpPr>
        <p:spPr>
          <a:xfrm rot="16200000">
            <a:off x="305648" y="3677624"/>
            <a:ext cx="1332000" cy="432000"/>
          </a:xfrm>
          <a:prstGeom prst="roundRect">
            <a:avLst/>
          </a:prstGeom>
          <a:solidFill>
            <a:srgbClr val="3A798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latin typeface="Santander Text" panose="020B0504020201020104" pitchFamily="34" charset="0"/>
              </a:rPr>
              <a:t>  Residential</a:t>
            </a:r>
            <a:endParaRPr lang="es-ES" sz="1100" b="1" dirty="0">
              <a:latin typeface="Santander Text" panose="020B0504020201020104" pitchFamily="34" charset="0"/>
            </a:endParaRPr>
          </a:p>
        </p:txBody>
      </p:sp>
      <p:sp>
        <p:nvSpPr>
          <p:cNvPr id="26" name="Rectángulo redondeado 25"/>
          <p:cNvSpPr/>
          <p:nvPr/>
        </p:nvSpPr>
        <p:spPr>
          <a:xfrm>
            <a:off x="4912217" y="3141799"/>
            <a:ext cx="3600398" cy="1512168"/>
          </a:xfrm>
          <a:prstGeom prst="roundRect">
            <a:avLst>
              <a:gd name="adj" fmla="val 3508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TT" sz="900" b="1" dirty="0">
              <a:solidFill>
                <a:schemeClr val="tx1"/>
              </a:solidFill>
              <a:latin typeface="Santander Text" panose="020B0504020201020104" pitchFamily="34" charset="0"/>
              <a:sym typeface="Wingdings" panose="05000000000000000000" pitchFamily="2" charset="2"/>
            </a:endParaRPr>
          </a:p>
        </p:txBody>
      </p:sp>
      <p:pic>
        <p:nvPicPr>
          <p:cNvPr id="28" name="Picture 4" descr="House 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3312795"/>
            <a:ext cx="288000" cy="28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o 9"/>
          <p:cNvGrpSpPr/>
          <p:nvPr/>
        </p:nvGrpSpPr>
        <p:grpSpPr>
          <a:xfrm>
            <a:off x="4807074" y="3227625"/>
            <a:ext cx="432000" cy="1332000"/>
            <a:chOff x="6300240" y="3227625"/>
            <a:chExt cx="432000" cy="1332000"/>
          </a:xfrm>
        </p:grpSpPr>
        <p:sp>
          <p:nvSpPr>
            <p:cNvPr id="27" name="Rectángulo redondeado 26"/>
            <p:cNvSpPr/>
            <p:nvPr/>
          </p:nvSpPr>
          <p:spPr>
            <a:xfrm rot="16200000">
              <a:off x="5850240" y="3677625"/>
              <a:ext cx="1332000" cy="432000"/>
            </a:xfrm>
            <a:prstGeom prst="roundRect">
              <a:avLst/>
            </a:prstGeom>
            <a:solidFill>
              <a:srgbClr val="3A79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latin typeface="Santander Text" panose="020B0504020201020104" pitchFamily="34" charset="0"/>
                </a:rPr>
                <a:t>  Commercial</a:t>
              </a:r>
              <a:endParaRPr lang="es-ES" sz="1100" b="1" dirty="0">
                <a:latin typeface="Santander Text" panose="020B0504020201020104" pitchFamily="34" charset="0"/>
              </a:endParaRPr>
            </a:p>
          </p:txBody>
        </p:sp>
        <p:pic>
          <p:nvPicPr>
            <p:cNvPr id="29" name="Picture 6" descr="rascacielos "/>
            <p:cNvPicPr>
              <a:picLocks noChangeAspect="1" noChangeArrowheads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2240" y="3312795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4. Loans </a:t>
            </a:r>
            <a:r>
              <a:rPr lang="en-US" sz="1600" kern="0" dirty="0" err="1">
                <a:latin typeface="Santander Headline" panose="020B0504020201020104" pitchFamily="34" charset="0"/>
              </a:rPr>
              <a:t>collateralised</a:t>
            </a:r>
            <a:r>
              <a:rPr lang="en-US" sz="1600" kern="0" dirty="0">
                <a:latin typeface="Santander Headline" panose="020B0504020201020104" pitchFamily="34" charset="0"/>
              </a:rPr>
              <a:t> by immovable property – EPC (Satellite 80)</a:t>
            </a: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graphicFrame>
        <p:nvGraphicFramePr>
          <p:cNvPr id="5" name="Gráfico 4"/>
          <p:cNvGraphicFramePr/>
          <p:nvPr>
            <p:extLst>
              <p:ext uri="{D42A27DB-BD31-4B8C-83A1-F6EECF244321}">
                <p14:modId xmlns:p14="http://schemas.microsoft.com/office/powerpoint/2010/main" val="4197744471"/>
              </p:ext>
            </p:extLst>
          </p:nvPr>
        </p:nvGraphicFramePr>
        <p:xfrm>
          <a:off x="899591" y="1260884"/>
          <a:ext cx="1967880" cy="144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Gráfico 8"/>
          <p:cNvGraphicFramePr/>
          <p:nvPr>
            <p:extLst>
              <p:ext uri="{D42A27DB-BD31-4B8C-83A1-F6EECF244321}">
                <p14:modId xmlns:p14="http://schemas.microsoft.com/office/powerpoint/2010/main" val="315231552"/>
              </p:ext>
            </p:extLst>
          </p:nvPr>
        </p:nvGraphicFramePr>
        <p:xfrm>
          <a:off x="2007263" y="1168658"/>
          <a:ext cx="2419200" cy="15198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1" name="Gráfico 30"/>
          <p:cNvGraphicFramePr/>
          <p:nvPr>
            <p:extLst>
              <p:ext uri="{D42A27DB-BD31-4B8C-83A1-F6EECF244321}">
                <p14:modId xmlns:p14="http://schemas.microsoft.com/office/powerpoint/2010/main" val="2911829686"/>
              </p:ext>
            </p:extLst>
          </p:nvPr>
        </p:nvGraphicFramePr>
        <p:xfrm>
          <a:off x="5106445" y="1210652"/>
          <a:ext cx="1570085" cy="1471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2" name="Gráfico 31"/>
          <p:cNvGraphicFramePr/>
          <p:nvPr>
            <p:extLst>
              <p:ext uri="{D42A27DB-BD31-4B8C-83A1-F6EECF244321}">
                <p14:modId xmlns:p14="http://schemas.microsoft.com/office/powerpoint/2010/main" val="997707117"/>
              </p:ext>
            </p:extLst>
          </p:nvPr>
        </p:nvGraphicFramePr>
        <p:xfrm>
          <a:off x="6050957" y="1168658"/>
          <a:ext cx="2419361" cy="15198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1" name="Gráfico 40"/>
          <p:cNvGraphicFramePr/>
          <p:nvPr>
            <p:extLst>
              <p:ext uri="{D42A27DB-BD31-4B8C-83A1-F6EECF244321}">
                <p14:modId xmlns:p14="http://schemas.microsoft.com/office/powerpoint/2010/main" val="3515446535"/>
              </p:ext>
            </p:extLst>
          </p:nvPr>
        </p:nvGraphicFramePr>
        <p:xfrm>
          <a:off x="5174213" y="3162171"/>
          <a:ext cx="1570085" cy="1471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2" name="Gráfico 41"/>
          <p:cNvGraphicFramePr/>
          <p:nvPr>
            <p:extLst>
              <p:ext uri="{D42A27DB-BD31-4B8C-83A1-F6EECF244321}">
                <p14:modId xmlns:p14="http://schemas.microsoft.com/office/powerpoint/2010/main" val="123133254"/>
              </p:ext>
            </p:extLst>
          </p:nvPr>
        </p:nvGraphicFramePr>
        <p:xfrm>
          <a:off x="956320" y="3176070"/>
          <a:ext cx="1967880" cy="144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4" name="Gráfico 43"/>
          <p:cNvGraphicFramePr/>
          <p:nvPr>
            <p:extLst>
              <p:ext uri="{D42A27DB-BD31-4B8C-83A1-F6EECF244321}">
                <p14:modId xmlns:p14="http://schemas.microsoft.com/office/powerpoint/2010/main" val="3561212849"/>
              </p:ext>
            </p:extLst>
          </p:nvPr>
        </p:nvGraphicFramePr>
        <p:xfrm>
          <a:off x="2007263" y="3128730"/>
          <a:ext cx="2419200" cy="15198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5" name="Gráfico 44"/>
          <p:cNvGraphicFramePr/>
          <p:nvPr>
            <p:extLst>
              <p:ext uri="{D42A27DB-BD31-4B8C-83A1-F6EECF244321}">
                <p14:modId xmlns:p14="http://schemas.microsoft.com/office/powerpoint/2010/main" val="205224300"/>
              </p:ext>
            </p:extLst>
          </p:nvPr>
        </p:nvGraphicFramePr>
        <p:xfrm>
          <a:off x="6050957" y="3128730"/>
          <a:ext cx="2419200" cy="15198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3" name="CuadroTexto 32">
            <a:extLst>
              <a:ext uri="{FF2B5EF4-FFF2-40B4-BE49-F238E27FC236}">
                <a16:creationId xmlns:a16="http://schemas.microsoft.com/office/drawing/2014/main" id="{778C7AD8-CEA6-4FA9-B7D5-1628C2E83102}"/>
              </a:ext>
            </a:extLst>
          </p:cNvPr>
          <p:cNvSpPr txBox="1"/>
          <p:nvPr/>
        </p:nvSpPr>
        <p:spPr>
          <a:xfrm>
            <a:off x="6383217" y="4711745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85CE2E8-C4E8-4430-8754-79784C6F0F27}"/>
              </a:ext>
            </a:extLst>
          </p:cNvPr>
          <p:cNvSpPr txBox="1"/>
          <p:nvPr/>
        </p:nvSpPr>
        <p:spPr>
          <a:xfrm>
            <a:off x="1547664" y="4750509"/>
            <a:ext cx="460851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ES"/>
            </a:defPPr>
            <a:lvl1pPr>
              <a:defRPr sz="600" i="1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sz="900" dirty="0" err="1"/>
              <a:t>Residential</a:t>
            </a:r>
            <a:r>
              <a:rPr lang="es-ES" sz="900"/>
              <a:t>: </a:t>
            </a:r>
            <a:r>
              <a:rPr lang="en-US" sz="900"/>
              <a:t>loans collateralised</a:t>
            </a:r>
            <a:r>
              <a:rPr lang="en-US" sz="900" dirty="0"/>
              <a:t> by residential immovable property</a:t>
            </a:r>
            <a:endParaRPr lang="es-ES" sz="900" dirty="0"/>
          </a:p>
          <a:p>
            <a:r>
              <a:rPr lang="en-US" sz="900" dirty="0"/>
              <a:t>Commercial: </a:t>
            </a:r>
            <a:r>
              <a:rPr lang="en-US" sz="900"/>
              <a:t>loans collateralised</a:t>
            </a:r>
            <a:r>
              <a:rPr lang="en-US" sz="900" dirty="0"/>
              <a:t> by commercial immovable property</a:t>
            </a:r>
            <a:endParaRPr lang="es-ES" sz="900" dirty="0"/>
          </a:p>
        </p:txBody>
      </p:sp>
      <p:sp>
        <p:nvSpPr>
          <p:cNvPr id="35" name="Rectángulo 2">
            <a:extLst>
              <a:ext uri="{FF2B5EF4-FFF2-40B4-BE49-F238E27FC236}">
                <a16:creationId xmlns:a16="http://schemas.microsoft.com/office/drawing/2014/main" id="{21D14F1D-E3C2-4F38-B57B-EA33F49C572F}"/>
              </a:ext>
            </a:extLst>
          </p:cNvPr>
          <p:cNvSpPr/>
          <p:nvPr/>
        </p:nvSpPr>
        <p:spPr>
          <a:xfrm>
            <a:off x="6588224" y="51247"/>
            <a:ext cx="2448272" cy="360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900" b="1" i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This slide only applies in units </a:t>
            </a:r>
          </a:p>
          <a:p>
            <a:pPr algn="ctr"/>
            <a:r>
              <a:rPr lang="en-IE" sz="900" b="1" i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where EPC labels or EPC scores are available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9512" y="51470"/>
            <a:ext cx="4841850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Acrescentar 0% + ajustar mudança slide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15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Loans </a:t>
            </a:r>
            <a:r>
              <a:rPr lang="en-US" sz="1600" kern="0" dirty="0" err="1">
                <a:latin typeface="Santander Headline" panose="020B0504020201020104" pitchFamily="34" charset="0"/>
              </a:rPr>
              <a:t>collateralised</a:t>
            </a:r>
            <a:r>
              <a:rPr lang="en-US" sz="1600" kern="0" dirty="0">
                <a:latin typeface="Santander Headline" panose="020B0504020201020104" pitchFamily="34" charset="0"/>
              </a:rPr>
              <a:t> by immovable property – EPC (Satellite 80</a:t>
            </a:r>
            <a:r>
              <a:rPr lang="en-US" sz="1600" kern="0" dirty="0" smtClean="0">
                <a:latin typeface="Santander Headline" panose="020B0504020201020104" pitchFamily="34" charset="0"/>
              </a:rPr>
              <a:t>) </a:t>
            </a:r>
            <a:endParaRPr lang="en-US" sz="1600" i="1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292201"/>
              </p:ext>
            </p:extLst>
          </p:nvPr>
        </p:nvGraphicFramePr>
        <p:xfrm>
          <a:off x="1816100" y="1203598"/>
          <a:ext cx="5511800" cy="1428750"/>
        </p:xfrm>
        <a:graphic>
          <a:graphicData uri="http://schemas.openxmlformats.org/drawingml/2006/table">
            <a:tbl>
              <a:tblPr/>
              <a:tblGrid>
                <a:gridCol w="1242764">
                  <a:extLst>
                    <a:ext uri="{9D8B030D-6E8A-4147-A177-3AD203B41FA5}">
                      <a16:colId xmlns:a16="http://schemas.microsoft.com/office/drawing/2014/main" val="2968938038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435699634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301353335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715031146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509550671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17095439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581766278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EPC </a:t>
                      </a:r>
                      <a:r>
                        <a:rPr lang="pt-P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Label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39713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Residential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Commercial</a:t>
                      </a:r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03848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47602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Estimated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42312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Real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64315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Wihout EPC Label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91712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527345"/>
              </p:ext>
            </p:extLst>
          </p:nvPr>
        </p:nvGraphicFramePr>
        <p:xfrm>
          <a:off x="1816100" y="2715766"/>
          <a:ext cx="5511800" cy="1428750"/>
        </p:xfrm>
        <a:graphic>
          <a:graphicData uri="http://schemas.openxmlformats.org/drawingml/2006/table">
            <a:tbl>
              <a:tblPr/>
              <a:tblGrid>
                <a:gridCol w="1242764">
                  <a:extLst>
                    <a:ext uri="{9D8B030D-6E8A-4147-A177-3AD203B41FA5}">
                      <a16:colId xmlns:a16="http://schemas.microsoft.com/office/drawing/2014/main" val="2583806218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914225059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839998268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506547461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634239551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277226450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1289341328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EP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71221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Residential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Commercial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54761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54352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Estimated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52903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Real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1974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Wihout EPC Label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71810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Fechado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115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/>
          <p:cNvSpPr/>
          <p:nvPr/>
        </p:nvSpPr>
        <p:spPr>
          <a:xfrm>
            <a:off x="755650" y="851713"/>
            <a:ext cx="7756966" cy="324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EPC Label</a:t>
            </a:r>
            <a:endParaRPr lang="es-ES" sz="1100" b="1" dirty="0">
              <a:latin typeface="Santander Text" panose="020B0504020201020104" pitchFamily="34" charset="0"/>
            </a:endParaRPr>
          </a:p>
        </p:txBody>
      </p:sp>
      <p:sp>
        <p:nvSpPr>
          <p:cNvPr id="17" name="Rectángulo redondeado 16"/>
          <p:cNvSpPr/>
          <p:nvPr/>
        </p:nvSpPr>
        <p:spPr>
          <a:xfrm>
            <a:off x="755650" y="2715766"/>
            <a:ext cx="7756966" cy="324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EP Score </a:t>
            </a:r>
            <a:r>
              <a:rPr lang="en-US" sz="900" i="1" dirty="0">
                <a:latin typeface="Santander Text" panose="020B0504020201020104" pitchFamily="34" charset="0"/>
              </a:rPr>
              <a:t>(kWh/m2)</a:t>
            </a:r>
            <a:endParaRPr lang="es-ES" sz="900" i="1" dirty="0">
              <a:latin typeface="Santander Text" panose="020B0504020201020104" pitchFamily="34" charset="0"/>
            </a:endParaRPr>
          </a:p>
        </p:txBody>
      </p:sp>
      <p:sp>
        <p:nvSpPr>
          <p:cNvPr id="30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4. Loans </a:t>
            </a:r>
            <a:r>
              <a:rPr lang="en-US" sz="1600" kern="0" dirty="0" err="1">
                <a:latin typeface="Santander Headline" panose="020B0504020201020104" pitchFamily="34" charset="0"/>
              </a:rPr>
              <a:t>collateralised</a:t>
            </a:r>
            <a:r>
              <a:rPr lang="en-US" sz="1600" kern="0" dirty="0">
                <a:latin typeface="Santander Headline" panose="020B0504020201020104" pitchFamily="34" charset="0"/>
              </a:rPr>
              <a:t> by immovable property – EPC (Local Template 2)</a:t>
            </a:r>
            <a:endParaRPr lang="en-US" sz="1600" i="1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600" kern="0" dirty="0">
              <a:latin typeface="Santander Headline" panose="020B05040202010201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FE86BDD-6710-8D41-23C8-D4EA31523728}"/>
              </a:ext>
            </a:extLst>
          </p:cNvPr>
          <p:cNvGrpSpPr/>
          <p:nvPr/>
        </p:nvGrpSpPr>
        <p:grpSpPr>
          <a:xfrm>
            <a:off x="755649" y="1168657"/>
            <a:ext cx="3806771" cy="1519200"/>
            <a:chOff x="755649" y="1168657"/>
            <a:chExt cx="3924088" cy="1604127"/>
          </a:xfrm>
        </p:grpSpPr>
        <p:sp>
          <p:nvSpPr>
            <p:cNvPr id="12" name="Rectángulo redondeado 11"/>
            <p:cNvSpPr/>
            <p:nvPr/>
          </p:nvSpPr>
          <p:spPr>
            <a:xfrm>
              <a:off x="899592" y="1203598"/>
              <a:ext cx="3600400" cy="1512168"/>
            </a:xfrm>
            <a:prstGeom prst="roundRect">
              <a:avLst>
                <a:gd name="adj" fmla="val 3508"/>
              </a:avLst>
            </a:prstGeom>
            <a:solidFill>
              <a:schemeClr val="bg1"/>
            </a:solidFill>
            <a:ln w="6350">
              <a:solidFill>
                <a:schemeClr val="accent5"/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Bef>
                  <a:spcPts val="600"/>
                </a:spcBef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6" name="Rectángulo redondeado 15"/>
            <p:cNvSpPr/>
            <p:nvPr/>
          </p:nvSpPr>
          <p:spPr>
            <a:xfrm rot="16200000">
              <a:off x="305649" y="1752492"/>
              <a:ext cx="1332000" cy="432000"/>
            </a:xfrm>
            <a:prstGeom prst="roundRect">
              <a:avLst/>
            </a:prstGeom>
            <a:solidFill>
              <a:srgbClr val="3A79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latin typeface="Santander Text" panose="020B0504020201020104" pitchFamily="34" charset="0"/>
                </a:rPr>
                <a:t>  Residential</a:t>
              </a:r>
              <a:endParaRPr lang="es-ES" sz="1100" b="1" dirty="0">
                <a:latin typeface="Santander Text" panose="020B0504020201020104" pitchFamily="34" charset="0"/>
              </a:endParaRPr>
            </a:p>
          </p:txBody>
        </p:sp>
        <p:pic>
          <p:nvPicPr>
            <p:cNvPr id="19460" name="Picture 4" descr="House "/>
            <p:cNvPicPr>
              <a:picLocks noChangeAspect="1" noChangeArrowheads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1387663"/>
              <a:ext cx="288000" cy="28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5" name="Gráfico 4"/>
            <p:cNvGraphicFramePr/>
            <p:nvPr>
              <p:extLst>
                <p:ext uri="{D42A27DB-BD31-4B8C-83A1-F6EECF244321}">
                  <p14:modId xmlns:p14="http://schemas.microsoft.com/office/powerpoint/2010/main" val="1754034071"/>
                </p:ext>
              </p:extLst>
            </p:nvPr>
          </p:nvGraphicFramePr>
          <p:xfrm>
            <a:off x="899591" y="1260884"/>
            <a:ext cx="1967880" cy="14405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9" name="Gráfico 8"/>
            <p:cNvGraphicFramePr/>
            <p:nvPr>
              <p:extLst>
                <p:ext uri="{D42A27DB-BD31-4B8C-83A1-F6EECF244321}">
                  <p14:modId xmlns:p14="http://schemas.microsoft.com/office/powerpoint/2010/main" val="2843526001"/>
                </p:ext>
              </p:extLst>
            </p:nvPr>
          </p:nvGraphicFramePr>
          <p:xfrm>
            <a:off x="2174849" y="1168657"/>
            <a:ext cx="2504888" cy="160412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924B02E-ABC2-941B-3908-AF5E3BDF7E8D}"/>
              </a:ext>
            </a:extLst>
          </p:cNvPr>
          <p:cNvGrpSpPr/>
          <p:nvPr/>
        </p:nvGrpSpPr>
        <p:grpSpPr>
          <a:xfrm>
            <a:off x="4879074" y="1159951"/>
            <a:ext cx="3633542" cy="1519200"/>
            <a:chOff x="4765480" y="1159391"/>
            <a:chExt cx="3747136" cy="1616978"/>
          </a:xfrm>
        </p:grpSpPr>
        <p:sp>
          <p:nvSpPr>
            <p:cNvPr id="19" name="Rectángulo redondeado 18"/>
            <p:cNvSpPr/>
            <p:nvPr/>
          </p:nvSpPr>
          <p:spPr>
            <a:xfrm>
              <a:off x="4912216" y="1216667"/>
              <a:ext cx="3600400" cy="1512168"/>
            </a:xfrm>
            <a:prstGeom prst="roundRect">
              <a:avLst>
                <a:gd name="adj" fmla="val 3508"/>
              </a:avLst>
            </a:prstGeom>
            <a:solidFill>
              <a:schemeClr val="bg1"/>
            </a:solidFill>
            <a:ln w="6350">
              <a:solidFill>
                <a:schemeClr val="accent5"/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Bef>
                  <a:spcPts val="600"/>
                </a:spcBef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ángulo redondeado 17"/>
            <p:cNvSpPr/>
            <p:nvPr/>
          </p:nvSpPr>
          <p:spPr>
            <a:xfrm rot="16200000">
              <a:off x="4315480" y="1752493"/>
              <a:ext cx="1332000" cy="432000"/>
            </a:xfrm>
            <a:prstGeom prst="roundRect">
              <a:avLst/>
            </a:prstGeom>
            <a:solidFill>
              <a:srgbClr val="3A79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latin typeface="Santander Text" panose="020B0504020201020104" pitchFamily="34" charset="0"/>
                </a:rPr>
                <a:t>  Commercial</a:t>
              </a:r>
              <a:endParaRPr lang="es-ES" sz="1100" b="1" dirty="0">
                <a:latin typeface="Santander Text" panose="020B0504020201020104" pitchFamily="34" charset="0"/>
              </a:endParaRPr>
            </a:p>
          </p:txBody>
        </p:sp>
        <p:pic>
          <p:nvPicPr>
            <p:cNvPr id="19462" name="Picture 6" descr="rascacielos 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7480" y="1359132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31" name="Gráfico 30"/>
            <p:cNvGraphicFramePr/>
            <p:nvPr>
              <p:extLst>
                <p:ext uri="{D42A27DB-BD31-4B8C-83A1-F6EECF244321}">
                  <p14:modId xmlns:p14="http://schemas.microsoft.com/office/powerpoint/2010/main" val="1166745976"/>
                </p:ext>
              </p:extLst>
            </p:nvPr>
          </p:nvGraphicFramePr>
          <p:xfrm>
            <a:off x="5106445" y="1210652"/>
            <a:ext cx="1570085" cy="14718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32" name="Gráfico 31"/>
            <p:cNvGraphicFramePr/>
            <p:nvPr>
              <p:extLst>
                <p:ext uri="{D42A27DB-BD31-4B8C-83A1-F6EECF244321}">
                  <p14:modId xmlns:p14="http://schemas.microsoft.com/office/powerpoint/2010/main" val="502588149"/>
                </p:ext>
              </p:extLst>
            </p:nvPr>
          </p:nvGraphicFramePr>
          <p:xfrm>
            <a:off x="5969801" y="1159391"/>
            <a:ext cx="2505968" cy="161697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5FC243-3041-1A31-8DDC-3B0C54F62D4A}"/>
              </a:ext>
            </a:extLst>
          </p:cNvPr>
          <p:cNvGrpSpPr/>
          <p:nvPr/>
        </p:nvGrpSpPr>
        <p:grpSpPr>
          <a:xfrm>
            <a:off x="755648" y="3074707"/>
            <a:ext cx="3694996" cy="1519200"/>
            <a:chOff x="755648" y="3128730"/>
            <a:chExt cx="3808869" cy="1575872"/>
          </a:xfrm>
        </p:grpSpPr>
        <p:sp>
          <p:nvSpPr>
            <p:cNvPr id="24" name="Rectángulo redondeado 23"/>
            <p:cNvSpPr/>
            <p:nvPr/>
          </p:nvSpPr>
          <p:spPr>
            <a:xfrm>
              <a:off x="899591" y="3128730"/>
              <a:ext cx="3600401" cy="1512168"/>
            </a:xfrm>
            <a:prstGeom prst="roundRect">
              <a:avLst>
                <a:gd name="adj" fmla="val 3508"/>
              </a:avLst>
            </a:prstGeom>
            <a:solidFill>
              <a:schemeClr val="bg1"/>
            </a:solidFill>
            <a:ln w="6350">
              <a:solidFill>
                <a:schemeClr val="accent5"/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Bef>
                  <a:spcPts val="600"/>
                </a:spcBef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5" name="Rectángulo redondeado 24"/>
            <p:cNvSpPr/>
            <p:nvPr/>
          </p:nvSpPr>
          <p:spPr>
            <a:xfrm rot="16200000">
              <a:off x="305648" y="3677624"/>
              <a:ext cx="1332000" cy="432000"/>
            </a:xfrm>
            <a:prstGeom prst="roundRect">
              <a:avLst/>
            </a:prstGeom>
            <a:solidFill>
              <a:srgbClr val="3A798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latin typeface="Santander Text" panose="020B0504020201020104" pitchFamily="34" charset="0"/>
                </a:rPr>
                <a:t>  Residential</a:t>
              </a:r>
              <a:endParaRPr lang="es-ES" sz="1100" b="1" dirty="0">
                <a:latin typeface="Santander Text" panose="020B0504020201020104" pitchFamily="34" charset="0"/>
              </a:endParaRPr>
            </a:p>
          </p:txBody>
        </p:sp>
        <p:pic>
          <p:nvPicPr>
            <p:cNvPr id="28" name="Picture 4" descr="House "/>
            <p:cNvPicPr>
              <a:picLocks noChangeAspect="1" noChangeArrowheads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3" y="3312795"/>
              <a:ext cx="288000" cy="28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42" name="Gráfico 41"/>
            <p:cNvGraphicFramePr/>
            <p:nvPr>
              <p:extLst>
                <p:ext uri="{D42A27DB-BD31-4B8C-83A1-F6EECF244321}">
                  <p14:modId xmlns:p14="http://schemas.microsoft.com/office/powerpoint/2010/main" val="3487050440"/>
                </p:ext>
              </p:extLst>
            </p:nvPr>
          </p:nvGraphicFramePr>
          <p:xfrm>
            <a:off x="956320" y="3176070"/>
            <a:ext cx="1967880" cy="14405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graphicFrame>
          <p:nvGraphicFramePr>
            <p:cNvPr id="44" name="Gráfico 43"/>
            <p:cNvGraphicFramePr/>
            <p:nvPr>
              <p:extLst>
                <p:ext uri="{D42A27DB-BD31-4B8C-83A1-F6EECF244321}">
                  <p14:modId xmlns:p14="http://schemas.microsoft.com/office/powerpoint/2010/main" val="1714322982"/>
                </p:ext>
              </p:extLst>
            </p:nvPr>
          </p:nvGraphicFramePr>
          <p:xfrm>
            <a:off x="2059629" y="3128730"/>
            <a:ext cx="2504888" cy="15758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4807074" y="3074706"/>
            <a:ext cx="3840111" cy="1519858"/>
            <a:chOff x="4807074" y="3086100"/>
            <a:chExt cx="3840111" cy="1519858"/>
          </a:xfrm>
        </p:grpSpPr>
        <p:sp>
          <p:nvSpPr>
            <p:cNvPr id="26" name="Rectángulo redondeado 25"/>
            <p:cNvSpPr/>
            <p:nvPr/>
          </p:nvSpPr>
          <p:spPr>
            <a:xfrm>
              <a:off x="4912217" y="3087775"/>
              <a:ext cx="3600398" cy="1512168"/>
            </a:xfrm>
            <a:prstGeom prst="roundRect">
              <a:avLst>
                <a:gd name="adj" fmla="val 3508"/>
              </a:avLst>
            </a:prstGeom>
            <a:solidFill>
              <a:schemeClr val="bg1"/>
            </a:solidFill>
            <a:ln w="6350">
              <a:solidFill>
                <a:schemeClr val="accent5"/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Bef>
                  <a:spcPts val="600"/>
                </a:spcBef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TT" sz="900" b="1" dirty="0">
                <a:solidFill>
                  <a:schemeClr val="tx1"/>
                </a:solidFill>
                <a:latin typeface="Santander Text" panose="020B05040202010201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0" name="Grupo 9"/>
            <p:cNvGrpSpPr/>
            <p:nvPr/>
          </p:nvGrpSpPr>
          <p:grpSpPr>
            <a:xfrm>
              <a:off x="4807074" y="3173601"/>
              <a:ext cx="432000" cy="1332000"/>
              <a:chOff x="6300240" y="3227625"/>
              <a:chExt cx="432000" cy="1332000"/>
            </a:xfrm>
          </p:grpSpPr>
          <p:sp>
            <p:nvSpPr>
              <p:cNvPr id="27" name="Rectángulo redondeado 26"/>
              <p:cNvSpPr/>
              <p:nvPr/>
            </p:nvSpPr>
            <p:spPr>
              <a:xfrm rot="16200000">
                <a:off x="5850240" y="3677625"/>
                <a:ext cx="1332000" cy="432000"/>
              </a:xfrm>
              <a:prstGeom prst="roundRect">
                <a:avLst/>
              </a:prstGeom>
              <a:solidFill>
                <a:srgbClr val="3A798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latin typeface="Santander Text" panose="020B0504020201020104" pitchFamily="34" charset="0"/>
                  </a:rPr>
                  <a:t>  Commercial</a:t>
                </a:r>
                <a:endParaRPr lang="es-ES" sz="1100" b="1" dirty="0"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9" name="Picture 6" descr="rascacielos 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72240" y="3312795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aphicFrame>
          <p:nvGraphicFramePr>
            <p:cNvPr id="41" name="Gráfico 40"/>
            <p:cNvGraphicFramePr/>
            <p:nvPr>
              <p:extLst>
                <p:ext uri="{D42A27DB-BD31-4B8C-83A1-F6EECF244321}">
                  <p14:modId xmlns:p14="http://schemas.microsoft.com/office/powerpoint/2010/main" val="3641577700"/>
                </p:ext>
              </p:extLst>
            </p:nvPr>
          </p:nvGraphicFramePr>
          <p:xfrm>
            <a:off x="5174213" y="3108147"/>
            <a:ext cx="1570085" cy="14718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graphicFrame>
          <p:nvGraphicFramePr>
            <p:cNvPr id="45" name="Gráfico 44"/>
            <p:cNvGraphicFramePr/>
            <p:nvPr>
              <p:extLst>
                <p:ext uri="{D42A27DB-BD31-4B8C-83A1-F6EECF244321}">
                  <p14:modId xmlns:p14="http://schemas.microsoft.com/office/powerpoint/2010/main" val="3998114112"/>
                </p:ext>
              </p:extLst>
            </p:nvPr>
          </p:nvGraphicFramePr>
          <p:xfrm>
            <a:off x="6217185" y="3086100"/>
            <a:ext cx="2430000" cy="15198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78C7AD8-CEA6-4FA9-B7D5-1628C2E83102}"/>
              </a:ext>
            </a:extLst>
          </p:cNvPr>
          <p:cNvSpPr txBox="1"/>
          <p:nvPr/>
        </p:nvSpPr>
        <p:spPr>
          <a:xfrm>
            <a:off x="6383217" y="4711745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85CE2E8-C4E8-4430-8754-79784C6F0F27}"/>
              </a:ext>
            </a:extLst>
          </p:cNvPr>
          <p:cNvSpPr txBox="1"/>
          <p:nvPr/>
        </p:nvSpPr>
        <p:spPr>
          <a:xfrm>
            <a:off x="1547664" y="4750509"/>
            <a:ext cx="460851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ES"/>
            </a:defPPr>
            <a:lvl1pPr>
              <a:defRPr sz="600" i="1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sz="900" dirty="0" err="1"/>
              <a:t>Residential</a:t>
            </a:r>
            <a:r>
              <a:rPr lang="es-ES" sz="900" dirty="0"/>
              <a:t>: </a:t>
            </a:r>
            <a:r>
              <a:rPr lang="en-US" sz="900" dirty="0"/>
              <a:t>loans </a:t>
            </a:r>
            <a:r>
              <a:rPr lang="en-US" sz="900" dirty="0" err="1"/>
              <a:t>collateralised</a:t>
            </a:r>
            <a:r>
              <a:rPr lang="en-US" sz="900" dirty="0"/>
              <a:t> by residential immovable property</a:t>
            </a:r>
            <a:endParaRPr lang="es-ES" sz="900" dirty="0"/>
          </a:p>
          <a:p>
            <a:r>
              <a:rPr lang="en-US" sz="900" dirty="0"/>
              <a:t>Commercial: loans </a:t>
            </a:r>
            <a:r>
              <a:rPr lang="en-US" sz="900" dirty="0" err="1"/>
              <a:t>collateralised</a:t>
            </a:r>
            <a:r>
              <a:rPr lang="en-US" sz="900" dirty="0"/>
              <a:t> by commercial immovable property</a:t>
            </a:r>
            <a:endParaRPr lang="es-ES" sz="9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1D14F1D-E3C2-4F38-B57B-EA33F49C572F}"/>
              </a:ext>
            </a:extLst>
          </p:cNvPr>
          <p:cNvSpPr/>
          <p:nvPr/>
        </p:nvSpPr>
        <p:spPr>
          <a:xfrm>
            <a:off x="6588224" y="51247"/>
            <a:ext cx="2448272" cy="360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900" b="1" i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This slide only applies in units </a:t>
            </a:r>
          </a:p>
          <a:p>
            <a:pPr algn="ctr"/>
            <a:r>
              <a:rPr lang="en-IE" sz="900" b="1" i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where EPC labels or EPC scores are available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9512" y="51470"/>
            <a:ext cx="4841850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Acrescentar 0% + ajustar mudança slide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94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Loans </a:t>
            </a:r>
            <a:r>
              <a:rPr lang="en-US" sz="1600" kern="0" dirty="0" err="1">
                <a:latin typeface="Santander Headline" panose="020B0504020201020104" pitchFamily="34" charset="0"/>
              </a:rPr>
              <a:t>collateralised</a:t>
            </a:r>
            <a:r>
              <a:rPr lang="en-US" sz="1600" kern="0" dirty="0">
                <a:latin typeface="Santander Headline" panose="020B0504020201020104" pitchFamily="34" charset="0"/>
              </a:rPr>
              <a:t> by immovable property (</a:t>
            </a:r>
            <a:r>
              <a:rPr lang="en-US" sz="1600" kern="0" dirty="0" smtClean="0">
                <a:latin typeface="Santander Headline" panose="020B0504020201020104" pitchFamily="34" charset="0"/>
              </a:rPr>
              <a:t>Local </a:t>
            </a:r>
            <a:r>
              <a:rPr lang="en-US" sz="1600" kern="0" dirty="0">
                <a:latin typeface="Santander Headline" panose="020B0504020201020104" pitchFamily="34" charset="0"/>
              </a:rPr>
              <a:t>Template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2</a:t>
            </a:r>
            <a:r>
              <a:rPr lang="en-US" sz="1600" kern="0" dirty="0" smtClean="0">
                <a:latin typeface="Santander Headline" panose="020B0504020201020104" pitchFamily="34" charset="0"/>
              </a:rPr>
              <a:t>)</a:t>
            </a:r>
            <a:endParaRPr lang="en-US" sz="1600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Fechado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180348"/>
              </p:ext>
            </p:extLst>
          </p:nvPr>
        </p:nvGraphicFramePr>
        <p:xfrm>
          <a:off x="1816100" y="2715766"/>
          <a:ext cx="5511800" cy="1428750"/>
        </p:xfrm>
        <a:graphic>
          <a:graphicData uri="http://schemas.openxmlformats.org/drawingml/2006/table">
            <a:tbl>
              <a:tblPr/>
              <a:tblGrid>
                <a:gridCol w="1242764">
                  <a:extLst>
                    <a:ext uri="{9D8B030D-6E8A-4147-A177-3AD203B41FA5}">
                      <a16:colId xmlns:a16="http://schemas.microsoft.com/office/drawing/2014/main" val="2189161531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789690535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671573287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4001473743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1544859597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4193362724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4098341428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EPC Label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61908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Residential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Commercial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1421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72941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Estimated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96551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Real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1022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Wihout EPC Label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34266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71176"/>
              </p:ext>
            </p:extLst>
          </p:nvPr>
        </p:nvGraphicFramePr>
        <p:xfrm>
          <a:off x="1816100" y="1203598"/>
          <a:ext cx="5511800" cy="1428750"/>
        </p:xfrm>
        <a:graphic>
          <a:graphicData uri="http://schemas.openxmlformats.org/drawingml/2006/table">
            <a:tbl>
              <a:tblPr/>
              <a:tblGrid>
                <a:gridCol w="1242764">
                  <a:extLst>
                    <a:ext uri="{9D8B030D-6E8A-4147-A177-3AD203B41FA5}">
                      <a16:colId xmlns:a16="http://schemas.microsoft.com/office/drawing/2014/main" val="150143550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151579354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4189975047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633929826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4135442477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159145654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426651416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EP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20414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Residential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Commercial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31853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71384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Estimated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46559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Real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64014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Wihout EPC Label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022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875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redondeado 32"/>
          <p:cNvSpPr/>
          <p:nvPr/>
        </p:nvSpPr>
        <p:spPr>
          <a:xfrm>
            <a:off x="467543" y="923658"/>
            <a:ext cx="3888000" cy="252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Acute</a:t>
            </a:r>
          </a:p>
        </p:txBody>
      </p:sp>
      <p:sp>
        <p:nvSpPr>
          <p:cNvPr id="34" name="Rectángulo redondeado 33"/>
          <p:cNvSpPr/>
          <p:nvPr/>
        </p:nvSpPr>
        <p:spPr>
          <a:xfrm>
            <a:off x="4572000" y="923658"/>
            <a:ext cx="3888432" cy="252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Chronic</a:t>
            </a:r>
          </a:p>
        </p:txBody>
      </p:sp>
      <p:cxnSp>
        <p:nvCxnSpPr>
          <p:cNvPr id="35" name="Conector recto 34"/>
          <p:cNvCxnSpPr/>
          <p:nvPr/>
        </p:nvCxnSpPr>
        <p:spPr>
          <a:xfrm>
            <a:off x="4463772" y="795646"/>
            <a:ext cx="28304" cy="386433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15" name="Grupo 14"/>
          <p:cNvGrpSpPr/>
          <p:nvPr/>
        </p:nvGrpSpPr>
        <p:grpSpPr>
          <a:xfrm>
            <a:off x="935543" y="1202276"/>
            <a:ext cx="2952000" cy="277182"/>
            <a:chOff x="620586" y="1126868"/>
            <a:chExt cx="2952000" cy="277182"/>
          </a:xfrm>
        </p:grpSpPr>
        <p:cxnSp>
          <p:nvCxnSpPr>
            <p:cNvPr id="9" name="Conector recto 8"/>
            <p:cNvCxnSpPr/>
            <p:nvPr/>
          </p:nvCxnSpPr>
          <p:spPr>
            <a:xfrm>
              <a:off x="620586" y="1404050"/>
              <a:ext cx="2952000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uadroTexto 12"/>
            <p:cNvSpPr txBox="1"/>
            <p:nvPr/>
          </p:nvSpPr>
          <p:spPr>
            <a:xfrm>
              <a:off x="620586" y="1126868"/>
              <a:ext cx="28424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i="1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Loans collateralized by immovable property</a:t>
              </a:r>
            </a:p>
          </p:txBody>
        </p:sp>
      </p:grpSp>
      <p:cxnSp>
        <p:nvCxnSpPr>
          <p:cNvPr id="58" name="Conector recto 57"/>
          <p:cNvCxnSpPr>
            <a:cxnSpLocks/>
          </p:cNvCxnSpPr>
          <p:nvPr/>
        </p:nvCxnSpPr>
        <p:spPr>
          <a:xfrm>
            <a:off x="921392" y="2924004"/>
            <a:ext cx="3204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/>
          <p:cNvSpPr txBox="1"/>
          <p:nvPr/>
        </p:nvSpPr>
        <p:spPr>
          <a:xfrm>
            <a:off x="1634367" y="2646822"/>
            <a:ext cx="1778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Non financial corporations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1547664" y="4753199"/>
            <a:ext cx="4968552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i="1" dirty="0">
                <a:solidFill>
                  <a:schemeClr val="tx2"/>
                </a:solidFill>
                <a:latin typeface="Santander Text" panose="020B0504020201020104" pitchFamily="34" charset="0"/>
              </a:rPr>
              <a:t>A Agriculture, forestry and fishing / B Mining and quarrying / C Manufacturing / D Electricity, gas / E Water supply  F Construction / G Wholesale and retail trade / H Transport and storage / I Accommodation and food service activities / J Information and communication/ L Real estate activities</a:t>
            </a:r>
          </a:p>
        </p:txBody>
      </p:sp>
      <p:grpSp>
        <p:nvGrpSpPr>
          <p:cNvPr id="68" name="Grupo 67"/>
          <p:cNvGrpSpPr/>
          <p:nvPr/>
        </p:nvGrpSpPr>
        <p:grpSpPr>
          <a:xfrm>
            <a:off x="5040216" y="1202276"/>
            <a:ext cx="2952000" cy="277182"/>
            <a:chOff x="620586" y="1126868"/>
            <a:chExt cx="2952000" cy="277182"/>
          </a:xfrm>
        </p:grpSpPr>
        <p:cxnSp>
          <p:nvCxnSpPr>
            <p:cNvPr id="69" name="Conector recto 68"/>
            <p:cNvCxnSpPr/>
            <p:nvPr/>
          </p:nvCxnSpPr>
          <p:spPr>
            <a:xfrm>
              <a:off x="620586" y="1404050"/>
              <a:ext cx="2952000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CuadroTexto 69"/>
            <p:cNvSpPr txBox="1"/>
            <p:nvPr/>
          </p:nvSpPr>
          <p:spPr>
            <a:xfrm>
              <a:off x="620586" y="1126868"/>
              <a:ext cx="28424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i="1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Loans collateralized by immovable property</a:t>
              </a:r>
            </a:p>
          </p:txBody>
        </p:sp>
      </p:grpSp>
      <p:sp>
        <p:nvSpPr>
          <p:cNvPr id="27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374441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5. Exposures subject to physical risk</a:t>
            </a:r>
            <a:br>
              <a:rPr lang="en-US" sz="1600" kern="0" dirty="0">
                <a:latin typeface="Santander Headline" panose="020B0504020201020104" pitchFamily="34" charset="0"/>
              </a:rPr>
            </a:br>
            <a:r>
              <a:rPr lang="en-US" sz="1600" kern="0" dirty="0">
                <a:latin typeface="Santander Headline" panose="020B0504020201020104" pitchFamily="34" charset="0"/>
              </a:rPr>
              <a:t>(Satellite 79)</a:t>
            </a:r>
            <a:endParaRPr lang="en-US" sz="1600" i="1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graphicFrame>
        <p:nvGraphicFramePr>
          <p:cNvPr id="4" name="Gráfico 3"/>
          <p:cNvGraphicFramePr/>
          <p:nvPr>
            <p:extLst>
              <p:ext uri="{D42A27DB-BD31-4B8C-83A1-F6EECF244321}">
                <p14:modId xmlns:p14="http://schemas.microsoft.com/office/powerpoint/2010/main" val="1293330744"/>
              </p:ext>
            </p:extLst>
          </p:nvPr>
        </p:nvGraphicFramePr>
        <p:xfrm>
          <a:off x="542275" y="2934287"/>
          <a:ext cx="3813268" cy="1725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Gráfico 27"/>
          <p:cNvGraphicFramePr/>
          <p:nvPr>
            <p:extLst>
              <p:ext uri="{D42A27DB-BD31-4B8C-83A1-F6EECF244321}">
                <p14:modId xmlns:p14="http://schemas.microsoft.com/office/powerpoint/2010/main" val="4165699178"/>
              </p:ext>
            </p:extLst>
          </p:nvPr>
        </p:nvGraphicFramePr>
        <p:xfrm>
          <a:off x="4609582" y="2882604"/>
          <a:ext cx="3813268" cy="1725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Gráfico 13"/>
          <p:cNvGraphicFramePr/>
          <p:nvPr>
            <p:extLst>
              <p:ext uri="{D42A27DB-BD31-4B8C-83A1-F6EECF244321}">
                <p14:modId xmlns:p14="http://schemas.microsoft.com/office/powerpoint/2010/main" val="4024120775"/>
              </p:ext>
            </p:extLst>
          </p:nvPr>
        </p:nvGraphicFramePr>
        <p:xfrm>
          <a:off x="355576" y="1463886"/>
          <a:ext cx="1853939" cy="1380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6" name="Gráfico 35"/>
          <p:cNvGraphicFramePr/>
          <p:nvPr>
            <p:extLst>
              <p:ext uri="{D42A27DB-BD31-4B8C-83A1-F6EECF244321}">
                <p14:modId xmlns:p14="http://schemas.microsoft.com/office/powerpoint/2010/main" val="2524080064"/>
              </p:ext>
            </p:extLst>
          </p:nvPr>
        </p:nvGraphicFramePr>
        <p:xfrm>
          <a:off x="2080360" y="1479309"/>
          <a:ext cx="1853939" cy="1380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7" name="Gráfico 36"/>
          <p:cNvGraphicFramePr/>
          <p:nvPr>
            <p:extLst>
              <p:ext uri="{D42A27DB-BD31-4B8C-83A1-F6EECF244321}">
                <p14:modId xmlns:p14="http://schemas.microsoft.com/office/powerpoint/2010/main" val="3711113360"/>
              </p:ext>
            </p:extLst>
          </p:nvPr>
        </p:nvGraphicFramePr>
        <p:xfrm>
          <a:off x="4498412" y="1463886"/>
          <a:ext cx="1853939" cy="1380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8" name="Gráfico 37"/>
          <p:cNvGraphicFramePr/>
          <p:nvPr>
            <p:extLst>
              <p:ext uri="{D42A27DB-BD31-4B8C-83A1-F6EECF244321}">
                <p14:modId xmlns:p14="http://schemas.microsoft.com/office/powerpoint/2010/main" val="4141963656"/>
              </p:ext>
            </p:extLst>
          </p:nvPr>
        </p:nvGraphicFramePr>
        <p:xfrm>
          <a:off x="6223196" y="1479309"/>
          <a:ext cx="1853939" cy="1380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9" name="CuadroTexto 38"/>
          <p:cNvSpPr txBox="1"/>
          <p:nvPr/>
        </p:nvSpPr>
        <p:spPr>
          <a:xfrm>
            <a:off x="6588224" y="4659982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1D14F1D-E3C2-4F38-B57B-EA33F49C572F}"/>
              </a:ext>
            </a:extLst>
          </p:cNvPr>
          <p:cNvSpPr/>
          <p:nvPr/>
        </p:nvSpPr>
        <p:spPr>
          <a:xfrm>
            <a:off x="3508803" y="167546"/>
            <a:ext cx="5494939" cy="6482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sz="800" b="1" i="1" dirty="0">
                <a:solidFill>
                  <a:schemeClr val="tx1"/>
                </a:solidFill>
                <a:latin typeface="Santander Text" panose="020B0504020201020104" pitchFamily="34" charset="0"/>
              </a:rPr>
              <a:t>Main assumptions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Santander Text" panose="020B0504020201020104" pitchFamily="34" charset="0"/>
              </a:rPr>
              <a:t>Physical risk has been assigned according to the information provided by an external provider (Munich Re)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Santander Text" panose="020B0504020201020104" pitchFamily="34" charset="0"/>
              </a:rPr>
              <a:t>Munich RE recommends classifying exposure as subject to physical risk where the underlying activity is scored as 4 or above for at least one hazard (acute or chronic).  17 hazards have been evaluated. 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Santander Text" panose="020B0504020201020104" pitchFamily="34" charset="0"/>
              </a:rPr>
              <a:t>Additional information on the methodology used for physical risk data can be found in the Pilar 3 ESG - Functional guidelines</a:t>
            </a:r>
            <a:endParaRPr lang="en-IE" sz="800" i="1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D57231-6762-461F-BEAC-163FB1CAE8C9}"/>
              </a:ext>
            </a:extLst>
          </p:cNvPr>
          <p:cNvCxnSpPr>
            <a:cxnSpLocks/>
          </p:cNvCxnSpPr>
          <p:nvPr/>
        </p:nvCxnSpPr>
        <p:spPr>
          <a:xfrm>
            <a:off x="5004048" y="2920940"/>
            <a:ext cx="3204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2255E84-5387-42CD-98C9-9F36E8923D01}"/>
              </a:ext>
            </a:extLst>
          </p:cNvPr>
          <p:cNvSpPr txBox="1"/>
          <p:nvPr/>
        </p:nvSpPr>
        <p:spPr>
          <a:xfrm>
            <a:off x="5717023" y="2643758"/>
            <a:ext cx="1778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Non financial corporations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WIP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54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redondeado 32"/>
          <p:cNvSpPr/>
          <p:nvPr/>
        </p:nvSpPr>
        <p:spPr>
          <a:xfrm>
            <a:off x="467543" y="923658"/>
            <a:ext cx="3888000" cy="252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Acute</a:t>
            </a:r>
          </a:p>
        </p:txBody>
      </p:sp>
      <p:sp>
        <p:nvSpPr>
          <p:cNvPr id="34" name="Rectángulo redondeado 33"/>
          <p:cNvSpPr/>
          <p:nvPr/>
        </p:nvSpPr>
        <p:spPr>
          <a:xfrm>
            <a:off x="4572000" y="923658"/>
            <a:ext cx="3888432" cy="2520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Chronic</a:t>
            </a:r>
          </a:p>
        </p:txBody>
      </p:sp>
      <p:cxnSp>
        <p:nvCxnSpPr>
          <p:cNvPr id="35" name="Conector recto 34"/>
          <p:cNvCxnSpPr/>
          <p:nvPr/>
        </p:nvCxnSpPr>
        <p:spPr>
          <a:xfrm>
            <a:off x="4463772" y="795646"/>
            <a:ext cx="28304" cy="386433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15" name="Grupo 14"/>
          <p:cNvGrpSpPr/>
          <p:nvPr/>
        </p:nvGrpSpPr>
        <p:grpSpPr>
          <a:xfrm>
            <a:off x="935543" y="1202276"/>
            <a:ext cx="2952000" cy="277182"/>
            <a:chOff x="620586" y="1126868"/>
            <a:chExt cx="2952000" cy="277182"/>
          </a:xfrm>
        </p:grpSpPr>
        <p:cxnSp>
          <p:nvCxnSpPr>
            <p:cNvPr id="9" name="Conector recto 8"/>
            <p:cNvCxnSpPr/>
            <p:nvPr/>
          </p:nvCxnSpPr>
          <p:spPr>
            <a:xfrm>
              <a:off x="620586" y="1404050"/>
              <a:ext cx="2952000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uadroTexto 12"/>
            <p:cNvSpPr txBox="1"/>
            <p:nvPr/>
          </p:nvSpPr>
          <p:spPr>
            <a:xfrm>
              <a:off x="620586" y="1126868"/>
              <a:ext cx="28424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i="1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Loans collateralized by immovable property</a:t>
              </a:r>
            </a:p>
          </p:txBody>
        </p:sp>
      </p:grpSp>
      <p:cxnSp>
        <p:nvCxnSpPr>
          <p:cNvPr id="58" name="Conector recto 57"/>
          <p:cNvCxnSpPr>
            <a:cxnSpLocks/>
          </p:cNvCxnSpPr>
          <p:nvPr/>
        </p:nvCxnSpPr>
        <p:spPr>
          <a:xfrm>
            <a:off x="921392" y="2924004"/>
            <a:ext cx="3204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/>
          <p:cNvSpPr txBox="1"/>
          <p:nvPr/>
        </p:nvSpPr>
        <p:spPr>
          <a:xfrm>
            <a:off x="1634367" y="2646822"/>
            <a:ext cx="1778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Non financial corporations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1547664" y="4753199"/>
            <a:ext cx="4968552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i="1" dirty="0">
                <a:solidFill>
                  <a:schemeClr val="tx2"/>
                </a:solidFill>
                <a:latin typeface="Santander Text" panose="020B0504020201020104" pitchFamily="34" charset="0"/>
              </a:rPr>
              <a:t>A Agriculture, forestry and fishing / B Mining and quarrying / C Manufacturing / D Electricity, gas / E Water supply F Construction / G Wholesale and retail trade / H Transport and storage / I Accommodation and food service activities / J Information and communication/ L Real estate activities</a:t>
            </a:r>
          </a:p>
        </p:txBody>
      </p:sp>
      <p:grpSp>
        <p:nvGrpSpPr>
          <p:cNvPr id="68" name="Grupo 67"/>
          <p:cNvGrpSpPr/>
          <p:nvPr/>
        </p:nvGrpSpPr>
        <p:grpSpPr>
          <a:xfrm>
            <a:off x="5040216" y="1202276"/>
            <a:ext cx="2952000" cy="277182"/>
            <a:chOff x="620586" y="1126868"/>
            <a:chExt cx="2952000" cy="277182"/>
          </a:xfrm>
        </p:grpSpPr>
        <p:cxnSp>
          <p:nvCxnSpPr>
            <p:cNvPr id="69" name="Conector recto 68"/>
            <p:cNvCxnSpPr/>
            <p:nvPr/>
          </p:nvCxnSpPr>
          <p:spPr>
            <a:xfrm>
              <a:off x="620586" y="1404050"/>
              <a:ext cx="2952000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CuadroTexto 69"/>
            <p:cNvSpPr txBox="1"/>
            <p:nvPr/>
          </p:nvSpPr>
          <p:spPr>
            <a:xfrm>
              <a:off x="620586" y="1126868"/>
              <a:ext cx="28424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i="1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Loans collateralized by immovable property</a:t>
              </a:r>
            </a:p>
          </p:txBody>
        </p:sp>
      </p:grpSp>
      <p:sp>
        <p:nvSpPr>
          <p:cNvPr id="27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374441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5. Exposures subject to physical risk</a:t>
            </a:r>
          </a:p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 (Local Template 5)</a:t>
            </a:r>
            <a:endParaRPr lang="en-US" sz="1600" i="1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graphicFrame>
        <p:nvGraphicFramePr>
          <p:cNvPr id="4" name="Gráfico 3"/>
          <p:cNvGraphicFramePr/>
          <p:nvPr>
            <p:extLst>
              <p:ext uri="{D42A27DB-BD31-4B8C-83A1-F6EECF244321}">
                <p14:modId xmlns:p14="http://schemas.microsoft.com/office/powerpoint/2010/main" val="1540287458"/>
              </p:ext>
            </p:extLst>
          </p:nvPr>
        </p:nvGraphicFramePr>
        <p:xfrm>
          <a:off x="542275" y="2934287"/>
          <a:ext cx="3813268" cy="1725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Gráfico 27"/>
          <p:cNvGraphicFramePr/>
          <p:nvPr>
            <p:extLst>
              <p:ext uri="{D42A27DB-BD31-4B8C-83A1-F6EECF244321}">
                <p14:modId xmlns:p14="http://schemas.microsoft.com/office/powerpoint/2010/main" val="2246526477"/>
              </p:ext>
            </p:extLst>
          </p:nvPr>
        </p:nvGraphicFramePr>
        <p:xfrm>
          <a:off x="4609582" y="2882604"/>
          <a:ext cx="3813268" cy="1725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Gráfico 13"/>
          <p:cNvGraphicFramePr/>
          <p:nvPr>
            <p:extLst>
              <p:ext uri="{D42A27DB-BD31-4B8C-83A1-F6EECF244321}">
                <p14:modId xmlns:p14="http://schemas.microsoft.com/office/powerpoint/2010/main" val="1993259774"/>
              </p:ext>
            </p:extLst>
          </p:nvPr>
        </p:nvGraphicFramePr>
        <p:xfrm>
          <a:off x="355576" y="1463886"/>
          <a:ext cx="1853939" cy="1380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6" name="Gráfico 35"/>
          <p:cNvGraphicFramePr/>
          <p:nvPr>
            <p:extLst>
              <p:ext uri="{D42A27DB-BD31-4B8C-83A1-F6EECF244321}">
                <p14:modId xmlns:p14="http://schemas.microsoft.com/office/powerpoint/2010/main" val="1779280184"/>
              </p:ext>
            </p:extLst>
          </p:nvPr>
        </p:nvGraphicFramePr>
        <p:xfrm>
          <a:off x="2080360" y="1479309"/>
          <a:ext cx="1853939" cy="1380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7" name="Gráfico 36"/>
          <p:cNvGraphicFramePr/>
          <p:nvPr>
            <p:extLst>
              <p:ext uri="{D42A27DB-BD31-4B8C-83A1-F6EECF244321}">
                <p14:modId xmlns:p14="http://schemas.microsoft.com/office/powerpoint/2010/main" val="4122329992"/>
              </p:ext>
            </p:extLst>
          </p:nvPr>
        </p:nvGraphicFramePr>
        <p:xfrm>
          <a:off x="4498412" y="1463886"/>
          <a:ext cx="1853939" cy="1380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8" name="Gráfico 37"/>
          <p:cNvGraphicFramePr/>
          <p:nvPr>
            <p:extLst>
              <p:ext uri="{D42A27DB-BD31-4B8C-83A1-F6EECF244321}">
                <p14:modId xmlns:p14="http://schemas.microsoft.com/office/powerpoint/2010/main" val="2936140178"/>
              </p:ext>
            </p:extLst>
          </p:nvPr>
        </p:nvGraphicFramePr>
        <p:xfrm>
          <a:off x="6223196" y="1479309"/>
          <a:ext cx="1853939" cy="1380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Rectángulo 25">
            <a:extLst>
              <a:ext uri="{FF2B5EF4-FFF2-40B4-BE49-F238E27FC236}">
                <a16:creationId xmlns:a16="http://schemas.microsoft.com/office/drawing/2014/main" id="{21D14F1D-E3C2-4F38-B57B-EA33F49C572F}"/>
              </a:ext>
            </a:extLst>
          </p:cNvPr>
          <p:cNvSpPr/>
          <p:nvPr/>
        </p:nvSpPr>
        <p:spPr>
          <a:xfrm>
            <a:off x="3508803" y="167546"/>
            <a:ext cx="5494939" cy="6482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sz="800" b="1" i="1" dirty="0">
                <a:solidFill>
                  <a:schemeClr val="tx1"/>
                </a:solidFill>
                <a:latin typeface="Santander Text" panose="020B0504020201020104" pitchFamily="34" charset="0"/>
              </a:rPr>
              <a:t>Main assumptions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Santander Text" panose="020B0504020201020104" pitchFamily="34" charset="0"/>
              </a:rPr>
              <a:t>Physical risk has been assigned according to the information provided by an external provider (Munich Re)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Santander Text" panose="020B0504020201020104" pitchFamily="34" charset="0"/>
              </a:rPr>
              <a:t>Munich RE recommends classifying exposure as subject to physical risk where the underlying activity is scored as 4 or above for at least one hazard (acute or chronic).  17 hazards have been evaluated. 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Santander Text" panose="020B0504020201020104" pitchFamily="34" charset="0"/>
              </a:rPr>
              <a:t>Additional information on the methodology used for physical risk data can be found in the Pilar 3 ESG - Functional guidelines</a:t>
            </a:r>
            <a:endParaRPr lang="en-IE" sz="800" i="1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D57231-6762-461F-BEAC-163FB1CAE8C9}"/>
              </a:ext>
            </a:extLst>
          </p:cNvPr>
          <p:cNvCxnSpPr>
            <a:cxnSpLocks/>
          </p:cNvCxnSpPr>
          <p:nvPr/>
        </p:nvCxnSpPr>
        <p:spPr>
          <a:xfrm>
            <a:off x="5004048" y="2920940"/>
            <a:ext cx="3204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2255E84-5387-42CD-98C9-9F36E8923D01}"/>
              </a:ext>
            </a:extLst>
          </p:cNvPr>
          <p:cNvSpPr txBox="1"/>
          <p:nvPr/>
        </p:nvSpPr>
        <p:spPr>
          <a:xfrm>
            <a:off x="5717023" y="2643758"/>
            <a:ext cx="1778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Non financial corporations</a:t>
            </a:r>
          </a:p>
        </p:txBody>
      </p:sp>
      <p:sp>
        <p:nvSpPr>
          <p:cNvPr id="40" name="CuadroTexto 38"/>
          <p:cNvSpPr txBox="1"/>
          <p:nvPr/>
        </p:nvSpPr>
        <p:spPr>
          <a:xfrm>
            <a:off x="6588224" y="4659982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WIP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19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7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 smtClean="0">
                <a:latin typeface="Santander Headline" panose="020B0504020201020104" pitchFamily="34" charset="0"/>
              </a:rPr>
              <a:t>Exposures </a:t>
            </a:r>
            <a:r>
              <a:rPr lang="en-US" sz="1600" kern="0" dirty="0">
                <a:latin typeface="Santander Headline" panose="020B0504020201020104" pitchFamily="34" charset="0"/>
              </a:rPr>
              <a:t>subject to physical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risk (Satellite 79 &amp; Local Template 5)</a:t>
            </a:r>
            <a:endParaRPr lang="en-US" sz="1600" i="1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cxnSp>
        <p:nvCxnSpPr>
          <p:cNvPr id="5" name="Conector recto 12"/>
          <p:cNvCxnSpPr>
            <a:cxnSpLocks/>
          </p:cNvCxnSpPr>
          <p:nvPr/>
        </p:nvCxnSpPr>
        <p:spPr>
          <a:xfrm flipV="1">
            <a:off x="241909" y="1589075"/>
            <a:ext cx="4068000" cy="3143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redondeado 10"/>
          <p:cNvSpPr/>
          <p:nvPr/>
        </p:nvSpPr>
        <p:spPr>
          <a:xfrm>
            <a:off x="1825861" y="1491630"/>
            <a:ext cx="900097" cy="201177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 smtClean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Satellite 79</a:t>
            </a:r>
            <a:endParaRPr lang="es-ES" sz="1100" b="1" i="1" dirty="0">
              <a:solidFill>
                <a:schemeClr val="accent1">
                  <a:lumMod val="75000"/>
                </a:schemeClr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4680464" y="1494294"/>
            <a:ext cx="4068000" cy="201177"/>
            <a:chOff x="4839236" y="1207620"/>
            <a:chExt cx="4068000" cy="201177"/>
          </a:xfrm>
        </p:grpSpPr>
        <p:cxnSp>
          <p:nvCxnSpPr>
            <p:cNvPr id="16" name="Conector recto 12"/>
            <p:cNvCxnSpPr>
              <a:cxnSpLocks/>
            </p:cNvCxnSpPr>
            <p:nvPr/>
          </p:nvCxnSpPr>
          <p:spPr>
            <a:xfrm flipV="1">
              <a:off x="4839236" y="1305065"/>
              <a:ext cx="4068000" cy="3143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ángulo redondeado 10"/>
            <p:cNvSpPr/>
            <p:nvPr/>
          </p:nvSpPr>
          <p:spPr>
            <a:xfrm>
              <a:off x="6220134" y="1207620"/>
              <a:ext cx="1306204" cy="20117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i="1" dirty="0" smtClean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Local Template 5</a:t>
              </a:r>
              <a:endParaRPr lang="es-ES" sz="1100" b="1" i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endParaRPr>
            </a:p>
          </p:txBody>
        </p:sp>
      </p:grp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664235"/>
              </p:ext>
            </p:extLst>
          </p:nvPr>
        </p:nvGraphicFramePr>
        <p:xfrm>
          <a:off x="4572463" y="1792916"/>
          <a:ext cx="4176001" cy="2019600"/>
        </p:xfrm>
        <a:graphic>
          <a:graphicData uri="http://schemas.openxmlformats.org/drawingml/2006/table">
            <a:tbl>
              <a:tblPr/>
              <a:tblGrid>
                <a:gridCol w="362547">
                  <a:extLst>
                    <a:ext uri="{9D8B030D-6E8A-4147-A177-3AD203B41FA5}">
                      <a16:colId xmlns:a16="http://schemas.microsoft.com/office/drawing/2014/main" val="2014948489"/>
                    </a:ext>
                  </a:extLst>
                </a:gridCol>
                <a:gridCol w="550534">
                  <a:extLst>
                    <a:ext uri="{9D8B030D-6E8A-4147-A177-3AD203B41FA5}">
                      <a16:colId xmlns:a16="http://schemas.microsoft.com/office/drawing/2014/main" val="2297017140"/>
                    </a:ext>
                  </a:extLst>
                </a:gridCol>
                <a:gridCol w="543820">
                  <a:extLst>
                    <a:ext uri="{9D8B030D-6E8A-4147-A177-3AD203B41FA5}">
                      <a16:colId xmlns:a16="http://schemas.microsoft.com/office/drawing/2014/main" val="3245760165"/>
                    </a:ext>
                  </a:extLst>
                </a:gridCol>
                <a:gridCol w="543820">
                  <a:extLst>
                    <a:ext uri="{9D8B030D-6E8A-4147-A177-3AD203B41FA5}">
                      <a16:colId xmlns:a16="http://schemas.microsoft.com/office/drawing/2014/main" val="4086441342"/>
                    </a:ext>
                  </a:extLst>
                </a:gridCol>
                <a:gridCol w="543820">
                  <a:extLst>
                    <a:ext uri="{9D8B030D-6E8A-4147-A177-3AD203B41FA5}">
                      <a16:colId xmlns:a16="http://schemas.microsoft.com/office/drawing/2014/main" val="3985441167"/>
                    </a:ext>
                  </a:extLst>
                </a:gridCol>
                <a:gridCol w="543820">
                  <a:extLst>
                    <a:ext uri="{9D8B030D-6E8A-4147-A177-3AD203B41FA5}">
                      <a16:colId xmlns:a16="http://schemas.microsoft.com/office/drawing/2014/main" val="3922595436"/>
                    </a:ext>
                  </a:extLst>
                </a:gridCol>
                <a:gridCol w="543820">
                  <a:extLst>
                    <a:ext uri="{9D8B030D-6E8A-4147-A177-3AD203B41FA5}">
                      <a16:colId xmlns:a16="http://schemas.microsoft.com/office/drawing/2014/main" val="667591589"/>
                    </a:ext>
                  </a:extLst>
                </a:gridCol>
                <a:gridCol w="543820">
                  <a:extLst>
                    <a:ext uri="{9D8B030D-6E8A-4147-A177-3AD203B41FA5}">
                      <a16:colId xmlns:a16="http://schemas.microsoft.com/office/drawing/2014/main" val="671236963"/>
                    </a:ext>
                  </a:extLst>
                </a:gridCol>
              </a:tblGrid>
              <a:tr h="212858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Acute Risk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Chronic Risk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328149"/>
                  </a:ext>
                </a:extLst>
              </a:tr>
              <a:tr h="212858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996107"/>
                  </a:ext>
                </a:extLst>
              </a:tr>
              <a:tr h="3984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Residential </a:t>
                      </a:r>
                    </a:p>
                  </a:txBody>
                  <a:tcPr marL="9525" marR="9525" marT="9525" marB="0" vert="vert27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39,7%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39,8%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295257"/>
                  </a:ext>
                </a:extLst>
              </a:tr>
              <a:tr h="39847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60,3%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60,2%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306693"/>
                  </a:ext>
                </a:extLst>
              </a:tr>
              <a:tr h="3984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Commercial</a:t>
                      </a:r>
                    </a:p>
                  </a:txBody>
                  <a:tcPr marL="9525" marR="9525" marT="9525" marB="0" vert="vert27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43,1%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43,9%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321669"/>
                  </a:ext>
                </a:extLst>
              </a:tr>
              <a:tr h="39847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56,9%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56,1%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916588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743969"/>
              </p:ext>
            </p:extLst>
          </p:nvPr>
        </p:nvGraphicFramePr>
        <p:xfrm>
          <a:off x="247489" y="1792916"/>
          <a:ext cx="4175999" cy="2019600"/>
        </p:xfrm>
        <a:graphic>
          <a:graphicData uri="http://schemas.openxmlformats.org/drawingml/2006/table">
            <a:tbl>
              <a:tblPr/>
              <a:tblGrid>
                <a:gridCol w="398981">
                  <a:extLst>
                    <a:ext uri="{9D8B030D-6E8A-4147-A177-3AD203B41FA5}">
                      <a16:colId xmlns:a16="http://schemas.microsoft.com/office/drawing/2014/main" val="1797189372"/>
                    </a:ext>
                  </a:extLst>
                </a:gridCol>
                <a:gridCol w="545274">
                  <a:extLst>
                    <a:ext uri="{9D8B030D-6E8A-4147-A177-3AD203B41FA5}">
                      <a16:colId xmlns:a16="http://schemas.microsoft.com/office/drawing/2014/main" val="2270180534"/>
                    </a:ext>
                  </a:extLst>
                </a:gridCol>
                <a:gridCol w="538624">
                  <a:extLst>
                    <a:ext uri="{9D8B030D-6E8A-4147-A177-3AD203B41FA5}">
                      <a16:colId xmlns:a16="http://schemas.microsoft.com/office/drawing/2014/main" val="4142874576"/>
                    </a:ext>
                  </a:extLst>
                </a:gridCol>
                <a:gridCol w="538624">
                  <a:extLst>
                    <a:ext uri="{9D8B030D-6E8A-4147-A177-3AD203B41FA5}">
                      <a16:colId xmlns:a16="http://schemas.microsoft.com/office/drawing/2014/main" val="2499622889"/>
                    </a:ext>
                  </a:extLst>
                </a:gridCol>
                <a:gridCol w="538624">
                  <a:extLst>
                    <a:ext uri="{9D8B030D-6E8A-4147-A177-3AD203B41FA5}">
                      <a16:colId xmlns:a16="http://schemas.microsoft.com/office/drawing/2014/main" val="843271153"/>
                    </a:ext>
                  </a:extLst>
                </a:gridCol>
                <a:gridCol w="538624">
                  <a:extLst>
                    <a:ext uri="{9D8B030D-6E8A-4147-A177-3AD203B41FA5}">
                      <a16:colId xmlns:a16="http://schemas.microsoft.com/office/drawing/2014/main" val="350554272"/>
                    </a:ext>
                  </a:extLst>
                </a:gridCol>
                <a:gridCol w="538624">
                  <a:extLst>
                    <a:ext uri="{9D8B030D-6E8A-4147-A177-3AD203B41FA5}">
                      <a16:colId xmlns:a16="http://schemas.microsoft.com/office/drawing/2014/main" val="1625078530"/>
                    </a:ext>
                  </a:extLst>
                </a:gridCol>
                <a:gridCol w="538624">
                  <a:extLst>
                    <a:ext uri="{9D8B030D-6E8A-4147-A177-3AD203B41FA5}">
                      <a16:colId xmlns:a16="http://schemas.microsoft.com/office/drawing/2014/main" val="3602278017"/>
                    </a:ext>
                  </a:extLst>
                </a:gridCol>
              </a:tblGrid>
              <a:tr h="207607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Acute Risk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Chronic</a:t>
                      </a:r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Risk</a:t>
                      </a:r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82444"/>
                  </a:ext>
                </a:extLst>
              </a:tr>
              <a:tr h="257433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947064"/>
                  </a:ext>
                </a:extLst>
              </a:tr>
              <a:tr h="38864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Residential </a:t>
                      </a:r>
                    </a:p>
                  </a:txBody>
                  <a:tcPr marL="9525" marR="9525" marT="9525" marB="0" vert="vert27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740429"/>
                  </a:ext>
                </a:extLst>
              </a:tr>
              <a:tr h="38864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407561"/>
                  </a:ext>
                </a:extLst>
              </a:tr>
              <a:tr h="38864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Commercial</a:t>
                      </a:r>
                    </a:p>
                  </a:txBody>
                  <a:tcPr marL="9525" marR="9525" marT="9525" marB="0" vert="vert27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269119"/>
                  </a:ext>
                </a:extLst>
              </a:tr>
              <a:tr h="38864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595959"/>
                          </a:solidFill>
                          <a:effectLst/>
                          <a:latin typeface="Santander Headline" panose="020B05040202010201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35221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WIP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90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0967"/>
              </p:ext>
            </p:extLst>
          </p:nvPr>
        </p:nvGraphicFramePr>
        <p:xfrm>
          <a:off x="1254124" y="2925325"/>
          <a:ext cx="5910164" cy="1439998"/>
        </p:xfrm>
        <a:graphic>
          <a:graphicData uri="http://schemas.openxmlformats.org/drawingml/2006/table">
            <a:tbl>
              <a:tblPr/>
              <a:tblGrid>
                <a:gridCol w="1373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156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Sector</a:t>
                      </a: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Gross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carrying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amount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59171"/>
                  </a:ext>
                </a:extLst>
              </a:tr>
              <a:tr h="373388">
                <a:tc vMerge="1"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Sector</a:t>
                      </a:r>
                    </a:p>
                  </a:txBody>
                  <a:tcPr marL="8156" marR="8156" marT="81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  <a:r>
                        <a:rPr lang="es-ES" sz="10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gross</a:t>
                      </a:r>
                      <a:r>
                        <a:rPr lang="es-ES" sz="10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carrying</a:t>
                      </a:r>
                      <a:r>
                        <a:rPr lang="es-ES" sz="10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amount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Of w: Green Financial </a:t>
                      </a:r>
                      <a:r>
                        <a:rPr lang="es-ES" sz="1000" b="1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Instrument</a:t>
                      </a:r>
                      <a:endParaRPr lang="es-E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10">
                <a:tc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Financial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Corporation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 2 575 €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-   €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843526"/>
                  </a:ext>
                </a:extLst>
              </a:tr>
              <a:tr h="175010">
                <a:tc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Non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Financial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Corporation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12 060 €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261 €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01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Households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24 928 €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-   €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44491"/>
                  </a:ext>
                </a:extLst>
              </a:tr>
              <a:tr h="175010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counterparties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13 892 €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   -   €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010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 TOTAL</a:t>
                      </a: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 53 455 €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       261 €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9" name="Rectángulo redondeado 28"/>
          <p:cNvSpPr/>
          <p:nvPr/>
        </p:nvSpPr>
        <p:spPr>
          <a:xfrm rot="16200000">
            <a:off x="34801" y="3501324"/>
            <a:ext cx="1716245" cy="288000"/>
          </a:xfrm>
          <a:prstGeom prst="roundRect">
            <a:avLst/>
          </a:prstGeom>
          <a:solidFill>
            <a:srgbClr val="3A798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  Mitigation actions</a:t>
            </a:r>
            <a:endParaRPr lang="es-ES" sz="1100" b="1" dirty="0">
              <a:latin typeface="Santander Text" panose="020B0504020201020104" pitchFamily="34" charset="0"/>
            </a:endParaRPr>
          </a:p>
        </p:txBody>
      </p:sp>
      <p:sp>
        <p:nvSpPr>
          <p:cNvPr id="30" name="Rectángulo redondeado 29"/>
          <p:cNvSpPr/>
          <p:nvPr/>
        </p:nvSpPr>
        <p:spPr>
          <a:xfrm rot="16200000">
            <a:off x="34324" y="1641789"/>
            <a:ext cx="1717200" cy="288001"/>
          </a:xfrm>
          <a:prstGeom prst="roundRect">
            <a:avLst/>
          </a:prstGeom>
          <a:solidFill>
            <a:srgbClr val="3A798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  GAR/BTAR</a:t>
            </a:r>
            <a:endParaRPr lang="es-ES" sz="1100" b="1" dirty="0">
              <a:latin typeface="Santander Text" panose="020B0504020201020104" pitchFamily="34" charset="0"/>
            </a:endParaRP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6. GAR/BTAR (Satellite 84)</a:t>
            </a:r>
            <a:r>
              <a:rPr lang="en-US" sz="1600" i="1" kern="0" dirty="0">
                <a:latin typeface="Santander Headline" panose="020B0504020201020104" pitchFamily="34" charset="0"/>
              </a:rPr>
              <a:t> </a:t>
            </a:r>
            <a:r>
              <a:rPr lang="en-US" sz="1600" kern="0" dirty="0">
                <a:latin typeface="Santander Headline" panose="020B0504020201020104" pitchFamily="34" charset="0"/>
              </a:rPr>
              <a:t>&amp; Mitigation actions (Satellite 83)</a:t>
            </a: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sp>
        <p:nvSpPr>
          <p:cNvPr id="12" name="CuadroTexto 38"/>
          <p:cNvSpPr txBox="1"/>
          <p:nvPr/>
        </p:nvSpPr>
        <p:spPr>
          <a:xfrm>
            <a:off x="6588224" y="4659982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graphicFrame>
        <p:nvGraphicFramePr>
          <p:cNvPr id="13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66198"/>
              </p:ext>
            </p:extLst>
          </p:nvPr>
        </p:nvGraphicFramePr>
        <p:xfrm>
          <a:off x="1254124" y="1065789"/>
          <a:ext cx="7134584" cy="1440001"/>
        </p:xfrm>
        <a:graphic>
          <a:graphicData uri="http://schemas.openxmlformats.org/drawingml/2006/table">
            <a:tbl>
              <a:tblPr/>
              <a:tblGrid>
                <a:gridCol w="1373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4340">
                  <a:extLst>
                    <a:ext uri="{9D8B030D-6E8A-4147-A177-3AD203B41FA5}">
                      <a16:colId xmlns:a16="http://schemas.microsoft.com/office/drawing/2014/main" val="30365818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292">
                  <a:extLst>
                    <a:ext uri="{9D8B030D-6E8A-4147-A177-3AD203B41FA5}">
                      <a16:colId xmlns:a16="http://schemas.microsoft.com/office/drawing/2014/main" val="30735263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028">
                <a:tc rowSpan="2"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Sector </a:t>
                      </a:r>
                    </a:p>
                  </a:txBody>
                  <a:tcPr marL="7929" marR="7929" marT="792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Gross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carrying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amount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29" marR="7929" marT="792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29" marR="7929" marT="79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29" marR="7929" marT="79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29" marR="7929" marT="79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29" marR="7929" marT="79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44479"/>
                  </a:ext>
                </a:extLst>
              </a:tr>
              <a:tr h="219028">
                <a:tc vMerge="1">
                  <a:txBody>
                    <a:bodyPr/>
                    <a:lstStyle/>
                    <a:p>
                      <a:pPr algn="l" fontAlgn="b"/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29" marR="7929" marT="79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  <a:r>
                        <a:rPr lang="es-ES" sz="10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gross</a:t>
                      </a:r>
                      <a:r>
                        <a:rPr lang="es-ES" sz="10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carrying</a:t>
                      </a:r>
                      <a:r>
                        <a:rPr lang="es-ES" sz="10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amount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29" marR="7929" marT="792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w: eligible</a:t>
                      </a:r>
                    </a:p>
                  </a:txBody>
                  <a:tcPr marL="7929" marR="7929" marT="792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</a:t>
                      </a:r>
                    </a:p>
                  </a:txBody>
                  <a:tcPr marL="7929" marR="7929" marT="792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w: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sustainable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29" marR="7929" marT="792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%</a:t>
                      </a:r>
                    </a:p>
                  </a:txBody>
                  <a:tcPr marL="7929" marR="7929" marT="792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389">
                <a:tc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Financial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Corporation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2 793 €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137 €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4,9%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10 €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0,3%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389">
                <a:tc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Non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Financial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Corporation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12 060 €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6 246 €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51,8%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520 €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4,3%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389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Households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24 928 €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23 953 €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96,1%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1 206 €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4,8%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389"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counterparties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6 442 €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470 €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7,3%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         6 €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0,1%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389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r>
                        <a:rPr lang="es-E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7929" marR="7929" marT="792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     46 223 €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30 806 €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66,6%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   1 741 €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3,8%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79512" y="51470"/>
            <a:ext cx="5040560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Ajustar pra esquerda + tirar euros 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31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9" y="339502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GAR/BTAR (Satellite 84</a:t>
            </a:r>
            <a:r>
              <a:rPr lang="en-US" sz="1600" kern="0" dirty="0" smtClean="0">
                <a:latin typeface="Santander Headline" panose="020B0504020201020104" pitchFamily="34" charset="0"/>
              </a:rPr>
              <a:t>)</a:t>
            </a: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94242"/>
              </p:ext>
            </p:extLst>
          </p:nvPr>
        </p:nvGraphicFramePr>
        <p:xfrm>
          <a:off x="647566" y="1721620"/>
          <a:ext cx="7848869" cy="1700261"/>
        </p:xfrm>
        <a:graphic>
          <a:graphicData uri="http://schemas.openxmlformats.org/drawingml/2006/table">
            <a:tbl>
              <a:tblPr/>
              <a:tblGrid>
                <a:gridCol w="1493344">
                  <a:extLst>
                    <a:ext uri="{9D8B030D-6E8A-4147-A177-3AD203B41FA5}">
                      <a16:colId xmlns:a16="http://schemas.microsoft.com/office/drawing/2014/main" val="2867496827"/>
                    </a:ext>
                  </a:extLst>
                </a:gridCol>
                <a:gridCol w="588459">
                  <a:extLst>
                    <a:ext uri="{9D8B030D-6E8A-4147-A177-3AD203B41FA5}">
                      <a16:colId xmlns:a16="http://schemas.microsoft.com/office/drawing/2014/main" val="875036900"/>
                    </a:ext>
                  </a:extLst>
                </a:gridCol>
                <a:gridCol w="774781">
                  <a:extLst>
                    <a:ext uri="{9D8B030D-6E8A-4147-A177-3AD203B41FA5}">
                      <a16:colId xmlns:a16="http://schemas.microsoft.com/office/drawing/2014/main" val="2407925050"/>
                    </a:ext>
                  </a:extLst>
                </a:gridCol>
                <a:gridCol w="774781">
                  <a:extLst>
                    <a:ext uri="{9D8B030D-6E8A-4147-A177-3AD203B41FA5}">
                      <a16:colId xmlns:a16="http://schemas.microsoft.com/office/drawing/2014/main" val="966635131"/>
                    </a:ext>
                  </a:extLst>
                </a:gridCol>
                <a:gridCol w="774781">
                  <a:extLst>
                    <a:ext uri="{9D8B030D-6E8A-4147-A177-3AD203B41FA5}">
                      <a16:colId xmlns:a16="http://schemas.microsoft.com/office/drawing/2014/main" val="2658106206"/>
                    </a:ext>
                  </a:extLst>
                </a:gridCol>
                <a:gridCol w="660248">
                  <a:extLst>
                    <a:ext uri="{9D8B030D-6E8A-4147-A177-3AD203B41FA5}">
                      <a16:colId xmlns:a16="http://schemas.microsoft.com/office/drawing/2014/main" val="3141789031"/>
                    </a:ext>
                  </a:extLst>
                </a:gridCol>
                <a:gridCol w="687198">
                  <a:extLst>
                    <a:ext uri="{9D8B030D-6E8A-4147-A177-3AD203B41FA5}">
                      <a16:colId xmlns:a16="http://schemas.microsoft.com/office/drawing/2014/main" val="2131940224"/>
                    </a:ext>
                  </a:extLst>
                </a:gridCol>
                <a:gridCol w="774781">
                  <a:extLst>
                    <a:ext uri="{9D8B030D-6E8A-4147-A177-3AD203B41FA5}">
                      <a16:colId xmlns:a16="http://schemas.microsoft.com/office/drawing/2014/main" val="3614337795"/>
                    </a:ext>
                  </a:extLst>
                </a:gridCol>
                <a:gridCol w="660248">
                  <a:extLst>
                    <a:ext uri="{9D8B030D-6E8A-4147-A177-3AD203B41FA5}">
                      <a16:colId xmlns:a16="http://schemas.microsoft.com/office/drawing/2014/main" val="1393085277"/>
                    </a:ext>
                  </a:extLst>
                </a:gridCol>
                <a:gridCol w="660248">
                  <a:extLst>
                    <a:ext uri="{9D8B030D-6E8A-4147-A177-3AD203B41FA5}">
                      <a16:colId xmlns:a16="http://schemas.microsoft.com/office/drawing/2014/main" val="731917678"/>
                    </a:ext>
                  </a:extLst>
                </a:gridCol>
              </a:tblGrid>
              <a:tr h="18355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Sector</a:t>
                      </a:r>
                    </a:p>
                  </a:txBody>
                  <a:tcPr marL="5607" marR="5607" marT="5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Gross </a:t>
                      </a:r>
                      <a:r>
                        <a:rPr lang="pt-PT" sz="1000" b="1" i="0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carrying</a:t>
                      </a:r>
                      <a:r>
                        <a:rPr lang="pt-PT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1000" b="1" i="0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amount</a:t>
                      </a:r>
                      <a:endParaRPr lang="pt-PT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87087"/>
                  </a:ext>
                </a:extLst>
              </a:tr>
              <a:tr h="288333">
                <a:tc vMerge="1">
                  <a:txBody>
                    <a:bodyPr/>
                    <a:lstStyle/>
                    <a:p>
                      <a:pPr algn="ctr" fontAlgn="ctr"/>
                      <a:endParaRPr lang="pt-PT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Total </a:t>
                      </a:r>
                      <a:r>
                        <a:rPr lang="pt-PT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gross </a:t>
                      </a:r>
                      <a:r>
                        <a:rPr lang="pt-PT" sz="1000" b="1" i="0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carrying</a:t>
                      </a:r>
                      <a:r>
                        <a:rPr lang="pt-PT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1000" b="1" i="0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amount</a:t>
                      </a:r>
                      <a:endParaRPr lang="pt-PT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Of</a:t>
                      </a:r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which</a:t>
                      </a:r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Eligible</a:t>
                      </a:r>
                      <a:endParaRPr lang="pt-PT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Of</a:t>
                      </a:r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which</a:t>
                      </a:r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Sustainable</a:t>
                      </a:r>
                      <a:endParaRPr lang="pt-PT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671001"/>
                  </a:ext>
                </a:extLst>
              </a:tr>
              <a:tr h="23887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Dec</a:t>
                      </a:r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 22</a:t>
                      </a: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Jun</a:t>
                      </a:r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 23</a:t>
                      </a: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∆</a:t>
                      </a: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Dec</a:t>
                      </a:r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 22</a:t>
                      </a: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Jun</a:t>
                      </a:r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 23</a:t>
                      </a: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∆</a:t>
                      </a: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Dec</a:t>
                      </a:r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 22</a:t>
                      </a: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Jun</a:t>
                      </a:r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 23</a:t>
                      </a: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∆</a:t>
                      </a:r>
                    </a:p>
                  </a:txBody>
                  <a:tcPr marL="5607" marR="5607" marT="5607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806907"/>
                  </a:ext>
                </a:extLst>
              </a:tr>
              <a:tr h="194211"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Financial </a:t>
                      </a:r>
                      <a:r>
                        <a:rPr lang="pt-PT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Corporation</a:t>
                      </a:r>
                      <a:endParaRPr lang="pt-PT" sz="1100" b="0" i="0" u="none" strike="noStrike" dirty="0">
                        <a:solidFill>
                          <a:schemeClr val="tx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3 341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2 793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-548 €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329 €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137 €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-192 €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12775"/>
                  </a:ext>
                </a:extLst>
              </a:tr>
              <a:tr h="199914"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Non Financial </a:t>
                      </a:r>
                      <a:r>
                        <a:rPr lang="pt-PT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Corporation</a:t>
                      </a:r>
                      <a:endParaRPr lang="pt-PT" sz="1100" b="0" i="0" u="none" strike="noStrike" dirty="0">
                        <a:solidFill>
                          <a:schemeClr val="tx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12 469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12 060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-409 €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3517 €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6 246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2 729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330 €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520 €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190 €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312396"/>
                  </a:ext>
                </a:extLst>
              </a:tr>
              <a:tr h="194211"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Households</a:t>
                      </a:r>
                      <a:endParaRPr lang="pt-PT" sz="1100" b="0" i="0" u="none" strike="noStrike" dirty="0">
                        <a:solidFill>
                          <a:schemeClr val="tx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25 616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24 928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-688 €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23 267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23 953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686 €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826 €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1 206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380 €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259224"/>
                  </a:ext>
                </a:extLst>
              </a:tr>
              <a:tr h="194211"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Other</a:t>
                      </a:r>
                      <a:r>
                        <a:rPr lang="pt-PT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 </a:t>
                      </a:r>
                      <a:r>
                        <a:rPr lang="pt-PT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C</a:t>
                      </a:r>
                      <a:r>
                        <a:rPr lang="pt-PT" sz="11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ounterparties</a:t>
                      </a:r>
                      <a:endParaRPr lang="pt-PT" sz="1100" b="0" i="0" u="none" strike="noStrike" dirty="0">
                        <a:solidFill>
                          <a:schemeClr val="tx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9 376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6 442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  <a:r>
                        <a:rPr lang="pt-PT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2 934 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421 €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470 €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49 €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-16 €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799873"/>
                  </a:ext>
                </a:extLst>
              </a:tr>
              <a:tr h="206958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Santander Headline" panose="020B0504020201020104" pitchFamily="34" charset="0"/>
                        </a:rPr>
                        <a:t>TOTAL</a:t>
                      </a:r>
                      <a:endParaRPr lang="pt-PT" sz="900" b="1" i="0" u="none" strike="noStrike" dirty="0">
                        <a:solidFill>
                          <a:schemeClr val="tx1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5607" marR="5607" marT="5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50 801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46 223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  <a:r>
                        <a:rPr lang="pt-PT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4 578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27 535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30 806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3 271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1 193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1 741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548 €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050316"/>
                  </a:ext>
                </a:extLst>
              </a:tr>
            </a:tbl>
          </a:graphicData>
        </a:graphic>
      </p:graphicFrame>
      <p:sp>
        <p:nvSpPr>
          <p:cNvPr id="6" name="CuadroTexto 6"/>
          <p:cNvSpPr txBox="1"/>
          <p:nvPr/>
        </p:nvSpPr>
        <p:spPr>
          <a:xfrm>
            <a:off x="6610557" y="4011910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9512" y="51470"/>
            <a:ext cx="5040560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Ajustar pra esquerda + tirar euros 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77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Mitigation actions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(Satellite 83)</a:t>
            </a:r>
            <a:endParaRPr lang="en-US" sz="1600" i="1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610557" y="4011910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012012"/>
              </p:ext>
            </p:extLst>
          </p:nvPr>
        </p:nvGraphicFramePr>
        <p:xfrm>
          <a:off x="1162050" y="1261350"/>
          <a:ext cx="6819899" cy="1666875"/>
        </p:xfrm>
        <a:graphic>
          <a:graphicData uri="http://schemas.openxmlformats.org/drawingml/2006/table">
            <a:tbl>
              <a:tblPr/>
              <a:tblGrid>
                <a:gridCol w="1624088">
                  <a:extLst>
                    <a:ext uri="{9D8B030D-6E8A-4147-A177-3AD203B41FA5}">
                      <a16:colId xmlns:a16="http://schemas.microsoft.com/office/drawing/2014/main" val="3665974156"/>
                    </a:ext>
                  </a:extLst>
                </a:gridCol>
                <a:gridCol w="913549">
                  <a:extLst>
                    <a:ext uri="{9D8B030D-6E8A-4147-A177-3AD203B41FA5}">
                      <a16:colId xmlns:a16="http://schemas.microsoft.com/office/drawing/2014/main" val="3207592565"/>
                    </a:ext>
                  </a:extLst>
                </a:gridCol>
                <a:gridCol w="827904">
                  <a:extLst>
                    <a:ext uri="{9D8B030D-6E8A-4147-A177-3AD203B41FA5}">
                      <a16:colId xmlns:a16="http://schemas.microsoft.com/office/drawing/2014/main" val="344352770"/>
                    </a:ext>
                  </a:extLst>
                </a:gridCol>
                <a:gridCol w="970646">
                  <a:extLst>
                    <a:ext uri="{9D8B030D-6E8A-4147-A177-3AD203B41FA5}">
                      <a16:colId xmlns:a16="http://schemas.microsoft.com/office/drawing/2014/main" val="3348578539"/>
                    </a:ext>
                  </a:extLst>
                </a:gridCol>
                <a:gridCol w="827904">
                  <a:extLst>
                    <a:ext uri="{9D8B030D-6E8A-4147-A177-3AD203B41FA5}">
                      <a16:colId xmlns:a16="http://schemas.microsoft.com/office/drawing/2014/main" val="3361921503"/>
                    </a:ext>
                  </a:extLst>
                </a:gridCol>
                <a:gridCol w="827904">
                  <a:extLst>
                    <a:ext uri="{9D8B030D-6E8A-4147-A177-3AD203B41FA5}">
                      <a16:colId xmlns:a16="http://schemas.microsoft.com/office/drawing/2014/main" val="4058615510"/>
                    </a:ext>
                  </a:extLst>
                </a:gridCol>
                <a:gridCol w="827904">
                  <a:extLst>
                    <a:ext uri="{9D8B030D-6E8A-4147-A177-3AD203B41FA5}">
                      <a16:colId xmlns:a16="http://schemas.microsoft.com/office/drawing/2014/main" val="536058837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Total Gross Carrying Amount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Of which Green Financial Instruments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0729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Sector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82521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Financial </a:t>
                      </a:r>
                      <a:r>
                        <a:rPr lang="pt-P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Corporation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3 161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2 575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-585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40163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Non Financial </a:t>
                      </a:r>
                      <a:r>
                        <a:rPr lang="pt-P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Corporation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12 473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12 060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-414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95528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Households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25 616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24 928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-688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24659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Other counterparties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14 428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13 892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-536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18724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55 678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53 455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-2 223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8842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79512" y="51470"/>
            <a:ext cx="5040560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Ajustar pra esquerda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20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227126"/>
              </p:ext>
            </p:extLst>
          </p:nvPr>
        </p:nvGraphicFramePr>
        <p:xfrm>
          <a:off x="1331640" y="1203598"/>
          <a:ext cx="6336704" cy="2508948"/>
        </p:xfrm>
        <a:graphic>
          <a:graphicData uri="http://schemas.openxmlformats.org/drawingml/2006/table">
            <a:tbl>
              <a:tblPr/>
              <a:tblGrid>
                <a:gridCol w="1408156">
                  <a:extLst>
                    <a:ext uri="{9D8B030D-6E8A-4147-A177-3AD203B41FA5}">
                      <a16:colId xmlns:a16="http://schemas.microsoft.com/office/drawing/2014/main" val="728459774"/>
                    </a:ext>
                  </a:extLst>
                </a:gridCol>
                <a:gridCol w="1408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64">
                  <a:extLst>
                    <a:ext uri="{9D8B030D-6E8A-4147-A177-3AD203B41FA5}">
                      <a16:colId xmlns:a16="http://schemas.microsoft.com/office/drawing/2014/main" val="2986514098"/>
                    </a:ext>
                  </a:extLst>
                </a:gridCol>
                <a:gridCol w="1173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156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Type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financial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Type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counterparty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Gross </a:t>
                      </a:r>
                      <a:r>
                        <a:rPr lang="es-ES" sz="10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carrying</a:t>
                      </a:r>
                      <a:r>
                        <a:rPr lang="es-ES" sz="10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amount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Type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of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risk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mitigated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59171"/>
                  </a:ext>
                </a:extLst>
              </a:tr>
              <a:tr h="373388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Sector</a:t>
                      </a:r>
                    </a:p>
                  </a:txBody>
                  <a:tcPr marL="8156" marR="8156" marT="81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56" marR="8156" marT="81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Climate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change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transition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risk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8156" marR="8156" marT="81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Climate</a:t>
                      </a:r>
                      <a:r>
                        <a:rPr lang="es-E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b="1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change</a:t>
                      </a:r>
                      <a:r>
                        <a:rPr lang="es-E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b="1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physical</a:t>
                      </a:r>
                      <a:r>
                        <a:rPr lang="es-E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b="1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risk</a:t>
                      </a:r>
                      <a:endParaRPr lang="es-E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Bonds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(e.g. green, sustainable, sustainability-linked under standards other than the EU standards)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18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Financial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Corporation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18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84352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Non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Financial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Corporation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18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226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Policy and legal risk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Non mitigated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/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Households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18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4449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/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counterparties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18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Loans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(e.g. green, sustainable, sustainability-linked under standards other than the EU standards)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18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Financial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Corporation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18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1632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/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Non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Financial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Corporation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18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Policy and legal risk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Non mitigated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05173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/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Households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18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48259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/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Other</a:t>
                      </a:r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s-E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counterparties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18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737555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 TOTAL</a:t>
                      </a: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 TOTAL</a:t>
                      </a:r>
                    </a:p>
                  </a:txBody>
                  <a:tcPr marL="8156" marR="8156" marT="815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261 </a:t>
                      </a: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18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9" name="Rectángulo redondeado 28"/>
          <p:cNvSpPr/>
          <p:nvPr/>
        </p:nvSpPr>
        <p:spPr>
          <a:xfrm rot="16200000">
            <a:off x="-331077" y="2283598"/>
            <a:ext cx="2448000" cy="288000"/>
          </a:xfrm>
          <a:prstGeom prst="roundRect">
            <a:avLst/>
          </a:prstGeom>
          <a:solidFill>
            <a:srgbClr val="3A798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antander Text" panose="020B0504020201020104" pitchFamily="34" charset="0"/>
              </a:rPr>
              <a:t>  Mitigation actions</a:t>
            </a:r>
            <a:endParaRPr lang="es-ES" sz="1100" b="1" dirty="0">
              <a:latin typeface="Santander Text" panose="020B0504020201020104" pitchFamily="34" charset="0"/>
            </a:endParaRP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6. Mitigation actions (Local Template 10)</a:t>
            </a: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sp>
        <p:nvSpPr>
          <p:cNvPr id="7" name="CuadroTexto 38"/>
          <p:cNvSpPr txBox="1"/>
          <p:nvPr/>
        </p:nvSpPr>
        <p:spPr>
          <a:xfrm>
            <a:off x="6588224" y="4659982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512" y="51470"/>
            <a:ext cx="3312368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Ajustar pra esquerda 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56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Mitigation actions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(Local Template 10)</a:t>
            </a:r>
            <a:endParaRPr lang="en-US" sz="1600" i="1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610557" y="4011910"/>
            <a:ext cx="2137909" cy="2724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000" b="1" i="1" dirty="0">
                <a:solidFill>
                  <a:schemeClr val="accent1"/>
                </a:solidFill>
                <a:latin typeface="Santander Text" panose="020B0504020201020104" pitchFamily="34" charset="0"/>
              </a:rPr>
              <a:t>*Figures in millions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178295"/>
              </p:ext>
            </p:extLst>
          </p:nvPr>
        </p:nvGraphicFramePr>
        <p:xfrm>
          <a:off x="628650" y="1261350"/>
          <a:ext cx="7886701" cy="2245665"/>
        </p:xfrm>
        <a:graphic>
          <a:graphicData uri="http://schemas.openxmlformats.org/drawingml/2006/table">
            <a:tbl>
              <a:tblPr/>
              <a:tblGrid>
                <a:gridCol w="4402897">
                  <a:extLst>
                    <a:ext uri="{9D8B030D-6E8A-4147-A177-3AD203B41FA5}">
                      <a16:colId xmlns:a16="http://schemas.microsoft.com/office/drawing/2014/main" val="4127697487"/>
                    </a:ext>
                  </a:extLst>
                </a:gridCol>
                <a:gridCol w="1715642">
                  <a:extLst>
                    <a:ext uri="{9D8B030D-6E8A-4147-A177-3AD203B41FA5}">
                      <a16:colId xmlns:a16="http://schemas.microsoft.com/office/drawing/2014/main" val="1373849125"/>
                    </a:ext>
                  </a:extLst>
                </a:gridCol>
                <a:gridCol w="656496">
                  <a:extLst>
                    <a:ext uri="{9D8B030D-6E8A-4147-A177-3AD203B41FA5}">
                      <a16:colId xmlns:a16="http://schemas.microsoft.com/office/drawing/2014/main" val="1721250874"/>
                    </a:ext>
                  </a:extLst>
                </a:gridCol>
                <a:gridCol w="656496">
                  <a:extLst>
                    <a:ext uri="{9D8B030D-6E8A-4147-A177-3AD203B41FA5}">
                      <a16:colId xmlns:a16="http://schemas.microsoft.com/office/drawing/2014/main" val="61596687"/>
                    </a:ext>
                  </a:extLst>
                </a:gridCol>
                <a:gridCol w="455170">
                  <a:extLst>
                    <a:ext uri="{9D8B030D-6E8A-4147-A177-3AD203B41FA5}">
                      <a16:colId xmlns:a16="http://schemas.microsoft.com/office/drawing/2014/main" val="3196807650"/>
                    </a:ext>
                  </a:extLst>
                </a:gridCol>
              </a:tblGrid>
              <a:tr h="3265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8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Type of financial instrument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8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Type of counterparty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PT" sz="8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Gross carrying amount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307171"/>
                  </a:ext>
                </a:extLst>
              </a:tr>
              <a:tr h="184023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8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236480"/>
                  </a:ext>
                </a:extLst>
              </a:tr>
              <a:tr h="192786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Bonds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(e.g. green, sustainable, sustainability-linked under standards other than the EU standards)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Financial Corporation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614898"/>
                  </a:ext>
                </a:extLst>
              </a:tr>
              <a:tr h="19278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Non Financial Corporation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134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226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92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26234"/>
                  </a:ext>
                </a:extLst>
              </a:tr>
              <a:tr h="19278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Households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159197"/>
                  </a:ext>
                </a:extLst>
              </a:tr>
              <a:tr h="19278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Other counterparties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193708"/>
                  </a:ext>
                </a:extLst>
              </a:tr>
              <a:tr h="192786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Loans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(e.g. green, sustainable, sustainability-linked under standards other than the EU standards)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Financial Corporation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504026"/>
                  </a:ext>
                </a:extLst>
              </a:tr>
              <a:tr h="19278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Non Financial Corporation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64410"/>
                  </a:ext>
                </a:extLst>
              </a:tr>
              <a:tr h="19278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Households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169073"/>
                  </a:ext>
                </a:extLst>
              </a:tr>
              <a:tr h="19278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Other counterparties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701527"/>
                  </a:ext>
                </a:extLst>
              </a:tr>
              <a:tr h="192786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 TOTAL</a:t>
                      </a:r>
                    </a:p>
                  </a:txBody>
                  <a:tcPr marL="8763" marR="8763" marT="8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134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261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127</a:t>
                      </a:r>
                    </a:p>
                  </a:txBody>
                  <a:tcPr marL="8763" marR="8763" marT="876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1205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9512" y="51470"/>
            <a:ext cx="3312368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Ajustar pra esquerda 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72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AFE90D6-B405-49DC-BBAE-E7A6A53A2B0F}"/>
              </a:ext>
            </a:extLst>
          </p:cNvPr>
          <p:cNvSpPr/>
          <p:nvPr/>
        </p:nvSpPr>
        <p:spPr>
          <a:xfrm>
            <a:off x="467544" y="1053807"/>
            <a:ext cx="8208912" cy="3606175"/>
          </a:xfrm>
          <a:prstGeom prst="roundRect">
            <a:avLst>
              <a:gd name="adj" fmla="val 6705"/>
            </a:avLst>
          </a:prstGeom>
          <a:solidFill>
            <a:srgbClr val="EEF6F8">
              <a:alpha val="56000"/>
            </a:srgbClr>
          </a:solidFill>
          <a:ln>
            <a:solidFill>
              <a:schemeClr val="accent2">
                <a:lumMod val="9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6" name="Picture 2" descr="calendario">
            <a:extLst>
              <a:ext uri="{FF2B5EF4-FFF2-40B4-BE49-F238E27FC236}">
                <a16:creationId xmlns:a16="http://schemas.microsoft.com/office/drawing/2014/main" id="{5BEC8B87-6219-4113-930B-749D0A703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507" y="1170164"/>
            <a:ext cx="522924" cy="52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57B435-E943-4B1F-8BFC-B153F1315E43}"/>
              </a:ext>
            </a:extLst>
          </p:cNvPr>
          <p:cNvCxnSpPr>
            <a:cxnSpLocks/>
          </p:cNvCxnSpPr>
          <p:nvPr/>
        </p:nvCxnSpPr>
        <p:spPr>
          <a:xfrm>
            <a:off x="1678969" y="1693088"/>
            <a:ext cx="4731" cy="2822878"/>
          </a:xfrm>
          <a:prstGeom prst="line">
            <a:avLst/>
          </a:prstGeom>
          <a:ln w="28575">
            <a:solidFill>
              <a:schemeClr val="accent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7. Next steps</a:t>
            </a:r>
            <a:endParaRPr lang="en-US" sz="1600" i="1" kern="0" dirty="0">
              <a:latin typeface="Santander Headline" panose="020B0504020201020104" pitchFamily="34" charset="0"/>
            </a:endParaRPr>
          </a:p>
        </p:txBody>
      </p:sp>
      <p:sp>
        <p:nvSpPr>
          <p:cNvPr id="22" name="CuadroTexto 72">
            <a:extLst>
              <a:ext uri="{FF2B5EF4-FFF2-40B4-BE49-F238E27FC236}">
                <a16:creationId xmlns:a16="http://schemas.microsoft.com/office/drawing/2014/main" id="{AF7A5A7A-0406-4B1E-AE50-220A75FAC759}"/>
              </a:ext>
            </a:extLst>
          </p:cNvPr>
          <p:cNvSpPr txBox="1"/>
          <p:nvPr/>
        </p:nvSpPr>
        <p:spPr>
          <a:xfrm>
            <a:off x="1223628" y="670484"/>
            <a:ext cx="6696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Santander Text" panose="020B0504020201020104" pitchFamily="34" charset="0"/>
              </a:rPr>
              <a:t>The following are the major milestones to be achieved in the coming months:</a:t>
            </a:r>
            <a:endParaRPr lang="es-ES" sz="1400" b="1" dirty="0">
              <a:latin typeface="Santander Text" panose="020B05040202010201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FBB1BC-E1B3-482E-B3B6-B63CDBB127A7}"/>
              </a:ext>
            </a:extLst>
          </p:cNvPr>
          <p:cNvCxnSpPr>
            <a:cxnSpLocks/>
          </p:cNvCxnSpPr>
          <p:nvPr/>
        </p:nvCxnSpPr>
        <p:spPr bwMode="auto">
          <a:xfrm flipV="1">
            <a:off x="1683700" y="2237404"/>
            <a:ext cx="252794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diamon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EA9FA37-61ED-48E6-B149-003062CF6649}"/>
              </a:ext>
            </a:extLst>
          </p:cNvPr>
          <p:cNvSpPr txBox="1"/>
          <p:nvPr/>
        </p:nvSpPr>
        <p:spPr>
          <a:xfrm>
            <a:off x="2152426" y="1973005"/>
            <a:ext cx="1699494" cy="528797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C000"/>
            </a:solidFill>
          </a:ln>
          <a:effectLst/>
        </p:spPr>
        <p:txBody>
          <a:bodyPr wrap="square" rtlCol="0" anchor="ctr">
            <a:spAutoFit/>
          </a:bodyPr>
          <a:lstStyle>
            <a:defPPr>
              <a:defRPr lang="es-ES"/>
            </a:defPPr>
            <a:lvl1pPr algn="ctr">
              <a:lnSpc>
                <a:spcPts val="1000"/>
              </a:lnSpc>
              <a:defRPr sz="1050" b="0" i="1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 b="1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Local Committee </a:t>
            </a: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Presentation of Pillar 3 data (pilot results)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5EA9FA37-61ED-48E6-B149-003062CF6649}"/>
              </a:ext>
            </a:extLst>
          </p:cNvPr>
          <p:cNvSpPr txBox="1"/>
          <p:nvPr/>
        </p:nvSpPr>
        <p:spPr>
          <a:xfrm>
            <a:off x="4277512" y="2115385"/>
            <a:ext cx="1086576" cy="24403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 anchor="ctr">
            <a:spAutoFit/>
          </a:bodyPr>
          <a:lstStyle>
            <a:defPPr>
              <a:defRPr lang="es-ES"/>
            </a:defPPr>
            <a:lvl1pPr algn="ctr">
              <a:lnSpc>
                <a:spcPts val="1000"/>
              </a:lnSpc>
              <a:defRPr sz="1050" b="0" i="1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900" b="1" i="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en-US" sz="900" b="1" i="0" u="sn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dd</a:t>
            </a:r>
            <a:r>
              <a:rPr lang="en-US" sz="900" b="1" i="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/mm/</a:t>
            </a:r>
            <a:r>
              <a:rPr lang="en-US" sz="900" b="1" i="0" u="sn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yyyy</a:t>
            </a:r>
            <a:r>
              <a:rPr lang="en-US" sz="900" b="1" i="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sz="900" b="1" i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2" name="Straight Arrow Connector 11">
            <a:extLst>
              <a:ext uri="{FF2B5EF4-FFF2-40B4-BE49-F238E27FC236}">
                <a16:creationId xmlns:a16="http://schemas.microsoft.com/office/drawing/2014/main" id="{35FBB1BC-E1B3-482E-B3B6-B63CDBB127A7}"/>
              </a:ext>
            </a:extLst>
          </p:cNvPr>
          <p:cNvCxnSpPr>
            <a:cxnSpLocks/>
          </p:cNvCxnSpPr>
          <p:nvPr/>
        </p:nvCxnSpPr>
        <p:spPr bwMode="auto">
          <a:xfrm flipV="1">
            <a:off x="1683700" y="3194625"/>
            <a:ext cx="252794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diamond"/>
          </a:ln>
          <a:effectLst/>
        </p:spPr>
      </p:cxnSp>
      <p:sp>
        <p:nvSpPr>
          <p:cNvPr id="33" name="TextBox 17">
            <a:extLst>
              <a:ext uri="{FF2B5EF4-FFF2-40B4-BE49-F238E27FC236}">
                <a16:creationId xmlns:a16="http://schemas.microsoft.com/office/drawing/2014/main" id="{5EA9FA37-61ED-48E6-B149-003062CF6649}"/>
              </a:ext>
            </a:extLst>
          </p:cNvPr>
          <p:cNvSpPr txBox="1"/>
          <p:nvPr/>
        </p:nvSpPr>
        <p:spPr>
          <a:xfrm>
            <a:off x="2152426" y="2930227"/>
            <a:ext cx="1699494" cy="528797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C000"/>
            </a:solidFill>
          </a:ln>
          <a:effectLst/>
        </p:spPr>
        <p:txBody>
          <a:bodyPr wrap="square" rtlCol="0" anchor="ctr">
            <a:spAutoFit/>
          </a:bodyPr>
          <a:lstStyle>
            <a:defPPr>
              <a:defRPr lang="es-ES"/>
            </a:defPPr>
            <a:lvl1pPr algn="ctr">
              <a:lnSpc>
                <a:spcPts val="1000"/>
              </a:lnSpc>
              <a:defRPr sz="1050" b="0" i="1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 b="1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Official reporting </a:t>
            </a: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submission to HQ</a:t>
            </a:r>
          </a:p>
          <a:p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(data as of Dec.)</a:t>
            </a: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5EA9FA37-61ED-48E6-B149-003062CF6649}"/>
              </a:ext>
            </a:extLst>
          </p:cNvPr>
          <p:cNvSpPr txBox="1"/>
          <p:nvPr/>
        </p:nvSpPr>
        <p:spPr>
          <a:xfrm>
            <a:off x="4277512" y="3072606"/>
            <a:ext cx="1086576" cy="24403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C000"/>
            </a:solidFill>
          </a:ln>
          <a:effectLst/>
        </p:spPr>
        <p:txBody>
          <a:bodyPr wrap="square" rtlCol="0" anchor="ctr">
            <a:spAutoFit/>
          </a:bodyPr>
          <a:lstStyle>
            <a:defPPr>
              <a:defRPr lang="es-ES"/>
            </a:defPPr>
            <a:lvl1pPr algn="ctr">
              <a:lnSpc>
                <a:spcPts val="1000"/>
              </a:lnSpc>
              <a:defRPr sz="1050" b="0" i="1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900" b="1" i="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(01/08/2023)</a:t>
            </a:r>
            <a:endParaRPr lang="en-US" sz="900" b="1" i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" name="Straight Arrow Connector 11">
            <a:extLst>
              <a:ext uri="{FF2B5EF4-FFF2-40B4-BE49-F238E27FC236}">
                <a16:creationId xmlns:a16="http://schemas.microsoft.com/office/drawing/2014/main" id="{7A051BBA-FEC7-428B-816F-BF664C6C2B98}"/>
              </a:ext>
            </a:extLst>
          </p:cNvPr>
          <p:cNvCxnSpPr>
            <a:cxnSpLocks/>
          </p:cNvCxnSpPr>
          <p:nvPr/>
        </p:nvCxnSpPr>
        <p:spPr bwMode="auto">
          <a:xfrm flipV="1">
            <a:off x="1699070" y="4130686"/>
            <a:ext cx="252794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diamond"/>
          </a:ln>
          <a:effectLst/>
        </p:spPr>
      </p:cxnSp>
      <p:sp>
        <p:nvSpPr>
          <p:cNvPr id="27" name="TextBox 17">
            <a:extLst>
              <a:ext uri="{FF2B5EF4-FFF2-40B4-BE49-F238E27FC236}">
                <a16:creationId xmlns:a16="http://schemas.microsoft.com/office/drawing/2014/main" id="{7BF8F085-0C5D-4391-9159-7E995FCB3E3C}"/>
              </a:ext>
            </a:extLst>
          </p:cNvPr>
          <p:cNvSpPr txBox="1"/>
          <p:nvPr/>
        </p:nvSpPr>
        <p:spPr>
          <a:xfrm>
            <a:off x="2167796" y="3866287"/>
            <a:ext cx="1699494" cy="528797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C000"/>
            </a:solidFill>
          </a:ln>
          <a:effectLst/>
        </p:spPr>
        <p:txBody>
          <a:bodyPr wrap="square" rtlCol="0" anchor="ctr">
            <a:spAutoFit/>
          </a:bodyPr>
          <a:lstStyle>
            <a:defPPr>
              <a:defRPr lang="es-ES"/>
            </a:defPPr>
            <a:lvl1pPr algn="ctr">
              <a:lnSpc>
                <a:spcPts val="1000"/>
              </a:lnSpc>
              <a:defRPr sz="1050" b="0" i="1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 b="1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Local Committee </a:t>
            </a: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Presentation for noting of Pillar 3 data (final results)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DCFD8022-01C1-4D5A-9FA3-2335FE9305BE}"/>
              </a:ext>
            </a:extLst>
          </p:cNvPr>
          <p:cNvSpPr txBox="1"/>
          <p:nvPr/>
        </p:nvSpPr>
        <p:spPr>
          <a:xfrm>
            <a:off x="4292882" y="4008667"/>
            <a:ext cx="1086576" cy="24403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 anchor="ctr">
            <a:spAutoFit/>
          </a:bodyPr>
          <a:lstStyle>
            <a:defPPr>
              <a:defRPr lang="es-ES"/>
            </a:defPPr>
            <a:lvl1pPr algn="ctr">
              <a:lnSpc>
                <a:spcPts val="1000"/>
              </a:lnSpc>
              <a:defRPr sz="1050" b="0" i="1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900" b="1" i="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(29/09/2023)</a:t>
            </a:r>
            <a:endParaRPr lang="en-US" sz="900" b="1" i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Rectangle 51">
            <a:extLst>
              <a:ext uri="{FF2B5EF4-FFF2-40B4-BE49-F238E27FC236}">
                <a16:creationId xmlns:a16="http://schemas.microsoft.com/office/drawing/2014/main" id="{C9A1C488-4307-6009-BBC5-22C0CDC57B61}"/>
              </a:ext>
            </a:extLst>
          </p:cNvPr>
          <p:cNvSpPr/>
          <p:nvPr/>
        </p:nvSpPr>
        <p:spPr>
          <a:xfrm>
            <a:off x="4572001" y="56844"/>
            <a:ext cx="4320480" cy="6394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600"/>
              </a:spcBef>
            </a:pPr>
            <a:r>
              <a:rPr lang="en-US" sz="1000" b="1" u="sng" dirty="0">
                <a:solidFill>
                  <a:schemeClr val="tx1"/>
                </a:solidFill>
                <a:latin typeface="Santander Headline" panose="020B0504020201020104"/>
              </a:rPr>
              <a:t>Instructions</a:t>
            </a:r>
            <a:r>
              <a:rPr lang="en-US" sz="1000" dirty="0">
                <a:solidFill>
                  <a:schemeClr val="tx1"/>
                </a:solidFill>
                <a:latin typeface="Santander Headline" panose="020B0504020201020104"/>
              </a:rPr>
              <a:t>:</a:t>
            </a:r>
          </a:p>
          <a:p>
            <a:pPr algn="just">
              <a:spcBef>
                <a:spcPts val="300"/>
              </a:spcBef>
            </a:pPr>
            <a:r>
              <a:rPr lang="en-US" sz="1000" dirty="0">
                <a:solidFill>
                  <a:schemeClr val="tx1"/>
                </a:solidFill>
                <a:latin typeface="Santander Headline" panose="020B0504020201020104"/>
              </a:rPr>
              <a:t>Please, insert the dates of the presentation of the ESG results in local committees and the date of the official submission of templates as of June 2023</a:t>
            </a:r>
            <a:endParaRPr lang="en-TT" sz="1000" dirty="0">
              <a:solidFill>
                <a:schemeClr val="tx1"/>
              </a:solidFill>
              <a:latin typeface="Santander Headline" panose="020B0504020201020104"/>
            </a:endParaRPr>
          </a:p>
        </p:txBody>
      </p:sp>
    </p:spTree>
    <p:extLst>
      <p:ext uri="{BB962C8B-B14F-4D97-AF65-F5344CB8AC3E}">
        <p14:creationId xmlns:p14="http://schemas.microsoft.com/office/powerpoint/2010/main" val="3320263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700">
              <a:solidFill>
                <a:prstClr val="white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308" y="960283"/>
            <a:ext cx="8374092" cy="443198"/>
          </a:xfrm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  <a:t>Pillar 3 ESG</a:t>
            </a:r>
            <a:b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</a:br>
            <a: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  <a:t/>
            </a:r>
            <a:b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</a:br>
            <a:r>
              <a:rPr lang="en-ID" sz="3600" dirty="0">
                <a:solidFill>
                  <a:srgbClr val="6E7678"/>
                </a:solidFill>
                <a:latin typeface="Santander Text" panose="020B0504020201020104"/>
              </a:rPr>
              <a:t>Annexes</a:t>
            </a:r>
            <a:br>
              <a:rPr lang="en-ID" sz="3600" dirty="0">
                <a:solidFill>
                  <a:srgbClr val="6E7678"/>
                </a:solidFill>
                <a:latin typeface="Santander Text" panose="020B0504020201020104"/>
              </a:rPr>
            </a:br>
            <a: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  <a:t/>
            </a:r>
            <a:br>
              <a:rPr lang="en-US" altLang="ko-KR" sz="3300" kern="0" dirty="0">
                <a:solidFill>
                  <a:srgbClr val="EB0000"/>
                </a:solidFill>
                <a:latin typeface="Santander Headline" panose="020B0504020201020104" pitchFamily="34" charset="0"/>
                <a:cs typeface="Arial" panose="020B0604020202020204" pitchFamily="34" charset="0"/>
              </a:rPr>
            </a:br>
            <a:endParaRPr lang="en-US" sz="2700" i="1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2237" y="281499"/>
            <a:ext cx="8383163" cy="204287"/>
          </a:xfrm>
          <a:noFill/>
        </p:spPr>
        <p:txBody>
          <a:bodyPr>
            <a:spAutoFit/>
          </a:bodyPr>
          <a:lstStyle/>
          <a:p>
            <a:r>
              <a:rPr lang="en-GB" dirty="0">
                <a:latin typeface="Santander Text" panose="020B0504020201020104" pitchFamily="34" charset="0"/>
              </a:rPr>
              <a:t>June 2023</a:t>
            </a:r>
          </a:p>
        </p:txBody>
      </p:sp>
    </p:spTree>
    <p:extLst>
      <p:ext uri="{BB962C8B-B14F-4D97-AF65-F5344CB8AC3E}">
        <p14:creationId xmlns:p14="http://schemas.microsoft.com/office/powerpoint/2010/main" val="132790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Loans </a:t>
            </a:r>
            <a:r>
              <a:rPr lang="en-US" sz="1600" kern="0" dirty="0" err="1">
                <a:latin typeface="Santander Headline" panose="020B0504020201020104" pitchFamily="34" charset="0"/>
              </a:rPr>
              <a:t>collateralised</a:t>
            </a:r>
            <a:r>
              <a:rPr lang="en-US" sz="1600" kern="0" dirty="0">
                <a:latin typeface="Santander Headline" panose="020B0504020201020104" pitchFamily="34" charset="0"/>
              </a:rPr>
              <a:t> by immovable property – EPC (Satellite 80</a:t>
            </a:r>
            <a:r>
              <a:rPr lang="en-US" sz="1600" kern="0" dirty="0" smtClean="0">
                <a:latin typeface="Santander Headline" panose="020B0504020201020104" pitchFamily="34" charset="0"/>
              </a:rPr>
              <a:t>)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1|2</a:t>
            </a:r>
            <a:endParaRPr lang="en-US" sz="1600" i="1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716275"/>
              </p:ext>
            </p:extLst>
          </p:nvPr>
        </p:nvGraphicFramePr>
        <p:xfrm>
          <a:off x="1816100" y="1262063"/>
          <a:ext cx="5511800" cy="2619375"/>
        </p:xfrm>
        <a:graphic>
          <a:graphicData uri="http://schemas.openxmlformats.org/drawingml/2006/table">
            <a:tbl>
              <a:tblPr/>
              <a:tblGrid>
                <a:gridCol w="1242764">
                  <a:extLst>
                    <a:ext uri="{9D8B030D-6E8A-4147-A177-3AD203B41FA5}">
                      <a16:colId xmlns:a16="http://schemas.microsoft.com/office/drawing/2014/main" val="377797056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163347541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235453144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575105210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438307604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859689696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562441293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EPC Label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34471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Residential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Commercial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03715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8292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32382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14,1%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14,5%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11634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31,9%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30,8%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43,0%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43,1%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89365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27,7%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28,1%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19,1%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20,4%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2700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7439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08991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31314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Without EPC Label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17512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Fechado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176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Loans </a:t>
            </a:r>
            <a:r>
              <a:rPr lang="en-US" sz="1600" kern="0" dirty="0" err="1">
                <a:latin typeface="Santander Headline" panose="020B0504020201020104" pitchFamily="34" charset="0"/>
              </a:rPr>
              <a:t>collateralised</a:t>
            </a:r>
            <a:r>
              <a:rPr lang="en-US" sz="1600" kern="0" dirty="0">
                <a:latin typeface="Santander Headline" panose="020B0504020201020104" pitchFamily="34" charset="0"/>
              </a:rPr>
              <a:t> by immovable property – EPC (Satellite 80</a:t>
            </a:r>
            <a:r>
              <a:rPr lang="en-US" sz="1600" kern="0" dirty="0" smtClean="0">
                <a:latin typeface="Santander Headline" panose="020B0504020201020104" pitchFamily="34" charset="0"/>
              </a:rPr>
              <a:t>)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2|2</a:t>
            </a:r>
            <a:endParaRPr lang="en-US" sz="1600" i="1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489832"/>
              </p:ext>
            </p:extLst>
          </p:nvPr>
        </p:nvGraphicFramePr>
        <p:xfrm>
          <a:off x="1816100" y="1381125"/>
          <a:ext cx="5511800" cy="2381250"/>
        </p:xfrm>
        <a:graphic>
          <a:graphicData uri="http://schemas.openxmlformats.org/drawingml/2006/table">
            <a:tbl>
              <a:tblPr/>
              <a:tblGrid>
                <a:gridCol w="1242764">
                  <a:extLst>
                    <a:ext uri="{9D8B030D-6E8A-4147-A177-3AD203B41FA5}">
                      <a16:colId xmlns:a16="http://schemas.microsoft.com/office/drawing/2014/main" val="923151042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625207197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1406020064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4038584295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578966292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420331809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827170799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EP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33951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Residential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Commercial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24422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53629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0; &lt;= 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55,8%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55,7%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38,2%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63676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&gt; 100; &lt;= 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52,2%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52,6%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62875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&gt; 200; &lt;= 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7322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&gt; 300; &lt;= 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27596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&gt; 400; &lt;= 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58437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&gt; 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15928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Without EP Score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-2,4%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0489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Fechado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137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Loans </a:t>
            </a:r>
            <a:r>
              <a:rPr lang="en-US" sz="1600" kern="0" dirty="0" err="1">
                <a:latin typeface="Santander Headline" panose="020B0504020201020104" pitchFamily="34" charset="0"/>
              </a:rPr>
              <a:t>collateralised</a:t>
            </a:r>
            <a:r>
              <a:rPr lang="en-US" sz="1600" kern="0" dirty="0">
                <a:latin typeface="Santander Headline" panose="020B0504020201020104" pitchFamily="34" charset="0"/>
              </a:rPr>
              <a:t> by immovable property (</a:t>
            </a:r>
            <a:r>
              <a:rPr lang="en-US" sz="1600" kern="0" dirty="0" smtClean="0">
                <a:latin typeface="Santander Headline" panose="020B0504020201020104" pitchFamily="34" charset="0"/>
              </a:rPr>
              <a:t>Local </a:t>
            </a:r>
            <a:r>
              <a:rPr lang="en-US" sz="1600" kern="0" dirty="0">
                <a:latin typeface="Santander Headline" panose="020B0504020201020104" pitchFamily="34" charset="0"/>
              </a:rPr>
              <a:t>Template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2)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1|2</a:t>
            </a:r>
            <a:endParaRPr lang="en-US" sz="1600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713999"/>
              </p:ext>
            </p:extLst>
          </p:nvPr>
        </p:nvGraphicFramePr>
        <p:xfrm>
          <a:off x="1816100" y="1262063"/>
          <a:ext cx="5511800" cy="2619375"/>
        </p:xfrm>
        <a:graphic>
          <a:graphicData uri="http://schemas.openxmlformats.org/drawingml/2006/table">
            <a:tbl>
              <a:tblPr/>
              <a:tblGrid>
                <a:gridCol w="1242764">
                  <a:extLst>
                    <a:ext uri="{9D8B030D-6E8A-4147-A177-3AD203B41FA5}">
                      <a16:colId xmlns:a16="http://schemas.microsoft.com/office/drawing/2014/main" val="2303603645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934998688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156038230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422707407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4057210834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1813447879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956622344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EPC Label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4279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Residential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Commercial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23381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89075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02792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12,4%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14,1%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78737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31,9%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30,8%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43,0%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41,7%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54672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27,6%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28,1%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19,1%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19,2%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71007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13,4%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10,6%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9,0%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237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4,0%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2405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1,0%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9983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Without EPC Label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03918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Fechado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25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80844B46-903D-4311-DAAD-DDA0B4A3FA1E}"/>
              </a:ext>
            </a:extLst>
          </p:cNvPr>
          <p:cNvSpPr txBox="1">
            <a:spLocks/>
          </p:cNvSpPr>
          <p:nvPr/>
        </p:nvSpPr>
        <p:spPr bwMode="auto">
          <a:xfrm>
            <a:off x="323528" y="348717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2400" b="0" baseline="0">
                <a:solidFill>
                  <a:srgbClr val="EB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kern="0" dirty="0">
                <a:latin typeface="Santander Headline" panose="020B0504020201020104" pitchFamily="34" charset="0"/>
              </a:rPr>
              <a:t>Loans </a:t>
            </a:r>
            <a:r>
              <a:rPr lang="en-US" sz="1600" kern="0" dirty="0" err="1">
                <a:latin typeface="Santander Headline" panose="020B0504020201020104" pitchFamily="34" charset="0"/>
              </a:rPr>
              <a:t>collateralised</a:t>
            </a:r>
            <a:r>
              <a:rPr lang="en-US" sz="1600" kern="0" dirty="0">
                <a:latin typeface="Santander Headline" panose="020B0504020201020104" pitchFamily="34" charset="0"/>
              </a:rPr>
              <a:t> by immovable property (</a:t>
            </a:r>
            <a:r>
              <a:rPr lang="en-US" sz="1600" kern="0" dirty="0" smtClean="0">
                <a:latin typeface="Santander Headline" panose="020B0504020201020104" pitchFamily="34" charset="0"/>
              </a:rPr>
              <a:t>Local </a:t>
            </a:r>
            <a:r>
              <a:rPr lang="en-US" sz="1600" kern="0" dirty="0">
                <a:latin typeface="Santander Headline" panose="020B0504020201020104" pitchFamily="34" charset="0"/>
              </a:rPr>
              <a:t>Template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2) </a:t>
            </a:r>
            <a:r>
              <a:rPr lang="en-US" sz="1600" kern="0" dirty="0" smtClean="0">
                <a:latin typeface="Santander Headline" panose="020B0504020201020104" pitchFamily="34" charset="0"/>
              </a:rPr>
              <a:t>2|2</a:t>
            </a:r>
            <a:endParaRPr lang="en-US" sz="1600" kern="0" dirty="0">
              <a:latin typeface="Santander Headline" panose="020B0504020201020104" pitchFamily="34" charset="0"/>
            </a:endParaRPr>
          </a:p>
          <a:p>
            <a:pPr>
              <a:defRPr/>
            </a:pPr>
            <a:endParaRPr lang="en-US" sz="1400" i="1" kern="0" dirty="0">
              <a:solidFill>
                <a:schemeClr val="bg1">
                  <a:lumMod val="50000"/>
                </a:schemeClr>
              </a:solidFill>
              <a:latin typeface="Santander Headline" panose="020B05040202010201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  <a:latin typeface="Santander Headline" panose="020B0504020201020104" pitchFamily="34" charset="0"/>
              </a:rPr>
              <a:t>Comparative analysis between December 2022 and June 2023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734261"/>
              </p:ext>
            </p:extLst>
          </p:nvPr>
        </p:nvGraphicFramePr>
        <p:xfrm>
          <a:off x="1816100" y="1381125"/>
          <a:ext cx="5511800" cy="2381250"/>
        </p:xfrm>
        <a:graphic>
          <a:graphicData uri="http://schemas.openxmlformats.org/drawingml/2006/table">
            <a:tbl>
              <a:tblPr/>
              <a:tblGrid>
                <a:gridCol w="1242764">
                  <a:extLst>
                    <a:ext uri="{9D8B030D-6E8A-4147-A177-3AD203B41FA5}">
                      <a16:colId xmlns:a16="http://schemas.microsoft.com/office/drawing/2014/main" val="2874531208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3091792072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109048959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1522886191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1057081303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974295598"/>
                    </a:ext>
                  </a:extLst>
                </a:gridCol>
                <a:gridCol w="711506">
                  <a:extLst>
                    <a:ext uri="{9D8B030D-6E8A-4147-A177-3AD203B41FA5}">
                      <a16:colId xmlns:a16="http://schemas.microsoft.com/office/drawing/2014/main" val="2188073670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EP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28173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Residential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Headline" panose="020B0504020201020104" pitchFamily="34" charset="0"/>
                        </a:rPr>
                        <a:t>Commercial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2201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Headline" panose="020B05040202010201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Dec 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Jun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14716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0; &lt;= 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55,8%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55,7%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21529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&gt; 100; &lt;= 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35,8%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52,2%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50,5%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83596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&gt; 200; &lt;= 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6,8%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-1,0%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70568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&gt; 300; &lt;= 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24408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&gt; 400; &lt;= 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16419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&gt; 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4421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Without EP Score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0,2%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-0,1%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5,2%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7,5%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Headline" panose="020B0504020201020104" pitchFamily="34" charset="0"/>
                        </a:rPr>
                        <a:t>2,4%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27758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79512" y="51470"/>
            <a:ext cx="1656184" cy="27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>
                <a:solidFill>
                  <a:sysClr val="windowText" lastClr="000000"/>
                </a:solidFill>
              </a:rPr>
              <a:t>Fechado [DE]</a:t>
            </a:r>
            <a:endParaRPr lang="pt-P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13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28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_t5om6uTqyTpod3rjbBQ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_t5om6uTqyTpod3rjbBQQ"/>
</p:tagLst>
</file>

<file path=ppt/theme/theme1.xml><?xml version="1.0" encoding="utf-8"?>
<a:theme xmlns:a="http://schemas.openxmlformats.org/drawingml/2006/main" name="2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7" ma:contentTypeDescription="Create a new document." ma:contentTypeScope="" ma:versionID="0065858c7ef2f59290ed6c5c00bb7f64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47b490aff02ed1cae656137d36dda800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A79FA67-A786-40D8-A074-5DD042693A99}"/>
</file>

<file path=customXml/itemProps2.xml><?xml version="1.0" encoding="utf-8"?>
<ds:datastoreItem xmlns:ds="http://schemas.openxmlformats.org/officeDocument/2006/customXml" ds:itemID="{246F90F0-13AF-4181-A743-F3FB3E2FCB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52AD22-794A-4BB4-B76D-9D9C7C8D98DA}">
  <ds:schemaRefs>
    <ds:schemaRef ds:uri="767d911d-09c2-43d9-a326-6ded42ddccd2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6122</TotalTime>
  <Words>4430</Words>
  <Application>Microsoft Office PowerPoint</Application>
  <PresentationFormat>On-screen Show (16:9)</PresentationFormat>
  <Paragraphs>1761</Paragraphs>
  <Slides>29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Arial</vt:lpstr>
      <vt:lpstr>Calibri</vt:lpstr>
      <vt:lpstr>Courier New</vt:lpstr>
      <vt:lpstr>Santander Headline</vt:lpstr>
      <vt:lpstr>Santander Text</vt:lpstr>
      <vt:lpstr>Segoe UI</vt:lpstr>
      <vt:lpstr>Wingdings</vt:lpstr>
      <vt:lpstr>2_Tema de Office</vt:lpstr>
      <vt:lpstr>3_Tema de Office</vt:lpstr>
      <vt:lpstr>Diapositiva de think-cell</vt:lpstr>
      <vt:lpstr>think-cell Slide</vt:lpstr>
      <vt:lpstr>Worksheet</vt:lpstr>
      <vt:lpstr>Pillar 3 ESG  Main results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Pillar 3 ESG  Annexes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Management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Formación Organización  Propuesta de colaboración</dc:title>
  <dc:creator>Cristina Modino Crespo</dc:creator>
  <cp:lastModifiedBy>Diogo Alexandre Escaleira</cp:lastModifiedBy>
  <cp:revision>4641</cp:revision>
  <dcterms:created xsi:type="dcterms:W3CDTF">2018-07-31T10:04:48Z</dcterms:created>
  <dcterms:modified xsi:type="dcterms:W3CDTF">2023-09-15T01:42:36Z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2022-04-19T11:44:10Z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fc8fca65-a2a8-4341-a528-61b40f652648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0x010100845A6BCA4ACA584C9A1C03FD3956D51C</vt:lpwstr>
  </property>
  <property fmtid="{D5CDD505-2E9C-101B-9397-08002B2CF9AE}" pid="10" name="MediaServiceImageTags">
    <vt:lpwstr/>
  </property>
</Properties>
</file>