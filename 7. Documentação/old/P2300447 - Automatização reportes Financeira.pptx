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handoutMasterIdLst>
    <p:handoutMasterId r:id="rId33"/>
  </p:handoutMasterIdLst>
  <p:sldIdLst>
    <p:sldId id="256" r:id="rId5"/>
    <p:sldId id="478" r:id="rId6"/>
    <p:sldId id="268" r:id="rId7"/>
    <p:sldId id="378" r:id="rId8"/>
    <p:sldId id="459" r:id="rId9"/>
    <p:sldId id="258" r:id="rId10"/>
    <p:sldId id="260" r:id="rId11"/>
    <p:sldId id="269" r:id="rId12"/>
    <p:sldId id="460" r:id="rId13"/>
    <p:sldId id="461" r:id="rId14"/>
    <p:sldId id="362" r:id="rId15"/>
    <p:sldId id="463" r:id="rId16"/>
    <p:sldId id="464" r:id="rId17"/>
    <p:sldId id="481" r:id="rId18"/>
    <p:sldId id="482" r:id="rId19"/>
    <p:sldId id="483" r:id="rId20"/>
    <p:sldId id="373" r:id="rId21"/>
    <p:sldId id="465" r:id="rId22"/>
    <p:sldId id="462" r:id="rId23"/>
    <p:sldId id="480" r:id="rId24"/>
    <p:sldId id="479" r:id="rId25"/>
    <p:sldId id="289" r:id="rId26"/>
    <p:sldId id="290" r:id="rId27"/>
    <p:sldId id="271" r:id="rId28"/>
    <p:sldId id="265" r:id="rId29"/>
    <p:sldId id="467" r:id="rId30"/>
    <p:sldId id="466" r:id="rId31"/>
  </p:sldIdLst>
  <p:sldSz cx="12192000" cy="6858000"/>
  <p:notesSz cx="6858000" cy="9926638"/>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0123A5F3-30F1-44A7-91C0-EAA170D53334}">
          <p14:sldIdLst>
            <p14:sldId id="256"/>
            <p14:sldId id="478"/>
            <p14:sldId id="268"/>
            <p14:sldId id="378"/>
            <p14:sldId id="459"/>
            <p14:sldId id="258"/>
            <p14:sldId id="260"/>
            <p14:sldId id="269"/>
            <p14:sldId id="460"/>
            <p14:sldId id="461"/>
            <p14:sldId id="362"/>
            <p14:sldId id="463"/>
            <p14:sldId id="464"/>
            <p14:sldId id="481"/>
            <p14:sldId id="482"/>
            <p14:sldId id="483"/>
            <p14:sldId id="373"/>
            <p14:sldId id="465"/>
            <p14:sldId id="462"/>
            <p14:sldId id="480"/>
            <p14:sldId id="479"/>
            <p14:sldId id="289"/>
            <p14:sldId id="290"/>
            <p14:sldId id="271"/>
            <p14:sldId id="265"/>
            <p14:sldId id="467"/>
            <p14:sldId id="46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3636"/>
    <a:srgbClr val="6BE5EB"/>
    <a:srgbClr val="0066FF"/>
    <a:srgbClr val="FAFAFA"/>
    <a:srgbClr val="FCFCFC"/>
    <a:srgbClr val="FDFDFD"/>
    <a:srgbClr val="FFFFCC"/>
    <a:srgbClr val="F7F7F7"/>
    <a:srgbClr val="FFFFFF"/>
    <a:srgbClr val="DEED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50000" autoAdjust="0"/>
  </p:normalViewPr>
  <p:slideViewPr>
    <p:cSldViewPr snapToObjects="1" showGuides="1">
      <p:cViewPr>
        <p:scale>
          <a:sx n="80" d="100"/>
          <a:sy n="80" d="100"/>
        </p:scale>
        <p:origin x="136" y="-560"/>
      </p:cViewPr>
      <p:guideLst>
        <p:guide orient="horz" pos="2160"/>
        <p:guide pos="3840"/>
      </p:guideLst>
    </p:cSldViewPr>
  </p:slideViewPr>
  <p:notesTextViewPr>
    <p:cViewPr>
      <p:scale>
        <a:sx n="1" d="1"/>
        <a:sy n="1" d="1"/>
      </p:scale>
      <p:origin x="0" y="0"/>
    </p:cViewPr>
  </p:notesTextViewPr>
  <p:notesViewPr>
    <p:cSldViewPr snapToObjects="1">
      <p:cViewPr varScale="1">
        <p:scale>
          <a:sx n="55" d="100"/>
          <a:sy n="55" d="100"/>
        </p:scale>
        <p:origin x="2880"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60B1AF7E-5BC2-4D30-87FE-E1B659CA1548}"/>
              </a:ext>
            </a:extLst>
          </p:cNvPr>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1D35212-2950-4BB8-B0AA-EE773689934D}"/>
              </a:ext>
            </a:extLst>
          </p:cNvPr>
          <p:cNvSpPr>
            <a:spLocks noGrp="1"/>
          </p:cNvSpPr>
          <p:nvPr>
            <p:ph type="dt" sz="quarter" idx="1"/>
          </p:nvPr>
        </p:nvSpPr>
        <p:spPr>
          <a:xfrm>
            <a:off x="3884613" y="0"/>
            <a:ext cx="2971800" cy="498056"/>
          </a:xfrm>
          <a:prstGeom prst="rect">
            <a:avLst/>
          </a:prstGeom>
        </p:spPr>
        <p:txBody>
          <a:bodyPr vert="horz" lIns="91440" tIns="45720" rIns="91440" bIns="45720" rtlCol="0"/>
          <a:lstStyle>
            <a:lvl1pPr algn="r">
              <a:defRPr sz="1200"/>
            </a:lvl1pPr>
          </a:lstStyle>
          <a:p>
            <a:fld id="{6DA5188B-02CB-4126-A12E-C27940239E67}" type="datetimeFigureOut">
              <a:rPr lang="es-ES" smtClean="0"/>
              <a:t>20/10/2023</a:t>
            </a:fld>
            <a:endParaRPr lang="es-ES"/>
          </a:p>
        </p:txBody>
      </p:sp>
      <p:sp>
        <p:nvSpPr>
          <p:cNvPr id="4" name="Marcador de pie de página 3">
            <a:extLst>
              <a:ext uri="{FF2B5EF4-FFF2-40B4-BE49-F238E27FC236}">
                <a16:creationId xmlns:a16="http://schemas.microsoft.com/office/drawing/2014/main" id="{56FAF009-7545-4A39-A198-6416D3420CD5}"/>
              </a:ext>
            </a:extLst>
          </p:cNvPr>
          <p:cNvSpPr>
            <a:spLocks noGrp="1"/>
          </p:cNvSpPr>
          <p:nvPr>
            <p:ph type="ftr" sz="quarter" idx="2"/>
          </p:nvPr>
        </p:nvSpPr>
        <p:spPr>
          <a:xfrm>
            <a:off x="0" y="9428585"/>
            <a:ext cx="2971800" cy="498055"/>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5B8A1D82-08B5-4B1F-860C-695167F2EE13}"/>
              </a:ext>
            </a:extLst>
          </p:cNvPr>
          <p:cNvSpPr>
            <a:spLocks noGrp="1"/>
          </p:cNvSpPr>
          <p:nvPr>
            <p:ph type="sldNum" sz="quarter" idx="3"/>
          </p:nvPr>
        </p:nvSpPr>
        <p:spPr>
          <a:xfrm>
            <a:off x="3884613" y="9428585"/>
            <a:ext cx="2971800" cy="498055"/>
          </a:xfrm>
          <a:prstGeom prst="rect">
            <a:avLst/>
          </a:prstGeom>
        </p:spPr>
        <p:txBody>
          <a:bodyPr vert="horz" lIns="91440" tIns="45720" rIns="91440" bIns="45720" rtlCol="0" anchor="b"/>
          <a:lstStyle>
            <a:lvl1pPr algn="r">
              <a:defRPr sz="1200"/>
            </a:lvl1pPr>
          </a:lstStyle>
          <a:p>
            <a:fld id="{4F54CB31-C4D0-4176-AC65-C48107E42122}" type="slidenum">
              <a:rPr lang="es-ES" smtClean="0"/>
              <a:t>‹#›</a:t>
            </a:fld>
            <a:endParaRPr lang="es-ES"/>
          </a:p>
        </p:txBody>
      </p:sp>
    </p:spTree>
    <p:extLst>
      <p:ext uri="{BB962C8B-B14F-4D97-AF65-F5344CB8AC3E}">
        <p14:creationId xmlns:p14="http://schemas.microsoft.com/office/powerpoint/2010/main" val="8268674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98056"/>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98056"/>
          </a:xfrm>
          <a:prstGeom prst="rect">
            <a:avLst/>
          </a:prstGeom>
        </p:spPr>
        <p:txBody>
          <a:bodyPr vert="horz" lIns="91440" tIns="45720" rIns="91440" bIns="45720" rtlCol="0"/>
          <a:lstStyle>
            <a:lvl1pPr algn="r">
              <a:defRPr sz="1200"/>
            </a:lvl1pPr>
          </a:lstStyle>
          <a:p>
            <a:fld id="{2281D6FC-8B18-4D83-81FA-5ECA9E5C1AAF}" type="datetimeFigureOut">
              <a:rPr lang="es-ES" smtClean="0"/>
              <a:t>20/10/2023</a:t>
            </a:fld>
            <a:endParaRPr lang="es-ES"/>
          </a:p>
        </p:txBody>
      </p:sp>
      <p:sp>
        <p:nvSpPr>
          <p:cNvPr id="4" name="Marcador de imagen de diapositiva 3"/>
          <p:cNvSpPr>
            <a:spLocks noGrp="1" noRot="1" noChangeAspect="1"/>
          </p:cNvSpPr>
          <p:nvPr>
            <p:ph type="sldImg" idx="2"/>
          </p:nvPr>
        </p:nvSpPr>
        <p:spPr>
          <a:xfrm>
            <a:off x="452438" y="1241425"/>
            <a:ext cx="5953125" cy="334962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777195"/>
            <a:ext cx="5486400" cy="3908614"/>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9428585"/>
            <a:ext cx="2971800" cy="498055"/>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9428585"/>
            <a:ext cx="2971800" cy="498055"/>
          </a:xfrm>
          <a:prstGeom prst="rect">
            <a:avLst/>
          </a:prstGeom>
        </p:spPr>
        <p:txBody>
          <a:bodyPr vert="horz" lIns="91440" tIns="45720" rIns="91440" bIns="45720" rtlCol="0" anchor="b"/>
          <a:lstStyle>
            <a:lvl1pPr algn="r">
              <a:defRPr sz="1200"/>
            </a:lvl1pPr>
          </a:lstStyle>
          <a:p>
            <a:fld id="{7978D618-BBD3-4FF5-9218-0E9FEB4B2F82}" type="slidenum">
              <a:rPr lang="es-ES" smtClean="0"/>
              <a:t>‹#›</a:t>
            </a:fld>
            <a:endParaRPr lang="es-ES"/>
          </a:p>
        </p:txBody>
      </p:sp>
    </p:spTree>
    <p:extLst>
      <p:ext uri="{BB962C8B-B14F-4D97-AF65-F5344CB8AC3E}">
        <p14:creationId xmlns:p14="http://schemas.microsoft.com/office/powerpoint/2010/main" val="1446315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7</a:t>
            </a:fld>
            <a:endParaRPr lang="es-ES"/>
          </a:p>
        </p:txBody>
      </p:sp>
    </p:spTree>
    <p:extLst>
      <p:ext uri="{BB962C8B-B14F-4D97-AF65-F5344CB8AC3E}">
        <p14:creationId xmlns:p14="http://schemas.microsoft.com/office/powerpoint/2010/main" val="1594250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9</a:t>
            </a:fld>
            <a:endParaRPr lang="es-ES"/>
          </a:p>
        </p:txBody>
      </p:sp>
    </p:spTree>
    <p:extLst>
      <p:ext uri="{BB962C8B-B14F-4D97-AF65-F5344CB8AC3E}">
        <p14:creationId xmlns:p14="http://schemas.microsoft.com/office/powerpoint/2010/main" val="17565980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11</a:t>
            </a:fld>
            <a:endParaRPr lang="es-ES"/>
          </a:p>
        </p:txBody>
      </p:sp>
    </p:spTree>
    <p:extLst>
      <p:ext uri="{BB962C8B-B14F-4D97-AF65-F5344CB8AC3E}">
        <p14:creationId xmlns:p14="http://schemas.microsoft.com/office/powerpoint/2010/main" val="6682448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12</a:t>
            </a:fld>
            <a:endParaRPr lang="es-ES"/>
          </a:p>
        </p:txBody>
      </p:sp>
    </p:spTree>
    <p:extLst>
      <p:ext uri="{BB962C8B-B14F-4D97-AF65-F5344CB8AC3E}">
        <p14:creationId xmlns:p14="http://schemas.microsoft.com/office/powerpoint/2010/main" val="1742809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13</a:t>
            </a:fld>
            <a:endParaRPr lang="es-ES"/>
          </a:p>
        </p:txBody>
      </p:sp>
    </p:spTree>
    <p:extLst>
      <p:ext uri="{BB962C8B-B14F-4D97-AF65-F5344CB8AC3E}">
        <p14:creationId xmlns:p14="http://schemas.microsoft.com/office/powerpoint/2010/main" val="3156429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14</a:t>
            </a:fld>
            <a:endParaRPr lang="es-ES"/>
          </a:p>
        </p:txBody>
      </p:sp>
    </p:spTree>
    <p:extLst>
      <p:ext uri="{BB962C8B-B14F-4D97-AF65-F5344CB8AC3E}">
        <p14:creationId xmlns:p14="http://schemas.microsoft.com/office/powerpoint/2010/main" val="1712091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15</a:t>
            </a:fld>
            <a:endParaRPr lang="es-ES"/>
          </a:p>
        </p:txBody>
      </p:sp>
    </p:spTree>
    <p:extLst>
      <p:ext uri="{BB962C8B-B14F-4D97-AF65-F5344CB8AC3E}">
        <p14:creationId xmlns:p14="http://schemas.microsoft.com/office/powerpoint/2010/main" val="11587135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16</a:t>
            </a:fld>
            <a:endParaRPr lang="es-ES"/>
          </a:p>
        </p:txBody>
      </p:sp>
    </p:spTree>
    <p:extLst>
      <p:ext uri="{BB962C8B-B14F-4D97-AF65-F5344CB8AC3E}">
        <p14:creationId xmlns:p14="http://schemas.microsoft.com/office/powerpoint/2010/main" val="13160637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18</a:t>
            </a:fld>
            <a:endParaRPr lang="es-ES"/>
          </a:p>
        </p:txBody>
      </p:sp>
    </p:spTree>
    <p:extLst>
      <p:ext uri="{BB962C8B-B14F-4D97-AF65-F5344CB8AC3E}">
        <p14:creationId xmlns:p14="http://schemas.microsoft.com/office/powerpoint/2010/main" val="1079132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19</a:t>
            </a:fld>
            <a:endParaRPr lang="es-ES"/>
          </a:p>
        </p:txBody>
      </p:sp>
    </p:spTree>
    <p:extLst>
      <p:ext uri="{BB962C8B-B14F-4D97-AF65-F5344CB8AC3E}">
        <p14:creationId xmlns:p14="http://schemas.microsoft.com/office/powerpoint/2010/main" val="36781983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PT"/>
          </a:p>
        </p:txBody>
      </p:sp>
      <p:sp>
        <p:nvSpPr>
          <p:cNvPr id="4" name="Slide Number Placeholder 3"/>
          <p:cNvSpPr>
            <a:spLocks noGrp="1"/>
          </p:cNvSpPr>
          <p:nvPr>
            <p:ph type="sldNum" sz="quarter" idx="10"/>
          </p:nvPr>
        </p:nvSpPr>
        <p:spPr/>
        <p:txBody>
          <a:bodyPr/>
          <a:lstStyle/>
          <a:p>
            <a:fld id="{7978D618-BBD3-4FF5-9218-0E9FEB4B2F82}" type="slidenum">
              <a:rPr lang="es-ES" smtClean="0"/>
              <a:t>21</a:t>
            </a:fld>
            <a:endParaRPr lang="es-ES"/>
          </a:p>
        </p:txBody>
      </p:sp>
    </p:spTree>
    <p:extLst>
      <p:ext uri="{BB962C8B-B14F-4D97-AF65-F5344CB8AC3E}">
        <p14:creationId xmlns:p14="http://schemas.microsoft.com/office/powerpoint/2010/main" val="8377929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Imagem">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F305A9-DE4B-49AF-BCD4-43A65F7EB523}"/>
              </a:ext>
            </a:extLst>
          </p:cNvPr>
          <p:cNvSpPr>
            <a:spLocks noGrp="1"/>
          </p:cNvSpPr>
          <p:nvPr>
            <p:ph type="ctrTitle" hasCustomPrompt="1"/>
          </p:nvPr>
        </p:nvSpPr>
        <p:spPr>
          <a:xfrm>
            <a:off x="721745" y="1096485"/>
            <a:ext cx="4937184" cy="1407004"/>
          </a:xfrm>
        </p:spPr>
        <p:txBody>
          <a:bodyPr anchor="t">
            <a:normAutofit/>
          </a:bodyPr>
          <a:lstStyle>
            <a:lvl1pPr algn="l">
              <a:lnSpc>
                <a:spcPct val="90000"/>
              </a:lnSpc>
              <a:defRPr sz="4100">
                <a:solidFill>
                  <a:schemeClr val="accent1"/>
                </a:solidFill>
              </a:defRPr>
            </a:lvl1pPr>
          </a:lstStyle>
          <a:p>
            <a:r>
              <a:rPr lang="pt-PT" dirty="0"/>
              <a:t>título do Modelo Global</a:t>
            </a:r>
            <a:endParaRPr lang="es-ES" dirty="0"/>
          </a:p>
        </p:txBody>
      </p:sp>
      <p:sp>
        <p:nvSpPr>
          <p:cNvPr id="3" name="Subtítulo 2">
            <a:extLst>
              <a:ext uri="{FF2B5EF4-FFF2-40B4-BE49-F238E27FC236}">
                <a16:creationId xmlns:a16="http://schemas.microsoft.com/office/drawing/2014/main" id="{7AB17398-CAA7-49B6-868C-44D053E7EAC0}"/>
              </a:ext>
            </a:extLst>
          </p:cNvPr>
          <p:cNvSpPr>
            <a:spLocks noGrp="1"/>
          </p:cNvSpPr>
          <p:nvPr>
            <p:ph type="subTitle" idx="1"/>
          </p:nvPr>
        </p:nvSpPr>
        <p:spPr>
          <a:xfrm>
            <a:off x="724620" y="2722142"/>
            <a:ext cx="4934309" cy="2436454"/>
          </a:xfrm>
        </p:spPr>
        <p:txBody>
          <a:bodyPr>
            <a:noAutofit/>
          </a:bodyPr>
          <a:lstStyle>
            <a:lvl1pPr marL="0" indent="0" algn="l">
              <a:lnSpc>
                <a:spcPct val="100000"/>
              </a:lnSpc>
              <a:spcBef>
                <a:spcPts val="0"/>
              </a:spcBef>
              <a:spcAft>
                <a:spcPts val="1200"/>
              </a:spcAft>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pt-PT" dirty="0"/>
          </a:p>
        </p:txBody>
      </p:sp>
      <p:pic>
        <p:nvPicPr>
          <p:cNvPr id="9" name="Gráfico 8">
            <a:extLst>
              <a:ext uri="{FF2B5EF4-FFF2-40B4-BE49-F238E27FC236}">
                <a16:creationId xmlns:a16="http://schemas.microsoft.com/office/drawing/2014/main" id="{9012236B-6821-499F-B6D4-F11EC0EF0CAC}"/>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21978" y="5727401"/>
            <a:ext cx="1896592" cy="332588"/>
          </a:xfrm>
          <a:prstGeom prst="rect">
            <a:avLst/>
          </a:prstGeom>
        </p:spPr>
      </p:pic>
      <p:sp>
        <p:nvSpPr>
          <p:cNvPr id="7" name="Forma libre: forma 6">
            <a:extLst>
              <a:ext uri="{FF2B5EF4-FFF2-40B4-BE49-F238E27FC236}">
                <a16:creationId xmlns:a16="http://schemas.microsoft.com/office/drawing/2014/main" id="{AB9931BC-B448-4EA6-A35A-56AF5C4C24E5}"/>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p>
        </p:txBody>
      </p:sp>
      <p:sp>
        <p:nvSpPr>
          <p:cNvPr id="17" name="Marcador de texto 16">
            <a:extLst>
              <a:ext uri="{FF2B5EF4-FFF2-40B4-BE49-F238E27FC236}">
                <a16:creationId xmlns:a16="http://schemas.microsoft.com/office/drawing/2014/main" id="{F5E5F18D-70E6-495C-A384-2EDAE0030937}"/>
              </a:ext>
            </a:extLst>
          </p:cNvPr>
          <p:cNvSpPr>
            <a:spLocks noGrp="1"/>
          </p:cNvSpPr>
          <p:nvPr>
            <p:ph type="body" sz="quarter" idx="14"/>
          </p:nvPr>
        </p:nvSpPr>
        <p:spPr>
          <a:xfrm>
            <a:off x="709650" y="333651"/>
            <a:ext cx="11177550" cy="419100"/>
          </a:xfrm>
        </p:spPr>
        <p:txBody>
          <a:bodyPr>
            <a:noAutofit/>
          </a:bodyPr>
          <a:lstStyle>
            <a:lvl1pPr marL="0" indent="0">
              <a:buNone/>
              <a:defRPr sz="1300">
                <a:solidFill>
                  <a:schemeClr val="tx2"/>
                </a:solidFill>
              </a:defRPr>
            </a:lvl1pPr>
            <a:lvl2pPr marL="457200" indent="0">
              <a:buNone/>
              <a:defRPr sz="1300">
                <a:solidFill>
                  <a:schemeClr val="tx2"/>
                </a:solidFill>
              </a:defRPr>
            </a:lvl2pPr>
            <a:lvl3pPr marL="914400" indent="0">
              <a:buNone/>
              <a:defRPr sz="1300">
                <a:solidFill>
                  <a:schemeClr val="tx2"/>
                </a:solidFill>
              </a:defRPr>
            </a:lvl3pPr>
            <a:lvl4pPr marL="1371600" indent="0">
              <a:buNone/>
              <a:defRPr sz="1300">
                <a:solidFill>
                  <a:schemeClr val="tx2"/>
                </a:solidFill>
              </a:defRPr>
            </a:lvl4pPr>
            <a:lvl5pPr marL="1828800" indent="0">
              <a:buNone/>
              <a:defRPr sz="1300">
                <a:solidFill>
                  <a:schemeClr val="tx2"/>
                </a:solidFill>
              </a:defRPr>
            </a:lvl5pPr>
          </a:lstStyle>
          <a:p>
            <a:pPr lvl="0"/>
            <a:r>
              <a:rPr lang="en-US" smtClean="0"/>
              <a:t>Edit Master text styles</a:t>
            </a:r>
          </a:p>
        </p:txBody>
      </p:sp>
    </p:spTree>
    <p:extLst>
      <p:ext uri="{BB962C8B-B14F-4D97-AF65-F5344CB8AC3E}">
        <p14:creationId xmlns:p14="http://schemas.microsoft.com/office/powerpoint/2010/main" val="880952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Í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dirty="0">
                <a:solidFill>
                  <a:schemeClr val="accent1"/>
                </a:solidFill>
                <a:latin typeface="Santander Text" panose="020B0504020201020104" pitchFamily="34" charset="0"/>
              </a:rPr>
              <a:t>Índice</a:t>
            </a:r>
          </a:p>
        </p:txBody>
      </p:sp>
      <p:sp>
        <p:nvSpPr>
          <p:cNvPr id="14" name="Marcador de texto 11">
            <a:extLst>
              <a:ext uri="{FF2B5EF4-FFF2-40B4-BE49-F238E27FC236}">
                <a16:creationId xmlns:a16="http://schemas.microsoft.com/office/drawing/2014/main" id="{0CC57AA0-6C3B-4C80-BF6B-C321A960A96C}"/>
              </a:ext>
            </a:extLst>
          </p:cNvPr>
          <p:cNvSpPr>
            <a:spLocks noGrp="1"/>
          </p:cNvSpPr>
          <p:nvPr>
            <p:ph type="body" sz="quarter" idx="13" hasCustomPrompt="1"/>
          </p:nvPr>
        </p:nvSpPr>
        <p:spPr>
          <a:xfrm>
            <a:off x="832641" y="1100239"/>
            <a:ext cx="10635843" cy="4906665"/>
          </a:xfrm>
        </p:spPr>
        <p:txBody>
          <a:bodyPr>
            <a:normAutofit/>
          </a:bodyPr>
          <a:lstStyle>
            <a:lvl1pPr marL="432000" indent="-396000">
              <a:buClr>
                <a:schemeClr val="accent1"/>
              </a:buClr>
              <a:buSzPct val="45000"/>
              <a:buFont typeface="+mj-lt"/>
              <a:buAutoNum type="arabicPeriod"/>
              <a:defRPr lang="es-ES" sz="4000" b="1" kern="1200" dirty="0" smtClean="0">
                <a:solidFill>
                  <a:srgbClr val="3C3C3B"/>
                </a:solidFill>
                <a:latin typeface="Santander Text" panose="020B0504020201020104" pitchFamily="34" charset="0"/>
                <a:ea typeface="+mn-ea"/>
                <a:cs typeface="+mn-cs"/>
              </a:defRPr>
            </a:lvl1pPr>
            <a:lvl2pPr marL="457200" indent="0">
              <a:buNone/>
              <a:defRPr/>
            </a:lvl2pPr>
          </a:lstStyle>
          <a:p>
            <a:pPr lvl="0"/>
            <a:r>
              <a:rPr lang="pt-PT" dirty="0"/>
              <a:t>Título de seção</a:t>
            </a:r>
          </a:p>
        </p:txBody>
      </p:sp>
    </p:spTree>
    <p:extLst>
      <p:ext uri="{BB962C8B-B14F-4D97-AF65-F5344CB8AC3E}">
        <p14:creationId xmlns:p14="http://schemas.microsoft.com/office/powerpoint/2010/main" val="30106834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T Indice">
    <p:spTree>
      <p:nvGrpSpPr>
        <p:cNvPr id="1" name=""/>
        <p:cNvGrpSpPr/>
        <p:nvPr/>
      </p:nvGrpSpPr>
      <p:grpSpPr>
        <a:xfrm>
          <a:off x="0" y="0"/>
          <a:ext cx="0" cy="0"/>
          <a:chOff x="0" y="0"/>
          <a:chExt cx="0" cy="0"/>
        </a:xfrm>
      </p:grpSpPr>
      <p:sp>
        <p:nvSpPr>
          <p:cNvPr id="6" name="Marcador de número de diapositiva 5">
            <a:extLst>
              <a:ext uri="{FF2B5EF4-FFF2-40B4-BE49-F238E27FC236}">
                <a16:creationId xmlns:a16="http://schemas.microsoft.com/office/drawing/2014/main" id="{C60B320C-F93D-45A7-B5CC-5C18ED1F85FB}"/>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9" name="Gráfico 8">
            <a:extLst>
              <a:ext uri="{FF2B5EF4-FFF2-40B4-BE49-F238E27FC236}">
                <a16:creationId xmlns:a16="http://schemas.microsoft.com/office/drawing/2014/main" id="{AC1B0227-D6EB-4F05-832D-EB54916F795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0" name="CuadroTexto 9">
            <a:extLst>
              <a:ext uri="{FF2B5EF4-FFF2-40B4-BE49-F238E27FC236}">
                <a16:creationId xmlns:a16="http://schemas.microsoft.com/office/drawing/2014/main" id="{B3950534-FF56-4FD6-A098-D625BC54F0FA}"/>
              </a:ext>
            </a:extLst>
          </p:cNvPr>
          <p:cNvSpPr txBox="1"/>
          <p:nvPr userDrawn="1"/>
        </p:nvSpPr>
        <p:spPr>
          <a:xfrm>
            <a:off x="722533" y="312269"/>
            <a:ext cx="1849821" cy="292388"/>
          </a:xfrm>
          <a:prstGeom prst="rect">
            <a:avLst/>
          </a:prstGeom>
          <a:noFill/>
        </p:spPr>
        <p:txBody>
          <a:bodyPr wrap="square" rtlCol="0">
            <a:spAutoFit/>
          </a:bodyPr>
          <a:lstStyle/>
          <a:p>
            <a:r>
              <a:rPr lang="es-ES" sz="1300" dirty="0">
                <a:solidFill>
                  <a:schemeClr val="accent1"/>
                </a:solidFill>
                <a:latin typeface="Santander Text" panose="020B0504020201020104" pitchFamily="34" charset="0"/>
              </a:rPr>
              <a:t>Índice</a:t>
            </a:r>
          </a:p>
        </p:txBody>
      </p:sp>
      <p:sp>
        <p:nvSpPr>
          <p:cNvPr id="2" name="TextBox 1"/>
          <p:cNvSpPr txBox="1"/>
          <p:nvPr userDrawn="1"/>
        </p:nvSpPr>
        <p:spPr>
          <a:xfrm>
            <a:off x="832642" y="1104900"/>
            <a:ext cx="10648158" cy="1179810"/>
          </a:xfrm>
          <a:prstGeom prst="rect">
            <a:avLst/>
          </a:prstGeom>
          <a:noFill/>
        </p:spPr>
        <p:txBody>
          <a:bodyPr wrap="square" rtlCol="0">
            <a:spAutoFit/>
          </a:bodyPr>
          <a:lstStyle/>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Necessidades e proposta de solução</a:t>
            </a:r>
          </a:p>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Solução</a:t>
            </a:r>
            <a:r>
              <a:rPr lang="pt-PT" sz="2000" b="0" baseline="0" dirty="0">
                <a:solidFill>
                  <a:prstClr val="black">
                    <a:lumMod val="75000"/>
                    <a:lumOff val="25000"/>
                  </a:prstClr>
                </a:solidFill>
                <a:latin typeface="Santander Text" panose="020B0504020201020104" pitchFamily="34" charset="0"/>
                <a:cs typeface="Arial" pitchFamily="34" charset="0"/>
              </a:rPr>
              <a:t> </a:t>
            </a:r>
            <a:r>
              <a:rPr lang="pt-PT" sz="2000" b="0" dirty="0">
                <a:solidFill>
                  <a:prstClr val="black">
                    <a:lumMod val="75000"/>
                    <a:lumOff val="25000"/>
                  </a:prstClr>
                </a:solidFill>
                <a:latin typeface="Santander Text" panose="020B0504020201020104" pitchFamily="34" charset="0"/>
                <a:cs typeface="Arial" pitchFamily="34" charset="0"/>
              </a:rPr>
              <a:t>técnica</a:t>
            </a:r>
          </a:p>
          <a:p>
            <a:pPr marL="342900" lvl="0" indent="-342900" algn="l" defTabSz="914400" rtl="0" eaLnBrk="1" latinLnBrk="0" hangingPunct="1">
              <a:lnSpc>
                <a:spcPct val="90000"/>
              </a:lnSpc>
              <a:spcBef>
                <a:spcPts val="1000"/>
              </a:spcBef>
              <a:buClr>
                <a:srgbClr val="FF0000"/>
              </a:buClr>
              <a:buSzPct val="45000"/>
              <a:buFont typeface="Wingdings" panose="05000000000000000000" pitchFamily="2" charset="2"/>
              <a:buChar char="§"/>
            </a:pPr>
            <a:r>
              <a:rPr lang="pt-PT" sz="2000" b="0" dirty="0">
                <a:solidFill>
                  <a:prstClr val="black">
                    <a:lumMod val="75000"/>
                    <a:lumOff val="25000"/>
                  </a:prstClr>
                </a:solidFill>
                <a:latin typeface="Santander Text" panose="020B0504020201020104" pitchFamily="34" charset="0"/>
                <a:cs typeface="Arial" pitchFamily="34" charset="0"/>
              </a:rPr>
              <a:t>Considerações</a:t>
            </a:r>
            <a:r>
              <a:rPr lang="pt-PT" sz="2000" b="0" baseline="0" dirty="0">
                <a:solidFill>
                  <a:prstClr val="black">
                    <a:lumMod val="75000"/>
                    <a:lumOff val="25000"/>
                  </a:prstClr>
                </a:solidFill>
                <a:latin typeface="Santander Text" panose="020B0504020201020104" pitchFamily="34" charset="0"/>
                <a:cs typeface="Arial" pitchFamily="34" charset="0"/>
              </a:rPr>
              <a:t> e r</a:t>
            </a:r>
            <a:r>
              <a:rPr lang="pt-PT" sz="2000" b="0" dirty="0">
                <a:solidFill>
                  <a:prstClr val="black">
                    <a:lumMod val="75000"/>
                    <a:lumOff val="25000"/>
                  </a:prstClr>
                </a:solidFill>
                <a:latin typeface="Santander Text" panose="020B0504020201020104" pitchFamily="34" charset="0"/>
                <a:cs typeface="Arial" pitchFamily="34" charset="0"/>
              </a:rPr>
              <a:t>eferências</a:t>
            </a:r>
          </a:p>
        </p:txBody>
      </p:sp>
    </p:spTree>
    <p:extLst>
      <p:ext uri="{BB962C8B-B14F-4D97-AF65-F5344CB8AC3E}">
        <p14:creationId xmlns:p14="http://schemas.microsoft.com/office/powerpoint/2010/main" val="306002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apa de cap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045CB15-1F44-40E1-909E-6233010BC133}"/>
              </a:ext>
            </a:extLst>
          </p:cNvPr>
          <p:cNvSpPr>
            <a:spLocks noGrp="1"/>
          </p:cNvSpPr>
          <p:nvPr>
            <p:ph type="title" hasCustomPrompt="1"/>
          </p:nvPr>
        </p:nvSpPr>
        <p:spPr>
          <a:xfrm>
            <a:off x="722519" y="626373"/>
            <a:ext cx="4386194" cy="2852737"/>
          </a:xfrm>
        </p:spPr>
        <p:txBody>
          <a:bodyPr anchor="t">
            <a:normAutofit/>
          </a:bodyPr>
          <a:lstStyle>
            <a:lvl1pPr>
              <a:lnSpc>
                <a:spcPct val="100000"/>
              </a:lnSpc>
              <a:defRPr sz="4000">
                <a:solidFill>
                  <a:schemeClr val="accent1"/>
                </a:solidFill>
                <a:latin typeface="Santander Text" panose="020B0504020201020104" pitchFamily="34" charset="0"/>
              </a:defRPr>
            </a:lvl1pPr>
          </a:lstStyle>
          <a:p>
            <a:r>
              <a:rPr lang="pt-PT" dirty="0"/>
              <a:t>Clique para editar o estilo de título do Modelo </a:t>
            </a:r>
            <a:br>
              <a:rPr lang="pt-PT" dirty="0"/>
            </a:br>
            <a:r>
              <a:rPr lang="pt-PT" dirty="0"/>
              <a:t>Global</a:t>
            </a:r>
            <a:endParaRPr lang="es-ES" dirty="0"/>
          </a:p>
        </p:txBody>
      </p:sp>
      <p:sp>
        <p:nvSpPr>
          <p:cNvPr id="5" name="Forma libre: forma 6">
            <a:extLst>
              <a:ext uri="{FF2B5EF4-FFF2-40B4-BE49-F238E27FC236}">
                <a16:creationId xmlns:a16="http://schemas.microsoft.com/office/drawing/2014/main" id="{14147011-41AD-4D71-ABCD-072B7EE84809}"/>
              </a:ext>
            </a:extLst>
          </p:cNvPr>
          <p:cNvSpPr/>
          <p:nvPr userDrawn="1"/>
        </p:nvSpPr>
        <p:spPr>
          <a:xfrm>
            <a:off x="8925340" y="0"/>
            <a:ext cx="3266660" cy="6858000"/>
          </a:xfrm>
          <a:custGeom>
            <a:avLst/>
            <a:gdLst>
              <a:gd name="connsiteX0" fmla="*/ 1630018 w 3266660"/>
              <a:gd name="connsiteY0" fmla="*/ 0 h 6858000"/>
              <a:gd name="connsiteX1" fmla="*/ 3266660 w 3266660"/>
              <a:gd name="connsiteY1" fmla="*/ 0 h 6858000"/>
              <a:gd name="connsiteX2" fmla="*/ 3266660 w 3266660"/>
              <a:gd name="connsiteY2" fmla="*/ 6858000 h 6858000"/>
              <a:gd name="connsiteX3" fmla="*/ 0 w 3266660"/>
              <a:gd name="connsiteY3" fmla="*/ 6858000 h 6858000"/>
              <a:gd name="connsiteX4" fmla="*/ 0 w 3266660"/>
              <a:gd name="connsiteY4" fmla="*/ 2822713 h 6858000"/>
              <a:gd name="connsiteX5" fmla="*/ 1630018 w 3266660"/>
              <a:gd name="connsiteY5" fmla="*/ 282271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66660" h="6858000">
                <a:moveTo>
                  <a:pt x="1630018" y="0"/>
                </a:moveTo>
                <a:lnTo>
                  <a:pt x="3266660" y="0"/>
                </a:lnTo>
                <a:lnTo>
                  <a:pt x="3266660" y="6858000"/>
                </a:lnTo>
                <a:lnTo>
                  <a:pt x="0" y="6858000"/>
                </a:lnTo>
                <a:lnTo>
                  <a:pt x="0" y="2822713"/>
                </a:lnTo>
                <a:lnTo>
                  <a:pt x="1630018" y="2822713"/>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a:latin typeface="Santander Text" panose="020B0504020201020104" pitchFamily="34" charset="0"/>
            </a:endParaRPr>
          </a:p>
        </p:txBody>
      </p:sp>
      <p:sp>
        <p:nvSpPr>
          <p:cNvPr id="6" name="Marcador de texto 13">
            <a:extLst>
              <a:ext uri="{FF2B5EF4-FFF2-40B4-BE49-F238E27FC236}">
                <a16:creationId xmlns:a16="http://schemas.microsoft.com/office/drawing/2014/main" id="{CF711B63-7C0F-4649-B7F0-A207C8B6C42B}"/>
              </a:ext>
            </a:extLst>
          </p:cNvPr>
          <p:cNvSpPr>
            <a:spLocks noGrp="1"/>
          </p:cNvSpPr>
          <p:nvPr>
            <p:ph type="body" sz="quarter" idx="14" hasCustomPrompt="1"/>
          </p:nvPr>
        </p:nvSpPr>
        <p:spPr>
          <a:xfrm>
            <a:off x="8945217" y="3270526"/>
            <a:ext cx="2958754" cy="2364961"/>
          </a:xfrm>
        </p:spPr>
        <p:txBody>
          <a:bodyPr>
            <a:noAutofit/>
          </a:bodyPr>
          <a:lstStyle>
            <a:lvl1pPr marL="0" indent="0" algn="r">
              <a:buFontTx/>
              <a:buNone/>
              <a:defRPr sz="16600">
                <a:solidFill>
                  <a:schemeClr val="bg1"/>
                </a:solidFill>
                <a:latin typeface="Santander Text" panose="020B0504020201020104" pitchFamily="34" charset="0"/>
              </a:defRPr>
            </a:lvl1pPr>
            <a:lvl2pPr>
              <a:defRPr sz="13800">
                <a:solidFill>
                  <a:schemeClr val="tx1"/>
                </a:solidFill>
              </a:defRPr>
            </a:lvl2pPr>
            <a:lvl3pPr>
              <a:defRPr sz="11500">
                <a:solidFill>
                  <a:schemeClr val="tx1"/>
                </a:solidFill>
              </a:defRPr>
            </a:lvl3pPr>
            <a:lvl4pPr>
              <a:defRPr sz="9600">
                <a:solidFill>
                  <a:schemeClr val="tx1"/>
                </a:solidFill>
              </a:defRPr>
            </a:lvl4pPr>
            <a:lvl5pPr>
              <a:defRPr sz="9600">
                <a:solidFill>
                  <a:schemeClr val="tx1"/>
                </a:solidFill>
              </a:defRPr>
            </a:lvl5pPr>
          </a:lstStyle>
          <a:p>
            <a:pPr lvl="0"/>
            <a:r>
              <a:rPr lang="es-ES" dirty="0"/>
              <a:t>00</a:t>
            </a:r>
          </a:p>
        </p:txBody>
      </p:sp>
    </p:spTree>
    <p:extLst>
      <p:ext uri="{BB962C8B-B14F-4D97-AF65-F5344CB8AC3E}">
        <p14:creationId xmlns:p14="http://schemas.microsoft.com/office/powerpoint/2010/main" val="232452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ulo e conteúdo 1">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5297557" cy="1606047"/>
          </a:xfrm>
        </p:spPr>
        <p:txBody>
          <a:bodyPr anchor="t">
            <a:norm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 do Modelo Global</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8" name="Marcador de texto 16">
            <a:extLst>
              <a:ext uri="{FF2B5EF4-FFF2-40B4-BE49-F238E27FC236}">
                <a16:creationId xmlns:a16="http://schemas.microsoft.com/office/drawing/2014/main" id="{07C8BA77-3119-41AC-B33B-745A751CC066}"/>
              </a:ext>
            </a:extLst>
          </p:cNvPr>
          <p:cNvSpPr>
            <a:spLocks noGrp="1"/>
          </p:cNvSpPr>
          <p:nvPr>
            <p:ph type="body" sz="quarter" idx="15"/>
          </p:nvPr>
        </p:nvSpPr>
        <p:spPr>
          <a:xfrm>
            <a:off x="711025" y="3093562"/>
            <a:ext cx="5308776" cy="3083401"/>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20" name="Marcador de texto 16">
            <a:extLst>
              <a:ext uri="{FF2B5EF4-FFF2-40B4-BE49-F238E27FC236}">
                <a16:creationId xmlns:a16="http://schemas.microsoft.com/office/drawing/2014/main" id="{81AA2FC0-CE4E-483D-AF92-BEA6CD796B9C}"/>
              </a:ext>
            </a:extLst>
          </p:cNvPr>
          <p:cNvSpPr>
            <a:spLocks noGrp="1"/>
          </p:cNvSpPr>
          <p:nvPr>
            <p:ph type="body" sz="quarter" idx="16"/>
          </p:nvPr>
        </p:nvSpPr>
        <p:spPr>
          <a:xfrm>
            <a:off x="6399971" y="1087458"/>
            <a:ext cx="5081004" cy="508950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42919012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ulo e conteúdo 2">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22243" y="1087457"/>
            <a:ext cx="10758733" cy="1823011"/>
          </a:xfrm>
        </p:spPr>
        <p:txBody>
          <a:bodyPr anchor="t">
            <a:no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 do Modelo Global</a:t>
            </a:r>
            <a:endParaRPr lang="es-ES" dirty="0"/>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pt-PT" smtClean="0"/>
              <a:pPr/>
              <a:t>‹#›</a:t>
            </a:fld>
            <a:endParaRPr lang="pt-PT"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711024" y="3093562"/>
            <a:ext cx="10758733" cy="3083401"/>
          </a:xfrm>
        </p:spPr>
        <p:txBody>
          <a:bodyPr numCol="2" spcCol="720000">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2956698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staque">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B5AEF2-F43E-4C92-A186-61C1E43CE82B}"/>
              </a:ext>
            </a:extLst>
          </p:cNvPr>
          <p:cNvSpPr>
            <a:spLocks noGrp="1"/>
          </p:cNvSpPr>
          <p:nvPr>
            <p:ph type="title" hasCustomPrompt="1"/>
          </p:nvPr>
        </p:nvSpPr>
        <p:spPr>
          <a:xfrm>
            <a:off x="731970" y="1109759"/>
            <a:ext cx="3801119" cy="5050689"/>
          </a:xfrm>
        </p:spPr>
        <p:txBody>
          <a:bodyPr anchor="t">
            <a:noAutofit/>
          </a:bodyPr>
          <a:lstStyle>
            <a:lvl1pPr>
              <a:defRPr sz="2500" b="1">
                <a:solidFill>
                  <a:schemeClr val="accent3"/>
                </a:solidFill>
                <a:latin typeface="Santander Text" panose="020B0504020201020104" pitchFamily="34" charset="0"/>
              </a:defRPr>
            </a:lvl1pPr>
          </a:lstStyle>
          <a:p>
            <a:pPr lvl="0"/>
            <a:r>
              <a:rPr lang="pt-PT" dirty="0"/>
              <a:t>Editar os estilos </a:t>
            </a:r>
            <a:br>
              <a:rPr lang="pt-PT" dirty="0"/>
            </a:br>
            <a:r>
              <a:rPr lang="pt-PT" dirty="0"/>
              <a:t>de texto do Modelo Global</a:t>
            </a:r>
          </a:p>
        </p:txBody>
      </p:sp>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2" name="Marcador de texto 16">
            <a:extLst>
              <a:ext uri="{FF2B5EF4-FFF2-40B4-BE49-F238E27FC236}">
                <a16:creationId xmlns:a16="http://schemas.microsoft.com/office/drawing/2014/main" id="{87DF9564-216B-4533-A626-FE222DEB917D}"/>
              </a:ext>
            </a:extLst>
          </p:cNvPr>
          <p:cNvSpPr>
            <a:spLocks noGrp="1"/>
          </p:cNvSpPr>
          <p:nvPr>
            <p:ph type="body" sz="quarter" idx="15"/>
          </p:nvPr>
        </p:nvSpPr>
        <p:spPr>
          <a:xfrm>
            <a:off x="4772722" y="1126274"/>
            <a:ext cx="6697035" cy="5050690"/>
          </a:xfrm>
        </p:spPr>
        <p:txBody>
          <a:bodyPr numCol="1" spcCol="0">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177070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údo e gráfico">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9" name="Título 1">
            <a:extLst>
              <a:ext uri="{FF2B5EF4-FFF2-40B4-BE49-F238E27FC236}">
                <a16:creationId xmlns:a16="http://schemas.microsoft.com/office/drawing/2014/main" id="{3AABE934-895B-422A-B16D-773558A762E3}"/>
              </a:ext>
            </a:extLst>
          </p:cNvPr>
          <p:cNvSpPr>
            <a:spLocks noGrp="1"/>
          </p:cNvSpPr>
          <p:nvPr>
            <p:ph type="title" hasCustomPrompt="1"/>
          </p:nvPr>
        </p:nvSpPr>
        <p:spPr>
          <a:xfrm>
            <a:off x="722243" y="1087458"/>
            <a:ext cx="3911401" cy="1183132"/>
          </a:xfrm>
        </p:spPr>
        <p:txBody>
          <a:bodyPr anchor="t">
            <a:normAutofit/>
          </a:bodyPr>
          <a:lstStyle>
            <a:lvl1pPr>
              <a:defRPr sz="3600">
                <a:solidFill>
                  <a:schemeClr val="accent1"/>
                </a:solidFill>
                <a:latin typeface="Santander Text" panose="020B0504020201020104" pitchFamily="34" charset="0"/>
              </a:defRPr>
            </a:lvl1pPr>
          </a:lstStyle>
          <a:p>
            <a:r>
              <a:rPr lang="pt-PT" dirty="0"/>
              <a:t>Clique para editar </a:t>
            </a:r>
            <a:br>
              <a:rPr lang="pt-PT" dirty="0"/>
            </a:br>
            <a:r>
              <a:rPr lang="pt-PT" dirty="0"/>
              <a:t>o estilo de título</a:t>
            </a:r>
            <a:endParaRPr lang="es-ES" dirty="0"/>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2517170"/>
            <a:ext cx="3911401" cy="3659794"/>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6" name="Marcador de gráfico 5">
            <a:extLst>
              <a:ext uri="{FF2B5EF4-FFF2-40B4-BE49-F238E27FC236}">
                <a16:creationId xmlns:a16="http://schemas.microsoft.com/office/drawing/2014/main" id="{2444BFBF-CC97-48FB-BE66-A28460A7384B}"/>
              </a:ext>
            </a:extLst>
          </p:cNvPr>
          <p:cNvSpPr>
            <a:spLocks noGrp="1"/>
          </p:cNvSpPr>
          <p:nvPr>
            <p:ph type="chart" sz="quarter" idx="17" hasCustomPrompt="1"/>
          </p:nvPr>
        </p:nvSpPr>
        <p:spPr>
          <a:xfrm>
            <a:off x="4797425" y="1087438"/>
            <a:ext cx="6683550" cy="5122862"/>
          </a:xfrm>
        </p:spPr>
        <p:txBody>
          <a:bodyPr>
            <a:normAutofit/>
          </a:bodyPr>
          <a:lstStyle>
            <a:lvl1pPr marL="0" indent="0" algn="ctr">
              <a:buNone/>
              <a:defRPr lang="es-ES" sz="1200" kern="1200" dirty="0">
                <a:solidFill>
                  <a:schemeClr val="tx2"/>
                </a:solidFill>
                <a:latin typeface="Santander Text" panose="020B0504020201020104" pitchFamily="34" charset="0"/>
                <a:ea typeface="+mn-ea"/>
                <a:cs typeface="+mn-cs"/>
              </a:defRPr>
            </a:lvl1pPr>
          </a:lstStyle>
          <a:p>
            <a:r>
              <a:rPr lang="es-MX" dirty="0" err="1"/>
              <a:t>Insira</a:t>
            </a:r>
            <a:r>
              <a:rPr lang="es-MX" dirty="0"/>
              <a:t> </a:t>
            </a:r>
            <a:r>
              <a:rPr lang="es-MX" dirty="0" err="1"/>
              <a:t>aqui</a:t>
            </a:r>
            <a:r>
              <a:rPr lang="es-MX" dirty="0"/>
              <a:t> </a:t>
            </a:r>
            <a:r>
              <a:rPr lang="es-MX" dirty="0" err="1"/>
              <a:t>seu</a:t>
            </a:r>
            <a:r>
              <a:rPr lang="es-MX" dirty="0"/>
              <a:t> gráfico</a:t>
            </a:r>
            <a:endParaRPr lang="es-ES" dirty="0"/>
          </a:p>
        </p:txBody>
      </p:sp>
    </p:spTree>
    <p:extLst>
      <p:ext uri="{BB962C8B-B14F-4D97-AF65-F5344CB8AC3E}">
        <p14:creationId xmlns:p14="http://schemas.microsoft.com/office/powerpoint/2010/main" val="23571207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údo e gráfico 2">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4985162"/>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12" name="Marcador de tabla 4">
            <a:extLst>
              <a:ext uri="{FF2B5EF4-FFF2-40B4-BE49-F238E27FC236}">
                <a16:creationId xmlns:a16="http://schemas.microsoft.com/office/drawing/2014/main" id="{DF826A4E-1A0C-46D7-8327-402D7A34DE68}"/>
              </a:ext>
            </a:extLst>
          </p:cNvPr>
          <p:cNvSpPr>
            <a:spLocks noGrp="1"/>
          </p:cNvSpPr>
          <p:nvPr>
            <p:ph type="tbl" sz="quarter" idx="18" hasCustomPrompt="1"/>
          </p:nvPr>
        </p:nvSpPr>
        <p:spPr>
          <a:xfrm>
            <a:off x="4867835" y="1707776"/>
            <a:ext cx="6612965" cy="4502524"/>
          </a:xfrm>
        </p:spPr>
        <p:txBody>
          <a:bodyPr>
            <a:normAutofit/>
          </a:bodyPr>
          <a:lstStyle>
            <a:lvl1pPr marL="0" indent="0" algn="ctr">
              <a:buFontTx/>
              <a:buNone/>
              <a:defRPr lang="es-ES" sz="1200" kern="1200" smtClean="0">
                <a:solidFill>
                  <a:schemeClr val="tx2"/>
                </a:solidFill>
                <a:latin typeface="Santander Text" panose="020B0504020201020104" pitchFamily="34" charset="0"/>
                <a:ea typeface="+mn-ea"/>
                <a:cs typeface="+mn-cs"/>
              </a:defRPr>
            </a:lvl1pPr>
          </a:lstStyle>
          <a:p>
            <a:r>
              <a:rPr lang="es-ES" dirty="0" err="1"/>
              <a:t>Insira</a:t>
            </a:r>
            <a:r>
              <a:rPr lang="es-ES" dirty="0"/>
              <a:t> </a:t>
            </a:r>
            <a:r>
              <a:rPr lang="es-ES" dirty="0" err="1"/>
              <a:t>aqui</a:t>
            </a:r>
            <a:r>
              <a:rPr lang="es-ES" dirty="0"/>
              <a:t> </a:t>
            </a:r>
            <a:r>
              <a:rPr lang="es-ES" dirty="0" err="1"/>
              <a:t>sua</a:t>
            </a:r>
            <a:r>
              <a:rPr lang="es-ES" dirty="0"/>
              <a:t> </a:t>
            </a:r>
            <a:r>
              <a:rPr lang="es-ES" dirty="0" err="1"/>
              <a:t>tabela</a:t>
            </a:r>
            <a:endParaRPr lang="es-ES" dirty="0"/>
          </a:p>
        </p:txBody>
      </p:sp>
      <p:sp>
        <p:nvSpPr>
          <p:cNvPr id="14" name="Marcador de texto 16">
            <a:extLst>
              <a:ext uri="{FF2B5EF4-FFF2-40B4-BE49-F238E27FC236}">
                <a16:creationId xmlns:a16="http://schemas.microsoft.com/office/drawing/2014/main" id="{C96F8991-1F66-478E-8C12-FB0275A2F299}"/>
              </a:ext>
            </a:extLst>
          </p:cNvPr>
          <p:cNvSpPr>
            <a:spLocks noGrp="1"/>
          </p:cNvSpPr>
          <p:nvPr>
            <p:ph type="body" sz="quarter" idx="19"/>
          </p:nvPr>
        </p:nvSpPr>
        <p:spPr>
          <a:xfrm>
            <a:off x="4867835" y="1191802"/>
            <a:ext cx="6587576" cy="381504"/>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Tree>
    <p:extLst>
      <p:ext uri="{BB962C8B-B14F-4D97-AF65-F5344CB8AC3E}">
        <p14:creationId xmlns:p14="http://schemas.microsoft.com/office/powerpoint/2010/main" val="2808262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údo e gráfico 3 ">
    <p:spTree>
      <p:nvGrpSpPr>
        <p:cNvPr id="1" name=""/>
        <p:cNvGrpSpPr/>
        <p:nvPr/>
      </p:nvGrpSpPr>
      <p:grpSpPr>
        <a:xfrm>
          <a:off x="0" y="0"/>
          <a:ext cx="0" cy="0"/>
          <a:chOff x="0" y="0"/>
          <a:chExt cx="0" cy="0"/>
        </a:xfrm>
      </p:grpSpPr>
      <p:sp>
        <p:nvSpPr>
          <p:cNvPr id="10" name="Marcador de número de diapositiva 5">
            <a:extLst>
              <a:ext uri="{FF2B5EF4-FFF2-40B4-BE49-F238E27FC236}">
                <a16:creationId xmlns:a16="http://schemas.microsoft.com/office/drawing/2014/main" id="{12E1D636-3017-4CF4-BA5F-3300C668441C}"/>
              </a:ext>
            </a:extLst>
          </p:cNvPr>
          <p:cNvSpPr>
            <a:spLocks noGrp="1"/>
          </p:cNvSpPr>
          <p:nvPr>
            <p:ph type="sldNum" sz="quarter" idx="12"/>
          </p:nvPr>
        </p:nvSpPr>
        <p:spPr>
          <a:xfrm>
            <a:off x="8730845" y="6209600"/>
            <a:ext cx="2743200" cy="365125"/>
          </a:xfrm>
        </p:spPr>
        <p:txBody>
          <a:bodyPr/>
          <a:lstStyle>
            <a:lvl1pPr>
              <a:defRPr sz="1300">
                <a:solidFill>
                  <a:schemeClr val="accent1"/>
                </a:solidFill>
                <a:latin typeface="Santander Text" panose="020B0504020201020104" pitchFamily="34" charset="0"/>
              </a:defRPr>
            </a:lvl1pPr>
          </a:lstStyle>
          <a:p>
            <a:fld id="{BC0D97B6-E32F-4D7D-B839-7C3B51F2640F}" type="slidenum">
              <a:rPr lang="es-ES" smtClean="0"/>
              <a:pPr/>
              <a:t>‹#›</a:t>
            </a:fld>
            <a:endParaRPr lang="es-ES" dirty="0"/>
          </a:p>
        </p:txBody>
      </p:sp>
      <p:pic>
        <p:nvPicPr>
          <p:cNvPr id="11" name="Gráfico 10">
            <a:extLst>
              <a:ext uri="{FF2B5EF4-FFF2-40B4-BE49-F238E27FC236}">
                <a16:creationId xmlns:a16="http://schemas.microsoft.com/office/drawing/2014/main" id="{1FE7499B-1226-4371-B3E5-6DE0E967E635}"/>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32642" y="6262326"/>
            <a:ext cx="1172108" cy="205543"/>
          </a:xfrm>
          <a:prstGeom prst="rect">
            <a:avLst/>
          </a:prstGeom>
        </p:spPr>
      </p:pic>
      <p:sp>
        <p:nvSpPr>
          <p:cNvPr id="15" name="Marcador de texto 14">
            <a:extLst>
              <a:ext uri="{FF2B5EF4-FFF2-40B4-BE49-F238E27FC236}">
                <a16:creationId xmlns:a16="http://schemas.microsoft.com/office/drawing/2014/main" id="{05897091-A449-4E0A-B444-7171DF90239A}"/>
              </a:ext>
            </a:extLst>
          </p:cNvPr>
          <p:cNvSpPr>
            <a:spLocks noGrp="1"/>
          </p:cNvSpPr>
          <p:nvPr>
            <p:ph type="body" sz="quarter" idx="14"/>
          </p:nvPr>
        </p:nvSpPr>
        <p:spPr>
          <a:xfrm>
            <a:off x="711024" y="337100"/>
            <a:ext cx="10758734" cy="304800"/>
          </a:xfrm>
        </p:spPr>
        <p:txBody>
          <a:bodyPr>
            <a:noAutofit/>
          </a:bodyPr>
          <a:lstStyle>
            <a:lvl1pPr marL="0" indent="0">
              <a:buFontTx/>
              <a:buNone/>
              <a:defRPr sz="1300">
                <a:solidFill>
                  <a:schemeClr val="accent1"/>
                </a:solidFill>
                <a:latin typeface="Santander Text" panose="020B0504020201020104" pitchFamily="34" charset="0"/>
              </a:defRPr>
            </a:lvl1pPr>
            <a:lvl2pPr marL="457200" indent="0">
              <a:buFontTx/>
              <a:buNone/>
              <a:defRPr sz="1100"/>
            </a:lvl2pPr>
            <a:lvl3pPr marL="914400" indent="0">
              <a:buFontTx/>
              <a:buNone/>
              <a:defRPr sz="1050"/>
            </a:lvl3pPr>
            <a:lvl4pPr marL="1371600" indent="0">
              <a:buFontTx/>
              <a:buNone/>
              <a:defRPr sz="1000"/>
            </a:lvl4pPr>
            <a:lvl5pPr marL="1828800" indent="0">
              <a:buFontTx/>
              <a:buNone/>
              <a:defRPr sz="1000"/>
            </a:lvl5pPr>
          </a:lstStyle>
          <a:p>
            <a:pPr lvl="0"/>
            <a:r>
              <a:rPr lang="en-US" smtClean="0"/>
              <a:t>Edit Master text styles</a:t>
            </a:r>
          </a:p>
        </p:txBody>
      </p:sp>
      <p:sp>
        <p:nvSpPr>
          <p:cNvPr id="13" name="Marcador de texto 16">
            <a:extLst>
              <a:ext uri="{FF2B5EF4-FFF2-40B4-BE49-F238E27FC236}">
                <a16:creationId xmlns:a16="http://schemas.microsoft.com/office/drawing/2014/main" id="{3C0F691A-2EF3-4A5F-A7E8-E01ADBCA2384}"/>
              </a:ext>
            </a:extLst>
          </p:cNvPr>
          <p:cNvSpPr>
            <a:spLocks noGrp="1"/>
          </p:cNvSpPr>
          <p:nvPr>
            <p:ph type="body" sz="quarter" idx="16"/>
          </p:nvPr>
        </p:nvSpPr>
        <p:spPr>
          <a:xfrm>
            <a:off x="711025" y="1191802"/>
            <a:ext cx="3911401" cy="65754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9" name="Marcador de texto 16">
            <a:extLst>
              <a:ext uri="{FF2B5EF4-FFF2-40B4-BE49-F238E27FC236}">
                <a16:creationId xmlns:a16="http://schemas.microsoft.com/office/drawing/2014/main" id="{714DD14E-5956-4FB9-8BE1-1064DD293193}"/>
              </a:ext>
            </a:extLst>
          </p:cNvPr>
          <p:cNvSpPr>
            <a:spLocks noGrp="1"/>
          </p:cNvSpPr>
          <p:nvPr>
            <p:ph type="body" sz="quarter" idx="19"/>
          </p:nvPr>
        </p:nvSpPr>
        <p:spPr>
          <a:xfrm>
            <a:off x="5024062" y="1191802"/>
            <a:ext cx="6456737" cy="657546"/>
          </a:xfrm>
        </p:spPr>
        <p:txBody>
          <a:bodyPr>
            <a:noAutofit/>
          </a:bodyPr>
          <a:lstStyle>
            <a:lvl1pPr marL="0" indent="0">
              <a:spcBef>
                <a:spcPts val="0"/>
              </a:spcBef>
              <a:spcAft>
                <a:spcPts val="2200"/>
              </a:spcAft>
              <a:buFontTx/>
              <a:buNone/>
              <a:defRPr lang="es-ES" sz="1200" kern="1200" smtClean="0">
                <a:solidFill>
                  <a:schemeClr val="tx2"/>
                </a:solidFill>
                <a:latin typeface="Santander Text" panose="020B0504020201020104" pitchFamily="34" charset="0"/>
                <a:ea typeface="+mn-ea"/>
                <a:cs typeface="+mn-cs"/>
              </a:defRPr>
            </a:lvl1pPr>
            <a:lvl2pPr marL="457200" indent="0">
              <a:buFontTx/>
              <a:buNone/>
              <a:defRPr lang="es-ES" sz="1200" kern="1200" smtClean="0">
                <a:solidFill>
                  <a:schemeClr val="tx2"/>
                </a:solidFill>
                <a:latin typeface="+mn-lt"/>
                <a:ea typeface="+mn-ea"/>
                <a:cs typeface="+mn-cs"/>
              </a:defRPr>
            </a:lvl2pPr>
            <a:lvl3pPr marL="914400" indent="0">
              <a:buFontTx/>
              <a:buNone/>
              <a:defRPr lang="es-ES" sz="1200" kern="1200" smtClean="0">
                <a:solidFill>
                  <a:schemeClr val="tx2"/>
                </a:solidFill>
                <a:latin typeface="+mn-lt"/>
                <a:ea typeface="+mn-ea"/>
                <a:cs typeface="+mn-cs"/>
              </a:defRPr>
            </a:lvl3pPr>
            <a:lvl4pPr marL="1371600" indent="0">
              <a:buFontTx/>
              <a:buNone/>
              <a:defRPr lang="es-ES" sz="1200" kern="1200" smtClean="0">
                <a:solidFill>
                  <a:schemeClr val="tx2"/>
                </a:solidFill>
                <a:latin typeface="+mn-lt"/>
                <a:ea typeface="+mn-ea"/>
                <a:cs typeface="+mn-cs"/>
              </a:defRPr>
            </a:lvl4pPr>
            <a:lvl5pPr marL="1828800" indent="0">
              <a:buFontTx/>
              <a:buNone/>
              <a:defRPr lang="es-ES" sz="1200" kern="1200">
                <a:solidFill>
                  <a:schemeClr val="tx2"/>
                </a:solidFill>
                <a:latin typeface="+mn-lt"/>
                <a:ea typeface="+mn-ea"/>
                <a:cs typeface="+mn-cs"/>
              </a:defRPr>
            </a:lvl5pPr>
          </a:lstStyle>
          <a:p>
            <a:pPr lvl="0"/>
            <a:r>
              <a:rPr lang="en-US" smtClean="0"/>
              <a:t>Edit Master text styles</a:t>
            </a:r>
          </a:p>
        </p:txBody>
      </p:sp>
      <p:sp>
        <p:nvSpPr>
          <p:cNvPr id="16" name="Marcador de gráfico 4">
            <a:extLst>
              <a:ext uri="{FF2B5EF4-FFF2-40B4-BE49-F238E27FC236}">
                <a16:creationId xmlns:a16="http://schemas.microsoft.com/office/drawing/2014/main" id="{9BA63F5F-FC37-4202-A6A3-A0F3EFAC9EB6}"/>
              </a:ext>
            </a:extLst>
          </p:cNvPr>
          <p:cNvSpPr>
            <a:spLocks noGrp="1"/>
          </p:cNvSpPr>
          <p:nvPr>
            <p:ph type="chart" sz="quarter" idx="20" hasCustomPrompt="1"/>
          </p:nvPr>
        </p:nvSpPr>
        <p:spPr>
          <a:xfrm>
            <a:off x="711200" y="1993900"/>
            <a:ext cx="3911600" cy="3605788"/>
          </a:xfrm>
        </p:spPr>
        <p:txBody>
          <a:bodyPr>
            <a:normAutofit/>
          </a:bodyPr>
          <a:lstStyle>
            <a:lvl1pPr marL="0" indent="0" algn="ctr">
              <a:buFontTx/>
              <a:buNone/>
              <a:defRPr sz="1400">
                <a:solidFill>
                  <a:schemeClr val="tx2"/>
                </a:solidFill>
                <a:latin typeface="Santander Text" panose="020B0504020201020104" pitchFamily="34" charset="0"/>
              </a:defRPr>
            </a:lvl1pPr>
          </a:lstStyle>
          <a:p>
            <a:r>
              <a:rPr lang="es-ES" dirty="0" err="1"/>
              <a:t>Insira</a:t>
            </a:r>
            <a:r>
              <a:rPr lang="es-ES" dirty="0"/>
              <a:t> </a:t>
            </a:r>
            <a:r>
              <a:rPr lang="es-ES" dirty="0" err="1"/>
              <a:t>aqui</a:t>
            </a:r>
            <a:r>
              <a:rPr lang="es-ES" dirty="0"/>
              <a:t> </a:t>
            </a:r>
            <a:r>
              <a:rPr lang="es-ES" dirty="0" err="1"/>
              <a:t>seu</a:t>
            </a:r>
            <a:r>
              <a:rPr lang="es-ES" dirty="0"/>
              <a:t> gráfico</a:t>
            </a:r>
          </a:p>
        </p:txBody>
      </p:sp>
      <p:sp>
        <p:nvSpPr>
          <p:cNvPr id="17" name="Marcador de gráfico 4">
            <a:extLst>
              <a:ext uri="{FF2B5EF4-FFF2-40B4-BE49-F238E27FC236}">
                <a16:creationId xmlns:a16="http://schemas.microsoft.com/office/drawing/2014/main" id="{0CABFB2C-905F-4A94-BBC0-7C32FA7695A4}"/>
              </a:ext>
            </a:extLst>
          </p:cNvPr>
          <p:cNvSpPr>
            <a:spLocks noGrp="1"/>
          </p:cNvSpPr>
          <p:nvPr>
            <p:ph type="chart" sz="quarter" idx="21" hasCustomPrompt="1"/>
          </p:nvPr>
        </p:nvSpPr>
        <p:spPr>
          <a:xfrm>
            <a:off x="5024063" y="1993900"/>
            <a:ext cx="6472718" cy="3605788"/>
          </a:xfrm>
        </p:spPr>
        <p:txBody>
          <a:bodyPr>
            <a:normAutofit/>
          </a:bodyPr>
          <a:lstStyle>
            <a:lvl1pPr marL="0" indent="0" algn="ctr">
              <a:buFontTx/>
              <a:buNone/>
              <a:defRPr sz="1400">
                <a:solidFill>
                  <a:schemeClr val="tx2"/>
                </a:solidFill>
                <a:latin typeface="Santander Text" panose="020B0504020201020104" pitchFamily="34" charset="0"/>
              </a:defRPr>
            </a:lvl1pPr>
          </a:lstStyle>
          <a:p>
            <a:r>
              <a:rPr lang="es-ES" dirty="0" err="1"/>
              <a:t>Insira</a:t>
            </a:r>
            <a:r>
              <a:rPr lang="es-ES" dirty="0"/>
              <a:t> </a:t>
            </a:r>
            <a:r>
              <a:rPr lang="es-ES" dirty="0" err="1"/>
              <a:t>aqui</a:t>
            </a:r>
            <a:r>
              <a:rPr lang="es-ES" dirty="0"/>
              <a:t> </a:t>
            </a:r>
            <a:r>
              <a:rPr lang="es-ES" dirty="0" err="1"/>
              <a:t>seu</a:t>
            </a:r>
            <a:r>
              <a:rPr lang="es-ES" dirty="0"/>
              <a:t> gráfico</a:t>
            </a:r>
          </a:p>
        </p:txBody>
      </p:sp>
      <p:sp>
        <p:nvSpPr>
          <p:cNvPr id="18" name="Forma libre: forma 17">
            <a:extLst>
              <a:ext uri="{FF2B5EF4-FFF2-40B4-BE49-F238E27FC236}">
                <a16:creationId xmlns:a16="http://schemas.microsoft.com/office/drawing/2014/main" id="{AEAA6F10-C407-4622-AF96-B2605139D86B}"/>
              </a:ext>
            </a:extLst>
          </p:cNvPr>
          <p:cNvSpPr/>
          <p:nvPr userDrawn="1"/>
        </p:nvSpPr>
        <p:spPr>
          <a:xfrm>
            <a:off x="4742395" y="3685061"/>
            <a:ext cx="187151" cy="207057"/>
          </a:xfrm>
          <a:custGeom>
            <a:avLst/>
            <a:gdLst/>
            <a:ahLst/>
            <a:cxnLst/>
            <a:rect l="l" t="t" r="r" b="b"/>
            <a:pathLst>
              <a:path w="187151" h="207057">
                <a:moveTo>
                  <a:pt x="0" y="0"/>
                </a:moveTo>
                <a:lnTo>
                  <a:pt x="187151" y="80925"/>
                </a:lnTo>
                <a:lnTo>
                  <a:pt x="187151" y="125574"/>
                </a:lnTo>
                <a:lnTo>
                  <a:pt x="0" y="207057"/>
                </a:lnTo>
                <a:lnTo>
                  <a:pt x="0" y="154409"/>
                </a:lnTo>
                <a:lnTo>
                  <a:pt x="130596" y="103064"/>
                </a:lnTo>
                <a:lnTo>
                  <a:pt x="0" y="5227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latin typeface="Santander Text" panose="020B0504020201020104" pitchFamily="34" charset="0"/>
            </a:endParaRPr>
          </a:p>
        </p:txBody>
      </p:sp>
    </p:spTree>
    <p:extLst>
      <p:ext uri="{BB962C8B-B14F-4D97-AF65-F5344CB8AC3E}">
        <p14:creationId xmlns:p14="http://schemas.microsoft.com/office/powerpoint/2010/main" val="969925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brigado - Contato">
    <p:spTree>
      <p:nvGrpSpPr>
        <p:cNvPr id="1" name=""/>
        <p:cNvGrpSpPr/>
        <p:nvPr/>
      </p:nvGrpSpPr>
      <p:grpSpPr>
        <a:xfrm>
          <a:off x="0" y="0"/>
          <a:ext cx="0" cy="0"/>
          <a:chOff x="0" y="0"/>
          <a:chExt cx="0" cy="0"/>
        </a:xfrm>
      </p:grpSpPr>
      <p:sp>
        <p:nvSpPr>
          <p:cNvPr id="19" name="Forma libre: forma 18">
            <a:extLst>
              <a:ext uri="{FF2B5EF4-FFF2-40B4-BE49-F238E27FC236}">
                <a16:creationId xmlns:a16="http://schemas.microsoft.com/office/drawing/2014/main" id="{B61CF4CC-ED27-4967-A11A-B838DFD4D9A3}"/>
              </a:ext>
            </a:extLst>
          </p:cNvPr>
          <p:cNvSpPr/>
          <p:nvPr userDrawn="1"/>
        </p:nvSpPr>
        <p:spPr>
          <a:xfrm>
            <a:off x="0" y="5229922"/>
            <a:ext cx="12192000" cy="1628078"/>
          </a:xfrm>
          <a:custGeom>
            <a:avLst/>
            <a:gdLst>
              <a:gd name="connsiteX0" fmla="*/ 8943278 w 12192000"/>
              <a:gd name="connsiteY0" fmla="*/ 0 h 1628078"/>
              <a:gd name="connsiteX1" fmla="*/ 12192000 w 12192000"/>
              <a:gd name="connsiteY1" fmla="*/ 0 h 1628078"/>
              <a:gd name="connsiteX2" fmla="*/ 12192000 w 12192000"/>
              <a:gd name="connsiteY2" fmla="*/ 1628078 h 1628078"/>
              <a:gd name="connsiteX3" fmla="*/ 0 w 12192000"/>
              <a:gd name="connsiteY3" fmla="*/ 1628078 h 1628078"/>
              <a:gd name="connsiteX4" fmla="*/ 0 w 12192000"/>
              <a:gd name="connsiteY4" fmla="*/ 1226634 h 1628078"/>
              <a:gd name="connsiteX5" fmla="*/ 8943278 w 12192000"/>
              <a:gd name="connsiteY5" fmla="*/ 1226634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628078">
                <a:moveTo>
                  <a:pt x="8943278" y="0"/>
                </a:moveTo>
                <a:lnTo>
                  <a:pt x="12192000" y="0"/>
                </a:lnTo>
                <a:lnTo>
                  <a:pt x="12192000" y="1628078"/>
                </a:lnTo>
                <a:lnTo>
                  <a:pt x="0" y="1628078"/>
                </a:lnTo>
                <a:lnTo>
                  <a:pt x="0" y="1226634"/>
                </a:lnTo>
                <a:lnTo>
                  <a:pt x="8943278" y="1226634"/>
                </a:lnTo>
                <a:close/>
              </a:path>
            </a:pathLst>
          </a:custGeom>
          <a:solidFill>
            <a:schemeClr val="accent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noProof="0" dirty="0">
              <a:latin typeface="Santander Text" panose="020B0504020201020104" pitchFamily="34" charset="0"/>
            </a:endParaRPr>
          </a:p>
        </p:txBody>
      </p:sp>
      <p:pic>
        <p:nvPicPr>
          <p:cNvPr id="12" name="Gráfico 11">
            <a:extLst>
              <a:ext uri="{FF2B5EF4-FFF2-40B4-BE49-F238E27FC236}">
                <a16:creationId xmlns:a16="http://schemas.microsoft.com/office/drawing/2014/main" id="{67F54544-030A-41BD-9896-574241C7188A}"/>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 xmlns:asvg="http://schemas.microsoft.com/office/drawing/2016/SVG/main" r:embed="rId3"/>
              </a:ext>
            </a:extLst>
          </a:blip>
          <a:stretch>
            <a:fillRect/>
          </a:stretch>
        </p:blipFill>
        <p:spPr>
          <a:xfrm>
            <a:off x="821978" y="5727401"/>
            <a:ext cx="1896592" cy="332588"/>
          </a:xfrm>
          <a:prstGeom prst="rect">
            <a:avLst/>
          </a:prstGeom>
        </p:spPr>
      </p:pic>
      <p:pic>
        <p:nvPicPr>
          <p:cNvPr id="1026" name="Picture 2" descr="Resultado de imagen de DJSI Member Log">
            <a:extLst>
              <a:ext uri="{FF2B5EF4-FFF2-40B4-BE49-F238E27FC236}">
                <a16:creationId xmlns:a16="http://schemas.microsoft.com/office/drawing/2014/main" id="{892B8B9E-DEBC-4365-A4A8-EB9654BA3099}"/>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5796918" y="5573143"/>
            <a:ext cx="1347482" cy="455449"/>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upo 19">
            <a:extLst>
              <a:ext uri="{FF2B5EF4-FFF2-40B4-BE49-F238E27FC236}">
                <a16:creationId xmlns:a16="http://schemas.microsoft.com/office/drawing/2014/main" id="{246620ED-93B0-4966-8E36-4B883B49E634}"/>
              </a:ext>
            </a:extLst>
          </p:cNvPr>
          <p:cNvGrpSpPr/>
          <p:nvPr userDrawn="1"/>
        </p:nvGrpSpPr>
        <p:grpSpPr>
          <a:xfrm>
            <a:off x="7612559" y="5573576"/>
            <a:ext cx="578707" cy="455017"/>
            <a:chOff x="2203451" y="-4230356"/>
            <a:chExt cx="6896100" cy="5422158"/>
          </a:xfrm>
        </p:grpSpPr>
        <p:pic>
          <p:nvPicPr>
            <p:cNvPr id="22" name="Imagen 21" descr="Imagen relacionada">
              <a:extLst>
                <a:ext uri="{FF2B5EF4-FFF2-40B4-BE49-F238E27FC236}">
                  <a16:creationId xmlns:a16="http://schemas.microsoft.com/office/drawing/2014/main" id="{E4D48186-AF8E-4052-97D2-CCAFD0E1AC76}"/>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3758085" y="-4230356"/>
              <a:ext cx="3798276" cy="3838472"/>
            </a:xfrm>
            <a:custGeom>
              <a:avLst/>
              <a:gdLst>
                <a:gd name="connsiteX0" fmla="*/ 1899138 w 3798276"/>
                <a:gd name="connsiteY0" fmla="*/ 0 h 3838472"/>
                <a:gd name="connsiteX1" fmla="*/ 3798276 w 3798276"/>
                <a:gd name="connsiteY1" fmla="*/ 1919236 h 3838472"/>
                <a:gd name="connsiteX2" fmla="*/ 1899138 w 3798276"/>
                <a:gd name="connsiteY2" fmla="*/ 3838472 h 3838472"/>
                <a:gd name="connsiteX3" fmla="*/ 0 w 3798276"/>
                <a:gd name="connsiteY3" fmla="*/ 1919236 h 3838472"/>
                <a:gd name="connsiteX4" fmla="*/ 1899138 w 3798276"/>
                <a:gd name="connsiteY4" fmla="*/ 0 h 38384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98276" h="3838472">
                  <a:moveTo>
                    <a:pt x="1899138" y="0"/>
                  </a:moveTo>
                  <a:cubicBezTo>
                    <a:pt x="2948003" y="0"/>
                    <a:pt x="3798276" y="859271"/>
                    <a:pt x="3798276" y="1919236"/>
                  </a:cubicBezTo>
                  <a:cubicBezTo>
                    <a:pt x="3798276" y="2979201"/>
                    <a:pt x="2948003" y="3838472"/>
                    <a:pt x="1899138" y="3838472"/>
                  </a:cubicBezTo>
                  <a:cubicBezTo>
                    <a:pt x="850273" y="3838472"/>
                    <a:pt x="0" y="2979201"/>
                    <a:pt x="0" y="1919236"/>
                  </a:cubicBezTo>
                  <a:cubicBezTo>
                    <a:pt x="0" y="859271"/>
                    <a:pt x="850273" y="0"/>
                    <a:pt x="1899138" y="0"/>
                  </a:cubicBezTo>
                  <a:close/>
                </a:path>
              </a:pathLst>
            </a:custGeom>
            <a:noFill/>
            <a:extLst>
              <a:ext uri="{909E8E84-426E-40DD-AFC4-6F175D3DCCD1}">
                <a14:hiddenFill xmlns:a14="http://schemas.microsoft.com/office/drawing/2010/main">
                  <a:solidFill>
                    <a:srgbClr val="FFFFFF"/>
                  </a:solidFill>
                </a14:hiddenFill>
              </a:ext>
            </a:extLst>
          </p:spPr>
        </p:pic>
        <p:pic>
          <p:nvPicPr>
            <p:cNvPr id="24" name="Imagen 23" descr="Imagen relacionada">
              <a:extLst>
                <a:ext uri="{FF2B5EF4-FFF2-40B4-BE49-F238E27FC236}">
                  <a16:creationId xmlns:a16="http://schemas.microsoft.com/office/drawing/2014/main" id="{411507B2-E393-4DDC-B151-70751F9943CB}"/>
                </a:ext>
              </a:extLst>
            </p:cNvPr>
            <p:cNvPicPr>
              <a:picLocks noChangeAspect="1" noChangeArrowheads="1"/>
            </p:cNvPicPr>
            <p:nvPr userDrawn="1"/>
          </p:nvPicPr>
          <p:blipFill>
            <a:blip r:embed="rId6" cstate="screen">
              <a:extLst>
                <a:ext uri="{28A0092B-C50C-407E-A947-70E740481C1C}">
                  <a14:useLocalDpi xmlns:a14="http://schemas.microsoft.com/office/drawing/2010/main"/>
                </a:ext>
              </a:extLst>
            </a:blip>
            <a:srcRect/>
            <a:stretch>
              <a:fillRect/>
            </a:stretch>
          </p:blipFill>
          <p:spPr bwMode="auto">
            <a:xfrm>
              <a:off x="2203451" y="0"/>
              <a:ext cx="6896100" cy="1191802"/>
            </a:xfrm>
            <a:custGeom>
              <a:avLst/>
              <a:gdLst>
                <a:gd name="connsiteX0" fmla="*/ 0 w 6896100"/>
                <a:gd name="connsiteY0" fmla="*/ 0 h 1191802"/>
                <a:gd name="connsiteX1" fmla="*/ 6896100 w 6896100"/>
                <a:gd name="connsiteY1" fmla="*/ 0 h 1191802"/>
                <a:gd name="connsiteX2" fmla="*/ 6896100 w 6896100"/>
                <a:gd name="connsiteY2" fmla="*/ 1191802 h 1191802"/>
                <a:gd name="connsiteX3" fmla="*/ 0 w 6896100"/>
                <a:gd name="connsiteY3" fmla="*/ 1191802 h 1191802"/>
              </a:gdLst>
              <a:ahLst/>
              <a:cxnLst>
                <a:cxn ang="0">
                  <a:pos x="connsiteX0" y="connsiteY0"/>
                </a:cxn>
                <a:cxn ang="0">
                  <a:pos x="connsiteX1" y="connsiteY1"/>
                </a:cxn>
                <a:cxn ang="0">
                  <a:pos x="connsiteX2" y="connsiteY2"/>
                </a:cxn>
                <a:cxn ang="0">
                  <a:pos x="connsiteX3" y="connsiteY3"/>
                </a:cxn>
              </a:cxnLst>
              <a:rect l="l" t="t" r="r" b="b"/>
              <a:pathLst>
                <a:path w="6896100" h="1191802">
                  <a:moveTo>
                    <a:pt x="0" y="0"/>
                  </a:moveTo>
                  <a:lnTo>
                    <a:pt x="6896100" y="0"/>
                  </a:lnTo>
                  <a:lnTo>
                    <a:pt x="6896100" y="1191802"/>
                  </a:lnTo>
                  <a:lnTo>
                    <a:pt x="0" y="1191802"/>
                  </a:lnTo>
                  <a:close/>
                </a:path>
              </a:pathLst>
            </a:custGeom>
            <a:noFill/>
            <a:extLst>
              <a:ext uri="{909E8E84-426E-40DD-AFC4-6F175D3DCCD1}">
                <a14:hiddenFill xmlns:a14="http://schemas.microsoft.com/office/drawing/2010/main">
                  <a:solidFill>
                    <a:srgbClr val="FFFFFF"/>
                  </a:solidFill>
                </a14:hiddenFill>
              </a:ext>
            </a:extLst>
          </p:spPr>
        </p:pic>
      </p:grpSp>
      <p:sp>
        <p:nvSpPr>
          <p:cNvPr id="23" name="CuadroTexto 22">
            <a:extLst>
              <a:ext uri="{FF2B5EF4-FFF2-40B4-BE49-F238E27FC236}">
                <a16:creationId xmlns:a16="http://schemas.microsoft.com/office/drawing/2014/main" id="{B163354C-97AE-4FC8-BF01-B7FCA9B2C7C0}"/>
              </a:ext>
            </a:extLst>
          </p:cNvPr>
          <p:cNvSpPr txBox="1"/>
          <p:nvPr userDrawn="1"/>
        </p:nvSpPr>
        <p:spPr>
          <a:xfrm>
            <a:off x="719288" y="1945649"/>
            <a:ext cx="3365478" cy="1384995"/>
          </a:xfrm>
          <a:prstGeom prst="rect">
            <a:avLst/>
          </a:prstGeom>
          <a:noFill/>
        </p:spPr>
        <p:txBody>
          <a:bodyPr wrap="square" rtlCol="0">
            <a:spAutoFit/>
          </a:bodyPr>
          <a:lstStyle/>
          <a:p>
            <a:r>
              <a:rPr lang="pt-PT" sz="1400" noProof="0" dirty="0">
                <a:solidFill>
                  <a:schemeClr val="tx2"/>
                </a:solidFill>
                <a:latin typeface="Santander Text" panose="020B0504020201020104" pitchFamily="34" charset="0"/>
              </a:rPr>
              <a:t>A nossa missão é contribuir para o desenvolvimento das pessoas e as empresas.</a:t>
            </a:r>
          </a:p>
          <a:p>
            <a:endParaRPr lang="pt-PT" sz="1400" noProof="0" dirty="0">
              <a:solidFill>
                <a:schemeClr val="tx2"/>
              </a:solidFill>
              <a:latin typeface="Santander Text" panose="020B0504020201020104" pitchFamily="34" charset="0"/>
            </a:endParaRPr>
          </a:p>
          <a:p>
            <a:r>
              <a:rPr lang="pt-PT" sz="1400" noProof="0" dirty="0">
                <a:solidFill>
                  <a:schemeClr val="tx2"/>
                </a:solidFill>
                <a:latin typeface="Santander Text" panose="020B0504020201020104" pitchFamily="34" charset="0"/>
              </a:rPr>
              <a:t>A nossa cultura baseia-se no princípio de que tudo que fazemos deve ser </a:t>
            </a:r>
          </a:p>
        </p:txBody>
      </p:sp>
      <p:sp>
        <p:nvSpPr>
          <p:cNvPr id="28" name="CuadroTexto 27">
            <a:extLst>
              <a:ext uri="{FF2B5EF4-FFF2-40B4-BE49-F238E27FC236}">
                <a16:creationId xmlns:a16="http://schemas.microsoft.com/office/drawing/2014/main" id="{68E35268-345F-47C7-ADB2-CE92421E8EED}"/>
              </a:ext>
            </a:extLst>
          </p:cNvPr>
          <p:cNvSpPr txBox="1"/>
          <p:nvPr userDrawn="1"/>
        </p:nvSpPr>
        <p:spPr>
          <a:xfrm>
            <a:off x="721506" y="628193"/>
            <a:ext cx="3365478" cy="707886"/>
          </a:xfrm>
          <a:prstGeom prst="rect">
            <a:avLst/>
          </a:prstGeom>
          <a:noFill/>
        </p:spPr>
        <p:txBody>
          <a:bodyPr wrap="square" rtlCol="0">
            <a:spAutoFit/>
          </a:bodyPr>
          <a:lstStyle/>
          <a:p>
            <a:r>
              <a:rPr lang="pt-PT" sz="4000" noProof="0" dirty="0">
                <a:solidFill>
                  <a:schemeClr val="accent1"/>
                </a:solidFill>
                <a:latin typeface="Santander Text" panose="020B0504020201020104" pitchFamily="34" charset="0"/>
              </a:rPr>
              <a:t>Obrigado.</a:t>
            </a:r>
          </a:p>
        </p:txBody>
      </p:sp>
      <p:sp>
        <p:nvSpPr>
          <p:cNvPr id="31" name="Forma libre: forma 30">
            <a:extLst>
              <a:ext uri="{FF2B5EF4-FFF2-40B4-BE49-F238E27FC236}">
                <a16:creationId xmlns:a16="http://schemas.microsoft.com/office/drawing/2014/main" id="{073BDF73-2FC7-4E8C-B95B-B68B9F5D3BE9}"/>
              </a:ext>
            </a:extLst>
          </p:cNvPr>
          <p:cNvSpPr/>
          <p:nvPr userDrawn="1"/>
        </p:nvSpPr>
        <p:spPr>
          <a:xfrm>
            <a:off x="0" y="5229922"/>
            <a:ext cx="12196689" cy="1628078"/>
          </a:xfrm>
          <a:custGeom>
            <a:avLst/>
            <a:gdLst>
              <a:gd name="connsiteX0" fmla="*/ 8932985 w 12196689"/>
              <a:gd name="connsiteY0" fmla="*/ 0 h 1628078"/>
              <a:gd name="connsiteX1" fmla="*/ 12196689 w 12196689"/>
              <a:gd name="connsiteY1" fmla="*/ 0 h 1628078"/>
              <a:gd name="connsiteX2" fmla="*/ 12196689 w 12196689"/>
              <a:gd name="connsiteY2" fmla="*/ 1628078 h 1628078"/>
              <a:gd name="connsiteX3" fmla="*/ 0 w 12196689"/>
              <a:gd name="connsiteY3" fmla="*/ 1628078 h 1628078"/>
              <a:gd name="connsiteX4" fmla="*/ 0 w 12196689"/>
              <a:gd name="connsiteY4" fmla="*/ 1213081 h 1628078"/>
              <a:gd name="connsiteX5" fmla="*/ 8932985 w 12196689"/>
              <a:gd name="connsiteY5" fmla="*/ 1213081 h 1628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6689" h="1628078">
                <a:moveTo>
                  <a:pt x="8932985" y="0"/>
                </a:moveTo>
                <a:lnTo>
                  <a:pt x="12196689" y="0"/>
                </a:lnTo>
                <a:lnTo>
                  <a:pt x="12196689" y="1628078"/>
                </a:lnTo>
                <a:lnTo>
                  <a:pt x="0" y="1628078"/>
                </a:lnTo>
                <a:lnTo>
                  <a:pt x="0" y="1213081"/>
                </a:lnTo>
                <a:lnTo>
                  <a:pt x="8932985" y="121308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pt-PT" noProof="0" dirty="0">
              <a:latin typeface="Santander Text" panose="020B0504020201020104" pitchFamily="34" charset="0"/>
            </a:endParaRPr>
          </a:p>
        </p:txBody>
      </p:sp>
      <p:sp>
        <p:nvSpPr>
          <p:cNvPr id="2" name="TextBox 1">
            <a:extLst>
              <a:ext uri="{FF2B5EF4-FFF2-40B4-BE49-F238E27FC236}">
                <a16:creationId xmlns:a16="http://schemas.microsoft.com/office/drawing/2014/main" id="{4936291A-449C-92AE-1773-E252E8E4AE60}"/>
              </a:ext>
            </a:extLst>
          </p:cNvPr>
          <p:cNvSpPr txBox="1"/>
          <p:nvPr userDrawn="1"/>
        </p:nvSpPr>
        <p:spPr>
          <a:xfrm>
            <a:off x="719288" y="3560855"/>
            <a:ext cx="2931572" cy="400110"/>
          </a:xfrm>
          <a:prstGeom prst="rect">
            <a:avLst/>
          </a:prstGeom>
          <a:noFill/>
        </p:spPr>
        <p:txBody>
          <a:bodyPr wrap="none" rtlCol="0">
            <a:spAutoFit/>
          </a:bodyPr>
          <a:lstStyle/>
          <a:p>
            <a:r>
              <a:rPr lang="pt-PT" sz="2000" b="1" dirty="0">
                <a:solidFill>
                  <a:srgbClr val="FF0000"/>
                </a:solidFill>
                <a:latin typeface="Santander Text" panose="020B0504020201020104" pitchFamily="34" charset="0"/>
              </a:rPr>
              <a:t>Simples</a:t>
            </a:r>
            <a:r>
              <a:rPr lang="pt-PT" sz="2000" dirty="0">
                <a:solidFill>
                  <a:schemeClr val="tx1">
                    <a:lumMod val="65000"/>
                    <a:lumOff val="35000"/>
                  </a:schemeClr>
                </a:solidFill>
                <a:latin typeface="Santander Text" panose="020B0504020201020104" pitchFamily="34" charset="0"/>
              </a:rPr>
              <a:t> | </a:t>
            </a:r>
            <a:r>
              <a:rPr lang="pt-PT" sz="2000" b="1" dirty="0">
                <a:solidFill>
                  <a:srgbClr val="FF0000"/>
                </a:solidFill>
                <a:latin typeface="Santander Text" panose="020B0504020201020104" pitchFamily="34" charset="0"/>
              </a:rPr>
              <a:t>Próximo</a:t>
            </a:r>
            <a:r>
              <a:rPr lang="pt-PT" sz="2000" dirty="0">
                <a:solidFill>
                  <a:schemeClr val="tx1">
                    <a:lumMod val="65000"/>
                    <a:lumOff val="35000"/>
                  </a:schemeClr>
                </a:solidFill>
                <a:latin typeface="Santander Text" panose="020B0504020201020104" pitchFamily="34" charset="0"/>
              </a:rPr>
              <a:t> | </a:t>
            </a:r>
            <a:r>
              <a:rPr lang="pt-PT" sz="2000" b="1" dirty="0">
                <a:solidFill>
                  <a:srgbClr val="FF0000"/>
                </a:solidFill>
                <a:latin typeface="Santander Text" panose="020B0504020201020104" pitchFamily="34" charset="0"/>
              </a:rPr>
              <a:t>Justo</a:t>
            </a:r>
          </a:p>
        </p:txBody>
      </p:sp>
    </p:spTree>
    <p:extLst>
      <p:ext uri="{BB962C8B-B14F-4D97-AF65-F5344CB8AC3E}">
        <p14:creationId xmlns:p14="http://schemas.microsoft.com/office/powerpoint/2010/main" val="14916393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508141E-100E-4635-9FC3-353399DFC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PT" dirty="0"/>
              <a:t>Clique para editar o estilo de título do Modelo Global</a:t>
            </a:r>
            <a:endParaRPr lang="es-ES" dirty="0"/>
          </a:p>
        </p:txBody>
      </p:sp>
      <p:sp>
        <p:nvSpPr>
          <p:cNvPr id="3" name="Marcador de texto 2">
            <a:extLst>
              <a:ext uri="{FF2B5EF4-FFF2-40B4-BE49-F238E27FC236}">
                <a16:creationId xmlns:a16="http://schemas.microsoft.com/office/drawing/2014/main" id="{70BD3726-4CCC-4808-AF74-D4FC34B77CC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PT" dirty="0"/>
              <a:t>Editar os estilos de texto do Modelo Global</a:t>
            </a:r>
          </a:p>
          <a:p>
            <a:pPr lvl="1"/>
            <a:r>
              <a:rPr lang="pt-PT" dirty="0"/>
              <a:t>Segundo nível</a:t>
            </a:r>
          </a:p>
          <a:p>
            <a:pPr lvl="2"/>
            <a:r>
              <a:rPr lang="pt-PT" dirty="0"/>
              <a:t>Terceiro nível</a:t>
            </a:r>
          </a:p>
          <a:p>
            <a:pPr lvl="3"/>
            <a:r>
              <a:rPr lang="pt-PT" dirty="0"/>
              <a:t>Quarto nível</a:t>
            </a:r>
          </a:p>
          <a:p>
            <a:pPr lvl="4"/>
            <a:r>
              <a:rPr lang="pt-PT" dirty="0"/>
              <a:t>Quinto nível</a:t>
            </a:r>
            <a:endParaRPr lang="es-ES" dirty="0"/>
          </a:p>
        </p:txBody>
      </p:sp>
      <p:sp>
        <p:nvSpPr>
          <p:cNvPr id="4" name="Marcador de fecha 3">
            <a:extLst>
              <a:ext uri="{FF2B5EF4-FFF2-40B4-BE49-F238E27FC236}">
                <a16:creationId xmlns:a16="http://schemas.microsoft.com/office/drawing/2014/main" id="{289DA10A-F167-488F-8E2B-A0FE565022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Santander Text" panose="020B0504020201020104" pitchFamily="34" charset="0"/>
              </a:defRPr>
            </a:lvl1pPr>
          </a:lstStyle>
          <a:p>
            <a:endParaRPr lang="es-ES"/>
          </a:p>
        </p:txBody>
      </p:sp>
      <p:sp>
        <p:nvSpPr>
          <p:cNvPr id="5" name="Marcador de pie de página 4">
            <a:extLst>
              <a:ext uri="{FF2B5EF4-FFF2-40B4-BE49-F238E27FC236}">
                <a16:creationId xmlns:a16="http://schemas.microsoft.com/office/drawing/2014/main" id="{0C937220-A8C8-4E71-8BA2-4260C5636D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Santander Text" panose="020B0504020201020104" pitchFamily="34" charset="0"/>
              </a:defRPr>
            </a:lvl1pPr>
          </a:lstStyle>
          <a:p>
            <a:endParaRPr lang="es-ES"/>
          </a:p>
        </p:txBody>
      </p:sp>
      <p:sp>
        <p:nvSpPr>
          <p:cNvPr id="6" name="Marcador de número de diapositiva 5">
            <a:extLst>
              <a:ext uri="{FF2B5EF4-FFF2-40B4-BE49-F238E27FC236}">
                <a16:creationId xmlns:a16="http://schemas.microsoft.com/office/drawing/2014/main" id="{2D5E98D6-3F4E-4F5E-9BFB-DDFD9AC1E7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lang="es-ES" sz="1200" kern="1200" smtClean="0">
                <a:solidFill>
                  <a:schemeClr val="tx1">
                    <a:tint val="75000"/>
                  </a:schemeClr>
                </a:solidFill>
                <a:latin typeface="Santander Text" panose="020B0504020201020104" pitchFamily="34" charset="0"/>
                <a:ea typeface="+mn-ea"/>
                <a:cs typeface="+mn-cs"/>
              </a:defRPr>
            </a:lvl1pPr>
          </a:lstStyle>
          <a:p>
            <a:fld id="{BC0D97B6-E32F-4D7D-B839-7C3B51F2640F}" type="slidenum">
              <a:rPr lang="pt-PT" smtClean="0"/>
              <a:pPr/>
              <a:t>‹#›</a:t>
            </a:fld>
            <a:endParaRPr lang="pt-PT" dirty="0"/>
          </a:p>
        </p:txBody>
      </p:sp>
    </p:spTree>
    <p:extLst>
      <p:ext uri="{BB962C8B-B14F-4D97-AF65-F5344CB8AC3E}">
        <p14:creationId xmlns:p14="http://schemas.microsoft.com/office/powerpoint/2010/main" val="38046832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6" r:id="rId3"/>
    <p:sldLayoutId id="2147483651" r:id="rId4"/>
    <p:sldLayoutId id="2147483652" r:id="rId5"/>
    <p:sldLayoutId id="2147483660" r:id="rId6"/>
    <p:sldLayoutId id="2147483661" r:id="rId7"/>
    <p:sldLayoutId id="2147483662" r:id="rId8"/>
    <p:sldLayoutId id="2147483663" r:id="rId9"/>
    <p:sldLayoutId id="2147483664" r:id="rId10"/>
    <p:sldLayoutId id="214748366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Santander Text" panose="020B05040202010201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antander Text" panose="020B05040202010201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antander Text" panose="020B05040202010201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antander Text" panose="020B05040202010201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antander Text" panose="020B05040202010201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hyperlink" Target="https://confluence.alm.europe.cloudcenter.corp/display/APISANPT/9.+Portfolio+de+API%27s"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hyperlink" Target="https://santandernet.sharepoint.com/sites/Cibersegurana-MicroSite/Shared%20Documents/Pol%C3%ADticas/Cyber%20Security%20Requirements%20for%20Business%20Areas%20Policy.pdf?web=1" TargetMode="Externa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40447380-3E61-4E42-AFCA-CAF1866AAF93}"/>
              </a:ext>
            </a:extLst>
          </p:cNvPr>
          <p:cNvSpPr>
            <a:spLocks noGrp="1"/>
          </p:cNvSpPr>
          <p:nvPr>
            <p:ph type="ctrTitle"/>
          </p:nvPr>
        </p:nvSpPr>
        <p:spPr>
          <a:xfrm>
            <a:off x="721744" y="1096484"/>
            <a:ext cx="6026786" cy="1711109"/>
          </a:xfrm>
        </p:spPr>
        <p:txBody>
          <a:bodyPr>
            <a:normAutofit/>
          </a:bodyPr>
          <a:lstStyle/>
          <a:p>
            <a:r>
              <a:rPr lang="pt-PT" dirty="0"/>
              <a:t>Desenho de Solução</a:t>
            </a:r>
          </a:p>
        </p:txBody>
      </p:sp>
      <p:sp>
        <p:nvSpPr>
          <p:cNvPr id="7" name="Subtítulo 6">
            <a:extLst>
              <a:ext uri="{FF2B5EF4-FFF2-40B4-BE49-F238E27FC236}">
                <a16:creationId xmlns:a16="http://schemas.microsoft.com/office/drawing/2014/main" id="{D184A763-02A6-4822-A5F0-D9E80A5D8061}"/>
              </a:ext>
            </a:extLst>
          </p:cNvPr>
          <p:cNvSpPr>
            <a:spLocks noGrp="1"/>
          </p:cNvSpPr>
          <p:nvPr>
            <p:ph type="subTitle" idx="1"/>
          </p:nvPr>
        </p:nvSpPr>
        <p:spPr>
          <a:xfrm>
            <a:off x="724620" y="2722142"/>
            <a:ext cx="4934309" cy="697952"/>
          </a:xfrm>
        </p:spPr>
        <p:txBody>
          <a:bodyPr/>
          <a:lstStyle/>
          <a:p>
            <a:r>
              <a:rPr lang="pt-PT" dirty="0" smtClean="0"/>
              <a:t>Automatização de </a:t>
            </a:r>
            <a:r>
              <a:rPr lang="pt-PT" dirty="0" err="1" smtClean="0"/>
              <a:t>Reports</a:t>
            </a:r>
            <a:r>
              <a:rPr lang="pt-PT" dirty="0" smtClean="0"/>
              <a:t> Financeira (FMIR, LDR e </a:t>
            </a:r>
            <a:r>
              <a:rPr lang="pt-PT" dirty="0" err="1" smtClean="0"/>
              <a:t>Valuation</a:t>
            </a:r>
            <a:endParaRPr lang="pt-PT" dirty="0"/>
          </a:p>
        </p:txBody>
      </p:sp>
      <p:sp>
        <p:nvSpPr>
          <p:cNvPr id="9" name="Marcador de texto 8">
            <a:extLst>
              <a:ext uri="{FF2B5EF4-FFF2-40B4-BE49-F238E27FC236}">
                <a16:creationId xmlns:a16="http://schemas.microsoft.com/office/drawing/2014/main" id="{846C0DCE-BC9C-49A6-A719-B8608011D8B4}"/>
              </a:ext>
            </a:extLst>
          </p:cNvPr>
          <p:cNvSpPr>
            <a:spLocks noGrp="1"/>
          </p:cNvSpPr>
          <p:nvPr>
            <p:ph type="body" sz="quarter" idx="14"/>
          </p:nvPr>
        </p:nvSpPr>
        <p:spPr>
          <a:xfrm>
            <a:off x="709650" y="333651"/>
            <a:ext cx="11177550" cy="619386"/>
          </a:xfrm>
        </p:spPr>
        <p:txBody>
          <a:bodyPr/>
          <a:lstStyle/>
          <a:p>
            <a:r>
              <a:rPr lang="pt-PT" dirty="0"/>
              <a:t>Service Strategy | </a:t>
            </a:r>
            <a:r>
              <a:rPr lang="pt-PT" b="1" dirty="0"/>
              <a:t>Enterprise Architecture</a:t>
            </a:r>
          </a:p>
          <a:p>
            <a:r>
              <a:rPr lang="pt-PT" dirty="0"/>
              <a:t>Lisboa, </a:t>
            </a:r>
            <a:r>
              <a:rPr lang="pt-PT" dirty="0" smtClean="0"/>
              <a:t>Setembro </a:t>
            </a:r>
            <a:r>
              <a:rPr lang="pt-PT" dirty="0"/>
              <a:t>de </a:t>
            </a:r>
            <a:r>
              <a:rPr lang="pt-PT" dirty="0" smtClean="0"/>
              <a:t>2023</a:t>
            </a:r>
            <a:endParaRPr lang="pt-PT" dirty="0"/>
          </a:p>
        </p:txBody>
      </p:sp>
      <p:sp>
        <p:nvSpPr>
          <p:cNvPr id="5" name="Subtítulo 6">
            <a:extLst>
              <a:ext uri="{FF2B5EF4-FFF2-40B4-BE49-F238E27FC236}">
                <a16:creationId xmlns:a16="http://schemas.microsoft.com/office/drawing/2014/main" id="{8C2DF578-2E05-4115-850C-2C6E42478B79}"/>
              </a:ext>
            </a:extLst>
          </p:cNvPr>
          <p:cNvSpPr txBox="1">
            <a:spLocks/>
          </p:cNvSpPr>
          <p:nvPr/>
        </p:nvSpPr>
        <p:spPr>
          <a:xfrm>
            <a:off x="7320136" y="6236317"/>
            <a:ext cx="1802250" cy="288032"/>
          </a:xfrm>
          <a:prstGeom prst="rect">
            <a:avLst/>
          </a:prstGeom>
        </p:spPr>
        <p:txBody>
          <a:bodyPr vert="horz" lIns="91440" tIns="45720" rIns="91440" bIns="45720" rtlCol="0">
            <a:noAutofit/>
          </a:bodyPr>
          <a:lstStyle>
            <a:lvl1pPr marL="0" indent="0" algn="l" defTabSz="914400" rtl="0" eaLnBrk="1" latinLnBrk="0" hangingPunct="1">
              <a:lnSpc>
                <a:spcPct val="100000"/>
              </a:lnSpc>
              <a:spcBef>
                <a:spcPts val="0"/>
              </a:spcBef>
              <a:spcAft>
                <a:spcPts val="1200"/>
              </a:spcAft>
              <a:buFont typeface="Arial" panose="020B0604020202020204" pitchFamily="34" charset="0"/>
              <a:buNone/>
              <a:defRPr sz="2000" kern="1200">
                <a:solidFill>
                  <a:schemeClr val="tx2"/>
                </a:solidFill>
                <a:latin typeface="Santander Text" panose="020B0504020201020104" pitchFamily="34" charset="0"/>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antander Text" panose="020B05040202010201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antander Text" panose="020B05040202010201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antander Text" panose="020B05040202010201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antander Text" panose="020B05040202010201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ctr"/>
            <a:r>
              <a:rPr lang="pt-PT" sz="900" dirty="0" err="1"/>
              <a:t>Template</a:t>
            </a:r>
            <a:r>
              <a:rPr lang="pt-PT" sz="900" dirty="0"/>
              <a:t> v 4.0 de 20230829</a:t>
            </a:r>
          </a:p>
        </p:txBody>
      </p:sp>
      <p:pic>
        <p:nvPicPr>
          <p:cNvPr id="3" name="Picture 2" descr="Chart&#10;&#10;Description automatically generated with medium confidence">
            <a:extLst>
              <a:ext uri="{FF2B5EF4-FFF2-40B4-BE49-F238E27FC236}">
                <a16:creationId xmlns:a16="http://schemas.microsoft.com/office/drawing/2014/main" id="{4AC02B24-4078-4D7C-A0F9-A2DD2B815182}"/>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307973" y="363409"/>
            <a:ext cx="1584176" cy="1179705"/>
          </a:xfrm>
          <a:prstGeom prst="rect">
            <a:avLst/>
          </a:prstGeom>
        </p:spPr>
      </p:pic>
    </p:spTree>
    <p:extLst>
      <p:ext uri="{BB962C8B-B14F-4D97-AF65-F5344CB8AC3E}">
        <p14:creationId xmlns:p14="http://schemas.microsoft.com/office/powerpoint/2010/main" val="11256576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Posição do Número do Diapositivo 2">
            <a:extLst>
              <a:ext uri="{FF2B5EF4-FFF2-40B4-BE49-F238E27FC236}">
                <a16:creationId xmlns:a16="http://schemas.microsoft.com/office/drawing/2014/main" id="{6BE5CD3F-0FAD-4B4F-A5D9-A3828F68F78A}"/>
              </a:ext>
            </a:extLst>
          </p:cNvPr>
          <p:cNvSpPr>
            <a:spLocks noGrp="1"/>
          </p:cNvSpPr>
          <p:nvPr>
            <p:ph type="sldNum" sz="quarter" idx="12"/>
          </p:nvPr>
        </p:nvSpPr>
        <p:spPr/>
        <p:txBody>
          <a:bodyPr/>
          <a:lstStyle/>
          <a:p>
            <a:fld id="{BC0D97B6-E32F-4D7D-B839-7C3B51F2640F}" type="slidenum">
              <a:rPr lang="es-ES" smtClean="0"/>
              <a:pPr/>
              <a:t>2</a:t>
            </a:fld>
            <a:endParaRPr lang="es-ES"/>
          </a:p>
        </p:txBody>
      </p:sp>
      <p:sp>
        <p:nvSpPr>
          <p:cNvPr id="10" name="Marcador de Posição do Texto 9">
            <a:extLst>
              <a:ext uri="{FF2B5EF4-FFF2-40B4-BE49-F238E27FC236}">
                <a16:creationId xmlns:a16="http://schemas.microsoft.com/office/drawing/2014/main" id="{4234CC62-0792-1067-D902-645764D00466}"/>
              </a:ext>
            </a:extLst>
          </p:cNvPr>
          <p:cNvSpPr>
            <a:spLocks noGrp="1"/>
          </p:cNvSpPr>
          <p:nvPr>
            <p:ph type="body" sz="quarter" idx="14"/>
          </p:nvPr>
        </p:nvSpPr>
        <p:spPr>
          <a:xfrm>
            <a:off x="716633" y="415273"/>
            <a:ext cx="10758734" cy="304800"/>
          </a:xfrm>
        </p:spPr>
        <p:txBody>
          <a:bodyPr vert="horz" lIns="91440" tIns="45720" rIns="91440" bIns="45720" rtlCol="0" anchor="t">
            <a:noAutofit/>
          </a:bodyPr>
          <a:lstStyle/>
          <a:p>
            <a:pPr algn="ctr"/>
            <a:r>
              <a:rPr lang="pt-PT" sz="1800" dirty="0">
                <a:solidFill>
                  <a:schemeClr val="tx1"/>
                </a:solidFill>
                <a:latin typeface="Santander Text"/>
              </a:rPr>
              <a:t>Copyright, IP </a:t>
            </a:r>
            <a:r>
              <a:rPr lang="pt-PT" sz="1800" dirty="0" err="1">
                <a:solidFill>
                  <a:schemeClr val="tx1"/>
                </a:solidFill>
                <a:latin typeface="Santander Text"/>
              </a:rPr>
              <a:t>Rights</a:t>
            </a:r>
            <a:r>
              <a:rPr lang="pt-PT" sz="1800" dirty="0">
                <a:solidFill>
                  <a:schemeClr val="tx1"/>
                </a:solidFill>
                <a:latin typeface="Santander Text"/>
              </a:rPr>
              <a:t>, </a:t>
            </a:r>
            <a:r>
              <a:rPr lang="pt-PT" sz="1800" dirty="0" err="1">
                <a:solidFill>
                  <a:schemeClr val="tx1"/>
                </a:solidFill>
                <a:latin typeface="Santander Text"/>
              </a:rPr>
              <a:t>Proprietary</a:t>
            </a:r>
            <a:r>
              <a:rPr lang="pt-PT" sz="1800" dirty="0">
                <a:solidFill>
                  <a:schemeClr val="tx1"/>
                </a:solidFill>
                <a:latin typeface="Santander Text"/>
              </a:rPr>
              <a:t> </a:t>
            </a:r>
            <a:r>
              <a:rPr lang="pt-PT" sz="1800" dirty="0" err="1">
                <a:solidFill>
                  <a:schemeClr val="tx1"/>
                </a:solidFill>
                <a:latin typeface="Santander Text"/>
              </a:rPr>
              <a:t>Information</a:t>
            </a:r>
            <a:endParaRPr lang="pt-PT" sz="1800" dirty="0">
              <a:solidFill>
                <a:schemeClr val="tx1"/>
              </a:solidFill>
              <a:latin typeface="Santander Text"/>
            </a:endParaRPr>
          </a:p>
          <a:p>
            <a:endParaRPr lang="pt-PT" sz="1800" dirty="0"/>
          </a:p>
        </p:txBody>
      </p:sp>
      <p:sp>
        <p:nvSpPr>
          <p:cNvPr id="11" name="Marcador de Posição do Texto 10">
            <a:extLst>
              <a:ext uri="{FF2B5EF4-FFF2-40B4-BE49-F238E27FC236}">
                <a16:creationId xmlns:a16="http://schemas.microsoft.com/office/drawing/2014/main" id="{B503E70D-A2C2-6EBE-B800-454B49FE08BD}"/>
              </a:ext>
            </a:extLst>
          </p:cNvPr>
          <p:cNvSpPr>
            <a:spLocks noGrp="1"/>
          </p:cNvSpPr>
          <p:nvPr>
            <p:ph type="body" sz="quarter" idx="15"/>
          </p:nvPr>
        </p:nvSpPr>
        <p:spPr>
          <a:xfrm>
            <a:off x="716634" y="1116240"/>
            <a:ext cx="10758733" cy="4761032"/>
          </a:xfrm>
        </p:spPr>
        <p:txBody>
          <a:bodyPr vert="horz" lIns="91440" tIns="45720" rIns="91440" bIns="45720" numCol="2" spcCol="720000" rtlCol="0" anchor="t">
            <a:noAutofit/>
          </a:bodyPr>
          <a:lstStyle/>
          <a:p>
            <a:pPr>
              <a:lnSpc>
                <a:spcPct val="100000"/>
              </a:lnSpc>
            </a:pPr>
            <a:r>
              <a:rPr lang="pt-PT" dirty="0">
                <a:latin typeface="Santander Text"/>
              </a:rPr>
              <a:t>Todo o conteúdo deste documento/apresentação é protegido por direitos autorais e/ou outros direitos de propriedade intelectual, salvo indicação em contrário. Todos os direitos são reservados e propriedade do Santander Portugal e do Grupo Santander. </a:t>
            </a:r>
            <a:endParaRPr lang="pt-PT" dirty="0"/>
          </a:p>
          <a:p>
            <a:pPr>
              <a:lnSpc>
                <a:spcPct val="100000"/>
              </a:lnSpc>
            </a:pPr>
            <a:r>
              <a:rPr lang="pt-PT" dirty="0">
                <a:latin typeface="Santander Text"/>
              </a:rPr>
              <a:t>Nenhuma reprodução ou distribuição de todo ou parte deste documento pode ser feita sem autorização prévia por escrito do Santander. Apenas para os fins exclusivos para os quais você é o destinatário deste documento/apresentação, você poderá fazer uma cópia ou imprimi-lo, desde que não haja alterações em seu conteúdo e esta nota seja incluída para que os direitos sejam acreditados e incorporado na reprodução. </a:t>
            </a:r>
            <a:r>
              <a:rPr lang="pt-PT" u="sng" dirty="0">
                <a:latin typeface="Santander Text"/>
              </a:rPr>
              <a:t>Qualquer uso comercial é totalmente proibido. </a:t>
            </a:r>
            <a:endParaRPr lang="pt-PT" u="sng" dirty="0"/>
          </a:p>
          <a:p>
            <a:pPr>
              <a:lnSpc>
                <a:spcPct val="100000"/>
              </a:lnSpc>
            </a:pPr>
            <a:r>
              <a:rPr lang="pt-PT" dirty="0">
                <a:latin typeface="Santander Text"/>
              </a:rPr>
              <a:t>O Santander Portugal é o proprietário, titular dos direitos de propriedade intelectual e industrial ou utilizador autorizado e legítimo de todo o conteúdo e aspectos deste documento/apresentação incluindo marcas, informações, textos, fotografias e design, salvo indicação em contrário. </a:t>
            </a:r>
            <a:endParaRPr lang="pt-PT" dirty="0"/>
          </a:p>
          <a:p>
            <a:pPr>
              <a:lnSpc>
                <a:spcPct val="100000"/>
              </a:lnSpc>
            </a:pPr>
            <a:r>
              <a:rPr lang="pt-PT" dirty="0">
                <a:latin typeface="Santander Text"/>
              </a:rPr>
              <a:t>Embora todos os esforços tenham sido feitos para fornecer informações precisas, erros e omissões podem ocorrer. Assim, o Santander Portugal não assume qualquer responsabilidade por qualquer perda ou dano que possa, direta ou indiretamente, resultar de qualquer conselho, opinião, informação, representação ou omissão, negligente ou não, a dados ou informações contidas neste documento/apresentação.</a:t>
            </a:r>
            <a:endParaRPr lang="pt-PT" dirty="0">
              <a:solidFill>
                <a:srgbClr val="C00000"/>
              </a:solidFill>
              <a:latin typeface="Santander Text"/>
            </a:endParaRPr>
          </a:p>
          <a:p>
            <a:pPr>
              <a:lnSpc>
                <a:spcPct val="100000"/>
              </a:lnSpc>
            </a:pPr>
            <a:r>
              <a:rPr lang="pt-PT" dirty="0" err="1">
                <a:solidFill>
                  <a:srgbClr val="C00000"/>
                </a:solidFill>
                <a:latin typeface="Santander Text"/>
              </a:rPr>
              <a:t>Everything</a:t>
            </a:r>
            <a:r>
              <a:rPr lang="pt-PT" dirty="0">
                <a:solidFill>
                  <a:srgbClr val="C00000"/>
                </a:solidFill>
                <a:latin typeface="Santander Text"/>
              </a:rPr>
              <a:t> </a:t>
            </a:r>
            <a:r>
              <a:rPr lang="pt-PT" dirty="0" err="1">
                <a:solidFill>
                  <a:srgbClr val="C00000"/>
                </a:solidFill>
                <a:latin typeface="Santander Text"/>
              </a:rPr>
              <a:t>on</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copyrighted</a:t>
            </a:r>
            <a:r>
              <a:rPr lang="pt-PT" dirty="0">
                <a:solidFill>
                  <a:srgbClr val="C00000"/>
                </a:solidFill>
                <a:latin typeface="Santander Text"/>
              </a:rPr>
              <a:t> </a:t>
            </a:r>
            <a:r>
              <a:rPr lang="pt-PT" dirty="0" err="1">
                <a:solidFill>
                  <a:srgbClr val="C00000"/>
                </a:solidFill>
                <a:latin typeface="Santander Text"/>
              </a:rPr>
              <a:t>unless</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noted</a:t>
            </a:r>
            <a:r>
              <a:rPr lang="pt-PT" dirty="0">
                <a:solidFill>
                  <a:srgbClr val="C00000"/>
                </a:solidFill>
                <a:latin typeface="Santander Text"/>
              </a:rPr>
              <a:t>.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rights</a:t>
            </a:r>
            <a:r>
              <a:rPr lang="pt-PT" dirty="0">
                <a:solidFill>
                  <a:srgbClr val="C00000"/>
                </a:solidFill>
                <a:latin typeface="Santander Text"/>
              </a:rPr>
              <a:t> are </a:t>
            </a:r>
            <a:r>
              <a:rPr lang="pt-PT" dirty="0" err="1">
                <a:solidFill>
                  <a:srgbClr val="C00000"/>
                </a:solidFill>
                <a:latin typeface="Santander Text"/>
              </a:rPr>
              <a:t>reserved</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remain</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exclusive </a:t>
            </a:r>
            <a:r>
              <a:rPr lang="pt-PT" dirty="0" err="1">
                <a:solidFill>
                  <a:srgbClr val="C00000"/>
                </a:solidFill>
                <a:latin typeface="Santander Text"/>
              </a:rPr>
              <a:t>property</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Santander Portugal </a:t>
            </a:r>
            <a:r>
              <a:rPr lang="pt-PT" dirty="0" err="1">
                <a:solidFill>
                  <a:srgbClr val="C00000"/>
                </a:solidFill>
                <a:latin typeface="Santander Text"/>
              </a:rPr>
              <a:t>and</a:t>
            </a:r>
            <a:r>
              <a:rPr lang="pt-PT" dirty="0">
                <a:solidFill>
                  <a:srgbClr val="C00000"/>
                </a:solidFill>
                <a:latin typeface="Santander Text"/>
              </a:rPr>
              <a:t> Grupo Santander.</a:t>
            </a:r>
          </a:p>
          <a:p>
            <a:pPr>
              <a:lnSpc>
                <a:spcPct val="100000"/>
              </a:lnSpc>
            </a:pPr>
            <a:r>
              <a:rPr lang="pt-PT" dirty="0">
                <a:solidFill>
                  <a:srgbClr val="C00000"/>
                </a:solidFill>
                <a:latin typeface="Santander Text"/>
              </a:rPr>
              <a:t>No </a:t>
            </a:r>
            <a:r>
              <a:rPr lang="pt-PT" dirty="0" err="1">
                <a:solidFill>
                  <a:srgbClr val="C00000"/>
                </a:solidFill>
                <a:latin typeface="Santander Text"/>
              </a:rPr>
              <a:t>reproduction</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distribution</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part</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for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reason</a:t>
            </a:r>
            <a:r>
              <a:rPr lang="pt-PT" dirty="0">
                <a:solidFill>
                  <a:srgbClr val="C00000"/>
                </a:solidFill>
                <a:latin typeface="Santander Text"/>
              </a:rPr>
              <a:t> </a:t>
            </a:r>
            <a:r>
              <a:rPr lang="pt-PT" dirty="0" err="1">
                <a:solidFill>
                  <a:srgbClr val="C00000"/>
                </a:solidFill>
                <a:latin typeface="Santander Text"/>
              </a:rPr>
              <a:t>without</a:t>
            </a:r>
            <a:r>
              <a:rPr lang="pt-PT" dirty="0">
                <a:solidFill>
                  <a:srgbClr val="C00000"/>
                </a:solidFill>
                <a:latin typeface="Santander Text"/>
              </a:rPr>
              <a:t> </a:t>
            </a:r>
            <a:r>
              <a:rPr lang="pt-PT" dirty="0" err="1">
                <a:solidFill>
                  <a:srgbClr val="C00000"/>
                </a:solidFill>
                <a:latin typeface="Santander Text"/>
              </a:rPr>
              <a:t>first</a:t>
            </a:r>
            <a:r>
              <a:rPr lang="pt-PT" dirty="0">
                <a:solidFill>
                  <a:srgbClr val="C00000"/>
                </a:solidFill>
                <a:latin typeface="Santander Text"/>
              </a:rPr>
              <a:t> </a:t>
            </a:r>
            <a:r>
              <a:rPr lang="pt-PT" dirty="0" err="1">
                <a:solidFill>
                  <a:srgbClr val="C00000"/>
                </a:solidFill>
                <a:latin typeface="Santander Text"/>
              </a:rPr>
              <a:t>receiving</a:t>
            </a:r>
            <a:r>
              <a:rPr lang="pt-PT" dirty="0">
                <a:solidFill>
                  <a:srgbClr val="C00000"/>
                </a:solidFill>
                <a:latin typeface="Santander Text"/>
              </a:rPr>
              <a:t> </a:t>
            </a:r>
            <a:r>
              <a:rPr lang="pt-PT" dirty="0" err="1">
                <a:solidFill>
                  <a:srgbClr val="C00000"/>
                </a:solidFill>
                <a:latin typeface="Santander Text"/>
              </a:rPr>
              <a:t>written</a:t>
            </a:r>
            <a:r>
              <a:rPr lang="pt-PT" dirty="0">
                <a:solidFill>
                  <a:srgbClr val="C00000"/>
                </a:solidFill>
                <a:latin typeface="Santander Text"/>
              </a:rPr>
              <a:t> </a:t>
            </a:r>
            <a:r>
              <a:rPr lang="pt-PT" dirty="0" err="1">
                <a:solidFill>
                  <a:srgbClr val="C00000"/>
                </a:solidFill>
                <a:latin typeface="Santander Text"/>
              </a:rPr>
              <a:t>permission</a:t>
            </a:r>
            <a:r>
              <a:rPr lang="pt-PT" dirty="0">
                <a:solidFill>
                  <a:srgbClr val="C00000"/>
                </a:solidFill>
                <a:latin typeface="Santander Text"/>
              </a:rPr>
              <a:t> </a:t>
            </a:r>
            <a:r>
              <a:rPr lang="pt-PT" dirty="0" err="1">
                <a:solidFill>
                  <a:srgbClr val="C00000"/>
                </a:solidFill>
                <a:latin typeface="Santander Text"/>
              </a:rPr>
              <a:t>from</a:t>
            </a:r>
            <a:r>
              <a:rPr lang="pt-PT" dirty="0">
                <a:solidFill>
                  <a:srgbClr val="C00000"/>
                </a:solidFill>
                <a:latin typeface="Santander Text"/>
              </a:rPr>
              <a:t> Santander Portugal. </a:t>
            </a:r>
            <a:r>
              <a:rPr lang="pt-PT" dirty="0" err="1">
                <a:solidFill>
                  <a:srgbClr val="C00000"/>
                </a:solidFill>
                <a:latin typeface="Santander Text"/>
              </a:rPr>
              <a:t>Only</a:t>
            </a:r>
            <a:r>
              <a:rPr lang="pt-PT" dirty="0">
                <a:solidFill>
                  <a:srgbClr val="C00000"/>
                </a:solidFill>
                <a:latin typeface="Santander Text"/>
              </a:rPr>
              <a:t> for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intended</a:t>
            </a:r>
            <a:r>
              <a:rPr lang="pt-PT" dirty="0">
                <a:solidFill>
                  <a:srgbClr val="C00000"/>
                </a:solidFill>
                <a:latin typeface="Santander Text"/>
              </a:rPr>
              <a:t> </a:t>
            </a:r>
            <a:r>
              <a:rPr lang="pt-PT" dirty="0" err="1">
                <a:solidFill>
                  <a:srgbClr val="C00000"/>
                </a:solidFill>
                <a:latin typeface="Santander Text"/>
              </a:rPr>
              <a:t>purpose</a:t>
            </a:r>
            <a:r>
              <a:rPr lang="pt-PT" dirty="0">
                <a:solidFill>
                  <a:srgbClr val="C00000"/>
                </a:solidFill>
                <a:latin typeface="Santander Text"/>
              </a:rPr>
              <a:t> for </a:t>
            </a:r>
            <a:r>
              <a:rPr lang="pt-PT" dirty="0" err="1">
                <a:solidFill>
                  <a:srgbClr val="C00000"/>
                </a:solidFill>
                <a:latin typeface="Santander Text"/>
              </a:rPr>
              <a:t>which</a:t>
            </a:r>
            <a:r>
              <a:rPr lang="pt-PT" dirty="0">
                <a:solidFill>
                  <a:srgbClr val="C00000"/>
                </a:solidFill>
                <a:latin typeface="Santander Text"/>
              </a:rPr>
              <a:t> </a:t>
            </a:r>
            <a:r>
              <a:rPr lang="pt-PT" dirty="0" err="1">
                <a:solidFill>
                  <a:srgbClr val="C00000"/>
                </a:solidFill>
                <a:latin typeface="Santander Text"/>
              </a:rPr>
              <a:t>you</a:t>
            </a:r>
            <a:r>
              <a:rPr lang="pt-PT" dirty="0">
                <a:solidFill>
                  <a:srgbClr val="C00000"/>
                </a:solidFill>
                <a:latin typeface="Santander Text"/>
              </a:rPr>
              <a:t> are </a:t>
            </a:r>
            <a:r>
              <a:rPr lang="pt-PT" dirty="0" err="1">
                <a:solidFill>
                  <a:srgbClr val="C00000"/>
                </a:solidFill>
                <a:latin typeface="Santander Text"/>
              </a:rPr>
              <a:t>receiving</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you</a:t>
            </a:r>
            <a:r>
              <a:rPr lang="pt-PT" dirty="0">
                <a:solidFill>
                  <a:srgbClr val="C00000"/>
                </a:solidFill>
                <a:latin typeface="Santander Text"/>
              </a:rPr>
              <a:t> </a:t>
            </a:r>
            <a:r>
              <a:rPr lang="pt-PT" dirty="0" err="1">
                <a:solidFill>
                  <a:srgbClr val="C00000"/>
                </a:solidFill>
                <a:latin typeface="Santander Text"/>
              </a:rPr>
              <a:t>would</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allowed</a:t>
            </a:r>
            <a:r>
              <a:rPr lang="pt-PT" dirty="0">
                <a:solidFill>
                  <a:srgbClr val="C00000"/>
                </a:solidFill>
                <a:latin typeface="Santander Text"/>
              </a:rPr>
              <a:t> to </a:t>
            </a:r>
            <a:r>
              <a:rPr lang="pt-PT" dirty="0" err="1">
                <a:solidFill>
                  <a:srgbClr val="C00000"/>
                </a:solidFill>
                <a:latin typeface="Santander Text"/>
              </a:rPr>
              <a:t>make</a:t>
            </a:r>
            <a:r>
              <a:rPr lang="pt-PT" dirty="0">
                <a:solidFill>
                  <a:srgbClr val="C00000"/>
                </a:solidFill>
                <a:latin typeface="Santander Text"/>
              </a:rPr>
              <a:t> a single </a:t>
            </a:r>
            <a:r>
              <a:rPr lang="pt-PT" dirty="0" err="1">
                <a:solidFill>
                  <a:srgbClr val="C00000"/>
                </a:solidFill>
                <a:latin typeface="Santander Text"/>
              </a:rPr>
              <a:t>copy</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print </a:t>
            </a:r>
            <a:r>
              <a:rPr lang="pt-PT" dirty="0" err="1">
                <a:solidFill>
                  <a:srgbClr val="C00000"/>
                </a:solidFill>
                <a:latin typeface="Santander Text"/>
              </a:rPr>
              <a:t>it</a:t>
            </a:r>
            <a:r>
              <a:rPr lang="pt-PT" dirty="0">
                <a:solidFill>
                  <a:srgbClr val="C00000"/>
                </a:solidFill>
                <a:latin typeface="Santander Text"/>
              </a:rPr>
              <a:t>, </a:t>
            </a:r>
            <a:r>
              <a:rPr lang="pt-PT" dirty="0" err="1">
                <a:solidFill>
                  <a:srgbClr val="C00000"/>
                </a:solidFill>
                <a:latin typeface="Santander Text"/>
              </a:rPr>
              <a:t>provided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no </a:t>
            </a:r>
            <a:r>
              <a:rPr lang="pt-PT" dirty="0" err="1">
                <a:solidFill>
                  <a:srgbClr val="C00000"/>
                </a:solidFill>
                <a:latin typeface="Santander Text"/>
              </a:rPr>
              <a:t>changes</a:t>
            </a:r>
            <a:r>
              <a:rPr lang="pt-PT" dirty="0">
                <a:solidFill>
                  <a:srgbClr val="C00000"/>
                </a:solidFill>
                <a:latin typeface="Santander Text"/>
              </a:rPr>
              <a:t> are </a:t>
            </a:r>
            <a:r>
              <a:rPr lang="pt-PT" dirty="0" err="1">
                <a:solidFill>
                  <a:srgbClr val="C00000"/>
                </a:solidFill>
                <a:latin typeface="Santander Text"/>
              </a:rPr>
              <a:t>made</a:t>
            </a:r>
            <a:r>
              <a:rPr lang="pt-PT" dirty="0">
                <a:solidFill>
                  <a:srgbClr val="C00000"/>
                </a:solidFill>
                <a:latin typeface="Santander Text"/>
              </a:rPr>
              <a:t> to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provided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a copyright </a:t>
            </a:r>
            <a:r>
              <a:rPr lang="pt-PT" dirty="0" err="1">
                <a:solidFill>
                  <a:srgbClr val="C00000"/>
                </a:solidFill>
                <a:latin typeface="Santander Text"/>
              </a:rPr>
              <a:t>notice</a:t>
            </a:r>
            <a:r>
              <a:rPr lang="pt-PT" dirty="0">
                <a:solidFill>
                  <a:srgbClr val="C00000"/>
                </a:solidFill>
                <a:latin typeface="Santander Text"/>
              </a:rPr>
              <a:t> </a:t>
            </a:r>
            <a:r>
              <a:rPr lang="pt-PT" dirty="0" err="1">
                <a:solidFill>
                  <a:srgbClr val="C00000"/>
                </a:solidFill>
                <a:latin typeface="Santander Text"/>
              </a:rPr>
              <a:t>accrediting</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attached</a:t>
            </a:r>
            <a:r>
              <a:rPr lang="pt-PT" dirty="0">
                <a:solidFill>
                  <a:srgbClr val="C00000"/>
                </a:solidFill>
                <a:latin typeface="Santander Text"/>
              </a:rPr>
              <a:t> to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reproduction</a:t>
            </a:r>
            <a:r>
              <a:rPr lang="pt-PT" dirty="0">
                <a:solidFill>
                  <a:srgbClr val="C00000"/>
                </a:solidFill>
                <a:latin typeface="Santander Text"/>
              </a:rPr>
              <a:t>. </a:t>
            </a:r>
            <a:r>
              <a:rPr lang="pt-PT" dirty="0" err="1">
                <a:solidFill>
                  <a:srgbClr val="C00000"/>
                </a:solidFill>
                <a:latin typeface="Santander Text"/>
              </a:rPr>
              <a:t>Beyond</a:t>
            </a:r>
            <a:r>
              <a:rPr lang="pt-PT" dirty="0">
                <a:solidFill>
                  <a:srgbClr val="C00000"/>
                </a:solidFill>
                <a:latin typeface="Santander Text"/>
              </a:rPr>
              <a:t> </a:t>
            </a:r>
            <a:r>
              <a:rPr lang="pt-PT" dirty="0" err="1">
                <a:solidFill>
                  <a:srgbClr val="C00000"/>
                </a:solidFill>
                <a:latin typeface="Santander Text"/>
              </a:rPr>
              <a:t>that</a:t>
            </a:r>
            <a:r>
              <a:rPr lang="pt-PT" dirty="0">
                <a:solidFill>
                  <a:srgbClr val="C00000"/>
                </a:solidFill>
                <a:latin typeface="Santander Text"/>
              </a:rPr>
              <a:t>, no </a:t>
            </a:r>
            <a:r>
              <a:rPr lang="pt-PT" dirty="0" err="1">
                <a:solidFill>
                  <a:srgbClr val="C00000"/>
                </a:solidFill>
                <a:latin typeface="Santander Text"/>
              </a:rPr>
              <a:t>further</a:t>
            </a:r>
            <a:r>
              <a:rPr lang="pt-PT" dirty="0">
                <a:solidFill>
                  <a:srgbClr val="C00000"/>
                </a:solidFill>
                <a:latin typeface="Santander Text"/>
              </a:rPr>
              <a:t> copies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be</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distributed</a:t>
            </a:r>
            <a:r>
              <a:rPr lang="pt-PT" dirty="0">
                <a:solidFill>
                  <a:srgbClr val="C00000"/>
                </a:solidFill>
                <a:latin typeface="Santander Text"/>
              </a:rPr>
              <a:t> </a:t>
            </a:r>
            <a:r>
              <a:rPr lang="pt-PT" dirty="0" err="1">
                <a:solidFill>
                  <a:srgbClr val="C00000"/>
                </a:solidFill>
                <a:latin typeface="Santander Text"/>
              </a:rPr>
              <a:t>without</a:t>
            </a:r>
            <a:r>
              <a:rPr lang="pt-PT" dirty="0">
                <a:solidFill>
                  <a:srgbClr val="C00000"/>
                </a:solidFill>
                <a:latin typeface="Santander Text"/>
              </a:rPr>
              <a:t> </a:t>
            </a:r>
            <a:r>
              <a:rPr lang="pt-PT" dirty="0" err="1">
                <a:solidFill>
                  <a:srgbClr val="C00000"/>
                </a:solidFill>
                <a:latin typeface="Santander Text"/>
              </a:rPr>
              <a:t>written</a:t>
            </a:r>
            <a:r>
              <a:rPr lang="pt-PT" dirty="0">
                <a:solidFill>
                  <a:srgbClr val="C00000"/>
                </a:solidFill>
                <a:latin typeface="Santander Text"/>
              </a:rPr>
              <a:t> </a:t>
            </a:r>
            <a:r>
              <a:rPr lang="pt-PT" dirty="0" err="1">
                <a:solidFill>
                  <a:srgbClr val="C00000"/>
                </a:solidFill>
                <a:latin typeface="Santander Text"/>
              </a:rPr>
              <a:t>authorization</a:t>
            </a:r>
            <a:r>
              <a:rPr lang="pt-PT" dirty="0">
                <a:solidFill>
                  <a:srgbClr val="C00000"/>
                </a:solidFill>
                <a:latin typeface="Santander Text"/>
              </a:rPr>
              <a:t>.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commercial</a:t>
            </a:r>
            <a:r>
              <a:rPr lang="pt-PT" dirty="0">
                <a:solidFill>
                  <a:srgbClr val="C00000"/>
                </a:solidFill>
                <a:latin typeface="Santander Text"/>
              </a:rPr>
              <a:t> use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expressly</a:t>
            </a:r>
            <a:r>
              <a:rPr lang="pt-PT" dirty="0">
                <a:solidFill>
                  <a:srgbClr val="C00000"/>
                </a:solidFill>
                <a:latin typeface="Santander Text"/>
              </a:rPr>
              <a:t> </a:t>
            </a:r>
            <a:r>
              <a:rPr lang="pt-PT" dirty="0" err="1">
                <a:solidFill>
                  <a:srgbClr val="C00000"/>
                </a:solidFill>
                <a:latin typeface="Santander Text"/>
              </a:rPr>
              <a:t>forbidden</a:t>
            </a:r>
            <a:r>
              <a:rPr lang="pt-PT" dirty="0">
                <a:solidFill>
                  <a:srgbClr val="C00000"/>
                </a:solidFill>
                <a:latin typeface="Santander Text"/>
              </a:rPr>
              <a:t>.</a:t>
            </a:r>
          </a:p>
          <a:p>
            <a:pPr>
              <a:lnSpc>
                <a:spcPct val="100000"/>
              </a:lnSpc>
            </a:pPr>
            <a:r>
              <a:rPr lang="pt-PT" dirty="0">
                <a:solidFill>
                  <a:srgbClr val="C00000"/>
                </a:solidFill>
                <a:latin typeface="Santander Text"/>
              </a:rPr>
              <a:t>Santander Portugal </a:t>
            </a:r>
            <a:r>
              <a:rPr lang="pt-PT" dirty="0" err="1">
                <a:solidFill>
                  <a:srgbClr val="C00000"/>
                </a:solidFill>
                <a:latin typeface="Santander Text"/>
              </a:rPr>
              <a:t>is</a:t>
            </a:r>
            <a:r>
              <a:rPr lang="pt-PT" dirty="0">
                <a:solidFill>
                  <a:srgbClr val="C00000"/>
                </a:solidFill>
                <a:latin typeface="Santander Text"/>
              </a:rPr>
              <a:t> </a:t>
            </a:r>
            <a:r>
              <a:rPr lang="pt-PT" dirty="0" err="1">
                <a:solidFill>
                  <a:srgbClr val="C00000"/>
                </a:solidFill>
                <a:latin typeface="Santander Text"/>
              </a:rPr>
              <a:t>the</a:t>
            </a:r>
            <a:r>
              <a:rPr lang="pt-PT" dirty="0">
                <a:solidFill>
                  <a:srgbClr val="C00000"/>
                </a:solidFill>
                <a:latin typeface="Santander Text"/>
              </a:rPr>
              <a:t> </a:t>
            </a:r>
            <a:r>
              <a:rPr lang="pt-PT" dirty="0" err="1">
                <a:solidFill>
                  <a:srgbClr val="C00000"/>
                </a:solidFill>
                <a:latin typeface="Santander Text"/>
              </a:rPr>
              <a:t>owner</a:t>
            </a:r>
            <a:r>
              <a:rPr lang="pt-PT" dirty="0">
                <a:solidFill>
                  <a:srgbClr val="C00000"/>
                </a:solidFill>
                <a:latin typeface="Santander Text"/>
              </a:rPr>
              <a:t>, copyright </a:t>
            </a:r>
            <a:r>
              <a:rPr lang="pt-PT" dirty="0" err="1">
                <a:solidFill>
                  <a:srgbClr val="C00000"/>
                </a:solidFill>
                <a:latin typeface="Santander Text"/>
              </a:rPr>
              <a:t>owner</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authorized</a:t>
            </a:r>
            <a:r>
              <a:rPr lang="pt-PT" dirty="0">
                <a:solidFill>
                  <a:srgbClr val="C00000"/>
                </a:solidFill>
                <a:latin typeface="Santander Text"/>
              </a:rPr>
              <a:t> </a:t>
            </a:r>
            <a:r>
              <a:rPr lang="pt-PT" dirty="0" err="1">
                <a:solidFill>
                  <a:srgbClr val="C00000"/>
                </a:solidFill>
                <a:latin typeface="Santander Text"/>
              </a:rPr>
              <a:t>user</a:t>
            </a:r>
            <a:r>
              <a:rPr lang="pt-PT" dirty="0">
                <a:solidFill>
                  <a:srgbClr val="C00000"/>
                </a:solidFill>
                <a:latin typeface="Santander Text"/>
              </a:rPr>
              <a:t> for </a:t>
            </a:r>
            <a:r>
              <a:rPr lang="pt-PT" dirty="0" err="1">
                <a:solidFill>
                  <a:srgbClr val="C00000"/>
                </a:solidFill>
                <a:latin typeface="Santander Text"/>
              </a:rPr>
              <a:t>all</a:t>
            </a:r>
            <a:r>
              <a:rPr lang="pt-PT" dirty="0">
                <a:solidFill>
                  <a:srgbClr val="C00000"/>
                </a:solidFill>
                <a:latin typeface="Santander Text"/>
              </a:rPr>
              <a:t> </a:t>
            </a:r>
            <a:r>
              <a:rPr lang="pt-PT" dirty="0" err="1">
                <a:solidFill>
                  <a:srgbClr val="C00000"/>
                </a:solidFill>
                <a:latin typeface="Santander Text"/>
              </a:rPr>
              <a:t>other</a:t>
            </a:r>
            <a:r>
              <a:rPr lang="pt-PT" dirty="0">
                <a:solidFill>
                  <a:srgbClr val="C00000"/>
                </a:solidFill>
                <a:latin typeface="Santander Text"/>
              </a:rPr>
              <a:t> </a:t>
            </a:r>
            <a:r>
              <a:rPr lang="pt-PT" dirty="0" err="1">
                <a:solidFill>
                  <a:srgbClr val="C00000"/>
                </a:solidFill>
                <a:latin typeface="Santander Text"/>
              </a:rPr>
              <a:t>aspects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content</a:t>
            </a:r>
            <a:r>
              <a:rPr lang="pt-PT" dirty="0">
                <a:solidFill>
                  <a:srgbClr val="C00000"/>
                </a:solidFill>
                <a:latin typeface="Santander Text"/>
              </a:rPr>
              <a:t> </a:t>
            </a:r>
            <a:r>
              <a:rPr lang="pt-PT" dirty="0" err="1">
                <a:solidFill>
                  <a:srgbClr val="C00000"/>
                </a:solidFill>
                <a:latin typeface="Santander Text"/>
              </a:rPr>
              <a:t>of</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paper</a:t>
            </a:r>
            <a:r>
              <a:rPr lang="pt-PT" dirty="0">
                <a:solidFill>
                  <a:srgbClr val="C00000"/>
                </a:solidFill>
                <a:latin typeface="Santander Text"/>
              </a:rPr>
              <a:t>/</a:t>
            </a:r>
            <a:r>
              <a:rPr lang="pt-PT" dirty="0" err="1">
                <a:solidFill>
                  <a:srgbClr val="C00000"/>
                </a:solidFill>
                <a:latin typeface="Santander Text"/>
              </a:rPr>
              <a:t>presentation</a:t>
            </a:r>
            <a:r>
              <a:rPr lang="pt-PT" dirty="0">
                <a:solidFill>
                  <a:srgbClr val="C00000"/>
                </a:solidFill>
                <a:latin typeface="Santander Text"/>
              </a:rPr>
              <a:t> </a:t>
            </a:r>
            <a:r>
              <a:rPr lang="pt-PT" dirty="0" err="1">
                <a:solidFill>
                  <a:srgbClr val="C00000"/>
                </a:solidFill>
                <a:latin typeface="Santander Text"/>
              </a:rPr>
              <a:t>including</a:t>
            </a:r>
            <a:r>
              <a:rPr lang="pt-PT" dirty="0">
                <a:solidFill>
                  <a:srgbClr val="C00000"/>
                </a:solidFill>
                <a:latin typeface="Santander Text"/>
              </a:rPr>
              <a:t> </a:t>
            </a:r>
            <a:r>
              <a:rPr lang="pt-PT" dirty="0" err="1">
                <a:solidFill>
                  <a:srgbClr val="C00000"/>
                </a:solidFill>
                <a:latin typeface="Santander Text"/>
              </a:rPr>
              <a:t>trademark</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text</a:t>
            </a:r>
            <a:r>
              <a:rPr lang="pt-PT" dirty="0">
                <a:solidFill>
                  <a:srgbClr val="C00000"/>
                </a:solidFill>
                <a:latin typeface="Santander Text"/>
              </a:rPr>
              <a:t>, </a:t>
            </a:r>
            <a:r>
              <a:rPr lang="pt-PT" dirty="0" err="1">
                <a:solidFill>
                  <a:srgbClr val="C00000"/>
                </a:solidFill>
                <a:latin typeface="Santander Text"/>
              </a:rPr>
              <a:t>photographs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design </a:t>
            </a:r>
            <a:r>
              <a:rPr lang="pt-PT" dirty="0" err="1">
                <a:solidFill>
                  <a:srgbClr val="C00000"/>
                </a:solidFill>
                <a:latin typeface="Santander Text"/>
              </a:rPr>
              <a:t>unless</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stated</a:t>
            </a:r>
            <a:r>
              <a:rPr lang="pt-PT" dirty="0">
                <a:solidFill>
                  <a:srgbClr val="C00000"/>
                </a:solidFill>
                <a:latin typeface="Santander Text"/>
              </a:rPr>
              <a:t>.</a:t>
            </a:r>
          </a:p>
          <a:p>
            <a:pPr>
              <a:lnSpc>
                <a:spcPct val="100000"/>
              </a:lnSpc>
            </a:pPr>
            <a:r>
              <a:rPr lang="pt-PT" dirty="0" err="1">
                <a:solidFill>
                  <a:srgbClr val="C00000"/>
                </a:solidFill>
                <a:latin typeface="Santander Text"/>
              </a:rPr>
              <a:t>While</a:t>
            </a:r>
            <a:r>
              <a:rPr lang="pt-PT" dirty="0">
                <a:solidFill>
                  <a:srgbClr val="C00000"/>
                </a:solidFill>
                <a:latin typeface="Santander Text"/>
              </a:rPr>
              <a:t> </a:t>
            </a:r>
            <a:r>
              <a:rPr lang="pt-PT" dirty="0" err="1">
                <a:solidFill>
                  <a:srgbClr val="C00000"/>
                </a:solidFill>
                <a:latin typeface="Santander Text"/>
              </a:rPr>
              <a:t>every</a:t>
            </a:r>
            <a:r>
              <a:rPr lang="pt-PT" dirty="0">
                <a:solidFill>
                  <a:srgbClr val="C00000"/>
                </a:solidFill>
                <a:latin typeface="Santander Text"/>
              </a:rPr>
              <a:t> </a:t>
            </a:r>
            <a:r>
              <a:rPr lang="pt-PT" dirty="0" err="1">
                <a:solidFill>
                  <a:srgbClr val="C00000"/>
                </a:solidFill>
                <a:latin typeface="Santander Text"/>
              </a:rPr>
              <a:t>endeavour</a:t>
            </a:r>
            <a:r>
              <a:rPr lang="pt-PT" dirty="0">
                <a:solidFill>
                  <a:srgbClr val="C00000"/>
                </a:solidFill>
                <a:latin typeface="Santander Text"/>
              </a:rPr>
              <a:t> </a:t>
            </a:r>
            <a:r>
              <a:rPr lang="pt-PT" dirty="0" err="1">
                <a:solidFill>
                  <a:srgbClr val="C00000"/>
                </a:solidFill>
                <a:latin typeface="Santander Text"/>
              </a:rPr>
              <a:t>has</a:t>
            </a:r>
            <a:r>
              <a:rPr lang="pt-PT" dirty="0">
                <a:solidFill>
                  <a:srgbClr val="C00000"/>
                </a:solidFill>
                <a:latin typeface="Santander Text"/>
              </a:rPr>
              <a:t> </a:t>
            </a:r>
            <a:r>
              <a:rPr lang="pt-PT" dirty="0" err="1">
                <a:solidFill>
                  <a:srgbClr val="C00000"/>
                </a:solidFill>
                <a:latin typeface="Santander Text"/>
              </a:rPr>
              <a:t>been</a:t>
            </a:r>
            <a:r>
              <a:rPr lang="pt-PT" dirty="0">
                <a:solidFill>
                  <a:srgbClr val="C00000"/>
                </a:solidFill>
                <a:latin typeface="Santander Text"/>
              </a:rPr>
              <a:t> </a:t>
            </a:r>
            <a:r>
              <a:rPr lang="pt-PT" dirty="0" err="1">
                <a:solidFill>
                  <a:srgbClr val="C00000"/>
                </a:solidFill>
                <a:latin typeface="Santander Text"/>
              </a:rPr>
              <a:t>made</a:t>
            </a:r>
            <a:r>
              <a:rPr lang="pt-PT" dirty="0">
                <a:solidFill>
                  <a:srgbClr val="C00000"/>
                </a:solidFill>
                <a:latin typeface="Santander Text"/>
              </a:rPr>
              <a:t> to </a:t>
            </a:r>
            <a:r>
              <a:rPr lang="pt-PT" dirty="0" err="1">
                <a:solidFill>
                  <a:srgbClr val="C00000"/>
                </a:solidFill>
                <a:latin typeface="Santander Text"/>
              </a:rPr>
              <a:t>supply</a:t>
            </a:r>
            <a:r>
              <a:rPr lang="pt-PT" dirty="0">
                <a:solidFill>
                  <a:srgbClr val="C00000"/>
                </a:solidFill>
                <a:latin typeface="Santander Text"/>
              </a:rPr>
              <a:t> </a:t>
            </a:r>
            <a:r>
              <a:rPr lang="pt-PT" dirty="0" err="1">
                <a:solidFill>
                  <a:srgbClr val="C00000"/>
                </a:solidFill>
                <a:latin typeface="Santander Text"/>
              </a:rPr>
              <a:t>accurate</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errors</a:t>
            </a:r>
            <a:r>
              <a:rPr lang="pt-PT" dirty="0">
                <a:solidFill>
                  <a:srgbClr val="C00000"/>
                </a:solidFill>
                <a:latin typeface="Santander Text"/>
              </a:rPr>
              <a:t> </a:t>
            </a:r>
            <a:r>
              <a:rPr lang="pt-PT" dirty="0" err="1">
                <a:solidFill>
                  <a:srgbClr val="C00000"/>
                </a:solidFill>
                <a:latin typeface="Santander Text"/>
              </a:rPr>
              <a:t>and</a:t>
            </a:r>
            <a:r>
              <a:rPr lang="pt-PT" dirty="0">
                <a:solidFill>
                  <a:srgbClr val="C00000"/>
                </a:solidFill>
                <a:latin typeface="Santander Text"/>
              </a:rPr>
              <a:t> </a:t>
            </a:r>
            <a:r>
              <a:rPr lang="pt-PT" dirty="0" err="1">
                <a:solidFill>
                  <a:srgbClr val="C00000"/>
                </a:solidFill>
                <a:latin typeface="Santander Text"/>
              </a:rPr>
              <a:t>omissions</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occur</a:t>
            </a:r>
            <a:r>
              <a:rPr lang="pt-PT" dirty="0">
                <a:solidFill>
                  <a:srgbClr val="C00000"/>
                </a:solidFill>
                <a:latin typeface="Santander Text"/>
              </a:rPr>
              <a:t>. </a:t>
            </a:r>
            <a:r>
              <a:rPr lang="pt-PT" dirty="0" err="1">
                <a:solidFill>
                  <a:srgbClr val="C00000"/>
                </a:solidFill>
                <a:latin typeface="Santander Text"/>
              </a:rPr>
              <a:t>Accordingly</a:t>
            </a:r>
            <a:r>
              <a:rPr lang="pt-PT" dirty="0">
                <a:solidFill>
                  <a:srgbClr val="C00000"/>
                </a:solidFill>
                <a:latin typeface="Santander Text"/>
              </a:rPr>
              <a:t>, Santander Portugal does </a:t>
            </a:r>
            <a:r>
              <a:rPr lang="pt-PT" dirty="0" err="1">
                <a:solidFill>
                  <a:srgbClr val="C00000"/>
                </a:solidFill>
                <a:latin typeface="Santander Text"/>
              </a:rPr>
              <a:t>not</a:t>
            </a:r>
            <a:r>
              <a:rPr lang="pt-PT" dirty="0">
                <a:solidFill>
                  <a:srgbClr val="C00000"/>
                </a:solidFill>
                <a:latin typeface="Santander Text"/>
              </a:rPr>
              <a:t> </a:t>
            </a:r>
            <a:r>
              <a:rPr lang="pt-PT" dirty="0" err="1">
                <a:solidFill>
                  <a:srgbClr val="C00000"/>
                </a:solidFill>
                <a:latin typeface="Santander Text"/>
              </a:rPr>
              <a:t>accept</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liability</a:t>
            </a:r>
            <a:r>
              <a:rPr lang="pt-PT" dirty="0">
                <a:solidFill>
                  <a:srgbClr val="C00000"/>
                </a:solidFill>
                <a:latin typeface="Santander Text"/>
              </a:rPr>
              <a:t> for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loss</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damage</a:t>
            </a:r>
            <a:r>
              <a:rPr lang="pt-PT" dirty="0">
                <a:solidFill>
                  <a:srgbClr val="C00000"/>
                </a:solidFill>
                <a:latin typeface="Santander Text"/>
              </a:rPr>
              <a:t> </a:t>
            </a:r>
            <a:r>
              <a:rPr lang="pt-PT" dirty="0" err="1">
                <a:solidFill>
                  <a:srgbClr val="C00000"/>
                </a:solidFill>
                <a:latin typeface="Santander Text"/>
              </a:rPr>
              <a:t>which</a:t>
            </a:r>
            <a:r>
              <a:rPr lang="pt-PT" dirty="0">
                <a:solidFill>
                  <a:srgbClr val="C00000"/>
                </a:solidFill>
                <a:latin typeface="Santander Text"/>
              </a:rPr>
              <a:t> </a:t>
            </a:r>
            <a:r>
              <a:rPr lang="pt-PT" dirty="0" err="1">
                <a:solidFill>
                  <a:srgbClr val="C00000"/>
                </a:solidFill>
                <a:latin typeface="Santander Text"/>
              </a:rPr>
              <a:t>may</a:t>
            </a:r>
            <a:r>
              <a:rPr lang="pt-PT" dirty="0">
                <a:solidFill>
                  <a:srgbClr val="C00000"/>
                </a:solidFill>
                <a:latin typeface="Santander Text"/>
              </a:rPr>
              <a:t> </a:t>
            </a:r>
            <a:r>
              <a:rPr lang="pt-PT" dirty="0" err="1">
                <a:solidFill>
                  <a:srgbClr val="C00000"/>
                </a:solidFill>
                <a:latin typeface="Santander Text"/>
              </a:rPr>
              <a:t>directly</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indirectly</a:t>
            </a:r>
            <a:r>
              <a:rPr lang="pt-PT" dirty="0">
                <a:solidFill>
                  <a:srgbClr val="C00000"/>
                </a:solidFill>
                <a:latin typeface="Santander Text"/>
              </a:rPr>
              <a:t> </a:t>
            </a:r>
            <a:r>
              <a:rPr lang="pt-PT" dirty="0" err="1">
                <a:solidFill>
                  <a:srgbClr val="C00000"/>
                </a:solidFill>
                <a:latin typeface="Santander Text"/>
              </a:rPr>
              <a:t>result</a:t>
            </a:r>
            <a:r>
              <a:rPr lang="pt-PT" dirty="0">
                <a:solidFill>
                  <a:srgbClr val="C00000"/>
                </a:solidFill>
                <a:latin typeface="Santander Text"/>
              </a:rPr>
              <a:t> </a:t>
            </a:r>
            <a:r>
              <a:rPr lang="pt-PT" dirty="0" err="1">
                <a:solidFill>
                  <a:srgbClr val="C00000"/>
                </a:solidFill>
                <a:latin typeface="Santander Text"/>
              </a:rPr>
              <a:t>from</a:t>
            </a:r>
            <a:r>
              <a:rPr lang="pt-PT" dirty="0">
                <a:solidFill>
                  <a:srgbClr val="C00000"/>
                </a:solidFill>
                <a:latin typeface="Santander Text"/>
              </a:rPr>
              <a:t> </a:t>
            </a:r>
            <a:r>
              <a:rPr lang="pt-PT" dirty="0" err="1">
                <a:solidFill>
                  <a:srgbClr val="C00000"/>
                </a:solidFill>
                <a:latin typeface="Santander Text"/>
              </a:rPr>
              <a:t>any</a:t>
            </a:r>
            <a:r>
              <a:rPr lang="pt-PT" dirty="0">
                <a:solidFill>
                  <a:srgbClr val="C00000"/>
                </a:solidFill>
                <a:latin typeface="Santander Text"/>
              </a:rPr>
              <a:t> </a:t>
            </a:r>
            <a:r>
              <a:rPr lang="pt-PT" dirty="0" err="1">
                <a:solidFill>
                  <a:srgbClr val="C00000"/>
                </a:solidFill>
                <a:latin typeface="Santander Text"/>
              </a:rPr>
              <a:t>advice</a:t>
            </a:r>
            <a:r>
              <a:rPr lang="pt-PT" dirty="0">
                <a:solidFill>
                  <a:srgbClr val="C00000"/>
                </a:solidFill>
                <a:latin typeface="Santander Text"/>
              </a:rPr>
              <a:t>, </a:t>
            </a:r>
            <a:r>
              <a:rPr lang="pt-PT" dirty="0" err="1">
                <a:solidFill>
                  <a:srgbClr val="C00000"/>
                </a:solidFill>
                <a:latin typeface="Santander Text"/>
              </a:rPr>
              <a:t>opinion</a:t>
            </a:r>
            <a:r>
              <a:rPr lang="pt-PT" dirty="0">
                <a:solidFill>
                  <a:srgbClr val="C00000"/>
                </a:solidFill>
                <a:latin typeface="Santander Text"/>
              </a:rPr>
              <a:t>, </a:t>
            </a:r>
            <a:r>
              <a:rPr lang="pt-PT" dirty="0" err="1">
                <a:solidFill>
                  <a:srgbClr val="C00000"/>
                </a:solidFill>
                <a:latin typeface="Santander Text"/>
              </a:rPr>
              <a:t>information</a:t>
            </a:r>
            <a:r>
              <a:rPr lang="pt-PT" dirty="0">
                <a:solidFill>
                  <a:srgbClr val="C00000"/>
                </a:solidFill>
                <a:latin typeface="Santander Text"/>
              </a:rPr>
              <a:t>, </a:t>
            </a:r>
            <a:r>
              <a:rPr lang="pt-PT" dirty="0" err="1">
                <a:solidFill>
                  <a:srgbClr val="C00000"/>
                </a:solidFill>
                <a:latin typeface="Santander Text"/>
              </a:rPr>
              <a:t>representation</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omission</a:t>
            </a:r>
            <a:r>
              <a:rPr lang="pt-PT" dirty="0">
                <a:solidFill>
                  <a:srgbClr val="C00000"/>
                </a:solidFill>
                <a:latin typeface="Santander Text"/>
              </a:rPr>
              <a:t>, </a:t>
            </a:r>
            <a:r>
              <a:rPr lang="pt-PT" dirty="0" err="1">
                <a:solidFill>
                  <a:srgbClr val="C00000"/>
                </a:solidFill>
                <a:latin typeface="Santander Text"/>
              </a:rPr>
              <a:t>whether</a:t>
            </a:r>
            <a:r>
              <a:rPr lang="pt-PT" dirty="0">
                <a:solidFill>
                  <a:srgbClr val="C00000"/>
                </a:solidFill>
                <a:latin typeface="Santander Text"/>
              </a:rPr>
              <a:t> </a:t>
            </a:r>
            <a:r>
              <a:rPr lang="pt-PT" dirty="0" err="1">
                <a:solidFill>
                  <a:srgbClr val="C00000"/>
                </a:solidFill>
                <a:latin typeface="Santander Text"/>
              </a:rPr>
              <a:t>negligent</a:t>
            </a:r>
            <a:r>
              <a:rPr lang="pt-PT" dirty="0">
                <a:solidFill>
                  <a:srgbClr val="C00000"/>
                </a:solidFill>
                <a:latin typeface="Santander Text"/>
              </a:rPr>
              <a:t> </a:t>
            </a:r>
            <a:r>
              <a:rPr lang="pt-PT" dirty="0" err="1">
                <a:solidFill>
                  <a:srgbClr val="C00000"/>
                </a:solidFill>
                <a:latin typeface="Santander Text"/>
              </a:rPr>
              <a:t>or</a:t>
            </a:r>
            <a:r>
              <a:rPr lang="pt-PT" dirty="0">
                <a:solidFill>
                  <a:srgbClr val="C00000"/>
                </a:solidFill>
                <a:latin typeface="Santander Text"/>
              </a:rPr>
              <a:t> </a:t>
            </a:r>
            <a:r>
              <a:rPr lang="pt-PT" dirty="0" err="1">
                <a:solidFill>
                  <a:srgbClr val="C00000"/>
                </a:solidFill>
                <a:latin typeface="Santander Text"/>
              </a:rPr>
              <a:t>otherwise</a:t>
            </a:r>
            <a:r>
              <a:rPr lang="pt-PT" dirty="0">
                <a:solidFill>
                  <a:srgbClr val="C00000"/>
                </a:solidFill>
                <a:latin typeface="Santander Text"/>
              </a:rPr>
              <a:t>, </a:t>
            </a:r>
            <a:r>
              <a:rPr lang="pt-PT" dirty="0" err="1">
                <a:solidFill>
                  <a:srgbClr val="C00000"/>
                </a:solidFill>
                <a:latin typeface="Santander Text"/>
              </a:rPr>
              <a:t>contained</a:t>
            </a:r>
            <a:r>
              <a:rPr lang="pt-PT" dirty="0">
                <a:solidFill>
                  <a:srgbClr val="C00000"/>
                </a:solidFill>
                <a:latin typeface="Santander Text"/>
              </a:rPr>
              <a:t> </a:t>
            </a:r>
            <a:r>
              <a:rPr lang="pt-PT" dirty="0" err="1">
                <a:solidFill>
                  <a:srgbClr val="C00000"/>
                </a:solidFill>
                <a:latin typeface="Santander Text"/>
              </a:rPr>
              <a:t>on</a:t>
            </a:r>
            <a:r>
              <a:rPr lang="pt-PT" dirty="0">
                <a:solidFill>
                  <a:srgbClr val="C00000"/>
                </a:solidFill>
                <a:latin typeface="Santander Text"/>
              </a:rPr>
              <a:t> </a:t>
            </a:r>
            <a:r>
              <a:rPr lang="pt-PT" dirty="0" err="1">
                <a:solidFill>
                  <a:srgbClr val="C00000"/>
                </a:solidFill>
                <a:latin typeface="Santander Text"/>
              </a:rPr>
              <a:t>this</a:t>
            </a:r>
            <a:r>
              <a:rPr lang="pt-PT" dirty="0">
                <a:solidFill>
                  <a:srgbClr val="C00000"/>
                </a:solidFill>
                <a:latin typeface="Santander Text"/>
              </a:rPr>
              <a:t> </a:t>
            </a:r>
            <a:r>
              <a:rPr lang="pt-PT" dirty="0" err="1">
                <a:solidFill>
                  <a:srgbClr val="C00000"/>
                </a:solidFill>
                <a:latin typeface="Santander Text"/>
              </a:rPr>
              <a:t>document</a:t>
            </a:r>
            <a:endParaRPr lang="pt-PT" dirty="0">
              <a:solidFill>
                <a:srgbClr val="C00000"/>
              </a:solidFill>
              <a:latin typeface="Santander Text"/>
            </a:endParaRPr>
          </a:p>
          <a:p>
            <a:pPr>
              <a:lnSpc>
                <a:spcPct val="100000"/>
              </a:lnSpc>
            </a:pPr>
            <a:endParaRPr lang="pt-PT" dirty="0"/>
          </a:p>
        </p:txBody>
      </p:sp>
    </p:spTree>
    <p:extLst>
      <p:ext uri="{BB962C8B-B14F-4D97-AF65-F5344CB8AC3E}">
        <p14:creationId xmlns:p14="http://schemas.microsoft.com/office/powerpoint/2010/main" val="344377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Controlo de Alterações</a:t>
            </a:r>
          </a:p>
        </p:txBody>
      </p:sp>
      <p:graphicFrame>
        <p:nvGraphicFramePr>
          <p:cNvPr id="10" name="Group 3"/>
          <p:cNvGraphicFramePr>
            <a:graphicFrameLocks noGrp="1"/>
          </p:cNvGraphicFramePr>
          <p:nvPr>
            <p:extLst>
              <p:ext uri="{D42A27DB-BD31-4B8C-83A1-F6EECF244321}">
                <p14:modId xmlns:p14="http://schemas.microsoft.com/office/powerpoint/2010/main" val="1161179833"/>
              </p:ext>
            </p:extLst>
          </p:nvPr>
        </p:nvGraphicFramePr>
        <p:xfrm>
          <a:off x="263352" y="823285"/>
          <a:ext cx="5633269" cy="4619704"/>
        </p:xfrm>
        <a:graphic>
          <a:graphicData uri="http://schemas.openxmlformats.org/drawingml/2006/table">
            <a:tbl>
              <a:tblPr/>
              <a:tblGrid>
                <a:gridCol w="413240">
                  <a:extLst>
                    <a:ext uri="{9D8B030D-6E8A-4147-A177-3AD203B41FA5}">
                      <a16:colId xmlns:a16="http://schemas.microsoft.com/office/drawing/2014/main" val="20000"/>
                    </a:ext>
                  </a:extLst>
                </a:gridCol>
                <a:gridCol w="874497">
                  <a:extLst>
                    <a:ext uri="{9D8B030D-6E8A-4147-A177-3AD203B41FA5}">
                      <a16:colId xmlns:a16="http://schemas.microsoft.com/office/drawing/2014/main" val="20001"/>
                    </a:ext>
                  </a:extLst>
                </a:gridCol>
                <a:gridCol w="2810882">
                  <a:extLst>
                    <a:ext uri="{9D8B030D-6E8A-4147-A177-3AD203B41FA5}">
                      <a16:colId xmlns:a16="http://schemas.microsoft.com/office/drawing/2014/main" val="20002"/>
                    </a:ext>
                  </a:extLst>
                </a:gridCol>
                <a:gridCol w="1534650">
                  <a:extLst>
                    <a:ext uri="{9D8B030D-6E8A-4147-A177-3AD203B41FA5}">
                      <a16:colId xmlns:a16="http://schemas.microsoft.com/office/drawing/2014/main" val="20003"/>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Ver.</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Data</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Descrição</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Autor/</a:t>
                      </a:r>
                      <a:r>
                        <a:rPr kumimoji="0" lang="pt-PT" sz="1200" b="0" i="0" u="none" strike="noStrike" cap="none" normalizeH="0" baseline="0" noProof="0" dirty="0" err="1">
                          <a:ln>
                            <a:noFill/>
                          </a:ln>
                          <a:solidFill>
                            <a:schemeClr val="bg1"/>
                          </a:solidFill>
                          <a:effectLst/>
                          <a:latin typeface="Santander Text" panose="020B0504020201020104" pitchFamily="34" charset="0"/>
                        </a:rPr>
                        <a:t>Dpto</a:t>
                      </a:r>
                      <a:endParaRPr kumimoji="0" lang="pt-PT" sz="1200" b="0"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0.1</a:t>
                      </a: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20/09/2023</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Versão inicial do documento</a:t>
                      </a: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smtClean="0">
                          <a:ln>
                            <a:noFill/>
                          </a:ln>
                          <a:solidFill>
                            <a:schemeClr val="tx1"/>
                          </a:solidFill>
                          <a:effectLst/>
                          <a:latin typeface="Santander Text" panose="020B0504020201020104" pitchFamily="34" charset="0"/>
                        </a:rPr>
                        <a:t>Luis </a:t>
                      </a:r>
                      <a:r>
                        <a:rPr kumimoji="0" lang="pt-PT" sz="1100" b="0" i="0" u="none" strike="noStrike" kern="1200" cap="none" normalizeH="0" baseline="0" noProof="0" dirty="0" smtClean="0">
                          <a:ln>
                            <a:noFill/>
                          </a:ln>
                          <a:solidFill>
                            <a:schemeClr val="tx1"/>
                          </a:solidFill>
                          <a:effectLst/>
                          <a:latin typeface="Santander Text" panose="020B0504020201020104" pitchFamily="34" charset="0"/>
                          <a:ea typeface="+mn-ea"/>
                          <a:cs typeface="+mn-cs"/>
                        </a:rPr>
                        <a:t>Barata/</a:t>
                      </a:r>
                      <a:r>
                        <a:rPr kumimoji="0" lang="pt-PT" sz="1100" b="0" i="0" u="none" strike="noStrike" kern="1200" cap="none" normalizeH="0" baseline="0" dirty="0" smtClean="0">
                          <a:ln>
                            <a:noFill/>
                          </a:ln>
                          <a:solidFill>
                            <a:schemeClr val="tx1"/>
                          </a:solidFill>
                          <a:effectLst/>
                          <a:latin typeface="Santander Text" panose="020B0504020201020104" pitchFamily="34" charset="0"/>
                          <a:ea typeface="+mn-ea"/>
                          <a:cs typeface="+mn-cs"/>
                        </a:rPr>
                        <a:t>T&amp;O – Sistemas de Informação</a:t>
                      </a: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grpSp>
        <p:nvGrpSpPr>
          <p:cNvPr id="2" name="Group 1"/>
          <p:cNvGrpSpPr/>
          <p:nvPr/>
        </p:nvGrpSpPr>
        <p:grpSpPr>
          <a:xfrm>
            <a:off x="3365573" y="5933538"/>
            <a:ext cx="5460855" cy="807830"/>
            <a:chOff x="3155589" y="5671693"/>
            <a:chExt cx="5460855" cy="807830"/>
          </a:xfrm>
        </p:grpSpPr>
        <p:sp>
          <p:nvSpPr>
            <p:cNvPr id="11" name="Rectangle 36"/>
            <p:cNvSpPr>
              <a:spLocks noChangeArrowheads="1"/>
            </p:cNvSpPr>
            <p:nvPr/>
          </p:nvSpPr>
          <p:spPr bwMode="auto">
            <a:xfrm>
              <a:off x="3155589" y="5671693"/>
              <a:ext cx="5460855" cy="80783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l" eaLnBrk="1" hangingPunct="1"/>
              <a:r>
                <a:rPr lang="pt-PT" altLang="pt-PT" sz="1400" b="0" u="none" dirty="0">
                  <a:latin typeface="Santander Text" panose="020B0504020201020104" pitchFamily="34" charset="0"/>
                </a:rPr>
                <a:t>Simbologia usada para </a:t>
              </a:r>
            </a:p>
            <a:p>
              <a:pPr algn="l" eaLnBrk="1" hangingPunct="1"/>
              <a:r>
                <a:rPr lang="pt-PT" altLang="pt-PT" sz="1400" b="0" u="none" dirty="0">
                  <a:latin typeface="Santander Text" panose="020B0504020201020104" pitchFamily="34" charset="0"/>
                </a:rPr>
                <a:t>identificar alterações na solução face à</a:t>
              </a:r>
            </a:p>
            <a:p>
              <a:pPr algn="l" eaLnBrk="1" hangingPunct="1"/>
              <a:r>
                <a:rPr lang="pt-PT" altLang="pt-PT" sz="1400" b="0" u="none" dirty="0">
                  <a:latin typeface="Santander Text" panose="020B0504020201020104" pitchFamily="34" charset="0"/>
                </a:rPr>
                <a:t>situação actual ou entre versões do documento</a:t>
              </a:r>
            </a:p>
          </p:txBody>
        </p:sp>
        <p:sp>
          <p:nvSpPr>
            <p:cNvPr id="13" name="TextBox 1"/>
            <p:cNvSpPr txBox="1">
              <a:spLocks noChangeArrowheads="1"/>
            </p:cNvSpPr>
            <p:nvPr/>
          </p:nvSpPr>
          <p:spPr bwMode="auto">
            <a:xfrm>
              <a:off x="7325610" y="5799305"/>
              <a:ext cx="999891" cy="599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eaLnBrk="1" hangingPunct="1"/>
              <a:r>
                <a:rPr lang="pt-PT" altLang="pt-PT" sz="1100" u="none" dirty="0">
                  <a:latin typeface="Santander Text" panose="020B0504020201020104" pitchFamily="34" charset="0"/>
                </a:rPr>
                <a:t>Novo</a:t>
              </a:r>
            </a:p>
            <a:p>
              <a:pPr eaLnBrk="1" hangingPunct="1"/>
              <a:endParaRPr lang="pt-PT" altLang="pt-PT" sz="1100" u="none" dirty="0">
                <a:latin typeface="Santander Text" panose="020B0504020201020104" pitchFamily="34" charset="0"/>
              </a:endParaRPr>
            </a:p>
            <a:p>
              <a:pPr eaLnBrk="1" hangingPunct="1"/>
              <a:r>
                <a:rPr lang="pt-PT" altLang="pt-PT" sz="1100" u="none" dirty="0">
                  <a:latin typeface="Santander Text" panose="020B0504020201020104" pitchFamily="34" charset="0"/>
                </a:rPr>
                <a:t>Modificado</a:t>
              </a:r>
            </a:p>
          </p:txBody>
        </p:sp>
        <p:sp>
          <p:nvSpPr>
            <p:cNvPr id="14" name="AutoShape 38"/>
            <p:cNvSpPr>
              <a:spLocks noChangeArrowheads="1"/>
            </p:cNvSpPr>
            <p:nvPr/>
          </p:nvSpPr>
          <p:spPr bwMode="auto">
            <a:xfrm>
              <a:off x="7035854" y="6099588"/>
              <a:ext cx="349104" cy="290344"/>
            </a:xfrm>
            <a:prstGeom prst="star8">
              <a:avLst>
                <a:gd name="adj" fmla="val 38250"/>
              </a:avLst>
            </a:prstGeom>
            <a:solidFill>
              <a:srgbClr val="00B050"/>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es-ES" altLang="pt-PT" sz="900" b="1" u="none" dirty="0">
                  <a:latin typeface="Santander Text" panose="020B0504020201020104" pitchFamily="34" charset="0"/>
                </a:rPr>
                <a:t>M</a:t>
              </a:r>
            </a:p>
          </p:txBody>
        </p:sp>
        <p:sp>
          <p:nvSpPr>
            <p:cNvPr id="15" name="AutoShape 35"/>
            <p:cNvSpPr>
              <a:spLocks noChangeArrowheads="1"/>
            </p:cNvSpPr>
            <p:nvPr/>
          </p:nvSpPr>
          <p:spPr bwMode="auto">
            <a:xfrm>
              <a:off x="7035854" y="5760946"/>
              <a:ext cx="349104" cy="290344"/>
            </a:xfrm>
            <a:prstGeom prst="star8">
              <a:avLst>
                <a:gd name="adj" fmla="val 38250"/>
              </a:avLst>
            </a:prstGeom>
            <a:solidFill>
              <a:srgbClr val="FFFF66"/>
            </a:solidFill>
            <a:ln w="9525">
              <a:solidFill>
                <a:schemeClr val="tx1"/>
              </a:solidFill>
              <a:miter lim="800000"/>
              <a:headEnd/>
              <a:tailEnd/>
            </a:ln>
          </p:spPr>
          <p:txBody>
            <a:bodyPr wrap="none" anchor="ctr"/>
            <a:lstStyle>
              <a:lvl1pPr eaLnBrk="0" hangingPunct="0">
                <a:defRPr sz="500" u="sng">
                  <a:solidFill>
                    <a:schemeClr val="tx1"/>
                  </a:solidFill>
                  <a:latin typeface="Arial" charset="0"/>
                  <a:cs typeface="Arial" charset="0"/>
                </a:defRPr>
              </a:lvl1pPr>
              <a:lvl2pPr marL="742950" indent="-285750" eaLnBrk="0" hangingPunct="0">
                <a:defRPr sz="500" u="sng">
                  <a:solidFill>
                    <a:schemeClr val="tx1"/>
                  </a:solidFill>
                  <a:latin typeface="Arial" charset="0"/>
                  <a:cs typeface="Arial" charset="0"/>
                </a:defRPr>
              </a:lvl2pPr>
              <a:lvl3pPr marL="1143000" indent="-228600" eaLnBrk="0" hangingPunct="0">
                <a:defRPr sz="500" u="sng">
                  <a:solidFill>
                    <a:schemeClr val="tx1"/>
                  </a:solidFill>
                  <a:latin typeface="Arial" charset="0"/>
                  <a:cs typeface="Arial" charset="0"/>
                </a:defRPr>
              </a:lvl3pPr>
              <a:lvl4pPr marL="1600200" indent="-228600" eaLnBrk="0" hangingPunct="0">
                <a:defRPr sz="500" u="sng">
                  <a:solidFill>
                    <a:schemeClr val="tx1"/>
                  </a:solidFill>
                  <a:latin typeface="Arial" charset="0"/>
                  <a:cs typeface="Arial" charset="0"/>
                </a:defRPr>
              </a:lvl4pPr>
              <a:lvl5pPr marL="2057400" indent="-228600" eaLnBrk="0" hangingPunct="0">
                <a:defRPr sz="500" u="sng">
                  <a:solidFill>
                    <a:schemeClr val="tx1"/>
                  </a:solidFill>
                  <a:latin typeface="Arial" charset="0"/>
                  <a:cs typeface="Arial" charset="0"/>
                </a:defRPr>
              </a:lvl5pPr>
              <a:lvl6pPr marL="2514600" indent="-228600" eaLnBrk="0" fontAlgn="base" hangingPunct="0">
                <a:spcBef>
                  <a:spcPct val="0"/>
                </a:spcBef>
                <a:spcAft>
                  <a:spcPct val="0"/>
                </a:spcAft>
                <a:defRPr sz="500" u="sng">
                  <a:solidFill>
                    <a:schemeClr val="tx1"/>
                  </a:solidFill>
                  <a:latin typeface="Arial" charset="0"/>
                  <a:cs typeface="Arial" charset="0"/>
                </a:defRPr>
              </a:lvl6pPr>
              <a:lvl7pPr marL="2971800" indent="-228600" eaLnBrk="0" fontAlgn="base" hangingPunct="0">
                <a:spcBef>
                  <a:spcPct val="0"/>
                </a:spcBef>
                <a:spcAft>
                  <a:spcPct val="0"/>
                </a:spcAft>
                <a:defRPr sz="500" u="sng">
                  <a:solidFill>
                    <a:schemeClr val="tx1"/>
                  </a:solidFill>
                  <a:latin typeface="Arial" charset="0"/>
                  <a:cs typeface="Arial" charset="0"/>
                </a:defRPr>
              </a:lvl7pPr>
              <a:lvl8pPr marL="3429000" indent="-228600" eaLnBrk="0" fontAlgn="base" hangingPunct="0">
                <a:spcBef>
                  <a:spcPct val="0"/>
                </a:spcBef>
                <a:spcAft>
                  <a:spcPct val="0"/>
                </a:spcAft>
                <a:defRPr sz="500" u="sng">
                  <a:solidFill>
                    <a:schemeClr val="tx1"/>
                  </a:solidFill>
                  <a:latin typeface="Arial" charset="0"/>
                  <a:cs typeface="Arial" charset="0"/>
                </a:defRPr>
              </a:lvl8pPr>
              <a:lvl9pPr marL="3886200" indent="-228600" eaLnBrk="0" fontAlgn="base" hangingPunct="0">
                <a:spcBef>
                  <a:spcPct val="0"/>
                </a:spcBef>
                <a:spcAft>
                  <a:spcPct val="0"/>
                </a:spcAft>
                <a:defRPr sz="500" u="sng">
                  <a:solidFill>
                    <a:schemeClr val="tx1"/>
                  </a:solidFill>
                  <a:latin typeface="Arial" charset="0"/>
                  <a:cs typeface="Arial" charset="0"/>
                </a:defRPr>
              </a:lvl9pPr>
            </a:lstStyle>
            <a:p>
              <a:pPr algn="ctr" eaLnBrk="1" hangingPunct="1"/>
              <a:r>
                <a:rPr lang="es-ES" altLang="pt-PT" sz="900" b="1" u="none" dirty="0">
                  <a:latin typeface="Santander Text" panose="020B0504020201020104" pitchFamily="34" charset="0"/>
                </a:rPr>
                <a:t>N</a:t>
              </a:r>
            </a:p>
          </p:txBody>
        </p:sp>
      </p:grpSp>
      <p:sp>
        <p:nvSpPr>
          <p:cNvPr id="3" name="Slide Number Placeholder 2"/>
          <p:cNvSpPr>
            <a:spLocks noGrp="1"/>
          </p:cNvSpPr>
          <p:nvPr>
            <p:ph type="sldNum" sz="quarter" idx="12"/>
          </p:nvPr>
        </p:nvSpPr>
        <p:spPr/>
        <p:txBody>
          <a:bodyPr/>
          <a:lstStyle/>
          <a:p>
            <a:fld id="{BC0D97B6-E32F-4D7D-B839-7C3B51F2640F}" type="slidenum">
              <a:rPr lang="es-ES" smtClean="0"/>
              <a:pPr/>
              <a:t>3</a:t>
            </a:fld>
            <a:endParaRPr lang="es-ES" dirty="0"/>
          </a:p>
        </p:txBody>
      </p:sp>
      <p:graphicFrame>
        <p:nvGraphicFramePr>
          <p:cNvPr id="12" name="Group 3"/>
          <p:cNvGraphicFramePr>
            <a:graphicFrameLocks noGrp="1"/>
          </p:cNvGraphicFramePr>
          <p:nvPr>
            <p:extLst>
              <p:ext uri="{D42A27DB-BD31-4B8C-83A1-F6EECF244321}">
                <p14:modId xmlns:p14="http://schemas.microsoft.com/office/powerpoint/2010/main" val="743220785"/>
              </p:ext>
            </p:extLst>
          </p:nvPr>
        </p:nvGraphicFramePr>
        <p:xfrm>
          <a:off x="6240016" y="823285"/>
          <a:ext cx="5688633" cy="4535299"/>
        </p:xfrm>
        <a:graphic>
          <a:graphicData uri="http://schemas.openxmlformats.org/drawingml/2006/table">
            <a:tbl>
              <a:tblPr/>
              <a:tblGrid>
                <a:gridCol w="546727">
                  <a:extLst>
                    <a:ext uri="{9D8B030D-6E8A-4147-A177-3AD203B41FA5}">
                      <a16:colId xmlns:a16="http://schemas.microsoft.com/office/drawing/2014/main" val="20000"/>
                    </a:ext>
                  </a:extLst>
                </a:gridCol>
                <a:gridCol w="874497">
                  <a:extLst>
                    <a:ext uri="{9D8B030D-6E8A-4147-A177-3AD203B41FA5}">
                      <a16:colId xmlns:a16="http://schemas.microsoft.com/office/drawing/2014/main" val="20001"/>
                    </a:ext>
                  </a:extLst>
                </a:gridCol>
                <a:gridCol w="2810882">
                  <a:extLst>
                    <a:ext uri="{9D8B030D-6E8A-4147-A177-3AD203B41FA5}">
                      <a16:colId xmlns:a16="http://schemas.microsoft.com/office/drawing/2014/main" val="20002"/>
                    </a:ext>
                  </a:extLst>
                </a:gridCol>
                <a:gridCol w="1456527">
                  <a:extLst>
                    <a:ext uri="{9D8B030D-6E8A-4147-A177-3AD203B41FA5}">
                      <a16:colId xmlns:a16="http://schemas.microsoft.com/office/drawing/2014/main" val="20003"/>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Ver.</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Data</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0" i="0" u="none" strike="noStrike" cap="none" normalizeH="0" baseline="0" noProof="0" dirty="0">
                          <a:ln>
                            <a:noFill/>
                          </a:ln>
                          <a:solidFill>
                            <a:schemeClr val="bg1"/>
                          </a:solidFill>
                          <a:effectLst/>
                          <a:latin typeface="Santander Text" panose="020B0504020201020104" pitchFamily="34" charset="0"/>
                        </a:rPr>
                        <a:t>Descrição</a:t>
                      </a: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defRPr/>
                      </a:pPr>
                      <a:r>
                        <a:rPr kumimoji="0" lang="pt-PT" sz="1200" b="0" i="0" u="none" strike="noStrike" cap="none" normalizeH="0" baseline="0" noProof="0" dirty="0">
                          <a:ln>
                            <a:noFill/>
                          </a:ln>
                          <a:solidFill>
                            <a:schemeClr val="bg1"/>
                          </a:solidFill>
                          <a:effectLst/>
                          <a:latin typeface="Santander Text" panose="020B0504020201020104" pitchFamily="34" charset="0"/>
                        </a:rPr>
                        <a:t>Autor/</a:t>
                      </a:r>
                      <a:r>
                        <a:rPr kumimoji="0" lang="pt-PT" sz="1200" b="0" i="0" u="none" strike="noStrike" cap="none" normalizeH="0" baseline="0" noProof="0" dirty="0" err="1">
                          <a:ln>
                            <a:noFill/>
                          </a:ln>
                          <a:solidFill>
                            <a:schemeClr val="bg1"/>
                          </a:solidFill>
                          <a:effectLst/>
                          <a:latin typeface="Santander Text" panose="020B0504020201020104" pitchFamily="34" charset="0"/>
                        </a:rPr>
                        <a:t>Dpto</a:t>
                      </a:r>
                      <a:endParaRPr kumimoji="0" lang="pt-PT" sz="1200" b="0"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406278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a:xfrm>
            <a:off x="722518" y="626373"/>
            <a:ext cx="5877538" cy="2852737"/>
          </a:xfrm>
        </p:spPr>
        <p:txBody>
          <a:bodyPr/>
          <a:lstStyle/>
          <a:p>
            <a:r>
              <a:rPr lang="pt-PT" dirty="0"/>
              <a:t>Identificação da Iniciativa/Necessidade e dados de Catalogação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01</a:t>
            </a:r>
          </a:p>
        </p:txBody>
      </p:sp>
    </p:spTree>
    <p:extLst>
      <p:ext uri="{BB962C8B-B14F-4D97-AF65-F5344CB8AC3E}">
        <p14:creationId xmlns:p14="http://schemas.microsoft.com/office/powerpoint/2010/main" val="2543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DC87CF2-88A9-4952-9878-9894D4CB3E5F}"/>
              </a:ext>
            </a:extLst>
          </p:cNvPr>
          <p:cNvSpPr/>
          <p:nvPr/>
        </p:nvSpPr>
        <p:spPr>
          <a:xfrm>
            <a:off x="-1" y="719091"/>
            <a:ext cx="12192001" cy="531772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ctr">
              <a:buFont typeface="Wingdings" panose="05000000000000000000" pitchFamily="2" charset="2"/>
              <a:buChar char="§"/>
            </a:pPr>
            <a:endParaRPr lang="pt-PT" sz="1000" dirty="0">
              <a:solidFill>
                <a:schemeClr val="tx1"/>
              </a:solidFill>
            </a:endParaRPr>
          </a:p>
        </p:txBody>
      </p:sp>
      <p:sp>
        <p:nvSpPr>
          <p:cNvPr id="5" name="Marcador de número de diapositiva 4">
            <a:extLst>
              <a:ext uri="{FF2B5EF4-FFF2-40B4-BE49-F238E27FC236}">
                <a16:creationId xmlns:a16="http://schemas.microsoft.com/office/drawing/2014/main" id="{85C6C65B-5F9A-4C17-83A2-1BD373C98418}"/>
              </a:ext>
            </a:extLst>
          </p:cNvPr>
          <p:cNvSpPr>
            <a:spLocks noGrp="1"/>
          </p:cNvSpPr>
          <p:nvPr>
            <p:ph type="sldNum" sz="quarter" idx="12"/>
          </p:nvPr>
        </p:nvSpPr>
        <p:spPr/>
        <p:txBody>
          <a:bodyPr/>
          <a:lstStyle/>
          <a:p>
            <a:fld id="{BC0D97B6-E32F-4D7D-B839-7C3B51F2640F}" type="slidenum">
              <a:rPr lang="pt-PT" smtClean="0"/>
              <a:pPr/>
              <a:t>5</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3292805" cy="304800"/>
          </a:xfrm>
        </p:spPr>
        <p:txBody>
          <a:bodyPr/>
          <a:lstStyle/>
          <a:p>
            <a:r>
              <a:rPr lang="pt-PT" sz="2400" dirty="0"/>
              <a:t>Informação do projecto</a:t>
            </a:r>
          </a:p>
        </p:txBody>
      </p:sp>
      <p:sp>
        <p:nvSpPr>
          <p:cNvPr id="8" name="Marcador de texto 5">
            <a:extLst>
              <a:ext uri="{FF2B5EF4-FFF2-40B4-BE49-F238E27FC236}">
                <a16:creationId xmlns:a16="http://schemas.microsoft.com/office/drawing/2014/main" id="{4E5D693B-462C-4D34-9F93-21124A01063C}"/>
              </a:ext>
            </a:extLst>
          </p:cNvPr>
          <p:cNvSpPr txBox="1">
            <a:spLocks/>
          </p:cNvSpPr>
          <p:nvPr/>
        </p:nvSpPr>
        <p:spPr>
          <a:xfrm>
            <a:off x="7084442" y="337100"/>
            <a:ext cx="3292805" cy="3048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Informação do Catálogo</a:t>
            </a:r>
          </a:p>
        </p:txBody>
      </p:sp>
      <p:graphicFrame>
        <p:nvGraphicFramePr>
          <p:cNvPr id="10" name="Table 3">
            <a:extLst>
              <a:ext uri="{FF2B5EF4-FFF2-40B4-BE49-F238E27FC236}">
                <a16:creationId xmlns:a16="http://schemas.microsoft.com/office/drawing/2014/main" id="{7663387E-9092-401F-9605-672CD8069265}"/>
              </a:ext>
            </a:extLst>
          </p:cNvPr>
          <p:cNvGraphicFramePr>
            <a:graphicFrameLocks noGrp="1"/>
          </p:cNvGraphicFramePr>
          <p:nvPr>
            <p:extLst>
              <p:ext uri="{D42A27DB-BD31-4B8C-83A1-F6EECF244321}">
                <p14:modId xmlns:p14="http://schemas.microsoft.com/office/powerpoint/2010/main" val="1978798073"/>
              </p:ext>
            </p:extLst>
          </p:nvPr>
        </p:nvGraphicFramePr>
        <p:xfrm>
          <a:off x="6580630" y="1450567"/>
          <a:ext cx="5280273" cy="2331720"/>
        </p:xfrm>
        <a:graphic>
          <a:graphicData uri="http://schemas.openxmlformats.org/drawingml/2006/table">
            <a:tbl>
              <a:tblPr firstRow="1" bandRow="1">
                <a:tableStyleId>{073A0DAA-6AF3-43AB-8588-CEC1D06C72B9}</a:tableStyleId>
              </a:tblPr>
              <a:tblGrid>
                <a:gridCol w="1595329">
                  <a:extLst>
                    <a:ext uri="{9D8B030D-6E8A-4147-A177-3AD203B41FA5}">
                      <a16:colId xmlns:a16="http://schemas.microsoft.com/office/drawing/2014/main" val="227919820"/>
                    </a:ext>
                  </a:extLst>
                </a:gridCol>
                <a:gridCol w="3684944">
                  <a:extLst>
                    <a:ext uri="{9D8B030D-6E8A-4147-A177-3AD203B41FA5}">
                      <a16:colId xmlns:a16="http://schemas.microsoft.com/office/drawing/2014/main" val="318222492"/>
                    </a:ext>
                  </a:extLst>
                </a:gridCol>
              </a:tblGrid>
              <a:tr h="201415">
                <a:tc>
                  <a:txBody>
                    <a:bodyPr/>
                    <a:lstStyle/>
                    <a:p>
                      <a:r>
                        <a:rPr lang="pt-PT" sz="1100" dirty="0">
                          <a:latin typeface="Santander Text" panose="020B0504020201020104" pitchFamily="34" charset="0"/>
                        </a:rPr>
                        <a:t>Campo</a:t>
                      </a:r>
                    </a:p>
                  </a:txBody>
                  <a:tcPr/>
                </a:tc>
                <a:tc>
                  <a:txBody>
                    <a:bodyPr/>
                    <a:lstStyle/>
                    <a:p>
                      <a:r>
                        <a:rPr lang="pt-PT" sz="1100" dirty="0">
                          <a:latin typeface="Santander Text" panose="020B0504020201020104" pitchFamily="34" charset="0"/>
                        </a:rPr>
                        <a:t>Código | Descrição</a:t>
                      </a:r>
                    </a:p>
                  </a:txBody>
                  <a:tcPr/>
                </a:tc>
                <a:extLst>
                  <a:ext uri="{0D108BD9-81ED-4DB2-BD59-A6C34878D82A}">
                    <a16:rowId xmlns:a16="http://schemas.microsoft.com/office/drawing/2014/main" val="3134656011"/>
                  </a:ext>
                </a:extLst>
              </a:tr>
              <a:tr h="201415">
                <a:tc>
                  <a:txBody>
                    <a:bodyPr/>
                    <a:lstStyle/>
                    <a:p>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906301094"/>
                  </a:ext>
                </a:extLst>
              </a:tr>
              <a:tr h="201415">
                <a:tc>
                  <a:txBody>
                    <a:bodyPr/>
                    <a:lstStyle/>
                    <a:p>
                      <a:r>
                        <a:rPr lang="pt-PT" sz="1100" i="1" dirty="0" err="1">
                          <a:latin typeface="Santander Text" panose="020B0504020201020104" pitchFamily="34" charset="0"/>
                        </a:rPr>
                        <a:t>Functional</a:t>
                      </a:r>
                      <a:r>
                        <a:rPr lang="pt-PT" sz="1100" i="1" dirty="0">
                          <a:latin typeface="Santander Text" panose="020B0504020201020104" pitchFamily="34" charset="0"/>
                        </a:rPr>
                        <a:t> </a:t>
                      </a:r>
                      <a:r>
                        <a:rPr lang="pt-PT" sz="1100" i="1" dirty="0" err="1">
                          <a:latin typeface="Santander Text" panose="020B0504020201020104" pitchFamily="34" charset="0"/>
                        </a:rPr>
                        <a:t>Area</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1448841437"/>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dirty="0" err="1">
                          <a:latin typeface="Santander Text" panose="020B0504020201020104" pitchFamily="34" charset="0"/>
                        </a:rPr>
                        <a:t>Functional</a:t>
                      </a:r>
                      <a:r>
                        <a:rPr lang="pt-PT" sz="1100" i="1" dirty="0">
                          <a:latin typeface="Santander Text" panose="020B0504020201020104" pitchFamily="34" charset="0"/>
                        </a:rPr>
                        <a:t> </a:t>
                      </a:r>
                      <a:r>
                        <a:rPr lang="pt-PT" sz="1100" i="1" dirty="0" err="1">
                          <a:latin typeface="Santander Text" panose="020B0504020201020104" pitchFamily="34" charset="0"/>
                        </a:rPr>
                        <a:t>Subarea</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4150957349"/>
                  </a:ext>
                </a:extLst>
              </a:tr>
              <a:tr h="201415">
                <a:tc>
                  <a:txBody>
                    <a:bodyPr/>
                    <a:lstStyle/>
                    <a:p>
                      <a:r>
                        <a:rPr lang="pt-PT" sz="1100" b="1" i="1" dirty="0" err="1">
                          <a:latin typeface="Santander Text" panose="020B0504020201020104" pitchFamily="34" charset="0"/>
                        </a:rPr>
                        <a:t>Functional</a:t>
                      </a:r>
                      <a:r>
                        <a:rPr lang="pt-PT" sz="1100" b="1" i="1" dirty="0">
                          <a:latin typeface="Santander Text" panose="020B0504020201020104" pitchFamily="34" charset="0"/>
                        </a:rPr>
                        <a:t> </a:t>
                      </a:r>
                      <a:r>
                        <a:rPr lang="pt-PT" sz="1100" b="1" i="1" dirty="0" err="1">
                          <a:latin typeface="Santander Text" panose="020B0504020201020104" pitchFamily="34" charset="0"/>
                        </a:rPr>
                        <a:t>Application</a:t>
                      </a:r>
                      <a:endParaRPr lang="pt-PT" sz="1100" b="1"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4009698515"/>
                  </a:ext>
                </a:extLst>
              </a:tr>
              <a:tr h="201415">
                <a:tc>
                  <a:txBody>
                    <a:bodyPr/>
                    <a:lstStyle/>
                    <a:p>
                      <a:r>
                        <a:rPr lang="pt-PT" sz="1100" i="1" kern="1200" dirty="0" err="1">
                          <a:solidFill>
                            <a:schemeClr val="dk1"/>
                          </a:solidFill>
                          <a:latin typeface="Santander Text" panose="020B0504020201020104" pitchFamily="34" charset="0"/>
                          <a:ea typeface="+mn-ea"/>
                          <a:cs typeface="+mn-cs"/>
                        </a:rPr>
                        <a:t>Contact</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person</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func</a:t>
                      </a:r>
                      <a:r>
                        <a:rPr lang="pt-PT" sz="1100" i="1" kern="1200" dirty="0">
                          <a:solidFill>
                            <a:schemeClr val="dk1"/>
                          </a:solidFill>
                          <a:latin typeface="Santander Text" panose="020B0504020201020104" pitchFamily="34" charset="0"/>
                          <a:ea typeface="+mn-ea"/>
                          <a:cs typeface="+mn-cs"/>
                        </a:rPr>
                        <a:t>)</a:t>
                      </a:r>
                    </a:p>
                  </a:txBody>
                  <a:tcPr/>
                </a:tc>
                <a:tc>
                  <a:txBody>
                    <a:bodyPr/>
                    <a:lstStyle/>
                    <a:p>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3496355403"/>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kern="1200" dirty="0" err="1">
                          <a:solidFill>
                            <a:schemeClr val="dk1"/>
                          </a:solidFill>
                          <a:latin typeface="Santander Text" panose="020B0504020201020104" pitchFamily="34" charset="0"/>
                          <a:ea typeface="+mn-ea"/>
                          <a:cs typeface="+mn-cs"/>
                        </a:rPr>
                        <a:t>Contact</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person</a:t>
                      </a:r>
                      <a:r>
                        <a:rPr lang="pt-PT" sz="1100" i="1" kern="1200" dirty="0">
                          <a:solidFill>
                            <a:schemeClr val="dk1"/>
                          </a:solidFill>
                          <a:latin typeface="Santander Text" panose="020B0504020201020104" pitchFamily="34" charset="0"/>
                          <a:ea typeface="+mn-ea"/>
                          <a:cs typeface="+mn-cs"/>
                        </a:rPr>
                        <a:t> (</a:t>
                      </a:r>
                      <a:r>
                        <a:rPr lang="pt-PT" sz="1100" i="1" kern="1200" dirty="0" err="1">
                          <a:solidFill>
                            <a:schemeClr val="dk1"/>
                          </a:solidFill>
                          <a:latin typeface="Santander Text" panose="020B0504020201020104" pitchFamily="34" charset="0"/>
                          <a:ea typeface="+mn-ea"/>
                          <a:cs typeface="+mn-cs"/>
                        </a:rPr>
                        <a:t>tech</a:t>
                      </a:r>
                      <a:r>
                        <a:rPr lang="pt-PT" sz="1100" i="1" kern="1200" dirty="0">
                          <a:solidFill>
                            <a:schemeClr val="dk1"/>
                          </a:solidFill>
                          <a:latin typeface="Santander Text" panose="020B0504020201020104" pitchFamily="34" charset="0"/>
                          <a:ea typeface="+mn-ea"/>
                          <a:cs typeface="+mn-cs"/>
                        </a:rPr>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2715526269"/>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b="1" i="1" kern="1200" dirty="0" err="1">
                          <a:solidFill>
                            <a:schemeClr val="dk1"/>
                          </a:solidFill>
                          <a:latin typeface="Santander Text" panose="020B0504020201020104" pitchFamily="34" charset="0"/>
                          <a:ea typeface="+mn-ea"/>
                          <a:cs typeface="+mn-cs"/>
                        </a:rPr>
                        <a:t>Technical</a:t>
                      </a:r>
                      <a:r>
                        <a:rPr lang="pt-PT" sz="1100" b="1" i="1" kern="1200" dirty="0">
                          <a:solidFill>
                            <a:schemeClr val="dk1"/>
                          </a:solidFill>
                          <a:latin typeface="Santander Text" panose="020B0504020201020104" pitchFamily="34" charset="0"/>
                          <a:ea typeface="+mn-ea"/>
                          <a:cs typeface="+mn-cs"/>
                        </a:rPr>
                        <a:t> </a:t>
                      </a:r>
                      <a:r>
                        <a:rPr lang="pt-PT" sz="1100" b="1" i="1" kern="1200" dirty="0" err="1">
                          <a:solidFill>
                            <a:schemeClr val="dk1"/>
                          </a:solidFill>
                          <a:latin typeface="Santander Text" panose="020B0504020201020104" pitchFamily="34" charset="0"/>
                          <a:ea typeface="+mn-ea"/>
                          <a:cs typeface="+mn-cs"/>
                        </a:rPr>
                        <a:t>Application</a:t>
                      </a:r>
                      <a:endParaRPr lang="pt-PT" sz="1100" i="1" kern="1200" dirty="0">
                        <a:solidFill>
                          <a:schemeClr val="dk1"/>
                        </a:solidFill>
                        <a:latin typeface="Santander Text" panose="020B0504020201020104" pitchFamily="34" charset="0"/>
                        <a:ea typeface="+mn-ea"/>
                        <a:cs typeface="+mn-cs"/>
                      </a:endParaRPr>
                    </a:p>
                  </a:txBody>
                  <a:tcPr/>
                </a:tc>
                <a:tc>
                  <a:txBody>
                    <a:bodyPr/>
                    <a:lstStyle/>
                    <a:p>
                      <a:endParaRPr lang="pt-PT" sz="1100" kern="1200" dirty="0">
                        <a:solidFill>
                          <a:srgbClr val="FF0000"/>
                        </a:solidFill>
                        <a:latin typeface="Santander Text" panose="020B0504020201020104" pitchFamily="34" charset="0"/>
                        <a:ea typeface="+mn-ea"/>
                        <a:cs typeface="+mn-cs"/>
                      </a:endParaRPr>
                    </a:p>
                  </a:txBody>
                  <a:tcPr/>
                </a:tc>
                <a:extLst>
                  <a:ext uri="{0D108BD9-81ED-4DB2-BD59-A6C34878D82A}">
                    <a16:rowId xmlns:a16="http://schemas.microsoft.com/office/drawing/2014/main" val="1178685003"/>
                  </a:ext>
                </a:extLst>
              </a:tr>
              <a:tr h="2014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i="1" dirty="0" err="1">
                          <a:latin typeface="Santander Text" panose="020B0504020201020104" pitchFamily="34" charset="0"/>
                        </a:rPr>
                        <a:t>Acronym</a:t>
                      </a:r>
                      <a:endParaRPr lang="pt-PT" sz="1100" i="1" kern="1200" dirty="0">
                        <a:solidFill>
                          <a:schemeClr val="dk1"/>
                        </a:solidFill>
                        <a:latin typeface="Santander Text" panose="020B0504020201020104" pitchFamily="34" charset="0"/>
                        <a:ea typeface="+mn-ea"/>
                        <a:cs typeface="+mn-cs"/>
                      </a:endParaRPr>
                    </a:p>
                  </a:txBody>
                  <a:tcPr/>
                </a:tc>
                <a:tc>
                  <a:txBody>
                    <a:bodyPr/>
                    <a:lstStyle/>
                    <a:p>
                      <a:endParaRPr lang="pt-PT" sz="1100" kern="1200" dirty="0">
                        <a:solidFill>
                          <a:srgbClr val="FF0000"/>
                        </a:solidFill>
                        <a:latin typeface="Santander Text" panose="020B0504020201020104" pitchFamily="34" charset="0"/>
                        <a:ea typeface="+mn-ea"/>
                        <a:cs typeface="+mn-cs"/>
                      </a:endParaRPr>
                    </a:p>
                  </a:txBody>
                  <a:tcPr/>
                </a:tc>
                <a:extLst>
                  <a:ext uri="{0D108BD9-81ED-4DB2-BD59-A6C34878D82A}">
                    <a16:rowId xmlns:a16="http://schemas.microsoft.com/office/drawing/2014/main" val="1738059858"/>
                  </a:ext>
                </a:extLst>
              </a:tr>
            </a:tbl>
          </a:graphicData>
        </a:graphic>
      </p:graphicFrame>
      <p:graphicFrame>
        <p:nvGraphicFramePr>
          <p:cNvPr id="12" name="Table 3">
            <a:extLst>
              <a:ext uri="{FF2B5EF4-FFF2-40B4-BE49-F238E27FC236}">
                <a16:creationId xmlns:a16="http://schemas.microsoft.com/office/drawing/2014/main" id="{4A63882C-8FA1-4D82-9943-09AED9D5ABE5}"/>
              </a:ext>
            </a:extLst>
          </p:cNvPr>
          <p:cNvGraphicFramePr>
            <a:graphicFrameLocks noGrp="1"/>
          </p:cNvGraphicFramePr>
          <p:nvPr>
            <p:extLst>
              <p:ext uri="{D42A27DB-BD31-4B8C-83A1-F6EECF244321}">
                <p14:modId xmlns:p14="http://schemas.microsoft.com/office/powerpoint/2010/main" val="3691069694"/>
              </p:ext>
            </p:extLst>
          </p:nvPr>
        </p:nvGraphicFramePr>
        <p:xfrm>
          <a:off x="6580630" y="4589289"/>
          <a:ext cx="5268421" cy="1058077"/>
        </p:xfrm>
        <a:graphic>
          <a:graphicData uri="http://schemas.openxmlformats.org/drawingml/2006/table">
            <a:tbl>
              <a:tblPr firstRow="1" bandRow="1">
                <a:tableStyleId>{073A0DAA-6AF3-43AB-8588-CEC1D06C72B9}</a:tableStyleId>
              </a:tblPr>
              <a:tblGrid>
                <a:gridCol w="1595337">
                  <a:extLst>
                    <a:ext uri="{9D8B030D-6E8A-4147-A177-3AD203B41FA5}">
                      <a16:colId xmlns:a16="http://schemas.microsoft.com/office/drawing/2014/main" val="227919820"/>
                    </a:ext>
                  </a:extLst>
                </a:gridCol>
                <a:gridCol w="3673084">
                  <a:extLst>
                    <a:ext uri="{9D8B030D-6E8A-4147-A177-3AD203B41FA5}">
                      <a16:colId xmlns:a16="http://schemas.microsoft.com/office/drawing/2014/main" val="318222492"/>
                    </a:ext>
                  </a:extLst>
                </a:gridCol>
              </a:tblGrid>
              <a:tr h="201415">
                <a:tc>
                  <a:txBody>
                    <a:bodyPr/>
                    <a:lstStyle/>
                    <a:p>
                      <a:r>
                        <a:rPr lang="pt-PT" sz="1100" dirty="0">
                          <a:latin typeface="Santander Text" panose="020B0504020201020104" pitchFamily="34" charset="0"/>
                        </a:rPr>
                        <a:t>BIAN </a:t>
                      </a:r>
                      <a:r>
                        <a:rPr lang="pt-PT" sz="1100" dirty="0" err="1">
                          <a:latin typeface="Santander Text" panose="020B0504020201020104" pitchFamily="34" charset="0"/>
                        </a:rPr>
                        <a:t>Level</a:t>
                      </a:r>
                      <a:r>
                        <a:rPr lang="pt-PT" sz="1100" dirty="0">
                          <a:latin typeface="Santander Text" panose="020B0504020201020104" pitchFamily="34" charset="0"/>
                        </a:rPr>
                        <a:t> (8.0)</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PT" sz="1100" dirty="0">
                          <a:latin typeface="Santander Text" panose="020B0504020201020104" pitchFamily="34" charset="0"/>
                        </a:rPr>
                        <a:t>Código | Descrição</a:t>
                      </a:r>
                    </a:p>
                  </a:txBody>
                  <a:tcPr/>
                </a:tc>
                <a:extLst>
                  <a:ext uri="{0D108BD9-81ED-4DB2-BD59-A6C34878D82A}">
                    <a16:rowId xmlns:a16="http://schemas.microsoft.com/office/drawing/2014/main" val="3134656011"/>
                  </a:ext>
                </a:extLst>
              </a:tr>
              <a:tr h="201415">
                <a:tc>
                  <a:txBody>
                    <a:bodyPr/>
                    <a:lstStyle/>
                    <a:p>
                      <a:r>
                        <a:rPr lang="pt-PT" sz="1100" i="1" dirty="0">
                          <a:latin typeface="Santander Text" panose="020B0504020201020104" pitchFamily="34" charset="0"/>
                        </a:rPr>
                        <a:t>Business </a:t>
                      </a:r>
                      <a:r>
                        <a:rPr lang="pt-PT" sz="1100" i="1" dirty="0" err="1">
                          <a:latin typeface="Santander Text" panose="020B0504020201020104" pitchFamily="34" charset="0"/>
                        </a:rPr>
                        <a:t>Area</a:t>
                      </a:r>
                      <a:endParaRPr lang="pt-PT" sz="1100" i="1" dirty="0">
                        <a:latin typeface="Santander Text" panose="020B0504020201020104" pitchFamily="34" charset="0"/>
                      </a:endParaRPr>
                    </a:p>
                  </a:txBody>
                  <a:tcPr/>
                </a:tc>
                <a:tc>
                  <a:txBody>
                    <a:bodyPr/>
                    <a:lstStyle/>
                    <a:p>
                      <a:endParaRPr lang="pt-PT" sz="1100" kern="1200" dirty="0">
                        <a:solidFill>
                          <a:schemeClr val="dk1"/>
                        </a:solidFill>
                        <a:latin typeface="Santander Text" panose="020B0504020201020104" pitchFamily="34" charset="0"/>
                        <a:ea typeface="+mn-ea"/>
                        <a:cs typeface="+mn-cs"/>
                      </a:endParaRPr>
                    </a:p>
                  </a:txBody>
                  <a:tcPr/>
                </a:tc>
                <a:extLst>
                  <a:ext uri="{0D108BD9-81ED-4DB2-BD59-A6C34878D82A}">
                    <a16:rowId xmlns:a16="http://schemas.microsoft.com/office/drawing/2014/main" val="1825886705"/>
                  </a:ext>
                </a:extLst>
              </a:tr>
              <a:tr h="280837">
                <a:tc>
                  <a:txBody>
                    <a:bodyPr/>
                    <a:lstStyle/>
                    <a:p>
                      <a:r>
                        <a:rPr lang="pt-PT" sz="1100" i="1" dirty="0">
                          <a:latin typeface="Santander Text" panose="020B0504020201020104" pitchFamily="34" charset="0"/>
                        </a:rPr>
                        <a:t>Business </a:t>
                      </a:r>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3853694200"/>
                  </a:ext>
                </a:extLst>
              </a:tr>
              <a:tr h="201415">
                <a:tc>
                  <a:txBody>
                    <a:bodyPr/>
                    <a:lstStyle/>
                    <a:p>
                      <a:r>
                        <a:rPr lang="pt-PT" sz="1100" i="1" dirty="0" err="1">
                          <a:latin typeface="Santander Text" panose="020B0504020201020104" pitchFamily="34" charset="0"/>
                        </a:rPr>
                        <a:t>Service</a:t>
                      </a:r>
                      <a:r>
                        <a:rPr lang="pt-PT" sz="1100" i="1" dirty="0">
                          <a:latin typeface="Santander Text" panose="020B0504020201020104" pitchFamily="34" charset="0"/>
                        </a:rPr>
                        <a:t> </a:t>
                      </a:r>
                      <a:r>
                        <a:rPr lang="pt-PT" sz="1100" i="1" dirty="0" err="1">
                          <a:latin typeface="Santander Text" panose="020B0504020201020104" pitchFamily="34" charset="0"/>
                        </a:rPr>
                        <a:t>Domain</a:t>
                      </a:r>
                      <a:endParaRPr lang="pt-PT" sz="1100" i="1" dirty="0">
                        <a:latin typeface="Santander Text" panose="020B0504020201020104" pitchFamily="34" charset="0"/>
                      </a:endParaRPr>
                    </a:p>
                  </a:txBody>
                  <a:tcPr/>
                </a:tc>
                <a:tc>
                  <a:txBody>
                    <a:bodyPr/>
                    <a:lstStyle/>
                    <a:p>
                      <a:endParaRPr lang="pt-PT" sz="1100" dirty="0">
                        <a:latin typeface="Santander Text" panose="020B0504020201020104" pitchFamily="34" charset="0"/>
                      </a:endParaRPr>
                    </a:p>
                  </a:txBody>
                  <a:tcPr/>
                </a:tc>
                <a:extLst>
                  <a:ext uri="{0D108BD9-81ED-4DB2-BD59-A6C34878D82A}">
                    <a16:rowId xmlns:a16="http://schemas.microsoft.com/office/drawing/2014/main" val="1147470977"/>
                  </a:ext>
                </a:extLst>
              </a:tr>
            </a:tbl>
          </a:graphicData>
        </a:graphic>
      </p:graphicFrame>
      <p:sp>
        <p:nvSpPr>
          <p:cNvPr id="14" name="TextBox 13">
            <a:extLst>
              <a:ext uri="{FF2B5EF4-FFF2-40B4-BE49-F238E27FC236}">
                <a16:creationId xmlns:a16="http://schemas.microsoft.com/office/drawing/2014/main" id="{E864049C-9A14-4084-90B4-A5FD13118130}"/>
              </a:ext>
            </a:extLst>
          </p:cNvPr>
          <p:cNvSpPr txBox="1"/>
          <p:nvPr/>
        </p:nvSpPr>
        <p:spPr>
          <a:xfrm>
            <a:off x="168676" y="872281"/>
            <a:ext cx="4177362" cy="369332"/>
          </a:xfrm>
          <a:prstGeom prst="rect">
            <a:avLst/>
          </a:prstGeom>
          <a:noFill/>
        </p:spPr>
        <p:txBody>
          <a:bodyPr wrap="none" rtlCol="0">
            <a:spAutoFit/>
          </a:bodyPr>
          <a:lstStyle/>
          <a:p>
            <a:r>
              <a:rPr lang="pt-PT" dirty="0">
                <a:latin typeface="Santander Text" panose="020B0504020201020104" pitchFamily="34" charset="0"/>
              </a:rPr>
              <a:t>Referência do Projecto / Iniciativa </a:t>
            </a:r>
            <a:r>
              <a:rPr lang="pt-PT" sz="1100" dirty="0">
                <a:latin typeface="Santander Text" panose="020B0504020201020104" pitchFamily="34" charset="0"/>
              </a:rPr>
              <a:t>(caso exista)</a:t>
            </a:r>
            <a:endParaRPr lang="pt-PT" dirty="0">
              <a:latin typeface="Santander Text" panose="020B0504020201020104" pitchFamily="34" charset="0"/>
            </a:endParaRPr>
          </a:p>
        </p:txBody>
      </p:sp>
      <p:sp>
        <p:nvSpPr>
          <p:cNvPr id="15" name="Rectangle: Rounded Corners 14">
            <a:extLst>
              <a:ext uri="{FF2B5EF4-FFF2-40B4-BE49-F238E27FC236}">
                <a16:creationId xmlns:a16="http://schemas.microsoft.com/office/drawing/2014/main" id="{5EB100EA-6846-4DBD-B8F7-A7FB8CA5080D}"/>
              </a:ext>
            </a:extLst>
          </p:cNvPr>
          <p:cNvSpPr/>
          <p:nvPr/>
        </p:nvSpPr>
        <p:spPr>
          <a:xfrm>
            <a:off x="207148" y="1241613"/>
            <a:ext cx="5944038" cy="1046311"/>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b="1" dirty="0" err="1">
                <a:solidFill>
                  <a:schemeClr val="tx1"/>
                </a:solidFill>
                <a:latin typeface="Santander Text" panose="020B0504020201020104" pitchFamily="34" charset="0"/>
              </a:rPr>
              <a:t>Cód</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P2300447</a:t>
            </a:r>
            <a:endParaRPr lang="pt-PT" sz="1100" dirty="0">
              <a:solidFill>
                <a:schemeClr val="tx1"/>
              </a:solidFill>
              <a:latin typeface="Santander Text" panose="020B0504020201020104" pitchFamily="34" charset="0"/>
            </a:endParaRPr>
          </a:p>
          <a:p>
            <a:pPr>
              <a:lnSpc>
                <a:spcPct val="110000"/>
              </a:lnSpc>
              <a:buClr>
                <a:schemeClr val="accent1"/>
              </a:buClr>
            </a:pPr>
            <a:r>
              <a:rPr lang="pt-PT" sz="1100" b="1" dirty="0">
                <a:solidFill>
                  <a:schemeClr val="tx1"/>
                </a:solidFill>
                <a:latin typeface="Santander Text" panose="020B0504020201020104" pitchFamily="34" charset="0"/>
              </a:rPr>
              <a:t>Designação</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Automatização de </a:t>
            </a:r>
            <a:r>
              <a:rPr lang="pt-PT" sz="1100"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da </a:t>
            </a:r>
            <a:r>
              <a:rPr lang="pt-PT" sz="1100" dirty="0">
                <a:solidFill>
                  <a:schemeClr val="tx1"/>
                </a:solidFill>
                <a:latin typeface="Santander Text" panose="020B0504020201020104" pitchFamily="34" charset="0"/>
              </a:rPr>
              <a:t>Á</a:t>
            </a:r>
            <a:r>
              <a:rPr lang="pt-PT" sz="1100" dirty="0" smtClean="0">
                <a:solidFill>
                  <a:schemeClr val="tx1"/>
                </a:solidFill>
                <a:latin typeface="Santander Text" panose="020B0504020201020104" pitchFamily="34" charset="0"/>
              </a:rPr>
              <a:t>rea Financeira (FMIR, LDR e </a:t>
            </a:r>
            <a:r>
              <a:rPr lang="pt-PT" sz="1100" dirty="0" err="1" smtClean="0">
                <a:solidFill>
                  <a:schemeClr val="tx1"/>
                </a:solidFill>
                <a:latin typeface="Santander Text" panose="020B0504020201020104" pitchFamily="34" charset="0"/>
              </a:rPr>
              <a:t>Valuation</a:t>
            </a:r>
            <a:r>
              <a:rPr lang="pt-PT" sz="1100" dirty="0" smtClean="0">
                <a:solidFill>
                  <a:schemeClr val="tx1"/>
                </a:solidFill>
                <a:latin typeface="Santander Text" panose="020B0504020201020104" pitchFamily="34" charset="0"/>
              </a:rPr>
              <a:t>)</a:t>
            </a:r>
            <a:endParaRPr lang="pt-PT" sz="1100" dirty="0">
              <a:solidFill>
                <a:schemeClr val="tx1"/>
              </a:solidFill>
              <a:latin typeface="Santander Text" panose="020B0504020201020104" pitchFamily="34" charset="0"/>
            </a:endParaRPr>
          </a:p>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29" name="TextBox 28">
            <a:extLst>
              <a:ext uri="{FF2B5EF4-FFF2-40B4-BE49-F238E27FC236}">
                <a16:creationId xmlns:a16="http://schemas.microsoft.com/office/drawing/2014/main" id="{9DB6A56A-3F98-47D5-8C4B-216519545EC5}"/>
              </a:ext>
            </a:extLst>
          </p:cNvPr>
          <p:cNvSpPr txBox="1"/>
          <p:nvPr/>
        </p:nvSpPr>
        <p:spPr>
          <a:xfrm>
            <a:off x="168676" y="2518306"/>
            <a:ext cx="2311980" cy="369332"/>
          </a:xfrm>
          <a:prstGeom prst="rect">
            <a:avLst/>
          </a:prstGeom>
          <a:noFill/>
        </p:spPr>
        <p:txBody>
          <a:bodyPr wrap="none" rtlCol="0">
            <a:spAutoFit/>
          </a:bodyPr>
          <a:lstStyle/>
          <a:p>
            <a:r>
              <a:rPr lang="pt-PT" dirty="0">
                <a:latin typeface="Santander Text" panose="020B0504020201020104" pitchFamily="34" charset="0"/>
              </a:rPr>
              <a:t>Ambientes requeridos</a:t>
            </a:r>
          </a:p>
        </p:txBody>
      </p:sp>
      <p:sp>
        <p:nvSpPr>
          <p:cNvPr id="30" name="Rectangle: Rounded Corners 29">
            <a:extLst>
              <a:ext uri="{FF2B5EF4-FFF2-40B4-BE49-F238E27FC236}">
                <a16:creationId xmlns:a16="http://schemas.microsoft.com/office/drawing/2014/main" id="{3CF6830A-E537-4186-A1C2-5DDCD7A70EDF}"/>
              </a:ext>
            </a:extLst>
          </p:cNvPr>
          <p:cNvSpPr/>
          <p:nvPr/>
        </p:nvSpPr>
        <p:spPr>
          <a:xfrm>
            <a:off x="207147" y="2887638"/>
            <a:ext cx="2919694" cy="1107267"/>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43" name="TextBox 42">
            <a:extLst>
              <a:ext uri="{FF2B5EF4-FFF2-40B4-BE49-F238E27FC236}">
                <a16:creationId xmlns:a16="http://schemas.microsoft.com/office/drawing/2014/main" id="{F0D5EF70-FBE2-46D6-BFB5-20AD84466183}"/>
              </a:ext>
            </a:extLst>
          </p:cNvPr>
          <p:cNvSpPr txBox="1"/>
          <p:nvPr/>
        </p:nvSpPr>
        <p:spPr>
          <a:xfrm>
            <a:off x="168676" y="4165360"/>
            <a:ext cx="1664238" cy="369332"/>
          </a:xfrm>
          <a:prstGeom prst="rect">
            <a:avLst/>
          </a:prstGeom>
          <a:noFill/>
        </p:spPr>
        <p:txBody>
          <a:bodyPr wrap="none" rtlCol="0">
            <a:spAutoFit/>
          </a:bodyPr>
          <a:lstStyle/>
          <a:p>
            <a:r>
              <a:rPr lang="pt-PT" dirty="0">
                <a:latin typeface="Santander Text" panose="020B0504020201020104" pitchFamily="34" charset="0"/>
              </a:rPr>
              <a:t>Quem é quem?</a:t>
            </a:r>
          </a:p>
        </p:txBody>
      </p:sp>
      <p:sp>
        <p:nvSpPr>
          <p:cNvPr id="44" name="Rectangle: Rounded Corners 43">
            <a:extLst>
              <a:ext uri="{FF2B5EF4-FFF2-40B4-BE49-F238E27FC236}">
                <a16:creationId xmlns:a16="http://schemas.microsoft.com/office/drawing/2014/main" id="{1F2C0F7E-7E62-4096-A6DB-B7C2133B3BFC}"/>
              </a:ext>
            </a:extLst>
          </p:cNvPr>
          <p:cNvSpPr/>
          <p:nvPr/>
        </p:nvSpPr>
        <p:spPr>
          <a:xfrm>
            <a:off x="207147" y="4534692"/>
            <a:ext cx="2919694" cy="1277722"/>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tabLst>
                <a:tab pos="985838" algn="l"/>
              </a:tabLst>
            </a:pPr>
            <a:r>
              <a:rPr lang="pt-PT" sz="1100" b="1" dirty="0">
                <a:solidFill>
                  <a:schemeClr val="tx1"/>
                </a:solidFill>
                <a:latin typeface="Santander Text" panose="020B0504020201020104" pitchFamily="34" charset="0"/>
              </a:rPr>
              <a:t>Solicitante:	</a:t>
            </a:r>
            <a:r>
              <a:rPr lang="pt-PT" sz="1100" dirty="0">
                <a:solidFill>
                  <a:schemeClr val="tx1"/>
                </a:solidFill>
                <a:latin typeface="Santander Text" panose="020B0504020201020104" pitchFamily="34" charset="0"/>
              </a:rPr>
              <a:t> C692151 | </a:t>
            </a:r>
            <a:r>
              <a:rPr lang="pt-PT" sz="1100" dirty="0" smtClean="0">
                <a:solidFill>
                  <a:schemeClr val="tx1"/>
                </a:solidFill>
                <a:latin typeface="Santander Text" panose="020B0504020201020104" pitchFamily="34" charset="0"/>
              </a:rPr>
              <a:t>Henrique Vaz</a:t>
            </a:r>
            <a:endParaRPr lang="pt-PT" sz="1100" b="1"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err="1">
                <a:solidFill>
                  <a:schemeClr val="tx1"/>
                </a:solidFill>
                <a:latin typeface="Santander Text" panose="020B0504020201020104" pitchFamily="34" charset="0"/>
              </a:rPr>
              <a:t>Product</a:t>
            </a:r>
            <a:r>
              <a:rPr lang="pt-PT" sz="1100" b="1" dirty="0">
                <a:solidFill>
                  <a:schemeClr val="tx1"/>
                </a:solidFill>
                <a:latin typeface="Santander Text" panose="020B0504020201020104" pitchFamily="34" charset="0"/>
              </a:rPr>
              <a:t> </a:t>
            </a:r>
            <a:r>
              <a:rPr lang="pt-PT" sz="1100" b="1" dirty="0" err="1">
                <a:solidFill>
                  <a:schemeClr val="tx1"/>
                </a:solidFill>
                <a:latin typeface="Santander Text" panose="020B0504020201020104" pitchFamily="34" charset="0"/>
              </a:rPr>
              <a:t>Owner</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S610357 </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Pedro Capelão Mendes</a:t>
            </a:r>
            <a:endParaRPr lang="pt-PT" sz="1100"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err="1">
                <a:solidFill>
                  <a:schemeClr val="tx1"/>
                </a:solidFill>
                <a:latin typeface="Santander Text" panose="020B0504020201020104" pitchFamily="34" charset="0"/>
              </a:rPr>
              <a:t>Tech</a:t>
            </a:r>
            <a:r>
              <a:rPr lang="pt-PT" sz="1100" b="1" dirty="0">
                <a:solidFill>
                  <a:schemeClr val="tx1"/>
                </a:solidFill>
                <a:latin typeface="Santander Text" panose="020B0504020201020104" pitchFamily="34" charset="0"/>
              </a:rPr>
              <a:t>. Leader</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E858309 </a:t>
            </a:r>
            <a:r>
              <a:rPr lang="pt-PT" sz="1100" dirty="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Luis Pragosa</a:t>
            </a:r>
            <a:endParaRPr lang="pt-PT" sz="1100" dirty="0">
              <a:solidFill>
                <a:schemeClr val="tx1"/>
              </a:solidFill>
              <a:latin typeface="Santander Text" panose="020B0504020201020104" pitchFamily="34" charset="0"/>
            </a:endParaRPr>
          </a:p>
          <a:p>
            <a:pPr>
              <a:lnSpc>
                <a:spcPct val="110000"/>
              </a:lnSpc>
              <a:buClr>
                <a:schemeClr val="accent1"/>
              </a:buClr>
              <a:tabLst>
                <a:tab pos="985838" algn="l"/>
              </a:tabLst>
            </a:pPr>
            <a:r>
              <a:rPr lang="pt-PT" sz="1100" b="1" dirty="0">
                <a:solidFill>
                  <a:srgbClr val="C00000"/>
                </a:solidFill>
                <a:latin typeface="Santander Text" panose="020B0504020201020104" pitchFamily="34" charset="0"/>
              </a:rPr>
              <a:t>CDO*:</a:t>
            </a:r>
            <a:r>
              <a:rPr lang="pt-PT" sz="1100" dirty="0">
                <a:solidFill>
                  <a:srgbClr val="C00000"/>
                </a:solidFill>
                <a:latin typeface="Santander Text" panose="020B0504020201020104" pitchFamily="34" charset="0"/>
              </a:rPr>
              <a:t>	</a:t>
            </a:r>
            <a:r>
              <a:rPr lang="pt-PT" sz="1100" dirty="0" smtClean="0">
                <a:solidFill>
                  <a:srgbClr val="C00000"/>
                </a:solidFill>
                <a:latin typeface="Santander Text" panose="020B0504020201020104" pitchFamily="34" charset="0"/>
              </a:rPr>
              <a:t>S613450 </a:t>
            </a:r>
            <a:r>
              <a:rPr lang="pt-PT" sz="1100" dirty="0">
                <a:solidFill>
                  <a:srgbClr val="C00000"/>
                </a:solidFill>
                <a:latin typeface="Santander Text" panose="020B0504020201020104" pitchFamily="34" charset="0"/>
              </a:rPr>
              <a:t>| João Bernardes </a:t>
            </a:r>
            <a:r>
              <a:rPr lang="pt-PT" sz="1100" b="1" dirty="0" smtClean="0">
                <a:solidFill>
                  <a:srgbClr val="C00000"/>
                </a:solidFill>
                <a:latin typeface="Santander Text" panose="020B0504020201020104" pitchFamily="34" charset="0"/>
              </a:rPr>
              <a:t>CISO</a:t>
            </a:r>
            <a:r>
              <a:rPr lang="pt-PT" sz="1100" b="1" dirty="0">
                <a:solidFill>
                  <a:srgbClr val="C00000"/>
                </a:solidFill>
                <a:latin typeface="Santander Text" panose="020B0504020201020104" pitchFamily="34" charset="0"/>
              </a:rPr>
              <a:t>*:</a:t>
            </a:r>
            <a:r>
              <a:rPr lang="pt-PT" sz="1100" dirty="0">
                <a:solidFill>
                  <a:srgbClr val="C00000"/>
                </a:solidFill>
                <a:latin typeface="Santander Text" panose="020B0504020201020104" pitchFamily="34" charset="0"/>
              </a:rPr>
              <a:t>	S888888 | John Doe</a:t>
            </a:r>
          </a:p>
          <a:p>
            <a:pPr>
              <a:lnSpc>
                <a:spcPct val="110000"/>
              </a:lnSpc>
              <a:buClr>
                <a:schemeClr val="accent1"/>
              </a:buClr>
              <a:tabLst>
                <a:tab pos="985838" algn="l"/>
              </a:tabLst>
            </a:pPr>
            <a:r>
              <a:rPr lang="pt-PT" sz="1100" b="1" dirty="0">
                <a:solidFill>
                  <a:srgbClr val="C00000"/>
                </a:solidFill>
                <a:latin typeface="Santander Text" panose="020B0504020201020104" pitchFamily="34" charset="0"/>
              </a:rPr>
              <a:t>CIO*:</a:t>
            </a:r>
            <a:r>
              <a:rPr lang="pt-PT" sz="1100" dirty="0">
                <a:solidFill>
                  <a:srgbClr val="C00000"/>
                </a:solidFill>
                <a:latin typeface="Santander Text" panose="020B0504020201020104" pitchFamily="34" charset="0"/>
              </a:rPr>
              <a:t>	S888888 | John Doe</a:t>
            </a:r>
          </a:p>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45" name="Rectangle: Rounded Corners 44">
            <a:extLst>
              <a:ext uri="{FF2B5EF4-FFF2-40B4-BE49-F238E27FC236}">
                <a16:creationId xmlns:a16="http://schemas.microsoft.com/office/drawing/2014/main" id="{BC2491C5-6E5D-4523-8DB6-200B048C142E}"/>
              </a:ext>
            </a:extLst>
          </p:cNvPr>
          <p:cNvSpPr/>
          <p:nvPr/>
        </p:nvSpPr>
        <p:spPr>
          <a:xfrm>
            <a:off x="3248314" y="4534692"/>
            <a:ext cx="2919694" cy="1277722"/>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b="1" dirty="0" err="1">
                <a:solidFill>
                  <a:schemeClr val="tx1"/>
                </a:solidFill>
                <a:latin typeface="Santander Text" panose="020B0504020201020104" pitchFamily="34" charset="0"/>
              </a:rPr>
              <a:t>Architect</a:t>
            </a:r>
            <a:r>
              <a:rPr lang="pt-PT" sz="1100" b="1" dirty="0">
                <a:solidFill>
                  <a:schemeClr val="tx1"/>
                </a:solidFill>
                <a:latin typeface="Santander Text" panose="020B0504020201020104" pitchFamily="34" charset="0"/>
              </a:rPr>
              <a:t>(s):</a:t>
            </a:r>
          </a:p>
          <a:p>
            <a:pPr>
              <a:lnSpc>
                <a:spcPct val="110000"/>
              </a:lnSpc>
              <a:buClr>
                <a:schemeClr val="accent1"/>
              </a:buClr>
              <a:tabLst>
                <a:tab pos="88900" algn="l"/>
                <a:tab pos="898525" algn="l"/>
              </a:tabLst>
            </a:pPr>
            <a:r>
              <a:rPr lang="pt-PT" sz="1100" b="1"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Enterprise</a:t>
            </a:r>
            <a:r>
              <a:rPr lang="pt-PT" sz="1100" dirty="0">
                <a:solidFill>
                  <a:schemeClr val="tx1"/>
                </a:solidFill>
                <a:latin typeface="Santander Text" panose="020B0504020201020104" pitchFamily="34" charset="0"/>
              </a:rPr>
              <a:t>:	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Technical</a:t>
            </a:r>
            <a:r>
              <a:rPr lang="pt-PT" sz="1100" dirty="0">
                <a:solidFill>
                  <a:schemeClr val="tx1"/>
                </a:solidFill>
                <a:latin typeface="Santander Text" panose="020B0504020201020104" pitchFamily="34" charset="0"/>
              </a:rPr>
              <a:t>:	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t>
            </a:r>
            <a:r>
              <a:rPr lang="pt-PT" sz="1100" i="1" dirty="0">
                <a:solidFill>
                  <a:schemeClr val="tx1"/>
                </a:solidFill>
                <a:latin typeface="Santander Text" panose="020B0504020201020104" pitchFamily="34" charset="0"/>
              </a:rPr>
              <a:t>Data:	</a:t>
            </a:r>
            <a:r>
              <a:rPr lang="pt-PT" sz="1100" dirty="0">
                <a:solidFill>
                  <a:schemeClr val="tx1"/>
                </a:solidFill>
                <a:latin typeface="Santander Text" panose="020B0504020201020104" pitchFamily="34" charset="0"/>
              </a:rPr>
              <a:t>S888888 | John Doe</a:t>
            </a:r>
          </a:p>
          <a:p>
            <a:pPr>
              <a:lnSpc>
                <a:spcPct val="110000"/>
              </a:lnSpc>
              <a:buClr>
                <a:schemeClr val="accent1"/>
              </a:buClr>
              <a:tabLst>
                <a:tab pos="88900" algn="l"/>
                <a:tab pos="898525" algn="l"/>
              </a:tabLst>
            </a:pPr>
            <a:r>
              <a:rPr lang="pt-PT" sz="1100" dirty="0">
                <a:solidFill>
                  <a:schemeClr val="tx1"/>
                </a:solidFill>
                <a:latin typeface="Santander Text" panose="020B0504020201020104" pitchFamily="34" charset="0"/>
              </a:rPr>
              <a:t>	API:	S888888 | John Doe</a:t>
            </a:r>
          </a:p>
        </p:txBody>
      </p:sp>
      <p:sp>
        <p:nvSpPr>
          <p:cNvPr id="47" name="TextBox 46">
            <a:extLst>
              <a:ext uri="{FF2B5EF4-FFF2-40B4-BE49-F238E27FC236}">
                <a16:creationId xmlns:a16="http://schemas.microsoft.com/office/drawing/2014/main" id="{E5E55AAE-1D55-4827-9CC8-FBC2B2FA9B2F}"/>
              </a:ext>
            </a:extLst>
          </p:cNvPr>
          <p:cNvSpPr txBox="1"/>
          <p:nvPr/>
        </p:nvSpPr>
        <p:spPr>
          <a:xfrm>
            <a:off x="3248314" y="2518306"/>
            <a:ext cx="1478290" cy="369332"/>
          </a:xfrm>
          <a:prstGeom prst="rect">
            <a:avLst/>
          </a:prstGeom>
          <a:noFill/>
        </p:spPr>
        <p:txBody>
          <a:bodyPr wrap="none" rtlCol="0">
            <a:spAutoFit/>
          </a:bodyPr>
          <a:lstStyle/>
          <a:p>
            <a:r>
              <a:rPr lang="pt-PT" dirty="0">
                <a:latin typeface="Santander Text" panose="020B0504020201020104" pitchFamily="34" charset="0"/>
              </a:rPr>
              <a:t>Simplificação</a:t>
            </a:r>
          </a:p>
        </p:txBody>
      </p:sp>
      <p:sp>
        <p:nvSpPr>
          <p:cNvPr id="48" name="Rectangle: Rounded Corners 47">
            <a:extLst>
              <a:ext uri="{FF2B5EF4-FFF2-40B4-BE49-F238E27FC236}">
                <a16:creationId xmlns:a16="http://schemas.microsoft.com/office/drawing/2014/main" id="{6EB12809-9F89-4EC6-B545-850A94B00714}"/>
              </a:ext>
            </a:extLst>
          </p:cNvPr>
          <p:cNvSpPr/>
          <p:nvPr/>
        </p:nvSpPr>
        <p:spPr>
          <a:xfrm>
            <a:off x="3248314" y="2887638"/>
            <a:ext cx="2919693" cy="1107267"/>
          </a:xfrm>
          <a:prstGeom prst="roundRect">
            <a:avLst>
              <a:gd name="adj" fmla="val 6445"/>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r>
              <a:rPr lang="pt-PT" sz="1100" dirty="0">
                <a:solidFill>
                  <a:schemeClr val="tx1"/>
                </a:solidFill>
                <a:latin typeface="Santander Text" panose="020B0504020201020104" pitchFamily="34" charset="0"/>
              </a:rPr>
              <a:t>Identificar aplicação(</a:t>
            </a:r>
            <a:r>
              <a:rPr lang="pt-PT" sz="1100" dirty="0" err="1">
                <a:solidFill>
                  <a:schemeClr val="tx1"/>
                </a:solidFill>
                <a:latin typeface="Santander Text" panose="020B0504020201020104" pitchFamily="34" charset="0"/>
              </a:rPr>
              <a:t>ões</a:t>
            </a:r>
            <a:r>
              <a:rPr lang="pt-PT" sz="1100" dirty="0">
                <a:solidFill>
                  <a:schemeClr val="tx1"/>
                </a:solidFill>
                <a:latin typeface="Santander Text" panose="020B0504020201020104" pitchFamily="34" charset="0"/>
              </a:rPr>
              <a:t>) candidata(s) a Simplificar com esta iniciativa</a:t>
            </a:r>
          </a:p>
        </p:txBody>
      </p:sp>
      <p:sp>
        <p:nvSpPr>
          <p:cNvPr id="46" name="Rectangle: Top Corners Rounded 45">
            <a:extLst>
              <a:ext uri="{FF2B5EF4-FFF2-40B4-BE49-F238E27FC236}">
                <a16:creationId xmlns:a16="http://schemas.microsoft.com/office/drawing/2014/main" id="{D37E5996-C0BA-4846-AC3D-11A34AAC068E}"/>
              </a:ext>
            </a:extLst>
          </p:cNvPr>
          <p:cNvSpPr/>
          <p:nvPr/>
        </p:nvSpPr>
        <p:spPr>
          <a:xfrm>
            <a:off x="6580630" y="977632"/>
            <a:ext cx="5268419" cy="452010"/>
          </a:xfrm>
          <a:prstGeom prst="round2Same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600" dirty="0">
              <a:latin typeface="Santander Text" panose="020B0504020201020104" pitchFamily="34" charset="0"/>
            </a:endParaRPr>
          </a:p>
        </p:txBody>
      </p:sp>
      <p:grpSp>
        <p:nvGrpSpPr>
          <p:cNvPr id="4" name="Group 3">
            <a:extLst>
              <a:ext uri="{FF2B5EF4-FFF2-40B4-BE49-F238E27FC236}">
                <a16:creationId xmlns:a16="http://schemas.microsoft.com/office/drawing/2014/main" id="{74A74FC3-E172-4B87-97EF-D9CF1B5EA63C}"/>
              </a:ext>
            </a:extLst>
          </p:cNvPr>
          <p:cNvGrpSpPr/>
          <p:nvPr/>
        </p:nvGrpSpPr>
        <p:grpSpPr>
          <a:xfrm>
            <a:off x="7318280" y="903225"/>
            <a:ext cx="3793118" cy="600824"/>
            <a:chOff x="6698634" y="762627"/>
            <a:chExt cx="3793118" cy="600824"/>
          </a:xfrm>
        </p:grpSpPr>
        <p:pic>
          <p:nvPicPr>
            <p:cNvPr id="1026" name="Picture 2">
              <a:extLst>
                <a:ext uri="{FF2B5EF4-FFF2-40B4-BE49-F238E27FC236}">
                  <a16:creationId xmlns:a16="http://schemas.microsoft.com/office/drawing/2014/main" id="{7E22D1B9-C868-4960-860A-CCB5CA8A96A0}"/>
                </a:ext>
              </a:extLst>
            </p:cNvPr>
            <p:cNvPicPr>
              <a:picLocks noChangeAspect="1" noChangeArrowheads="1"/>
            </p:cNvPicPr>
            <p:nvPr/>
          </p:nvPicPr>
          <p:blipFill>
            <a:blip r:embed="rId2">
              <a:biLevel thresh="25000"/>
              <a:extLst>
                <a:ext uri="{28A0092B-C50C-407E-A947-70E740481C1C}">
                  <a14:useLocalDpi xmlns:a14="http://schemas.microsoft.com/office/drawing/2010/main" val="0"/>
                </a:ext>
              </a:extLst>
            </a:blip>
            <a:srcRect/>
            <a:stretch>
              <a:fillRect/>
            </a:stretch>
          </p:blipFill>
          <p:spPr bwMode="auto">
            <a:xfrm>
              <a:off x="6698634" y="762627"/>
              <a:ext cx="1695596" cy="60082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EFCC116-831F-4B1B-BF26-F9A4ED0F4D04}"/>
                </a:ext>
              </a:extLst>
            </p:cNvPr>
            <p:cNvSpPr txBox="1"/>
            <p:nvPr/>
          </p:nvSpPr>
          <p:spPr>
            <a:xfrm>
              <a:off x="8403518" y="847596"/>
              <a:ext cx="2088234" cy="430887"/>
            </a:xfrm>
            <a:prstGeom prst="rect">
              <a:avLst/>
            </a:prstGeom>
            <a:noFill/>
          </p:spPr>
          <p:txBody>
            <a:bodyPr wrap="square" rtlCol="0">
              <a:spAutoFit/>
            </a:bodyPr>
            <a:lstStyle/>
            <a:p>
              <a:r>
                <a:rPr lang="pt-PT" sz="1100" b="1" dirty="0" err="1">
                  <a:solidFill>
                    <a:schemeClr val="bg1"/>
                  </a:solidFill>
                  <a:latin typeface="Santander Text" panose="020B0504020201020104" pitchFamily="34" charset="0"/>
                </a:rPr>
                <a:t>Application</a:t>
              </a:r>
              <a:r>
                <a:rPr lang="pt-PT" sz="1100" b="1" dirty="0">
                  <a:solidFill>
                    <a:schemeClr val="bg1"/>
                  </a:solidFill>
                  <a:latin typeface="Santander Text" panose="020B0504020201020104" pitchFamily="34" charset="0"/>
                </a:rPr>
                <a:t> Portfolio</a:t>
              </a:r>
              <a:br>
                <a:rPr lang="pt-PT" sz="1100" b="1" dirty="0">
                  <a:solidFill>
                    <a:schemeClr val="bg1"/>
                  </a:solidFill>
                  <a:latin typeface="Santander Text" panose="020B0504020201020104" pitchFamily="34" charset="0"/>
                </a:rPr>
              </a:br>
              <a:r>
                <a:rPr lang="pt-PT" sz="1100" b="1" dirty="0">
                  <a:solidFill>
                    <a:schemeClr val="bg1"/>
                  </a:solidFill>
                  <a:latin typeface="Santander Text" panose="020B0504020201020104" pitchFamily="34" charset="0"/>
                </a:rPr>
                <a:t>Management</a:t>
              </a:r>
            </a:p>
          </p:txBody>
        </p:sp>
      </p:grpSp>
      <p:sp>
        <p:nvSpPr>
          <p:cNvPr id="51" name="Rectangle: Top Corners Rounded 50">
            <a:extLst>
              <a:ext uri="{FF2B5EF4-FFF2-40B4-BE49-F238E27FC236}">
                <a16:creationId xmlns:a16="http://schemas.microsoft.com/office/drawing/2014/main" id="{E52A7402-CB48-447E-B41D-C1FE721B5C9A}"/>
              </a:ext>
            </a:extLst>
          </p:cNvPr>
          <p:cNvSpPr/>
          <p:nvPr/>
        </p:nvSpPr>
        <p:spPr>
          <a:xfrm>
            <a:off x="6580630" y="4115234"/>
            <a:ext cx="5268419" cy="452010"/>
          </a:xfrm>
          <a:prstGeom prst="round2SameRect">
            <a:avLst/>
          </a:prstGeom>
          <a:solidFill>
            <a:schemeClr val="tx1">
              <a:lumMod val="65000"/>
              <a:lumOff val="3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600" dirty="0">
              <a:latin typeface="Santander Text" panose="020B0504020201020104" pitchFamily="34" charset="0"/>
            </a:endParaRPr>
          </a:p>
        </p:txBody>
      </p:sp>
      <p:pic>
        <p:nvPicPr>
          <p:cNvPr id="6150" name="Picture 6">
            <a:extLst>
              <a:ext uri="{FF2B5EF4-FFF2-40B4-BE49-F238E27FC236}">
                <a16:creationId xmlns:a16="http://schemas.microsoft.com/office/drawing/2014/main" id="{DE56DA88-0CD5-40F1-B4F3-CF4DC39649DC}"/>
              </a:ext>
            </a:extLst>
          </p:cNvPr>
          <p:cNvPicPr>
            <a:picLocks noChangeAspect="1" noChangeArrowheads="1"/>
          </p:cNvPicPr>
          <p:nvPr/>
        </p:nvPicPr>
        <p:blipFill>
          <a:blip r:embed="rId3">
            <a:biLevel thresh="25000"/>
            <a:extLst>
              <a:ext uri="{28A0092B-C50C-407E-A947-70E740481C1C}">
                <a14:useLocalDpi xmlns:a14="http://schemas.microsoft.com/office/drawing/2010/main" val="0"/>
              </a:ext>
            </a:extLst>
          </a:blip>
          <a:srcRect/>
          <a:stretch>
            <a:fillRect/>
          </a:stretch>
        </p:blipFill>
        <p:spPr bwMode="auto">
          <a:xfrm>
            <a:off x="8526179" y="4158780"/>
            <a:ext cx="993970" cy="36491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E36D66A9-CEB1-E3B3-B1A4-D32A5B96024C}"/>
              </a:ext>
            </a:extLst>
          </p:cNvPr>
          <p:cNvSpPr/>
          <p:nvPr/>
        </p:nvSpPr>
        <p:spPr>
          <a:xfrm>
            <a:off x="230483" y="5770720"/>
            <a:ext cx="2553149" cy="1854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900" dirty="0">
                <a:solidFill>
                  <a:schemeClr val="tx1"/>
                </a:solidFill>
              </a:rPr>
              <a:t>*</a:t>
            </a:r>
            <a:r>
              <a:rPr lang="pt-PT" sz="900" i="1" dirty="0">
                <a:solidFill>
                  <a:schemeClr val="tx1"/>
                </a:solidFill>
              </a:rPr>
              <a:t>Focal </a:t>
            </a:r>
            <a:r>
              <a:rPr lang="pt-PT" sz="900" i="1" dirty="0" err="1">
                <a:solidFill>
                  <a:schemeClr val="tx1"/>
                </a:solidFill>
              </a:rPr>
              <a:t>point</a:t>
            </a:r>
            <a:r>
              <a:rPr lang="pt-PT" sz="900" i="1" dirty="0">
                <a:solidFill>
                  <a:schemeClr val="tx1"/>
                </a:solidFill>
              </a:rPr>
              <a:t> </a:t>
            </a:r>
            <a:r>
              <a:rPr lang="pt-PT" sz="900" dirty="0">
                <a:solidFill>
                  <a:schemeClr val="tx1"/>
                </a:solidFill>
              </a:rPr>
              <a:t>da área correspondente</a:t>
            </a:r>
          </a:p>
        </p:txBody>
      </p:sp>
      <p:sp>
        <p:nvSpPr>
          <p:cNvPr id="49" name="Rectangle: Rounded Corners 29">
            <a:extLst>
              <a:ext uri="{FF2B5EF4-FFF2-40B4-BE49-F238E27FC236}">
                <a16:creationId xmlns:a16="http://schemas.microsoft.com/office/drawing/2014/main" id="{3CF6830A-E537-4186-A1C2-5DDCD7A70EDF}"/>
              </a:ext>
            </a:extLst>
          </p:cNvPr>
          <p:cNvSpPr/>
          <p:nvPr/>
        </p:nvSpPr>
        <p:spPr>
          <a:xfrm>
            <a:off x="207147" y="2887638"/>
            <a:ext cx="2919694" cy="1107267"/>
          </a:xfrm>
          <a:prstGeom prst="roundRect">
            <a:avLst>
              <a:gd name="adj" fmla="val 6445"/>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110000"/>
              </a:lnSpc>
              <a:buClr>
                <a:schemeClr val="accent1"/>
              </a:buClr>
            </a:pPr>
            <a:endParaRPr lang="pt-PT" sz="1100" dirty="0">
              <a:solidFill>
                <a:schemeClr val="tx1"/>
              </a:solidFill>
              <a:latin typeface="Santander Text" panose="020B0504020201020104" pitchFamily="34" charset="0"/>
            </a:endParaRPr>
          </a:p>
        </p:txBody>
      </p:sp>
      <p:sp>
        <p:nvSpPr>
          <p:cNvPr id="50" name="Rectangle: Rounded Corners 30">
            <a:extLst>
              <a:ext uri="{FF2B5EF4-FFF2-40B4-BE49-F238E27FC236}">
                <a16:creationId xmlns:a16="http://schemas.microsoft.com/office/drawing/2014/main" id="{850CF106-CB86-43A9-8DBA-A1E0DA5774A9}"/>
              </a:ext>
            </a:extLst>
          </p:cNvPr>
          <p:cNvSpPr/>
          <p:nvPr/>
        </p:nvSpPr>
        <p:spPr>
          <a:xfrm>
            <a:off x="333088" y="2973124"/>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2" name="Rectangle 51">
            <a:extLst>
              <a:ext uri="{FF2B5EF4-FFF2-40B4-BE49-F238E27FC236}">
                <a16:creationId xmlns:a16="http://schemas.microsoft.com/office/drawing/2014/main" id="{5BF718C7-9AEF-4FA5-84A8-7CD5539E5A80}"/>
              </a:ext>
            </a:extLst>
          </p:cNvPr>
          <p:cNvSpPr/>
          <p:nvPr/>
        </p:nvSpPr>
        <p:spPr>
          <a:xfrm>
            <a:off x="503627" y="2973124"/>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Desenvolvimento</a:t>
            </a:r>
          </a:p>
        </p:txBody>
      </p:sp>
      <p:sp>
        <p:nvSpPr>
          <p:cNvPr id="53" name="Rectangle 52">
            <a:extLst>
              <a:ext uri="{FF2B5EF4-FFF2-40B4-BE49-F238E27FC236}">
                <a16:creationId xmlns:a16="http://schemas.microsoft.com/office/drawing/2014/main" id="{C3C57086-FDFC-427E-B841-11642860AC45}"/>
              </a:ext>
            </a:extLst>
          </p:cNvPr>
          <p:cNvSpPr/>
          <p:nvPr/>
        </p:nvSpPr>
        <p:spPr>
          <a:xfrm>
            <a:off x="1847529" y="2973124"/>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err="1" smtClean="0">
                <a:solidFill>
                  <a:schemeClr val="tx1"/>
                </a:solidFill>
                <a:latin typeface="Santander Text" panose="020B0504020201020104" pitchFamily="34" charset="0"/>
              </a:rPr>
              <a:t>Nov</a:t>
            </a:r>
            <a:r>
              <a:rPr lang="pt-PT" sz="1100" dirty="0" smtClean="0">
                <a:solidFill>
                  <a:schemeClr val="tx1"/>
                </a:solidFill>
                <a:latin typeface="Santander Text" panose="020B0504020201020104" pitchFamily="34" charset="0"/>
              </a:rPr>
              <a:t>/2023</a:t>
            </a:r>
            <a:endParaRPr lang="pt-PT" sz="1100" dirty="0">
              <a:solidFill>
                <a:schemeClr val="tx1"/>
              </a:solidFill>
              <a:latin typeface="Santander Text" panose="020B0504020201020104" pitchFamily="34" charset="0"/>
            </a:endParaRPr>
          </a:p>
        </p:txBody>
      </p:sp>
      <p:sp>
        <p:nvSpPr>
          <p:cNvPr id="54" name="Rectangle: Rounded Corners 33">
            <a:extLst>
              <a:ext uri="{FF2B5EF4-FFF2-40B4-BE49-F238E27FC236}">
                <a16:creationId xmlns:a16="http://schemas.microsoft.com/office/drawing/2014/main" id="{4E0D78B4-8B85-4306-808C-53FE2445E494}"/>
              </a:ext>
            </a:extLst>
          </p:cNvPr>
          <p:cNvSpPr/>
          <p:nvPr/>
        </p:nvSpPr>
        <p:spPr>
          <a:xfrm>
            <a:off x="333088" y="3216295"/>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5" name="Rectangle 54">
            <a:extLst>
              <a:ext uri="{FF2B5EF4-FFF2-40B4-BE49-F238E27FC236}">
                <a16:creationId xmlns:a16="http://schemas.microsoft.com/office/drawing/2014/main" id="{1371A24C-BEF4-4109-A6F4-AD5800B5BCBB}"/>
              </a:ext>
            </a:extLst>
          </p:cNvPr>
          <p:cNvSpPr/>
          <p:nvPr/>
        </p:nvSpPr>
        <p:spPr>
          <a:xfrm>
            <a:off x="503627" y="3216295"/>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Pré-Produção</a:t>
            </a:r>
          </a:p>
        </p:txBody>
      </p:sp>
      <p:sp>
        <p:nvSpPr>
          <p:cNvPr id="56" name="Rectangle 55">
            <a:extLst>
              <a:ext uri="{FF2B5EF4-FFF2-40B4-BE49-F238E27FC236}">
                <a16:creationId xmlns:a16="http://schemas.microsoft.com/office/drawing/2014/main" id="{BFBCBBC7-3407-4BB9-9492-A99B06A97BBC}"/>
              </a:ext>
            </a:extLst>
          </p:cNvPr>
          <p:cNvSpPr/>
          <p:nvPr/>
        </p:nvSpPr>
        <p:spPr>
          <a:xfrm>
            <a:off x="1847529" y="3216295"/>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smtClean="0">
                <a:solidFill>
                  <a:schemeClr val="tx1"/>
                </a:solidFill>
                <a:latin typeface="Santander Text" panose="020B0504020201020104" pitchFamily="34" charset="0"/>
              </a:rPr>
              <a:t>Dez/2023</a:t>
            </a:r>
            <a:endParaRPr lang="pt-PT" sz="1100" dirty="0">
              <a:solidFill>
                <a:schemeClr val="tx1"/>
              </a:solidFill>
              <a:latin typeface="Santander Text" panose="020B0504020201020104" pitchFamily="34" charset="0"/>
            </a:endParaRPr>
          </a:p>
        </p:txBody>
      </p:sp>
      <p:sp>
        <p:nvSpPr>
          <p:cNvPr id="57" name="Rectangle: Rounded Corners 36">
            <a:extLst>
              <a:ext uri="{FF2B5EF4-FFF2-40B4-BE49-F238E27FC236}">
                <a16:creationId xmlns:a16="http://schemas.microsoft.com/office/drawing/2014/main" id="{75B16902-9C27-4646-BC79-7857102F0D8E}"/>
              </a:ext>
            </a:extLst>
          </p:cNvPr>
          <p:cNvSpPr/>
          <p:nvPr/>
        </p:nvSpPr>
        <p:spPr>
          <a:xfrm>
            <a:off x="333088" y="3459466"/>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100" b="1" dirty="0">
                <a:solidFill>
                  <a:schemeClr val="tx1"/>
                </a:solidFill>
                <a:latin typeface="Santander Text" panose="020B0504020201020104" pitchFamily="34" charset="0"/>
              </a:rPr>
              <a:t>X</a:t>
            </a:r>
          </a:p>
        </p:txBody>
      </p:sp>
      <p:sp>
        <p:nvSpPr>
          <p:cNvPr id="58" name="Rectangle 57">
            <a:extLst>
              <a:ext uri="{FF2B5EF4-FFF2-40B4-BE49-F238E27FC236}">
                <a16:creationId xmlns:a16="http://schemas.microsoft.com/office/drawing/2014/main" id="{3AB53549-ABC0-4C6C-8E33-7E5FD42B165F}"/>
              </a:ext>
            </a:extLst>
          </p:cNvPr>
          <p:cNvSpPr/>
          <p:nvPr/>
        </p:nvSpPr>
        <p:spPr>
          <a:xfrm>
            <a:off x="503627" y="3459466"/>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Produção</a:t>
            </a:r>
          </a:p>
        </p:txBody>
      </p:sp>
      <p:sp>
        <p:nvSpPr>
          <p:cNvPr id="59" name="Rectangle 58">
            <a:extLst>
              <a:ext uri="{FF2B5EF4-FFF2-40B4-BE49-F238E27FC236}">
                <a16:creationId xmlns:a16="http://schemas.microsoft.com/office/drawing/2014/main" id="{B15A427F-D977-4472-B5F2-C3A0D02BCF6C}"/>
              </a:ext>
            </a:extLst>
          </p:cNvPr>
          <p:cNvSpPr/>
          <p:nvPr/>
        </p:nvSpPr>
        <p:spPr>
          <a:xfrm>
            <a:off x="1847529" y="3459466"/>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smtClean="0">
                <a:solidFill>
                  <a:schemeClr val="tx1"/>
                </a:solidFill>
                <a:latin typeface="Santander Text" panose="020B0504020201020104" pitchFamily="34" charset="0"/>
              </a:rPr>
              <a:t>Jan/2024</a:t>
            </a:r>
            <a:endParaRPr lang="pt-PT" sz="1100" dirty="0">
              <a:solidFill>
                <a:schemeClr val="tx1"/>
              </a:solidFill>
              <a:latin typeface="Santander Text" panose="020B0504020201020104" pitchFamily="34" charset="0"/>
            </a:endParaRPr>
          </a:p>
        </p:txBody>
      </p:sp>
      <p:sp>
        <p:nvSpPr>
          <p:cNvPr id="60" name="Rectangle: Rounded Corners 39">
            <a:extLst>
              <a:ext uri="{FF2B5EF4-FFF2-40B4-BE49-F238E27FC236}">
                <a16:creationId xmlns:a16="http://schemas.microsoft.com/office/drawing/2014/main" id="{0276CB6D-32F7-4EE4-94DD-5BAEADF1B641}"/>
              </a:ext>
            </a:extLst>
          </p:cNvPr>
          <p:cNvSpPr/>
          <p:nvPr/>
        </p:nvSpPr>
        <p:spPr>
          <a:xfrm>
            <a:off x="333088" y="3699848"/>
            <a:ext cx="157685" cy="157685"/>
          </a:xfrm>
          <a:prstGeom prst="round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100" b="1" dirty="0">
              <a:solidFill>
                <a:schemeClr val="tx1"/>
              </a:solidFill>
              <a:latin typeface="Santander Text" panose="020B0504020201020104" pitchFamily="34" charset="0"/>
            </a:endParaRPr>
          </a:p>
        </p:txBody>
      </p:sp>
      <p:sp>
        <p:nvSpPr>
          <p:cNvPr id="61" name="Rectangle 60">
            <a:extLst>
              <a:ext uri="{FF2B5EF4-FFF2-40B4-BE49-F238E27FC236}">
                <a16:creationId xmlns:a16="http://schemas.microsoft.com/office/drawing/2014/main" id="{D2F918E1-1526-4AE1-9010-7EBCA75749E6}"/>
              </a:ext>
            </a:extLst>
          </p:cNvPr>
          <p:cNvSpPr/>
          <p:nvPr/>
        </p:nvSpPr>
        <p:spPr>
          <a:xfrm>
            <a:off x="503627" y="3699848"/>
            <a:ext cx="1631933"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a:solidFill>
                  <a:schemeClr val="tx1"/>
                </a:solidFill>
                <a:latin typeface="Santander Text" panose="020B0504020201020104" pitchFamily="34" charset="0"/>
              </a:rPr>
              <a:t>Outro: qual?</a:t>
            </a:r>
          </a:p>
        </p:txBody>
      </p:sp>
      <p:sp>
        <p:nvSpPr>
          <p:cNvPr id="62" name="Rectangle 61">
            <a:extLst>
              <a:ext uri="{FF2B5EF4-FFF2-40B4-BE49-F238E27FC236}">
                <a16:creationId xmlns:a16="http://schemas.microsoft.com/office/drawing/2014/main" id="{E8C28F13-3CF8-41F7-8DD5-C7135F935981}"/>
              </a:ext>
            </a:extLst>
          </p:cNvPr>
          <p:cNvSpPr/>
          <p:nvPr/>
        </p:nvSpPr>
        <p:spPr>
          <a:xfrm>
            <a:off x="1847529" y="3699847"/>
            <a:ext cx="1008112" cy="1576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100" dirty="0" err="1">
                <a:solidFill>
                  <a:schemeClr val="tx1"/>
                </a:solidFill>
                <a:latin typeface="Santander Text" panose="020B0504020201020104" pitchFamily="34" charset="0"/>
              </a:rPr>
              <a:t>mmmm</a:t>
            </a:r>
            <a:r>
              <a:rPr lang="pt-PT" sz="1100" dirty="0">
                <a:solidFill>
                  <a:schemeClr val="tx1"/>
                </a:solidFill>
                <a:latin typeface="Santander Text" panose="020B0504020201020104" pitchFamily="34" charset="0"/>
              </a:rPr>
              <a:t>/</a:t>
            </a:r>
            <a:r>
              <a:rPr lang="pt-PT" sz="1100" dirty="0" err="1">
                <a:solidFill>
                  <a:schemeClr val="tx1"/>
                </a:solidFill>
                <a:latin typeface="Santander Text" panose="020B0504020201020104" pitchFamily="34" charset="0"/>
              </a:rPr>
              <a:t>aaaa</a:t>
            </a:r>
            <a:endParaRPr lang="pt-PT" sz="1100" dirty="0">
              <a:solidFill>
                <a:schemeClr val="tx1"/>
              </a:solidFill>
              <a:latin typeface="Santander Text" panose="020B0504020201020104" pitchFamily="34" charset="0"/>
            </a:endParaRPr>
          </a:p>
        </p:txBody>
      </p:sp>
    </p:spTree>
    <p:extLst>
      <p:ext uri="{BB962C8B-B14F-4D97-AF65-F5344CB8AC3E}">
        <p14:creationId xmlns:p14="http://schemas.microsoft.com/office/powerpoint/2010/main" val="3786081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Enquadramento e Necessidades</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02</a:t>
            </a:r>
          </a:p>
        </p:txBody>
      </p:sp>
    </p:spTree>
    <p:extLst>
      <p:ext uri="{BB962C8B-B14F-4D97-AF65-F5344CB8AC3E}">
        <p14:creationId xmlns:p14="http://schemas.microsoft.com/office/powerpoint/2010/main" val="3181265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5168952" cy="304800"/>
          </a:xfrm>
        </p:spPr>
        <p:txBody>
          <a:bodyPr/>
          <a:lstStyle/>
          <a:p>
            <a:r>
              <a:rPr lang="pt-PT" sz="2400" dirty="0"/>
              <a:t>Enquadramento, Objectivos e alcance</a:t>
            </a:r>
          </a:p>
        </p:txBody>
      </p:sp>
      <p:sp>
        <p:nvSpPr>
          <p:cNvPr id="9" name="Rectangle 5"/>
          <p:cNvSpPr>
            <a:spLocks noChangeArrowheads="1"/>
          </p:cNvSpPr>
          <p:nvPr/>
        </p:nvSpPr>
        <p:spPr bwMode="auto">
          <a:xfrm>
            <a:off x="551383" y="1062527"/>
            <a:ext cx="5400601" cy="2726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0" lvl="1">
              <a:lnSpc>
                <a:spcPct val="150000"/>
              </a:lnSpc>
              <a:spcBef>
                <a:spcPts val="0"/>
              </a:spcBef>
              <a:buClr>
                <a:srgbClr val="FF0000"/>
              </a:buClr>
              <a:buNone/>
            </a:pPr>
            <a:r>
              <a:rPr lang="pt-PT" sz="1100" dirty="0">
                <a:solidFill>
                  <a:schemeClr val="tx1"/>
                </a:solidFill>
                <a:latin typeface="Santander Text" panose="020B0504020201020104" pitchFamily="34" charset="0"/>
              </a:rPr>
              <a:t>Por forma a </a:t>
            </a:r>
            <a:r>
              <a:rPr lang="pt-PT" sz="1100" dirty="0" smtClean="0">
                <a:solidFill>
                  <a:schemeClr val="tx1"/>
                </a:solidFill>
                <a:latin typeface="Santander Text" panose="020B0504020201020104" pitchFamily="34" charset="0"/>
              </a:rPr>
              <a:t>produzir e automatizar </a:t>
            </a:r>
            <a:r>
              <a:rPr lang="pt-PT" sz="1100" dirty="0" smtClean="0">
                <a:solidFill>
                  <a:schemeClr val="tx1"/>
                </a:solidFill>
                <a:latin typeface="Santander Text" panose="020B0504020201020104" pitchFamily="34" charset="0"/>
              </a:rPr>
              <a:t>um conjunto </a:t>
            </a:r>
            <a:r>
              <a:rPr lang="pt-PT" sz="1100" dirty="0">
                <a:solidFill>
                  <a:schemeClr val="tx1"/>
                </a:solidFill>
                <a:latin typeface="Santander Text" panose="020B0504020201020104" pitchFamily="34" charset="0"/>
              </a:rPr>
              <a:t>de </a:t>
            </a:r>
            <a:r>
              <a:rPr lang="pt-PT" sz="1100"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da Área Financeira, nomeadamente o FMIR, LDR e </a:t>
            </a:r>
            <a:r>
              <a:rPr lang="pt-PT" sz="1100" dirty="0" err="1" smtClean="0">
                <a:solidFill>
                  <a:schemeClr val="tx1"/>
                </a:solidFill>
                <a:latin typeface="Santander Text" panose="020B0504020201020104" pitchFamily="34" charset="0"/>
              </a:rPr>
              <a:t>Valuation</a:t>
            </a:r>
            <a:r>
              <a:rPr lang="pt-PT" sz="1100" dirty="0" smtClean="0">
                <a:solidFill>
                  <a:schemeClr val="tx1"/>
                </a:solidFill>
                <a:latin typeface="Santander Text" panose="020B0504020201020104" pitchFamily="34" charset="0"/>
              </a:rPr>
              <a:t>, pretende-se criar um processo que a partir de um conjunto de informação existente em </a:t>
            </a:r>
            <a:r>
              <a:rPr lang="pt-PT" sz="1100" dirty="0" err="1" smtClean="0">
                <a:solidFill>
                  <a:schemeClr val="tx1"/>
                </a:solidFill>
                <a:latin typeface="Santander Text" panose="020B0504020201020104" pitchFamily="34" charset="0"/>
              </a:rPr>
              <a:t>Cloud</a:t>
            </a:r>
            <a:r>
              <a:rPr lang="pt-PT" sz="1100" dirty="0" smtClean="0">
                <a:solidFill>
                  <a:schemeClr val="tx1"/>
                </a:solidFill>
                <a:latin typeface="Santander Text" panose="020B0504020201020104" pitchFamily="34" charset="0"/>
              </a:rPr>
              <a:t> </a:t>
            </a:r>
            <a:r>
              <a:rPr lang="pt-PT" sz="1100" dirty="0" err="1" smtClean="0">
                <a:solidFill>
                  <a:schemeClr val="tx1"/>
                </a:solidFill>
                <a:latin typeface="Santander Text" panose="020B0504020201020104" pitchFamily="34" charset="0"/>
              </a:rPr>
              <a:t>Azure</a:t>
            </a:r>
            <a:r>
              <a:rPr lang="pt-PT" sz="1100" dirty="0" smtClean="0">
                <a:solidFill>
                  <a:schemeClr val="tx1"/>
                </a:solidFill>
                <a:latin typeface="Santander Text" panose="020B0504020201020104" pitchFamily="34" charset="0"/>
              </a:rPr>
              <a:t>, origine os </a:t>
            </a:r>
            <a:r>
              <a:rPr lang="pt-PT" sz="1100" dirty="0" err="1" smtClean="0">
                <a:solidFill>
                  <a:schemeClr val="tx1"/>
                </a:solidFill>
                <a:latin typeface="Santander Text" panose="020B0504020201020104" pitchFamily="34" charset="0"/>
              </a:rPr>
              <a:t>reports</a:t>
            </a:r>
            <a:r>
              <a:rPr lang="pt-PT" sz="1100" dirty="0" smtClean="0">
                <a:solidFill>
                  <a:schemeClr val="tx1"/>
                </a:solidFill>
                <a:latin typeface="Santander Text" panose="020B0504020201020104" pitchFamily="34" charset="0"/>
              </a:rPr>
              <a:t> indicados.</a:t>
            </a:r>
            <a:endParaRPr lang="pt-PT" sz="1100" i="1" dirty="0">
              <a:solidFill>
                <a:schemeClr val="tx1"/>
              </a:solidFill>
              <a:latin typeface="Santander Text" panose="020B0504020201020104" pitchFamily="34" charset="0"/>
            </a:endParaRPr>
          </a:p>
          <a:p>
            <a:pPr marL="0" lvl="1">
              <a:lnSpc>
                <a:spcPct val="150000"/>
              </a:lnSpc>
              <a:spcBef>
                <a:spcPts val="0"/>
              </a:spcBef>
              <a:buClr>
                <a:srgbClr val="FF0000"/>
              </a:buClr>
              <a:buNone/>
            </a:pPr>
            <a:endParaRPr lang="pt-PT" sz="1100" dirty="0">
              <a:solidFill>
                <a:schemeClr val="tx1"/>
              </a:solidFill>
              <a:latin typeface="Santander Text" panose="020B0504020201020104" pitchFamily="34" charset="0"/>
            </a:endParaRPr>
          </a:p>
          <a:p>
            <a:pPr marL="0" lvl="1">
              <a:lnSpc>
                <a:spcPct val="150000"/>
              </a:lnSpc>
              <a:spcBef>
                <a:spcPts val="0"/>
              </a:spcBef>
              <a:buClr>
                <a:srgbClr val="FF0000"/>
              </a:buClr>
              <a:buNone/>
            </a:pPr>
            <a:r>
              <a:rPr lang="pt-PT" sz="1100" dirty="0">
                <a:solidFill>
                  <a:schemeClr val="tx1"/>
                </a:solidFill>
                <a:latin typeface="Santander Text" panose="020B0504020201020104" pitchFamily="34" charset="0"/>
              </a:rPr>
              <a:t>Para tal é necessário preparar e enviar um conjunto de informação de ALM (</a:t>
            </a:r>
            <a:r>
              <a:rPr lang="pt-PT" sz="1100" i="1" dirty="0" err="1">
                <a:solidFill>
                  <a:schemeClr val="tx1"/>
                </a:solidFill>
                <a:latin typeface="Santander Text" panose="020B0504020201020104" pitchFamily="34" charset="0"/>
              </a:rPr>
              <a:t>Asset</a:t>
            </a:r>
            <a:r>
              <a:rPr lang="pt-PT" sz="1100" i="1" dirty="0">
                <a:solidFill>
                  <a:schemeClr val="tx1"/>
                </a:solidFill>
                <a:latin typeface="Santander Text" panose="020B0504020201020104" pitchFamily="34" charset="0"/>
              </a:rPr>
              <a:t> </a:t>
            </a:r>
            <a:r>
              <a:rPr lang="pt-PT" sz="1100" i="1" dirty="0" err="1">
                <a:solidFill>
                  <a:schemeClr val="tx1"/>
                </a:solidFill>
                <a:latin typeface="Santander Text" panose="020B0504020201020104" pitchFamily="34" charset="0"/>
              </a:rPr>
              <a:t>Liability</a:t>
            </a:r>
            <a:r>
              <a:rPr lang="pt-PT" sz="1100" i="1" dirty="0">
                <a:solidFill>
                  <a:schemeClr val="tx1"/>
                </a:solidFill>
                <a:latin typeface="Santander Text" panose="020B0504020201020104" pitchFamily="34" charset="0"/>
              </a:rPr>
              <a:t> Management</a:t>
            </a:r>
            <a:r>
              <a:rPr lang="pt-PT" sz="1100" dirty="0" smtClean="0">
                <a:solidFill>
                  <a:schemeClr val="tx1"/>
                </a:solidFill>
                <a:latin typeface="Santander Text" panose="020B0504020201020104" pitchFamily="34" charset="0"/>
              </a:rPr>
              <a:t>), Capital Tools do </a:t>
            </a:r>
            <a:r>
              <a:rPr lang="pt-PT" sz="1100" dirty="0">
                <a:solidFill>
                  <a:schemeClr val="tx1"/>
                </a:solidFill>
                <a:latin typeface="Santander Text" panose="020B0504020201020104" pitchFamily="34" charset="0"/>
              </a:rPr>
              <a:t>lado da </a:t>
            </a:r>
            <a:r>
              <a:rPr lang="pt-PT" sz="1100" dirty="0" err="1">
                <a:solidFill>
                  <a:schemeClr val="tx1"/>
                </a:solidFill>
                <a:latin typeface="Santander Text" panose="020B0504020201020104" pitchFamily="34" charset="0"/>
              </a:rPr>
              <a:t>Cloud</a:t>
            </a:r>
            <a:r>
              <a:rPr lang="pt-PT" sz="1100" dirty="0">
                <a:solidFill>
                  <a:schemeClr val="tx1"/>
                </a:solidFill>
                <a:latin typeface="Santander Text" panose="020B0504020201020104" pitchFamily="34" charset="0"/>
              </a:rPr>
              <a:t> </a:t>
            </a:r>
            <a:r>
              <a:rPr lang="pt-PT" sz="1100" dirty="0" err="1" smtClean="0">
                <a:solidFill>
                  <a:schemeClr val="tx1"/>
                </a:solidFill>
                <a:latin typeface="Santander Text" panose="020B0504020201020104" pitchFamily="34" charset="0"/>
              </a:rPr>
              <a:t>Azure</a:t>
            </a:r>
            <a:r>
              <a:rPr lang="pt-PT" sz="1100" dirty="0" smtClean="0">
                <a:solidFill>
                  <a:schemeClr val="tx1"/>
                </a:solidFill>
                <a:latin typeface="Santander Text" panose="020B0504020201020104" pitchFamily="34" charset="0"/>
              </a:rPr>
              <a:t>, bem como informação provenientes de outros sistemas do banco, nomeadamente </a:t>
            </a:r>
            <a:r>
              <a:rPr lang="pt-PT" sz="1100" dirty="0" err="1" smtClean="0">
                <a:solidFill>
                  <a:schemeClr val="tx1"/>
                </a:solidFill>
                <a:latin typeface="Santander Text" panose="020B0504020201020104" pitchFamily="34" charset="0"/>
              </a:rPr>
              <a:t>Pagonxt</a:t>
            </a:r>
            <a:r>
              <a:rPr lang="pt-PT" sz="1100" dirty="0" smtClean="0">
                <a:solidFill>
                  <a:schemeClr val="tx1"/>
                </a:solidFill>
                <a:latin typeface="Santander Text" panose="020B0504020201020104" pitchFamily="34" charset="0"/>
              </a:rPr>
              <a:t>, </a:t>
            </a:r>
            <a:r>
              <a:rPr lang="pt-PT" sz="1100" dirty="0" err="1">
                <a:solidFill>
                  <a:schemeClr val="tx1"/>
                </a:solidFill>
                <a:latin typeface="Santander Text" panose="020B0504020201020104" pitchFamily="34" charset="0"/>
              </a:rPr>
              <a:t>S</a:t>
            </a:r>
            <a:r>
              <a:rPr lang="pt-PT" sz="1100" dirty="0" err="1" smtClean="0">
                <a:solidFill>
                  <a:schemeClr val="tx1"/>
                </a:solidFill>
                <a:latin typeface="Santander Text" panose="020B0504020201020104" pitchFamily="34" charset="0"/>
              </a:rPr>
              <a:t>igom</a:t>
            </a:r>
            <a:r>
              <a:rPr lang="pt-PT" sz="1100" dirty="0" smtClean="0">
                <a:solidFill>
                  <a:schemeClr val="tx1"/>
                </a:solidFill>
                <a:latin typeface="Santander Text" panose="020B0504020201020104" pitchFamily="34" charset="0"/>
              </a:rPr>
              <a:t>, </a:t>
            </a:r>
            <a:r>
              <a:rPr lang="pt-PT" sz="1100" dirty="0" smtClean="0">
                <a:solidFill>
                  <a:schemeClr val="tx1"/>
                </a:solidFill>
                <a:latin typeface="Santander Text" panose="020B0504020201020104" pitchFamily="34" charset="0"/>
              </a:rPr>
              <a:t>TF, etc</a:t>
            </a:r>
            <a:r>
              <a:rPr lang="pt-PT" sz="1100" dirty="0" smtClean="0">
                <a:solidFill>
                  <a:schemeClr val="tx1"/>
                </a:solidFill>
                <a:latin typeface="Santander Text" panose="020B0504020201020104" pitchFamily="34" charset="0"/>
              </a:rPr>
              <a:t>.</a:t>
            </a:r>
            <a:endParaRPr lang="pt-PT" sz="1100" dirty="0">
              <a:solidFill>
                <a:schemeClr val="tx1"/>
              </a:solidFill>
              <a:latin typeface="Santander Text" panose="020B0504020201020104" pitchFamily="34" charset="0"/>
            </a:endParaRPr>
          </a:p>
          <a:p>
            <a:pPr marL="0" algn="just">
              <a:lnSpc>
                <a:spcPct val="150000"/>
              </a:lnSpc>
              <a:spcBef>
                <a:spcPts val="0"/>
              </a:spcBef>
            </a:pPr>
            <a:endParaRPr lang="pt-PT" sz="1100" b="0" dirty="0">
              <a:solidFill>
                <a:schemeClr val="tx1"/>
              </a:solidFill>
              <a:latin typeface="Santander Text" panose="020B0504020201020104" pitchFamily="34" charset="0"/>
            </a:endParaRPr>
          </a:p>
          <a:p>
            <a:pPr marL="0" indent="0" algn="just">
              <a:lnSpc>
                <a:spcPct val="150000"/>
              </a:lnSpc>
              <a:spcBef>
                <a:spcPts val="0"/>
              </a:spcBef>
              <a:buNone/>
            </a:pPr>
            <a:r>
              <a:rPr lang="pt-PT" sz="1100" b="0" dirty="0">
                <a:solidFill>
                  <a:schemeClr val="tx1"/>
                </a:solidFill>
                <a:latin typeface="Santander Text" panose="020B0504020201020104" pitchFamily="34" charset="0"/>
              </a:rPr>
              <a:t>Para este desenvolvimento é necessário garantir:</a:t>
            </a:r>
          </a:p>
          <a:p>
            <a:pPr marL="0" indent="-171450" algn="just">
              <a:lnSpc>
                <a:spcPct val="150000"/>
              </a:lnSpc>
              <a:spcBef>
                <a:spcPts val="0"/>
              </a:spcBef>
              <a:buFont typeface="Arial" panose="020B0604020202020204" pitchFamily="34" charset="0"/>
              <a:buChar char="•"/>
            </a:pPr>
            <a:r>
              <a:rPr lang="pt-PT" sz="1100" b="0" dirty="0">
                <a:solidFill>
                  <a:schemeClr val="tx1"/>
                </a:solidFill>
                <a:latin typeface="Santander Text" panose="020B0504020201020104" pitchFamily="34" charset="0"/>
              </a:rPr>
              <a:t>Ingestão de dados das várias aplicações </a:t>
            </a:r>
            <a:r>
              <a:rPr lang="pt-PT" sz="1100" b="0" dirty="0" smtClean="0">
                <a:solidFill>
                  <a:schemeClr val="tx1"/>
                </a:solidFill>
                <a:latin typeface="Santander Text" panose="020B0504020201020104" pitchFamily="34" charset="0"/>
              </a:rPr>
              <a:t>(</a:t>
            </a:r>
            <a:r>
              <a:rPr lang="pt-PT" sz="1100" b="0" dirty="0">
                <a:solidFill>
                  <a:schemeClr val="tx1"/>
                </a:solidFill>
                <a:latin typeface="Santander Text" panose="020B0504020201020104" pitchFamily="34" charset="0"/>
              </a:rPr>
              <a:t>migração de </a:t>
            </a:r>
            <a:r>
              <a:rPr lang="pt-PT" sz="1100" b="0" i="1" dirty="0" err="1">
                <a:solidFill>
                  <a:schemeClr val="tx1"/>
                </a:solidFill>
                <a:latin typeface="Santander Text" panose="020B0504020201020104" pitchFamily="34" charset="0"/>
              </a:rPr>
              <a:t>Cloudera</a:t>
            </a:r>
            <a:r>
              <a:rPr lang="pt-PT" sz="1100" b="0" dirty="0">
                <a:solidFill>
                  <a:schemeClr val="tx1"/>
                </a:solidFill>
                <a:latin typeface="Santander Text" panose="020B0504020201020104" pitchFamily="34" charset="0"/>
              </a:rPr>
              <a:t> para </a:t>
            </a:r>
            <a:r>
              <a:rPr lang="pt-PT" sz="1100" b="0" i="1" dirty="0" err="1">
                <a:solidFill>
                  <a:schemeClr val="tx1"/>
                </a:solidFill>
                <a:latin typeface="Santander Text" panose="020B0504020201020104" pitchFamily="34" charset="0"/>
              </a:rPr>
              <a:t>Cloud</a:t>
            </a:r>
            <a:r>
              <a:rPr lang="pt-PT" sz="1100" b="0" i="1" dirty="0">
                <a:solidFill>
                  <a:schemeClr val="tx1"/>
                </a:solidFill>
                <a:latin typeface="Santander Text" panose="020B0504020201020104" pitchFamily="34" charset="0"/>
              </a:rPr>
              <a:t> </a:t>
            </a:r>
            <a:r>
              <a:rPr lang="pt-PT" sz="1100" b="0" i="1" dirty="0" err="1">
                <a:solidFill>
                  <a:schemeClr val="tx1"/>
                </a:solidFill>
                <a:latin typeface="Santander Text" panose="020B0504020201020104" pitchFamily="34" charset="0"/>
              </a:rPr>
              <a:t>Azure</a:t>
            </a:r>
            <a:r>
              <a:rPr lang="pt-PT" sz="1100" b="0" dirty="0">
                <a:solidFill>
                  <a:schemeClr val="tx1"/>
                </a:solidFill>
                <a:latin typeface="Santander Text" panose="020B0504020201020104" pitchFamily="34" charset="0"/>
              </a:rPr>
              <a:t>).</a:t>
            </a:r>
          </a:p>
          <a:p>
            <a:pPr marL="0" indent="-171450" algn="just">
              <a:lnSpc>
                <a:spcPct val="150000"/>
              </a:lnSpc>
              <a:spcBef>
                <a:spcPts val="0"/>
              </a:spcBef>
              <a:buFont typeface="Arial" panose="020B0604020202020204" pitchFamily="34" charset="0"/>
              <a:buChar char="•"/>
            </a:pPr>
            <a:r>
              <a:rPr lang="pt-PT" sz="1100" b="0" dirty="0">
                <a:solidFill>
                  <a:schemeClr val="tx1"/>
                </a:solidFill>
                <a:latin typeface="Santander Text" panose="020B0504020201020104" pitchFamily="34" charset="0"/>
              </a:rPr>
              <a:t>Desenvolver ETL (</a:t>
            </a:r>
            <a:r>
              <a:rPr lang="pt-PT" sz="1100" b="0" i="1" dirty="0" err="1">
                <a:solidFill>
                  <a:schemeClr val="tx1"/>
                </a:solidFill>
                <a:latin typeface="Santander Text" panose="020B0504020201020104" pitchFamily="34" charset="0"/>
              </a:rPr>
              <a:t>Databricks</a:t>
            </a:r>
            <a:r>
              <a:rPr lang="pt-PT" sz="1100" b="0" dirty="0">
                <a:solidFill>
                  <a:schemeClr val="tx1"/>
                </a:solidFill>
                <a:latin typeface="Santander Text" panose="020B0504020201020104" pitchFamily="34" charset="0"/>
              </a:rPr>
              <a:t>) sobre a informação </a:t>
            </a:r>
            <a:r>
              <a:rPr lang="pt-PT" sz="1100" b="0" dirty="0" smtClean="0">
                <a:solidFill>
                  <a:schemeClr val="tx1"/>
                </a:solidFill>
                <a:latin typeface="Santander Text" panose="020B0504020201020104" pitchFamily="34" charset="0"/>
              </a:rPr>
              <a:t>para gerar os </a:t>
            </a:r>
            <a:r>
              <a:rPr lang="pt-PT" sz="1100" b="0" dirty="0" err="1">
                <a:solidFill>
                  <a:schemeClr val="tx1"/>
                </a:solidFill>
                <a:latin typeface="Santander Text" panose="020B0504020201020104" pitchFamily="34" charset="0"/>
              </a:rPr>
              <a:t>r</a:t>
            </a:r>
            <a:r>
              <a:rPr lang="pt-PT" sz="1100" b="0" dirty="0" err="1" smtClean="0">
                <a:solidFill>
                  <a:schemeClr val="tx1"/>
                </a:solidFill>
                <a:latin typeface="Santander Text" panose="020B0504020201020104" pitchFamily="34" charset="0"/>
              </a:rPr>
              <a:t>eports</a:t>
            </a:r>
            <a:r>
              <a:rPr lang="pt-PT" sz="1100" b="0" dirty="0" smtClean="0">
                <a:solidFill>
                  <a:schemeClr val="tx1"/>
                </a:solidFill>
                <a:latin typeface="Santander Text" panose="020B0504020201020104" pitchFamily="34" charset="0"/>
              </a:rPr>
              <a:t> necessários em formato </a:t>
            </a:r>
            <a:r>
              <a:rPr lang="pt-PT" sz="1100" b="0" dirty="0" smtClean="0">
                <a:solidFill>
                  <a:schemeClr val="tx1"/>
                </a:solidFill>
                <a:latin typeface="Santander Text" panose="020B0504020201020104" pitchFamily="34" charset="0"/>
              </a:rPr>
              <a:t>Excel.</a:t>
            </a:r>
            <a:endParaRPr lang="pt-PT" sz="1100" b="0" dirty="0">
              <a:solidFill>
                <a:schemeClr val="tx1"/>
              </a:solidFill>
              <a:latin typeface="Santander Text" panose="020B0504020201020104" pitchFamily="34" charset="0"/>
            </a:endParaRPr>
          </a:p>
          <a:p>
            <a:pPr marL="0" indent="-171450" algn="just">
              <a:lnSpc>
                <a:spcPct val="150000"/>
              </a:lnSpc>
              <a:spcBef>
                <a:spcPts val="0"/>
              </a:spcBef>
              <a:buFont typeface="Arial" panose="020B0604020202020204" pitchFamily="34" charset="0"/>
              <a:buChar char="•"/>
            </a:pPr>
            <a:r>
              <a:rPr lang="pt-PT" sz="1100" b="0" dirty="0" smtClean="0">
                <a:solidFill>
                  <a:schemeClr val="tx1"/>
                </a:solidFill>
                <a:latin typeface="Santander Text" panose="020B0504020201020104" pitchFamily="34" charset="0"/>
              </a:rPr>
              <a:t>Este </a:t>
            </a:r>
            <a:r>
              <a:rPr lang="pt-PT" sz="1100" b="0" dirty="0">
                <a:solidFill>
                  <a:schemeClr val="tx1"/>
                </a:solidFill>
                <a:latin typeface="Santander Text" panose="020B0504020201020104" pitchFamily="34" charset="0"/>
              </a:rPr>
              <a:t>envio será </a:t>
            </a:r>
            <a:r>
              <a:rPr lang="pt-PT" sz="1100" b="0" dirty="0" smtClean="0">
                <a:solidFill>
                  <a:schemeClr val="tx1"/>
                </a:solidFill>
                <a:latin typeface="Santander Text" panose="020B0504020201020104" pitchFamily="34" charset="0"/>
              </a:rPr>
              <a:t>despoletado de forma automática, através de job ou também de forma </a:t>
            </a:r>
            <a:r>
              <a:rPr lang="pt-PT" sz="1100" b="0" dirty="0">
                <a:solidFill>
                  <a:schemeClr val="tx1"/>
                </a:solidFill>
                <a:latin typeface="Santander Text" panose="020B0504020201020104" pitchFamily="34" charset="0"/>
              </a:rPr>
              <a:t>manual através de </a:t>
            </a:r>
            <a:r>
              <a:rPr lang="pt-PT" sz="1100" b="0" dirty="0" err="1" smtClean="0">
                <a:solidFill>
                  <a:schemeClr val="tx1"/>
                </a:solidFill>
                <a:latin typeface="Santander Text" panose="020B0504020201020104" pitchFamily="34" charset="0"/>
              </a:rPr>
              <a:t>front</a:t>
            </a:r>
            <a:r>
              <a:rPr lang="pt-PT" sz="1100" b="0" dirty="0" err="1">
                <a:solidFill>
                  <a:schemeClr val="tx1"/>
                </a:solidFill>
                <a:latin typeface="Santander Text" panose="020B0504020201020104" pitchFamily="34" charset="0"/>
              </a:rPr>
              <a:t>-</a:t>
            </a:r>
            <a:r>
              <a:rPr lang="pt-PT" sz="1100" b="0" dirty="0" err="1" smtClean="0">
                <a:solidFill>
                  <a:schemeClr val="tx1"/>
                </a:solidFill>
                <a:latin typeface="Santander Text" panose="020B0504020201020104" pitchFamily="34" charset="0"/>
              </a:rPr>
              <a:t>end</a:t>
            </a:r>
            <a:r>
              <a:rPr lang="pt-PT" sz="1100" b="0" dirty="0" smtClean="0">
                <a:solidFill>
                  <a:schemeClr val="tx1"/>
                </a:solidFill>
                <a:latin typeface="Santander Text" panose="020B0504020201020104" pitchFamily="34" charset="0"/>
              </a:rPr>
              <a:t> </a:t>
            </a:r>
            <a:r>
              <a:rPr lang="pt-PT" sz="1100" b="0" dirty="0">
                <a:solidFill>
                  <a:schemeClr val="tx1"/>
                </a:solidFill>
                <a:latin typeface="Santander Text" panose="020B0504020201020104" pitchFamily="34" charset="0"/>
              </a:rPr>
              <a:t>existente (Monitor de </a:t>
            </a:r>
            <a:r>
              <a:rPr lang="pt-PT" sz="1100" b="0" i="1" dirty="0">
                <a:solidFill>
                  <a:schemeClr val="tx1"/>
                </a:solidFill>
                <a:latin typeface="Santander Text" panose="020B0504020201020104" pitchFamily="34" charset="0"/>
              </a:rPr>
              <a:t>Capital Tools</a:t>
            </a:r>
            <a:r>
              <a:rPr lang="pt-PT" sz="1100" b="0" dirty="0">
                <a:solidFill>
                  <a:schemeClr val="tx1"/>
                </a:solidFill>
                <a:latin typeface="Santander Text" panose="020B0504020201020104" pitchFamily="34" charset="0"/>
              </a:rPr>
              <a:t>) e será totalmente da responsabilidade do utilizador.</a:t>
            </a:r>
          </a:p>
          <a:p>
            <a:pPr marL="0" indent="0" algn="just">
              <a:lnSpc>
                <a:spcPct val="150000"/>
              </a:lnSpc>
              <a:spcBef>
                <a:spcPts val="0"/>
              </a:spcBef>
              <a:buNone/>
            </a:pPr>
            <a:endParaRPr lang="pt-PT" sz="1100" b="0" dirty="0">
              <a:solidFill>
                <a:schemeClr val="tx1"/>
              </a:solidFill>
              <a:latin typeface="Santander Text" panose="020B0504020201020104" pitchFamily="34" charset="0"/>
            </a:endParaRPr>
          </a:p>
          <a:p>
            <a:pPr marL="0" indent="0" algn="just">
              <a:lnSpc>
                <a:spcPct val="150000"/>
              </a:lnSpc>
              <a:spcBef>
                <a:spcPts val="0"/>
              </a:spcBef>
              <a:buNone/>
            </a:pPr>
            <a:r>
              <a:rPr lang="pt-PT" sz="1100" dirty="0">
                <a:solidFill>
                  <a:schemeClr val="tx1"/>
                </a:solidFill>
                <a:latin typeface="Santander Text" panose="020B0504020201020104" pitchFamily="34" charset="0"/>
              </a:rPr>
              <a:t>Generalidades:</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Entidade: Santander</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Alcance : Local</a:t>
            </a:r>
          </a:p>
          <a:p>
            <a:pPr marL="0" lvl="2" algn="just">
              <a:lnSpc>
                <a:spcPct val="150000"/>
              </a:lnSpc>
              <a:spcBef>
                <a:spcPts val="0"/>
              </a:spcBef>
              <a:buClr>
                <a:srgbClr val="FF0000"/>
              </a:buClr>
              <a:buFont typeface="Wingdings" pitchFamily="2" charset="2"/>
              <a:buChar char="§"/>
              <a:defRPr/>
            </a:pPr>
            <a:r>
              <a:rPr lang="pt-PT" sz="1100" dirty="0">
                <a:solidFill>
                  <a:schemeClr val="tx1"/>
                </a:solidFill>
                <a:latin typeface="Santander Text" panose="020B0504020201020104" pitchFamily="34" charset="0"/>
              </a:rPr>
              <a:t>Ambiente: </a:t>
            </a:r>
            <a:r>
              <a:rPr lang="pt-PT" sz="1100" i="1" dirty="0">
                <a:solidFill>
                  <a:schemeClr val="tx1"/>
                </a:solidFill>
                <a:latin typeface="Santander Text" panose="020B0504020201020104" pitchFamily="34" charset="0"/>
              </a:rPr>
              <a:t>Intranet</a:t>
            </a:r>
          </a:p>
        </p:txBody>
      </p:sp>
      <p:sp>
        <p:nvSpPr>
          <p:cNvPr id="6" name="Slide Number Placeholder 5"/>
          <p:cNvSpPr>
            <a:spLocks noGrp="1"/>
          </p:cNvSpPr>
          <p:nvPr>
            <p:ph type="sldNum" sz="quarter" idx="12"/>
          </p:nvPr>
        </p:nvSpPr>
        <p:spPr/>
        <p:txBody>
          <a:bodyPr/>
          <a:lstStyle/>
          <a:p>
            <a:fld id="{BC0D97B6-E32F-4D7D-B839-7C3B51F2640F}" type="slidenum">
              <a:rPr lang="pt-PT" smtClean="0"/>
              <a:pPr/>
              <a:t>7</a:t>
            </a:fld>
            <a:endParaRPr lang="pt-PT" dirty="0"/>
          </a:p>
        </p:txBody>
      </p:sp>
      <p:sp>
        <p:nvSpPr>
          <p:cNvPr id="12" name="Rectangle 5">
            <a:extLst>
              <a:ext uri="{FF2B5EF4-FFF2-40B4-BE49-F238E27FC236}">
                <a16:creationId xmlns:a16="http://schemas.microsoft.com/office/drawing/2014/main" id="{D97D6366-8A26-4BA1-B18E-A1B53459E5FA}"/>
              </a:ext>
            </a:extLst>
          </p:cNvPr>
          <p:cNvSpPr>
            <a:spLocks noChangeArrowheads="1"/>
          </p:cNvSpPr>
          <p:nvPr/>
        </p:nvSpPr>
        <p:spPr bwMode="auto">
          <a:xfrm>
            <a:off x="6023992" y="1062526"/>
            <a:ext cx="5876855" cy="3154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465138" lvl="1" indent="-285750">
              <a:spcBef>
                <a:spcPts val="400"/>
              </a:spcBef>
              <a:buClr>
                <a:srgbClr val="FF0000"/>
              </a:buClr>
            </a:pPr>
            <a:r>
              <a:rPr lang="pt-PT" sz="1500" dirty="0">
                <a:solidFill>
                  <a:schemeClr val="tx1"/>
                </a:solidFill>
                <a:latin typeface="Santander Text" panose="020B0504020201020104" pitchFamily="34" charset="0"/>
              </a:rPr>
              <a:t>Migração de tabelas do </a:t>
            </a:r>
            <a:r>
              <a:rPr lang="pt-PT" sz="1500" i="1" dirty="0" err="1">
                <a:solidFill>
                  <a:schemeClr val="tx1"/>
                </a:solidFill>
                <a:latin typeface="Santander Text" panose="020B0504020201020104" pitchFamily="34" charset="0"/>
              </a:rPr>
              <a:t>Cloudera</a:t>
            </a:r>
            <a:r>
              <a:rPr lang="pt-PT" sz="1500" dirty="0">
                <a:solidFill>
                  <a:schemeClr val="tx1"/>
                </a:solidFill>
                <a:latin typeface="Santander Text" panose="020B0504020201020104" pitchFamily="34" charset="0"/>
              </a:rPr>
              <a:t> para </a:t>
            </a:r>
            <a:r>
              <a:rPr lang="pt-PT" sz="1500" i="1" dirty="0" err="1">
                <a:solidFill>
                  <a:schemeClr val="tx1"/>
                </a:solidFill>
                <a:latin typeface="Santander Text" panose="020B0504020201020104" pitchFamily="34" charset="0"/>
              </a:rPr>
              <a:t>Cloud</a:t>
            </a:r>
            <a:r>
              <a:rPr lang="pt-PT" sz="1500" i="1" dirty="0">
                <a:solidFill>
                  <a:schemeClr val="tx1"/>
                </a:solidFill>
                <a:latin typeface="Santander Text" panose="020B0504020201020104" pitchFamily="34" charset="0"/>
              </a:rPr>
              <a:t> </a:t>
            </a:r>
            <a:r>
              <a:rPr lang="pt-PT" sz="1500" i="1" dirty="0" err="1">
                <a:solidFill>
                  <a:schemeClr val="tx1"/>
                </a:solidFill>
                <a:latin typeface="Santander Text" panose="020B0504020201020104" pitchFamily="34" charset="0"/>
              </a:rPr>
              <a:t>Azure</a:t>
            </a:r>
            <a:r>
              <a:rPr lang="pt-PT" sz="1500" i="1" dirty="0">
                <a:solidFill>
                  <a:schemeClr val="tx1"/>
                </a:solidFill>
                <a:latin typeface="Santander Text" panose="020B0504020201020104" pitchFamily="34" charset="0"/>
              </a:rPr>
              <a:t>;</a:t>
            </a:r>
          </a:p>
          <a:p>
            <a:pPr marL="465138" lvl="1" indent="-285750">
              <a:spcBef>
                <a:spcPts val="400"/>
              </a:spcBef>
              <a:buClr>
                <a:srgbClr val="FF0000"/>
              </a:buClr>
            </a:pPr>
            <a:r>
              <a:rPr lang="pt-PT" sz="1500" dirty="0">
                <a:solidFill>
                  <a:schemeClr val="tx1"/>
                </a:solidFill>
                <a:latin typeface="Santander Text" panose="020B0504020201020104" pitchFamily="34" charset="0"/>
              </a:rPr>
              <a:t>Criação de um conjunto de processos, utilizando tabelas do </a:t>
            </a:r>
            <a:r>
              <a:rPr lang="pt-PT" sz="1500" dirty="0" smtClean="0">
                <a:solidFill>
                  <a:schemeClr val="tx1"/>
                </a:solidFill>
                <a:latin typeface="Santander Text" panose="020B0504020201020104" pitchFamily="34" charset="0"/>
              </a:rPr>
              <a:t>ALM, do Capital Tools, ficheiros de input manual </a:t>
            </a:r>
            <a:r>
              <a:rPr lang="pt-PT" sz="1500" dirty="0" smtClean="0">
                <a:solidFill>
                  <a:schemeClr val="tx1"/>
                </a:solidFill>
                <a:latin typeface="Santander Text" panose="020B0504020201020104" pitchFamily="34" charset="0"/>
              </a:rPr>
              <a:t>para </a:t>
            </a:r>
            <a:r>
              <a:rPr lang="pt-PT" sz="1500" dirty="0">
                <a:solidFill>
                  <a:schemeClr val="tx1"/>
                </a:solidFill>
                <a:latin typeface="Santander Text" panose="020B0504020201020104" pitchFamily="34" charset="0"/>
              </a:rPr>
              <a:t>obtenção de informação;</a:t>
            </a:r>
          </a:p>
          <a:p>
            <a:pPr marL="465138" lvl="1" indent="-285750">
              <a:spcBef>
                <a:spcPts val="400"/>
              </a:spcBef>
              <a:buClr>
                <a:srgbClr val="FF0000"/>
              </a:buClr>
            </a:pPr>
            <a:r>
              <a:rPr lang="pt-PT" sz="1500" dirty="0" smtClean="0">
                <a:solidFill>
                  <a:schemeClr val="tx1"/>
                </a:solidFill>
                <a:latin typeface="Santander Text" panose="020B0504020201020104" pitchFamily="34" charset="0"/>
              </a:rPr>
              <a:t>Geração de </a:t>
            </a:r>
            <a:r>
              <a:rPr lang="pt-PT" sz="1500" dirty="0" err="1" smtClean="0">
                <a:solidFill>
                  <a:schemeClr val="tx1"/>
                </a:solidFill>
                <a:latin typeface="Santander Text" panose="020B0504020201020104" pitchFamily="34" charset="0"/>
              </a:rPr>
              <a:t>reports</a:t>
            </a:r>
            <a:r>
              <a:rPr lang="pt-PT" sz="1500" dirty="0" smtClean="0">
                <a:solidFill>
                  <a:schemeClr val="tx1"/>
                </a:solidFill>
                <a:latin typeface="Santander Text" panose="020B0504020201020104" pitchFamily="34" charset="0"/>
              </a:rPr>
              <a:t> em </a:t>
            </a:r>
            <a:r>
              <a:rPr lang="pt-PT" sz="1500" dirty="0" smtClean="0">
                <a:solidFill>
                  <a:schemeClr val="tx1"/>
                </a:solidFill>
                <a:latin typeface="Santander Text" panose="020B0504020201020104" pitchFamily="34" charset="0"/>
              </a:rPr>
              <a:t>Excel</a:t>
            </a:r>
          </a:p>
        </p:txBody>
      </p:sp>
      <p:sp>
        <p:nvSpPr>
          <p:cNvPr id="13" name="Marcador de texto 5">
            <a:extLst>
              <a:ext uri="{FF2B5EF4-FFF2-40B4-BE49-F238E27FC236}">
                <a16:creationId xmlns:a16="http://schemas.microsoft.com/office/drawing/2014/main" id="{DBCE42F2-29D6-488E-9C5B-B8AD5E9E4136}"/>
              </a:ext>
            </a:extLst>
          </p:cNvPr>
          <p:cNvSpPr txBox="1">
            <a:spLocks/>
          </p:cNvSpPr>
          <p:nvPr/>
        </p:nvSpPr>
        <p:spPr>
          <a:xfrm>
            <a:off x="6146369" y="337100"/>
            <a:ext cx="5168952" cy="30480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a:t>Principais Características </a:t>
            </a:r>
          </a:p>
        </p:txBody>
      </p:sp>
    </p:spTree>
    <p:extLst>
      <p:ext uri="{BB962C8B-B14F-4D97-AF65-F5344CB8AC3E}">
        <p14:creationId xmlns:p14="http://schemas.microsoft.com/office/powerpoint/2010/main" val="2056635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err="1"/>
              <a:t>Macro-requisitos</a:t>
            </a:r>
            <a:r>
              <a:rPr lang="pt-PT" dirty="0"/>
              <a:t> funcionais</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03</a:t>
            </a:r>
          </a:p>
        </p:txBody>
      </p:sp>
    </p:spTree>
    <p:extLst>
      <p:ext uri="{BB962C8B-B14F-4D97-AF65-F5344CB8AC3E}">
        <p14:creationId xmlns:p14="http://schemas.microsoft.com/office/powerpoint/2010/main" val="3768772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10758733" cy="1117407"/>
          </a:xfrm>
        </p:spPr>
        <p:txBody>
          <a:bodyPr/>
          <a:lstStyle/>
          <a:p>
            <a:r>
              <a:rPr lang="pt-PT" sz="2400" dirty="0" smtClean="0">
                <a:solidFill>
                  <a:schemeClr val="accent3"/>
                </a:solidFill>
              </a:rPr>
              <a:t>Automatização de </a:t>
            </a:r>
            <a:r>
              <a:rPr lang="pt-PT" sz="2400" dirty="0" err="1" smtClean="0">
                <a:solidFill>
                  <a:schemeClr val="accent3"/>
                </a:solidFill>
              </a:rPr>
              <a:t>reports</a:t>
            </a:r>
            <a:r>
              <a:rPr lang="pt-PT" sz="2400" dirty="0" smtClean="0">
                <a:solidFill>
                  <a:schemeClr val="accent3"/>
                </a:solidFill>
              </a:rPr>
              <a:t> para o Single </a:t>
            </a:r>
            <a:r>
              <a:rPr lang="pt-PT" sz="2400" dirty="0" err="1" smtClean="0">
                <a:solidFill>
                  <a:schemeClr val="accent3"/>
                </a:solidFill>
              </a:rPr>
              <a:t>Resolution</a:t>
            </a:r>
            <a:r>
              <a:rPr lang="pt-PT" sz="2400" dirty="0" smtClean="0">
                <a:solidFill>
                  <a:schemeClr val="accent3"/>
                </a:solidFill>
              </a:rPr>
              <a:t> </a:t>
            </a:r>
            <a:r>
              <a:rPr lang="pt-PT" sz="2400" dirty="0" err="1" smtClean="0">
                <a:solidFill>
                  <a:schemeClr val="accent3"/>
                </a:solidFill>
              </a:rPr>
              <a:t>Board</a:t>
            </a:r>
            <a:r>
              <a:rPr lang="pt-PT" sz="2400" dirty="0" smtClean="0">
                <a:solidFill>
                  <a:schemeClr val="accent3"/>
                </a:solidFill>
              </a:rPr>
              <a:t>, entidade reguladora.</a:t>
            </a:r>
            <a:endParaRPr lang="pt-PT" sz="2400" dirty="0">
              <a:solidFill>
                <a:schemeClr val="accent3"/>
              </a:solidFill>
            </a:endParaRPr>
          </a:p>
        </p:txBody>
      </p:sp>
      <p:sp>
        <p:nvSpPr>
          <p:cNvPr id="6" name="Slide Number Placeholder 5"/>
          <p:cNvSpPr>
            <a:spLocks noGrp="1"/>
          </p:cNvSpPr>
          <p:nvPr>
            <p:ph type="sldNum" sz="quarter" idx="12"/>
          </p:nvPr>
        </p:nvSpPr>
        <p:spPr/>
        <p:txBody>
          <a:bodyPr/>
          <a:lstStyle/>
          <a:p>
            <a:fld id="{BC0D97B6-E32F-4D7D-B839-7C3B51F2640F}" type="slidenum">
              <a:rPr lang="pt-PT" smtClean="0"/>
              <a:pPr/>
              <a:t>9</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err="1"/>
              <a:t>Macro-requisitos</a:t>
            </a:r>
            <a:r>
              <a:rPr lang="pt-PT" sz="2400" dirty="0"/>
              <a:t> Funcionais</a:t>
            </a:r>
          </a:p>
        </p:txBody>
      </p:sp>
      <p:sp>
        <p:nvSpPr>
          <p:cNvPr id="10" name="Rectangle 5">
            <a:extLst>
              <a:ext uri="{FF2B5EF4-FFF2-40B4-BE49-F238E27FC236}">
                <a16:creationId xmlns:a16="http://schemas.microsoft.com/office/drawing/2014/main" id="{82931555-E77A-4FD4-8895-26C7F94E2073}"/>
              </a:ext>
            </a:extLst>
          </p:cNvPr>
          <p:cNvSpPr>
            <a:spLocks noGrp="1" noChangeArrowheads="1"/>
          </p:cNvSpPr>
          <p:nvPr>
            <p:ph type="body" sz="quarter" idx="15"/>
          </p:nvPr>
        </p:nvSpPr>
        <p:spPr bwMode="auto">
          <a:xfrm>
            <a:off x="711200" y="2060848"/>
            <a:ext cx="10758488" cy="411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Pretende-se preparar um conjunto de </a:t>
            </a:r>
            <a:r>
              <a:rPr lang="pt-BR" sz="1200" b="0" dirty="0" smtClean="0">
                <a:solidFill>
                  <a:prstClr val="black"/>
                </a:solidFill>
                <a:latin typeface="Calibri" panose="020F0502020204030204" pitchFamily="34" charset="0"/>
                <a:cs typeface="Calibri" panose="020F0502020204030204" pitchFamily="34" charset="0"/>
              </a:rPr>
              <a:t>informação</a:t>
            </a:r>
            <a:r>
              <a:rPr lang="pt-BR" sz="1200" b="0" dirty="0">
                <a:solidFill>
                  <a:prstClr val="black"/>
                </a:solidFill>
                <a:latin typeface="Calibri" panose="020F0502020204030204" pitchFamily="34" charset="0"/>
                <a:cs typeface="Calibri" panose="020F0502020204030204" pitchFamily="34" charset="0"/>
              </a:rPr>
              <a:t> </a:t>
            </a:r>
            <a:r>
              <a:rPr lang="pt-BR" sz="1200" b="0" dirty="0" smtClean="0">
                <a:solidFill>
                  <a:prstClr val="black"/>
                </a:solidFill>
                <a:latin typeface="Calibri" panose="020F0502020204030204" pitchFamily="34" charset="0"/>
                <a:cs typeface="Calibri" panose="020F0502020204030204" pitchFamily="34" charset="0"/>
              </a:rPr>
              <a:t>e que a mesma seja disponibilizada em Excel em forma de </a:t>
            </a:r>
            <a:r>
              <a:rPr lang="pt-BR" sz="1200" b="0" dirty="0" smtClean="0">
                <a:solidFill>
                  <a:prstClr val="black"/>
                </a:solidFill>
                <a:latin typeface="Calibri" panose="020F0502020204030204" pitchFamily="34" charset="0"/>
                <a:cs typeface="Calibri" panose="020F0502020204030204" pitchFamily="34" charset="0"/>
              </a:rPr>
              <a:t>report. </a:t>
            </a:r>
            <a:r>
              <a:rPr lang="pt-BR" sz="1200" b="0" dirty="0" smtClean="0">
                <a:solidFill>
                  <a:prstClr val="black"/>
                </a:solidFill>
                <a:latin typeface="Calibri" panose="020F0502020204030204" pitchFamily="34" charset="0"/>
                <a:cs typeface="Calibri" panose="020F0502020204030204" pitchFamily="34" charset="0"/>
              </a:rPr>
              <a:t>Informação esta que deverá ser obtida com </a:t>
            </a:r>
            <a:r>
              <a:rPr lang="pt-BR" sz="1200" b="0" dirty="0">
                <a:solidFill>
                  <a:prstClr val="black"/>
                </a:solidFill>
                <a:latin typeface="Calibri" panose="020F0502020204030204" pitchFamily="34" charset="0"/>
                <a:cs typeface="Calibri" panose="020F0502020204030204" pitchFamily="34" charset="0"/>
              </a:rPr>
              <a:t>base nas tabelas do Capital Tools (ALM</a:t>
            </a:r>
            <a:r>
              <a:rPr lang="pt-BR" sz="1200" b="0" dirty="0" smtClean="0">
                <a:solidFill>
                  <a:prstClr val="black"/>
                </a:solidFill>
                <a:latin typeface="Calibri" panose="020F0502020204030204" pitchFamily="34" charset="0"/>
                <a:cs typeface="Calibri" panose="020F0502020204030204" pitchFamily="34" charset="0"/>
              </a:rPr>
              <a:t>), </a:t>
            </a:r>
            <a:r>
              <a:rPr lang="pt-BR" sz="1200" b="0" dirty="0" smtClean="0">
                <a:solidFill>
                  <a:prstClr val="black"/>
                </a:solidFill>
                <a:latin typeface="Calibri" panose="020F0502020204030204" pitchFamily="34" charset="0"/>
                <a:cs typeface="Calibri" panose="020F0502020204030204" pitchFamily="34" charset="0"/>
              </a:rPr>
              <a:t>Pagonxt</a:t>
            </a:r>
            <a:r>
              <a:rPr lang="pt-BR" sz="1200" b="0" dirty="0" smtClean="0">
                <a:solidFill>
                  <a:prstClr val="black"/>
                </a:solidFill>
                <a:latin typeface="Calibri" panose="020F0502020204030204" pitchFamily="34" charset="0"/>
                <a:cs typeface="Calibri" panose="020F0502020204030204" pitchFamily="34" charset="0"/>
              </a:rPr>
              <a:t>, </a:t>
            </a:r>
            <a:r>
              <a:rPr lang="pt-BR" sz="1200" b="0" dirty="0" smtClean="0">
                <a:solidFill>
                  <a:prstClr val="black"/>
                </a:solidFill>
                <a:latin typeface="Calibri" panose="020F0502020204030204" pitchFamily="34" charset="0"/>
                <a:cs typeface="Calibri" panose="020F0502020204030204" pitchFamily="34" charset="0"/>
              </a:rPr>
              <a:t>Sigom, TF, etc.</a:t>
            </a:r>
            <a:endParaRPr lang="pt-BR" sz="1200" b="0" dirty="0">
              <a:solidFill>
                <a:prstClr val="black"/>
              </a:solidFill>
              <a:latin typeface="Calibri" panose="020F0502020204030204" pitchFamily="34" charset="0"/>
              <a:cs typeface="Calibri" panose="020F0502020204030204" pitchFamily="34" charset="0"/>
            </a:endParaRPr>
          </a:p>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Para tal é necessário rotinar, em </a:t>
            </a:r>
            <a:r>
              <a:rPr lang="pt-BR" sz="1200" b="0" dirty="0" smtClean="0">
                <a:solidFill>
                  <a:prstClr val="black"/>
                </a:solidFill>
                <a:latin typeface="Calibri" panose="020F0502020204030204" pitchFamily="34" charset="0"/>
                <a:cs typeface="Calibri" panose="020F0502020204030204" pitchFamily="34" charset="0"/>
              </a:rPr>
              <a:t>Control-M, processos </a:t>
            </a:r>
            <a:r>
              <a:rPr lang="pt-BR" sz="1200" b="0" dirty="0">
                <a:solidFill>
                  <a:prstClr val="black"/>
                </a:solidFill>
                <a:latin typeface="Calibri" panose="020F0502020204030204" pitchFamily="34" charset="0"/>
                <a:cs typeface="Calibri" panose="020F0502020204030204" pitchFamily="34" charset="0"/>
              </a:rPr>
              <a:t>(Databricks) que de acordo com uma determinada periodicidade executam e constrõem um conjunto de tabelas na Data Zone “Bussiness (a definir)”.</a:t>
            </a:r>
          </a:p>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O utilizador pretende validar a informação antes </a:t>
            </a:r>
            <a:r>
              <a:rPr lang="pt-BR" sz="1200" b="0" dirty="0" smtClean="0">
                <a:solidFill>
                  <a:prstClr val="black"/>
                </a:solidFill>
                <a:latin typeface="Calibri" panose="020F0502020204030204" pitchFamily="34" charset="0"/>
                <a:cs typeface="Calibri" panose="020F0502020204030204" pitchFamily="34" charset="0"/>
              </a:rPr>
              <a:t>de reportar ao regulador. </a:t>
            </a:r>
            <a:r>
              <a:rPr lang="pt-BR" sz="1200" b="0" dirty="0">
                <a:solidFill>
                  <a:prstClr val="black"/>
                </a:solidFill>
                <a:latin typeface="Calibri" panose="020F0502020204030204" pitchFamily="34" charset="0"/>
                <a:cs typeface="Calibri" panose="020F0502020204030204" pitchFamily="34" charset="0"/>
              </a:rPr>
              <a:t>Esta validação é efetuada através de consulta (query ad-hoc) às tabelas de output na “Bussiness (a definir)”. Após validação e se a informação estiver correcta, o utilizador através de front-end especifico (Front-End “Capital Tools Monitor”), efetua um pedido on-demand de forma a despoletar um gatilho para </a:t>
            </a:r>
            <a:r>
              <a:rPr lang="pt-PT" sz="1200" b="0" dirty="0" smtClean="0">
                <a:solidFill>
                  <a:prstClr val="black"/>
                </a:solidFill>
                <a:latin typeface="Calibri" panose="020F0502020204030204" pitchFamily="34" charset="0"/>
                <a:cs typeface="Calibri" panose="020F0502020204030204" pitchFamily="34" charset="0"/>
              </a:rPr>
              <a:t>geração dos ficheiros Excel</a:t>
            </a:r>
            <a:r>
              <a:rPr lang="pt-BR" sz="1200" b="0" dirty="0" smtClean="0">
                <a:solidFill>
                  <a:prstClr val="black"/>
                </a:solidFill>
                <a:latin typeface="Calibri" panose="020F0502020204030204" pitchFamily="34" charset="0"/>
                <a:cs typeface="Calibri" panose="020F0502020204030204" pitchFamily="34" charset="0"/>
              </a:rPr>
              <a:t>.</a:t>
            </a:r>
            <a:endParaRPr lang="pt-BR" sz="1200" b="0" dirty="0">
              <a:solidFill>
                <a:prstClr val="black"/>
              </a:solidFill>
              <a:latin typeface="Calibri" panose="020F0502020204030204" pitchFamily="34" charset="0"/>
              <a:cs typeface="Calibri" panose="020F0502020204030204" pitchFamily="34" charset="0"/>
            </a:endParaRPr>
          </a:p>
          <a:p>
            <a:pPr marL="0" indent="0" algn="just">
              <a:lnSpc>
                <a:spcPct val="150000"/>
              </a:lnSpc>
              <a:spcBef>
                <a:spcPts val="0"/>
              </a:spcBef>
              <a:spcAft>
                <a:spcPts val="0"/>
              </a:spcAft>
              <a:buNone/>
            </a:pPr>
            <a:r>
              <a:rPr lang="pt-BR" sz="1200" b="0" dirty="0">
                <a:solidFill>
                  <a:prstClr val="black"/>
                </a:solidFill>
                <a:latin typeface="Calibri" panose="020F0502020204030204" pitchFamily="34" charset="0"/>
                <a:cs typeface="Calibri" panose="020F0502020204030204" pitchFamily="34" charset="0"/>
              </a:rPr>
              <a:t>Caso a informação não esteja correcta, o utilizador procederá aos ajustes necessários (via aplicação de upload de ficheiros, processo existente actualmente) e através de front-end especifico (Front-End “Capital Tools Monitor”), efetua um pedido on-demand de re-execução do processo, valida se a informação está correcta após os ajustes e caso esteja correcta, efetua o pedido on-demand </a:t>
            </a:r>
            <a:r>
              <a:rPr lang="pt-BR" sz="1200" b="0" dirty="0" smtClean="0">
                <a:solidFill>
                  <a:prstClr val="black"/>
                </a:solidFill>
                <a:latin typeface="Calibri" panose="020F0502020204030204" pitchFamily="34" charset="0"/>
                <a:cs typeface="Calibri" panose="020F0502020204030204" pitchFamily="34" charset="0"/>
              </a:rPr>
              <a:t>para geração dos reports finais.</a:t>
            </a:r>
            <a:endParaRPr lang="pt-BR" sz="1200" b="0" dirty="0">
              <a:solidFill>
                <a:prstClr val="black"/>
              </a:solidFill>
              <a:latin typeface="Calibri" panose="020F0502020204030204" pitchFamily="34" charset="0"/>
              <a:cs typeface="Calibri" panose="020F0502020204030204" pitchFamily="34" charset="0"/>
            </a:endParaRPr>
          </a:p>
          <a:p>
            <a:pPr marL="0" indent="0" algn="just">
              <a:lnSpc>
                <a:spcPct val="150000"/>
              </a:lnSpc>
              <a:spcBef>
                <a:spcPts val="0"/>
              </a:spcBef>
              <a:spcAft>
                <a:spcPts val="0"/>
              </a:spcAft>
              <a:buNone/>
            </a:pPr>
            <a:endParaRPr lang="pt-BR" sz="1200" b="0" dirty="0">
              <a:solidFill>
                <a:prstClr val="black"/>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000691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Modelo Conceptual To-</a:t>
            </a:r>
            <a:r>
              <a:rPr lang="pt-PT" dirty="0" err="1"/>
              <a:t>Be</a:t>
            </a:r>
            <a:endParaRPr lang="pt-PT" dirty="0"/>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04</a:t>
            </a:r>
          </a:p>
        </p:txBody>
      </p:sp>
    </p:spTree>
    <p:extLst>
      <p:ext uri="{BB962C8B-B14F-4D97-AF65-F5344CB8AC3E}">
        <p14:creationId xmlns:p14="http://schemas.microsoft.com/office/powerpoint/2010/main" val="275257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a:solidFill>
                  <a:schemeClr val="tx1">
                    <a:lumMod val="75000"/>
                    <a:lumOff val="25000"/>
                  </a:schemeClr>
                </a:solidFill>
              </a:rPr>
              <a:t>Fluxo e principais componentes envolvidas</a:t>
            </a:r>
            <a:endParaRPr lang="pt-PT" sz="2400" dirty="0">
              <a:solidFill>
                <a:schemeClr val="tx1">
                  <a:lumMod val="75000"/>
                  <a:lumOff val="25000"/>
                </a:schemeClr>
              </a:solidFill>
            </a:endParaRPr>
          </a:p>
        </p:txBody>
      </p:sp>
      <p:sp>
        <p:nvSpPr>
          <p:cNvPr id="259" name="TextBox 258"/>
          <p:cNvSpPr txBox="1"/>
          <p:nvPr/>
        </p:nvSpPr>
        <p:spPr>
          <a:xfrm>
            <a:off x="6447862" y="1164394"/>
            <a:ext cx="5385352" cy="1384995"/>
          </a:xfrm>
          <a:prstGeom prst="rect">
            <a:avLst/>
          </a:prstGeom>
          <a:noFill/>
        </p:spPr>
        <p:txBody>
          <a:bodyPr wrap="square" rtlCol="0">
            <a:spAutoFit/>
          </a:bodyPr>
          <a:lstStyle/>
          <a:p>
            <a:pPr>
              <a:lnSpc>
                <a:spcPct val="120000"/>
              </a:lnSpc>
            </a:pPr>
            <a:r>
              <a:rPr lang="pt-PT" sz="1400" b="1" dirty="0">
                <a:latin typeface="Santander Text" panose="020B0504020201020104" pitchFamily="34" charset="0"/>
              </a:rPr>
              <a:t>Características e descrição do fluxo</a:t>
            </a:r>
            <a:endParaRPr lang="pt-PT" sz="1400" dirty="0">
              <a:latin typeface="Santander Text" panose="020B0504020201020104" pitchFamily="34" charset="0"/>
            </a:endParaRPr>
          </a:p>
          <a:p>
            <a:pPr marL="496888" lvl="1" indent="-228600">
              <a:lnSpc>
                <a:spcPct val="120000"/>
              </a:lnSpc>
              <a:buFont typeface="+mj-lt"/>
              <a:buAutoNum type="arabicPeriod"/>
            </a:pPr>
            <a:r>
              <a:rPr lang="pt-PT" sz="1400" dirty="0">
                <a:latin typeface="Santander Text" panose="020B0504020201020104" pitchFamily="34" charset="0"/>
              </a:rPr>
              <a:t>Lançamento via </a:t>
            </a:r>
            <a:r>
              <a:rPr lang="pt-PT" sz="1400" i="1" dirty="0" err="1">
                <a:latin typeface="Santander Text" panose="020B0504020201020104" pitchFamily="34" charset="0"/>
              </a:rPr>
              <a:t>front-end</a:t>
            </a:r>
            <a:r>
              <a:rPr lang="pt-PT" sz="1400" i="1" dirty="0">
                <a:latin typeface="Santander Text" panose="020B0504020201020104" pitchFamily="34" charset="0"/>
              </a:rPr>
              <a:t>/jobs</a:t>
            </a:r>
            <a:r>
              <a:rPr lang="pt-PT" sz="1400" dirty="0">
                <a:latin typeface="Santander Text" panose="020B0504020201020104" pitchFamily="34" charset="0"/>
              </a:rPr>
              <a:t> dos processos </a:t>
            </a:r>
          </a:p>
          <a:p>
            <a:pPr marL="496888" lvl="1" indent="-228600">
              <a:lnSpc>
                <a:spcPct val="120000"/>
              </a:lnSpc>
              <a:buFont typeface="+mj-lt"/>
              <a:buAutoNum type="arabicPeriod"/>
            </a:pPr>
            <a:r>
              <a:rPr lang="pt-PT" sz="1400" dirty="0">
                <a:latin typeface="Santander Text" panose="020B0504020201020104" pitchFamily="34" charset="0"/>
              </a:rPr>
              <a:t>Geração da informação </a:t>
            </a:r>
            <a:r>
              <a:rPr lang="pt-PT" sz="1400" dirty="0" smtClean="0">
                <a:latin typeface="Santander Text" panose="020B0504020201020104" pitchFamily="34" charset="0"/>
              </a:rPr>
              <a:t>de tabelas do Capital </a:t>
            </a:r>
            <a:r>
              <a:rPr lang="pt-PT" sz="1400" dirty="0">
                <a:latin typeface="Santander Text" panose="020B0504020201020104" pitchFamily="34" charset="0"/>
              </a:rPr>
              <a:t>T</a:t>
            </a:r>
            <a:r>
              <a:rPr lang="pt-PT" sz="1400" dirty="0" smtClean="0">
                <a:latin typeface="Santander Text" panose="020B0504020201020104" pitchFamily="34" charset="0"/>
              </a:rPr>
              <a:t>ools, ALM, </a:t>
            </a:r>
            <a:r>
              <a:rPr lang="pt-PT" sz="1400" dirty="0" err="1" smtClean="0">
                <a:latin typeface="Santander Text" panose="020B0504020201020104" pitchFamily="34" charset="0"/>
              </a:rPr>
              <a:t>Pagonxt</a:t>
            </a:r>
            <a:r>
              <a:rPr lang="pt-PT" sz="1400" dirty="0" smtClean="0">
                <a:latin typeface="Santander Text" panose="020B0504020201020104" pitchFamily="34" charset="0"/>
              </a:rPr>
              <a:t>, </a:t>
            </a:r>
            <a:r>
              <a:rPr lang="pt-PT" sz="1400" dirty="0" err="1" smtClean="0">
                <a:latin typeface="Santander Text" panose="020B0504020201020104" pitchFamily="34" charset="0"/>
              </a:rPr>
              <a:t>Sigom</a:t>
            </a:r>
            <a:r>
              <a:rPr lang="pt-PT" sz="1400" dirty="0" smtClean="0">
                <a:latin typeface="Santander Text" panose="020B0504020201020104" pitchFamily="34" charset="0"/>
              </a:rPr>
              <a:t>, TF, </a:t>
            </a:r>
            <a:r>
              <a:rPr lang="pt-PT" sz="1400" dirty="0" err="1" smtClean="0">
                <a:latin typeface="Santander Text" panose="020B0504020201020104" pitchFamily="34" charset="0"/>
              </a:rPr>
              <a:t>etc</a:t>
            </a:r>
            <a:r>
              <a:rPr lang="pt-PT" sz="1400" dirty="0" smtClean="0">
                <a:latin typeface="Santander Text" panose="020B0504020201020104" pitchFamily="34" charset="0"/>
              </a:rPr>
              <a:t> </a:t>
            </a:r>
            <a:r>
              <a:rPr lang="pt-PT" sz="1400" dirty="0" smtClean="0">
                <a:latin typeface="Santander Text" panose="020B0504020201020104" pitchFamily="34" charset="0"/>
              </a:rPr>
              <a:t>através de processos em </a:t>
            </a:r>
            <a:r>
              <a:rPr lang="pt-PT" sz="1400" i="1" dirty="0" err="1" smtClean="0">
                <a:latin typeface="Santander Text" panose="020B0504020201020104" pitchFamily="34" charset="0"/>
              </a:rPr>
              <a:t>Python</a:t>
            </a:r>
            <a:r>
              <a:rPr lang="pt-PT" sz="1400" dirty="0" smtClean="0">
                <a:latin typeface="Santander Text" panose="020B0504020201020104" pitchFamily="34" charset="0"/>
              </a:rPr>
              <a:t>.</a:t>
            </a:r>
            <a:endParaRPr lang="pt-PT" sz="1400" dirty="0">
              <a:latin typeface="Santander Text" panose="020B0504020201020104" pitchFamily="34" charset="0"/>
            </a:endParaRPr>
          </a:p>
          <a:p>
            <a:pPr marL="496888" lvl="1" indent="-228600">
              <a:lnSpc>
                <a:spcPct val="120000"/>
              </a:lnSpc>
              <a:buFont typeface="+mj-lt"/>
              <a:buAutoNum type="arabicPeriod"/>
            </a:pPr>
            <a:r>
              <a:rPr lang="pt-PT" sz="1400" dirty="0" smtClean="0">
                <a:latin typeface="Santander Text" panose="020B0504020201020104" pitchFamily="34" charset="0"/>
              </a:rPr>
              <a:t>Geração dos </a:t>
            </a:r>
            <a:r>
              <a:rPr lang="pt-PT" sz="1400" dirty="0" err="1" smtClean="0">
                <a:latin typeface="Santander Text" panose="020B0504020201020104" pitchFamily="34" charset="0"/>
              </a:rPr>
              <a:t>Exceis</a:t>
            </a:r>
            <a:endParaRPr lang="pt-PT" sz="1400" i="1" dirty="0">
              <a:latin typeface="Santander Text" panose="020B0504020201020104" pitchFamily="34" charset="0"/>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11</a:t>
            </a:fld>
            <a:endParaRPr lang="pt-PT" dirty="0"/>
          </a:p>
        </p:txBody>
      </p:sp>
      <p:grpSp>
        <p:nvGrpSpPr>
          <p:cNvPr id="36" name="Group 35"/>
          <p:cNvGrpSpPr/>
          <p:nvPr/>
        </p:nvGrpSpPr>
        <p:grpSpPr>
          <a:xfrm>
            <a:off x="88441" y="2523281"/>
            <a:ext cx="6268998" cy="3957109"/>
            <a:chOff x="178916" y="897881"/>
            <a:chExt cx="7704183" cy="5090573"/>
          </a:xfrm>
        </p:grpSpPr>
        <p:sp>
          <p:nvSpPr>
            <p:cNvPr id="37" name="Rectangle 12"/>
            <p:cNvSpPr>
              <a:spLocks noChangeArrowheads="1"/>
            </p:cNvSpPr>
            <p:nvPr/>
          </p:nvSpPr>
          <p:spPr bwMode="auto">
            <a:xfrm>
              <a:off x="2140116" y="1482879"/>
              <a:ext cx="3606652" cy="1838689"/>
            </a:xfrm>
            <a:prstGeom prst="rect">
              <a:avLst/>
            </a:prstGeom>
            <a:solidFill>
              <a:srgbClr val="0099CC">
                <a:alpha val="15000"/>
              </a:srgbClr>
            </a:solidFill>
            <a:ln w="9525" cap="rnd">
              <a:solidFill>
                <a:schemeClr val="accent4"/>
              </a:solidFill>
              <a:prstDash val="sysDot"/>
              <a:miter lim="800000"/>
              <a:headEnd/>
              <a:tailEnd/>
            </a:ln>
          </p:spPr>
          <p:txBody>
            <a:bodyPr anchor="t"/>
            <a:lstStyle/>
            <a:p>
              <a:pPr fontAlgn="base">
                <a:spcBef>
                  <a:spcPct val="0"/>
                </a:spcBef>
                <a:spcAft>
                  <a:spcPct val="0"/>
                </a:spcAft>
              </a:pPr>
              <a:r>
                <a:rPr lang="pt-PT" sz="1000" dirty="0">
                  <a:solidFill>
                    <a:prstClr val="black"/>
                  </a:solidFill>
                  <a:latin typeface="Calibri" panose="020F0502020204030204" pitchFamily="34" charset="0"/>
                  <a:cs typeface="Calibri" panose="020F0502020204030204" pitchFamily="34" charset="0"/>
                </a:rPr>
                <a:t>ADLS</a:t>
              </a:r>
            </a:p>
          </p:txBody>
        </p:sp>
        <p:sp>
          <p:nvSpPr>
            <p:cNvPr id="38" name="Rectangle 12"/>
            <p:cNvSpPr>
              <a:spLocks noChangeArrowheads="1"/>
            </p:cNvSpPr>
            <p:nvPr/>
          </p:nvSpPr>
          <p:spPr bwMode="auto">
            <a:xfrm>
              <a:off x="1965126" y="897881"/>
              <a:ext cx="4053549" cy="3632998"/>
            </a:xfrm>
            <a:prstGeom prst="rect">
              <a:avLst/>
            </a:prstGeom>
            <a:noFill/>
            <a:ln w="9525" cap="rnd">
              <a:solidFill>
                <a:schemeClr val="accent4"/>
              </a:solidFill>
              <a:prstDash val="sysDot"/>
              <a:miter lim="800000"/>
              <a:headEnd/>
              <a:tailEnd/>
            </a:ln>
          </p:spPr>
          <p:txBody>
            <a:bodyPr anchor="t"/>
            <a:lstStyle/>
            <a:p>
              <a:pPr fontAlgn="base">
                <a:spcBef>
                  <a:spcPct val="0"/>
                </a:spcBef>
                <a:spcAft>
                  <a:spcPct val="0"/>
                </a:spcAft>
              </a:pPr>
              <a:r>
                <a:rPr lang="pt-PT" sz="1000" dirty="0" err="1">
                  <a:solidFill>
                    <a:prstClr val="black"/>
                  </a:solidFill>
                  <a:latin typeface="Calibri" panose="020F0502020204030204" pitchFamily="34" charset="0"/>
                  <a:cs typeface="Calibri" panose="020F0502020204030204" pitchFamily="34" charset="0"/>
                </a:rPr>
                <a:t>Cloud</a:t>
              </a:r>
              <a:r>
                <a:rPr lang="pt-PT" sz="1000" dirty="0">
                  <a:solidFill>
                    <a:prstClr val="black"/>
                  </a:solidFill>
                  <a:latin typeface="Calibri" panose="020F0502020204030204" pitchFamily="34" charset="0"/>
                  <a:cs typeface="Calibri" panose="020F0502020204030204" pitchFamily="34" charset="0"/>
                </a:rPr>
                <a:t> </a:t>
              </a:r>
              <a:r>
                <a:rPr lang="pt-PT" sz="1000" dirty="0" err="1">
                  <a:solidFill>
                    <a:prstClr val="black"/>
                  </a:solidFill>
                  <a:latin typeface="Calibri" panose="020F0502020204030204" pitchFamily="34" charset="0"/>
                  <a:cs typeface="Calibri" panose="020F0502020204030204" pitchFamily="34" charset="0"/>
                </a:rPr>
                <a:t>Azure</a:t>
              </a:r>
              <a:endParaRPr lang="pt-PT" sz="1000" dirty="0">
                <a:solidFill>
                  <a:prstClr val="black"/>
                </a:solidFill>
                <a:latin typeface="Calibri" panose="020F0502020204030204" pitchFamily="34" charset="0"/>
                <a:cs typeface="Calibri" panose="020F0502020204030204" pitchFamily="34" charset="0"/>
              </a:endParaRPr>
            </a:p>
          </p:txBody>
        </p:sp>
        <p:sp>
          <p:nvSpPr>
            <p:cNvPr id="39" name="Rectangle 2"/>
            <p:cNvSpPr>
              <a:spLocks noChangeArrowheads="1"/>
            </p:cNvSpPr>
            <p:nvPr/>
          </p:nvSpPr>
          <p:spPr bwMode="auto">
            <a:xfrm>
              <a:off x="4629078" y="5536539"/>
              <a:ext cx="1373057" cy="396000"/>
            </a:xfrm>
            <a:prstGeom prst="rect">
              <a:avLst/>
            </a:prstGeom>
            <a:solidFill>
              <a:schemeClr val="accent1">
                <a:lumMod val="20000"/>
                <a:lumOff val="80000"/>
              </a:schemeClr>
            </a:solidFill>
            <a:ln w="12700" algn="ctr">
              <a:solidFill>
                <a:schemeClr val="tx1"/>
              </a:solidFill>
              <a:miter lim="800000"/>
              <a:headEnd/>
              <a:tailEnd/>
            </a:ln>
            <a:effectLst>
              <a:outerShdw dist="35921" dir="2700000" algn="ctr" rotWithShape="0">
                <a:schemeClr val="bg2"/>
              </a:outerShdw>
            </a:effectLst>
          </p:spPr>
          <p:txBody>
            <a:bodyPr wrap="none" anchor="t" anchorCtr="1"/>
            <a:lstStyle/>
            <a:p>
              <a:pPr algn="ctr"/>
              <a:r>
                <a:rPr lang="pt-PT" sz="1000" dirty="0" err="1">
                  <a:solidFill>
                    <a:prstClr val="black"/>
                  </a:solidFill>
                  <a:latin typeface="Calibri" panose="020F0502020204030204" pitchFamily="34" charset="0"/>
                  <a:cs typeface="Calibri" panose="020F0502020204030204" pitchFamily="34" charset="0"/>
                </a:rPr>
                <a:t>Front</a:t>
              </a:r>
              <a:r>
                <a:rPr lang="pt-PT" sz="1000" dirty="0">
                  <a:solidFill>
                    <a:prstClr val="black"/>
                  </a:solidFill>
                  <a:latin typeface="Calibri" panose="020F0502020204030204" pitchFamily="34" charset="0"/>
                  <a:cs typeface="Calibri" panose="020F0502020204030204" pitchFamily="34" charset="0"/>
                </a:rPr>
                <a:t> – </a:t>
              </a:r>
              <a:r>
                <a:rPr lang="pt-PT" sz="1000" dirty="0" err="1">
                  <a:solidFill>
                    <a:prstClr val="black"/>
                  </a:solidFill>
                  <a:latin typeface="Calibri" panose="020F0502020204030204" pitchFamily="34" charset="0"/>
                  <a:cs typeface="Calibri" panose="020F0502020204030204" pitchFamily="34" charset="0"/>
                </a:rPr>
                <a:t>End</a:t>
              </a:r>
              <a:endParaRPr lang="pt-PT" sz="1000" dirty="0">
                <a:solidFill>
                  <a:prstClr val="black"/>
                </a:solidFill>
                <a:latin typeface="Calibri" panose="020F0502020204030204" pitchFamily="34" charset="0"/>
                <a:cs typeface="Calibri" panose="020F0502020204030204" pitchFamily="34" charset="0"/>
              </a:endParaRPr>
            </a:p>
            <a:p>
              <a:pPr algn="ctr"/>
              <a:r>
                <a:rPr lang="pt-PT" sz="1000" dirty="0">
                  <a:solidFill>
                    <a:prstClr val="black"/>
                  </a:solidFill>
                  <a:latin typeface="Calibri" panose="020F0502020204030204" pitchFamily="34" charset="0"/>
                  <a:cs typeface="Calibri" panose="020F0502020204030204" pitchFamily="34" charset="0"/>
                </a:rPr>
                <a:t>“Capital </a:t>
              </a:r>
              <a:r>
                <a:rPr lang="pt-PT" sz="1000" dirty="0" err="1">
                  <a:solidFill>
                    <a:prstClr val="black"/>
                  </a:solidFill>
                  <a:latin typeface="Calibri" panose="020F0502020204030204" pitchFamily="34" charset="0"/>
                  <a:cs typeface="Calibri" panose="020F0502020204030204" pitchFamily="34" charset="0"/>
                </a:rPr>
                <a:t>Tools</a:t>
              </a:r>
              <a:r>
                <a:rPr lang="pt-PT" sz="1000" dirty="0">
                  <a:solidFill>
                    <a:prstClr val="black"/>
                  </a:solidFill>
                  <a:latin typeface="Calibri" panose="020F0502020204030204" pitchFamily="34" charset="0"/>
                  <a:cs typeface="Calibri" panose="020F0502020204030204" pitchFamily="34" charset="0"/>
                </a:rPr>
                <a:t> Monitor”</a:t>
              </a:r>
            </a:p>
          </p:txBody>
        </p:sp>
        <p:cxnSp>
          <p:nvCxnSpPr>
            <p:cNvPr id="40" name="154 Conector recto de flecha"/>
            <p:cNvCxnSpPr>
              <a:stCxn id="39" idx="1"/>
              <a:endCxn id="64" idx="2"/>
            </p:cNvCxnSpPr>
            <p:nvPr/>
          </p:nvCxnSpPr>
          <p:spPr>
            <a:xfrm rot="10800000">
              <a:off x="4175212" y="4063159"/>
              <a:ext cx="453867" cy="1671381"/>
            </a:xfrm>
            <a:prstGeom prst="bentConnector2">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0E0D610-2C97-22F7-1FC5-B9D7B24B0A17}"/>
                </a:ext>
              </a:extLst>
            </p:cNvPr>
            <p:cNvSpPr txBox="1"/>
            <p:nvPr/>
          </p:nvSpPr>
          <p:spPr>
            <a:xfrm>
              <a:off x="5375908" y="5237805"/>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 execution]</a:t>
              </a:r>
            </a:p>
          </p:txBody>
        </p:sp>
        <p:pic>
          <p:nvPicPr>
            <p:cNvPr id="42" name="Picture 41"/>
            <p:cNvPicPr>
              <a:picLocks noChangeAspect="1"/>
            </p:cNvPicPr>
            <p:nvPr/>
          </p:nvPicPr>
          <p:blipFill>
            <a:blip r:embed="rId3">
              <a:clrChange>
                <a:clrFrom>
                  <a:srgbClr val="FFFFFF"/>
                </a:clrFrom>
                <a:clrTo>
                  <a:srgbClr val="FFFFFF">
                    <a:alpha val="0"/>
                  </a:srgbClr>
                </a:clrTo>
              </a:clrChange>
            </a:blip>
            <a:stretch>
              <a:fillRect/>
            </a:stretch>
          </p:blipFill>
          <p:spPr>
            <a:xfrm>
              <a:off x="4055234" y="2735459"/>
              <a:ext cx="237590" cy="237590"/>
            </a:xfrm>
            <a:prstGeom prst="rect">
              <a:avLst/>
            </a:prstGeom>
          </p:spPr>
        </p:pic>
        <p:sp>
          <p:nvSpPr>
            <p:cNvPr id="43" name="Rectangle 12"/>
            <p:cNvSpPr>
              <a:spLocks noChangeArrowheads="1"/>
            </p:cNvSpPr>
            <p:nvPr/>
          </p:nvSpPr>
          <p:spPr bwMode="auto">
            <a:xfrm>
              <a:off x="2326780" y="1986571"/>
              <a:ext cx="648399" cy="115727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RAW</a:t>
              </a:r>
            </a:p>
          </p:txBody>
        </p:sp>
        <p:sp>
          <p:nvSpPr>
            <p:cNvPr id="44" name="Rectangle 12"/>
            <p:cNvSpPr>
              <a:spLocks noChangeArrowheads="1"/>
            </p:cNvSpPr>
            <p:nvPr/>
          </p:nvSpPr>
          <p:spPr bwMode="auto">
            <a:xfrm>
              <a:off x="3218610" y="1987813"/>
              <a:ext cx="648399" cy="115727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CURATED</a:t>
              </a:r>
            </a:p>
          </p:txBody>
        </p:sp>
        <p:sp>
          <p:nvSpPr>
            <p:cNvPr id="45" name="Rectangle 12"/>
            <p:cNvSpPr>
              <a:spLocks noChangeArrowheads="1"/>
            </p:cNvSpPr>
            <p:nvPr/>
          </p:nvSpPr>
          <p:spPr bwMode="auto">
            <a:xfrm>
              <a:off x="4466448" y="1999979"/>
              <a:ext cx="648399" cy="115727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BUSINESS (ALM) </a:t>
              </a:r>
              <a:r>
                <a:rPr lang="pt-PT" sz="800" dirty="0">
                  <a:solidFill>
                    <a:schemeClr val="accent1"/>
                  </a:solidFill>
                  <a:latin typeface="Calibri" panose="020F0502020204030204" pitchFamily="34" charset="0"/>
                  <a:cs typeface="Calibri" panose="020F0502020204030204" pitchFamily="34" charset="0"/>
                </a:rPr>
                <a:t>*</a:t>
              </a:r>
            </a:p>
          </p:txBody>
        </p:sp>
        <p:pic>
          <p:nvPicPr>
            <p:cNvPr id="46" name="Picture 45"/>
            <p:cNvPicPr>
              <a:picLocks noChangeAspect="1"/>
            </p:cNvPicPr>
            <p:nvPr/>
          </p:nvPicPr>
          <p:blipFill>
            <a:blip r:embed="rId4"/>
            <a:stretch>
              <a:fillRect/>
            </a:stretch>
          </p:blipFill>
          <p:spPr>
            <a:xfrm>
              <a:off x="4692192" y="2399340"/>
              <a:ext cx="196910" cy="175507"/>
            </a:xfrm>
            <a:prstGeom prst="rect">
              <a:avLst/>
            </a:prstGeom>
          </p:spPr>
        </p:pic>
        <p:pic>
          <p:nvPicPr>
            <p:cNvPr id="47" name="Picture 46"/>
            <p:cNvPicPr>
              <a:picLocks noChangeAspect="1"/>
            </p:cNvPicPr>
            <p:nvPr/>
          </p:nvPicPr>
          <p:blipFill>
            <a:blip r:embed="rId4"/>
            <a:stretch>
              <a:fillRect/>
            </a:stretch>
          </p:blipFill>
          <p:spPr>
            <a:xfrm>
              <a:off x="4692192" y="2764354"/>
              <a:ext cx="196910" cy="175507"/>
            </a:xfrm>
            <a:prstGeom prst="rect">
              <a:avLst/>
            </a:prstGeom>
          </p:spPr>
        </p:pic>
        <p:sp>
          <p:nvSpPr>
            <p:cNvPr id="49" name="TextBox 48"/>
            <p:cNvSpPr txBox="1"/>
            <p:nvPr/>
          </p:nvSpPr>
          <p:spPr>
            <a:xfrm>
              <a:off x="3723996" y="2375260"/>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50" name="TextBox 49"/>
            <p:cNvSpPr txBox="1"/>
            <p:nvPr/>
          </p:nvSpPr>
          <p:spPr>
            <a:xfrm>
              <a:off x="3725698" y="2742148"/>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51" name="TextBox 50"/>
            <p:cNvSpPr txBox="1"/>
            <p:nvPr/>
          </p:nvSpPr>
          <p:spPr>
            <a:xfrm>
              <a:off x="2330094" y="2277461"/>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sp>
          <p:nvSpPr>
            <p:cNvPr id="52" name="TextBox 51"/>
            <p:cNvSpPr txBox="1"/>
            <p:nvPr/>
          </p:nvSpPr>
          <p:spPr>
            <a:xfrm>
              <a:off x="3218469" y="2650941"/>
              <a:ext cx="137759" cy="215444"/>
            </a:xfrm>
            <a:prstGeom prst="rect">
              <a:avLst/>
            </a:prstGeom>
            <a:noFill/>
          </p:spPr>
          <p:txBody>
            <a:bodyPr wrap="square" rtlCol="0">
              <a:spAutoFit/>
            </a:bodyPr>
            <a:lstStyle/>
            <a:p>
              <a:r>
                <a:rPr lang="pt-PT" sz="800" dirty="0">
                  <a:solidFill>
                    <a:schemeClr val="bg1"/>
                  </a:solidFill>
                </a:rPr>
                <a:t>.</a:t>
              </a:r>
              <a:endParaRPr lang="en-US" sz="800" dirty="0">
                <a:solidFill>
                  <a:schemeClr val="bg1"/>
                </a:solidFill>
              </a:endParaRPr>
            </a:p>
          </p:txBody>
        </p:sp>
        <p:cxnSp>
          <p:nvCxnSpPr>
            <p:cNvPr id="53" name="154 Conector recto de flecha"/>
            <p:cNvCxnSpPr>
              <a:stCxn id="42" idx="3"/>
              <a:endCxn id="47" idx="1"/>
            </p:cNvCxnSpPr>
            <p:nvPr/>
          </p:nvCxnSpPr>
          <p:spPr>
            <a:xfrm flipV="1">
              <a:off x="4292824" y="2852108"/>
              <a:ext cx="399368" cy="214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154 Conector recto de flecha"/>
            <p:cNvCxnSpPr>
              <a:stCxn id="56" idx="1"/>
              <a:endCxn id="47" idx="3"/>
            </p:cNvCxnSpPr>
            <p:nvPr/>
          </p:nvCxnSpPr>
          <p:spPr>
            <a:xfrm flipH="1" flipV="1">
              <a:off x="4889102" y="2852108"/>
              <a:ext cx="312025" cy="579"/>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Rectangle 2"/>
            <p:cNvSpPr>
              <a:spLocks noChangeArrowheads="1"/>
            </p:cNvSpPr>
            <p:nvPr/>
          </p:nvSpPr>
          <p:spPr bwMode="auto">
            <a:xfrm>
              <a:off x="964814" y="2211513"/>
              <a:ext cx="684200" cy="331768"/>
            </a:xfrm>
            <a:prstGeom prst="rect">
              <a:avLst/>
            </a:prstGeom>
            <a:solidFill>
              <a:schemeClr val="accent1">
                <a:lumMod val="20000"/>
                <a:lumOff val="80000"/>
              </a:schemeClr>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err="1">
                  <a:latin typeface="Calibri" panose="020F0502020204030204" pitchFamily="34" charset="0"/>
                  <a:cs typeface="Calibri" panose="020F0502020204030204" pitchFamily="34" charset="0"/>
                </a:rPr>
                <a:t>Upload</a:t>
              </a:r>
              <a:endParaRPr lang="pt-PT" sz="1000" dirty="0">
                <a:latin typeface="Calibri" panose="020F0502020204030204" pitchFamily="34" charset="0"/>
                <a:cs typeface="Calibri" panose="020F0502020204030204" pitchFamily="34" charset="0"/>
              </a:endParaRPr>
            </a:p>
            <a:p>
              <a:pPr algn="ctr"/>
              <a:r>
                <a:rPr lang="pt-PT" sz="1000" dirty="0">
                  <a:latin typeface="Calibri" panose="020F0502020204030204" pitchFamily="34" charset="0"/>
                  <a:cs typeface="Calibri" panose="020F0502020204030204" pitchFamily="34" charset="0"/>
                </a:rPr>
                <a:t>Ficheiros</a:t>
              </a:r>
            </a:p>
          </p:txBody>
        </p:sp>
        <p:pic>
          <p:nvPicPr>
            <p:cNvPr id="56" name="Picture 55"/>
            <p:cNvPicPr>
              <a:picLocks noChangeAspect="1"/>
            </p:cNvPicPr>
            <p:nvPr/>
          </p:nvPicPr>
          <p:blipFill>
            <a:blip r:embed="rId3">
              <a:clrChange>
                <a:clrFrom>
                  <a:srgbClr val="FFFFFF"/>
                </a:clrFrom>
                <a:clrTo>
                  <a:srgbClr val="FFFFFF">
                    <a:alpha val="0"/>
                  </a:srgbClr>
                </a:clrTo>
              </a:clrChange>
            </a:blip>
            <a:stretch>
              <a:fillRect/>
            </a:stretch>
          </p:blipFill>
          <p:spPr>
            <a:xfrm>
              <a:off x="5201127" y="2733892"/>
              <a:ext cx="237590" cy="237590"/>
            </a:xfrm>
            <a:prstGeom prst="rect">
              <a:avLst/>
            </a:prstGeom>
          </p:spPr>
        </p:pic>
        <p:sp>
          <p:nvSpPr>
            <p:cNvPr id="57" name="TextBox 56"/>
            <p:cNvSpPr txBox="1"/>
            <p:nvPr/>
          </p:nvSpPr>
          <p:spPr>
            <a:xfrm>
              <a:off x="3946991" y="2830137"/>
              <a:ext cx="182105" cy="246221"/>
            </a:xfrm>
            <a:prstGeom prst="rect">
              <a:avLst/>
            </a:prstGeom>
            <a:noFill/>
          </p:spPr>
          <p:txBody>
            <a:bodyPr wrap="square" rtlCol="0" anchor="ctr">
              <a:spAutoFit/>
            </a:bodyPr>
            <a:lstStyle/>
            <a:p>
              <a:pPr algn="ctr"/>
              <a:r>
                <a:rPr lang="pt-PT" sz="1000" dirty="0">
                  <a:solidFill>
                    <a:srgbClr val="FF0000"/>
                  </a:solidFill>
                  <a:latin typeface="Calibri" panose="020F0502020204030204" pitchFamily="34" charset="0"/>
                  <a:cs typeface="Calibri" panose="020F0502020204030204" pitchFamily="34" charset="0"/>
                </a:rPr>
                <a:t>A</a:t>
              </a:r>
              <a:endParaRPr lang="en-US" sz="1000" dirty="0">
                <a:solidFill>
                  <a:srgbClr val="FF0000"/>
                </a:solidFill>
                <a:latin typeface="Calibri" panose="020F0502020204030204" pitchFamily="34" charset="0"/>
                <a:cs typeface="Calibri" panose="020F0502020204030204" pitchFamily="34" charset="0"/>
              </a:endParaRPr>
            </a:p>
          </p:txBody>
        </p:sp>
        <p:pic>
          <p:nvPicPr>
            <p:cNvPr id="58" name="Picture 57"/>
            <p:cNvPicPr>
              <a:picLocks noChangeAspect="1"/>
            </p:cNvPicPr>
            <p:nvPr/>
          </p:nvPicPr>
          <p:blipFill>
            <a:blip r:embed="rId4"/>
            <a:stretch>
              <a:fillRect/>
            </a:stretch>
          </p:blipFill>
          <p:spPr>
            <a:xfrm>
              <a:off x="2552218" y="2364520"/>
              <a:ext cx="196910" cy="175507"/>
            </a:xfrm>
            <a:prstGeom prst="rect">
              <a:avLst/>
            </a:prstGeom>
          </p:spPr>
        </p:pic>
        <p:pic>
          <p:nvPicPr>
            <p:cNvPr id="59" name="Picture 58"/>
            <p:cNvPicPr>
              <a:picLocks noChangeAspect="1"/>
            </p:cNvPicPr>
            <p:nvPr/>
          </p:nvPicPr>
          <p:blipFill>
            <a:blip r:embed="rId4"/>
            <a:stretch>
              <a:fillRect/>
            </a:stretch>
          </p:blipFill>
          <p:spPr>
            <a:xfrm>
              <a:off x="2552218" y="2729534"/>
              <a:ext cx="196910" cy="175507"/>
            </a:xfrm>
            <a:prstGeom prst="rect">
              <a:avLst/>
            </a:prstGeom>
          </p:spPr>
        </p:pic>
        <p:pic>
          <p:nvPicPr>
            <p:cNvPr id="60" name="Picture 59"/>
            <p:cNvPicPr>
              <a:picLocks noChangeAspect="1"/>
            </p:cNvPicPr>
            <p:nvPr/>
          </p:nvPicPr>
          <p:blipFill>
            <a:blip r:embed="rId4"/>
            <a:stretch>
              <a:fillRect/>
            </a:stretch>
          </p:blipFill>
          <p:spPr>
            <a:xfrm>
              <a:off x="3426477" y="2375260"/>
              <a:ext cx="196910" cy="175507"/>
            </a:xfrm>
            <a:prstGeom prst="rect">
              <a:avLst/>
            </a:prstGeom>
          </p:spPr>
        </p:pic>
        <p:pic>
          <p:nvPicPr>
            <p:cNvPr id="61" name="Picture 60"/>
            <p:cNvPicPr>
              <a:picLocks noChangeAspect="1"/>
            </p:cNvPicPr>
            <p:nvPr/>
          </p:nvPicPr>
          <p:blipFill>
            <a:blip r:embed="rId4"/>
            <a:stretch>
              <a:fillRect/>
            </a:stretch>
          </p:blipFill>
          <p:spPr>
            <a:xfrm>
              <a:off x="3426477" y="2740274"/>
              <a:ext cx="196910" cy="175507"/>
            </a:xfrm>
            <a:prstGeom prst="rect">
              <a:avLst/>
            </a:prstGeom>
          </p:spPr>
        </p:pic>
        <p:cxnSp>
          <p:nvCxnSpPr>
            <p:cNvPr id="62" name="154 Conector recto de flecha"/>
            <p:cNvCxnSpPr>
              <a:stCxn id="42" idx="3"/>
              <a:endCxn id="46" idx="1"/>
            </p:cNvCxnSpPr>
            <p:nvPr/>
          </p:nvCxnSpPr>
          <p:spPr>
            <a:xfrm flipV="1">
              <a:off x="4292824" y="2487094"/>
              <a:ext cx="399368" cy="36716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90E0D610-2C97-22F7-1FC5-B9D7B24B0A17}"/>
                </a:ext>
              </a:extLst>
            </p:cNvPr>
            <p:cNvSpPr txBox="1"/>
            <p:nvPr/>
          </p:nvSpPr>
          <p:spPr>
            <a:xfrm>
              <a:off x="3570298" y="5734538"/>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 execution]</a:t>
              </a:r>
            </a:p>
          </p:txBody>
        </p:sp>
        <p:pic>
          <p:nvPicPr>
            <p:cNvPr id="64" name="Picture 63"/>
            <p:cNvPicPr>
              <a:picLocks noChangeAspect="1"/>
            </p:cNvPicPr>
            <p:nvPr/>
          </p:nvPicPr>
          <p:blipFill>
            <a:blip r:embed="rId5"/>
            <a:stretch>
              <a:fillRect/>
            </a:stretch>
          </p:blipFill>
          <p:spPr>
            <a:xfrm>
              <a:off x="3784686" y="3758358"/>
              <a:ext cx="781050" cy="304800"/>
            </a:xfrm>
            <a:prstGeom prst="rect">
              <a:avLst/>
            </a:prstGeom>
          </p:spPr>
        </p:pic>
        <p:cxnSp>
          <p:nvCxnSpPr>
            <p:cNvPr id="67" name="154 Conector recto de flecha"/>
            <p:cNvCxnSpPr>
              <a:stCxn id="64" idx="0"/>
              <a:endCxn id="42" idx="2"/>
            </p:cNvCxnSpPr>
            <p:nvPr/>
          </p:nvCxnSpPr>
          <p:spPr>
            <a:xfrm flipH="1" flipV="1">
              <a:off x="4174029" y="2973049"/>
              <a:ext cx="1182" cy="785309"/>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pic>
          <p:nvPicPr>
            <p:cNvPr id="70" name="Picture 69"/>
            <p:cNvPicPr>
              <a:picLocks noChangeAspect="1"/>
            </p:cNvPicPr>
            <p:nvPr/>
          </p:nvPicPr>
          <p:blipFill>
            <a:blip r:embed="rId5"/>
            <a:stretch>
              <a:fillRect/>
            </a:stretch>
          </p:blipFill>
          <p:spPr>
            <a:xfrm>
              <a:off x="4927740" y="3758358"/>
              <a:ext cx="781050" cy="304800"/>
            </a:xfrm>
            <a:prstGeom prst="rect">
              <a:avLst/>
            </a:prstGeom>
          </p:spPr>
        </p:pic>
        <p:cxnSp>
          <p:nvCxnSpPr>
            <p:cNvPr id="71" name="154 Conector recto de flecha"/>
            <p:cNvCxnSpPr>
              <a:stCxn id="70" idx="0"/>
              <a:endCxn id="56" idx="2"/>
            </p:cNvCxnSpPr>
            <p:nvPr/>
          </p:nvCxnSpPr>
          <p:spPr>
            <a:xfrm flipV="1">
              <a:off x="5318265" y="2971482"/>
              <a:ext cx="1657" cy="786876"/>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5111438" y="2849870"/>
              <a:ext cx="182105" cy="246221"/>
            </a:xfrm>
            <a:prstGeom prst="rect">
              <a:avLst/>
            </a:prstGeom>
            <a:noFill/>
          </p:spPr>
          <p:txBody>
            <a:bodyPr wrap="square" rtlCol="0" anchor="ctr">
              <a:spAutoFit/>
            </a:bodyPr>
            <a:lstStyle/>
            <a:p>
              <a:pPr algn="ctr"/>
              <a:r>
                <a:rPr lang="pt-PT" sz="1000" dirty="0">
                  <a:solidFill>
                    <a:srgbClr val="FF0000"/>
                  </a:solidFill>
                  <a:latin typeface="Calibri" panose="020F0502020204030204" pitchFamily="34" charset="0"/>
                  <a:cs typeface="Calibri" panose="020F0502020204030204" pitchFamily="34" charset="0"/>
                </a:rPr>
                <a:t>B</a:t>
              </a:r>
              <a:endParaRPr lang="en-US" sz="1000" dirty="0">
                <a:solidFill>
                  <a:srgbClr val="FF0000"/>
                </a:solidFill>
                <a:latin typeface="Calibri" panose="020F0502020204030204" pitchFamily="34" charset="0"/>
                <a:cs typeface="Calibri" panose="020F0502020204030204" pitchFamily="34" charset="0"/>
              </a:endParaRPr>
            </a:p>
          </p:txBody>
        </p:sp>
        <p:pic>
          <p:nvPicPr>
            <p:cNvPr id="74" name="Picture 73"/>
            <p:cNvPicPr>
              <a:picLocks noChangeAspect="1"/>
            </p:cNvPicPr>
            <p:nvPr/>
          </p:nvPicPr>
          <p:blipFill>
            <a:blip r:embed="rId6"/>
            <a:stretch>
              <a:fillRect/>
            </a:stretch>
          </p:blipFill>
          <p:spPr>
            <a:xfrm>
              <a:off x="7079767" y="5581873"/>
              <a:ext cx="393165" cy="305330"/>
            </a:xfrm>
            <a:prstGeom prst="rect">
              <a:avLst/>
            </a:prstGeom>
          </p:spPr>
        </p:pic>
        <p:cxnSp>
          <p:nvCxnSpPr>
            <p:cNvPr id="75" name="154 Conector recto de flecha"/>
            <p:cNvCxnSpPr>
              <a:stCxn id="74" idx="1"/>
              <a:endCxn id="39" idx="3"/>
            </p:cNvCxnSpPr>
            <p:nvPr/>
          </p:nvCxnSpPr>
          <p:spPr>
            <a:xfrm flipH="1">
              <a:off x="6002135" y="5734538"/>
              <a:ext cx="1077632" cy="1"/>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90E0D610-2C97-22F7-1FC5-B9D7B24B0A17}"/>
                </a:ext>
              </a:extLst>
            </p:cNvPr>
            <p:cNvSpPr txBox="1"/>
            <p:nvPr/>
          </p:nvSpPr>
          <p:spPr>
            <a:xfrm>
              <a:off x="6153983" y="5703833"/>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[On-Demand]</a:t>
              </a:r>
            </a:p>
          </p:txBody>
        </p:sp>
        <p:pic>
          <p:nvPicPr>
            <p:cNvPr id="77" name="Picture 76"/>
            <p:cNvPicPr>
              <a:picLocks noChangeAspect="1"/>
            </p:cNvPicPr>
            <p:nvPr/>
          </p:nvPicPr>
          <p:blipFill>
            <a:blip r:embed="rId6"/>
            <a:stretch>
              <a:fillRect/>
            </a:stretch>
          </p:blipFill>
          <p:spPr>
            <a:xfrm>
              <a:off x="6341045" y="1330772"/>
              <a:ext cx="393165" cy="305329"/>
            </a:xfrm>
            <a:prstGeom prst="rect">
              <a:avLst/>
            </a:prstGeom>
          </p:spPr>
        </p:pic>
        <p:cxnSp>
          <p:nvCxnSpPr>
            <p:cNvPr id="78" name="154 Conector recto de flecha"/>
            <p:cNvCxnSpPr/>
            <p:nvPr/>
          </p:nvCxnSpPr>
          <p:spPr>
            <a:xfrm flipH="1">
              <a:off x="5215805" y="1761338"/>
              <a:ext cx="1125240" cy="398264"/>
            </a:xfrm>
            <a:prstGeom prst="straightConnector1">
              <a:avLst/>
            </a:prstGeom>
            <a:ln>
              <a:solidFill>
                <a:schemeClr val="tx1"/>
              </a:solidFill>
              <a:prstDash val="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90E0D610-2C97-22F7-1FC5-B9D7B24B0A17}"/>
                </a:ext>
              </a:extLst>
            </p:cNvPr>
            <p:cNvSpPr txBox="1"/>
            <p:nvPr/>
          </p:nvSpPr>
          <p:spPr>
            <a:xfrm>
              <a:off x="6192433" y="1809117"/>
              <a:ext cx="1015403" cy="253914"/>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[Query</a:t>
              </a:r>
            </a:p>
            <a:p>
              <a:r>
                <a:rPr lang="en-US" dirty="0">
                  <a:solidFill>
                    <a:prstClr val="black"/>
                  </a:solidFill>
                </a:rPr>
                <a:t>Validation]</a:t>
              </a:r>
            </a:p>
          </p:txBody>
        </p:sp>
        <p:sp>
          <p:nvSpPr>
            <p:cNvPr id="81" name="Line Callout 2 (Accent Bar) 80"/>
            <p:cNvSpPr/>
            <p:nvPr/>
          </p:nvSpPr>
          <p:spPr>
            <a:xfrm>
              <a:off x="6651117" y="4330934"/>
              <a:ext cx="1231982" cy="722716"/>
            </a:xfrm>
            <a:prstGeom prst="accentCallout2">
              <a:avLst>
                <a:gd name="adj1" fmla="val 11349"/>
                <a:gd name="adj2" fmla="val 69"/>
                <a:gd name="adj3" fmla="val 9619"/>
                <a:gd name="adj4" fmla="val -22154"/>
                <a:gd name="adj5" fmla="val -55469"/>
                <a:gd name="adj6" fmla="val -69197"/>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800" dirty="0">
                  <a:solidFill>
                    <a:schemeClr val="tx1"/>
                  </a:solidFill>
                  <a:latin typeface="Calibri" panose="020F0502020204030204" pitchFamily="34" charset="0"/>
                  <a:cs typeface="Calibri" panose="020F0502020204030204" pitchFamily="34" charset="0"/>
                </a:rPr>
                <a:t>Ambos os </a:t>
              </a:r>
              <a:r>
                <a:rPr lang="pt-PT" sz="800" dirty="0" err="1">
                  <a:solidFill>
                    <a:schemeClr val="tx1"/>
                  </a:solidFill>
                  <a:latin typeface="Calibri" panose="020F0502020204030204" pitchFamily="34" charset="0"/>
                  <a:cs typeface="Calibri" panose="020F0502020204030204" pitchFamily="34" charset="0"/>
                </a:rPr>
                <a:t>Control</a:t>
              </a:r>
              <a:r>
                <a:rPr lang="pt-PT" sz="800" dirty="0">
                  <a:solidFill>
                    <a:schemeClr val="tx1"/>
                  </a:solidFill>
                  <a:latin typeface="Calibri" panose="020F0502020204030204" pitchFamily="34" charset="0"/>
                  <a:cs typeface="Calibri" panose="020F0502020204030204" pitchFamily="34" charset="0"/>
                </a:rPr>
                <a:t>-M podem ser executados com condição horária ou </a:t>
              </a:r>
              <a:r>
                <a:rPr lang="pt-PT" sz="800" dirty="0" err="1">
                  <a:solidFill>
                    <a:schemeClr val="tx1"/>
                  </a:solidFill>
                  <a:latin typeface="Calibri" panose="020F0502020204030204" pitchFamily="34" charset="0"/>
                  <a:cs typeface="Calibri" panose="020F0502020204030204" pitchFamily="34" charset="0"/>
                </a:rPr>
                <a:t>on-demand</a:t>
              </a:r>
              <a:r>
                <a:rPr lang="pt-PT" sz="800" dirty="0">
                  <a:solidFill>
                    <a:schemeClr val="tx1"/>
                  </a:solidFill>
                  <a:latin typeface="Calibri" panose="020F0502020204030204" pitchFamily="34" charset="0"/>
                  <a:cs typeface="Calibri" panose="020F0502020204030204" pitchFamily="34" charset="0"/>
                </a:rPr>
                <a:t> via </a:t>
              </a:r>
              <a:r>
                <a:rPr lang="pt-PT" sz="800" dirty="0" err="1">
                  <a:solidFill>
                    <a:schemeClr val="tx1"/>
                  </a:solidFill>
                  <a:latin typeface="Calibri" panose="020F0502020204030204" pitchFamily="34" charset="0"/>
                  <a:cs typeface="Calibri" panose="020F0502020204030204" pitchFamily="34" charset="0"/>
                </a:rPr>
                <a:t>fornt-end</a:t>
              </a:r>
              <a:endParaRPr lang="en-US" sz="800" dirty="0">
                <a:solidFill>
                  <a:schemeClr val="tx1"/>
                </a:solidFill>
                <a:latin typeface="Calibri" panose="020F0502020204030204" pitchFamily="34" charset="0"/>
                <a:cs typeface="Calibri" panose="020F0502020204030204" pitchFamily="34" charset="0"/>
              </a:endParaRPr>
            </a:p>
          </p:txBody>
        </p:sp>
        <p:sp>
          <p:nvSpPr>
            <p:cNvPr id="82" name="Flowchart: Magnetic Disk 81"/>
            <p:cNvSpPr/>
            <p:nvPr/>
          </p:nvSpPr>
          <p:spPr>
            <a:xfrm>
              <a:off x="2658286" y="3814036"/>
              <a:ext cx="812529" cy="516898"/>
            </a:xfrm>
            <a:prstGeom prst="flowChartMagneticDisk">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endParaRPr lang="en-US" sz="1000">
                <a:solidFill>
                  <a:schemeClr val="tx1"/>
                </a:solidFill>
                <a:latin typeface="Calibri" panose="020F0502020204030204" pitchFamily="34" charset="0"/>
                <a:cs typeface="Calibri" panose="020F0502020204030204" pitchFamily="34" charset="0"/>
              </a:endParaRPr>
            </a:p>
          </p:txBody>
        </p:sp>
        <p:cxnSp>
          <p:nvCxnSpPr>
            <p:cNvPr id="84" name="154 Conector recto de flecha"/>
            <p:cNvCxnSpPr>
              <a:stCxn id="57" idx="2"/>
              <a:endCxn id="82" idx="1"/>
            </p:cNvCxnSpPr>
            <p:nvPr/>
          </p:nvCxnSpPr>
          <p:spPr>
            <a:xfrm flipH="1">
              <a:off x="3064551" y="3076358"/>
              <a:ext cx="973493" cy="737678"/>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154 Conector recto de flecha"/>
            <p:cNvCxnSpPr>
              <a:stCxn id="39" idx="0"/>
              <a:endCxn id="70" idx="2"/>
            </p:cNvCxnSpPr>
            <p:nvPr/>
          </p:nvCxnSpPr>
          <p:spPr>
            <a:xfrm flipV="1">
              <a:off x="5315607" y="4063158"/>
              <a:ext cx="2658" cy="1473381"/>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6" name="154 Conector recto de flecha"/>
            <p:cNvCxnSpPr>
              <a:stCxn id="55" idx="0"/>
              <a:endCxn id="97" idx="0"/>
            </p:cNvCxnSpPr>
            <p:nvPr/>
          </p:nvCxnSpPr>
          <p:spPr>
            <a:xfrm rot="5400000" flipH="1" flipV="1">
              <a:off x="2393224" y="439783"/>
              <a:ext cx="685420" cy="2858040"/>
            </a:xfrm>
            <a:prstGeom prst="bentConnector3">
              <a:avLst>
                <a:gd name="adj1" fmla="val 130882"/>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90E0D610-2C97-22F7-1FC5-B9D7B24B0A17}"/>
                </a:ext>
              </a:extLst>
            </p:cNvPr>
            <p:cNvSpPr txBox="1"/>
            <p:nvPr/>
          </p:nvSpPr>
          <p:spPr>
            <a:xfrm>
              <a:off x="2654406" y="3361496"/>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[Online]</a:t>
              </a:r>
            </a:p>
          </p:txBody>
        </p:sp>
        <p:sp>
          <p:nvSpPr>
            <p:cNvPr id="89" name="TextBox 88">
              <a:extLst>
                <a:ext uri="{FF2B5EF4-FFF2-40B4-BE49-F238E27FC236}">
                  <a16:creationId xmlns:a16="http://schemas.microsoft.com/office/drawing/2014/main" id="{90E0D610-2C97-22F7-1FC5-B9D7B24B0A17}"/>
                </a:ext>
              </a:extLst>
            </p:cNvPr>
            <p:cNvSpPr txBox="1"/>
            <p:nvPr/>
          </p:nvSpPr>
          <p:spPr>
            <a:xfrm>
              <a:off x="2544519" y="3969270"/>
              <a:ext cx="1015404" cy="253916"/>
            </a:xfrm>
            <a:prstGeom prst="rect">
              <a:avLst/>
            </a:prstGeom>
            <a:noFill/>
            <a:ln w="9525" cap="rnd">
              <a:noFill/>
              <a:prstDash val="sysDot"/>
              <a:miter lim="800000"/>
              <a:headEnd/>
              <a:tailEnd/>
            </a:ln>
          </p:spPr>
          <p:txBody>
            <a:bodyPr lIns="0" tIns="0" rIns="0" bIns="0" anchor="ctr"/>
            <a:lstStyle>
              <a:defPPr>
                <a:defRPr lang="es-ES"/>
              </a:defPPr>
              <a:lvl1pPr algn="ctr">
                <a:defRPr sz="1000" u="none">
                  <a:latin typeface="Calibri" panose="020F0502020204030204" pitchFamily="34" charset="0"/>
                  <a:cs typeface="Calibri" panose="020F0502020204030204" pitchFamily="34" charset="0"/>
                </a:defRPr>
              </a:lvl1pPr>
            </a:lstStyle>
            <a:p>
              <a:r>
                <a:rPr lang="en-US" dirty="0">
                  <a:solidFill>
                    <a:prstClr val="black"/>
                  </a:solidFill>
                </a:rPr>
                <a:t>[Postgres]</a:t>
              </a:r>
            </a:p>
          </p:txBody>
        </p:sp>
        <p:sp>
          <p:nvSpPr>
            <p:cNvPr id="90" name="Line Callout 2 (Accent Bar) 89"/>
            <p:cNvSpPr/>
            <p:nvPr/>
          </p:nvSpPr>
          <p:spPr>
            <a:xfrm>
              <a:off x="547000" y="4076932"/>
              <a:ext cx="1478844" cy="722716"/>
            </a:xfrm>
            <a:prstGeom prst="accentCallout2">
              <a:avLst>
                <a:gd name="adj1" fmla="val 9787"/>
                <a:gd name="adj2" fmla="val 102287"/>
                <a:gd name="adj3" fmla="val -11468"/>
                <a:gd name="adj4" fmla="val 123616"/>
                <a:gd name="adj5" fmla="val -15638"/>
                <a:gd name="adj6" fmla="val 139494"/>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800" dirty="0">
                  <a:solidFill>
                    <a:schemeClr val="tx1"/>
                  </a:solidFill>
                  <a:latin typeface="Calibri" panose="020F0502020204030204" pitchFamily="34" charset="0"/>
                  <a:cs typeface="Calibri" panose="020F0502020204030204" pitchFamily="34" charset="0"/>
                </a:rPr>
                <a:t>Tabela de controlo de execução dos processos lançados a parir do </a:t>
              </a:r>
              <a:r>
                <a:rPr lang="pt-PT" sz="800" dirty="0" err="1">
                  <a:solidFill>
                    <a:schemeClr val="tx1"/>
                  </a:solidFill>
                  <a:latin typeface="Calibri" panose="020F0502020204030204" pitchFamily="34" charset="0"/>
                  <a:cs typeface="Calibri" panose="020F0502020204030204" pitchFamily="34" charset="0"/>
                </a:rPr>
                <a:t>front-end</a:t>
              </a:r>
              <a:endParaRPr lang="en-US" sz="800" dirty="0">
                <a:solidFill>
                  <a:schemeClr val="tx1"/>
                </a:solidFill>
                <a:latin typeface="Calibri" panose="020F0502020204030204" pitchFamily="34" charset="0"/>
                <a:cs typeface="Calibri" panose="020F0502020204030204" pitchFamily="34" charset="0"/>
              </a:endParaRPr>
            </a:p>
          </p:txBody>
        </p:sp>
        <p:sp>
          <p:nvSpPr>
            <p:cNvPr id="92" name="TextBox 91"/>
            <p:cNvSpPr txBox="1"/>
            <p:nvPr/>
          </p:nvSpPr>
          <p:spPr>
            <a:xfrm>
              <a:off x="3796828" y="2279979"/>
              <a:ext cx="740793" cy="246222"/>
            </a:xfrm>
            <a:prstGeom prst="rect">
              <a:avLst/>
            </a:prstGeom>
            <a:noFill/>
          </p:spPr>
          <p:txBody>
            <a:bodyPr wrap="square" rtlCol="0">
              <a:spAutoFit/>
            </a:bodyPr>
            <a:lstStyle/>
            <a:p>
              <a:pPr algn="ctr"/>
              <a:r>
                <a:rPr lang="pt-PT" sz="1000" dirty="0" err="1">
                  <a:latin typeface="Calibri" panose="020F0502020204030204" pitchFamily="34" charset="0"/>
                  <a:cs typeface="Calibri" panose="020F0502020204030204" pitchFamily="34" charset="0"/>
                </a:rPr>
                <a:t>Databricks</a:t>
              </a:r>
              <a:endParaRPr lang="en-US" sz="1000" dirty="0">
                <a:latin typeface="Calibri" panose="020F0502020204030204" pitchFamily="34" charset="0"/>
                <a:cs typeface="Calibri" panose="020F0502020204030204" pitchFamily="34" charset="0"/>
              </a:endParaRPr>
            </a:p>
          </p:txBody>
        </p:sp>
        <p:sp>
          <p:nvSpPr>
            <p:cNvPr id="93" name="TextBox 92"/>
            <p:cNvSpPr txBox="1"/>
            <p:nvPr/>
          </p:nvSpPr>
          <p:spPr>
            <a:xfrm>
              <a:off x="5043073" y="2273458"/>
              <a:ext cx="740793" cy="246222"/>
            </a:xfrm>
            <a:prstGeom prst="rect">
              <a:avLst/>
            </a:prstGeom>
            <a:noFill/>
          </p:spPr>
          <p:txBody>
            <a:bodyPr wrap="square" rtlCol="0">
              <a:spAutoFit/>
            </a:bodyPr>
            <a:lstStyle/>
            <a:p>
              <a:pPr algn="ctr"/>
              <a:r>
                <a:rPr lang="pt-PT" sz="1000" dirty="0" err="1">
                  <a:latin typeface="Calibri" panose="020F0502020204030204" pitchFamily="34" charset="0"/>
                  <a:cs typeface="Calibri" panose="020F0502020204030204" pitchFamily="34" charset="0"/>
                </a:rPr>
                <a:t>Databricks</a:t>
              </a:r>
              <a:endParaRPr lang="en-US" sz="1000" dirty="0">
                <a:latin typeface="Calibri" panose="020F0502020204030204" pitchFamily="34" charset="0"/>
                <a:cs typeface="Calibri" panose="020F0502020204030204" pitchFamily="34" charset="0"/>
              </a:endParaRPr>
            </a:p>
          </p:txBody>
        </p:sp>
        <p:pic>
          <p:nvPicPr>
            <p:cNvPr id="94" name="Picture 93"/>
            <p:cNvPicPr>
              <a:picLocks noChangeAspect="1"/>
            </p:cNvPicPr>
            <p:nvPr/>
          </p:nvPicPr>
          <p:blipFill>
            <a:blip r:embed="rId6"/>
            <a:stretch>
              <a:fillRect/>
            </a:stretch>
          </p:blipFill>
          <p:spPr>
            <a:xfrm>
              <a:off x="178916" y="2218443"/>
              <a:ext cx="393165" cy="305330"/>
            </a:xfrm>
            <a:prstGeom prst="rect">
              <a:avLst/>
            </a:prstGeom>
          </p:spPr>
        </p:pic>
        <p:cxnSp>
          <p:nvCxnSpPr>
            <p:cNvPr id="95" name="154 Conector recto de flecha"/>
            <p:cNvCxnSpPr>
              <a:stCxn id="94" idx="3"/>
              <a:endCxn id="55" idx="1"/>
            </p:cNvCxnSpPr>
            <p:nvPr/>
          </p:nvCxnSpPr>
          <p:spPr>
            <a:xfrm>
              <a:off x="572081" y="2371108"/>
              <a:ext cx="392733" cy="0"/>
            </a:xfrm>
            <a:prstGeom prst="straightConnector1">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6" name="154 Conector recto de flecha"/>
            <p:cNvCxnSpPr>
              <a:stCxn id="98" idx="3"/>
              <a:endCxn id="45" idx="0"/>
            </p:cNvCxnSpPr>
            <p:nvPr/>
          </p:nvCxnSpPr>
          <p:spPr>
            <a:xfrm>
              <a:off x="3902669" y="1253088"/>
              <a:ext cx="887979" cy="746891"/>
            </a:xfrm>
            <a:prstGeom prst="bentConnector2">
              <a:avLst/>
            </a:pr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7" name="Rectangle 12"/>
            <p:cNvSpPr>
              <a:spLocks noChangeArrowheads="1"/>
            </p:cNvSpPr>
            <p:nvPr/>
          </p:nvSpPr>
          <p:spPr bwMode="auto">
            <a:xfrm>
              <a:off x="3218469" y="1526093"/>
              <a:ext cx="1892969" cy="269687"/>
            </a:xfrm>
            <a:prstGeom prst="rect">
              <a:avLst/>
            </a:prstGeom>
            <a:solidFill>
              <a:schemeClr val="bg1"/>
            </a:solidFill>
            <a:ln w="9525" cap="rnd">
              <a:solidFill>
                <a:schemeClr val="accent4"/>
              </a:solidFill>
              <a:prstDash val="sysDot"/>
              <a:miter lim="800000"/>
              <a:headEnd/>
              <a:tailEnd/>
            </a:ln>
          </p:spPr>
          <p:txBody>
            <a:bodyPr anchor="t"/>
            <a:lstStyle/>
            <a:p>
              <a:pPr fontAlgn="base">
                <a:spcBef>
                  <a:spcPct val="0"/>
                </a:spcBef>
                <a:spcAft>
                  <a:spcPct val="0"/>
                </a:spcAft>
              </a:pPr>
              <a:r>
                <a:rPr lang="pt-PT" sz="800" dirty="0">
                  <a:solidFill>
                    <a:prstClr val="black"/>
                  </a:solidFill>
                  <a:latin typeface="Calibri" panose="020F0502020204030204" pitchFamily="34" charset="0"/>
                  <a:cs typeface="Calibri" panose="020F0502020204030204" pitchFamily="34" charset="0"/>
                </a:rPr>
                <a:t>OPERATIONS_RAW_PIKOTA_FILEUPLOAD</a:t>
              </a:r>
              <a:endParaRPr lang="pt-PT" sz="800" dirty="0">
                <a:solidFill>
                  <a:schemeClr val="accent1"/>
                </a:solidFill>
                <a:latin typeface="Calibri" panose="020F0502020204030204" pitchFamily="34" charset="0"/>
                <a:cs typeface="Calibri" panose="020F0502020204030204" pitchFamily="34" charset="0"/>
              </a:endParaRPr>
            </a:p>
          </p:txBody>
        </p:sp>
        <p:sp>
          <p:nvSpPr>
            <p:cNvPr id="98" name="Rectangle 2"/>
            <p:cNvSpPr>
              <a:spLocks noChangeArrowheads="1"/>
            </p:cNvSpPr>
            <p:nvPr/>
          </p:nvSpPr>
          <p:spPr bwMode="auto">
            <a:xfrm>
              <a:off x="3218469" y="1113224"/>
              <a:ext cx="684200" cy="279727"/>
            </a:xfrm>
            <a:prstGeom prst="rect">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a:latin typeface="Calibri" panose="020F0502020204030204" pitchFamily="34" charset="0"/>
                  <a:cs typeface="Calibri" panose="020F0502020204030204" pitchFamily="34" charset="0"/>
                </a:rPr>
                <a:t>PIKOTA</a:t>
              </a:r>
            </a:p>
          </p:txBody>
        </p:sp>
        <p:sp>
          <p:nvSpPr>
            <p:cNvPr id="99" name="Flowchart: Predefined Process 98">
              <a:extLst>
                <a:ext uri="{FF2B5EF4-FFF2-40B4-BE49-F238E27FC236}">
                  <a16:creationId xmlns:a16="http://schemas.microsoft.com/office/drawing/2014/main" id="{3AC33EFE-B60C-9DD2-16F0-2503D14D2792}"/>
                </a:ext>
              </a:extLst>
            </p:cNvPr>
            <p:cNvSpPr/>
            <p:nvPr/>
          </p:nvSpPr>
          <p:spPr>
            <a:xfrm>
              <a:off x="3854409" y="4819696"/>
              <a:ext cx="1800000" cy="360000"/>
            </a:xfrm>
            <a:prstGeom prst="flowChartPredefinedProcess">
              <a:avLst/>
            </a:prstGeom>
            <a:solidFill>
              <a:schemeClr val="bg1"/>
            </a:solidFill>
            <a:ln w="12700" algn="ctr">
              <a:solidFill>
                <a:schemeClr val="tx1"/>
              </a:solidFill>
              <a:miter lim="800000"/>
              <a:headEnd/>
              <a:tailEnd/>
            </a:ln>
            <a:effectLst>
              <a:outerShdw dist="35921" dir="2700000" algn="ctr" rotWithShape="0">
                <a:schemeClr val="bg2"/>
              </a:outerShdw>
            </a:effectLst>
          </p:spPr>
          <p:txBody>
            <a:bodyPr wrap="none" anchor="ctr" anchorCtr="1"/>
            <a:lstStyle/>
            <a:p>
              <a:pPr algn="ctr"/>
              <a:r>
                <a:rPr lang="pt-PT" sz="1000" dirty="0">
                  <a:solidFill>
                    <a:prstClr val="black"/>
                  </a:solidFill>
                  <a:latin typeface="Calibri" panose="020F0502020204030204" pitchFamily="34" charset="0"/>
                  <a:cs typeface="Calibri" panose="020F0502020204030204" pitchFamily="34" charset="0"/>
                </a:rPr>
                <a:t>API</a:t>
              </a:r>
            </a:p>
            <a:p>
              <a:pPr algn="ctr"/>
              <a:r>
                <a:rPr lang="pt-PT" sz="1000" dirty="0" err="1">
                  <a:solidFill>
                    <a:prstClr val="black"/>
                  </a:solidFill>
                  <a:latin typeface="Calibri" panose="020F0502020204030204" pitchFamily="34" charset="0"/>
                  <a:cs typeface="Calibri" panose="020F0502020204030204" pitchFamily="34" charset="0"/>
                </a:rPr>
                <a:t>Control</a:t>
              </a:r>
              <a:r>
                <a:rPr lang="pt-PT" sz="1000" dirty="0">
                  <a:solidFill>
                    <a:prstClr val="black"/>
                  </a:solidFill>
                  <a:latin typeface="Calibri" panose="020F0502020204030204" pitchFamily="34" charset="0"/>
                  <a:cs typeface="Calibri" panose="020F0502020204030204" pitchFamily="34" charset="0"/>
                </a:rPr>
                <a:t>-M</a:t>
              </a:r>
              <a:endParaRPr lang="en-US" sz="1000" dirty="0">
                <a:solidFill>
                  <a:prstClr val="black"/>
                </a:solidFill>
                <a:latin typeface="Calibri" panose="020F0502020204030204" pitchFamily="34" charset="0"/>
                <a:cs typeface="Calibri" panose="020F0502020204030204" pitchFamily="34" charset="0"/>
              </a:endParaRPr>
            </a:p>
          </p:txBody>
        </p:sp>
      </p:grpSp>
      <p:sp>
        <p:nvSpPr>
          <p:cNvPr id="100" name="Rectangle 99"/>
          <p:cNvSpPr/>
          <p:nvPr/>
        </p:nvSpPr>
        <p:spPr>
          <a:xfrm>
            <a:off x="7903521" y="3087467"/>
            <a:ext cx="1936895" cy="1773398"/>
          </a:xfrm>
          <a:prstGeom prst="rect">
            <a:avLst/>
          </a:prstGeom>
          <a:solidFill>
            <a:srgbClr val="F9F9F9"/>
          </a:solid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ctr">
              <a:buFont typeface="Wingdings" panose="05000000000000000000" pitchFamily="2" charset="2"/>
              <a:buChar char="§"/>
            </a:pPr>
            <a:endParaRPr lang="pt-PT" sz="1000" dirty="0">
              <a:solidFill>
                <a:schemeClr val="tx1"/>
              </a:solidFill>
            </a:endParaRPr>
          </a:p>
        </p:txBody>
      </p:sp>
      <p:sp>
        <p:nvSpPr>
          <p:cNvPr id="101" name="TextBox 100"/>
          <p:cNvSpPr txBox="1"/>
          <p:nvPr/>
        </p:nvSpPr>
        <p:spPr>
          <a:xfrm>
            <a:off x="6966516" y="3897053"/>
            <a:ext cx="949299" cy="400110"/>
          </a:xfrm>
          <a:prstGeom prst="rect">
            <a:avLst/>
          </a:prstGeom>
          <a:noFill/>
        </p:spPr>
        <p:txBody>
          <a:bodyPr wrap="none" rtlCol="0">
            <a:spAutoFit/>
          </a:bodyPr>
          <a:lstStyle/>
          <a:p>
            <a:r>
              <a:rPr lang="pt-PT" sz="1000" dirty="0"/>
              <a:t>SFTP </a:t>
            </a:r>
            <a:r>
              <a:rPr lang="pt-PT" sz="1000" dirty="0" smtClean="0"/>
              <a:t>[PUT]</a:t>
            </a:r>
            <a:endParaRPr lang="pt-PT" sz="1000" dirty="0" smtClean="0"/>
          </a:p>
          <a:p>
            <a:r>
              <a:rPr lang="pt-PT" sz="1000" dirty="0" err="1" smtClean="0"/>
              <a:t>Export</a:t>
            </a:r>
            <a:r>
              <a:rPr lang="pt-PT" sz="1000" dirty="0" smtClean="0"/>
              <a:t> </a:t>
            </a:r>
            <a:r>
              <a:rPr lang="pt-PT" sz="1000" dirty="0"/>
              <a:t>.</a:t>
            </a:r>
            <a:r>
              <a:rPr lang="pt-PT" sz="1000" dirty="0" smtClean="0"/>
              <a:t>XLSX</a:t>
            </a:r>
            <a:endParaRPr lang="pt-PT" sz="1000" dirty="0"/>
          </a:p>
        </p:txBody>
      </p:sp>
      <p:sp>
        <p:nvSpPr>
          <p:cNvPr id="102" name="TextBox 101"/>
          <p:cNvSpPr txBox="1"/>
          <p:nvPr/>
        </p:nvSpPr>
        <p:spPr>
          <a:xfrm>
            <a:off x="8229586" y="3097686"/>
            <a:ext cx="1322798" cy="461665"/>
          </a:xfrm>
          <a:prstGeom prst="rect">
            <a:avLst/>
          </a:prstGeom>
          <a:noFill/>
        </p:spPr>
        <p:txBody>
          <a:bodyPr wrap="none" rtlCol="0">
            <a:spAutoFit/>
          </a:bodyPr>
          <a:lstStyle/>
          <a:p>
            <a:pPr algn="ctr"/>
            <a:r>
              <a:rPr lang="pt-PT" sz="1200" dirty="0" smtClean="0"/>
              <a:t>File </a:t>
            </a:r>
            <a:r>
              <a:rPr lang="pt-PT" sz="1200" dirty="0" err="1"/>
              <a:t>Storage</a:t>
            </a:r>
            <a:endParaRPr lang="pt-PT" sz="1200" dirty="0"/>
          </a:p>
          <a:p>
            <a:pPr algn="ctr"/>
            <a:r>
              <a:rPr lang="pt-PT" sz="1200" b="1" dirty="0"/>
              <a:t>INPUT/OUTPUT</a:t>
            </a:r>
          </a:p>
        </p:txBody>
      </p:sp>
      <p:cxnSp>
        <p:nvCxnSpPr>
          <p:cNvPr id="8" name="Straight Arrow Connector 7"/>
          <p:cNvCxnSpPr/>
          <p:nvPr/>
        </p:nvCxnSpPr>
        <p:spPr>
          <a:xfrm>
            <a:off x="4619078" y="3773701"/>
            <a:ext cx="3277122" cy="15339"/>
          </a:xfrm>
          <a:prstGeom prst="straightConnector1">
            <a:avLst/>
          </a:prstGeom>
          <a:ln>
            <a:solidFill>
              <a:srgbClr val="363636"/>
            </a:solidFill>
            <a:tailEnd type="triangle"/>
          </a:ln>
        </p:spPr>
        <p:style>
          <a:lnRef idx="1">
            <a:schemeClr val="accent1"/>
          </a:lnRef>
          <a:fillRef idx="0">
            <a:schemeClr val="accent1"/>
          </a:fillRef>
          <a:effectRef idx="0">
            <a:schemeClr val="accent1"/>
          </a:effectRef>
          <a:fontRef idx="minor">
            <a:schemeClr val="tx1"/>
          </a:fontRef>
        </p:style>
      </p:cxnSp>
      <p:grpSp>
        <p:nvGrpSpPr>
          <p:cNvPr id="103" name="Group 61"/>
          <p:cNvGrpSpPr>
            <a:grpSpLocks/>
          </p:cNvGrpSpPr>
          <p:nvPr/>
        </p:nvGrpSpPr>
        <p:grpSpPr bwMode="auto">
          <a:xfrm>
            <a:off x="8852820" y="3917593"/>
            <a:ext cx="586937" cy="446857"/>
            <a:chOff x="5158054" y="3631088"/>
            <a:chExt cx="743743" cy="517525"/>
          </a:xfrm>
        </p:grpSpPr>
        <p:sp>
          <p:nvSpPr>
            <p:cNvPr id="104" name="Rectangle 12"/>
            <p:cNvSpPr>
              <a:spLocks noChangeArrowheads="1"/>
            </p:cNvSpPr>
            <p:nvPr/>
          </p:nvSpPr>
          <p:spPr bwMode="auto">
            <a:xfrm>
              <a:off x="5158055" y="3631088"/>
              <a:ext cx="253917" cy="517525"/>
            </a:xfrm>
            <a:prstGeom prst="rect">
              <a:avLst/>
            </a:prstGeom>
            <a:solidFill>
              <a:schemeClr val="bg1"/>
            </a:solidFill>
            <a:ln w="9525" algn="ctr">
              <a:solidFill>
                <a:schemeClr val="tx1"/>
              </a:solidFill>
              <a:prstDash val="sysDot"/>
              <a:miter lim="800000"/>
              <a:headEnd/>
              <a:tailEnd/>
            </a:ln>
            <a:effectLst>
              <a:outerShdw dist="35921" dir="2700000" algn="ctr" rotWithShape="0">
                <a:schemeClr val="bg2"/>
              </a:outerShdw>
            </a:effectLst>
          </p:spPr>
          <p:txBody>
            <a:bodyPr wrap="none" anchorCtr="1"/>
            <a:lstStyle>
              <a:lvl1pPr eaLnBrk="0" hangingPunct="0">
                <a:spcBef>
                  <a:spcPct val="20000"/>
                </a:spcBef>
                <a:buClr>
                  <a:schemeClr val="bg1"/>
                </a:buClr>
                <a:buSzPct val="25000"/>
                <a:buFont typeface="Times" pitchFamily="18" charset="0"/>
                <a:buChar char="•"/>
                <a:defRPr sz="2400" b="1">
                  <a:solidFill>
                    <a:srgbClr val="FF0000"/>
                  </a:solidFill>
                  <a:latin typeface="Arial" charset="0"/>
                </a:defRPr>
              </a:lvl1pPr>
              <a:lvl2pPr marL="742950" indent="-285750" eaLnBrk="0" hangingPunct="0">
                <a:spcBef>
                  <a:spcPct val="20000"/>
                </a:spcBef>
                <a:buSzPct val="65000"/>
                <a:buFont typeface="Wingdings" pitchFamily="2" charset="2"/>
                <a:buChar char="n"/>
                <a:defRPr sz="2200">
                  <a:solidFill>
                    <a:srgbClr val="7A6C7A"/>
                  </a:solidFill>
                  <a:latin typeface="Arial" charset="0"/>
                </a:defRPr>
              </a:lvl2pPr>
              <a:lvl3pPr marL="1143000" indent="-228600" eaLnBrk="0" hangingPunct="0">
                <a:spcBef>
                  <a:spcPct val="20000"/>
                </a:spcBef>
                <a:buChar char="–"/>
                <a:defRPr sz="2000">
                  <a:solidFill>
                    <a:srgbClr val="7A6C7A"/>
                  </a:solidFill>
                  <a:latin typeface="Arial" charset="0"/>
                </a:defRPr>
              </a:lvl3pPr>
              <a:lvl4pPr marL="1600200" indent="-228600" eaLnBrk="0" hangingPunct="0">
                <a:spcBef>
                  <a:spcPct val="20000"/>
                </a:spcBef>
                <a:defRPr sz="2000">
                  <a:solidFill>
                    <a:schemeClr val="tx1"/>
                  </a:solidFill>
                  <a:latin typeface="Arial" charset="0"/>
                </a:defRPr>
              </a:lvl4pPr>
              <a:lvl5pPr marL="2057400" indent="-228600" eaLnBrk="0" hangingPunct="0">
                <a:spcBef>
                  <a:spcPct val="20000"/>
                </a:spcBef>
                <a:defRPr sz="2000">
                  <a:solidFill>
                    <a:schemeClr val="tx1"/>
                  </a:solidFill>
                  <a:latin typeface="Arial" charset="0"/>
                </a:defRPr>
              </a:lvl5pPr>
              <a:lvl6pPr marL="2514600" indent="-228600" eaLnBrk="0" fontAlgn="base" hangingPunct="0">
                <a:spcBef>
                  <a:spcPct val="20000"/>
                </a:spcBef>
                <a:spcAft>
                  <a:spcPct val="0"/>
                </a:spcAft>
                <a:defRPr sz="2000">
                  <a:solidFill>
                    <a:schemeClr val="tx1"/>
                  </a:solidFill>
                  <a:latin typeface="Arial" charset="0"/>
                </a:defRPr>
              </a:lvl6pPr>
              <a:lvl7pPr marL="2971800" indent="-228600" eaLnBrk="0" fontAlgn="base" hangingPunct="0">
                <a:spcBef>
                  <a:spcPct val="20000"/>
                </a:spcBef>
                <a:spcAft>
                  <a:spcPct val="0"/>
                </a:spcAft>
                <a:defRPr sz="2000">
                  <a:solidFill>
                    <a:schemeClr val="tx1"/>
                  </a:solidFill>
                  <a:latin typeface="Arial" charset="0"/>
                </a:defRPr>
              </a:lvl7pPr>
              <a:lvl8pPr marL="3429000" indent="-228600" eaLnBrk="0" fontAlgn="base" hangingPunct="0">
                <a:spcBef>
                  <a:spcPct val="20000"/>
                </a:spcBef>
                <a:spcAft>
                  <a:spcPct val="0"/>
                </a:spcAft>
                <a:defRPr sz="2000">
                  <a:solidFill>
                    <a:schemeClr val="tx1"/>
                  </a:solidFill>
                  <a:latin typeface="Arial" charset="0"/>
                </a:defRPr>
              </a:lvl8pPr>
              <a:lvl9pPr marL="3886200" indent="-228600" eaLnBrk="0" fontAlgn="base" hangingPunct="0">
                <a:spcBef>
                  <a:spcPct val="20000"/>
                </a:spcBef>
                <a:spcAft>
                  <a:spcPct val="0"/>
                </a:spcAft>
                <a:defRPr sz="2000">
                  <a:solidFill>
                    <a:schemeClr val="tx1"/>
                  </a:solidFill>
                  <a:latin typeface="Arial" charset="0"/>
                </a:defRPr>
              </a:lvl9pPr>
            </a:lstStyle>
            <a:p>
              <a:pPr algn="ctr" eaLnBrk="1" hangingPunct="1">
                <a:spcBef>
                  <a:spcPct val="0"/>
                </a:spcBef>
                <a:buClrTx/>
                <a:buSzTx/>
                <a:buFontTx/>
                <a:buNone/>
              </a:pPr>
              <a:endParaRPr lang="pt-PT" altLang="pt-PT" sz="800" b="0" u="none">
                <a:solidFill>
                  <a:schemeClr val="tx1"/>
                </a:solidFill>
              </a:endParaRPr>
            </a:p>
          </p:txBody>
        </p:sp>
        <p:sp>
          <p:nvSpPr>
            <p:cNvPr id="105" name="Rectangle 12"/>
            <p:cNvSpPr>
              <a:spLocks noChangeArrowheads="1"/>
            </p:cNvSpPr>
            <p:nvPr/>
          </p:nvSpPr>
          <p:spPr bwMode="auto">
            <a:xfrm>
              <a:off x="5158054" y="3768872"/>
              <a:ext cx="743743" cy="379741"/>
            </a:xfrm>
            <a:prstGeom prst="rect">
              <a:avLst/>
            </a:prstGeom>
            <a:solidFill>
              <a:schemeClr val="bg1"/>
            </a:solidFill>
            <a:ln w="9525" algn="ctr">
              <a:solidFill>
                <a:schemeClr val="tx1"/>
              </a:solidFill>
              <a:prstDash val="sysDot"/>
              <a:miter lim="800000"/>
              <a:headEnd/>
              <a:tailEnd/>
            </a:ln>
            <a:effectLst>
              <a:outerShdw dist="35921" dir="2700000" algn="ctr" rotWithShape="0">
                <a:schemeClr val="bg2"/>
              </a:outerShdw>
            </a:effectLst>
          </p:spPr>
          <p:txBody>
            <a:bodyPr wrap="none" anchor="ctr" anchorCtr="1"/>
            <a:lstStyle>
              <a:lvl1pPr eaLnBrk="0" hangingPunct="0">
                <a:spcBef>
                  <a:spcPct val="20000"/>
                </a:spcBef>
                <a:buClr>
                  <a:schemeClr val="bg1"/>
                </a:buClr>
                <a:buSzPct val="25000"/>
                <a:buFont typeface="Times" pitchFamily="18" charset="0"/>
                <a:buChar char="•"/>
                <a:defRPr sz="2400" b="1">
                  <a:solidFill>
                    <a:srgbClr val="FF0000"/>
                  </a:solidFill>
                  <a:latin typeface="Arial" charset="0"/>
                </a:defRPr>
              </a:lvl1pPr>
              <a:lvl2pPr marL="742950" indent="-285750" eaLnBrk="0" hangingPunct="0">
                <a:spcBef>
                  <a:spcPct val="20000"/>
                </a:spcBef>
                <a:buSzPct val="65000"/>
                <a:buFont typeface="Wingdings" pitchFamily="2" charset="2"/>
                <a:buChar char="n"/>
                <a:defRPr sz="2200">
                  <a:solidFill>
                    <a:srgbClr val="7A6C7A"/>
                  </a:solidFill>
                  <a:latin typeface="Arial" charset="0"/>
                </a:defRPr>
              </a:lvl2pPr>
              <a:lvl3pPr marL="1143000" indent="-228600" eaLnBrk="0" hangingPunct="0">
                <a:spcBef>
                  <a:spcPct val="20000"/>
                </a:spcBef>
                <a:buChar char="–"/>
                <a:defRPr sz="2000">
                  <a:solidFill>
                    <a:srgbClr val="7A6C7A"/>
                  </a:solidFill>
                  <a:latin typeface="Arial" charset="0"/>
                </a:defRPr>
              </a:lvl3pPr>
              <a:lvl4pPr marL="1600200" indent="-228600" eaLnBrk="0" hangingPunct="0">
                <a:spcBef>
                  <a:spcPct val="20000"/>
                </a:spcBef>
                <a:defRPr sz="2000">
                  <a:solidFill>
                    <a:schemeClr val="tx1"/>
                  </a:solidFill>
                  <a:latin typeface="Arial" charset="0"/>
                </a:defRPr>
              </a:lvl4pPr>
              <a:lvl5pPr marL="2057400" indent="-228600" eaLnBrk="0" hangingPunct="0">
                <a:spcBef>
                  <a:spcPct val="20000"/>
                </a:spcBef>
                <a:defRPr sz="2000">
                  <a:solidFill>
                    <a:schemeClr val="tx1"/>
                  </a:solidFill>
                  <a:latin typeface="Arial" charset="0"/>
                </a:defRPr>
              </a:lvl5pPr>
              <a:lvl6pPr marL="2514600" indent="-228600" eaLnBrk="0" fontAlgn="base" hangingPunct="0">
                <a:spcBef>
                  <a:spcPct val="20000"/>
                </a:spcBef>
                <a:spcAft>
                  <a:spcPct val="0"/>
                </a:spcAft>
                <a:defRPr sz="2000">
                  <a:solidFill>
                    <a:schemeClr val="tx1"/>
                  </a:solidFill>
                  <a:latin typeface="Arial" charset="0"/>
                </a:defRPr>
              </a:lvl6pPr>
              <a:lvl7pPr marL="2971800" indent="-228600" eaLnBrk="0" fontAlgn="base" hangingPunct="0">
                <a:spcBef>
                  <a:spcPct val="20000"/>
                </a:spcBef>
                <a:spcAft>
                  <a:spcPct val="0"/>
                </a:spcAft>
                <a:defRPr sz="2000">
                  <a:solidFill>
                    <a:schemeClr val="tx1"/>
                  </a:solidFill>
                  <a:latin typeface="Arial" charset="0"/>
                </a:defRPr>
              </a:lvl7pPr>
              <a:lvl8pPr marL="3429000" indent="-228600" eaLnBrk="0" fontAlgn="base" hangingPunct="0">
                <a:spcBef>
                  <a:spcPct val="20000"/>
                </a:spcBef>
                <a:spcAft>
                  <a:spcPct val="0"/>
                </a:spcAft>
                <a:defRPr sz="2000">
                  <a:solidFill>
                    <a:schemeClr val="tx1"/>
                  </a:solidFill>
                  <a:latin typeface="Arial" charset="0"/>
                </a:defRPr>
              </a:lvl8pPr>
              <a:lvl9pPr marL="3886200" indent="-228600" eaLnBrk="0" fontAlgn="base" hangingPunct="0">
                <a:spcBef>
                  <a:spcPct val="20000"/>
                </a:spcBef>
                <a:spcAft>
                  <a:spcPct val="0"/>
                </a:spcAft>
                <a:defRPr sz="2000">
                  <a:solidFill>
                    <a:schemeClr val="tx1"/>
                  </a:solidFill>
                  <a:latin typeface="Arial" charset="0"/>
                </a:defRPr>
              </a:lvl9pPr>
            </a:lstStyle>
            <a:p>
              <a:pPr algn="ctr" eaLnBrk="1" hangingPunct="1">
                <a:spcBef>
                  <a:spcPct val="0"/>
                </a:spcBef>
                <a:buClrTx/>
                <a:buSzTx/>
                <a:buFontTx/>
                <a:buNone/>
              </a:pPr>
              <a:r>
                <a:rPr lang="pt-PT" altLang="pt-PT" sz="800" b="0" u="none" dirty="0">
                  <a:solidFill>
                    <a:schemeClr val="tx1"/>
                  </a:solidFill>
                </a:rPr>
                <a:t>\\Share</a:t>
              </a:r>
            </a:p>
          </p:txBody>
        </p:sp>
      </p:grpSp>
      <p:cxnSp>
        <p:nvCxnSpPr>
          <p:cNvPr id="106" name="Straight Arrow Connector 52"/>
          <p:cNvCxnSpPr>
            <a:stCxn id="105" idx="1"/>
          </p:cNvCxnSpPr>
          <p:nvPr/>
        </p:nvCxnSpPr>
        <p:spPr bwMode="auto">
          <a:xfrm flipH="1">
            <a:off x="8629799" y="4200507"/>
            <a:ext cx="223021" cy="0"/>
          </a:xfrm>
          <a:prstGeom prst="straightConnector1">
            <a:avLst/>
          </a:prstGeom>
          <a:solidFill>
            <a:schemeClr val="accent1"/>
          </a:solidFill>
          <a:ln w="12700" cap="flat" cmpd="sng" algn="ctr">
            <a:solidFill>
              <a:schemeClr val="tx1"/>
            </a:solidFill>
            <a:prstDash val="dash"/>
            <a:round/>
            <a:headEnd type="none" w="med" len="med"/>
            <a:tailEnd type="triangle" w="med" len="med"/>
          </a:ln>
          <a:effectLst/>
        </p:spPr>
      </p:cxnSp>
      <p:pic>
        <p:nvPicPr>
          <p:cNvPr id="107" name="Picture 2" descr="Download File Explorer Icon from Windows 10 Build 18298"/>
          <p:cNvPicPr>
            <a:picLocks noChangeAspect="1" noChangeArrowheads="1"/>
          </p:cNvPicPr>
          <p:nvPr/>
        </p:nvPicPr>
        <p:blipFill>
          <a:blip r:embed="rId7" cstate="hqprint">
            <a:extLst>
              <a:ext uri="{28A0092B-C50C-407E-A947-70E740481C1C}">
                <a14:useLocalDpi xmlns:a14="http://schemas.microsoft.com/office/drawing/2010/main" val="0"/>
              </a:ext>
            </a:extLst>
          </a:blip>
          <a:srcRect/>
          <a:stretch>
            <a:fillRect/>
          </a:stretch>
        </p:blipFill>
        <p:spPr bwMode="auto">
          <a:xfrm>
            <a:off x="8204595" y="3941838"/>
            <a:ext cx="455132" cy="455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5595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err="1">
                <a:solidFill>
                  <a:schemeClr val="tx1">
                    <a:lumMod val="75000"/>
                    <a:lumOff val="25000"/>
                  </a:schemeClr>
                </a:solidFill>
              </a:rPr>
              <a:t>APIs</a:t>
            </a:r>
            <a:r>
              <a:rPr lang="pt-PT" sz="1800" dirty="0">
                <a:solidFill>
                  <a:schemeClr val="tx1">
                    <a:lumMod val="75000"/>
                    <a:lumOff val="25000"/>
                  </a:schemeClr>
                </a:solidFill>
              </a:rPr>
              <a:t> identificadas (existentes e novas)</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12</a:t>
            </a:fld>
            <a:endParaRPr lang="pt-PT" dirty="0"/>
          </a:p>
        </p:txBody>
      </p:sp>
      <p:graphicFrame>
        <p:nvGraphicFramePr>
          <p:cNvPr id="36" name="Group 3">
            <a:extLst>
              <a:ext uri="{FF2B5EF4-FFF2-40B4-BE49-F238E27FC236}">
                <a16:creationId xmlns:a16="http://schemas.microsoft.com/office/drawing/2014/main" id="{7B76DFA0-34C4-4F4F-A5AE-433C3F1350A1}"/>
              </a:ext>
            </a:extLst>
          </p:cNvPr>
          <p:cNvGraphicFramePr>
            <a:graphicFrameLocks noGrp="1"/>
          </p:cNvGraphicFramePr>
          <p:nvPr>
            <p:extLst>
              <p:ext uri="{D42A27DB-BD31-4B8C-83A1-F6EECF244321}">
                <p14:modId xmlns:p14="http://schemas.microsoft.com/office/powerpoint/2010/main" val="3311482392"/>
              </p:ext>
            </p:extLst>
          </p:nvPr>
        </p:nvGraphicFramePr>
        <p:xfrm>
          <a:off x="263352" y="1268760"/>
          <a:ext cx="5633269" cy="4535299"/>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API/Recurso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000" b="0" i="0" u="none" strike="noStrike" cap="none" normalizeH="0" baseline="0" noProof="0" dirty="0" smtClean="0">
                          <a:ln>
                            <a:noFill/>
                          </a:ln>
                          <a:solidFill>
                            <a:schemeClr val="tx1"/>
                          </a:solidFill>
                          <a:effectLst/>
                          <a:latin typeface="Santander Text" panose="020B0504020201020104" pitchFamily="34" charset="0"/>
                        </a:rPr>
                        <a:t>API </a:t>
                      </a:r>
                      <a:r>
                        <a:rPr kumimoji="0" lang="pt-PT" sz="1000" b="0" i="0" u="none" strike="noStrike" cap="none" normalizeH="0" baseline="0" noProof="0" dirty="0" err="1" smtClean="0">
                          <a:ln>
                            <a:noFill/>
                          </a:ln>
                          <a:solidFill>
                            <a:schemeClr val="tx1"/>
                          </a:solidFill>
                          <a:effectLst/>
                          <a:latin typeface="Santander Text" panose="020B0504020201020104" pitchFamily="34" charset="0"/>
                        </a:rPr>
                        <a:t>Control</a:t>
                      </a:r>
                      <a:r>
                        <a:rPr kumimoji="0" lang="pt-PT" sz="1000" b="0" i="0" u="none" strike="noStrike" cap="none" normalizeH="0" baseline="0" noProof="0" dirty="0" smtClean="0">
                          <a:ln>
                            <a:noFill/>
                          </a:ln>
                          <a:solidFill>
                            <a:schemeClr val="tx1"/>
                          </a:solidFill>
                          <a:effectLst/>
                          <a:latin typeface="Santander Text" panose="020B0504020201020104" pitchFamily="34" charset="0"/>
                        </a:rPr>
                        <a:t>-M</a:t>
                      </a: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7" name="TextBox 36">
            <a:extLst>
              <a:ext uri="{FF2B5EF4-FFF2-40B4-BE49-F238E27FC236}">
                <a16:creationId xmlns:a16="http://schemas.microsoft.com/office/drawing/2014/main" id="{BDB7646A-C71E-4459-B0F6-AC28CB2FFCDC}"/>
              </a:ext>
            </a:extLst>
          </p:cNvPr>
          <p:cNvSpPr txBox="1"/>
          <p:nvPr/>
        </p:nvSpPr>
        <p:spPr>
          <a:xfrm>
            <a:off x="168676" y="872281"/>
            <a:ext cx="1647887" cy="369332"/>
          </a:xfrm>
          <a:prstGeom prst="rect">
            <a:avLst/>
          </a:prstGeom>
          <a:noFill/>
        </p:spPr>
        <p:txBody>
          <a:bodyPr wrap="none" rtlCol="0">
            <a:spAutoFit/>
          </a:bodyPr>
          <a:lstStyle/>
          <a:p>
            <a:r>
              <a:rPr lang="pt-PT" dirty="0" err="1">
                <a:solidFill>
                  <a:schemeClr val="accent5"/>
                </a:solidFill>
                <a:latin typeface="Santander Text" panose="020B0504020201020104" pitchFamily="34" charset="0"/>
              </a:rPr>
              <a:t>APIs</a:t>
            </a:r>
            <a:r>
              <a:rPr lang="pt-PT" dirty="0">
                <a:solidFill>
                  <a:schemeClr val="accent5"/>
                </a:solidFill>
                <a:latin typeface="Santander Text" panose="020B0504020201020104" pitchFamily="34" charset="0"/>
              </a:rPr>
              <a:t> Existentes</a:t>
            </a:r>
          </a:p>
        </p:txBody>
      </p:sp>
      <p:graphicFrame>
        <p:nvGraphicFramePr>
          <p:cNvPr id="38" name="Group 3">
            <a:extLst>
              <a:ext uri="{FF2B5EF4-FFF2-40B4-BE49-F238E27FC236}">
                <a16:creationId xmlns:a16="http://schemas.microsoft.com/office/drawing/2014/main" id="{4700F0A1-427A-4BAA-A777-149CACDB17A7}"/>
              </a:ext>
            </a:extLst>
          </p:cNvPr>
          <p:cNvGraphicFramePr>
            <a:graphicFrameLocks noGrp="1"/>
          </p:cNvGraphicFramePr>
          <p:nvPr>
            <p:extLst>
              <p:ext uri="{D42A27DB-BD31-4B8C-83A1-F6EECF244321}">
                <p14:modId xmlns:p14="http://schemas.microsoft.com/office/powerpoint/2010/main" val="2903246194"/>
              </p:ext>
            </p:extLst>
          </p:nvPr>
        </p:nvGraphicFramePr>
        <p:xfrm>
          <a:off x="6293392" y="1268760"/>
          <a:ext cx="5633269" cy="4535299"/>
        </p:xfrm>
        <a:graphic>
          <a:graphicData uri="http://schemas.openxmlformats.org/drawingml/2006/table">
            <a:tbl>
              <a:tblPr/>
              <a:tblGrid>
                <a:gridCol w="2376264">
                  <a:extLst>
                    <a:ext uri="{9D8B030D-6E8A-4147-A177-3AD203B41FA5}">
                      <a16:colId xmlns:a16="http://schemas.microsoft.com/office/drawing/2014/main" val="20000"/>
                    </a:ext>
                  </a:extLst>
                </a:gridCol>
                <a:gridCol w="3257005">
                  <a:extLst>
                    <a:ext uri="{9D8B030D-6E8A-4147-A177-3AD203B41FA5}">
                      <a16:colId xmlns:a16="http://schemas.microsoft.com/office/drawing/2014/main" val="20002"/>
                    </a:ext>
                  </a:extLst>
                </a:gridCol>
              </a:tblGrid>
              <a:tr h="337924">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API/Recurso</a:t>
                      </a: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200" b="1" i="0" u="none" strike="noStrike" cap="none" normalizeH="0" baseline="0" noProof="0" dirty="0">
                          <a:ln>
                            <a:noFill/>
                          </a:ln>
                          <a:solidFill>
                            <a:schemeClr val="bg1"/>
                          </a:solidFill>
                          <a:effectLst/>
                          <a:latin typeface="Santander Text" panose="020B0504020201020104" pitchFamily="34" charset="0"/>
                        </a:rPr>
                        <a:t>Finalidade / </a:t>
                      </a:r>
                      <a:r>
                        <a:rPr kumimoji="0" lang="pt-PT" sz="1200" b="1" i="0" u="none" strike="noStrike" cap="none" normalizeH="0" baseline="0" noProof="0" dirty="0" err="1">
                          <a:ln>
                            <a:noFill/>
                          </a:ln>
                          <a:solidFill>
                            <a:schemeClr val="bg1"/>
                          </a:solidFill>
                          <a:effectLst/>
                          <a:latin typeface="Santander Text" panose="020B0504020201020104" pitchFamily="34" charset="0"/>
                        </a:rPr>
                        <a:t>Backend</a:t>
                      </a:r>
                      <a:endParaRPr kumimoji="0" lang="pt-PT" sz="1200" b="1" i="0" u="none" strike="noStrike" cap="none" normalizeH="0" baseline="0" noProof="0" dirty="0">
                        <a:ln>
                          <a:noFill/>
                        </a:ln>
                        <a:solidFill>
                          <a:schemeClr val="bg1"/>
                        </a:solidFill>
                        <a:effectLst/>
                        <a:latin typeface="Santander Text" panose="020B0504020201020104" pitchFamily="34" charset="0"/>
                      </a:endParaRPr>
                    </a:p>
                  </a:txBody>
                  <a:tcPr marL="36000" marR="36000" marT="36000" marB="3600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3"/>
                    </a:solidFill>
                  </a:tcPr>
                </a:tc>
                <a:extLst>
                  <a:ext uri="{0D108BD9-81ED-4DB2-BD59-A6C34878D82A}">
                    <a16:rowId xmlns:a16="http://schemas.microsoft.com/office/drawing/2014/main" val="1000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39" name="TextBox 38">
            <a:extLst>
              <a:ext uri="{FF2B5EF4-FFF2-40B4-BE49-F238E27FC236}">
                <a16:creationId xmlns:a16="http://schemas.microsoft.com/office/drawing/2014/main" id="{D7EA951E-35FE-44D1-AC69-8C89BBC40DE9}"/>
              </a:ext>
            </a:extLst>
          </p:cNvPr>
          <p:cNvSpPr txBox="1"/>
          <p:nvPr/>
        </p:nvSpPr>
        <p:spPr>
          <a:xfrm>
            <a:off x="6198716" y="872281"/>
            <a:ext cx="1250855" cy="369332"/>
          </a:xfrm>
          <a:prstGeom prst="rect">
            <a:avLst/>
          </a:prstGeom>
          <a:noFill/>
        </p:spPr>
        <p:txBody>
          <a:bodyPr wrap="none" rtlCol="0">
            <a:spAutoFit/>
          </a:bodyPr>
          <a:lstStyle/>
          <a:p>
            <a:r>
              <a:rPr lang="pt-PT" dirty="0" err="1">
                <a:solidFill>
                  <a:schemeClr val="accent3"/>
                </a:solidFill>
                <a:latin typeface="Santander Text" panose="020B0504020201020104" pitchFamily="34" charset="0"/>
              </a:rPr>
              <a:t>APIs</a:t>
            </a:r>
            <a:r>
              <a:rPr lang="pt-PT" dirty="0">
                <a:solidFill>
                  <a:schemeClr val="accent3"/>
                </a:solidFill>
                <a:latin typeface="Santander Text" panose="020B0504020201020104" pitchFamily="34" charset="0"/>
              </a:rPr>
              <a:t> Novas</a:t>
            </a:r>
          </a:p>
        </p:txBody>
      </p:sp>
      <p:sp>
        <p:nvSpPr>
          <p:cNvPr id="5" name="Action Button: Get Information 4">
            <a:hlinkClick r:id="rId3" highlightClick="1"/>
            <a:extLst>
              <a:ext uri="{FF2B5EF4-FFF2-40B4-BE49-F238E27FC236}">
                <a16:creationId xmlns:a16="http://schemas.microsoft.com/office/drawing/2014/main" id="{C2E36A8A-01CF-4C2D-AF5B-7DDD877BCF2A}"/>
              </a:ext>
            </a:extLst>
          </p:cNvPr>
          <p:cNvSpPr/>
          <p:nvPr/>
        </p:nvSpPr>
        <p:spPr>
          <a:xfrm>
            <a:off x="5526705" y="872281"/>
            <a:ext cx="360040" cy="360040"/>
          </a:xfrm>
          <a:prstGeom prst="actionButtonInformation">
            <a:avLst/>
          </a:prstGeom>
          <a:solidFill>
            <a:schemeClr val="accent5"/>
          </a:solidFill>
          <a:ln>
            <a:noFill/>
          </a:ln>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41" name="TextBox 40">
            <a:extLst>
              <a:ext uri="{FF2B5EF4-FFF2-40B4-BE49-F238E27FC236}">
                <a16:creationId xmlns:a16="http://schemas.microsoft.com/office/drawing/2014/main" id="{53349DD2-67F5-4EEF-9501-219829556344}"/>
              </a:ext>
            </a:extLst>
          </p:cNvPr>
          <p:cNvSpPr txBox="1"/>
          <p:nvPr/>
        </p:nvSpPr>
        <p:spPr>
          <a:xfrm>
            <a:off x="4750142" y="822451"/>
            <a:ext cx="759583" cy="461665"/>
          </a:xfrm>
          <a:prstGeom prst="rect">
            <a:avLst/>
          </a:prstGeom>
          <a:noFill/>
        </p:spPr>
        <p:txBody>
          <a:bodyPr wrap="square" rtlCol="0">
            <a:spAutoFit/>
          </a:bodyPr>
          <a:lstStyle/>
          <a:p>
            <a:pPr algn="r"/>
            <a:r>
              <a:rPr lang="pt-PT" sz="1200" dirty="0">
                <a:solidFill>
                  <a:schemeClr val="accent5"/>
                </a:solidFill>
                <a:latin typeface="Santander Text" panose="020B0504020201020104" pitchFamily="34" charset="0"/>
              </a:rPr>
              <a:t>Catálogo de </a:t>
            </a:r>
            <a:r>
              <a:rPr lang="pt-PT" sz="1200" dirty="0" err="1">
                <a:solidFill>
                  <a:schemeClr val="accent5"/>
                </a:solidFill>
                <a:latin typeface="Santander Text" panose="020B0504020201020104" pitchFamily="34" charset="0"/>
              </a:rPr>
              <a:t>APIs</a:t>
            </a:r>
            <a:endParaRPr lang="pt-PT" sz="1200" dirty="0">
              <a:solidFill>
                <a:schemeClr val="accent5"/>
              </a:solidFill>
              <a:latin typeface="Santander Text" panose="020B0504020201020104" pitchFamily="34" charset="0"/>
            </a:endParaRPr>
          </a:p>
        </p:txBody>
      </p:sp>
    </p:spTree>
    <p:extLst>
      <p:ext uri="{BB962C8B-B14F-4D97-AF65-F5344CB8AC3E}">
        <p14:creationId xmlns:p14="http://schemas.microsoft.com/office/powerpoint/2010/main" val="33885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a:t>Modelo Conceptual TO-BE</a:t>
            </a:r>
            <a:br>
              <a:rPr lang="pt-PT" sz="2400" dirty="0"/>
            </a:br>
            <a:r>
              <a:rPr lang="pt-PT" sz="1800" dirty="0">
                <a:solidFill>
                  <a:schemeClr val="tx1">
                    <a:lumMod val="75000"/>
                    <a:lumOff val="25000"/>
                  </a:schemeClr>
                </a:solidFill>
              </a:rPr>
              <a:t>Dados (existentes e novos)</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13</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60" y="1427468"/>
            <a:ext cx="3591048" cy="4665827"/>
          </a:xfrm>
          <a:prstGeom prst="round2SameRect">
            <a:avLst>
              <a:gd name="adj1" fmla="val 0"/>
              <a:gd name="adj2" fmla="val 3172"/>
            </a:avLst>
          </a:prstGeom>
          <a:solidFill>
            <a:schemeClr val="bg2"/>
          </a:solidFill>
        </p:spPr>
        <p:txBody>
          <a:bodyPr wrap="square" rtlCol="0">
            <a:noAutofit/>
          </a:bodyPr>
          <a:lstStyle/>
          <a:p>
            <a:pPr algn="r">
              <a:lnSpc>
                <a:spcPct val="120000"/>
              </a:lnSpc>
            </a:pPr>
            <a:r>
              <a:rPr lang="pt-PT" sz="1050" i="1" dirty="0">
                <a:solidFill>
                  <a:schemeClr val="tx1">
                    <a:lumMod val="50000"/>
                    <a:lumOff val="50000"/>
                  </a:schemeClr>
                </a:solidFill>
                <a:latin typeface="Santander Text" panose="020B0504020201020104" pitchFamily="34" charset="0"/>
              </a:rPr>
              <a:t>Fontes de dados no próximo slide</a:t>
            </a: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a:t>
            </a:r>
            <a:r>
              <a:rPr lang="pt-PT" sz="1050" b="1" i="1" dirty="0">
                <a:solidFill>
                  <a:schemeClr val="tx1">
                    <a:lumMod val="50000"/>
                    <a:lumOff val="50000"/>
                  </a:schemeClr>
                </a:solidFill>
                <a:latin typeface="Santander Text" panose="020B0504020201020104" pitchFamily="34" charset="0"/>
              </a:rPr>
              <a:t>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Tabelas que vão ser migradas do </a:t>
            </a:r>
            <a:r>
              <a:rPr lang="pt-PT" sz="1050" i="1" dirty="0" err="1">
                <a:solidFill>
                  <a:schemeClr val="tx1">
                    <a:lumMod val="50000"/>
                    <a:lumOff val="50000"/>
                  </a:schemeClr>
                </a:solidFill>
                <a:latin typeface="Santander Text" panose="020B0504020201020104" pitchFamily="34" charset="0"/>
              </a:rPr>
              <a:t>Onprem</a:t>
            </a:r>
            <a:r>
              <a:rPr lang="pt-PT" sz="1050" i="1" dirty="0">
                <a:solidFill>
                  <a:schemeClr val="tx1">
                    <a:lumMod val="50000"/>
                    <a:lumOff val="50000"/>
                  </a:schemeClr>
                </a:solidFill>
                <a:latin typeface="Santander Text" panose="020B0504020201020104" pitchFamily="34" charset="0"/>
              </a:rPr>
              <a:t> para </a:t>
            </a:r>
            <a:r>
              <a:rPr lang="pt-PT" sz="1050" i="1" dirty="0" err="1">
                <a:solidFill>
                  <a:schemeClr val="tx1">
                    <a:lumMod val="50000"/>
                    <a:lumOff val="50000"/>
                  </a:schemeClr>
                </a:solidFill>
                <a:latin typeface="Santander Text" panose="020B0504020201020104" pitchFamily="34" charset="0"/>
              </a:rPr>
              <a:t>Azure</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Databricks</a:t>
            </a:r>
            <a:endParaRPr lang="pt-PT" sz="1050" i="1" dirty="0">
              <a:solidFill>
                <a:schemeClr val="tx1">
                  <a:lumMod val="50000"/>
                  <a:lumOff val="50000"/>
                </a:schemeClr>
              </a:solidFill>
              <a:latin typeface="Santander Text" panose="020B0504020201020104" pitchFamily="34" charset="0"/>
            </a:endParaRP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Tabelas dos sistemas ALM, Capital </a:t>
            </a:r>
            <a:r>
              <a:rPr lang="pt-PT" sz="1050" i="1" dirty="0" smtClean="0">
                <a:solidFill>
                  <a:schemeClr val="tx1">
                    <a:lumMod val="50000"/>
                    <a:lumOff val="50000"/>
                  </a:schemeClr>
                </a:solidFill>
                <a:latin typeface="Santander Text" panose="020B0504020201020104" pitchFamily="34" charset="0"/>
              </a:rPr>
              <a:t>Tools, </a:t>
            </a:r>
            <a:r>
              <a:rPr lang="pt-PT" sz="1050" i="1" dirty="0" err="1" smtClean="0">
                <a:solidFill>
                  <a:schemeClr val="tx1">
                    <a:lumMod val="50000"/>
                    <a:lumOff val="50000"/>
                  </a:schemeClr>
                </a:solidFill>
                <a:latin typeface="Santander Text" panose="020B0504020201020104" pitchFamily="34" charset="0"/>
              </a:rPr>
              <a:t>Sigom</a:t>
            </a:r>
            <a:r>
              <a:rPr lang="pt-PT" sz="1050" i="1" dirty="0" smtClean="0">
                <a:solidFill>
                  <a:schemeClr val="tx1">
                    <a:lumMod val="50000"/>
                    <a:lumOff val="50000"/>
                  </a:schemeClr>
                </a:solidFill>
                <a:latin typeface="Santander Text" panose="020B0504020201020104" pitchFamily="34" charset="0"/>
              </a:rPr>
              <a:t>, </a:t>
            </a:r>
            <a:r>
              <a:rPr lang="pt-PT" sz="1050" i="1" dirty="0" err="1" smtClean="0">
                <a:solidFill>
                  <a:schemeClr val="tx1">
                    <a:lumMod val="50000"/>
                    <a:lumOff val="50000"/>
                  </a:schemeClr>
                </a:solidFill>
                <a:latin typeface="Santander Text" panose="020B0504020201020104" pitchFamily="34" charset="0"/>
              </a:rPr>
              <a:t>Pagonxt</a:t>
            </a:r>
            <a:r>
              <a:rPr lang="pt-PT" sz="1050" i="1" dirty="0" smtClean="0">
                <a:solidFill>
                  <a:schemeClr val="tx1">
                    <a:lumMod val="50000"/>
                    <a:lumOff val="50000"/>
                  </a:schemeClr>
                </a:solidFill>
                <a:latin typeface="Santander Text" panose="020B0504020201020104" pitchFamily="34" charset="0"/>
              </a:rPr>
              <a:t>, TF</a:t>
            </a:r>
            <a:endParaRPr lang="pt-PT" sz="1050" i="1" dirty="0">
              <a:solidFill>
                <a:schemeClr val="tx1">
                  <a:lumMod val="50000"/>
                  <a:lumOff val="50000"/>
                </a:schemeClr>
              </a:solidFill>
              <a:latin typeface="Santander Text" panose="020B0504020201020104" pitchFamily="34" charset="0"/>
            </a:endParaRP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Dimensão (variam entre os 300 registos e os16.000.000 de registos, quanto ao tamanho existem tabelas com 10 campos e outras com 50 campos)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Profundidade histórica necessária (últimos 2 </a:t>
            </a:r>
            <a:r>
              <a:rPr lang="pt-PT" sz="1050" i="1" dirty="0" smtClean="0">
                <a:solidFill>
                  <a:schemeClr val="tx1">
                    <a:lumMod val="50000"/>
                    <a:lumOff val="50000"/>
                  </a:schemeClr>
                </a:solidFill>
                <a:latin typeface="Santander Text" panose="020B0504020201020104" pitchFamily="34" charset="0"/>
              </a:rPr>
              <a:t>anos)</a:t>
            </a:r>
            <a:endParaRPr lang="pt-PT" sz="1050" i="1" dirty="0">
              <a:solidFill>
                <a:schemeClr val="tx1">
                  <a:lumMod val="50000"/>
                  <a:lumOff val="50000"/>
                </a:schemeClr>
              </a:solidFill>
              <a:latin typeface="Santander Text" panose="020B0504020201020104" pitchFamily="34" charset="0"/>
            </a:endParaRP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Criação de </a:t>
            </a:r>
            <a:r>
              <a:rPr lang="pt-PT" sz="1050" i="1" dirty="0" smtClean="0">
                <a:solidFill>
                  <a:schemeClr val="tx1">
                    <a:lumMod val="50000"/>
                    <a:lumOff val="50000"/>
                  </a:schemeClr>
                </a:solidFill>
                <a:latin typeface="Santander Text" panose="020B0504020201020104" pitchFamily="34" charset="0"/>
              </a:rPr>
              <a:t>várias novas tabelas </a:t>
            </a:r>
            <a:r>
              <a:rPr lang="pt-PT" sz="1050" i="1" dirty="0">
                <a:solidFill>
                  <a:schemeClr val="tx1">
                    <a:lumMod val="50000"/>
                    <a:lumOff val="50000"/>
                  </a:schemeClr>
                </a:solidFill>
                <a:latin typeface="Santander Text" panose="020B0504020201020104" pitchFamily="34" charset="0"/>
              </a:rPr>
              <a:t>a </a:t>
            </a:r>
            <a:r>
              <a:rPr lang="pt-PT" sz="1050" i="1" dirty="0" smtClean="0">
                <a:solidFill>
                  <a:schemeClr val="tx1">
                    <a:lumMod val="50000"/>
                    <a:lumOff val="50000"/>
                  </a:schemeClr>
                </a:solidFill>
                <a:latin typeface="Santander Text" panose="020B0504020201020104" pitchFamily="34" charset="0"/>
              </a:rPr>
              <a:t>serem geradas </a:t>
            </a:r>
            <a:r>
              <a:rPr lang="pt-PT" sz="1050" i="1" dirty="0">
                <a:solidFill>
                  <a:schemeClr val="tx1">
                    <a:lumMod val="50000"/>
                    <a:lumOff val="50000"/>
                  </a:schemeClr>
                </a:solidFill>
                <a:latin typeface="Santander Text" panose="020B0504020201020104" pitchFamily="34" charset="0"/>
              </a:rPr>
              <a:t>pelo processo</a:t>
            </a: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Processamento dos dados</a:t>
            </a:r>
          </a:p>
          <a:p>
            <a:pPr marL="266700" lvl="1" indent="-177800">
              <a:lnSpc>
                <a:spcPct val="120000"/>
              </a:lnSpc>
              <a:buFont typeface="+mj-lt"/>
              <a:buAutoNum type="arabicPeriod"/>
            </a:pPr>
            <a:r>
              <a:rPr lang="pt-PT" sz="1200" dirty="0">
                <a:latin typeface="Santander Text" panose="020B0504020201020104" pitchFamily="34" charset="0"/>
              </a:rPr>
              <a:t>Após execução finalizada com sucesso dos processos anteriores, extração/envio ficheiro Excel</a:t>
            </a:r>
            <a:endParaRPr lang="pt-PT" sz="1200" dirty="0">
              <a:latin typeface="Santander Text" panose="020B0504020201020104" pitchFamily="34" charset="0"/>
            </a:endParaRPr>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60" y="865264"/>
            <a:ext cx="3591048"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
        <p:nvSpPr>
          <p:cNvPr id="16" name="Rectangle: Top Corners Rounded 15">
            <a:extLst>
              <a:ext uri="{FF2B5EF4-FFF2-40B4-BE49-F238E27FC236}">
                <a16:creationId xmlns:a16="http://schemas.microsoft.com/office/drawing/2014/main" id="{5E7077B5-902E-4C86-9557-6F21F132638D}"/>
              </a:ext>
            </a:extLst>
          </p:cNvPr>
          <p:cNvSpPr/>
          <p:nvPr/>
        </p:nvSpPr>
        <p:spPr>
          <a:xfrm>
            <a:off x="4300476" y="865264"/>
            <a:ext cx="3591048" cy="538771"/>
          </a:xfrm>
          <a:prstGeom prst="round2Same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Transformação</a:t>
            </a:r>
            <a:r>
              <a:rPr lang="pt-PT" dirty="0">
                <a:latin typeface="Santander Text" panose="020B0504020201020104" pitchFamily="34" charset="0"/>
              </a:rPr>
              <a:t> de Dados</a:t>
            </a:r>
          </a:p>
        </p:txBody>
      </p:sp>
      <p:sp>
        <p:nvSpPr>
          <p:cNvPr id="17" name="Rectangle: Top Corners Rounded 16">
            <a:extLst>
              <a:ext uri="{FF2B5EF4-FFF2-40B4-BE49-F238E27FC236}">
                <a16:creationId xmlns:a16="http://schemas.microsoft.com/office/drawing/2014/main" id="{CBA7DA38-3BDE-4C10-9864-39EA3CC052D4}"/>
              </a:ext>
            </a:extLst>
          </p:cNvPr>
          <p:cNvSpPr/>
          <p:nvPr/>
        </p:nvSpPr>
        <p:spPr>
          <a:xfrm>
            <a:off x="8246855" y="865264"/>
            <a:ext cx="3591048" cy="538771"/>
          </a:xfrm>
          <a:prstGeom prst="round2Same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Consumo</a:t>
            </a:r>
            <a:r>
              <a:rPr lang="pt-PT" dirty="0">
                <a:latin typeface="Santander Text" panose="020B0504020201020104" pitchFamily="34" charset="0"/>
              </a:rPr>
              <a:t> de Dados</a:t>
            </a:r>
          </a:p>
        </p:txBody>
      </p:sp>
      <p:sp>
        <p:nvSpPr>
          <p:cNvPr id="8" name="Isosceles Triangle 7">
            <a:extLst>
              <a:ext uri="{FF2B5EF4-FFF2-40B4-BE49-F238E27FC236}">
                <a16:creationId xmlns:a16="http://schemas.microsoft.com/office/drawing/2014/main" id="{CB7ECD22-7EC1-4B62-8313-8A153C3D5C9F}"/>
              </a:ext>
            </a:extLst>
          </p:cNvPr>
          <p:cNvSpPr/>
          <p:nvPr/>
        </p:nvSpPr>
        <p:spPr>
          <a:xfrm rot="5400000">
            <a:off x="3884954" y="1007083"/>
            <a:ext cx="482915" cy="2980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Isosceles Triangle 18">
            <a:extLst>
              <a:ext uri="{FF2B5EF4-FFF2-40B4-BE49-F238E27FC236}">
                <a16:creationId xmlns:a16="http://schemas.microsoft.com/office/drawing/2014/main" id="{2DAF332B-C33A-4487-AE53-5C8E83DC8367}"/>
              </a:ext>
            </a:extLst>
          </p:cNvPr>
          <p:cNvSpPr/>
          <p:nvPr/>
        </p:nvSpPr>
        <p:spPr>
          <a:xfrm rot="5400000">
            <a:off x="7834646" y="1007084"/>
            <a:ext cx="482915" cy="298092"/>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0" name="TextBox 19">
            <a:extLst>
              <a:ext uri="{FF2B5EF4-FFF2-40B4-BE49-F238E27FC236}">
                <a16:creationId xmlns:a16="http://schemas.microsoft.com/office/drawing/2014/main" id="{3A19A396-5C56-42A8-98E3-2508F5F927B3}"/>
              </a:ext>
            </a:extLst>
          </p:cNvPr>
          <p:cNvSpPr txBox="1"/>
          <p:nvPr/>
        </p:nvSpPr>
        <p:spPr>
          <a:xfrm>
            <a:off x="4300486" y="1427468"/>
            <a:ext cx="3591048" cy="4665827"/>
          </a:xfrm>
          <a:prstGeom prst="round2SameRect">
            <a:avLst>
              <a:gd name="adj1" fmla="val 0"/>
              <a:gd name="adj2" fmla="val 3172"/>
            </a:avLst>
          </a:prstGeom>
          <a:solidFill>
            <a:schemeClr val="bg2"/>
          </a:solidFill>
        </p:spPr>
        <p:txBody>
          <a:bodyPr wrap="square" rtlCol="0">
            <a:noAutofit/>
          </a:bodyPr>
          <a:lstStyle/>
          <a:p>
            <a:pPr algn="r">
              <a:lnSpc>
                <a:spcPct val="120000"/>
              </a:lnSpc>
            </a:pPr>
            <a:endParaRPr lang="pt-PT" sz="1050"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Caso </a:t>
            </a:r>
            <a:r>
              <a:rPr lang="pt-PT" sz="1050" b="1" i="1" dirty="0">
                <a:solidFill>
                  <a:schemeClr val="tx1">
                    <a:lumMod val="50000"/>
                    <a:lumOff val="50000"/>
                  </a:schemeClr>
                </a:solidFill>
                <a:latin typeface="Santander Text" panose="020B0504020201020104" pitchFamily="34" charset="0"/>
              </a:rPr>
              <a:t>seja necessário especificar 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Necessidades de </a:t>
            </a:r>
            <a:r>
              <a:rPr lang="pt-PT" sz="1050" i="1" u="sng" dirty="0">
                <a:solidFill>
                  <a:schemeClr val="tx1">
                    <a:lumMod val="50000"/>
                    <a:lumOff val="50000"/>
                  </a:schemeClr>
                </a:solidFill>
                <a:latin typeface="Santander Text" panose="020B0504020201020104" pitchFamily="34" charset="0"/>
              </a:rPr>
              <a:t>extracção</a:t>
            </a:r>
            <a:r>
              <a:rPr lang="pt-PT" sz="1050" i="1" dirty="0">
                <a:solidFill>
                  <a:schemeClr val="tx1">
                    <a:lumMod val="50000"/>
                    <a:lumOff val="50000"/>
                  </a:schemeClr>
                </a:solidFill>
                <a:latin typeface="Santander Text" panose="020B0504020201020104" pitchFamily="34" charset="0"/>
              </a:rPr>
              <a:t> de dados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Necessidades de </a:t>
            </a:r>
            <a:r>
              <a:rPr lang="pt-PT" sz="1050" i="1" u="sng" dirty="0">
                <a:solidFill>
                  <a:schemeClr val="tx1">
                    <a:lumMod val="50000"/>
                    <a:lumOff val="50000"/>
                  </a:schemeClr>
                </a:solidFill>
                <a:latin typeface="Santander Text" panose="020B0504020201020104" pitchFamily="34" charset="0"/>
              </a:rPr>
              <a:t>transformação</a:t>
            </a:r>
            <a:r>
              <a:rPr lang="pt-PT" sz="1050" i="1" dirty="0">
                <a:solidFill>
                  <a:schemeClr val="tx1">
                    <a:lumMod val="50000"/>
                    <a:lumOff val="50000"/>
                  </a:schemeClr>
                </a:solidFill>
                <a:latin typeface="Santander Text" panose="020B0504020201020104" pitchFamily="34" charset="0"/>
              </a:rPr>
              <a:t> dos dados extraídos</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Necessidade de </a:t>
            </a:r>
            <a:r>
              <a:rPr lang="pt-PT" sz="1050" i="1" u="sng" dirty="0">
                <a:solidFill>
                  <a:schemeClr val="tx1">
                    <a:lumMod val="50000"/>
                    <a:lumOff val="50000"/>
                  </a:schemeClr>
                </a:solidFill>
                <a:latin typeface="Santander Text" panose="020B0504020201020104" pitchFamily="34" charset="0"/>
              </a:rPr>
              <a:t>persistência</a:t>
            </a:r>
            <a:r>
              <a:rPr lang="pt-PT" sz="1050" i="1" dirty="0">
                <a:solidFill>
                  <a:schemeClr val="tx1">
                    <a:lumMod val="50000"/>
                    <a:lumOff val="50000"/>
                  </a:schemeClr>
                </a:solidFill>
                <a:latin typeface="Santander Text" panose="020B0504020201020104" pitchFamily="34" charset="0"/>
              </a:rPr>
              <a:t> dos dados extraídos e/ou transformados</a:t>
            </a:r>
          </a:p>
          <a:p>
            <a:pPr marL="266700" lvl="1" indent="-177800">
              <a:lnSpc>
                <a:spcPct val="120000"/>
              </a:lnSpc>
              <a:buFont typeface="+mj-lt"/>
              <a:buAutoNum type="arabicPeriod"/>
            </a:pPr>
            <a:r>
              <a:rPr lang="pt-PT" sz="1050" i="1" u="sng" dirty="0">
                <a:solidFill>
                  <a:schemeClr val="tx1">
                    <a:lumMod val="50000"/>
                    <a:lumOff val="50000"/>
                  </a:schemeClr>
                </a:solidFill>
                <a:latin typeface="Santander Text" panose="020B0504020201020104" pitchFamily="34" charset="0"/>
              </a:rPr>
              <a:t>Periodicidade</a:t>
            </a:r>
            <a:r>
              <a:rPr lang="pt-PT" sz="1050" i="1" dirty="0">
                <a:solidFill>
                  <a:schemeClr val="tx1">
                    <a:lumMod val="50000"/>
                    <a:lumOff val="50000"/>
                  </a:schemeClr>
                </a:solidFill>
                <a:latin typeface="Santander Text" panose="020B0504020201020104" pitchFamily="34" charset="0"/>
              </a:rPr>
              <a:t> destas transformações (diária, semanal, mensal, …)</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Quais são os </a:t>
            </a:r>
            <a:r>
              <a:rPr lang="pt-PT" sz="1050" i="1" u="sng" dirty="0">
                <a:solidFill>
                  <a:schemeClr val="tx1">
                    <a:lumMod val="50000"/>
                    <a:lumOff val="50000"/>
                  </a:schemeClr>
                </a:solidFill>
                <a:latin typeface="Santander Text" panose="020B0504020201020104" pitchFamily="34" charset="0"/>
              </a:rPr>
              <a:t>fluxos previstos</a:t>
            </a:r>
          </a:p>
          <a:p>
            <a:pPr marL="266700" lvl="1" indent="-177800">
              <a:lnSpc>
                <a:spcPct val="120000"/>
              </a:lnSpc>
              <a:buFont typeface="+mj-lt"/>
              <a:buAutoNum type="arabicPeriod"/>
            </a:pPr>
            <a:r>
              <a:rPr lang="pt-PT" sz="1050" i="1" u="sng" dirty="0">
                <a:solidFill>
                  <a:schemeClr val="tx1">
                    <a:lumMod val="50000"/>
                    <a:lumOff val="50000"/>
                  </a:schemeClr>
                </a:solidFill>
                <a:latin typeface="Santander Text" panose="020B0504020201020104" pitchFamily="34" charset="0"/>
              </a:rPr>
              <a:t>Complexidade</a:t>
            </a:r>
            <a:r>
              <a:rPr lang="pt-PT" sz="1050" i="1" dirty="0">
                <a:solidFill>
                  <a:schemeClr val="tx1">
                    <a:lumMod val="50000"/>
                    <a:lumOff val="50000"/>
                  </a:schemeClr>
                </a:solidFill>
                <a:latin typeface="Santander Text" panose="020B0504020201020104" pitchFamily="34" charset="0"/>
              </a:rPr>
              <a:t> dos ETL (para estimativa dos tempos de execução dos processos)</a:t>
            </a:r>
          </a:p>
          <a:p>
            <a:pPr indent="-368300">
              <a:lnSpc>
                <a:spcPct val="120000"/>
              </a:lnSpc>
            </a:pPr>
            <a:r>
              <a:rPr lang="pt-PT" sz="1050" i="1" dirty="0">
                <a:solidFill>
                  <a:schemeClr val="tx1">
                    <a:lumMod val="50000"/>
                    <a:lumOff val="50000"/>
                  </a:schemeClr>
                </a:solidFill>
                <a:latin typeface="Santander Text" panose="020B0504020201020104" pitchFamily="34" charset="0"/>
              </a:rPr>
              <a:t>Se necessário, adicionar nas páginas seguintes esquemas auxiliares para entender os fluxos</a:t>
            </a: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Geração de informação das tabelas das várias aplicações do banco</a:t>
            </a:r>
          </a:p>
          <a:p>
            <a:pPr marL="266700" lvl="1" indent="-177800">
              <a:lnSpc>
                <a:spcPct val="120000"/>
              </a:lnSpc>
              <a:buFont typeface="+mj-lt"/>
              <a:buAutoNum type="arabicPeriod"/>
            </a:pPr>
            <a:r>
              <a:rPr lang="pt-PT" sz="1200" dirty="0">
                <a:latin typeface="Santander Text" panose="020B0504020201020104" pitchFamily="34" charset="0"/>
              </a:rPr>
              <a:t>Obtenção dos dados dos processos anteriores</a:t>
            </a:r>
          </a:p>
          <a:p>
            <a:pPr marL="266700" lvl="1" indent="-177800">
              <a:lnSpc>
                <a:spcPct val="120000"/>
              </a:lnSpc>
              <a:buFont typeface="+mj-lt"/>
              <a:buAutoNum type="arabicPeriod"/>
            </a:pPr>
            <a:r>
              <a:rPr lang="pt-PT" sz="1200" dirty="0">
                <a:latin typeface="Santander Text" panose="020B0504020201020104" pitchFamily="34" charset="0"/>
              </a:rPr>
              <a:t>Criação </a:t>
            </a:r>
            <a:r>
              <a:rPr lang="pt-PT" sz="1200" dirty="0" smtClean="0">
                <a:latin typeface="Santander Text" panose="020B0504020201020104" pitchFamily="34" charset="0"/>
              </a:rPr>
              <a:t>das tabelas principais para cada um dos </a:t>
            </a:r>
            <a:r>
              <a:rPr lang="pt-PT" sz="1200" dirty="0" err="1" smtClean="0">
                <a:latin typeface="Santander Text" panose="020B0504020201020104" pitchFamily="34" charset="0"/>
              </a:rPr>
              <a:t>reports</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Envio/extração </a:t>
            </a:r>
            <a:r>
              <a:rPr lang="pt-PT" sz="1200" dirty="0" smtClean="0">
                <a:latin typeface="Santander Text" panose="020B0504020201020104" pitchFamily="34" charset="0"/>
              </a:rPr>
              <a:t>dos </a:t>
            </a:r>
            <a:r>
              <a:rPr lang="pt-PT" sz="1200" dirty="0" err="1" smtClean="0">
                <a:latin typeface="Santander Text" panose="020B0504020201020104" pitchFamily="34" charset="0"/>
              </a:rPr>
              <a:t>reports</a:t>
            </a:r>
            <a:endParaRPr lang="pt-PT" sz="1200" dirty="0">
              <a:latin typeface="Santander Text" panose="020B0504020201020104" pitchFamily="34" charset="0"/>
            </a:endParaRPr>
          </a:p>
        </p:txBody>
      </p:sp>
      <p:sp>
        <p:nvSpPr>
          <p:cNvPr id="21" name="TextBox 20">
            <a:extLst>
              <a:ext uri="{FF2B5EF4-FFF2-40B4-BE49-F238E27FC236}">
                <a16:creationId xmlns:a16="http://schemas.microsoft.com/office/drawing/2014/main" id="{64E28732-9506-4837-A2C5-E5FBF52EA9C8}"/>
              </a:ext>
            </a:extLst>
          </p:cNvPr>
          <p:cNvSpPr txBox="1"/>
          <p:nvPr/>
        </p:nvSpPr>
        <p:spPr>
          <a:xfrm>
            <a:off x="8246855" y="1427468"/>
            <a:ext cx="3591048"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Aos </a:t>
            </a:r>
            <a:r>
              <a:rPr lang="pt-PT" sz="1050" b="1" i="1" dirty="0">
                <a:solidFill>
                  <a:schemeClr val="tx1">
                    <a:lumMod val="50000"/>
                    <a:lumOff val="50000"/>
                  </a:schemeClr>
                </a:solidFill>
                <a:latin typeface="Santander Text" panose="020B0504020201020104" pitchFamily="34" charset="0"/>
              </a:rPr>
              <a:t>dados extraídos/transformados, especificar com o detalhe possível:</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Qual o destino dos dados: interno (Área de Negócio - Financeira), externo (regulador, corporação, auditoria)</a:t>
            </a:r>
          </a:p>
          <a:p>
            <a:pPr marL="266700" lvl="1" indent="-177800">
              <a:lnSpc>
                <a:spcPct val="120000"/>
              </a:lnSpc>
              <a:buFont typeface="+mj-lt"/>
              <a:buAutoNum type="arabicPeriod"/>
            </a:pPr>
            <a:r>
              <a:rPr lang="pt-PT" sz="1050" i="1" dirty="0">
                <a:solidFill>
                  <a:schemeClr val="tx1">
                    <a:lumMod val="50000"/>
                    <a:lumOff val="50000"/>
                  </a:schemeClr>
                </a:solidFill>
                <a:latin typeface="Santander Text" panose="020B0504020201020104" pitchFamily="34" charset="0"/>
              </a:rPr>
              <a:t>Como serão acedidos os dados: SQL </a:t>
            </a:r>
            <a:r>
              <a:rPr lang="pt-PT" sz="1050" i="1" dirty="0" err="1">
                <a:solidFill>
                  <a:schemeClr val="tx1">
                    <a:lumMod val="50000"/>
                    <a:lumOff val="50000"/>
                  </a:schemeClr>
                </a:solidFill>
                <a:latin typeface="Santander Text" panose="020B0504020201020104" pitchFamily="34" charset="0"/>
              </a:rPr>
              <a:t>Directo</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Reports</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Front</a:t>
            </a:r>
            <a:r>
              <a:rPr lang="pt-PT" sz="1050" i="1" dirty="0">
                <a:solidFill>
                  <a:schemeClr val="tx1">
                    <a:lumMod val="50000"/>
                    <a:lumOff val="50000"/>
                  </a:schemeClr>
                </a:solidFill>
                <a:latin typeface="Santander Text" panose="020B0504020201020104" pitchFamily="34" charset="0"/>
              </a:rPr>
              <a:t> </a:t>
            </a:r>
            <a:r>
              <a:rPr lang="pt-PT" sz="1050" i="1" dirty="0" err="1">
                <a:solidFill>
                  <a:schemeClr val="tx1">
                    <a:lumMod val="50000"/>
                    <a:lumOff val="50000"/>
                  </a:schemeClr>
                </a:solidFill>
                <a:latin typeface="Santander Text" panose="020B0504020201020104" pitchFamily="34" charset="0"/>
              </a:rPr>
              <a:t>End</a:t>
            </a:r>
            <a:endParaRPr lang="pt-PT" sz="1050" i="1" dirty="0">
              <a:solidFill>
                <a:schemeClr val="tx1">
                  <a:lumMod val="50000"/>
                  <a:lumOff val="50000"/>
                </a:schemeClr>
              </a:solidFill>
              <a:latin typeface="Santander Text" panose="020B0504020201020104" pitchFamily="34" charset="0"/>
            </a:endParaRPr>
          </a:p>
          <a:p>
            <a:pPr>
              <a:lnSpc>
                <a:spcPct val="120000"/>
              </a:lnSpc>
            </a:pPr>
            <a:endParaRPr lang="pt-PT" sz="1200" b="1" dirty="0">
              <a:latin typeface="Santander Text" panose="020B0504020201020104" pitchFamily="34" charset="0"/>
            </a:endParaRPr>
          </a:p>
          <a:p>
            <a:pPr>
              <a:lnSpc>
                <a:spcPct val="120000"/>
              </a:lnSpc>
            </a:pPr>
            <a:r>
              <a:rPr lang="pt-PT" sz="1200" b="1" dirty="0">
                <a:latin typeface="Santander Text" panose="020B0504020201020104" pitchFamily="34" charset="0"/>
              </a:rPr>
              <a:t>Características e descrição do fluxo</a:t>
            </a:r>
            <a:endParaRPr lang="pt-PT" sz="1200" dirty="0">
              <a:latin typeface="Santander Text" panose="020B0504020201020104" pitchFamily="34" charset="0"/>
            </a:endParaRPr>
          </a:p>
          <a:p>
            <a:pPr marL="266700" lvl="1" indent="-177800">
              <a:lnSpc>
                <a:spcPct val="120000"/>
              </a:lnSpc>
              <a:buFont typeface="+mj-lt"/>
              <a:buAutoNum type="arabicPeriod"/>
            </a:pPr>
            <a:r>
              <a:rPr lang="pt-PT" sz="1200" dirty="0">
                <a:latin typeface="Santander Text" panose="020B0504020201020104" pitchFamily="34" charset="0"/>
              </a:rPr>
              <a:t>Envio/Extração dos dados para o FS</a:t>
            </a:r>
            <a:endParaRPr lang="pt-PT" sz="1200" dirty="0">
              <a:latin typeface="Santander Text" panose="020B0504020201020104" pitchFamily="34" charset="0"/>
            </a:endParaRPr>
          </a:p>
        </p:txBody>
      </p:sp>
    </p:spTree>
    <p:extLst>
      <p:ext uri="{BB962C8B-B14F-4D97-AF65-F5344CB8AC3E}">
        <p14:creationId xmlns:p14="http://schemas.microsoft.com/office/powerpoint/2010/main" val="4016846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14</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a:t>al001_cnt_core </a:t>
            </a:r>
            <a:r>
              <a:rPr lang="pt-PT" sz="1050" b="1" dirty="0" smtClean="0"/>
              <a:t>– Obtenção de informação diária de contratos do ALM</a:t>
            </a:r>
            <a:endParaRPr lang="pt-PT" sz="1050" b="1" dirty="0"/>
          </a:p>
          <a:p>
            <a:pPr marL="171450" indent="-171450">
              <a:lnSpc>
                <a:spcPct val="120000"/>
              </a:lnSpc>
              <a:buFont typeface="Arial" panose="020B0604020202020204" pitchFamily="34" charset="0"/>
              <a:buChar char="•"/>
            </a:pPr>
            <a:r>
              <a:rPr lang="pt-PT" sz="1050" b="1" dirty="0"/>
              <a:t>al002_sld_core – Obtenção de informação diária </a:t>
            </a:r>
            <a:r>
              <a:rPr lang="pt-PT" sz="1050" b="1" dirty="0" smtClean="0"/>
              <a:t>de saldos de contratos do ALM</a:t>
            </a:r>
          </a:p>
          <a:p>
            <a:pPr marL="171450" indent="-171450">
              <a:lnSpc>
                <a:spcPct val="120000"/>
              </a:lnSpc>
              <a:buFont typeface="Arial" panose="020B0604020202020204" pitchFamily="34" charset="0"/>
              <a:buChar char="•"/>
            </a:pPr>
            <a:r>
              <a:rPr lang="pt-PT" sz="1050" b="1" dirty="0" smtClean="0"/>
              <a:t>al005_det_swapc </a:t>
            </a:r>
            <a:r>
              <a:rPr lang="pt-PT" sz="1050" b="1" dirty="0"/>
              <a:t>– Obtenção de informação diária </a:t>
            </a:r>
            <a:r>
              <a:rPr lang="pt-PT" sz="1050" b="1" dirty="0" smtClean="0"/>
              <a:t>de </a:t>
            </a:r>
            <a:r>
              <a:rPr lang="pt-PT" sz="1050" b="1" dirty="0" err="1" smtClean="0"/>
              <a:t>swaps</a:t>
            </a:r>
            <a:r>
              <a:rPr lang="pt-PT" sz="1050" b="1" dirty="0" smtClean="0"/>
              <a:t> cambiais</a:t>
            </a:r>
          </a:p>
          <a:p>
            <a:pPr marL="171450" indent="-171450">
              <a:lnSpc>
                <a:spcPct val="120000"/>
              </a:lnSpc>
              <a:buFont typeface="Arial" panose="020B0604020202020204" pitchFamily="34" charset="0"/>
              <a:buChar char="•"/>
            </a:pPr>
            <a:r>
              <a:rPr lang="pt-PT" sz="1050" b="1" dirty="0" smtClean="0"/>
              <a:t>al006_saq_ppc </a:t>
            </a:r>
            <a:r>
              <a:rPr lang="pt-PT" sz="1050" b="1" dirty="0"/>
              <a:t>– Obtenção de informação diária </a:t>
            </a:r>
            <a:r>
              <a:rPr lang="pt-PT" sz="1050" b="1" dirty="0" smtClean="0"/>
              <a:t>de saques de papel comercial</a:t>
            </a:r>
          </a:p>
          <a:p>
            <a:pPr marL="171450" indent="-171450">
              <a:lnSpc>
                <a:spcPct val="120000"/>
              </a:lnSpc>
              <a:buFont typeface="Arial" panose="020B0604020202020204" pitchFamily="34" charset="0"/>
              <a:buChar char="•"/>
            </a:pPr>
            <a:r>
              <a:rPr lang="pt-PT" sz="1050" b="1" dirty="0" smtClean="0"/>
              <a:t>al007_prog_ppc </a:t>
            </a:r>
            <a:r>
              <a:rPr lang="pt-PT" sz="1050" b="1" dirty="0"/>
              <a:t>– Obtenção de informação diária </a:t>
            </a:r>
            <a:r>
              <a:rPr lang="pt-PT" sz="1050" b="1" dirty="0" smtClean="0"/>
              <a:t>de programas de papel comercial</a:t>
            </a:r>
            <a:endParaRPr lang="pt-PT" sz="1050" b="1" dirty="0"/>
          </a:p>
          <a:p>
            <a:pPr marL="171450" indent="-171450">
              <a:lnSpc>
                <a:spcPct val="120000"/>
              </a:lnSpc>
              <a:buFont typeface="Arial" panose="020B0604020202020204" pitchFamily="34" charset="0"/>
              <a:buChar char="•"/>
            </a:pPr>
            <a:r>
              <a:rPr lang="pt-PT" sz="1050" b="1" dirty="0"/>
              <a:t>al008_peri_alm – Obtenção de informação diária </a:t>
            </a:r>
            <a:r>
              <a:rPr lang="pt-PT" sz="1050" b="1" dirty="0" smtClean="0"/>
              <a:t>dos perímetros do ALM</a:t>
            </a:r>
          </a:p>
          <a:p>
            <a:pPr marL="171450" indent="-171450">
              <a:lnSpc>
                <a:spcPct val="120000"/>
              </a:lnSpc>
              <a:buFont typeface="Arial" panose="020B0604020202020204" pitchFamily="34" charset="0"/>
              <a:buChar char="•"/>
            </a:pPr>
            <a:r>
              <a:rPr lang="pt-PT" sz="1050" b="1" dirty="0" smtClean="0"/>
              <a:t>al011_derivados </a:t>
            </a:r>
            <a:r>
              <a:rPr lang="pt-PT" sz="1050" b="1" dirty="0"/>
              <a:t>– Obtenção de informação diária </a:t>
            </a:r>
            <a:r>
              <a:rPr lang="pt-PT" sz="1050" b="1" dirty="0" smtClean="0"/>
              <a:t>de derivados</a:t>
            </a:r>
            <a:endParaRPr lang="pt-PT" sz="1050" b="1" dirty="0"/>
          </a:p>
          <a:p>
            <a:pPr marL="171450" indent="-171450">
              <a:lnSpc>
                <a:spcPct val="120000"/>
              </a:lnSpc>
              <a:buFont typeface="Arial" panose="020B0604020202020204" pitchFamily="34" charset="0"/>
              <a:buChar char="•"/>
            </a:pPr>
            <a:r>
              <a:rPr lang="pt-PT" sz="1050" b="1" dirty="0"/>
              <a:t>al015_act_fin – Obtenção de informação </a:t>
            </a:r>
            <a:r>
              <a:rPr lang="pt-PT" sz="1050" b="1" dirty="0" smtClean="0"/>
              <a:t>mensal de ativos financeiros (</a:t>
            </a:r>
            <a:r>
              <a:rPr lang="pt-PT" sz="1050" b="1" dirty="0" err="1" smtClean="0"/>
              <a:t>Asset</a:t>
            </a:r>
            <a:r>
              <a:rPr lang="pt-PT" sz="1050" b="1" dirty="0" smtClean="0"/>
              <a:t> </a:t>
            </a:r>
            <a:r>
              <a:rPr lang="pt-PT" sz="1050" b="1" dirty="0" err="1" smtClean="0"/>
              <a:t>Encumbrance</a:t>
            </a:r>
            <a:r>
              <a:rPr lang="pt-PT" sz="1050" b="1" dirty="0" smtClean="0"/>
              <a:t>)</a:t>
            </a:r>
            <a:endParaRPr lang="pt-PT" sz="1050" b="1" dirty="0"/>
          </a:p>
          <a:p>
            <a:pPr marL="171450" indent="-171450">
              <a:lnSpc>
                <a:spcPct val="120000"/>
              </a:lnSpc>
              <a:buFont typeface="Arial" panose="020B0604020202020204" pitchFamily="34" charset="0"/>
              <a:buChar char="•"/>
            </a:pPr>
            <a:r>
              <a:rPr lang="pt-PT" sz="1050" b="1" dirty="0"/>
              <a:t>al029_cnt_core_m – Obtenção de informação </a:t>
            </a:r>
            <a:r>
              <a:rPr lang="pt-PT" sz="1050" b="1" dirty="0" smtClean="0"/>
              <a:t>mensal de contratos do ALM</a:t>
            </a:r>
            <a:endParaRPr lang="pt-PT" sz="1050" b="1" dirty="0"/>
          </a:p>
          <a:p>
            <a:pPr marL="171450" indent="-171450">
              <a:lnSpc>
                <a:spcPct val="120000"/>
              </a:lnSpc>
              <a:buFont typeface="Arial" panose="020B0604020202020204" pitchFamily="34" charset="0"/>
              <a:buChar char="•"/>
            </a:pPr>
            <a:r>
              <a:rPr lang="pt-PT" sz="1050" b="1" dirty="0"/>
              <a:t>al030_sld_core_m – Obtenção de informação </a:t>
            </a:r>
            <a:r>
              <a:rPr lang="pt-PT" sz="1050" b="1" dirty="0" smtClean="0"/>
              <a:t>mensal </a:t>
            </a:r>
            <a:r>
              <a:rPr lang="pt-PT" sz="1050" b="1" dirty="0"/>
              <a:t>de saldos de contratos do ALM</a:t>
            </a:r>
          </a:p>
          <a:p>
            <a:pPr marL="171450" indent="-171450">
              <a:lnSpc>
                <a:spcPct val="120000"/>
              </a:lnSpc>
              <a:buFont typeface="Arial" panose="020B0604020202020204" pitchFamily="34" charset="0"/>
              <a:buChar char="•"/>
            </a:pPr>
            <a:r>
              <a:rPr lang="pt-PT" sz="1050" b="1" dirty="0"/>
              <a:t>al031_peri_alm_m – Obtenção de informação </a:t>
            </a:r>
            <a:r>
              <a:rPr lang="pt-PT" sz="1050" b="1" dirty="0" smtClean="0"/>
              <a:t>mensal </a:t>
            </a:r>
            <a:r>
              <a:rPr lang="pt-PT" sz="1050" b="1" dirty="0"/>
              <a:t>dos perímetros do ALM</a:t>
            </a:r>
          </a:p>
          <a:p>
            <a:pPr marL="171450" indent="-171450">
              <a:lnSpc>
                <a:spcPct val="120000"/>
              </a:lnSpc>
              <a:buFont typeface="Arial" panose="020B0604020202020204" pitchFamily="34" charset="0"/>
              <a:buChar char="•"/>
            </a:pPr>
            <a:r>
              <a:rPr lang="pt-PT" sz="1050" b="1" dirty="0"/>
              <a:t>e</a:t>
            </a:r>
            <a:r>
              <a:rPr lang="pt-PT" sz="1050" b="1" dirty="0" smtClean="0"/>
              <a:t>pt03_liqcta </a:t>
            </a:r>
            <a:r>
              <a:rPr lang="pt-PT" sz="1050" b="1" dirty="0"/>
              <a:t>– Obtenção de informação diária </a:t>
            </a:r>
            <a:r>
              <a:rPr lang="pt-PT" sz="1050" b="1" dirty="0" smtClean="0"/>
              <a:t>de condições de liquidação de um empréstimo</a:t>
            </a:r>
            <a:endParaRPr lang="pt-PT" sz="1050" b="1" dirty="0"/>
          </a:p>
          <a:p>
            <a:pPr marL="171450" indent="-171450">
              <a:lnSpc>
                <a:spcPct val="120000"/>
              </a:lnSpc>
              <a:buFont typeface="Arial" panose="020B0604020202020204" pitchFamily="34" charset="0"/>
              <a:buChar char="•"/>
            </a:pPr>
            <a:r>
              <a:rPr lang="pt-PT" sz="1050" b="1" dirty="0" err="1"/>
              <a:t>kt_chaves_alm</a:t>
            </a:r>
            <a:r>
              <a:rPr lang="pt-PT" sz="1050" b="1" dirty="0"/>
              <a:t> – Obtenção de </a:t>
            </a:r>
            <a:r>
              <a:rPr lang="pt-PT" sz="1050" b="1" dirty="0" smtClean="0"/>
              <a:t>tradução de chaves diária de contratos do ALM</a:t>
            </a:r>
            <a:endParaRPr lang="pt-PT" sz="1050" b="1" dirty="0"/>
          </a:p>
          <a:p>
            <a:pPr marL="171450" indent="-171450">
              <a:lnSpc>
                <a:spcPct val="120000"/>
              </a:lnSpc>
              <a:buFont typeface="Arial" panose="020B0604020202020204" pitchFamily="34" charset="0"/>
              <a:buChar char="•"/>
            </a:pPr>
            <a:r>
              <a:rPr lang="pt-PT" sz="1050" b="1" dirty="0" err="1"/>
              <a:t>kt_chaves_alm_m</a:t>
            </a:r>
            <a:r>
              <a:rPr lang="pt-PT" sz="1050" b="1" dirty="0"/>
              <a:t> – Obtenção de tradução de chaves </a:t>
            </a:r>
            <a:r>
              <a:rPr lang="pt-PT" sz="1050" b="1" dirty="0" smtClean="0"/>
              <a:t>mensal </a:t>
            </a:r>
            <a:r>
              <a:rPr lang="pt-PT" sz="1050" b="1" dirty="0"/>
              <a:t>de contratos do ALM</a:t>
            </a:r>
          </a:p>
          <a:p>
            <a:pPr marL="171450" indent="-171450">
              <a:lnSpc>
                <a:spcPct val="120000"/>
              </a:lnSpc>
              <a:buFont typeface="Arial" panose="020B0604020202020204" pitchFamily="34" charset="0"/>
              <a:buChar char="•"/>
            </a:pPr>
            <a:r>
              <a:rPr lang="pt-PT" sz="1050" b="1" dirty="0" err="1"/>
              <a:t>clientes_intragrupo</a:t>
            </a:r>
            <a:r>
              <a:rPr lang="pt-PT" sz="1050" b="1" dirty="0"/>
              <a:t> </a:t>
            </a:r>
            <a:r>
              <a:rPr lang="pt-PT" sz="1050" b="1" dirty="0" smtClean="0"/>
              <a:t>– Obtenção de informação de clientes </a:t>
            </a:r>
            <a:r>
              <a:rPr lang="pt-PT" sz="1050" b="1" dirty="0" err="1" smtClean="0"/>
              <a:t>intragrupo</a:t>
            </a:r>
            <a:endParaRPr lang="pt-PT" sz="1050" b="1" dirty="0"/>
          </a:p>
          <a:p>
            <a:pPr marL="171450" indent="-171450">
              <a:lnSpc>
                <a:spcPct val="120000"/>
              </a:lnSpc>
              <a:buFont typeface="Arial" panose="020B0604020202020204" pitchFamily="34" charset="0"/>
              <a:buChar char="•"/>
            </a:pPr>
            <a:r>
              <a:rPr lang="pt-PT" sz="1050" b="1" dirty="0"/>
              <a:t>ct001_univ_saldo – Obtenção de informação </a:t>
            </a:r>
            <a:r>
              <a:rPr lang="pt-PT" sz="1050" b="1" dirty="0" smtClean="0"/>
              <a:t>mensal de saldos do universo</a:t>
            </a:r>
            <a:endParaRPr lang="pt-PT" sz="1050" b="1" dirty="0"/>
          </a:p>
          <a:p>
            <a:pPr marL="171450" indent="-171450">
              <a:lnSpc>
                <a:spcPct val="120000"/>
              </a:lnSpc>
              <a:buFont typeface="Arial" panose="020B0604020202020204" pitchFamily="34" charset="0"/>
              <a:buChar char="•"/>
            </a:pPr>
            <a:r>
              <a:rPr lang="pt-PT" sz="1050" b="1" dirty="0"/>
              <a:t>ct003_univ_cli – Obtenção de informação </a:t>
            </a:r>
            <a:r>
              <a:rPr lang="pt-PT" sz="1050" b="1" dirty="0" smtClean="0"/>
              <a:t>mensal de clientes </a:t>
            </a:r>
            <a:r>
              <a:rPr lang="pt-PT" sz="1050" b="1" dirty="0"/>
              <a:t>do universo</a:t>
            </a:r>
          </a:p>
          <a:p>
            <a:pPr marL="171450" indent="-171450">
              <a:lnSpc>
                <a:spcPct val="120000"/>
              </a:lnSpc>
              <a:buFont typeface="Arial" panose="020B0604020202020204" pitchFamily="34" charset="0"/>
              <a:buChar char="•"/>
            </a:pPr>
            <a:r>
              <a:rPr lang="pt-PT" sz="1050" b="1" dirty="0"/>
              <a:t>ct004_univ_cto – Obtenção de informação </a:t>
            </a:r>
            <a:r>
              <a:rPr lang="pt-PT" sz="1050" b="1" dirty="0" smtClean="0"/>
              <a:t>mensal de contratos </a:t>
            </a:r>
            <a:r>
              <a:rPr lang="pt-PT" sz="1050" b="1" dirty="0"/>
              <a:t>do universo</a:t>
            </a:r>
          </a:p>
          <a:p>
            <a:pPr marL="171450" indent="-171450">
              <a:lnSpc>
                <a:spcPct val="120000"/>
              </a:lnSpc>
              <a:buFont typeface="Arial" panose="020B0604020202020204" pitchFamily="34" charset="0"/>
              <a:buChar char="•"/>
            </a:pPr>
            <a:r>
              <a:rPr lang="pt-PT" sz="1050" b="1" dirty="0"/>
              <a:t>ct005_univ_perim – Obtenção de informação </a:t>
            </a:r>
            <a:r>
              <a:rPr lang="pt-PT" sz="1050" b="1" dirty="0" smtClean="0"/>
              <a:t>mensal de </a:t>
            </a:r>
            <a:r>
              <a:rPr lang="pt-PT" sz="1050" b="1" dirty="0" err="1" smtClean="0"/>
              <a:t>perimetros</a:t>
            </a:r>
            <a:r>
              <a:rPr lang="pt-PT" sz="1050" b="1" dirty="0" smtClean="0"/>
              <a:t> de contratos do </a:t>
            </a:r>
            <a:r>
              <a:rPr lang="pt-PT" sz="1050" b="1" dirty="0"/>
              <a:t>universo</a:t>
            </a:r>
          </a:p>
          <a:p>
            <a:pPr marL="171450" indent="-171450">
              <a:lnSpc>
                <a:spcPct val="120000"/>
              </a:lnSpc>
              <a:buFont typeface="Arial" panose="020B0604020202020204" pitchFamily="34" charset="0"/>
              <a:buChar char="•"/>
            </a:pPr>
            <a:r>
              <a:rPr lang="pt-PT" sz="1050" b="1" dirty="0"/>
              <a:t>ct007_pv_planos – Obtenção de informação de </a:t>
            </a:r>
            <a:r>
              <a:rPr lang="pt-PT" sz="1050" b="1" dirty="0" smtClean="0"/>
              <a:t>planos</a:t>
            </a:r>
            <a:endParaRPr lang="pt-PT" sz="1050" b="1" dirty="0"/>
          </a:p>
          <a:p>
            <a:pPr marL="171450" indent="-171450">
              <a:lnSpc>
                <a:spcPct val="120000"/>
              </a:lnSpc>
              <a:buFont typeface="Arial" panose="020B0604020202020204" pitchFamily="34" charset="0"/>
              <a:buChar char="•"/>
            </a:pPr>
            <a:r>
              <a:rPr lang="pt-PT" sz="1050" b="1" dirty="0"/>
              <a:t>ct008_pv_contas – Obtenção de informação </a:t>
            </a:r>
            <a:r>
              <a:rPr lang="pt-PT" sz="1050" b="1" dirty="0" smtClean="0"/>
              <a:t>do plano contas</a:t>
            </a: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3330190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15</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smtClean="0"/>
              <a:t>ct010_dim_valor – Obtenção </a:t>
            </a:r>
            <a:r>
              <a:rPr lang="pt-PT" sz="1050" b="1" dirty="0"/>
              <a:t>de informação </a:t>
            </a:r>
            <a:r>
              <a:rPr lang="pt-PT" sz="1050" b="1" dirty="0" smtClean="0"/>
              <a:t>de Dimensões </a:t>
            </a:r>
            <a:r>
              <a:rPr lang="pt-PT" sz="1050" b="1" dirty="0"/>
              <a:t>- Valores Possíveis</a:t>
            </a:r>
          </a:p>
          <a:p>
            <a:pPr marL="171450" indent="-171450">
              <a:lnSpc>
                <a:spcPct val="120000"/>
              </a:lnSpc>
              <a:buFont typeface="Arial" panose="020B0604020202020204" pitchFamily="34" charset="0"/>
              <a:buChar char="•"/>
            </a:pPr>
            <a:r>
              <a:rPr lang="pt-PT" sz="1050" b="1" dirty="0"/>
              <a:t>ct011_dim_hier </a:t>
            </a:r>
            <a:r>
              <a:rPr lang="pt-PT" sz="1050" b="1" dirty="0" smtClean="0"/>
              <a:t>– Obtenção </a:t>
            </a:r>
            <a:r>
              <a:rPr lang="pt-PT" sz="1050" b="1" dirty="0"/>
              <a:t>de informação </a:t>
            </a:r>
            <a:r>
              <a:rPr lang="pt-PT" sz="1050" b="1" dirty="0" smtClean="0"/>
              <a:t>de Dimensões </a:t>
            </a:r>
            <a:r>
              <a:rPr lang="pt-PT" sz="1050" b="1" dirty="0"/>
              <a:t>- Hierarquia</a:t>
            </a:r>
          </a:p>
          <a:p>
            <a:pPr marL="171450" indent="-171450">
              <a:lnSpc>
                <a:spcPct val="120000"/>
              </a:lnSpc>
              <a:buFont typeface="Arial" panose="020B0604020202020204" pitchFamily="34" charset="0"/>
              <a:buChar char="•"/>
            </a:pPr>
            <a:r>
              <a:rPr lang="pt-PT" sz="1050" b="1" dirty="0"/>
              <a:t>ct013_rwa_princ </a:t>
            </a:r>
            <a:r>
              <a:rPr lang="pt-PT" sz="1050" b="1" dirty="0" smtClean="0"/>
              <a:t>– Obtenção e informação de RWA </a:t>
            </a:r>
            <a:r>
              <a:rPr lang="pt-PT" sz="1050" b="1" dirty="0"/>
              <a:t>Regulatório Principal </a:t>
            </a:r>
            <a:endParaRPr lang="pt-PT" sz="1050" b="1" dirty="0" smtClean="0"/>
          </a:p>
          <a:p>
            <a:pPr marL="171450" indent="-171450">
              <a:lnSpc>
                <a:spcPct val="120000"/>
              </a:lnSpc>
              <a:buFont typeface="Arial" panose="020B0604020202020204" pitchFamily="34" charset="0"/>
              <a:buChar char="•"/>
            </a:pPr>
            <a:r>
              <a:rPr lang="pt-PT" sz="1050" b="1" dirty="0" smtClean="0"/>
              <a:t>ct014_rwa_irb </a:t>
            </a:r>
            <a:r>
              <a:rPr lang="pt-PT" sz="1050" b="1" dirty="0"/>
              <a:t>– Obtenção e informação de RWA Regulatório Complementar IRB</a:t>
            </a:r>
          </a:p>
          <a:p>
            <a:pPr marL="171450" indent="-171450">
              <a:lnSpc>
                <a:spcPct val="120000"/>
              </a:lnSpc>
              <a:buFont typeface="Arial" panose="020B0604020202020204" pitchFamily="34" charset="0"/>
              <a:buChar char="•"/>
            </a:pPr>
            <a:r>
              <a:rPr lang="pt-PT" sz="1050" b="1" dirty="0"/>
              <a:t>ct021_rwa_cli – Obtenção e informação de Clientes RWA</a:t>
            </a:r>
          </a:p>
          <a:p>
            <a:pPr marL="171450" indent="-171450">
              <a:lnSpc>
                <a:spcPct val="120000"/>
              </a:lnSpc>
              <a:buFont typeface="Arial" panose="020B0604020202020204" pitchFamily="34" charset="0"/>
              <a:buChar char="•"/>
            </a:pPr>
            <a:r>
              <a:rPr lang="pt-PT" sz="1050" b="1" dirty="0"/>
              <a:t>ct063_univ_pme – Obtenção de </a:t>
            </a:r>
            <a:r>
              <a:rPr lang="pt-PT" sz="1050" b="1" dirty="0" smtClean="0"/>
              <a:t>informação de clientes </a:t>
            </a:r>
            <a:r>
              <a:rPr lang="pt-PT" sz="1050" b="1" dirty="0" err="1" smtClean="0"/>
              <a:t>PME’s</a:t>
            </a:r>
            <a:endParaRPr lang="pt-PT" sz="1050" b="1" dirty="0" smtClean="0"/>
          </a:p>
          <a:p>
            <a:pPr marL="171450" indent="-171450">
              <a:lnSpc>
                <a:spcPct val="120000"/>
              </a:lnSpc>
              <a:buFont typeface="Arial" panose="020B0604020202020204" pitchFamily="34" charset="0"/>
              <a:buChar char="•"/>
            </a:pPr>
            <a:r>
              <a:rPr lang="pt-PT" sz="1050" b="1" dirty="0" smtClean="0"/>
              <a:t>ct069_univ_gr_ec </a:t>
            </a:r>
            <a:r>
              <a:rPr lang="pt-PT" sz="1050" b="1" dirty="0"/>
              <a:t>– Obtenção de informação </a:t>
            </a:r>
            <a:r>
              <a:rPr lang="pt-PT" sz="1050" b="1" dirty="0" smtClean="0"/>
              <a:t>de Grupos Económicos</a:t>
            </a:r>
            <a:endParaRPr lang="pt-PT" sz="1050" b="1" dirty="0"/>
          </a:p>
          <a:p>
            <a:pPr marL="171450" indent="-171450">
              <a:lnSpc>
                <a:spcPct val="120000"/>
              </a:lnSpc>
              <a:buFont typeface="Arial" panose="020B0604020202020204" pitchFamily="34" charset="0"/>
              <a:buChar char="•"/>
            </a:pPr>
            <a:r>
              <a:rPr lang="pt-PT" sz="1050" b="1" dirty="0"/>
              <a:t>ct070_univ_gr_cli </a:t>
            </a:r>
            <a:r>
              <a:rPr lang="pt-PT" sz="1050" b="1" dirty="0" smtClean="0"/>
              <a:t>– Obtenção </a:t>
            </a:r>
            <a:r>
              <a:rPr lang="pt-PT" sz="1050" b="1" dirty="0"/>
              <a:t>de </a:t>
            </a:r>
            <a:r>
              <a:rPr lang="pt-PT" sz="1050" b="1" dirty="0" smtClean="0"/>
              <a:t>informação mensal que </a:t>
            </a:r>
            <a:r>
              <a:rPr lang="pt-PT" sz="1050" b="1" dirty="0"/>
              <a:t>relaciona os Clientes com os respetivos Grupos Económicos</a:t>
            </a:r>
          </a:p>
          <a:p>
            <a:pPr marL="171450" indent="-171450">
              <a:lnSpc>
                <a:spcPct val="120000"/>
              </a:lnSpc>
              <a:buFont typeface="Arial" panose="020B0604020202020204" pitchFamily="34" charset="0"/>
              <a:buChar char="•"/>
            </a:pPr>
            <a:r>
              <a:rPr lang="pt-PT" sz="1050" b="1" dirty="0"/>
              <a:t>ct081_finrep </a:t>
            </a:r>
            <a:r>
              <a:rPr lang="pt-PT" sz="1050" b="1" dirty="0"/>
              <a:t>– Obtenção da informação dos contratos relativos ao segmento </a:t>
            </a:r>
            <a:r>
              <a:rPr lang="pt-PT" sz="1050" b="1" dirty="0" err="1"/>
              <a:t>finrep</a:t>
            </a:r>
            <a:endParaRPr lang="pt-PT" sz="1050" b="1" dirty="0"/>
          </a:p>
          <a:p>
            <a:pPr marL="171450" indent="-171450">
              <a:lnSpc>
                <a:spcPct val="120000"/>
              </a:lnSpc>
              <a:buFont typeface="Arial" panose="020B0604020202020204" pitchFamily="34" charset="0"/>
              <a:buChar char="•"/>
            </a:pPr>
            <a:r>
              <a:rPr lang="pt-PT" sz="1050" b="1" dirty="0"/>
              <a:t>ct083_univ_sal_d – Obtenção de informação </a:t>
            </a:r>
            <a:r>
              <a:rPr lang="pt-PT" sz="1050" b="1" dirty="0" smtClean="0"/>
              <a:t>diária de </a:t>
            </a:r>
            <a:r>
              <a:rPr lang="pt-PT" sz="1050" b="1" dirty="0"/>
              <a:t>saldos do </a:t>
            </a:r>
            <a:r>
              <a:rPr lang="pt-PT" sz="1050" b="1" dirty="0" smtClean="0"/>
              <a:t>universo</a:t>
            </a:r>
            <a:endParaRPr lang="pt-PT" sz="1050" b="1" dirty="0"/>
          </a:p>
          <a:p>
            <a:pPr marL="171450" indent="-171450">
              <a:lnSpc>
                <a:spcPct val="120000"/>
              </a:lnSpc>
              <a:buFont typeface="Arial" panose="020B0604020202020204" pitchFamily="34" charset="0"/>
              <a:buChar char="•"/>
            </a:pPr>
            <a:r>
              <a:rPr lang="pt-PT" sz="1050" b="1" dirty="0"/>
              <a:t>ct084_univ_cli_d – Obtenção de informação diária de </a:t>
            </a:r>
            <a:r>
              <a:rPr lang="pt-PT" sz="1050" b="1" dirty="0" smtClean="0"/>
              <a:t>clientes </a:t>
            </a:r>
            <a:r>
              <a:rPr lang="pt-PT" sz="1050" b="1" dirty="0"/>
              <a:t>do universo</a:t>
            </a:r>
          </a:p>
          <a:p>
            <a:pPr marL="171450" indent="-171450">
              <a:lnSpc>
                <a:spcPct val="120000"/>
              </a:lnSpc>
              <a:buFont typeface="Arial" panose="020B0604020202020204" pitchFamily="34" charset="0"/>
              <a:buChar char="•"/>
            </a:pPr>
            <a:r>
              <a:rPr lang="pt-PT" sz="1050" b="1" dirty="0"/>
              <a:t>ct085_univ_cto_d – Obtenção de informação </a:t>
            </a:r>
            <a:r>
              <a:rPr lang="pt-PT" sz="1050" b="1" dirty="0" smtClean="0"/>
              <a:t>contratos do </a:t>
            </a:r>
            <a:r>
              <a:rPr lang="pt-PT" sz="1050" b="1" dirty="0"/>
              <a:t>universo</a:t>
            </a:r>
          </a:p>
          <a:p>
            <a:pPr marL="171450" indent="-171450">
              <a:lnSpc>
                <a:spcPct val="120000"/>
              </a:lnSpc>
              <a:buFont typeface="Arial" panose="020B0604020202020204" pitchFamily="34" charset="0"/>
              <a:buChar char="•"/>
            </a:pPr>
            <a:r>
              <a:rPr lang="pt-PT" sz="1050" b="1" dirty="0"/>
              <a:t>ct088_univ_gr_cli_d – Obtenção de informação </a:t>
            </a:r>
            <a:r>
              <a:rPr lang="pt-PT" sz="1050" b="1" dirty="0" smtClean="0"/>
              <a:t>diária que </a:t>
            </a:r>
            <a:r>
              <a:rPr lang="pt-PT" sz="1050" b="1" dirty="0"/>
              <a:t>relaciona os Clientes com os respetivos Grupos Económicos</a:t>
            </a:r>
          </a:p>
          <a:p>
            <a:pPr marL="171450" indent="-171450">
              <a:lnSpc>
                <a:spcPct val="120000"/>
              </a:lnSpc>
              <a:buFont typeface="Arial" panose="020B0604020202020204" pitchFamily="34" charset="0"/>
              <a:buChar char="•"/>
            </a:pPr>
            <a:r>
              <a:rPr lang="pt-PT" sz="1050" b="1" dirty="0"/>
              <a:t>ct610_titulos – Obtenção de </a:t>
            </a:r>
            <a:r>
              <a:rPr lang="pt-PT" sz="1050" b="1" dirty="0" smtClean="0"/>
              <a:t>informação de títulos</a:t>
            </a:r>
            <a:endParaRPr lang="pt-PT" sz="1050" b="1" dirty="0"/>
          </a:p>
          <a:p>
            <a:pPr marL="171450" indent="-171450">
              <a:lnSpc>
                <a:spcPct val="120000"/>
              </a:lnSpc>
              <a:buFont typeface="Arial" panose="020B0604020202020204" pitchFamily="34" charset="0"/>
              <a:buChar char="•"/>
            </a:pPr>
            <a:r>
              <a:rPr lang="pt-PT" sz="1050" b="1" dirty="0"/>
              <a:t>fr003_colaterais – Obtenção de </a:t>
            </a:r>
            <a:r>
              <a:rPr lang="pt-PT" sz="1050" b="1" dirty="0" smtClean="0"/>
              <a:t>informação de colaterais do </a:t>
            </a:r>
            <a:r>
              <a:rPr lang="pt-PT" sz="1050" b="1" dirty="0" err="1" smtClean="0"/>
              <a:t>finrep</a:t>
            </a:r>
            <a:endParaRPr lang="pt-PT" sz="1050" b="1" dirty="0"/>
          </a:p>
          <a:p>
            <a:pPr marL="171450" indent="-171450">
              <a:lnSpc>
                <a:spcPct val="120000"/>
              </a:lnSpc>
              <a:buFont typeface="Arial" panose="020B0604020202020204" pitchFamily="34" charset="0"/>
              <a:buChar char="•"/>
            </a:pPr>
            <a:r>
              <a:rPr lang="pt-PT" sz="1050" b="1" dirty="0"/>
              <a:t>fr009_recup – Obtenção de informação </a:t>
            </a:r>
            <a:r>
              <a:rPr lang="pt-PT" sz="1050" b="1" dirty="0" smtClean="0"/>
              <a:t>de recuperações </a:t>
            </a:r>
          </a:p>
          <a:p>
            <a:pPr marL="171450" indent="-171450">
              <a:lnSpc>
                <a:spcPct val="120000"/>
              </a:lnSpc>
              <a:buFont typeface="Arial" panose="020B0604020202020204" pitchFamily="34" charset="0"/>
              <a:buChar char="•"/>
            </a:pPr>
            <a:r>
              <a:rPr lang="pt-PT" sz="1050" b="1" dirty="0" smtClean="0"/>
              <a:t>fr802_pl_contas </a:t>
            </a:r>
            <a:r>
              <a:rPr lang="pt-PT" sz="1050" b="1" dirty="0"/>
              <a:t>– Obtenção de informação </a:t>
            </a:r>
            <a:r>
              <a:rPr lang="pt-PT" sz="1050" b="1" dirty="0" smtClean="0"/>
              <a:t>das contas do plano de contas</a:t>
            </a:r>
            <a:endParaRPr lang="pt-PT" sz="1050" b="1" dirty="0"/>
          </a:p>
          <a:p>
            <a:pPr marL="171450" indent="-171450">
              <a:lnSpc>
                <a:spcPct val="120000"/>
              </a:lnSpc>
              <a:buFont typeface="Arial" panose="020B0604020202020204" pitchFamily="34" charset="0"/>
              <a:buChar char="•"/>
            </a:pPr>
            <a:r>
              <a:rPr lang="pt-PT" sz="1050" b="1" dirty="0" smtClean="0"/>
              <a:t>ifrs9_out_expected_loss_8_7 – Obtenção </a:t>
            </a:r>
            <a:r>
              <a:rPr lang="pt-PT" sz="1050" b="1" dirty="0"/>
              <a:t>de informação de </a:t>
            </a:r>
            <a:r>
              <a:rPr lang="pt-PT" sz="1050" b="1" dirty="0" smtClean="0"/>
              <a:t>out </a:t>
            </a:r>
            <a:r>
              <a:rPr lang="pt-PT" sz="1050" b="1" dirty="0" err="1"/>
              <a:t>expected</a:t>
            </a:r>
            <a:r>
              <a:rPr lang="pt-PT" sz="1050" b="1" dirty="0"/>
              <a:t> </a:t>
            </a:r>
            <a:r>
              <a:rPr lang="pt-PT" sz="1050" b="1" dirty="0" err="1" smtClean="0"/>
              <a:t>loss</a:t>
            </a:r>
            <a:r>
              <a:rPr lang="pt-PT" sz="1050" b="1" dirty="0" smtClean="0"/>
              <a:t> do IFRS9 </a:t>
            </a:r>
            <a:endParaRPr lang="pt-PT" sz="1050" b="1" dirty="0"/>
          </a:p>
          <a:p>
            <a:pPr marL="171450" indent="-171450">
              <a:lnSpc>
                <a:spcPct val="120000"/>
              </a:lnSpc>
              <a:buFont typeface="Arial" panose="020B0604020202020204" pitchFamily="34" charset="0"/>
              <a:buChar char="•"/>
            </a:pPr>
            <a:r>
              <a:rPr lang="pt-PT" sz="1050" b="1" dirty="0" smtClean="0"/>
              <a:t>ifrs9_out_staging_8_7 – Obtenção </a:t>
            </a:r>
            <a:r>
              <a:rPr lang="pt-PT" sz="1050" b="1" dirty="0"/>
              <a:t>de informação </a:t>
            </a:r>
            <a:r>
              <a:rPr lang="pt-PT" sz="1050" b="1" dirty="0" smtClean="0"/>
              <a:t>de out </a:t>
            </a:r>
            <a:r>
              <a:rPr lang="pt-PT" sz="1050" b="1" dirty="0" err="1" smtClean="0"/>
              <a:t>staging</a:t>
            </a:r>
            <a:r>
              <a:rPr lang="pt-PT" sz="1050" b="1" dirty="0" smtClean="0"/>
              <a:t> do IFRS9</a:t>
            </a:r>
            <a:endParaRPr lang="pt-PT" sz="1050" b="1" dirty="0"/>
          </a:p>
          <a:p>
            <a:pPr marL="171450" indent="-171450">
              <a:lnSpc>
                <a:spcPct val="120000"/>
              </a:lnSpc>
              <a:buFont typeface="Arial" panose="020B0604020202020204" pitchFamily="34" charset="0"/>
              <a:buChar char="•"/>
            </a:pPr>
            <a:r>
              <a:rPr lang="pt-PT" sz="1050" b="1" dirty="0" err="1" smtClean="0"/>
              <a:t>kt_chaves_bdr</a:t>
            </a:r>
            <a:r>
              <a:rPr lang="pt-PT" sz="1050" b="1" dirty="0" smtClean="0"/>
              <a:t> </a:t>
            </a:r>
            <a:r>
              <a:rPr lang="pt-PT" sz="1050" b="1" dirty="0"/>
              <a:t>– Obtenção de tradução de chaves </a:t>
            </a:r>
            <a:r>
              <a:rPr lang="pt-PT" sz="1050" b="1" dirty="0" smtClean="0"/>
              <a:t>de </a:t>
            </a:r>
            <a:r>
              <a:rPr lang="pt-PT" sz="1050" b="1" dirty="0"/>
              <a:t>contratos </a:t>
            </a:r>
            <a:r>
              <a:rPr lang="pt-PT" sz="1050" b="1" dirty="0" smtClean="0"/>
              <a:t>da BDR</a:t>
            </a:r>
            <a:endParaRPr lang="pt-PT" sz="1050" b="1" dirty="0"/>
          </a:p>
          <a:p>
            <a:pPr marL="171450" indent="-171450">
              <a:lnSpc>
                <a:spcPct val="120000"/>
              </a:lnSpc>
              <a:buFont typeface="Arial" panose="020B0604020202020204" pitchFamily="34" charset="0"/>
              <a:buChar char="•"/>
            </a:pP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325209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smtClean="0"/>
              <a:t>Fontes de dados</a:t>
            </a:r>
            <a:r>
              <a:rPr lang="pt-PT" sz="2400" dirty="0"/>
              <a:t/>
            </a:r>
            <a:br>
              <a:rPr lang="pt-PT" sz="2400" dirty="0"/>
            </a:b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16</a:t>
            </a:fld>
            <a:endParaRPr lang="pt-PT" dirty="0"/>
          </a:p>
        </p:txBody>
      </p:sp>
      <p:sp>
        <p:nvSpPr>
          <p:cNvPr id="10" name="TextBox 9">
            <a:extLst>
              <a:ext uri="{FF2B5EF4-FFF2-40B4-BE49-F238E27FC236}">
                <a16:creationId xmlns:a16="http://schemas.microsoft.com/office/drawing/2014/main" id="{9A03B753-95AE-44F3-A018-59F5360A784E}"/>
              </a:ext>
            </a:extLst>
          </p:cNvPr>
          <p:cNvSpPr txBox="1"/>
          <p:nvPr/>
        </p:nvSpPr>
        <p:spPr>
          <a:xfrm>
            <a:off x="335359" y="1427468"/>
            <a:ext cx="11138685" cy="4665827"/>
          </a:xfrm>
          <a:prstGeom prst="round2SameRect">
            <a:avLst>
              <a:gd name="adj1" fmla="val 0"/>
              <a:gd name="adj2" fmla="val 3172"/>
            </a:avLst>
          </a:prstGeom>
          <a:solidFill>
            <a:schemeClr val="bg2"/>
          </a:solidFill>
        </p:spPr>
        <p:txBody>
          <a:bodyPr wrap="square" rtlCol="0">
            <a:noAutofit/>
          </a:bodyPr>
          <a:lstStyle/>
          <a:p>
            <a:pPr>
              <a:lnSpc>
                <a:spcPct val="120000"/>
              </a:lnSpc>
            </a:pPr>
            <a:endParaRPr lang="pt-PT" sz="1050" b="1" i="1" dirty="0" smtClean="0">
              <a:solidFill>
                <a:schemeClr val="tx1">
                  <a:lumMod val="50000"/>
                  <a:lumOff val="50000"/>
                </a:schemeClr>
              </a:solidFill>
              <a:latin typeface="Santander Text" panose="020B0504020201020104" pitchFamily="34" charset="0"/>
            </a:endParaRPr>
          </a:p>
          <a:p>
            <a:pPr>
              <a:lnSpc>
                <a:spcPct val="120000"/>
              </a:lnSpc>
            </a:pPr>
            <a:r>
              <a:rPr lang="pt-PT" sz="1050" b="1" i="1" dirty="0" smtClean="0">
                <a:solidFill>
                  <a:schemeClr val="tx1">
                    <a:lumMod val="50000"/>
                    <a:lumOff val="50000"/>
                  </a:schemeClr>
                </a:solidFill>
                <a:latin typeface="Santander Text" panose="020B0504020201020104" pitchFamily="34" charset="0"/>
              </a:rPr>
              <a:t>Especificar com o detalhe possível:</a:t>
            </a:r>
          </a:p>
          <a:p>
            <a:pPr marL="171450" indent="-171450">
              <a:lnSpc>
                <a:spcPct val="120000"/>
              </a:lnSpc>
              <a:buFont typeface="Arial" panose="020B0604020202020204" pitchFamily="34" charset="0"/>
              <a:buChar char="•"/>
            </a:pPr>
            <a:r>
              <a:rPr lang="pt-PT" sz="1050" b="1" dirty="0" err="1" smtClean="0"/>
              <a:t>kt_chaves_finrep</a:t>
            </a:r>
            <a:r>
              <a:rPr lang="pt-PT" sz="1050" b="1" dirty="0" smtClean="0"/>
              <a:t> </a:t>
            </a:r>
            <a:r>
              <a:rPr lang="pt-PT" sz="1050" b="1" dirty="0"/>
              <a:t>– Obtenção de tradução de chaves </a:t>
            </a:r>
            <a:r>
              <a:rPr lang="pt-PT" sz="1050" b="1" dirty="0" smtClean="0"/>
              <a:t>de </a:t>
            </a:r>
            <a:r>
              <a:rPr lang="pt-PT" sz="1050" b="1" dirty="0"/>
              <a:t>contratos </a:t>
            </a:r>
            <a:r>
              <a:rPr lang="pt-PT" sz="1050" b="1" dirty="0" err="1" smtClean="0"/>
              <a:t>finrep</a:t>
            </a:r>
            <a:endParaRPr lang="pt-PT" sz="1050" b="1" dirty="0"/>
          </a:p>
          <a:p>
            <a:pPr marL="171450" indent="-171450">
              <a:lnSpc>
                <a:spcPct val="120000"/>
              </a:lnSpc>
              <a:buFont typeface="Arial" panose="020B0604020202020204" pitchFamily="34" charset="0"/>
              <a:buChar char="•"/>
            </a:pPr>
            <a:r>
              <a:rPr lang="pt-PT" sz="1050" b="1" dirty="0" smtClean="0"/>
              <a:t>kt_chaves_ifrs9 </a:t>
            </a:r>
            <a:r>
              <a:rPr lang="pt-PT" sz="1050" b="1" dirty="0"/>
              <a:t>– Obtenção de tradução de chaves </a:t>
            </a:r>
            <a:r>
              <a:rPr lang="pt-PT" sz="1050" b="1" dirty="0" smtClean="0"/>
              <a:t>de </a:t>
            </a:r>
            <a:r>
              <a:rPr lang="pt-PT" sz="1050" b="1" dirty="0"/>
              <a:t>contratos </a:t>
            </a:r>
            <a:r>
              <a:rPr lang="pt-PT" sz="1050" b="1" dirty="0" smtClean="0"/>
              <a:t>IFRS9</a:t>
            </a:r>
            <a:endParaRPr lang="pt-PT" sz="1050" b="1" dirty="0"/>
          </a:p>
          <a:p>
            <a:pPr marL="171450" indent="-171450">
              <a:lnSpc>
                <a:spcPct val="120000"/>
              </a:lnSpc>
              <a:buFont typeface="Arial" panose="020B0604020202020204" pitchFamily="34" charset="0"/>
              <a:buChar char="•"/>
            </a:pPr>
            <a:r>
              <a:rPr lang="pt-PT" sz="1050" b="1" dirty="0" err="1"/>
              <a:t>perimetro</a:t>
            </a:r>
            <a:r>
              <a:rPr lang="pt-PT" sz="1050" b="1" dirty="0"/>
              <a:t> – Obtenção de informação </a:t>
            </a:r>
            <a:r>
              <a:rPr lang="pt-PT" sz="1050" b="1" dirty="0"/>
              <a:t>dos Códigos </a:t>
            </a:r>
            <a:r>
              <a:rPr lang="pt-PT" sz="1050" b="1" dirty="0"/>
              <a:t>de </a:t>
            </a:r>
            <a:r>
              <a:rPr lang="pt-PT" sz="1050" b="1" dirty="0" err="1"/>
              <a:t>intragrupo</a:t>
            </a:r>
            <a:r>
              <a:rPr lang="pt-PT" sz="1050" b="1" dirty="0"/>
              <a:t> de Portugal e Espanha </a:t>
            </a:r>
            <a:endParaRPr lang="pt-PT" sz="1050" b="1" dirty="0"/>
          </a:p>
          <a:p>
            <a:pPr marL="171450" indent="-171450">
              <a:lnSpc>
                <a:spcPct val="120000"/>
              </a:lnSpc>
              <a:buFont typeface="Arial" panose="020B0604020202020204" pitchFamily="34" charset="0"/>
              <a:buChar char="•"/>
            </a:pPr>
            <a:r>
              <a:rPr lang="pt-PT" sz="1050" b="1" dirty="0" smtClean="0"/>
              <a:t>tat91_tabelas </a:t>
            </a:r>
            <a:r>
              <a:rPr lang="pt-PT" sz="1050" b="1" dirty="0"/>
              <a:t>– Obtenção de </a:t>
            </a:r>
            <a:r>
              <a:rPr lang="pt-PT" sz="1050" b="1" dirty="0" smtClean="0"/>
              <a:t>informação para descodificação de dados (produtos, subprodutos, </a:t>
            </a:r>
            <a:r>
              <a:rPr lang="pt-PT" sz="1050" b="1" dirty="0" err="1" smtClean="0"/>
              <a:t>etc</a:t>
            </a:r>
            <a:r>
              <a:rPr lang="pt-PT" sz="1050" b="1" dirty="0"/>
              <a:t>)</a:t>
            </a:r>
            <a:r>
              <a:rPr lang="pt-PT" sz="1050" b="1" dirty="0" smtClean="0"/>
              <a:t> </a:t>
            </a:r>
            <a:endParaRPr lang="pt-PT" sz="1050" b="1" dirty="0"/>
          </a:p>
          <a:p>
            <a:pPr marL="171450" indent="-171450">
              <a:lnSpc>
                <a:spcPct val="120000"/>
              </a:lnSpc>
              <a:buFont typeface="Arial" panose="020B0604020202020204" pitchFamily="34" charset="0"/>
              <a:buChar char="•"/>
            </a:pPr>
            <a:r>
              <a:rPr lang="pt-PT" sz="1050" b="1" dirty="0"/>
              <a:t>clt18_ctacli </a:t>
            </a:r>
            <a:r>
              <a:rPr lang="pt-PT" sz="1050" b="1" dirty="0" smtClean="0"/>
              <a:t>– Obtenção </a:t>
            </a:r>
            <a:r>
              <a:rPr lang="pt-PT" sz="1050" b="1" dirty="0"/>
              <a:t>de informação </a:t>
            </a:r>
            <a:r>
              <a:rPr lang="pt-PT" sz="1050" b="1" dirty="0" smtClean="0"/>
              <a:t>da relação entre contas e clientes</a:t>
            </a:r>
            <a:endParaRPr lang="pt-PT" sz="1050" b="1" dirty="0"/>
          </a:p>
          <a:p>
            <a:pPr marL="171450" indent="-171450">
              <a:lnSpc>
                <a:spcPct val="120000"/>
              </a:lnSpc>
              <a:buFont typeface="Arial" panose="020B0604020202020204" pitchFamily="34" charset="0"/>
              <a:buChar char="•"/>
            </a:pPr>
            <a:r>
              <a:rPr lang="pt-PT" sz="1050" b="1" dirty="0"/>
              <a:t>lt002_instrument – </a:t>
            </a:r>
            <a:r>
              <a:rPr lang="pt-PT" sz="1050" b="1" dirty="0" smtClean="0"/>
              <a:t>Obtenção de informação </a:t>
            </a:r>
            <a:r>
              <a:rPr lang="pt-PT" sz="1050" b="1" dirty="0"/>
              <a:t>das operações a enviar ao BCE</a:t>
            </a:r>
          </a:p>
          <a:p>
            <a:pPr marL="171450" indent="-171450">
              <a:lnSpc>
                <a:spcPct val="120000"/>
              </a:lnSpc>
              <a:buFont typeface="Arial" panose="020B0604020202020204" pitchFamily="34" charset="0"/>
              <a:buChar char="•"/>
            </a:pPr>
            <a:r>
              <a:rPr lang="pt-PT" sz="1050" b="1" dirty="0"/>
              <a:t>lt003_entity – </a:t>
            </a:r>
            <a:r>
              <a:rPr lang="pt-PT" sz="1050" b="1" dirty="0" smtClean="0"/>
              <a:t>Obtenção de informação </a:t>
            </a:r>
            <a:r>
              <a:rPr lang="pt-PT" sz="1050" b="1" dirty="0"/>
              <a:t>das entidades a enviar ao BCE</a:t>
            </a:r>
          </a:p>
          <a:p>
            <a:pPr marL="171450" indent="-171450">
              <a:lnSpc>
                <a:spcPct val="120000"/>
              </a:lnSpc>
              <a:buFont typeface="Arial" panose="020B0604020202020204" pitchFamily="34" charset="0"/>
              <a:buChar char="•"/>
            </a:pPr>
            <a:r>
              <a:rPr lang="pt-PT" sz="1050" b="1" dirty="0"/>
              <a:t>lt004_protection </a:t>
            </a:r>
            <a:r>
              <a:rPr lang="pt-PT" sz="1050" b="1" dirty="0" smtClean="0"/>
              <a:t>– Obtenção de garantias de </a:t>
            </a:r>
            <a:r>
              <a:rPr lang="pt-PT" sz="1050" b="1" dirty="0" err="1" smtClean="0"/>
              <a:t>loan</a:t>
            </a:r>
            <a:r>
              <a:rPr lang="pt-PT" sz="1050" b="1" dirty="0" smtClean="0"/>
              <a:t> tapes</a:t>
            </a:r>
            <a:endParaRPr lang="pt-PT" sz="1050" b="1" dirty="0"/>
          </a:p>
          <a:p>
            <a:pPr marL="171450" indent="-171450">
              <a:lnSpc>
                <a:spcPct val="120000"/>
              </a:lnSpc>
              <a:buFont typeface="Arial" panose="020B0604020202020204" pitchFamily="34" charset="0"/>
              <a:buChar char="•"/>
            </a:pPr>
            <a:r>
              <a:rPr lang="pt-PT" sz="1050" b="1" dirty="0"/>
              <a:t>lt005_instr_ent </a:t>
            </a:r>
            <a:r>
              <a:rPr lang="pt-PT" sz="1050" b="1" dirty="0" smtClean="0"/>
              <a:t>– Obtenção </a:t>
            </a:r>
            <a:r>
              <a:rPr lang="pt-PT" sz="1050" b="1" dirty="0"/>
              <a:t>de informação </a:t>
            </a:r>
            <a:r>
              <a:rPr lang="pt-PT" sz="1050" b="1" dirty="0" smtClean="0"/>
              <a:t>com a relação </a:t>
            </a:r>
            <a:r>
              <a:rPr lang="pt-PT" sz="1050" b="1" dirty="0"/>
              <a:t>entre </a:t>
            </a:r>
            <a:r>
              <a:rPr lang="pt-PT" sz="1050" b="1" dirty="0" err="1" smtClean="0"/>
              <a:t>instrument</a:t>
            </a:r>
            <a:r>
              <a:rPr lang="pt-PT" sz="1050" b="1" dirty="0" smtClean="0"/>
              <a:t> </a:t>
            </a:r>
            <a:r>
              <a:rPr lang="pt-PT" sz="1050" b="1" dirty="0"/>
              <a:t>e </a:t>
            </a:r>
            <a:r>
              <a:rPr lang="pt-PT" sz="1050" b="1" dirty="0" err="1"/>
              <a:t>entity</a:t>
            </a:r>
            <a:endParaRPr lang="pt-PT" sz="1050" b="1" dirty="0"/>
          </a:p>
          <a:p>
            <a:pPr marL="171450" indent="-171450">
              <a:lnSpc>
                <a:spcPct val="120000"/>
              </a:lnSpc>
              <a:buFont typeface="Arial" panose="020B0604020202020204" pitchFamily="34" charset="0"/>
              <a:buChar char="•"/>
            </a:pPr>
            <a:r>
              <a:rPr lang="pt-PT" sz="1050" b="1" dirty="0"/>
              <a:t>lt006_instr_prot </a:t>
            </a:r>
            <a:r>
              <a:rPr lang="pt-PT" sz="1050" b="1" dirty="0" smtClean="0"/>
              <a:t>– Obtenção </a:t>
            </a:r>
            <a:r>
              <a:rPr lang="pt-PT" sz="1050" b="1" dirty="0"/>
              <a:t>de informação com a relação entre </a:t>
            </a:r>
            <a:r>
              <a:rPr lang="pt-PT" sz="1050" b="1" dirty="0" err="1"/>
              <a:t>instrument</a:t>
            </a:r>
            <a:r>
              <a:rPr lang="pt-PT" sz="1050" b="1" dirty="0"/>
              <a:t> e garantias</a:t>
            </a:r>
          </a:p>
          <a:p>
            <a:pPr marL="171450" indent="-171450">
              <a:lnSpc>
                <a:spcPct val="120000"/>
              </a:lnSpc>
              <a:buFont typeface="Arial" panose="020B0604020202020204" pitchFamily="34" charset="0"/>
              <a:buChar char="•"/>
            </a:pPr>
            <a:r>
              <a:rPr lang="pt-PT" sz="1050" b="1" dirty="0"/>
              <a:t>Ficheiro </a:t>
            </a:r>
            <a:r>
              <a:rPr lang="pt-PT" sz="1050" b="1" dirty="0" err="1"/>
              <a:t>pagonxt</a:t>
            </a:r>
            <a:r>
              <a:rPr lang="pt-PT" sz="1050" b="1" dirty="0"/>
              <a:t> – Obtenção de </a:t>
            </a:r>
            <a:r>
              <a:rPr lang="pt-PT" sz="1050" b="1" dirty="0" smtClean="0"/>
              <a:t>informação sobre montantes de transação de sistemas de pagamentos</a:t>
            </a:r>
            <a:endParaRPr lang="pt-PT" sz="1050" b="1" dirty="0"/>
          </a:p>
          <a:p>
            <a:pPr marL="171450" indent="-171450">
              <a:lnSpc>
                <a:spcPct val="120000"/>
              </a:lnSpc>
              <a:buFont typeface="Arial" panose="020B0604020202020204" pitchFamily="34" charset="0"/>
              <a:buChar char="•"/>
            </a:pPr>
            <a:r>
              <a:rPr lang="pt-PT" sz="1050" b="1" dirty="0"/>
              <a:t>cgt06 – Obtenção de informação </a:t>
            </a:r>
            <a:r>
              <a:rPr lang="pt-PT" sz="1050" b="1" dirty="0" smtClean="0"/>
              <a:t>de movimentos </a:t>
            </a:r>
            <a:r>
              <a:rPr lang="pt-PT" sz="1050" b="1" dirty="0" err="1" smtClean="0"/>
              <a:t>contabilisticos</a:t>
            </a:r>
            <a:endParaRPr lang="pt-PT" sz="1050" b="1" dirty="0"/>
          </a:p>
        </p:txBody>
      </p:sp>
      <p:sp>
        <p:nvSpPr>
          <p:cNvPr id="6" name="Rectangle: Top Corners Rounded 5">
            <a:extLst>
              <a:ext uri="{FF2B5EF4-FFF2-40B4-BE49-F238E27FC236}">
                <a16:creationId xmlns:a16="http://schemas.microsoft.com/office/drawing/2014/main" id="{11DFDF61-1CD0-474A-8704-697F75203C2D}"/>
              </a:ext>
            </a:extLst>
          </p:cNvPr>
          <p:cNvSpPr/>
          <p:nvPr/>
        </p:nvSpPr>
        <p:spPr>
          <a:xfrm>
            <a:off x="335359" y="865264"/>
            <a:ext cx="11138685" cy="538771"/>
          </a:xfrm>
          <a:prstGeom prst="round2Same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b="1" dirty="0">
                <a:latin typeface="Santander Text" panose="020B0504020201020104" pitchFamily="34" charset="0"/>
              </a:rPr>
              <a:t>Fontes</a:t>
            </a:r>
            <a:r>
              <a:rPr lang="pt-PT" dirty="0">
                <a:latin typeface="Santander Text" panose="020B0504020201020104" pitchFamily="34" charset="0"/>
              </a:rPr>
              <a:t> de Dados</a:t>
            </a:r>
          </a:p>
        </p:txBody>
      </p:sp>
    </p:spTree>
    <p:extLst>
      <p:ext uri="{BB962C8B-B14F-4D97-AF65-F5344CB8AC3E}">
        <p14:creationId xmlns:p14="http://schemas.microsoft.com/office/powerpoint/2010/main" val="1727629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a:xfrm>
            <a:off x="722518" y="626373"/>
            <a:ext cx="5733521" cy="2852737"/>
          </a:xfrm>
        </p:spPr>
        <p:txBody>
          <a:bodyPr>
            <a:normAutofit/>
          </a:bodyPr>
          <a:lstStyle/>
          <a:p>
            <a:r>
              <a:rPr lang="pt-PT" dirty="0"/>
              <a:t>Requisitos não Funcionais a Considerar</a:t>
            </a:r>
            <a:br>
              <a:rPr lang="pt-PT" dirty="0"/>
            </a:br>
            <a:r>
              <a:rPr lang="pt-PT" sz="2400" dirty="0">
                <a:solidFill>
                  <a:schemeClr val="tx1">
                    <a:lumMod val="75000"/>
                    <a:lumOff val="25000"/>
                  </a:schemeClr>
                </a:solidFill>
              </a:rPr>
              <a:t>(Segurança, </a:t>
            </a:r>
            <a:r>
              <a:rPr lang="pt-PT" sz="2400" dirty="0" err="1">
                <a:solidFill>
                  <a:schemeClr val="tx1">
                    <a:lumMod val="75000"/>
                    <a:lumOff val="25000"/>
                  </a:schemeClr>
                </a:solidFill>
              </a:rPr>
              <a:t>Logging</a:t>
            </a:r>
            <a:r>
              <a:rPr lang="pt-PT" sz="2400" dirty="0">
                <a:solidFill>
                  <a:schemeClr val="tx1">
                    <a:lumMod val="75000"/>
                    <a:lumOff val="25000"/>
                  </a:schemeClr>
                </a:solidFill>
              </a:rPr>
              <a:t>, …)</a:t>
            </a:r>
            <a:endParaRPr lang="pt-PT" dirty="0">
              <a:solidFill>
                <a:schemeClr val="tx1">
                  <a:lumMod val="75000"/>
                  <a:lumOff val="25000"/>
                </a:schemeClr>
              </a:solidFill>
            </a:endParaRP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05</a:t>
            </a:r>
          </a:p>
        </p:txBody>
      </p:sp>
    </p:spTree>
    <p:extLst>
      <p:ext uri="{BB962C8B-B14F-4D97-AF65-F5344CB8AC3E}">
        <p14:creationId xmlns:p14="http://schemas.microsoft.com/office/powerpoint/2010/main" val="1575916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7966045" cy="1117407"/>
          </a:xfrm>
        </p:spPr>
        <p:txBody>
          <a:bodyPr/>
          <a:lstStyle/>
          <a:p>
            <a:r>
              <a:rPr lang="pt-PT" sz="2400" dirty="0" smtClean="0">
                <a:solidFill>
                  <a:schemeClr val="accent3"/>
                </a:solidFill>
              </a:rPr>
              <a:t>Não aplicável</a:t>
            </a:r>
            <a:endParaRPr lang="pt-PT" sz="2400" dirty="0">
              <a:solidFill>
                <a:schemeClr val="accent3"/>
              </a:solidFill>
            </a:endParaRPr>
          </a:p>
        </p:txBody>
      </p:sp>
      <p:sp>
        <p:nvSpPr>
          <p:cNvPr id="6" name="Slide Number Placeholder 5"/>
          <p:cNvSpPr>
            <a:spLocks noGrp="1"/>
          </p:cNvSpPr>
          <p:nvPr>
            <p:ph type="sldNum" sz="quarter" idx="12"/>
          </p:nvPr>
        </p:nvSpPr>
        <p:spPr/>
        <p:txBody>
          <a:bodyPr/>
          <a:lstStyle/>
          <a:p>
            <a:fld id="{BC0D97B6-E32F-4D7D-B839-7C3B51F2640F}" type="slidenum">
              <a:rPr lang="pt-PT" smtClean="0"/>
              <a:pPr/>
              <a:t>18</a:t>
            </a:fld>
            <a:endParaRPr lang="pt-PT" dirty="0"/>
          </a:p>
        </p:txBody>
      </p:sp>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err="1"/>
              <a:t>Macro-requisitos</a:t>
            </a:r>
            <a:r>
              <a:rPr lang="pt-PT" sz="2400" dirty="0"/>
              <a:t> Não Funcionais</a:t>
            </a:r>
          </a:p>
        </p:txBody>
      </p:sp>
    </p:spTree>
    <p:extLst>
      <p:ext uri="{BB962C8B-B14F-4D97-AF65-F5344CB8AC3E}">
        <p14:creationId xmlns:p14="http://schemas.microsoft.com/office/powerpoint/2010/main" val="1547284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617B-67C9-41F5-9C86-55C7ADEC2F66}"/>
              </a:ext>
            </a:extLst>
          </p:cNvPr>
          <p:cNvSpPr>
            <a:spLocks noGrp="1"/>
          </p:cNvSpPr>
          <p:nvPr>
            <p:ph type="title"/>
          </p:nvPr>
        </p:nvSpPr>
        <p:spPr>
          <a:xfrm>
            <a:off x="722243" y="1087457"/>
            <a:ext cx="10758733" cy="1117407"/>
          </a:xfrm>
        </p:spPr>
        <p:txBody>
          <a:bodyPr/>
          <a:lstStyle/>
          <a:p>
            <a:r>
              <a:rPr lang="pt-PT" sz="2000" dirty="0">
                <a:solidFill>
                  <a:schemeClr val="accent5"/>
                </a:solidFill>
              </a:rPr>
              <a:t>A classificação dos dado usados por uma solução, bem como as necessidades específicas de disponibilidade condicionam o seu desenho e as fases seguintes de dotação e construção.</a:t>
            </a:r>
          </a:p>
        </p:txBody>
      </p:sp>
      <p:sp>
        <p:nvSpPr>
          <p:cNvPr id="6" name="Slide Number Placeholder 5"/>
          <p:cNvSpPr>
            <a:spLocks noGrp="1"/>
          </p:cNvSpPr>
          <p:nvPr>
            <p:ph type="sldNum" sz="quarter" idx="12"/>
          </p:nvPr>
        </p:nvSpPr>
        <p:spPr/>
        <p:txBody>
          <a:bodyPr/>
          <a:lstStyle/>
          <a:p>
            <a:fld id="{BC0D97B6-E32F-4D7D-B839-7C3B51F2640F}" type="slidenum">
              <a:rPr lang="pt-PT" smtClean="0"/>
              <a:pPr/>
              <a:t>19</a:t>
            </a:fld>
            <a:endParaRPr lang="pt-PT" dirty="0"/>
          </a:p>
        </p:txBody>
      </p:sp>
      <p:sp>
        <p:nvSpPr>
          <p:cNvPr id="10" name="Rectangle 5">
            <a:extLst>
              <a:ext uri="{FF2B5EF4-FFF2-40B4-BE49-F238E27FC236}">
                <a16:creationId xmlns:a16="http://schemas.microsoft.com/office/drawing/2014/main" id="{82931555-E77A-4FD4-8895-26C7F94E2073}"/>
              </a:ext>
            </a:extLst>
          </p:cNvPr>
          <p:cNvSpPr>
            <a:spLocks noGrp="1" noChangeArrowheads="1"/>
          </p:cNvSpPr>
          <p:nvPr>
            <p:ph type="body" sz="quarter" idx="15"/>
          </p:nvPr>
        </p:nvSpPr>
        <p:spPr bwMode="auto">
          <a:xfrm>
            <a:off x="711024" y="1812885"/>
            <a:ext cx="10758488" cy="398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numCol="1"/>
          <a:lstStyle>
            <a:lvl1pPr marL="342900" indent="-342900" defTabSz="698500">
              <a:spcBef>
                <a:spcPct val="20000"/>
              </a:spcBef>
              <a:buClr>
                <a:srgbClr val="FF0000"/>
              </a:buClr>
              <a:buFont typeface="Wingdings" panose="05000000000000000000" pitchFamily="2" charset="2"/>
              <a:buChar char="w"/>
              <a:defRPr sz="2400" b="1">
                <a:solidFill>
                  <a:srgbClr val="FF0000"/>
                </a:solidFill>
                <a:latin typeface="Arial" panose="020B0604020202020204" pitchFamily="34" charset="0"/>
              </a:defRPr>
            </a:lvl1pPr>
            <a:lvl2pPr marL="179388" defTabSz="698500">
              <a:spcBef>
                <a:spcPct val="20000"/>
              </a:spcBef>
              <a:buClr>
                <a:schemeClr val="bg2"/>
              </a:buClr>
              <a:buFont typeface="Wingdings" panose="05000000000000000000" pitchFamily="2" charset="2"/>
              <a:buChar char="§"/>
              <a:defRPr sz="2600">
                <a:solidFill>
                  <a:srgbClr val="808080"/>
                </a:solidFill>
                <a:latin typeface="Arial" panose="020B0604020202020204" pitchFamily="34" charset="0"/>
              </a:defRPr>
            </a:lvl2pPr>
            <a:lvl3pPr marL="979488" indent="-3429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3pPr>
            <a:lvl4pPr marL="16002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4pPr>
            <a:lvl5pPr marL="2057400" indent="-228600" defTabSz="698500">
              <a:spcBef>
                <a:spcPct val="20000"/>
              </a:spcBef>
              <a:buClr>
                <a:schemeClr val="tx1"/>
              </a:buClr>
              <a:buFont typeface="Arial" panose="020B0604020202020204" pitchFamily="34" charset="0"/>
              <a:buChar char="–"/>
              <a:defRPr sz="2000">
                <a:solidFill>
                  <a:schemeClr val="bg2"/>
                </a:solidFill>
                <a:latin typeface="Arial" panose="020B0604020202020204" pitchFamily="34" charset="0"/>
              </a:defRPr>
            </a:lvl5pPr>
            <a:lvl6pPr marL="25146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6pPr>
            <a:lvl7pPr marL="29718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7pPr>
            <a:lvl8pPr marL="34290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8pPr>
            <a:lvl9pPr marL="3886200" indent="-228600" defTabSz="698500" eaLnBrk="0" fontAlgn="base" hangingPunct="0">
              <a:spcBef>
                <a:spcPct val="20000"/>
              </a:spcBef>
              <a:spcAft>
                <a:spcPct val="0"/>
              </a:spcAft>
              <a:buClr>
                <a:schemeClr val="tx1"/>
              </a:buClr>
              <a:buFont typeface="Arial" panose="020B0604020202020204" pitchFamily="34" charset="0"/>
              <a:buChar char="–"/>
              <a:defRPr sz="2000">
                <a:solidFill>
                  <a:schemeClr val="bg2"/>
                </a:solidFill>
                <a:latin typeface="Arial" panose="020B0604020202020204" pitchFamily="34" charset="0"/>
              </a:defRPr>
            </a:lvl9pPr>
          </a:lstStyle>
          <a:p>
            <a:pPr>
              <a:spcBef>
                <a:spcPts val="400"/>
              </a:spcBef>
              <a:buNone/>
            </a:pPr>
            <a:r>
              <a:rPr lang="pt-PT" sz="1300" b="0" dirty="0">
                <a:solidFill>
                  <a:schemeClr val="tx1"/>
                </a:solidFill>
                <a:latin typeface="Santander Text" panose="020B0504020201020104" pitchFamily="34" charset="0"/>
              </a:rPr>
              <a:t>Usar o espaço abaixo para detalhar os requisitos de Confidencialidade, Integridade e Disponibilidade</a:t>
            </a:r>
          </a:p>
        </p:txBody>
      </p:sp>
      <p:sp>
        <p:nvSpPr>
          <p:cNvPr id="9" name="Marcador de texto 5">
            <a:extLst>
              <a:ext uri="{FF2B5EF4-FFF2-40B4-BE49-F238E27FC236}">
                <a16:creationId xmlns:a16="http://schemas.microsoft.com/office/drawing/2014/main" id="{69051C4C-3D11-4E78-93DB-DD0BF009576C}"/>
              </a:ext>
            </a:extLst>
          </p:cNvPr>
          <p:cNvSpPr txBox="1">
            <a:spLocks noGrp="1"/>
          </p:cNvSpPr>
          <p:nvPr>
            <p:ph type="body" sz="quarter" idx="14"/>
          </p:nvPr>
        </p:nvSpPr>
        <p:spPr>
          <a:xfrm>
            <a:off x="106420" y="114373"/>
            <a:ext cx="10758488" cy="718270"/>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Tx/>
              <a:buNone/>
              <a:defRPr sz="1300" kern="1200">
                <a:solidFill>
                  <a:schemeClr val="accent1"/>
                </a:solidFill>
                <a:latin typeface="Santander Text" panose="020B0504020201020104" pitchFamily="34" charset="0"/>
                <a:ea typeface="+mn-ea"/>
                <a:cs typeface="+mn-cs"/>
              </a:defRPr>
            </a:lvl1pPr>
            <a:lvl2pPr marL="457200" indent="0" algn="l" defTabSz="914400" rtl="0" eaLnBrk="1" latinLnBrk="0" hangingPunct="1">
              <a:lnSpc>
                <a:spcPct val="90000"/>
              </a:lnSpc>
              <a:spcBef>
                <a:spcPts val="500"/>
              </a:spcBef>
              <a:buFontTx/>
              <a:buNone/>
              <a:defRPr sz="1100" kern="1200">
                <a:solidFill>
                  <a:schemeClr val="tx1"/>
                </a:solidFill>
                <a:latin typeface="Santander Text" panose="020B0504020201020104" pitchFamily="34" charset="0"/>
                <a:ea typeface="+mn-ea"/>
                <a:cs typeface="+mn-cs"/>
              </a:defRPr>
            </a:lvl2pPr>
            <a:lvl3pPr marL="914400" indent="0" algn="l" defTabSz="914400" rtl="0" eaLnBrk="1" latinLnBrk="0" hangingPunct="1">
              <a:lnSpc>
                <a:spcPct val="90000"/>
              </a:lnSpc>
              <a:spcBef>
                <a:spcPts val="500"/>
              </a:spcBef>
              <a:buFontTx/>
              <a:buNone/>
              <a:defRPr sz="1050" kern="1200">
                <a:solidFill>
                  <a:schemeClr val="tx1"/>
                </a:solidFill>
                <a:latin typeface="Santander Text" panose="020B0504020201020104" pitchFamily="34" charset="0"/>
                <a:ea typeface="+mn-ea"/>
                <a:cs typeface="+mn-cs"/>
              </a:defRPr>
            </a:lvl3pPr>
            <a:lvl4pPr marL="13716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4pPr>
            <a:lvl5pPr marL="1828800" indent="0" algn="l" defTabSz="914400" rtl="0" eaLnBrk="1" latinLnBrk="0" hangingPunct="1">
              <a:lnSpc>
                <a:spcPct val="90000"/>
              </a:lnSpc>
              <a:spcBef>
                <a:spcPts val="500"/>
              </a:spcBef>
              <a:buFontTx/>
              <a:buNone/>
              <a:defRPr sz="1000" kern="1200">
                <a:solidFill>
                  <a:schemeClr val="tx1"/>
                </a:solidFill>
                <a:latin typeface="Santander Text" panose="020B05040202010201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PT" sz="2400" dirty="0" err="1"/>
              <a:t>Macro-requisitos</a:t>
            </a:r>
            <a:r>
              <a:rPr lang="pt-PT" sz="2400" dirty="0"/>
              <a:t> Não Funcionais</a:t>
            </a:r>
            <a:br>
              <a:rPr lang="pt-PT" sz="2400" dirty="0"/>
            </a:br>
            <a:r>
              <a:rPr lang="pt-PT" sz="1800" dirty="0">
                <a:solidFill>
                  <a:schemeClr val="tx1">
                    <a:lumMod val="75000"/>
                    <a:lumOff val="25000"/>
                  </a:schemeClr>
                </a:solidFill>
              </a:rPr>
              <a:t>Confidencialidade, Integridade, Disponibilidade</a:t>
            </a:r>
            <a:br>
              <a:rPr lang="pt-PT" sz="1800" dirty="0">
                <a:solidFill>
                  <a:schemeClr val="tx1">
                    <a:lumMod val="75000"/>
                    <a:lumOff val="25000"/>
                  </a:schemeClr>
                </a:solidFill>
              </a:rPr>
            </a:br>
            <a:r>
              <a:rPr lang="pt-PT" sz="1200" dirty="0">
                <a:solidFill>
                  <a:schemeClr val="tx1">
                    <a:lumMod val="75000"/>
                    <a:lumOff val="25000"/>
                  </a:schemeClr>
                </a:solidFill>
              </a:rPr>
              <a:t>C.I.A. | </a:t>
            </a:r>
            <a:r>
              <a:rPr lang="pt-PT" sz="1200" dirty="0" err="1">
                <a:solidFill>
                  <a:schemeClr val="tx1">
                    <a:lumMod val="75000"/>
                    <a:lumOff val="25000"/>
                  </a:schemeClr>
                </a:solidFill>
              </a:rPr>
              <a:t>Confidenciality</a:t>
            </a:r>
            <a:r>
              <a:rPr lang="pt-PT" sz="1200" dirty="0">
                <a:solidFill>
                  <a:schemeClr val="tx1">
                    <a:lumMod val="75000"/>
                    <a:lumOff val="25000"/>
                  </a:schemeClr>
                </a:solidFill>
              </a:rPr>
              <a:t>, </a:t>
            </a:r>
            <a:r>
              <a:rPr lang="pt-PT" sz="1200" dirty="0" err="1">
                <a:solidFill>
                  <a:schemeClr val="tx1">
                    <a:lumMod val="75000"/>
                    <a:lumOff val="25000"/>
                  </a:schemeClr>
                </a:solidFill>
              </a:rPr>
              <a:t>Integrity</a:t>
            </a:r>
            <a:r>
              <a:rPr lang="pt-PT" sz="1200" dirty="0">
                <a:solidFill>
                  <a:schemeClr val="tx1">
                    <a:lumMod val="75000"/>
                    <a:lumOff val="25000"/>
                  </a:schemeClr>
                </a:solidFill>
              </a:rPr>
              <a:t>, </a:t>
            </a:r>
            <a:r>
              <a:rPr lang="pt-PT" sz="1200" dirty="0" err="1">
                <a:solidFill>
                  <a:schemeClr val="tx1">
                    <a:lumMod val="75000"/>
                    <a:lumOff val="25000"/>
                  </a:schemeClr>
                </a:solidFill>
              </a:rPr>
              <a:t>Availability</a:t>
            </a:r>
            <a:endParaRPr lang="pt-PT" sz="2400" dirty="0">
              <a:solidFill>
                <a:schemeClr val="tx1">
                  <a:lumMod val="75000"/>
                  <a:lumOff val="25000"/>
                </a:schemeClr>
              </a:solidFill>
            </a:endParaRPr>
          </a:p>
        </p:txBody>
      </p:sp>
      <p:sp>
        <p:nvSpPr>
          <p:cNvPr id="12" name="TextBox 11">
            <a:extLst>
              <a:ext uri="{FF2B5EF4-FFF2-40B4-BE49-F238E27FC236}">
                <a16:creationId xmlns:a16="http://schemas.microsoft.com/office/drawing/2014/main" id="{40CDFF09-DBB0-4F02-AAB3-BD9BA66DA36D}"/>
              </a:ext>
            </a:extLst>
          </p:cNvPr>
          <p:cNvSpPr txBox="1"/>
          <p:nvPr/>
        </p:nvSpPr>
        <p:spPr>
          <a:xfrm>
            <a:off x="335360" y="2708920"/>
            <a:ext cx="3591048" cy="3500680"/>
          </a:xfrm>
          <a:prstGeom prst="round2SameRect">
            <a:avLst>
              <a:gd name="adj1" fmla="val 0"/>
              <a:gd name="adj2" fmla="val 3172"/>
            </a:avLst>
          </a:prstGeom>
          <a:solidFill>
            <a:schemeClr val="bg2"/>
          </a:solidFill>
        </p:spPr>
        <p:txBody>
          <a:bodyPr wrap="square" rtlCol="0">
            <a:noAutofit/>
          </a:bodyPr>
          <a:lstStyle/>
          <a:p>
            <a:pPr>
              <a:lnSpc>
                <a:spcPct val="120000"/>
              </a:lnSpc>
            </a:pPr>
            <a:r>
              <a:rPr lang="pt-PT" sz="1050" dirty="0">
                <a:solidFill>
                  <a:schemeClr val="tx1">
                    <a:lumMod val="75000"/>
                    <a:lumOff val="25000"/>
                  </a:schemeClr>
                </a:solidFill>
                <a:latin typeface="Santander Text" panose="020B0504020201020104" pitchFamily="34" charset="0"/>
              </a:rPr>
              <a:t>O valor a preencher neste campo deve ser pedido previamente à equipa de CDO. </a:t>
            </a:r>
          </a:p>
        </p:txBody>
      </p:sp>
      <p:sp>
        <p:nvSpPr>
          <p:cNvPr id="13" name="TextBox 12">
            <a:extLst>
              <a:ext uri="{FF2B5EF4-FFF2-40B4-BE49-F238E27FC236}">
                <a16:creationId xmlns:a16="http://schemas.microsoft.com/office/drawing/2014/main" id="{038D2D6F-F3F9-4BD7-879B-B3A366DD64B8}"/>
              </a:ext>
            </a:extLst>
          </p:cNvPr>
          <p:cNvSpPr txBox="1"/>
          <p:nvPr/>
        </p:nvSpPr>
        <p:spPr>
          <a:xfrm>
            <a:off x="4300486" y="2708920"/>
            <a:ext cx="3591048" cy="3500680"/>
          </a:xfrm>
          <a:prstGeom prst="round2SameRect">
            <a:avLst>
              <a:gd name="adj1" fmla="val 0"/>
              <a:gd name="adj2" fmla="val 3172"/>
            </a:avLst>
          </a:prstGeom>
          <a:solidFill>
            <a:schemeClr val="bg2"/>
          </a:solidFill>
        </p:spPr>
        <p:txBody>
          <a:bodyPr wrap="square" rtlCol="0">
            <a:no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pt-PT" sz="1050" b="1" u="none" strike="noStrike" kern="1200" cap="none" spc="0" normalizeH="0" baseline="0" noProof="0" dirty="0">
                <a:ln>
                  <a:noFill/>
                </a:ln>
                <a:solidFill>
                  <a:schemeClr val="tx1">
                    <a:lumMod val="75000"/>
                    <a:lumOff val="25000"/>
                  </a:schemeClr>
                </a:solidFill>
                <a:effectLst/>
                <a:uLnTx/>
                <a:uFillTx/>
                <a:latin typeface="Santander Text" panose="020B0504020201020104" pitchFamily="34" charset="0"/>
                <a:ea typeface="+mn-ea"/>
                <a:cs typeface="+mn-cs"/>
              </a:rPr>
              <a:t>Integridade</a:t>
            </a:r>
            <a:r>
              <a:rPr kumimoji="0" lang="pt-PT" sz="1050" b="0" u="none" strike="noStrike" kern="1200" cap="none" spc="0" normalizeH="0" baseline="0" noProof="0" dirty="0">
                <a:ln>
                  <a:noFill/>
                </a:ln>
                <a:solidFill>
                  <a:schemeClr val="tx1">
                    <a:lumMod val="75000"/>
                    <a:lumOff val="25000"/>
                  </a:schemeClr>
                </a:solidFill>
                <a:effectLst/>
                <a:uLnTx/>
                <a:uFillTx/>
                <a:latin typeface="Santander Text" panose="020B0504020201020104" pitchFamily="34" charset="0"/>
                <a:ea typeface="+mn-ea"/>
                <a:cs typeface="+mn-cs"/>
              </a:rPr>
              <a:t> de dados é a manutenção e a garantia da precisão e consistência de dados durante todo o ciclo de vida da informação, a integridade nunca estará em causa este campo avalia apenas o nível que será necessário.</a:t>
            </a:r>
            <a:endParaRPr lang="pt-PT" sz="1200" dirty="0">
              <a:solidFill>
                <a:schemeClr val="tx1">
                  <a:lumMod val="75000"/>
                  <a:lumOff val="25000"/>
                </a:schemeClr>
              </a:solidFill>
              <a:latin typeface="Santander Text" panose="020B0504020201020104" pitchFamily="34" charset="0"/>
            </a:endParaRPr>
          </a:p>
        </p:txBody>
      </p:sp>
      <p:sp>
        <p:nvSpPr>
          <p:cNvPr id="14" name="TextBox 13">
            <a:extLst>
              <a:ext uri="{FF2B5EF4-FFF2-40B4-BE49-F238E27FC236}">
                <a16:creationId xmlns:a16="http://schemas.microsoft.com/office/drawing/2014/main" id="{9B2EBC30-256F-472B-858F-E77E0E4EE6AC}"/>
              </a:ext>
            </a:extLst>
          </p:cNvPr>
          <p:cNvSpPr txBox="1"/>
          <p:nvPr/>
        </p:nvSpPr>
        <p:spPr>
          <a:xfrm>
            <a:off x="8246855" y="2708920"/>
            <a:ext cx="3591048" cy="3500680"/>
          </a:xfrm>
          <a:prstGeom prst="round2SameRect">
            <a:avLst>
              <a:gd name="adj1" fmla="val 0"/>
              <a:gd name="adj2" fmla="val 3172"/>
            </a:avLst>
          </a:prstGeom>
          <a:solidFill>
            <a:schemeClr val="bg2"/>
          </a:solidFill>
        </p:spPr>
        <p:txBody>
          <a:bodyPr wrap="square" rtlCol="0">
            <a:noAutofit/>
          </a:bodyPr>
          <a:lstStyle/>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Quanto tempo poderá o sistema ficar sem dar serviço</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Qual o máximo tempo de indisponibilidade em caso de manutenção programada</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88900" lvl="1" indent="-88900">
              <a:buFont typeface="Wingdings" panose="05000000000000000000" pitchFamily="2" charset="2"/>
              <a:buChar char="§"/>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Necessidades de backup de informação em termos de:</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438150" lvl="2" indent="-171450">
              <a:buFont typeface="Courier New" panose="02070309020205020404" pitchFamily="49" charset="0"/>
              <a:buChar char="o"/>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Período de retenção/histórico</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marL="438150" lvl="2" indent="-171450">
              <a:buFont typeface="Courier New" panose="02070309020205020404" pitchFamily="49" charset="0"/>
              <a:buChar char="o"/>
            </a:pPr>
            <a:r>
              <a:rPr lang="pt-PT" sz="1100" dirty="0">
                <a:solidFill>
                  <a:schemeClr val="tx1">
                    <a:lumMod val="75000"/>
                    <a:lumOff val="25000"/>
                  </a:schemeClr>
                </a:solidFill>
                <a:effectLst/>
                <a:latin typeface="Santander Text" panose="020B0504020201020104" pitchFamily="34" charset="0"/>
                <a:ea typeface="Times New Roman" panose="02020603050405020304" pitchFamily="18" charset="0"/>
              </a:rPr>
              <a:t>Tempos de reposição em caso de necessidade</a:t>
            </a:r>
            <a:endParaRPr lang="pt-PT" sz="1100" dirty="0">
              <a:solidFill>
                <a:schemeClr val="tx1">
                  <a:lumMod val="75000"/>
                  <a:lumOff val="25000"/>
                </a:schemeClr>
              </a:solidFill>
              <a:effectLst/>
              <a:latin typeface="Santander Text" panose="020B0504020201020104" pitchFamily="34" charset="0"/>
              <a:ea typeface="Calibri" panose="020F0502020204030204" pitchFamily="34" charset="0"/>
            </a:endParaRPr>
          </a:p>
          <a:p>
            <a:pPr>
              <a:lnSpc>
                <a:spcPct val="120000"/>
              </a:lnSpc>
            </a:pPr>
            <a:endParaRPr lang="pt-PT" sz="1050" dirty="0">
              <a:solidFill>
                <a:schemeClr val="tx1">
                  <a:lumMod val="75000"/>
                  <a:lumOff val="25000"/>
                </a:schemeClr>
              </a:solidFill>
              <a:latin typeface="Santander Text" panose="020B0504020201020104" pitchFamily="34" charset="0"/>
            </a:endParaRPr>
          </a:p>
        </p:txBody>
      </p:sp>
      <p:sp>
        <p:nvSpPr>
          <p:cNvPr id="15" name="Rectangle: Top Corners Rounded 14">
            <a:extLst>
              <a:ext uri="{FF2B5EF4-FFF2-40B4-BE49-F238E27FC236}">
                <a16:creationId xmlns:a16="http://schemas.microsoft.com/office/drawing/2014/main" id="{ED99B7C9-97C1-418E-A311-EBE75516D8A2}"/>
              </a:ext>
            </a:extLst>
          </p:cNvPr>
          <p:cNvSpPr/>
          <p:nvPr/>
        </p:nvSpPr>
        <p:spPr>
          <a:xfrm>
            <a:off x="335360"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Confidencialidade</a:t>
            </a:r>
            <a:endParaRPr lang="pt-PT" sz="1600" dirty="0">
              <a:latin typeface="Santander Text" panose="020B0504020201020104" pitchFamily="34" charset="0"/>
            </a:endParaRPr>
          </a:p>
        </p:txBody>
      </p:sp>
      <p:sp>
        <p:nvSpPr>
          <p:cNvPr id="16" name="Rectangle: Top Corners Rounded 15">
            <a:extLst>
              <a:ext uri="{FF2B5EF4-FFF2-40B4-BE49-F238E27FC236}">
                <a16:creationId xmlns:a16="http://schemas.microsoft.com/office/drawing/2014/main" id="{E67F3A7D-929B-40E4-999C-1FF7846AC44A}"/>
              </a:ext>
            </a:extLst>
          </p:cNvPr>
          <p:cNvSpPr/>
          <p:nvPr/>
        </p:nvSpPr>
        <p:spPr>
          <a:xfrm>
            <a:off x="4300476"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Integridade</a:t>
            </a:r>
            <a:endParaRPr lang="pt-PT" sz="1600" dirty="0">
              <a:latin typeface="Santander Text" panose="020B0504020201020104" pitchFamily="34" charset="0"/>
            </a:endParaRPr>
          </a:p>
        </p:txBody>
      </p:sp>
      <p:sp>
        <p:nvSpPr>
          <p:cNvPr id="17" name="Rectangle: Top Corners Rounded 16">
            <a:extLst>
              <a:ext uri="{FF2B5EF4-FFF2-40B4-BE49-F238E27FC236}">
                <a16:creationId xmlns:a16="http://schemas.microsoft.com/office/drawing/2014/main" id="{50E4644D-9069-430E-B19D-15E2F309BF23}"/>
              </a:ext>
            </a:extLst>
          </p:cNvPr>
          <p:cNvSpPr/>
          <p:nvPr/>
        </p:nvSpPr>
        <p:spPr>
          <a:xfrm>
            <a:off x="8246855" y="2328021"/>
            <a:ext cx="3591048" cy="355248"/>
          </a:xfrm>
          <a:prstGeom prst="round2Same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600" b="1" dirty="0">
                <a:latin typeface="Santander Text" panose="020B0504020201020104" pitchFamily="34" charset="0"/>
              </a:rPr>
              <a:t>Disponibilidade</a:t>
            </a:r>
            <a:endParaRPr lang="pt-PT" sz="1600" dirty="0">
              <a:latin typeface="Santander Text" panose="020B0504020201020104" pitchFamily="34" charset="0"/>
            </a:endParaRPr>
          </a:p>
        </p:txBody>
      </p:sp>
      <p:grpSp>
        <p:nvGrpSpPr>
          <p:cNvPr id="3" name="Group 2">
            <a:extLst>
              <a:ext uri="{FF2B5EF4-FFF2-40B4-BE49-F238E27FC236}">
                <a16:creationId xmlns:a16="http://schemas.microsoft.com/office/drawing/2014/main" id="{56382EC9-CA01-462E-A232-2386876DFF81}"/>
              </a:ext>
            </a:extLst>
          </p:cNvPr>
          <p:cNvGrpSpPr/>
          <p:nvPr/>
        </p:nvGrpSpPr>
        <p:grpSpPr>
          <a:xfrm>
            <a:off x="678599" y="3212976"/>
            <a:ext cx="2893411" cy="1672772"/>
            <a:chOff x="678599" y="3229952"/>
            <a:chExt cx="2893411" cy="1672772"/>
          </a:xfrm>
        </p:grpSpPr>
        <p:sp>
          <p:nvSpPr>
            <p:cNvPr id="5" name="Rectangle 4">
              <a:extLst>
                <a:ext uri="{FF2B5EF4-FFF2-40B4-BE49-F238E27FC236}">
                  <a16:creationId xmlns:a16="http://schemas.microsoft.com/office/drawing/2014/main" id="{E9B63B9C-4D53-45E9-BF39-334DA4D4DC03}"/>
                </a:ext>
              </a:extLst>
            </p:cNvPr>
            <p:cNvSpPr/>
            <p:nvPr/>
          </p:nvSpPr>
          <p:spPr>
            <a:xfrm>
              <a:off x="1023135" y="322995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Secret</a:t>
              </a:r>
              <a:r>
                <a:rPr lang="pt-PT" sz="1200" dirty="0">
                  <a:solidFill>
                    <a:schemeClr val="tx1"/>
                  </a:solidFill>
                  <a:latin typeface="Santander Text" panose="020B0504020201020104" pitchFamily="34" charset="0"/>
                </a:rPr>
                <a:t> (A)</a:t>
              </a:r>
            </a:p>
          </p:txBody>
        </p:sp>
        <p:sp>
          <p:nvSpPr>
            <p:cNvPr id="18" name="Rectangle 17">
              <a:extLst>
                <a:ext uri="{FF2B5EF4-FFF2-40B4-BE49-F238E27FC236}">
                  <a16:creationId xmlns:a16="http://schemas.microsoft.com/office/drawing/2014/main" id="{216B8F63-B74C-454C-86AD-45CB096D13E9}"/>
                </a:ext>
              </a:extLst>
            </p:cNvPr>
            <p:cNvSpPr/>
            <p:nvPr/>
          </p:nvSpPr>
          <p:spPr>
            <a:xfrm>
              <a:off x="678599" y="322995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19" name="Rectangle 18">
              <a:extLst>
                <a:ext uri="{FF2B5EF4-FFF2-40B4-BE49-F238E27FC236}">
                  <a16:creationId xmlns:a16="http://schemas.microsoft.com/office/drawing/2014/main" id="{ED218972-69AC-477E-A6FF-2ACE17F4B61C}"/>
                </a:ext>
              </a:extLst>
            </p:cNvPr>
            <p:cNvSpPr/>
            <p:nvPr/>
          </p:nvSpPr>
          <p:spPr>
            <a:xfrm>
              <a:off x="1023135" y="35740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Restricted</a:t>
              </a:r>
              <a:r>
                <a:rPr lang="pt-PT" sz="1200" dirty="0">
                  <a:solidFill>
                    <a:schemeClr val="tx1"/>
                  </a:solidFill>
                  <a:latin typeface="Santander Text" panose="020B0504020201020104" pitchFamily="34" charset="0"/>
                </a:rPr>
                <a:t> </a:t>
              </a:r>
              <a:r>
                <a:rPr lang="pt-PT" sz="1200" dirty="0" err="1">
                  <a:solidFill>
                    <a:schemeClr val="tx1"/>
                  </a:solidFill>
                  <a:latin typeface="Santander Text" panose="020B0504020201020104" pitchFamily="34" charset="0"/>
                </a:rPr>
                <a:t>Confidential</a:t>
              </a:r>
              <a:r>
                <a:rPr lang="pt-PT" sz="1200" dirty="0">
                  <a:solidFill>
                    <a:schemeClr val="tx1"/>
                  </a:solidFill>
                  <a:latin typeface="Santander Text" panose="020B0504020201020104" pitchFamily="34" charset="0"/>
                </a:rPr>
                <a:t> (A)</a:t>
              </a:r>
            </a:p>
          </p:txBody>
        </p:sp>
        <p:sp>
          <p:nvSpPr>
            <p:cNvPr id="20" name="Rectangle 19">
              <a:extLst>
                <a:ext uri="{FF2B5EF4-FFF2-40B4-BE49-F238E27FC236}">
                  <a16:creationId xmlns:a16="http://schemas.microsoft.com/office/drawing/2014/main" id="{9A7BD60B-45D9-456A-9FD5-4C75AA87C3B4}"/>
                </a:ext>
              </a:extLst>
            </p:cNvPr>
            <p:cNvSpPr/>
            <p:nvPr/>
          </p:nvSpPr>
          <p:spPr>
            <a:xfrm>
              <a:off x="678599" y="35740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21" name="Rectangle 20">
              <a:extLst>
                <a:ext uri="{FF2B5EF4-FFF2-40B4-BE49-F238E27FC236}">
                  <a16:creationId xmlns:a16="http://schemas.microsoft.com/office/drawing/2014/main" id="{58EE07D1-2D42-4047-A9D4-B7803B467D60}"/>
                </a:ext>
              </a:extLst>
            </p:cNvPr>
            <p:cNvSpPr/>
            <p:nvPr/>
          </p:nvSpPr>
          <p:spPr>
            <a:xfrm>
              <a:off x="1023135" y="39182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Confidential</a:t>
              </a:r>
              <a:r>
                <a:rPr lang="pt-PT" sz="1200" dirty="0">
                  <a:solidFill>
                    <a:schemeClr val="tx1"/>
                  </a:solidFill>
                  <a:latin typeface="Santander Text" panose="020B0504020201020104" pitchFamily="34" charset="0"/>
                </a:rPr>
                <a:t> (B)</a:t>
              </a:r>
            </a:p>
          </p:txBody>
        </p:sp>
        <p:sp>
          <p:nvSpPr>
            <p:cNvPr id="22" name="Rectangle 21">
              <a:extLst>
                <a:ext uri="{FF2B5EF4-FFF2-40B4-BE49-F238E27FC236}">
                  <a16:creationId xmlns:a16="http://schemas.microsoft.com/office/drawing/2014/main" id="{D1192BE4-FECD-4D48-A95F-C6E5F6B08C0F}"/>
                </a:ext>
              </a:extLst>
            </p:cNvPr>
            <p:cNvSpPr/>
            <p:nvPr/>
          </p:nvSpPr>
          <p:spPr>
            <a:xfrm>
              <a:off x="678599" y="39182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smtClean="0">
                  <a:solidFill>
                    <a:schemeClr val="tx1"/>
                  </a:solidFill>
                  <a:latin typeface="Santander Text" panose="020B0504020201020104" pitchFamily="34" charset="0"/>
                </a:rPr>
                <a:t>X</a:t>
              </a:r>
              <a:endParaRPr lang="pt-PT" sz="1200" dirty="0">
                <a:solidFill>
                  <a:schemeClr val="tx1"/>
                </a:solidFill>
                <a:latin typeface="Santander Text" panose="020B0504020201020104" pitchFamily="34" charset="0"/>
              </a:endParaRPr>
            </a:p>
          </p:txBody>
        </p:sp>
        <p:sp>
          <p:nvSpPr>
            <p:cNvPr id="23" name="Rectangle 22">
              <a:extLst>
                <a:ext uri="{FF2B5EF4-FFF2-40B4-BE49-F238E27FC236}">
                  <a16:creationId xmlns:a16="http://schemas.microsoft.com/office/drawing/2014/main" id="{D506F569-D3BC-4BB0-9944-379A96B44208}"/>
                </a:ext>
              </a:extLst>
            </p:cNvPr>
            <p:cNvSpPr/>
            <p:nvPr/>
          </p:nvSpPr>
          <p:spPr>
            <a:xfrm>
              <a:off x="1023135" y="42623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Internal</a:t>
              </a:r>
              <a:r>
                <a:rPr lang="pt-PT" sz="1200" dirty="0">
                  <a:solidFill>
                    <a:schemeClr val="tx1"/>
                  </a:solidFill>
                  <a:latin typeface="Santander Text" panose="020B0504020201020104" pitchFamily="34" charset="0"/>
                </a:rPr>
                <a:t> (C)</a:t>
              </a:r>
            </a:p>
          </p:txBody>
        </p:sp>
        <p:sp>
          <p:nvSpPr>
            <p:cNvPr id="24" name="Rectangle 23">
              <a:extLst>
                <a:ext uri="{FF2B5EF4-FFF2-40B4-BE49-F238E27FC236}">
                  <a16:creationId xmlns:a16="http://schemas.microsoft.com/office/drawing/2014/main" id="{3E553984-F02F-42B1-AF4C-34DE56AFBCD2}"/>
                </a:ext>
              </a:extLst>
            </p:cNvPr>
            <p:cNvSpPr/>
            <p:nvPr/>
          </p:nvSpPr>
          <p:spPr>
            <a:xfrm>
              <a:off x="678599" y="42623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smtClean="0">
                  <a:solidFill>
                    <a:schemeClr val="tx1"/>
                  </a:solidFill>
                  <a:latin typeface="Santander Text" panose="020B0504020201020104" pitchFamily="34" charset="0"/>
                </a:rPr>
                <a:t>X</a:t>
              </a:r>
              <a:endParaRPr lang="pt-PT" sz="1200" dirty="0">
                <a:solidFill>
                  <a:schemeClr val="tx1"/>
                </a:solidFill>
                <a:latin typeface="Santander Text" panose="020B0504020201020104" pitchFamily="34" charset="0"/>
              </a:endParaRPr>
            </a:p>
          </p:txBody>
        </p:sp>
        <p:sp>
          <p:nvSpPr>
            <p:cNvPr id="25" name="Rectangle 24">
              <a:extLst>
                <a:ext uri="{FF2B5EF4-FFF2-40B4-BE49-F238E27FC236}">
                  <a16:creationId xmlns:a16="http://schemas.microsoft.com/office/drawing/2014/main" id="{C26C5C8C-714E-4E4A-A2CD-F38CF7D58609}"/>
                </a:ext>
              </a:extLst>
            </p:cNvPr>
            <p:cNvSpPr/>
            <p:nvPr/>
          </p:nvSpPr>
          <p:spPr>
            <a:xfrm>
              <a:off x="1023135" y="460645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a:solidFill>
                    <a:schemeClr val="tx1"/>
                  </a:solidFill>
                  <a:latin typeface="Santander Text" panose="020B0504020201020104" pitchFamily="34" charset="0"/>
                </a:rPr>
                <a:t>Public</a:t>
              </a:r>
              <a:r>
                <a:rPr lang="pt-PT" sz="1200" dirty="0">
                  <a:solidFill>
                    <a:schemeClr val="tx1"/>
                  </a:solidFill>
                  <a:latin typeface="Santander Text" panose="020B0504020201020104" pitchFamily="34" charset="0"/>
                </a:rPr>
                <a:t> (C)</a:t>
              </a:r>
            </a:p>
          </p:txBody>
        </p:sp>
        <p:sp>
          <p:nvSpPr>
            <p:cNvPr id="26" name="Rectangle 25">
              <a:extLst>
                <a:ext uri="{FF2B5EF4-FFF2-40B4-BE49-F238E27FC236}">
                  <a16:creationId xmlns:a16="http://schemas.microsoft.com/office/drawing/2014/main" id="{C13AD3EE-4CE0-4C86-93A1-43573B36F09A}"/>
                </a:ext>
              </a:extLst>
            </p:cNvPr>
            <p:cNvSpPr/>
            <p:nvPr/>
          </p:nvSpPr>
          <p:spPr>
            <a:xfrm>
              <a:off x="678599" y="460645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grpSp>
      <p:grpSp>
        <p:nvGrpSpPr>
          <p:cNvPr id="4" name="Group 3">
            <a:extLst>
              <a:ext uri="{FF2B5EF4-FFF2-40B4-BE49-F238E27FC236}">
                <a16:creationId xmlns:a16="http://schemas.microsoft.com/office/drawing/2014/main" id="{442F0BCA-04F8-4EFB-9A40-CD42D75AFD6B}"/>
              </a:ext>
            </a:extLst>
          </p:cNvPr>
          <p:cNvGrpSpPr/>
          <p:nvPr/>
        </p:nvGrpSpPr>
        <p:grpSpPr>
          <a:xfrm>
            <a:off x="4671344" y="3604954"/>
            <a:ext cx="2893411" cy="984522"/>
            <a:chOff x="4671344" y="3212977"/>
            <a:chExt cx="2893411" cy="984522"/>
          </a:xfrm>
        </p:grpSpPr>
        <p:sp>
          <p:nvSpPr>
            <p:cNvPr id="30" name="Rectangle 29">
              <a:extLst>
                <a:ext uri="{FF2B5EF4-FFF2-40B4-BE49-F238E27FC236}">
                  <a16:creationId xmlns:a16="http://schemas.microsoft.com/office/drawing/2014/main" id="{76E60199-1598-4170-B86A-280D8DB0B519}"/>
                </a:ext>
              </a:extLst>
            </p:cNvPr>
            <p:cNvSpPr/>
            <p:nvPr/>
          </p:nvSpPr>
          <p:spPr>
            <a:xfrm>
              <a:off x="5015880" y="32129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High</a:t>
              </a:r>
              <a:r>
                <a:rPr lang="pt-PT" sz="1200" dirty="0">
                  <a:solidFill>
                    <a:schemeClr val="tx1"/>
                  </a:solidFill>
                  <a:latin typeface="Santander Text" panose="020B0504020201020104" pitchFamily="34" charset="0"/>
                </a:rPr>
                <a:t> (A)</a:t>
              </a:r>
            </a:p>
          </p:txBody>
        </p:sp>
        <p:sp>
          <p:nvSpPr>
            <p:cNvPr id="31" name="Rectangle 30">
              <a:extLst>
                <a:ext uri="{FF2B5EF4-FFF2-40B4-BE49-F238E27FC236}">
                  <a16:creationId xmlns:a16="http://schemas.microsoft.com/office/drawing/2014/main" id="{ED5A1CF6-BF29-4332-8B39-51536CADC37E}"/>
                </a:ext>
              </a:extLst>
            </p:cNvPr>
            <p:cNvSpPr/>
            <p:nvPr/>
          </p:nvSpPr>
          <p:spPr>
            <a:xfrm>
              <a:off x="4671344" y="32129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X</a:t>
              </a:r>
            </a:p>
          </p:txBody>
        </p:sp>
        <p:sp>
          <p:nvSpPr>
            <p:cNvPr id="32" name="Rectangle 31">
              <a:extLst>
                <a:ext uri="{FF2B5EF4-FFF2-40B4-BE49-F238E27FC236}">
                  <a16:creationId xmlns:a16="http://schemas.microsoft.com/office/drawing/2014/main" id="{DFAD8B58-D6DD-49EF-B32E-CD60C526A183}"/>
                </a:ext>
              </a:extLst>
            </p:cNvPr>
            <p:cNvSpPr/>
            <p:nvPr/>
          </p:nvSpPr>
          <p:spPr>
            <a:xfrm>
              <a:off x="5015880" y="35571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Moderate</a:t>
              </a:r>
              <a:r>
                <a:rPr lang="pt-PT" sz="1200" dirty="0">
                  <a:solidFill>
                    <a:schemeClr val="tx1"/>
                  </a:solidFill>
                  <a:latin typeface="Santander Text" panose="020B0504020201020104" pitchFamily="34" charset="0"/>
                </a:rPr>
                <a:t> (B)</a:t>
              </a:r>
            </a:p>
          </p:txBody>
        </p:sp>
        <p:sp>
          <p:nvSpPr>
            <p:cNvPr id="33" name="Rectangle 32">
              <a:extLst>
                <a:ext uri="{FF2B5EF4-FFF2-40B4-BE49-F238E27FC236}">
                  <a16:creationId xmlns:a16="http://schemas.microsoft.com/office/drawing/2014/main" id="{199E60ED-2768-40A0-965E-4FF1C9E7EF12}"/>
                </a:ext>
              </a:extLst>
            </p:cNvPr>
            <p:cNvSpPr/>
            <p:nvPr/>
          </p:nvSpPr>
          <p:spPr>
            <a:xfrm>
              <a:off x="4671344" y="35571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34" name="Rectangle 33">
              <a:extLst>
                <a:ext uri="{FF2B5EF4-FFF2-40B4-BE49-F238E27FC236}">
                  <a16:creationId xmlns:a16="http://schemas.microsoft.com/office/drawing/2014/main" id="{09024D40-68BA-4C1D-851B-60F749BC8A2B}"/>
                </a:ext>
              </a:extLst>
            </p:cNvPr>
            <p:cNvSpPr/>
            <p:nvPr/>
          </p:nvSpPr>
          <p:spPr>
            <a:xfrm>
              <a:off x="5015880" y="39012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Low</a:t>
              </a:r>
              <a:r>
                <a:rPr lang="pt-PT" sz="1200" dirty="0">
                  <a:solidFill>
                    <a:schemeClr val="tx1"/>
                  </a:solidFill>
                  <a:latin typeface="Santander Text" panose="020B0504020201020104" pitchFamily="34" charset="0"/>
                </a:rPr>
                <a:t> (C)</a:t>
              </a:r>
            </a:p>
          </p:txBody>
        </p:sp>
        <p:sp>
          <p:nvSpPr>
            <p:cNvPr id="35" name="Rectangle 34">
              <a:extLst>
                <a:ext uri="{FF2B5EF4-FFF2-40B4-BE49-F238E27FC236}">
                  <a16:creationId xmlns:a16="http://schemas.microsoft.com/office/drawing/2014/main" id="{0BD3A88A-C991-4489-BD11-9589C39716ED}"/>
                </a:ext>
              </a:extLst>
            </p:cNvPr>
            <p:cNvSpPr/>
            <p:nvPr/>
          </p:nvSpPr>
          <p:spPr>
            <a:xfrm>
              <a:off x="4671344" y="39012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grpSp>
      <p:grpSp>
        <p:nvGrpSpPr>
          <p:cNvPr id="7" name="Group 6">
            <a:extLst>
              <a:ext uri="{FF2B5EF4-FFF2-40B4-BE49-F238E27FC236}">
                <a16:creationId xmlns:a16="http://schemas.microsoft.com/office/drawing/2014/main" id="{82601DAE-AC1E-4368-A7AA-7B69B1F6BB88}"/>
              </a:ext>
            </a:extLst>
          </p:cNvPr>
          <p:cNvGrpSpPr/>
          <p:nvPr/>
        </p:nvGrpSpPr>
        <p:grpSpPr>
          <a:xfrm>
            <a:off x="8587565" y="3863571"/>
            <a:ext cx="2893411" cy="984522"/>
            <a:chOff x="8587565" y="3212977"/>
            <a:chExt cx="2893411" cy="984522"/>
          </a:xfrm>
        </p:grpSpPr>
        <p:sp>
          <p:nvSpPr>
            <p:cNvPr id="43" name="Rectangle 42">
              <a:extLst>
                <a:ext uri="{FF2B5EF4-FFF2-40B4-BE49-F238E27FC236}">
                  <a16:creationId xmlns:a16="http://schemas.microsoft.com/office/drawing/2014/main" id="{DED3A0F3-19D4-43EC-A3DF-98E1FCD292BE}"/>
                </a:ext>
              </a:extLst>
            </p:cNvPr>
            <p:cNvSpPr/>
            <p:nvPr/>
          </p:nvSpPr>
          <p:spPr>
            <a:xfrm>
              <a:off x="8932101" y="321297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Critical</a:t>
              </a:r>
              <a:r>
                <a:rPr lang="pt-PT" sz="1200" dirty="0">
                  <a:solidFill>
                    <a:schemeClr val="tx1"/>
                  </a:solidFill>
                  <a:latin typeface="Santander Text" panose="020B0504020201020104" pitchFamily="34" charset="0"/>
                </a:rPr>
                <a:t> (A)</a:t>
              </a:r>
            </a:p>
          </p:txBody>
        </p:sp>
        <p:sp>
          <p:nvSpPr>
            <p:cNvPr id="44" name="Rectangle 43">
              <a:extLst>
                <a:ext uri="{FF2B5EF4-FFF2-40B4-BE49-F238E27FC236}">
                  <a16:creationId xmlns:a16="http://schemas.microsoft.com/office/drawing/2014/main" id="{76324A11-FF62-482D-AB01-73F0BB0DE2CF}"/>
                </a:ext>
              </a:extLst>
            </p:cNvPr>
            <p:cNvSpPr/>
            <p:nvPr/>
          </p:nvSpPr>
          <p:spPr>
            <a:xfrm>
              <a:off x="8587565" y="321297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45" name="Rectangle 44">
              <a:extLst>
                <a:ext uri="{FF2B5EF4-FFF2-40B4-BE49-F238E27FC236}">
                  <a16:creationId xmlns:a16="http://schemas.microsoft.com/office/drawing/2014/main" id="{31BD633A-4687-430F-A40C-22FB4380EB4A}"/>
                </a:ext>
              </a:extLst>
            </p:cNvPr>
            <p:cNvSpPr/>
            <p:nvPr/>
          </p:nvSpPr>
          <p:spPr>
            <a:xfrm>
              <a:off x="8932101" y="3557102"/>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Medium</a:t>
              </a:r>
              <a:r>
                <a:rPr lang="pt-PT" sz="1200" dirty="0">
                  <a:solidFill>
                    <a:schemeClr val="tx1"/>
                  </a:solidFill>
                  <a:latin typeface="Santander Text" panose="020B0504020201020104" pitchFamily="34" charset="0"/>
                </a:rPr>
                <a:t> (B)</a:t>
              </a:r>
            </a:p>
          </p:txBody>
        </p:sp>
        <p:sp>
          <p:nvSpPr>
            <p:cNvPr id="46" name="Rectangle 45">
              <a:extLst>
                <a:ext uri="{FF2B5EF4-FFF2-40B4-BE49-F238E27FC236}">
                  <a16:creationId xmlns:a16="http://schemas.microsoft.com/office/drawing/2014/main" id="{182CE238-F114-44AF-8305-89A42A6A74D1}"/>
                </a:ext>
              </a:extLst>
            </p:cNvPr>
            <p:cNvSpPr/>
            <p:nvPr/>
          </p:nvSpPr>
          <p:spPr>
            <a:xfrm>
              <a:off x="8587565" y="3557102"/>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1200" dirty="0">
                <a:solidFill>
                  <a:schemeClr val="tx1"/>
                </a:solidFill>
                <a:latin typeface="Santander Text" panose="020B0504020201020104" pitchFamily="34" charset="0"/>
              </a:endParaRPr>
            </a:p>
          </p:txBody>
        </p:sp>
        <p:sp>
          <p:nvSpPr>
            <p:cNvPr id="47" name="Rectangle 46">
              <a:extLst>
                <a:ext uri="{FF2B5EF4-FFF2-40B4-BE49-F238E27FC236}">
                  <a16:creationId xmlns:a16="http://schemas.microsoft.com/office/drawing/2014/main" id="{F3A76FC4-5688-4EE7-B726-8190A0AF6909}"/>
                </a:ext>
              </a:extLst>
            </p:cNvPr>
            <p:cNvSpPr/>
            <p:nvPr/>
          </p:nvSpPr>
          <p:spPr>
            <a:xfrm>
              <a:off x="8932101" y="3901227"/>
              <a:ext cx="2548875"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PT" sz="1200" dirty="0" err="1">
                  <a:solidFill>
                    <a:schemeClr val="tx1"/>
                  </a:solidFill>
                  <a:latin typeface="Santander Text" panose="020B0504020201020104" pitchFamily="34" charset="0"/>
                </a:rPr>
                <a:t>Low</a:t>
              </a:r>
              <a:r>
                <a:rPr lang="pt-PT" sz="1200" dirty="0">
                  <a:solidFill>
                    <a:schemeClr val="tx1"/>
                  </a:solidFill>
                  <a:latin typeface="Santander Text" panose="020B0504020201020104" pitchFamily="34" charset="0"/>
                </a:rPr>
                <a:t> (C)</a:t>
              </a:r>
            </a:p>
          </p:txBody>
        </p:sp>
        <p:sp>
          <p:nvSpPr>
            <p:cNvPr id="48" name="Rectangle 47">
              <a:extLst>
                <a:ext uri="{FF2B5EF4-FFF2-40B4-BE49-F238E27FC236}">
                  <a16:creationId xmlns:a16="http://schemas.microsoft.com/office/drawing/2014/main" id="{285D0BE4-EA7C-4A76-B511-A6A71FAB91FE}"/>
                </a:ext>
              </a:extLst>
            </p:cNvPr>
            <p:cNvSpPr/>
            <p:nvPr/>
          </p:nvSpPr>
          <p:spPr>
            <a:xfrm>
              <a:off x="8587565" y="3901227"/>
              <a:ext cx="295200" cy="296272"/>
            </a:xfrm>
            <a:prstGeom prst="rect">
              <a:avLst/>
            </a:prstGeom>
            <a:solidFill>
              <a:schemeClr val="bg1"/>
            </a:solidFill>
            <a:ln>
              <a:solidFill>
                <a:schemeClr val="tx1">
                  <a:lumMod val="65000"/>
                  <a:lumOff val="3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PT" sz="1200" dirty="0">
                  <a:solidFill>
                    <a:schemeClr val="tx1"/>
                  </a:solidFill>
                  <a:latin typeface="Santander Text" panose="020B0504020201020104" pitchFamily="34" charset="0"/>
                </a:rPr>
                <a:t>X</a:t>
              </a:r>
            </a:p>
          </p:txBody>
        </p:sp>
      </p:grpSp>
      <p:sp>
        <p:nvSpPr>
          <p:cNvPr id="8" name="Rectangle: Rounded Corners 7">
            <a:extLst>
              <a:ext uri="{FF2B5EF4-FFF2-40B4-BE49-F238E27FC236}">
                <a16:creationId xmlns:a16="http://schemas.microsoft.com/office/drawing/2014/main" id="{09356CEC-F73D-40C6-916C-6B64C07B9BE4}"/>
              </a:ext>
            </a:extLst>
          </p:cNvPr>
          <p:cNvSpPr/>
          <p:nvPr/>
        </p:nvSpPr>
        <p:spPr>
          <a:xfrm>
            <a:off x="474700"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49" name="Rectangle: Rounded Corners 48">
            <a:extLst>
              <a:ext uri="{FF2B5EF4-FFF2-40B4-BE49-F238E27FC236}">
                <a16:creationId xmlns:a16="http://schemas.microsoft.com/office/drawing/2014/main" id="{E2EC5191-0E39-49FC-BA9E-362563E4C376}"/>
              </a:ext>
            </a:extLst>
          </p:cNvPr>
          <p:cNvSpPr/>
          <p:nvPr/>
        </p:nvSpPr>
        <p:spPr>
          <a:xfrm>
            <a:off x="4439826"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50" name="Rectangle: Rounded Corners 49">
            <a:extLst>
              <a:ext uri="{FF2B5EF4-FFF2-40B4-BE49-F238E27FC236}">
                <a16:creationId xmlns:a16="http://schemas.microsoft.com/office/drawing/2014/main" id="{890A0C4E-8B8C-4CED-8BA8-1331721BA8CA}"/>
              </a:ext>
            </a:extLst>
          </p:cNvPr>
          <p:cNvSpPr/>
          <p:nvPr/>
        </p:nvSpPr>
        <p:spPr>
          <a:xfrm>
            <a:off x="8386195" y="5013176"/>
            <a:ext cx="3312368" cy="1080120"/>
          </a:xfrm>
          <a:prstGeom prst="roundRect">
            <a:avLst>
              <a:gd name="adj" fmla="val 6804"/>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PT" sz="1100" dirty="0">
                <a:solidFill>
                  <a:schemeClr val="tx1"/>
                </a:solidFill>
                <a:latin typeface="Santander Text" panose="020B0504020201020104" pitchFamily="34" charset="0"/>
              </a:rPr>
              <a:t>Observações:</a:t>
            </a:r>
          </a:p>
        </p:txBody>
      </p:sp>
      <p:sp>
        <p:nvSpPr>
          <p:cNvPr id="51" name="Action Button: Get Information 50">
            <a:hlinkClick r:id="rId3" action="ppaction://hlinksldjump" highlightClick="1"/>
            <a:extLst>
              <a:ext uri="{FF2B5EF4-FFF2-40B4-BE49-F238E27FC236}">
                <a16:creationId xmlns:a16="http://schemas.microsoft.com/office/drawing/2014/main" id="{A725D155-6CD7-42CC-8D88-AC2B5C097E5A}"/>
              </a:ext>
            </a:extLst>
          </p:cNvPr>
          <p:cNvSpPr/>
          <p:nvPr/>
        </p:nvSpPr>
        <p:spPr>
          <a:xfrm>
            <a:off x="11715543" y="71744"/>
            <a:ext cx="360040" cy="360040"/>
          </a:xfrm>
          <a:prstGeom prst="actionButtonInformation">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pt-PT"/>
          </a:p>
        </p:txBody>
      </p:sp>
      <p:sp>
        <p:nvSpPr>
          <p:cNvPr id="52" name="TextBox 51">
            <a:extLst>
              <a:ext uri="{FF2B5EF4-FFF2-40B4-BE49-F238E27FC236}">
                <a16:creationId xmlns:a16="http://schemas.microsoft.com/office/drawing/2014/main" id="{C13A817F-BF3E-464D-A9EE-E34219D30F45}"/>
              </a:ext>
            </a:extLst>
          </p:cNvPr>
          <p:cNvSpPr txBox="1"/>
          <p:nvPr/>
        </p:nvSpPr>
        <p:spPr>
          <a:xfrm>
            <a:off x="10938980" y="113265"/>
            <a:ext cx="759583" cy="276999"/>
          </a:xfrm>
          <a:prstGeom prst="rect">
            <a:avLst/>
          </a:prstGeom>
          <a:noFill/>
        </p:spPr>
        <p:txBody>
          <a:bodyPr wrap="square" rtlCol="0">
            <a:spAutoFit/>
          </a:bodyPr>
          <a:lstStyle/>
          <a:p>
            <a:pPr algn="r"/>
            <a:r>
              <a:rPr lang="pt-PT" sz="1200" dirty="0">
                <a:solidFill>
                  <a:schemeClr val="accent3"/>
                </a:solidFill>
                <a:latin typeface="Santander Text" panose="020B0504020201020104" pitchFamily="34" charset="0"/>
              </a:rPr>
              <a:t>Anexos</a:t>
            </a:r>
          </a:p>
        </p:txBody>
      </p:sp>
    </p:spTree>
    <p:extLst>
      <p:ext uri="{BB962C8B-B14F-4D97-AF65-F5344CB8AC3E}">
        <p14:creationId xmlns:p14="http://schemas.microsoft.com/office/powerpoint/2010/main" val="885845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err="1"/>
              <a:t>Checklist</a:t>
            </a:r>
            <a:r>
              <a:rPr lang="pt-PT" dirty="0"/>
              <a:t> da Solução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06</a:t>
            </a:r>
          </a:p>
        </p:txBody>
      </p:sp>
    </p:spTree>
    <p:extLst>
      <p:ext uri="{BB962C8B-B14F-4D97-AF65-F5344CB8AC3E}">
        <p14:creationId xmlns:p14="http://schemas.microsoft.com/office/powerpoint/2010/main" val="1103866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106420" y="114373"/>
            <a:ext cx="6185198" cy="538770"/>
          </a:xfrm>
        </p:spPr>
        <p:txBody>
          <a:bodyPr/>
          <a:lstStyle/>
          <a:p>
            <a:r>
              <a:rPr lang="pt-PT" sz="2400" dirty="0" err="1"/>
              <a:t>Checklist</a:t>
            </a:r>
            <a:r>
              <a:rPr lang="pt-PT" sz="2400" dirty="0"/>
              <a:t> da Solução</a:t>
            </a:r>
            <a:br>
              <a:rPr lang="pt-PT" sz="2400" dirty="0"/>
            </a:br>
            <a:r>
              <a:rPr lang="pt-PT" sz="1800" dirty="0">
                <a:solidFill>
                  <a:schemeClr val="tx1">
                    <a:lumMod val="75000"/>
                    <a:lumOff val="25000"/>
                  </a:schemeClr>
                </a:solidFill>
              </a:rPr>
              <a:t>A preencher pelo Enterprise </a:t>
            </a:r>
            <a:r>
              <a:rPr lang="pt-PT" sz="1800" dirty="0" err="1">
                <a:solidFill>
                  <a:schemeClr val="tx1">
                    <a:lumMod val="75000"/>
                    <a:lumOff val="25000"/>
                  </a:schemeClr>
                </a:solidFill>
              </a:rPr>
              <a:t>Architect</a:t>
            </a:r>
            <a:endParaRPr lang="pt-PT" sz="2400" dirty="0">
              <a:solidFill>
                <a:schemeClr val="tx1">
                  <a:lumMod val="75000"/>
                  <a:lumOff val="25000"/>
                </a:schemeClr>
              </a:solidFill>
            </a:endParaRPr>
          </a:p>
        </p:txBody>
      </p:sp>
      <p:sp>
        <p:nvSpPr>
          <p:cNvPr id="4" name="Slide Number Placeholder 3"/>
          <p:cNvSpPr>
            <a:spLocks noGrp="1"/>
          </p:cNvSpPr>
          <p:nvPr>
            <p:ph type="sldNum" sz="quarter" idx="12"/>
          </p:nvPr>
        </p:nvSpPr>
        <p:spPr/>
        <p:txBody>
          <a:bodyPr/>
          <a:lstStyle/>
          <a:p>
            <a:fld id="{BC0D97B6-E32F-4D7D-B839-7C3B51F2640F}" type="slidenum">
              <a:rPr lang="pt-PT" smtClean="0"/>
              <a:pPr/>
              <a:t>21</a:t>
            </a:fld>
            <a:endParaRPr lang="pt-PT" dirty="0"/>
          </a:p>
        </p:txBody>
      </p:sp>
      <p:graphicFrame>
        <p:nvGraphicFramePr>
          <p:cNvPr id="5" name="Group 3">
            <a:extLst>
              <a:ext uri="{FF2B5EF4-FFF2-40B4-BE49-F238E27FC236}">
                <a16:creationId xmlns:a16="http://schemas.microsoft.com/office/drawing/2014/main" id="{E9CA777D-D26D-97C4-8091-177E4A812D6C}"/>
              </a:ext>
            </a:extLst>
          </p:cNvPr>
          <p:cNvGraphicFramePr>
            <a:graphicFrameLocks noGrp="1"/>
          </p:cNvGraphicFramePr>
          <p:nvPr>
            <p:extLst>
              <p:ext uri="{D42A27DB-BD31-4B8C-83A1-F6EECF244321}">
                <p14:modId xmlns:p14="http://schemas.microsoft.com/office/powerpoint/2010/main" val="1473394166"/>
              </p:ext>
            </p:extLst>
          </p:nvPr>
        </p:nvGraphicFramePr>
        <p:xfrm>
          <a:off x="263352" y="764704"/>
          <a:ext cx="11521280" cy="5430206"/>
        </p:xfrm>
        <a:graphic>
          <a:graphicData uri="http://schemas.openxmlformats.org/drawingml/2006/table">
            <a:tbl>
              <a:tblPr/>
              <a:tblGrid>
                <a:gridCol w="2952328">
                  <a:extLst>
                    <a:ext uri="{9D8B030D-6E8A-4147-A177-3AD203B41FA5}">
                      <a16:colId xmlns:a16="http://schemas.microsoft.com/office/drawing/2014/main" val="20000"/>
                    </a:ext>
                  </a:extLst>
                </a:gridCol>
                <a:gridCol w="8568952">
                  <a:extLst>
                    <a:ext uri="{9D8B030D-6E8A-4147-A177-3AD203B41FA5}">
                      <a16:colId xmlns:a16="http://schemas.microsoft.com/office/drawing/2014/main" val="20002"/>
                    </a:ext>
                  </a:extLst>
                </a:gridCol>
              </a:tblGrid>
              <a:tr h="504056">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600" b="1" i="1" u="none" strike="noStrike" cap="none" normalizeH="0" baseline="0" noProof="0" dirty="0" err="1">
                          <a:ln>
                            <a:noFill/>
                          </a:ln>
                          <a:solidFill>
                            <a:schemeClr val="bg1"/>
                          </a:solidFill>
                          <a:effectLst/>
                          <a:latin typeface="Santander Text" panose="020B0504020201020104" pitchFamily="34" charset="0"/>
                        </a:rPr>
                        <a:t>Quality</a:t>
                      </a:r>
                      <a:r>
                        <a:rPr kumimoji="0" lang="pt-PT" sz="1600" b="1" i="1" u="none" strike="noStrike" cap="none" normalizeH="0" baseline="0" noProof="0" dirty="0">
                          <a:ln>
                            <a:noFill/>
                          </a:ln>
                          <a:solidFill>
                            <a:schemeClr val="bg1"/>
                          </a:solidFill>
                          <a:effectLst/>
                          <a:latin typeface="Santander Text" panose="020B0504020201020104" pitchFamily="34" charset="0"/>
                        </a:rPr>
                        <a:t> Gate</a:t>
                      </a: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600" b="1" i="0" u="none" strike="noStrike" cap="none" normalizeH="0" baseline="0" noProof="0" dirty="0">
                          <a:ln>
                            <a:noFill/>
                          </a:ln>
                          <a:solidFill>
                            <a:schemeClr val="bg1"/>
                          </a:solidFill>
                          <a:effectLst/>
                          <a:latin typeface="Santander Text" panose="020B0504020201020104" pitchFamily="34" charset="0"/>
                        </a:rPr>
                        <a:t>Descrição / Finalidade</a:t>
                      </a: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0">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400" b="0" i="0" u="none" strike="noStrike" cap="none" normalizeH="0" baseline="0" noProof="0" dirty="0">
                          <a:ln>
                            <a:noFill/>
                          </a:ln>
                          <a:solidFill>
                            <a:schemeClr val="tx1"/>
                          </a:solidFill>
                          <a:effectLst/>
                          <a:latin typeface="Santander Text" panose="020B0504020201020104" pitchFamily="34" charset="0"/>
                        </a:rPr>
                        <a:t>Requisitos de negócio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100" b="0" i="0" u="none" strike="noStrike" cap="none" normalizeH="0" baseline="0" noProof="0" dirty="0">
                          <a:ln>
                            <a:noFill/>
                          </a:ln>
                          <a:solidFill>
                            <a:schemeClr val="tx1"/>
                          </a:solidFill>
                          <a:effectLst/>
                          <a:latin typeface="Santander Text" panose="020B0504020201020104" pitchFamily="34" charset="0"/>
                        </a:rPr>
                        <a:t>Necessidade de definição detalhada de requisitos e </a:t>
                      </a:r>
                      <a:r>
                        <a:rPr kumimoji="0" lang="pt-PT" sz="1100" b="0" i="0" u="none" strike="noStrike" cap="none" normalizeH="0" baseline="0" noProof="0" dirty="0" err="1">
                          <a:ln>
                            <a:noFill/>
                          </a:ln>
                          <a:solidFill>
                            <a:schemeClr val="tx1"/>
                          </a:solidFill>
                          <a:effectLst/>
                          <a:latin typeface="Santander Text" panose="020B0504020201020104" pitchFamily="34" charset="0"/>
                        </a:rPr>
                        <a:t>user</a:t>
                      </a:r>
                      <a:r>
                        <a:rPr kumimoji="0" lang="pt-PT" sz="1100" b="0" i="0" u="none" strike="noStrike" cap="none" normalizeH="0" baseline="0" noProof="0" dirty="0">
                          <a:ln>
                            <a:noFill/>
                          </a:ln>
                          <a:solidFill>
                            <a:schemeClr val="tx1"/>
                          </a:solidFill>
                          <a:effectLst/>
                          <a:latin typeface="Santander Text" panose="020B0504020201020104" pitchFamily="34" charset="0"/>
                        </a:rPr>
                        <a:t> </a:t>
                      </a:r>
                      <a:r>
                        <a:rPr kumimoji="0" lang="pt-PT" sz="1100" b="0" i="0" u="none" strike="noStrike" cap="none" normalizeH="0" baseline="0" noProof="0" dirty="0" err="1">
                          <a:ln>
                            <a:noFill/>
                          </a:ln>
                          <a:solidFill>
                            <a:schemeClr val="tx1"/>
                          </a:solidFill>
                          <a:effectLst/>
                          <a:latin typeface="Santander Text" panose="020B0504020201020104" pitchFamily="34" charset="0"/>
                        </a:rPr>
                        <a:t>stories</a:t>
                      </a:r>
                      <a:r>
                        <a:rPr kumimoji="0" lang="pt-PT" sz="1100" b="0" i="0" u="none" strike="noStrike" cap="none" normalizeH="0" baseline="0" noProof="0" dirty="0">
                          <a:ln>
                            <a:noFill/>
                          </a:ln>
                          <a:solidFill>
                            <a:schemeClr val="tx1"/>
                          </a:solidFill>
                          <a:effectLst/>
                          <a:latin typeface="Santander Text" panose="020B0504020201020104" pitchFamily="34" charset="0"/>
                        </a:rPr>
                        <a:t> para os vários casos de uso identificados </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Responsável de negócio </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lang="pt-PT" sz="1100" dirty="0">
                          <a:solidFill>
                            <a:prstClr val="black"/>
                          </a:solidFill>
                          <a:latin typeface="Santander Text" panose="020B0504020201020104" pitchFamily="34" charset="0"/>
                        </a:rPr>
                        <a:t>Definir um responsável de negócio e estrutura de governo para Definir, Decidir e Acompanhar os use cases e respectiva implementação, incluindo teste de aceitação e aprovação para subida a Produção. Este responsável deverá também ter a capacidade de </a:t>
                      </a: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entender o impacto e a possível reutilização entre iniciativas</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Planeamento do desenho da solução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Definir um calendário de actividades adequado á complexidade da solução e dos casos de uso em análise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Tipo de abordagem da Solução desenhada</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Abordar a iniciativas em modo Agile, definindo um MVP que possa evoluir por sprints para uma solução holística e escalável. Evitar soluções tácticas, suportadas por </a:t>
                      </a:r>
                      <a:r>
                        <a:rPr kumimoji="0" lang="pt-PT" sz="1100" b="0" i="0" u="none" strike="noStrike" cap="none" normalizeH="0" baseline="0" noProof="0" dirty="0" err="1">
                          <a:ln>
                            <a:noFill/>
                          </a:ln>
                          <a:solidFill>
                            <a:schemeClr val="tx1"/>
                          </a:solidFill>
                          <a:effectLst/>
                          <a:latin typeface="Santander Text" panose="020B0504020201020104" pitchFamily="34" charset="0"/>
                        </a:rPr>
                        <a:t>manualidades</a:t>
                      </a:r>
                      <a:r>
                        <a:rPr kumimoji="0" lang="pt-PT" sz="1100" b="0" i="0" u="none" strike="noStrike" cap="none" normalizeH="0" baseline="0" noProof="0" dirty="0">
                          <a:ln>
                            <a:noFill/>
                          </a:ln>
                          <a:solidFill>
                            <a:schemeClr val="tx1"/>
                          </a:solidFill>
                          <a:effectLst/>
                          <a:latin typeface="Santander Text" panose="020B0504020201020104" pitchFamily="34" charset="0"/>
                        </a:rPr>
                        <a:t> com elevado risco operacional associado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Adequação das ferramentas à solução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Evitar desvirtuar o objectivo de negócio para o qual determinada solução é desenhada (p.e. </a:t>
                      </a:r>
                      <a:r>
                        <a:rPr kumimoji="0" lang="pt-PT" sz="1100" b="0" i="0" u="none" strike="noStrike" cap="none" normalizeH="0" baseline="0" noProof="0" dirty="0" err="1">
                          <a:ln>
                            <a:noFill/>
                          </a:ln>
                          <a:solidFill>
                            <a:schemeClr val="tx1"/>
                          </a:solidFill>
                          <a:effectLst/>
                          <a:latin typeface="Santander Text" panose="020B0504020201020104" pitchFamily="34" charset="0"/>
                        </a:rPr>
                        <a:t>Front-end</a:t>
                      </a:r>
                      <a:r>
                        <a:rPr kumimoji="0" lang="pt-PT" sz="1100" b="0" i="0" u="none" strike="noStrike" cap="none" normalizeH="0" baseline="0" noProof="0" dirty="0">
                          <a:ln>
                            <a:noFill/>
                          </a:ln>
                          <a:solidFill>
                            <a:schemeClr val="tx1"/>
                          </a:solidFill>
                          <a:effectLst/>
                          <a:latin typeface="Santander Text" panose="020B0504020201020104" pitchFamily="34" charset="0"/>
                        </a:rPr>
                        <a:t> “Upload </a:t>
                      </a:r>
                      <a:r>
                        <a:rPr kumimoji="0" lang="pt-PT" sz="1100" b="0" i="0" u="none" strike="noStrike" cap="none" normalizeH="0" baseline="0" noProof="0" dirty="0" err="1">
                          <a:ln>
                            <a:noFill/>
                          </a:ln>
                          <a:solidFill>
                            <a:schemeClr val="tx1"/>
                          </a:solidFill>
                          <a:effectLst/>
                          <a:latin typeface="Santander Text" panose="020B0504020201020104" pitchFamily="34" charset="0"/>
                        </a:rPr>
                        <a:t>Datalake</a:t>
                      </a:r>
                      <a:r>
                        <a:rPr kumimoji="0" lang="pt-PT" sz="1100" b="0" i="0" u="none" strike="noStrike" cap="none" normalizeH="0" baseline="0" noProof="0" dirty="0">
                          <a:ln>
                            <a:noFill/>
                          </a:ln>
                          <a:solidFill>
                            <a:schemeClr val="tx1"/>
                          </a:solidFill>
                          <a:effectLst/>
                          <a:latin typeface="Santander Text" panose="020B0504020201020104" pitchFamily="34" charset="0"/>
                        </a:rPr>
                        <a:t>), não fazendo uso errado como ferramentas de integração entre sistemas que á partida não estão integrados;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15080">
                <a:tc rowSpan="4">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Envolvimento de outras áreas dentro e fora de IT</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CDO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00592">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DPO</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5250154"/>
                  </a:ext>
                </a:extLst>
              </a:tr>
              <a:tr h="200592">
                <a:tc vMerge="1">
                  <a:txBody>
                    <a:bodyPr/>
                    <a:lstStyle/>
                    <a:p>
                      <a:endParaRPr lang="pt-PT"/>
                    </a:p>
                  </a:txBody>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Cibersegurança</a:t>
                      </a:r>
                      <a:endPar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35015084"/>
                  </a:ext>
                </a:extLst>
              </a:tr>
              <a:tr h="98328">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Áreas de Negócio Afectadas</a:t>
                      </a: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17876336"/>
                  </a:ext>
                </a:extLst>
              </a:tr>
              <a:tr h="0">
                <a:tc rowSpan="6">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defRPr/>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RGPD e Fusão de Clientes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Serão criados novos campos de dados pessoais?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0">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Manipula/Altera dados pessoais?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125784">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Mostra informação de cliente?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10148619"/>
                  </a:ext>
                </a:extLst>
              </a:tr>
              <a:tr h="117408">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pPr>
                      <a:r>
                        <a:rPr kumimoji="0" lang="pt-PT" sz="1100" b="0" i="0" u="none" strike="noStrike" cap="none" normalizeH="0" baseline="0" noProof="0" dirty="0">
                          <a:ln>
                            <a:noFill/>
                          </a:ln>
                          <a:solidFill>
                            <a:schemeClr val="tx1"/>
                          </a:solidFill>
                          <a:effectLst/>
                          <a:latin typeface="Santander Text" panose="020B0504020201020104" pitchFamily="34" charset="0"/>
                        </a:rPr>
                        <a:t>Envia informação de cliente para entidade interna ou externa?</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46139031"/>
                  </a:ext>
                </a:extLst>
              </a:tr>
              <a:tr h="109032">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Regista o </a:t>
                      </a: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nr</a:t>
                      </a: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 de Cliente em BD </a:t>
                      </a:r>
                      <a:r>
                        <a:rPr kumimoji="0" lang="pt-PT" sz="1100" b="0" i="0" u="none" strike="noStrike" kern="1200" cap="none" normalizeH="0" baseline="0" noProof="0" dirty="0" err="1">
                          <a:ln>
                            <a:noFill/>
                          </a:ln>
                          <a:solidFill>
                            <a:schemeClr val="tx1"/>
                          </a:solidFill>
                          <a:effectLst/>
                          <a:latin typeface="Santander Text" panose="020B0504020201020104" pitchFamily="34" charset="0"/>
                          <a:ea typeface="+mn-ea"/>
                          <a:cs typeface="+mn-cs"/>
                        </a:rPr>
                        <a:t>Host</a:t>
                      </a: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 ou Sistemas Médios?</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46254754"/>
                  </a:ext>
                </a:extLst>
              </a:tr>
              <a:tr h="100656">
                <a:tc vMerge="1">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9525" cap="flat" cmpd="sng" algn="ctr">
                      <a:solidFill>
                        <a:schemeClr val="tx1">
                          <a:lumMod val="50000"/>
                          <a:lumOff val="50000"/>
                        </a:schemeClr>
                      </a:solidFill>
                      <a:prstDash val="solid"/>
                      <a:round/>
                      <a:headEnd type="none" w="med" len="med"/>
                      <a:tailEnd type="none" w="med" len="med"/>
                    </a:lnL>
                    <a:lnR w="9525" cap="flat" cmpd="sng" algn="ctr">
                      <a:solidFill>
                        <a:schemeClr val="tx1">
                          <a:lumMod val="50000"/>
                          <a:lumOff val="50000"/>
                        </a:schemeClr>
                      </a:solidFill>
                      <a:prstDash val="solid"/>
                      <a:round/>
                      <a:headEnd type="none" w="med" len="med"/>
                      <a:tailEnd type="none" w="med" len="med"/>
                    </a:lnR>
                    <a:lnT w="9525" cap="flat" cmpd="sng" algn="ctr">
                      <a:solidFill>
                        <a:schemeClr val="tx1">
                          <a:lumMod val="50000"/>
                          <a:lumOff val="50000"/>
                        </a:schemeClr>
                      </a:solidFill>
                      <a:prstDash val="solid"/>
                      <a:round/>
                      <a:headEnd type="none" w="med" len="med"/>
                      <a:tailEnd type="none" w="med" len="med"/>
                    </a:lnT>
                    <a:lnB w="9525"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90000"/>
                        </a:lnSpc>
                        <a:spcBef>
                          <a:spcPts val="0"/>
                        </a:spcBef>
                        <a:spcAft>
                          <a:spcPct val="0"/>
                        </a:spcAft>
                        <a:buClr>
                          <a:schemeClr val="bg1"/>
                        </a:buClr>
                        <a:buSzPct val="25000"/>
                        <a:buFont typeface="Times" pitchFamily="18" charset="0"/>
                        <a:buNone/>
                        <a:tabLst/>
                        <a:defRPr/>
                      </a:pPr>
                      <a:r>
                        <a:rPr kumimoji="0" lang="pt-PT" sz="1100" b="0" i="0" u="none" strike="noStrike" kern="1200" cap="none" normalizeH="0" baseline="0" noProof="0" dirty="0">
                          <a:ln>
                            <a:noFill/>
                          </a:ln>
                          <a:solidFill>
                            <a:schemeClr val="tx1"/>
                          </a:solidFill>
                          <a:effectLst/>
                          <a:latin typeface="Santander Text" panose="020B0504020201020104" pitchFamily="34" charset="0"/>
                          <a:ea typeface="+mn-ea"/>
                          <a:cs typeface="+mn-cs"/>
                        </a:rPr>
                        <a:t>Tem ficheiros/interfaces com código de Cliente?</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53202604"/>
                  </a:ext>
                </a:extLst>
              </a:tr>
              <a:tr h="322875">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400" b="0" i="0" u="none" strike="noStrike" cap="none" normalizeH="0" baseline="0" noProof="0" dirty="0">
                          <a:ln>
                            <a:noFill/>
                          </a:ln>
                          <a:solidFill>
                            <a:schemeClr val="tx1"/>
                          </a:solidFill>
                          <a:effectLst/>
                          <a:latin typeface="Santander Text" panose="020B0504020201020104" pitchFamily="34" charset="0"/>
                        </a:rPr>
                        <a:t>Reporte ao Regulador</a:t>
                      </a: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ts val="0"/>
                        </a:spcBef>
                        <a:spcAft>
                          <a:spcPct val="0"/>
                        </a:spcAft>
                        <a:buClr>
                          <a:schemeClr val="bg1"/>
                        </a:buClr>
                        <a:buSzPct val="25000"/>
                        <a:buFont typeface="Times" pitchFamily="18" charset="0"/>
                        <a:buNone/>
                        <a:tabLst/>
                      </a:pP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Caso haja dados expostos em </a:t>
                      </a:r>
                      <a:r>
                        <a:rPr kumimoji="0" lang="pt-PT" sz="1100" b="0" i="0" u="none" strike="noStrike" kern="1200" cap="none" spc="0" normalizeH="0" baseline="0" noProof="0" dirty="0" err="1">
                          <a:ln>
                            <a:noFill/>
                          </a:ln>
                          <a:solidFill>
                            <a:prstClr val="black"/>
                          </a:solidFill>
                          <a:effectLst/>
                          <a:uLnTx/>
                          <a:uFillTx/>
                          <a:latin typeface="Santander Text" panose="020B0504020201020104" pitchFamily="34" charset="0"/>
                        </a:rPr>
                        <a:t>Cloud</a:t>
                      </a:r>
                      <a:r>
                        <a:rPr kumimoji="0" lang="pt-PT" sz="1100" b="0" i="0" u="none" strike="noStrike" kern="1200" cap="none" spc="0" normalizeH="0" baseline="0" noProof="0" dirty="0">
                          <a:ln>
                            <a:noFill/>
                          </a:ln>
                          <a:solidFill>
                            <a:prstClr val="black"/>
                          </a:solidFill>
                          <a:effectLst/>
                          <a:uLnTx/>
                          <a:uFillTx/>
                          <a:latin typeface="Santander Text" panose="020B0504020201020104" pitchFamily="34" charset="0"/>
                        </a:rPr>
                        <a:t> pública</a:t>
                      </a:r>
                      <a:endParaRPr kumimoji="0" lang="pt-PT" sz="1100" b="0" i="0" u="none" strike="noStrike" cap="none" normalizeH="0" baseline="0" noProof="0" dirty="0">
                        <a:ln>
                          <a:noFill/>
                        </a:ln>
                        <a:solidFill>
                          <a:schemeClr val="tx1"/>
                        </a:solidFill>
                        <a:effectLst/>
                        <a:latin typeface="Santander Text" panose="020B0504020201020104" pitchFamily="34" charset="0"/>
                      </a:endParaRPr>
                    </a:p>
                  </a:txBody>
                  <a:tcPr marL="36000" marR="36000" marT="36000" marB="36000"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194054">
                <a:tc>
                  <a:txBody>
                    <a:bodyPr/>
                    <a:lstStyle/>
                    <a:p>
                      <a:pPr marL="0" marR="0" lvl="0" indent="0" algn="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400" b="0" i="0" u="none" strike="noStrike" kern="1200" cap="none" normalizeH="0" baseline="0" noProof="0" dirty="0">
                        <a:ln>
                          <a:noFill/>
                        </a:ln>
                        <a:solidFill>
                          <a:schemeClr val="bg1"/>
                        </a:solidFill>
                        <a:effectLst/>
                        <a:latin typeface="Santander Text" panose="020B0504020201020104" pitchFamily="34" charset="0"/>
                        <a:ea typeface="+mn-ea"/>
                        <a:cs typeface="+mn-cs"/>
                      </a:endParaRP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tc>
                  <a:txBody>
                    <a:bodyPr/>
                    <a:lstStyle/>
                    <a:p>
                      <a:pPr marL="0" marR="0" lvl="0" indent="0" algn="r" defTabSz="914400" rtl="0" eaLnBrk="1" fontAlgn="base" latinLnBrk="0" hangingPunct="1">
                        <a:lnSpc>
                          <a:spcPct val="100000"/>
                        </a:lnSpc>
                        <a:spcBef>
                          <a:spcPts val="0"/>
                        </a:spcBef>
                        <a:spcAft>
                          <a:spcPct val="0"/>
                        </a:spcAft>
                        <a:buClr>
                          <a:schemeClr val="bg1"/>
                        </a:buClr>
                        <a:buSzPct val="25000"/>
                        <a:buFont typeface="Times" pitchFamily="18" charset="0"/>
                        <a:buNone/>
                        <a:tabLst/>
                      </a:pPr>
                      <a:endParaRPr kumimoji="0" lang="pt-PT" sz="1400" b="0" i="0" u="none" strike="noStrike" kern="1200" cap="none" normalizeH="0" baseline="0" noProof="0" dirty="0">
                        <a:ln>
                          <a:noFill/>
                        </a:ln>
                        <a:solidFill>
                          <a:schemeClr val="bg1"/>
                        </a:solidFill>
                        <a:effectLst/>
                        <a:latin typeface="Santander Text" panose="020B0504020201020104" pitchFamily="34" charset="0"/>
                        <a:ea typeface="+mn-ea"/>
                        <a:cs typeface="+mn-cs"/>
                      </a:endParaRPr>
                    </a:p>
                  </a:txBody>
                  <a:tcPr marL="36000" marR="36000" marT="36000" marB="36000" anchor="ctr" horzOverflow="overflow">
                    <a:lnL w="12700" cap="flat" cmpd="sng" algn="ctr">
                      <a:solidFill>
                        <a:schemeClr val="tx1">
                          <a:lumMod val="50000"/>
                          <a:lumOff val="50000"/>
                        </a:schemeClr>
                      </a:solidFill>
                      <a:prstDash val="solid"/>
                      <a:round/>
                      <a:headEnd type="none" w="med" len="med"/>
                      <a:tailEnd type="none" w="med" len="med"/>
                    </a:lnL>
                    <a:lnR w="12700" cap="flat" cmpd="sng" algn="ctr">
                      <a:solidFill>
                        <a:schemeClr val="tx1">
                          <a:lumMod val="50000"/>
                          <a:lumOff val="50000"/>
                        </a:schemeClr>
                      </a:solidFill>
                      <a:prstDash val="solid"/>
                      <a:round/>
                      <a:headEnd type="none" w="med" len="med"/>
                      <a:tailEnd type="none" w="med" len="med"/>
                    </a:lnR>
                    <a:lnT w="12700" cap="flat" cmpd="sng" algn="ctr">
                      <a:solidFill>
                        <a:schemeClr val="tx1">
                          <a:lumMod val="50000"/>
                          <a:lumOff val="50000"/>
                        </a:schemeClr>
                      </a:solidFill>
                      <a:prstDash val="solid"/>
                      <a:round/>
                      <a:headEnd type="none" w="med" len="med"/>
                      <a:tailEnd type="none" w="med" len="med"/>
                    </a:lnT>
                    <a:lnB w="12700" cap="flat" cmpd="sng" algn="ctr">
                      <a:solidFill>
                        <a:schemeClr val="tx1">
                          <a:lumMod val="50000"/>
                          <a:lumOff val="50000"/>
                        </a:schemeClr>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13"/>
                  </a:ext>
                </a:extLst>
              </a:tr>
            </a:tbl>
          </a:graphicData>
        </a:graphic>
      </p:graphicFrame>
    </p:spTree>
    <p:extLst>
      <p:ext uri="{BB962C8B-B14F-4D97-AF65-F5344CB8AC3E}">
        <p14:creationId xmlns:p14="http://schemas.microsoft.com/office/powerpoint/2010/main" val="15949264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D3E78DA-069E-4823-8E49-CBFF8D792C2E}"/>
              </a:ext>
            </a:extLst>
          </p:cNvPr>
          <p:cNvSpPr>
            <a:spLocks noGrp="1"/>
          </p:cNvSpPr>
          <p:nvPr>
            <p:ph type="title"/>
          </p:nvPr>
        </p:nvSpPr>
        <p:spPr/>
        <p:txBody>
          <a:bodyPr/>
          <a:lstStyle/>
          <a:p>
            <a:r>
              <a:rPr lang="pt-PT" dirty="0"/>
              <a:t>Referencias e Glossário</a:t>
            </a:r>
          </a:p>
        </p:txBody>
      </p:sp>
      <p:sp>
        <p:nvSpPr>
          <p:cNvPr id="4" name="Marcador de texto 3">
            <a:extLst>
              <a:ext uri="{FF2B5EF4-FFF2-40B4-BE49-F238E27FC236}">
                <a16:creationId xmlns:a16="http://schemas.microsoft.com/office/drawing/2014/main" id="{46DCEE02-D34D-4F11-9432-3B5DE7C3D539}"/>
              </a:ext>
            </a:extLst>
          </p:cNvPr>
          <p:cNvSpPr>
            <a:spLocks noGrp="1"/>
          </p:cNvSpPr>
          <p:nvPr>
            <p:ph type="body" sz="quarter" idx="14"/>
          </p:nvPr>
        </p:nvSpPr>
        <p:spPr/>
        <p:txBody>
          <a:bodyPr/>
          <a:lstStyle/>
          <a:p>
            <a:r>
              <a:rPr lang="es-ES" dirty="0"/>
              <a:t>07</a:t>
            </a:r>
          </a:p>
        </p:txBody>
      </p:sp>
    </p:spTree>
    <p:extLst>
      <p:ext uri="{BB962C8B-B14F-4D97-AF65-F5344CB8AC3E}">
        <p14:creationId xmlns:p14="http://schemas.microsoft.com/office/powerpoint/2010/main" val="11721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Group 35"/>
          <p:cNvGraphicFramePr>
            <a:graphicFrameLocks/>
          </p:cNvGraphicFramePr>
          <p:nvPr>
            <p:extLst>
              <p:ext uri="{D42A27DB-BD31-4B8C-83A1-F6EECF244321}">
                <p14:modId xmlns:p14="http://schemas.microsoft.com/office/powerpoint/2010/main" val="1192790773"/>
              </p:ext>
            </p:extLst>
          </p:nvPr>
        </p:nvGraphicFramePr>
        <p:xfrm>
          <a:off x="657786" y="941570"/>
          <a:ext cx="10368728" cy="3325276"/>
        </p:xfrm>
        <a:graphic>
          <a:graphicData uri="http://schemas.openxmlformats.org/drawingml/2006/table">
            <a:tbl>
              <a:tblPr/>
              <a:tblGrid>
                <a:gridCol w="745660">
                  <a:extLst>
                    <a:ext uri="{9D8B030D-6E8A-4147-A177-3AD203B41FA5}">
                      <a16:colId xmlns:a16="http://schemas.microsoft.com/office/drawing/2014/main" val="20000"/>
                    </a:ext>
                  </a:extLst>
                </a:gridCol>
                <a:gridCol w="1399950">
                  <a:extLst>
                    <a:ext uri="{9D8B030D-6E8A-4147-A177-3AD203B41FA5}">
                      <a16:colId xmlns:a16="http://schemas.microsoft.com/office/drawing/2014/main" val="20001"/>
                    </a:ext>
                  </a:extLst>
                </a:gridCol>
                <a:gridCol w="1067091">
                  <a:extLst>
                    <a:ext uri="{9D8B030D-6E8A-4147-A177-3AD203B41FA5}">
                      <a16:colId xmlns:a16="http://schemas.microsoft.com/office/drawing/2014/main" val="20002"/>
                    </a:ext>
                  </a:extLst>
                </a:gridCol>
                <a:gridCol w="4998265">
                  <a:extLst>
                    <a:ext uri="{9D8B030D-6E8A-4147-A177-3AD203B41FA5}">
                      <a16:colId xmlns:a16="http://schemas.microsoft.com/office/drawing/2014/main" val="20003"/>
                    </a:ext>
                  </a:extLst>
                </a:gridCol>
                <a:gridCol w="2157762">
                  <a:extLst>
                    <a:ext uri="{9D8B030D-6E8A-4147-A177-3AD203B41FA5}">
                      <a16:colId xmlns:a16="http://schemas.microsoft.com/office/drawing/2014/main" val="20004"/>
                    </a:ext>
                  </a:extLst>
                </a:gridCol>
              </a:tblGrid>
              <a:tr h="550872">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Ficheiro/Nome</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Data</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Comentário / Link</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20000"/>
                        </a:spcBef>
                        <a:spcAft>
                          <a:spcPct val="0"/>
                        </a:spcAft>
                        <a:buClrTx/>
                        <a:buSzPct val="25000"/>
                        <a:buFont typeface="Times" pitchFamily="18" charset="0"/>
                        <a:buNone/>
                        <a:tabLst>
                          <a:tab pos="450850" algn="l"/>
                          <a:tab pos="900113" algn="l"/>
                          <a:tab pos="1349375" algn="l"/>
                          <a:tab pos="2251075" algn="l"/>
                        </a:tabLst>
                      </a:pPr>
                      <a:r>
                        <a:rPr kumimoji="0" lang="pt-PT" sz="1300" b="1" i="0" u="none" strike="noStrike" cap="none" normalizeH="0" baseline="0" noProof="0" dirty="0">
                          <a:ln>
                            <a:noFill/>
                          </a:ln>
                          <a:solidFill>
                            <a:schemeClr val="bg1"/>
                          </a:solidFill>
                          <a:effectLst/>
                          <a:latin typeface="Santander Text" panose="020B0504020201020104" pitchFamily="34" charset="0"/>
                        </a:rPr>
                        <a:t>Autor</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784430">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REF#1</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2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9816">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REF#2</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pt-PT" dirty="0">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algn="l" defTabSz="914400" rtl="0" eaLnBrk="1" latinLnBrk="0" hangingPunct="1"/>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0">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a:t>
                      </a: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lang="pt-PT" sz="1400" dirty="0">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17541">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REF#4</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9387">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REF#5</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kumimoji="0" lang="pt-PT" sz="1000" b="0" i="0" u="none" strike="noStrike" cap="none" normalizeH="0" baseline="0" noProof="0" dirty="0">
                        <a:ln>
                          <a:noFill/>
                        </a:ln>
                        <a:solidFill>
                          <a:srgbClr val="FF0000"/>
                        </a:solidFill>
                        <a:effectLst/>
                        <a:latin typeface="Santander Text" panose="020B0504020201020104" pitchFamily="34"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rgbClr val="FF0000"/>
                        </a:solidFill>
                        <a:effectLst/>
                        <a:latin typeface="Santander Text" panose="020B0504020201020104" pitchFamily="34" charset="0"/>
                        <a:ea typeface="+mn-ea"/>
                        <a:cs typeface="Arial"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96883">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r>
                        <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rPr>
                        <a:t>REF#6</a:t>
                      </a:r>
                    </a:p>
                  </a:txBody>
                  <a:tcPr marL="71999" marR="71999" marT="72001" marB="72001"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bg1"/>
                        </a:buClr>
                        <a:buSzPct val="25000"/>
                        <a:buFont typeface="Times" pitchFamily="18" charset="0"/>
                        <a:buNone/>
                        <a:tabLst/>
                      </a:pPr>
                      <a:endParaRPr lang="pt-PT" sz="1000" u="sng" kern="1200" noProof="0" dirty="0">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bg1"/>
                        </a:buClr>
                        <a:buSzPct val="25000"/>
                        <a:buFont typeface="Times" pitchFamily="18" charset="0"/>
                        <a:buNone/>
                        <a:tabLst/>
                        <a:defRPr/>
                      </a:pPr>
                      <a:endParaRPr kumimoji="0" lang="pt-PT" sz="1400" b="0" i="0" u="none" strike="noStrike" kern="1200" cap="none" normalizeH="0" baseline="0" noProof="0" dirty="0">
                        <a:ln>
                          <a:noFill/>
                        </a:ln>
                        <a:solidFill>
                          <a:srgbClr val="FF0000"/>
                        </a:solidFill>
                        <a:effectLst/>
                        <a:latin typeface="Santander Text" panose="020B0504020201020104" pitchFamily="34" charset="0"/>
                        <a:ea typeface="+mn-ea"/>
                        <a:cs typeface="Arial" charset="0"/>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noProof="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endParaRPr kumimoji="0" lang="pt-PT" sz="1400" b="0" i="0" u="none" strike="noStrike" kern="1200" cap="none" normalizeH="0" baseline="0" dirty="0">
                        <a:ln>
                          <a:noFill/>
                        </a:ln>
                        <a:solidFill>
                          <a:schemeClr val="tx1"/>
                        </a:solidFill>
                        <a:effectLst/>
                        <a:latin typeface="Santander Text" panose="020B0504020201020104" pitchFamily="34" charset="0"/>
                        <a:ea typeface="+mn-ea"/>
                        <a:cs typeface="+mn-cs"/>
                      </a:endParaRPr>
                    </a:p>
                  </a:txBody>
                  <a:tcPr marL="71999" marR="71999" marT="72001" marB="72001"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7"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a:xfrm>
            <a:off x="711024" y="337100"/>
            <a:ext cx="10758734" cy="304800"/>
          </a:xfrm>
        </p:spPr>
        <p:txBody>
          <a:bodyPr/>
          <a:lstStyle/>
          <a:p>
            <a:r>
              <a:rPr lang="pt-PT" sz="2400" dirty="0"/>
              <a:t>Referencias</a:t>
            </a:r>
          </a:p>
        </p:txBody>
      </p:sp>
      <p:sp>
        <p:nvSpPr>
          <p:cNvPr id="9" name="Slide Number Placeholder 8"/>
          <p:cNvSpPr>
            <a:spLocks noGrp="1"/>
          </p:cNvSpPr>
          <p:nvPr>
            <p:ph type="sldNum" sz="quarter" idx="12"/>
          </p:nvPr>
        </p:nvSpPr>
        <p:spPr/>
        <p:txBody>
          <a:bodyPr/>
          <a:lstStyle/>
          <a:p>
            <a:fld id="{BC0D97B6-E32F-4D7D-B839-7C3B51F2640F}" type="slidenum">
              <a:rPr lang="es-ES" smtClean="0"/>
              <a:pPr/>
              <a:t>23</a:t>
            </a:fld>
            <a:endParaRPr lang="es-ES" dirty="0"/>
          </a:p>
        </p:txBody>
      </p:sp>
    </p:spTree>
    <p:extLst>
      <p:ext uri="{BB962C8B-B14F-4D97-AF65-F5344CB8AC3E}">
        <p14:creationId xmlns:p14="http://schemas.microsoft.com/office/powerpoint/2010/main" val="37785115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Glossário</a:t>
            </a:r>
          </a:p>
        </p:txBody>
      </p:sp>
      <p:graphicFrame>
        <p:nvGraphicFramePr>
          <p:cNvPr id="16" name="Group 220"/>
          <p:cNvGraphicFramePr>
            <a:graphicFrameLocks noGrp="1"/>
          </p:cNvGraphicFramePr>
          <p:nvPr>
            <p:extLst>
              <p:ext uri="{D42A27DB-BD31-4B8C-83A1-F6EECF244321}">
                <p14:modId xmlns:p14="http://schemas.microsoft.com/office/powerpoint/2010/main" val="4254527842"/>
              </p:ext>
            </p:extLst>
          </p:nvPr>
        </p:nvGraphicFramePr>
        <p:xfrm>
          <a:off x="839416" y="908720"/>
          <a:ext cx="10630342" cy="4968557"/>
        </p:xfrm>
        <a:graphic>
          <a:graphicData uri="http://schemas.openxmlformats.org/drawingml/2006/table">
            <a:tbl>
              <a:tblPr/>
              <a:tblGrid>
                <a:gridCol w="1180041">
                  <a:extLst>
                    <a:ext uri="{9D8B030D-6E8A-4147-A177-3AD203B41FA5}">
                      <a16:colId xmlns:a16="http://schemas.microsoft.com/office/drawing/2014/main" val="20000"/>
                    </a:ext>
                  </a:extLst>
                </a:gridCol>
                <a:gridCol w="9450301">
                  <a:extLst>
                    <a:ext uri="{9D8B030D-6E8A-4147-A177-3AD203B41FA5}">
                      <a16:colId xmlns:a16="http://schemas.microsoft.com/office/drawing/2014/main" val="20001"/>
                    </a:ext>
                  </a:extLst>
                </a:gridCol>
              </a:tblGrid>
              <a:tr h="321702">
                <a:tc>
                  <a:txBody>
                    <a:bodyPr/>
                    <a:lstStyle/>
                    <a:p>
                      <a:pPr marL="0" marR="0" lvl="0" indent="0" algn="ctr" defTabSz="914400" rtl="0" eaLnBrk="1" fontAlgn="base" latinLnBrk="0" hangingPunct="1">
                        <a:lnSpc>
                          <a:spcPct val="100000"/>
                        </a:lnSpc>
                        <a:spcBef>
                          <a:spcPct val="50000"/>
                        </a:spcBef>
                        <a:spcAft>
                          <a:spcPct val="0"/>
                        </a:spcAft>
                        <a:buClr>
                          <a:srgbClr val="9C9A9A"/>
                        </a:buClr>
                        <a:buSzPct val="155000"/>
                        <a:buFont typeface="Wingdings" pitchFamily="2" charset="2"/>
                        <a:buNone/>
                        <a:tabLst/>
                      </a:pPr>
                      <a:r>
                        <a:rPr kumimoji="0" lang="pt-PT" sz="1100" b="1" i="0" u="none" strike="noStrike" cap="none" normalizeH="0" baseline="0" noProof="0" dirty="0">
                          <a:ln>
                            <a:noFill/>
                          </a:ln>
                          <a:solidFill>
                            <a:schemeClr val="bg1"/>
                          </a:solidFill>
                          <a:effectLst/>
                          <a:latin typeface="Santander Text" panose="020B0504020201020104" pitchFamily="34" charset="0"/>
                          <a:cs typeface="Arial" charset="0"/>
                        </a:rPr>
                        <a:t>Termo</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50000"/>
                        </a:spcBef>
                        <a:spcAft>
                          <a:spcPct val="0"/>
                        </a:spcAft>
                        <a:buClr>
                          <a:srgbClr val="9C9A9A"/>
                        </a:buClr>
                        <a:buSzPct val="155000"/>
                        <a:buFont typeface="Wingdings" pitchFamily="2" charset="2"/>
                        <a:buNone/>
                        <a:tabLst/>
                      </a:pPr>
                      <a:r>
                        <a:rPr kumimoji="0" lang="pt-PT" sz="1100" b="1" i="0" u="none" strike="noStrike" cap="none" normalizeH="0" baseline="0" noProof="0" dirty="0">
                          <a:ln>
                            <a:noFill/>
                          </a:ln>
                          <a:solidFill>
                            <a:schemeClr val="bg1"/>
                          </a:solidFill>
                          <a:effectLst/>
                          <a:latin typeface="Santander Text" panose="020B0504020201020104" pitchFamily="34" charset="0"/>
                          <a:cs typeface="Arial" charset="0"/>
                        </a:rPr>
                        <a:t>Descrição</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64185">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pt-PT" sz="1100" b="0" i="0" u="none" strike="noStrike" cap="none" normalizeH="0" baseline="0" noProof="0" dirty="0" err="1">
                          <a:ln>
                            <a:noFill/>
                          </a:ln>
                          <a:solidFill>
                            <a:srgbClr val="000000"/>
                          </a:solidFill>
                          <a:effectLst/>
                          <a:latin typeface="Santander Text" panose="020B0504020201020104" pitchFamily="34" charset="0"/>
                        </a:rPr>
                        <a:t>SaaS</a:t>
                      </a: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en-US" sz="1100" b="0" i="0" u="none" strike="noStrike" kern="1200" cap="none" normalizeH="0" baseline="0" noProof="0" dirty="0">
                          <a:ln>
                            <a:noFill/>
                          </a:ln>
                          <a:solidFill>
                            <a:srgbClr val="000000"/>
                          </a:solidFill>
                          <a:effectLst/>
                          <a:latin typeface="Santander Text" panose="020B0504020201020104" pitchFamily="34" charset="0"/>
                          <a:ea typeface="+mn-ea"/>
                          <a:cs typeface="+mn-cs"/>
                        </a:rPr>
                        <a:t>Software as a Service</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1"/>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pt-PT" sz="1100" b="0" i="0" u="none" strike="noStrike" cap="none" normalizeH="0" baseline="0" noProof="0" dirty="0">
                          <a:ln>
                            <a:noFill/>
                          </a:ln>
                          <a:solidFill>
                            <a:srgbClr val="000000"/>
                          </a:solidFill>
                          <a:effectLst/>
                          <a:latin typeface="Santander Text" panose="020B0504020201020104" pitchFamily="34" charset="0"/>
                        </a:rPr>
                        <a:t>AWS</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r>
                        <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rPr>
                        <a:t>Amazon Web </a:t>
                      </a:r>
                      <a:r>
                        <a:rPr kumimoji="0" lang="pt-PT" sz="1100" b="0" i="0" u="none" strike="noStrike" kern="1200" cap="none" normalizeH="0" baseline="0" noProof="0" dirty="0" err="1">
                          <a:ln>
                            <a:noFill/>
                          </a:ln>
                          <a:solidFill>
                            <a:srgbClr val="000000"/>
                          </a:solidFill>
                          <a:effectLst/>
                          <a:latin typeface="Santander Text" panose="020B0504020201020104" pitchFamily="34" charset="0"/>
                          <a:ea typeface="+mn-ea"/>
                          <a:cs typeface="+mn-cs"/>
                        </a:rPr>
                        <a:t>Services</a:t>
                      </a:r>
                      <a:r>
                        <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rPr>
                        <a:t> (infraestrutura </a:t>
                      </a:r>
                      <a:r>
                        <a:rPr kumimoji="0" lang="pt-PT" sz="1100" b="0" i="0" u="none" strike="noStrike" kern="1200" cap="none" normalizeH="0" baseline="0" noProof="0" dirty="0" err="1">
                          <a:ln>
                            <a:noFill/>
                          </a:ln>
                          <a:solidFill>
                            <a:srgbClr val="000000"/>
                          </a:solidFill>
                          <a:effectLst/>
                          <a:latin typeface="Santander Text" panose="020B0504020201020104" pitchFamily="34" charset="0"/>
                          <a:ea typeface="+mn-ea"/>
                          <a:cs typeface="+mn-cs"/>
                        </a:rPr>
                        <a:t>cloud</a:t>
                      </a:r>
                      <a:r>
                        <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rPr>
                        <a:t>)</a:t>
                      </a: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2"/>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kern="1200" cap="none" normalizeH="0" baseline="0" noProof="0" dirty="0">
                        <a:ln>
                          <a:noFill/>
                        </a:ln>
                        <a:solidFill>
                          <a:srgbClr val="000000"/>
                        </a:solidFill>
                        <a:effectLst/>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428267">
                <a:tc>
                  <a:txBody>
                    <a:bodyPr/>
                    <a:lstStyle/>
                    <a:p>
                      <a:pPr algn="ctr">
                        <a:lnSpc>
                          <a:spcPct val="100000"/>
                        </a:lnSpc>
                        <a:spcBef>
                          <a:spcPts val="0"/>
                        </a:spcBef>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5"/>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pPr>
                      <a:endParaRPr kumimoji="0" lang="pt-PT" sz="1100" b="0" i="0" u="none" strike="noStrike" cap="none" normalizeH="0" baseline="0" noProof="0" dirty="0">
                        <a:ln>
                          <a:noFill/>
                        </a:ln>
                        <a:solidFill>
                          <a:srgbClr val="000000"/>
                        </a:solidFill>
                        <a:effectLst/>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7"/>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8"/>
                  </a:ext>
                </a:extLst>
              </a:tr>
              <a:tr h="428267">
                <a:tc>
                  <a:txBody>
                    <a:bodyPr/>
                    <a:lstStyle/>
                    <a:p>
                      <a:pPr marL="0" marR="0" lvl="0" indent="0" algn="ctr"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marL="0" marR="0" lvl="0" indent="0" algn="l" defTabSz="914400" rtl="0" eaLnBrk="1" fontAlgn="base" latinLnBrk="0" hangingPunct="1">
                        <a:lnSpc>
                          <a:spcPct val="100000"/>
                        </a:lnSpc>
                        <a:spcBef>
                          <a:spcPts val="0"/>
                        </a:spcBef>
                        <a:spcAft>
                          <a:spcPct val="0"/>
                        </a:spcAft>
                        <a:buClr>
                          <a:srgbClr val="CC3300"/>
                        </a:buClr>
                        <a:buSzPct val="155000"/>
                        <a:buFont typeface="Wingdings" pitchFamily="2" charset="2"/>
                        <a:buNone/>
                        <a:tabLst/>
                        <a:defRPr/>
                      </a:pPr>
                      <a:endParaRPr lang="pt-PT" sz="1200" i="0" u="none" kern="1200" noProof="0" dirty="0">
                        <a:solidFill>
                          <a:schemeClr val="tx1">
                            <a:lumMod val="75000"/>
                            <a:lumOff val="25000"/>
                          </a:schemeClr>
                        </a:solidFill>
                        <a:latin typeface="Santander Text" panose="020B0504020201020104" pitchFamily="34" charset="0"/>
                        <a:ea typeface="+mn-ea"/>
                        <a:cs typeface="+mn-cs"/>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9"/>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0"/>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11"/>
                  </a:ext>
                </a:extLst>
              </a:tr>
              <a:tr h="428267">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tc>
                  <a:txBody>
                    <a:bodyPr/>
                    <a:lstStyle/>
                    <a:p>
                      <a:pPr>
                        <a:lnSpc>
                          <a:spcPct val="100000"/>
                        </a:lnSpc>
                        <a:spcBef>
                          <a:spcPts val="0"/>
                        </a:spcBef>
                      </a:pPr>
                      <a:endParaRPr lang="pt-PT" i="0" dirty="0">
                        <a:latin typeface="Santander Text" panose="020B0504020201020104" pitchFamily="34" charset="0"/>
                      </a:endParaRPr>
                    </a:p>
                  </a:txBody>
                  <a:tcPr marL="53999" marR="53999" marT="0" marB="0" anchor="ctr" horzOverflow="overflow">
                    <a:lnL w="38100" cap="flat" cmpd="sng" algn="ctr">
                      <a:solidFill>
                        <a:srgbClr val="FFFFFF"/>
                      </a:solidFill>
                      <a:prstDash val="solid"/>
                      <a:round/>
                      <a:headEnd type="none" w="med" len="med"/>
                      <a:tailEnd type="none" w="med" len="med"/>
                    </a:lnL>
                    <a:lnR w="38100" cap="flat" cmpd="sng" algn="ctr">
                      <a:solidFill>
                        <a:srgbClr val="FFFFFF"/>
                      </a:solidFill>
                      <a:prstDash val="solid"/>
                      <a:round/>
                      <a:headEnd type="none" w="med" len="med"/>
                      <a:tailEnd type="none" w="med" len="med"/>
                    </a:lnR>
                    <a:lnT w="38100" cap="flat" cmpd="sng" algn="ctr">
                      <a:solidFill>
                        <a:srgbClr val="FFFFFF"/>
                      </a:solidFill>
                      <a:prstDash val="solid"/>
                      <a:round/>
                      <a:headEnd type="none" w="med" len="med"/>
                      <a:tailEnd type="none" w="med" len="med"/>
                    </a:lnT>
                    <a:lnB w="38100" cap="flat" cmpd="sng" algn="ctr">
                      <a:solidFill>
                        <a:srgbClr val="FFFFFF"/>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880721736"/>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s-ES" smtClean="0"/>
              <a:pPr/>
              <a:t>24</a:t>
            </a:fld>
            <a:endParaRPr lang="es-ES" dirty="0"/>
          </a:p>
        </p:txBody>
      </p:sp>
    </p:spTree>
    <p:extLst>
      <p:ext uri="{BB962C8B-B14F-4D97-AF65-F5344CB8AC3E}">
        <p14:creationId xmlns:p14="http://schemas.microsoft.com/office/powerpoint/2010/main" val="74063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95786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pt-PT" sz="2400" dirty="0"/>
              <a:t>Anexo 1: </a:t>
            </a:r>
            <a:r>
              <a:rPr lang="pt-PT" sz="2400" dirty="0" err="1"/>
              <a:t>Policy</a:t>
            </a:r>
            <a:r>
              <a:rPr lang="pt-PT" sz="2400" dirty="0"/>
              <a:t> | Cyber </a:t>
            </a:r>
            <a:r>
              <a:rPr lang="pt-PT" sz="2400" dirty="0" err="1"/>
              <a:t>Security</a:t>
            </a:r>
            <a:r>
              <a:rPr lang="pt-PT" sz="2400" dirty="0"/>
              <a:t> </a:t>
            </a:r>
            <a:r>
              <a:rPr lang="pt-PT" sz="2400" dirty="0" err="1"/>
              <a:t>Requirements</a:t>
            </a:r>
            <a:r>
              <a:rPr lang="pt-PT" sz="2400" dirty="0"/>
              <a:t> for Business </a:t>
            </a:r>
            <a:r>
              <a:rPr lang="pt-PT" sz="2400" dirty="0" err="1"/>
              <a:t>Areas</a:t>
            </a:r>
            <a:endParaRPr lang="pt-PT" sz="2400" dirty="0"/>
          </a:p>
        </p:txBody>
      </p:sp>
      <p:graphicFrame>
        <p:nvGraphicFramePr>
          <p:cNvPr id="16" name="Group 220"/>
          <p:cNvGraphicFramePr>
            <a:graphicFrameLocks noGrp="1"/>
          </p:cNvGraphicFramePr>
          <p:nvPr>
            <p:extLst>
              <p:ext uri="{D42A27DB-BD31-4B8C-83A1-F6EECF244321}">
                <p14:modId xmlns:p14="http://schemas.microsoft.com/office/powerpoint/2010/main" val="435846457"/>
              </p:ext>
            </p:extLst>
          </p:nvPr>
        </p:nvGraphicFramePr>
        <p:xfrm>
          <a:off x="722243" y="2576206"/>
          <a:ext cx="10630342" cy="2644140"/>
        </p:xfrm>
        <a:graphic>
          <a:graphicData uri="http://schemas.openxmlformats.org/drawingml/2006/table">
            <a:tbl>
              <a:tblPr/>
              <a:tblGrid>
                <a:gridCol w="1197293">
                  <a:extLst>
                    <a:ext uri="{9D8B030D-6E8A-4147-A177-3AD203B41FA5}">
                      <a16:colId xmlns:a16="http://schemas.microsoft.com/office/drawing/2014/main" val="20000"/>
                    </a:ext>
                  </a:extLst>
                </a:gridCol>
                <a:gridCol w="9433049">
                  <a:extLst>
                    <a:ext uri="{9D8B030D-6E8A-4147-A177-3AD203B41FA5}">
                      <a16:colId xmlns:a16="http://schemas.microsoft.com/office/drawing/2014/main" val="20001"/>
                    </a:ext>
                  </a:extLst>
                </a:gridCol>
              </a:tblGrid>
              <a:tr h="238496">
                <a:tc>
                  <a:txBody>
                    <a:bodyPr/>
                    <a:lstStyle/>
                    <a:p>
                      <a:pPr algn="l" fontAlgn="t"/>
                      <a:r>
                        <a:rPr lang="en-US" sz="1100" b="1" noProof="0">
                          <a:solidFill>
                            <a:schemeClr val="bg1"/>
                          </a:solidFill>
                          <a:effectLst/>
                          <a:latin typeface="Santander Text" panose="020B0504020201020104" pitchFamily="34" charset="0"/>
                        </a:rPr>
                        <a:t>Integrity</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en-US" sz="1100" b="1" noProof="0">
                          <a:solidFill>
                            <a:schemeClr val="bg1"/>
                          </a:solidFill>
                          <a:effectLst/>
                          <a:latin typeface="Santander Text" panose="020B0504020201020104" pitchFamily="34" charset="0"/>
                        </a:rPr>
                        <a:t>Description</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en-US" sz="1100" noProof="0">
                          <a:effectLst/>
                          <a:latin typeface="Santander Text" panose="020B0504020201020104" pitchFamily="34" charset="0"/>
                        </a:rPr>
                        <a:t>Secret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of high value or sensitivity that if compromised, could cause serious damage to the Group. Intended only for a limited, closed group of recipients. Examples: Board of Directors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en-US" sz="1100" noProof="0">
                          <a:effectLst/>
                          <a:latin typeface="Santander Text" panose="020B0504020201020104" pitchFamily="34" charset="0"/>
                        </a:rPr>
                        <a:t>Restricted Confidential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Confidential information of high value or sensitivity that, if compromised, could lead to loss of competitive advantage, increase direct fraud, or loss of unique banking or behavioral data owned by Santander or its clients. Examples: customer transactional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5"/>
                  </a:ext>
                </a:extLst>
              </a:tr>
              <a:tr h="317499">
                <a:tc>
                  <a:txBody>
                    <a:bodyPr/>
                    <a:lstStyle/>
                    <a:p>
                      <a:pPr algn="l" fontAlgn="t"/>
                      <a:r>
                        <a:rPr lang="en-US" sz="1100" noProof="0">
                          <a:effectLst/>
                          <a:latin typeface="Santander Text" panose="020B0504020201020104" pitchFamily="34" charset="0"/>
                        </a:rPr>
                        <a:t>Confidential (B)</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that could be detrimental to the interests of the Group if compromised or could cause significant difficulty or embarrassment for Santander Group, its clients or its employees. Examples: personal data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en-US" sz="1100" noProof="0">
                          <a:effectLst/>
                          <a:latin typeface="Santander Text" panose="020B0504020201020104" pitchFamily="34" charset="0"/>
                        </a:rPr>
                        <a:t>Internal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Information that would not cause significant disruption nor embarrassment for the Group, its clients or its employees if compromised. It’s the default classification of Santander’s information. Examples: Santander internal organization or department’s information.</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68224512"/>
                  </a:ext>
                </a:extLst>
              </a:tr>
              <a:tr h="317499">
                <a:tc>
                  <a:txBody>
                    <a:bodyPr/>
                    <a:lstStyle/>
                    <a:p>
                      <a:pPr algn="l" fontAlgn="t"/>
                      <a:r>
                        <a:rPr lang="en-US" sz="1100" noProof="0">
                          <a:effectLst/>
                          <a:latin typeface="Santander Text" panose="020B0504020201020104" pitchFamily="34" charset="0"/>
                        </a:rPr>
                        <a:t>Public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Information not concerning specifically the Santander Group or that has been made public through official channels. Examples: Public Santander information (i.e. public website)</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328221009"/>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s-ES" smtClean="0"/>
              <a:pPr/>
              <a:t>26</a:t>
            </a:fld>
            <a:endParaRPr lang="es-ES" dirty="0"/>
          </a:p>
        </p:txBody>
      </p:sp>
      <p:sp>
        <p:nvSpPr>
          <p:cNvPr id="7" name="Title 1">
            <a:extLst>
              <a:ext uri="{FF2B5EF4-FFF2-40B4-BE49-F238E27FC236}">
                <a16:creationId xmlns:a16="http://schemas.microsoft.com/office/drawing/2014/main" id="{033189DF-E35C-4B02-91E4-A15EEFEA9C0F}"/>
              </a:ext>
            </a:extLst>
          </p:cNvPr>
          <p:cNvSpPr>
            <a:spLocks noGrp="1"/>
          </p:cNvSpPr>
          <p:nvPr>
            <p:ph type="title"/>
          </p:nvPr>
        </p:nvSpPr>
        <p:spPr>
          <a:xfrm>
            <a:off x="722244" y="2211080"/>
            <a:ext cx="10630342" cy="365126"/>
          </a:xfrm>
        </p:spPr>
        <p:txBody>
          <a:bodyPr>
            <a:normAutofit/>
          </a:bodyPr>
          <a:lstStyle/>
          <a:p>
            <a:r>
              <a:rPr lang="en-US" sz="1200" b="1" dirty="0">
                <a:solidFill>
                  <a:schemeClr val="tx1">
                    <a:lumMod val="75000"/>
                    <a:lumOff val="25000"/>
                  </a:schemeClr>
                </a:solidFill>
              </a:rPr>
              <a:t>Confidentiality </a:t>
            </a:r>
            <a:r>
              <a:rPr lang="en-US" sz="1200" dirty="0">
                <a:solidFill>
                  <a:schemeClr val="tx1">
                    <a:lumMod val="75000"/>
                    <a:lumOff val="25000"/>
                  </a:schemeClr>
                </a:solidFill>
              </a:rPr>
              <a:t>to the Cyber Business and Regulatory Requirements domain in the Cyber Security Policies, is defined as follows.</a:t>
            </a:r>
            <a:endParaRPr lang="pt-PT" sz="1200" dirty="0">
              <a:solidFill>
                <a:schemeClr val="tx1">
                  <a:lumMod val="75000"/>
                  <a:lumOff val="25000"/>
                </a:schemeClr>
              </a:solidFill>
            </a:endParaRPr>
          </a:p>
        </p:txBody>
      </p:sp>
      <p:sp>
        <p:nvSpPr>
          <p:cNvPr id="10" name="TextBox 9">
            <a:extLst>
              <a:ext uri="{FF2B5EF4-FFF2-40B4-BE49-F238E27FC236}">
                <a16:creationId xmlns:a16="http://schemas.microsoft.com/office/drawing/2014/main" id="{55516BE9-85BF-40B7-AB62-CA328173A377}"/>
              </a:ext>
            </a:extLst>
          </p:cNvPr>
          <p:cNvSpPr txBox="1"/>
          <p:nvPr/>
        </p:nvSpPr>
        <p:spPr>
          <a:xfrm>
            <a:off x="700157" y="923595"/>
            <a:ext cx="10630342" cy="830997"/>
          </a:xfrm>
          <a:prstGeom prst="rect">
            <a:avLst/>
          </a:prstGeom>
          <a:solidFill>
            <a:schemeClr val="bg2"/>
          </a:solidFill>
        </p:spPr>
        <p:txBody>
          <a:bodyPr wrap="square">
            <a:spAutoFit/>
          </a:bodyPr>
          <a:lstStyle/>
          <a:p>
            <a:r>
              <a:rPr lang="pt-PT" sz="2400" dirty="0">
                <a:solidFill>
                  <a:schemeClr val="tx1">
                    <a:lumMod val="75000"/>
                    <a:lumOff val="25000"/>
                  </a:schemeClr>
                </a:solidFill>
                <a:latin typeface="Santander Text" panose="020B0504020201020104" pitchFamily="34" charset="0"/>
              </a:rPr>
              <a:t>Trata-se de uma classificação que assegura o cumprimento das políticas de </a:t>
            </a:r>
            <a:r>
              <a:rPr lang="pt-PT" sz="2400" dirty="0" err="1">
                <a:solidFill>
                  <a:schemeClr val="tx1">
                    <a:lumMod val="75000"/>
                    <a:lumOff val="25000"/>
                  </a:schemeClr>
                </a:solidFill>
                <a:latin typeface="Santander Text" panose="020B0504020201020104" pitchFamily="34" charset="0"/>
              </a:rPr>
              <a:t>cibersegurança</a:t>
            </a:r>
            <a:r>
              <a:rPr lang="pt-PT" sz="2400" dirty="0">
                <a:solidFill>
                  <a:schemeClr val="tx1">
                    <a:lumMod val="75000"/>
                    <a:lumOff val="25000"/>
                  </a:schemeClr>
                </a:solidFill>
                <a:latin typeface="Santander Text" panose="020B0504020201020104" pitchFamily="34" charset="0"/>
              </a:rPr>
              <a:t> (</a:t>
            </a:r>
            <a:r>
              <a:rPr lang="pt-PT" sz="2400" dirty="0">
                <a:solidFill>
                  <a:schemeClr val="tx1">
                    <a:lumMod val="75000"/>
                    <a:lumOff val="25000"/>
                  </a:schemeClr>
                </a:solidFill>
                <a:latin typeface="Santander Text" panose="020B0504020201020104" pitchFamily="34" charset="0"/>
                <a:hlinkClick r:id="rId2">
                  <a:extLst>
                    <a:ext uri="{A12FA001-AC4F-418D-AE19-62706E023703}">
                      <ahyp:hlinkClr xmlns="" xmlns:ahyp="http://schemas.microsoft.com/office/drawing/2018/hyperlinkcolor" val="tx"/>
                    </a:ext>
                  </a:extLst>
                </a:hlinkClick>
              </a:rPr>
              <a:t>LINK</a:t>
            </a:r>
            <a:r>
              <a:rPr lang="pt-PT" sz="2400" dirty="0">
                <a:solidFill>
                  <a:schemeClr val="tx1">
                    <a:lumMod val="75000"/>
                    <a:lumOff val="25000"/>
                  </a:schemeClr>
                </a:solidFill>
                <a:latin typeface="Santander Text" panose="020B0504020201020104" pitchFamily="34" charset="0"/>
              </a:rPr>
              <a:t> | Capítulo 5.5.1)</a:t>
            </a:r>
            <a:endParaRPr lang="pt-PT" sz="2400" dirty="0">
              <a:solidFill>
                <a:schemeClr val="tx1">
                  <a:lumMod val="75000"/>
                  <a:lumOff val="25000"/>
                </a:schemeClr>
              </a:solidFill>
            </a:endParaRPr>
          </a:p>
        </p:txBody>
      </p:sp>
    </p:spTree>
    <p:extLst>
      <p:ext uri="{BB962C8B-B14F-4D97-AF65-F5344CB8AC3E}">
        <p14:creationId xmlns:p14="http://schemas.microsoft.com/office/powerpoint/2010/main" val="910886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arcador de texto 5">
            <a:extLst>
              <a:ext uri="{FF2B5EF4-FFF2-40B4-BE49-F238E27FC236}">
                <a16:creationId xmlns:a16="http://schemas.microsoft.com/office/drawing/2014/main" id="{C5A6910C-A85B-4E78-920A-D86C8E059C1C}"/>
              </a:ext>
            </a:extLst>
          </p:cNvPr>
          <p:cNvSpPr>
            <a:spLocks noGrp="1"/>
          </p:cNvSpPr>
          <p:nvPr>
            <p:ph type="body" sz="quarter" idx="14"/>
          </p:nvPr>
        </p:nvSpPr>
        <p:spPr/>
        <p:txBody>
          <a:bodyPr/>
          <a:lstStyle/>
          <a:p>
            <a:r>
              <a:rPr lang="en-US" sz="2400"/>
              <a:t>Anexo 1: Policy | Cyber Security Requirements for Business Areas</a:t>
            </a:r>
          </a:p>
        </p:txBody>
      </p:sp>
      <p:graphicFrame>
        <p:nvGraphicFramePr>
          <p:cNvPr id="16" name="Group 220"/>
          <p:cNvGraphicFramePr>
            <a:graphicFrameLocks noGrp="1"/>
          </p:cNvGraphicFramePr>
          <p:nvPr>
            <p:extLst>
              <p:ext uri="{D42A27DB-BD31-4B8C-83A1-F6EECF244321}">
                <p14:modId xmlns:p14="http://schemas.microsoft.com/office/powerpoint/2010/main" val="1784040604"/>
              </p:ext>
            </p:extLst>
          </p:nvPr>
        </p:nvGraphicFramePr>
        <p:xfrm>
          <a:off x="722243" y="1340768"/>
          <a:ext cx="10630342" cy="1889760"/>
        </p:xfrm>
        <a:graphic>
          <a:graphicData uri="http://schemas.openxmlformats.org/drawingml/2006/table">
            <a:tbl>
              <a:tblPr/>
              <a:tblGrid>
                <a:gridCol w="1053277">
                  <a:extLst>
                    <a:ext uri="{9D8B030D-6E8A-4147-A177-3AD203B41FA5}">
                      <a16:colId xmlns:a16="http://schemas.microsoft.com/office/drawing/2014/main" val="20000"/>
                    </a:ext>
                  </a:extLst>
                </a:gridCol>
                <a:gridCol w="9577065">
                  <a:extLst>
                    <a:ext uri="{9D8B030D-6E8A-4147-A177-3AD203B41FA5}">
                      <a16:colId xmlns:a16="http://schemas.microsoft.com/office/drawing/2014/main" val="20001"/>
                    </a:ext>
                  </a:extLst>
                </a:gridCol>
              </a:tblGrid>
              <a:tr h="238496">
                <a:tc>
                  <a:txBody>
                    <a:bodyPr/>
                    <a:lstStyle/>
                    <a:p>
                      <a:pPr algn="l" fontAlgn="t"/>
                      <a:r>
                        <a:rPr lang="pt-PT" sz="1200" b="1" dirty="0" err="1">
                          <a:solidFill>
                            <a:schemeClr val="bg1"/>
                          </a:solidFill>
                          <a:effectLst/>
                          <a:latin typeface="Santander Text" panose="020B0504020201020104" pitchFamily="34" charset="0"/>
                        </a:rPr>
                        <a:t>Integrity</a:t>
                      </a:r>
                      <a:endParaRPr lang="pt-PT" sz="1200" b="1" dirty="0">
                        <a:solidFill>
                          <a:schemeClr val="bg1"/>
                        </a:solidFill>
                        <a:effectLst/>
                        <a:latin typeface="Santander Text" panose="020B0504020201020104" pitchFamily="34" charset="0"/>
                      </a:endParaRP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pt-PT" sz="1200" b="1" dirty="0" err="1">
                          <a:solidFill>
                            <a:schemeClr val="bg1"/>
                          </a:solidFill>
                          <a:effectLst/>
                          <a:latin typeface="Santander Text" panose="020B0504020201020104" pitchFamily="34" charset="0"/>
                        </a:rPr>
                        <a:t>Description</a:t>
                      </a:r>
                      <a:endParaRPr lang="pt-PT" sz="1200" b="1" dirty="0">
                        <a:solidFill>
                          <a:schemeClr val="bg1"/>
                        </a:solidFill>
                        <a:effectLst/>
                        <a:latin typeface="Santander Text" panose="020B0504020201020104" pitchFamily="34" charset="0"/>
                      </a:endParaRP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pt-PT" sz="1100" dirty="0" err="1">
                          <a:effectLst/>
                          <a:latin typeface="Santander Text" panose="020B0504020201020104" pitchFamily="34" charset="0"/>
                        </a:rPr>
                        <a:t>High</a:t>
                      </a:r>
                      <a:r>
                        <a:rPr lang="pt-PT" sz="1100" dirty="0">
                          <a:effectLst/>
                          <a:latin typeface="Santander Text" panose="020B0504020201020104" pitchFamily="34" charset="0"/>
                        </a:rPr>
                        <a:t>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severe or catastrophic adverse effect on organizational operations, organizational assets, or individuals. This includes regulatory information and reporting (i.e. RDA, SOX), official financial information (i.e. financial statements) and strategic information for decision making (i.e. Board of Directors).</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pt-PT" sz="1100">
                          <a:effectLst/>
                          <a:latin typeface="Santander Text" panose="020B0504020201020104" pitchFamily="34" charset="0"/>
                        </a:rPr>
                        <a:t>Moderate (B)</a:t>
                      </a:r>
                      <a:endParaRPr lang="pt-PT" sz="1100" dirty="0">
                        <a:effectLst/>
                        <a:latin typeface="Santander Text" panose="020B0504020201020104" pitchFamily="34" charset="0"/>
                      </a:endParaRP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serious adverse effect on organizational operations, organizational assets, or individuals of the entity.</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pt-PT" sz="1100" dirty="0" err="1">
                          <a:effectLst/>
                          <a:latin typeface="Santander Text" panose="020B0504020201020104" pitchFamily="34" charset="0"/>
                        </a:rPr>
                        <a:t>Low</a:t>
                      </a:r>
                      <a:r>
                        <a:rPr lang="pt-PT" sz="1100" dirty="0">
                          <a:effectLst/>
                          <a:latin typeface="Santander Text" panose="020B0504020201020104" pitchFamily="34" charset="0"/>
                        </a:rPr>
                        <a:t>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dirty="0">
                          <a:effectLst/>
                          <a:latin typeface="Santander Text" panose="020B0504020201020104" pitchFamily="34" charset="0"/>
                        </a:rPr>
                        <a:t>The unauthorized modification or destruction of information could be expected to have a limited adverse effect on organizational operations, organizational assets, or individuals of the entity.</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124853549"/>
                  </a:ext>
                </a:extLst>
              </a:tr>
            </a:tbl>
          </a:graphicData>
        </a:graphic>
      </p:graphicFrame>
      <p:sp>
        <p:nvSpPr>
          <p:cNvPr id="3" name="Slide Number Placeholder 2"/>
          <p:cNvSpPr>
            <a:spLocks noGrp="1"/>
          </p:cNvSpPr>
          <p:nvPr>
            <p:ph type="sldNum" sz="quarter" idx="12"/>
          </p:nvPr>
        </p:nvSpPr>
        <p:spPr/>
        <p:txBody>
          <a:bodyPr/>
          <a:lstStyle/>
          <a:p>
            <a:fld id="{BC0D97B6-E32F-4D7D-B839-7C3B51F2640F}" type="slidenum">
              <a:rPr lang="en-US" smtClean="0"/>
              <a:pPr/>
              <a:t>27</a:t>
            </a:fld>
            <a:endParaRPr lang="en-US"/>
          </a:p>
        </p:txBody>
      </p:sp>
      <p:sp>
        <p:nvSpPr>
          <p:cNvPr id="7" name="Title 1">
            <a:extLst>
              <a:ext uri="{FF2B5EF4-FFF2-40B4-BE49-F238E27FC236}">
                <a16:creationId xmlns:a16="http://schemas.microsoft.com/office/drawing/2014/main" id="{033189DF-E35C-4B02-91E4-A15EEFEA9C0F}"/>
              </a:ext>
            </a:extLst>
          </p:cNvPr>
          <p:cNvSpPr>
            <a:spLocks noGrp="1"/>
          </p:cNvSpPr>
          <p:nvPr>
            <p:ph type="title"/>
          </p:nvPr>
        </p:nvSpPr>
        <p:spPr>
          <a:xfrm>
            <a:off x="722244" y="879859"/>
            <a:ext cx="10630342" cy="576064"/>
          </a:xfrm>
        </p:spPr>
        <p:txBody>
          <a:bodyPr>
            <a:normAutofit/>
          </a:bodyPr>
          <a:lstStyle/>
          <a:p>
            <a:r>
              <a:rPr lang="en-US" sz="1200" b="1">
                <a:solidFill>
                  <a:schemeClr val="tx1">
                    <a:lumMod val="75000"/>
                    <a:lumOff val="25000"/>
                  </a:schemeClr>
                </a:solidFill>
              </a:rPr>
              <a:t>Integrity</a:t>
            </a:r>
            <a:r>
              <a:rPr lang="en-US" sz="1200">
                <a:solidFill>
                  <a:schemeClr val="tx1">
                    <a:lumMod val="75000"/>
                    <a:lumOff val="25000"/>
                  </a:schemeClr>
                </a:solidFill>
              </a:rPr>
              <a:t> is the property that data has not been modified or deleted in an unauthorized and undetected manner (FIPS 140-2, NIST SP 800-21). According to the Cyber Business and Regulatory Requirements domain in the Cyber Security Policies, is defined as follows.</a:t>
            </a:r>
          </a:p>
        </p:txBody>
      </p:sp>
      <p:graphicFrame>
        <p:nvGraphicFramePr>
          <p:cNvPr id="8" name="Group 220">
            <a:extLst>
              <a:ext uri="{FF2B5EF4-FFF2-40B4-BE49-F238E27FC236}">
                <a16:creationId xmlns:a16="http://schemas.microsoft.com/office/drawing/2014/main" id="{028F58C1-CB90-45DB-82BB-017D76C5F76A}"/>
              </a:ext>
            </a:extLst>
          </p:cNvPr>
          <p:cNvGraphicFramePr>
            <a:graphicFrameLocks noGrp="1"/>
          </p:cNvGraphicFramePr>
          <p:nvPr>
            <p:extLst>
              <p:ext uri="{D42A27DB-BD31-4B8C-83A1-F6EECF244321}">
                <p14:modId xmlns:p14="http://schemas.microsoft.com/office/powerpoint/2010/main" val="343355689"/>
              </p:ext>
            </p:extLst>
          </p:nvPr>
        </p:nvGraphicFramePr>
        <p:xfrm>
          <a:off x="722243" y="4721544"/>
          <a:ext cx="10630342" cy="1253487"/>
        </p:xfrm>
        <a:graphic>
          <a:graphicData uri="http://schemas.openxmlformats.org/drawingml/2006/table">
            <a:tbl>
              <a:tblPr/>
              <a:tblGrid>
                <a:gridCol w="981269">
                  <a:extLst>
                    <a:ext uri="{9D8B030D-6E8A-4147-A177-3AD203B41FA5}">
                      <a16:colId xmlns:a16="http://schemas.microsoft.com/office/drawing/2014/main" val="20000"/>
                    </a:ext>
                  </a:extLst>
                </a:gridCol>
                <a:gridCol w="9649073">
                  <a:extLst>
                    <a:ext uri="{9D8B030D-6E8A-4147-A177-3AD203B41FA5}">
                      <a16:colId xmlns:a16="http://schemas.microsoft.com/office/drawing/2014/main" val="20001"/>
                    </a:ext>
                  </a:extLst>
                </a:gridCol>
              </a:tblGrid>
              <a:tr h="238496">
                <a:tc>
                  <a:txBody>
                    <a:bodyPr/>
                    <a:lstStyle/>
                    <a:p>
                      <a:pPr algn="l" fontAlgn="t"/>
                      <a:r>
                        <a:rPr lang="en-US" sz="1100" b="1" noProof="0">
                          <a:solidFill>
                            <a:schemeClr val="bg1"/>
                          </a:solidFill>
                          <a:effectLst/>
                          <a:latin typeface="Santander Text" panose="020B0504020201020104" pitchFamily="34" charset="0"/>
                        </a:rPr>
                        <a:t>Availability</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algn="l" fontAlgn="t"/>
                      <a:r>
                        <a:rPr lang="en-US" sz="1100" b="1" noProof="0">
                          <a:solidFill>
                            <a:schemeClr val="bg1"/>
                          </a:solidFill>
                          <a:effectLst/>
                          <a:latin typeface="Santander Text" panose="020B0504020201020104" pitchFamily="34" charset="0"/>
                        </a:rPr>
                        <a:t>Description</a:t>
                      </a:r>
                    </a:p>
                  </a:txBody>
                  <a:tcPr marL="95250" marR="142875"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317499">
                <a:tc>
                  <a:txBody>
                    <a:bodyPr/>
                    <a:lstStyle/>
                    <a:p>
                      <a:pPr algn="l" fontAlgn="t"/>
                      <a:r>
                        <a:rPr lang="en-US" sz="1100" noProof="0">
                          <a:effectLst/>
                          <a:latin typeface="Santander Text" panose="020B0504020201020104" pitchFamily="34" charset="0"/>
                        </a:rPr>
                        <a:t>Critical (A)</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Applications that support critical process or high-priority processes (“Gold” service with RTO ≈0)</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4"/>
                  </a:ext>
                </a:extLst>
              </a:tr>
              <a:tr h="317499">
                <a:tc>
                  <a:txBody>
                    <a:bodyPr/>
                    <a:lstStyle/>
                    <a:p>
                      <a:pPr algn="l" fontAlgn="t"/>
                      <a:r>
                        <a:rPr lang="en-US" sz="1100" noProof="0">
                          <a:effectLst/>
                          <a:latin typeface="Santander Text" panose="020B0504020201020104" pitchFamily="34" charset="0"/>
                        </a:rPr>
                        <a:t>Medium (B)</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a:effectLst/>
                          <a:latin typeface="Santander Text" panose="020B0504020201020104" pitchFamily="34" charset="0"/>
                        </a:rPr>
                        <a:t>Applications that support non critical process with medium-priority processes and low-priority processes (“Silver” service with RTO &lt; 4 hours)</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10006"/>
                  </a:ext>
                </a:extLst>
              </a:tr>
              <a:tr h="317499">
                <a:tc>
                  <a:txBody>
                    <a:bodyPr/>
                    <a:lstStyle/>
                    <a:p>
                      <a:pPr algn="l" fontAlgn="t"/>
                      <a:r>
                        <a:rPr lang="en-US" sz="1100" noProof="0">
                          <a:effectLst/>
                          <a:latin typeface="Santander Text" panose="020B0504020201020104" pitchFamily="34" charset="0"/>
                        </a:rPr>
                        <a:t>Low (C)</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tc>
                  <a:txBody>
                    <a:bodyPr/>
                    <a:lstStyle/>
                    <a:p>
                      <a:pPr algn="l" fontAlgn="t"/>
                      <a:r>
                        <a:rPr lang="en-US" sz="1100" noProof="0" dirty="0">
                          <a:effectLst/>
                          <a:latin typeface="Santander Text" panose="020B0504020201020104" pitchFamily="34" charset="0"/>
                        </a:rPr>
                        <a:t>Applications in non-production environment (“Bronze” service)</a:t>
                      </a:r>
                    </a:p>
                  </a:txBody>
                  <a:tcPr marL="95250" marR="95250" marT="66675" marB="66675">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a:noFill/>
                    </a:lnTlToBr>
                    <a:lnBlToTr>
                      <a:noFill/>
                    </a:lnBlToTr>
                    <a:solidFill>
                      <a:srgbClr val="F3F3F3"/>
                    </a:solidFill>
                  </a:tcPr>
                </a:tc>
                <a:extLst>
                  <a:ext uri="{0D108BD9-81ED-4DB2-BD59-A6C34878D82A}">
                    <a16:rowId xmlns:a16="http://schemas.microsoft.com/office/drawing/2014/main" val="2260719009"/>
                  </a:ext>
                </a:extLst>
              </a:tr>
            </a:tbl>
          </a:graphicData>
        </a:graphic>
      </p:graphicFrame>
      <p:sp>
        <p:nvSpPr>
          <p:cNvPr id="9" name="Title 1">
            <a:extLst>
              <a:ext uri="{FF2B5EF4-FFF2-40B4-BE49-F238E27FC236}">
                <a16:creationId xmlns:a16="http://schemas.microsoft.com/office/drawing/2014/main" id="{FDE151F0-B0FA-4D5C-9F51-E7AF1A5B586C}"/>
              </a:ext>
            </a:extLst>
          </p:cNvPr>
          <p:cNvSpPr txBox="1">
            <a:spLocks/>
          </p:cNvSpPr>
          <p:nvPr/>
        </p:nvSpPr>
        <p:spPr>
          <a:xfrm>
            <a:off x="722244" y="3573016"/>
            <a:ext cx="10630342" cy="576064"/>
          </a:xfrm>
          <a:prstGeom prst="rect">
            <a:avLst/>
          </a:prstGeom>
        </p:spPr>
        <p:txBody>
          <a:bodyPr vert="horz" lIns="91440" tIns="45720" rIns="91440" bIns="45720" rtlCol="0" anchor="t">
            <a:noAutofit/>
          </a:bodyPr>
          <a:lstStyle>
            <a:lvl1pPr>
              <a:lnSpc>
                <a:spcPct val="90000"/>
              </a:lnSpc>
              <a:spcBef>
                <a:spcPct val="0"/>
              </a:spcBef>
              <a:buNone/>
              <a:defRPr sz="1400" b="1">
                <a:solidFill>
                  <a:schemeClr val="accent3"/>
                </a:solidFill>
                <a:latin typeface="Santander Text" panose="020B0504020201020104" pitchFamily="34" charset="0"/>
                <a:ea typeface="+mj-ea"/>
                <a:cs typeface="+mj-cs"/>
              </a:defRPr>
            </a:lvl1pPr>
          </a:lstStyle>
          <a:p>
            <a:r>
              <a:rPr lang="en-US" sz="1200">
                <a:solidFill>
                  <a:schemeClr val="tx1">
                    <a:lumMod val="75000"/>
                    <a:lumOff val="25000"/>
                  </a:schemeClr>
                </a:solidFill>
              </a:rPr>
              <a:t>Availability</a:t>
            </a:r>
            <a:r>
              <a:rPr lang="en-US" sz="1200" b="0">
                <a:solidFill>
                  <a:schemeClr val="tx1">
                    <a:lumMod val="75000"/>
                    <a:lumOff val="25000"/>
                  </a:schemeClr>
                </a:solidFill>
              </a:rPr>
              <a:t> is the property that ensure timely and reliable access to and use of information (FIPS 200, NIST SP 800-66). According to the Cyber Business and Regulatory Requirements domain in the Cyber Security Policies, is defined considering the following aspects:</a:t>
            </a:r>
          </a:p>
          <a:p>
            <a:pPr marL="266700" lvl="1" indent="-88900">
              <a:buFont typeface="Wingdings" panose="05000000000000000000" pitchFamily="2" charset="2"/>
              <a:buChar char="§"/>
            </a:pPr>
            <a:r>
              <a:rPr lang="en-US" sz="1100" b="0">
                <a:solidFill>
                  <a:schemeClr val="tx1">
                    <a:lumMod val="75000"/>
                    <a:lumOff val="25000"/>
                  </a:schemeClr>
                </a:solidFill>
                <a:latin typeface="Santander Text" panose="020B0504020201020104" pitchFamily="34" charset="0"/>
              </a:rPr>
              <a:t>Supporting a critical process (yes/no)</a:t>
            </a:r>
          </a:p>
          <a:p>
            <a:pPr marL="266700" lvl="1" indent="-88900">
              <a:buFont typeface="Wingdings" panose="05000000000000000000" pitchFamily="2" charset="2"/>
              <a:buChar char="§"/>
            </a:pPr>
            <a:r>
              <a:rPr lang="en-US" sz="1100" b="0">
                <a:solidFill>
                  <a:schemeClr val="tx1">
                    <a:lumMod val="75000"/>
                    <a:lumOff val="25000"/>
                  </a:schemeClr>
                </a:solidFill>
                <a:latin typeface="Santander Text" panose="020B0504020201020104" pitchFamily="34" charset="0"/>
              </a:rPr>
              <a:t>Recovery time objective (RTO): the targeted duration of time in which a process, activity or resource must be restored after a contingency. In any event, the RTO must </a:t>
            </a:r>
            <a:r>
              <a:rPr lang="en-US" sz="1100">
                <a:solidFill>
                  <a:schemeClr val="tx1">
                    <a:lumMod val="75000"/>
                    <a:lumOff val="25000"/>
                  </a:schemeClr>
                </a:solidFill>
                <a:latin typeface="Santander Text" panose="020B0504020201020104" pitchFamily="34" charset="0"/>
              </a:rPr>
              <a:t>be no longer than the maximum tolerable period of disruption.</a:t>
            </a:r>
          </a:p>
          <a:p>
            <a:pPr marL="266700" lvl="1" indent="-88900">
              <a:buFont typeface="Wingdings" panose="05000000000000000000" pitchFamily="2" charset="2"/>
              <a:buChar char="§"/>
            </a:pPr>
            <a:r>
              <a:rPr lang="en-US" sz="1100">
                <a:solidFill>
                  <a:schemeClr val="tx1">
                    <a:lumMod val="75000"/>
                    <a:lumOff val="25000"/>
                  </a:schemeClr>
                </a:solidFill>
                <a:latin typeface="Santander Text" panose="020B0504020201020104" pitchFamily="34" charset="0"/>
              </a:rPr>
              <a:t>CAT service criteria.</a:t>
            </a:r>
          </a:p>
        </p:txBody>
      </p:sp>
    </p:spTree>
    <p:extLst>
      <p:ext uri="{BB962C8B-B14F-4D97-AF65-F5344CB8AC3E}">
        <p14:creationId xmlns:p14="http://schemas.microsoft.com/office/powerpoint/2010/main" val="1051017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Tema de Office">
  <a:themeElements>
    <a:clrScheme name="Personalizado 3">
      <a:dk1>
        <a:sysClr val="windowText" lastClr="000000"/>
      </a:dk1>
      <a:lt1>
        <a:sysClr val="window" lastClr="FFFFFF"/>
      </a:lt1>
      <a:dk2>
        <a:srgbClr val="6E7678"/>
      </a:dk2>
      <a:lt2>
        <a:srgbClr val="E7E6E6"/>
      </a:lt2>
      <a:accent1>
        <a:srgbClr val="EB0000"/>
      </a:accent1>
      <a:accent2>
        <a:srgbClr val="DEEDF1"/>
      </a:accent2>
      <a:accent3>
        <a:srgbClr val="9D3566"/>
      </a:accent3>
      <a:accent4>
        <a:srgbClr val="62B967"/>
      </a:accent4>
      <a:accent5>
        <a:srgbClr val="1AB2BB"/>
      </a:accent5>
      <a:accent6>
        <a:srgbClr val="FFCB32"/>
      </a:accent6>
      <a:hlink>
        <a:srgbClr val="3265FF"/>
      </a:hlink>
      <a:folHlink>
        <a:srgbClr val="954F72"/>
      </a:folHlink>
    </a:clrScheme>
    <a:fontScheme name="Personalizado 66">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S ##INICIATIVA##_v4.0" id="{8C0744A8-BBE3-49AE-9CF2-7E09D07BE0C7}" vid="{C900D109-13C8-4329-901A-1638C8B8EC3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0B6B9A5E792D2446B8986FAE34BEC557" ma:contentTypeVersion="12" ma:contentTypeDescription="Criar um novo documento." ma:contentTypeScope="" ma:versionID="a7a7c7330211281f7243a22470ce2e53">
  <xsd:schema xmlns:xsd="http://www.w3.org/2001/XMLSchema" xmlns:xs="http://www.w3.org/2001/XMLSchema" xmlns:p="http://schemas.microsoft.com/office/2006/metadata/properties" xmlns:ns1="http://schemas.microsoft.com/sharepoint/v3" xmlns:ns2="5ad20f8b-9281-4829-a9aa-2b5a878ba2cc" xmlns:ns3="09d3dac3-f296-4107-b579-4b1e37be6169" targetNamespace="http://schemas.microsoft.com/office/2006/metadata/properties" ma:root="true" ma:fieldsID="0c28e91176c9b4921ea9a3bbad06dd6c" ns1:_="" ns2:_="" ns3:_="">
    <xsd:import namespace="http://schemas.microsoft.com/sharepoint/v3"/>
    <xsd:import namespace="5ad20f8b-9281-4829-a9aa-2b5a878ba2cc"/>
    <xsd:import namespace="09d3dac3-f296-4107-b579-4b1e37be616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1:_ip_UnifiedCompliancePolicyProperties" minOccurs="0"/>
                <xsd:element ref="ns1:_ip_UnifiedCompliancePolicyUIActio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Propriedades da Política de Conformidade Unificada" ma:hidden="true" ma:internalName="_ip_UnifiedCompliancePolicyProperties">
      <xsd:simpleType>
        <xsd:restriction base="dms:Note"/>
      </xsd:simpleType>
    </xsd:element>
    <xsd:element name="_ip_UnifiedCompliancePolicyUIAction" ma:index="12" nillable="true" ma:displayName="Ação de IU da Política de Conformidade Unificada"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ad20f8b-9281-4829-a9aa-2b5a878ba2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Etiquetas de Imagem" ma:readOnly="false" ma:fieldId="{5cf76f15-5ced-4ddc-b409-7134ff3c332f}" ma:taxonomyMulti="true" ma:sspId="e471ada5-31db-43fa-8830-84ca9293ff45"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9d3dac3-f296-4107-b579-4b1e37be616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2f43633d-4f01-4e5f-8ed6-670c29f8108f}" ma:internalName="TaxCatchAll" ma:showField="CatchAllData" ma:web="09d3dac3-f296-4107-b579-4b1e37be61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09d3dac3-f296-4107-b579-4b1e37be6169" xsi:nil="true"/>
    <lcf76f155ced4ddcb4097134ff3c332f xmlns="5ad20f8b-9281-4829-a9aa-2b5a878ba2c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E36E0E1-7C36-49D9-AA68-F7C5D44FEDFA}"/>
</file>

<file path=customXml/itemProps2.xml><?xml version="1.0" encoding="utf-8"?>
<ds:datastoreItem xmlns:ds="http://schemas.openxmlformats.org/officeDocument/2006/customXml" ds:itemID="{518044C5-2532-4A66-AC85-9AD3A6B92C31}">
  <ds:schemaRefs>
    <ds:schemaRef ds:uri="http://purl.org/dc/elements/1.1/"/>
    <ds:schemaRef ds:uri="http://schemas.microsoft.com/office/2006/metadata/properties"/>
    <ds:schemaRef ds:uri="http://schemas.microsoft.com/office/2006/documentManagement/types"/>
    <ds:schemaRef ds:uri="http://www.w3.org/XML/1998/namespace"/>
    <ds:schemaRef ds:uri="http://purl.org/dc/terms/"/>
    <ds:schemaRef ds:uri="http://schemas.microsoft.com/office/infopath/2007/PartnerControls"/>
    <ds:schemaRef ds:uri="http://purl.org/dc/dcmitype/"/>
    <ds:schemaRef ds:uri="http://schemas.openxmlformats.org/package/2006/metadata/core-properties"/>
    <ds:schemaRef ds:uri="0e9ba3e0-3d22-4408-96b5-c8a59fd87904"/>
    <ds:schemaRef ds:uri="84cc0d6f-51d2-4273-a95b-2243f39b32fa"/>
  </ds:schemaRefs>
</ds:datastoreItem>
</file>

<file path=customXml/itemProps3.xml><?xml version="1.0" encoding="utf-8"?>
<ds:datastoreItem xmlns:ds="http://schemas.openxmlformats.org/officeDocument/2006/customXml" ds:itemID="{AD080778-C4FD-4408-8861-0522BD5E52D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DS P2300447 - Automatização reportes_Financeira_v4.0</Template>
  <TotalTime>37600</TotalTime>
  <Words>3392</Words>
  <Application>Microsoft Office PowerPoint</Application>
  <PresentationFormat>Widescreen</PresentationFormat>
  <Paragraphs>417</Paragraphs>
  <Slides>27</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Arial</vt:lpstr>
      <vt:lpstr>Calibri</vt:lpstr>
      <vt:lpstr>Courier New</vt:lpstr>
      <vt:lpstr>Santander Text</vt:lpstr>
      <vt:lpstr>Times</vt:lpstr>
      <vt:lpstr>Times New Roman</vt:lpstr>
      <vt:lpstr>Wingdings</vt:lpstr>
      <vt:lpstr>Tema de Office</vt:lpstr>
      <vt:lpstr>Desenho de Solução</vt:lpstr>
      <vt:lpstr>PowerPoint Presentation</vt:lpstr>
      <vt:lpstr>PowerPoint Presentation</vt:lpstr>
      <vt:lpstr>Identificação da Iniciativa/Necessidade e dados de Catalogação</vt:lpstr>
      <vt:lpstr>PowerPoint Presentation</vt:lpstr>
      <vt:lpstr>Enquadramento e Necessidades</vt:lpstr>
      <vt:lpstr>PowerPoint Presentation</vt:lpstr>
      <vt:lpstr>Macro-requisitos funcionais</vt:lpstr>
      <vt:lpstr>Automatização de reports para o Single Resolution Board, entidade reguladora.</vt:lpstr>
      <vt:lpstr>Modelo Conceptual To-Be</vt:lpstr>
      <vt:lpstr>PowerPoint Presentation</vt:lpstr>
      <vt:lpstr>PowerPoint Presentation</vt:lpstr>
      <vt:lpstr>PowerPoint Presentation</vt:lpstr>
      <vt:lpstr>PowerPoint Presentation</vt:lpstr>
      <vt:lpstr>PowerPoint Presentation</vt:lpstr>
      <vt:lpstr>PowerPoint Presentation</vt:lpstr>
      <vt:lpstr>Requisitos não Funcionais a Considerar (Segurança, Logging, …)</vt:lpstr>
      <vt:lpstr>Não aplicável</vt:lpstr>
      <vt:lpstr>A classificação dos dado usados por uma solução, bem como as necessidades específicas de disponibilidade condicionam o seu desenho e as fases seguintes de dotação e construção.</vt:lpstr>
      <vt:lpstr>Checklist da Solução</vt:lpstr>
      <vt:lpstr>PowerPoint Presentation</vt:lpstr>
      <vt:lpstr>Referencias e Glossário</vt:lpstr>
      <vt:lpstr>PowerPoint Presentation</vt:lpstr>
      <vt:lpstr>PowerPoint Presentation</vt:lpstr>
      <vt:lpstr>PowerPoint Presentation</vt:lpstr>
      <vt:lpstr>Confidentiality to the Cyber Business and Regulatory Requirements domain in the Cyber Security Policies, is defined as follows.</vt:lpstr>
      <vt:lpstr>Integrity is the property that data has not been modified or deleted in an unauthorized and undetected manner (FIPS 140-2, NIST SP 800-21). According to the Cyber Business and Regulatory Requirements domain in the Cyber Security Policies, is defined as follows.</vt:lpstr>
    </vt:vector>
  </TitlesOfParts>
  <Company>Banco Santander Portugal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Desenho de Solução</dc:title>
  <dc:creator>Luís Filipe da Silva Barata</dc:creator>
  <cp:lastModifiedBy>Luís Filipe da Silva Barata</cp:lastModifiedBy>
  <cp:revision>32</cp:revision>
  <cp:lastPrinted>2018-11-02T14:15:56Z</cp:lastPrinted>
  <dcterms:created xsi:type="dcterms:W3CDTF">2023-09-20T09:58:33Z</dcterms:created>
  <dcterms:modified xsi:type="dcterms:W3CDTF">2023-11-10T13:46:04Z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0x010100106BFEDD1D559E4BA79C2EB28F04D42B</vt:lpwstr>
  </property>
  <property fmtid="{D5CDD505-2E9C-101B-9397-08002B2CF9AE}" pid="3" name="MSIP_Label_0c2abd79-57a9-4473-8700-c843f76a1e37_Enabled">
    <vt:lpwstr>true</vt:lpwstr>
  </property>
  <property fmtid="{D5CDD505-2E9C-101B-9397-08002B2CF9AE}" pid="4" name="MSIP_Label_0c2abd79-57a9-4473-8700-c843f76a1e37_SetDate">
    <vt:lpwstr>2022-06-20T13:01:57Z</vt:lpwstr>
  </property>
  <property fmtid="{D5CDD505-2E9C-101B-9397-08002B2CF9AE}" pid="5" name="MSIP_Label_0c2abd79-57a9-4473-8700-c843f76a1e37_Method">
    <vt:lpwstr>Privileged</vt:lpwstr>
  </property>
  <property fmtid="{D5CDD505-2E9C-101B-9397-08002B2CF9AE}" pid="6" name="MSIP_Label_0c2abd79-57a9-4473-8700-c843f76a1e37_Name">
    <vt:lpwstr>Internal</vt:lpwstr>
  </property>
  <property fmtid="{D5CDD505-2E9C-101B-9397-08002B2CF9AE}" pid="7" name="MSIP_Label_0c2abd79-57a9-4473-8700-c843f76a1e37_SiteId">
    <vt:lpwstr>35595a02-4d6d-44ac-99e1-f9ab4cd872db</vt:lpwstr>
  </property>
  <property fmtid="{D5CDD505-2E9C-101B-9397-08002B2CF9AE}" pid="8" name="MSIP_Label_0c2abd79-57a9-4473-8700-c843f76a1e37_ActionId">
    <vt:lpwstr>a318e53b-ff20-49a1-91c5-da12d420dac2</vt:lpwstr>
  </property>
  <property fmtid="{D5CDD505-2E9C-101B-9397-08002B2CF9AE}" pid="9" name="MSIP_Label_0c2abd79-57a9-4473-8700-c843f76a1e37_ContentBits">
    <vt:lpwstr>0</vt:lpwstr>
  </property>
</Properties>
</file>