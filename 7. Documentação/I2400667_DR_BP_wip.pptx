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478" r:id="rId6"/>
    <p:sldId id="268" r:id="rId7"/>
    <p:sldId id="378" r:id="rId8"/>
    <p:sldId id="459" r:id="rId9"/>
    <p:sldId id="258" r:id="rId10"/>
    <p:sldId id="483" r:id="rId11"/>
    <p:sldId id="490" r:id="rId12"/>
    <p:sldId id="486" r:id="rId13"/>
    <p:sldId id="491" r:id="rId14"/>
    <p:sldId id="484" r:id="rId15"/>
    <p:sldId id="492" r:id="rId16"/>
    <p:sldId id="487" r:id="rId17"/>
    <p:sldId id="493" r:id="rId18"/>
    <p:sldId id="495" r:id="rId19"/>
    <p:sldId id="463" r:id="rId20"/>
    <p:sldId id="498" r:id="rId21"/>
    <p:sldId id="496" r:id="rId22"/>
    <p:sldId id="497" r:id="rId23"/>
    <p:sldId id="499" r:id="rId24"/>
    <p:sldId id="500" r:id="rId25"/>
    <p:sldId id="502" r:id="rId26"/>
    <p:sldId id="289" r:id="rId27"/>
    <p:sldId id="290" r:id="rId28"/>
    <p:sldId id="271" r:id="rId29"/>
    <p:sldId id="265" r:id="rId30"/>
    <p:sldId id="479" r:id="rId31"/>
  </p:sldIdLst>
  <p:sldSz cx="12192000" cy="6858000"/>
  <p:notesSz cx="6858000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3A5F3-30F1-44A7-91C0-EAA170D53334}">
          <p14:sldIdLst>
            <p14:sldId id="256"/>
            <p14:sldId id="478"/>
            <p14:sldId id="268"/>
            <p14:sldId id="378"/>
            <p14:sldId id="459"/>
            <p14:sldId id="258"/>
            <p14:sldId id="483"/>
            <p14:sldId id="490"/>
            <p14:sldId id="486"/>
            <p14:sldId id="491"/>
            <p14:sldId id="484"/>
            <p14:sldId id="492"/>
            <p14:sldId id="487"/>
            <p14:sldId id="493"/>
            <p14:sldId id="495"/>
            <p14:sldId id="463"/>
            <p14:sldId id="498"/>
            <p14:sldId id="496"/>
            <p14:sldId id="497"/>
            <p14:sldId id="499"/>
            <p14:sldId id="500"/>
            <p14:sldId id="502"/>
            <p14:sldId id="289"/>
            <p14:sldId id="290"/>
            <p14:sldId id="271"/>
            <p14:sldId id="265"/>
            <p14:sldId id="4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AFAFA"/>
    <a:srgbClr val="FCFCFC"/>
    <a:srgbClr val="FDFDFD"/>
    <a:srgbClr val="FFFFCC"/>
    <a:srgbClr val="F7F7F7"/>
    <a:srgbClr val="FFFFFF"/>
    <a:srgbClr val="363636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08/08/2024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08/08/2024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5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35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12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861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900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674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2809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6358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6375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3900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118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5505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79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2642" y="1104900"/>
            <a:ext cx="1064815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Necessidades e proposta de solução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Solução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técnica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Considerações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e r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eferências</a:t>
            </a:r>
          </a:p>
        </p:txBody>
      </p:sp>
    </p:spTree>
    <p:extLst>
      <p:ext uri="{BB962C8B-B14F-4D97-AF65-F5344CB8AC3E}">
        <p14:creationId xmlns:p14="http://schemas.microsoft.com/office/powerpoint/2010/main" val="30600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  <a:latin typeface="Santander Text" panose="020B0504020201020104" pitchFamily="34" charset="0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  <a:latin typeface="Santander Text" panose="020B0504020201020104" pitchFamily="34" charset="0"/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missão é contribuir para o desenvolvimento das pessoas e as empresas.</a:t>
            </a:r>
          </a:p>
          <a:p>
            <a:endParaRPr lang="pt-PT" sz="1400" noProof="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cultura baseia-se no princípio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  <a:latin typeface="Santander Text" panose="020B0504020201020104" pitchFamily="34" charset="0"/>
              </a:rPr>
              <a:t>Obrigado.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6291A-449C-92AE-1773-E252E8E4AE60}"/>
              </a:ext>
            </a:extLst>
          </p:cNvPr>
          <p:cNvSpPr txBox="1"/>
          <p:nvPr userDrawn="1"/>
        </p:nvSpPr>
        <p:spPr>
          <a:xfrm>
            <a:off x="719288" y="3560855"/>
            <a:ext cx="2931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Simples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Próximo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Justo</a:t>
            </a: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kern="1200" smtClean="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51" r:id="rId4"/>
    <p:sldLayoutId id="2147483652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ntander Text" panose="020B05040202010201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4" y="1096484"/>
            <a:ext cx="6026786" cy="1711109"/>
          </a:xfrm>
        </p:spPr>
        <p:txBody>
          <a:bodyPr>
            <a:normAutofit/>
          </a:bodyPr>
          <a:lstStyle/>
          <a:p>
            <a:r>
              <a:rPr lang="pt-PT">
                <a:latin typeface="Santander Text"/>
              </a:rPr>
              <a:t>Documento de Requisitos 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5902423" cy="697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b="0" i="0" dirty="0">
                <a:solidFill>
                  <a:srgbClr val="2E3E56"/>
                </a:solidFill>
                <a:effectLst/>
                <a:highlight>
                  <a:srgbClr val="F2F4FA"/>
                </a:highlight>
                <a:latin typeface="Roboto-Regular"/>
              </a:rPr>
              <a:t>Automatização </a:t>
            </a:r>
            <a:r>
              <a:rPr lang="pt-PT" b="0" i="1" dirty="0" err="1">
                <a:solidFill>
                  <a:srgbClr val="2E3E56"/>
                </a:solidFill>
                <a:effectLst/>
                <a:highlight>
                  <a:srgbClr val="F2F4FA"/>
                </a:highlight>
                <a:latin typeface="Roboto-Regular"/>
              </a:rPr>
              <a:t>Valuation</a:t>
            </a:r>
            <a:r>
              <a:rPr lang="pt-PT" b="0" i="0" dirty="0">
                <a:solidFill>
                  <a:srgbClr val="2E3E56"/>
                </a:solidFill>
                <a:effectLst/>
                <a:highlight>
                  <a:srgbClr val="F2F4FA"/>
                </a:highlight>
                <a:latin typeface="Roboto-Regular"/>
              </a:rPr>
              <a:t> e </a:t>
            </a:r>
            <a:r>
              <a:rPr lang="pt-PT" b="0" i="1" dirty="0" err="1">
                <a:solidFill>
                  <a:srgbClr val="2E3E56"/>
                </a:solidFill>
                <a:effectLst/>
                <a:highlight>
                  <a:srgbClr val="F2F4FA"/>
                </a:highlight>
                <a:latin typeface="Roboto-Regular"/>
              </a:rPr>
              <a:t>Bail</a:t>
            </a:r>
            <a:r>
              <a:rPr lang="pt-PT" b="0" i="1" dirty="0">
                <a:solidFill>
                  <a:srgbClr val="2E3E56"/>
                </a:solidFill>
                <a:effectLst/>
                <a:highlight>
                  <a:srgbClr val="F2F4FA"/>
                </a:highlight>
                <a:latin typeface="Roboto-Regular"/>
              </a:rPr>
              <a:t>-in Data set</a:t>
            </a:r>
            <a:endParaRPr lang="pt-PT" i="1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619386"/>
          </a:xfrm>
        </p:spPr>
        <p:txBody>
          <a:bodyPr/>
          <a:lstStyle/>
          <a:p>
            <a:r>
              <a:rPr lang="pt-PT" dirty="0"/>
              <a:t>Service </a:t>
            </a:r>
            <a:r>
              <a:rPr lang="pt-PT" dirty="0" err="1"/>
              <a:t>Strategy</a:t>
            </a:r>
            <a:r>
              <a:rPr lang="pt-PT" dirty="0"/>
              <a:t> | </a:t>
            </a:r>
            <a:r>
              <a:rPr lang="pt-PT" b="1" dirty="0"/>
              <a:t>Enterprise </a:t>
            </a:r>
            <a:r>
              <a:rPr lang="pt-PT" b="1" dirty="0" err="1"/>
              <a:t>Architecture</a:t>
            </a:r>
            <a:endParaRPr lang="pt-PT" b="1" dirty="0"/>
          </a:p>
          <a:p>
            <a:r>
              <a:rPr lang="pt-PT" dirty="0"/>
              <a:t>Lisboa, Agosto 2024</a:t>
            </a: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4AC02B24-4078-4D7C-A0F9-A2DD2B8151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973" y="363409"/>
            <a:ext cx="1584176" cy="1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BE5CD3F-0FAD-4B4F-A5D9-A3828F68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4234CC62-0792-1067-D902-645764D004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633" y="415273"/>
            <a:ext cx="10758734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pt-PT" sz="1800">
                <a:solidFill>
                  <a:schemeClr val="tx1"/>
                </a:solidFill>
                <a:latin typeface="Santander Text"/>
              </a:rPr>
              <a:t>Copyright, IP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Rights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,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Proprietary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Information</a:t>
            </a:r>
            <a:endParaRPr lang="pt-PT" sz="1800">
              <a:solidFill>
                <a:schemeClr val="tx1"/>
              </a:solidFill>
              <a:latin typeface="Santander Text"/>
            </a:endParaRPr>
          </a:p>
          <a:p>
            <a:endParaRPr lang="pt-PT" sz="1800"/>
          </a:p>
        </p:txBody>
      </p:sp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B503E70D-A2C2-6EBE-B800-454B49FE0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634" y="1116240"/>
            <a:ext cx="10758733" cy="4761032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Todo o conteúdo deste documento/apresentação é protegido por direitos autorais e/ou outros direitos de propriedade intelectual, salvo indicação em contrário. Todos os direitos são reservados e propriedade do Santander Portugal e do Grupo Santander.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Nenhuma reprodução ou distribuição de todo ou parte deste documento pode ser feita sem autorização prévia por escrito do Santander. Apenas para os fins exclusivos para os quais você é o destinatário deste documento/apresentação, você poderá fazer uma cópia ou imprimi-lo, desde que não haja alterações em seu conteúdo e esta nota seja incluída para que os direitos sejam acreditados e incorporado na reprodução. </a:t>
            </a:r>
            <a:r>
              <a:rPr lang="pt-PT" u="sng">
                <a:latin typeface="Santander Text"/>
              </a:rPr>
              <a:t>Qualquer uso comercial é totalmente proibido. </a:t>
            </a:r>
            <a:endParaRPr lang="pt-PT" u="sng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O Santander Portugal é o proprietário, titular dos direitos de propriedade intelectual e industrial ou utilizador autorizado e legítimo de todo o conteúdo e aspectos deste documento/apresentação incluindo marcas, informações, textos, fotografias e design, salvo indicação em contrário.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Embora todos os esforços tenham sido feitos para fornecer informações precisas, erros e omissões podem ocorrer. Assim, o Santander Portugal não assume qualquer responsabilidade por qualquer perda ou dano que possa, direta ou indiretamente, resultar de qualquer conselho, opinião, informação, representação ou omissão, negligente ou não, a dados ou informações contidas neste documento/apresentação.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Everything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copyrighted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rights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reserved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remain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exclusive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property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 Santander 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Grupo Santander.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part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reason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first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permission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Santander Portugal.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intended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purpose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would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allowed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make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single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print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changes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accrediting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attached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Beyond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further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copies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commercial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use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expressly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forbidden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Santander 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user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aspects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including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trademark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text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photographs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design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stated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While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every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endeavour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has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supply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accurate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errors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occur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Accordingly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Santander Portugal does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accept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liability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loss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damage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result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advice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opinion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whether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negligent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contained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document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3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763382" cy="304800"/>
          </a:xfrm>
        </p:spPr>
        <p:txBody>
          <a:bodyPr/>
          <a:lstStyle/>
          <a:p>
            <a:r>
              <a:rPr lang="pt-PT" sz="2400"/>
              <a:t>Controlo de Alterações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476835"/>
              </p:ext>
            </p:extLst>
          </p:nvPr>
        </p:nvGraphicFramePr>
        <p:xfrm>
          <a:off x="711024" y="922570"/>
          <a:ext cx="5763382" cy="4619704"/>
        </p:xfrm>
        <a:graphic>
          <a:graphicData uri="http://schemas.openxmlformats.org/drawingml/2006/table">
            <a:tbl>
              <a:tblPr/>
              <a:tblGrid>
                <a:gridCol w="38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Ver.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Autor/</a:t>
                      </a:r>
                      <a:r>
                        <a:rPr kumimoji="0" lang="pt-PT" sz="12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Dpto</a:t>
                      </a:r>
                      <a:endParaRPr kumimoji="0" lang="pt-PT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1.0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05/08/2024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Versão inicial do documento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Sandra Lopes (BP) /Carlos Fonseca (</a:t>
                      </a:r>
                      <a:r>
                        <a:rPr kumimoji="0" lang="pt-PT" sz="1100" b="0" i="1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Reporting</a:t>
                      </a:r>
                      <a:r>
                        <a:rPr kumimoji="0" lang="pt-PT" sz="1100" b="0" i="1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kumimoji="0" lang="pt-PT" sz="1100" b="0" i="1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Hub</a:t>
                      </a: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3365573" y="5933538"/>
            <a:ext cx="5460855" cy="807830"/>
            <a:chOff x="3155589" y="5671693"/>
            <a:chExt cx="5460855" cy="807830"/>
          </a:xfrm>
        </p:grpSpPr>
        <p:sp>
          <p:nvSpPr>
            <p:cNvPr id="11" name="Rectangle 36"/>
            <p:cNvSpPr>
              <a:spLocks noChangeArrowheads="1"/>
            </p:cNvSpPr>
            <p:nvPr/>
          </p:nvSpPr>
          <p:spPr bwMode="auto">
            <a:xfrm>
              <a:off x="3155589" y="5671693"/>
              <a:ext cx="5460855" cy="80783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Simbologia usada para 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identificar alterações na solução face à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situação actual ou entre versões do documento</a:t>
              </a:r>
            </a:p>
          </p:txBody>
        </p:sp>
        <p:sp>
          <p:nvSpPr>
            <p:cNvPr id="13" name="TextBox 1"/>
            <p:cNvSpPr txBox="1">
              <a:spLocks noChangeArrowheads="1"/>
            </p:cNvSpPr>
            <p:nvPr/>
          </p:nvSpPr>
          <p:spPr bwMode="auto">
            <a:xfrm>
              <a:off x="7325610" y="5799305"/>
              <a:ext cx="999891" cy="599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Novo</a:t>
              </a:r>
            </a:p>
            <a:p>
              <a:pPr eaLnBrk="1" hangingPunct="1"/>
              <a:endParaRPr lang="pt-PT" altLang="pt-PT" sz="1100" u="none">
                <a:latin typeface="Santander Text" panose="020B0504020201020104" pitchFamily="34" charset="0"/>
              </a:endParaRPr>
            </a:p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Modificado</a:t>
              </a:r>
            </a:p>
          </p:txBody>
        </p:sp>
        <p:sp>
          <p:nvSpPr>
            <p:cNvPr id="14" name="AutoShape 38"/>
            <p:cNvSpPr>
              <a:spLocks noChangeArrowheads="1"/>
            </p:cNvSpPr>
            <p:nvPr/>
          </p:nvSpPr>
          <p:spPr bwMode="auto">
            <a:xfrm>
              <a:off x="7035854" y="6099588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M</a:t>
              </a:r>
            </a:p>
          </p:txBody>
        </p:sp>
        <p:sp>
          <p:nvSpPr>
            <p:cNvPr id="15" name="AutoShape 35"/>
            <p:cNvSpPr>
              <a:spLocks noChangeArrowheads="1"/>
            </p:cNvSpPr>
            <p:nvPr/>
          </p:nvSpPr>
          <p:spPr bwMode="auto">
            <a:xfrm>
              <a:off x="7035854" y="5760946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N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7B2FF-0565-FE2F-616E-F78DB7EBC3EA}"/>
              </a:ext>
            </a:extLst>
          </p:cNvPr>
          <p:cNvSpPr txBox="1"/>
          <p:nvPr/>
        </p:nvSpPr>
        <p:spPr>
          <a:xfrm>
            <a:off x="6803923" y="886593"/>
            <a:ext cx="4695003" cy="2994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01</a:t>
            </a:r>
            <a:r>
              <a:rPr lang="pt-PT" sz="1200" dirty="0">
                <a:latin typeface="Santander Text" panose="020B0504020201020104" pitchFamily="34" charset="0"/>
              </a:rPr>
              <a:t> Identificação da Iniciativa/Projeto e as Necessidade de Catalogação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02</a:t>
            </a:r>
            <a:r>
              <a:rPr lang="pt-PT" sz="1200" dirty="0">
                <a:latin typeface="Santander Text"/>
              </a:rPr>
              <a:t> Enquadramento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03</a:t>
            </a:r>
            <a:r>
              <a:rPr lang="pt-PT" sz="1200" dirty="0">
                <a:latin typeface="Santander Text" panose="020B0504020201020104" pitchFamily="34" charset="0"/>
              </a:rPr>
              <a:t> Situação Atual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04</a:t>
            </a:r>
            <a:r>
              <a:rPr lang="pt-PT" sz="1200" dirty="0">
                <a:latin typeface="Santander Text"/>
              </a:rPr>
              <a:t> Objetivo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05</a:t>
            </a:r>
            <a:r>
              <a:rPr lang="pt-PT" sz="1200" dirty="0">
                <a:latin typeface="Santander Text" panose="020B0504020201020104" pitchFamily="34" charset="0"/>
              </a:rPr>
              <a:t> Requisitos Funcionais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06 </a:t>
            </a:r>
            <a:r>
              <a:rPr lang="pt-PT" sz="1200" dirty="0">
                <a:latin typeface="Santander Text" panose="020B0504020201020104" pitchFamily="34" charset="0"/>
              </a:rPr>
              <a:t>Solução Proposta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07 </a:t>
            </a:r>
            <a:r>
              <a:rPr lang="pt-PT" sz="1200" dirty="0">
                <a:latin typeface="Santander Text" panose="020B0504020201020104" pitchFamily="34" charset="0"/>
              </a:rPr>
              <a:t>Dados, Fontes, Transformações e Consumo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chemeClr val="accent1"/>
                </a:solidFill>
                <a:latin typeface="Santander Text" panose="020B0504020201020104" pitchFamily="34" charset="0"/>
              </a:rPr>
              <a:t>08 </a:t>
            </a:r>
            <a:r>
              <a:rPr lang="pt-PT" sz="1200" dirty="0">
                <a:latin typeface="Santander Text" panose="020B0504020201020104" pitchFamily="34" charset="0"/>
              </a:rPr>
              <a:t>Referência e Glossário</a:t>
            </a:r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671F19D9-4E00-81BD-AB32-935A41478BC1}"/>
              </a:ext>
            </a:extLst>
          </p:cNvPr>
          <p:cNvSpPr txBox="1">
            <a:spLocks/>
          </p:cNvSpPr>
          <p:nvPr/>
        </p:nvSpPr>
        <p:spPr>
          <a:xfrm>
            <a:off x="6803923" y="415150"/>
            <a:ext cx="4914601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406278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26373"/>
            <a:ext cx="5877538" cy="2852737"/>
          </a:xfrm>
        </p:spPr>
        <p:txBody>
          <a:bodyPr/>
          <a:lstStyle/>
          <a:p>
            <a:r>
              <a:rPr lang="pt-PT" dirty="0"/>
              <a:t>Identificação da Iniciativa/Projeto e das Necessidade de Catalogação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43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C87CF2-88A9-4952-9878-9894D4CB3E5F}"/>
              </a:ext>
            </a:extLst>
          </p:cNvPr>
          <p:cNvSpPr/>
          <p:nvPr/>
        </p:nvSpPr>
        <p:spPr>
          <a:xfrm>
            <a:off x="-1" y="719091"/>
            <a:ext cx="12192001" cy="5317725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endParaRPr lang="pt-PT" sz="100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57978"/>
            <a:ext cx="2743200" cy="365125"/>
          </a:xfrm>
        </p:spPr>
        <p:txBody>
          <a:bodyPr/>
          <a:lstStyle/>
          <a:p>
            <a:fld id="{BC0D97B6-E32F-4D7D-B839-7C3B51F2640F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3292805" cy="304800"/>
          </a:xfrm>
        </p:spPr>
        <p:txBody>
          <a:bodyPr/>
          <a:lstStyle/>
          <a:p>
            <a:r>
              <a:rPr lang="pt-PT" sz="2400"/>
              <a:t>Informação do projecto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4E5D693B-462C-4D34-9F93-21124A01063C}"/>
              </a:ext>
            </a:extLst>
          </p:cNvPr>
          <p:cNvSpPr txBox="1">
            <a:spLocks/>
          </p:cNvSpPr>
          <p:nvPr/>
        </p:nvSpPr>
        <p:spPr>
          <a:xfrm>
            <a:off x="7084442" y="337100"/>
            <a:ext cx="3292805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Informação do Catálogo</a:t>
            </a: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663387E-9092-401F-9605-672CD8069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759930"/>
              </p:ext>
            </p:extLst>
          </p:nvPr>
        </p:nvGraphicFramePr>
        <p:xfrm>
          <a:off x="6490761" y="1670158"/>
          <a:ext cx="5361662" cy="2331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6718">
                  <a:extLst>
                    <a:ext uri="{9D8B030D-6E8A-4147-A177-3AD203B41FA5}">
                      <a16:colId xmlns:a16="http://schemas.microsoft.com/office/drawing/2014/main" val="227919820"/>
                    </a:ext>
                  </a:extLst>
                </a:gridCol>
                <a:gridCol w="3684944">
                  <a:extLst>
                    <a:ext uri="{9D8B030D-6E8A-4147-A177-3AD203B41FA5}">
                      <a16:colId xmlns:a16="http://schemas.microsoft.com/office/drawing/2014/main" val="318222492"/>
                    </a:ext>
                  </a:extLst>
                </a:gridCol>
              </a:tblGrid>
              <a:tr h="201415"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Código | 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56011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Domain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504020201020104" pitchFamily="34" charset="0"/>
                        </a:rPr>
                        <a:t>Capital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01094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Area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504020201020104" pitchFamily="34" charset="0"/>
                        </a:rPr>
                        <a:t>INFORMATION &amp;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1437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Functional Subarea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dirty="0">
                          <a:latin typeface="Santander Text" panose="020B0504020201020104" pitchFamily="34" charset="0"/>
                        </a:rPr>
                        <a:t>Reporting </a:t>
                      </a:r>
                      <a:r>
                        <a:rPr lang="pt-PT" sz="1100" dirty="0" err="1">
                          <a:latin typeface="Santander Text" panose="020B0504020201020104" pitchFamily="34" charset="0"/>
                        </a:rPr>
                        <a:t>Hub</a:t>
                      </a:r>
                      <a:endParaRPr lang="pt-PT" sz="1100" dirty="0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5734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dirty="0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 dirty="0"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i="1" dirty="0" err="1">
                          <a:latin typeface="Santander Text" panose="020B0504020201020104" pitchFamily="34" charset="0"/>
                        </a:rPr>
                        <a:t>Application</a:t>
                      </a:r>
                      <a:r>
                        <a:rPr lang="pt-PT" sz="1100" b="0" i="1" dirty="0">
                          <a:latin typeface="Santander Text" panose="020B0504020201020104" pitchFamily="34" charset="0"/>
                        </a:rPr>
                        <a:t>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 dirty="0" smtClean="0">
                          <a:solidFill>
                            <a:schemeClr val="tx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APMF0001014234</a:t>
                      </a:r>
                      <a:r>
                        <a:rPr lang="pt-PT" sz="1100" kern="1200" dirty="0" smtClean="0">
                          <a:solidFill>
                            <a:srgbClr val="FF0000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pt-PT" sz="1100" kern="1200" dirty="0">
                        <a:solidFill>
                          <a:srgbClr val="FF0000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698515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(Negócio)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S610357 - Pedro Mendes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3554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S302112 - Carlos Alberto Miguel Fonseca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52626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Technical Application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1100" dirty="0">
                        <a:solidFill>
                          <a:srgbClr val="FF0000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6850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Acronym *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#Código do Acrónimo da aplicação Técnica# (ex.: CCCENT)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598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864049C-9A14-4084-90B4-A5FD13118130}"/>
              </a:ext>
            </a:extLst>
          </p:cNvPr>
          <p:cNvSpPr txBox="1"/>
          <p:nvPr/>
        </p:nvSpPr>
        <p:spPr>
          <a:xfrm>
            <a:off x="168676" y="872281"/>
            <a:ext cx="31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latin typeface="Santander Text" panose="020B0504020201020104" pitchFamily="34" charset="0"/>
              </a:rPr>
              <a:t>Referência do Iniciativa/Projeto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B100EA-6846-4DBD-B8F7-A7FB8CA5080D}"/>
              </a:ext>
            </a:extLst>
          </p:cNvPr>
          <p:cNvSpPr/>
          <p:nvPr/>
        </p:nvSpPr>
        <p:spPr>
          <a:xfrm>
            <a:off x="207148" y="1197223"/>
            <a:ext cx="5944038" cy="1046311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Código Iniciativa/Projeto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I2400667</a:t>
            </a:r>
          </a:p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Designação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Automatização </a:t>
            </a:r>
            <a:r>
              <a:rPr lang="pt-PT" sz="11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Valuation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PT" sz="11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Bail</a:t>
            </a:r>
            <a:r>
              <a:rPr lang="pt-PT" sz="1100" i="1" dirty="0">
                <a:solidFill>
                  <a:schemeClr val="tx1"/>
                </a:solidFill>
                <a:latin typeface="Santander Text" panose="020B0504020201020104" pitchFamily="34" charset="0"/>
              </a:rPr>
              <a:t>-in Data set</a:t>
            </a:r>
          </a:p>
          <a:p>
            <a:pPr>
              <a:lnSpc>
                <a:spcPct val="110000"/>
              </a:lnSpc>
              <a:buClr>
                <a:schemeClr val="accent1"/>
              </a:buClr>
            </a:pP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D5EF70-FBE2-46D6-BFB5-20AD84466183}"/>
              </a:ext>
            </a:extLst>
          </p:cNvPr>
          <p:cNvSpPr txBox="1"/>
          <p:nvPr/>
        </p:nvSpPr>
        <p:spPr>
          <a:xfrm>
            <a:off x="168676" y="4058824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Quem é quem?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E55AAE-1D55-4827-9CC8-FBC2B2FA9B2F}"/>
              </a:ext>
            </a:extLst>
          </p:cNvPr>
          <p:cNvSpPr txBox="1"/>
          <p:nvPr/>
        </p:nvSpPr>
        <p:spPr>
          <a:xfrm>
            <a:off x="168676" y="2385459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Simplificação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EB12809-9F89-4EC6-B545-850A94B00714}"/>
              </a:ext>
            </a:extLst>
          </p:cNvPr>
          <p:cNvSpPr/>
          <p:nvPr/>
        </p:nvSpPr>
        <p:spPr>
          <a:xfrm>
            <a:off x="207149" y="2718956"/>
            <a:ext cx="5944038" cy="1107267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Não implica o descontinuar de uma aplicação funcional ou técnica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D37E5996-C0BA-4846-AC3D-11A34AAC068E}"/>
              </a:ext>
            </a:extLst>
          </p:cNvPr>
          <p:cNvSpPr/>
          <p:nvPr/>
        </p:nvSpPr>
        <p:spPr>
          <a:xfrm>
            <a:off x="6490761" y="1197223"/>
            <a:ext cx="5361662" cy="452010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>
              <a:latin typeface="Santander Text" panose="020B05040202010201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A74FC3-E172-4B87-97EF-D9CF1B5EA63C}"/>
              </a:ext>
            </a:extLst>
          </p:cNvPr>
          <p:cNvGrpSpPr/>
          <p:nvPr/>
        </p:nvGrpSpPr>
        <p:grpSpPr>
          <a:xfrm>
            <a:off x="7228411" y="1122816"/>
            <a:ext cx="3793118" cy="600824"/>
            <a:chOff x="6698634" y="762627"/>
            <a:chExt cx="3793118" cy="6008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E22D1B9-C868-4960-860A-CCB5CA8A9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8634" y="762627"/>
              <a:ext cx="1695596" cy="600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FCC116-831F-4B1B-BF26-F9A4ED0F4D04}"/>
                </a:ext>
              </a:extLst>
            </p:cNvPr>
            <p:cNvSpPr txBox="1"/>
            <p:nvPr/>
          </p:nvSpPr>
          <p:spPr>
            <a:xfrm>
              <a:off x="8403518" y="847596"/>
              <a:ext cx="20882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100" b="1" err="1">
                  <a:solidFill>
                    <a:schemeClr val="bg1"/>
                  </a:solidFill>
                  <a:latin typeface="Santander Text" panose="020B0504020201020104" pitchFamily="34" charset="0"/>
                </a:rPr>
                <a:t>Application</a:t>
              </a: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 Portfolio</a:t>
              </a:r>
              <a:b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</a:b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Management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05103-40A2-6FCE-80E6-964E77E31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19288"/>
              </p:ext>
            </p:extLst>
          </p:nvPr>
        </p:nvGraphicFramePr>
        <p:xfrm>
          <a:off x="230483" y="4617563"/>
          <a:ext cx="5920704" cy="81746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44897">
                  <a:extLst>
                    <a:ext uri="{9D8B030D-6E8A-4147-A177-3AD203B41FA5}">
                      <a16:colId xmlns:a16="http://schemas.microsoft.com/office/drawing/2014/main" val="2373311025"/>
                    </a:ext>
                  </a:extLst>
                </a:gridCol>
                <a:gridCol w="4075807">
                  <a:extLst>
                    <a:ext uri="{9D8B030D-6E8A-4147-A177-3AD203B41FA5}">
                      <a16:colId xmlns:a16="http://schemas.microsoft.com/office/drawing/2014/main" val="537697615"/>
                    </a:ext>
                  </a:extLst>
                </a:gridCol>
              </a:tblGrid>
              <a:tr h="27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Solicitante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S610357 - Pedro Mendes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18015"/>
                  </a:ext>
                </a:extLst>
              </a:tr>
              <a:tr h="27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Product</a:t>
                      </a: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kern="1200" dirty="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Owner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C692151 - Henrique Jose Proenca Vaz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44193"/>
                  </a:ext>
                </a:extLst>
              </a:tr>
              <a:tr h="2724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Gestor Projeto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S302112 - Carlos Alberto Miguel Fonseca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3884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EF357D3-A953-371C-A102-9BD96B913173}"/>
              </a:ext>
            </a:extLst>
          </p:cNvPr>
          <p:cNvSpPr/>
          <p:nvPr/>
        </p:nvSpPr>
        <p:spPr>
          <a:xfrm>
            <a:off x="6490761" y="4032803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 dirty="0">
                <a:solidFill>
                  <a:schemeClr val="tx1"/>
                </a:solidFill>
              </a:rPr>
              <a:t>*</a:t>
            </a:r>
            <a:r>
              <a:rPr lang="pt-PT" sz="900" i="1" dirty="0">
                <a:solidFill>
                  <a:schemeClr val="tx1"/>
                </a:solidFill>
              </a:rPr>
              <a:t>Caso já exista catalogação</a:t>
            </a:r>
            <a:endParaRPr lang="pt-PT" sz="9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CD2C4-7DA2-5B56-B2F4-983E685D7229}"/>
              </a:ext>
            </a:extLst>
          </p:cNvPr>
          <p:cNvSpPr/>
          <p:nvPr/>
        </p:nvSpPr>
        <p:spPr>
          <a:xfrm>
            <a:off x="99515" y="3819900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>
                <a:solidFill>
                  <a:schemeClr val="tx1"/>
                </a:solidFill>
              </a:rPr>
              <a:t>*</a:t>
            </a:r>
            <a:r>
              <a:rPr lang="pt-PT" sz="900" i="1">
                <a:solidFill>
                  <a:schemeClr val="tx1"/>
                </a:solidFill>
              </a:rPr>
              <a:t>Caso aplique</a:t>
            </a:r>
            <a:endParaRPr lang="pt-PT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8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Enquadramento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12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 dirty="0">
                <a:latin typeface="Santander Text"/>
              </a:rPr>
              <a:t>Enquadramento da Iniciativa/Projeto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4" y="855463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Pedido proveniente da Auditoria, com data de comprometimento e/ou conclusão em fev25. É igualmente a fase II (continuação), do anterior projeto P2300447(I2300349), que obrigou à criação de nova iniciativa, pois a fonte orçamental é diferente da anterior. 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Este pedido especifico, tem como âmbito automatizar a produção dos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reports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abaixo, que hoje são produzidos manualmente. De seguida identificamos e caracterizamos os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reports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envolvidos: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Valuation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–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constituído por # 308 variáveis, destas:</a:t>
            </a: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#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139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(45%),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com a análise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concluída</a:t>
            </a: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# 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30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(10%),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serão produzidas manualmente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pela Contabilidade</a:t>
            </a:r>
            <a:endParaRPr lang="pt-PT" sz="1100" i="1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#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139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(45%),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com análise incompleta ou por iniciar</a:t>
            </a: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endParaRPr lang="pt-PT" sz="1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Bail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-in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–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constituído por # 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53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 (versão atual).</a:t>
            </a: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# </a:t>
            </a:r>
            <a:r>
              <a:rPr lang="pt-PT" sz="11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53 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variáveis, (100%), carece de análise</a:t>
            </a: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150620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Nota: Para o reporte </a:t>
            </a: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Bail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-in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, o regulador já está em curso com uma nova versão, com cerca de # 130 variáveis, mas não existe ainda prazo para a sua regulamentação. Pelo que foi decidido avançarmos para a automatização da atual versão (# 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53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variáveis)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9995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39C3-54FD-6B37-979D-696E52E5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8019B-E3AF-5D78-B277-8D92B6D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Situação Atual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549B84-B441-142C-3D1E-8B0258AB2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20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/>
              <a:t>Situação Atual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Os reportes que são âmbito deste pedido, são atualmente produzidos manualmente pela equipa da Direção Financeira: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Valuation</a:t>
            </a:r>
            <a:endParaRPr lang="pt-PT" sz="1200" i="1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Bail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-in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244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983F-684D-E41D-9E7E-804099B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64818-B777-8230-2E56-38192A55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Objectivos</a:t>
            </a:r>
            <a:r>
              <a:rPr lang="pt-PT" dirty="0"/>
              <a:t>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A72E98-FCBC-9223-0CED-D5744D0F8C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14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 dirty="0"/>
              <a:t>Objetivos da Iniciativa/Projeto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582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Automatizar a produção dos </a:t>
            </a:r>
            <a:r>
              <a:rPr lang="pt-PT" sz="1200" b="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reports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Valuation</a:t>
            </a:r>
            <a:endParaRPr lang="pt-PT" sz="1200" i="1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Bail</a:t>
            </a:r>
            <a:r>
              <a:rPr lang="pt-PT" sz="1200" i="1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-in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endParaRPr lang="pt-PT" sz="1200" dirty="0" smtClean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Estes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reports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deverão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ser enviados à Corporação no formato 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CSV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, que por sua vez os enviará ao 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Single </a:t>
            </a: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Resolution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Board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(Entidade Reguladora).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 produção 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dos mesmos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será efetuada via motor </a:t>
            </a:r>
            <a:r>
              <a:rPr lang="pt-PT" sz="120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Loan</a:t>
            </a:r>
            <a:r>
              <a:rPr lang="pt-PT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 Tape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aproveitando assim o mesmo para gerar estes novos casos de uso, garantido a coerência/consistência dos dados.</a:t>
            </a:r>
          </a:p>
          <a:p>
            <a:pPr marL="0" algn="just">
              <a:lnSpc>
                <a:spcPct val="150000"/>
              </a:lnSpc>
              <a:spcBef>
                <a:spcPts val="0"/>
              </a:spcBef>
            </a:pPr>
            <a:endParaRPr lang="pt-PT" sz="1200" b="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Para este desenvolvimento é necessário garantir:</a:t>
            </a:r>
          </a:p>
          <a:p>
            <a:pPr marL="0" indent="-1714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Desenvolvimentos no </a:t>
            </a:r>
            <a:r>
              <a:rPr lang="pt-PT" sz="1200" b="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front-end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 existente</a:t>
            </a:r>
            <a:r>
              <a:rPr lang="pt-PT" sz="1200" b="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para os novos âmbitos;</a:t>
            </a:r>
          </a:p>
          <a:p>
            <a:pPr marL="0" indent="-1714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Implementação de novos campos nas tabelas de </a:t>
            </a:r>
            <a:r>
              <a:rPr lang="pt-PT" sz="1200" b="0" i="1" dirty="0">
                <a:solidFill>
                  <a:schemeClr val="tx1"/>
                </a:solidFill>
                <a:latin typeface="Santander Text" panose="020B0504020201020104" pitchFamily="34" charset="0"/>
              </a:rPr>
              <a:t>Output 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do </a:t>
            </a:r>
            <a:r>
              <a:rPr lang="pt-PT" sz="1200" b="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Loan</a:t>
            </a:r>
            <a:r>
              <a:rPr lang="pt-PT" sz="1200" b="0" i="1" dirty="0">
                <a:solidFill>
                  <a:schemeClr val="tx1"/>
                </a:solidFill>
                <a:latin typeface="Santander Text" panose="020B0504020201020104" pitchFamily="34" charset="0"/>
              </a:rPr>
              <a:t> Tape;</a:t>
            </a:r>
          </a:p>
          <a:p>
            <a:pPr marL="0" indent="-1714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Geração de ficheiros CSV de forma manual através de </a:t>
            </a:r>
            <a:r>
              <a:rPr lang="pt-PT" sz="1200" b="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front-end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 existente (</a:t>
            </a:r>
            <a:r>
              <a:rPr lang="pt-PT" sz="1200" b="0" i="1" dirty="0">
                <a:solidFill>
                  <a:schemeClr val="tx1"/>
                </a:solidFill>
                <a:latin typeface="Santander Text" panose="020B0504020201020104" pitchFamily="34" charset="0"/>
              </a:rPr>
              <a:t>Datalake Hub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b="0" i="1" dirty="0" err="1">
                <a:solidFill>
                  <a:schemeClr val="tx1"/>
                </a:solidFill>
                <a:latin typeface="Santander Text" panose="020B0504020201020104" pitchFamily="34" charset="0"/>
              </a:rPr>
              <a:t>on-prem</a:t>
            </a:r>
            <a:r>
              <a:rPr lang="pt-PT" sz="1200" b="0" i="1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  <a:endParaRPr lang="pt-PT" sz="1200" b="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383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7535-CC41-19E0-1FF2-0F3B642C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5A1C1-8DF8-3594-CE46-DFFE70B1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Funcionais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795E43-6925-6A37-C9DF-00358AB515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6731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7353113" cy="304800"/>
          </a:xfrm>
        </p:spPr>
        <p:txBody>
          <a:bodyPr/>
          <a:lstStyle/>
          <a:p>
            <a:r>
              <a:rPr lang="pt-PT" sz="2400"/>
              <a:t>Identificação e Descrição de Requisitos Funcionais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Automatizar a produção dos </a:t>
            </a:r>
            <a:r>
              <a:rPr lang="pt-PT" sz="1200" i="1" dirty="0" err="1" smtClean="0">
                <a:solidFill>
                  <a:schemeClr val="tx1"/>
                </a:solidFill>
                <a:latin typeface="Santander Text" panose="020B0504020201020104" pitchFamily="34" charset="0"/>
              </a:rPr>
              <a:t>reports</a:t>
            </a: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âmbito deste pedido, efetuados atualmente de forma manual, vai permitir: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Retirar carga à equipa da Direção Financeira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Agilizar a produção dos mesmos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Possibilidade de reaproveitar a informação calculada para outros fins</a:t>
            </a: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Reduzir o risco operacional da sua produção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8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1C79-D94D-331B-B379-B569AFFF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1F8E2-38E8-5A76-343A-3F114F85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Solução Proposta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9D2A4-DDA6-EE27-D19C-E5734892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2382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15</a:t>
            </a:fld>
            <a:endParaRPr lang="pt-PT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E9D962A9-73FA-0091-57D8-C002FB87E0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Solução Proposta</a:t>
            </a:r>
            <a:br>
              <a:rPr lang="pt-PT" sz="2400"/>
            </a:br>
            <a:r>
              <a:rPr lang="pt-PT" sz="1800">
                <a:solidFill>
                  <a:schemeClr val="bg1">
                    <a:lumMod val="50000"/>
                  </a:schemeClr>
                </a:solidFill>
              </a:rPr>
              <a:t>Descrição funcional</a:t>
            </a:r>
            <a:endParaRPr lang="pt-PT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3C0C1D0-E38F-A040-697B-1419CA694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7"/>
            <a:ext cx="10922661" cy="494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Para automatizar a produção destes reportes, vai ser assegurado no Datalake: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Ingestas da informação necessária para calculo das variáveis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circuito para o upload de ficheiros no Datalake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Processo para calculo das variáveis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controlos que garantam a qualidade da informação produzida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Disponibilização dos reportes completos 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20566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409C8D65-A905-A686-9988-2E6E1F1A8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Solução Proposta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APIs identificadas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  <a:latin typeface="Santander Text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E3FD425-CEB8-1CDA-5B11-7B2F04F17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7"/>
            <a:ext cx="10922661" cy="494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N/A</a:t>
            </a: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Tx/>
              <a:buChar char="-"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8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5">
            <a:extLst>
              <a:ext uri="{FF2B5EF4-FFF2-40B4-BE49-F238E27FC236}">
                <a16:creationId xmlns:a16="http://schemas.microsoft.com/office/drawing/2014/main" id="{2E3FD425-CEB8-1CDA-5B11-7B2F04F17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7"/>
            <a:ext cx="10922661" cy="494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520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Tx/>
              <a:buChar char="-"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17</a:t>
            </a:fld>
            <a:endParaRPr lang="pt-PT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409C8D65-A905-A686-9988-2E6E1F1A8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 dirty="0" smtClean="0">
                <a:latin typeface="Santander Text"/>
              </a:rPr>
              <a:t>Solução Proposta</a:t>
            </a:r>
            <a:r>
              <a:rPr lang="pt-PT" sz="2400" dirty="0" smtClean="0"/>
              <a:t/>
            </a:r>
            <a:br>
              <a:rPr lang="pt-PT" sz="2400" dirty="0" smtClean="0"/>
            </a:b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Arquiteura </a:t>
            </a:r>
            <a:r>
              <a:rPr lang="pt-BR" sz="18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TO-BE</a:t>
            </a:r>
            <a:endParaRPr lang="pt-PT" sz="2400" i="1" dirty="0">
              <a:solidFill>
                <a:schemeClr val="tx1">
                  <a:lumMod val="75000"/>
                  <a:lumOff val="25000"/>
                </a:schemeClr>
              </a:solidFill>
              <a:latin typeface="Santander Text"/>
            </a:endParaRPr>
          </a:p>
        </p:txBody>
      </p:sp>
      <p:sp>
        <p:nvSpPr>
          <p:cNvPr id="118" name="Rectángulo 68"/>
          <p:cNvSpPr/>
          <p:nvPr/>
        </p:nvSpPr>
        <p:spPr>
          <a:xfrm>
            <a:off x="800714" y="2319737"/>
            <a:ext cx="1729305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9" name="Rectángulo 302"/>
          <p:cNvSpPr/>
          <p:nvPr/>
        </p:nvSpPr>
        <p:spPr>
          <a:xfrm>
            <a:off x="3223397" y="3185796"/>
            <a:ext cx="5882908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ángulo 305"/>
          <p:cNvSpPr/>
          <p:nvPr/>
        </p:nvSpPr>
        <p:spPr>
          <a:xfrm>
            <a:off x="3223396" y="2274434"/>
            <a:ext cx="7165158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Repositórios e Motores de SI</a:t>
            </a:r>
          </a:p>
        </p:txBody>
      </p:sp>
      <p:sp>
        <p:nvSpPr>
          <p:cNvPr id="121" name="Rectángulo 69"/>
          <p:cNvSpPr/>
          <p:nvPr/>
        </p:nvSpPr>
        <p:spPr>
          <a:xfrm>
            <a:off x="821474" y="2274434"/>
            <a:ext cx="1682025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Locais</a:t>
            </a:r>
            <a:endParaRPr kumimoji="0" lang="en-GB" sz="10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22" name="Rectangle 18"/>
          <p:cNvSpPr>
            <a:spLocks noChangeArrowheads="1"/>
          </p:cNvSpPr>
          <p:nvPr/>
        </p:nvSpPr>
        <p:spPr bwMode="auto">
          <a:xfrm>
            <a:off x="988309" y="422212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23" name="Rectangle 32"/>
          <p:cNvSpPr>
            <a:spLocks noChangeArrowheads="1"/>
          </p:cNvSpPr>
          <p:nvPr/>
        </p:nvSpPr>
        <p:spPr bwMode="auto">
          <a:xfrm>
            <a:off x="988309" y="274076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24" name="Rectangle 30"/>
          <p:cNvSpPr>
            <a:spLocks noChangeArrowheads="1"/>
          </p:cNvSpPr>
          <p:nvPr/>
        </p:nvSpPr>
        <p:spPr bwMode="auto">
          <a:xfrm>
            <a:off x="988309" y="496281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BDP</a:t>
            </a:r>
          </a:p>
        </p:txBody>
      </p:sp>
      <p:sp>
        <p:nvSpPr>
          <p:cNvPr id="125" name="Rectangle 18"/>
          <p:cNvSpPr>
            <a:spLocks noChangeArrowheads="1"/>
          </p:cNvSpPr>
          <p:nvPr/>
        </p:nvSpPr>
        <p:spPr bwMode="auto">
          <a:xfrm>
            <a:off x="988309" y="372834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Contencioso</a:t>
            </a:r>
          </a:p>
        </p:txBody>
      </p:sp>
      <p:sp>
        <p:nvSpPr>
          <p:cNvPr id="12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09" y="323455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27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09" y="446902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</a:t>
            </a:r>
          </a:p>
        </p:txBody>
      </p:sp>
      <p:sp>
        <p:nvSpPr>
          <p:cNvPr id="128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09" y="298765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MUG</a:t>
            </a:r>
          </a:p>
        </p:txBody>
      </p:sp>
      <p:sp>
        <p:nvSpPr>
          <p:cNvPr id="129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09" y="249387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Finrep</a:t>
            </a:r>
          </a:p>
        </p:txBody>
      </p:sp>
      <p:sp>
        <p:nvSpPr>
          <p:cNvPr id="130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09" y="397523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Capital</a:t>
            </a:r>
          </a:p>
        </p:txBody>
      </p:sp>
      <p:sp>
        <p:nvSpPr>
          <p:cNvPr id="131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11" y="348144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Imparidade</a:t>
            </a:r>
          </a:p>
        </p:txBody>
      </p:sp>
      <p:sp>
        <p:nvSpPr>
          <p:cNvPr id="13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006" y="471591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214319" y="5775252"/>
            <a:ext cx="2111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Data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Lake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–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Tape</a:t>
            </a:r>
            <a:endParaRPr lang="pt-PT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34" name="Rectangle 30"/>
          <p:cNvSpPr>
            <a:spLocks noChangeArrowheads="1"/>
          </p:cNvSpPr>
          <p:nvPr/>
        </p:nvSpPr>
        <p:spPr bwMode="auto">
          <a:xfrm>
            <a:off x="994006" y="520970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135" name="Rectangle 30"/>
          <p:cNvSpPr>
            <a:spLocks noChangeArrowheads="1"/>
          </p:cNvSpPr>
          <p:nvPr/>
        </p:nvSpPr>
        <p:spPr bwMode="auto">
          <a:xfrm>
            <a:off x="994006" y="545659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MIS</a:t>
            </a:r>
          </a:p>
        </p:txBody>
      </p:sp>
      <p:sp>
        <p:nvSpPr>
          <p:cNvPr id="136" name="Rectangle 30"/>
          <p:cNvSpPr>
            <a:spLocks noChangeArrowheads="1"/>
          </p:cNvSpPr>
          <p:nvPr/>
        </p:nvSpPr>
        <p:spPr bwMode="auto">
          <a:xfrm>
            <a:off x="994006" y="5703496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…</a:t>
            </a:r>
          </a:p>
        </p:txBody>
      </p:sp>
      <p:grpSp>
        <p:nvGrpSpPr>
          <p:cNvPr id="137" name="Group 136"/>
          <p:cNvGrpSpPr/>
          <p:nvPr/>
        </p:nvGrpSpPr>
        <p:grpSpPr>
          <a:xfrm>
            <a:off x="6149087" y="2544390"/>
            <a:ext cx="729047" cy="553048"/>
            <a:chOff x="2988362" y="1267823"/>
            <a:chExt cx="737727" cy="564878"/>
          </a:xfrm>
        </p:grpSpPr>
        <p:pic>
          <p:nvPicPr>
            <p:cNvPr id="138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" name="CuadroTexto 86"/>
          <p:cNvSpPr txBox="1"/>
          <p:nvPr/>
        </p:nvSpPr>
        <p:spPr>
          <a:xfrm>
            <a:off x="5928836" y="239225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794067" y="2914555"/>
            <a:ext cx="982327" cy="240407"/>
            <a:chOff x="3608497" y="4223067"/>
            <a:chExt cx="952559" cy="323062"/>
          </a:xfrm>
        </p:grpSpPr>
        <p:sp>
          <p:nvSpPr>
            <p:cNvPr id="142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144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42" idx="2"/>
          </p:cNvCxnSpPr>
          <p:nvPr/>
        </p:nvCxnSpPr>
        <p:spPr>
          <a:xfrm rot="16200000" flipH="1">
            <a:off x="3927929" y="3373704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5" name="Elbow Connector 144"/>
          <p:cNvCxnSpPr>
            <a:endCxn id="143" idx="0"/>
          </p:cNvCxnSpPr>
          <p:nvPr/>
        </p:nvCxnSpPr>
        <p:spPr>
          <a:xfrm rot="10800000" flipV="1">
            <a:off x="4287703" y="2799889"/>
            <a:ext cx="1861384" cy="132956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46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185" y="3648713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CuadroTexto 86"/>
          <p:cNvSpPr txBox="1"/>
          <p:nvPr/>
        </p:nvSpPr>
        <p:spPr>
          <a:xfrm>
            <a:off x="3560694" y="401191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48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055353" y="4723053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49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2" name="CuadroTexto 86"/>
          <p:cNvSpPr txBox="1"/>
          <p:nvPr/>
        </p:nvSpPr>
        <p:spPr>
          <a:xfrm>
            <a:off x="4634343" y="5116152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53" name="Elbow Connector 152"/>
          <p:cNvCxnSpPr>
            <a:stCxn id="129" idx="3"/>
            <a:endCxn id="150" idx="2"/>
          </p:cNvCxnSpPr>
          <p:nvPr/>
        </p:nvCxnSpPr>
        <p:spPr>
          <a:xfrm>
            <a:off x="2351501" y="2583871"/>
            <a:ext cx="2703852" cy="234167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4" name="Elbow Connector 153"/>
          <p:cNvCxnSpPr>
            <a:stCxn id="146" idx="2"/>
            <a:endCxn id="150" idx="2"/>
          </p:cNvCxnSpPr>
          <p:nvPr/>
        </p:nvCxnSpPr>
        <p:spPr>
          <a:xfrm rot="16200000" flipH="1">
            <a:off x="4172106" y="4042299"/>
            <a:ext cx="867829" cy="89866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55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02" y="3620391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6" name="Group 155"/>
          <p:cNvGrpSpPr/>
          <p:nvPr/>
        </p:nvGrpSpPr>
        <p:grpSpPr>
          <a:xfrm>
            <a:off x="5844335" y="3306096"/>
            <a:ext cx="2268887" cy="2503429"/>
            <a:chOff x="6210095" y="2525811"/>
            <a:chExt cx="2091549" cy="2660071"/>
          </a:xfrm>
        </p:grpSpPr>
        <p:sp>
          <p:nvSpPr>
            <p:cNvPr id="157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8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59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2" name="CuadroTexto 86"/>
          <p:cNvSpPr txBox="1"/>
          <p:nvPr/>
        </p:nvSpPr>
        <p:spPr>
          <a:xfrm>
            <a:off x="5859372" y="395467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63" name="CuadroTexto 86"/>
          <p:cNvSpPr txBox="1"/>
          <p:nvPr/>
        </p:nvSpPr>
        <p:spPr>
          <a:xfrm>
            <a:off x="5868431" y="469811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64" name="CuadroTexto 86"/>
          <p:cNvSpPr txBox="1"/>
          <p:nvPr/>
        </p:nvSpPr>
        <p:spPr>
          <a:xfrm>
            <a:off x="5868432" y="5471006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165" name="CuadroTexto 86"/>
          <p:cNvSpPr txBox="1"/>
          <p:nvPr/>
        </p:nvSpPr>
        <p:spPr>
          <a:xfrm>
            <a:off x="6906747" y="5126043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166" name="CuadroTexto 86"/>
          <p:cNvSpPr txBox="1"/>
          <p:nvPr/>
        </p:nvSpPr>
        <p:spPr>
          <a:xfrm>
            <a:off x="6902324" y="427937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pic>
        <p:nvPicPr>
          <p:cNvPr id="167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02" y="4349827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02" y="5119546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402" y="4789650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382" y="388982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CuadroTexto 86"/>
          <p:cNvSpPr txBox="1"/>
          <p:nvPr/>
        </p:nvSpPr>
        <p:spPr>
          <a:xfrm>
            <a:off x="5417285" y="310273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72" name="Elbow Connector 171"/>
          <p:cNvCxnSpPr>
            <a:stCxn id="150" idx="4"/>
          </p:cNvCxnSpPr>
          <p:nvPr/>
        </p:nvCxnSpPr>
        <p:spPr>
          <a:xfrm flipV="1">
            <a:off x="5427785" y="4922936"/>
            <a:ext cx="602899" cy="2611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3" name="Straight Arrow Connector 172"/>
          <p:cNvCxnSpPr/>
          <p:nvPr/>
        </p:nvCxnSpPr>
        <p:spPr>
          <a:xfrm flipV="1">
            <a:off x="2539098" y="5487185"/>
            <a:ext cx="3471735" cy="5587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4" name="Elbow Connector 173"/>
          <p:cNvCxnSpPr>
            <a:stCxn id="138" idx="2"/>
            <a:endCxn id="151" idx="0"/>
          </p:cNvCxnSpPr>
          <p:nvPr/>
        </p:nvCxnSpPr>
        <p:spPr>
          <a:xfrm rot="5400000">
            <a:off x="5081642" y="3257366"/>
            <a:ext cx="1677304" cy="1357449"/>
          </a:xfrm>
          <a:prstGeom prst="bentConnector3">
            <a:avLst>
              <a:gd name="adj1" fmla="val 366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75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209" y="3627468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77" y="4951174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7" name="Elbow Connector 176"/>
          <p:cNvCxnSpPr>
            <a:stCxn id="138" idx="3"/>
            <a:endCxn id="176" idx="0"/>
          </p:cNvCxnSpPr>
          <p:nvPr/>
        </p:nvCxnSpPr>
        <p:spPr>
          <a:xfrm>
            <a:off x="6878134" y="2820914"/>
            <a:ext cx="1781103" cy="2130260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78" name="Group 177"/>
          <p:cNvGrpSpPr/>
          <p:nvPr/>
        </p:nvGrpSpPr>
        <p:grpSpPr>
          <a:xfrm>
            <a:off x="9657153" y="4276265"/>
            <a:ext cx="1288224" cy="1197595"/>
            <a:chOff x="10072503" y="3695273"/>
            <a:chExt cx="1288224" cy="1197595"/>
          </a:xfrm>
        </p:grpSpPr>
        <p:grpSp>
          <p:nvGrpSpPr>
            <p:cNvPr id="179" name="Group 178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181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180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3" name="Straight Arrow Connector 182"/>
          <p:cNvCxnSpPr/>
          <p:nvPr/>
        </p:nvCxnSpPr>
        <p:spPr>
          <a:xfrm flipV="1">
            <a:off x="8854115" y="5083954"/>
            <a:ext cx="911848" cy="109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4" name="Straight Arrow Connector 183"/>
          <p:cNvCxnSpPr>
            <a:endCxn id="176" idx="1"/>
          </p:cNvCxnSpPr>
          <p:nvPr/>
        </p:nvCxnSpPr>
        <p:spPr>
          <a:xfrm>
            <a:off x="8128957" y="5080534"/>
            <a:ext cx="40092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5" name="TextBox 184"/>
          <p:cNvSpPr txBox="1"/>
          <p:nvPr/>
        </p:nvSpPr>
        <p:spPr>
          <a:xfrm>
            <a:off x="9257766" y="5440579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dirty="0" smtClean="0">
                <a:solidFill>
                  <a:prstClr val="black"/>
                </a:solidFill>
                <a:latin typeface="Calibri" panose="020F0502020204030204"/>
              </a:rPr>
              <a:t>Legenda: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86" name="Straight Connector 185"/>
          <p:cNvCxnSpPr/>
          <p:nvPr/>
        </p:nvCxnSpPr>
        <p:spPr>
          <a:xfrm>
            <a:off x="9375620" y="5681132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7" name="Straight Connector 186"/>
          <p:cNvCxnSpPr/>
          <p:nvPr/>
        </p:nvCxnSpPr>
        <p:spPr>
          <a:xfrm>
            <a:off x="9375620" y="5816496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8" name="Straight Connector 187"/>
          <p:cNvCxnSpPr/>
          <p:nvPr/>
        </p:nvCxnSpPr>
        <p:spPr>
          <a:xfrm>
            <a:off x="9375620" y="5954348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60" name="TextBox 259"/>
          <p:cNvSpPr txBox="1"/>
          <p:nvPr/>
        </p:nvSpPr>
        <p:spPr>
          <a:xfrm>
            <a:off x="9742316" y="5824617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9735082" y="5700676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9735081" y="5565935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782" y="1072857"/>
            <a:ext cx="1128526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A produção </a:t>
            </a:r>
            <a:r>
              <a:rPr lang="pt-BR" sz="1200" dirty="0" smtClean="0">
                <a:latin typeface="Santander Text" panose="020B0504020201020104" pitchFamily="34" charset="0"/>
                <a:ea typeface="Times New Roman" panose="02020603050405020304" pitchFamily="18" charset="0"/>
              </a:rPr>
              <a:t>destes 2 </a:t>
            </a:r>
            <a:r>
              <a:rPr lang="pt-BR" sz="1200" i="1" dirty="0" smtClean="0">
                <a:latin typeface="Santander Text" panose="020B0504020201020104" pitchFamily="34" charset="0"/>
                <a:ea typeface="Times New Roman" panose="02020603050405020304" pitchFamily="18" charset="0"/>
              </a:rPr>
              <a:t>Reports</a:t>
            </a:r>
            <a:r>
              <a:rPr lang="pt-BR" sz="1200" dirty="0" smtClean="0">
                <a:latin typeface="Santander Text" panose="020B0504020201020104" pitchFamily="34" charset="0"/>
                <a:ea typeface="Times New Roman" panose="02020603050405020304" pitchFamily="18" charset="0"/>
              </a:rPr>
              <a:t>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será efetuada via motor </a:t>
            </a:r>
            <a:r>
              <a:rPr lang="pt-BR" sz="1200" i="1" dirty="0">
                <a:latin typeface="Santander Text" panose="020B05040202010201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aproveitando assim o mesmo para gerar </a:t>
            </a:r>
            <a:r>
              <a:rPr lang="pt-BR" sz="1200" dirty="0" smtClean="0">
                <a:latin typeface="Santander Text" panose="020B0504020201020104" pitchFamily="34" charset="0"/>
                <a:ea typeface="Times New Roman" panose="02020603050405020304" pitchFamily="18" charset="0"/>
              </a:rPr>
              <a:t>estes 2 novos âmbitos/casos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de uso, garantido a coerência/consistência dos dados. </a:t>
            </a:r>
            <a:r>
              <a:rPr lang="pt-PT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Esta</a:t>
            </a:r>
            <a:r>
              <a:rPr lang="pt-PT" altLang="en-US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 solução tem por objetivo não só construir um processo robusto, consistente e sinérgico, mas também ir ao encontro da recomendação de Auditoria Interna (AUD11482).</a:t>
            </a:r>
            <a:r>
              <a:rPr lang="en-US" altLang="en-US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 </a:t>
            </a:r>
          </a:p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Atualmente o </a:t>
            </a:r>
            <a:r>
              <a:rPr lang="pt-BR" sz="1200" i="1" dirty="0">
                <a:latin typeface="Santander Text" panose="020B0504020201020104" pitchFamily="34" charset="0"/>
                <a:ea typeface="Times New Roman" panose="02020603050405020304" pitchFamily="18" charset="0"/>
              </a:rPr>
              <a:t>motor Loan Tape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já serve o caso de uso </a:t>
            </a:r>
            <a:r>
              <a:rPr lang="pt-BR" sz="1200" i="1" dirty="0">
                <a:latin typeface="Santander Text" panose="020B05040202010201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Estrutural e brevemente servirá também os casos de uso </a:t>
            </a:r>
            <a:r>
              <a:rPr lang="pt-BR" sz="1200" i="1" dirty="0">
                <a:latin typeface="Santander Text" panose="020B0504020201020104" pitchFamily="34" charset="0"/>
                <a:ea typeface="Times New Roman" panose="02020603050405020304" pitchFamily="18" charset="0"/>
              </a:rPr>
              <a:t>Green Dashboard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e Pilar III, que se encontram em Desenvolvimento/Testes. No entanto, será necessário adicionar novos campos e novas parametrizações de forma a responder a </a:t>
            </a:r>
            <a:r>
              <a:rPr lang="pt-BR" sz="1200" dirty="0" smtClean="0">
                <a:latin typeface="Santander Text" panose="020B0504020201020104" pitchFamily="34" charset="0"/>
                <a:ea typeface="Times New Roman" panose="02020603050405020304" pitchFamily="18" charset="0"/>
              </a:rPr>
              <a:t>estes 2 novos âmbitos/casos </a:t>
            </a:r>
            <a:r>
              <a:rPr lang="pt-BR" sz="1200" dirty="0">
                <a:latin typeface="Santander Text" panose="020B0504020201020104" pitchFamily="34" charset="0"/>
                <a:ea typeface="Times New Roman" panose="02020603050405020304" pitchFamily="18" charset="0"/>
              </a:rPr>
              <a:t>de uso.</a:t>
            </a:r>
          </a:p>
        </p:txBody>
      </p:sp>
    </p:spTree>
    <p:extLst>
      <p:ext uri="{BB962C8B-B14F-4D97-AF65-F5344CB8AC3E}">
        <p14:creationId xmlns:p14="http://schemas.microsoft.com/office/powerpoint/2010/main" val="23370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40" grpId="0"/>
      <p:bldP spid="147" grpId="0"/>
      <p:bldP spid="152" grpId="0"/>
      <p:bldP spid="162" grpId="0"/>
      <p:bldP spid="163" grpId="0"/>
      <p:bldP spid="164" grpId="0"/>
      <p:bldP spid="165" grpId="0"/>
      <p:bldP spid="166" grpId="0"/>
      <p:bldP spid="17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466404" cy="2852737"/>
          </a:xfrm>
        </p:spPr>
        <p:txBody>
          <a:bodyPr>
            <a:normAutofit/>
          </a:bodyPr>
          <a:lstStyle/>
          <a:p>
            <a:r>
              <a:rPr lang="pt-PT">
                <a:latin typeface="Santander Text"/>
              </a:rPr>
              <a:t>Dados</a:t>
            </a:r>
            <a:br>
              <a:rPr lang="pt-PT">
                <a:latin typeface="Santander Text"/>
              </a:rPr>
            </a:br>
            <a:r>
              <a:rPr lang="pt-PT">
                <a:latin typeface="Santander Text"/>
              </a:rPr>
              <a:t>Fontes, Transformações e Consumo.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961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19</a:t>
            </a:fld>
            <a:endParaRPr lang="pt-PT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66E7238B-0F22-D6D5-0E15-CD37D9F1B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Dados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Fontes, Transformações e Consumo de Dados (Solução Proposta)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B9B787-475F-2EAF-ACCF-D4676C85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753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Conforme mencionado anteriormente, 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os dados que constarão nos ficheiros CSV serão obtidos das tabelas de 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Output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do 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Loan Tape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que constam atualmente no 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schema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cd_loan_tapes_bce do 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datalake on-prem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, sendo que haverá a necessidade de adicionar novos campos às tabelas existentes de forma a responder a estes 2 novos âmbitos (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Valuation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BR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Bail-in</a:t>
            </a:r>
            <a:r>
              <a:rPr lang="pt-BR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Por sua vez, as tabelas de </a:t>
            </a:r>
            <a:r>
              <a:rPr lang="pt-BR" altLang="es-ES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Output</a:t>
            </a: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do </a:t>
            </a:r>
            <a:r>
              <a:rPr lang="pt-BR" altLang="es-ES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Loan Tape</a:t>
            </a: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alimentam-se de várias tabelas de </a:t>
            </a:r>
            <a:r>
              <a:rPr lang="pt-BR" altLang="es-ES" sz="1200" i="1" dirty="0">
                <a:solidFill>
                  <a:schemeClr val="tx1"/>
                </a:solidFill>
                <a:latin typeface="Santander Text" panose="020B0504020201020104" pitchFamily="34" charset="0"/>
              </a:rPr>
              <a:t>Input</a:t>
            </a: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AL002_SLD_CORE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AL006_SAQ_PPC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AL007_PROG_PPC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AL011_DERIVADOS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AL012_CQ_ALM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AL014_ACT_PRIM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AL029_CNT_CORE_M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AL602_REPOS_ALM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BDR_JM_CLIEN_JURI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BDR_JM_CAL_EXT_CL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CL001_INTERV_CTO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CLIENTES_INTRAGUPO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endParaRPr lang="pt-BR" altLang="es-ES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59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20</a:t>
            </a:fld>
            <a:endParaRPr lang="pt-PT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66E7238B-0F22-D6D5-0E15-CD37D9F1B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Dados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Fontes, Transformações e Consumo de Dados (Solução Proposta)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B9B787-475F-2EAF-ACCF-D4676C85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753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buClr>
                <a:srgbClr val="FF0000"/>
              </a:buClr>
              <a:buNone/>
            </a:pPr>
            <a:r>
              <a:rPr lang="pt-BR" altLang="es-ES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(continuação)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CT003_UNIV_CLI</a:t>
            </a:r>
            <a:endParaRPr lang="pt-BR" altLang="es-ES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CT013_RWA_PRINC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CT021_RWA_CLI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CT069_UNIV_GR_EC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CT070_UNIV_GR_CLI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CT902_EBA_REPORT_CONTAB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CT610_TITULOS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CT619_RATINGS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CT622_MOYR_IFIC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CT902_EBA_REPORT_CONTAB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DWT534_FLUXOS_CAIXA_SNC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DWT557_CERTIFIC_CONTAS_SNC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DWT563_BALANCO_CG (BL)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DWT566_DEM_RESULT_CG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EPT01_CONTAS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EPT02_ADMCTA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EPT06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EPT08_PRESTACOES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endParaRPr lang="pt-BR" altLang="es-ES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4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21</a:t>
            </a:fld>
            <a:endParaRPr lang="pt-PT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66E7238B-0F22-D6D5-0E15-CD37D9F1B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Dados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Fontes, Transformações e Consumo de Dados (Solução Proposta)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B9B787-475F-2EAF-ACCF-D4676C85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753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buClr>
                <a:srgbClr val="FF0000"/>
              </a:buClr>
              <a:buNone/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(continuação)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FR001_UNIV_SALDO</a:t>
            </a:r>
            <a:endParaRPr lang="pt-BR" altLang="es-ES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FR004_CTO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FR008_VENDAS_CT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FR011_CAPS_LTV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GT001_TRZ_RSP_GP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GT003_TRZ_GT_FIN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GT007_TRZ_GT_PES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GT008_TRZ_GT_IMV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GT009_BENS_IMOV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GT011_AVALC_IMOV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GT018_RATEIO_AVAL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IFRS9_OUT_EXPECTED_LOSS_REPORTING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IFRS9_INPUT_MOTOR_8_7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IFRS9_OUT_STAGING_REPORTING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IMCATF046_FLAG_FECHO</a:t>
            </a:r>
          </a:p>
        </p:txBody>
      </p:sp>
    </p:spTree>
    <p:extLst>
      <p:ext uri="{BB962C8B-B14F-4D97-AF65-F5344CB8AC3E}">
        <p14:creationId xmlns:p14="http://schemas.microsoft.com/office/powerpoint/2010/main" val="12556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22</a:t>
            </a:fld>
            <a:endParaRPr lang="pt-PT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66E7238B-0F22-D6D5-0E15-CD37D9F1B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Dados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Fontes, Transformações e Consumo de Dados (Solução Proposta)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B9B787-475F-2EAF-ACCF-D4676C85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753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buClr>
                <a:srgbClr val="FF0000"/>
              </a:buClr>
              <a:buNone/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(continuação)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IVT01_IMOVEIS</a:t>
            </a:r>
            <a:endParaRPr lang="pt-BR" altLang="es-ES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MOYR1060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MOYR1061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RENDIMENTOIRS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RENDIMENTOMENSAL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RNM85_RESTR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RNT01_SOLCRED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RNT05_SOLDST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RNT30_MORMARCA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rstf099_det_cli_rsc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RSV176SA1_BALANCO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RSV177SA1_DEM_RESULT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SPT04_INFLOWCRE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STT191_PROPOSTAS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STT196_PROP_STGW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TAT91_TABELAS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TI601_TITULARIZ</a:t>
            </a:r>
          </a:p>
          <a:p>
            <a:pPr marL="350838" lvl="1" indent="-171450" algn="just">
              <a:buClr>
                <a:srgbClr val="FF0000"/>
              </a:buClr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TI602_TRANCHES</a:t>
            </a:r>
          </a:p>
        </p:txBody>
      </p:sp>
    </p:spTree>
    <p:extLst>
      <p:ext uri="{BB962C8B-B14F-4D97-AF65-F5344CB8AC3E}">
        <p14:creationId xmlns:p14="http://schemas.microsoft.com/office/powerpoint/2010/main" val="249996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Referências e Glossário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21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790773"/>
              </p:ext>
            </p:extLst>
          </p:nvPr>
        </p:nvGraphicFramePr>
        <p:xfrm>
          <a:off x="657786" y="941570"/>
          <a:ext cx="10368728" cy="3325276"/>
        </p:xfrm>
        <a:graphic>
          <a:graphicData uri="http://schemas.openxmlformats.org/drawingml/2006/table">
            <a:tbl>
              <a:tblPr/>
              <a:tblGrid>
                <a:gridCol w="74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Ficheiro/Nome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Comentário / Link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REF#1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2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REF#2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sz="1400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REF#4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REF#5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REF#6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u="sng" kern="1200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/>
              <a:t>Referências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851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/>
              <a:t>Glossário</a:t>
            </a:r>
          </a:p>
        </p:txBody>
      </p:sp>
      <p:graphicFrame>
        <p:nvGraphicFramePr>
          <p:cNvPr id="16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20483"/>
              </p:ext>
            </p:extLst>
          </p:nvPr>
        </p:nvGraphicFramePr>
        <p:xfrm>
          <a:off x="839416" y="908720"/>
          <a:ext cx="10630342" cy="4176105"/>
        </p:xfrm>
        <a:graphic>
          <a:graphicData uri="http://schemas.openxmlformats.org/drawingml/2006/table">
            <a:tbl>
              <a:tblPr/>
              <a:tblGrid>
                <a:gridCol w="118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2173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63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420" y="114373"/>
            <a:ext cx="6185198" cy="538770"/>
          </a:xfrm>
        </p:spPr>
        <p:txBody>
          <a:bodyPr/>
          <a:lstStyle/>
          <a:p>
            <a:r>
              <a:rPr lang="pt-PT" sz="2400" err="1"/>
              <a:t>Checklist</a:t>
            </a:r>
            <a:r>
              <a:rPr lang="pt-PT" sz="2400"/>
              <a:t> da Solução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</a:rPr>
              <a:t>A preencher pelo Enterprise 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Architect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27</a:t>
            </a:fld>
            <a:endParaRPr lang="pt-PT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9CA777D-D26D-97C4-8091-177E4A812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59643"/>
              </p:ext>
            </p:extLst>
          </p:nvPr>
        </p:nvGraphicFramePr>
        <p:xfrm>
          <a:off x="335360" y="821647"/>
          <a:ext cx="11521280" cy="5412190"/>
        </p:xfrm>
        <a:graphic>
          <a:graphicData uri="http://schemas.openxmlformats.org/drawingml/2006/table">
            <a:tbl>
              <a:tblPr/>
              <a:tblGrid>
                <a:gridCol w="3446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5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1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Quality</a:t>
                      </a:r>
                      <a:r>
                        <a:rPr kumimoji="0" lang="pt-PT" sz="1600" b="1" i="1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 Gate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/ Finalidade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Requisitos de negócio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Necessidade de definição detalhada de requisitos e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user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stories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para os vários casos de uso identificados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Responsável de negócio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Definir um responsável de negócio e estrutura de governo para Definir, Decidir e Acompanhar os use cases e </a:t>
                      </a:r>
                      <a:r>
                        <a:rPr lang="pt-PT" sz="1100" dirty="0" err="1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respectiva</a:t>
                      </a: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implementação, incluindo teste de aceitação e aprovação para subida a Produção. Este responsável deverá também ter a capacidade de </a:t>
                      </a:r>
                      <a:r>
                        <a:rPr kumimoji="0" lang="pt-P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entender o impacto e a possível reutilização entre iniciativas/projetos</a:t>
                      </a: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Planeamento do desenho da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Definir um calendário de actividades adequado á complexidade da solução e dos casos de uso em análise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Tipo de abordagem da Solução desenhada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Abordar a iniciativas/projetos em modo Agile, definindo um MVP que possa evoluir por sprints para uma solução holística e escalável. Evitar soluções </a:t>
                      </a:r>
                      <a:r>
                        <a:rPr kumimoji="0" lang="pt-PT" sz="11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tácticas</a:t>
                      </a: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, suportadas por manualidades com elevado risco operacional associado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Adequação das ferramentas à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Evitar desvirtuar o objectivo de negócio para o qual determinada solução é desenhada (p.e.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Front-end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“Upload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Datalake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), não fazendo uso errado como ferramentas de integração entre sistemas que á partida não estão integrados;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56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Envolvimento de outras áreas dentro e fora de IT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DPO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2501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Cibersegurança</a:t>
                      </a: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1508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Áreas de Negócio Afectadas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76336"/>
                  </a:ext>
                </a:extLst>
              </a:tr>
              <a:tr h="213561"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RGPD e Fusão de Clientes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Serão criados novos campos de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Manipula/Altera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Mostra informação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4861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Envia informação de cliente para entidade interna ou externa?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139031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Regista o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nr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de Cliente em BD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Host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ou Sistemas Médios?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2547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Tem ficheiros/interfaces com código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02604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Reporte ao Regulador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Caso haja dados expostos em </a:t>
                      </a:r>
                      <a:r>
                        <a:rPr kumimoji="0" lang="pt-PT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Cloud</a:t>
                      </a: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 pública</a:t>
                      </a: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Forum Web&amp;Apps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Forum para g</a:t>
                      </a:r>
                      <a:r>
                        <a:rPr kumimoji="0" lang="pt-PT" sz="11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overno e gestão de Páginas Web e Apps Web no Banco Santander Totta</a:t>
                      </a:r>
                      <a:endParaRPr kumimoji="0" lang="pt-PT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547738"/>
                  </a:ext>
                </a:extLst>
              </a:tr>
              <a:tr h="2734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92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3">
    <a:dk1>
      <a:sysClr val="windowText" lastClr="000000"/>
    </a:dk1>
    <a:lt1>
      <a:sysClr val="window" lastClr="FFFFFF"/>
    </a:lt1>
    <a:dk2>
      <a:srgbClr val="6E7678"/>
    </a:dk2>
    <a:lt2>
      <a:srgbClr val="E7E6E6"/>
    </a:lt2>
    <a:accent1>
      <a:srgbClr val="EB0000"/>
    </a:accent1>
    <a:accent2>
      <a:srgbClr val="DEEDF1"/>
    </a:accent2>
    <a:accent3>
      <a:srgbClr val="9D3566"/>
    </a:accent3>
    <a:accent4>
      <a:srgbClr val="62B967"/>
    </a:accent4>
    <a:accent5>
      <a:srgbClr val="1AB2BB"/>
    </a:accent5>
    <a:accent6>
      <a:srgbClr val="FFCB32"/>
    </a:accent6>
    <a:hlink>
      <a:srgbClr val="3265FF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B9A5E792D2446B8986FAE34BEC557" ma:contentTypeVersion="12" ma:contentTypeDescription="Create a new document." ma:contentTypeScope="" ma:versionID="7adfa8841e2fc3244094c43c12bf1917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bdf8639dc839548d74de5ec77a3933cd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DD523A-5470-49AC-9EC3-D0FB8E543052}"/>
</file>

<file path=customXml/itemProps2.xml><?xml version="1.0" encoding="utf-8"?>
<ds:datastoreItem xmlns:ds="http://schemas.openxmlformats.org/officeDocument/2006/customXml" ds:itemID="{AD080778-C4FD-4408-8861-0522BD5E52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8044C5-2532-4A66-AC85-9AD3A6B92C31}">
  <ds:schemaRefs>
    <ds:schemaRef ds:uri="http://schemas.openxmlformats.org/package/2006/metadata/core-properties"/>
    <ds:schemaRef ds:uri="5ad20f8b-9281-4829-a9aa-2b5a878ba2cc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3"/>
    <ds:schemaRef ds:uri="http://purl.org/dc/dcmitype/"/>
    <ds:schemaRef ds:uri="09d3dac3-f296-4107-b579-4b1e37be616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1745</TotalTime>
  <Words>1860</Words>
  <Application>Microsoft Office PowerPoint</Application>
  <PresentationFormat>Widescreen</PresentationFormat>
  <Paragraphs>325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Roboto-Regular</vt:lpstr>
      <vt:lpstr>Santander Headline</vt:lpstr>
      <vt:lpstr>Santander Text</vt:lpstr>
      <vt:lpstr>Times</vt:lpstr>
      <vt:lpstr>Times New Roman</vt:lpstr>
      <vt:lpstr>Wingdings</vt:lpstr>
      <vt:lpstr>Tema de Office</vt:lpstr>
      <vt:lpstr>Documento de Requisitos </vt:lpstr>
      <vt:lpstr>PowerPoint Presentation</vt:lpstr>
      <vt:lpstr>PowerPoint Presentation</vt:lpstr>
      <vt:lpstr>Identificação da Iniciativa/Projeto e das Necessidade de Catalogação</vt:lpstr>
      <vt:lpstr>PowerPoint Presentation</vt:lpstr>
      <vt:lpstr>Enquadramento da Iniciativa/Projeto</vt:lpstr>
      <vt:lpstr>PowerPoint Presentation</vt:lpstr>
      <vt:lpstr>Situação Atual</vt:lpstr>
      <vt:lpstr>PowerPoint Presentation</vt:lpstr>
      <vt:lpstr>Objectivos da Iniciativa/Projeto</vt:lpstr>
      <vt:lpstr>PowerPoint Presentation</vt:lpstr>
      <vt:lpstr>Requisitos Funcionais</vt:lpstr>
      <vt:lpstr>PowerPoint Presentation</vt:lpstr>
      <vt:lpstr>Solução Proposta</vt:lpstr>
      <vt:lpstr>PowerPoint Presentation</vt:lpstr>
      <vt:lpstr>PowerPoint Presentation</vt:lpstr>
      <vt:lpstr>PowerPoint Presentation</vt:lpstr>
      <vt:lpstr>Dados Fontes, Transformações e Consumo.</vt:lpstr>
      <vt:lpstr>PowerPoint Presentation</vt:lpstr>
      <vt:lpstr>PowerPoint Presentation</vt:lpstr>
      <vt:lpstr>PowerPoint Presentation</vt:lpstr>
      <vt:lpstr>PowerPoint Presentation</vt:lpstr>
      <vt:lpstr>Referências e Glossário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Bernardo Cardoso</dc:creator>
  <cp:lastModifiedBy>Luís Filipe da Silva Pragosa</cp:lastModifiedBy>
  <cp:revision>25</cp:revision>
  <cp:lastPrinted>2018-11-02T14:15:56Z</cp:lastPrinted>
  <dcterms:created xsi:type="dcterms:W3CDTF">2018-03-19T11:10:43Z</dcterms:created>
  <dcterms:modified xsi:type="dcterms:W3CDTF">2024-08-08T17:57:41Z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0x0101000B6B9A5E792D2446B8986FAE34BEC557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2022-06-20T13:01:57Z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a318e53b-ff20-49a1-91c5-da12d420dac2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