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6846980" r:id="rId5"/>
  </p:sldIdLst>
  <p:sldSz cx="12192000" cy="6858000"/>
  <p:notesSz cx="6858000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052007-4DCB-4C2D-9175-F0991BD2B084}" name="Nádia Genebra Ahmad" initials="NGA" userId="S::E800421@corp.santander.pt::36126275-cace-419f-8e9b-04679c4f8e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0" autoAdjust="0"/>
    <p:restoredTop sz="96357" autoAdjust="0"/>
  </p:normalViewPr>
  <p:slideViewPr>
    <p:cSldViewPr snapToGrid="0">
      <p:cViewPr varScale="1">
        <p:scale>
          <a:sx n="115" d="100"/>
          <a:sy n="115" d="100"/>
        </p:scale>
        <p:origin x="3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2EC50-19F0-4E35-9125-A66A562DCC4A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845C8-84B5-4E6B-BA8B-94C27CB832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335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91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36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80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46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12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2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5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5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1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82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352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6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22/03/2024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image" Target="../media/image7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ángulo 68"/>
          <p:cNvSpPr/>
          <p:nvPr/>
        </p:nvSpPr>
        <p:spPr>
          <a:xfrm>
            <a:off x="1166474" y="1920007"/>
            <a:ext cx="1729305" cy="38754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Diapositiva de think-cell" r:id="rId5" imgW="444" imgH="446" progId="TCLayout.ActiveDocument.1">
                  <p:embed/>
                </p:oleObj>
              </mc:Choice>
              <mc:Fallback>
                <p:oleObj name="Diapositiva de think-cell" r:id="rId5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" name="Rectángulo 302"/>
          <p:cNvSpPr/>
          <p:nvPr/>
        </p:nvSpPr>
        <p:spPr>
          <a:xfrm>
            <a:off x="3589156" y="2279754"/>
            <a:ext cx="5887353" cy="34338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306" name="Rectángulo 305"/>
          <p:cNvSpPr/>
          <p:nvPr/>
        </p:nvSpPr>
        <p:spPr>
          <a:xfrm>
            <a:off x="3589156" y="702330"/>
            <a:ext cx="7165158" cy="2544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1202474" y="1767836"/>
            <a:ext cx="1682025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 smtClean="0">
                <a:solidFill>
                  <a:prstClr val="white"/>
                </a:solidFill>
                <a:latin typeface="Santander Text" panose="020B0504020201020104" pitchFamily="34" charset="0"/>
              </a:rPr>
              <a:t>Locais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1354069" y="3858141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1354069" y="2347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Riscos</a:t>
            </a:r>
            <a:endParaRPr lang="pt-BR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1354069" y="4615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BDP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1354069" y="3355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Contencioso</a:t>
            </a:r>
            <a:endParaRPr lang="en-US" altLang="pt-PT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2851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4111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Contabilidade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2599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MUG</a:t>
            </a:r>
            <a:endParaRPr lang="pt-BR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2094141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Finrep</a:t>
            </a:r>
            <a:endParaRPr lang="pt-BR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069" y="3607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Capital</a:t>
            </a:r>
            <a:endParaRPr lang="en-US" altLang="pt-PT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971" y="3103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Imparidade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52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766" y="4363289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580079" y="5436617"/>
            <a:ext cx="2111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Data </a:t>
            </a:r>
            <a:r>
              <a:rPr lang="pt-PT" sz="1200" b="1" dirty="0" err="1"/>
              <a:t>Lake</a:t>
            </a:r>
            <a:r>
              <a:rPr lang="pt-PT" sz="1200" b="1" dirty="0"/>
              <a:t> – </a:t>
            </a:r>
            <a:r>
              <a:rPr lang="pt-PT" sz="1200" b="1" dirty="0" err="1" smtClean="0"/>
              <a:t>Loan</a:t>
            </a:r>
            <a:r>
              <a:rPr lang="pt-PT" sz="1200" b="1" dirty="0" smtClean="0"/>
              <a:t> Tape</a:t>
            </a:r>
            <a:endParaRPr lang="pt-PT" sz="1200" b="1" dirty="0"/>
          </a:p>
        </p:txBody>
      </p: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F9F72A8F-03AA-BC44-AAF8-68A8B4791E2A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Arquitetura de Sistemas e de Produção de Informação – </a:t>
            </a:r>
            <a:r>
              <a:rPr lang="pt-PT" sz="2000" b="1" dirty="0" err="1" smtClean="0">
                <a:solidFill>
                  <a:srgbClr val="FF0000"/>
                </a:solidFill>
                <a:latin typeface="Santander Text" panose="020B0504020201020104" pitchFamily="34" charset="0"/>
              </a:rPr>
              <a:t>Loan</a:t>
            </a:r>
            <a:r>
              <a:rPr lang="pt-PT" sz="2000" b="1" dirty="0" smtClean="0">
                <a:solidFill>
                  <a:srgbClr val="FF0000"/>
                </a:solidFill>
                <a:latin typeface="Santander Text" panose="020B0504020201020104" pitchFamily="34" charset="0"/>
              </a:rPr>
              <a:t> Tape </a:t>
            </a: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no Data </a:t>
            </a:r>
            <a:r>
              <a:rPr lang="pt-PT" sz="2000" b="1" dirty="0" err="1">
                <a:solidFill>
                  <a:srgbClr val="FF0000"/>
                </a:solidFill>
                <a:latin typeface="Santander Text" panose="020B0504020201020104" pitchFamily="34" charset="0"/>
              </a:rPr>
              <a:t>Lake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116" name="Rectangle 30"/>
          <p:cNvSpPr>
            <a:spLocks noChangeArrowheads="1"/>
          </p:cNvSpPr>
          <p:nvPr/>
        </p:nvSpPr>
        <p:spPr bwMode="auto">
          <a:xfrm>
            <a:off x="1359766" y="4860333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ALM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18" name="Rectangle 30"/>
          <p:cNvSpPr>
            <a:spLocks noChangeArrowheads="1"/>
          </p:cNvSpPr>
          <p:nvPr/>
        </p:nvSpPr>
        <p:spPr bwMode="auto">
          <a:xfrm>
            <a:off x="1359766" y="5105377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MIS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20" name="Rectangle 30"/>
          <p:cNvSpPr>
            <a:spLocks noChangeArrowheads="1"/>
          </p:cNvSpPr>
          <p:nvPr/>
        </p:nvSpPr>
        <p:spPr bwMode="auto">
          <a:xfrm>
            <a:off x="1359766" y="5350421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 smtClean="0">
                <a:solidFill>
                  <a:schemeClr val="tx1"/>
                </a:solidFill>
                <a:latin typeface="Santander Text" panose="020B0504020201020104" pitchFamily="34" charset="0"/>
              </a:rPr>
              <a:t>…</a:t>
            </a:r>
            <a:endParaRPr lang="pt-PT" alt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514847" y="1173929"/>
            <a:ext cx="729047" cy="553048"/>
            <a:chOff x="2988362" y="1267823"/>
            <a:chExt cx="737727" cy="564878"/>
          </a:xfrm>
        </p:grpSpPr>
        <p:pic>
          <p:nvPicPr>
            <p:cNvPr id="2062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4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6" name="CuadroTexto 86"/>
          <p:cNvSpPr txBox="1"/>
          <p:nvPr/>
        </p:nvSpPr>
        <p:spPr>
          <a:xfrm>
            <a:off x="6294596" y="102038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50" b="1" dirty="0" err="1" smtClean="0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4159827" y="1927003"/>
            <a:ext cx="982327" cy="240407"/>
            <a:chOff x="3608497" y="4223067"/>
            <a:chExt cx="952559" cy="323062"/>
          </a:xfrm>
        </p:grpSpPr>
        <p:sp>
          <p:nvSpPr>
            <p:cNvPr id="132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133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19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134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32" idx="2"/>
          </p:cNvCxnSpPr>
          <p:nvPr/>
        </p:nvCxnSpPr>
        <p:spPr>
          <a:xfrm rot="16200000" flipH="1">
            <a:off x="4293689" y="2386152"/>
            <a:ext cx="457679" cy="198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endCxn id="133" idx="0"/>
          </p:cNvCxnSpPr>
          <p:nvPr/>
        </p:nvCxnSpPr>
        <p:spPr>
          <a:xfrm rot="10800000" flipV="1">
            <a:off x="4653464" y="1454969"/>
            <a:ext cx="1940749" cy="490324"/>
          </a:xfrm>
          <a:prstGeom prst="bentConnector2">
            <a:avLst/>
          </a:prstGeom>
          <a:ln w="952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3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945" y="2661161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" name="CuadroTexto 86"/>
          <p:cNvSpPr txBox="1"/>
          <p:nvPr/>
        </p:nvSpPr>
        <p:spPr>
          <a:xfrm>
            <a:off x="3926454" y="302436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51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5421113" y="3735501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52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53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54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155" name="CuadroTexto 86"/>
          <p:cNvSpPr txBox="1"/>
          <p:nvPr/>
        </p:nvSpPr>
        <p:spPr>
          <a:xfrm>
            <a:off x="5000103" y="412860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7" name="Elbow Connector 16"/>
          <p:cNvCxnSpPr>
            <a:stCxn id="112" idx="3"/>
            <a:endCxn id="153" idx="2"/>
          </p:cNvCxnSpPr>
          <p:nvPr/>
        </p:nvCxnSpPr>
        <p:spPr>
          <a:xfrm>
            <a:off x="2717261" y="2202141"/>
            <a:ext cx="2703852" cy="173585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2073" idx="2"/>
            <a:endCxn id="153" idx="2"/>
          </p:cNvCxnSpPr>
          <p:nvPr/>
        </p:nvCxnSpPr>
        <p:spPr>
          <a:xfrm rot="16200000" flipH="1">
            <a:off x="4537866" y="3054747"/>
            <a:ext cx="867829" cy="898665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3006065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/>
          <p:cNvGrpSpPr/>
          <p:nvPr/>
        </p:nvGrpSpPr>
        <p:grpSpPr>
          <a:xfrm>
            <a:off x="6210095" y="2682453"/>
            <a:ext cx="2268887" cy="2503429"/>
            <a:chOff x="6210095" y="2525811"/>
            <a:chExt cx="2091549" cy="2660071"/>
          </a:xfrm>
        </p:grpSpPr>
        <p:sp>
          <p:nvSpPr>
            <p:cNvPr id="180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2721799"/>
              <a:ext cx="1938065" cy="2464083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grpSp>
          <p:nvGrpSpPr>
            <p:cNvPr id="172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2525811"/>
              <a:ext cx="343570" cy="355091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75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76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79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188" name="CuadroTexto 86"/>
          <p:cNvSpPr txBox="1"/>
          <p:nvPr/>
        </p:nvSpPr>
        <p:spPr>
          <a:xfrm>
            <a:off x="6225132" y="334034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89" name="CuadroTexto 86"/>
          <p:cNvSpPr txBox="1"/>
          <p:nvPr/>
        </p:nvSpPr>
        <p:spPr>
          <a:xfrm>
            <a:off x="6234191" y="408378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5" name="CuadroTexto 86"/>
          <p:cNvSpPr txBox="1"/>
          <p:nvPr/>
        </p:nvSpPr>
        <p:spPr>
          <a:xfrm>
            <a:off x="6234192" y="485668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6" name="CuadroTexto 86"/>
          <p:cNvSpPr txBox="1"/>
          <p:nvPr/>
        </p:nvSpPr>
        <p:spPr>
          <a:xfrm>
            <a:off x="7272507" y="451171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97" name="CuadroTexto 86"/>
          <p:cNvSpPr txBox="1"/>
          <p:nvPr/>
        </p:nvSpPr>
        <p:spPr>
          <a:xfrm>
            <a:off x="7268084" y="3665049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9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3735501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2" y="4505220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162" y="4175324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142" y="3275498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2" name="CuadroTexto 86"/>
          <p:cNvSpPr txBox="1"/>
          <p:nvPr/>
        </p:nvSpPr>
        <p:spPr>
          <a:xfrm>
            <a:off x="5765102" y="247125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900" b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  <a:endParaRPr lang="es-ES" sz="9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71" name="Elbow Connector 70"/>
          <p:cNvCxnSpPr>
            <a:stCxn id="153" idx="4"/>
          </p:cNvCxnSpPr>
          <p:nvPr/>
        </p:nvCxnSpPr>
        <p:spPr>
          <a:xfrm flipV="1">
            <a:off x="5793545" y="3935384"/>
            <a:ext cx="602899" cy="2611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2904858" y="4505220"/>
            <a:ext cx="3456000" cy="649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2062" idx="2"/>
            <a:endCxn id="154" idx="0"/>
          </p:cNvCxnSpPr>
          <p:nvPr/>
        </p:nvCxnSpPr>
        <p:spPr>
          <a:xfrm rot="5400000">
            <a:off x="5255948" y="2078359"/>
            <a:ext cx="2060213" cy="1357449"/>
          </a:xfrm>
          <a:prstGeom prst="bentConnector3">
            <a:avLst>
              <a:gd name="adj1" fmla="val 20949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9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969" y="2639916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5637" y="3963622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8" name="Elbow Connector 97"/>
          <p:cNvCxnSpPr>
            <a:stCxn id="2062" idx="3"/>
            <a:endCxn id="223" idx="0"/>
          </p:cNvCxnSpPr>
          <p:nvPr/>
        </p:nvCxnSpPr>
        <p:spPr>
          <a:xfrm>
            <a:off x="7243894" y="1450453"/>
            <a:ext cx="1781103" cy="25131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/>
          <p:cNvGrpSpPr/>
          <p:nvPr/>
        </p:nvGrpSpPr>
        <p:grpSpPr>
          <a:xfrm>
            <a:off x="10022913" y="3416729"/>
            <a:ext cx="1288224" cy="1197598"/>
            <a:chOff x="10072503" y="3823289"/>
            <a:chExt cx="1288224" cy="1197598"/>
          </a:xfrm>
        </p:grpSpPr>
        <p:grpSp>
          <p:nvGrpSpPr>
            <p:cNvPr id="85" name="Group 84"/>
            <p:cNvGrpSpPr/>
            <p:nvPr/>
          </p:nvGrpSpPr>
          <p:grpSpPr>
            <a:xfrm>
              <a:off x="10072503" y="3823289"/>
              <a:ext cx="1288224" cy="1197598"/>
              <a:chOff x="9692355" y="3184592"/>
              <a:chExt cx="1358030" cy="1232799"/>
            </a:xfrm>
          </p:grpSpPr>
          <p:sp>
            <p:nvSpPr>
              <p:cNvPr id="217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348487"/>
                <a:ext cx="1235242" cy="1068904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pic>
            <p:nvPicPr>
              <p:cNvPr id="83" name="Picture 8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92355" y="3184592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2084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272995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4" name="Straight Arrow Connector 103"/>
          <p:cNvCxnSpPr>
            <a:endCxn id="217" idx="1"/>
          </p:cNvCxnSpPr>
          <p:nvPr/>
        </p:nvCxnSpPr>
        <p:spPr>
          <a:xfrm flipV="1">
            <a:off x="9227541" y="4095136"/>
            <a:ext cx="911848" cy="10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endCxn id="223" idx="1"/>
          </p:cNvCxnSpPr>
          <p:nvPr/>
        </p:nvCxnSpPr>
        <p:spPr>
          <a:xfrm>
            <a:off x="8494717" y="4092982"/>
            <a:ext cx="400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9437716" y="6007331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Legenda</a:t>
            </a:r>
            <a:endParaRPr lang="pt-PT" sz="1000" dirty="0"/>
          </a:p>
        </p:txBody>
      </p:sp>
      <p:cxnSp>
        <p:nvCxnSpPr>
          <p:cNvPr id="139" name="Straight Connector 138"/>
          <p:cNvCxnSpPr/>
          <p:nvPr/>
        </p:nvCxnSpPr>
        <p:spPr>
          <a:xfrm>
            <a:off x="9755624" y="6293838"/>
            <a:ext cx="383765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/>
          <p:nvPr/>
        </p:nvCxnSpPr>
        <p:spPr>
          <a:xfrm>
            <a:off x="9755624" y="6436822"/>
            <a:ext cx="383765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/>
          <p:nvPr/>
        </p:nvCxnSpPr>
        <p:spPr>
          <a:xfrm>
            <a:off x="9755624" y="6567054"/>
            <a:ext cx="38376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10160530" y="6178422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 smtClean="0"/>
              <a:t>Extrações</a:t>
            </a:r>
            <a:endParaRPr lang="pt-PT" sz="1000" dirty="0"/>
          </a:p>
        </p:txBody>
      </p:sp>
      <p:sp>
        <p:nvSpPr>
          <p:cNvPr id="257" name="TextBox 256"/>
          <p:cNvSpPr txBox="1"/>
          <p:nvPr/>
        </p:nvSpPr>
        <p:spPr>
          <a:xfrm>
            <a:off x="10160530" y="6327518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 smtClean="0"/>
              <a:t>Atualização Parametrizações</a:t>
            </a:r>
            <a:endParaRPr lang="pt-PT" sz="1000" dirty="0"/>
          </a:p>
        </p:txBody>
      </p:sp>
      <p:sp>
        <p:nvSpPr>
          <p:cNvPr id="258" name="TextBox 257"/>
          <p:cNvSpPr txBox="1"/>
          <p:nvPr/>
        </p:nvSpPr>
        <p:spPr>
          <a:xfrm>
            <a:off x="10157343" y="6451638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 smtClean="0"/>
              <a:t>Execução do motor</a:t>
            </a:r>
            <a:endParaRPr lang="pt-PT" sz="1000" dirty="0"/>
          </a:p>
        </p:txBody>
      </p:sp>
    </p:spTree>
    <p:extLst>
      <p:ext uri="{BB962C8B-B14F-4D97-AF65-F5344CB8AC3E}">
        <p14:creationId xmlns:p14="http://schemas.microsoft.com/office/powerpoint/2010/main" val="65308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306" grpId="0" animBg="1"/>
      <p:bldP spid="126" grpId="0"/>
      <p:bldP spid="143" grpId="0"/>
      <p:bldP spid="155" grpId="0"/>
      <p:bldP spid="188" grpId="0"/>
      <p:bldP spid="189" grpId="0"/>
      <p:bldP spid="195" grpId="0"/>
      <p:bldP spid="196" grpId="0"/>
      <p:bldP spid="197" grpId="0"/>
      <p:bldP spid="20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rtlCol="0" anchor="t" anchorCtr="0"/>
      <a:lstStyle>
        <a:defPPr algn="l">
          <a:defRPr sz="900" dirty="0">
            <a:solidFill>
              <a:schemeClr val="tx1">
                <a:lumMod val="95000"/>
                <a:lumOff val="5000"/>
              </a:schemeClr>
            </a:solidFill>
            <a:latin typeface="Santander Text" panose="020B050402020102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6B9A5E792D2446B8986FAE34BEC557" ma:contentTypeVersion="12" ma:contentTypeDescription="Criar um novo documento." ma:contentTypeScope="" ma:versionID="a7a7c7330211281f7243a22470ce2e53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c28e91176c9b4921ea9a3bbad06dd6c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5ad20f8b-9281-4829-a9aa-2b5a878ba2cc">
      <Terms xmlns="http://schemas.microsoft.com/office/infopath/2007/PartnerControls"/>
    </lcf76f155ced4ddcb4097134ff3c332f>
    <TaxCatchAll xmlns="09d3dac3-f296-4107-b579-4b1e37be6169" xsi:nil="true"/>
  </documentManagement>
</p:properties>
</file>

<file path=customXml/itemProps1.xml><?xml version="1.0" encoding="utf-8"?>
<ds:datastoreItem xmlns:ds="http://schemas.openxmlformats.org/officeDocument/2006/customXml" ds:itemID="{B13CF641-EF0F-43C7-A9B9-999DB30600E0}"/>
</file>

<file path=customXml/itemProps2.xml><?xml version="1.0" encoding="utf-8"?>
<ds:datastoreItem xmlns:ds="http://schemas.openxmlformats.org/officeDocument/2006/customXml" ds:itemID="{A8078B1A-6734-41A6-835A-A81F504B6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234115-B5C9-42A5-AB96-FCB1B2BFF1B1}">
  <ds:schemaRefs>
    <ds:schemaRef ds:uri="d0a304b7-9eaa-486b-a31e-7435950b811b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218c8cf0-c44c-4363-8468-530bf05c9d52"/>
    <ds:schemaRef ds:uri="http://schemas.microsoft.com/sharepoint/v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2383</TotalTime>
  <Words>61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Santander Text</vt:lpstr>
      <vt:lpstr>Tema do Office</vt:lpstr>
      <vt:lpstr>Diapositiva de think-cell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Afonso Capitão-Mor Costa Silva</dc:creator>
  <cp:lastModifiedBy>Mónica Filipa Cunha Guerreiro</cp:lastModifiedBy>
  <cp:revision>238</cp:revision>
  <cp:lastPrinted>2019-07-25T17:04:52Z</cp:lastPrinted>
  <dcterms:created xsi:type="dcterms:W3CDTF">2019-07-14T08:20:24Z</dcterms:created>
  <dcterms:modified xsi:type="dcterms:W3CDTF">2024-03-22T10:30:53Z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0x0101007872B15EEE95004C97A95FA22E4723B4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2023-05-04T13:45:21Z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edabaa88-6ee1-4b74-b5a2-841c6fd05250</vt:lpwstr>
  </property>
  <property fmtid="{D5CDD505-2E9C-101B-9397-08002B2CF9AE}" pid="9" name="MSIP_Label_0c2abd79-57a9-4473-8700-c843f76a1e37_ContentBits">
    <vt:lpwstr>0</vt:lpwstr>
  </property>
</Properties>
</file>