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3"/>
  </p:notesMasterIdLst>
  <p:handoutMasterIdLst>
    <p:handoutMasterId r:id="rId34"/>
  </p:handoutMasterIdLst>
  <p:sldIdLst>
    <p:sldId id="256" r:id="rId5"/>
    <p:sldId id="478" r:id="rId6"/>
    <p:sldId id="268" r:id="rId7"/>
    <p:sldId id="378" r:id="rId8"/>
    <p:sldId id="459" r:id="rId9"/>
    <p:sldId id="258" r:id="rId10"/>
    <p:sldId id="483" r:id="rId11"/>
    <p:sldId id="490" r:id="rId12"/>
    <p:sldId id="486" r:id="rId13"/>
    <p:sldId id="485" r:id="rId14"/>
    <p:sldId id="491" r:id="rId15"/>
    <p:sldId id="484" r:id="rId16"/>
    <p:sldId id="492" r:id="rId17"/>
    <p:sldId id="487" r:id="rId18"/>
    <p:sldId id="488" r:id="rId19"/>
    <p:sldId id="489" r:id="rId20"/>
    <p:sldId id="493" r:id="rId21"/>
    <p:sldId id="362" r:id="rId22"/>
    <p:sldId id="495" r:id="rId23"/>
    <p:sldId id="494" r:id="rId24"/>
    <p:sldId id="463" r:id="rId25"/>
    <p:sldId id="496" r:id="rId26"/>
    <p:sldId id="497" r:id="rId27"/>
    <p:sldId id="289" r:id="rId28"/>
    <p:sldId id="290" r:id="rId29"/>
    <p:sldId id="271" r:id="rId30"/>
    <p:sldId id="265" r:id="rId31"/>
    <p:sldId id="479" r:id="rId32"/>
  </p:sldIdLst>
  <p:sldSz cx="12192000" cy="6858000"/>
  <p:notesSz cx="6858000" cy="9926638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123A5F3-30F1-44A7-91C0-EAA170D53334}">
          <p14:sldIdLst>
            <p14:sldId id="256"/>
            <p14:sldId id="478"/>
            <p14:sldId id="268"/>
            <p14:sldId id="378"/>
            <p14:sldId id="459"/>
            <p14:sldId id="258"/>
            <p14:sldId id="483"/>
            <p14:sldId id="490"/>
            <p14:sldId id="486"/>
            <p14:sldId id="485"/>
            <p14:sldId id="491"/>
            <p14:sldId id="484"/>
            <p14:sldId id="492"/>
            <p14:sldId id="487"/>
            <p14:sldId id="488"/>
            <p14:sldId id="489"/>
            <p14:sldId id="493"/>
            <p14:sldId id="362"/>
            <p14:sldId id="495"/>
            <p14:sldId id="494"/>
            <p14:sldId id="463"/>
            <p14:sldId id="496"/>
            <p14:sldId id="497"/>
            <p14:sldId id="289"/>
            <p14:sldId id="290"/>
            <p14:sldId id="271"/>
            <p14:sldId id="265"/>
            <p14:sldId id="47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  <a:srgbClr val="FAFAFA"/>
    <a:srgbClr val="FCFCFC"/>
    <a:srgbClr val="FDFDFD"/>
    <a:srgbClr val="FFFFCC"/>
    <a:srgbClr val="F7F7F7"/>
    <a:srgbClr val="FFFFFF"/>
    <a:srgbClr val="363636"/>
    <a:srgbClr val="DEEDF2"/>
    <a:srgbClr val="3C3C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AC3FBC3-FB6F-46E0-AB6A-24BF6B8E8323}" v="72" dt="2024-03-15T10:11:08.027"/>
    <p1510:client id="{DBDC2710-2F08-4D63-ABF9-E6AF2D772B1D}" v="179" dt="2024-03-15T10:20:51.9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75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microsoft.com/office/2016/11/relationships/changesInfo" Target="changesInfos/changesInfo1.xml"/><Relationship Id="rId21" Type="http://schemas.openxmlformats.org/officeDocument/2006/relationships/slide" Target="slides/slide17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co António Cortegaça Rodrigues" userId="0ebb85d2-f8c0-4721-84c3-5b383250239b" providerId="ADAL" clId="{DBDC2710-2F08-4D63-ABF9-E6AF2D772B1D}"/>
    <pc:docChg chg="undo custSel modSld">
      <pc:chgData name="Marco António Cortegaça Rodrigues" userId="0ebb85d2-f8c0-4721-84c3-5b383250239b" providerId="ADAL" clId="{DBDC2710-2F08-4D63-ABF9-E6AF2D772B1D}" dt="2024-03-15T10:23:06.674" v="210" actId="20577"/>
      <pc:docMkLst>
        <pc:docMk/>
      </pc:docMkLst>
      <pc:sldChg chg="modSp mod">
        <pc:chgData name="Marco António Cortegaça Rodrigues" userId="0ebb85d2-f8c0-4721-84c3-5b383250239b" providerId="ADAL" clId="{DBDC2710-2F08-4D63-ABF9-E6AF2D772B1D}" dt="2024-03-15T10:18:46.805" v="136" actId="20577"/>
        <pc:sldMkLst>
          <pc:docMk/>
          <pc:sldMk cId="3181265954" sldId="258"/>
        </pc:sldMkLst>
        <pc:spChg chg="mod">
          <ac:chgData name="Marco António Cortegaça Rodrigues" userId="0ebb85d2-f8c0-4721-84c3-5b383250239b" providerId="ADAL" clId="{DBDC2710-2F08-4D63-ABF9-E6AF2D772B1D}" dt="2024-03-15T10:18:46.805" v="136" actId="20577"/>
          <ac:spMkLst>
            <pc:docMk/>
            <pc:sldMk cId="3181265954" sldId="258"/>
            <ac:spMk id="2" creationId="{6D3E78DA-069E-4823-8E49-CBFF8D792C2E}"/>
          </ac:spMkLst>
        </pc:spChg>
      </pc:sldChg>
      <pc:sldChg chg="modSp mod">
        <pc:chgData name="Marco António Cortegaça Rodrigues" userId="0ebb85d2-f8c0-4721-84c3-5b383250239b" providerId="ADAL" clId="{DBDC2710-2F08-4D63-ABF9-E6AF2D772B1D}" dt="2024-03-15T10:17:20.249" v="91" actId="20577"/>
        <pc:sldMkLst>
          <pc:docMk/>
          <pc:sldMk cId="4062780167" sldId="268"/>
        </pc:sldMkLst>
        <pc:spChg chg="mod">
          <ac:chgData name="Marco António Cortegaça Rodrigues" userId="0ebb85d2-f8c0-4721-84c3-5b383250239b" providerId="ADAL" clId="{DBDC2710-2F08-4D63-ABF9-E6AF2D772B1D}" dt="2024-03-15T10:17:20.249" v="91" actId="20577"/>
          <ac:spMkLst>
            <pc:docMk/>
            <pc:sldMk cId="4062780167" sldId="268"/>
            <ac:spMk id="5" creationId="{40D7B2FF-0565-FE2F-616E-F78DB7EBC3EA}"/>
          </ac:spMkLst>
        </pc:spChg>
      </pc:sldChg>
      <pc:sldChg chg="modSp mod">
        <pc:chgData name="Marco António Cortegaça Rodrigues" userId="0ebb85d2-f8c0-4721-84c3-5b383250239b" providerId="ADAL" clId="{DBDC2710-2F08-4D63-ABF9-E6AF2D772B1D}" dt="2024-03-15T10:15:12.669" v="60" actId="1076"/>
        <pc:sldMkLst>
          <pc:docMk/>
          <pc:sldMk cId="1815595414" sldId="362"/>
        </pc:sldMkLst>
        <pc:spChg chg="mod">
          <ac:chgData name="Marco António Cortegaça Rodrigues" userId="0ebb85d2-f8c0-4721-84c3-5b383250239b" providerId="ADAL" clId="{DBDC2710-2F08-4D63-ABF9-E6AF2D772B1D}" dt="2024-03-15T10:14:59.440" v="58"/>
          <ac:spMkLst>
            <pc:docMk/>
            <pc:sldMk cId="1815595414" sldId="362"/>
            <ac:spMk id="11" creationId="{53C0C1D0-E38F-A040-697B-1419CA6940E3}"/>
          </ac:spMkLst>
        </pc:spChg>
        <pc:picChg chg="mod">
          <ac:chgData name="Marco António Cortegaça Rodrigues" userId="0ebb85d2-f8c0-4721-84c3-5b383250239b" providerId="ADAL" clId="{DBDC2710-2F08-4D63-ABF9-E6AF2D772B1D}" dt="2024-03-15T10:15:12.669" v="60" actId="1076"/>
          <ac:picMkLst>
            <pc:docMk/>
            <pc:sldMk cId="1815595414" sldId="362"/>
            <ac:picMk id="10" creationId="{50A327D5-862C-F2B1-4C87-4C7B9EFAEB48}"/>
          </ac:picMkLst>
        </pc:picChg>
      </pc:sldChg>
      <pc:sldChg chg="modSp mod">
        <pc:chgData name="Marco António Cortegaça Rodrigues" userId="0ebb85d2-f8c0-4721-84c3-5b383250239b" providerId="ADAL" clId="{DBDC2710-2F08-4D63-ABF9-E6AF2D772B1D}" dt="2024-03-15T10:18:09.149" v="104" actId="20577"/>
        <pc:sldMkLst>
          <pc:docMk/>
          <pc:sldMk cId="25431663" sldId="378"/>
        </pc:sldMkLst>
        <pc:spChg chg="mod">
          <ac:chgData name="Marco António Cortegaça Rodrigues" userId="0ebb85d2-f8c0-4721-84c3-5b383250239b" providerId="ADAL" clId="{DBDC2710-2F08-4D63-ABF9-E6AF2D772B1D}" dt="2024-03-15T10:18:09.149" v="104" actId="20577"/>
          <ac:spMkLst>
            <pc:docMk/>
            <pc:sldMk cId="25431663" sldId="378"/>
            <ac:spMk id="2" creationId="{6D3E78DA-069E-4823-8E49-CBFF8D792C2E}"/>
          </ac:spMkLst>
        </pc:spChg>
      </pc:sldChg>
      <pc:sldChg chg="modSp mod">
        <pc:chgData name="Marco António Cortegaça Rodrigues" userId="0ebb85d2-f8c0-4721-84c3-5b383250239b" providerId="ADAL" clId="{DBDC2710-2F08-4D63-ABF9-E6AF2D772B1D}" dt="2024-03-15T10:18:38.036" v="128" actId="20577"/>
        <pc:sldMkLst>
          <pc:docMk/>
          <pc:sldMk cId="3786081882" sldId="459"/>
        </pc:sldMkLst>
        <pc:spChg chg="mod">
          <ac:chgData name="Marco António Cortegaça Rodrigues" userId="0ebb85d2-f8c0-4721-84c3-5b383250239b" providerId="ADAL" clId="{DBDC2710-2F08-4D63-ABF9-E6AF2D772B1D}" dt="2024-03-15T10:17:42.996" v="99" actId="20577"/>
          <ac:spMkLst>
            <pc:docMk/>
            <pc:sldMk cId="3786081882" sldId="459"/>
            <ac:spMk id="14" creationId="{E864049C-9A14-4084-90B4-A5FD13118130}"/>
          </ac:spMkLst>
        </pc:spChg>
        <pc:spChg chg="mod">
          <ac:chgData name="Marco António Cortegaça Rodrigues" userId="0ebb85d2-f8c0-4721-84c3-5b383250239b" providerId="ADAL" clId="{DBDC2710-2F08-4D63-ABF9-E6AF2D772B1D}" dt="2024-03-15T10:18:29.598" v="120" actId="20577"/>
          <ac:spMkLst>
            <pc:docMk/>
            <pc:sldMk cId="3786081882" sldId="459"/>
            <ac:spMk id="15" creationId="{5EB100EA-6846-4DBD-B8F7-A7FB8CA5080D}"/>
          </ac:spMkLst>
        </pc:spChg>
        <pc:spChg chg="mod">
          <ac:chgData name="Marco António Cortegaça Rodrigues" userId="0ebb85d2-f8c0-4721-84c3-5b383250239b" providerId="ADAL" clId="{DBDC2710-2F08-4D63-ABF9-E6AF2D772B1D}" dt="2024-03-15T10:18:38.036" v="128" actId="20577"/>
          <ac:spMkLst>
            <pc:docMk/>
            <pc:sldMk cId="3786081882" sldId="459"/>
            <ac:spMk id="48" creationId="{6EB12809-9F89-4EC6-B545-850A94B00714}"/>
          </ac:spMkLst>
        </pc:spChg>
        <pc:graphicFrameChg chg="modGraphic">
          <ac:chgData name="Marco António Cortegaça Rodrigues" userId="0ebb85d2-f8c0-4721-84c3-5b383250239b" providerId="ADAL" clId="{DBDC2710-2F08-4D63-ABF9-E6AF2D772B1D}" dt="2024-03-15T10:12:04.572" v="2" actId="20577"/>
          <ac:graphicFrameMkLst>
            <pc:docMk/>
            <pc:sldMk cId="3786081882" sldId="459"/>
            <ac:graphicFrameMk id="6" creationId="{E5B05103-40A2-6FCE-80E6-964E77E3174B}"/>
          </ac:graphicFrameMkLst>
        </pc:graphicFrameChg>
      </pc:sldChg>
      <pc:sldChg chg="modSp mod">
        <pc:chgData name="Marco António Cortegaça Rodrigues" userId="0ebb85d2-f8c0-4721-84c3-5b383250239b" providerId="ADAL" clId="{DBDC2710-2F08-4D63-ABF9-E6AF2D772B1D}" dt="2024-03-15T10:23:06.674" v="210" actId="20577"/>
        <pc:sldMkLst>
          <pc:docMk/>
          <pc:sldMk cId="1594926425" sldId="479"/>
        </pc:sldMkLst>
        <pc:graphicFrameChg chg="modGraphic">
          <ac:chgData name="Marco António Cortegaça Rodrigues" userId="0ebb85d2-f8c0-4721-84c3-5b383250239b" providerId="ADAL" clId="{DBDC2710-2F08-4D63-ABF9-E6AF2D772B1D}" dt="2024-03-15T10:23:06.674" v="210" actId="20577"/>
          <ac:graphicFrameMkLst>
            <pc:docMk/>
            <pc:sldMk cId="1594926425" sldId="479"/>
            <ac:graphicFrameMk id="5" creationId="{E9CA777D-D26D-97C4-8091-177E4A812D6C}"/>
          </ac:graphicFrameMkLst>
        </pc:graphicFrameChg>
      </pc:sldChg>
      <pc:sldChg chg="modSp mod">
        <pc:chgData name="Marco António Cortegaça Rodrigues" userId="0ebb85d2-f8c0-4721-84c3-5b383250239b" providerId="ADAL" clId="{DBDC2710-2F08-4D63-ABF9-E6AF2D772B1D}" dt="2024-03-15T10:20:37.378" v="168" actId="20577"/>
        <pc:sldMkLst>
          <pc:docMk/>
          <pc:sldMk cId="4199957497" sldId="483"/>
        </pc:sldMkLst>
        <pc:spChg chg="mod">
          <ac:chgData name="Marco António Cortegaça Rodrigues" userId="0ebb85d2-f8c0-4721-84c3-5b383250239b" providerId="ADAL" clId="{DBDC2710-2F08-4D63-ABF9-E6AF2D772B1D}" dt="2024-03-15T10:12:56.252" v="16" actId="20577"/>
          <ac:spMkLst>
            <pc:docMk/>
            <pc:sldMk cId="4199957497" sldId="483"/>
            <ac:spMk id="7" creationId="{C5A6910C-A85B-4E78-920A-D86C8E059C1C}"/>
          </ac:spMkLst>
        </pc:spChg>
        <pc:spChg chg="mod">
          <ac:chgData name="Marco António Cortegaça Rodrigues" userId="0ebb85d2-f8c0-4721-84c3-5b383250239b" providerId="ADAL" clId="{DBDC2710-2F08-4D63-ABF9-E6AF2D772B1D}" dt="2024-03-15T10:20:37.378" v="168" actId="20577"/>
          <ac:spMkLst>
            <pc:docMk/>
            <pc:sldMk cId="4199957497" sldId="483"/>
            <ac:spMk id="9" creationId="{00000000-0000-0000-0000-000000000000}"/>
          </ac:spMkLst>
        </pc:spChg>
      </pc:sldChg>
      <pc:sldChg chg="modSp mod">
        <pc:chgData name="Marco António Cortegaça Rodrigues" userId="0ebb85d2-f8c0-4721-84c3-5b383250239b" providerId="ADAL" clId="{DBDC2710-2F08-4D63-ABF9-E6AF2D772B1D}" dt="2024-03-15T10:20:51.936" v="176" actId="20577"/>
        <pc:sldMkLst>
          <pc:docMk/>
          <pc:sldMk cId="2513834378" sldId="484"/>
        </pc:sldMkLst>
        <pc:spChg chg="mod">
          <ac:chgData name="Marco António Cortegaça Rodrigues" userId="0ebb85d2-f8c0-4721-84c3-5b383250239b" providerId="ADAL" clId="{DBDC2710-2F08-4D63-ABF9-E6AF2D772B1D}" dt="2024-03-15T10:13:21.254" v="32" actId="20577"/>
          <ac:spMkLst>
            <pc:docMk/>
            <pc:sldMk cId="2513834378" sldId="484"/>
            <ac:spMk id="7" creationId="{C5A6910C-A85B-4E78-920A-D86C8E059C1C}"/>
          </ac:spMkLst>
        </pc:spChg>
        <pc:spChg chg="mod">
          <ac:chgData name="Marco António Cortegaça Rodrigues" userId="0ebb85d2-f8c0-4721-84c3-5b383250239b" providerId="ADAL" clId="{DBDC2710-2F08-4D63-ABF9-E6AF2D772B1D}" dt="2024-03-15T10:20:51.936" v="176" actId="20577"/>
          <ac:spMkLst>
            <pc:docMk/>
            <pc:sldMk cId="2513834378" sldId="484"/>
            <ac:spMk id="9" creationId="{00000000-0000-0000-0000-000000000000}"/>
          </ac:spMkLst>
        </pc:spChg>
      </pc:sldChg>
      <pc:sldChg chg="modSp mod">
        <pc:chgData name="Marco António Cortegaça Rodrigues" userId="0ebb85d2-f8c0-4721-84c3-5b383250239b" providerId="ADAL" clId="{DBDC2710-2F08-4D63-ABF9-E6AF2D772B1D}" dt="2024-03-15T10:13:49.787" v="46" actId="20577"/>
        <pc:sldMkLst>
          <pc:docMk/>
          <pc:sldMk cId="642448838" sldId="486"/>
        </pc:sldMkLst>
        <pc:spChg chg="mod">
          <ac:chgData name="Marco António Cortegaça Rodrigues" userId="0ebb85d2-f8c0-4721-84c3-5b383250239b" providerId="ADAL" clId="{DBDC2710-2F08-4D63-ABF9-E6AF2D772B1D}" dt="2024-03-15T10:13:49.787" v="46" actId="20577"/>
          <ac:spMkLst>
            <pc:docMk/>
            <pc:sldMk cId="642448838" sldId="486"/>
            <ac:spMk id="9" creationId="{00000000-0000-0000-0000-000000000000}"/>
          </ac:spMkLst>
        </pc:spChg>
      </pc:sldChg>
      <pc:sldChg chg="modSp mod">
        <pc:chgData name="Marco António Cortegaça Rodrigues" userId="0ebb85d2-f8c0-4721-84c3-5b383250239b" providerId="ADAL" clId="{DBDC2710-2F08-4D63-ABF9-E6AF2D772B1D}" dt="2024-03-15T10:22:37.903" v="184" actId="20577"/>
        <pc:sldMkLst>
          <pc:docMk/>
          <pc:sldMk cId="313804596" sldId="487"/>
        </pc:sldMkLst>
        <pc:spChg chg="mod">
          <ac:chgData name="Marco António Cortegaça Rodrigues" userId="0ebb85d2-f8c0-4721-84c3-5b383250239b" providerId="ADAL" clId="{DBDC2710-2F08-4D63-ABF9-E6AF2D772B1D}" dt="2024-03-15T10:22:37.903" v="184" actId="20577"/>
          <ac:spMkLst>
            <pc:docMk/>
            <pc:sldMk cId="313804596" sldId="487"/>
            <ac:spMk id="9" creationId="{00000000-0000-0000-0000-000000000000}"/>
          </ac:spMkLst>
        </pc:spChg>
      </pc:sldChg>
      <pc:sldChg chg="modSp mod">
        <pc:chgData name="Marco António Cortegaça Rodrigues" userId="0ebb85d2-f8c0-4721-84c3-5b383250239b" providerId="ADAL" clId="{DBDC2710-2F08-4D63-ABF9-E6AF2D772B1D}" dt="2024-03-15T10:22:46.804" v="192" actId="20577"/>
        <pc:sldMkLst>
          <pc:docMk/>
          <pc:sldMk cId="2191362184" sldId="488"/>
        </pc:sldMkLst>
        <pc:spChg chg="mod">
          <ac:chgData name="Marco António Cortegaça Rodrigues" userId="0ebb85d2-f8c0-4721-84c3-5b383250239b" providerId="ADAL" clId="{DBDC2710-2F08-4D63-ABF9-E6AF2D772B1D}" dt="2024-03-15T10:22:46.804" v="192" actId="20577"/>
          <ac:spMkLst>
            <pc:docMk/>
            <pc:sldMk cId="2191362184" sldId="488"/>
            <ac:spMk id="9" creationId="{00000000-0000-0000-0000-000000000000}"/>
          </ac:spMkLst>
        </pc:spChg>
      </pc:sldChg>
      <pc:sldChg chg="modSp mod">
        <pc:chgData name="Marco António Cortegaça Rodrigues" userId="0ebb85d2-f8c0-4721-84c3-5b383250239b" providerId="ADAL" clId="{DBDC2710-2F08-4D63-ABF9-E6AF2D772B1D}" dt="2024-03-15T10:13:13.986" v="24" actId="20577"/>
        <pc:sldMkLst>
          <pc:docMk/>
          <pc:sldMk cId="1661457434" sldId="491"/>
        </pc:sldMkLst>
        <pc:spChg chg="mod">
          <ac:chgData name="Marco António Cortegaça Rodrigues" userId="0ebb85d2-f8c0-4721-84c3-5b383250239b" providerId="ADAL" clId="{DBDC2710-2F08-4D63-ABF9-E6AF2D772B1D}" dt="2024-03-15T10:13:13.986" v="24" actId="20577"/>
          <ac:spMkLst>
            <pc:docMk/>
            <pc:sldMk cId="1661457434" sldId="491"/>
            <ac:spMk id="2" creationId="{2D064818-B777-8230-2E56-38192A557A88}"/>
          </ac:spMkLst>
        </pc:spChg>
      </pc:sldChg>
      <pc:sldChg chg="modSp mod">
        <pc:chgData name="Marco António Cortegaça Rodrigues" userId="0ebb85d2-f8c0-4721-84c3-5b383250239b" providerId="ADAL" clId="{DBDC2710-2F08-4D63-ABF9-E6AF2D772B1D}" dt="2024-03-15T10:15:26.397" v="63"/>
        <pc:sldMkLst>
          <pc:docMk/>
          <pc:sldMk cId="1849965865" sldId="494"/>
        </pc:sldMkLst>
        <pc:spChg chg="mod">
          <ac:chgData name="Marco António Cortegaça Rodrigues" userId="0ebb85d2-f8c0-4721-84c3-5b383250239b" providerId="ADAL" clId="{DBDC2710-2F08-4D63-ABF9-E6AF2D772B1D}" dt="2024-03-15T10:15:26.397" v="63"/>
          <ac:spMkLst>
            <pc:docMk/>
            <pc:sldMk cId="1849965865" sldId="494"/>
            <ac:spMk id="10" creationId="{9EA2F5CD-44CF-2A00-2C12-17BFD80E124F}"/>
          </ac:spMkLst>
        </pc:spChg>
      </pc:sldChg>
    </pc:docChg>
  </pc:docChgLst>
  <pc:docChgLst>
    <pc:chgData name="Marco António Cortegaça Rodrigues" userId="S::s612989@corp.santander.pt::0ebb85d2-f8c0-4721-84c3-5b383250239b" providerId="AD" clId="Web-{DAC3FBC3-FB6F-46E0-AB6A-24BF6B8E8323}"/>
    <pc:docChg chg="modSld">
      <pc:chgData name="Marco António Cortegaça Rodrigues" userId="S::s612989@corp.santander.pt::0ebb85d2-f8c0-4721-84c3-5b383250239b" providerId="AD" clId="Web-{DAC3FBC3-FB6F-46E0-AB6A-24BF6B8E8323}" dt="2024-03-15T10:11:08.027" v="50"/>
      <pc:docMkLst>
        <pc:docMk/>
      </pc:docMkLst>
      <pc:sldChg chg="modSp">
        <pc:chgData name="Marco António Cortegaça Rodrigues" userId="S::s612989@corp.santander.pt::0ebb85d2-f8c0-4721-84c3-5b383250239b" providerId="AD" clId="Web-{DAC3FBC3-FB6F-46E0-AB6A-24BF6B8E8323}" dt="2024-03-15T10:10:37.824" v="33" actId="20577"/>
        <pc:sldMkLst>
          <pc:docMk/>
          <pc:sldMk cId="1125657622" sldId="256"/>
        </pc:sldMkLst>
        <pc:spChg chg="mod">
          <ac:chgData name="Marco António Cortegaça Rodrigues" userId="S::s612989@corp.santander.pt::0ebb85d2-f8c0-4721-84c3-5b383250239b" providerId="AD" clId="Web-{DAC3FBC3-FB6F-46E0-AB6A-24BF6B8E8323}" dt="2024-03-15T10:10:07.276" v="29" actId="20577"/>
          <ac:spMkLst>
            <pc:docMk/>
            <pc:sldMk cId="1125657622" sldId="256"/>
            <ac:spMk id="6" creationId="{40447380-3E61-4E42-AFCA-CAF1866AAF93}"/>
          </ac:spMkLst>
        </pc:spChg>
        <pc:spChg chg="mod">
          <ac:chgData name="Marco António Cortegaça Rodrigues" userId="S::s612989@corp.santander.pt::0ebb85d2-f8c0-4721-84c3-5b383250239b" providerId="AD" clId="Web-{DAC3FBC3-FB6F-46E0-AB6A-24BF6B8E8323}" dt="2024-03-15T10:10:37.824" v="33" actId="20577"/>
          <ac:spMkLst>
            <pc:docMk/>
            <pc:sldMk cId="1125657622" sldId="256"/>
            <ac:spMk id="7" creationId="{D184A763-02A6-4822-A5F0-D9E80A5D8061}"/>
          </ac:spMkLst>
        </pc:spChg>
      </pc:sldChg>
      <pc:sldChg chg="modSp">
        <pc:chgData name="Marco António Cortegaça Rodrigues" userId="S::s612989@corp.santander.pt::0ebb85d2-f8c0-4721-84c3-5b383250239b" providerId="AD" clId="Web-{DAC3FBC3-FB6F-46E0-AB6A-24BF6B8E8323}" dt="2024-03-15T10:10:55.699" v="48" actId="20577"/>
        <pc:sldMkLst>
          <pc:docMk/>
          <pc:sldMk cId="4062780167" sldId="268"/>
        </pc:sldMkLst>
        <pc:spChg chg="mod">
          <ac:chgData name="Marco António Cortegaça Rodrigues" userId="S::s612989@corp.santander.pt::0ebb85d2-f8c0-4721-84c3-5b383250239b" providerId="AD" clId="Web-{DAC3FBC3-FB6F-46E0-AB6A-24BF6B8E8323}" dt="2024-03-15T10:10:55.699" v="48" actId="20577"/>
          <ac:spMkLst>
            <pc:docMk/>
            <pc:sldMk cId="4062780167" sldId="268"/>
            <ac:spMk id="5" creationId="{40D7B2FF-0565-FE2F-616E-F78DB7EBC3EA}"/>
          </ac:spMkLst>
        </pc:spChg>
      </pc:sldChg>
      <pc:sldChg chg="addSp delSp modSp">
        <pc:chgData name="Marco António Cortegaça Rodrigues" userId="S::s612989@corp.santander.pt::0ebb85d2-f8c0-4721-84c3-5b383250239b" providerId="AD" clId="Web-{DAC3FBC3-FB6F-46E0-AB6A-24BF6B8E8323}" dt="2024-03-15T10:11:08.027" v="50"/>
        <pc:sldMkLst>
          <pc:docMk/>
          <pc:sldMk cId="4199957497" sldId="483"/>
        </pc:sldMkLst>
        <pc:spChg chg="add del mod">
          <ac:chgData name="Marco António Cortegaça Rodrigues" userId="S::s612989@corp.santander.pt::0ebb85d2-f8c0-4721-84c3-5b383250239b" providerId="AD" clId="Web-{DAC3FBC3-FB6F-46E0-AB6A-24BF6B8E8323}" dt="2024-03-15T10:11:08.027" v="50"/>
          <ac:spMkLst>
            <pc:docMk/>
            <pc:sldMk cId="4199957497" sldId="483"/>
            <ac:spMk id="3" creationId="{439798C7-53D7-7976-1443-ABF19BF72608}"/>
          </ac:spMkLst>
        </pc:spChg>
        <pc:spChg chg="add del mod">
          <ac:chgData name="Marco António Cortegaça Rodrigues" userId="S::s612989@corp.santander.pt::0ebb85d2-f8c0-4721-84c3-5b383250239b" providerId="AD" clId="Web-{DAC3FBC3-FB6F-46E0-AB6A-24BF6B8E8323}" dt="2024-03-15T10:11:08.027" v="50"/>
          <ac:spMkLst>
            <pc:docMk/>
            <pc:sldMk cId="4199957497" sldId="483"/>
            <ac:spMk id="7" creationId="{C5A6910C-A85B-4E78-920A-D86C8E059C1C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60B1AF7E-5BC2-4D30-87FE-E1B659CA154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1D35212-2950-4BB8-B0AA-EE773689934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A5188B-02CB-4126-A12E-C27940239E67}" type="datetimeFigureOut">
              <a:rPr lang="es-ES" smtClean="0"/>
              <a:t>15/03/2024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6FAF009-7545-4A39-A198-6416D3420CD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8585"/>
            <a:ext cx="2971800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B8A1D82-08B5-4B1F-860C-695167F2EE1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9428585"/>
            <a:ext cx="2971800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54CB31-C4D0-4176-AC65-C48107E4212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268674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81D6FC-8B18-4D83-81FA-5ECA9E5C1AAF}" type="datetimeFigureOut">
              <a:rPr lang="es-ES" smtClean="0"/>
              <a:t>15/03/2024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52438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777195"/>
            <a:ext cx="548640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9428585"/>
            <a:ext cx="2971800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9428585"/>
            <a:ext cx="2971800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78D618-BBD3-4FF5-9218-0E9FEB4B2F8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46315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78D618-BBD3-4FF5-9218-0E9FEB4B2F82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463504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78D618-BBD3-4FF5-9218-0E9FEB4B2F82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191248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78D618-BBD3-4FF5-9218-0E9FEB4B2F82}" type="slidenum">
              <a:rPr lang="es-ES" smtClean="0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54426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78D618-BBD3-4FF5-9218-0E9FEB4B2F82}" type="slidenum">
              <a:rPr lang="es-ES" smtClean="0"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139910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78D618-BBD3-4FF5-9218-0E9FEB4B2F82}" type="slidenum">
              <a:rPr lang="es-ES" smtClean="0"/>
              <a:t>12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086184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78D618-BBD3-4FF5-9218-0E9FEB4B2F82}" type="slidenum">
              <a:rPr lang="es-ES" smtClean="0"/>
              <a:t>14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619004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78D618-BBD3-4FF5-9218-0E9FEB4B2F82}" type="slidenum">
              <a:rPr lang="es-ES" smtClean="0"/>
              <a:t>15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773699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78D618-BBD3-4FF5-9218-0E9FEB4B2F82}" type="slidenum">
              <a:rPr lang="es-ES" smtClean="0"/>
              <a:t>16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567237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78D618-BBD3-4FF5-9218-0E9FEB4B2F82}" type="slidenum">
              <a:rPr lang="es-ES" smtClean="0"/>
              <a:t>18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682448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78D618-BBD3-4FF5-9218-0E9FEB4B2F82}" type="slidenum">
              <a:rPr lang="es-ES" smtClean="0"/>
              <a:t>19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906746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78D618-BBD3-4FF5-9218-0E9FEB4B2F82}" type="slidenum">
              <a:rPr lang="es-ES" smtClean="0"/>
              <a:t>21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428097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78D618-BBD3-4FF5-9218-0E9FEB4B2F82}" type="slidenum">
              <a:rPr lang="es-ES" smtClean="0"/>
              <a:t>23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963759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78D618-BBD3-4FF5-9218-0E9FEB4B2F82}" type="slidenum">
              <a:rPr lang="es-ES" smtClean="0"/>
              <a:t>28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377929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F305A9-DE4B-49AF-BCD4-43A65F7EB5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1745" y="1096485"/>
            <a:ext cx="4937184" cy="1407004"/>
          </a:xfrm>
        </p:spPr>
        <p:txBody>
          <a:bodyPr anchor="t">
            <a:normAutofit/>
          </a:bodyPr>
          <a:lstStyle>
            <a:lvl1pPr algn="l">
              <a:lnSpc>
                <a:spcPct val="90000"/>
              </a:lnSpc>
              <a:defRPr sz="4100">
                <a:solidFill>
                  <a:schemeClr val="accent1"/>
                </a:solidFill>
              </a:defRPr>
            </a:lvl1pPr>
          </a:lstStyle>
          <a:p>
            <a:r>
              <a:rPr lang="pt-PT"/>
              <a:t>título do Modelo Global</a:t>
            </a:r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B17398-CAA7-49B6-868C-44D053E7EA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4620" y="2722142"/>
            <a:ext cx="4934309" cy="2436454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9012236B-6821-499F-B6D4-F11EC0EF0CA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978" y="5727401"/>
            <a:ext cx="1896592" cy="332588"/>
          </a:xfrm>
          <a:prstGeom prst="rect">
            <a:avLst/>
          </a:prstGeom>
        </p:spPr>
      </p:pic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AB9931BC-B448-4EA6-A35A-56AF5C4C24E5}"/>
              </a:ext>
            </a:extLst>
          </p:cNvPr>
          <p:cNvSpPr/>
          <p:nvPr userDrawn="1"/>
        </p:nvSpPr>
        <p:spPr>
          <a:xfrm>
            <a:off x="0" y="5229922"/>
            <a:ext cx="12196689" cy="1628078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/>
          </a:p>
        </p:txBody>
      </p: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F5E5F18D-70E6-495C-A384-2EDAE00309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9650" y="333651"/>
            <a:ext cx="11177550" cy="419100"/>
          </a:xfrm>
        </p:spPr>
        <p:txBody>
          <a:bodyPr>
            <a:noAutofit/>
          </a:bodyPr>
          <a:lstStyle>
            <a:lvl1pPr marL="0" indent="0">
              <a:buNone/>
              <a:defRPr sz="1300">
                <a:solidFill>
                  <a:schemeClr val="tx2"/>
                </a:solidFill>
              </a:defRPr>
            </a:lvl1pPr>
            <a:lvl2pPr marL="457200" indent="0">
              <a:buNone/>
              <a:defRPr sz="1300">
                <a:solidFill>
                  <a:schemeClr val="tx2"/>
                </a:solidFill>
              </a:defRPr>
            </a:lvl2pPr>
            <a:lvl3pPr marL="914400" indent="0">
              <a:buNone/>
              <a:defRPr sz="1300">
                <a:solidFill>
                  <a:schemeClr val="tx2"/>
                </a:solidFill>
              </a:defRPr>
            </a:lvl3pPr>
            <a:lvl4pPr marL="1371600" indent="0">
              <a:buNone/>
              <a:defRPr sz="1300">
                <a:solidFill>
                  <a:schemeClr val="tx2"/>
                </a:solidFill>
              </a:defRPr>
            </a:lvl4pPr>
            <a:lvl5pPr marL="1828800" indent="0"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880952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Í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0B320C-F93D-45A7-B5CC-5C18ED1F8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209600"/>
            <a:ext cx="2743200" cy="365125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  <a:latin typeface="Santander Text" panose="020B0504020201020104" pitchFamily="34" charset="0"/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AC1B0227-D6EB-4F05-832D-EB54916F795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2" y="6262326"/>
            <a:ext cx="1172108" cy="205543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B3950534-FF56-4FD6-A098-D625BC54F0FA}"/>
              </a:ext>
            </a:extLst>
          </p:cNvPr>
          <p:cNvSpPr txBox="1"/>
          <p:nvPr userDrawn="1"/>
        </p:nvSpPr>
        <p:spPr>
          <a:xfrm>
            <a:off x="722533" y="312269"/>
            <a:ext cx="1849821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300">
                <a:solidFill>
                  <a:schemeClr val="accent1"/>
                </a:solidFill>
                <a:latin typeface="Santander Text" panose="020B0504020201020104" pitchFamily="34" charset="0"/>
              </a:rPr>
              <a:t>Índice</a:t>
            </a:r>
          </a:p>
        </p:txBody>
      </p:sp>
      <p:sp>
        <p:nvSpPr>
          <p:cNvPr id="14" name="Marcador de texto 11">
            <a:extLst>
              <a:ext uri="{FF2B5EF4-FFF2-40B4-BE49-F238E27FC236}">
                <a16:creationId xmlns:a16="http://schemas.microsoft.com/office/drawing/2014/main" id="{0CC57AA0-6C3B-4C80-BF6B-C321A960A9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2641" y="1100239"/>
            <a:ext cx="10635843" cy="4906665"/>
          </a:xfrm>
        </p:spPr>
        <p:txBody>
          <a:bodyPr>
            <a:normAutofit/>
          </a:bodyPr>
          <a:lstStyle>
            <a:lvl1pPr marL="432000" indent="-396000">
              <a:buClr>
                <a:schemeClr val="accent1"/>
              </a:buClr>
              <a:buSzPct val="45000"/>
              <a:buFont typeface="+mj-lt"/>
              <a:buAutoNum type="arabicPeriod"/>
              <a:defRPr lang="es-ES" sz="4000" b="1" kern="1200" dirty="0" smtClean="0">
                <a:solidFill>
                  <a:srgbClr val="3C3C3B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pt-PT"/>
              <a:t>Título de seção</a:t>
            </a:r>
          </a:p>
        </p:txBody>
      </p:sp>
    </p:spTree>
    <p:extLst>
      <p:ext uri="{BB962C8B-B14F-4D97-AF65-F5344CB8AC3E}">
        <p14:creationId xmlns:p14="http://schemas.microsoft.com/office/powerpoint/2010/main" val="3010683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T I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0B320C-F93D-45A7-B5CC-5C18ED1F8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209600"/>
            <a:ext cx="2743200" cy="365125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  <a:latin typeface="Santander Text" panose="020B0504020201020104" pitchFamily="34" charset="0"/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AC1B0227-D6EB-4F05-832D-EB54916F795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2" y="6262326"/>
            <a:ext cx="1172108" cy="205543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B3950534-FF56-4FD6-A098-D625BC54F0FA}"/>
              </a:ext>
            </a:extLst>
          </p:cNvPr>
          <p:cNvSpPr txBox="1"/>
          <p:nvPr userDrawn="1"/>
        </p:nvSpPr>
        <p:spPr>
          <a:xfrm>
            <a:off x="722533" y="312269"/>
            <a:ext cx="1849821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300">
                <a:solidFill>
                  <a:schemeClr val="accent1"/>
                </a:solidFill>
                <a:latin typeface="Santander Text" panose="020B0504020201020104" pitchFamily="34" charset="0"/>
              </a:rPr>
              <a:t>Índice</a:t>
            </a:r>
          </a:p>
        </p:txBody>
      </p:sp>
      <p:sp>
        <p:nvSpPr>
          <p:cNvPr id="2" name="TextBox 1"/>
          <p:cNvSpPr txBox="1"/>
          <p:nvPr userDrawn="1"/>
        </p:nvSpPr>
        <p:spPr>
          <a:xfrm>
            <a:off x="832642" y="1104900"/>
            <a:ext cx="10648158" cy="11798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FF0000"/>
              </a:buClr>
              <a:buSzPct val="45000"/>
              <a:buFont typeface="Wingdings" panose="05000000000000000000" pitchFamily="2" charset="2"/>
              <a:buChar char="§"/>
            </a:pPr>
            <a:r>
              <a:rPr lang="pt-PT" sz="2000" b="0">
                <a:solidFill>
                  <a:prstClr val="black">
                    <a:lumMod val="75000"/>
                    <a:lumOff val="25000"/>
                  </a:prstClr>
                </a:solidFill>
                <a:latin typeface="Santander Text" panose="020B0504020201020104" pitchFamily="34" charset="0"/>
                <a:cs typeface="Arial" pitchFamily="34" charset="0"/>
              </a:rPr>
              <a:t>Necessidades e proposta de solução</a:t>
            </a:r>
          </a:p>
          <a:p>
            <a:pPr marL="342900" lvl="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FF0000"/>
              </a:buClr>
              <a:buSzPct val="45000"/>
              <a:buFont typeface="Wingdings" panose="05000000000000000000" pitchFamily="2" charset="2"/>
              <a:buChar char="§"/>
            </a:pPr>
            <a:r>
              <a:rPr lang="pt-PT" sz="2000" b="0">
                <a:solidFill>
                  <a:prstClr val="black">
                    <a:lumMod val="75000"/>
                    <a:lumOff val="25000"/>
                  </a:prstClr>
                </a:solidFill>
                <a:latin typeface="Santander Text" panose="020B0504020201020104" pitchFamily="34" charset="0"/>
                <a:cs typeface="Arial" pitchFamily="34" charset="0"/>
              </a:rPr>
              <a:t>Solução</a:t>
            </a:r>
            <a:r>
              <a:rPr lang="pt-PT" sz="2000" b="0" baseline="0">
                <a:solidFill>
                  <a:prstClr val="black">
                    <a:lumMod val="75000"/>
                    <a:lumOff val="25000"/>
                  </a:prstClr>
                </a:solidFill>
                <a:latin typeface="Santander Text" panose="020B0504020201020104" pitchFamily="34" charset="0"/>
                <a:cs typeface="Arial" pitchFamily="34" charset="0"/>
              </a:rPr>
              <a:t> </a:t>
            </a:r>
            <a:r>
              <a:rPr lang="pt-PT" sz="2000" b="0">
                <a:solidFill>
                  <a:prstClr val="black">
                    <a:lumMod val="75000"/>
                    <a:lumOff val="25000"/>
                  </a:prstClr>
                </a:solidFill>
                <a:latin typeface="Santander Text" panose="020B0504020201020104" pitchFamily="34" charset="0"/>
                <a:cs typeface="Arial" pitchFamily="34" charset="0"/>
              </a:rPr>
              <a:t>técnica</a:t>
            </a:r>
          </a:p>
          <a:p>
            <a:pPr marL="342900" lvl="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FF0000"/>
              </a:buClr>
              <a:buSzPct val="45000"/>
              <a:buFont typeface="Wingdings" panose="05000000000000000000" pitchFamily="2" charset="2"/>
              <a:buChar char="§"/>
            </a:pPr>
            <a:r>
              <a:rPr lang="pt-PT" sz="2000" b="0">
                <a:solidFill>
                  <a:prstClr val="black">
                    <a:lumMod val="75000"/>
                    <a:lumOff val="25000"/>
                  </a:prstClr>
                </a:solidFill>
                <a:latin typeface="Santander Text" panose="020B0504020201020104" pitchFamily="34" charset="0"/>
                <a:cs typeface="Arial" pitchFamily="34" charset="0"/>
              </a:rPr>
              <a:t>Considerações</a:t>
            </a:r>
            <a:r>
              <a:rPr lang="pt-PT" sz="2000" b="0" baseline="0">
                <a:solidFill>
                  <a:prstClr val="black">
                    <a:lumMod val="75000"/>
                    <a:lumOff val="25000"/>
                  </a:prstClr>
                </a:solidFill>
                <a:latin typeface="Santander Text" panose="020B0504020201020104" pitchFamily="34" charset="0"/>
                <a:cs typeface="Arial" pitchFamily="34" charset="0"/>
              </a:rPr>
              <a:t> e r</a:t>
            </a:r>
            <a:r>
              <a:rPr lang="pt-PT" sz="2000" b="0">
                <a:solidFill>
                  <a:prstClr val="black">
                    <a:lumMod val="75000"/>
                    <a:lumOff val="25000"/>
                  </a:prstClr>
                </a:solidFill>
                <a:latin typeface="Santander Text" panose="020B0504020201020104" pitchFamily="34" charset="0"/>
                <a:cs typeface="Arial" pitchFamily="34" charset="0"/>
              </a:rPr>
              <a:t>eferências</a:t>
            </a:r>
          </a:p>
        </p:txBody>
      </p:sp>
    </p:spTree>
    <p:extLst>
      <p:ext uri="{BB962C8B-B14F-4D97-AF65-F5344CB8AC3E}">
        <p14:creationId xmlns:p14="http://schemas.microsoft.com/office/powerpoint/2010/main" val="3060023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de cap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45CB15-1F44-40E1-909E-6233010BC1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519" y="626373"/>
            <a:ext cx="4386194" cy="2852737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4000">
                <a:solidFill>
                  <a:schemeClr val="accent1"/>
                </a:solidFill>
                <a:latin typeface="Santander Text" panose="020B0504020201020104" pitchFamily="34" charset="0"/>
              </a:defRPr>
            </a:lvl1pPr>
          </a:lstStyle>
          <a:p>
            <a:r>
              <a:rPr lang="pt-PT"/>
              <a:t>Clique para editar o estilo de título do Modelo </a:t>
            </a:r>
            <a:br>
              <a:rPr lang="pt-PT"/>
            </a:br>
            <a:r>
              <a:rPr lang="pt-PT"/>
              <a:t>Global</a:t>
            </a:r>
            <a:endParaRPr lang="es-ES"/>
          </a:p>
        </p:txBody>
      </p:sp>
      <p:sp>
        <p:nvSpPr>
          <p:cNvPr id="5" name="Forma libre: forma 6">
            <a:extLst>
              <a:ext uri="{FF2B5EF4-FFF2-40B4-BE49-F238E27FC236}">
                <a16:creationId xmlns:a16="http://schemas.microsoft.com/office/drawing/2014/main" id="{14147011-41AD-4D71-ABCD-072B7EE84809}"/>
              </a:ext>
            </a:extLst>
          </p:cNvPr>
          <p:cNvSpPr/>
          <p:nvPr userDrawn="1"/>
        </p:nvSpPr>
        <p:spPr>
          <a:xfrm>
            <a:off x="8925340" y="0"/>
            <a:ext cx="3266660" cy="6858000"/>
          </a:xfrm>
          <a:custGeom>
            <a:avLst/>
            <a:gdLst>
              <a:gd name="connsiteX0" fmla="*/ 1630018 w 3266660"/>
              <a:gd name="connsiteY0" fmla="*/ 0 h 6858000"/>
              <a:gd name="connsiteX1" fmla="*/ 3266660 w 3266660"/>
              <a:gd name="connsiteY1" fmla="*/ 0 h 6858000"/>
              <a:gd name="connsiteX2" fmla="*/ 3266660 w 3266660"/>
              <a:gd name="connsiteY2" fmla="*/ 6858000 h 6858000"/>
              <a:gd name="connsiteX3" fmla="*/ 0 w 3266660"/>
              <a:gd name="connsiteY3" fmla="*/ 6858000 h 6858000"/>
              <a:gd name="connsiteX4" fmla="*/ 0 w 3266660"/>
              <a:gd name="connsiteY4" fmla="*/ 2822713 h 6858000"/>
              <a:gd name="connsiteX5" fmla="*/ 1630018 w 3266660"/>
              <a:gd name="connsiteY5" fmla="*/ 282271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66660" h="6858000">
                <a:moveTo>
                  <a:pt x="1630018" y="0"/>
                </a:moveTo>
                <a:lnTo>
                  <a:pt x="3266660" y="0"/>
                </a:lnTo>
                <a:lnTo>
                  <a:pt x="3266660" y="6858000"/>
                </a:lnTo>
                <a:lnTo>
                  <a:pt x="0" y="6858000"/>
                </a:lnTo>
                <a:lnTo>
                  <a:pt x="0" y="2822713"/>
                </a:lnTo>
                <a:lnTo>
                  <a:pt x="1630018" y="2822713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>
              <a:latin typeface="Santander Text" panose="020B0504020201020104" pitchFamily="34" charset="0"/>
            </a:endParaRPr>
          </a:p>
        </p:txBody>
      </p:sp>
      <p:sp>
        <p:nvSpPr>
          <p:cNvPr id="6" name="Marcador de texto 13">
            <a:extLst>
              <a:ext uri="{FF2B5EF4-FFF2-40B4-BE49-F238E27FC236}">
                <a16:creationId xmlns:a16="http://schemas.microsoft.com/office/drawing/2014/main" id="{CF711B63-7C0F-4649-B7F0-A207C8B6C4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45217" y="3270526"/>
            <a:ext cx="2958754" cy="2364961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6600">
                <a:solidFill>
                  <a:schemeClr val="bg1"/>
                </a:solidFill>
                <a:latin typeface="Santander Text" panose="020B0504020201020104" pitchFamily="34" charset="0"/>
              </a:defRPr>
            </a:lvl1pPr>
            <a:lvl2pPr>
              <a:defRPr sz="13800">
                <a:solidFill>
                  <a:schemeClr val="tx1"/>
                </a:solidFill>
              </a:defRPr>
            </a:lvl2pPr>
            <a:lvl3pPr>
              <a:defRPr sz="11500">
                <a:solidFill>
                  <a:schemeClr val="tx1"/>
                </a:solidFill>
              </a:defRPr>
            </a:lvl3pPr>
            <a:lvl4pPr>
              <a:defRPr sz="9600">
                <a:solidFill>
                  <a:schemeClr val="tx1"/>
                </a:solidFill>
              </a:defRPr>
            </a:lvl4pPr>
            <a:lvl5pPr>
              <a:defRPr sz="9600">
                <a:solidFill>
                  <a:schemeClr val="tx1"/>
                </a:solidFill>
              </a:defRPr>
            </a:lvl5pPr>
          </a:lstStyle>
          <a:p>
            <a:pPr lvl="0"/>
            <a:r>
              <a:rPr lang="es-E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2324528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e conteú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3" y="1087457"/>
            <a:ext cx="5297557" cy="1606047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  <a:latin typeface="Santander Text" panose="020B0504020201020104" pitchFamily="34" charset="0"/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209600"/>
            <a:ext cx="2743200" cy="365125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  <a:latin typeface="Santander Text" panose="020B0504020201020104" pitchFamily="34" charset="0"/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2" y="6262326"/>
            <a:ext cx="1172108" cy="205543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337100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  <a:latin typeface="Santander Text" panose="020B0504020201020104" pitchFamily="34" charset="0"/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8" name="Marcador de texto 16">
            <a:extLst>
              <a:ext uri="{FF2B5EF4-FFF2-40B4-BE49-F238E27FC236}">
                <a16:creationId xmlns:a16="http://schemas.microsoft.com/office/drawing/2014/main" id="{07C8BA77-3119-41AC-B33B-745A751CC06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5" y="3093562"/>
            <a:ext cx="5308776" cy="3083401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20" name="Marcador de texto 16">
            <a:extLst>
              <a:ext uri="{FF2B5EF4-FFF2-40B4-BE49-F238E27FC236}">
                <a16:creationId xmlns:a16="http://schemas.microsoft.com/office/drawing/2014/main" id="{81AA2FC0-CE4E-483D-AF92-BEA6CD796B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99971" y="1087458"/>
            <a:ext cx="5081004" cy="508950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4291901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e conteú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3" y="1087457"/>
            <a:ext cx="10758733" cy="1823011"/>
          </a:xfrm>
        </p:spPr>
        <p:txBody>
          <a:bodyPr anchor="t">
            <a:noAutofit/>
          </a:bodyPr>
          <a:lstStyle>
            <a:lvl1pPr>
              <a:defRPr sz="3600">
                <a:solidFill>
                  <a:schemeClr val="accent1"/>
                </a:solidFill>
                <a:latin typeface="Santander Text" panose="020B0504020201020104" pitchFamily="34" charset="0"/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209600"/>
            <a:ext cx="2743200" cy="365125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  <a:latin typeface="Santander Text" panose="020B0504020201020104" pitchFamily="34" charset="0"/>
              </a:defRPr>
            </a:lvl1pPr>
          </a:lstStyle>
          <a:p>
            <a:fld id="{BC0D97B6-E32F-4D7D-B839-7C3B51F2640F}" type="slidenum">
              <a:rPr lang="pt-PT" smtClean="0"/>
              <a:pPr/>
              <a:t>‹#›</a:t>
            </a:fld>
            <a:endParaRPr lang="pt-PT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2" y="6262326"/>
            <a:ext cx="1172108" cy="205543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337100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  <a:latin typeface="Santander Text" panose="020B0504020201020104" pitchFamily="34" charset="0"/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4" y="3093562"/>
            <a:ext cx="10758733" cy="3083401"/>
          </a:xfrm>
        </p:spPr>
        <p:txBody>
          <a:bodyPr numCol="2" spcCol="720000"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2956698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ta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970" y="1109759"/>
            <a:ext cx="3801119" cy="5050689"/>
          </a:xfrm>
        </p:spPr>
        <p:txBody>
          <a:bodyPr anchor="t">
            <a:noAutofit/>
          </a:bodyPr>
          <a:lstStyle>
            <a:lvl1pPr>
              <a:defRPr sz="2500" b="1">
                <a:solidFill>
                  <a:schemeClr val="accent3"/>
                </a:solidFill>
                <a:latin typeface="Santander Text" panose="020B0504020201020104" pitchFamily="34" charset="0"/>
              </a:defRPr>
            </a:lvl1pPr>
          </a:lstStyle>
          <a:p>
            <a:pPr lvl="0"/>
            <a:r>
              <a:rPr lang="pt-PT"/>
              <a:t>Editar os estilos </a:t>
            </a:r>
            <a:br>
              <a:rPr lang="pt-PT"/>
            </a:br>
            <a:r>
              <a:rPr lang="pt-PT"/>
              <a:t>de texto do Modelo Global</a:t>
            </a:r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209600"/>
            <a:ext cx="2743200" cy="365125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  <a:latin typeface="Santander Text" panose="020B0504020201020104" pitchFamily="34" charset="0"/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2" y="6262326"/>
            <a:ext cx="1172108" cy="205543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337100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  <a:latin typeface="Santander Text" panose="020B0504020201020104" pitchFamily="34" charset="0"/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72722" y="1126274"/>
            <a:ext cx="6697035" cy="5050690"/>
          </a:xfrm>
        </p:spPr>
        <p:txBody>
          <a:bodyPr numCol="1" spcCol="0"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1770703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209600"/>
            <a:ext cx="2743200" cy="365125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  <a:latin typeface="Santander Text" panose="020B0504020201020104" pitchFamily="34" charset="0"/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2" y="6262326"/>
            <a:ext cx="1172108" cy="205543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337100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  <a:latin typeface="Santander Text" panose="020B0504020201020104" pitchFamily="34" charset="0"/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3AABE934-895B-422A-B16D-773558A762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3" y="1087458"/>
            <a:ext cx="3911401" cy="1183132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  <a:latin typeface="Santander Text" panose="020B0504020201020104" pitchFamily="34" charset="0"/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</a:t>
            </a:r>
            <a:endParaRPr lang="es-ES"/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25" y="2517170"/>
            <a:ext cx="3911401" cy="365979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6" name="Marcador de gráfico 5">
            <a:extLst>
              <a:ext uri="{FF2B5EF4-FFF2-40B4-BE49-F238E27FC236}">
                <a16:creationId xmlns:a16="http://schemas.microsoft.com/office/drawing/2014/main" id="{2444BFBF-CC97-48FB-BE66-A28460A7384B}"/>
              </a:ext>
            </a:extLst>
          </p:cNvPr>
          <p:cNvSpPr>
            <a:spLocks noGrp="1"/>
          </p:cNvSpPr>
          <p:nvPr>
            <p:ph type="chart" sz="quarter" idx="17" hasCustomPrompt="1"/>
          </p:nvPr>
        </p:nvSpPr>
        <p:spPr>
          <a:xfrm>
            <a:off x="4797425" y="1087438"/>
            <a:ext cx="6683550" cy="5122862"/>
          </a:xfrm>
        </p:spPr>
        <p:txBody>
          <a:bodyPr>
            <a:normAutofit/>
          </a:bodyPr>
          <a:lstStyle>
            <a:lvl1pPr marL="0" indent="0" algn="ctr">
              <a:buNone/>
              <a:defRPr lang="es-ES" sz="1200" kern="1200" dirty="0">
                <a:solidFill>
                  <a:schemeClr val="tx2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</a:lstStyle>
          <a:p>
            <a:r>
              <a:rPr lang="es-MX" err="1"/>
              <a:t>Insira</a:t>
            </a:r>
            <a:r>
              <a:rPr lang="es-MX"/>
              <a:t> </a:t>
            </a:r>
            <a:r>
              <a:rPr lang="es-MX" err="1"/>
              <a:t>aqui</a:t>
            </a:r>
            <a:r>
              <a:rPr lang="es-MX"/>
              <a:t> </a:t>
            </a:r>
            <a:r>
              <a:rPr lang="es-MX" err="1"/>
              <a:t>seu</a:t>
            </a:r>
            <a:r>
              <a:rPr lang="es-MX"/>
              <a:t> gráfico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57120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209600"/>
            <a:ext cx="2743200" cy="365125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  <a:latin typeface="Santander Text" panose="020B0504020201020104" pitchFamily="34" charset="0"/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2" y="6262326"/>
            <a:ext cx="1172108" cy="205543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337100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  <a:latin typeface="Santander Text" panose="020B0504020201020104" pitchFamily="34" charset="0"/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25" y="1191802"/>
            <a:ext cx="3911401" cy="4985162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abla 4">
            <a:extLst>
              <a:ext uri="{FF2B5EF4-FFF2-40B4-BE49-F238E27FC236}">
                <a16:creationId xmlns:a16="http://schemas.microsoft.com/office/drawing/2014/main" id="{DF826A4E-1A0C-46D7-8327-402D7A34DE68}"/>
              </a:ext>
            </a:extLst>
          </p:cNvPr>
          <p:cNvSpPr>
            <a:spLocks noGrp="1"/>
          </p:cNvSpPr>
          <p:nvPr>
            <p:ph type="tbl" sz="quarter" idx="18" hasCustomPrompt="1"/>
          </p:nvPr>
        </p:nvSpPr>
        <p:spPr>
          <a:xfrm>
            <a:off x="4867835" y="1707776"/>
            <a:ext cx="6612965" cy="4502524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lang="es-ES" sz="1200" kern="1200" smtClean="0">
                <a:solidFill>
                  <a:schemeClr val="tx2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sua</a:t>
            </a:r>
            <a:r>
              <a:rPr lang="es-ES"/>
              <a:t> </a:t>
            </a:r>
            <a:r>
              <a:rPr lang="es-ES" err="1"/>
              <a:t>tabela</a:t>
            </a:r>
            <a:endParaRPr lang="es-ES"/>
          </a:p>
        </p:txBody>
      </p:sp>
      <p:sp>
        <p:nvSpPr>
          <p:cNvPr id="14" name="Marcador de texto 16">
            <a:extLst>
              <a:ext uri="{FF2B5EF4-FFF2-40B4-BE49-F238E27FC236}">
                <a16:creationId xmlns:a16="http://schemas.microsoft.com/office/drawing/2014/main" id="{C96F8991-1F66-478E-8C12-FB0275A2F2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867835" y="1191802"/>
            <a:ext cx="6587576" cy="38150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2808262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 3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209600"/>
            <a:ext cx="2743200" cy="365125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  <a:latin typeface="Santander Text" panose="020B0504020201020104" pitchFamily="34" charset="0"/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2" y="6262326"/>
            <a:ext cx="1172108" cy="205543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337100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  <a:latin typeface="Santander Text" panose="020B0504020201020104" pitchFamily="34" charset="0"/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25" y="1191802"/>
            <a:ext cx="3911401" cy="65754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714DD14E-5956-4FB9-8BE1-1064DD29319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24062" y="1191802"/>
            <a:ext cx="6456737" cy="65754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6" name="Marcador de gráfico 4">
            <a:extLst>
              <a:ext uri="{FF2B5EF4-FFF2-40B4-BE49-F238E27FC236}">
                <a16:creationId xmlns:a16="http://schemas.microsoft.com/office/drawing/2014/main" id="{9BA63F5F-FC37-4202-A6A3-A0F3EFAC9EB6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711200" y="1993900"/>
            <a:ext cx="3911600" cy="3605788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400">
                <a:solidFill>
                  <a:schemeClr val="tx2"/>
                </a:solidFill>
                <a:latin typeface="Santander Text" panose="020B0504020201020104" pitchFamily="34" charset="0"/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seu</a:t>
            </a:r>
            <a:r>
              <a:rPr lang="es-ES"/>
              <a:t> gráfico</a:t>
            </a:r>
          </a:p>
        </p:txBody>
      </p:sp>
      <p:sp>
        <p:nvSpPr>
          <p:cNvPr id="17" name="Marcador de gráfico 4">
            <a:extLst>
              <a:ext uri="{FF2B5EF4-FFF2-40B4-BE49-F238E27FC236}">
                <a16:creationId xmlns:a16="http://schemas.microsoft.com/office/drawing/2014/main" id="{0CABFB2C-905F-4A94-BBC0-7C32FA7695A4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>
          <a:xfrm>
            <a:off x="5024063" y="1993900"/>
            <a:ext cx="6472718" cy="3605788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400">
                <a:solidFill>
                  <a:schemeClr val="tx2"/>
                </a:solidFill>
                <a:latin typeface="Santander Text" panose="020B0504020201020104" pitchFamily="34" charset="0"/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seu</a:t>
            </a:r>
            <a:r>
              <a:rPr lang="es-ES"/>
              <a:t> gráfico</a:t>
            </a:r>
          </a:p>
        </p:txBody>
      </p:sp>
      <p:sp>
        <p:nvSpPr>
          <p:cNvPr id="18" name="Forma libre: forma 17">
            <a:extLst>
              <a:ext uri="{FF2B5EF4-FFF2-40B4-BE49-F238E27FC236}">
                <a16:creationId xmlns:a16="http://schemas.microsoft.com/office/drawing/2014/main" id="{AEAA6F10-C407-4622-AF96-B2605139D86B}"/>
              </a:ext>
            </a:extLst>
          </p:cNvPr>
          <p:cNvSpPr/>
          <p:nvPr userDrawn="1"/>
        </p:nvSpPr>
        <p:spPr>
          <a:xfrm>
            <a:off x="4742395" y="3685061"/>
            <a:ext cx="187151" cy="207057"/>
          </a:xfrm>
          <a:custGeom>
            <a:avLst/>
            <a:gdLst/>
            <a:ahLst/>
            <a:cxnLst/>
            <a:rect l="l" t="t" r="r" b="b"/>
            <a:pathLst>
              <a:path w="187151" h="207057">
                <a:moveTo>
                  <a:pt x="0" y="0"/>
                </a:moveTo>
                <a:lnTo>
                  <a:pt x="187151" y="80925"/>
                </a:lnTo>
                <a:lnTo>
                  <a:pt x="187151" y="125574"/>
                </a:lnTo>
                <a:lnTo>
                  <a:pt x="0" y="207057"/>
                </a:lnTo>
                <a:lnTo>
                  <a:pt x="0" y="154409"/>
                </a:lnTo>
                <a:lnTo>
                  <a:pt x="130596" y="103064"/>
                </a:lnTo>
                <a:lnTo>
                  <a:pt x="0" y="5227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latin typeface="Santander Text" panose="020B05040202010201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9925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rigado - Cont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rma libre: forma 18">
            <a:extLst>
              <a:ext uri="{FF2B5EF4-FFF2-40B4-BE49-F238E27FC236}">
                <a16:creationId xmlns:a16="http://schemas.microsoft.com/office/drawing/2014/main" id="{B61CF4CC-ED27-4967-A11A-B838DFD4D9A3}"/>
              </a:ext>
            </a:extLst>
          </p:cNvPr>
          <p:cNvSpPr/>
          <p:nvPr userDrawn="1"/>
        </p:nvSpPr>
        <p:spPr>
          <a:xfrm>
            <a:off x="0" y="5229922"/>
            <a:ext cx="12192000" cy="1628078"/>
          </a:xfrm>
          <a:custGeom>
            <a:avLst/>
            <a:gdLst>
              <a:gd name="connsiteX0" fmla="*/ 8943278 w 12192000"/>
              <a:gd name="connsiteY0" fmla="*/ 0 h 1628078"/>
              <a:gd name="connsiteX1" fmla="*/ 12192000 w 12192000"/>
              <a:gd name="connsiteY1" fmla="*/ 0 h 1628078"/>
              <a:gd name="connsiteX2" fmla="*/ 12192000 w 12192000"/>
              <a:gd name="connsiteY2" fmla="*/ 1628078 h 1628078"/>
              <a:gd name="connsiteX3" fmla="*/ 0 w 12192000"/>
              <a:gd name="connsiteY3" fmla="*/ 1628078 h 1628078"/>
              <a:gd name="connsiteX4" fmla="*/ 0 w 12192000"/>
              <a:gd name="connsiteY4" fmla="*/ 1226634 h 1628078"/>
              <a:gd name="connsiteX5" fmla="*/ 8943278 w 12192000"/>
              <a:gd name="connsiteY5" fmla="*/ 1226634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1628078">
                <a:moveTo>
                  <a:pt x="8943278" y="0"/>
                </a:moveTo>
                <a:lnTo>
                  <a:pt x="12192000" y="0"/>
                </a:lnTo>
                <a:lnTo>
                  <a:pt x="12192000" y="1628078"/>
                </a:lnTo>
                <a:lnTo>
                  <a:pt x="0" y="1628078"/>
                </a:lnTo>
                <a:lnTo>
                  <a:pt x="0" y="1226634"/>
                </a:lnTo>
                <a:lnTo>
                  <a:pt x="8943278" y="1226634"/>
                </a:lnTo>
                <a:close/>
              </a:path>
            </a:pathLst>
          </a:cu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>
              <a:latin typeface="Santander Text" panose="020B0504020201020104" pitchFamily="34" charset="0"/>
            </a:endParaRPr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67F54544-030A-41BD-9896-574241C7188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978" y="5727401"/>
            <a:ext cx="1896592" cy="332588"/>
          </a:xfrm>
          <a:prstGeom prst="rect">
            <a:avLst/>
          </a:prstGeom>
        </p:spPr>
      </p:pic>
      <p:pic>
        <p:nvPicPr>
          <p:cNvPr id="1026" name="Picture 2" descr="Resultado de imagen de DJSI Member Log">
            <a:extLst>
              <a:ext uri="{FF2B5EF4-FFF2-40B4-BE49-F238E27FC236}">
                <a16:creationId xmlns:a16="http://schemas.microsoft.com/office/drawing/2014/main" id="{892B8B9E-DEBC-4365-A4A8-EB9654BA309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796918" y="5573143"/>
            <a:ext cx="1347482" cy="455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Grupo 19">
            <a:extLst>
              <a:ext uri="{FF2B5EF4-FFF2-40B4-BE49-F238E27FC236}">
                <a16:creationId xmlns:a16="http://schemas.microsoft.com/office/drawing/2014/main" id="{246620ED-93B0-4966-8E36-4B883B49E634}"/>
              </a:ext>
            </a:extLst>
          </p:cNvPr>
          <p:cNvGrpSpPr/>
          <p:nvPr userDrawn="1"/>
        </p:nvGrpSpPr>
        <p:grpSpPr>
          <a:xfrm>
            <a:off x="7612559" y="5573576"/>
            <a:ext cx="578707" cy="455017"/>
            <a:chOff x="2203451" y="-4230356"/>
            <a:chExt cx="6896100" cy="5422158"/>
          </a:xfrm>
        </p:grpSpPr>
        <p:pic>
          <p:nvPicPr>
            <p:cNvPr id="22" name="Imagen 21" descr="Imagen relacionada">
              <a:extLst>
                <a:ext uri="{FF2B5EF4-FFF2-40B4-BE49-F238E27FC236}">
                  <a16:creationId xmlns:a16="http://schemas.microsoft.com/office/drawing/2014/main" id="{E4D48186-AF8E-4052-97D2-CCAFD0E1AC7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58085" y="-4230356"/>
              <a:ext cx="3798276" cy="3838472"/>
            </a:xfrm>
            <a:custGeom>
              <a:avLst/>
              <a:gdLst>
                <a:gd name="connsiteX0" fmla="*/ 1899138 w 3798276"/>
                <a:gd name="connsiteY0" fmla="*/ 0 h 3838472"/>
                <a:gd name="connsiteX1" fmla="*/ 3798276 w 3798276"/>
                <a:gd name="connsiteY1" fmla="*/ 1919236 h 3838472"/>
                <a:gd name="connsiteX2" fmla="*/ 1899138 w 3798276"/>
                <a:gd name="connsiteY2" fmla="*/ 3838472 h 3838472"/>
                <a:gd name="connsiteX3" fmla="*/ 0 w 3798276"/>
                <a:gd name="connsiteY3" fmla="*/ 1919236 h 3838472"/>
                <a:gd name="connsiteX4" fmla="*/ 1899138 w 3798276"/>
                <a:gd name="connsiteY4" fmla="*/ 0 h 3838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8276" h="3838472">
                  <a:moveTo>
                    <a:pt x="1899138" y="0"/>
                  </a:moveTo>
                  <a:cubicBezTo>
                    <a:pt x="2948003" y="0"/>
                    <a:pt x="3798276" y="859271"/>
                    <a:pt x="3798276" y="1919236"/>
                  </a:cubicBezTo>
                  <a:cubicBezTo>
                    <a:pt x="3798276" y="2979201"/>
                    <a:pt x="2948003" y="3838472"/>
                    <a:pt x="1899138" y="3838472"/>
                  </a:cubicBezTo>
                  <a:cubicBezTo>
                    <a:pt x="850273" y="3838472"/>
                    <a:pt x="0" y="2979201"/>
                    <a:pt x="0" y="1919236"/>
                  </a:cubicBezTo>
                  <a:cubicBezTo>
                    <a:pt x="0" y="859271"/>
                    <a:pt x="850273" y="0"/>
                    <a:pt x="1899138" y="0"/>
                  </a:cubicBez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Imagen 23" descr="Imagen relacionada">
              <a:extLst>
                <a:ext uri="{FF2B5EF4-FFF2-40B4-BE49-F238E27FC236}">
                  <a16:creationId xmlns:a16="http://schemas.microsoft.com/office/drawing/2014/main" id="{411507B2-E393-4DDC-B151-70751F9943C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03451" y="0"/>
              <a:ext cx="6896100" cy="1191802"/>
            </a:xfrm>
            <a:custGeom>
              <a:avLst/>
              <a:gdLst>
                <a:gd name="connsiteX0" fmla="*/ 0 w 6896100"/>
                <a:gd name="connsiteY0" fmla="*/ 0 h 1191802"/>
                <a:gd name="connsiteX1" fmla="*/ 6896100 w 6896100"/>
                <a:gd name="connsiteY1" fmla="*/ 0 h 1191802"/>
                <a:gd name="connsiteX2" fmla="*/ 6896100 w 6896100"/>
                <a:gd name="connsiteY2" fmla="*/ 1191802 h 1191802"/>
                <a:gd name="connsiteX3" fmla="*/ 0 w 6896100"/>
                <a:gd name="connsiteY3" fmla="*/ 1191802 h 1191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96100" h="1191802">
                  <a:moveTo>
                    <a:pt x="0" y="0"/>
                  </a:moveTo>
                  <a:lnTo>
                    <a:pt x="6896100" y="0"/>
                  </a:lnTo>
                  <a:lnTo>
                    <a:pt x="6896100" y="1191802"/>
                  </a:lnTo>
                  <a:lnTo>
                    <a:pt x="0" y="1191802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3" name="CuadroTexto 22">
            <a:extLst>
              <a:ext uri="{FF2B5EF4-FFF2-40B4-BE49-F238E27FC236}">
                <a16:creationId xmlns:a16="http://schemas.microsoft.com/office/drawing/2014/main" id="{B163354C-97AE-4FC8-BF01-B7FCA9B2C7C0}"/>
              </a:ext>
            </a:extLst>
          </p:cNvPr>
          <p:cNvSpPr txBox="1"/>
          <p:nvPr userDrawn="1"/>
        </p:nvSpPr>
        <p:spPr>
          <a:xfrm>
            <a:off x="719288" y="1945649"/>
            <a:ext cx="336547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noProof="0">
                <a:solidFill>
                  <a:schemeClr val="tx2"/>
                </a:solidFill>
                <a:latin typeface="Santander Text" panose="020B0504020201020104" pitchFamily="34" charset="0"/>
              </a:rPr>
              <a:t>A nossa missão é contribuir para o desenvolvimento das pessoas e as empresas.</a:t>
            </a:r>
          </a:p>
          <a:p>
            <a:endParaRPr lang="pt-PT" sz="1400" noProof="0">
              <a:solidFill>
                <a:schemeClr val="tx2"/>
              </a:solidFill>
              <a:latin typeface="Santander Text" panose="020B0504020201020104" pitchFamily="34" charset="0"/>
            </a:endParaRPr>
          </a:p>
          <a:p>
            <a:r>
              <a:rPr lang="pt-PT" sz="1400" noProof="0">
                <a:solidFill>
                  <a:schemeClr val="tx2"/>
                </a:solidFill>
                <a:latin typeface="Santander Text" panose="020B0504020201020104" pitchFamily="34" charset="0"/>
              </a:rPr>
              <a:t>A nossa cultura baseia-se no princípio de que tudo que fazemos deve ser 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68E35268-345F-47C7-ADB2-CE92421E8EED}"/>
              </a:ext>
            </a:extLst>
          </p:cNvPr>
          <p:cNvSpPr txBox="1"/>
          <p:nvPr userDrawn="1"/>
        </p:nvSpPr>
        <p:spPr>
          <a:xfrm>
            <a:off x="721506" y="628193"/>
            <a:ext cx="33654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4000" noProof="0">
                <a:solidFill>
                  <a:schemeClr val="accent1"/>
                </a:solidFill>
                <a:latin typeface="Santander Text" panose="020B0504020201020104" pitchFamily="34" charset="0"/>
              </a:rPr>
              <a:t>Obrigado.</a:t>
            </a:r>
          </a:p>
        </p:txBody>
      </p:sp>
      <p:sp>
        <p:nvSpPr>
          <p:cNvPr id="31" name="Forma libre: forma 30">
            <a:extLst>
              <a:ext uri="{FF2B5EF4-FFF2-40B4-BE49-F238E27FC236}">
                <a16:creationId xmlns:a16="http://schemas.microsoft.com/office/drawing/2014/main" id="{073BDF73-2FC7-4E8C-B95B-B68B9F5D3BE9}"/>
              </a:ext>
            </a:extLst>
          </p:cNvPr>
          <p:cNvSpPr/>
          <p:nvPr userDrawn="1"/>
        </p:nvSpPr>
        <p:spPr>
          <a:xfrm>
            <a:off x="0" y="5229922"/>
            <a:ext cx="12196689" cy="1628078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 noProof="0">
              <a:latin typeface="Santander Text" panose="020B05040202010201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936291A-449C-92AE-1773-E252E8E4AE60}"/>
              </a:ext>
            </a:extLst>
          </p:cNvPr>
          <p:cNvSpPr txBox="1"/>
          <p:nvPr userDrawn="1"/>
        </p:nvSpPr>
        <p:spPr>
          <a:xfrm>
            <a:off x="719288" y="3560855"/>
            <a:ext cx="29315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2000" b="1">
                <a:solidFill>
                  <a:srgbClr val="FF0000"/>
                </a:solidFill>
                <a:latin typeface="Santander Text" panose="020B0504020201020104" pitchFamily="34" charset="0"/>
              </a:rPr>
              <a:t>Simples</a:t>
            </a:r>
            <a:r>
              <a:rPr lang="pt-PT" sz="2000">
                <a:solidFill>
                  <a:schemeClr val="tx1">
                    <a:lumMod val="65000"/>
                    <a:lumOff val="35000"/>
                  </a:schemeClr>
                </a:solidFill>
                <a:latin typeface="Santander Text" panose="020B0504020201020104" pitchFamily="34" charset="0"/>
              </a:rPr>
              <a:t> | </a:t>
            </a:r>
            <a:r>
              <a:rPr lang="pt-PT" sz="2000" b="1">
                <a:solidFill>
                  <a:srgbClr val="FF0000"/>
                </a:solidFill>
                <a:latin typeface="Santander Text" panose="020B0504020201020104" pitchFamily="34" charset="0"/>
              </a:rPr>
              <a:t>Próximo</a:t>
            </a:r>
            <a:r>
              <a:rPr lang="pt-PT" sz="2000">
                <a:solidFill>
                  <a:schemeClr val="tx1">
                    <a:lumMod val="65000"/>
                    <a:lumOff val="35000"/>
                  </a:schemeClr>
                </a:solidFill>
                <a:latin typeface="Santander Text" panose="020B0504020201020104" pitchFamily="34" charset="0"/>
              </a:rPr>
              <a:t> | </a:t>
            </a:r>
            <a:r>
              <a:rPr lang="pt-PT" sz="2000" b="1">
                <a:solidFill>
                  <a:srgbClr val="FF0000"/>
                </a:solidFill>
                <a:latin typeface="Santander Text" panose="020B0504020201020104" pitchFamily="34" charset="0"/>
              </a:rPr>
              <a:t>Justo</a:t>
            </a:r>
          </a:p>
        </p:txBody>
      </p:sp>
    </p:spTree>
    <p:extLst>
      <p:ext uri="{BB962C8B-B14F-4D97-AF65-F5344CB8AC3E}">
        <p14:creationId xmlns:p14="http://schemas.microsoft.com/office/powerpoint/2010/main" val="1491639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508141E-100E-4635-9FC3-353399DFC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0BD3726-4CCC-4808-AF74-D4FC34B77C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9DA10A-F167-488F-8E2B-A0FE565022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Santander Text" panose="020B0504020201020104" pitchFamily="34" charset="0"/>
              </a:defRPr>
            </a:lvl1pPr>
          </a:lstStyle>
          <a:p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937220-A8C8-4E71-8BA2-4260C5636D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Santander Text" panose="020B0504020201020104" pitchFamily="34" charset="0"/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5E98D6-3F4E-4F5E-9BFB-DDFD9AC1E7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s-ES" sz="1200" kern="1200" smtClean="0">
                <a:solidFill>
                  <a:schemeClr val="tx1">
                    <a:tint val="75000"/>
                  </a:schemeClr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</a:lstStyle>
          <a:p>
            <a:fld id="{BC0D97B6-E32F-4D7D-B839-7C3B51F2640F}" type="slidenum">
              <a:rPr lang="pt-PT" smtClean="0"/>
              <a:pPr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804683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6" r:id="rId3"/>
    <p:sldLayoutId id="2147483651" r:id="rId4"/>
    <p:sldLayoutId id="2147483652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Santander Text" panose="020B05040202010201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Santander Text" panose="020B05040202010201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Santander Text" panose="020B05040202010201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Santander Text" panose="020B05040202010201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antander Text" panose="020B05040202010201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antander Text" panose="020B05040202010201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san-portugal.atlassian.net/wiki/spaces/BSTMETODOLOGIAS/pages/31588561/API+Portfolio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40447380-3E61-4E42-AFCA-CAF1866AAF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1744" y="1096484"/>
            <a:ext cx="6026786" cy="1711109"/>
          </a:xfrm>
        </p:spPr>
        <p:txBody>
          <a:bodyPr>
            <a:normAutofit/>
          </a:bodyPr>
          <a:lstStyle/>
          <a:p>
            <a:r>
              <a:rPr lang="pt-PT">
                <a:latin typeface="Santander Text"/>
              </a:rPr>
              <a:t>Documento de Requisitos </a:t>
            </a:r>
          </a:p>
        </p:txBody>
      </p:sp>
      <p:sp>
        <p:nvSpPr>
          <p:cNvPr id="7" name="Subtítulo 6">
            <a:extLst>
              <a:ext uri="{FF2B5EF4-FFF2-40B4-BE49-F238E27FC236}">
                <a16:creationId xmlns:a16="http://schemas.microsoft.com/office/drawing/2014/main" id="{D184A763-02A6-4822-A5F0-D9E80A5D80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4620" y="2722142"/>
            <a:ext cx="4934309" cy="69795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t-PT" dirty="0">
                <a:latin typeface="Santander Text"/>
              </a:rPr>
              <a:t>#Nome Iniciativa/Projeto#</a:t>
            </a:r>
            <a:endParaRPr lang="pt-PT" dirty="0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846C0DCE-BC9C-49A6-A719-B8608011D8B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9650" y="333651"/>
            <a:ext cx="11177550" cy="619386"/>
          </a:xfrm>
        </p:spPr>
        <p:txBody>
          <a:bodyPr/>
          <a:lstStyle/>
          <a:p>
            <a:r>
              <a:rPr lang="pt-PT"/>
              <a:t>Service Strategy | </a:t>
            </a:r>
            <a:r>
              <a:rPr lang="pt-PT" b="1"/>
              <a:t>Enterprise Architecture</a:t>
            </a:r>
          </a:p>
          <a:p>
            <a:r>
              <a:rPr lang="pt-PT"/>
              <a:t>Lisboa, #Mês# de #Ano#</a:t>
            </a:r>
          </a:p>
        </p:txBody>
      </p:sp>
      <p:pic>
        <p:nvPicPr>
          <p:cNvPr id="3" name="Picture 2" descr="Chart&#10;&#10;Description automatically generated with medium confidence">
            <a:extLst>
              <a:ext uri="{FF2B5EF4-FFF2-40B4-BE49-F238E27FC236}">
                <a16:creationId xmlns:a16="http://schemas.microsoft.com/office/drawing/2014/main" id="{4AC02B24-4078-4D7C-A0F9-A2DD2B815182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7973" y="363409"/>
            <a:ext cx="1584176" cy="1179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657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o Número do Diapositivo 2">
            <a:extLst>
              <a:ext uri="{FF2B5EF4-FFF2-40B4-BE49-F238E27FC236}">
                <a16:creationId xmlns:a16="http://schemas.microsoft.com/office/drawing/2014/main" id="{6BE5CD3F-0FAD-4B4F-A5D9-A3828F68F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D97B6-E32F-4D7D-B839-7C3B51F2640F}" type="slidenum">
              <a:rPr lang="es-ES" smtClean="0"/>
              <a:pPr/>
              <a:t>2</a:t>
            </a:fld>
            <a:endParaRPr lang="es-ES"/>
          </a:p>
        </p:txBody>
      </p:sp>
      <p:sp>
        <p:nvSpPr>
          <p:cNvPr id="10" name="Marcador de Posição do Texto 9">
            <a:extLst>
              <a:ext uri="{FF2B5EF4-FFF2-40B4-BE49-F238E27FC236}">
                <a16:creationId xmlns:a16="http://schemas.microsoft.com/office/drawing/2014/main" id="{4234CC62-0792-1067-D902-645764D0046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6633" y="415273"/>
            <a:ext cx="10758734" cy="304800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lang="pt-PT" sz="1800">
                <a:solidFill>
                  <a:schemeClr val="tx1"/>
                </a:solidFill>
                <a:latin typeface="Santander Text"/>
              </a:rPr>
              <a:t>Copyright, IP </a:t>
            </a:r>
            <a:r>
              <a:rPr lang="pt-PT" sz="1800" err="1">
                <a:solidFill>
                  <a:schemeClr val="tx1"/>
                </a:solidFill>
                <a:latin typeface="Santander Text"/>
              </a:rPr>
              <a:t>Rights</a:t>
            </a:r>
            <a:r>
              <a:rPr lang="pt-PT" sz="1800">
                <a:solidFill>
                  <a:schemeClr val="tx1"/>
                </a:solidFill>
                <a:latin typeface="Santander Text"/>
              </a:rPr>
              <a:t>, </a:t>
            </a:r>
            <a:r>
              <a:rPr lang="pt-PT" sz="1800" err="1">
                <a:solidFill>
                  <a:schemeClr val="tx1"/>
                </a:solidFill>
                <a:latin typeface="Santander Text"/>
              </a:rPr>
              <a:t>Proprietary</a:t>
            </a:r>
            <a:r>
              <a:rPr lang="pt-PT" sz="1800">
                <a:solidFill>
                  <a:schemeClr val="tx1"/>
                </a:solidFill>
                <a:latin typeface="Santander Text"/>
              </a:rPr>
              <a:t> </a:t>
            </a:r>
            <a:r>
              <a:rPr lang="pt-PT" sz="1800" err="1">
                <a:solidFill>
                  <a:schemeClr val="tx1"/>
                </a:solidFill>
                <a:latin typeface="Santander Text"/>
              </a:rPr>
              <a:t>Information</a:t>
            </a:r>
            <a:endParaRPr lang="pt-PT" sz="1800">
              <a:solidFill>
                <a:schemeClr val="tx1"/>
              </a:solidFill>
              <a:latin typeface="Santander Text"/>
            </a:endParaRPr>
          </a:p>
          <a:p>
            <a:endParaRPr lang="pt-PT" sz="1800"/>
          </a:p>
        </p:txBody>
      </p:sp>
      <p:sp>
        <p:nvSpPr>
          <p:cNvPr id="11" name="Marcador de Posição do Texto 10">
            <a:extLst>
              <a:ext uri="{FF2B5EF4-FFF2-40B4-BE49-F238E27FC236}">
                <a16:creationId xmlns:a16="http://schemas.microsoft.com/office/drawing/2014/main" id="{B503E70D-A2C2-6EBE-B800-454B49FE08B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6634" y="1116240"/>
            <a:ext cx="10758733" cy="4761032"/>
          </a:xfrm>
        </p:spPr>
        <p:txBody>
          <a:bodyPr vert="horz" lIns="91440" tIns="45720" rIns="91440" bIns="45720" numCol="2" spcCol="720000" rtlCol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pt-PT">
                <a:latin typeface="Santander Text"/>
              </a:rPr>
              <a:t>Todo o conteúdo deste documento/apresentação é protegido por direitos autorais e/ou outros direitos de propriedade intelectual, salvo indicação em contrário. Todos os direitos são reservados e propriedade do Santander Portugal e do Grupo Santander. </a:t>
            </a:r>
            <a:endParaRPr lang="pt-PT"/>
          </a:p>
          <a:p>
            <a:pPr>
              <a:lnSpc>
                <a:spcPct val="100000"/>
              </a:lnSpc>
            </a:pPr>
            <a:r>
              <a:rPr lang="pt-PT">
                <a:latin typeface="Santander Text"/>
              </a:rPr>
              <a:t>Nenhuma reprodução ou distribuição de todo ou parte deste documento pode ser feita sem autorização prévia por escrito do Santander. Apenas para os fins exclusivos para os quais você é o destinatário deste documento/apresentação, você poderá fazer uma cópia ou imprimi-lo, desde que não haja alterações em seu conteúdo e esta nota seja incluída para que os direitos sejam acreditados e incorporado na reprodução. </a:t>
            </a:r>
            <a:r>
              <a:rPr lang="pt-PT" u="sng">
                <a:latin typeface="Santander Text"/>
              </a:rPr>
              <a:t>Qualquer uso comercial é totalmente proibido. </a:t>
            </a:r>
            <a:endParaRPr lang="pt-PT" u="sng"/>
          </a:p>
          <a:p>
            <a:pPr>
              <a:lnSpc>
                <a:spcPct val="100000"/>
              </a:lnSpc>
            </a:pPr>
            <a:r>
              <a:rPr lang="pt-PT">
                <a:latin typeface="Santander Text"/>
              </a:rPr>
              <a:t>O Santander Portugal é o proprietário, titular dos direitos de propriedade intelectual e industrial ou utilizador autorizado e legítimo de todo o conteúdo e aspectos deste documento/apresentação incluindo marcas, informações, textos, fotografias e design, salvo indicação em contrário. </a:t>
            </a:r>
            <a:endParaRPr lang="pt-PT"/>
          </a:p>
          <a:p>
            <a:pPr>
              <a:lnSpc>
                <a:spcPct val="100000"/>
              </a:lnSpc>
            </a:pPr>
            <a:r>
              <a:rPr lang="pt-PT">
                <a:latin typeface="Santander Text"/>
              </a:rPr>
              <a:t>Embora todos os esforços tenham sido feitos para fornecer informações precisas, erros e omissões podem ocorrer. Assim, o Santander Portugal não assume qualquer responsabilidade por qualquer perda ou dano que possa, direta ou indiretamente, resultar de qualquer conselho, opinião, informação, representação ou omissão, negligente ou não, a dados ou informações contidas neste documento/apresentação.</a:t>
            </a:r>
            <a:endParaRPr lang="pt-PT">
              <a:solidFill>
                <a:srgbClr val="C00000"/>
              </a:solidFill>
              <a:latin typeface="Santander Text"/>
            </a:endParaRPr>
          </a:p>
          <a:p>
            <a:pPr>
              <a:lnSpc>
                <a:spcPct val="100000"/>
              </a:lnSpc>
            </a:pPr>
            <a:r>
              <a:rPr lang="pt-PT" err="1">
                <a:solidFill>
                  <a:srgbClr val="C00000"/>
                </a:solidFill>
                <a:latin typeface="Santander Text"/>
              </a:rPr>
              <a:t>Everything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on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this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paper</a:t>
            </a:r>
            <a:r>
              <a:rPr lang="pt-PT">
                <a:solidFill>
                  <a:srgbClr val="C00000"/>
                </a:solidFill>
                <a:latin typeface="Santander Text"/>
              </a:rPr>
              <a:t>/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presentation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is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copyrighted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unless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otherwise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noted</a:t>
            </a:r>
            <a:r>
              <a:rPr lang="pt-PT">
                <a:solidFill>
                  <a:srgbClr val="C00000"/>
                </a:solidFill>
                <a:latin typeface="Santander Text"/>
              </a:rPr>
              <a:t>.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All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rights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are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reserved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and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remain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the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exclusive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property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of</a:t>
            </a:r>
            <a:r>
              <a:rPr lang="pt-PT">
                <a:solidFill>
                  <a:srgbClr val="C00000"/>
                </a:solidFill>
                <a:latin typeface="Santander Text"/>
              </a:rPr>
              <a:t> Santander Portugal 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and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Grupo Santander.</a:t>
            </a:r>
          </a:p>
          <a:p>
            <a:pPr>
              <a:lnSpc>
                <a:spcPct val="100000"/>
              </a:lnSpc>
            </a:pPr>
            <a:r>
              <a:rPr lang="pt-PT">
                <a:solidFill>
                  <a:srgbClr val="C00000"/>
                </a:solidFill>
                <a:latin typeface="Santander Text"/>
              </a:rPr>
              <a:t>No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reproduction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or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distribution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may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be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made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of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any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part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of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the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paper</a:t>
            </a:r>
            <a:r>
              <a:rPr lang="pt-PT">
                <a:solidFill>
                  <a:srgbClr val="C00000"/>
                </a:solidFill>
                <a:latin typeface="Santander Text"/>
              </a:rPr>
              <a:t>/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presentation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for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any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reason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without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first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receiving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written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permission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from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Santander Portugal.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Only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for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the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intended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purpose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for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which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you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are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receiving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this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paper</a:t>
            </a:r>
            <a:r>
              <a:rPr lang="pt-PT">
                <a:solidFill>
                  <a:srgbClr val="C00000"/>
                </a:solidFill>
                <a:latin typeface="Santander Text"/>
              </a:rPr>
              <a:t>/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presentation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you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would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be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allowed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to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make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a single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copy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of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print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it</a:t>
            </a:r>
            <a:r>
              <a:rPr lang="pt-PT">
                <a:solidFill>
                  <a:srgbClr val="C00000"/>
                </a:solidFill>
                <a:latin typeface="Santander Text"/>
              </a:rPr>
              <a:t>,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provided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that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no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changes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are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made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to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the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content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and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provided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that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a copyright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notice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accrediting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the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content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is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attached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to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the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reproduction</a:t>
            </a:r>
            <a:r>
              <a:rPr lang="pt-PT">
                <a:solidFill>
                  <a:srgbClr val="C00000"/>
                </a:solidFill>
                <a:latin typeface="Santander Text"/>
              </a:rPr>
              <a:t>.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Beyond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that</a:t>
            </a:r>
            <a:r>
              <a:rPr lang="pt-PT">
                <a:solidFill>
                  <a:srgbClr val="C00000"/>
                </a:solidFill>
                <a:latin typeface="Santander Text"/>
              </a:rPr>
              <a:t>, no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further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copies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may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be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made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or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distributed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without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written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authorization</a:t>
            </a:r>
            <a:r>
              <a:rPr lang="pt-PT">
                <a:solidFill>
                  <a:srgbClr val="C00000"/>
                </a:solidFill>
                <a:latin typeface="Santander Text"/>
              </a:rPr>
              <a:t>.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All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commercial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use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is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expressly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forbidden</a:t>
            </a:r>
            <a:r>
              <a:rPr lang="pt-PT">
                <a:solidFill>
                  <a:srgbClr val="C00000"/>
                </a:solidFill>
                <a:latin typeface="Santander Text"/>
              </a:rPr>
              <a:t>.</a:t>
            </a:r>
          </a:p>
          <a:p>
            <a:pPr>
              <a:lnSpc>
                <a:spcPct val="100000"/>
              </a:lnSpc>
            </a:pPr>
            <a:r>
              <a:rPr lang="pt-PT">
                <a:solidFill>
                  <a:srgbClr val="C00000"/>
                </a:solidFill>
                <a:latin typeface="Santander Text"/>
              </a:rPr>
              <a:t>Santander Portugal 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is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the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owner</a:t>
            </a:r>
            <a:r>
              <a:rPr lang="pt-PT">
                <a:solidFill>
                  <a:srgbClr val="C00000"/>
                </a:solidFill>
                <a:latin typeface="Santander Text"/>
              </a:rPr>
              <a:t>, copyright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owner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or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authorized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user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for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all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other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aspects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and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content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of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this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paper</a:t>
            </a:r>
            <a:r>
              <a:rPr lang="pt-PT">
                <a:solidFill>
                  <a:srgbClr val="C00000"/>
                </a:solidFill>
                <a:latin typeface="Santander Text"/>
              </a:rPr>
              <a:t>/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presentation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including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trademark</a:t>
            </a:r>
            <a:r>
              <a:rPr lang="pt-PT">
                <a:solidFill>
                  <a:srgbClr val="C00000"/>
                </a:solidFill>
                <a:latin typeface="Santander Text"/>
              </a:rPr>
              <a:t>,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information</a:t>
            </a:r>
            <a:r>
              <a:rPr lang="pt-PT">
                <a:solidFill>
                  <a:srgbClr val="C00000"/>
                </a:solidFill>
                <a:latin typeface="Santander Text"/>
              </a:rPr>
              <a:t>,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text</a:t>
            </a:r>
            <a:r>
              <a:rPr lang="pt-PT">
                <a:solidFill>
                  <a:srgbClr val="C00000"/>
                </a:solidFill>
                <a:latin typeface="Santander Text"/>
              </a:rPr>
              <a:t>,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photographs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and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design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unless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otherwise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stated</a:t>
            </a:r>
            <a:r>
              <a:rPr lang="pt-PT">
                <a:solidFill>
                  <a:srgbClr val="C00000"/>
                </a:solidFill>
                <a:latin typeface="Santander Text"/>
              </a:rPr>
              <a:t>.</a:t>
            </a:r>
          </a:p>
          <a:p>
            <a:pPr>
              <a:lnSpc>
                <a:spcPct val="100000"/>
              </a:lnSpc>
            </a:pPr>
            <a:r>
              <a:rPr lang="pt-PT" err="1">
                <a:solidFill>
                  <a:srgbClr val="C00000"/>
                </a:solidFill>
                <a:latin typeface="Santander Text"/>
              </a:rPr>
              <a:t>While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every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endeavour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has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been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made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to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supply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accurate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information</a:t>
            </a:r>
            <a:r>
              <a:rPr lang="pt-PT">
                <a:solidFill>
                  <a:srgbClr val="C00000"/>
                </a:solidFill>
                <a:latin typeface="Santander Text"/>
              </a:rPr>
              <a:t>,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errors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and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omissions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may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occur</a:t>
            </a:r>
            <a:r>
              <a:rPr lang="pt-PT">
                <a:solidFill>
                  <a:srgbClr val="C00000"/>
                </a:solidFill>
                <a:latin typeface="Santander Text"/>
              </a:rPr>
              <a:t>.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Accordingly</a:t>
            </a:r>
            <a:r>
              <a:rPr lang="pt-PT">
                <a:solidFill>
                  <a:srgbClr val="C00000"/>
                </a:solidFill>
                <a:latin typeface="Santander Text"/>
              </a:rPr>
              <a:t>, Santander Portugal does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not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accept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any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liability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for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any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loss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or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damage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which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may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directly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or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indirectly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result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from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any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advice</a:t>
            </a:r>
            <a:r>
              <a:rPr lang="pt-PT">
                <a:solidFill>
                  <a:srgbClr val="C00000"/>
                </a:solidFill>
                <a:latin typeface="Santander Text"/>
              </a:rPr>
              <a:t>,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opinion</a:t>
            </a:r>
            <a:r>
              <a:rPr lang="pt-PT">
                <a:solidFill>
                  <a:srgbClr val="C00000"/>
                </a:solidFill>
                <a:latin typeface="Santander Text"/>
              </a:rPr>
              <a:t>,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information</a:t>
            </a:r>
            <a:r>
              <a:rPr lang="pt-PT">
                <a:solidFill>
                  <a:srgbClr val="C00000"/>
                </a:solidFill>
                <a:latin typeface="Santander Text"/>
              </a:rPr>
              <a:t>,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representation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or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omission</a:t>
            </a:r>
            <a:r>
              <a:rPr lang="pt-PT">
                <a:solidFill>
                  <a:srgbClr val="C00000"/>
                </a:solidFill>
                <a:latin typeface="Santander Text"/>
              </a:rPr>
              <a:t>,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whether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negligent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or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otherwise</a:t>
            </a:r>
            <a:r>
              <a:rPr lang="pt-PT">
                <a:solidFill>
                  <a:srgbClr val="C00000"/>
                </a:solidFill>
                <a:latin typeface="Santander Text"/>
              </a:rPr>
              <a:t>,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contained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on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this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document</a:t>
            </a:r>
            <a:endParaRPr lang="pt-PT">
              <a:solidFill>
                <a:srgbClr val="C00000"/>
              </a:solidFill>
              <a:latin typeface="Santander Text"/>
            </a:endParaRPr>
          </a:p>
          <a:p>
            <a:pPr>
              <a:lnSpc>
                <a:spcPct val="100000"/>
              </a:lnSpc>
            </a:pPr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44377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C5A6910C-A85B-4E78-920A-D86C8E059C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337100"/>
            <a:ext cx="5763382" cy="304800"/>
          </a:xfrm>
        </p:spPr>
        <p:txBody>
          <a:bodyPr/>
          <a:lstStyle/>
          <a:p>
            <a:r>
              <a:rPr lang="pt-PT" sz="2400"/>
              <a:t>Controlo de Alterações</a:t>
            </a:r>
          </a:p>
        </p:txBody>
      </p:sp>
      <p:graphicFrame>
        <p:nvGraphicFramePr>
          <p:cNvPr id="10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5470240"/>
              </p:ext>
            </p:extLst>
          </p:nvPr>
        </p:nvGraphicFramePr>
        <p:xfrm>
          <a:off x="711024" y="922570"/>
          <a:ext cx="5763382" cy="4619704"/>
        </p:xfrm>
        <a:graphic>
          <a:graphicData uri="http://schemas.openxmlformats.org/drawingml/2006/table">
            <a:tbl>
              <a:tblPr/>
              <a:tblGrid>
                <a:gridCol w="3809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035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64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792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25000"/>
                        <a:buFont typeface="Times" pitchFamily="18" charset="0"/>
                        <a:buNone/>
                        <a:tabLst>
                          <a:tab pos="450850" algn="l"/>
                          <a:tab pos="900113" algn="l"/>
                          <a:tab pos="1349375" algn="l"/>
                          <a:tab pos="2251075" algn="l"/>
                        </a:tabLst>
                      </a:pPr>
                      <a:r>
                        <a:rPr kumimoji="0" lang="pt-PT" sz="1200" b="0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Ver.</a:t>
                      </a: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25000"/>
                        <a:buFont typeface="Times" pitchFamily="18" charset="0"/>
                        <a:buNone/>
                        <a:tabLst>
                          <a:tab pos="450850" algn="l"/>
                          <a:tab pos="900113" algn="l"/>
                          <a:tab pos="1349375" algn="l"/>
                          <a:tab pos="2251075" algn="l"/>
                        </a:tabLst>
                      </a:pPr>
                      <a:r>
                        <a:rPr kumimoji="0" lang="pt-PT" sz="1200" b="0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Data</a:t>
                      </a: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25000"/>
                        <a:buFont typeface="Times" pitchFamily="18" charset="0"/>
                        <a:buNone/>
                        <a:tabLst>
                          <a:tab pos="450850" algn="l"/>
                          <a:tab pos="900113" algn="l"/>
                          <a:tab pos="1349375" algn="l"/>
                          <a:tab pos="2251075" algn="l"/>
                        </a:tabLst>
                      </a:pPr>
                      <a:r>
                        <a:rPr kumimoji="0" lang="pt-PT" sz="1200" b="0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Descrição</a:t>
                      </a: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25000"/>
                        <a:buFont typeface="Times" pitchFamily="18" charset="0"/>
                        <a:buNone/>
                        <a:tabLst>
                          <a:tab pos="450850" algn="l"/>
                          <a:tab pos="900113" algn="l"/>
                          <a:tab pos="1349375" algn="l"/>
                          <a:tab pos="2251075" algn="l"/>
                        </a:tabLst>
                      </a:pPr>
                      <a:r>
                        <a:rPr kumimoji="0" lang="pt-PT" sz="1200" b="0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Autor/</a:t>
                      </a:r>
                      <a:r>
                        <a:rPr kumimoji="0" lang="pt-PT" sz="1200" b="0" i="0" u="none" strike="noStrike" cap="none" normalizeH="0" baseline="0" noProof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Dpto</a:t>
                      </a:r>
                      <a:endParaRPr kumimoji="0" lang="pt-PT" sz="1200" b="0" i="0" u="none" strike="noStrike" cap="none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2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r>
                        <a:rPr kumimoji="0" lang="pt-PT" sz="1100" b="0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1.0</a:t>
                      </a: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r>
                        <a:rPr kumimoji="0" lang="pt-PT" sz="1100" b="0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Dia/Mês/Ano</a:t>
                      </a: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r>
                        <a:rPr kumimoji="0" lang="pt-PT" sz="1100" b="0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Versão inicial do documento</a:t>
                      </a: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r>
                        <a:rPr kumimoji="0" lang="pt-PT" sz="1100" b="0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#Nome Autor Documento#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r>
                        <a:rPr kumimoji="0" lang="pt-PT" sz="1100" b="0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#Equipa a que pertence#</a:t>
                      </a: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1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1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1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1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endParaRPr kumimoji="0" lang="pt-PT" sz="11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1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endParaRPr kumimoji="0" lang="pt-PT" sz="11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1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2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endParaRPr kumimoji="0" lang="pt-PT" sz="11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1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endParaRPr kumimoji="0" lang="pt-PT" sz="11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1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2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endParaRPr kumimoji="0" lang="pt-PT" sz="11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1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endParaRPr kumimoji="0" lang="pt-PT" sz="11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1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2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endParaRPr kumimoji="0" lang="pt-PT" sz="11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1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endParaRPr kumimoji="0" lang="pt-PT" sz="11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1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2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endParaRPr kumimoji="0" lang="pt-PT" sz="11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1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endParaRPr kumimoji="0" lang="pt-PT" sz="11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1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2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1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1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1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1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2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endParaRPr kumimoji="0" lang="pt-PT" sz="11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1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endParaRPr kumimoji="0" lang="pt-PT" sz="11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1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2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endParaRPr kumimoji="0" lang="pt-PT" sz="11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1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endParaRPr kumimoji="0" lang="pt-PT" sz="11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1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2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1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1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1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1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2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1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1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1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1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2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endParaRPr kumimoji="0" lang="pt-PT" sz="11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1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endParaRPr kumimoji="0" lang="pt-PT" sz="11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1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grpSp>
        <p:nvGrpSpPr>
          <p:cNvPr id="2" name="Group 1"/>
          <p:cNvGrpSpPr/>
          <p:nvPr/>
        </p:nvGrpSpPr>
        <p:grpSpPr>
          <a:xfrm>
            <a:off x="3365573" y="5933538"/>
            <a:ext cx="5460855" cy="807830"/>
            <a:chOff x="3155589" y="5671693"/>
            <a:chExt cx="5460855" cy="807830"/>
          </a:xfrm>
        </p:grpSpPr>
        <p:sp>
          <p:nvSpPr>
            <p:cNvPr id="11" name="Rectangle 36"/>
            <p:cNvSpPr>
              <a:spLocks noChangeArrowheads="1"/>
            </p:cNvSpPr>
            <p:nvPr/>
          </p:nvSpPr>
          <p:spPr bwMode="auto">
            <a:xfrm>
              <a:off x="3155589" y="5671693"/>
              <a:ext cx="5460855" cy="807830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l" eaLnBrk="1" hangingPunct="1"/>
              <a:r>
                <a:rPr lang="pt-PT" altLang="pt-PT" sz="1400" b="0" u="none">
                  <a:latin typeface="Santander Text" panose="020B0504020201020104" pitchFamily="34" charset="0"/>
                </a:rPr>
                <a:t>Simbologia usada para </a:t>
              </a:r>
            </a:p>
            <a:p>
              <a:pPr algn="l" eaLnBrk="1" hangingPunct="1"/>
              <a:r>
                <a:rPr lang="pt-PT" altLang="pt-PT" sz="1400" b="0" u="none">
                  <a:latin typeface="Santander Text" panose="020B0504020201020104" pitchFamily="34" charset="0"/>
                </a:rPr>
                <a:t>identificar alterações na solução face à</a:t>
              </a:r>
            </a:p>
            <a:p>
              <a:pPr algn="l" eaLnBrk="1" hangingPunct="1"/>
              <a:r>
                <a:rPr lang="pt-PT" altLang="pt-PT" sz="1400" b="0" u="none">
                  <a:latin typeface="Santander Text" panose="020B0504020201020104" pitchFamily="34" charset="0"/>
                </a:rPr>
                <a:t>situação actual ou entre versões do documento</a:t>
              </a:r>
            </a:p>
          </p:txBody>
        </p:sp>
        <p:sp>
          <p:nvSpPr>
            <p:cNvPr id="13" name="TextBox 1"/>
            <p:cNvSpPr txBox="1">
              <a:spLocks noChangeArrowheads="1"/>
            </p:cNvSpPr>
            <p:nvPr/>
          </p:nvSpPr>
          <p:spPr bwMode="auto">
            <a:xfrm>
              <a:off x="7325610" y="5799305"/>
              <a:ext cx="999891" cy="599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pt-PT" altLang="pt-PT" sz="1100" u="none">
                  <a:latin typeface="Santander Text" panose="020B0504020201020104" pitchFamily="34" charset="0"/>
                </a:rPr>
                <a:t>Novo</a:t>
              </a:r>
            </a:p>
            <a:p>
              <a:pPr eaLnBrk="1" hangingPunct="1"/>
              <a:endParaRPr lang="pt-PT" altLang="pt-PT" sz="1100" u="none">
                <a:latin typeface="Santander Text" panose="020B0504020201020104" pitchFamily="34" charset="0"/>
              </a:endParaRPr>
            </a:p>
            <a:p>
              <a:pPr eaLnBrk="1" hangingPunct="1"/>
              <a:r>
                <a:rPr lang="pt-PT" altLang="pt-PT" sz="1100" u="none">
                  <a:latin typeface="Santander Text" panose="020B0504020201020104" pitchFamily="34" charset="0"/>
                </a:rPr>
                <a:t>Modificado</a:t>
              </a:r>
            </a:p>
          </p:txBody>
        </p:sp>
        <p:sp>
          <p:nvSpPr>
            <p:cNvPr id="14" name="AutoShape 38"/>
            <p:cNvSpPr>
              <a:spLocks noChangeArrowheads="1"/>
            </p:cNvSpPr>
            <p:nvPr/>
          </p:nvSpPr>
          <p:spPr bwMode="auto">
            <a:xfrm>
              <a:off x="7035854" y="6099588"/>
              <a:ext cx="349104" cy="290344"/>
            </a:xfrm>
            <a:prstGeom prst="star8">
              <a:avLst>
                <a:gd name="adj" fmla="val 38250"/>
              </a:avLst>
            </a:prstGeom>
            <a:solidFill>
              <a:srgbClr val="00B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s-ES" altLang="pt-PT" sz="900" b="1" u="none">
                  <a:latin typeface="Santander Text" panose="020B0504020201020104" pitchFamily="34" charset="0"/>
                </a:rPr>
                <a:t>M</a:t>
              </a:r>
            </a:p>
          </p:txBody>
        </p:sp>
        <p:sp>
          <p:nvSpPr>
            <p:cNvPr id="15" name="AutoShape 35"/>
            <p:cNvSpPr>
              <a:spLocks noChangeArrowheads="1"/>
            </p:cNvSpPr>
            <p:nvPr/>
          </p:nvSpPr>
          <p:spPr bwMode="auto">
            <a:xfrm>
              <a:off x="7035854" y="5760946"/>
              <a:ext cx="349104" cy="290344"/>
            </a:xfrm>
            <a:prstGeom prst="star8">
              <a:avLst>
                <a:gd name="adj" fmla="val 38250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s-ES" altLang="pt-PT" sz="900" b="1" u="none">
                  <a:latin typeface="Santander Text" panose="020B0504020201020104" pitchFamily="34" charset="0"/>
                </a:rPr>
                <a:t>N</a:t>
              </a:r>
            </a:p>
          </p:txBody>
        </p: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D97B6-E32F-4D7D-B839-7C3B51F2640F}" type="slidenum">
              <a:rPr lang="es-ES" smtClean="0"/>
              <a:pPr/>
              <a:t>3</a:t>
            </a:fld>
            <a:endParaRPr lang="es-E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D7B2FF-0565-FE2F-616E-F78DB7EBC3EA}"/>
              </a:ext>
            </a:extLst>
          </p:cNvPr>
          <p:cNvSpPr txBox="1"/>
          <p:nvPr/>
        </p:nvSpPr>
        <p:spPr>
          <a:xfrm>
            <a:off x="6803923" y="886593"/>
            <a:ext cx="4695003" cy="2994218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pt-PT" sz="1200" dirty="0">
                <a:solidFill>
                  <a:srgbClr val="FF0000"/>
                </a:solidFill>
                <a:latin typeface="Santander Text" panose="020B0504020201020104" pitchFamily="34" charset="0"/>
              </a:rPr>
              <a:t>01</a:t>
            </a:r>
            <a:r>
              <a:rPr lang="pt-PT" sz="1200" dirty="0">
                <a:latin typeface="Santander Text" panose="020B0504020201020104" pitchFamily="34" charset="0"/>
              </a:rPr>
              <a:t> Identificação da Iniciativa/Projeto e as Necessidade de Catalogação</a:t>
            </a:r>
          </a:p>
          <a:p>
            <a:pPr>
              <a:lnSpc>
                <a:spcPct val="200000"/>
              </a:lnSpc>
            </a:pPr>
            <a:r>
              <a:rPr lang="pt-PT" sz="1200" dirty="0">
                <a:solidFill>
                  <a:srgbClr val="FF0000"/>
                </a:solidFill>
                <a:latin typeface="Santander Text"/>
              </a:rPr>
              <a:t>02</a:t>
            </a:r>
            <a:r>
              <a:rPr lang="pt-PT" sz="1200" dirty="0">
                <a:latin typeface="Santander Text"/>
              </a:rPr>
              <a:t> Enquadramento da Iniciativa/Projeto</a:t>
            </a:r>
            <a:endParaRPr lang="pt-PT" sz="1200" dirty="0">
              <a:latin typeface="Santander Text" panose="020B0504020201020104" pitchFamily="34" charset="0"/>
            </a:endParaRPr>
          </a:p>
          <a:p>
            <a:pPr>
              <a:lnSpc>
                <a:spcPct val="200000"/>
              </a:lnSpc>
            </a:pPr>
            <a:r>
              <a:rPr lang="pt-PT" sz="1200" dirty="0">
                <a:solidFill>
                  <a:srgbClr val="FF0000"/>
                </a:solidFill>
                <a:latin typeface="Santander Text" panose="020B0504020201020104" pitchFamily="34" charset="0"/>
              </a:rPr>
              <a:t>03</a:t>
            </a:r>
            <a:r>
              <a:rPr lang="pt-PT" sz="1200" dirty="0">
                <a:latin typeface="Santander Text" panose="020B0504020201020104" pitchFamily="34" charset="0"/>
              </a:rPr>
              <a:t> Situação Atual</a:t>
            </a:r>
          </a:p>
          <a:p>
            <a:pPr>
              <a:lnSpc>
                <a:spcPct val="200000"/>
              </a:lnSpc>
            </a:pPr>
            <a:r>
              <a:rPr lang="pt-PT" sz="1200" dirty="0">
                <a:solidFill>
                  <a:srgbClr val="FF0000"/>
                </a:solidFill>
                <a:latin typeface="Santander Text"/>
              </a:rPr>
              <a:t>04</a:t>
            </a:r>
            <a:r>
              <a:rPr lang="pt-PT" sz="1200" dirty="0">
                <a:latin typeface="Santander Text"/>
              </a:rPr>
              <a:t> Objetivo da Iniciativa/Projeto</a:t>
            </a:r>
            <a:endParaRPr lang="pt-PT" sz="1200" dirty="0">
              <a:latin typeface="Santander Text" panose="020B0504020201020104" pitchFamily="34" charset="0"/>
            </a:endParaRPr>
          </a:p>
          <a:p>
            <a:pPr>
              <a:lnSpc>
                <a:spcPct val="200000"/>
              </a:lnSpc>
            </a:pPr>
            <a:r>
              <a:rPr lang="pt-PT" sz="1200" dirty="0">
                <a:solidFill>
                  <a:srgbClr val="FF0000"/>
                </a:solidFill>
                <a:latin typeface="Santander Text" panose="020B0504020201020104" pitchFamily="34" charset="0"/>
              </a:rPr>
              <a:t>05</a:t>
            </a:r>
            <a:r>
              <a:rPr lang="pt-PT" sz="1200" dirty="0">
                <a:latin typeface="Santander Text" panose="020B0504020201020104" pitchFamily="34" charset="0"/>
              </a:rPr>
              <a:t> Requisitos Funcionais</a:t>
            </a:r>
          </a:p>
          <a:p>
            <a:pPr>
              <a:lnSpc>
                <a:spcPct val="200000"/>
              </a:lnSpc>
            </a:pPr>
            <a:r>
              <a:rPr lang="pt-PT" sz="1200" dirty="0">
                <a:solidFill>
                  <a:srgbClr val="FF0000"/>
                </a:solidFill>
                <a:latin typeface="Santander Text" panose="020B0504020201020104" pitchFamily="34" charset="0"/>
              </a:rPr>
              <a:t>06 </a:t>
            </a:r>
            <a:r>
              <a:rPr lang="pt-PT" sz="1200" dirty="0">
                <a:latin typeface="Santander Text" panose="020B0504020201020104" pitchFamily="34" charset="0"/>
              </a:rPr>
              <a:t>Solução Proposta</a:t>
            </a:r>
          </a:p>
          <a:p>
            <a:pPr>
              <a:lnSpc>
                <a:spcPct val="200000"/>
              </a:lnSpc>
            </a:pPr>
            <a:r>
              <a:rPr lang="pt-PT" sz="1200" dirty="0">
                <a:solidFill>
                  <a:srgbClr val="FF0000"/>
                </a:solidFill>
                <a:latin typeface="Santander Text" panose="020B0504020201020104" pitchFamily="34" charset="0"/>
              </a:rPr>
              <a:t>07 </a:t>
            </a:r>
            <a:r>
              <a:rPr lang="pt-PT" sz="1200" dirty="0">
                <a:latin typeface="Santander Text" panose="020B0504020201020104" pitchFamily="34" charset="0"/>
              </a:rPr>
              <a:t>Dados, Fontes, Transformações e Consumo</a:t>
            </a:r>
          </a:p>
          <a:p>
            <a:pPr>
              <a:lnSpc>
                <a:spcPct val="200000"/>
              </a:lnSpc>
            </a:pPr>
            <a:r>
              <a:rPr lang="pt-PT" sz="1200" dirty="0">
                <a:solidFill>
                  <a:schemeClr val="accent1"/>
                </a:solidFill>
                <a:latin typeface="Santander Text" panose="020B0504020201020104" pitchFamily="34" charset="0"/>
              </a:rPr>
              <a:t>08 </a:t>
            </a:r>
            <a:r>
              <a:rPr lang="pt-PT" sz="1200" dirty="0">
                <a:latin typeface="Santander Text" panose="020B0504020201020104" pitchFamily="34" charset="0"/>
              </a:rPr>
              <a:t>Referência e Glossário</a:t>
            </a:r>
          </a:p>
        </p:txBody>
      </p:sp>
      <p:sp>
        <p:nvSpPr>
          <p:cNvPr id="7" name="Marcador de texto 5">
            <a:extLst>
              <a:ext uri="{FF2B5EF4-FFF2-40B4-BE49-F238E27FC236}">
                <a16:creationId xmlns:a16="http://schemas.microsoft.com/office/drawing/2014/main" id="{671F19D9-4E00-81BD-AB32-935A41478BC1}"/>
              </a:ext>
            </a:extLst>
          </p:cNvPr>
          <p:cNvSpPr txBox="1">
            <a:spLocks/>
          </p:cNvSpPr>
          <p:nvPr/>
        </p:nvSpPr>
        <p:spPr>
          <a:xfrm>
            <a:off x="6803923" y="415150"/>
            <a:ext cx="4914601" cy="304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300" kern="1200">
                <a:solidFill>
                  <a:schemeClr val="accent1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100" kern="1200">
                <a:solidFill>
                  <a:schemeClr val="tx1"/>
                </a:solidFill>
                <a:latin typeface="Santander Text" panose="020B0504020201020104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050" kern="1200">
                <a:solidFill>
                  <a:schemeClr val="tx1"/>
                </a:solidFill>
                <a:latin typeface="Santander Text" panose="020B0504020201020104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000" kern="1200">
                <a:solidFill>
                  <a:schemeClr val="tx1"/>
                </a:solidFill>
                <a:latin typeface="Santander Text" panose="020B0504020201020104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000" kern="1200">
                <a:solidFill>
                  <a:schemeClr val="tx1"/>
                </a:solidFill>
                <a:latin typeface="Santander Text" panose="020B05040202010201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2400"/>
              <a:t>Índice</a:t>
            </a:r>
          </a:p>
        </p:txBody>
      </p:sp>
    </p:spTree>
    <p:extLst>
      <p:ext uri="{BB962C8B-B14F-4D97-AF65-F5344CB8AC3E}">
        <p14:creationId xmlns:p14="http://schemas.microsoft.com/office/powerpoint/2010/main" val="4062780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3E78DA-069E-4823-8E49-CBFF8D792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518" y="626373"/>
            <a:ext cx="5877538" cy="2852737"/>
          </a:xfrm>
        </p:spPr>
        <p:txBody>
          <a:bodyPr/>
          <a:lstStyle/>
          <a:p>
            <a:r>
              <a:rPr lang="pt-PT" dirty="0"/>
              <a:t>Identificação da Iniciativa/Projeto e das Necessidade de Catalogação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6DCEE02-D34D-4F11-9432-3B5DE7C3D5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5431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DC87CF2-88A9-4952-9878-9894D4CB3E5F}"/>
              </a:ext>
            </a:extLst>
          </p:cNvPr>
          <p:cNvSpPr/>
          <p:nvPr/>
        </p:nvSpPr>
        <p:spPr>
          <a:xfrm>
            <a:off x="-1" y="719091"/>
            <a:ext cx="12192001" cy="5317725"/>
          </a:xfrm>
          <a:prstGeom prst="rect">
            <a:avLst/>
          </a:prstGeom>
          <a:solidFill>
            <a:schemeClr val="bg1">
              <a:lumMod val="95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indent="-171450" algn="ctr">
              <a:buFont typeface="Wingdings" panose="05000000000000000000" pitchFamily="2" charset="2"/>
              <a:buChar char="§"/>
            </a:pPr>
            <a:endParaRPr lang="pt-PT" sz="1000">
              <a:solidFill>
                <a:schemeClr val="tx1"/>
              </a:solidFill>
            </a:endParaRP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257978"/>
            <a:ext cx="2743200" cy="365125"/>
          </a:xfrm>
        </p:spPr>
        <p:txBody>
          <a:bodyPr/>
          <a:lstStyle/>
          <a:p>
            <a:fld id="{BC0D97B6-E32F-4D7D-B839-7C3B51F2640F}" type="slidenum">
              <a:rPr lang="pt-PT" smtClean="0"/>
              <a:pPr/>
              <a:t>5</a:t>
            </a:fld>
            <a:endParaRPr lang="pt-PT"/>
          </a:p>
        </p:txBody>
      </p:sp>
      <p:sp>
        <p:nvSpPr>
          <p:cNvPr id="7" name="Marcador de texto 5">
            <a:extLst>
              <a:ext uri="{FF2B5EF4-FFF2-40B4-BE49-F238E27FC236}">
                <a16:creationId xmlns:a16="http://schemas.microsoft.com/office/drawing/2014/main" id="{C5A6910C-A85B-4E78-920A-D86C8E059C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337100"/>
            <a:ext cx="3292805" cy="304800"/>
          </a:xfrm>
        </p:spPr>
        <p:txBody>
          <a:bodyPr/>
          <a:lstStyle/>
          <a:p>
            <a:r>
              <a:rPr lang="pt-PT" sz="2400"/>
              <a:t>Informação do projecto</a:t>
            </a:r>
          </a:p>
        </p:txBody>
      </p:sp>
      <p:sp>
        <p:nvSpPr>
          <p:cNvPr id="8" name="Marcador de texto 5">
            <a:extLst>
              <a:ext uri="{FF2B5EF4-FFF2-40B4-BE49-F238E27FC236}">
                <a16:creationId xmlns:a16="http://schemas.microsoft.com/office/drawing/2014/main" id="{4E5D693B-462C-4D34-9F93-21124A01063C}"/>
              </a:ext>
            </a:extLst>
          </p:cNvPr>
          <p:cNvSpPr txBox="1">
            <a:spLocks/>
          </p:cNvSpPr>
          <p:nvPr/>
        </p:nvSpPr>
        <p:spPr>
          <a:xfrm>
            <a:off x="7084442" y="337100"/>
            <a:ext cx="3292805" cy="304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300" kern="1200">
                <a:solidFill>
                  <a:schemeClr val="accent1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100" kern="1200">
                <a:solidFill>
                  <a:schemeClr val="tx1"/>
                </a:solidFill>
                <a:latin typeface="Santander Text" panose="020B0504020201020104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050" kern="1200">
                <a:solidFill>
                  <a:schemeClr val="tx1"/>
                </a:solidFill>
                <a:latin typeface="Santander Text" panose="020B0504020201020104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000" kern="1200">
                <a:solidFill>
                  <a:schemeClr val="tx1"/>
                </a:solidFill>
                <a:latin typeface="Santander Text" panose="020B0504020201020104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000" kern="1200">
                <a:solidFill>
                  <a:schemeClr val="tx1"/>
                </a:solidFill>
                <a:latin typeface="Santander Text" panose="020B05040202010201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2400"/>
              <a:t>Informação do Catálogo</a:t>
            </a:r>
          </a:p>
        </p:txBody>
      </p:sp>
      <p:graphicFrame>
        <p:nvGraphicFramePr>
          <p:cNvPr id="10" name="Table 3">
            <a:extLst>
              <a:ext uri="{FF2B5EF4-FFF2-40B4-BE49-F238E27FC236}">
                <a16:creationId xmlns:a16="http://schemas.microsoft.com/office/drawing/2014/main" id="{7663387E-9092-401F-9605-672CD80692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2488503"/>
              </p:ext>
            </p:extLst>
          </p:nvPr>
        </p:nvGraphicFramePr>
        <p:xfrm>
          <a:off x="6490761" y="1670158"/>
          <a:ext cx="5361662" cy="23317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76718">
                  <a:extLst>
                    <a:ext uri="{9D8B030D-6E8A-4147-A177-3AD203B41FA5}">
                      <a16:colId xmlns:a16="http://schemas.microsoft.com/office/drawing/2014/main" val="227919820"/>
                    </a:ext>
                  </a:extLst>
                </a:gridCol>
                <a:gridCol w="3684944">
                  <a:extLst>
                    <a:ext uri="{9D8B030D-6E8A-4147-A177-3AD203B41FA5}">
                      <a16:colId xmlns:a16="http://schemas.microsoft.com/office/drawing/2014/main" val="318222492"/>
                    </a:ext>
                  </a:extLst>
                </a:gridCol>
              </a:tblGrid>
              <a:tr h="201415">
                <a:tc>
                  <a:txBody>
                    <a:bodyPr/>
                    <a:lstStyle/>
                    <a:p>
                      <a:r>
                        <a:rPr lang="pt-PT" sz="1100">
                          <a:latin typeface="Santander Text" panose="020B0504020201020104" pitchFamily="34" charset="0"/>
                        </a:rPr>
                        <a:t>Campo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PT" sz="1100">
                          <a:latin typeface="Santander Text" panose="020B0504020201020104" pitchFamily="34" charset="0"/>
                        </a:rPr>
                        <a:t>Código | Descrição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4656011"/>
                  </a:ext>
                </a:extLst>
              </a:tr>
              <a:tr h="201415">
                <a:tc>
                  <a:txBody>
                    <a:bodyPr/>
                    <a:lstStyle/>
                    <a:p>
                      <a:r>
                        <a:rPr lang="pt-PT" sz="1100" b="0" i="1" err="1">
                          <a:latin typeface="Santander Text" panose="020B0504020201020104" pitchFamily="34" charset="0"/>
                        </a:rPr>
                        <a:t>Domain</a:t>
                      </a:r>
                      <a:endParaRPr lang="pt-PT" sz="1100" b="0" i="1">
                        <a:latin typeface="Santander Text" panose="020B05040202010201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PT" sz="1100">
                          <a:latin typeface="Santander Text" panose="020B0504020201020104" pitchFamily="34" charset="0"/>
                        </a:rPr>
                        <a:t>#Nome do Domínio APM# (ex.: Canais e Portais)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6301094"/>
                  </a:ext>
                </a:extLst>
              </a:tr>
              <a:tr h="201415">
                <a:tc>
                  <a:txBody>
                    <a:bodyPr/>
                    <a:lstStyle/>
                    <a:p>
                      <a:r>
                        <a:rPr lang="pt-PT" sz="1100" b="0" i="1" err="1">
                          <a:latin typeface="Santander Text" panose="020B0504020201020104" pitchFamily="34" charset="0"/>
                        </a:rPr>
                        <a:t>Functional</a:t>
                      </a:r>
                      <a:r>
                        <a:rPr lang="pt-PT" sz="1100" b="0" i="1">
                          <a:latin typeface="Santander Text" panose="020B0504020201020104" pitchFamily="34" charset="0"/>
                        </a:rPr>
                        <a:t> </a:t>
                      </a:r>
                      <a:r>
                        <a:rPr lang="pt-PT" sz="1100" b="0" i="1" err="1">
                          <a:latin typeface="Santander Text" panose="020B0504020201020104" pitchFamily="34" charset="0"/>
                        </a:rPr>
                        <a:t>Area</a:t>
                      </a:r>
                      <a:endParaRPr lang="pt-PT" sz="1100" b="0" i="1">
                        <a:latin typeface="Santander Text" panose="020B05040202010201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PT" sz="1100">
                          <a:latin typeface="Santander Text" panose="020B0504020201020104" pitchFamily="34" charset="0"/>
                        </a:rPr>
                        <a:t>#Nome da Área Funcional" (ex.: Canal </a:t>
                      </a:r>
                      <a:r>
                        <a:rPr lang="pt-PT" sz="1100" err="1">
                          <a:latin typeface="Santander Text" panose="020B0504020201020104" pitchFamily="34" charset="0"/>
                        </a:rPr>
                        <a:t>Contact_Center</a:t>
                      </a:r>
                      <a:r>
                        <a:rPr lang="pt-PT" sz="1100">
                          <a:latin typeface="Santander Text" panose="020B0504020201020104" pitchFamily="34" charset="0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8841437"/>
                  </a:ext>
                </a:extLst>
              </a:tr>
              <a:tr h="20141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100" b="0" i="1">
                          <a:latin typeface="Santander Text" panose="020B0504020201020104" pitchFamily="34" charset="0"/>
                        </a:rPr>
                        <a:t>Functional Subarea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100">
                          <a:latin typeface="Santander Text" panose="020B0504020201020104" pitchFamily="34" charset="0"/>
                        </a:rPr>
                        <a:t>#Nome da Área Funcional" (ex.: Contact Center Varejo)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0957349"/>
                  </a:ext>
                </a:extLst>
              </a:tr>
              <a:tr h="201415">
                <a:tc>
                  <a:txBody>
                    <a:bodyPr/>
                    <a:lstStyle/>
                    <a:p>
                      <a:r>
                        <a:rPr lang="pt-PT" sz="1100" b="0" i="1" err="1">
                          <a:latin typeface="Santander Text" panose="020B0504020201020104" pitchFamily="34" charset="0"/>
                        </a:rPr>
                        <a:t>Functional</a:t>
                      </a:r>
                      <a:r>
                        <a:rPr lang="pt-PT" sz="1100" b="0" i="1">
                          <a:latin typeface="Santander Text" panose="020B0504020201020104" pitchFamily="34" charset="0"/>
                        </a:rPr>
                        <a:t> Application 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PT" sz="1100">
                          <a:latin typeface="Santander Text" panose="020B0504020201020104" pitchFamily="34" charset="0"/>
                        </a:rPr>
                        <a:t>#Código da Aplicação Funcional# (ex.: APMF0001013971)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9698515"/>
                  </a:ext>
                </a:extLst>
              </a:tr>
              <a:tr h="201415">
                <a:tc>
                  <a:txBody>
                    <a:bodyPr/>
                    <a:lstStyle/>
                    <a:p>
                      <a:r>
                        <a:rPr lang="pt-PT" sz="1100" b="0" i="1" kern="1200">
                          <a:solidFill>
                            <a:schemeClr val="dk1"/>
                          </a:solidFill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Contact </a:t>
                      </a:r>
                      <a:r>
                        <a:rPr lang="pt-PT" sz="1100" b="0" i="1" kern="1200" err="1">
                          <a:solidFill>
                            <a:schemeClr val="dk1"/>
                          </a:solidFill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person</a:t>
                      </a:r>
                      <a:r>
                        <a:rPr lang="pt-PT" sz="1100" b="0" i="1" kern="1200">
                          <a:solidFill>
                            <a:schemeClr val="dk1"/>
                          </a:solidFill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 (Negócio)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PT" sz="1100" kern="1200">
                          <a:solidFill>
                            <a:schemeClr val="dk1"/>
                          </a:solidFill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#Nome do Contacto Responsável Negócio#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6355403"/>
                  </a:ext>
                </a:extLst>
              </a:tr>
              <a:tr h="20141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100" b="0" i="1" kern="1200">
                          <a:solidFill>
                            <a:schemeClr val="dk1"/>
                          </a:solidFill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Contact </a:t>
                      </a:r>
                      <a:r>
                        <a:rPr lang="pt-PT" sz="1100" b="0" i="1" kern="1200" err="1">
                          <a:solidFill>
                            <a:schemeClr val="dk1"/>
                          </a:solidFill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person</a:t>
                      </a:r>
                      <a:r>
                        <a:rPr lang="pt-PT" sz="1100" b="0" i="1" kern="1200">
                          <a:solidFill>
                            <a:schemeClr val="dk1"/>
                          </a:solidFill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 (IT)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100" kern="1200">
                          <a:solidFill>
                            <a:schemeClr val="dk1"/>
                          </a:solidFill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#Nome do Contacto Responsável IT#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5526269"/>
                  </a:ext>
                </a:extLst>
              </a:tr>
              <a:tr h="20141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100" b="0" i="1" kern="1200">
                          <a:solidFill>
                            <a:schemeClr val="dk1"/>
                          </a:solidFill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Technical Application 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PT" sz="1100">
                          <a:latin typeface="Santander Text" panose="020B0504020201020104" pitchFamily="34" charset="0"/>
                        </a:rPr>
                        <a:t>#Código da Aplicação Funcional# (ex.: APMT0100048481)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8685003"/>
                  </a:ext>
                </a:extLst>
              </a:tr>
              <a:tr h="20141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100" b="0" i="1">
                          <a:latin typeface="Santander Text" panose="020B0504020201020104" pitchFamily="34" charset="0"/>
                        </a:rPr>
                        <a:t>Acronym *</a:t>
                      </a:r>
                      <a:endParaRPr lang="pt-PT" sz="1100" b="0" i="1" kern="1200">
                        <a:solidFill>
                          <a:schemeClr val="dk1"/>
                        </a:solidFill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PT" sz="1100" kern="1200">
                          <a:solidFill>
                            <a:schemeClr val="dk1"/>
                          </a:solidFill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#Código do Acrónimo da aplicação Técnica# (ex.: CCCENT)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8059858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E864049C-9A14-4084-90B4-A5FD13118130}"/>
              </a:ext>
            </a:extLst>
          </p:cNvPr>
          <p:cNvSpPr txBox="1"/>
          <p:nvPr/>
        </p:nvSpPr>
        <p:spPr>
          <a:xfrm>
            <a:off x="168676" y="872281"/>
            <a:ext cx="3193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dirty="0">
                <a:latin typeface="Santander Text" panose="020B0504020201020104" pitchFamily="34" charset="0"/>
              </a:rPr>
              <a:t>Referência do Iniciativa/Projeto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EB100EA-6846-4DBD-B8F7-A7FB8CA5080D}"/>
              </a:ext>
            </a:extLst>
          </p:cNvPr>
          <p:cNvSpPr/>
          <p:nvPr/>
        </p:nvSpPr>
        <p:spPr>
          <a:xfrm>
            <a:off x="207148" y="1197223"/>
            <a:ext cx="5944038" cy="1046311"/>
          </a:xfrm>
          <a:prstGeom prst="roundRect">
            <a:avLst>
              <a:gd name="adj" fmla="val 6445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10000"/>
              </a:lnSpc>
              <a:buClr>
                <a:schemeClr val="accent1"/>
              </a:buClr>
            </a:pPr>
            <a:r>
              <a:rPr lang="pt-PT" sz="1100" b="1" dirty="0">
                <a:solidFill>
                  <a:schemeClr val="tx1"/>
                </a:solidFill>
                <a:latin typeface="Santander Text" panose="020B0504020201020104" pitchFamily="34" charset="0"/>
              </a:rPr>
              <a:t>Código Iniciativa/Projeto</a:t>
            </a:r>
            <a:r>
              <a:rPr lang="pt-PT" sz="1100" dirty="0">
                <a:solidFill>
                  <a:schemeClr val="tx1"/>
                </a:solidFill>
                <a:latin typeface="Santander Text" panose="020B0504020201020104" pitchFamily="34" charset="0"/>
              </a:rPr>
              <a:t>: #Código Iniciativa/Projeto#</a:t>
            </a:r>
          </a:p>
          <a:p>
            <a:pPr>
              <a:lnSpc>
                <a:spcPct val="110000"/>
              </a:lnSpc>
              <a:buClr>
                <a:schemeClr val="accent1"/>
              </a:buClr>
            </a:pPr>
            <a:r>
              <a:rPr lang="pt-PT" sz="1100" b="1" dirty="0">
                <a:solidFill>
                  <a:schemeClr val="tx1"/>
                </a:solidFill>
                <a:latin typeface="Santander Text" panose="020B0504020201020104" pitchFamily="34" charset="0"/>
              </a:rPr>
              <a:t>Designação</a:t>
            </a:r>
            <a:r>
              <a:rPr lang="pt-PT" sz="1100" dirty="0">
                <a:solidFill>
                  <a:schemeClr val="tx1"/>
                </a:solidFill>
                <a:latin typeface="Santander Text" panose="020B0504020201020104" pitchFamily="34" charset="0"/>
              </a:rPr>
              <a:t>: #Descrição Iniciativa/Projeto#</a:t>
            </a:r>
          </a:p>
          <a:p>
            <a:pPr>
              <a:lnSpc>
                <a:spcPct val="110000"/>
              </a:lnSpc>
              <a:buClr>
                <a:schemeClr val="accent1"/>
              </a:buClr>
            </a:pPr>
            <a:endParaRPr lang="pt-PT" sz="1100" dirty="0">
              <a:solidFill>
                <a:schemeClr val="tx1"/>
              </a:solidFill>
              <a:latin typeface="Santander Text" panose="020B0504020201020104" pitchFamily="34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0D5EF70-FBE2-46D6-BFB5-20AD84466183}"/>
              </a:ext>
            </a:extLst>
          </p:cNvPr>
          <p:cNvSpPr txBox="1"/>
          <p:nvPr/>
        </p:nvSpPr>
        <p:spPr>
          <a:xfrm>
            <a:off x="168676" y="4058824"/>
            <a:ext cx="16642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>
                <a:latin typeface="Santander Text" panose="020B0504020201020104" pitchFamily="34" charset="0"/>
              </a:rPr>
              <a:t>Quem é quem?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5E55AAE-1D55-4827-9CC8-FBC2B2FA9B2F}"/>
              </a:ext>
            </a:extLst>
          </p:cNvPr>
          <p:cNvSpPr txBox="1"/>
          <p:nvPr/>
        </p:nvSpPr>
        <p:spPr>
          <a:xfrm>
            <a:off x="168676" y="2385459"/>
            <a:ext cx="1478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>
                <a:latin typeface="Santander Text" panose="020B0504020201020104" pitchFamily="34" charset="0"/>
              </a:rPr>
              <a:t>Simplificação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6EB12809-9F89-4EC6-B545-850A94B00714}"/>
              </a:ext>
            </a:extLst>
          </p:cNvPr>
          <p:cNvSpPr/>
          <p:nvPr/>
        </p:nvSpPr>
        <p:spPr>
          <a:xfrm>
            <a:off x="207149" y="2718956"/>
            <a:ext cx="5944038" cy="1107267"/>
          </a:xfrm>
          <a:prstGeom prst="roundRect">
            <a:avLst>
              <a:gd name="adj" fmla="val 6445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10000"/>
              </a:lnSpc>
              <a:buClr>
                <a:schemeClr val="accent1"/>
              </a:buClr>
            </a:pPr>
            <a:r>
              <a:rPr lang="pt-PT" sz="1100" dirty="0">
                <a:solidFill>
                  <a:schemeClr val="tx1"/>
                </a:solidFill>
                <a:latin typeface="Santander Text" panose="020B0504020201020104" pitchFamily="34" charset="0"/>
              </a:rPr>
              <a:t>#Identificar que aplicação funcional e ou técnica pode ser descontinuada por desenvolvimento desta nova iniciativa/Projeto#</a:t>
            </a:r>
          </a:p>
        </p:txBody>
      </p:sp>
      <p:sp>
        <p:nvSpPr>
          <p:cNvPr id="46" name="Rectangle: Top Corners Rounded 45">
            <a:extLst>
              <a:ext uri="{FF2B5EF4-FFF2-40B4-BE49-F238E27FC236}">
                <a16:creationId xmlns:a16="http://schemas.microsoft.com/office/drawing/2014/main" id="{D37E5996-C0BA-4846-AC3D-11A34AAC068E}"/>
              </a:ext>
            </a:extLst>
          </p:cNvPr>
          <p:cNvSpPr/>
          <p:nvPr/>
        </p:nvSpPr>
        <p:spPr>
          <a:xfrm>
            <a:off x="6490761" y="1197223"/>
            <a:ext cx="5361662" cy="452010"/>
          </a:xfrm>
          <a:prstGeom prst="round2SameRect">
            <a:avLst/>
          </a:prstGeom>
          <a:solidFill>
            <a:schemeClr val="tx1">
              <a:lumMod val="65000"/>
              <a:lumOff val="3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600">
              <a:latin typeface="Santander Text" panose="020B0504020201020104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4A74FC3-E172-4B87-97EF-D9CF1B5EA63C}"/>
              </a:ext>
            </a:extLst>
          </p:cNvPr>
          <p:cNvGrpSpPr/>
          <p:nvPr/>
        </p:nvGrpSpPr>
        <p:grpSpPr>
          <a:xfrm>
            <a:off x="7228411" y="1122816"/>
            <a:ext cx="3793118" cy="600824"/>
            <a:chOff x="6698634" y="762627"/>
            <a:chExt cx="3793118" cy="600824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7E22D1B9-C868-4960-860A-CCB5CA8A96A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98634" y="762627"/>
              <a:ext cx="1695596" cy="60082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4EFCC116-831F-4B1B-BF26-F9A4ED0F4D04}"/>
                </a:ext>
              </a:extLst>
            </p:cNvPr>
            <p:cNvSpPr txBox="1"/>
            <p:nvPr/>
          </p:nvSpPr>
          <p:spPr>
            <a:xfrm>
              <a:off x="8403518" y="847596"/>
              <a:ext cx="2088234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100" b="1" err="1">
                  <a:solidFill>
                    <a:schemeClr val="bg1"/>
                  </a:solidFill>
                  <a:latin typeface="Santander Text" panose="020B0504020201020104" pitchFamily="34" charset="0"/>
                </a:rPr>
                <a:t>Application</a:t>
              </a:r>
              <a:r>
                <a:rPr lang="pt-PT" sz="1100" b="1">
                  <a:solidFill>
                    <a:schemeClr val="bg1"/>
                  </a:solidFill>
                  <a:latin typeface="Santander Text" panose="020B0504020201020104" pitchFamily="34" charset="0"/>
                </a:rPr>
                <a:t> Portfolio</a:t>
              </a:r>
              <a:br>
                <a:rPr lang="pt-PT" sz="1100" b="1">
                  <a:solidFill>
                    <a:schemeClr val="bg1"/>
                  </a:solidFill>
                  <a:latin typeface="Santander Text" panose="020B0504020201020104" pitchFamily="34" charset="0"/>
                </a:rPr>
              </a:br>
              <a:r>
                <a:rPr lang="pt-PT" sz="1100" b="1">
                  <a:solidFill>
                    <a:schemeClr val="bg1"/>
                  </a:solidFill>
                  <a:latin typeface="Santander Text" panose="020B0504020201020104" pitchFamily="34" charset="0"/>
                </a:rPr>
                <a:t>Management</a:t>
              </a:r>
            </a:p>
          </p:txBody>
        </p:sp>
      </p:grp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5B05103-40A2-6FCE-80E6-964E77E317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2968829"/>
              </p:ext>
            </p:extLst>
          </p:nvPr>
        </p:nvGraphicFramePr>
        <p:xfrm>
          <a:off x="230483" y="4475323"/>
          <a:ext cx="5920704" cy="805619"/>
        </p:xfrm>
        <a:graphic>
          <a:graphicData uri="http://schemas.openxmlformats.org/drawingml/2006/table">
            <a:tbl>
              <a:tblPr bandRow="1">
                <a:tableStyleId>{073A0DAA-6AF3-43AB-8588-CEC1D06C72B9}</a:tableStyleId>
              </a:tblPr>
              <a:tblGrid>
                <a:gridCol w="1842157">
                  <a:extLst>
                    <a:ext uri="{9D8B030D-6E8A-4147-A177-3AD203B41FA5}">
                      <a16:colId xmlns:a16="http://schemas.microsoft.com/office/drawing/2014/main" val="2373311025"/>
                    </a:ext>
                  </a:extLst>
                </a:gridCol>
                <a:gridCol w="4078547">
                  <a:extLst>
                    <a:ext uri="{9D8B030D-6E8A-4147-A177-3AD203B41FA5}">
                      <a16:colId xmlns:a16="http://schemas.microsoft.com/office/drawing/2014/main" val="537697615"/>
                    </a:ext>
                  </a:extLst>
                </a:gridCol>
              </a:tblGrid>
              <a:tr h="23308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100" b="0" kern="1200">
                          <a:solidFill>
                            <a:schemeClr val="dk1"/>
                          </a:solidFill>
                          <a:latin typeface="Santander Text" panose="020B0504020201020104" pitchFamily="34" charset="0"/>
                        </a:rPr>
                        <a:t>Solicitante</a:t>
                      </a:r>
                      <a:endParaRPr lang="pt-PT" sz="1100" b="0" i="1" kern="1200">
                        <a:solidFill>
                          <a:schemeClr val="dk1"/>
                        </a:solidFill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100" b="0" kern="1200">
                          <a:solidFill>
                            <a:schemeClr val="dk1"/>
                          </a:solidFill>
                          <a:latin typeface="Santander Text" panose="020B0504020201020104" pitchFamily="34" charset="0"/>
                        </a:rPr>
                        <a:t>#User# | #Nome#</a:t>
                      </a:r>
                      <a:endParaRPr lang="pt-PT" sz="1100" b="0" i="1" kern="1200">
                        <a:solidFill>
                          <a:schemeClr val="dk1"/>
                        </a:solidFill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4218015"/>
                  </a:ext>
                </a:extLst>
              </a:tr>
              <a:tr h="23308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100" b="0" kern="1200">
                          <a:solidFill>
                            <a:schemeClr val="dk1"/>
                          </a:solidFill>
                          <a:latin typeface="Santander Text" panose="020B0504020201020104" pitchFamily="34" charset="0"/>
                        </a:rPr>
                        <a:t>Product Owner</a:t>
                      </a:r>
                      <a:endParaRPr lang="pt-PT" sz="1100" b="0" i="1" kern="1200">
                        <a:solidFill>
                          <a:schemeClr val="dk1"/>
                        </a:solidFill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100" b="0" kern="1200">
                          <a:solidFill>
                            <a:schemeClr val="dk1"/>
                          </a:solidFill>
                          <a:latin typeface="Santander Text" panose="020B0504020201020104" pitchFamily="34" charset="0"/>
                        </a:rPr>
                        <a:t>#User# | #Nome#</a:t>
                      </a:r>
                      <a:endParaRPr lang="pt-PT" sz="1100" b="0" i="1" kern="1200">
                        <a:solidFill>
                          <a:schemeClr val="dk1"/>
                        </a:solidFill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0344193"/>
                  </a:ext>
                </a:extLst>
              </a:tr>
              <a:tr h="28745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100" b="0" kern="1200" dirty="0">
                          <a:solidFill>
                            <a:schemeClr val="dk1"/>
                          </a:solidFill>
                          <a:latin typeface="Santander Text" panose="020B0504020201020104" pitchFamily="34" charset="0"/>
                        </a:rPr>
                        <a:t>Gestor Projeto</a:t>
                      </a:r>
                      <a:endParaRPr lang="pt-PT" sz="1100" b="0" i="1" kern="1200" dirty="0">
                        <a:solidFill>
                          <a:schemeClr val="dk1"/>
                        </a:solidFill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100" b="0" kern="1200" dirty="0">
                          <a:solidFill>
                            <a:schemeClr val="dk1"/>
                          </a:solidFill>
                          <a:latin typeface="Santander Text" panose="020B0504020201020104" pitchFamily="34" charset="0"/>
                        </a:rPr>
                        <a:t>#User# | #Nome#</a:t>
                      </a:r>
                      <a:endParaRPr lang="pt-PT" sz="1100" b="0" i="1" kern="1200" dirty="0">
                        <a:solidFill>
                          <a:schemeClr val="dk1"/>
                        </a:solidFill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3938849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DEF357D3-A953-371C-A102-9BD96B913173}"/>
              </a:ext>
            </a:extLst>
          </p:cNvPr>
          <p:cNvSpPr/>
          <p:nvPr/>
        </p:nvSpPr>
        <p:spPr>
          <a:xfrm>
            <a:off x="6490761" y="4032803"/>
            <a:ext cx="2553149" cy="1854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PT" sz="900">
                <a:solidFill>
                  <a:schemeClr val="tx1"/>
                </a:solidFill>
              </a:rPr>
              <a:t>*</a:t>
            </a:r>
            <a:r>
              <a:rPr lang="pt-PT" sz="900" i="1">
                <a:solidFill>
                  <a:schemeClr val="tx1"/>
                </a:solidFill>
              </a:rPr>
              <a:t>Caso já exista catalogação</a:t>
            </a:r>
            <a:endParaRPr lang="pt-PT" sz="90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D7CD2C4-7DA2-5B56-B2F4-983E685D7229}"/>
              </a:ext>
            </a:extLst>
          </p:cNvPr>
          <p:cNvSpPr/>
          <p:nvPr/>
        </p:nvSpPr>
        <p:spPr>
          <a:xfrm>
            <a:off x="99515" y="3819900"/>
            <a:ext cx="2553149" cy="1854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PT" sz="900">
                <a:solidFill>
                  <a:schemeClr val="tx1"/>
                </a:solidFill>
              </a:rPr>
              <a:t>*</a:t>
            </a:r>
            <a:r>
              <a:rPr lang="pt-PT" sz="900" i="1">
                <a:solidFill>
                  <a:schemeClr val="tx1"/>
                </a:solidFill>
              </a:rPr>
              <a:t>Caso aplique</a:t>
            </a:r>
            <a:endParaRPr lang="pt-PT" sz="9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6081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3E78DA-069E-4823-8E49-CBFF8D792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Enquadramento da Iniciativa/Projeto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6DCEE02-D34D-4F11-9432-3B5DE7C3D5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/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181265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texto 5">
            <a:extLst>
              <a:ext uri="{FF2B5EF4-FFF2-40B4-BE49-F238E27FC236}">
                <a16:creationId xmlns:a16="http://schemas.microsoft.com/office/drawing/2014/main" id="{C5A6910C-A85B-4E78-920A-D86C8E059C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337100"/>
            <a:ext cx="5168952" cy="30480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t-PT" sz="2400" dirty="0">
                <a:latin typeface="Santander Text"/>
              </a:rPr>
              <a:t>Enquadramento da Iniciativa/Projeto</a:t>
            </a: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551383" y="836100"/>
            <a:ext cx="10922661" cy="514707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lgDash"/>
          </a:ln>
        </p:spPr>
        <p:txBody>
          <a:bodyPr lIns="91440" tIns="45720" rIns="91440" bIns="45720" anchor="t"/>
          <a:lstStyle>
            <a:lvl1pPr marL="342900" indent="-342900" defTabSz="6985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w"/>
              <a:defRPr sz="2400" b="1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179388" defTabSz="6985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600">
                <a:solidFill>
                  <a:srgbClr val="808080"/>
                </a:solidFill>
                <a:latin typeface="Arial" panose="020B0604020202020204" pitchFamily="34" charset="0"/>
              </a:defRPr>
            </a:lvl2pPr>
            <a:lvl3pPr marL="979488" indent="-3429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marL="179070" lvl="1" algn="just">
              <a:lnSpc>
                <a:spcPct val="150000"/>
              </a:lnSpc>
              <a:spcBef>
                <a:spcPts val="400"/>
              </a:spcBef>
              <a:buClr>
                <a:srgbClr val="FF0000"/>
              </a:buClr>
              <a:buNone/>
            </a:pPr>
            <a:r>
              <a:rPr lang="pt-PT" sz="1200" dirty="0">
                <a:solidFill>
                  <a:schemeClr val="bg1">
                    <a:lumMod val="50000"/>
                  </a:schemeClr>
                </a:solidFill>
                <a:latin typeface="Santander Text" panose="020B0504020201020104" pitchFamily="34" charset="0"/>
              </a:rPr>
              <a:t>#Descrever o enquadramento funcional da iniciativa/projeto#</a:t>
            </a:r>
            <a:endParaRPr lang="en-US" dirty="0"/>
          </a:p>
          <a:p>
            <a:pPr marL="179070" lvl="1" algn="just">
              <a:lnSpc>
                <a:spcPct val="150000"/>
              </a:lnSpc>
              <a:spcBef>
                <a:spcPts val="400"/>
              </a:spcBef>
              <a:buClr>
                <a:srgbClr val="FF0000"/>
              </a:buClr>
              <a:buNone/>
            </a:pPr>
            <a:r>
              <a:rPr lang="pt-PT" sz="1200" dirty="0">
                <a:solidFill>
                  <a:schemeClr val="tx1"/>
                </a:solidFill>
                <a:latin typeface="Santander Text"/>
              </a:rPr>
              <a:t>O objetivo deste slide é detalhar o enquadramento funcional da Iniciativa/projeto.</a:t>
            </a:r>
          </a:p>
          <a:p>
            <a:pPr marL="179070" lvl="1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pt-PT" sz="1200" dirty="0">
                <a:solidFill>
                  <a:schemeClr val="tx1"/>
                </a:solidFill>
                <a:latin typeface="Santander Text"/>
              </a:rPr>
              <a:t>Descrever qual o motivo que origina esta iniciativa/projeto, assim como, apresentar/especificar qual o propósito a que se destina a iniciativa/projeto.</a:t>
            </a:r>
            <a:endParaRPr lang="pt-PT" dirty="0">
              <a:solidFill>
                <a:schemeClr val="tx1"/>
              </a:solidFill>
            </a:endParaRPr>
          </a:p>
          <a:p>
            <a:pPr marL="179070" lvl="1" algn="just">
              <a:lnSpc>
                <a:spcPct val="150000"/>
              </a:lnSpc>
              <a:spcBef>
                <a:spcPts val="400"/>
              </a:spcBef>
              <a:buClr>
                <a:srgbClr val="FF0000"/>
              </a:buClr>
              <a:buNone/>
            </a:pPr>
            <a:endParaRPr lang="pt-PT" sz="1200" dirty="0">
              <a:solidFill>
                <a:schemeClr val="tx1"/>
              </a:solidFill>
              <a:latin typeface="Santander Text" panose="020B0504020201020104" pitchFamily="34" charset="0"/>
            </a:endParaRPr>
          </a:p>
          <a:p>
            <a:pPr marL="179070" lvl="1" algn="just">
              <a:lnSpc>
                <a:spcPct val="150000"/>
              </a:lnSpc>
              <a:spcBef>
                <a:spcPts val="400"/>
              </a:spcBef>
              <a:buClr>
                <a:srgbClr val="FF0000"/>
              </a:buClr>
              <a:buNone/>
            </a:pPr>
            <a:endParaRPr lang="pt-PT" sz="1200" dirty="0">
              <a:solidFill>
                <a:schemeClr val="tx1"/>
              </a:solidFill>
              <a:latin typeface="Santander Text" panose="020B0504020201020104" pitchFamily="34" charset="0"/>
            </a:endParaRPr>
          </a:p>
          <a:p>
            <a:pPr marL="179070" lvl="1" algn="just">
              <a:lnSpc>
                <a:spcPct val="150000"/>
              </a:lnSpc>
              <a:spcBef>
                <a:spcPts val="400"/>
              </a:spcBef>
              <a:buClr>
                <a:srgbClr val="FF0000"/>
              </a:buClr>
              <a:buNone/>
            </a:pPr>
            <a:r>
              <a:rPr lang="pt-PT" sz="1200" dirty="0">
                <a:solidFill>
                  <a:schemeClr val="bg1">
                    <a:lumMod val="50000"/>
                  </a:schemeClr>
                </a:solidFill>
                <a:latin typeface="Santander Text" panose="020B0504020201020104" pitchFamily="34" charset="0"/>
              </a:rPr>
              <a:t>Exemplo do que colocar como texto de enquadramento da iniciativa/projeto:</a:t>
            </a:r>
          </a:p>
          <a:p>
            <a:pPr marL="179070" lvl="1" algn="just">
              <a:lnSpc>
                <a:spcPct val="150000"/>
              </a:lnSpc>
              <a:spcBef>
                <a:spcPts val="400"/>
              </a:spcBef>
              <a:buClr>
                <a:srgbClr val="FF0000"/>
              </a:buClr>
              <a:buNone/>
            </a:pPr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A atual plataforma de </a:t>
            </a:r>
            <a:r>
              <a:rPr lang="pt-PT" sz="1200" dirty="0" err="1">
                <a:solidFill>
                  <a:schemeClr val="tx1"/>
                </a:solidFill>
                <a:latin typeface="Santander Text" panose="020B0504020201020104" pitchFamily="34" charset="0"/>
              </a:rPr>
              <a:t>contact</a:t>
            </a:r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 </a:t>
            </a:r>
            <a:r>
              <a:rPr lang="pt-PT" sz="1200" dirty="0" err="1">
                <a:solidFill>
                  <a:schemeClr val="tx1"/>
                </a:solidFill>
                <a:latin typeface="Santander Text" panose="020B0504020201020104" pitchFamily="34" charset="0"/>
              </a:rPr>
              <a:t>center</a:t>
            </a:r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 Altitude é uma plataforma de contacto para a operativa de </a:t>
            </a:r>
            <a:r>
              <a:rPr lang="pt-PT" sz="1200" dirty="0" err="1">
                <a:solidFill>
                  <a:schemeClr val="tx1"/>
                </a:solidFill>
                <a:latin typeface="Santander Text" panose="020B0504020201020104" pitchFamily="34" charset="0"/>
              </a:rPr>
              <a:t>Telecobranças</a:t>
            </a:r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 que atualmente apresenta dificuldades de integração com outros sistemas externos à plataforma e que adicionalmente assenta em tecnologia em obsolescência e com dificuldade de suporte.</a:t>
            </a:r>
          </a:p>
          <a:p>
            <a:pPr marL="179070" lvl="1" algn="just">
              <a:lnSpc>
                <a:spcPct val="150000"/>
              </a:lnSpc>
              <a:spcBef>
                <a:spcPts val="400"/>
              </a:spcBef>
              <a:buClr>
                <a:srgbClr val="FF0000"/>
              </a:buClr>
              <a:buNone/>
            </a:pPr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A componente de telefonia que suporta a plataforma de contacto não garante a disponibilidade necessária para o volume de atendimento </a:t>
            </a:r>
            <a:r>
              <a:rPr lang="pt-PT" sz="1200" dirty="0" err="1">
                <a:solidFill>
                  <a:schemeClr val="tx1"/>
                </a:solidFill>
                <a:latin typeface="Santander Text" panose="020B0504020201020104" pitchFamily="34" charset="0"/>
              </a:rPr>
              <a:t>inbound</a:t>
            </a:r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 e </a:t>
            </a:r>
            <a:r>
              <a:rPr lang="pt-PT" sz="1200" dirty="0" err="1">
                <a:solidFill>
                  <a:schemeClr val="tx1"/>
                </a:solidFill>
                <a:latin typeface="Santander Text" panose="020B0504020201020104" pitchFamily="34" charset="0"/>
              </a:rPr>
              <a:t>outbound</a:t>
            </a:r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 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D97B6-E32F-4D7D-B839-7C3B51F2640F}" type="slidenum">
              <a:rPr lang="pt-PT" smtClean="0"/>
              <a:pPr/>
              <a:t>7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4199957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839C3-54FD-6B37-979D-696E52E55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18019B-E3AF-5D78-B277-8D92B6DBA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Situação Atual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0549B84-B441-142C-3D1E-8B0258AB26C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/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11209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texto 5">
            <a:extLst>
              <a:ext uri="{FF2B5EF4-FFF2-40B4-BE49-F238E27FC236}">
                <a16:creationId xmlns:a16="http://schemas.microsoft.com/office/drawing/2014/main" id="{C5A6910C-A85B-4E78-920A-D86C8E059C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337100"/>
            <a:ext cx="5168952" cy="304800"/>
          </a:xfrm>
        </p:spPr>
        <p:txBody>
          <a:bodyPr/>
          <a:lstStyle/>
          <a:p>
            <a:r>
              <a:rPr lang="pt-PT" sz="2400"/>
              <a:t>Situação Atual</a:t>
            </a: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551383" y="836100"/>
            <a:ext cx="10922661" cy="514707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lgDash"/>
          </a:ln>
        </p:spPr>
        <p:txBody>
          <a:bodyPr lIns="91440" tIns="45720" rIns="91440" bIns="45720" anchor="t"/>
          <a:lstStyle>
            <a:lvl1pPr marL="342900" indent="-342900" defTabSz="6985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w"/>
              <a:defRPr sz="2400" b="1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179388" defTabSz="6985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600">
                <a:solidFill>
                  <a:srgbClr val="808080"/>
                </a:solidFill>
                <a:latin typeface="Arial" panose="020B0604020202020204" pitchFamily="34" charset="0"/>
              </a:defRPr>
            </a:lvl2pPr>
            <a:lvl3pPr marL="979488" indent="-3429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marL="179070" lvl="1" algn="just">
              <a:lnSpc>
                <a:spcPct val="150000"/>
              </a:lnSpc>
              <a:spcBef>
                <a:spcPts val="400"/>
              </a:spcBef>
              <a:buClr>
                <a:srgbClr val="FF0000"/>
              </a:buClr>
              <a:buNone/>
            </a:pPr>
            <a:r>
              <a:rPr lang="pt-PT" sz="1200" dirty="0">
                <a:solidFill>
                  <a:schemeClr val="bg1">
                    <a:lumMod val="50000"/>
                  </a:schemeClr>
                </a:solidFill>
                <a:latin typeface="Santander Text" panose="020B0504020201020104" pitchFamily="34" charset="0"/>
              </a:rPr>
              <a:t>#Descrever como se encontra a solução atualmente#</a:t>
            </a:r>
          </a:p>
          <a:p>
            <a:pPr marL="179070" lvl="1" algn="just">
              <a:lnSpc>
                <a:spcPct val="150000"/>
              </a:lnSpc>
              <a:spcBef>
                <a:spcPts val="400"/>
              </a:spcBef>
              <a:buClr>
                <a:srgbClr val="FF0000"/>
              </a:buClr>
              <a:buNone/>
            </a:pPr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O objetivo deste slide é detalhar a situação atual da aplicação e ou solução a intervir no âmbito desta iniciativa</a:t>
            </a:r>
            <a:r>
              <a:rPr lang="pt-PT" sz="1200" dirty="0">
                <a:solidFill>
                  <a:schemeClr val="tx1"/>
                </a:solidFill>
                <a:latin typeface="Santander Text"/>
              </a:rPr>
              <a:t>/projeto</a:t>
            </a:r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.</a:t>
            </a:r>
          </a:p>
          <a:p>
            <a:pPr marL="179070" lvl="1" algn="just">
              <a:lnSpc>
                <a:spcPct val="150000"/>
              </a:lnSpc>
              <a:spcBef>
                <a:spcPts val="400"/>
              </a:spcBef>
              <a:buClr>
                <a:srgbClr val="FF0000"/>
              </a:buClr>
              <a:buNone/>
            </a:pPr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Descrever funcionalmente a situação atual da aplicação e ou solução. Procurar descrever/desenhar o que existe enquanto aplicação e ou solução para que com base nos requisitos identificados se produza um desenho de solução.</a:t>
            </a:r>
          </a:p>
          <a:p>
            <a:pPr marL="179070" lvl="1" algn="just">
              <a:lnSpc>
                <a:spcPct val="150000"/>
              </a:lnSpc>
              <a:spcBef>
                <a:spcPts val="400"/>
              </a:spcBef>
              <a:buClr>
                <a:srgbClr val="FF0000"/>
              </a:buClr>
              <a:buNone/>
            </a:pPr>
            <a:endParaRPr lang="pt-PT" sz="1200" dirty="0">
              <a:solidFill>
                <a:schemeClr val="bg1">
                  <a:lumMod val="50000"/>
                </a:schemeClr>
              </a:solidFill>
              <a:latin typeface="Santander Text" panose="020B0504020201020104" pitchFamily="34" charset="0"/>
            </a:endParaRPr>
          </a:p>
          <a:p>
            <a:pPr marL="179070" lvl="1" algn="just">
              <a:lnSpc>
                <a:spcPct val="150000"/>
              </a:lnSpc>
              <a:spcBef>
                <a:spcPts val="400"/>
              </a:spcBef>
              <a:buClr>
                <a:srgbClr val="FF0000"/>
              </a:buClr>
              <a:buNone/>
            </a:pPr>
            <a:r>
              <a:rPr lang="pt-PT" sz="1200" dirty="0">
                <a:solidFill>
                  <a:schemeClr val="bg1">
                    <a:lumMod val="50000"/>
                  </a:schemeClr>
                </a:solidFill>
                <a:latin typeface="Santander Text" panose="020B0504020201020104" pitchFamily="34" charset="0"/>
              </a:rPr>
              <a:t>Exemplo do que colocar na situação atual:</a:t>
            </a:r>
          </a:p>
          <a:p>
            <a:pPr marL="179070" lvl="1" algn="just">
              <a:lnSpc>
                <a:spcPct val="150000"/>
              </a:lnSpc>
              <a:spcBef>
                <a:spcPts val="400"/>
              </a:spcBef>
              <a:buClr>
                <a:srgbClr val="FF0000"/>
              </a:buClr>
              <a:buNone/>
            </a:pPr>
            <a:endParaRPr lang="pt-PT" sz="1200" dirty="0">
              <a:solidFill>
                <a:schemeClr val="bg1">
                  <a:lumMod val="50000"/>
                </a:schemeClr>
              </a:solidFill>
              <a:latin typeface="Santander Text" panose="020B0504020201020104" pitchFamily="34" charset="0"/>
            </a:endParaRPr>
          </a:p>
          <a:p>
            <a:pPr marL="179070" lvl="1" algn="just">
              <a:lnSpc>
                <a:spcPct val="150000"/>
              </a:lnSpc>
              <a:spcBef>
                <a:spcPts val="400"/>
              </a:spcBef>
              <a:buClr>
                <a:srgbClr val="FF0000"/>
              </a:buClr>
              <a:buNone/>
            </a:pPr>
            <a:endParaRPr lang="pt-PT" sz="1200" dirty="0">
              <a:solidFill>
                <a:schemeClr val="bg1">
                  <a:lumMod val="50000"/>
                </a:schemeClr>
              </a:solidFill>
              <a:latin typeface="Santander Text" panose="020B0504020201020104" pitchFamily="34" charset="0"/>
            </a:endParaRPr>
          </a:p>
          <a:p>
            <a:pPr marL="179070" lvl="1" algn="just">
              <a:lnSpc>
                <a:spcPct val="150000"/>
              </a:lnSpc>
              <a:spcBef>
                <a:spcPts val="400"/>
              </a:spcBef>
              <a:buClr>
                <a:srgbClr val="FF0000"/>
              </a:buClr>
              <a:buNone/>
            </a:pPr>
            <a:endParaRPr lang="pt-PT" sz="1200" dirty="0">
              <a:solidFill>
                <a:schemeClr val="bg1">
                  <a:lumMod val="50000"/>
                </a:schemeClr>
              </a:solidFill>
              <a:latin typeface="Santander Text" panose="020B0504020201020104" pitchFamily="34" charset="0"/>
            </a:endParaRPr>
          </a:p>
          <a:p>
            <a:pPr marL="179070" lvl="1" algn="just">
              <a:lnSpc>
                <a:spcPct val="150000"/>
              </a:lnSpc>
              <a:spcBef>
                <a:spcPts val="400"/>
              </a:spcBef>
              <a:buClr>
                <a:srgbClr val="FF0000"/>
              </a:buClr>
              <a:buNone/>
            </a:pPr>
            <a:endParaRPr lang="pt-PT" sz="1200" dirty="0">
              <a:solidFill>
                <a:schemeClr val="bg1">
                  <a:lumMod val="50000"/>
                </a:schemeClr>
              </a:solidFill>
              <a:latin typeface="Santander Text" panose="020B0504020201020104" pitchFamily="34" charset="0"/>
            </a:endParaRPr>
          </a:p>
          <a:p>
            <a:pPr marL="179070" lvl="1" algn="just">
              <a:lnSpc>
                <a:spcPct val="150000"/>
              </a:lnSpc>
              <a:spcBef>
                <a:spcPts val="400"/>
              </a:spcBef>
              <a:buClr>
                <a:srgbClr val="FF0000"/>
              </a:buClr>
              <a:buNone/>
            </a:pPr>
            <a:endParaRPr lang="pt-PT" sz="1200" dirty="0">
              <a:solidFill>
                <a:schemeClr val="bg1">
                  <a:lumMod val="50000"/>
                </a:schemeClr>
              </a:solidFill>
              <a:latin typeface="Santander Text" panose="020B0504020201020104" pitchFamily="34" charset="0"/>
            </a:endParaRPr>
          </a:p>
          <a:p>
            <a:pPr marL="179070" lvl="1" algn="just">
              <a:lnSpc>
                <a:spcPct val="150000"/>
              </a:lnSpc>
              <a:spcBef>
                <a:spcPts val="400"/>
              </a:spcBef>
              <a:buClr>
                <a:srgbClr val="FF0000"/>
              </a:buClr>
              <a:buNone/>
            </a:pPr>
            <a:endParaRPr lang="pt-PT" sz="1200" dirty="0">
              <a:solidFill>
                <a:schemeClr val="bg1">
                  <a:lumMod val="50000"/>
                </a:schemeClr>
              </a:solidFill>
              <a:latin typeface="Santander Text" panose="020B0504020201020104" pitchFamily="34" charset="0"/>
            </a:endParaRPr>
          </a:p>
          <a:p>
            <a:pPr marL="179070" lvl="1" algn="just">
              <a:lnSpc>
                <a:spcPct val="150000"/>
              </a:lnSpc>
              <a:spcBef>
                <a:spcPts val="400"/>
              </a:spcBef>
              <a:buClr>
                <a:srgbClr val="FF0000"/>
              </a:buClr>
              <a:buNone/>
            </a:pPr>
            <a:endParaRPr lang="pt-PT" sz="1200" dirty="0">
              <a:solidFill>
                <a:schemeClr val="bg1">
                  <a:lumMod val="50000"/>
                </a:schemeClr>
              </a:solidFill>
              <a:latin typeface="Santander Text" panose="020B0504020201020104" pitchFamily="34" charset="0"/>
            </a:endParaRPr>
          </a:p>
          <a:p>
            <a:pPr marL="179070" lvl="1" algn="just">
              <a:lnSpc>
                <a:spcPct val="150000"/>
              </a:lnSpc>
              <a:spcBef>
                <a:spcPts val="400"/>
              </a:spcBef>
              <a:buClr>
                <a:srgbClr val="FF0000"/>
              </a:buClr>
              <a:buNone/>
            </a:pPr>
            <a:endParaRPr lang="pt-PT" sz="1200" dirty="0">
              <a:solidFill>
                <a:schemeClr val="bg1">
                  <a:lumMod val="50000"/>
                </a:schemeClr>
              </a:solidFill>
              <a:latin typeface="Santander Text" panose="020B0504020201020104" pitchFamily="34" charset="0"/>
            </a:endParaRPr>
          </a:p>
          <a:p>
            <a:pPr marL="179070" lvl="1" algn="just">
              <a:lnSpc>
                <a:spcPct val="150000"/>
              </a:lnSpc>
              <a:spcBef>
                <a:spcPts val="400"/>
              </a:spcBef>
              <a:buClr>
                <a:srgbClr val="FF0000"/>
              </a:buClr>
              <a:buNone/>
            </a:pPr>
            <a:endParaRPr lang="pt-PT" sz="1200" dirty="0">
              <a:solidFill>
                <a:schemeClr val="bg1">
                  <a:lumMod val="50000"/>
                </a:schemeClr>
              </a:solidFill>
              <a:latin typeface="Santander Text" panose="020B0504020201020104" pitchFamily="34" charset="0"/>
            </a:endParaRPr>
          </a:p>
          <a:p>
            <a:pPr marL="179070" lvl="1" algn="just">
              <a:lnSpc>
                <a:spcPct val="150000"/>
              </a:lnSpc>
              <a:spcBef>
                <a:spcPts val="400"/>
              </a:spcBef>
              <a:buClr>
                <a:srgbClr val="FF0000"/>
              </a:buClr>
              <a:buNone/>
            </a:pPr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Atualmente existe uma plataforma de Contact Center, baseada na plataforma Altitude, utilizada para a operativa de </a:t>
            </a:r>
            <a:r>
              <a:rPr lang="pt-PT" sz="1200" dirty="0" err="1">
                <a:solidFill>
                  <a:schemeClr val="tx1"/>
                </a:solidFill>
                <a:latin typeface="Santander Text" panose="020B0504020201020104" pitchFamily="34" charset="0"/>
              </a:rPr>
              <a:t>Telecobranças</a:t>
            </a:r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D97B6-E32F-4D7D-B839-7C3B51F2640F}" type="slidenum">
              <a:rPr lang="pt-PT" smtClean="0"/>
              <a:pPr/>
              <a:t>9</a:t>
            </a:fld>
            <a:endParaRPr lang="pt-PT"/>
          </a:p>
        </p:txBody>
      </p:sp>
      <p:pic>
        <p:nvPicPr>
          <p:cNvPr id="60" name="Picture 59">
            <a:extLst>
              <a:ext uri="{FF2B5EF4-FFF2-40B4-BE49-F238E27FC236}">
                <a16:creationId xmlns:a16="http://schemas.microsoft.com/office/drawing/2014/main" id="{FC1CF405-4C61-A34F-5F32-FC60B9FAD3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8895" y="2410691"/>
            <a:ext cx="5728674" cy="3013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2448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texto 5">
            <a:extLst>
              <a:ext uri="{FF2B5EF4-FFF2-40B4-BE49-F238E27FC236}">
                <a16:creationId xmlns:a16="http://schemas.microsoft.com/office/drawing/2014/main" id="{C5A6910C-A85B-4E78-920A-D86C8E059C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337100"/>
            <a:ext cx="5168952" cy="304800"/>
          </a:xfrm>
        </p:spPr>
        <p:txBody>
          <a:bodyPr/>
          <a:lstStyle/>
          <a:p>
            <a:r>
              <a:rPr lang="pt-PT" sz="2400"/>
              <a:t>Situação Atual (</a:t>
            </a:r>
            <a:r>
              <a:rPr lang="pt-PT" sz="2400">
                <a:solidFill>
                  <a:schemeClr val="bg1">
                    <a:lumMod val="50000"/>
                  </a:schemeClr>
                </a:solidFill>
              </a:rPr>
              <a:t>Continuação</a:t>
            </a:r>
            <a:r>
              <a:rPr lang="pt-PT" sz="2400"/>
              <a:t>)</a:t>
            </a: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551383" y="836100"/>
            <a:ext cx="10922661" cy="514707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lgDash"/>
          </a:ln>
        </p:spPr>
        <p:txBody>
          <a:bodyPr/>
          <a:lstStyle>
            <a:lvl1pPr marL="342900" indent="-342900" defTabSz="6985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w"/>
              <a:defRPr sz="2400" b="1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179388" defTabSz="6985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600">
                <a:solidFill>
                  <a:srgbClr val="808080"/>
                </a:solidFill>
                <a:latin typeface="Arial" panose="020B0604020202020204" pitchFamily="34" charset="0"/>
              </a:defRPr>
            </a:lvl2pPr>
            <a:lvl3pPr marL="979488" indent="-3429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lvl="1" algn="just">
              <a:lnSpc>
                <a:spcPct val="150000"/>
              </a:lnSpc>
              <a:spcBef>
                <a:spcPts val="400"/>
              </a:spcBef>
              <a:buClr>
                <a:srgbClr val="FF0000"/>
              </a:buClr>
              <a:buNone/>
            </a:pPr>
            <a:r>
              <a:rPr lang="pt-PT" sz="1200">
                <a:solidFill>
                  <a:schemeClr val="tx1"/>
                </a:solidFill>
                <a:latin typeface="Santander Text" panose="020B0504020201020104" pitchFamily="34" charset="0"/>
              </a:rPr>
              <a:t>A aplicação de Telecobranças foi desenvolvida em conjunto com a empresa Altitude. O sistema tem como arquitetura física servidores: servidor aplicacional (inclui base de dados Oracle); servidor de gravação; servidor de telefonia. </a:t>
            </a:r>
          </a:p>
          <a:p>
            <a:pPr lvl="1" algn="just">
              <a:lnSpc>
                <a:spcPct val="150000"/>
              </a:lnSpc>
              <a:spcBef>
                <a:spcPts val="400"/>
              </a:spcBef>
              <a:buClr>
                <a:srgbClr val="FF0000"/>
              </a:buClr>
              <a:buNone/>
            </a:pPr>
            <a:r>
              <a:rPr lang="pt-PT" sz="1200">
                <a:solidFill>
                  <a:schemeClr val="tx1"/>
                </a:solidFill>
                <a:latin typeface="Santander Text" panose="020B0504020201020104" pitchFamily="34" charset="0"/>
              </a:rPr>
              <a:t>O sistema recebe em fim de dia ficheiros com os dados dos Clientes a contactar provenientes do Sistema Central, aplicação GS. A informação de base para estes contactos provém do sistema TRIAD, sendo enriquecida por interfaces de outras aplicações centrais.</a:t>
            </a:r>
          </a:p>
          <a:p>
            <a:pPr lvl="1" algn="just">
              <a:lnSpc>
                <a:spcPct val="150000"/>
              </a:lnSpc>
              <a:spcBef>
                <a:spcPts val="400"/>
              </a:spcBef>
              <a:buClr>
                <a:srgbClr val="FF0000"/>
              </a:buClr>
              <a:buNone/>
            </a:pPr>
            <a:r>
              <a:rPr lang="pt-PT" sz="1200">
                <a:solidFill>
                  <a:schemeClr val="tx1"/>
                </a:solidFill>
                <a:latin typeface="Santander Text" panose="020B0504020201020104" pitchFamily="34" charset="0"/>
              </a:rPr>
              <a:t>Os ficheiros são recebidos por FTP no servidor aplicacional. Já em sistemas médios, estes arquivos são processados para separação por Campanhas e criação de amostras com listas de Clientes a contactar e carregamento dos respetivos dados.</a:t>
            </a:r>
          </a:p>
          <a:p>
            <a:pPr lvl="1" algn="just">
              <a:lnSpc>
                <a:spcPct val="150000"/>
              </a:lnSpc>
              <a:spcBef>
                <a:spcPts val="400"/>
              </a:spcBef>
              <a:buClr>
                <a:srgbClr val="FF0000"/>
              </a:buClr>
              <a:buNone/>
            </a:pPr>
            <a:r>
              <a:rPr lang="pt-PT" sz="1200">
                <a:solidFill>
                  <a:schemeClr val="tx1"/>
                </a:solidFill>
                <a:latin typeface="Santander Text" panose="020B0504020201020104" pitchFamily="34" charset="0"/>
              </a:rPr>
              <a:t>Existe uma Campanha Multiprodutos onde são colocados os Clientes com mais de um tipo de Produto em dívida. Esta divisão permite a alocação de diferentes agentes a cada Campanha com base nos conhecimentos dos agentes e as prioridades de recuperação do dia ou do momento.</a:t>
            </a:r>
          </a:p>
          <a:p>
            <a:pPr lvl="1" algn="just">
              <a:lnSpc>
                <a:spcPct val="150000"/>
              </a:lnSpc>
              <a:spcBef>
                <a:spcPts val="400"/>
              </a:spcBef>
              <a:buClr>
                <a:srgbClr val="FF0000"/>
              </a:buClr>
              <a:buNone/>
            </a:pPr>
            <a:r>
              <a:rPr lang="pt-PT" sz="1200">
                <a:solidFill>
                  <a:schemeClr val="tx1"/>
                </a:solidFill>
                <a:latin typeface="Santander Text" panose="020B0504020201020104" pitchFamily="34" charset="0"/>
              </a:rPr>
              <a:t>Durante o dia estes contactos são trabalhadas pelo centro de contactos e no final do dia é extraído um ficheiro de resultados dos contactos que é recolhido pelo Sistema Central via FTP (reflete o tipo de resultado de Contacto obtido para o respetivo Cliente). Os dados deste ficheiro serão usados para input novamente no TRIAD e para atualização da Ficha i do Cliente. </a:t>
            </a:r>
          </a:p>
          <a:p>
            <a:pPr lvl="1" algn="just">
              <a:lnSpc>
                <a:spcPct val="150000"/>
              </a:lnSpc>
              <a:spcBef>
                <a:spcPts val="400"/>
              </a:spcBef>
              <a:buClr>
                <a:srgbClr val="FF0000"/>
              </a:buClr>
              <a:buNone/>
            </a:pPr>
            <a:r>
              <a:rPr lang="pt-PT" sz="1200">
                <a:solidFill>
                  <a:schemeClr val="tx1"/>
                </a:solidFill>
                <a:latin typeface="Santander Text" panose="020B0504020201020104" pitchFamily="34" charset="0"/>
              </a:rPr>
              <a:t>Todas as chamadas são gravadas pelo sistema de gravação de telefonia.</a:t>
            </a:r>
          </a:p>
          <a:p>
            <a:pPr lvl="1" algn="just">
              <a:lnSpc>
                <a:spcPct val="150000"/>
              </a:lnSpc>
              <a:spcBef>
                <a:spcPts val="400"/>
              </a:spcBef>
              <a:buClr>
                <a:srgbClr val="FF0000"/>
              </a:buClr>
              <a:buNone/>
            </a:pPr>
            <a:r>
              <a:rPr lang="pt-PT" sz="1200">
                <a:solidFill>
                  <a:schemeClr val="tx1"/>
                </a:solidFill>
                <a:latin typeface="Santander Text" panose="020B0504020201020104" pitchFamily="34" charset="0"/>
              </a:rPr>
              <a:t>O Utilizador tem acesso ao modelo de dados para exploração de informação e extração de dados para reporting desde a ferramenta e através de DW.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D97B6-E32F-4D7D-B839-7C3B51F2640F}" type="slidenum">
              <a:rPr lang="pt-PT" smtClean="0"/>
              <a:pPr/>
              <a:t>10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00370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2E983F-684D-E41D-9E7E-804099BF1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064818-B777-8230-2E56-38192A557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err="1"/>
              <a:t>Objectivos</a:t>
            </a:r>
            <a:r>
              <a:rPr lang="pt-PT" dirty="0"/>
              <a:t> da Iniciativa/Projeto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FA72E98-FCBC-9223-0CED-D5744D0F8C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/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61457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texto 5">
            <a:extLst>
              <a:ext uri="{FF2B5EF4-FFF2-40B4-BE49-F238E27FC236}">
                <a16:creationId xmlns:a16="http://schemas.microsoft.com/office/drawing/2014/main" id="{C5A6910C-A85B-4E78-920A-D86C8E059C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337100"/>
            <a:ext cx="5168952" cy="304800"/>
          </a:xfrm>
        </p:spPr>
        <p:txBody>
          <a:bodyPr/>
          <a:lstStyle/>
          <a:p>
            <a:r>
              <a:rPr lang="pt-PT" sz="2400" dirty="0"/>
              <a:t>Objetivos da Iniciativa/Projeto </a:t>
            </a: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551383" y="836100"/>
            <a:ext cx="10922661" cy="514707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lgDash"/>
          </a:ln>
        </p:spPr>
        <p:txBody>
          <a:bodyPr lIns="91440" tIns="45720" rIns="91440" bIns="45720" anchor="t"/>
          <a:lstStyle>
            <a:lvl1pPr marL="342900" indent="-342900" defTabSz="6985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w"/>
              <a:defRPr sz="2400" b="1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179388" defTabSz="6985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600">
                <a:solidFill>
                  <a:srgbClr val="808080"/>
                </a:solidFill>
                <a:latin typeface="Arial" panose="020B0604020202020204" pitchFamily="34" charset="0"/>
              </a:defRPr>
            </a:lvl2pPr>
            <a:lvl3pPr marL="979488" indent="-3429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marL="179070" lvl="1" algn="just">
              <a:lnSpc>
                <a:spcPct val="150000"/>
              </a:lnSpc>
              <a:spcBef>
                <a:spcPts val="400"/>
              </a:spcBef>
              <a:buClr>
                <a:srgbClr val="FF0000"/>
              </a:buClr>
              <a:buNone/>
            </a:pPr>
            <a:r>
              <a:rPr lang="pt-PT" sz="1200" dirty="0">
                <a:solidFill>
                  <a:schemeClr val="bg1">
                    <a:lumMod val="50000"/>
                  </a:schemeClr>
                </a:solidFill>
                <a:latin typeface="Santander Text" panose="020B0504020201020104" pitchFamily="34" charset="0"/>
              </a:rPr>
              <a:t>#Descrever os Objetivos a que a iniciativa/projeto se propõe#</a:t>
            </a:r>
            <a:endParaRPr lang="en-US" dirty="0"/>
          </a:p>
          <a:p>
            <a:pPr marL="179070" lvl="1" algn="just">
              <a:lnSpc>
                <a:spcPct val="150000"/>
              </a:lnSpc>
              <a:spcBef>
                <a:spcPts val="400"/>
              </a:spcBef>
              <a:buClr>
                <a:srgbClr val="FF0000"/>
              </a:buClr>
              <a:buNone/>
            </a:pPr>
            <a:r>
              <a:rPr lang="pt-PT" sz="1200" dirty="0">
                <a:solidFill>
                  <a:schemeClr val="tx1"/>
                </a:solidFill>
                <a:latin typeface="Santander Text"/>
              </a:rPr>
              <a:t>O objetivo deste slide é detalhar os objetivos da Iniciativa/projeto.</a:t>
            </a:r>
            <a:endParaRPr lang="pt-PT" sz="1200" dirty="0">
              <a:solidFill>
                <a:schemeClr val="tx1"/>
              </a:solidFill>
              <a:latin typeface="Santander Text" panose="020B0504020201020104" pitchFamily="34" charset="0"/>
            </a:endParaRPr>
          </a:p>
          <a:p>
            <a:pPr marL="179070" lvl="1" algn="just">
              <a:lnSpc>
                <a:spcPct val="150000"/>
              </a:lnSpc>
              <a:spcBef>
                <a:spcPts val="400"/>
              </a:spcBef>
              <a:buClr>
                <a:srgbClr val="FF0000"/>
              </a:buClr>
              <a:buNone/>
            </a:pPr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Descrever qual o motivo que origina esta iniciativa/projeto, assim como, apresentar/especificar qual o propósito a que se destina a iniciativa</a:t>
            </a:r>
            <a:r>
              <a:rPr lang="pt-PT" sz="1200" dirty="0">
                <a:solidFill>
                  <a:schemeClr val="tx1"/>
                </a:solidFill>
                <a:latin typeface="Santander Text"/>
              </a:rPr>
              <a:t>/projeto</a:t>
            </a:r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.</a:t>
            </a:r>
          </a:p>
          <a:p>
            <a:pPr marL="179070" lvl="1" algn="just">
              <a:lnSpc>
                <a:spcPct val="150000"/>
              </a:lnSpc>
              <a:spcBef>
                <a:spcPts val="400"/>
              </a:spcBef>
              <a:buClr>
                <a:srgbClr val="FF0000"/>
              </a:buClr>
              <a:buNone/>
            </a:pPr>
            <a:endParaRPr lang="pt-PT" sz="1200" dirty="0">
              <a:solidFill>
                <a:schemeClr val="tx1"/>
              </a:solidFill>
              <a:latin typeface="Santander Text" panose="020B0504020201020104" pitchFamily="34" charset="0"/>
            </a:endParaRPr>
          </a:p>
          <a:p>
            <a:pPr marL="179070" lvl="1" algn="just">
              <a:lnSpc>
                <a:spcPct val="150000"/>
              </a:lnSpc>
              <a:spcBef>
                <a:spcPts val="400"/>
              </a:spcBef>
              <a:buClr>
                <a:srgbClr val="FF0000"/>
              </a:buClr>
              <a:buNone/>
            </a:pPr>
            <a:endParaRPr lang="pt-PT" sz="1200" dirty="0">
              <a:solidFill>
                <a:schemeClr val="tx1"/>
              </a:solidFill>
              <a:latin typeface="Santander Text" panose="020B0504020201020104" pitchFamily="34" charset="0"/>
            </a:endParaRPr>
          </a:p>
          <a:p>
            <a:pPr marL="179070" lvl="1" algn="just">
              <a:lnSpc>
                <a:spcPct val="150000"/>
              </a:lnSpc>
              <a:spcBef>
                <a:spcPts val="400"/>
              </a:spcBef>
              <a:buClr>
                <a:srgbClr val="FF0000"/>
              </a:buClr>
              <a:buNone/>
            </a:pPr>
            <a:r>
              <a:rPr lang="pt-PT" sz="1200" dirty="0">
                <a:solidFill>
                  <a:schemeClr val="bg1">
                    <a:lumMod val="50000"/>
                  </a:schemeClr>
                </a:solidFill>
                <a:latin typeface="Santander Text" panose="020B0504020201020104" pitchFamily="34" charset="0"/>
              </a:rPr>
              <a:t>Exemplo do que colocar como texto:</a:t>
            </a:r>
          </a:p>
          <a:p>
            <a:pPr marL="179070" lvl="1" algn="just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None/>
            </a:pPr>
            <a:r>
              <a:rPr lang="pt-PT" sz="1200" dirty="0">
                <a:solidFill>
                  <a:schemeClr val="tx1"/>
                </a:solidFill>
                <a:latin typeface="Santander Text"/>
              </a:rPr>
              <a:t>O objetivo principal destes desenvolvimentos passa por:</a:t>
            </a:r>
          </a:p>
          <a:p>
            <a:pPr marL="350520" lvl="1" indent="-171450" algn="just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</a:pPr>
            <a:r>
              <a:rPr lang="pt-PT" sz="1200" dirty="0">
                <a:solidFill>
                  <a:schemeClr val="tx1"/>
                </a:solidFill>
                <a:latin typeface="Santander Text"/>
              </a:rPr>
              <a:t>Migrar a aplicação atual de </a:t>
            </a:r>
            <a:r>
              <a:rPr lang="pt-PT" sz="1200" dirty="0" err="1">
                <a:solidFill>
                  <a:schemeClr val="tx1"/>
                </a:solidFill>
                <a:latin typeface="Santander Text"/>
              </a:rPr>
              <a:t>front-end</a:t>
            </a:r>
            <a:r>
              <a:rPr lang="pt-PT" sz="1200" dirty="0">
                <a:solidFill>
                  <a:schemeClr val="tx1"/>
                </a:solidFill>
                <a:latin typeface="Santander Text"/>
              </a:rPr>
              <a:t> utilizada em </a:t>
            </a:r>
            <a:r>
              <a:rPr lang="pt-PT" sz="1200" dirty="0" err="1">
                <a:solidFill>
                  <a:schemeClr val="tx1"/>
                </a:solidFill>
                <a:latin typeface="Santander Text"/>
              </a:rPr>
              <a:t>Telecobranças</a:t>
            </a:r>
            <a:r>
              <a:rPr lang="pt-PT" sz="1200" dirty="0">
                <a:solidFill>
                  <a:schemeClr val="tx1"/>
                </a:solidFill>
                <a:latin typeface="Santander Text"/>
              </a:rPr>
              <a:t>, solução da Altitude, para uma solução já utilizada por exemplo na Banca Telefónica, solução </a:t>
            </a:r>
            <a:r>
              <a:rPr lang="pt-PT" sz="1200" dirty="0" err="1">
                <a:solidFill>
                  <a:schemeClr val="tx1"/>
                </a:solidFill>
                <a:latin typeface="Santander Text"/>
              </a:rPr>
              <a:t>Genesys</a:t>
            </a:r>
            <a:r>
              <a:rPr lang="pt-PT" sz="1200" dirty="0">
                <a:solidFill>
                  <a:schemeClr val="tx1"/>
                </a:solidFill>
                <a:latin typeface="Santander Text"/>
              </a:rPr>
              <a:t>/Salesforce Service, garantido que se mantém as funcionalidades hoje existentes.</a:t>
            </a:r>
          </a:p>
          <a:p>
            <a:pPr marL="350520" lvl="1" indent="-171450" algn="just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</a:pPr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Simultaneamente, pretende-se realizar algumas melhorias na componente de consulta de informação a outros sistemas.</a:t>
            </a:r>
          </a:p>
          <a:p>
            <a:pPr marL="350520" lvl="1" indent="-171450" algn="just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</a:pPr>
            <a:r>
              <a:rPr lang="pt-PT" sz="1200" dirty="0">
                <a:solidFill>
                  <a:schemeClr val="tx1"/>
                </a:solidFill>
                <a:latin typeface="Santander Text"/>
              </a:rPr>
              <a:t>Pretende-se também que exista a capacidade de centralizar informação relativa aos processos em Data </a:t>
            </a:r>
            <a:r>
              <a:rPr lang="pt-PT" sz="1200" dirty="0" err="1">
                <a:solidFill>
                  <a:schemeClr val="tx1"/>
                </a:solidFill>
                <a:latin typeface="Santander Text"/>
              </a:rPr>
              <a:t>Lake</a:t>
            </a:r>
            <a:r>
              <a:rPr lang="pt-PT" sz="1200" dirty="0">
                <a:solidFill>
                  <a:schemeClr val="tx1"/>
                </a:solidFill>
                <a:latin typeface="Santander Text"/>
              </a:rPr>
              <a:t> </a:t>
            </a:r>
            <a:r>
              <a:rPr lang="pt-PT" sz="1200" dirty="0" err="1">
                <a:solidFill>
                  <a:schemeClr val="tx1"/>
                </a:solidFill>
                <a:latin typeface="Santander Text"/>
              </a:rPr>
              <a:t>Cloud</a:t>
            </a:r>
            <a:r>
              <a:rPr lang="pt-PT" sz="1200" dirty="0">
                <a:solidFill>
                  <a:schemeClr val="tx1"/>
                </a:solidFill>
                <a:latin typeface="Santander Text"/>
              </a:rPr>
              <a:t> </a:t>
            </a:r>
            <a:r>
              <a:rPr lang="pt-PT" sz="1200" dirty="0" err="1">
                <a:solidFill>
                  <a:schemeClr val="tx1"/>
                </a:solidFill>
                <a:latin typeface="Santander Text"/>
              </a:rPr>
              <a:t>Azure</a:t>
            </a:r>
            <a:r>
              <a:rPr lang="pt-PT" sz="1200" dirty="0">
                <a:solidFill>
                  <a:schemeClr val="tx1"/>
                </a:solidFill>
                <a:latin typeface="Santander Text"/>
              </a:rPr>
              <a:t> para a construção de modelos analíticos, construção de </a:t>
            </a:r>
            <a:r>
              <a:rPr lang="pt-PT" sz="1200" dirty="0" err="1">
                <a:solidFill>
                  <a:schemeClr val="tx1"/>
                </a:solidFill>
                <a:latin typeface="Santander Text"/>
              </a:rPr>
              <a:t>reporting</a:t>
            </a:r>
            <a:r>
              <a:rPr lang="pt-PT" sz="1200" dirty="0">
                <a:solidFill>
                  <a:schemeClr val="tx1"/>
                </a:solidFill>
                <a:latin typeface="Santander Text"/>
              </a:rPr>
              <a:t> e consultas </a:t>
            </a:r>
            <a:r>
              <a:rPr lang="pt-PT" sz="1200" dirty="0" err="1">
                <a:solidFill>
                  <a:schemeClr val="tx1"/>
                </a:solidFill>
                <a:latin typeface="Santander Text"/>
              </a:rPr>
              <a:t>Ad-Hoc</a:t>
            </a:r>
            <a:r>
              <a:rPr lang="pt-PT" sz="1200" dirty="0">
                <a:solidFill>
                  <a:schemeClr val="tx1"/>
                </a:solidFill>
                <a:latin typeface="Santander Text"/>
              </a:rPr>
              <a:t> pelos utilizadores centrais.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D97B6-E32F-4D7D-B839-7C3B51F2640F}" type="slidenum">
              <a:rPr lang="pt-PT" smtClean="0"/>
              <a:pPr/>
              <a:t>12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13834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F97535-CC41-19E0-1FF2-0F3B642CE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25A1C1-8DF8-3594-CE46-DFFE70B18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Requisitos Funcionais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7795E43-6925-6A37-C9DF-00358AB5154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/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267317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texto 5">
            <a:extLst>
              <a:ext uri="{FF2B5EF4-FFF2-40B4-BE49-F238E27FC236}">
                <a16:creationId xmlns:a16="http://schemas.microsoft.com/office/drawing/2014/main" id="{C5A6910C-A85B-4E78-920A-D86C8E059C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3" y="337100"/>
            <a:ext cx="7353113" cy="304800"/>
          </a:xfrm>
        </p:spPr>
        <p:txBody>
          <a:bodyPr/>
          <a:lstStyle/>
          <a:p>
            <a:r>
              <a:rPr lang="pt-PT" sz="2400"/>
              <a:t>Identificação e Descrição de Requisitos Funcionais</a:t>
            </a: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551383" y="836100"/>
            <a:ext cx="10922661" cy="514707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lgDash"/>
          </a:ln>
        </p:spPr>
        <p:txBody>
          <a:bodyPr/>
          <a:lstStyle>
            <a:lvl1pPr marL="342900" indent="-342900" defTabSz="6985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w"/>
              <a:defRPr sz="2400" b="1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179388" defTabSz="6985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600">
                <a:solidFill>
                  <a:srgbClr val="808080"/>
                </a:solidFill>
                <a:latin typeface="Arial" panose="020B0604020202020204" pitchFamily="34" charset="0"/>
              </a:defRPr>
            </a:lvl2pPr>
            <a:lvl3pPr marL="979488" indent="-3429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lvl="1" algn="just">
              <a:lnSpc>
                <a:spcPct val="150000"/>
              </a:lnSpc>
              <a:spcBef>
                <a:spcPts val="400"/>
              </a:spcBef>
              <a:buClr>
                <a:srgbClr val="FF0000"/>
              </a:buClr>
              <a:buNone/>
            </a:pPr>
            <a:r>
              <a:rPr lang="pt-PT" sz="1200" dirty="0">
                <a:solidFill>
                  <a:schemeClr val="bg1">
                    <a:lumMod val="50000"/>
                  </a:schemeClr>
                </a:solidFill>
                <a:latin typeface="Santander Text" panose="020B0504020201020104" pitchFamily="34" charset="0"/>
              </a:rPr>
              <a:t>#Identificar e Descrever os requisitos funcionais da iniciativa/projeto#</a:t>
            </a:r>
            <a:endParaRPr lang="pt-PT" sz="1200" dirty="0">
              <a:solidFill>
                <a:schemeClr val="tx1"/>
              </a:solidFill>
              <a:latin typeface="Santander Text" panose="020B0504020201020104" pitchFamily="34" charset="0"/>
            </a:endParaRPr>
          </a:p>
          <a:p>
            <a:pPr lvl="1" algn="just">
              <a:lnSpc>
                <a:spcPct val="150000"/>
              </a:lnSpc>
              <a:spcBef>
                <a:spcPts val="400"/>
              </a:spcBef>
              <a:buClr>
                <a:srgbClr val="FF0000"/>
              </a:buClr>
              <a:buNone/>
            </a:pPr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O objetivo deste slide é identificar, descrever e detalhar os requisitos funcionais a desenvolver no âmbito desta iniciativa/projeto.</a:t>
            </a:r>
          </a:p>
          <a:p>
            <a:pPr lvl="1" algn="just">
              <a:lnSpc>
                <a:spcPct val="150000"/>
              </a:lnSpc>
              <a:spcBef>
                <a:spcPts val="400"/>
              </a:spcBef>
              <a:buClr>
                <a:srgbClr val="FF0000"/>
              </a:buClr>
              <a:buNone/>
            </a:pPr>
            <a:endParaRPr lang="pt-PT" sz="1200" dirty="0">
              <a:solidFill>
                <a:schemeClr val="tx1"/>
              </a:solidFill>
              <a:latin typeface="Santander Text" panose="020B0504020201020104" pitchFamily="34" charset="0"/>
            </a:endParaRPr>
          </a:p>
          <a:p>
            <a:pPr lvl="1" algn="just">
              <a:lnSpc>
                <a:spcPct val="150000"/>
              </a:lnSpc>
              <a:spcBef>
                <a:spcPts val="400"/>
              </a:spcBef>
              <a:buClr>
                <a:srgbClr val="FF0000"/>
              </a:buClr>
              <a:buNone/>
            </a:pPr>
            <a:r>
              <a:rPr lang="pt-PT" sz="1200" dirty="0">
                <a:solidFill>
                  <a:schemeClr val="bg1">
                    <a:lumMod val="50000"/>
                  </a:schemeClr>
                </a:solidFill>
                <a:latin typeface="Santander Text" panose="020B0504020201020104" pitchFamily="34" charset="0"/>
              </a:rPr>
              <a:t>Exemplo de identificação e descrição de requisitos funcionais:</a:t>
            </a:r>
          </a:p>
          <a:p>
            <a:pPr marL="350838" lvl="1" indent="-171450" algn="just">
              <a:lnSpc>
                <a:spcPct val="150000"/>
              </a:lnSpc>
              <a:spcBef>
                <a:spcPts val="400"/>
              </a:spcBef>
              <a:buClr>
                <a:srgbClr val="FF0000"/>
              </a:buClr>
            </a:pPr>
            <a:r>
              <a:rPr lang="pt-PT" sz="1200" dirty="0">
                <a:solidFill>
                  <a:srgbClr val="FF0000"/>
                </a:solidFill>
                <a:latin typeface="Santander Text" panose="020B0504020201020104" pitchFamily="34" charset="0"/>
              </a:rPr>
              <a:t>Componente ‘TRIAD’:</a:t>
            </a:r>
          </a:p>
          <a:p>
            <a:pPr lvl="1" algn="just">
              <a:lnSpc>
                <a:spcPct val="150000"/>
              </a:lnSpc>
              <a:spcBef>
                <a:spcPts val="400"/>
              </a:spcBef>
              <a:buClr>
                <a:srgbClr val="FF0000"/>
              </a:buClr>
              <a:buNone/>
            </a:pPr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No âmbito desta iniciativa/projeto não se pretende efetuar qualquer alteração ao comportamento catual do </a:t>
            </a:r>
            <a:r>
              <a:rPr lang="pt-PT" sz="1200" dirty="0" err="1">
                <a:solidFill>
                  <a:schemeClr val="tx1"/>
                </a:solidFill>
                <a:latin typeface="Santander Text" panose="020B0504020201020104" pitchFamily="34" charset="0"/>
              </a:rPr>
              <a:t>Triad</a:t>
            </a:r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/</a:t>
            </a:r>
            <a:r>
              <a:rPr lang="pt-PT" sz="1200" dirty="0" err="1">
                <a:solidFill>
                  <a:schemeClr val="tx1"/>
                </a:solidFill>
                <a:latin typeface="Santander Text" panose="020B0504020201020104" pitchFamily="34" charset="0"/>
              </a:rPr>
              <a:t>Collections</a:t>
            </a:r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 na definição das estratégias de contacto de Clientes, nomeadamente no que diz respeito à definição do universo de Clientes a enviar para a Rede ou </a:t>
            </a:r>
            <a:r>
              <a:rPr lang="pt-PT" sz="1200" dirty="0" err="1">
                <a:solidFill>
                  <a:schemeClr val="tx1"/>
                </a:solidFill>
                <a:latin typeface="Santander Text" panose="020B0504020201020104" pitchFamily="34" charset="0"/>
              </a:rPr>
              <a:t>Telecobranças</a:t>
            </a:r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. Dever-se-á manter igualmente o tratamento atualmente efetuado pela Aplicação GS ao universo de Clientes acima referido. A informação atualmente enviada ao TRIAD relativa a </a:t>
            </a:r>
            <a:r>
              <a:rPr lang="pt-PT" sz="1200" dirty="0" err="1">
                <a:solidFill>
                  <a:schemeClr val="tx1"/>
                </a:solidFill>
                <a:latin typeface="Santander Text" panose="020B0504020201020104" pitchFamily="34" charset="0"/>
              </a:rPr>
              <a:t>Telecobranças</a:t>
            </a:r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 também não será alvo de qualquer alteração.</a:t>
            </a:r>
          </a:p>
          <a:p>
            <a:pPr lvl="1" algn="just">
              <a:lnSpc>
                <a:spcPct val="150000"/>
              </a:lnSpc>
              <a:spcBef>
                <a:spcPts val="400"/>
              </a:spcBef>
              <a:buClr>
                <a:srgbClr val="FF0000"/>
              </a:buClr>
              <a:buNone/>
            </a:pPr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Caso se pretenda que um determinado novo código de resultado de contacto passe a ser informado ao TRIAD (como por exemplo ‘Já regularizado até à data’), será apenas necessário garantir a parametrização daquele código na Tabela Geral ‘W96’, associado ao canal ‘</a:t>
            </a:r>
            <a:r>
              <a:rPr lang="pt-PT" sz="1200" dirty="0" err="1">
                <a:solidFill>
                  <a:schemeClr val="tx1"/>
                </a:solidFill>
                <a:latin typeface="Santander Text" panose="020B0504020201020104" pitchFamily="34" charset="0"/>
              </a:rPr>
              <a:t>Telecobranças</a:t>
            </a:r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’ (004) e com o campo ‘indicador de Contacto </a:t>
            </a:r>
            <a:r>
              <a:rPr lang="pt-PT" sz="1200" dirty="0" err="1">
                <a:solidFill>
                  <a:schemeClr val="tx1"/>
                </a:solidFill>
                <a:latin typeface="Santander Text" panose="020B0504020201020104" pitchFamily="34" charset="0"/>
              </a:rPr>
              <a:t>Util</a:t>
            </a:r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’ = ‘S’. Não será portanto necessário efetuar qualquer alteração ao software.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D97B6-E32F-4D7D-B839-7C3B51F2640F}" type="slidenum">
              <a:rPr lang="pt-PT" smtClean="0"/>
              <a:pPr/>
              <a:t>14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13804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texto 5">
            <a:extLst>
              <a:ext uri="{FF2B5EF4-FFF2-40B4-BE49-F238E27FC236}">
                <a16:creationId xmlns:a16="http://schemas.microsoft.com/office/drawing/2014/main" id="{C5A6910C-A85B-4E78-920A-D86C8E059C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3" y="337100"/>
            <a:ext cx="8794484" cy="304800"/>
          </a:xfrm>
        </p:spPr>
        <p:txBody>
          <a:bodyPr/>
          <a:lstStyle/>
          <a:p>
            <a:r>
              <a:rPr lang="pt-PT" sz="2400"/>
              <a:t>Identificação e Descrição de Requisitos Funcionais (</a:t>
            </a:r>
            <a:r>
              <a:rPr lang="pt-PT" sz="2400">
                <a:solidFill>
                  <a:schemeClr val="bg1">
                    <a:lumMod val="50000"/>
                  </a:schemeClr>
                </a:solidFill>
              </a:rPr>
              <a:t>Continuação</a:t>
            </a:r>
            <a:r>
              <a:rPr lang="pt-PT" sz="2400"/>
              <a:t>)</a:t>
            </a: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551383" y="836100"/>
            <a:ext cx="10922661" cy="5147074"/>
          </a:xfrm>
          <a:prstGeom prst="rect">
            <a:avLst/>
          </a:prstGeom>
          <a:solidFill>
            <a:schemeClr val="bg1"/>
          </a:solidFill>
          <a:ln w="9525">
            <a:solidFill>
              <a:srgbClr val="000000"/>
            </a:solidFill>
            <a:prstDash val="lgDash"/>
            <a:miter lim="800000"/>
            <a:headEnd/>
            <a:tailEnd/>
          </a:ln>
        </p:spPr>
        <p:txBody>
          <a:bodyPr/>
          <a:lstStyle>
            <a:lvl1pPr marL="342900" indent="-342900" defTabSz="6985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w"/>
              <a:defRPr sz="2400" b="1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179388" defTabSz="6985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600">
                <a:solidFill>
                  <a:srgbClr val="808080"/>
                </a:solidFill>
                <a:latin typeface="Arial" panose="020B0604020202020204" pitchFamily="34" charset="0"/>
              </a:defRPr>
            </a:lvl2pPr>
            <a:lvl3pPr marL="979488" indent="-3429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marL="350838" lvl="1" indent="-171450" algn="just">
              <a:lnSpc>
                <a:spcPct val="150000"/>
              </a:lnSpc>
              <a:spcBef>
                <a:spcPts val="400"/>
              </a:spcBef>
              <a:buClr>
                <a:srgbClr val="FF0000"/>
              </a:buClr>
            </a:pPr>
            <a:r>
              <a:rPr lang="pt-PT" sz="1200" dirty="0">
                <a:solidFill>
                  <a:srgbClr val="FF0000"/>
                </a:solidFill>
                <a:latin typeface="Santander Text" panose="020B0504020201020104" pitchFamily="34" charset="0"/>
              </a:rPr>
              <a:t>Componente ‘Enriquecimento de Dados’</a:t>
            </a:r>
          </a:p>
          <a:p>
            <a:pPr lvl="1" algn="just">
              <a:lnSpc>
                <a:spcPct val="150000"/>
              </a:lnSpc>
              <a:spcBef>
                <a:spcPts val="400"/>
              </a:spcBef>
              <a:buClr>
                <a:srgbClr val="FF0000"/>
              </a:buClr>
              <a:buNone/>
            </a:pPr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Não será alterada a lógica do componente Central (Aplicação GS) que tem como objetivo recolher informação das várias aplicações de forma a completar a informação disponibilizada pelo TRIAD (por contrato), com informação adicional necessária para o processo de contactos a efetuar (Dados de Cliente/Contratos). Será no entanto contemplada no âmbito desta iniciativa/projeto, a obtenção de novos dados, conforme constante nos quadros abaixo indicados.</a:t>
            </a:r>
          </a:p>
          <a:p>
            <a:pPr lvl="1" algn="just">
              <a:lnSpc>
                <a:spcPct val="150000"/>
              </a:lnSpc>
              <a:spcBef>
                <a:spcPts val="400"/>
              </a:spcBef>
              <a:buClr>
                <a:srgbClr val="FF0000"/>
              </a:buClr>
              <a:buNone/>
            </a:pPr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Os dados para contactos serão agrupados em 5 blocos distintos (Clientes.txt, Produtos.txt, Fiadores.txt, Recibos.txt, Totais.txt).</a:t>
            </a:r>
          </a:p>
          <a:p>
            <a:pPr lvl="1" algn="just">
              <a:lnSpc>
                <a:spcPct val="150000"/>
              </a:lnSpc>
              <a:spcBef>
                <a:spcPts val="400"/>
              </a:spcBef>
              <a:buClr>
                <a:srgbClr val="FF0000"/>
              </a:buClr>
              <a:buNone/>
            </a:pPr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Apresenta-se de seguida o detalhe da informação associada a cada um dos blocos referidos, que para além dos dados atualmente disponibilizados nos ficheiros acima indicados, inclui novos campos, devidamente assinalados…</a:t>
            </a:r>
          </a:p>
          <a:p>
            <a:pPr lvl="1" algn="just">
              <a:lnSpc>
                <a:spcPct val="150000"/>
              </a:lnSpc>
              <a:spcBef>
                <a:spcPts val="400"/>
              </a:spcBef>
              <a:buClr>
                <a:srgbClr val="FF0000"/>
              </a:buClr>
              <a:buNone/>
            </a:pPr>
            <a:endParaRPr lang="pt-PT" sz="1200" dirty="0">
              <a:solidFill>
                <a:schemeClr val="tx1"/>
              </a:solidFill>
              <a:latin typeface="Santander Text" panose="020B0504020201020104" pitchFamily="34" charset="0"/>
            </a:endParaRPr>
          </a:p>
          <a:p>
            <a:pPr marL="350838" lvl="1" indent="-171450" algn="just">
              <a:lnSpc>
                <a:spcPct val="150000"/>
              </a:lnSpc>
              <a:spcBef>
                <a:spcPts val="400"/>
              </a:spcBef>
              <a:buClr>
                <a:srgbClr val="FF0000"/>
              </a:buClr>
            </a:pPr>
            <a:r>
              <a:rPr lang="pt-PT" sz="1200" dirty="0">
                <a:solidFill>
                  <a:srgbClr val="FF0000"/>
                </a:solidFill>
                <a:latin typeface="Santander Text" panose="020B0504020201020104" pitchFamily="34" charset="0"/>
              </a:rPr>
              <a:t>Carregar os contactos definidos pela aplicação GS na aplicação </a:t>
            </a:r>
            <a:r>
              <a:rPr lang="pt-PT" sz="1200" dirty="0" err="1">
                <a:solidFill>
                  <a:srgbClr val="FF0000"/>
                </a:solidFill>
                <a:latin typeface="Santander Text" panose="020B0504020201020104" pitchFamily="34" charset="0"/>
              </a:rPr>
              <a:t>Genesys</a:t>
            </a:r>
            <a:endParaRPr lang="pt-PT" sz="1200" dirty="0">
              <a:solidFill>
                <a:srgbClr val="FF0000"/>
              </a:solidFill>
              <a:latin typeface="Santander Text" panose="020B0504020201020104" pitchFamily="34" charset="0"/>
            </a:endParaRPr>
          </a:p>
          <a:p>
            <a:pPr lvl="1" algn="just">
              <a:lnSpc>
                <a:spcPct val="150000"/>
              </a:lnSpc>
              <a:spcBef>
                <a:spcPts val="400"/>
              </a:spcBef>
              <a:buClr>
                <a:srgbClr val="FF0000"/>
              </a:buClr>
              <a:buNone/>
            </a:pPr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Carregar os contactos definidos pela aplicação GS na aplicação </a:t>
            </a:r>
            <a:r>
              <a:rPr lang="pt-PT" sz="1200" dirty="0" err="1">
                <a:solidFill>
                  <a:schemeClr val="tx1"/>
                </a:solidFill>
                <a:latin typeface="Santander Text" panose="020B0504020201020104" pitchFamily="34" charset="0"/>
              </a:rPr>
              <a:t>Genesys</a:t>
            </a:r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 através de chamadas a serviços </a:t>
            </a:r>
            <a:r>
              <a:rPr lang="pt-PT" sz="1200" dirty="0" err="1">
                <a:solidFill>
                  <a:schemeClr val="tx1"/>
                </a:solidFill>
                <a:latin typeface="Santander Text" panose="020B0504020201020104" pitchFamily="34" charset="0"/>
              </a:rPr>
              <a:t>Genesys</a:t>
            </a:r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 (API </a:t>
            </a:r>
            <a:r>
              <a:rPr lang="pt-PT" sz="1200" dirty="0" err="1">
                <a:solidFill>
                  <a:schemeClr val="tx1"/>
                </a:solidFill>
                <a:latin typeface="Santander Text" panose="020B0504020201020104" pitchFamily="34" charset="0"/>
              </a:rPr>
              <a:t>Bulk</a:t>
            </a:r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).</a:t>
            </a:r>
          </a:p>
          <a:p>
            <a:pPr lvl="1" algn="just">
              <a:lnSpc>
                <a:spcPct val="150000"/>
              </a:lnSpc>
              <a:spcBef>
                <a:spcPts val="400"/>
              </a:spcBef>
              <a:buClr>
                <a:srgbClr val="FF0000"/>
              </a:buClr>
              <a:buNone/>
            </a:pPr>
            <a:endParaRPr lang="pt-PT" sz="1200" dirty="0">
              <a:solidFill>
                <a:schemeClr val="tx1"/>
              </a:solidFill>
              <a:latin typeface="Santander Text" panose="020B0504020201020104" pitchFamily="34" charset="0"/>
            </a:endParaRPr>
          </a:p>
          <a:p>
            <a:pPr marL="350838" lvl="1" indent="-171450" algn="just">
              <a:lnSpc>
                <a:spcPct val="150000"/>
              </a:lnSpc>
              <a:spcBef>
                <a:spcPts val="400"/>
              </a:spcBef>
              <a:buClr>
                <a:srgbClr val="FF0000"/>
              </a:buClr>
            </a:pPr>
            <a:r>
              <a:rPr lang="pt-PT" sz="1200" dirty="0">
                <a:solidFill>
                  <a:srgbClr val="FF0000"/>
                </a:solidFill>
                <a:latin typeface="Santander Text" panose="020B0504020201020104" pitchFamily="34" charset="0"/>
              </a:rPr>
              <a:t>Invocação de API de Negócio desde a aplicação de Salesforce Service em Real-Time.</a:t>
            </a:r>
          </a:p>
          <a:p>
            <a:pPr lvl="1" algn="just">
              <a:lnSpc>
                <a:spcPct val="150000"/>
              </a:lnSpc>
              <a:spcBef>
                <a:spcPts val="400"/>
              </a:spcBef>
              <a:buClr>
                <a:srgbClr val="FF0000"/>
              </a:buClr>
              <a:buNone/>
            </a:pPr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Possibilidade de a aplicação de Salesforce Service invocar API de Negócio das aplicações de forma a consultar informação em Real-Time.</a:t>
            </a:r>
          </a:p>
          <a:p>
            <a:pPr lvl="1" algn="just">
              <a:lnSpc>
                <a:spcPct val="150000"/>
              </a:lnSpc>
              <a:spcBef>
                <a:spcPts val="400"/>
              </a:spcBef>
              <a:buClr>
                <a:srgbClr val="FF0000"/>
              </a:buClr>
              <a:buNone/>
            </a:pPr>
            <a:endParaRPr lang="pt-PT" sz="1200" dirty="0">
              <a:solidFill>
                <a:schemeClr val="tx1"/>
              </a:solidFill>
              <a:latin typeface="Santander Text" panose="020B0504020201020104" pitchFamily="34" charset="0"/>
            </a:endParaRPr>
          </a:p>
          <a:p>
            <a:pPr marL="350838" lvl="1" indent="-171450" algn="just">
              <a:lnSpc>
                <a:spcPct val="150000"/>
              </a:lnSpc>
              <a:spcBef>
                <a:spcPts val="400"/>
              </a:spcBef>
              <a:buClr>
                <a:srgbClr val="FF0000"/>
              </a:buClr>
            </a:pPr>
            <a:r>
              <a:rPr lang="pt-PT" sz="1200" dirty="0">
                <a:solidFill>
                  <a:srgbClr val="FF0000"/>
                </a:solidFill>
                <a:latin typeface="Santander Text" panose="020B0504020201020104" pitchFamily="34" charset="0"/>
              </a:rPr>
              <a:t>Invocação de TRX da aplicação de mainframe desde Salesforce Service</a:t>
            </a:r>
          </a:p>
          <a:p>
            <a:pPr lvl="1" algn="just">
              <a:lnSpc>
                <a:spcPct val="150000"/>
              </a:lnSpc>
              <a:spcBef>
                <a:spcPts val="400"/>
              </a:spcBef>
              <a:buClr>
                <a:srgbClr val="FF0000"/>
              </a:buClr>
              <a:buNone/>
            </a:pPr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Possibilidade de a aplicação de Salesforce Service invocar TRX da aplicação de mainframe para consulta de aplicações core.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D97B6-E32F-4D7D-B839-7C3B51F2640F}" type="slidenum">
              <a:rPr lang="pt-PT" smtClean="0"/>
              <a:pPr/>
              <a:t>15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191362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texto 5">
            <a:extLst>
              <a:ext uri="{FF2B5EF4-FFF2-40B4-BE49-F238E27FC236}">
                <a16:creationId xmlns:a16="http://schemas.microsoft.com/office/drawing/2014/main" id="{C5A6910C-A85B-4E78-920A-D86C8E059C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3" y="337100"/>
            <a:ext cx="8613730" cy="304800"/>
          </a:xfrm>
        </p:spPr>
        <p:txBody>
          <a:bodyPr/>
          <a:lstStyle/>
          <a:p>
            <a:r>
              <a:rPr lang="pt-PT" sz="2400"/>
              <a:t>Identificação e Descrição de Requisitos Funcionais (</a:t>
            </a:r>
            <a:r>
              <a:rPr lang="pt-PT" sz="2400">
                <a:solidFill>
                  <a:schemeClr val="bg1">
                    <a:lumMod val="50000"/>
                  </a:schemeClr>
                </a:solidFill>
              </a:rPr>
              <a:t>Continuação</a:t>
            </a:r>
            <a:r>
              <a:rPr lang="pt-PT" sz="2400"/>
              <a:t>)</a:t>
            </a: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551383" y="836100"/>
            <a:ext cx="10922661" cy="51563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lgDash"/>
          </a:ln>
        </p:spPr>
        <p:txBody>
          <a:bodyPr/>
          <a:lstStyle>
            <a:lvl1pPr marL="342900" indent="-342900" defTabSz="6985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w"/>
              <a:defRPr sz="2400" b="1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179388" defTabSz="6985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600">
                <a:solidFill>
                  <a:srgbClr val="808080"/>
                </a:solidFill>
                <a:latin typeface="Arial" panose="020B0604020202020204" pitchFamily="34" charset="0"/>
              </a:defRPr>
            </a:lvl2pPr>
            <a:lvl3pPr marL="979488" indent="-3429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marL="350838" lvl="1" indent="-171450" algn="just">
              <a:lnSpc>
                <a:spcPct val="150000"/>
              </a:lnSpc>
              <a:spcBef>
                <a:spcPts val="400"/>
              </a:spcBef>
              <a:buClr>
                <a:srgbClr val="FF0000"/>
              </a:buClr>
            </a:pPr>
            <a:r>
              <a:rPr lang="pt-PT" sz="1200">
                <a:solidFill>
                  <a:srgbClr val="FF0000"/>
                </a:solidFill>
                <a:latin typeface="Santander Text" panose="020B0504020201020104" pitchFamily="34" charset="0"/>
              </a:rPr>
              <a:t>Interface para </a:t>
            </a:r>
            <a:r>
              <a:rPr lang="pt-PT" sz="1200" err="1">
                <a:solidFill>
                  <a:srgbClr val="FF0000"/>
                </a:solidFill>
                <a:latin typeface="Santander Text" panose="020B0504020201020104" pitchFamily="34" charset="0"/>
              </a:rPr>
              <a:t>Triad</a:t>
            </a:r>
            <a:r>
              <a:rPr lang="pt-PT" sz="1200">
                <a:solidFill>
                  <a:srgbClr val="FF0000"/>
                </a:solidFill>
                <a:latin typeface="Santander Text" panose="020B0504020201020104" pitchFamily="34" charset="0"/>
              </a:rPr>
              <a:t> - Resultado dos Contactos</a:t>
            </a:r>
          </a:p>
          <a:p>
            <a:pPr lvl="1" algn="just">
              <a:lnSpc>
                <a:spcPct val="150000"/>
              </a:lnSpc>
              <a:spcBef>
                <a:spcPts val="400"/>
              </a:spcBef>
              <a:buClr>
                <a:srgbClr val="FF0000"/>
              </a:buClr>
              <a:buNone/>
            </a:pPr>
            <a:r>
              <a:rPr lang="pt-PT" sz="1200">
                <a:solidFill>
                  <a:schemeClr val="tx1"/>
                </a:solidFill>
                <a:latin typeface="Santander Text" panose="020B0504020201020104" pitchFamily="34" charset="0"/>
              </a:rPr>
              <a:t>Relativamente à informação a enviar para o TRIAD, deixará de ter como origem o ficheiro clientes.res recebido atualmente com os resultados dos contactos (com origem na atual plataforma da Altitude), passando a ter como origem a informação registada na Base de Dados de Contactos, proveniente da plataforma </a:t>
            </a:r>
            <a:r>
              <a:rPr lang="pt-PT" sz="1200" err="1">
                <a:solidFill>
                  <a:schemeClr val="tx1"/>
                </a:solidFill>
                <a:latin typeface="Santander Text" panose="020B0504020201020104" pitchFamily="34" charset="0"/>
              </a:rPr>
              <a:t>Genesys</a:t>
            </a:r>
            <a:r>
              <a:rPr lang="pt-PT" sz="1200">
                <a:solidFill>
                  <a:schemeClr val="tx1"/>
                </a:solidFill>
                <a:latin typeface="Santander Text" panose="020B0504020201020104" pitchFamily="34" charset="0"/>
              </a:rPr>
              <a:t>/Salesforce Service.</a:t>
            </a:r>
          </a:p>
          <a:p>
            <a:pPr lvl="1" algn="just">
              <a:lnSpc>
                <a:spcPct val="150000"/>
              </a:lnSpc>
              <a:spcBef>
                <a:spcPts val="400"/>
              </a:spcBef>
              <a:buClr>
                <a:srgbClr val="FF0000"/>
              </a:buClr>
              <a:buNone/>
            </a:pPr>
            <a:r>
              <a:rPr lang="pt-PT" sz="1200">
                <a:solidFill>
                  <a:schemeClr val="tx1"/>
                </a:solidFill>
                <a:latin typeface="Santander Text" panose="020B0504020201020104" pitchFamily="34" charset="0"/>
              </a:rPr>
              <a:t>Deverá ser assegurado que o TRIAD vai continuar a receber a mesma informação que atualmente, sendo apenas diferente o local onde é obtida. Importa referir que o processo de Isenção pontual de Clientes irá ser mantido inalterado, permanecendo este tratamento ao nível da aplicação de </a:t>
            </a:r>
            <a:r>
              <a:rPr lang="pt-PT" sz="1200" err="1">
                <a:solidFill>
                  <a:schemeClr val="tx1"/>
                </a:solidFill>
                <a:latin typeface="Santander Text" panose="020B0504020201020104" pitchFamily="34" charset="0"/>
              </a:rPr>
              <a:t>GS’s</a:t>
            </a:r>
            <a:r>
              <a:rPr lang="pt-PT" sz="1200">
                <a:solidFill>
                  <a:schemeClr val="tx1"/>
                </a:solidFill>
                <a:latin typeface="Santander Text" panose="020B0504020201020104" pitchFamily="34" charset="0"/>
              </a:rPr>
              <a:t>. </a:t>
            </a:r>
          </a:p>
          <a:p>
            <a:pPr lvl="1" algn="just">
              <a:lnSpc>
                <a:spcPct val="150000"/>
              </a:lnSpc>
              <a:spcBef>
                <a:spcPts val="400"/>
              </a:spcBef>
              <a:buClr>
                <a:srgbClr val="FF0000"/>
              </a:buClr>
              <a:buNone/>
            </a:pPr>
            <a:endParaRPr lang="pt-PT" sz="1200">
              <a:solidFill>
                <a:schemeClr val="tx1"/>
              </a:solidFill>
              <a:latin typeface="Santander Text" panose="020B0504020201020104" pitchFamily="34" charset="0"/>
            </a:endParaRPr>
          </a:p>
          <a:p>
            <a:pPr marL="350838" lvl="1" indent="-171450" algn="just">
              <a:lnSpc>
                <a:spcPct val="150000"/>
              </a:lnSpc>
              <a:spcBef>
                <a:spcPts val="400"/>
              </a:spcBef>
              <a:buClr>
                <a:srgbClr val="FF0000"/>
              </a:buClr>
            </a:pPr>
            <a:r>
              <a:rPr lang="pt-PT" sz="1200">
                <a:solidFill>
                  <a:srgbClr val="FF0000"/>
                </a:solidFill>
                <a:latin typeface="Santander Text" panose="020B0504020201020104" pitchFamily="34" charset="0"/>
              </a:rPr>
              <a:t>Descomissionar aplicação Altitude:</a:t>
            </a:r>
          </a:p>
          <a:p>
            <a:pPr marL="1150938" lvl="2" indent="-171450" algn="just">
              <a:lnSpc>
                <a:spcPct val="150000"/>
              </a:lnSpc>
              <a:spcBef>
                <a:spcPts val="400"/>
              </a:spcBef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pt-PT" sz="1200">
                <a:solidFill>
                  <a:schemeClr val="tx1"/>
                </a:solidFill>
                <a:latin typeface="Santander Text" panose="020B0504020201020104" pitchFamily="34" charset="0"/>
              </a:rPr>
              <a:t>Aplicação técnica existente em APM</a:t>
            </a:r>
          </a:p>
          <a:p>
            <a:pPr marL="1150938" lvl="2" indent="-171450" algn="just">
              <a:lnSpc>
                <a:spcPct val="150000"/>
              </a:lnSpc>
              <a:spcBef>
                <a:spcPts val="400"/>
              </a:spcBef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pt-PT" sz="1200">
                <a:solidFill>
                  <a:schemeClr val="tx1"/>
                </a:solidFill>
                <a:latin typeface="Santander Text" panose="020B0504020201020104" pitchFamily="34" charset="0"/>
              </a:rPr>
              <a:t>Todos os processos que hoje em dia alimentam a plataforma Altitude.</a:t>
            </a:r>
          </a:p>
          <a:p>
            <a:pPr marL="1150938" lvl="2" indent="-171450" algn="just">
              <a:lnSpc>
                <a:spcPct val="150000"/>
              </a:lnSpc>
              <a:spcBef>
                <a:spcPts val="400"/>
              </a:spcBef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pt-PT" sz="1200">
                <a:solidFill>
                  <a:schemeClr val="tx1"/>
                </a:solidFill>
                <a:latin typeface="Santander Text" panose="020B0504020201020104" pitchFamily="34" charset="0"/>
              </a:rPr>
              <a:t>Outros processos decorrentes da análise do projeto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D97B6-E32F-4D7D-B839-7C3B51F2640F}" type="slidenum">
              <a:rPr lang="pt-PT" smtClean="0"/>
              <a:pPr/>
              <a:t>16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583596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81C79-D94D-331B-B379-B569AFFF4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B1F8E2-38E8-5A76-343A-3F114F850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Solução Proposta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2E9D2A4-DDA6-EE27-D19C-E573489209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/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123829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5">
            <a:extLst>
              <a:ext uri="{FF2B5EF4-FFF2-40B4-BE49-F238E27FC236}">
                <a16:creationId xmlns:a16="http://schemas.microsoft.com/office/drawing/2014/main" id="{53C0C1D0-E38F-A040-697B-1419CA6940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383" y="1062528"/>
            <a:ext cx="10922661" cy="499204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lgDash"/>
          </a:ln>
        </p:spPr>
        <p:txBody>
          <a:bodyPr lIns="91440" tIns="45720" rIns="91440" bIns="45720" anchor="t"/>
          <a:lstStyle>
            <a:lvl1pPr marL="342900" indent="-342900" defTabSz="6985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w"/>
              <a:defRPr sz="2400" b="1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179388" defTabSz="6985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600">
                <a:solidFill>
                  <a:srgbClr val="808080"/>
                </a:solidFill>
                <a:latin typeface="Arial" panose="020B0604020202020204" pitchFamily="34" charset="0"/>
              </a:defRPr>
            </a:lvl2pPr>
            <a:lvl3pPr marL="979488" indent="-3429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marL="179070" lvl="1" algn="just">
              <a:lnSpc>
                <a:spcPct val="150000"/>
              </a:lnSpc>
              <a:spcBef>
                <a:spcPts val="400"/>
              </a:spcBef>
              <a:buClr>
                <a:srgbClr val="FF0000"/>
              </a:buClr>
              <a:buNone/>
            </a:pPr>
            <a:r>
              <a:rPr lang="pt-PT" sz="1200" dirty="0">
                <a:solidFill>
                  <a:schemeClr val="bg1">
                    <a:lumMod val="50000"/>
                  </a:schemeClr>
                </a:solidFill>
                <a:latin typeface="Santander Text" panose="020B0504020201020104" pitchFamily="34" charset="0"/>
              </a:rPr>
              <a:t>#Descrever de forma macro a solução proposta para a iniciativa/projeto#</a:t>
            </a:r>
            <a:endParaRPr lang="en-US" dirty="0"/>
          </a:p>
          <a:p>
            <a:pPr marL="179070" lvl="1" algn="just">
              <a:lnSpc>
                <a:spcPct val="150000"/>
              </a:lnSpc>
              <a:spcBef>
                <a:spcPts val="400"/>
              </a:spcBef>
              <a:buClr>
                <a:srgbClr val="FF0000"/>
              </a:buClr>
              <a:buNone/>
            </a:pPr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O objetivo deste slide consiste em detalhar/ilustrar uma possível solução/abordagem com os principais componentes, fluxos e sistemas envolvidos.</a:t>
            </a:r>
          </a:p>
          <a:p>
            <a:pPr marL="179070" lvl="1" algn="just">
              <a:lnSpc>
                <a:spcPct val="150000"/>
              </a:lnSpc>
              <a:spcBef>
                <a:spcPts val="400"/>
              </a:spcBef>
              <a:buClr>
                <a:srgbClr val="FF0000"/>
              </a:buClr>
              <a:buNone/>
            </a:pPr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É possível que enquanto equipa já tenhas identificado uma abordagem a uma solução para os requisitos identificados antes. Neste capítulo convidamos-te a ilustrar e detalhar a vossa proposta que será um bom ponto de partida para uma discussão saudável.</a:t>
            </a:r>
          </a:p>
          <a:p>
            <a:pPr marL="179070" lvl="1" algn="just">
              <a:lnSpc>
                <a:spcPct val="150000"/>
              </a:lnSpc>
              <a:spcBef>
                <a:spcPts val="400"/>
              </a:spcBef>
              <a:buNone/>
            </a:pPr>
            <a:r>
              <a:rPr lang="pt-PT" sz="1200" dirty="0">
                <a:solidFill>
                  <a:schemeClr val="bg1">
                    <a:lumMod val="50000"/>
                  </a:schemeClr>
                </a:solidFill>
                <a:latin typeface="Santander Text"/>
              </a:rPr>
              <a:t>Exemplo de Solução Proposta (Fluxo e principais componentes envolvidas):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D97B6-E32F-4D7D-B839-7C3B51F2640F}" type="slidenum">
              <a:rPr lang="pt-PT" smtClean="0"/>
              <a:pPr/>
              <a:t>18</a:t>
            </a:fld>
            <a:endParaRPr lang="pt-PT"/>
          </a:p>
        </p:txBody>
      </p:sp>
      <p:sp>
        <p:nvSpPr>
          <p:cNvPr id="8" name="Marcador de texto 5">
            <a:extLst>
              <a:ext uri="{FF2B5EF4-FFF2-40B4-BE49-F238E27FC236}">
                <a16:creationId xmlns:a16="http://schemas.microsoft.com/office/drawing/2014/main" id="{E9D962A9-73FA-0091-57D8-C002FB87E0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3" y="337100"/>
            <a:ext cx="8613730" cy="304800"/>
          </a:xfrm>
        </p:spPr>
        <p:txBody>
          <a:bodyPr/>
          <a:lstStyle/>
          <a:p>
            <a:r>
              <a:rPr lang="pt-PT" sz="2400"/>
              <a:t>Solução Proposta</a:t>
            </a:r>
            <a:br>
              <a:rPr lang="pt-PT" sz="2400"/>
            </a:br>
            <a:r>
              <a:rPr lang="pt-PT" sz="1800">
                <a:solidFill>
                  <a:schemeClr val="bg1">
                    <a:lumMod val="50000"/>
                  </a:schemeClr>
                </a:solidFill>
              </a:rPr>
              <a:t>Fluxo e principais componentes envolvidas</a:t>
            </a:r>
            <a:endParaRPr lang="pt-PT" sz="240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0A327D5-862C-F2B1-4C87-4C7B9EFAEB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6152" y="2636081"/>
            <a:ext cx="4811084" cy="3328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595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D97B6-E32F-4D7D-B839-7C3B51F2640F}" type="slidenum">
              <a:rPr lang="pt-PT" smtClean="0"/>
              <a:pPr/>
              <a:t>19</a:t>
            </a:fld>
            <a:endParaRPr lang="pt-PT"/>
          </a:p>
        </p:txBody>
      </p:sp>
      <p:sp>
        <p:nvSpPr>
          <p:cNvPr id="8" name="Marcador de texto 5">
            <a:extLst>
              <a:ext uri="{FF2B5EF4-FFF2-40B4-BE49-F238E27FC236}">
                <a16:creationId xmlns:a16="http://schemas.microsoft.com/office/drawing/2014/main" id="{E9D962A9-73FA-0091-57D8-C002FB87E0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3" y="337100"/>
            <a:ext cx="8613730" cy="304800"/>
          </a:xfrm>
        </p:spPr>
        <p:txBody>
          <a:bodyPr/>
          <a:lstStyle/>
          <a:p>
            <a:r>
              <a:rPr lang="pt-PT" sz="2400"/>
              <a:t>Solução Proposta</a:t>
            </a:r>
            <a:br>
              <a:rPr lang="pt-PT" sz="2400"/>
            </a:br>
            <a:r>
              <a:rPr lang="pt-PT" sz="1800">
                <a:solidFill>
                  <a:schemeClr val="bg1">
                    <a:lumMod val="50000"/>
                  </a:schemeClr>
                </a:solidFill>
              </a:rPr>
              <a:t>Descrição funcional</a:t>
            </a:r>
            <a:endParaRPr lang="pt-PT" sz="24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53C0C1D0-E38F-A040-697B-1419CA6940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383" y="1062527"/>
            <a:ext cx="10922661" cy="494765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lgDash"/>
          </a:ln>
        </p:spPr>
        <p:txBody>
          <a:bodyPr lIns="91440" tIns="45720" rIns="91440" bIns="45720" anchor="t"/>
          <a:lstStyle>
            <a:lvl1pPr marL="342900" indent="-342900" defTabSz="6985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w"/>
              <a:defRPr sz="2400" b="1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179388" defTabSz="6985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600">
                <a:solidFill>
                  <a:srgbClr val="808080"/>
                </a:solidFill>
                <a:latin typeface="Arial" panose="020B0604020202020204" pitchFamily="34" charset="0"/>
              </a:defRPr>
            </a:lvl2pPr>
            <a:lvl3pPr marL="979488" indent="-3429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marL="179070" lvl="1" algn="just">
              <a:lnSpc>
                <a:spcPct val="150000"/>
              </a:lnSpc>
              <a:buClr>
                <a:srgbClr val="FF0000"/>
              </a:buClr>
              <a:buNone/>
            </a:pPr>
            <a:r>
              <a:rPr lang="pt-BR" altLang="es-ES" sz="12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#Descrever de forma detalhada a proposta apresentada no slide da solução proposta#</a:t>
            </a:r>
          </a:p>
          <a:p>
            <a:pPr marL="179070" lvl="1" algn="just">
              <a:lnSpc>
                <a:spcPct val="150000"/>
              </a:lnSpc>
              <a:buNone/>
            </a:pPr>
            <a:r>
              <a:rPr lang="pt-BR" altLang="es-ES" sz="1200">
                <a:solidFill>
                  <a:schemeClr val="tx1"/>
                </a:solidFill>
                <a:latin typeface="Arial"/>
                <a:cs typeface="Arial"/>
              </a:rPr>
              <a:t>Exemplo de Solução Proposta (Descrição Funcional):</a:t>
            </a:r>
          </a:p>
          <a:p>
            <a:pPr marL="179070" lvl="1" algn="just">
              <a:lnSpc>
                <a:spcPct val="150000"/>
              </a:lnSpc>
              <a:buNone/>
            </a:pPr>
            <a:r>
              <a:rPr lang="pt-BR" altLang="es-ES" sz="12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#Colocar descrição dos pontos enumerados no slide da solução proposta (slide anterior)#</a:t>
            </a:r>
            <a:endParaRPr lang="pt-BR">
              <a:solidFill>
                <a:schemeClr val="bg1">
                  <a:lumMod val="50000"/>
                </a:schemeClr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20566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619573-2336-CD91-F193-638A63A13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5">
            <a:extLst>
              <a:ext uri="{FF2B5EF4-FFF2-40B4-BE49-F238E27FC236}">
                <a16:creationId xmlns:a16="http://schemas.microsoft.com/office/drawing/2014/main" id="{9EA2F5CD-44CF-2A00-2C12-17BFD80E12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383" y="1062528"/>
            <a:ext cx="10922661" cy="500979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lgDash"/>
          </a:ln>
        </p:spPr>
        <p:txBody>
          <a:bodyPr lIns="91440" tIns="45720" rIns="91440" bIns="45720" anchor="t"/>
          <a:lstStyle>
            <a:lvl1pPr marL="342900" indent="-342900" defTabSz="6985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w"/>
              <a:defRPr sz="2400" b="1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179388" defTabSz="6985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600">
                <a:solidFill>
                  <a:srgbClr val="808080"/>
                </a:solidFill>
                <a:latin typeface="Arial" panose="020B0604020202020204" pitchFamily="34" charset="0"/>
              </a:defRPr>
            </a:lvl2pPr>
            <a:lvl3pPr marL="979488" indent="-3429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marL="179070" lvl="1" algn="just">
              <a:lnSpc>
                <a:spcPct val="150000"/>
              </a:lnSpc>
              <a:buClr>
                <a:srgbClr val="FF0000"/>
              </a:buClr>
              <a:buNone/>
            </a:pPr>
            <a:r>
              <a:rPr lang="pt-BR" altLang="es-ES" sz="1200" dirty="0">
                <a:solidFill>
                  <a:schemeClr val="bg1">
                    <a:lumMod val="50000"/>
                  </a:schemeClr>
                </a:solidFill>
              </a:rPr>
              <a:t>#</a:t>
            </a:r>
            <a:r>
              <a:rPr lang="pt-PT" sz="1200" dirty="0">
                <a:solidFill>
                  <a:schemeClr val="bg1">
                    <a:lumMod val="50000"/>
                  </a:schemeClr>
                </a:solidFill>
                <a:latin typeface="Santander Text" panose="020B0504020201020104" pitchFamily="34" charset="0"/>
              </a:rPr>
              <a:t>Descrever o diagrama de sequência de atividades a implementar para a iniciativa/projeto</a:t>
            </a:r>
            <a:r>
              <a:rPr lang="pt-BR" altLang="es-ES" sz="1200" dirty="0">
                <a:solidFill>
                  <a:schemeClr val="bg1">
                    <a:lumMod val="50000"/>
                  </a:schemeClr>
                </a:solidFill>
              </a:rPr>
              <a:t>#</a:t>
            </a:r>
            <a:endParaRPr lang="en-US" dirty="0"/>
          </a:p>
          <a:p>
            <a:pPr marL="179070" lvl="1" algn="just">
              <a:lnSpc>
                <a:spcPct val="150000"/>
              </a:lnSpc>
              <a:buClr>
                <a:srgbClr val="FF0000"/>
              </a:buClr>
              <a:buNone/>
            </a:pPr>
            <a:r>
              <a:rPr lang="pt-BR" altLang="es-ES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Exemplo de um diagrama de sequência de atividades.</a:t>
            </a:r>
          </a:p>
        </p:txBody>
      </p:sp>
      <p:sp>
        <p:nvSpPr>
          <p:cNvPr id="226" name="Marcador de número de diapositiva 4">
            <a:extLst>
              <a:ext uri="{FF2B5EF4-FFF2-40B4-BE49-F238E27FC236}">
                <a16:creationId xmlns:a16="http://schemas.microsoft.com/office/drawing/2014/main" id="{6CBAD739-AF72-2AC8-7E79-42EEDBA4A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44568" y="6545676"/>
            <a:ext cx="447432" cy="365125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20</a:t>
            </a:fld>
            <a:endParaRPr lang="es-E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2E3F51B-A94F-52E6-EE2A-2CC3527B06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7232" y="1736135"/>
            <a:ext cx="8394014" cy="41970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Marcador de texto 5">
            <a:extLst>
              <a:ext uri="{FF2B5EF4-FFF2-40B4-BE49-F238E27FC236}">
                <a16:creationId xmlns:a16="http://schemas.microsoft.com/office/drawing/2014/main" id="{3EE5508F-1BDB-E067-2BA4-889B10C0A24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3" y="337100"/>
            <a:ext cx="8613730" cy="304800"/>
          </a:xfrm>
        </p:spPr>
        <p:txBody>
          <a:bodyPr/>
          <a:lstStyle/>
          <a:p>
            <a:r>
              <a:rPr lang="pt-PT" sz="2400"/>
              <a:t>Solução Proposta</a:t>
            </a:r>
            <a:br>
              <a:rPr lang="pt-PT" sz="2400"/>
            </a:br>
            <a:r>
              <a:rPr lang="pt-PT" sz="1800">
                <a:solidFill>
                  <a:schemeClr val="tx1">
                    <a:lumMod val="75000"/>
                    <a:lumOff val="25000"/>
                  </a:schemeClr>
                </a:solidFill>
              </a:rPr>
              <a:t>Fluxo/Diagrama de sequência de atividades</a:t>
            </a:r>
            <a:endParaRPr lang="pt-PT" sz="240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9965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D97B6-E32F-4D7D-B839-7C3B51F2640F}" type="slidenum">
              <a:rPr lang="pt-PT" smtClean="0"/>
              <a:pPr/>
              <a:t>21</a:t>
            </a:fld>
            <a:endParaRPr lang="pt-PT"/>
          </a:p>
        </p:txBody>
      </p:sp>
      <p:graphicFrame>
        <p:nvGraphicFramePr>
          <p:cNvPr id="36" name="Group 3">
            <a:extLst>
              <a:ext uri="{FF2B5EF4-FFF2-40B4-BE49-F238E27FC236}">
                <a16:creationId xmlns:a16="http://schemas.microsoft.com/office/drawing/2014/main" id="{7B76DFA0-34C4-4F4F-A5AE-433C3F1350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0667272"/>
              </p:ext>
            </p:extLst>
          </p:nvPr>
        </p:nvGraphicFramePr>
        <p:xfrm>
          <a:off x="711023" y="1686771"/>
          <a:ext cx="5185598" cy="3889549"/>
        </p:xfrm>
        <a:graphic>
          <a:graphicData uri="http://schemas.openxmlformats.org/drawingml/2006/table">
            <a:tbl>
              <a:tblPr/>
              <a:tblGrid>
                <a:gridCol w="21874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981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792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25000"/>
                        <a:buFont typeface="Times" pitchFamily="18" charset="0"/>
                        <a:buNone/>
                        <a:tabLst>
                          <a:tab pos="450850" algn="l"/>
                          <a:tab pos="900113" algn="l"/>
                          <a:tab pos="1349375" algn="l"/>
                          <a:tab pos="2251075" algn="l"/>
                        </a:tabLst>
                      </a:pPr>
                      <a:r>
                        <a:rPr kumimoji="0" lang="pt-PT" sz="1200" b="1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API/Recurso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25000"/>
                        <a:buFont typeface="Times" pitchFamily="18" charset="0"/>
                        <a:buNone/>
                        <a:tabLst>
                          <a:tab pos="450850" algn="l"/>
                          <a:tab pos="900113" algn="l"/>
                          <a:tab pos="1349375" algn="l"/>
                          <a:tab pos="2251075" algn="l"/>
                        </a:tabLst>
                      </a:pPr>
                      <a:r>
                        <a:rPr kumimoji="0" lang="pt-PT" sz="1200" b="1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Finalidade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2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r>
                        <a:rPr kumimoji="0" lang="pt-PT" sz="1000" b="0" i="0" u="none" strike="noStrike" kern="1200" cap="none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API Notifications</a:t>
                      </a:r>
                    </a:p>
                  </a:txBody>
                  <a:tcPr marL="36000" marR="36000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r>
                        <a:rPr kumimoji="0" lang="pt-PT" sz="1000" b="0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…</a:t>
                      </a:r>
                    </a:p>
                  </a:txBody>
                  <a:tcPr marL="36000" marR="36000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2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000" b="0" i="0" u="none" strike="noStrike" kern="1200" cap="none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endParaRPr kumimoji="0" lang="pt-PT" sz="10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6000" marR="36000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2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endParaRPr kumimoji="0" lang="pt-PT" sz="10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6000" marR="36000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endParaRPr kumimoji="0" lang="pt-PT" sz="10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6000" marR="36000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2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endParaRPr kumimoji="0" lang="pt-PT" sz="10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6000" marR="36000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endParaRPr kumimoji="0" lang="pt-PT" sz="10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6000" marR="36000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2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endParaRPr kumimoji="0" lang="pt-PT" sz="10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6000" marR="36000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endParaRPr kumimoji="0" lang="pt-PT" sz="10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6000" marR="36000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2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0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0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2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endParaRPr kumimoji="0" lang="pt-PT" sz="10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endParaRPr kumimoji="0" lang="pt-PT" sz="10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2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endParaRPr kumimoji="0" lang="pt-PT" sz="10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6000" marR="36000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endParaRPr kumimoji="0" lang="pt-PT" sz="10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6000" marR="36000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2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0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0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2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0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0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2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endParaRPr kumimoji="0" lang="pt-PT" sz="10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endParaRPr kumimoji="0" lang="pt-PT" sz="10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37" name="TextBox 36">
            <a:extLst>
              <a:ext uri="{FF2B5EF4-FFF2-40B4-BE49-F238E27FC236}">
                <a16:creationId xmlns:a16="http://schemas.microsoft.com/office/drawing/2014/main" id="{BDB7646A-C71E-4459-B0F6-AC28CB2FFCDC}"/>
              </a:ext>
            </a:extLst>
          </p:cNvPr>
          <p:cNvSpPr txBox="1"/>
          <p:nvPr/>
        </p:nvSpPr>
        <p:spPr>
          <a:xfrm>
            <a:off x="647653" y="1290292"/>
            <a:ext cx="1647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err="1">
                <a:solidFill>
                  <a:schemeClr val="accent5"/>
                </a:solidFill>
                <a:latin typeface="Santander Text" panose="020B0504020201020104" pitchFamily="34" charset="0"/>
              </a:rPr>
              <a:t>APIs</a:t>
            </a:r>
            <a:r>
              <a:rPr lang="pt-PT">
                <a:solidFill>
                  <a:schemeClr val="accent5"/>
                </a:solidFill>
                <a:latin typeface="Santander Text" panose="020B0504020201020104" pitchFamily="34" charset="0"/>
              </a:rPr>
              <a:t> Existentes</a:t>
            </a:r>
          </a:p>
        </p:txBody>
      </p:sp>
      <p:graphicFrame>
        <p:nvGraphicFramePr>
          <p:cNvPr id="38" name="Group 3">
            <a:extLst>
              <a:ext uri="{FF2B5EF4-FFF2-40B4-BE49-F238E27FC236}">
                <a16:creationId xmlns:a16="http://schemas.microsoft.com/office/drawing/2014/main" id="{4700F0A1-427A-4BAA-A777-149CACDB17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5635908"/>
              </p:ext>
            </p:extLst>
          </p:nvPr>
        </p:nvGraphicFramePr>
        <p:xfrm>
          <a:off x="6293393" y="1686771"/>
          <a:ext cx="5019042" cy="3943474"/>
        </p:xfrm>
        <a:graphic>
          <a:graphicData uri="http://schemas.openxmlformats.org/drawingml/2006/table">
            <a:tbl>
              <a:tblPr/>
              <a:tblGrid>
                <a:gridCol w="21171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01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792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25000"/>
                        <a:buFont typeface="Times" pitchFamily="18" charset="0"/>
                        <a:buNone/>
                        <a:tabLst>
                          <a:tab pos="450850" algn="l"/>
                          <a:tab pos="900113" algn="l"/>
                          <a:tab pos="1349375" algn="l"/>
                          <a:tab pos="2251075" algn="l"/>
                        </a:tabLst>
                      </a:pPr>
                      <a:r>
                        <a:rPr kumimoji="0" lang="pt-PT" sz="1200" b="1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API/Recurso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25000"/>
                        <a:buFont typeface="Times" pitchFamily="18" charset="0"/>
                        <a:buNone/>
                        <a:tabLst>
                          <a:tab pos="450850" algn="l"/>
                          <a:tab pos="900113" algn="l"/>
                          <a:tab pos="1349375" algn="l"/>
                          <a:tab pos="2251075" algn="l"/>
                        </a:tabLst>
                      </a:pPr>
                      <a:r>
                        <a:rPr kumimoji="0" lang="pt-PT" sz="1200" b="1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Finalidade / </a:t>
                      </a:r>
                      <a:r>
                        <a:rPr kumimoji="0" lang="pt-PT" sz="1200" b="1" i="0" u="none" strike="noStrike" cap="none" normalizeH="0" baseline="0" noProof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Backend</a:t>
                      </a:r>
                      <a:endParaRPr kumimoji="0" lang="pt-PT" sz="1200" b="1" i="0" u="none" strike="noStrike" cap="none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2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r>
                        <a:rPr kumimoji="0" lang="pt-PT" sz="1000" b="0" i="0" u="none" strike="noStrike" kern="1200" cap="none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A identificação de API novas, está em análise pela equipa de projeto</a:t>
                      </a:r>
                    </a:p>
                  </a:txBody>
                  <a:tcPr marL="36000" marR="36000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0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0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0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0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0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2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0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0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2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0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0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2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0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0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2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0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0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2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0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0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2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0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0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2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0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0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2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0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0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39" name="TextBox 38">
            <a:extLst>
              <a:ext uri="{FF2B5EF4-FFF2-40B4-BE49-F238E27FC236}">
                <a16:creationId xmlns:a16="http://schemas.microsoft.com/office/drawing/2014/main" id="{D7EA951E-35FE-44D1-AC69-8C89BBC40DE9}"/>
              </a:ext>
            </a:extLst>
          </p:cNvPr>
          <p:cNvSpPr txBox="1"/>
          <p:nvPr/>
        </p:nvSpPr>
        <p:spPr>
          <a:xfrm>
            <a:off x="6198716" y="1290292"/>
            <a:ext cx="12508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err="1">
                <a:solidFill>
                  <a:schemeClr val="accent3"/>
                </a:solidFill>
                <a:latin typeface="Santander Text" panose="020B0504020201020104" pitchFamily="34" charset="0"/>
              </a:rPr>
              <a:t>APIs</a:t>
            </a:r>
            <a:r>
              <a:rPr lang="pt-PT">
                <a:solidFill>
                  <a:schemeClr val="accent3"/>
                </a:solidFill>
                <a:latin typeface="Santander Text" panose="020B0504020201020104" pitchFamily="34" charset="0"/>
              </a:rPr>
              <a:t> Novas</a:t>
            </a:r>
          </a:p>
        </p:txBody>
      </p:sp>
      <p:sp>
        <p:nvSpPr>
          <p:cNvPr id="5" name="Action Button: Get Information 4">
            <a:hlinkClick r:id="rId3" highlightClick="1"/>
            <a:extLst>
              <a:ext uri="{FF2B5EF4-FFF2-40B4-BE49-F238E27FC236}">
                <a16:creationId xmlns:a16="http://schemas.microsoft.com/office/drawing/2014/main" id="{C2E36A8A-01CF-4C2D-AF5B-7DDD877BCF2A}"/>
              </a:ext>
            </a:extLst>
          </p:cNvPr>
          <p:cNvSpPr/>
          <p:nvPr/>
        </p:nvSpPr>
        <p:spPr>
          <a:xfrm>
            <a:off x="5526705" y="1290292"/>
            <a:ext cx="360040" cy="360040"/>
          </a:xfrm>
          <a:prstGeom prst="actionButtonInformation">
            <a:avLst/>
          </a:prstGeom>
          <a:solidFill>
            <a:schemeClr val="accent5"/>
          </a:solidFill>
          <a:ln>
            <a:noFill/>
          </a:ln>
          <a:scene3d>
            <a:camera prst="orthographicFront"/>
            <a:lightRig rig="threePt" dir="t"/>
          </a:scene3d>
          <a:sp3d>
            <a:bevelT w="381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3349DD2-67F5-4EEF-9501-219829556344}"/>
              </a:ext>
            </a:extLst>
          </p:cNvPr>
          <p:cNvSpPr txBox="1"/>
          <p:nvPr/>
        </p:nvSpPr>
        <p:spPr>
          <a:xfrm>
            <a:off x="4750142" y="1240462"/>
            <a:ext cx="7595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PT" sz="1200">
                <a:solidFill>
                  <a:schemeClr val="accent5"/>
                </a:solidFill>
                <a:latin typeface="Santander Text" panose="020B0504020201020104" pitchFamily="34" charset="0"/>
              </a:rPr>
              <a:t>Catálogo de </a:t>
            </a:r>
            <a:r>
              <a:rPr lang="pt-PT" sz="1200" err="1">
                <a:solidFill>
                  <a:schemeClr val="accent5"/>
                </a:solidFill>
                <a:latin typeface="Santander Text" panose="020B0504020201020104" pitchFamily="34" charset="0"/>
              </a:rPr>
              <a:t>APIs</a:t>
            </a:r>
            <a:endParaRPr lang="pt-PT" sz="1200">
              <a:solidFill>
                <a:schemeClr val="accent5"/>
              </a:solidFill>
              <a:latin typeface="Santander Text" panose="020B0504020201020104" pitchFamily="34" charset="0"/>
            </a:endParaRPr>
          </a:p>
        </p:txBody>
      </p:sp>
      <p:sp>
        <p:nvSpPr>
          <p:cNvPr id="10" name="Marcador de texto 5">
            <a:extLst>
              <a:ext uri="{FF2B5EF4-FFF2-40B4-BE49-F238E27FC236}">
                <a16:creationId xmlns:a16="http://schemas.microsoft.com/office/drawing/2014/main" id="{409C8D65-A905-A686-9988-2E6E1F1A8E0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3" y="337100"/>
            <a:ext cx="8613730" cy="30480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t-PT" sz="2400">
                <a:latin typeface="Santander Text"/>
              </a:rPr>
              <a:t>Solução Proposta</a:t>
            </a:r>
            <a:br>
              <a:rPr lang="pt-PT" sz="2400"/>
            </a:br>
            <a:r>
              <a:rPr lang="pt-PT" sz="1800">
                <a:solidFill>
                  <a:schemeClr val="tx1">
                    <a:lumMod val="75000"/>
                    <a:lumOff val="25000"/>
                  </a:schemeClr>
                </a:solidFill>
                <a:latin typeface="Santander Text"/>
              </a:rPr>
              <a:t>APIs identificadas</a:t>
            </a:r>
            <a:endParaRPr lang="pt-PT" sz="2400">
              <a:solidFill>
                <a:schemeClr val="tx1">
                  <a:lumMod val="75000"/>
                  <a:lumOff val="25000"/>
                </a:schemeClr>
              </a:solidFill>
              <a:latin typeface="Santander Text"/>
            </a:endParaRPr>
          </a:p>
        </p:txBody>
      </p:sp>
    </p:spTree>
    <p:extLst>
      <p:ext uri="{BB962C8B-B14F-4D97-AF65-F5344CB8AC3E}">
        <p14:creationId xmlns:p14="http://schemas.microsoft.com/office/powerpoint/2010/main" val="33885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3E78DA-069E-4823-8E49-CBFF8D792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519" y="626373"/>
            <a:ext cx="4466404" cy="2852737"/>
          </a:xfrm>
        </p:spPr>
        <p:txBody>
          <a:bodyPr>
            <a:normAutofit/>
          </a:bodyPr>
          <a:lstStyle/>
          <a:p>
            <a:r>
              <a:rPr lang="pt-PT">
                <a:latin typeface="Santander Text"/>
              </a:rPr>
              <a:t>Dados</a:t>
            </a:r>
            <a:br>
              <a:rPr lang="pt-PT">
                <a:latin typeface="Santander Text"/>
              </a:rPr>
            </a:br>
            <a:r>
              <a:rPr lang="pt-PT">
                <a:latin typeface="Santander Text"/>
              </a:rPr>
              <a:t>Fontes, Transformações e Consumo.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6DCEE02-D34D-4F11-9432-3B5DE7C3D5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/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29617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D97B6-E32F-4D7D-B839-7C3B51F2640F}" type="slidenum">
              <a:rPr lang="pt-PT" smtClean="0"/>
              <a:pPr/>
              <a:t>23</a:t>
            </a:fld>
            <a:endParaRPr lang="pt-PT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A03B753-95AE-44F3-A018-59F5360A784E}"/>
              </a:ext>
            </a:extLst>
          </p:cNvPr>
          <p:cNvSpPr txBox="1"/>
          <p:nvPr/>
        </p:nvSpPr>
        <p:spPr>
          <a:xfrm>
            <a:off x="551382" y="2714485"/>
            <a:ext cx="3253999" cy="2935525"/>
          </a:xfrm>
          <a:prstGeom prst="round2SameRect">
            <a:avLst>
              <a:gd name="adj1" fmla="val 0"/>
              <a:gd name="adj2" fmla="val 3172"/>
            </a:avLst>
          </a:prstGeom>
          <a:solidFill>
            <a:schemeClr val="bg2"/>
          </a:solidFill>
        </p:spPr>
        <p:txBody>
          <a:bodyPr wrap="square" rtlCol="0">
            <a:noAutofit/>
          </a:bodyPr>
          <a:lstStyle/>
          <a:p>
            <a:pPr marL="266700" lvl="1" indent="-177800">
              <a:lnSpc>
                <a:spcPct val="120000"/>
              </a:lnSpc>
              <a:buFont typeface="+mj-lt"/>
              <a:buAutoNum type="arabicPeriod"/>
            </a:pPr>
            <a:r>
              <a:rPr lang="pt-PT" sz="1050" i="1">
                <a:latin typeface="Santander Text" panose="020B0504020201020104" pitchFamily="34" charset="0"/>
              </a:rPr>
              <a:t>Mainframe, aplicações core que fornecem informação para o </a:t>
            </a:r>
            <a:r>
              <a:rPr lang="pt-PT" sz="1050" i="1" err="1">
                <a:latin typeface="Santander Text" panose="020B0504020201020104" pitchFamily="34" charset="0"/>
              </a:rPr>
              <a:t>Triad</a:t>
            </a:r>
            <a:endParaRPr lang="pt-PT" sz="1050" i="1">
              <a:latin typeface="Santander Text" panose="020B0504020201020104" pitchFamily="34" charset="0"/>
            </a:endParaRPr>
          </a:p>
          <a:p>
            <a:pPr marL="266700" lvl="1" indent="-177800">
              <a:lnSpc>
                <a:spcPct val="120000"/>
              </a:lnSpc>
              <a:buFont typeface="+mj-lt"/>
              <a:buAutoNum type="arabicPeriod"/>
            </a:pPr>
            <a:r>
              <a:rPr lang="pt-PT" sz="1050" i="1" err="1">
                <a:latin typeface="Santander Text" panose="020B0504020201020104" pitchFamily="34" charset="0"/>
              </a:rPr>
              <a:t>Triad</a:t>
            </a:r>
            <a:r>
              <a:rPr lang="pt-PT" sz="1050" i="1">
                <a:latin typeface="Santander Text" panose="020B0504020201020104" pitchFamily="34" charset="0"/>
              </a:rPr>
              <a:t>, processo de </a:t>
            </a:r>
            <a:r>
              <a:rPr lang="pt-PT" sz="1050" i="1" err="1">
                <a:latin typeface="Santander Text" panose="020B0504020201020104" pitchFamily="34" charset="0"/>
              </a:rPr>
              <a:t>Collections</a:t>
            </a:r>
            <a:r>
              <a:rPr lang="pt-PT" sz="1050" i="1">
                <a:latin typeface="Santander Text" panose="020B0504020201020104" pitchFamily="34" charset="0"/>
              </a:rPr>
              <a:t> que identifica o universo de clientes em incumprimento</a:t>
            </a:r>
          </a:p>
          <a:p>
            <a:pPr marL="266700" lvl="1" indent="-177800">
              <a:lnSpc>
                <a:spcPct val="120000"/>
              </a:lnSpc>
              <a:buFont typeface="+mj-lt"/>
              <a:buAutoNum type="arabicPeriod"/>
            </a:pPr>
            <a:r>
              <a:rPr lang="pt-PT" sz="1050" i="1">
                <a:latin typeface="Santander Text" panose="020B0504020201020104" pitchFamily="34" charset="0"/>
              </a:rPr>
              <a:t>Mainframe, aplicação GS que aplica enriquecimento de dados e que associa os clientes/contratos às campanhas. Reúne nas suas tabelas informação de outras aplicações core (informação de cliente, contratos, …), por forma a reunir informação de contexto à chamada/interação com o cliente</a:t>
            </a:r>
          </a:p>
          <a:p>
            <a:pPr marL="266700" lvl="1" indent="-177800">
              <a:lnSpc>
                <a:spcPct val="120000"/>
              </a:lnSpc>
              <a:buFont typeface="+mj-lt"/>
              <a:buAutoNum type="arabicPeriod"/>
            </a:pPr>
            <a:r>
              <a:rPr lang="pt-PT" sz="1050" i="1" err="1">
                <a:latin typeface="Santander Text" panose="020B0504020201020104" pitchFamily="34" charset="0"/>
              </a:rPr>
              <a:t>Genesys</a:t>
            </a:r>
            <a:r>
              <a:rPr lang="pt-PT" sz="1050" i="1">
                <a:latin typeface="Santander Text" panose="020B0504020201020104" pitchFamily="34" charset="0"/>
              </a:rPr>
              <a:t> – Aplicação que aplica a prioridade de chamadas e efetua a gestão de chamadas.</a:t>
            </a:r>
          </a:p>
          <a:p>
            <a:pPr marL="266700" lvl="1" indent="-177800">
              <a:lnSpc>
                <a:spcPct val="120000"/>
              </a:lnSpc>
              <a:buFont typeface="+mj-lt"/>
              <a:buAutoNum type="arabicPeriod"/>
            </a:pPr>
            <a:r>
              <a:rPr lang="pt-PT" sz="1050" i="1">
                <a:latin typeface="Santander Text" panose="020B0504020201020104" pitchFamily="34" charset="0"/>
              </a:rPr>
              <a:t>Salesforce Service – Para a apresentação e recolha de informação no contexto da chamada.</a:t>
            </a:r>
          </a:p>
        </p:txBody>
      </p:sp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11DFDF61-1CD0-474A-8704-697F75203C2D}"/>
              </a:ext>
            </a:extLst>
          </p:cNvPr>
          <p:cNvSpPr/>
          <p:nvPr/>
        </p:nvSpPr>
        <p:spPr>
          <a:xfrm>
            <a:off x="551382" y="2152281"/>
            <a:ext cx="3253999" cy="538771"/>
          </a:xfrm>
          <a:prstGeom prst="round2Same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b="1">
                <a:latin typeface="Santander Text" panose="020B0504020201020104" pitchFamily="34" charset="0"/>
              </a:rPr>
              <a:t>Fontes</a:t>
            </a:r>
            <a:r>
              <a:rPr lang="pt-PT">
                <a:latin typeface="Santander Text" panose="020B0504020201020104" pitchFamily="34" charset="0"/>
              </a:rPr>
              <a:t> de Dados</a:t>
            </a:r>
          </a:p>
        </p:txBody>
      </p:sp>
      <p:sp>
        <p:nvSpPr>
          <p:cNvPr id="16" name="Rectangle: Top Corners Rounded 15">
            <a:extLst>
              <a:ext uri="{FF2B5EF4-FFF2-40B4-BE49-F238E27FC236}">
                <a16:creationId xmlns:a16="http://schemas.microsoft.com/office/drawing/2014/main" id="{5E7077B5-902E-4C86-9557-6F21F132638D}"/>
              </a:ext>
            </a:extLst>
          </p:cNvPr>
          <p:cNvSpPr/>
          <p:nvPr/>
        </p:nvSpPr>
        <p:spPr>
          <a:xfrm>
            <a:off x="4387191" y="2152281"/>
            <a:ext cx="3253999" cy="538771"/>
          </a:xfrm>
          <a:prstGeom prst="round2Same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b="1">
                <a:latin typeface="Santander Text" panose="020B0504020201020104" pitchFamily="34" charset="0"/>
              </a:rPr>
              <a:t>Transformação</a:t>
            </a:r>
            <a:r>
              <a:rPr lang="pt-PT">
                <a:latin typeface="Santander Text" panose="020B0504020201020104" pitchFamily="34" charset="0"/>
              </a:rPr>
              <a:t> de Dados</a:t>
            </a:r>
          </a:p>
        </p:txBody>
      </p:sp>
      <p:sp>
        <p:nvSpPr>
          <p:cNvPr id="17" name="Rectangle: Top Corners Rounded 16">
            <a:extLst>
              <a:ext uri="{FF2B5EF4-FFF2-40B4-BE49-F238E27FC236}">
                <a16:creationId xmlns:a16="http://schemas.microsoft.com/office/drawing/2014/main" id="{CBA7DA38-3BDE-4C10-9864-39EA3CC052D4}"/>
              </a:ext>
            </a:extLst>
          </p:cNvPr>
          <p:cNvSpPr/>
          <p:nvPr/>
        </p:nvSpPr>
        <p:spPr>
          <a:xfrm>
            <a:off x="8223000" y="2152281"/>
            <a:ext cx="3253999" cy="538771"/>
          </a:xfrm>
          <a:prstGeom prst="round2Same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b="1">
                <a:latin typeface="Santander Text" panose="020B0504020201020104" pitchFamily="34" charset="0"/>
              </a:rPr>
              <a:t>Consumo</a:t>
            </a:r>
            <a:r>
              <a:rPr lang="pt-PT">
                <a:latin typeface="Santander Text" panose="020B0504020201020104" pitchFamily="34" charset="0"/>
              </a:rPr>
              <a:t> de Dados</a:t>
            </a:r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CB7ECD22-7EC1-4B62-8313-8A153C3D5C9F}"/>
              </a:ext>
            </a:extLst>
          </p:cNvPr>
          <p:cNvSpPr/>
          <p:nvPr/>
        </p:nvSpPr>
        <p:spPr>
          <a:xfrm rot="5400000">
            <a:off x="3884954" y="2294100"/>
            <a:ext cx="482915" cy="298092"/>
          </a:xfrm>
          <a:prstGeom prst="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2DAF332B-C33A-4487-AE53-5C8E83DC8367}"/>
              </a:ext>
            </a:extLst>
          </p:cNvPr>
          <p:cNvSpPr/>
          <p:nvPr/>
        </p:nvSpPr>
        <p:spPr>
          <a:xfrm rot="5400000">
            <a:off x="7705339" y="2294101"/>
            <a:ext cx="482915" cy="298092"/>
          </a:xfrm>
          <a:prstGeom prst="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A19A396-5C56-42A8-98E3-2508F5F927B3}"/>
              </a:ext>
            </a:extLst>
          </p:cNvPr>
          <p:cNvSpPr txBox="1"/>
          <p:nvPr/>
        </p:nvSpPr>
        <p:spPr>
          <a:xfrm>
            <a:off x="4387201" y="2714485"/>
            <a:ext cx="3253999" cy="2935525"/>
          </a:xfrm>
          <a:prstGeom prst="round2SameRect">
            <a:avLst>
              <a:gd name="adj1" fmla="val 0"/>
              <a:gd name="adj2" fmla="val 3172"/>
            </a:avLst>
          </a:prstGeom>
          <a:solidFill>
            <a:schemeClr val="bg2"/>
          </a:solidFill>
        </p:spPr>
        <p:txBody>
          <a:bodyPr wrap="square" rtlCol="0">
            <a:noAutofit/>
          </a:bodyPr>
          <a:lstStyle/>
          <a:p>
            <a:pPr marL="266700" lvl="1" indent="-177800">
              <a:lnSpc>
                <a:spcPct val="120000"/>
              </a:lnSpc>
              <a:buFont typeface="+mj-lt"/>
              <a:buAutoNum type="arabicPeriod"/>
            </a:pPr>
            <a:r>
              <a:rPr lang="pt-PT" sz="1050" i="1">
                <a:latin typeface="Santander Text" panose="020B0504020201020104" pitchFamily="34" charset="0"/>
              </a:rPr>
              <a:t>Processos de Datalake que para o universo de </a:t>
            </a:r>
            <a:r>
              <a:rPr lang="pt-PT" sz="1050" i="1" err="1">
                <a:latin typeface="Santander Text" panose="020B0504020201020104" pitchFamily="34" charset="0"/>
              </a:rPr>
              <a:t>Collections</a:t>
            </a:r>
            <a:r>
              <a:rPr lang="pt-PT" sz="1050" i="1">
                <a:latin typeface="Santander Text" panose="020B0504020201020104" pitchFamily="34" charset="0"/>
              </a:rPr>
              <a:t> (</a:t>
            </a:r>
            <a:r>
              <a:rPr lang="pt-PT" sz="1050" i="1" err="1">
                <a:latin typeface="Santander Text" panose="020B0504020201020104" pitchFamily="34" charset="0"/>
              </a:rPr>
              <a:t>Triad</a:t>
            </a:r>
            <a:r>
              <a:rPr lang="pt-PT" sz="1050" i="1">
                <a:latin typeface="Santander Text" panose="020B0504020201020104" pitchFamily="34" charset="0"/>
              </a:rPr>
              <a:t> </a:t>
            </a:r>
            <a:r>
              <a:rPr lang="pt-PT" sz="1050" i="1" err="1">
                <a:latin typeface="Santander Text" panose="020B0504020201020104" pitchFamily="34" charset="0"/>
              </a:rPr>
              <a:t>Collections</a:t>
            </a:r>
            <a:r>
              <a:rPr lang="pt-PT" sz="1050" i="1">
                <a:latin typeface="Santander Text" panose="020B0504020201020104" pitchFamily="34" charset="0"/>
              </a:rPr>
              <a:t>), efetua enriquecimento e aplica encriptação (</a:t>
            </a:r>
            <a:r>
              <a:rPr lang="pt-PT" sz="1050" i="1" err="1">
                <a:latin typeface="Santander Text" panose="020B0504020201020104" pitchFamily="34" charset="0"/>
              </a:rPr>
              <a:t>Hash</a:t>
            </a:r>
            <a:r>
              <a:rPr lang="pt-PT" sz="1050" i="1">
                <a:latin typeface="Santander Text" panose="020B0504020201020104" pitchFamily="34" charset="0"/>
              </a:rPr>
              <a:t>) ao numero de cliente.</a:t>
            </a:r>
          </a:p>
          <a:p>
            <a:pPr marL="266700" lvl="1" indent="-177800">
              <a:lnSpc>
                <a:spcPct val="120000"/>
              </a:lnSpc>
              <a:buFont typeface="+mj-lt"/>
              <a:buAutoNum type="arabicPeriod"/>
            </a:pPr>
            <a:r>
              <a:rPr lang="pt-PT" sz="1050" i="1">
                <a:latin typeface="Santander Text" panose="020B0504020201020104" pitchFamily="34" charset="0"/>
              </a:rPr>
              <a:t>Salesforce MKT </a:t>
            </a:r>
            <a:r>
              <a:rPr lang="pt-PT" sz="1050" i="1" err="1">
                <a:latin typeface="Santander Text" panose="020B0504020201020104" pitchFamily="34" charset="0"/>
              </a:rPr>
              <a:t>Cloud</a:t>
            </a:r>
            <a:r>
              <a:rPr lang="pt-PT" sz="1050" i="1">
                <a:latin typeface="Santander Text" panose="020B0504020201020104" pitchFamily="34" charset="0"/>
              </a:rPr>
              <a:t>, que aplica a régua de distribuição por canal de contacto.</a:t>
            </a:r>
          </a:p>
          <a:p>
            <a:pPr marL="266700" lvl="1" indent="-177800">
              <a:lnSpc>
                <a:spcPct val="120000"/>
              </a:lnSpc>
              <a:buFont typeface="+mj-lt"/>
              <a:buAutoNum type="arabicPeriod"/>
            </a:pPr>
            <a:r>
              <a:rPr lang="pt-PT" sz="1050" i="1">
                <a:latin typeface="Santander Text" panose="020B0504020201020104" pitchFamily="34" charset="0"/>
              </a:rPr>
              <a:t>Aplicação de Mainframe de GS que para o universo de </a:t>
            </a:r>
            <a:r>
              <a:rPr lang="pt-PT" sz="1050" i="1" err="1">
                <a:latin typeface="Santander Text" panose="020B0504020201020104" pitchFamily="34" charset="0"/>
              </a:rPr>
              <a:t>Telecobranças</a:t>
            </a:r>
            <a:r>
              <a:rPr lang="pt-PT" sz="1050" i="1">
                <a:latin typeface="Santander Text" panose="020B0504020201020104" pitchFamily="34" charset="0"/>
              </a:rPr>
              <a:t> efetuar filtros e atribuição de clientes/contratos a campanhas.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4E28732-9506-4837-A2C5-E5FBF52EA9C8}"/>
              </a:ext>
            </a:extLst>
          </p:cNvPr>
          <p:cNvSpPr txBox="1"/>
          <p:nvPr/>
        </p:nvSpPr>
        <p:spPr>
          <a:xfrm>
            <a:off x="8223000" y="2714485"/>
            <a:ext cx="3253999" cy="2935526"/>
          </a:xfrm>
          <a:prstGeom prst="round2SameRect">
            <a:avLst>
              <a:gd name="adj1" fmla="val 0"/>
              <a:gd name="adj2" fmla="val 3172"/>
            </a:avLst>
          </a:prstGeom>
          <a:solidFill>
            <a:schemeClr val="bg2"/>
          </a:solidFill>
        </p:spPr>
        <p:txBody>
          <a:bodyPr wrap="square" rtlCol="0">
            <a:noAutofit/>
          </a:bodyPr>
          <a:lstStyle/>
          <a:p>
            <a:pPr marL="266700" lvl="1" indent="-177800">
              <a:lnSpc>
                <a:spcPct val="120000"/>
              </a:lnSpc>
              <a:buFont typeface="+mj-lt"/>
              <a:buAutoNum type="arabicPeriod"/>
            </a:pPr>
            <a:r>
              <a:rPr lang="pt-PT" sz="1050" i="1">
                <a:latin typeface="Santander Text" panose="020B0504020201020104" pitchFamily="34" charset="0"/>
              </a:rPr>
              <a:t>Consumo de dados através de serviços (API (TP-API)) à aplicação de mainframe GS</a:t>
            </a:r>
          </a:p>
          <a:p>
            <a:pPr marL="266700" lvl="1" indent="-177800">
              <a:lnSpc>
                <a:spcPct val="120000"/>
              </a:lnSpc>
              <a:buFont typeface="+mj-lt"/>
              <a:buAutoNum type="arabicPeriod"/>
            </a:pPr>
            <a:r>
              <a:rPr lang="pt-PT" sz="1050" i="1">
                <a:latin typeface="Santander Text" panose="020B0504020201020104" pitchFamily="34" charset="0"/>
              </a:rPr>
              <a:t>Consumo de dados através de serviços (API </a:t>
            </a:r>
            <a:r>
              <a:rPr lang="pt-PT" sz="1050" i="1" err="1">
                <a:latin typeface="Santander Text" panose="020B0504020201020104" pitchFamily="34" charset="0"/>
              </a:rPr>
              <a:t>BaaS</a:t>
            </a:r>
            <a:r>
              <a:rPr lang="pt-PT" sz="1050" i="1">
                <a:latin typeface="Santander Text" panose="020B0504020201020104" pitchFamily="34" charset="0"/>
              </a:rPr>
              <a:t>) às aplicações</a:t>
            </a:r>
          </a:p>
          <a:p>
            <a:pPr marL="266700" lvl="1" indent="-177800">
              <a:lnSpc>
                <a:spcPct val="120000"/>
              </a:lnSpc>
              <a:buFont typeface="+mj-lt"/>
              <a:buAutoNum type="arabicPeriod"/>
            </a:pPr>
            <a:r>
              <a:rPr lang="pt-PT" sz="1050" i="1">
                <a:latin typeface="Santander Text" panose="020B0504020201020104" pitchFamily="34" charset="0"/>
              </a:rPr>
              <a:t>Consumo de informação através de informação carregada em DW/DM e DL.</a:t>
            </a:r>
          </a:p>
        </p:txBody>
      </p:sp>
      <p:sp>
        <p:nvSpPr>
          <p:cNvPr id="9" name="Marcador de texto 5">
            <a:extLst>
              <a:ext uri="{FF2B5EF4-FFF2-40B4-BE49-F238E27FC236}">
                <a16:creationId xmlns:a16="http://schemas.microsoft.com/office/drawing/2014/main" id="{66E7238B-0F22-D6D5-0E15-CD37D9F1B7D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3" y="337100"/>
            <a:ext cx="8613730" cy="30480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t-PT" sz="2400">
                <a:latin typeface="Santander Text"/>
              </a:rPr>
              <a:t>Dados</a:t>
            </a:r>
            <a:br>
              <a:rPr lang="pt-PT" sz="2400"/>
            </a:br>
            <a:r>
              <a:rPr lang="pt-PT" sz="1800">
                <a:solidFill>
                  <a:schemeClr val="tx1">
                    <a:lumMod val="75000"/>
                    <a:lumOff val="25000"/>
                  </a:schemeClr>
                </a:solidFill>
                <a:latin typeface="Santander Text"/>
              </a:rPr>
              <a:t>Fontes, Transformações e Consumo de Dados (Solução Proposta)</a:t>
            </a:r>
            <a:endParaRPr lang="pt-PT" sz="2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BBB9B787-475F-2EAF-ACCF-D4676C8581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383" y="1062528"/>
            <a:ext cx="10922661" cy="85222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lgDash"/>
          </a:ln>
        </p:spPr>
        <p:txBody>
          <a:bodyPr/>
          <a:lstStyle>
            <a:lvl1pPr marL="342900" indent="-342900" defTabSz="6985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w"/>
              <a:defRPr sz="2400" b="1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179388" defTabSz="6985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600">
                <a:solidFill>
                  <a:srgbClr val="808080"/>
                </a:solidFill>
                <a:latin typeface="Arial" panose="020B0604020202020204" pitchFamily="34" charset="0"/>
              </a:defRPr>
            </a:lvl2pPr>
            <a:lvl3pPr marL="979488" indent="-3429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lvl="1" algn="just">
              <a:lnSpc>
                <a:spcPct val="150000"/>
              </a:lnSpc>
              <a:buClr>
                <a:srgbClr val="FF0000"/>
              </a:buClr>
              <a:buNone/>
            </a:pPr>
            <a:r>
              <a:rPr lang="pt-BR" altLang="es-ES" sz="1200">
                <a:solidFill>
                  <a:schemeClr val="bg1">
                    <a:lumMod val="50000"/>
                  </a:schemeClr>
                </a:solidFill>
              </a:rPr>
              <a:t>#</a:t>
            </a:r>
            <a:r>
              <a:rPr lang="pt-PT" sz="1200">
                <a:solidFill>
                  <a:schemeClr val="bg1">
                    <a:lumMod val="50000"/>
                  </a:schemeClr>
                </a:solidFill>
                <a:latin typeface="Santander Text" panose="020B0504020201020104" pitchFamily="34" charset="0"/>
              </a:rPr>
              <a:t>Descrever quais são as fontes de dados que suportam a solução, que transformações existem e qual o consumo que será aplicado#.</a:t>
            </a:r>
          </a:p>
          <a:p>
            <a:pPr lvl="1" algn="just">
              <a:lnSpc>
                <a:spcPct val="150000"/>
              </a:lnSpc>
              <a:buClr>
                <a:srgbClr val="FF0000"/>
              </a:buClr>
              <a:buNone/>
            </a:pPr>
            <a:r>
              <a:rPr lang="pt-BR" altLang="es-ES" sz="1200">
                <a:solidFill>
                  <a:schemeClr val="tx1"/>
                </a:solidFill>
                <a:latin typeface="Santander Text" panose="020B0504020201020104" pitchFamily="34" charset="0"/>
              </a:rPr>
              <a:t>Exemplo de um preenchimento do quadro referente às </a:t>
            </a:r>
            <a:r>
              <a:rPr lang="pt-PT" altLang="es-ES" sz="1200">
                <a:solidFill>
                  <a:schemeClr val="tx1"/>
                </a:solidFill>
                <a:latin typeface="Santander Text" panose="020B0504020201020104" pitchFamily="34" charset="0"/>
              </a:rPr>
              <a:t>Fontes, Transformações e Consumo de Dados.</a:t>
            </a:r>
            <a:endParaRPr lang="pt-BR" altLang="es-ES" sz="1200">
              <a:solidFill>
                <a:schemeClr val="tx1"/>
              </a:solidFill>
              <a:latin typeface="Santander Text" panose="020B05040202010201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8599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3E78DA-069E-4823-8E49-CBFF8D792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Referências e Glossário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6DCEE02-D34D-4F11-9432-3B5DE7C3D5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/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7210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Group 3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92790773"/>
              </p:ext>
            </p:extLst>
          </p:nvPr>
        </p:nvGraphicFramePr>
        <p:xfrm>
          <a:off x="657786" y="941570"/>
          <a:ext cx="10368728" cy="3325276"/>
        </p:xfrm>
        <a:graphic>
          <a:graphicData uri="http://schemas.openxmlformats.org/drawingml/2006/table">
            <a:tbl>
              <a:tblPr/>
              <a:tblGrid>
                <a:gridCol w="7456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9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70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982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577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5087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25000"/>
                        <a:buFont typeface="Times" pitchFamily="18" charset="0"/>
                        <a:buNone/>
                        <a:tabLst>
                          <a:tab pos="450850" algn="l"/>
                          <a:tab pos="900113" algn="l"/>
                          <a:tab pos="1349375" algn="l"/>
                          <a:tab pos="2251075" algn="l"/>
                        </a:tabLst>
                      </a:pPr>
                      <a:r>
                        <a:rPr kumimoji="0" lang="pt-PT" sz="1300" b="1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#</a:t>
                      </a:r>
                    </a:p>
                  </a:txBody>
                  <a:tcPr marL="71999" marR="71999" marT="72001" marB="720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25000"/>
                        <a:buFont typeface="Times" pitchFamily="18" charset="0"/>
                        <a:buNone/>
                        <a:tabLst>
                          <a:tab pos="450850" algn="l"/>
                          <a:tab pos="900113" algn="l"/>
                          <a:tab pos="1349375" algn="l"/>
                          <a:tab pos="2251075" algn="l"/>
                        </a:tabLst>
                      </a:pPr>
                      <a:r>
                        <a:rPr kumimoji="0" lang="pt-PT" sz="1300" b="1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Ficheiro/Nome</a:t>
                      </a:r>
                    </a:p>
                  </a:txBody>
                  <a:tcPr marL="71999" marR="71999" marT="72001" marB="720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25000"/>
                        <a:buFont typeface="Times" pitchFamily="18" charset="0"/>
                        <a:buNone/>
                        <a:tabLst>
                          <a:tab pos="450850" algn="l"/>
                          <a:tab pos="900113" algn="l"/>
                          <a:tab pos="1349375" algn="l"/>
                          <a:tab pos="2251075" algn="l"/>
                        </a:tabLst>
                      </a:pPr>
                      <a:r>
                        <a:rPr kumimoji="0" lang="pt-PT" sz="1300" b="1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Data</a:t>
                      </a:r>
                    </a:p>
                  </a:txBody>
                  <a:tcPr marL="71999" marR="71999" marT="72001" marB="720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25000"/>
                        <a:buFont typeface="Times" pitchFamily="18" charset="0"/>
                        <a:buNone/>
                        <a:tabLst>
                          <a:tab pos="450850" algn="l"/>
                          <a:tab pos="900113" algn="l"/>
                          <a:tab pos="1349375" algn="l"/>
                          <a:tab pos="2251075" algn="l"/>
                        </a:tabLst>
                      </a:pPr>
                      <a:r>
                        <a:rPr kumimoji="0" lang="pt-PT" sz="1300" b="1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Comentário / Link</a:t>
                      </a:r>
                    </a:p>
                  </a:txBody>
                  <a:tcPr marL="71999" marR="71999" marT="72001" marB="720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25000"/>
                        <a:buFont typeface="Times" pitchFamily="18" charset="0"/>
                        <a:buNone/>
                        <a:tabLst>
                          <a:tab pos="450850" algn="l"/>
                          <a:tab pos="900113" algn="l"/>
                          <a:tab pos="1349375" algn="l"/>
                          <a:tab pos="2251075" algn="l"/>
                        </a:tabLst>
                      </a:pPr>
                      <a:r>
                        <a:rPr kumimoji="0" lang="pt-PT" sz="1300" b="1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Autor</a:t>
                      </a:r>
                    </a:p>
                  </a:txBody>
                  <a:tcPr marL="71999" marR="71999" marT="72001" marB="720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44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r>
                        <a:rPr kumimoji="0" lang="pt-PT" sz="1400" b="0" i="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REF#1</a:t>
                      </a:r>
                    </a:p>
                  </a:txBody>
                  <a:tcPr marL="71999" marR="71999" marT="72001" marB="720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200" b="0" i="0" u="none" strike="noStrike" cap="none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1999" marR="71999" marT="72001" marB="720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4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71999" marR="71999" marT="72001" marB="720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0" lang="pt-PT" sz="14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71999" marR="71999" marT="72001" marB="720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0" lang="pt-PT" sz="14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71999" marR="71999" marT="72001" marB="720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981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r>
                        <a:rPr kumimoji="0" lang="pt-PT" sz="1400" b="0" i="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REF#2</a:t>
                      </a:r>
                    </a:p>
                  </a:txBody>
                  <a:tcPr marL="71999" marR="71999" marT="72001" marB="720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pt-PT">
                        <a:latin typeface="Santander Text" panose="020B0504020201020104" pitchFamily="34" charset="0"/>
                      </a:endParaRPr>
                    </a:p>
                  </a:txBody>
                  <a:tcPr marL="71999" marR="71999" marT="72001" marB="720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0" lang="pt-PT" sz="14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71999" marR="71999" marT="72001" marB="720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kumimoji="0" lang="pt-PT" sz="14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71999" marR="71999" marT="72001" marB="720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kumimoji="0" lang="pt-PT" sz="14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71999" marR="71999" marT="72001" marB="720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r>
                        <a:rPr kumimoji="0" lang="pt-PT" sz="1400" b="0" i="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REF#</a:t>
                      </a:r>
                    </a:p>
                  </a:txBody>
                  <a:tcPr marL="71999" marR="71999" marT="72001" marB="720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pt-PT" sz="1400">
                        <a:latin typeface="Santander Text" panose="020B0504020201020104" pitchFamily="34" charset="0"/>
                      </a:endParaRPr>
                    </a:p>
                  </a:txBody>
                  <a:tcPr marL="71999" marR="71999" marT="72001" marB="720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0" lang="pt-PT" sz="14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71999" marR="71999" marT="72001" marB="720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4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71999" marR="71999" marT="72001" marB="720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0" lang="pt-PT" sz="14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71999" marR="71999" marT="72001" marB="720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75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r>
                        <a:rPr kumimoji="0" lang="pt-PT" sz="1400" b="0" i="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REF#4</a:t>
                      </a:r>
                    </a:p>
                  </a:txBody>
                  <a:tcPr marL="71999" marR="71999" marT="72001" marB="720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endParaRPr kumimoji="0" lang="pt-PT" sz="1000" b="0" i="0" u="none" strike="noStrike" cap="none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1999" marR="71999" marT="72001" marB="720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4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71999" marR="71999" marT="72001" marB="720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0" lang="pt-PT" sz="14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71999" marR="71999" marT="72001" marB="720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0" lang="pt-PT" sz="14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71999" marR="71999" marT="72001" marB="720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938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r>
                        <a:rPr kumimoji="0" lang="pt-PT" sz="1400" b="0" i="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REF#5</a:t>
                      </a:r>
                    </a:p>
                  </a:txBody>
                  <a:tcPr marL="71999" marR="71999" marT="72001" marB="720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endParaRPr kumimoji="0" lang="pt-PT" sz="1000" b="0" i="0" u="none" strike="noStrike" cap="none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1999" marR="71999" marT="72001" marB="720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400" b="0" i="0" u="none" strike="noStrike" kern="1200" cap="none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Arial" charset="0"/>
                      </a:endParaRPr>
                    </a:p>
                  </a:txBody>
                  <a:tcPr marL="71999" marR="71999" marT="72001" marB="720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0" lang="pt-PT" sz="14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71999" marR="71999" marT="72001" marB="720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0" lang="pt-PT" sz="14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71999" marR="71999" marT="72001" marB="720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688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r>
                        <a:rPr kumimoji="0" lang="pt-PT" sz="1400" b="0" i="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REF#6</a:t>
                      </a:r>
                    </a:p>
                  </a:txBody>
                  <a:tcPr marL="71999" marR="71999" marT="72001" marB="720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endParaRPr lang="pt-PT" sz="1000" u="sng" kern="1200" noProof="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71999" marR="71999" marT="72001" marB="720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400" b="0" i="0" u="none" strike="noStrike" kern="1200" cap="none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Arial" charset="0"/>
                      </a:endParaRPr>
                    </a:p>
                  </a:txBody>
                  <a:tcPr marL="71999" marR="71999" marT="72001" marB="720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0" lang="pt-PT" sz="14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71999" marR="71999" marT="72001" marB="720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0" lang="pt-PT" sz="14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71999" marR="71999" marT="72001" marB="720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Marcador de texto 5">
            <a:extLst>
              <a:ext uri="{FF2B5EF4-FFF2-40B4-BE49-F238E27FC236}">
                <a16:creationId xmlns:a16="http://schemas.microsoft.com/office/drawing/2014/main" id="{C5A6910C-A85B-4E78-920A-D86C8E059C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337100"/>
            <a:ext cx="10758734" cy="304800"/>
          </a:xfrm>
        </p:spPr>
        <p:txBody>
          <a:bodyPr/>
          <a:lstStyle/>
          <a:p>
            <a:r>
              <a:rPr lang="pt-PT" sz="2400"/>
              <a:t>Referências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D97B6-E32F-4D7D-B839-7C3B51F2640F}" type="slidenum">
              <a:rPr lang="es-ES" smtClean="0"/>
              <a:pPr/>
              <a:t>25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78511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C5A6910C-A85B-4E78-920A-D86C8E059C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PT" sz="2400"/>
              <a:t>Glossário</a:t>
            </a:r>
          </a:p>
        </p:txBody>
      </p:sp>
      <p:graphicFrame>
        <p:nvGraphicFramePr>
          <p:cNvPr id="16" name="Group 2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520483"/>
              </p:ext>
            </p:extLst>
          </p:nvPr>
        </p:nvGraphicFramePr>
        <p:xfrm>
          <a:off x="839416" y="908720"/>
          <a:ext cx="10630342" cy="4176105"/>
        </p:xfrm>
        <a:graphic>
          <a:graphicData uri="http://schemas.openxmlformats.org/drawingml/2006/table">
            <a:tbl>
              <a:tblPr/>
              <a:tblGrid>
                <a:gridCol w="11800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503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17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9C9A9A"/>
                        </a:buClr>
                        <a:buSzPct val="155000"/>
                        <a:buFont typeface="Wingdings" pitchFamily="2" charset="2"/>
                        <a:buNone/>
                        <a:tabLst/>
                      </a:pPr>
                      <a:r>
                        <a:rPr kumimoji="0" lang="pt-PT" sz="1100" b="1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  <a:cs typeface="Arial" charset="0"/>
                        </a:rPr>
                        <a:t>Termo</a:t>
                      </a:r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9C9A9A"/>
                        </a:buClr>
                        <a:buSzPct val="155000"/>
                        <a:buFont typeface="Wingdings" pitchFamily="2" charset="2"/>
                        <a:buNone/>
                        <a:tabLst/>
                      </a:pPr>
                      <a:r>
                        <a:rPr kumimoji="0" lang="pt-PT" sz="1100" b="1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  <a:cs typeface="Arial" charset="0"/>
                        </a:rPr>
                        <a:t>Descrição</a:t>
                      </a:r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26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55000"/>
                        <a:buFont typeface="Wingdings" pitchFamily="2" charset="2"/>
                        <a:buNone/>
                        <a:tabLst/>
                      </a:pPr>
                      <a:endParaRPr kumimoji="0" lang="pt-PT" sz="1100" b="0" i="0" u="none" strike="noStrike" cap="none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55000"/>
                        <a:buFont typeface="Wingdings" pitchFamily="2" charset="2"/>
                        <a:buNone/>
                        <a:tabLst/>
                      </a:pPr>
                      <a:endParaRPr kumimoji="0" lang="pt-PT" sz="1100" b="0" i="0" u="none" strike="noStrike" kern="1200" cap="none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826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endParaRPr lang="pt-PT" sz="1200" i="0" u="none" kern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55000"/>
                        <a:buFont typeface="Wingdings" pitchFamily="2" charset="2"/>
                        <a:buNone/>
                        <a:tabLst/>
                      </a:pPr>
                      <a:endParaRPr lang="pt-PT" sz="1200" i="0" u="none" kern="1200" noProof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826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55000"/>
                        <a:buFont typeface="Wingdings" pitchFamily="2" charset="2"/>
                        <a:buNone/>
                        <a:tabLst/>
                      </a:pPr>
                      <a:endParaRPr kumimoji="0" lang="pt-PT" sz="1100" b="0" i="0" u="none" strike="noStrike" cap="none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55000"/>
                        <a:buFont typeface="Wingdings" pitchFamily="2" charset="2"/>
                        <a:buNone/>
                        <a:tabLst/>
                        <a:defRPr/>
                      </a:pPr>
                      <a:endParaRPr lang="pt-PT" sz="1200" i="0" u="none" kern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826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55000"/>
                        <a:buFont typeface="Wingdings" pitchFamily="2" charset="2"/>
                        <a:buNone/>
                        <a:tabLst/>
                        <a:defRPr/>
                      </a:pPr>
                      <a:endParaRPr lang="pt-PT" sz="1200" i="0" u="none" kern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55000"/>
                        <a:buFont typeface="Wingdings" pitchFamily="2" charset="2"/>
                        <a:buNone/>
                        <a:tabLst/>
                        <a:defRPr/>
                      </a:pPr>
                      <a:endParaRPr lang="pt-PT" sz="1200" i="0" u="none" kern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826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55000"/>
                        <a:buFont typeface="Wingdings" pitchFamily="2" charset="2"/>
                        <a:buNone/>
                        <a:tabLst/>
                        <a:defRPr/>
                      </a:pPr>
                      <a:endParaRPr lang="pt-PT" sz="1200" i="0" u="none" kern="1200" noProof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55000"/>
                        <a:buFont typeface="Wingdings" pitchFamily="2" charset="2"/>
                        <a:buNone/>
                        <a:tabLst/>
                        <a:defRPr/>
                      </a:pPr>
                      <a:endParaRPr lang="pt-PT" sz="1200" i="0" u="none" kern="1200" noProof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826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55000"/>
                        <a:buFont typeface="Wingdings" pitchFamily="2" charset="2"/>
                        <a:buNone/>
                        <a:tabLst/>
                        <a:defRPr/>
                      </a:pPr>
                      <a:endParaRPr lang="pt-PT" sz="1200" i="0" u="none" kern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55000"/>
                        <a:buFont typeface="Wingdings" pitchFamily="2" charset="2"/>
                        <a:buNone/>
                        <a:tabLst/>
                        <a:defRPr/>
                      </a:pPr>
                      <a:endParaRPr lang="pt-PT" sz="1200" i="0" u="none" kern="1200" noProof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826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endParaRPr lang="pt-PT" i="0">
                        <a:latin typeface="Santander Text" panose="020B0504020201020104" pitchFamily="34" charset="0"/>
                      </a:endParaRPr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endParaRPr lang="pt-PT" i="0">
                        <a:latin typeface="Santander Text" panose="020B0504020201020104" pitchFamily="34" charset="0"/>
                      </a:endParaRPr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2826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endParaRPr lang="pt-PT" i="0">
                        <a:latin typeface="Santander Text" panose="020B0504020201020104" pitchFamily="34" charset="0"/>
                      </a:endParaRPr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endParaRPr lang="pt-PT" i="0">
                        <a:latin typeface="Santander Text" panose="020B0504020201020104" pitchFamily="34" charset="0"/>
                      </a:endParaRPr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2826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endParaRPr lang="pt-PT" i="0">
                        <a:latin typeface="Santander Text" panose="020B0504020201020104" pitchFamily="34" charset="0"/>
                      </a:endParaRPr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endParaRPr lang="pt-PT" i="0">
                        <a:latin typeface="Santander Text" panose="020B0504020201020104" pitchFamily="34" charset="0"/>
                      </a:endParaRPr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0721736"/>
                  </a:ext>
                </a:extLst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D97B6-E32F-4D7D-B839-7C3B51F2640F}" type="slidenum">
              <a:rPr lang="es-ES" smtClean="0"/>
              <a:pPr/>
              <a:t>26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40635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9578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texto 5">
            <a:extLst>
              <a:ext uri="{FF2B5EF4-FFF2-40B4-BE49-F238E27FC236}">
                <a16:creationId xmlns:a16="http://schemas.microsoft.com/office/drawing/2014/main" id="{C5A6910C-A85B-4E78-920A-D86C8E059C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6420" y="114373"/>
            <a:ext cx="6185198" cy="538770"/>
          </a:xfrm>
        </p:spPr>
        <p:txBody>
          <a:bodyPr/>
          <a:lstStyle/>
          <a:p>
            <a:r>
              <a:rPr lang="pt-PT" sz="2400" err="1"/>
              <a:t>Checklist</a:t>
            </a:r>
            <a:r>
              <a:rPr lang="pt-PT" sz="2400"/>
              <a:t> da Solução</a:t>
            </a:r>
            <a:br>
              <a:rPr lang="pt-PT" sz="2400"/>
            </a:br>
            <a:r>
              <a:rPr lang="pt-PT" sz="1800">
                <a:solidFill>
                  <a:schemeClr val="tx1">
                    <a:lumMod val="75000"/>
                    <a:lumOff val="25000"/>
                  </a:schemeClr>
                </a:solidFill>
              </a:rPr>
              <a:t>A preencher pelo Enterprise </a:t>
            </a:r>
            <a:r>
              <a:rPr lang="pt-PT" sz="1800" err="1">
                <a:solidFill>
                  <a:schemeClr val="tx1">
                    <a:lumMod val="75000"/>
                    <a:lumOff val="25000"/>
                  </a:schemeClr>
                </a:solidFill>
              </a:rPr>
              <a:t>Architect</a:t>
            </a:r>
            <a:endParaRPr lang="pt-PT" sz="2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D97B6-E32F-4D7D-B839-7C3B51F2640F}" type="slidenum">
              <a:rPr lang="pt-PT" smtClean="0"/>
              <a:pPr/>
              <a:t>28</a:t>
            </a:fld>
            <a:endParaRPr lang="pt-PT"/>
          </a:p>
        </p:txBody>
      </p:sp>
      <p:graphicFrame>
        <p:nvGraphicFramePr>
          <p:cNvPr id="5" name="Group 3">
            <a:extLst>
              <a:ext uri="{FF2B5EF4-FFF2-40B4-BE49-F238E27FC236}">
                <a16:creationId xmlns:a16="http://schemas.microsoft.com/office/drawing/2014/main" id="{E9CA777D-D26D-97C4-8091-177E4A812D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0959643"/>
              </p:ext>
            </p:extLst>
          </p:nvPr>
        </p:nvGraphicFramePr>
        <p:xfrm>
          <a:off x="335360" y="821647"/>
          <a:ext cx="11521280" cy="5412190"/>
        </p:xfrm>
        <a:graphic>
          <a:graphicData uri="http://schemas.openxmlformats.org/drawingml/2006/table">
            <a:tbl>
              <a:tblPr/>
              <a:tblGrid>
                <a:gridCol w="34465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747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154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25000"/>
                        <a:buFont typeface="Times" pitchFamily="18" charset="0"/>
                        <a:buNone/>
                        <a:tabLst>
                          <a:tab pos="450850" algn="l"/>
                          <a:tab pos="900113" algn="l"/>
                          <a:tab pos="1349375" algn="l"/>
                          <a:tab pos="2251075" algn="l"/>
                        </a:tabLst>
                      </a:pPr>
                      <a:r>
                        <a:rPr kumimoji="0" lang="pt-PT" sz="1600" b="1" i="1" u="none" strike="noStrike" cap="none" normalizeH="0" baseline="0" noProof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Quality</a:t>
                      </a:r>
                      <a:r>
                        <a:rPr kumimoji="0" lang="pt-PT" sz="1600" b="1" i="1" u="none" strike="noStrike" cap="none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 Gate</a:t>
                      </a: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25000"/>
                        <a:buFont typeface="Times" pitchFamily="18" charset="0"/>
                        <a:buNone/>
                        <a:tabLst>
                          <a:tab pos="450850" algn="l"/>
                          <a:tab pos="900113" algn="l"/>
                          <a:tab pos="1349375" algn="l"/>
                          <a:tab pos="2251075" algn="l"/>
                        </a:tabLst>
                      </a:pPr>
                      <a:r>
                        <a:rPr kumimoji="0" lang="pt-PT" sz="1600" b="1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Descrição / Finalidade</a:t>
                      </a: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83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r>
                        <a:rPr kumimoji="0" lang="pt-PT" sz="1300" b="0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Requisitos de negócio</a:t>
                      </a: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r>
                        <a:rPr kumimoji="0" lang="pt-PT" sz="1100" b="0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Necessidade de definição detalhada de requisitos e </a:t>
                      </a:r>
                      <a:r>
                        <a:rPr kumimoji="0" lang="pt-PT" sz="1100" b="0" i="0" u="none" strike="noStrike" cap="none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user</a:t>
                      </a:r>
                      <a:r>
                        <a:rPr kumimoji="0" lang="pt-PT" sz="1100" b="0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 </a:t>
                      </a:r>
                      <a:r>
                        <a:rPr kumimoji="0" lang="pt-PT" sz="1100" b="0" i="0" u="none" strike="noStrike" cap="none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stories</a:t>
                      </a:r>
                      <a:r>
                        <a:rPr kumimoji="0" lang="pt-PT" sz="1100" b="0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 para os vários casos de uso identificados </a:t>
                      </a: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089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r>
                        <a:rPr kumimoji="0" lang="pt-PT" sz="1300" b="0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Responsável de negócio </a:t>
                      </a: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r>
                        <a:rPr lang="pt-PT" sz="1100" dirty="0">
                          <a:solidFill>
                            <a:prstClr val="black"/>
                          </a:solidFill>
                          <a:latin typeface="Santander Text" panose="020B0504020201020104" pitchFamily="34" charset="0"/>
                        </a:rPr>
                        <a:t>Definir um responsável de negócio e estrutura de governo para Definir, Decidir e Acompanhar os use cases e </a:t>
                      </a:r>
                      <a:r>
                        <a:rPr lang="pt-PT" sz="1100" dirty="0" err="1">
                          <a:solidFill>
                            <a:prstClr val="black"/>
                          </a:solidFill>
                          <a:latin typeface="Santander Text" panose="020B0504020201020104" pitchFamily="34" charset="0"/>
                        </a:rPr>
                        <a:t>respectiva</a:t>
                      </a:r>
                      <a:r>
                        <a:rPr lang="pt-PT" sz="1100" dirty="0">
                          <a:solidFill>
                            <a:prstClr val="black"/>
                          </a:solidFill>
                          <a:latin typeface="Santander Text" panose="020B0504020201020104" pitchFamily="34" charset="0"/>
                        </a:rPr>
                        <a:t> implementação, incluindo teste de aceitação e aprovação para subida a Produção. Este responsável deverá também ter a capacidade de </a:t>
                      </a:r>
                      <a:r>
                        <a:rPr kumimoji="0" lang="pt-PT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</a:rPr>
                        <a:t>entender o impacto e a possível reutilização entre iniciativas/projetos</a:t>
                      </a:r>
                      <a:endParaRPr kumimoji="0" lang="pt-PT" sz="11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883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r>
                        <a:rPr kumimoji="0" lang="pt-PT" sz="1300" b="0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Planeamento do desenho da solução</a:t>
                      </a: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r>
                        <a:rPr kumimoji="0" lang="pt-PT" sz="1100" b="0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Definir um calendário de actividades adequado á complexidade da solução e dos casos de uso em análise</a:t>
                      </a: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025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r>
                        <a:rPr kumimoji="0" lang="pt-PT" sz="1300" b="0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Tipo de abordagem da Solução desenhada</a:t>
                      </a: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r>
                        <a:rPr kumimoji="0" lang="pt-PT" sz="11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Abordar a iniciativas/projetos em modo Agile, definindo um MVP que possa evoluir por sprints para uma solução holística e escalável. Evitar soluções </a:t>
                      </a:r>
                      <a:r>
                        <a:rPr kumimoji="0" lang="pt-PT" sz="11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tácticas</a:t>
                      </a:r>
                      <a:r>
                        <a:rPr kumimoji="0" lang="pt-PT" sz="11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, suportadas por manualidades com elevado risco operacional associado</a:t>
                      </a: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025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r>
                        <a:rPr kumimoji="0" lang="pt-PT" sz="1300" b="0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Adequação das ferramentas à solução</a:t>
                      </a: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r>
                        <a:rPr kumimoji="0" lang="pt-PT" sz="1100" b="0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Evitar desvirtuar o objectivo de negócio para o qual determinada solução é desenhada (p.e. </a:t>
                      </a:r>
                      <a:r>
                        <a:rPr kumimoji="0" lang="pt-PT" sz="1100" b="0" i="0" u="none" strike="noStrike" cap="none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Front-end</a:t>
                      </a:r>
                      <a:r>
                        <a:rPr kumimoji="0" lang="pt-PT" sz="1100" b="0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 “Upload </a:t>
                      </a:r>
                      <a:r>
                        <a:rPr kumimoji="0" lang="pt-PT" sz="1100" b="0" i="0" u="none" strike="noStrike" cap="none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Datalake</a:t>
                      </a:r>
                      <a:r>
                        <a:rPr kumimoji="0" lang="pt-PT" sz="1100" b="0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), não fazendo uso errado como ferramentas de integração entre sistemas que á partida não estão integrados;</a:t>
                      </a: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3561">
                <a:tc rowSpan="4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r>
                        <a:rPr kumimoji="0" lang="pt-PT" sz="1300" b="0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Envolvimento de outras áreas dentro e fora de IT</a:t>
                      </a: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r>
                        <a:rPr kumimoji="0" lang="pt-PT" sz="1100" b="0" i="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CDO</a:t>
                      </a: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3561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0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r>
                        <a:rPr kumimoji="0" lang="pt-PT" sz="1100" b="0" i="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DPO</a:t>
                      </a: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5250154"/>
                  </a:ext>
                </a:extLst>
              </a:tr>
              <a:tr h="213561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r>
                        <a:rPr kumimoji="0" lang="pt-PT" sz="1100" b="0" i="0" u="none" strike="noStrike" kern="1200" cap="none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Cibersegurança</a:t>
                      </a:r>
                      <a:endParaRPr kumimoji="0" lang="pt-PT" sz="11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5015084"/>
                  </a:ext>
                </a:extLst>
              </a:tr>
              <a:tr h="213561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0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r>
                        <a:rPr kumimoji="0" lang="pt-PT" sz="1100" b="0" i="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Áreas de Negócio Afectadas</a:t>
                      </a:r>
                    </a:p>
                  </a:txBody>
                  <a:tcPr marL="36000" marR="36000" marT="36000" marB="36000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7876336"/>
                  </a:ext>
                </a:extLst>
              </a:tr>
              <a:tr h="213561">
                <a:tc rowSpan="6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r>
                        <a:rPr kumimoji="0" lang="pt-PT" sz="1300" b="0" i="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RGPD e Fusão de Clientes</a:t>
                      </a: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r>
                        <a:rPr kumimoji="0" lang="pt-PT" sz="1100" b="0" i="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Serão criados novos campos de dados pessoais?</a:t>
                      </a: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3561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endParaRPr kumimoji="0" lang="pt-PT" sz="10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r>
                        <a:rPr kumimoji="0" lang="pt-PT" sz="1100" b="0" i="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Manipula/Altera dados pessoais?</a:t>
                      </a: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3561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endParaRPr kumimoji="0" lang="pt-PT" sz="10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6000" marR="36000" marT="36000" marB="36000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r>
                        <a:rPr kumimoji="0" lang="pt-PT" sz="1100" b="0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Mostra informação de cliente?</a:t>
                      </a: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0148619"/>
                  </a:ext>
                </a:extLst>
              </a:tr>
              <a:tr h="213561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endParaRPr kumimoji="0" lang="pt-PT" sz="10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6000" marR="36000" marT="36000" marB="36000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r>
                        <a:rPr kumimoji="0" lang="pt-PT" sz="1100" b="0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Envia informação de cliente para entidade interna ou externa?</a:t>
                      </a: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6139031"/>
                  </a:ext>
                </a:extLst>
              </a:tr>
              <a:tr h="213561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endParaRPr kumimoji="0" lang="pt-PT" sz="10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6000" marR="36000" marT="36000" marB="36000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r>
                        <a:rPr kumimoji="0" lang="pt-PT" sz="1100" b="0" i="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Regista o </a:t>
                      </a:r>
                      <a:r>
                        <a:rPr kumimoji="0" lang="pt-PT" sz="1100" b="0" i="0" u="none" strike="noStrike" kern="1200" cap="none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nr</a:t>
                      </a:r>
                      <a:r>
                        <a:rPr kumimoji="0" lang="pt-PT" sz="1100" b="0" i="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 de Cliente em BD </a:t>
                      </a:r>
                      <a:r>
                        <a:rPr kumimoji="0" lang="pt-PT" sz="1100" b="0" i="0" u="none" strike="noStrike" kern="1200" cap="none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Host</a:t>
                      </a:r>
                      <a:r>
                        <a:rPr kumimoji="0" lang="pt-PT" sz="1100" b="0" i="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 ou Sistemas Médios?</a:t>
                      </a: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6254754"/>
                  </a:ext>
                </a:extLst>
              </a:tr>
              <a:tr h="213561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endParaRPr kumimoji="0" lang="pt-PT" sz="10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6000" marR="36000" marT="36000" marB="36000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r>
                        <a:rPr kumimoji="0" lang="pt-PT" sz="1100" b="0" i="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Tem ficheiros/interfaces com código de Cliente?</a:t>
                      </a: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3202604"/>
                  </a:ext>
                </a:extLst>
              </a:tr>
              <a:tr h="25883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r>
                        <a:rPr kumimoji="0" lang="pt-PT" sz="1300" b="0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Reporte ao Regulador</a:t>
                      </a: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r>
                        <a:rPr kumimoji="0" lang="pt-PT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</a:rPr>
                        <a:t>Caso haja dados expostos em </a:t>
                      </a:r>
                      <a:r>
                        <a:rPr kumimoji="0" lang="pt-PT" sz="11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</a:rPr>
                        <a:t>Cloud</a:t>
                      </a:r>
                      <a:r>
                        <a:rPr kumimoji="0" lang="pt-PT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</a:rPr>
                        <a:t> pública</a:t>
                      </a:r>
                      <a:endParaRPr kumimoji="0" lang="pt-PT" sz="11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668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r>
                        <a:rPr kumimoji="0" lang="pt-PT" sz="1300" b="0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Forum Web&amp;Apps</a:t>
                      </a: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r>
                        <a:rPr kumimoji="0" lang="pt-PT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Forum para g</a:t>
                      </a:r>
                      <a:r>
                        <a:rPr kumimoji="0" lang="pt-PT" sz="11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overno e gestão de Páginas Web e Apps Web no Banco Santander Totta</a:t>
                      </a:r>
                      <a:endParaRPr kumimoji="0" lang="pt-PT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5547738"/>
                  </a:ext>
                </a:extLst>
              </a:tr>
              <a:tr h="273433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endParaRPr kumimoji="0" lang="pt-PT" sz="14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endParaRPr kumimoji="0" lang="pt-PT" sz="14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4926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ma de Office">
  <a:themeElements>
    <a:clrScheme name="Personalizado 3">
      <a:dk1>
        <a:sysClr val="windowText" lastClr="000000"/>
      </a:dk1>
      <a:lt1>
        <a:sysClr val="window" lastClr="FFFFFF"/>
      </a:lt1>
      <a:dk2>
        <a:srgbClr val="6E7678"/>
      </a:dk2>
      <a:lt2>
        <a:srgbClr val="E7E6E6"/>
      </a:lt2>
      <a:accent1>
        <a:srgbClr val="EB0000"/>
      </a:accent1>
      <a:accent2>
        <a:srgbClr val="DEEDF1"/>
      </a:accent2>
      <a:accent3>
        <a:srgbClr val="9D3566"/>
      </a:accent3>
      <a:accent4>
        <a:srgbClr val="62B967"/>
      </a:accent4>
      <a:accent5>
        <a:srgbClr val="1AB2BB"/>
      </a:accent5>
      <a:accent6>
        <a:srgbClr val="FFCB32"/>
      </a:accent6>
      <a:hlink>
        <a:srgbClr val="3265FF"/>
      </a:hlink>
      <a:folHlink>
        <a:srgbClr val="954F72"/>
      </a:folHlink>
    </a:clrScheme>
    <a:fontScheme name="Personalizado 66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B6B9A5E792D2446B8986FAE34BEC557" ma:contentTypeVersion="12" ma:contentTypeDescription="Criar um novo documento." ma:contentTypeScope="" ma:versionID="a7a7c7330211281f7243a22470ce2e53">
  <xsd:schema xmlns:xsd="http://www.w3.org/2001/XMLSchema" xmlns:xs="http://www.w3.org/2001/XMLSchema" xmlns:p="http://schemas.microsoft.com/office/2006/metadata/properties" xmlns:ns1="http://schemas.microsoft.com/sharepoint/v3" xmlns:ns2="5ad20f8b-9281-4829-a9aa-2b5a878ba2cc" xmlns:ns3="09d3dac3-f296-4107-b579-4b1e37be6169" targetNamespace="http://schemas.microsoft.com/office/2006/metadata/properties" ma:root="true" ma:fieldsID="0c28e91176c9b4921ea9a3bbad06dd6c" ns1:_="" ns2:_="" ns3:_="">
    <xsd:import namespace="http://schemas.microsoft.com/sharepoint/v3"/>
    <xsd:import namespace="5ad20f8b-9281-4829-a9aa-2b5a878ba2cc"/>
    <xsd:import namespace="09d3dac3-f296-4107-b579-4b1e37be616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1:_ip_UnifiedCompliancePolicyProperties" minOccurs="0"/>
                <xsd:element ref="ns1:_ip_UnifiedCompliancePolicyUIActio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1" nillable="true" ma:displayName="Propriedades da Política de Conformidade Unificada" ma:hidden="true" ma:internalName="_ip_UnifiedCompliancePolicyProperties">
      <xsd:simpleType>
        <xsd:restriction base="dms:Note"/>
      </xsd:simpleType>
    </xsd:element>
    <xsd:element name="_ip_UnifiedCompliancePolicyUIAction" ma:index="12" nillable="true" ma:displayName="Ação de IU da Política de Conformidade Unificada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ad20f8b-9281-4829-a9aa-2b5a878ba2c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Etiquetas de Imagem" ma:readOnly="false" ma:fieldId="{5cf76f15-5ced-4ddc-b409-7134ff3c332f}" ma:taxonomyMulti="true" ma:sspId="e471ada5-31db-43fa-8830-84ca9293ff4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d3dac3-f296-4107-b579-4b1e37be6169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2f43633d-4f01-4e5f-8ed6-670c29f8108f}" ma:internalName="TaxCatchAll" ma:showField="CatchAllData" ma:web="09d3dac3-f296-4107-b579-4b1e37be616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09d3dac3-f296-4107-b579-4b1e37be6169" xsi:nil="true"/>
    <lcf76f155ced4ddcb4097134ff3c332f xmlns="5ad20f8b-9281-4829-a9aa-2b5a878ba2cc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3503D734-68FF-420F-BF37-7B47B916D37C}"/>
</file>

<file path=customXml/itemProps2.xml><?xml version="1.0" encoding="utf-8"?>
<ds:datastoreItem xmlns:ds="http://schemas.openxmlformats.org/officeDocument/2006/customXml" ds:itemID="{AD080778-C4FD-4408-8861-0522BD5E52D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18044C5-2532-4A66-AC85-9AD3A6B92C31}">
  <ds:schemaRefs>
    <ds:schemaRef ds:uri="http://schemas.openxmlformats.org/package/2006/metadata/core-properties"/>
    <ds:schemaRef ds:uri="http://schemas.microsoft.com/office/2006/metadata/properties"/>
    <ds:schemaRef ds:uri="http://schemas.microsoft.com/sharepoint/v3"/>
    <ds:schemaRef ds:uri="http://purl.org/dc/dcmitype/"/>
    <ds:schemaRef ds:uri="http://www.w3.org/XML/1998/namespace"/>
    <ds:schemaRef ds:uri="http://schemas.microsoft.com/office/2006/documentManagement/types"/>
    <ds:schemaRef ds:uri="0e9ba3e0-3d22-4408-96b5-c8a59fd87904"/>
    <ds:schemaRef ds:uri="http://purl.org/dc/elements/1.1/"/>
    <ds:schemaRef ds:uri="http://schemas.microsoft.com/office/infopath/2007/PartnerControls"/>
    <ds:schemaRef ds:uri="84cc0d6f-51d2-4273-a95b-2243f39b32fa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2964</Words>
  <Application>Microsoft Office PowerPoint</Application>
  <PresentationFormat>Widescreen</PresentationFormat>
  <Paragraphs>281</Paragraphs>
  <Slides>28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5" baseType="lpstr">
      <vt:lpstr>Arial</vt:lpstr>
      <vt:lpstr>Calibri</vt:lpstr>
      <vt:lpstr>Courier New</vt:lpstr>
      <vt:lpstr>Santander Text</vt:lpstr>
      <vt:lpstr>Times</vt:lpstr>
      <vt:lpstr>Wingdings</vt:lpstr>
      <vt:lpstr>Tema de Office</vt:lpstr>
      <vt:lpstr>Documento de Requisitos </vt:lpstr>
      <vt:lpstr>PowerPoint Presentation</vt:lpstr>
      <vt:lpstr>PowerPoint Presentation</vt:lpstr>
      <vt:lpstr>Identificação da Iniciativa/Projeto e das Necessidade de Catalogação</vt:lpstr>
      <vt:lpstr>PowerPoint Presentation</vt:lpstr>
      <vt:lpstr>Enquadramento da Iniciativa/Projeto</vt:lpstr>
      <vt:lpstr>PowerPoint Presentation</vt:lpstr>
      <vt:lpstr>Situação Atual</vt:lpstr>
      <vt:lpstr>PowerPoint Presentation</vt:lpstr>
      <vt:lpstr>PowerPoint Presentation</vt:lpstr>
      <vt:lpstr>Objectivos da Iniciativa/Projeto</vt:lpstr>
      <vt:lpstr>PowerPoint Presentation</vt:lpstr>
      <vt:lpstr>Requisitos Funcionais</vt:lpstr>
      <vt:lpstr>PowerPoint Presentation</vt:lpstr>
      <vt:lpstr>PowerPoint Presentation</vt:lpstr>
      <vt:lpstr>PowerPoint Presentation</vt:lpstr>
      <vt:lpstr>Solução Proposta</vt:lpstr>
      <vt:lpstr>PowerPoint Presentation</vt:lpstr>
      <vt:lpstr>PowerPoint Presentation</vt:lpstr>
      <vt:lpstr>PowerPoint Presentation</vt:lpstr>
      <vt:lpstr>PowerPoint Presentation</vt:lpstr>
      <vt:lpstr>Dados Fontes, Transformações e Consumo.</vt:lpstr>
      <vt:lpstr>PowerPoint Presentation</vt:lpstr>
      <vt:lpstr>Referências e Glossário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Power Point SANTANDER</dc:title>
  <dc:creator>Bernardo Cardoso</dc:creator>
  <cp:lastModifiedBy>Marco António Cortegaça Rodrigues</cp:lastModifiedBy>
  <cp:revision>1</cp:revision>
  <cp:lastPrinted>2018-11-02T14:15:56Z</cp:lastPrinted>
  <dcterms:created xsi:type="dcterms:W3CDTF">2018-03-19T11:10:43Z</dcterms:created>
  <dcterms:modified xsi:type="dcterms:W3CDTF">2024-03-15T10:23:13Z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0x010100106BFEDD1D559E4BA79C2EB28F04D42B</vt:lpwstr>
  </property>
  <property fmtid="{D5CDD505-2E9C-101B-9397-08002B2CF9AE}" pid="3" name="MSIP_Label_0c2abd79-57a9-4473-8700-c843f76a1e37_Enabled">
    <vt:lpwstr>true</vt:lpwstr>
  </property>
  <property fmtid="{D5CDD505-2E9C-101B-9397-08002B2CF9AE}" pid="4" name="MSIP_Label_0c2abd79-57a9-4473-8700-c843f76a1e37_SetDate">
    <vt:lpwstr>2022-06-20T13:01:57Z</vt:lpwstr>
  </property>
  <property fmtid="{D5CDD505-2E9C-101B-9397-08002B2CF9AE}" pid="5" name="MSIP_Label_0c2abd79-57a9-4473-8700-c843f76a1e37_Method">
    <vt:lpwstr>Privileged</vt:lpwstr>
  </property>
  <property fmtid="{D5CDD505-2E9C-101B-9397-08002B2CF9AE}" pid="6" name="MSIP_Label_0c2abd79-57a9-4473-8700-c843f76a1e37_Name">
    <vt:lpwstr>Internal</vt:lpwstr>
  </property>
  <property fmtid="{D5CDD505-2E9C-101B-9397-08002B2CF9AE}" pid="7" name="MSIP_Label_0c2abd79-57a9-4473-8700-c843f76a1e37_SiteId">
    <vt:lpwstr>35595a02-4d6d-44ac-99e1-f9ab4cd872db</vt:lpwstr>
  </property>
  <property fmtid="{D5CDD505-2E9C-101B-9397-08002B2CF9AE}" pid="8" name="MSIP_Label_0c2abd79-57a9-4473-8700-c843f76a1e37_ActionId">
    <vt:lpwstr>a318e53b-ff20-49a1-91c5-da12d420dac2</vt:lpwstr>
  </property>
  <property fmtid="{D5CDD505-2E9C-101B-9397-08002B2CF9AE}" pid="9" name="MSIP_Label_0c2abd79-57a9-4473-8700-c843f76a1e37_ContentBits">
    <vt:lpwstr>0</vt:lpwstr>
  </property>
  <property fmtid="{D5CDD505-2E9C-101B-9397-08002B2CF9AE}" pid="10" name="MediaServiceImageTags">
    <vt:lpwstr/>
  </property>
</Properties>
</file>