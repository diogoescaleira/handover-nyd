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wdp" ContentType="image/vnd.ms-photo"/>
  <Default Extension="xlsm" ContentType="application/vnd.ms-excel.sheet.macroEnabled.12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7"/>
  </p:notesMasterIdLst>
  <p:sldIdLst>
    <p:sldId id="261" r:id="rId5"/>
    <p:sldId id="479" r:id="rId6"/>
    <p:sldId id="480" r:id="rId7"/>
    <p:sldId id="505" r:id="rId8"/>
    <p:sldId id="494" r:id="rId9"/>
    <p:sldId id="265" r:id="rId10"/>
    <p:sldId id="502" r:id="rId11"/>
    <p:sldId id="511" r:id="rId12"/>
    <p:sldId id="512" r:id="rId13"/>
    <p:sldId id="513" r:id="rId14"/>
    <p:sldId id="514" r:id="rId15"/>
    <p:sldId id="515" r:id="rId16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aula Escusol Entio" initials="PEE" lastIdx="1" clrIdx="0">
    <p:extLst>
      <p:ext uri="{19B8F6BF-5375-455C-9EA6-DF929625EA0E}">
        <p15:presenceInfo xmlns:p15="http://schemas.microsoft.com/office/powerpoint/2012/main" userId="S::Paula.Escusol.Entio@es.ey.com::9d31b5ec-4252-4352-b651-ace4bf6fc2ab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1E1"/>
    <a:srgbClr val="E0BABA"/>
    <a:srgbClr val="FF6D6D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A99DE58-B083-47C0-9068-BA775FEE5B1C}" v="2" dt="2021-06-24T15:08:53.00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adbetter, Jack (Santander UK)" userId="S::jack.leadbetter@santander.co.uk::1178aac2-dc6c-49cd-ad41-cf94671309b5" providerId="AD" clId="Web-{6205E80F-6A6C-8524-5149-708DA7CF9647}"/>
    <pc:docChg chg="modSld">
      <pc:chgData name="Leadbetter, Jack (Santander UK)" userId="S::jack.leadbetter@santander.co.uk::1178aac2-dc6c-49cd-ad41-cf94671309b5" providerId="AD" clId="Web-{6205E80F-6A6C-8524-5149-708DA7CF9647}" dt="2021-09-23T20:17:00.916" v="1" actId="14100"/>
      <pc:docMkLst>
        <pc:docMk/>
      </pc:docMkLst>
      <pc:sldChg chg="modSp">
        <pc:chgData name="Leadbetter, Jack (Santander UK)" userId="S::jack.leadbetter@santander.co.uk::1178aac2-dc6c-49cd-ad41-cf94671309b5" providerId="AD" clId="Web-{6205E80F-6A6C-8524-5149-708DA7CF9647}" dt="2021-09-23T20:17:00.916" v="1" actId="14100"/>
        <pc:sldMkLst>
          <pc:docMk/>
          <pc:sldMk cId="2283782581" sldId="480"/>
        </pc:sldMkLst>
        <pc:graphicFrameChg chg="mod">
          <ac:chgData name="Leadbetter, Jack (Santander UK)" userId="S::jack.leadbetter@santander.co.uk::1178aac2-dc6c-49cd-ad41-cf94671309b5" providerId="AD" clId="Web-{6205E80F-6A6C-8524-5149-708DA7CF9647}" dt="2021-09-23T20:17:00.916" v="1" actId="14100"/>
          <ac:graphicFrameMkLst>
            <pc:docMk/>
            <pc:sldMk cId="2283782581" sldId="480"/>
            <ac:graphicFrameMk id="30" creationId="{74639665-7C1A-4303-B016-7D574B6C5340}"/>
          </ac:graphicFrameMkLst>
        </pc:graphicFrameChg>
      </pc:sldChg>
    </pc:docChg>
  </pc:docChgLst>
  <pc:docChgLst>
    <pc:chgData name="Paloma Munoz" userId="54ac8f13-96be-4170-bf4b-04de0597c433" providerId="ADAL" clId="{B2414163-1EFC-45FD-B04C-20340AB08D46}"/>
    <pc:docChg chg="custSel modSld">
      <pc:chgData name="Paloma Munoz" userId="54ac8f13-96be-4170-bf4b-04de0597c433" providerId="ADAL" clId="{B2414163-1EFC-45FD-B04C-20340AB08D46}" dt="2021-06-24T15:08:53.007" v="3"/>
      <pc:docMkLst>
        <pc:docMk/>
      </pc:docMkLst>
      <pc:sldChg chg="addSp delSp">
        <pc:chgData name="Paloma Munoz" userId="54ac8f13-96be-4170-bf4b-04de0597c433" providerId="ADAL" clId="{B2414163-1EFC-45FD-B04C-20340AB08D46}" dt="2021-06-24T15:08:53.007" v="3"/>
        <pc:sldMkLst>
          <pc:docMk/>
          <pc:sldMk cId="1918998577" sldId="505"/>
        </pc:sldMkLst>
        <pc:graphicFrameChg chg="add del">
          <ac:chgData name="Paloma Munoz" userId="54ac8f13-96be-4170-bf4b-04de0597c433" providerId="ADAL" clId="{B2414163-1EFC-45FD-B04C-20340AB08D46}" dt="2021-06-24T15:08:52.668" v="2" actId="478"/>
          <ac:graphicFrameMkLst>
            <pc:docMk/>
            <pc:sldMk cId="1918998577" sldId="505"/>
            <ac:graphicFrameMk id="28" creationId="{B892C3A3-822C-455F-B78D-3E637B3A0465}"/>
          </ac:graphicFrameMkLst>
        </pc:graphicFrameChg>
        <pc:graphicFrameChg chg="del">
          <ac:chgData name="Paloma Munoz" userId="54ac8f13-96be-4170-bf4b-04de0597c433" providerId="ADAL" clId="{B2414163-1EFC-45FD-B04C-20340AB08D46}" dt="2021-06-24T15:01:16.520" v="0" actId="478"/>
          <ac:graphicFrameMkLst>
            <pc:docMk/>
            <pc:sldMk cId="1918998577" sldId="505"/>
            <ac:graphicFrameMk id="29" creationId="{F81CE19E-053B-4223-A5EB-261378728946}"/>
          </ac:graphicFrameMkLst>
        </pc:graphicFrameChg>
        <pc:graphicFrameChg chg="add">
          <ac:chgData name="Paloma Munoz" userId="54ac8f13-96be-4170-bf4b-04de0597c433" providerId="ADAL" clId="{B2414163-1EFC-45FD-B04C-20340AB08D46}" dt="2021-06-24T15:08:53.007" v="3"/>
          <ac:graphicFrameMkLst>
            <pc:docMk/>
            <pc:sldMk cId="1918998577" sldId="505"/>
            <ac:graphicFrameMk id="31" creationId="{6FB58E20-9233-4237-9CA1-0D4092F2E7C5}"/>
          </ac:graphicFrameMkLst>
        </pc:graphicFrameChg>
      </pc:sldChg>
    </pc:docChg>
  </pc:docChgLst>
  <pc:docChgLst>
    <pc:chgData name="Leadbetter, Jack (Santander UK)" userId="S::jack.leadbetter@santander.co.uk::1178aac2-dc6c-49cd-ad41-cf94671309b5" providerId="AD" clId="Web-{CC137782-5501-C08C-A8A4-E84FDA1681B3}"/>
    <pc:docChg chg="modSld">
      <pc:chgData name="Leadbetter, Jack (Santander UK)" userId="S::jack.leadbetter@santander.co.uk::1178aac2-dc6c-49cd-ad41-cf94671309b5" providerId="AD" clId="Web-{CC137782-5501-C08C-A8A4-E84FDA1681B3}" dt="2021-09-23T20:18:23.262" v="2" actId="1076"/>
      <pc:docMkLst>
        <pc:docMk/>
      </pc:docMkLst>
      <pc:sldChg chg="modSp">
        <pc:chgData name="Leadbetter, Jack (Santander UK)" userId="S::jack.leadbetter@santander.co.uk::1178aac2-dc6c-49cd-ad41-cf94671309b5" providerId="AD" clId="Web-{CC137782-5501-C08C-A8A4-E84FDA1681B3}" dt="2021-09-23T20:18:23.262" v="2" actId="1076"/>
        <pc:sldMkLst>
          <pc:docMk/>
          <pc:sldMk cId="2283782581" sldId="480"/>
        </pc:sldMkLst>
        <pc:graphicFrameChg chg="mod">
          <ac:chgData name="Leadbetter, Jack (Santander UK)" userId="S::jack.leadbetter@santander.co.uk::1178aac2-dc6c-49cd-ad41-cf94671309b5" providerId="AD" clId="Web-{CC137782-5501-C08C-A8A4-E84FDA1681B3}" dt="2021-09-23T20:18:23.262" v="2" actId="1076"/>
          <ac:graphicFrameMkLst>
            <pc:docMk/>
            <pc:sldMk cId="2283782581" sldId="480"/>
            <ac:graphicFrameMk id="30" creationId="{74639665-7C1A-4303-B016-7D574B6C5340}"/>
          </ac:graphicFrameMkLst>
        </pc:graphicFrameChg>
      </pc:sldChg>
    </pc:docChg>
  </pc:docChgLst>
</pc:chgInfo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e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image" Target="../media/image17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B0ACE7-A953-41E2-A7EA-5C32C9BC181D}" type="datetimeFigureOut">
              <a:rPr lang="es-ES" smtClean="0"/>
              <a:t>23/09/2021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23C3DF-F817-452D-B5DC-32772A816C30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23952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78D618-BBD3-4FF5-9218-0E9FEB4B2F82}" type="slidenum">
              <a:rPr lang="es-ES" smtClean="0">
                <a:solidFill>
                  <a:prstClr val="black"/>
                </a:solidFill>
              </a:rPr>
              <a:pPr/>
              <a:t>1</a:t>
            </a:fld>
            <a:endParaRPr lang="es-E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42505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78D618-BBD3-4FF5-9218-0E9FEB4B2F82}" type="slidenum">
              <a:rPr lang="es-ES" smtClean="0">
                <a:solidFill>
                  <a:prstClr val="black"/>
                </a:solidFill>
              </a:rPr>
              <a:pPr/>
              <a:t>3</a:t>
            </a:fld>
            <a:endParaRPr lang="es-E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33401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78D618-BBD3-4FF5-9218-0E9FEB4B2F82}" type="slidenum">
              <a:rPr lang="es-ES" smtClean="0">
                <a:solidFill>
                  <a:prstClr val="black"/>
                </a:solidFill>
              </a:rPr>
              <a:pPr/>
              <a:t>4</a:t>
            </a:fld>
            <a:endParaRPr lang="es-E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13376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78D618-BBD3-4FF5-9218-0E9FEB4B2F82}" type="slidenum">
              <a:rPr lang="es-ES" smtClean="0">
                <a:solidFill>
                  <a:prstClr val="black"/>
                </a:solidFill>
              </a:rPr>
              <a:pPr/>
              <a:t>5</a:t>
            </a:fld>
            <a:endParaRPr lang="es-E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13376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78D618-BBD3-4FF5-9218-0E9FEB4B2F82}" type="slidenum">
              <a:rPr lang="es-ES" smtClean="0">
                <a:solidFill>
                  <a:prstClr val="black"/>
                </a:solidFill>
              </a:rPr>
              <a:pPr/>
              <a:t>7</a:t>
            </a:fld>
            <a:endParaRPr lang="es-E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29631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78D618-BBD3-4FF5-9218-0E9FEB4B2F82}" type="slidenum">
              <a:rPr lang="es-ES" smtClean="0">
                <a:solidFill>
                  <a:prstClr val="black"/>
                </a:solidFill>
              </a:rPr>
              <a:pPr/>
              <a:t>8</a:t>
            </a:fld>
            <a:endParaRPr lang="es-E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61965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78D618-BBD3-4FF5-9218-0E9FEB4B2F82}" type="slidenum">
              <a:rPr lang="es-ES" smtClean="0">
                <a:solidFill>
                  <a:prstClr val="black"/>
                </a:solidFill>
              </a:rPr>
              <a:pPr/>
              <a:t>9</a:t>
            </a:fld>
            <a:endParaRPr lang="es-E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93643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78D618-BBD3-4FF5-9218-0E9FEB4B2F82}" type="slidenum">
              <a:rPr lang="es-ES" smtClean="0">
                <a:solidFill>
                  <a:prstClr val="black"/>
                </a:solidFill>
              </a:rPr>
              <a:pPr/>
              <a:t>10</a:t>
            </a:fld>
            <a:endParaRPr lang="es-E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84281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78D618-BBD3-4FF5-9218-0E9FEB4B2F82}" type="slidenum">
              <a:rPr lang="es-ES" smtClean="0">
                <a:solidFill>
                  <a:prstClr val="black"/>
                </a:solidFill>
              </a:rPr>
              <a:pPr/>
              <a:t>11</a:t>
            </a:fld>
            <a:endParaRPr lang="es-E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46169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78D618-BBD3-4FF5-9218-0E9FEB4B2F82}" type="slidenum">
              <a:rPr lang="es-ES" smtClean="0">
                <a:solidFill>
                  <a:prstClr val="black"/>
                </a:solidFill>
              </a:rPr>
              <a:pPr/>
              <a:t>12</a:t>
            </a:fld>
            <a:endParaRPr lang="es-E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38913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3.svg"/><Relationship Id="rId2" Type="http://schemas.openxmlformats.org/officeDocument/2006/relationships/tags" Target="../tags/tag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2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3.svg"/><Relationship Id="rId2" Type="http://schemas.openxmlformats.org/officeDocument/2006/relationships/tags" Target="../tags/tag3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2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3.bin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3.svg"/><Relationship Id="rId2" Type="http://schemas.openxmlformats.org/officeDocument/2006/relationships/tags" Target="../tags/tag4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2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4.bin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3.svg"/><Relationship Id="rId2" Type="http://schemas.openxmlformats.org/officeDocument/2006/relationships/tags" Target="../tags/tag5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2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5.bin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3.svg"/><Relationship Id="rId2" Type="http://schemas.openxmlformats.org/officeDocument/2006/relationships/tags" Target="../tags/tag6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2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6.bin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3.svg"/><Relationship Id="rId2" Type="http://schemas.openxmlformats.org/officeDocument/2006/relationships/tags" Target="../tags/tag7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2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7.bin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3.svg"/><Relationship Id="rId2" Type="http://schemas.openxmlformats.org/officeDocument/2006/relationships/tags" Target="../tags/tag8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2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8.bin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9.xml"/><Relationship Id="rId1" Type="http://schemas.openxmlformats.org/officeDocument/2006/relationships/vmlDrawing" Target="../drawings/vmlDrawing9.vml"/><Relationship Id="rId5" Type="http://schemas.openxmlformats.org/officeDocument/2006/relationships/image" Target="../media/image6.emf"/><Relationship Id="rId4" Type="http://schemas.openxmlformats.org/officeDocument/2006/relationships/oleObject" Target="../embeddings/oleObject9.bin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8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7AB17398-CAA7-49B6-868C-44D053E7EAC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4620" y="2722142"/>
            <a:ext cx="4934309" cy="2436454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Esto clic para modificar el estilo de subtítulo del patrón</a:t>
            </a: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9012236B-6821-499F-B6D4-F11EC0EF0C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1978" y="5727401"/>
            <a:ext cx="1896592" cy="332588"/>
          </a:xfrm>
          <a:prstGeom prst="rect">
            <a:avLst/>
          </a:prstGeom>
        </p:spPr>
      </p:pic>
      <p:sp>
        <p:nvSpPr>
          <p:cNvPr id="17" name="Marcador de texto 16">
            <a:extLst>
              <a:ext uri="{FF2B5EF4-FFF2-40B4-BE49-F238E27FC236}">
                <a16:creationId xmlns:a16="http://schemas.microsoft.com/office/drawing/2014/main" id="{F5E5F18D-70E6-495C-A384-2EDAE003093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09650" y="333651"/>
            <a:ext cx="11177550" cy="419100"/>
          </a:xfrm>
        </p:spPr>
        <p:txBody>
          <a:bodyPr>
            <a:noAutofit/>
          </a:bodyPr>
          <a:lstStyle>
            <a:lvl1pPr marL="0" indent="0">
              <a:buNone/>
              <a:defRPr sz="1300">
                <a:solidFill>
                  <a:schemeClr val="tx2"/>
                </a:solidFill>
              </a:defRPr>
            </a:lvl1pPr>
            <a:lvl2pPr marL="457200" indent="0">
              <a:buNone/>
              <a:defRPr sz="1300">
                <a:solidFill>
                  <a:schemeClr val="tx2"/>
                </a:solidFill>
              </a:defRPr>
            </a:lvl2pPr>
            <a:lvl3pPr marL="914400" indent="0">
              <a:buNone/>
              <a:defRPr sz="1300">
                <a:solidFill>
                  <a:schemeClr val="tx2"/>
                </a:solidFill>
              </a:defRPr>
            </a:lvl3pPr>
            <a:lvl4pPr marL="1371600" indent="0">
              <a:buNone/>
              <a:defRPr sz="1300">
                <a:solidFill>
                  <a:schemeClr val="tx2"/>
                </a:solidFill>
              </a:defRPr>
            </a:lvl4pPr>
            <a:lvl5pPr marL="1828800" indent="0"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7" name="Forma libre: forma 6">
            <a:extLst>
              <a:ext uri="{FF2B5EF4-FFF2-40B4-BE49-F238E27FC236}">
                <a16:creationId xmlns:a16="http://schemas.microsoft.com/office/drawing/2014/main" id="{67D1300D-9BA1-4612-9EA5-90328019812E}"/>
              </a:ext>
            </a:extLst>
          </p:cNvPr>
          <p:cNvSpPr/>
          <p:nvPr userDrawn="1"/>
        </p:nvSpPr>
        <p:spPr>
          <a:xfrm>
            <a:off x="0" y="5229922"/>
            <a:ext cx="12196689" cy="1628078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>
              <a:solidFill>
                <a:prstClr val="white"/>
              </a:solidFill>
            </a:endParaRPr>
          </a:p>
        </p:txBody>
      </p:sp>
      <p:sp>
        <p:nvSpPr>
          <p:cNvPr id="6" name="Título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13078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Índ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"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Gráfico 8">
            <a:extLst>
              <a:ext uri="{FF2B5EF4-FFF2-40B4-BE49-F238E27FC236}">
                <a16:creationId xmlns:a16="http://schemas.microsoft.com/office/drawing/2014/main" id="{AC1B0227-D6EB-4F05-832D-EB54916F795A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2642" y="6262326"/>
            <a:ext cx="1172108" cy="205543"/>
          </a:xfrm>
          <a:prstGeom prst="rect">
            <a:avLst/>
          </a:prstGeom>
        </p:spPr>
      </p:pic>
      <p:sp>
        <p:nvSpPr>
          <p:cNvPr id="14" name="Marcador de texto 11">
            <a:extLst>
              <a:ext uri="{FF2B5EF4-FFF2-40B4-BE49-F238E27FC236}">
                <a16:creationId xmlns:a16="http://schemas.microsoft.com/office/drawing/2014/main" id="{0CC57AA0-6C3B-4C80-BF6B-C321A960A96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2641" y="1100239"/>
            <a:ext cx="10635843" cy="4906665"/>
          </a:xfrm>
        </p:spPr>
        <p:txBody>
          <a:bodyPr>
            <a:normAutofit/>
          </a:bodyPr>
          <a:lstStyle>
            <a:lvl1pPr marL="432000" indent="-396000">
              <a:buClr>
                <a:schemeClr val="accent1"/>
              </a:buClr>
              <a:buSzPct val="45000"/>
              <a:buFont typeface="+mj-lt"/>
              <a:buAutoNum type="arabicPeriod"/>
              <a:defRPr lang="es-ES" sz="4000" b="1" kern="1200" dirty="0" smtClean="0">
                <a:solidFill>
                  <a:srgbClr val="3C3C3B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s-ES"/>
              <a:t>Editar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13113176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parador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rma libre: forma 6">
            <a:extLst>
              <a:ext uri="{FF2B5EF4-FFF2-40B4-BE49-F238E27FC236}">
                <a16:creationId xmlns:a16="http://schemas.microsoft.com/office/drawing/2014/main" id="{49C540BB-A189-4361-ABD8-4DA84C6612C3}"/>
              </a:ext>
            </a:extLst>
          </p:cNvPr>
          <p:cNvSpPr/>
          <p:nvPr userDrawn="1"/>
        </p:nvSpPr>
        <p:spPr>
          <a:xfrm>
            <a:off x="3540548" y="0"/>
            <a:ext cx="8651452" cy="6858000"/>
          </a:xfrm>
          <a:custGeom>
            <a:avLst/>
            <a:gdLst>
              <a:gd name="connsiteX0" fmla="*/ 1630018 w 3266660"/>
              <a:gd name="connsiteY0" fmla="*/ 0 h 6858000"/>
              <a:gd name="connsiteX1" fmla="*/ 3266660 w 3266660"/>
              <a:gd name="connsiteY1" fmla="*/ 0 h 6858000"/>
              <a:gd name="connsiteX2" fmla="*/ 3266660 w 3266660"/>
              <a:gd name="connsiteY2" fmla="*/ 6858000 h 6858000"/>
              <a:gd name="connsiteX3" fmla="*/ 0 w 3266660"/>
              <a:gd name="connsiteY3" fmla="*/ 6858000 h 6858000"/>
              <a:gd name="connsiteX4" fmla="*/ 0 w 3266660"/>
              <a:gd name="connsiteY4" fmla="*/ 2822713 h 6858000"/>
              <a:gd name="connsiteX5" fmla="*/ 1630018 w 3266660"/>
              <a:gd name="connsiteY5" fmla="*/ 282271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66660" h="6858000">
                <a:moveTo>
                  <a:pt x="1630018" y="0"/>
                </a:moveTo>
                <a:lnTo>
                  <a:pt x="3266660" y="0"/>
                </a:lnTo>
                <a:lnTo>
                  <a:pt x="3266660" y="6858000"/>
                </a:lnTo>
                <a:lnTo>
                  <a:pt x="0" y="6858000"/>
                </a:lnTo>
                <a:lnTo>
                  <a:pt x="0" y="2822713"/>
                </a:lnTo>
                <a:lnTo>
                  <a:pt x="1630018" y="2822713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>
              <a:solidFill>
                <a:prstClr val="white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045CB15-1F44-40E1-909E-6233010BC1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519" y="626373"/>
            <a:ext cx="4386194" cy="2852737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14" name="Marcador de texto 13">
            <a:extLst>
              <a:ext uri="{FF2B5EF4-FFF2-40B4-BE49-F238E27FC236}">
                <a16:creationId xmlns:a16="http://schemas.microsoft.com/office/drawing/2014/main" id="{6E38BAEA-EEE9-4346-9DB7-91D26BC942D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945217" y="3270526"/>
            <a:ext cx="2958754" cy="2364961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6600">
                <a:solidFill>
                  <a:schemeClr val="bg1"/>
                </a:solidFill>
              </a:defRPr>
            </a:lvl1pPr>
            <a:lvl2pPr>
              <a:defRPr sz="13800">
                <a:solidFill>
                  <a:schemeClr val="tx1"/>
                </a:solidFill>
              </a:defRPr>
            </a:lvl2pPr>
            <a:lvl3pPr>
              <a:defRPr sz="11500">
                <a:solidFill>
                  <a:schemeClr val="tx1"/>
                </a:solidFill>
              </a:defRPr>
            </a:lvl3pPr>
            <a:lvl4pPr>
              <a:defRPr sz="9600">
                <a:solidFill>
                  <a:schemeClr val="tx1"/>
                </a:solidFill>
              </a:defRPr>
            </a:lvl4pPr>
            <a:lvl5pPr>
              <a:defRPr sz="9600">
                <a:solidFill>
                  <a:schemeClr val="tx1"/>
                </a:solidFill>
              </a:defRPr>
            </a:lvl5pPr>
          </a:lstStyle>
          <a:p>
            <a:pPr lvl="0"/>
            <a:r>
              <a:rPr lang="es-ES"/>
              <a:t>00</a:t>
            </a:r>
          </a:p>
        </p:txBody>
      </p:sp>
      <p:pic>
        <p:nvPicPr>
          <p:cNvPr id="5" name="Gráfico 8">
            <a:extLst>
              <a:ext uri="{FF2B5EF4-FFF2-40B4-BE49-F238E27FC236}">
                <a16:creationId xmlns:a16="http://schemas.microsoft.com/office/drawing/2014/main" id="{9012236B-6821-499F-B6D4-F11EC0EF0C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1978" y="5727401"/>
            <a:ext cx="1896592" cy="332588"/>
          </a:xfrm>
          <a:prstGeom prst="rect">
            <a:avLst/>
          </a:prstGeom>
        </p:spPr>
      </p:pic>
      <p:sp>
        <p:nvSpPr>
          <p:cNvPr id="6" name="Forma libre: forma 6">
            <a:extLst>
              <a:ext uri="{FF2B5EF4-FFF2-40B4-BE49-F238E27FC236}">
                <a16:creationId xmlns:a16="http://schemas.microsoft.com/office/drawing/2014/main" id="{67D1300D-9BA1-4612-9EA5-90328019812E}"/>
              </a:ext>
            </a:extLst>
          </p:cNvPr>
          <p:cNvSpPr/>
          <p:nvPr userDrawn="1"/>
        </p:nvSpPr>
        <p:spPr>
          <a:xfrm>
            <a:off x="0" y="5229922"/>
            <a:ext cx="12196689" cy="1628078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88747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 y contenid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1"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43" y="1087457"/>
            <a:ext cx="5297557" cy="1606047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s-ES"/>
              <a:t>Aquí Haga clic para modificar el estilo de título del patrón</a:t>
            </a: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2642" y="6262326"/>
            <a:ext cx="1172108" cy="205543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4" y="337100"/>
            <a:ext cx="10758734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 sz="1100"/>
            </a:lvl2pPr>
            <a:lvl3pPr marL="914400" indent="0">
              <a:buFontTx/>
              <a:buNone/>
              <a:defRPr sz="1050"/>
            </a:lvl3pPr>
            <a:lvl4pPr marL="1371600" indent="0">
              <a:buFontTx/>
              <a:buNone/>
              <a:defRPr sz="1000"/>
            </a:lvl4pPr>
            <a:lvl5pPr marL="1828800" indent="0">
              <a:buFontTx/>
              <a:buNone/>
              <a:defRPr sz="1000"/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8" name="Marcador de texto 16">
            <a:extLst>
              <a:ext uri="{FF2B5EF4-FFF2-40B4-BE49-F238E27FC236}">
                <a16:creationId xmlns:a16="http://schemas.microsoft.com/office/drawing/2014/main" id="{07C8BA77-3119-41AC-B33B-745A751CC06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1025" y="3093562"/>
            <a:ext cx="5308776" cy="3083401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20" name="Marcador de texto 16">
            <a:extLst>
              <a:ext uri="{FF2B5EF4-FFF2-40B4-BE49-F238E27FC236}">
                <a16:creationId xmlns:a16="http://schemas.microsoft.com/office/drawing/2014/main" id="{81AA2FC0-CE4E-483D-AF92-BEA6CD796B9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99971" y="1087458"/>
            <a:ext cx="5081004" cy="508950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32139539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 y contenid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5"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43" y="1087457"/>
            <a:ext cx="10758733" cy="1823011"/>
          </a:xfrm>
        </p:spPr>
        <p:txBody>
          <a:bodyPr anchor="t">
            <a:no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s-ES"/>
              <a:t>Aquí Haga clic para modificar el estilo de título del patrón</a:t>
            </a: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2642" y="6262326"/>
            <a:ext cx="1172108" cy="205543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4" y="337100"/>
            <a:ext cx="10758734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 sz="1100"/>
            </a:lvl2pPr>
            <a:lvl3pPr marL="914400" indent="0">
              <a:buFontTx/>
              <a:buNone/>
              <a:defRPr sz="1050"/>
            </a:lvl3pPr>
            <a:lvl4pPr marL="1371600" indent="0">
              <a:buFontTx/>
              <a:buNone/>
              <a:defRPr sz="1000"/>
            </a:lvl4pPr>
            <a:lvl5pPr marL="1828800" indent="0">
              <a:buFontTx/>
              <a:buNone/>
              <a:defRPr sz="1000"/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1024" y="3093562"/>
            <a:ext cx="10758733" cy="3083401"/>
          </a:xfrm>
        </p:spPr>
        <p:txBody>
          <a:bodyPr numCol="2" spcCol="720000"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6404310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tac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69"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1970" y="1109759"/>
            <a:ext cx="3801119" cy="5050689"/>
          </a:xfrm>
        </p:spPr>
        <p:txBody>
          <a:bodyPr anchor="t">
            <a:noAutofit/>
          </a:bodyPr>
          <a:lstStyle>
            <a:lvl1pPr>
              <a:defRPr sz="2500" b="1">
                <a:solidFill>
                  <a:schemeClr val="accent3"/>
                </a:solidFill>
              </a:defRPr>
            </a:lvl1pPr>
          </a:lstStyle>
          <a:p>
            <a:r>
              <a:rPr lang="es-ES" err="1"/>
              <a:t>Lorem</a:t>
            </a:r>
            <a:r>
              <a:rPr lang="es-ES"/>
              <a:t> Haga clic para modificar el estilo de título del patrón</a:t>
            </a: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2642" y="6262326"/>
            <a:ext cx="1172108" cy="205543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4" y="337100"/>
            <a:ext cx="10758734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 sz="1100"/>
            </a:lvl2pPr>
            <a:lvl3pPr marL="914400" indent="0">
              <a:buFontTx/>
              <a:buNone/>
              <a:defRPr sz="1050"/>
            </a:lvl3pPr>
            <a:lvl4pPr marL="1371600" indent="0">
              <a:buFontTx/>
              <a:buNone/>
              <a:defRPr sz="1000"/>
            </a:lvl4pPr>
            <a:lvl5pPr marL="1828800" indent="0">
              <a:buFontTx/>
              <a:buNone/>
              <a:defRPr sz="1000"/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72722" y="1126274"/>
            <a:ext cx="6697035" cy="5050690"/>
          </a:xfrm>
        </p:spPr>
        <p:txBody>
          <a:bodyPr numCol="1" spcCol="0"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42198526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y gráfic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3"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2642" y="6262326"/>
            <a:ext cx="1172108" cy="205543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4" y="337100"/>
            <a:ext cx="10758734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 sz="1100"/>
            </a:lvl2pPr>
            <a:lvl3pPr marL="914400" indent="0">
              <a:buFontTx/>
              <a:buNone/>
              <a:defRPr sz="1050"/>
            </a:lvl3pPr>
            <a:lvl4pPr marL="1371600" indent="0">
              <a:buFontTx/>
              <a:buNone/>
              <a:defRPr sz="1000"/>
            </a:lvl4pPr>
            <a:lvl5pPr marL="1828800" indent="0">
              <a:buFontTx/>
              <a:buNone/>
              <a:defRPr sz="1000"/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3AABE934-895B-422A-B16D-773558A762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43" y="1087458"/>
            <a:ext cx="3911401" cy="1183132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s-ES"/>
              <a:t>Título del patrón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25" y="2517170"/>
            <a:ext cx="3911401" cy="365979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Marcador de gráfico 5">
            <a:extLst>
              <a:ext uri="{FF2B5EF4-FFF2-40B4-BE49-F238E27FC236}">
                <a16:creationId xmlns:a16="http://schemas.microsoft.com/office/drawing/2014/main" id="{2444BFBF-CC97-48FB-BE66-A28460A7384B}"/>
              </a:ext>
            </a:extLst>
          </p:cNvPr>
          <p:cNvSpPr>
            <a:spLocks noGrp="1"/>
          </p:cNvSpPr>
          <p:nvPr>
            <p:ph type="chart" sz="quarter" idx="17" hasCustomPrompt="1"/>
          </p:nvPr>
        </p:nvSpPr>
        <p:spPr>
          <a:xfrm>
            <a:off x="4797425" y="1087438"/>
            <a:ext cx="6683550" cy="5122862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s-MX"/>
              <a:t>Inserte aqu</a:t>
            </a:r>
            <a:r>
              <a:rPr lang="es-ES"/>
              <a:t>í su gráfico</a:t>
            </a:r>
          </a:p>
        </p:txBody>
      </p:sp>
    </p:spTree>
    <p:extLst>
      <p:ext uri="{BB962C8B-B14F-4D97-AF65-F5344CB8AC3E}">
        <p14:creationId xmlns:p14="http://schemas.microsoft.com/office/powerpoint/2010/main" val="18141768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y gráfic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7"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2642" y="6262326"/>
            <a:ext cx="1172108" cy="205543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4" y="337100"/>
            <a:ext cx="10758734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 sz="1100"/>
            </a:lvl2pPr>
            <a:lvl3pPr marL="914400" indent="0">
              <a:buFontTx/>
              <a:buNone/>
              <a:defRPr sz="1050"/>
            </a:lvl3pPr>
            <a:lvl4pPr marL="1371600" indent="0">
              <a:buFontTx/>
              <a:buNone/>
              <a:defRPr sz="1000"/>
            </a:lvl4pPr>
            <a:lvl5pPr marL="1828800" indent="0">
              <a:buFontTx/>
              <a:buNone/>
              <a:defRPr sz="1000"/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25" y="1191802"/>
            <a:ext cx="3911401" cy="4985162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2" name="Marcador de tabla 4">
            <a:extLst>
              <a:ext uri="{FF2B5EF4-FFF2-40B4-BE49-F238E27FC236}">
                <a16:creationId xmlns:a16="http://schemas.microsoft.com/office/drawing/2014/main" id="{DF826A4E-1A0C-46D7-8327-402D7A34DE68}"/>
              </a:ext>
            </a:extLst>
          </p:cNvPr>
          <p:cNvSpPr>
            <a:spLocks noGrp="1"/>
          </p:cNvSpPr>
          <p:nvPr>
            <p:ph type="tbl" sz="quarter" idx="18" hasCustomPrompt="1"/>
          </p:nvPr>
        </p:nvSpPr>
        <p:spPr>
          <a:xfrm>
            <a:off x="4867835" y="1707776"/>
            <a:ext cx="6612965" cy="4502524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Inserte aquí su tabla</a:t>
            </a:r>
          </a:p>
        </p:txBody>
      </p:sp>
      <p:sp>
        <p:nvSpPr>
          <p:cNvPr id="14" name="Marcador de texto 16">
            <a:extLst>
              <a:ext uri="{FF2B5EF4-FFF2-40B4-BE49-F238E27FC236}">
                <a16:creationId xmlns:a16="http://schemas.microsoft.com/office/drawing/2014/main" id="{C96F8991-1F66-478E-8C12-FB0275A2F29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867835" y="1191802"/>
            <a:ext cx="6587576" cy="38150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5737449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y gráfico 3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1"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2642" y="6262326"/>
            <a:ext cx="1172108" cy="205543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4" y="337100"/>
            <a:ext cx="10758734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 sz="1100"/>
            </a:lvl2pPr>
            <a:lvl3pPr marL="914400" indent="0">
              <a:buFontTx/>
              <a:buNone/>
              <a:defRPr sz="1050"/>
            </a:lvl3pPr>
            <a:lvl4pPr marL="1371600" indent="0">
              <a:buFontTx/>
              <a:buNone/>
              <a:defRPr sz="1000"/>
            </a:lvl4pPr>
            <a:lvl5pPr marL="1828800" indent="0">
              <a:buFontTx/>
              <a:buNone/>
              <a:defRPr sz="1000"/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25" y="1191802"/>
            <a:ext cx="3911401" cy="65754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9" name="Marcador de texto 16">
            <a:extLst>
              <a:ext uri="{FF2B5EF4-FFF2-40B4-BE49-F238E27FC236}">
                <a16:creationId xmlns:a16="http://schemas.microsoft.com/office/drawing/2014/main" id="{714DD14E-5956-4FB9-8BE1-1064DD29319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024062" y="1191802"/>
            <a:ext cx="6456737" cy="65754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6" name="Marcador de gráfico 4">
            <a:extLst>
              <a:ext uri="{FF2B5EF4-FFF2-40B4-BE49-F238E27FC236}">
                <a16:creationId xmlns:a16="http://schemas.microsoft.com/office/drawing/2014/main" id="{9BA63F5F-FC37-4202-A6A3-A0F3EFAC9EB6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711200" y="1993900"/>
            <a:ext cx="3911600" cy="3605788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400">
                <a:solidFill>
                  <a:schemeClr val="tx2"/>
                </a:solidFill>
              </a:defRPr>
            </a:lvl1pPr>
          </a:lstStyle>
          <a:p>
            <a:r>
              <a:rPr lang="es-ES"/>
              <a:t>Inserte aquí su gráfico</a:t>
            </a:r>
          </a:p>
        </p:txBody>
      </p:sp>
      <p:sp>
        <p:nvSpPr>
          <p:cNvPr id="17" name="Marcador de gráfico 4">
            <a:extLst>
              <a:ext uri="{FF2B5EF4-FFF2-40B4-BE49-F238E27FC236}">
                <a16:creationId xmlns:a16="http://schemas.microsoft.com/office/drawing/2014/main" id="{0CABFB2C-905F-4A94-BBC0-7C32FA7695A4}"/>
              </a:ext>
            </a:extLst>
          </p:cNvPr>
          <p:cNvSpPr>
            <a:spLocks noGrp="1"/>
          </p:cNvSpPr>
          <p:nvPr>
            <p:ph type="chart" sz="quarter" idx="21" hasCustomPrompt="1"/>
          </p:nvPr>
        </p:nvSpPr>
        <p:spPr>
          <a:xfrm>
            <a:off x="5024063" y="1993900"/>
            <a:ext cx="6472718" cy="3605788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400">
                <a:solidFill>
                  <a:schemeClr val="tx2"/>
                </a:solidFill>
              </a:defRPr>
            </a:lvl1pPr>
          </a:lstStyle>
          <a:p>
            <a:r>
              <a:rPr lang="es-ES"/>
              <a:t>Inserte aquí su gráfico</a:t>
            </a:r>
          </a:p>
        </p:txBody>
      </p:sp>
      <p:sp>
        <p:nvSpPr>
          <p:cNvPr id="18" name="Forma libre: forma 17">
            <a:extLst>
              <a:ext uri="{FF2B5EF4-FFF2-40B4-BE49-F238E27FC236}">
                <a16:creationId xmlns:a16="http://schemas.microsoft.com/office/drawing/2014/main" id="{AEAA6F10-C407-4622-AF96-B2605139D86B}"/>
              </a:ext>
            </a:extLst>
          </p:cNvPr>
          <p:cNvSpPr/>
          <p:nvPr userDrawn="1"/>
        </p:nvSpPr>
        <p:spPr>
          <a:xfrm>
            <a:off x="4742395" y="3685061"/>
            <a:ext cx="187151" cy="207057"/>
          </a:xfrm>
          <a:custGeom>
            <a:avLst/>
            <a:gdLst/>
            <a:ahLst/>
            <a:cxnLst/>
            <a:rect l="l" t="t" r="r" b="b"/>
            <a:pathLst>
              <a:path w="187151" h="207057">
                <a:moveTo>
                  <a:pt x="0" y="0"/>
                </a:moveTo>
                <a:lnTo>
                  <a:pt x="187151" y="80925"/>
                </a:lnTo>
                <a:lnTo>
                  <a:pt x="187151" y="125574"/>
                </a:lnTo>
                <a:lnTo>
                  <a:pt x="0" y="207057"/>
                </a:lnTo>
                <a:lnTo>
                  <a:pt x="0" y="154409"/>
                </a:lnTo>
                <a:lnTo>
                  <a:pt x="130596" y="103064"/>
                </a:lnTo>
                <a:lnTo>
                  <a:pt x="0" y="5227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34300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ank you - Contac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80DAC009-2BB8-4885-AC03-9FD05C47BE65}"/>
              </a:ext>
            </a:extLst>
          </p:cNvPr>
          <p:cNvSpPr/>
          <p:nvPr userDrawn="1"/>
        </p:nvSpPr>
        <p:spPr>
          <a:xfrm>
            <a:off x="820236" y="3464157"/>
            <a:ext cx="2446172" cy="248603"/>
          </a:xfrm>
          <a:custGeom>
            <a:avLst/>
            <a:gdLst/>
            <a:ahLst/>
            <a:cxnLst/>
            <a:rect l="l" t="t" r="r" b="b"/>
            <a:pathLst>
              <a:path w="2446172" h="248603">
                <a:moveTo>
                  <a:pt x="2218258" y="75686"/>
                </a:moveTo>
                <a:cubicBezTo>
                  <a:pt x="2202560" y="75848"/>
                  <a:pt x="2190935" y="80359"/>
                  <a:pt x="2183385" y="89222"/>
                </a:cubicBezTo>
                <a:cubicBezTo>
                  <a:pt x="2175835" y="98084"/>
                  <a:pt x="2172083" y="110330"/>
                  <a:pt x="2172129" y="125959"/>
                </a:cubicBezTo>
                <a:cubicBezTo>
                  <a:pt x="2172037" y="140289"/>
                  <a:pt x="2175052" y="151821"/>
                  <a:pt x="2181175" y="160557"/>
                </a:cubicBezTo>
                <a:cubicBezTo>
                  <a:pt x="2187298" y="169292"/>
                  <a:pt x="2197081" y="173781"/>
                  <a:pt x="2210524" y="174023"/>
                </a:cubicBezTo>
                <a:cubicBezTo>
                  <a:pt x="2216451" y="173988"/>
                  <a:pt x="2221861" y="173090"/>
                  <a:pt x="2226752" y="171329"/>
                </a:cubicBezTo>
                <a:cubicBezTo>
                  <a:pt x="2231644" y="169568"/>
                  <a:pt x="2236086" y="167151"/>
                  <a:pt x="2240080" y="164078"/>
                </a:cubicBezTo>
                <a:lnTo>
                  <a:pt x="2240080" y="77344"/>
                </a:lnTo>
                <a:cubicBezTo>
                  <a:pt x="2236926" y="76791"/>
                  <a:pt x="2233566" y="76377"/>
                  <a:pt x="2229998" y="76101"/>
                </a:cubicBezTo>
                <a:cubicBezTo>
                  <a:pt x="2226430" y="75825"/>
                  <a:pt x="2222517" y="75686"/>
                  <a:pt x="2218258" y="75686"/>
                </a:cubicBezTo>
                <a:close/>
                <a:moveTo>
                  <a:pt x="1789633" y="75686"/>
                </a:moveTo>
                <a:cubicBezTo>
                  <a:pt x="1773935" y="75848"/>
                  <a:pt x="1762310" y="80359"/>
                  <a:pt x="1754760" y="89222"/>
                </a:cubicBezTo>
                <a:cubicBezTo>
                  <a:pt x="1747210" y="98084"/>
                  <a:pt x="1743458" y="110330"/>
                  <a:pt x="1743504" y="125959"/>
                </a:cubicBezTo>
                <a:cubicBezTo>
                  <a:pt x="1743412" y="140289"/>
                  <a:pt x="1746427" y="151821"/>
                  <a:pt x="1752550" y="160557"/>
                </a:cubicBezTo>
                <a:cubicBezTo>
                  <a:pt x="1758673" y="169292"/>
                  <a:pt x="1768456" y="173781"/>
                  <a:pt x="1781899" y="174023"/>
                </a:cubicBezTo>
                <a:cubicBezTo>
                  <a:pt x="1787826" y="173988"/>
                  <a:pt x="1793236" y="173090"/>
                  <a:pt x="1798127" y="171329"/>
                </a:cubicBezTo>
                <a:cubicBezTo>
                  <a:pt x="1803019" y="169568"/>
                  <a:pt x="1807461" y="167151"/>
                  <a:pt x="1811455" y="164078"/>
                </a:cubicBezTo>
                <a:lnTo>
                  <a:pt x="1811455" y="77344"/>
                </a:lnTo>
                <a:cubicBezTo>
                  <a:pt x="1808302" y="76791"/>
                  <a:pt x="1804941" y="76377"/>
                  <a:pt x="1801373" y="76101"/>
                </a:cubicBezTo>
                <a:cubicBezTo>
                  <a:pt x="1797805" y="75825"/>
                  <a:pt x="1793892" y="75686"/>
                  <a:pt x="1789633" y="75686"/>
                </a:cubicBezTo>
                <a:close/>
                <a:moveTo>
                  <a:pt x="1469508" y="75686"/>
                </a:moveTo>
                <a:cubicBezTo>
                  <a:pt x="1455466" y="75859"/>
                  <a:pt x="1445085" y="80210"/>
                  <a:pt x="1438363" y="88738"/>
                </a:cubicBezTo>
                <a:cubicBezTo>
                  <a:pt x="1431642" y="97267"/>
                  <a:pt x="1428304" y="108937"/>
                  <a:pt x="1428350" y="123750"/>
                </a:cubicBezTo>
                <a:cubicBezTo>
                  <a:pt x="1428460" y="140663"/>
                  <a:pt x="1432108" y="153104"/>
                  <a:pt x="1439296" y="161075"/>
                </a:cubicBezTo>
                <a:cubicBezTo>
                  <a:pt x="1446483" y="169045"/>
                  <a:pt x="1456554" y="172993"/>
                  <a:pt x="1469508" y="172918"/>
                </a:cubicBezTo>
                <a:cubicBezTo>
                  <a:pt x="1483031" y="172762"/>
                  <a:pt x="1493136" y="168446"/>
                  <a:pt x="1499823" y="159970"/>
                </a:cubicBezTo>
                <a:cubicBezTo>
                  <a:pt x="1506510" y="151493"/>
                  <a:pt x="1509848" y="139788"/>
                  <a:pt x="1509836" y="124855"/>
                </a:cubicBezTo>
                <a:cubicBezTo>
                  <a:pt x="1509710" y="108062"/>
                  <a:pt x="1506096" y="95655"/>
                  <a:pt x="1498995" y="87633"/>
                </a:cubicBezTo>
                <a:cubicBezTo>
                  <a:pt x="1491894" y="79611"/>
                  <a:pt x="1482064" y="75629"/>
                  <a:pt x="1469508" y="75686"/>
                </a:cubicBezTo>
                <a:close/>
                <a:moveTo>
                  <a:pt x="523075" y="75686"/>
                </a:moveTo>
                <a:cubicBezTo>
                  <a:pt x="519478" y="75698"/>
                  <a:pt x="515968" y="75882"/>
                  <a:pt x="512544" y="76239"/>
                </a:cubicBezTo>
                <a:cubicBezTo>
                  <a:pt x="509120" y="76596"/>
                  <a:pt x="505817" y="77056"/>
                  <a:pt x="502634" y="77620"/>
                </a:cubicBezTo>
                <a:lnTo>
                  <a:pt x="502634" y="169879"/>
                </a:lnTo>
                <a:cubicBezTo>
                  <a:pt x="510092" y="171859"/>
                  <a:pt x="517551" y="172872"/>
                  <a:pt x="525009" y="172918"/>
                </a:cubicBezTo>
                <a:cubicBezTo>
                  <a:pt x="540212" y="172877"/>
                  <a:pt x="551653" y="168746"/>
                  <a:pt x="559330" y="160522"/>
                </a:cubicBezTo>
                <a:cubicBezTo>
                  <a:pt x="567006" y="152299"/>
                  <a:pt x="570851" y="140225"/>
                  <a:pt x="570862" y="124302"/>
                </a:cubicBezTo>
                <a:cubicBezTo>
                  <a:pt x="571012" y="109346"/>
                  <a:pt x="567329" y="97549"/>
                  <a:pt x="559813" y="88911"/>
                </a:cubicBezTo>
                <a:cubicBezTo>
                  <a:pt x="552297" y="80273"/>
                  <a:pt x="540051" y="75865"/>
                  <a:pt x="523075" y="75686"/>
                </a:cubicBezTo>
                <a:close/>
                <a:moveTo>
                  <a:pt x="1101204" y="75134"/>
                </a:moveTo>
                <a:cubicBezTo>
                  <a:pt x="1090460" y="75163"/>
                  <a:pt x="1082185" y="78213"/>
                  <a:pt x="1076379" y="84284"/>
                </a:cubicBezTo>
                <a:cubicBezTo>
                  <a:pt x="1070572" y="90355"/>
                  <a:pt x="1067062" y="99275"/>
                  <a:pt x="1065848" y="111043"/>
                </a:cubicBezTo>
                <a:lnTo>
                  <a:pt x="1134351" y="111043"/>
                </a:lnTo>
                <a:cubicBezTo>
                  <a:pt x="1134282" y="99637"/>
                  <a:pt x="1131382" y="90821"/>
                  <a:pt x="1125650" y="84595"/>
                </a:cubicBezTo>
                <a:cubicBezTo>
                  <a:pt x="1119919" y="78368"/>
                  <a:pt x="1111770" y="75215"/>
                  <a:pt x="1101204" y="75134"/>
                </a:cubicBezTo>
                <a:close/>
                <a:moveTo>
                  <a:pt x="748779" y="75134"/>
                </a:moveTo>
                <a:cubicBezTo>
                  <a:pt x="738035" y="75163"/>
                  <a:pt x="729760" y="78213"/>
                  <a:pt x="723954" y="84284"/>
                </a:cubicBezTo>
                <a:cubicBezTo>
                  <a:pt x="718147" y="90355"/>
                  <a:pt x="714637" y="99275"/>
                  <a:pt x="713423" y="111043"/>
                </a:cubicBezTo>
                <a:lnTo>
                  <a:pt x="781926" y="111043"/>
                </a:lnTo>
                <a:cubicBezTo>
                  <a:pt x="781857" y="99637"/>
                  <a:pt x="778957" y="90821"/>
                  <a:pt x="773225" y="84595"/>
                </a:cubicBezTo>
                <a:cubicBezTo>
                  <a:pt x="767494" y="78368"/>
                  <a:pt x="759345" y="75215"/>
                  <a:pt x="748779" y="75134"/>
                </a:cubicBezTo>
                <a:close/>
                <a:moveTo>
                  <a:pt x="2301050" y="53036"/>
                </a:moveTo>
                <a:lnTo>
                  <a:pt x="2331434" y="53036"/>
                </a:lnTo>
                <a:lnTo>
                  <a:pt x="2331434" y="195568"/>
                </a:lnTo>
                <a:lnTo>
                  <a:pt x="2301050" y="195568"/>
                </a:lnTo>
                <a:close/>
                <a:moveTo>
                  <a:pt x="157925" y="53036"/>
                </a:moveTo>
                <a:lnTo>
                  <a:pt x="188309" y="53036"/>
                </a:lnTo>
                <a:lnTo>
                  <a:pt x="188309" y="195568"/>
                </a:lnTo>
                <a:lnTo>
                  <a:pt x="157925" y="195568"/>
                </a:lnTo>
                <a:close/>
                <a:moveTo>
                  <a:pt x="2419655" y="49721"/>
                </a:moveTo>
                <a:cubicBezTo>
                  <a:pt x="2424454" y="49716"/>
                  <a:pt x="2429219" y="49796"/>
                  <a:pt x="2433950" y="49963"/>
                </a:cubicBezTo>
                <a:cubicBezTo>
                  <a:pt x="2438680" y="50130"/>
                  <a:pt x="2442754" y="50418"/>
                  <a:pt x="2446172" y="50826"/>
                </a:cubicBezTo>
                <a:cubicBezTo>
                  <a:pt x="2446161" y="55534"/>
                  <a:pt x="2445908" y="60275"/>
                  <a:pt x="2445413" y="65052"/>
                </a:cubicBezTo>
                <a:cubicBezTo>
                  <a:pt x="2444918" y="69828"/>
                  <a:pt x="2444250" y="73741"/>
                  <a:pt x="2443410" y="76791"/>
                </a:cubicBezTo>
                <a:cubicBezTo>
                  <a:pt x="2439848" y="76383"/>
                  <a:pt x="2436200" y="76095"/>
                  <a:pt x="2432465" y="75928"/>
                </a:cubicBezTo>
                <a:cubicBezTo>
                  <a:pt x="2428730" y="75761"/>
                  <a:pt x="2424736" y="75681"/>
                  <a:pt x="2420484" y="75686"/>
                </a:cubicBezTo>
                <a:cubicBezTo>
                  <a:pt x="2413026" y="75686"/>
                  <a:pt x="2405567" y="76239"/>
                  <a:pt x="2398109" y="77344"/>
                </a:cubicBezTo>
                <a:lnTo>
                  <a:pt x="2398109" y="195568"/>
                </a:lnTo>
                <a:lnTo>
                  <a:pt x="2367725" y="195568"/>
                </a:lnTo>
                <a:lnTo>
                  <a:pt x="2367725" y="57456"/>
                </a:lnTo>
                <a:cubicBezTo>
                  <a:pt x="2374498" y="55200"/>
                  <a:pt x="2382635" y="53358"/>
                  <a:pt x="2392136" y="51931"/>
                </a:cubicBezTo>
                <a:cubicBezTo>
                  <a:pt x="2401637" y="50504"/>
                  <a:pt x="2410810" y="49767"/>
                  <a:pt x="2419655" y="49721"/>
                </a:cubicBezTo>
                <a:close/>
                <a:moveTo>
                  <a:pt x="2218258" y="49721"/>
                </a:moveTo>
                <a:cubicBezTo>
                  <a:pt x="2228133" y="49698"/>
                  <a:pt x="2237318" y="50297"/>
                  <a:pt x="2245812" y="51517"/>
                </a:cubicBezTo>
                <a:cubicBezTo>
                  <a:pt x="2254306" y="52737"/>
                  <a:pt x="2262523" y="54716"/>
                  <a:pt x="2270465" y="57456"/>
                </a:cubicBezTo>
                <a:lnTo>
                  <a:pt x="2270465" y="195568"/>
                </a:lnTo>
                <a:lnTo>
                  <a:pt x="2242566" y="195568"/>
                </a:lnTo>
                <a:lnTo>
                  <a:pt x="2240909" y="178995"/>
                </a:lnTo>
                <a:cubicBezTo>
                  <a:pt x="2237111" y="185141"/>
                  <a:pt x="2232069" y="189975"/>
                  <a:pt x="2225785" y="193496"/>
                </a:cubicBezTo>
                <a:cubicBezTo>
                  <a:pt x="2219501" y="197018"/>
                  <a:pt x="2211560" y="198814"/>
                  <a:pt x="2201961" y="198883"/>
                </a:cubicBezTo>
                <a:cubicBezTo>
                  <a:pt x="2183477" y="198745"/>
                  <a:pt x="2168791" y="192392"/>
                  <a:pt x="2157903" y="179823"/>
                </a:cubicBezTo>
                <a:cubicBezTo>
                  <a:pt x="2147015" y="167255"/>
                  <a:pt x="2141445" y="149300"/>
                  <a:pt x="2141191" y="125959"/>
                </a:cubicBezTo>
                <a:cubicBezTo>
                  <a:pt x="2141209" y="101514"/>
                  <a:pt x="2147665" y="82730"/>
                  <a:pt x="2160562" y="69610"/>
                </a:cubicBezTo>
                <a:cubicBezTo>
                  <a:pt x="2173458" y="56489"/>
                  <a:pt x="2192690" y="49859"/>
                  <a:pt x="2218258" y="49721"/>
                </a:cubicBezTo>
                <a:close/>
                <a:moveTo>
                  <a:pt x="1789633" y="49721"/>
                </a:moveTo>
                <a:cubicBezTo>
                  <a:pt x="1799508" y="49698"/>
                  <a:pt x="1808693" y="50297"/>
                  <a:pt x="1817187" y="51517"/>
                </a:cubicBezTo>
                <a:cubicBezTo>
                  <a:pt x="1825681" y="52737"/>
                  <a:pt x="1833899" y="54716"/>
                  <a:pt x="1841840" y="57456"/>
                </a:cubicBezTo>
                <a:lnTo>
                  <a:pt x="1841840" y="195568"/>
                </a:lnTo>
                <a:lnTo>
                  <a:pt x="1813941" y="195568"/>
                </a:lnTo>
                <a:lnTo>
                  <a:pt x="1812284" y="178995"/>
                </a:lnTo>
                <a:cubicBezTo>
                  <a:pt x="1808486" y="185141"/>
                  <a:pt x="1803445" y="189975"/>
                  <a:pt x="1797160" y="193496"/>
                </a:cubicBezTo>
                <a:cubicBezTo>
                  <a:pt x="1790876" y="197018"/>
                  <a:pt x="1782935" y="198814"/>
                  <a:pt x="1773336" y="198883"/>
                </a:cubicBezTo>
                <a:cubicBezTo>
                  <a:pt x="1754852" y="198745"/>
                  <a:pt x="1740166" y="192392"/>
                  <a:pt x="1729278" y="179823"/>
                </a:cubicBezTo>
                <a:cubicBezTo>
                  <a:pt x="1718390" y="167255"/>
                  <a:pt x="1712820" y="149300"/>
                  <a:pt x="1712567" y="125959"/>
                </a:cubicBezTo>
                <a:cubicBezTo>
                  <a:pt x="1712584" y="101514"/>
                  <a:pt x="1719041" y="82730"/>
                  <a:pt x="1731937" y="69610"/>
                </a:cubicBezTo>
                <a:cubicBezTo>
                  <a:pt x="1744833" y="56489"/>
                  <a:pt x="1764065" y="49859"/>
                  <a:pt x="1789633" y="49721"/>
                </a:cubicBezTo>
                <a:close/>
                <a:moveTo>
                  <a:pt x="1622870" y="49721"/>
                </a:moveTo>
                <a:cubicBezTo>
                  <a:pt x="1647903" y="49842"/>
                  <a:pt x="1665443" y="54503"/>
                  <a:pt x="1675491" y="63705"/>
                </a:cubicBezTo>
                <a:cubicBezTo>
                  <a:pt x="1685538" y="72907"/>
                  <a:pt x="1690372" y="85924"/>
                  <a:pt x="1689992" y="102757"/>
                </a:cubicBezTo>
                <a:lnTo>
                  <a:pt x="1689992" y="195568"/>
                </a:lnTo>
                <a:lnTo>
                  <a:pt x="1659608" y="195568"/>
                </a:lnTo>
                <a:lnTo>
                  <a:pt x="1659608" y="108005"/>
                </a:lnTo>
                <a:cubicBezTo>
                  <a:pt x="1659941" y="97111"/>
                  <a:pt x="1657478" y="88997"/>
                  <a:pt x="1652219" y="83662"/>
                </a:cubicBezTo>
                <a:cubicBezTo>
                  <a:pt x="1646959" y="78328"/>
                  <a:pt x="1636900" y="75669"/>
                  <a:pt x="1622041" y="75686"/>
                </a:cubicBezTo>
                <a:cubicBezTo>
                  <a:pt x="1618416" y="75692"/>
                  <a:pt x="1614548" y="75888"/>
                  <a:pt x="1610440" y="76273"/>
                </a:cubicBezTo>
                <a:cubicBezTo>
                  <a:pt x="1606331" y="76659"/>
                  <a:pt x="1602187" y="77200"/>
                  <a:pt x="1598009" y="77896"/>
                </a:cubicBezTo>
                <a:lnTo>
                  <a:pt x="1598009" y="195568"/>
                </a:lnTo>
                <a:lnTo>
                  <a:pt x="1567625" y="195568"/>
                </a:lnTo>
                <a:lnTo>
                  <a:pt x="1567625" y="57456"/>
                </a:lnTo>
                <a:cubicBezTo>
                  <a:pt x="1577471" y="55079"/>
                  <a:pt x="1587265" y="53203"/>
                  <a:pt x="1597008" y="51828"/>
                </a:cubicBezTo>
                <a:cubicBezTo>
                  <a:pt x="1606751" y="50452"/>
                  <a:pt x="1615371" y="49750"/>
                  <a:pt x="1622870" y="49721"/>
                </a:cubicBezTo>
                <a:close/>
                <a:moveTo>
                  <a:pt x="1470336" y="49721"/>
                </a:moveTo>
                <a:cubicBezTo>
                  <a:pt x="1485815" y="49861"/>
                  <a:pt x="1498777" y="53111"/>
                  <a:pt x="1509223" y="59471"/>
                </a:cubicBezTo>
                <a:cubicBezTo>
                  <a:pt x="1519668" y="65831"/>
                  <a:pt x="1527535" y="74462"/>
                  <a:pt x="1532825" y="85365"/>
                </a:cubicBezTo>
                <a:cubicBezTo>
                  <a:pt x="1538114" y="96267"/>
                  <a:pt x="1540764" y="108602"/>
                  <a:pt x="1540774" y="122369"/>
                </a:cubicBezTo>
                <a:cubicBezTo>
                  <a:pt x="1540555" y="146705"/>
                  <a:pt x="1534018" y="165500"/>
                  <a:pt x="1521162" y="178753"/>
                </a:cubicBezTo>
                <a:cubicBezTo>
                  <a:pt x="1508306" y="192006"/>
                  <a:pt x="1490443" y="198716"/>
                  <a:pt x="1467574" y="198883"/>
                </a:cubicBezTo>
                <a:cubicBezTo>
                  <a:pt x="1452360" y="198743"/>
                  <a:pt x="1439544" y="195493"/>
                  <a:pt x="1429128" y="189133"/>
                </a:cubicBezTo>
                <a:cubicBezTo>
                  <a:pt x="1418711" y="182773"/>
                  <a:pt x="1410827" y="174142"/>
                  <a:pt x="1405475" y="163240"/>
                </a:cubicBezTo>
                <a:cubicBezTo>
                  <a:pt x="1400122" y="152337"/>
                  <a:pt x="1397435" y="140003"/>
                  <a:pt x="1397413" y="126236"/>
                </a:cubicBezTo>
                <a:cubicBezTo>
                  <a:pt x="1397655" y="101899"/>
                  <a:pt x="1404215" y="83104"/>
                  <a:pt x="1417094" y="69851"/>
                </a:cubicBezTo>
                <a:cubicBezTo>
                  <a:pt x="1429973" y="56598"/>
                  <a:pt x="1447720" y="49888"/>
                  <a:pt x="1470336" y="49721"/>
                </a:cubicBezTo>
                <a:close/>
                <a:moveTo>
                  <a:pt x="1329662" y="49721"/>
                </a:moveTo>
                <a:cubicBezTo>
                  <a:pt x="1338351" y="49704"/>
                  <a:pt x="1346454" y="50222"/>
                  <a:pt x="1353969" y="51275"/>
                </a:cubicBezTo>
                <a:cubicBezTo>
                  <a:pt x="1361485" y="52328"/>
                  <a:pt x="1368483" y="54020"/>
                  <a:pt x="1374963" y="56351"/>
                </a:cubicBezTo>
                <a:cubicBezTo>
                  <a:pt x="1374709" y="60316"/>
                  <a:pt x="1374249" y="64263"/>
                  <a:pt x="1373581" y="68194"/>
                </a:cubicBezTo>
                <a:cubicBezTo>
                  <a:pt x="1372914" y="72124"/>
                  <a:pt x="1371901" y="76279"/>
                  <a:pt x="1370543" y="80659"/>
                </a:cubicBezTo>
                <a:cubicBezTo>
                  <a:pt x="1364092" y="78604"/>
                  <a:pt x="1357589" y="77119"/>
                  <a:pt x="1351035" y="76204"/>
                </a:cubicBezTo>
                <a:cubicBezTo>
                  <a:pt x="1344480" y="75289"/>
                  <a:pt x="1337632" y="74841"/>
                  <a:pt x="1330490" y="74858"/>
                </a:cubicBezTo>
                <a:cubicBezTo>
                  <a:pt x="1321018" y="74933"/>
                  <a:pt x="1314550" y="76302"/>
                  <a:pt x="1311086" y="78967"/>
                </a:cubicBezTo>
                <a:cubicBezTo>
                  <a:pt x="1307621" y="81631"/>
                  <a:pt x="1305987" y="85141"/>
                  <a:pt x="1306182" y="89498"/>
                </a:cubicBezTo>
                <a:cubicBezTo>
                  <a:pt x="1306165" y="94504"/>
                  <a:pt x="1307926" y="98510"/>
                  <a:pt x="1311465" y="101514"/>
                </a:cubicBezTo>
                <a:cubicBezTo>
                  <a:pt x="1315004" y="104517"/>
                  <a:pt x="1320425" y="107142"/>
                  <a:pt x="1327728" y="109386"/>
                </a:cubicBezTo>
                <a:lnTo>
                  <a:pt x="1342368" y="114082"/>
                </a:lnTo>
                <a:cubicBezTo>
                  <a:pt x="1355414" y="118104"/>
                  <a:pt x="1364955" y="123456"/>
                  <a:pt x="1370992" y="130137"/>
                </a:cubicBezTo>
                <a:cubicBezTo>
                  <a:pt x="1377029" y="136819"/>
                  <a:pt x="1380009" y="145554"/>
                  <a:pt x="1379935" y="156344"/>
                </a:cubicBezTo>
                <a:cubicBezTo>
                  <a:pt x="1379865" y="169114"/>
                  <a:pt x="1375032" y="179346"/>
                  <a:pt x="1365433" y="187040"/>
                </a:cubicBezTo>
                <a:cubicBezTo>
                  <a:pt x="1355834" y="194734"/>
                  <a:pt x="1341885" y="198681"/>
                  <a:pt x="1323585" y="198883"/>
                </a:cubicBezTo>
                <a:cubicBezTo>
                  <a:pt x="1313428" y="198906"/>
                  <a:pt x="1304393" y="198169"/>
                  <a:pt x="1296480" y="196673"/>
                </a:cubicBezTo>
                <a:cubicBezTo>
                  <a:pt x="1288567" y="195177"/>
                  <a:pt x="1281397" y="192783"/>
                  <a:pt x="1274969" y="189491"/>
                </a:cubicBezTo>
                <a:cubicBezTo>
                  <a:pt x="1275245" y="183863"/>
                  <a:pt x="1275729" y="178960"/>
                  <a:pt x="1276419" y="174782"/>
                </a:cubicBezTo>
                <a:cubicBezTo>
                  <a:pt x="1277110" y="170604"/>
                  <a:pt x="1278008" y="166944"/>
                  <a:pt x="1279112" y="163802"/>
                </a:cubicBezTo>
                <a:cubicBezTo>
                  <a:pt x="1285661" y="166985"/>
                  <a:pt x="1292866" y="169390"/>
                  <a:pt x="1300727" y="171019"/>
                </a:cubicBezTo>
                <a:cubicBezTo>
                  <a:pt x="1308588" y="172647"/>
                  <a:pt x="1315931" y="173464"/>
                  <a:pt x="1322756" y="173470"/>
                </a:cubicBezTo>
                <a:cubicBezTo>
                  <a:pt x="1331497" y="173516"/>
                  <a:pt x="1338184" y="172250"/>
                  <a:pt x="1342817" y="169672"/>
                </a:cubicBezTo>
                <a:cubicBezTo>
                  <a:pt x="1347449" y="167094"/>
                  <a:pt x="1349786" y="162928"/>
                  <a:pt x="1349826" y="157173"/>
                </a:cubicBezTo>
                <a:cubicBezTo>
                  <a:pt x="1349757" y="152189"/>
                  <a:pt x="1347823" y="148345"/>
                  <a:pt x="1344025" y="145640"/>
                </a:cubicBezTo>
                <a:cubicBezTo>
                  <a:pt x="1340227" y="142936"/>
                  <a:pt x="1334979" y="140611"/>
                  <a:pt x="1328281" y="138666"/>
                </a:cubicBezTo>
                <a:lnTo>
                  <a:pt x="1314193" y="134246"/>
                </a:lnTo>
                <a:cubicBezTo>
                  <a:pt x="1300434" y="129821"/>
                  <a:pt x="1290731" y="123963"/>
                  <a:pt x="1285086" y="116671"/>
                </a:cubicBezTo>
                <a:cubicBezTo>
                  <a:pt x="1279440" y="109380"/>
                  <a:pt x="1276713" y="100691"/>
                  <a:pt x="1276903" y="90603"/>
                </a:cubicBezTo>
                <a:cubicBezTo>
                  <a:pt x="1276926" y="77781"/>
                  <a:pt x="1281368" y="67791"/>
                  <a:pt x="1290231" y="60632"/>
                </a:cubicBezTo>
                <a:cubicBezTo>
                  <a:pt x="1299093" y="53473"/>
                  <a:pt x="1312236" y="49836"/>
                  <a:pt x="1329662" y="49721"/>
                </a:cubicBezTo>
                <a:close/>
                <a:moveTo>
                  <a:pt x="1238555" y="49721"/>
                </a:moveTo>
                <a:cubicBezTo>
                  <a:pt x="1243354" y="49716"/>
                  <a:pt x="1248119" y="49796"/>
                  <a:pt x="1252850" y="49963"/>
                </a:cubicBezTo>
                <a:cubicBezTo>
                  <a:pt x="1257580" y="50130"/>
                  <a:pt x="1261654" y="50418"/>
                  <a:pt x="1265073" y="50826"/>
                </a:cubicBezTo>
                <a:cubicBezTo>
                  <a:pt x="1265061" y="55534"/>
                  <a:pt x="1264808" y="60275"/>
                  <a:pt x="1264313" y="65052"/>
                </a:cubicBezTo>
                <a:cubicBezTo>
                  <a:pt x="1263818" y="69828"/>
                  <a:pt x="1263151" y="73741"/>
                  <a:pt x="1262310" y="76791"/>
                </a:cubicBezTo>
                <a:cubicBezTo>
                  <a:pt x="1258748" y="76383"/>
                  <a:pt x="1255100" y="76095"/>
                  <a:pt x="1251365" y="75928"/>
                </a:cubicBezTo>
                <a:cubicBezTo>
                  <a:pt x="1247630" y="75761"/>
                  <a:pt x="1243636" y="75681"/>
                  <a:pt x="1239384" y="75686"/>
                </a:cubicBezTo>
                <a:cubicBezTo>
                  <a:pt x="1231926" y="75686"/>
                  <a:pt x="1224468" y="76239"/>
                  <a:pt x="1217010" y="77344"/>
                </a:cubicBezTo>
                <a:lnTo>
                  <a:pt x="1217010" y="195568"/>
                </a:lnTo>
                <a:lnTo>
                  <a:pt x="1186625" y="195568"/>
                </a:lnTo>
                <a:lnTo>
                  <a:pt x="1186625" y="57456"/>
                </a:lnTo>
                <a:cubicBezTo>
                  <a:pt x="1193398" y="55200"/>
                  <a:pt x="1201535" y="53358"/>
                  <a:pt x="1211036" y="51931"/>
                </a:cubicBezTo>
                <a:cubicBezTo>
                  <a:pt x="1220537" y="50504"/>
                  <a:pt x="1229710" y="49767"/>
                  <a:pt x="1238555" y="49721"/>
                </a:cubicBezTo>
                <a:close/>
                <a:moveTo>
                  <a:pt x="1102862" y="49721"/>
                </a:moveTo>
                <a:cubicBezTo>
                  <a:pt x="1124425" y="50182"/>
                  <a:pt x="1140204" y="56374"/>
                  <a:pt x="1150200" y="68297"/>
                </a:cubicBezTo>
                <a:cubicBezTo>
                  <a:pt x="1160196" y="80221"/>
                  <a:pt x="1165133" y="95114"/>
                  <a:pt x="1165012" y="112977"/>
                </a:cubicBezTo>
                <a:cubicBezTo>
                  <a:pt x="1165012" y="117201"/>
                  <a:pt x="1164874" y="121183"/>
                  <a:pt x="1164598" y="124924"/>
                </a:cubicBezTo>
                <a:cubicBezTo>
                  <a:pt x="1164322" y="128664"/>
                  <a:pt x="1163908" y="132508"/>
                  <a:pt x="1163355" y="136456"/>
                </a:cubicBezTo>
                <a:lnTo>
                  <a:pt x="1066400" y="136456"/>
                </a:lnTo>
                <a:cubicBezTo>
                  <a:pt x="1068288" y="148731"/>
                  <a:pt x="1072937" y="157881"/>
                  <a:pt x="1080349" y="163906"/>
                </a:cubicBezTo>
                <a:cubicBezTo>
                  <a:pt x="1087762" y="169931"/>
                  <a:pt x="1098212" y="172935"/>
                  <a:pt x="1111701" y="172918"/>
                </a:cubicBezTo>
                <a:cubicBezTo>
                  <a:pt x="1120028" y="172912"/>
                  <a:pt x="1128303" y="172026"/>
                  <a:pt x="1136527" y="170259"/>
                </a:cubicBezTo>
                <a:cubicBezTo>
                  <a:pt x="1144750" y="168492"/>
                  <a:pt x="1152680" y="165880"/>
                  <a:pt x="1160317" y="162421"/>
                </a:cubicBezTo>
                <a:cubicBezTo>
                  <a:pt x="1159758" y="166507"/>
                  <a:pt x="1159079" y="170973"/>
                  <a:pt x="1158279" y="175818"/>
                </a:cubicBezTo>
                <a:cubicBezTo>
                  <a:pt x="1157479" y="180663"/>
                  <a:pt x="1156593" y="185405"/>
                  <a:pt x="1155621" y="190044"/>
                </a:cubicBezTo>
                <a:cubicBezTo>
                  <a:pt x="1148732" y="193191"/>
                  <a:pt x="1141585" y="195459"/>
                  <a:pt x="1134179" y="196846"/>
                </a:cubicBezTo>
                <a:cubicBezTo>
                  <a:pt x="1126772" y="198233"/>
                  <a:pt x="1119004" y="198912"/>
                  <a:pt x="1110872" y="198883"/>
                </a:cubicBezTo>
                <a:cubicBezTo>
                  <a:pt x="1085494" y="198693"/>
                  <a:pt x="1066573" y="192029"/>
                  <a:pt x="1054108" y="178891"/>
                </a:cubicBezTo>
                <a:cubicBezTo>
                  <a:pt x="1041643" y="165753"/>
                  <a:pt x="1035428" y="147281"/>
                  <a:pt x="1035463" y="123473"/>
                </a:cubicBezTo>
                <a:cubicBezTo>
                  <a:pt x="1035400" y="109606"/>
                  <a:pt x="1037644" y="97135"/>
                  <a:pt x="1042194" y="86060"/>
                </a:cubicBezTo>
                <a:cubicBezTo>
                  <a:pt x="1046745" y="74986"/>
                  <a:pt x="1053982" y="66198"/>
                  <a:pt x="1063904" y="59696"/>
                </a:cubicBezTo>
                <a:cubicBezTo>
                  <a:pt x="1073826" y="53195"/>
                  <a:pt x="1086812" y="49870"/>
                  <a:pt x="1102862" y="49721"/>
                </a:cubicBezTo>
                <a:close/>
                <a:moveTo>
                  <a:pt x="750437" y="49721"/>
                </a:moveTo>
                <a:cubicBezTo>
                  <a:pt x="772000" y="50182"/>
                  <a:pt x="787779" y="56374"/>
                  <a:pt x="797775" y="68297"/>
                </a:cubicBezTo>
                <a:cubicBezTo>
                  <a:pt x="807771" y="80221"/>
                  <a:pt x="812708" y="95114"/>
                  <a:pt x="812587" y="112977"/>
                </a:cubicBezTo>
                <a:cubicBezTo>
                  <a:pt x="812587" y="117201"/>
                  <a:pt x="812449" y="121183"/>
                  <a:pt x="812173" y="124924"/>
                </a:cubicBezTo>
                <a:cubicBezTo>
                  <a:pt x="811897" y="128664"/>
                  <a:pt x="811482" y="132508"/>
                  <a:pt x="810930" y="136456"/>
                </a:cubicBezTo>
                <a:lnTo>
                  <a:pt x="713975" y="136456"/>
                </a:lnTo>
                <a:cubicBezTo>
                  <a:pt x="715863" y="148731"/>
                  <a:pt x="720512" y="157881"/>
                  <a:pt x="727924" y="163906"/>
                </a:cubicBezTo>
                <a:cubicBezTo>
                  <a:pt x="735337" y="169931"/>
                  <a:pt x="745787" y="172935"/>
                  <a:pt x="759276" y="172918"/>
                </a:cubicBezTo>
                <a:cubicBezTo>
                  <a:pt x="767603" y="172912"/>
                  <a:pt x="775878" y="172026"/>
                  <a:pt x="784102" y="170259"/>
                </a:cubicBezTo>
                <a:cubicBezTo>
                  <a:pt x="792325" y="168492"/>
                  <a:pt x="800255" y="165880"/>
                  <a:pt x="807892" y="162421"/>
                </a:cubicBezTo>
                <a:cubicBezTo>
                  <a:pt x="807333" y="166507"/>
                  <a:pt x="806654" y="170973"/>
                  <a:pt x="805854" y="175818"/>
                </a:cubicBezTo>
                <a:cubicBezTo>
                  <a:pt x="805055" y="180663"/>
                  <a:pt x="804168" y="185405"/>
                  <a:pt x="803196" y="190044"/>
                </a:cubicBezTo>
                <a:cubicBezTo>
                  <a:pt x="796307" y="193191"/>
                  <a:pt x="789160" y="195459"/>
                  <a:pt x="781754" y="196846"/>
                </a:cubicBezTo>
                <a:cubicBezTo>
                  <a:pt x="774347" y="198233"/>
                  <a:pt x="766579" y="198912"/>
                  <a:pt x="758447" y="198883"/>
                </a:cubicBezTo>
                <a:cubicBezTo>
                  <a:pt x="733069" y="198693"/>
                  <a:pt x="714148" y="192029"/>
                  <a:pt x="701683" y="178891"/>
                </a:cubicBezTo>
                <a:cubicBezTo>
                  <a:pt x="689218" y="165753"/>
                  <a:pt x="683003" y="147281"/>
                  <a:pt x="683038" y="123473"/>
                </a:cubicBezTo>
                <a:cubicBezTo>
                  <a:pt x="682975" y="109606"/>
                  <a:pt x="685219" y="97135"/>
                  <a:pt x="689769" y="86060"/>
                </a:cubicBezTo>
                <a:cubicBezTo>
                  <a:pt x="694320" y="74986"/>
                  <a:pt x="701557" y="66198"/>
                  <a:pt x="711479" y="59696"/>
                </a:cubicBezTo>
                <a:cubicBezTo>
                  <a:pt x="721401" y="53195"/>
                  <a:pt x="734387" y="49870"/>
                  <a:pt x="750437" y="49721"/>
                </a:cubicBezTo>
                <a:close/>
                <a:moveTo>
                  <a:pt x="525285" y="49721"/>
                </a:moveTo>
                <a:cubicBezTo>
                  <a:pt x="551302" y="49859"/>
                  <a:pt x="570534" y="56213"/>
                  <a:pt x="582981" y="68781"/>
                </a:cubicBezTo>
                <a:cubicBezTo>
                  <a:pt x="595429" y="81349"/>
                  <a:pt x="601609" y="99304"/>
                  <a:pt x="601523" y="122645"/>
                </a:cubicBezTo>
                <a:cubicBezTo>
                  <a:pt x="601437" y="147091"/>
                  <a:pt x="595049" y="165874"/>
                  <a:pt x="582360" y="178995"/>
                </a:cubicBezTo>
                <a:cubicBezTo>
                  <a:pt x="569671" y="192115"/>
                  <a:pt x="551198" y="198745"/>
                  <a:pt x="526942" y="198883"/>
                </a:cubicBezTo>
                <a:cubicBezTo>
                  <a:pt x="517597" y="198837"/>
                  <a:pt x="509494" y="197824"/>
                  <a:pt x="502634" y="195844"/>
                </a:cubicBezTo>
                <a:lnTo>
                  <a:pt x="502634" y="248603"/>
                </a:lnTo>
                <a:lnTo>
                  <a:pt x="472250" y="248603"/>
                </a:lnTo>
                <a:lnTo>
                  <a:pt x="472250" y="57456"/>
                </a:lnTo>
                <a:cubicBezTo>
                  <a:pt x="479587" y="55200"/>
                  <a:pt x="487908" y="53358"/>
                  <a:pt x="497213" y="51931"/>
                </a:cubicBezTo>
                <a:cubicBezTo>
                  <a:pt x="506519" y="50504"/>
                  <a:pt x="515876" y="49767"/>
                  <a:pt x="525285" y="49721"/>
                </a:cubicBezTo>
                <a:close/>
                <a:moveTo>
                  <a:pt x="283988" y="49721"/>
                </a:moveTo>
                <a:cubicBezTo>
                  <a:pt x="293788" y="49704"/>
                  <a:pt x="302432" y="50567"/>
                  <a:pt x="309919" y="52311"/>
                </a:cubicBezTo>
                <a:cubicBezTo>
                  <a:pt x="317405" y="54055"/>
                  <a:pt x="323770" y="56782"/>
                  <a:pt x="329013" y="60494"/>
                </a:cubicBezTo>
                <a:cubicBezTo>
                  <a:pt x="336925" y="57024"/>
                  <a:pt x="344924" y="54365"/>
                  <a:pt x="353010" y="52518"/>
                </a:cubicBezTo>
                <a:cubicBezTo>
                  <a:pt x="361095" y="50671"/>
                  <a:pt x="369025" y="49739"/>
                  <a:pt x="376800" y="49721"/>
                </a:cubicBezTo>
                <a:cubicBezTo>
                  <a:pt x="399813" y="49842"/>
                  <a:pt x="416006" y="54503"/>
                  <a:pt x="425381" y="63705"/>
                </a:cubicBezTo>
                <a:cubicBezTo>
                  <a:pt x="434755" y="72907"/>
                  <a:pt x="439278" y="85924"/>
                  <a:pt x="438950" y="102757"/>
                </a:cubicBezTo>
                <a:lnTo>
                  <a:pt x="438950" y="195568"/>
                </a:lnTo>
                <a:lnTo>
                  <a:pt x="408565" y="195568"/>
                </a:lnTo>
                <a:lnTo>
                  <a:pt x="408565" y="107176"/>
                </a:lnTo>
                <a:cubicBezTo>
                  <a:pt x="408715" y="96800"/>
                  <a:pt x="406137" y="88963"/>
                  <a:pt x="400831" y="83662"/>
                </a:cubicBezTo>
                <a:cubicBezTo>
                  <a:pt x="395525" y="78362"/>
                  <a:pt x="386594" y="75704"/>
                  <a:pt x="374037" y="75686"/>
                </a:cubicBezTo>
                <a:cubicBezTo>
                  <a:pt x="369031" y="75698"/>
                  <a:pt x="363990" y="76227"/>
                  <a:pt x="358914" y="77275"/>
                </a:cubicBezTo>
                <a:cubicBezTo>
                  <a:pt x="353838" y="78322"/>
                  <a:pt x="348935" y="79818"/>
                  <a:pt x="344205" y="81763"/>
                </a:cubicBezTo>
                <a:cubicBezTo>
                  <a:pt x="346093" y="87794"/>
                  <a:pt x="347013" y="94792"/>
                  <a:pt x="346967" y="102757"/>
                </a:cubicBezTo>
                <a:lnTo>
                  <a:pt x="346967" y="195568"/>
                </a:lnTo>
                <a:lnTo>
                  <a:pt x="316582" y="195568"/>
                </a:lnTo>
                <a:lnTo>
                  <a:pt x="316582" y="106900"/>
                </a:lnTo>
                <a:cubicBezTo>
                  <a:pt x="316738" y="96657"/>
                  <a:pt x="314079" y="88899"/>
                  <a:pt x="308607" y="83628"/>
                </a:cubicBezTo>
                <a:cubicBezTo>
                  <a:pt x="303134" y="78357"/>
                  <a:pt x="293915" y="75710"/>
                  <a:pt x="280949" y="75686"/>
                </a:cubicBezTo>
                <a:cubicBezTo>
                  <a:pt x="276639" y="75686"/>
                  <a:pt x="272277" y="75894"/>
                  <a:pt x="267863" y="76308"/>
                </a:cubicBezTo>
                <a:cubicBezTo>
                  <a:pt x="263450" y="76722"/>
                  <a:pt x="259157" y="77344"/>
                  <a:pt x="254984" y="78173"/>
                </a:cubicBezTo>
                <a:lnTo>
                  <a:pt x="254984" y="195568"/>
                </a:lnTo>
                <a:lnTo>
                  <a:pt x="224600" y="195568"/>
                </a:lnTo>
                <a:lnTo>
                  <a:pt x="224600" y="57456"/>
                </a:lnTo>
                <a:cubicBezTo>
                  <a:pt x="234360" y="55079"/>
                  <a:pt x="244327" y="53203"/>
                  <a:pt x="254501" y="51828"/>
                </a:cubicBezTo>
                <a:cubicBezTo>
                  <a:pt x="264675" y="50452"/>
                  <a:pt x="274504" y="49750"/>
                  <a:pt x="283988" y="49721"/>
                </a:cubicBezTo>
                <a:close/>
                <a:moveTo>
                  <a:pt x="944528" y="28452"/>
                </a:moveTo>
                <a:cubicBezTo>
                  <a:pt x="941173" y="28435"/>
                  <a:pt x="937593" y="28538"/>
                  <a:pt x="933789" y="28763"/>
                </a:cubicBezTo>
                <a:cubicBezTo>
                  <a:pt x="929986" y="28987"/>
                  <a:pt x="926199" y="29436"/>
                  <a:pt x="922430" y="30109"/>
                </a:cubicBezTo>
                <a:lnTo>
                  <a:pt x="922430" y="101375"/>
                </a:lnTo>
                <a:lnTo>
                  <a:pt x="945633" y="101375"/>
                </a:lnTo>
                <a:cubicBezTo>
                  <a:pt x="960790" y="101312"/>
                  <a:pt x="972047" y="98193"/>
                  <a:pt x="979401" y="92018"/>
                </a:cubicBezTo>
                <a:cubicBezTo>
                  <a:pt x="986756" y="85844"/>
                  <a:pt x="990416" y="76993"/>
                  <a:pt x="990381" y="65466"/>
                </a:cubicBezTo>
                <a:cubicBezTo>
                  <a:pt x="990439" y="52927"/>
                  <a:pt x="986733" y="43616"/>
                  <a:pt x="979263" y="37533"/>
                </a:cubicBezTo>
                <a:cubicBezTo>
                  <a:pt x="971793" y="31450"/>
                  <a:pt x="960215" y="28423"/>
                  <a:pt x="944528" y="28452"/>
                </a:cubicBezTo>
                <a:close/>
                <a:moveTo>
                  <a:pt x="2005917" y="4420"/>
                </a:moveTo>
                <a:lnTo>
                  <a:pt x="2120275" y="4420"/>
                </a:lnTo>
                <a:cubicBezTo>
                  <a:pt x="2119998" y="8558"/>
                  <a:pt x="2119584" y="13127"/>
                  <a:pt x="2119032" y="18128"/>
                </a:cubicBezTo>
                <a:cubicBezTo>
                  <a:pt x="2118479" y="23129"/>
                  <a:pt x="2117789" y="27767"/>
                  <a:pt x="2116960" y="32043"/>
                </a:cubicBezTo>
                <a:lnTo>
                  <a:pt x="2036855" y="32043"/>
                </a:lnTo>
                <a:lnTo>
                  <a:pt x="2036855" y="85631"/>
                </a:lnTo>
                <a:lnTo>
                  <a:pt x="2115026" y="85631"/>
                </a:lnTo>
                <a:cubicBezTo>
                  <a:pt x="2114750" y="89636"/>
                  <a:pt x="2114336" y="94124"/>
                  <a:pt x="2113783" y="99097"/>
                </a:cubicBezTo>
                <a:cubicBezTo>
                  <a:pt x="2113231" y="104069"/>
                  <a:pt x="2112540" y="108695"/>
                  <a:pt x="2111712" y="112977"/>
                </a:cubicBezTo>
                <a:lnTo>
                  <a:pt x="2036855" y="112977"/>
                </a:lnTo>
                <a:lnTo>
                  <a:pt x="2036855" y="195568"/>
                </a:lnTo>
                <a:lnTo>
                  <a:pt x="2005917" y="195568"/>
                </a:lnTo>
                <a:close/>
                <a:moveTo>
                  <a:pt x="1902809" y="2211"/>
                </a:moveTo>
                <a:lnTo>
                  <a:pt x="1902809" y="195568"/>
                </a:lnTo>
                <a:lnTo>
                  <a:pt x="1872425" y="195568"/>
                </a:lnTo>
                <a:lnTo>
                  <a:pt x="1872425" y="6630"/>
                </a:lnTo>
                <a:cubicBezTo>
                  <a:pt x="1876488" y="5479"/>
                  <a:pt x="1881345" y="4466"/>
                  <a:pt x="1886996" y="3592"/>
                </a:cubicBezTo>
                <a:cubicBezTo>
                  <a:pt x="1892647" y="2717"/>
                  <a:pt x="1897918" y="2257"/>
                  <a:pt x="1902809" y="2211"/>
                </a:cubicBezTo>
                <a:close/>
                <a:moveTo>
                  <a:pt x="655034" y="2211"/>
                </a:moveTo>
                <a:lnTo>
                  <a:pt x="655034" y="195568"/>
                </a:lnTo>
                <a:lnTo>
                  <a:pt x="624650" y="195568"/>
                </a:lnTo>
                <a:lnTo>
                  <a:pt x="624650" y="6630"/>
                </a:lnTo>
                <a:cubicBezTo>
                  <a:pt x="628712" y="5479"/>
                  <a:pt x="633569" y="4466"/>
                  <a:pt x="639221" y="3592"/>
                </a:cubicBezTo>
                <a:cubicBezTo>
                  <a:pt x="644872" y="2717"/>
                  <a:pt x="650143" y="2257"/>
                  <a:pt x="655034" y="2211"/>
                </a:cubicBezTo>
                <a:close/>
                <a:moveTo>
                  <a:pt x="943423" y="1382"/>
                </a:moveTo>
                <a:cubicBezTo>
                  <a:pt x="963261" y="1532"/>
                  <a:pt x="978921" y="4393"/>
                  <a:pt x="990401" y="9965"/>
                </a:cubicBezTo>
                <a:cubicBezTo>
                  <a:pt x="1001882" y="15538"/>
                  <a:pt x="1010032" y="22921"/>
                  <a:pt x="1014852" y="32115"/>
                </a:cubicBezTo>
                <a:cubicBezTo>
                  <a:pt x="1019673" y="41308"/>
                  <a:pt x="1022012" y="51413"/>
                  <a:pt x="1021871" y="62428"/>
                </a:cubicBezTo>
                <a:cubicBezTo>
                  <a:pt x="1021715" y="83283"/>
                  <a:pt x="1015051" y="99373"/>
                  <a:pt x="1001879" y="110698"/>
                </a:cubicBezTo>
                <a:cubicBezTo>
                  <a:pt x="988706" y="122023"/>
                  <a:pt x="969958" y="127755"/>
                  <a:pt x="945633" y="127893"/>
                </a:cubicBezTo>
                <a:lnTo>
                  <a:pt x="922430" y="127893"/>
                </a:lnTo>
                <a:lnTo>
                  <a:pt x="922430" y="195292"/>
                </a:lnTo>
                <a:lnTo>
                  <a:pt x="891492" y="195292"/>
                </a:lnTo>
                <a:lnTo>
                  <a:pt x="891492" y="6906"/>
                </a:lnTo>
                <a:cubicBezTo>
                  <a:pt x="898473" y="5347"/>
                  <a:pt x="906610" y="4046"/>
                  <a:pt x="915904" y="3005"/>
                </a:cubicBezTo>
                <a:cubicBezTo>
                  <a:pt x="925198" y="1963"/>
                  <a:pt x="934371" y="1422"/>
                  <a:pt x="943423" y="1382"/>
                </a:cubicBezTo>
                <a:close/>
                <a:moveTo>
                  <a:pt x="2316242" y="1106"/>
                </a:moveTo>
                <a:cubicBezTo>
                  <a:pt x="2321738" y="1215"/>
                  <a:pt x="2326215" y="2999"/>
                  <a:pt x="2329673" y="6458"/>
                </a:cubicBezTo>
                <a:cubicBezTo>
                  <a:pt x="2333132" y="9916"/>
                  <a:pt x="2334916" y="14393"/>
                  <a:pt x="2335025" y="19889"/>
                </a:cubicBezTo>
                <a:cubicBezTo>
                  <a:pt x="2334916" y="25385"/>
                  <a:pt x="2333132" y="29862"/>
                  <a:pt x="2329673" y="33320"/>
                </a:cubicBezTo>
                <a:cubicBezTo>
                  <a:pt x="2326215" y="36779"/>
                  <a:pt x="2321738" y="38563"/>
                  <a:pt x="2316242" y="38672"/>
                </a:cubicBezTo>
                <a:cubicBezTo>
                  <a:pt x="2310614" y="38563"/>
                  <a:pt x="2306056" y="36779"/>
                  <a:pt x="2302569" y="33320"/>
                </a:cubicBezTo>
                <a:cubicBezTo>
                  <a:pt x="2299082" y="29862"/>
                  <a:pt x="2297286" y="25385"/>
                  <a:pt x="2297183" y="19889"/>
                </a:cubicBezTo>
                <a:cubicBezTo>
                  <a:pt x="2297286" y="14393"/>
                  <a:pt x="2299082" y="9916"/>
                  <a:pt x="2302569" y="6458"/>
                </a:cubicBezTo>
                <a:cubicBezTo>
                  <a:pt x="2306056" y="2999"/>
                  <a:pt x="2310614" y="1215"/>
                  <a:pt x="2316242" y="1106"/>
                </a:cubicBezTo>
                <a:close/>
                <a:moveTo>
                  <a:pt x="173117" y="1106"/>
                </a:moveTo>
                <a:cubicBezTo>
                  <a:pt x="178613" y="1215"/>
                  <a:pt x="183090" y="2999"/>
                  <a:pt x="186549" y="6458"/>
                </a:cubicBezTo>
                <a:cubicBezTo>
                  <a:pt x="190007" y="9916"/>
                  <a:pt x="191791" y="14393"/>
                  <a:pt x="191900" y="19889"/>
                </a:cubicBezTo>
                <a:cubicBezTo>
                  <a:pt x="191791" y="25385"/>
                  <a:pt x="190007" y="29862"/>
                  <a:pt x="186549" y="33320"/>
                </a:cubicBezTo>
                <a:cubicBezTo>
                  <a:pt x="183090" y="36779"/>
                  <a:pt x="178613" y="38563"/>
                  <a:pt x="173117" y="38672"/>
                </a:cubicBezTo>
                <a:cubicBezTo>
                  <a:pt x="167489" y="38563"/>
                  <a:pt x="162931" y="36779"/>
                  <a:pt x="159444" y="33320"/>
                </a:cubicBezTo>
                <a:cubicBezTo>
                  <a:pt x="155957" y="29862"/>
                  <a:pt x="154161" y="25385"/>
                  <a:pt x="154058" y="19889"/>
                </a:cubicBezTo>
                <a:cubicBezTo>
                  <a:pt x="154161" y="14393"/>
                  <a:pt x="155957" y="9916"/>
                  <a:pt x="159444" y="6458"/>
                </a:cubicBezTo>
                <a:cubicBezTo>
                  <a:pt x="162931" y="2999"/>
                  <a:pt x="167489" y="1215"/>
                  <a:pt x="173117" y="1106"/>
                </a:cubicBezTo>
                <a:close/>
                <a:moveTo>
                  <a:pt x="68228" y="1"/>
                </a:moveTo>
                <a:cubicBezTo>
                  <a:pt x="77205" y="-11"/>
                  <a:pt x="85906" y="634"/>
                  <a:pt x="94331" y="1934"/>
                </a:cubicBezTo>
                <a:cubicBezTo>
                  <a:pt x="102756" y="3235"/>
                  <a:pt x="110904" y="5261"/>
                  <a:pt x="118777" y="8011"/>
                </a:cubicBezTo>
                <a:cubicBezTo>
                  <a:pt x="118357" y="13496"/>
                  <a:pt x="117678" y="18479"/>
                  <a:pt x="116740" y="22962"/>
                </a:cubicBezTo>
                <a:cubicBezTo>
                  <a:pt x="115802" y="27445"/>
                  <a:pt x="114639" y="31669"/>
                  <a:pt x="113252" y="35634"/>
                </a:cubicBezTo>
                <a:cubicBezTo>
                  <a:pt x="105633" y="32883"/>
                  <a:pt x="97807" y="30857"/>
                  <a:pt x="89773" y="29557"/>
                </a:cubicBezTo>
                <a:cubicBezTo>
                  <a:pt x="81740" y="28256"/>
                  <a:pt x="74466" y="27612"/>
                  <a:pt x="67951" y="27623"/>
                </a:cubicBezTo>
                <a:cubicBezTo>
                  <a:pt x="55976" y="27710"/>
                  <a:pt x="47125" y="29885"/>
                  <a:pt x="41399" y="34149"/>
                </a:cubicBezTo>
                <a:cubicBezTo>
                  <a:pt x="35673" y="38413"/>
                  <a:pt x="32831" y="44249"/>
                  <a:pt x="32871" y="51655"/>
                </a:cubicBezTo>
                <a:cubicBezTo>
                  <a:pt x="32917" y="58710"/>
                  <a:pt x="35518" y="64626"/>
                  <a:pt x="40674" y="69402"/>
                </a:cubicBezTo>
                <a:cubicBezTo>
                  <a:pt x="45831" y="74179"/>
                  <a:pt x="53266" y="78575"/>
                  <a:pt x="62979" y="82592"/>
                </a:cubicBezTo>
                <a:lnTo>
                  <a:pt x="77896" y="88945"/>
                </a:lnTo>
                <a:cubicBezTo>
                  <a:pt x="95315" y="96190"/>
                  <a:pt x="107987" y="104282"/>
                  <a:pt x="115911" y="113219"/>
                </a:cubicBezTo>
                <a:cubicBezTo>
                  <a:pt x="123835" y="122156"/>
                  <a:pt x="127737" y="133216"/>
                  <a:pt x="127616" y="146400"/>
                </a:cubicBezTo>
                <a:cubicBezTo>
                  <a:pt x="127593" y="162530"/>
                  <a:pt x="121631" y="175432"/>
                  <a:pt x="109731" y="185106"/>
                </a:cubicBezTo>
                <a:cubicBezTo>
                  <a:pt x="97830" y="194780"/>
                  <a:pt x="80128" y="199740"/>
                  <a:pt x="56626" y="199988"/>
                </a:cubicBezTo>
                <a:cubicBezTo>
                  <a:pt x="45324" y="199999"/>
                  <a:pt x="34989" y="199148"/>
                  <a:pt x="25620" y="197433"/>
                </a:cubicBezTo>
                <a:cubicBezTo>
                  <a:pt x="16251" y="195718"/>
                  <a:pt x="7711" y="193071"/>
                  <a:pt x="0" y="189491"/>
                </a:cubicBezTo>
                <a:cubicBezTo>
                  <a:pt x="271" y="183926"/>
                  <a:pt x="835" y="178966"/>
                  <a:pt x="1692" y="174610"/>
                </a:cubicBezTo>
                <a:cubicBezTo>
                  <a:pt x="2550" y="170253"/>
                  <a:pt x="3735" y="165914"/>
                  <a:pt x="5248" y="161592"/>
                </a:cubicBezTo>
                <a:cubicBezTo>
                  <a:pt x="13173" y="165183"/>
                  <a:pt x="21632" y="167877"/>
                  <a:pt x="30627" y="169672"/>
                </a:cubicBezTo>
                <a:cubicBezTo>
                  <a:pt x="39621" y="171467"/>
                  <a:pt x="48012" y="172365"/>
                  <a:pt x="55798" y="172365"/>
                </a:cubicBezTo>
                <a:cubicBezTo>
                  <a:pt x="68705" y="172359"/>
                  <a:pt x="78592" y="170299"/>
                  <a:pt x="85457" y="166185"/>
                </a:cubicBezTo>
                <a:cubicBezTo>
                  <a:pt x="92323" y="162070"/>
                  <a:pt x="95787" y="155936"/>
                  <a:pt x="95850" y="147781"/>
                </a:cubicBezTo>
                <a:cubicBezTo>
                  <a:pt x="95954" y="140030"/>
                  <a:pt x="93123" y="133642"/>
                  <a:pt x="87356" y="128618"/>
                </a:cubicBezTo>
                <a:cubicBezTo>
                  <a:pt x="81590" y="123594"/>
                  <a:pt x="72268" y="118381"/>
                  <a:pt x="59388" y="112977"/>
                </a:cubicBezTo>
                <a:lnTo>
                  <a:pt x="45301" y="106900"/>
                </a:lnTo>
                <a:cubicBezTo>
                  <a:pt x="32123" y="101473"/>
                  <a:pt x="21603" y="94510"/>
                  <a:pt x="13742" y="86010"/>
                </a:cubicBezTo>
                <a:cubicBezTo>
                  <a:pt x="5881" y="77511"/>
                  <a:pt x="1853" y="66059"/>
                  <a:pt x="1657" y="51655"/>
                </a:cubicBezTo>
                <a:cubicBezTo>
                  <a:pt x="1634" y="35726"/>
                  <a:pt x="7136" y="23181"/>
                  <a:pt x="18162" y="14019"/>
                </a:cubicBezTo>
                <a:cubicBezTo>
                  <a:pt x="29188" y="4858"/>
                  <a:pt x="45877" y="185"/>
                  <a:pt x="68228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9" name="Forma libre: forma 18">
            <a:extLst>
              <a:ext uri="{FF2B5EF4-FFF2-40B4-BE49-F238E27FC236}">
                <a16:creationId xmlns:a16="http://schemas.microsoft.com/office/drawing/2014/main" id="{B61CF4CC-ED27-4967-A11A-B838DFD4D9A3}"/>
              </a:ext>
            </a:extLst>
          </p:cNvPr>
          <p:cNvSpPr/>
          <p:nvPr userDrawn="1"/>
        </p:nvSpPr>
        <p:spPr>
          <a:xfrm>
            <a:off x="0" y="5229922"/>
            <a:ext cx="12192000" cy="1628078"/>
          </a:xfrm>
          <a:custGeom>
            <a:avLst/>
            <a:gdLst>
              <a:gd name="connsiteX0" fmla="*/ 8943278 w 12192000"/>
              <a:gd name="connsiteY0" fmla="*/ 0 h 1628078"/>
              <a:gd name="connsiteX1" fmla="*/ 12192000 w 12192000"/>
              <a:gd name="connsiteY1" fmla="*/ 0 h 1628078"/>
              <a:gd name="connsiteX2" fmla="*/ 12192000 w 12192000"/>
              <a:gd name="connsiteY2" fmla="*/ 1628078 h 1628078"/>
              <a:gd name="connsiteX3" fmla="*/ 0 w 12192000"/>
              <a:gd name="connsiteY3" fmla="*/ 1628078 h 1628078"/>
              <a:gd name="connsiteX4" fmla="*/ 0 w 12192000"/>
              <a:gd name="connsiteY4" fmla="*/ 1226634 h 1628078"/>
              <a:gd name="connsiteX5" fmla="*/ 8943278 w 12192000"/>
              <a:gd name="connsiteY5" fmla="*/ 1226634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1628078">
                <a:moveTo>
                  <a:pt x="8943278" y="0"/>
                </a:moveTo>
                <a:lnTo>
                  <a:pt x="12192000" y="0"/>
                </a:lnTo>
                <a:lnTo>
                  <a:pt x="12192000" y="1628078"/>
                </a:lnTo>
                <a:lnTo>
                  <a:pt x="0" y="1628078"/>
                </a:lnTo>
                <a:lnTo>
                  <a:pt x="0" y="1226634"/>
                </a:lnTo>
                <a:lnTo>
                  <a:pt x="8943278" y="1226634"/>
                </a:lnTo>
                <a:close/>
              </a:path>
            </a:pathLst>
          </a:cu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prstClr val="white"/>
              </a:solidFill>
            </a:endParaRPr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67F54544-030A-41BD-9896-574241C718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1978" y="5727401"/>
            <a:ext cx="1896592" cy="332588"/>
          </a:xfrm>
          <a:prstGeom prst="rect">
            <a:avLst/>
          </a:prstGeom>
        </p:spPr>
      </p:pic>
      <p:pic>
        <p:nvPicPr>
          <p:cNvPr id="1026" name="Picture 2" descr="Resultado de imagen de DJSI Member Log">
            <a:extLst>
              <a:ext uri="{FF2B5EF4-FFF2-40B4-BE49-F238E27FC236}">
                <a16:creationId xmlns:a16="http://schemas.microsoft.com/office/drawing/2014/main" id="{892B8B9E-DEBC-4365-A4A8-EB9654BA309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918" y="5573143"/>
            <a:ext cx="1347482" cy="4554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Grupo 19">
            <a:extLst>
              <a:ext uri="{FF2B5EF4-FFF2-40B4-BE49-F238E27FC236}">
                <a16:creationId xmlns:a16="http://schemas.microsoft.com/office/drawing/2014/main" id="{246620ED-93B0-4966-8E36-4B883B49E634}"/>
              </a:ext>
            </a:extLst>
          </p:cNvPr>
          <p:cNvGrpSpPr/>
          <p:nvPr userDrawn="1"/>
        </p:nvGrpSpPr>
        <p:grpSpPr>
          <a:xfrm>
            <a:off x="7612559" y="5573576"/>
            <a:ext cx="578707" cy="455017"/>
            <a:chOff x="2203451" y="-4230356"/>
            <a:chExt cx="6896100" cy="5422158"/>
          </a:xfrm>
        </p:grpSpPr>
        <p:pic>
          <p:nvPicPr>
            <p:cNvPr id="22" name="Imagen 21" descr="Imagen relacionada">
              <a:extLst>
                <a:ext uri="{FF2B5EF4-FFF2-40B4-BE49-F238E27FC236}">
                  <a16:creationId xmlns:a16="http://schemas.microsoft.com/office/drawing/2014/main" id="{E4D48186-AF8E-4052-97D2-CCAFD0E1AC76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544" t="3352" r="22378" b="28229"/>
            <a:stretch>
              <a:fillRect/>
            </a:stretch>
          </p:blipFill>
          <p:spPr bwMode="auto">
            <a:xfrm>
              <a:off x="3758085" y="-4230356"/>
              <a:ext cx="3798276" cy="3838472"/>
            </a:xfrm>
            <a:custGeom>
              <a:avLst/>
              <a:gdLst>
                <a:gd name="connsiteX0" fmla="*/ 1899138 w 3798276"/>
                <a:gd name="connsiteY0" fmla="*/ 0 h 3838472"/>
                <a:gd name="connsiteX1" fmla="*/ 3798276 w 3798276"/>
                <a:gd name="connsiteY1" fmla="*/ 1919236 h 3838472"/>
                <a:gd name="connsiteX2" fmla="*/ 1899138 w 3798276"/>
                <a:gd name="connsiteY2" fmla="*/ 3838472 h 3838472"/>
                <a:gd name="connsiteX3" fmla="*/ 0 w 3798276"/>
                <a:gd name="connsiteY3" fmla="*/ 1919236 h 3838472"/>
                <a:gd name="connsiteX4" fmla="*/ 1899138 w 3798276"/>
                <a:gd name="connsiteY4" fmla="*/ 0 h 3838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8276" h="3838472">
                  <a:moveTo>
                    <a:pt x="1899138" y="0"/>
                  </a:moveTo>
                  <a:cubicBezTo>
                    <a:pt x="2948003" y="0"/>
                    <a:pt x="3798276" y="859271"/>
                    <a:pt x="3798276" y="1919236"/>
                  </a:cubicBezTo>
                  <a:cubicBezTo>
                    <a:pt x="3798276" y="2979201"/>
                    <a:pt x="2948003" y="3838472"/>
                    <a:pt x="1899138" y="3838472"/>
                  </a:cubicBezTo>
                  <a:cubicBezTo>
                    <a:pt x="850273" y="3838472"/>
                    <a:pt x="0" y="2979201"/>
                    <a:pt x="0" y="1919236"/>
                  </a:cubicBezTo>
                  <a:cubicBezTo>
                    <a:pt x="0" y="859271"/>
                    <a:pt x="850273" y="0"/>
                    <a:pt x="1899138" y="0"/>
                  </a:cubicBez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Imagen 23" descr="Imagen relacionada">
              <a:extLst>
                <a:ext uri="{FF2B5EF4-FFF2-40B4-BE49-F238E27FC236}">
                  <a16:creationId xmlns:a16="http://schemas.microsoft.com/office/drawing/2014/main" id="{411507B2-E393-4DDC-B151-70751F9943C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8757"/>
            <a:stretch>
              <a:fillRect/>
            </a:stretch>
          </p:blipFill>
          <p:spPr bwMode="auto">
            <a:xfrm>
              <a:off x="2203451" y="0"/>
              <a:ext cx="6896100" cy="1191802"/>
            </a:xfrm>
            <a:custGeom>
              <a:avLst/>
              <a:gdLst>
                <a:gd name="connsiteX0" fmla="*/ 0 w 6896100"/>
                <a:gd name="connsiteY0" fmla="*/ 0 h 1191802"/>
                <a:gd name="connsiteX1" fmla="*/ 6896100 w 6896100"/>
                <a:gd name="connsiteY1" fmla="*/ 0 h 1191802"/>
                <a:gd name="connsiteX2" fmla="*/ 6896100 w 6896100"/>
                <a:gd name="connsiteY2" fmla="*/ 1191802 h 1191802"/>
                <a:gd name="connsiteX3" fmla="*/ 0 w 6896100"/>
                <a:gd name="connsiteY3" fmla="*/ 1191802 h 1191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96100" h="1191802">
                  <a:moveTo>
                    <a:pt x="0" y="0"/>
                  </a:moveTo>
                  <a:lnTo>
                    <a:pt x="6896100" y="0"/>
                  </a:lnTo>
                  <a:lnTo>
                    <a:pt x="6896100" y="1191802"/>
                  </a:lnTo>
                  <a:lnTo>
                    <a:pt x="0" y="1191802"/>
                  </a:ln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3" name="CuadroTexto 22">
            <a:extLst>
              <a:ext uri="{FF2B5EF4-FFF2-40B4-BE49-F238E27FC236}">
                <a16:creationId xmlns:a16="http://schemas.microsoft.com/office/drawing/2014/main" id="{B163354C-97AE-4FC8-BF01-B7FCA9B2C7C0}"/>
              </a:ext>
            </a:extLst>
          </p:cNvPr>
          <p:cNvSpPr txBox="1"/>
          <p:nvPr userDrawn="1"/>
        </p:nvSpPr>
        <p:spPr>
          <a:xfrm>
            <a:off x="719288" y="1945649"/>
            <a:ext cx="336547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rgbClr val="6E7678"/>
                </a:solidFill>
              </a:rPr>
              <a:t>Our purpose is to help people </a:t>
            </a:r>
            <a:br>
              <a:rPr lang="en-US" sz="1400">
                <a:solidFill>
                  <a:srgbClr val="6E7678"/>
                </a:solidFill>
              </a:rPr>
            </a:br>
            <a:r>
              <a:rPr lang="en-US" sz="1400">
                <a:solidFill>
                  <a:srgbClr val="6E7678"/>
                </a:solidFill>
              </a:rPr>
              <a:t>and business prosper.</a:t>
            </a:r>
          </a:p>
          <a:p>
            <a:endParaRPr lang="en-US" sz="1400">
              <a:solidFill>
                <a:srgbClr val="6E7678"/>
              </a:solidFill>
            </a:endParaRPr>
          </a:p>
          <a:p>
            <a:r>
              <a:rPr lang="en-US" sz="1400">
                <a:solidFill>
                  <a:srgbClr val="6E7678"/>
                </a:solidFill>
              </a:rPr>
              <a:t>Our culture is based on believing </a:t>
            </a:r>
            <a:br>
              <a:rPr lang="en-US" sz="1400">
                <a:solidFill>
                  <a:srgbClr val="6E7678"/>
                </a:solidFill>
              </a:rPr>
            </a:br>
            <a:r>
              <a:rPr lang="en-US" sz="1400">
                <a:solidFill>
                  <a:srgbClr val="6E7678"/>
                </a:solidFill>
              </a:rPr>
              <a:t>that everything we do should be: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68E35268-345F-47C7-ADB2-CE92421E8EED}"/>
              </a:ext>
            </a:extLst>
          </p:cNvPr>
          <p:cNvSpPr txBox="1"/>
          <p:nvPr userDrawn="1"/>
        </p:nvSpPr>
        <p:spPr>
          <a:xfrm>
            <a:off x="721506" y="628193"/>
            <a:ext cx="336547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000">
                <a:solidFill>
                  <a:srgbClr val="EB0000"/>
                </a:solidFill>
              </a:rPr>
              <a:t>Thank You.</a:t>
            </a:r>
          </a:p>
        </p:txBody>
      </p:sp>
      <p:sp>
        <p:nvSpPr>
          <p:cNvPr id="31" name="Forma libre: forma 30">
            <a:extLst>
              <a:ext uri="{FF2B5EF4-FFF2-40B4-BE49-F238E27FC236}">
                <a16:creationId xmlns:a16="http://schemas.microsoft.com/office/drawing/2014/main" id="{073BDF73-2FC7-4E8C-B95B-B68B9F5D3BE9}"/>
              </a:ext>
            </a:extLst>
          </p:cNvPr>
          <p:cNvSpPr/>
          <p:nvPr userDrawn="1"/>
        </p:nvSpPr>
        <p:spPr>
          <a:xfrm>
            <a:off x="0" y="5229922"/>
            <a:ext cx="12196689" cy="1628078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6605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955" y="1589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89"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3" name="Object 2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5" y="1589"/>
                        <a:ext cx="1953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62707" y="1508759"/>
            <a:ext cx="11074087" cy="4590288"/>
          </a:xfrm>
        </p:spPr>
        <p:txBody>
          <a:bodyPr lIns="0" tIns="0" rIns="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18454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fluencer - With 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15"/>
          <p:cNvSpPr>
            <a:spLocks noGrp="1"/>
          </p:cNvSpPr>
          <p:nvPr>
            <p:ph type="body" sz="quarter" idx="10"/>
          </p:nvPr>
        </p:nvSpPr>
        <p:spPr>
          <a:xfrm>
            <a:off x="3815934" y="990600"/>
            <a:ext cx="4495800" cy="381000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itle Placeholder 1"/>
          <p:cNvSpPr>
            <a:spLocks noGrp="1"/>
          </p:cNvSpPr>
          <p:nvPr>
            <p:ph type="title"/>
          </p:nvPr>
        </p:nvSpPr>
        <p:spPr>
          <a:xfrm>
            <a:off x="476011" y="381000"/>
            <a:ext cx="11175647" cy="609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75136348"/>
      </p:ext>
    </p:extLst>
  </p:cSld>
  <p:clrMapOvr>
    <a:masterClrMapping/>
  </p:clrMapOvr>
  <p:transition spd="slow">
    <p:wip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Interior texto a una colum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1850" y="284515"/>
            <a:ext cx="10515601" cy="519272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defRPr/>
            </a:lvl1pPr>
          </a:lstStyle>
          <a:p>
            <a:pPr marL="0" lvl="0"/>
            <a:r>
              <a:rPr lang="en-GB"/>
              <a:t>Click to change the title of the pattern</a:t>
            </a:r>
            <a:endParaRPr lang="en-US"/>
          </a:p>
        </p:txBody>
      </p:sp>
      <p:sp>
        <p:nvSpPr>
          <p:cNvPr id="16" name="Marcador de texto 15"/>
          <p:cNvSpPr>
            <a:spLocks noGrp="1"/>
          </p:cNvSpPr>
          <p:nvPr>
            <p:ph type="body" sz="quarter" idx="10" hasCustomPrompt="1"/>
          </p:nvPr>
        </p:nvSpPr>
        <p:spPr>
          <a:xfrm>
            <a:off x="831850" y="864000"/>
            <a:ext cx="10515601" cy="370688"/>
          </a:xfrm>
          <a:prstGeom prst="rect">
            <a:avLst/>
          </a:prstGeom>
        </p:spPr>
        <p:txBody>
          <a:bodyPr anchor="t" anchorCtr="0"/>
          <a:lstStyle>
            <a:lvl1pPr>
              <a:defRPr lang="es-ES" sz="1800" i="1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lang="es-ES" smtClean="0"/>
            </a:lvl2pPr>
            <a:lvl3pPr>
              <a:defRPr lang="es-ES" smtClean="0"/>
            </a:lvl3pPr>
            <a:lvl4pPr>
              <a:defRPr lang="es-ES" smtClean="0"/>
            </a:lvl4pPr>
            <a:lvl5pPr>
              <a:defRPr lang="es-ES"/>
            </a:lvl5pPr>
          </a:lstStyle>
          <a:p>
            <a:pPr marL="182563" lvl="0" indent="-182563">
              <a:lnSpc>
                <a:spcPct val="100000"/>
              </a:lnSpc>
              <a:spcBef>
                <a:spcPts val="1800"/>
              </a:spcBef>
              <a:buClr>
                <a:srgbClr val="FF0000"/>
              </a:buClr>
              <a:buFontTx/>
              <a:buNone/>
            </a:pPr>
            <a:r>
              <a:rPr lang="en-GB"/>
              <a:t>Click to change the text of the pattern</a:t>
            </a:r>
            <a:endParaRPr lang="es-ES"/>
          </a:p>
        </p:txBody>
      </p:sp>
      <p:sp>
        <p:nvSpPr>
          <p:cNvPr id="31" name="Marcador de texto 30"/>
          <p:cNvSpPr>
            <a:spLocks noGrp="1"/>
          </p:cNvSpPr>
          <p:nvPr>
            <p:ph type="body" sz="quarter" idx="11" hasCustomPrompt="1"/>
          </p:nvPr>
        </p:nvSpPr>
        <p:spPr>
          <a:xfrm>
            <a:off x="841377" y="1512002"/>
            <a:ext cx="10506075" cy="39814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s-ES" sz="16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lang="es-ES" sz="16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s-ES" sz="16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s-ES" sz="16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s-ES"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182563" lvl="0" indent="-182563">
              <a:spcBef>
                <a:spcPts val="1200"/>
              </a:spcBef>
              <a:buClr>
                <a:srgbClr val="FF0000"/>
              </a:buClr>
            </a:pPr>
            <a:r>
              <a:rPr lang="en-GB"/>
              <a:t>Click to change the text of the pattern</a:t>
            </a:r>
            <a:endParaRPr lang="es-ES"/>
          </a:p>
          <a:p>
            <a:pPr marL="625475" lvl="1" indent="-168275">
              <a:spcBef>
                <a:spcPts val="1200"/>
              </a:spcBef>
              <a:buClr>
                <a:srgbClr val="FF0000"/>
              </a:buClr>
            </a:pPr>
            <a:r>
              <a:rPr lang="es-ES" err="1"/>
              <a:t>Second</a:t>
            </a:r>
            <a:r>
              <a:rPr lang="es-ES"/>
              <a:t> </a:t>
            </a:r>
            <a:r>
              <a:rPr lang="es-ES" err="1"/>
              <a:t>level</a:t>
            </a:r>
            <a:endParaRPr lang="es-ES"/>
          </a:p>
          <a:p>
            <a:pPr marL="1074738" lvl="2" indent="-160338">
              <a:spcBef>
                <a:spcPts val="1200"/>
              </a:spcBef>
              <a:buClr>
                <a:srgbClr val="FF0000"/>
              </a:buClr>
            </a:pPr>
            <a:r>
              <a:rPr lang="es-ES" err="1"/>
              <a:t>Third</a:t>
            </a:r>
            <a:r>
              <a:rPr lang="es-ES"/>
              <a:t> </a:t>
            </a:r>
            <a:r>
              <a:rPr lang="es-ES" err="1"/>
              <a:t>level</a:t>
            </a:r>
            <a:endParaRPr lang="es-ES"/>
          </a:p>
          <a:p>
            <a:pPr marL="1524000" lvl="3" indent="-152400">
              <a:spcBef>
                <a:spcPts val="1200"/>
              </a:spcBef>
              <a:buClr>
                <a:srgbClr val="FF0000"/>
              </a:buClr>
            </a:pPr>
            <a:r>
              <a:rPr lang="es-ES" err="1"/>
              <a:t>Fourth</a:t>
            </a:r>
            <a:r>
              <a:rPr lang="es-ES"/>
              <a:t> </a:t>
            </a:r>
            <a:r>
              <a:rPr lang="es-ES" err="1"/>
              <a:t>level</a:t>
            </a:r>
            <a:endParaRPr lang="es-ES"/>
          </a:p>
          <a:p>
            <a:pPr marL="1973263" lvl="4" indent="-144463">
              <a:spcBef>
                <a:spcPts val="1200"/>
              </a:spcBef>
              <a:buClr>
                <a:srgbClr val="FF0000"/>
              </a:buClr>
              <a:tabLst>
                <a:tab pos="2155825" algn="l"/>
              </a:tabLst>
            </a:pPr>
            <a:r>
              <a:rPr lang="es-ES" err="1"/>
              <a:t>Fifth</a:t>
            </a:r>
            <a:r>
              <a:rPr lang="es-ES"/>
              <a:t> </a:t>
            </a:r>
            <a:r>
              <a:rPr lang="es-ES" err="1"/>
              <a:t>level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899705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ortada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Marcador de posición de imagen 12">
            <a:extLst>
              <a:ext uri="{FF2B5EF4-FFF2-40B4-BE49-F238E27FC236}">
                <a16:creationId xmlns:a16="http://schemas.microsoft.com/office/drawing/2014/main" id="{15C5E64B-3225-45C7-B625-CC93DD9A411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222375"/>
            <a:ext cx="12192000" cy="5635625"/>
          </a:xfrm>
          <a:custGeom>
            <a:avLst/>
            <a:gdLst>
              <a:gd name="connsiteX0" fmla="*/ 6096000 w 12192000"/>
              <a:gd name="connsiteY0" fmla="*/ 0 h 5635625"/>
              <a:gd name="connsiteX1" fmla="*/ 12192000 w 12192000"/>
              <a:gd name="connsiteY1" fmla="*/ 0 h 5635625"/>
              <a:gd name="connsiteX2" fmla="*/ 12192000 w 12192000"/>
              <a:gd name="connsiteY2" fmla="*/ 5635625 h 5635625"/>
              <a:gd name="connsiteX3" fmla="*/ 0 w 12192000"/>
              <a:gd name="connsiteY3" fmla="*/ 5635625 h 5635625"/>
              <a:gd name="connsiteX4" fmla="*/ 0 w 12192000"/>
              <a:gd name="connsiteY4" fmla="*/ 5222492 h 5635625"/>
              <a:gd name="connsiteX5" fmla="*/ 6096000 w 12192000"/>
              <a:gd name="connsiteY5" fmla="*/ 5222492 h 5635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5635625">
                <a:moveTo>
                  <a:pt x="6096000" y="0"/>
                </a:moveTo>
                <a:lnTo>
                  <a:pt x="12192000" y="0"/>
                </a:lnTo>
                <a:lnTo>
                  <a:pt x="12192000" y="5635625"/>
                </a:lnTo>
                <a:lnTo>
                  <a:pt x="0" y="5635625"/>
                </a:lnTo>
                <a:lnTo>
                  <a:pt x="0" y="5222492"/>
                </a:lnTo>
                <a:lnTo>
                  <a:pt x="6096000" y="5222492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r">
              <a:buFontTx/>
              <a:buNone/>
              <a:defRPr sz="1800"/>
            </a:lvl1pPr>
          </a:lstStyle>
          <a:p>
            <a:r>
              <a:rPr lang="es-ES"/>
              <a:t>Inserte aquí su imagen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2F305A9-DE4B-49AF-BCD4-43A65F7EB5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1745" y="1096485"/>
            <a:ext cx="4937184" cy="1407004"/>
          </a:xfrm>
        </p:spPr>
        <p:txBody>
          <a:bodyPr anchor="t">
            <a:normAutofit/>
          </a:bodyPr>
          <a:lstStyle>
            <a:lvl1pPr algn="l">
              <a:lnSpc>
                <a:spcPct val="90000"/>
              </a:lnSpc>
              <a:defRPr sz="4100">
                <a:solidFill>
                  <a:schemeClr val="accent1"/>
                </a:solidFill>
              </a:defRPr>
            </a:lvl1pPr>
          </a:lstStyle>
          <a:p>
            <a:r>
              <a:rPr lang="es-ES"/>
              <a:t>título </a:t>
            </a:r>
            <a:br>
              <a:rPr lang="es-ES"/>
            </a:br>
            <a:r>
              <a:rPr lang="es-ES"/>
              <a:t>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AB17398-CAA7-49B6-868C-44D053E7EAC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4620" y="2722142"/>
            <a:ext cx="4934309" cy="2436454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Esto clic para modificar el estilo de subtítulo del patrón</a:t>
            </a: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9012236B-6821-499F-B6D4-F11EC0EF0C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1978" y="5727401"/>
            <a:ext cx="1896592" cy="332588"/>
          </a:xfrm>
          <a:prstGeom prst="rect">
            <a:avLst/>
          </a:prstGeom>
        </p:spPr>
      </p:pic>
      <p:sp>
        <p:nvSpPr>
          <p:cNvPr id="17" name="Marcador de texto 16">
            <a:extLst>
              <a:ext uri="{FF2B5EF4-FFF2-40B4-BE49-F238E27FC236}">
                <a16:creationId xmlns:a16="http://schemas.microsoft.com/office/drawing/2014/main" id="{F5E5F18D-70E6-495C-A384-2EDAE003093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09650" y="333651"/>
            <a:ext cx="11177550" cy="419100"/>
          </a:xfrm>
        </p:spPr>
        <p:txBody>
          <a:bodyPr>
            <a:noAutofit/>
          </a:bodyPr>
          <a:lstStyle>
            <a:lvl1pPr marL="0" indent="0">
              <a:buNone/>
              <a:defRPr sz="1300">
                <a:solidFill>
                  <a:schemeClr val="tx2"/>
                </a:solidFill>
              </a:defRPr>
            </a:lvl1pPr>
            <a:lvl2pPr marL="457200" indent="0">
              <a:buNone/>
              <a:defRPr sz="1300">
                <a:solidFill>
                  <a:schemeClr val="tx2"/>
                </a:solidFill>
              </a:defRPr>
            </a:lvl2pPr>
            <a:lvl3pPr marL="914400" indent="0">
              <a:buNone/>
              <a:defRPr sz="1300">
                <a:solidFill>
                  <a:schemeClr val="tx2"/>
                </a:solidFill>
              </a:defRPr>
            </a:lvl3pPr>
            <a:lvl4pPr marL="1371600" indent="0">
              <a:buNone/>
              <a:defRPr sz="1300">
                <a:solidFill>
                  <a:schemeClr val="tx2"/>
                </a:solidFill>
              </a:defRPr>
            </a:lvl4pPr>
            <a:lvl5pPr marL="1828800" indent="0"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27313049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ierre y contac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rma libre: forma 18">
            <a:extLst>
              <a:ext uri="{FF2B5EF4-FFF2-40B4-BE49-F238E27FC236}">
                <a16:creationId xmlns:a16="http://schemas.microsoft.com/office/drawing/2014/main" id="{B61CF4CC-ED27-4967-A11A-B838DFD4D9A3}"/>
              </a:ext>
            </a:extLst>
          </p:cNvPr>
          <p:cNvSpPr/>
          <p:nvPr userDrawn="1"/>
        </p:nvSpPr>
        <p:spPr>
          <a:xfrm>
            <a:off x="0" y="5229922"/>
            <a:ext cx="12192000" cy="1628078"/>
          </a:xfrm>
          <a:custGeom>
            <a:avLst/>
            <a:gdLst>
              <a:gd name="connsiteX0" fmla="*/ 8943278 w 12192000"/>
              <a:gd name="connsiteY0" fmla="*/ 0 h 1628078"/>
              <a:gd name="connsiteX1" fmla="*/ 12192000 w 12192000"/>
              <a:gd name="connsiteY1" fmla="*/ 0 h 1628078"/>
              <a:gd name="connsiteX2" fmla="*/ 12192000 w 12192000"/>
              <a:gd name="connsiteY2" fmla="*/ 1628078 h 1628078"/>
              <a:gd name="connsiteX3" fmla="*/ 0 w 12192000"/>
              <a:gd name="connsiteY3" fmla="*/ 1628078 h 1628078"/>
              <a:gd name="connsiteX4" fmla="*/ 0 w 12192000"/>
              <a:gd name="connsiteY4" fmla="*/ 1226634 h 1628078"/>
              <a:gd name="connsiteX5" fmla="*/ 8943278 w 12192000"/>
              <a:gd name="connsiteY5" fmla="*/ 1226634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1628078">
                <a:moveTo>
                  <a:pt x="8943278" y="0"/>
                </a:moveTo>
                <a:lnTo>
                  <a:pt x="12192000" y="0"/>
                </a:lnTo>
                <a:lnTo>
                  <a:pt x="12192000" y="1628078"/>
                </a:lnTo>
                <a:lnTo>
                  <a:pt x="0" y="1628078"/>
                </a:lnTo>
                <a:lnTo>
                  <a:pt x="0" y="1226634"/>
                </a:lnTo>
                <a:lnTo>
                  <a:pt x="8943278" y="1226634"/>
                </a:lnTo>
                <a:close/>
              </a:path>
            </a:pathLst>
          </a:cu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prstClr val="white"/>
              </a:solidFill>
            </a:endParaRPr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67F54544-030A-41BD-9896-574241C718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1978" y="5727401"/>
            <a:ext cx="1896592" cy="332588"/>
          </a:xfrm>
          <a:prstGeom prst="rect">
            <a:avLst/>
          </a:prstGeom>
        </p:spPr>
      </p:pic>
      <p:pic>
        <p:nvPicPr>
          <p:cNvPr id="1026" name="Picture 2" descr="Resultado de imagen de DJSI Member Log">
            <a:extLst>
              <a:ext uri="{FF2B5EF4-FFF2-40B4-BE49-F238E27FC236}">
                <a16:creationId xmlns:a16="http://schemas.microsoft.com/office/drawing/2014/main" id="{892B8B9E-DEBC-4365-A4A8-EB9654BA309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918" y="5573143"/>
            <a:ext cx="1347482" cy="4554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Grupo 19">
            <a:extLst>
              <a:ext uri="{FF2B5EF4-FFF2-40B4-BE49-F238E27FC236}">
                <a16:creationId xmlns:a16="http://schemas.microsoft.com/office/drawing/2014/main" id="{246620ED-93B0-4966-8E36-4B883B49E634}"/>
              </a:ext>
            </a:extLst>
          </p:cNvPr>
          <p:cNvGrpSpPr/>
          <p:nvPr userDrawn="1"/>
        </p:nvGrpSpPr>
        <p:grpSpPr>
          <a:xfrm>
            <a:off x="7612559" y="5573576"/>
            <a:ext cx="578707" cy="455017"/>
            <a:chOff x="2203451" y="-4230356"/>
            <a:chExt cx="6896100" cy="5422158"/>
          </a:xfrm>
        </p:grpSpPr>
        <p:pic>
          <p:nvPicPr>
            <p:cNvPr id="22" name="Imagen 21" descr="Imagen relacionada">
              <a:extLst>
                <a:ext uri="{FF2B5EF4-FFF2-40B4-BE49-F238E27FC236}">
                  <a16:creationId xmlns:a16="http://schemas.microsoft.com/office/drawing/2014/main" id="{E4D48186-AF8E-4052-97D2-CCAFD0E1AC76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544" t="3352" r="22378" b="28229"/>
            <a:stretch>
              <a:fillRect/>
            </a:stretch>
          </p:blipFill>
          <p:spPr bwMode="auto">
            <a:xfrm>
              <a:off x="3758085" y="-4230356"/>
              <a:ext cx="3798276" cy="3838472"/>
            </a:xfrm>
            <a:custGeom>
              <a:avLst/>
              <a:gdLst>
                <a:gd name="connsiteX0" fmla="*/ 1899138 w 3798276"/>
                <a:gd name="connsiteY0" fmla="*/ 0 h 3838472"/>
                <a:gd name="connsiteX1" fmla="*/ 3798276 w 3798276"/>
                <a:gd name="connsiteY1" fmla="*/ 1919236 h 3838472"/>
                <a:gd name="connsiteX2" fmla="*/ 1899138 w 3798276"/>
                <a:gd name="connsiteY2" fmla="*/ 3838472 h 3838472"/>
                <a:gd name="connsiteX3" fmla="*/ 0 w 3798276"/>
                <a:gd name="connsiteY3" fmla="*/ 1919236 h 3838472"/>
                <a:gd name="connsiteX4" fmla="*/ 1899138 w 3798276"/>
                <a:gd name="connsiteY4" fmla="*/ 0 h 3838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8276" h="3838472">
                  <a:moveTo>
                    <a:pt x="1899138" y="0"/>
                  </a:moveTo>
                  <a:cubicBezTo>
                    <a:pt x="2948003" y="0"/>
                    <a:pt x="3798276" y="859271"/>
                    <a:pt x="3798276" y="1919236"/>
                  </a:cubicBezTo>
                  <a:cubicBezTo>
                    <a:pt x="3798276" y="2979201"/>
                    <a:pt x="2948003" y="3838472"/>
                    <a:pt x="1899138" y="3838472"/>
                  </a:cubicBezTo>
                  <a:cubicBezTo>
                    <a:pt x="850273" y="3838472"/>
                    <a:pt x="0" y="2979201"/>
                    <a:pt x="0" y="1919236"/>
                  </a:cubicBezTo>
                  <a:cubicBezTo>
                    <a:pt x="0" y="859271"/>
                    <a:pt x="850273" y="0"/>
                    <a:pt x="1899138" y="0"/>
                  </a:cubicBez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Imagen 23" descr="Imagen relacionada">
              <a:extLst>
                <a:ext uri="{FF2B5EF4-FFF2-40B4-BE49-F238E27FC236}">
                  <a16:creationId xmlns:a16="http://schemas.microsoft.com/office/drawing/2014/main" id="{411507B2-E393-4DDC-B151-70751F9943C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8757"/>
            <a:stretch>
              <a:fillRect/>
            </a:stretch>
          </p:blipFill>
          <p:spPr bwMode="auto">
            <a:xfrm>
              <a:off x="2203451" y="0"/>
              <a:ext cx="6896100" cy="1191802"/>
            </a:xfrm>
            <a:custGeom>
              <a:avLst/>
              <a:gdLst>
                <a:gd name="connsiteX0" fmla="*/ 0 w 6896100"/>
                <a:gd name="connsiteY0" fmla="*/ 0 h 1191802"/>
                <a:gd name="connsiteX1" fmla="*/ 6896100 w 6896100"/>
                <a:gd name="connsiteY1" fmla="*/ 0 h 1191802"/>
                <a:gd name="connsiteX2" fmla="*/ 6896100 w 6896100"/>
                <a:gd name="connsiteY2" fmla="*/ 1191802 h 1191802"/>
                <a:gd name="connsiteX3" fmla="*/ 0 w 6896100"/>
                <a:gd name="connsiteY3" fmla="*/ 1191802 h 1191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96100" h="1191802">
                  <a:moveTo>
                    <a:pt x="0" y="0"/>
                  </a:moveTo>
                  <a:lnTo>
                    <a:pt x="6896100" y="0"/>
                  </a:lnTo>
                  <a:lnTo>
                    <a:pt x="6896100" y="1191802"/>
                  </a:lnTo>
                  <a:lnTo>
                    <a:pt x="0" y="1191802"/>
                  </a:ln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3" name="CuadroTexto 22">
            <a:extLst>
              <a:ext uri="{FF2B5EF4-FFF2-40B4-BE49-F238E27FC236}">
                <a16:creationId xmlns:a16="http://schemas.microsoft.com/office/drawing/2014/main" id="{B163354C-97AE-4FC8-BF01-B7FCA9B2C7C0}"/>
              </a:ext>
            </a:extLst>
          </p:cNvPr>
          <p:cNvSpPr txBox="1"/>
          <p:nvPr userDrawn="1"/>
        </p:nvSpPr>
        <p:spPr>
          <a:xfrm>
            <a:off x="719288" y="1945649"/>
            <a:ext cx="336547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>
                <a:solidFill>
                  <a:srgbClr val="6E7678"/>
                </a:solidFill>
              </a:rPr>
              <a:t>Nuestro propósito es ayudar a personas y empresas a prosperar.</a:t>
            </a:r>
          </a:p>
          <a:p>
            <a:endParaRPr lang="es-ES" sz="1400">
              <a:solidFill>
                <a:srgbClr val="6E7678"/>
              </a:solidFill>
            </a:endParaRPr>
          </a:p>
          <a:p>
            <a:r>
              <a:rPr lang="es-ES" sz="1400">
                <a:solidFill>
                  <a:srgbClr val="6E7678"/>
                </a:solidFill>
              </a:rPr>
              <a:t>Nuestra cultura se basa en la creencia de que todo lo que hacemos debe ser</a:t>
            </a:r>
          </a:p>
        </p:txBody>
      </p:sp>
      <p:pic>
        <p:nvPicPr>
          <p:cNvPr id="25" name="Gráfico 24">
            <a:extLst>
              <a:ext uri="{FF2B5EF4-FFF2-40B4-BE49-F238E27FC236}">
                <a16:creationId xmlns:a16="http://schemas.microsoft.com/office/drawing/2014/main" id="{B0E05CB1-1BF0-48C0-9240-26433BD08686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19150" y="3461863"/>
            <a:ext cx="2790825" cy="202298"/>
          </a:xfrm>
          <a:prstGeom prst="rect">
            <a:avLst/>
          </a:prstGeom>
        </p:spPr>
      </p:pic>
      <p:sp>
        <p:nvSpPr>
          <p:cNvPr id="28" name="CuadroTexto 27">
            <a:extLst>
              <a:ext uri="{FF2B5EF4-FFF2-40B4-BE49-F238E27FC236}">
                <a16:creationId xmlns:a16="http://schemas.microsoft.com/office/drawing/2014/main" id="{68E35268-345F-47C7-ADB2-CE92421E8EED}"/>
              </a:ext>
            </a:extLst>
          </p:cNvPr>
          <p:cNvSpPr txBox="1"/>
          <p:nvPr userDrawn="1"/>
        </p:nvSpPr>
        <p:spPr>
          <a:xfrm>
            <a:off x="721506" y="628193"/>
            <a:ext cx="336547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000">
                <a:solidFill>
                  <a:srgbClr val="EB0000"/>
                </a:solidFill>
              </a:rPr>
              <a:t>Gracias.</a:t>
            </a:r>
          </a:p>
        </p:txBody>
      </p:sp>
      <p:sp>
        <p:nvSpPr>
          <p:cNvPr id="31" name="Forma libre: forma 30">
            <a:extLst>
              <a:ext uri="{FF2B5EF4-FFF2-40B4-BE49-F238E27FC236}">
                <a16:creationId xmlns:a16="http://schemas.microsoft.com/office/drawing/2014/main" id="{073BDF73-2FC7-4E8C-B95B-B68B9F5D3BE9}"/>
              </a:ext>
            </a:extLst>
          </p:cNvPr>
          <p:cNvSpPr/>
          <p:nvPr userDrawn="1"/>
        </p:nvSpPr>
        <p:spPr>
          <a:xfrm>
            <a:off x="0" y="5229922"/>
            <a:ext cx="12196689" cy="1628078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66496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erior texto a una colum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3"/>
          <p:cNvSpPr>
            <a:spLocks noGrp="1"/>
          </p:cNvSpPr>
          <p:nvPr>
            <p:ph type="body" sz="quarter" idx="12" hasCustomPrompt="1"/>
          </p:nvPr>
        </p:nvSpPr>
        <p:spPr>
          <a:xfrm>
            <a:off x="831851" y="284400"/>
            <a:ext cx="10515600" cy="5184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3200" baseline="0">
                <a:solidFill>
                  <a:srgbClr val="FF0000"/>
                </a:solidFill>
              </a:defRPr>
            </a:lvl1pPr>
            <a:lvl2pPr marL="457200" indent="0">
              <a:buFontTx/>
              <a:buNone/>
              <a:defRPr sz="3200">
                <a:solidFill>
                  <a:srgbClr val="FF0000"/>
                </a:solidFill>
              </a:defRPr>
            </a:lvl2pPr>
            <a:lvl3pPr marL="914400" indent="0">
              <a:buFontTx/>
              <a:buNone/>
              <a:defRPr sz="3200">
                <a:solidFill>
                  <a:srgbClr val="FF0000"/>
                </a:solidFill>
              </a:defRPr>
            </a:lvl3pPr>
            <a:lvl4pPr marL="1371600" indent="0">
              <a:buFontTx/>
              <a:buNone/>
              <a:defRPr sz="3200">
                <a:solidFill>
                  <a:srgbClr val="FF0000"/>
                </a:solidFill>
              </a:defRPr>
            </a:lvl4pPr>
            <a:lvl5pPr marL="1828800" indent="0">
              <a:buFontTx/>
              <a:buNone/>
              <a:defRPr sz="3200">
                <a:solidFill>
                  <a:srgbClr val="FF0000"/>
                </a:solidFill>
              </a:defRPr>
            </a:lvl5pPr>
          </a:lstStyle>
          <a:p>
            <a:pPr lvl="0"/>
            <a:r>
              <a:rPr lang="es-ES"/>
              <a:t>Haga clic para insertar el título</a:t>
            </a:r>
          </a:p>
        </p:txBody>
      </p:sp>
      <p:sp>
        <p:nvSpPr>
          <p:cNvPr id="6" name="Marcador de texto 5"/>
          <p:cNvSpPr>
            <a:spLocks noGrp="1"/>
          </p:cNvSpPr>
          <p:nvPr>
            <p:ph type="body" sz="quarter" idx="13" hasCustomPrompt="1"/>
          </p:nvPr>
        </p:nvSpPr>
        <p:spPr>
          <a:xfrm>
            <a:off x="831849" y="864000"/>
            <a:ext cx="10516800" cy="3708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800" i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s-ES"/>
              <a:t>Haga clic para insertar el subtítulo</a:t>
            </a:r>
          </a:p>
        </p:txBody>
      </p:sp>
      <p:sp>
        <p:nvSpPr>
          <p:cNvPr id="11" name="Marcador de texto 10"/>
          <p:cNvSpPr>
            <a:spLocks noGrp="1"/>
          </p:cNvSpPr>
          <p:nvPr>
            <p:ph type="body" sz="quarter" idx="14"/>
          </p:nvPr>
        </p:nvSpPr>
        <p:spPr>
          <a:xfrm>
            <a:off x="830400" y="1512000"/>
            <a:ext cx="10516800" cy="3981600"/>
          </a:xfrm>
          <a:prstGeom prst="rect">
            <a:avLst/>
          </a:prstGeom>
        </p:spPr>
        <p:txBody>
          <a:bodyPr/>
          <a:lstStyle>
            <a:lvl1pPr>
              <a:buClr>
                <a:srgbClr val="FF0000"/>
              </a:buCl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buClr>
                <a:srgbClr val="FF0000"/>
              </a:buCl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buClr>
                <a:srgbClr val="FF0000"/>
              </a:buCl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buClr>
                <a:srgbClr val="FF0000"/>
              </a:buCl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buClr>
                <a:srgbClr val="FF0000"/>
              </a:buCl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pic>
        <p:nvPicPr>
          <p:cNvPr id="5" name="Gráfico 8">
            <a:extLst>
              <a:ext uri="{FF2B5EF4-FFF2-40B4-BE49-F238E27FC236}">
                <a16:creationId xmlns:a16="http://schemas.microsoft.com/office/drawing/2014/main" id="{AC1B0227-D6EB-4F05-832D-EB54916F79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1753" y="6314173"/>
            <a:ext cx="1370441" cy="240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3114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  <p15:guide id="3" orient="horz" pos="915">
          <p15:clr>
            <a:srgbClr val="FBAE40"/>
          </p15:clr>
        </p15:guide>
        <p15:guide id="4" orient="horz" pos="785">
          <p15:clr>
            <a:srgbClr val="FBAE40"/>
          </p15:clr>
        </p15:guide>
        <p15:guide id="5" orient="horz" pos="562">
          <p15:clr>
            <a:srgbClr val="FBAE40"/>
          </p15:clr>
        </p15:guide>
        <p15:guide id="6" orient="horz" pos="543">
          <p15:clr>
            <a:srgbClr val="FBAE40"/>
          </p15:clr>
        </p15:guide>
        <p15:guide id="7" orient="horz" pos="172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erior texto a dos colum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texto 6"/>
          <p:cNvSpPr>
            <a:spLocks noGrp="1"/>
          </p:cNvSpPr>
          <p:nvPr>
            <p:ph type="body" sz="quarter" idx="15"/>
          </p:nvPr>
        </p:nvSpPr>
        <p:spPr>
          <a:xfrm>
            <a:off x="630000" y="1512000"/>
            <a:ext cx="5400000" cy="3981600"/>
          </a:xfrm>
          <a:prstGeom prst="rect">
            <a:avLst/>
          </a:prstGeom>
        </p:spPr>
        <p:txBody>
          <a:bodyPr/>
          <a:lstStyle>
            <a:lvl1pPr>
              <a:buClr>
                <a:schemeClr val="accent1"/>
              </a:buClr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Clr>
                <a:schemeClr val="accent1"/>
              </a:buClr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Clr>
                <a:schemeClr val="accent1"/>
              </a:buClr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Clr>
                <a:schemeClr val="accent1"/>
              </a:buClr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Clr>
                <a:schemeClr val="accent1"/>
              </a:buClr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sz="quarter" idx="13" hasCustomPrompt="1"/>
          </p:nvPr>
        </p:nvSpPr>
        <p:spPr>
          <a:xfrm>
            <a:off x="622800" y="284400"/>
            <a:ext cx="10980000" cy="5184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32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/>
              <a:t>Haga clic para insertar el título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14" hasCustomPrompt="1"/>
          </p:nvPr>
        </p:nvSpPr>
        <p:spPr>
          <a:xfrm>
            <a:off x="622800" y="864000"/>
            <a:ext cx="10980000" cy="3708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800" i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FontTx/>
              <a:buNone/>
              <a:defRPr sz="1800" i="1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FontTx/>
              <a:buNone/>
              <a:defRPr sz="1800" i="1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FontTx/>
              <a:buNone/>
              <a:defRPr sz="1800" i="1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FontTx/>
              <a:buNone/>
              <a:defRPr sz="1800" i="1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s-ES"/>
              <a:t>Haga clic para modificar el subtítulo</a:t>
            </a:r>
          </a:p>
        </p:txBody>
      </p:sp>
      <p:sp>
        <p:nvSpPr>
          <p:cNvPr id="6" name="Marcador de texto 6"/>
          <p:cNvSpPr>
            <a:spLocks noGrp="1"/>
          </p:cNvSpPr>
          <p:nvPr>
            <p:ph type="body" sz="quarter" idx="16"/>
          </p:nvPr>
        </p:nvSpPr>
        <p:spPr>
          <a:xfrm>
            <a:off x="6202800" y="1512000"/>
            <a:ext cx="5400000" cy="3981600"/>
          </a:xfrm>
          <a:prstGeom prst="rect">
            <a:avLst/>
          </a:prstGeom>
        </p:spPr>
        <p:txBody>
          <a:bodyPr/>
          <a:lstStyle>
            <a:lvl1pPr>
              <a:buClr>
                <a:schemeClr val="accent1"/>
              </a:buClr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Clr>
                <a:schemeClr val="accent1"/>
              </a:buClr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Clr>
                <a:schemeClr val="accent1"/>
              </a:buClr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Clr>
                <a:schemeClr val="accent1"/>
              </a:buClr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Clr>
                <a:schemeClr val="accent1"/>
              </a:buClr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pic>
        <p:nvPicPr>
          <p:cNvPr id="8" name="Gráfico 8">
            <a:extLst>
              <a:ext uri="{FF2B5EF4-FFF2-40B4-BE49-F238E27FC236}">
                <a16:creationId xmlns:a16="http://schemas.microsoft.com/office/drawing/2014/main" id="{9012236B-6821-499F-B6D4-F11EC0EF0C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2100" y="6280768"/>
            <a:ext cx="1896592" cy="332588"/>
          </a:xfrm>
          <a:prstGeom prst="rect">
            <a:avLst/>
          </a:prstGeom>
        </p:spPr>
      </p:pic>
      <p:sp>
        <p:nvSpPr>
          <p:cNvPr id="9" name="Marcador de número de diapositiva 5">
            <a:extLst>
              <a:ext uri="{FF2B5EF4-FFF2-40B4-BE49-F238E27FC236}">
                <a16:creationId xmlns:a16="http://schemas.microsoft.com/office/drawing/2014/main" id="{C60B320C-F93D-45A7-B5CC-5C18ED1F8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209600"/>
            <a:ext cx="2743200" cy="365125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95696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oleObject" Target="../embeddings/oleObject1.bin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ags" Target="../tags/tag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vmlDrawing" Target="../drawings/vmlDrawing1.v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to 6" hidden="1"/>
          <p:cNvGraphicFramePr>
            <a:graphicFrameLocks noChangeAspect="1"/>
          </p:cNvGraphicFramePr>
          <p:nvPr userDrawn="1">
            <p:custDataLst>
              <p:tags r:id="rId20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think-cell Slide" r:id="rId21" imgW="270" imgH="270" progId="TCLayout.ActiveDocument.1">
                  <p:embed/>
                </p:oleObj>
              </mc:Choice>
              <mc:Fallback>
                <p:oleObj name="think-cell Slide" r:id="rId21" imgW="270" imgH="270" progId="TCLayout.ActiveDocument.1">
                  <p:embed/>
                  <p:pic>
                    <p:nvPicPr>
                      <p:cNvPr id="7" name="Objeto 6" hidden="1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508141E-100E-4635-9FC3-353399DFC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0BD3726-4CCC-4808-AF74-D4FC34B77C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1 CuadroTexto"/>
          <p:cNvSpPr txBox="1"/>
          <p:nvPr userDrawn="1"/>
        </p:nvSpPr>
        <p:spPr>
          <a:xfrm>
            <a:off x="10845800" y="6265203"/>
            <a:ext cx="508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BD759F66-99BC-4AB1-83F8-8F582847D04F}" type="slidenum">
              <a:rPr lang="es-ES" sz="1000" b="1">
                <a:solidFill>
                  <a:srgbClr val="FF0000"/>
                </a:solidFill>
              </a:rPr>
              <a:pPr algn="ctr"/>
              <a:t>‹#›</a:t>
            </a:fld>
            <a:endParaRPr lang="es-ES" sz="1000"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1318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0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package" Target="../embeddings/Microsoft_Excel_Macro-Enabled_DD50EE78.xlsm"/><Relationship Id="rId3" Type="http://schemas.openxmlformats.org/officeDocument/2006/relationships/notesSlide" Target="../notesSlides/notesSlide2.xml"/><Relationship Id="rId7" Type="http://schemas.microsoft.com/office/2007/relationships/hdphoto" Target="../media/hdphoto1.wdp"/><Relationship Id="rId2" Type="http://schemas.openxmlformats.org/officeDocument/2006/relationships/slideLayout" Target="../slideLayouts/slideLayout16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slide" Target="slide7.xml"/><Relationship Id="rId9" Type="http://schemas.openxmlformats.org/officeDocument/2006/relationships/image" Target="../media/image11.e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notesSlide" Target="../notesSlides/notesSlide3.xml"/><Relationship Id="rId7" Type="http://schemas.microsoft.com/office/2007/relationships/hdphoto" Target="../media/hdphoto2.wdp"/><Relationship Id="rId2" Type="http://schemas.openxmlformats.org/officeDocument/2006/relationships/slideLayout" Target="../slideLayouts/slideLayout16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15.png"/><Relationship Id="rId11" Type="http://schemas.openxmlformats.org/officeDocument/2006/relationships/image" Target="../media/image14.emf"/><Relationship Id="rId5" Type="http://schemas.openxmlformats.org/officeDocument/2006/relationships/image" Target="../media/image12.png"/><Relationship Id="rId10" Type="http://schemas.openxmlformats.org/officeDocument/2006/relationships/package" Target="../embeddings/Microsoft_Excel_Worksheet_BC59D3B6.xlsx"/><Relationship Id="rId4" Type="http://schemas.openxmlformats.org/officeDocument/2006/relationships/slide" Target="slide6.xml"/><Relationship Id="rId9" Type="http://schemas.microsoft.com/office/2007/relationships/hdphoto" Target="../media/hdphoto3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7" Type="http://schemas.openxmlformats.org/officeDocument/2006/relationships/image" Target="../media/image18.emf"/><Relationship Id="rId2" Type="http://schemas.openxmlformats.org/officeDocument/2006/relationships/slideLayout" Target="../slideLayouts/slideLayout16.xml"/><Relationship Id="rId1" Type="http://schemas.openxmlformats.org/officeDocument/2006/relationships/vmlDrawing" Target="../drawings/vmlDrawing12.vml"/><Relationship Id="rId6" Type="http://schemas.openxmlformats.org/officeDocument/2006/relationships/package" Target="../embeddings/Microsoft_Excel_Worksheet_933F4B77.xlsx"/><Relationship Id="rId5" Type="http://schemas.openxmlformats.org/officeDocument/2006/relationships/image" Target="../media/image17.emf"/><Relationship Id="rId4" Type="http://schemas.openxmlformats.org/officeDocument/2006/relationships/package" Target="../embeddings/Microsoft_Excel_Macro-Enabled_1DAD290B.xlsm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40447380-3E61-4E42-AFCA-CAF1866AAF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8998" y="1268756"/>
            <a:ext cx="4756278" cy="2908607"/>
          </a:xfrm>
        </p:spPr>
        <p:txBody>
          <a:bodyPr anchor="t">
            <a:noAutofit/>
          </a:bodyPr>
          <a:lstStyle/>
          <a:p>
            <a:pPr defTabSz="684618">
              <a:lnSpc>
                <a:spcPct val="100000"/>
              </a:lnSpc>
              <a:spcAft>
                <a:spcPts val="1200"/>
              </a:spcAft>
              <a:tabLst>
                <a:tab pos="205981" algn="l"/>
              </a:tabLst>
              <a:defRPr/>
            </a:pPr>
            <a:r>
              <a:rPr lang="en-US" sz="3200">
                <a:latin typeface="Santander Headline" panose="020B0504020201020104" pitchFamily="34" charset="0"/>
              </a:rPr>
              <a:t>Structural Loan Tape</a:t>
            </a:r>
            <a:br>
              <a:rPr lang="en-US" sz="3200">
                <a:latin typeface="Santander Headline" panose="020B0504020201020104" pitchFamily="34" charset="0"/>
              </a:rPr>
            </a:br>
            <a:br>
              <a:rPr lang="en-US" sz="3200">
                <a:latin typeface="Santander Headline" panose="020B0504020201020104" pitchFamily="34" charset="0"/>
              </a:rPr>
            </a:br>
            <a:r>
              <a:rPr lang="en-US" sz="2400" b="1">
                <a:solidFill>
                  <a:schemeClr val="tx1"/>
                </a:solidFill>
                <a:latin typeface="Santander Headline" panose="020B0504020201020104" pitchFamily="34" charset="0"/>
              </a:rPr>
              <a:t>Perimeter</a:t>
            </a:r>
            <a:endParaRPr lang="es-ES" sz="2400" b="1">
              <a:solidFill>
                <a:schemeClr val="tx1"/>
              </a:solidFill>
              <a:latin typeface="Santander Headline" panose="020B0504020201020104" pitchFamily="34" charset="0"/>
            </a:endParaRPr>
          </a:p>
        </p:txBody>
      </p:sp>
      <p:sp>
        <p:nvSpPr>
          <p:cNvPr id="7" name="Subtítulo 6">
            <a:extLst>
              <a:ext uri="{FF2B5EF4-FFF2-40B4-BE49-F238E27FC236}">
                <a16:creationId xmlns:a16="http://schemas.microsoft.com/office/drawing/2014/main" id="{D184A763-02A6-4822-A5F0-D9E80A5D80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1745" y="3405536"/>
            <a:ext cx="4934309" cy="2436454"/>
          </a:xfrm>
        </p:spPr>
        <p:txBody>
          <a:bodyPr anchor="t"/>
          <a:lstStyle/>
          <a:p>
            <a:pPr defTabSz="684618">
              <a:tabLst>
                <a:tab pos="205981" algn="l"/>
              </a:tabLst>
              <a:defRPr/>
            </a:pPr>
            <a:r>
              <a:rPr lang="es-ES" kern="0">
                <a:solidFill>
                  <a:srgbClr val="3C3C3B"/>
                </a:solidFill>
                <a:latin typeface="Santander Headline" panose="020B0504020201020104" pitchFamily="34" charset="0"/>
              </a:rPr>
              <a:t>June 2021</a:t>
            </a:r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 rotWithShape="1">
          <a:blip r:embed="rId3"/>
          <a:srcRect r="56641" b="-4336"/>
          <a:stretch/>
        </p:blipFill>
        <p:spPr>
          <a:xfrm>
            <a:off x="721745" y="5628220"/>
            <a:ext cx="2010822" cy="666254"/>
          </a:xfrm>
          <a:prstGeom prst="rect">
            <a:avLst/>
          </a:prstGeom>
        </p:spPr>
      </p:pic>
      <p:pic>
        <p:nvPicPr>
          <p:cNvPr id="3" name="Marcador de posición de imagen 2"/>
          <p:cNvPicPr>
            <a:picLocks noGrp="1" noChangeAspect="1"/>
          </p:cNvPicPr>
          <p:nvPr>
            <p:ph type="pic" sz="quarter" idx="13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32" b="15332"/>
          <a:stretch>
            <a:fillRect/>
          </a:stretch>
        </p:blipFill>
        <p:spPr>
          <a:xfrm>
            <a:off x="0" y="1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11225728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TextBox 1032">
            <a:extLst>
              <a:ext uri="{FF2B5EF4-FFF2-40B4-BE49-F238E27FC236}">
                <a16:creationId xmlns:a16="http://schemas.microsoft.com/office/drawing/2014/main" id="{AE7FED07-965B-476A-B064-17629599E7A9}"/>
              </a:ext>
            </a:extLst>
          </p:cNvPr>
          <p:cNvSpPr txBox="1"/>
          <p:nvPr/>
        </p:nvSpPr>
        <p:spPr>
          <a:xfrm>
            <a:off x="-1385766" y="5841100"/>
            <a:ext cx="21672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900"/>
              <a:t>.</a:t>
            </a:r>
          </a:p>
        </p:txBody>
      </p:sp>
      <p:sp>
        <p:nvSpPr>
          <p:cNvPr id="13" name="Rectángulo 12"/>
          <p:cNvSpPr/>
          <p:nvPr/>
        </p:nvSpPr>
        <p:spPr>
          <a:xfrm>
            <a:off x="354000" y="184614"/>
            <a:ext cx="11484000" cy="684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>
                <a:solidFill>
                  <a:schemeClr val="accent1"/>
                </a:solidFill>
              </a:rPr>
              <a:t>Proposed approach– Perimeter</a:t>
            </a:r>
          </a:p>
          <a:p>
            <a:r>
              <a:rPr lang="es-ES" sz="200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49F5D3-CEB6-4F34-A8C0-9146135DAEFA}"/>
              </a:ext>
            </a:extLst>
          </p:cNvPr>
          <p:cNvSpPr txBox="1"/>
          <p:nvPr/>
        </p:nvSpPr>
        <p:spPr>
          <a:xfrm>
            <a:off x="712785" y="668834"/>
            <a:ext cx="1032041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rgbClr val="C00000"/>
              </a:buClr>
            </a:pPr>
            <a:r>
              <a:rPr lang="en-US" sz="1400">
                <a:latin typeface="Santander Text"/>
              </a:rPr>
              <a:t>The </a:t>
            </a:r>
            <a:r>
              <a:rPr lang="en-US" sz="1400" b="1">
                <a:latin typeface="Santander Text"/>
              </a:rPr>
              <a:t>instructions</a:t>
            </a:r>
            <a:r>
              <a:rPr lang="en-US" sz="1400">
                <a:latin typeface="Santander Text"/>
              </a:rPr>
              <a:t> of the structural LT provided by the </a:t>
            </a:r>
            <a:r>
              <a:rPr lang="en-US" sz="1400" b="1">
                <a:latin typeface="Santander Text"/>
              </a:rPr>
              <a:t>ECB relate the perimeter of the LT portfolios with the </a:t>
            </a:r>
            <a:r>
              <a:rPr lang="en-US" sz="1400" b="1" err="1">
                <a:latin typeface="Santander Text"/>
              </a:rPr>
              <a:t>FinRep</a:t>
            </a:r>
            <a:r>
              <a:rPr lang="en-US" sz="1400" b="1">
                <a:latin typeface="Santander Text"/>
              </a:rPr>
              <a:t> 18 (NOPER Annex), </a:t>
            </a:r>
            <a:r>
              <a:rPr lang="en-US" sz="1400">
                <a:latin typeface="Santander Text"/>
              </a:rPr>
              <a:t>therefore the </a:t>
            </a:r>
            <a:r>
              <a:rPr lang="en-US" sz="1400" b="1">
                <a:latin typeface="Santander Text"/>
              </a:rPr>
              <a:t>identification of the contracts within the scope of the LT will start from the NOPER Annex.</a:t>
            </a:r>
          </a:p>
          <a:p>
            <a:pPr>
              <a:buClr>
                <a:srgbClr val="C00000"/>
              </a:buClr>
            </a:pPr>
            <a:endParaRPr lang="en-US" sz="400">
              <a:latin typeface="Santander Text"/>
            </a:endParaRPr>
          </a:p>
          <a:p>
            <a:pPr>
              <a:buClr>
                <a:srgbClr val="C00000"/>
              </a:buClr>
            </a:pPr>
            <a:r>
              <a:rPr lang="en-US" sz="1200">
                <a:latin typeface="Santander Text"/>
              </a:rPr>
              <a:t>The table below details the lines of F.18 / NOPER Annex under the scope of the LT: </a:t>
            </a:r>
          </a:p>
        </p:txBody>
      </p:sp>
      <p:graphicFrame>
        <p:nvGraphicFramePr>
          <p:cNvPr id="64" name="Tabla 11">
            <a:extLst>
              <a:ext uri="{FF2B5EF4-FFF2-40B4-BE49-F238E27FC236}">
                <a16:creationId xmlns:a16="http://schemas.microsoft.com/office/drawing/2014/main" id="{4623F78B-35F7-4E53-8402-CD2DCA8BB4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6973742"/>
              </p:ext>
            </p:extLst>
          </p:nvPr>
        </p:nvGraphicFramePr>
        <p:xfrm>
          <a:off x="7785839" y="3350137"/>
          <a:ext cx="2489801" cy="2631648"/>
        </p:xfrm>
        <a:graphic>
          <a:graphicData uri="http://schemas.openxmlformats.org/drawingml/2006/table">
            <a:tbl>
              <a:tblPr/>
              <a:tblGrid>
                <a:gridCol w="24898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4518"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 noProof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938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1" i="0" u="none" strike="noStrike" noProof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OFF-BALANCE SHEET EXPOSURES (550)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938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1" i="0" u="none" strike="noStrike" noProof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  Loan commitments given (340)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938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noProof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    General governments (360)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8938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noProof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    Credit institutions (370)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8938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noProof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    Other financial corporations (380)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8938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noProof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    Non-financial corporations (390)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18938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noProof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    Households (400)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18938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1" i="0" u="none" strike="noStrike" noProof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  Financial guarantees given (410)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18938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noProof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    General governments (430)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5506091"/>
                  </a:ext>
                </a:extLst>
              </a:tr>
              <a:tr h="118938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noProof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    Credit institutions (440)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18938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noProof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    Other financial corporations (450)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57579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noProof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    Non-financial corporations (460)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18938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noProof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    Households (470)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18938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1" i="0" u="none" strike="noStrike" noProof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  Other Commitments given (480)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18938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noProof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    General governments (500)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18938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noProof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    Credit institutions (510)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18938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noProof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    Other financial corporations (520)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18938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noProof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    Non-financial corporations (530)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18938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noProof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    Households (540)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  <p:sp>
        <p:nvSpPr>
          <p:cNvPr id="181" name="Freeform 1499">
            <a:extLst>
              <a:ext uri="{FF2B5EF4-FFF2-40B4-BE49-F238E27FC236}">
                <a16:creationId xmlns:a16="http://schemas.microsoft.com/office/drawing/2014/main" id="{3BCA7A8B-20AF-45F9-8AA3-CCEDF28349FF}"/>
              </a:ext>
            </a:extLst>
          </p:cNvPr>
          <p:cNvSpPr>
            <a:spLocks/>
          </p:cNvSpPr>
          <p:nvPr/>
        </p:nvSpPr>
        <p:spPr bwMode="auto">
          <a:xfrm>
            <a:off x="6806941" y="1570331"/>
            <a:ext cx="4226258" cy="1654155"/>
          </a:xfrm>
          <a:custGeom>
            <a:avLst/>
            <a:gdLst>
              <a:gd name="T0" fmla="*/ 48 w 202"/>
              <a:gd name="T1" fmla="*/ 167 h 179"/>
              <a:gd name="T2" fmla="*/ 31 w 202"/>
              <a:gd name="T3" fmla="*/ 173 h 179"/>
              <a:gd name="T4" fmla="*/ 25 w 202"/>
              <a:gd name="T5" fmla="*/ 162 h 179"/>
              <a:gd name="T6" fmla="*/ 13 w 202"/>
              <a:gd name="T7" fmla="*/ 168 h 179"/>
              <a:gd name="T8" fmla="*/ 14 w 202"/>
              <a:gd name="T9" fmla="*/ 152 h 179"/>
              <a:gd name="T10" fmla="*/ 16 w 202"/>
              <a:gd name="T11" fmla="*/ 143 h 179"/>
              <a:gd name="T12" fmla="*/ 12 w 202"/>
              <a:gd name="T13" fmla="*/ 137 h 179"/>
              <a:gd name="T14" fmla="*/ 25 w 202"/>
              <a:gd name="T15" fmla="*/ 120 h 179"/>
              <a:gd name="T16" fmla="*/ 7 w 202"/>
              <a:gd name="T17" fmla="*/ 130 h 179"/>
              <a:gd name="T18" fmla="*/ 13 w 202"/>
              <a:gd name="T19" fmla="*/ 112 h 179"/>
              <a:gd name="T20" fmla="*/ 28 w 202"/>
              <a:gd name="T21" fmla="*/ 84 h 179"/>
              <a:gd name="T22" fmla="*/ 12 w 202"/>
              <a:gd name="T23" fmla="*/ 93 h 179"/>
              <a:gd name="T24" fmla="*/ 8 w 202"/>
              <a:gd name="T25" fmla="*/ 79 h 179"/>
              <a:gd name="T26" fmla="*/ 8 w 202"/>
              <a:gd name="T27" fmla="*/ 72 h 179"/>
              <a:gd name="T28" fmla="*/ 12 w 202"/>
              <a:gd name="T29" fmla="*/ 57 h 179"/>
              <a:gd name="T30" fmla="*/ 10 w 202"/>
              <a:gd name="T31" fmla="*/ 46 h 179"/>
              <a:gd name="T32" fmla="*/ 22 w 202"/>
              <a:gd name="T33" fmla="*/ 25 h 179"/>
              <a:gd name="T34" fmla="*/ 10 w 202"/>
              <a:gd name="T35" fmla="*/ 30 h 179"/>
              <a:gd name="T36" fmla="*/ 28 w 202"/>
              <a:gd name="T37" fmla="*/ 6 h 179"/>
              <a:gd name="T38" fmla="*/ 41 w 202"/>
              <a:gd name="T39" fmla="*/ 4 h 179"/>
              <a:gd name="T40" fmla="*/ 51 w 202"/>
              <a:gd name="T41" fmla="*/ 3 h 179"/>
              <a:gd name="T42" fmla="*/ 61 w 202"/>
              <a:gd name="T43" fmla="*/ 3 h 179"/>
              <a:gd name="T44" fmla="*/ 77 w 202"/>
              <a:gd name="T45" fmla="*/ 0 h 179"/>
              <a:gd name="T46" fmla="*/ 66 w 202"/>
              <a:gd name="T47" fmla="*/ 25 h 179"/>
              <a:gd name="T48" fmla="*/ 57 w 202"/>
              <a:gd name="T49" fmla="*/ 37 h 179"/>
              <a:gd name="T50" fmla="*/ 82 w 202"/>
              <a:gd name="T51" fmla="*/ 12 h 179"/>
              <a:gd name="T52" fmla="*/ 99 w 202"/>
              <a:gd name="T53" fmla="*/ 9 h 179"/>
              <a:gd name="T54" fmla="*/ 105 w 202"/>
              <a:gd name="T55" fmla="*/ 10 h 179"/>
              <a:gd name="T56" fmla="*/ 108 w 202"/>
              <a:gd name="T57" fmla="*/ 16 h 179"/>
              <a:gd name="T58" fmla="*/ 121 w 202"/>
              <a:gd name="T59" fmla="*/ 12 h 179"/>
              <a:gd name="T60" fmla="*/ 134 w 202"/>
              <a:gd name="T61" fmla="*/ 6 h 179"/>
              <a:gd name="T62" fmla="*/ 138 w 202"/>
              <a:gd name="T63" fmla="*/ 13 h 179"/>
              <a:gd name="T64" fmla="*/ 143 w 202"/>
              <a:gd name="T65" fmla="*/ 19 h 179"/>
              <a:gd name="T66" fmla="*/ 156 w 202"/>
              <a:gd name="T67" fmla="*/ 13 h 179"/>
              <a:gd name="T68" fmla="*/ 167 w 202"/>
              <a:gd name="T69" fmla="*/ 16 h 179"/>
              <a:gd name="T70" fmla="*/ 189 w 202"/>
              <a:gd name="T71" fmla="*/ 17 h 179"/>
              <a:gd name="T72" fmla="*/ 191 w 202"/>
              <a:gd name="T73" fmla="*/ 35 h 179"/>
              <a:gd name="T74" fmla="*/ 188 w 202"/>
              <a:gd name="T75" fmla="*/ 54 h 179"/>
              <a:gd name="T76" fmla="*/ 198 w 202"/>
              <a:gd name="T77" fmla="*/ 45 h 179"/>
              <a:gd name="T78" fmla="*/ 198 w 202"/>
              <a:gd name="T79" fmla="*/ 58 h 179"/>
              <a:gd name="T80" fmla="*/ 192 w 202"/>
              <a:gd name="T81" fmla="*/ 77 h 179"/>
              <a:gd name="T82" fmla="*/ 187 w 202"/>
              <a:gd name="T83" fmla="*/ 90 h 179"/>
              <a:gd name="T84" fmla="*/ 173 w 202"/>
              <a:gd name="T85" fmla="*/ 119 h 179"/>
              <a:gd name="T86" fmla="*/ 185 w 202"/>
              <a:gd name="T87" fmla="*/ 118 h 179"/>
              <a:gd name="T88" fmla="*/ 189 w 202"/>
              <a:gd name="T89" fmla="*/ 114 h 179"/>
              <a:gd name="T90" fmla="*/ 190 w 202"/>
              <a:gd name="T91" fmla="*/ 131 h 179"/>
              <a:gd name="T92" fmla="*/ 188 w 202"/>
              <a:gd name="T93" fmla="*/ 145 h 179"/>
              <a:gd name="T94" fmla="*/ 182 w 202"/>
              <a:gd name="T95" fmla="*/ 165 h 179"/>
              <a:gd name="T96" fmla="*/ 166 w 202"/>
              <a:gd name="T97" fmla="*/ 168 h 179"/>
              <a:gd name="T98" fmla="*/ 155 w 202"/>
              <a:gd name="T99" fmla="*/ 166 h 179"/>
              <a:gd name="T100" fmla="*/ 144 w 202"/>
              <a:gd name="T101" fmla="*/ 173 h 179"/>
              <a:gd name="T102" fmla="*/ 126 w 202"/>
              <a:gd name="T103" fmla="*/ 176 h 179"/>
              <a:gd name="T104" fmla="*/ 150 w 202"/>
              <a:gd name="T105" fmla="*/ 148 h 179"/>
              <a:gd name="T106" fmla="*/ 118 w 202"/>
              <a:gd name="T107" fmla="*/ 175 h 179"/>
              <a:gd name="T108" fmla="*/ 112 w 202"/>
              <a:gd name="T109" fmla="*/ 161 h 179"/>
              <a:gd name="T110" fmla="*/ 90 w 202"/>
              <a:gd name="T111" fmla="*/ 171 h 179"/>
              <a:gd name="T112" fmla="*/ 74 w 202"/>
              <a:gd name="T113" fmla="*/ 172 h 179"/>
              <a:gd name="T114" fmla="*/ 82 w 202"/>
              <a:gd name="T115" fmla="*/ 157 h 179"/>
              <a:gd name="T116" fmla="*/ 57 w 202"/>
              <a:gd name="T117" fmla="*/ 169 h 1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202" h="179">
                <a:moveTo>
                  <a:pt x="56" y="166"/>
                </a:moveTo>
                <a:cubicBezTo>
                  <a:pt x="55" y="167"/>
                  <a:pt x="55" y="167"/>
                  <a:pt x="55" y="168"/>
                </a:cubicBezTo>
                <a:cubicBezTo>
                  <a:pt x="54" y="169"/>
                  <a:pt x="53" y="168"/>
                  <a:pt x="52" y="168"/>
                </a:cubicBezTo>
                <a:cubicBezTo>
                  <a:pt x="52" y="167"/>
                  <a:pt x="52" y="167"/>
                  <a:pt x="52" y="167"/>
                </a:cubicBezTo>
                <a:cubicBezTo>
                  <a:pt x="50" y="164"/>
                  <a:pt x="50" y="164"/>
                  <a:pt x="48" y="167"/>
                </a:cubicBezTo>
                <a:cubicBezTo>
                  <a:pt x="46" y="169"/>
                  <a:pt x="44" y="169"/>
                  <a:pt x="42" y="167"/>
                </a:cubicBezTo>
                <a:cubicBezTo>
                  <a:pt x="42" y="166"/>
                  <a:pt x="42" y="166"/>
                  <a:pt x="42" y="165"/>
                </a:cubicBezTo>
                <a:cubicBezTo>
                  <a:pt x="40" y="166"/>
                  <a:pt x="38" y="167"/>
                  <a:pt x="37" y="169"/>
                </a:cubicBezTo>
                <a:cubicBezTo>
                  <a:pt x="35" y="170"/>
                  <a:pt x="34" y="171"/>
                  <a:pt x="32" y="172"/>
                </a:cubicBezTo>
                <a:cubicBezTo>
                  <a:pt x="32" y="173"/>
                  <a:pt x="32" y="173"/>
                  <a:pt x="31" y="173"/>
                </a:cubicBezTo>
                <a:cubicBezTo>
                  <a:pt x="31" y="173"/>
                  <a:pt x="31" y="175"/>
                  <a:pt x="30" y="174"/>
                </a:cubicBezTo>
                <a:cubicBezTo>
                  <a:pt x="28" y="174"/>
                  <a:pt x="27" y="174"/>
                  <a:pt x="26" y="172"/>
                </a:cubicBezTo>
                <a:cubicBezTo>
                  <a:pt x="26" y="170"/>
                  <a:pt x="25" y="169"/>
                  <a:pt x="26" y="168"/>
                </a:cubicBezTo>
                <a:cubicBezTo>
                  <a:pt x="27" y="168"/>
                  <a:pt x="27" y="167"/>
                  <a:pt x="26" y="167"/>
                </a:cubicBezTo>
                <a:cubicBezTo>
                  <a:pt x="25" y="166"/>
                  <a:pt x="25" y="164"/>
                  <a:pt x="25" y="162"/>
                </a:cubicBezTo>
                <a:cubicBezTo>
                  <a:pt x="24" y="163"/>
                  <a:pt x="23" y="164"/>
                  <a:pt x="22" y="165"/>
                </a:cubicBezTo>
                <a:cubicBezTo>
                  <a:pt x="22" y="166"/>
                  <a:pt x="21" y="167"/>
                  <a:pt x="20" y="166"/>
                </a:cubicBezTo>
                <a:cubicBezTo>
                  <a:pt x="19" y="165"/>
                  <a:pt x="18" y="165"/>
                  <a:pt x="17" y="167"/>
                </a:cubicBezTo>
                <a:cubicBezTo>
                  <a:pt x="17" y="167"/>
                  <a:pt x="16" y="168"/>
                  <a:pt x="15" y="168"/>
                </a:cubicBezTo>
                <a:cubicBezTo>
                  <a:pt x="14" y="170"/>
                  <a:pt x="13" y="169"/>
                  <a:pt x="13" y="168"/>
                </a:cubicBezTo>
                <a:cubicBezTo>
                  <a:pt x="11" y="167"/>
                  <a:pt x="10" y="164"/>
                  <a:pt x="12" y="162"/>
                </a:cubicBezTo>
                <a:cubicBezTo>
                  <a:pt x="14" y="160"/>
                  <a:pt x="17" y="157"/>
                  <a:pt x="20" y="155"/>
                </a:cubicBezTo>
                <a:cubicBezTo>
                  <a:pt x="20" y="155"/>
                  <a:pt x="20" y="154"/>
                  <a:pt x="20" y="154"/>
                </a:cubicBezTo>
                <a:cubicBezTo>
                  <a:pt x="19" y="155"/>
                  <a:pt x="18" y="155"/>
                  <a:pt x="17" y="156"/>
                </a:cubicBezTo>
                <a:cubicBezTo>
                  <a:pt x="16" y="155"/>
                  <a:pt x="15" y="153"/>
                  <a:pt x="14" y="152"/>
                </a:cubicBezTo>
                <a:cubicBezTo>
                  <a:pt x="14" y="151"/>
                  <a:pt x="15" y="150"/>
                  <a:pt x="16" y="149"/>
                </a:cubicBezTo>
                <a:cubicBezTo>
                  <a:pt x="17" y="148"/>
                  <a:pt x="19" y="146"/>
                  <a:pt x="21" y="145"/>
                </a:cubicBezTo>
                <a:cubicBezTo>
                  <a:pt x="21" y="144"/>
                  <a:pt x="21" y="144"/>
                  <a:pt x="21" y="143"/>
                </a:cubicBezTo>
                <a:cubicBezTo>
                  <a:pt x="20" y="142"/>
                  <a:pt x="19" y="140"/>
                  <a:pt x="20" y="139"/>
                </a:cubicBezTo>
                <a:cubicBezTo>
                  <a:pt x="19" y="140"/>
                  <a:pt x="17" y="141"/>
                  <a:pt x="16" y="143"/>
                </a:cubicBezTo>
                <a:cubicBezTo>
                  <a:pt x="13" y="145"/>
                  <a:pt x="11" y="147"/>
                  <a:pt x="8" y="149"/>
                </a:cubicBezTo>
                <a:cubicBezTo>
                  <a:pt x="7" y="150"/>
                  <a:pt x="7" y="151"/>
                  <a:pt x="6" y="152"/>
                </a:cubicBezTo>
                <a:cubicBezTo>
                  <a:pt x="5" y="153"/>
                  <a:pt x="3" y="153"/>
                  <a:pt x="2" y="151"/>
                </a:cubicBezTo>
                <a:cubicBezTo>
                  <a:pt x="0" y="149"/>
                  <a:pt x="1" y="147"/>
                  <a:pt x="3" y="145"/>
                </a:cubicBezTo>
                <a:cubicBezTo>
                  <a:pt x="6" y="142"/>
                  <a:pt x="9" y="140"/>
                  <a:pt x="12" y="137"/>
                </a:cubicBezTo>
                <a:cubicBezTo>
                  <a:pt x="14" y="135"/>
                  <a:pt x="16" y="133"/>
                  <a:pt x="17" y="131"/>
                </a:cubicBezTo>
                <a:cubicBezTo>
                  <a:pt x="19" y="129"/>
                  <a:pt x="20" y="127"/>
                  <a:pt x="21" y="126"/>
                </a:cubicBezTo>
                <a:cubicBezTo>
                  <a:pt x="24" y="124"/>
                  <a:pt x="26" y="122"/>
                  <a:pt x="29" y="119"/>
                </a:cubicBezTo>
                <a:cubicBezTo>
                  <a:pt x="30" y="118"/>
                  <a:pt x="30" y="118"/>
                  <a:pt x="29" y="117"/>
                </a:cubicBezTo>
                <a:cubicBezTo>
                  <a:pt x="28" y="118"/>
                  <a:pt x="26" y="119"/>
                  <a:pt x="25" y="120"/>
                </a:cubicBezTo>
                <a:cubicBezTo>
                  <a:pt x="23" y="123"/>
                  <a:pt x="20" y="126"/>
                  <a:pt x="18" y="128"/>
                </a:cubicBezTo>
                <a:cubicBezTo>
                  <a:pt x="16" y="130"/>
                  <a:pt x="14" y="132"/>
                  <a:pt x="13" y="134"/>
                </a:cubicBezTo>
                <a:cubicBezTo>
                  <a:pt x="12" y="134"/>
                  <a:pt x="12" y="134"/>
                  <a:pt x="12" y="134"/>
                </a:cubicBezTo>
                <a:cubicBezTo>
                  <a:pt x="11" y="136"/>
                  <a:pt x="11" y="136"/>
                  <a:pt x="9" y="135"/>
                </a:cubicBezTo>
                <a:cubicBezTo>
                  <a:pt x="7" y="135"/>
                  <a:pt x="6" y="132"/>
                  <a:pt x="7" y="130"/>
                </a:cubicBezTo>
                <a:cubicBezTo>
                  <a:pt x="8" y="129"/>
                  <a:pt x="8" y="128"/>
                  <a:pt x="7" y="128"/>
                </a:cubicBezTo>
                <a:cubicBezTo>
                  <a:pt x="6" y="127"/>
                  <a:pt x="6" y="125"/>
                  <a:pt x="6" y="124"/>
                </a:cubicBezTo>
                <a:cubicBezTo>
                  <a:pt x="7" y="121"/>
                  <a:pt x="9" y="119"/>
                  <a:pt x="11" y="117"/>
                </a:cubicBezTo>
                <a:cubicBezTo>
                  <a:pt x="12" y="115"/>
                  <a:pt x="13" y="114"/>
                  <a:pt x="14" y="113"/>
                </a:cubicBezTo>
                <a:cubicBezTo>
                  <a:pt x="14" y="113"/>
                  <a:pt x="14" y="113"/>
                  <a:pt x="13" y="112"/>
                </a:cubicBezTo>
                <a:cubicBezTo>
                  <a:pt x="10" y="111"/>
                  <a:pt x="10" y="108"/>
                  <a:pt x="12" y="105"/>
                </a:cubicBezTo>
                <a:cubicBezTo>
                  <a:pt x="16" y="101"/>
                  <a:pt x="19" y="97"/>
                  <a:pt x="22" y="93"/>
                </a:cubicBezTo>
                <a:cubicBezTo>
                  <a:pt x="24" y="92"/>
                  <a:pt x="25" y="90"/>
                  <a:pt x="26" y="88"/>
                </a:cubicBezTo>
                <a:cubicBezTo>
                  <a:pt x="27" y="87"/>
                  <a:pt x="27" y="86"/>
                  <a:pt x="28" y="85"/>
                </a:cubicBezTo>
                <a:cubicBezTo>
                  <a:pt x="28" y="85"/>
                  <a:pt x="28" y="84"/>
                  <a:pt x="28" y="84"/>
                </a:cubicBezTo>
                <a:cubicBezTo>
                  <a:pt x="26" y="86"/>
                  <a:pt x="24" y="88"/>
                  <a:pt x="23" y="90"/>
                </a:cubicBezTo>
                <a:cubicBezTo>
                  <a:pt x="21" y="92"/>
                  <a:pt x="19" y="95"/>
                  <a:pt x="17" y="97"/>
                </a:cubicBezTo>
                <a:cubicBezTo>
                  <a:pt x="17" y="97"/>
                  <a:pt x="17" y="98"/>
                  <a:pt x="17" y="98"/>
                </a:cubicBezTo>
                <a:cubicBezTo>
                  <a:pt x="15" y="98"/>
                  <a:pt x="12" y="96"/>
                  <a:pt x="12" y="94"/>
                </a:cubicBezTo>
                <a:cubicBezTo>
                  <a:pt x="12" y="94"/>
                  <a:pt x="12" y="94"/>
                  <a:pt x="12" y="93"/>
                </a:cubicBezTo>
                <a:cubicBezTo>
                  <a:pt x="10" y="94"/>
                  <a:pt x="8" y="94"/>
                  <a:pt x="7" y="93"/>
                </a:cubicBezTo>
                <a:cubicBezTo>
                  <a:pt x="6" y="92"/>
                  <a:pt x="5" y="90"/>
                  <a:pt x="6" y="88"/>
                </a:cubicBezTo>
                <a:cubicBezTo>
                  <a:pt x="6" y="88"/>
                  <a:pt x="6" y="87"/>
                  <a:pt x="7" y="86"/>
                </a:cubicBezTo>
                <a:cubicBezTo>
                  <a:pt x="7" y="85"/>
                  <a:pt x="8" y="85"/>
                  <a:pt x="8" y="84"/>
                </a:cubicBezTo>
                <a:cubicBezTo>
                  <a:pt x="6" y="82"/>
                  <a:pt x="6" y="81"/>
                  <a:pt x="8" y="79"/>
                </a:cubicBezTo>
                <a:cubicBezTo>
                  <a:pt x="11" y="75"/>
                  <a:pt x="14" y="72"/>
                  <a:pt x="17" y="68"/>
                </a:cubicBezTo>
                <a:cubicBezTo>
                  <a:pt x="18" y="67"/>
                  <a:pt x="19" y="66"/>
                  <a:pt x="21" y="65"/>
                </a:cubicBezTo>
                <a:cubicBezTo>
                  <a:pt x="20" y="64"/>
                  <a:pt x="19" y="63"/>
                  <a:pt x="18" y="62"/>
                </a:cubicBezTo>
                <a:cubicBezTo>
                  <a:pt x="17" y="64"/>
                  <a:pt x="15" y="65"/>
                  <a:pt x="14" y="66"/>
                </a:cubicBezTo>
                <a:cubicBezTo>
                  <a:pt x="12" y="68"/>
                  <a:pt x="10" y="70"/>
                  <a:pt x="8" y="72"/>
                </a:cubicBezTo>
                <a:cubicBezTo>
                  <a:pt x="8" y="73"/>
                  <a:pt x="7" y="72"/>
                  <a:pt x="7" y="72"/>
                </a:cubicBezTo>
                <a:cubicBezTo>
                  <a:pt x="6" y="72"/>
                  <a:pt x="5" y="71"/>
                  <a:pt x="5" y="71"/>
                </a:cubicBezTo>
                <a:cubicBezTo>
                  <a:pt x="3" y="70"/>
                  <a:pt x="3" y="68"/>
                  <a:pt x="4" y="67"/>
                </a:cubicBezTo>
                <a:cubicBezTo>
                  <a:pt x="7" y="64"/>
                  <a:pt x="9" y="62"/>
                  <a:pt x="12" y="59"/>
                </a:cubicBezTo>
                <a:cubicBezTo>
                  <a:pt x="13" y="58"/>
                  <a:pt x="13" y="58"/>
                  <a:pt x="12" y="57"/>
                </a:cubicBezTo>
                <a:cubicBezTo>
                  <a:pt x="10" y="55"/>
                  <a:pt x="10" y="55"/>
                  <a:pt x="11" y="53"/>
                </a:cubicBezTo>
                <a:cubicBezTo>
                  <a:pt x="12" y="52"/>
                  <a:pt x="12" y="51"/>
                  <a:pt x="13" y="50"/>
                </a:cubicBezTo>
                <a:cubicBezTo>
                  <a:pt x="14" y="50"/>
                  <a:pt x="14" y="49"/>
                  <a:pt x="13" y="48"/>
                </a:cubicBezTo>
                <a:cubicBezTo>
                  <a:pt x="13" y="48"/>
                  <a:pt x="12" y="48"/>
                  <a:pt x="12" y="48"/>
                </a:cubicBezTo>
                <a:cubicBezTo>
                  <a:pt x="11" y="47"/>
                  <a:pt x="11" y="46"/>
                  <a:pt x="10" y="46"/>
                </a:cubicBezTo>
                <a:cubicBezTo>
                  <a:pt x="9" y="45"/>
                  <a:pt x="9" y="43"/>
                  <a:pt x="10" y="42"/>
                </a:cubicBezTo>
                <a:cubicBezTo>
                  <a:pt x="13" y="38"/>
                  <a:pt x="16" y="34"/>
                  <a:pt x="19" y="30"/>
                </a:cubicBezTo>
                <a:cubicBezTo>
                  <a:pt x="21" y="28"/>
                  <a:pt x="22" y="26"/>
                  <a:pt x="23" y="25"/>
                </a:cubicBezTo>
                <a:cubicBezTo>
                  <a:pt x="23" y="25"/>
                  <a:pt x="23" y="24"/>
                  <a:pt x="23" y="24"/>
                </a:cubicBezTo>
                <a:cubicBezTo>
                  <a:pt x="23" y="25"/>
                  <a:pt x="22" y="25"/>
                  <a:pt x="22" y="25"/>
                </a:cubicBezTo>
                <a:cubicBezTo>
                  <a:pt x="21" y="26"/>
                  <a:pt x="21" y="28"/>
                  <a:pt x="19" y="27"/>
                </a:cubicBezTo>
                <a:cubicBezTo>
                  <a:pt x="18" y="27"/>
                  <a:pt x="17" y="28"/>
                  <a:pt x="17" y="29"/>
                </a:cubicBezTo>
                <a:cubicBezTo>
                  <a:pt x="15" y="30"/>
                  <a:pt x="15" y="31"/>
                  <a:pt x="14" y="32"/>
                </a:cubicBezTo>
                <a:cubicBezTo>
                  <a:pt x="13" y="32"/>
                  <a:pt x="12" y="33"/>
                  <a:pt x="12" y="32"/>
                </a:cubicBezTo>
                <a:cubicBezTo>
                  <a:pt x="11" y="32"/>
                  <a:pt x="10" y="31"/>
                  <a:pt x="10" y="30"/>
                </a:cubicBezTo>
                <a:cubicBezTo>
                  <a:pt x="8" y="29"/>
                  <a:pt x="9" y="28"/>
                  <a:pt x="10" y="27"/>
                </a:cubicBezTo>
                <a:cubicBezTo>
                  <a:pt x="11" y="26"/>
                  <a:pt x="12" y="24"/>
                  <a:pt x="13" y="23"/>
                </a:cubicBezTo>
                <a:cubicBezTo>
                  <a:pt x="13" y="23"/>
                  <a:pt x="13" y="23"/>
                  <a:pt x="13" y="22"/>
                </a:cubicBezTo>
                <a:cubicBezTo>
                  <a:pt x="13" y="20"/>
                  <a:pt x="14" y="19"/>
                  <a:pt x="15" y="18"/>
                </a:cubicBezTo>
                <a:cubicBezTo>
                  <a:pt x="19" y="14"/>
                  <a:pt x="24" y="10"/>
                  <a:pt x="28" y="6"/>
                </a:cubicBezTo>
                <a:cubicBezTo>
                  <a:pt x="29" y="4"/>
                  <a:pt x="32" y="3"/>
                  <a:pt x="33" y="1"/>
                </a:cubicBezTo>
                <a:cubicBezTo>
                  <a:pt x="34" y="0"/>
                  <a:pt x="36" y="1"/>
                  <a:pt x="37" y="3"/>
                </a:cubicBezTo>
                <a:cubicBezTo>
                  <a:pt x="37" y="3"/>
                  <a:pt x="37" y="4"/>
                  <a:pt x="37" y="4"/>
                </a:cubicBezTo>
                <a:cubicBezTo>
                  <a:pt x="37" y="5"/>
                  <a:pt x="38" y="6"/>
                  <a:pt x="39" y="4"/>
                </a:cubicBezTo>
                <a:cubicBezTo>
                  <a:pt x="40" y="3"/>
                  <a:pt x="41" y="3"/>
                  <a:pt x="41" y="4"/>
                </a:cubicBezTo>
                <a:cubicBezTo>
                  <a:pt x="42" y="4"/>
                  <a:pt x="43" y="5"/>
                  <a:pt x="43" y="6"/>
                </a:cubicBezTo>
                <a:cubicBezTo>
                  <a:pt x="44" y="7"/>
                  <a:pt x="44" y="8"/>
                  <a:pt x="44" y="9"/>
                </a:cubicBezTo>
                <a:cubicBezTo>
                  <a:pt x="45" y="8"/>
                  <a:pt x="47" y="7"/>
                  <a:pt x="48" y="5"/>
                </a:cubicBezTo>
                <a:cubicBezTo>
                  <a:pt x="48" y="5"/>
                  <a:pt x="49" y="4"/>
                  <a:pt x="49" y="4"/>
                </a:cubicBezTo>
                <a:cubicBezTo>
                  <a:pt x="50" y="4"/>
                  <a:pt x="51" y="3"/>
                  <a:pt x="51" y="3"/>
                </a:cubicBezTo>
                <a:cubicBezTo>
                  <a:pt x="52" y="3"/>
                  <a:pt x="53" y="4"/>
                  <a:pt x="53" y="5"/>
                </a:cubicBezTo>
                <a:cubicBezTo>
                  <a:pt x="53" y="5"/>
                  <a:pt x="53" y="6"/>
                  <a:pt x="54" y="7"/>
                </a:cubicBezTo>
                <a:cubicBezTo>
                  <a:pt x="55" y="5"/>
                  <a:pt x="56" y="4"/>
                  <a:pt x="57" y="3"/>
                </a:cubicBezTo>
                <a:cubicBezTo>
                  <a:pt x="57" y="2"/>
                  <a:pt x="58" y="2"/>
                  <a:pt x="59" y="2"/>
                </a:cubicBezTo>
                <a:cubicBezTo>
                  <a:pt x="60" y="1"/>
                  <a:pt x="61" y="2"/>
                  <a:pt x="61" y="3"/>
                </a:cubicBezTo>
                <a:cubicBezTo>
                  <a:pt x="61" y="4"/>
                  <a:pt x="62" y="5"/>
                  <a:pt x="62" y="6"/>
                </a:cubicBezTo>
                <a:cubicBezTo>
                  <a:pt x="63" y="6"/>
                  <a:pt x="63" y="5"/>
                  <a:pt x="64" y="5"/>
                </a:cubicBezTo>
                <a:cubicBezTo>
                  <a:pt x="66" y="4"/>
                  <a:pt x="67" y="5"/>
                  <a:pt x="67" y="7"/>
                </a:cubicBezTo>
                <a:cubicBezTo>
                  <a:pt x="67" y="8"/>
                  <a:pt x="68" y="9"/>
                  <a:pt x="68" y="11"/>
                </a:cubicBezTo>
                <a:cubicBezTo>
                  <a:pt x="71" y="7"/>
                  <a:pt x="74" y="4"/>
                  <a:pt x="77" y="0"/>
                </a:cubicBezTo>
                <a:cubicBezTo>
                  <a:pt x="78" y="0"/>
                  <a:pt x="79" y="0"/>
                  <a:pt x="80" y="0"/>
                </a:cubicBezTo>
                <a:cubicBezTo>
                  <a:pt x="82" y="3"/>
                  <a:pt x="82" y="5"/>
                  <a:pt x="80" y="8"/>
                </a:cubicBezTo>
                <a:cubicBezTo>
                  <a:pt x="78" y="11"/>
                  <a:pt x="76" y="12"/>
                  <a:pt x="75" y="14"/>
                </a:cubicBezTo>
                <a:cubicBezTo>
                  <a:pt x="73" y="17"/>
                  <a:pt x="71" y="19"/>
                  <a:pt x="69" y="21"/>
                </a:cubicBezTo>
                <a:cubicBezTo>
                  <a:pt x="68" y="22"/>
                  <a:pt x="67" y="24"/>
                  <a:pt x="66" y="25"/>
                </a:cubicBezTo>
                <a:cubicBezTo>
                  <a:pt x="66" y="26"/>
                  <a:pt x="65" y="26"/>
                  <a:pt x="65" y="27"/>
                </a:cubicBezTo>
                <a:cubicBezTo>
                  <a:pt x="64" y="28"/>
                  <a:pt x="63" y="28"/>
                  <a:pt x="63" y="29"/>
                </a:cubicBezTo>
                <a:cubicBezTo>
                  <a:pt x="62" y="30"/>
                  <a:pt x="62" y="30"/>
                  <a:pt x="62" y="31"/>
                </a:cubicBezTo>
                <a:cubicBezTo>
                  <a:pt x="60" y="33"/>
                  <a:pt x="58" y="35"/>
                  <a:pt x="56" y="37"/>
                </a:cubicBezTo>
                <a:cubicBezTo>
                  <a:pt x="56" y="37"/>
                  <a:pt x="57" y="37"/>
                  <a:pt x="57" y="37"/>
                </a:cubicBezTo>
                <a:cubicBezTo>
                  <a:pt x="58" y="36"/>
                  <a:pt x="60" y="35"/>
                  <a:pt x="61" y="33"/>
                </a:cubicBezTo>
                <a:cubicBezTo>
                  <a:pt x="64" y="30"/>
                  <a:pt x="66" y="27"/>
                  <a:pt x="69" y="24"/>
                </a:cubicBezTo>
                <a:cubicBezTo>
                  <a:pt x="72" y="20"/>
                  <a:pt x="75" y="17"/>
                  <a:pt x="78" y="14"/>
                </a:cubicBezTo>
                <a:cubicBezTo>
                  <a:pt x="79" y="13"/>
                  <a:pt x="79" y="12"/>
                  <a:pt x="80" y="12"/>
                </a:cubicBezTo>
                <a:cubicBezTo>
                  <a:pt x="80" y="12"/>
                  <a:pt x="81" y="12"/>
                  <a:pt x="82" y="12"/>
                </a:cubicBezTo>
                <a:cubicBezTo>
                  <a:pt x="83" y="13"/>
                  <a:pt x="84" y="12"/>
                  <a:pt x="84" y="12"/>
                </a:cubicBezTo>
                <a:cubicBezTo>
                  <a:pt x="87" y="9"/>
                  <a:pt x="89" y="6"/>
                  <a:pt x="92" y="3"/>
                </a:cubicBezTo>
                <a:cubicBezTo>
                  <a:pt x="92" y="2"/>
                  <a:pt x="93" y="2"/>
                  <a:pt x="94" y="3"/>
                </a:cubicBezTo>
                <a:cubicBezTo>
                  <a:pt x="96" y="4"/>
                  <a:pt x="98" y="4"/>
                  <a:pt x="99" y="6"/>
                </a:cubicBezTo>
                <a:cubicBezTo>
                  <a:pt x="99" y="7"/>
                  <a:pt x="100" y="8"/>
                  <a:pt x="99" y="9"/>
                </a:cubicBezTo>
                <a:cubicBezTo>
                  <a:pt x="99" y="10"/>
                  <a:pt x="99" y="10"/>
                  <a:pt x="98" y="11"/>
                </a:cubicBezTo>
                <a:cubicBezTo>
                  <a:pt x="98" y="11"/>
                  <a:pt x="98" y="12"/>
                  <a:pt x="98" y="12"/>
                </a:cubicBezTo>
                <a:cubicBezTo>
                  <a:pt x="99" y="12"/>
                  <a:pt x="99" y="12"/>
                  <a:pt x="99" y="12"/>
                </a:cubicBezTo>
                <a:cubicBezTo>
                  <a:pt x="100" y="12"/>
                  <a:pt x="101" y="11"/>
                  <a:pt x="102" y="10"/>
                </a:cubicBezTo>
                <a:cubicBezTo>
                  <a:pt x="103" y="9"/>
                  <a:pt x="104" y="9"/>
                  <a:pt x="105" y="10"/>
                </a:cubicBezTo>
                <a:cubicBezTo>
                  <a:pt x="105" y="10"/>
                  <a:pt x="105" y="10"/>
                  <a:pt x="106" y="11"/>
                </a:cubicBezTo>
                <a:cubicBezTo>
                  <a:pt x="108" y="13"/>
                  <a:pt x="107" y="15"/>
                  <a:pt x="106" y="17"/>
                </a:cubicBezTo>
                <a:cubicBezTo>
                  <a:pt x="105" y="17"/>
                  <a:pt x="105" y="18"/>
                  <a:pt x="105" y="19"/>
                </a:cubicBezTo>
                <a:cubicBezTo>
                  <a:pt x="105" y="19"/>
                  <a:pt x="105" y="19"/>
                  <a:pt x="105" y="19"/>
                </a:cubicBezTo>
                <a:cubicBezTo>
                  <a:pt x="106" y="18"/>
                  <a:pt x="107" y="17"/>
                  <a:pt x="108" y="16"/>
                </a:cubicBezTo>
                <a:cubicBezTo>
                  <a:pt x="111" y="13"/>
                  <a:pt x="114" y="9"/>
                  <a:pt x="117" y="6"/>
                </a:cubicBezTo>
                <a:cubicBezTo>
                  <a:pt x="118" y="5"/>
                  <a:pt x="119" y="4"/>
                  <a:pt x="120" y="4"/>
                </a:cubicBezTo>
                <a:cubicBezTo>
                  <a:pt x="121" y="4"/>
                  <a:pt x="121" y="4"/>
                  <a:pt x="122" y="5"/>
                </a:cubicBezTo>
                <a:cubicBezTo>
                  <a:pt x="122" y="5"/>
                  <a:pt x="122" y="5"/>
                  <a:pt x="122" y="5"/>
                </a:cubicBezTo>
                <a:cubicBezTo>
                  <a:pt x="125" y="8"/>
                  <a:pt x="122" y="10"/>
                  <a:pt x="121" y="12"/>
                </a:cubicBezTo>
                <a:cubicBezTo>
                  <a:pt x="119" y="14"/>
                  <a:pt x="118" y="16"/>
                  <a:pt x="116" y="18"/>
                </a:cubicBezTo>
                <a:cubicBezTo>
                  <a:pt x="117" y="19"/>
                  <a:pt x="117" y="19"/>
                  <a:pt x="117" y="20"/>
                </a:cubicBezTo>
                <a:cubicBezTo>
                  <a:pt x="120" y="17"/>
                  <a:pt x="122" y="14"/>
                  <a:pt x="124" y="12"/>
                </a:cubicBezTo>
                <a:cubicBezTo>
                  <a:pt x="126" y="10"/>
                  <a:pt x="128" y="8"/>
                  <a:pt x="130" y="6"/>
                </a:cubicBezTo>
                <a:cubicBezTo>
                  <a:pt x="132" y="4"/>
                  <a:pt x="133" y="4"/>
                  <a:pt x="134" y="6"/>
                </a:cubicBezTo>
                <a:cubicBezTo>
                  <a:pt x="136" y="9"/>
                  <a:pt x="136" y="9"/>
                  <a:pt x="134" y="11"/>
                </a:cubicBezTo>
                <a:cubicBezTo>
                  <a:pt x="133" y="13"/>
                  <a:pt x="131" y="15"/>
                  <a:pt x="130" y="17"/>
                </a:cubicBezTo>
                <a:cubicBezTo>
                  <a:pt x="130" y="18"/>
                  <a:pt x="131" y="18"/>
                  <a:pt x="131" y="19"/>
                </a:cubicBezTo>
                <a:cubicBezTo>
                  <a:pt x="132" y="20"/>
                  <a:pt x="133" y="20"/>
                  <a:pt x="133" y="19"/>
                </a:cubicBezTo>
                <a:cubicBezTo>
                  <a:pt x="135" y="17"/>
                  <a:pt x="137" y="15"/>
                  <a:pt x="138" y="13"/>
                </a:cubicBezTo>
                <a:cubicBezTo>
                  <a:pt x="139" y="11"/>
                  <a:pt x="141" y="11"/>
                  <a:pt x="142" y="13"/>
                </a:cubicBezTo>
                <a:cubicBezTo>
                  <a:pt x="144" y="16"/>
                  <a:pt x="144" y="18"/>
                  <a:pt x="141" y="21"/>
                </a:cubicBezTo>
                <a:cubicBezTo>
                  <a:pt x="141" y="21"/>
                  <a:pt x="140" y="22"/>
                  <a:pt x="140" y="22"/>
                </a:cubicBezTo>
                <a:cubicBezTo>
                  <a:pt x="140" y="22"/>
                  <a:pt x="140" y="22"/>
                  <a:pt x="140" y="22"/>
                </a:cubicBezTo>
                <a:cubicBezTo>
                  <a:pt x="141" y="21"/>
                  <a:pt x="142" y="20"/>
                  <a:pt x="143" y="19"/>
                </a:cubicBezTo>
                <a:cubicBezTo>
                  <a:pt x="144" y="17"/>
                  <a:pt x="146" y="15"/>
                  <a:pt x="147" y="13"/>
                </a:cubicBezTo>
                <a:cubicBezTo>
                  <a:pt x="148" y="12"/>
                  <a:pt x="148" y="12"/>
                  <a:pt x="148" y="11"/>
                </a:cubicBezTo>
                <a:cubicBezTo>
                  <a:pt x="149" y="9"/>
                  <a:pt x="151" y="9"/>
                  <a:pt x="152" y="11"/>
                </a:cubicBezTo>
                <a:cubicBezTo>
                  <a:pt x="153" y="12"/>
                  <a:pt x="153" y="13"/>
                  <a:pt x="154" y="14"/>
                </a:cubicBezTo>
                <a:cubicBezTo>
                  <a:pt x="155" y="13"/>
                  <a:pt x="155" y="13"/>
                  <a:pt x="156" y="13"/>
                </a:cubicBezTo>
                <a:cubicBezTo>
                  <a:pt x="158" y="11"/>
                  <a:pt x="159" y="11"/>
                  <a:pt x="160" y="13"/>
                </a:cubicBezTo>
                <a:cubicBezTo>
                  <a:pt x="161" y="14"/>
                  <a:pt x="161" y="14"/>
                  <a:pt x="162" y="15"/>
                </a:cubicBezTo>
                <a:cubicBezTo>
                  <a:pt x="162" y="16"/>
                  <a:pt x="162" y="16"/>
                  <a:pt x="162" y="17"/>
                </a:cubicBezTo>
                <a:cubicBezTo>
                  <a:pt x="162" y="18"/>
                  <a:pt x="162" y="18"/>
                  <a:pt x="161" y="19"/>
                </a:cubicBezTo>
                <a:cubicBezTo>
                  <a:pt x="163" y="18"/>
                  <a:pt x="165" y="17"/>
                  <a:pt x="167" y="16"/>
                </a:cubicBezTo>
                <a:cubicBezTo>
                  <a:pt x="168" y="14"/>
                  <a:pt x="169" y="12"/>
                  <a:pt x="170" y="11"/>
                </a:cubicBezTo>
                <a:cubicBezTo>
                  <a:pt x="171" y="8"/>
                  <a:pt x="173" y="8"/>
                  <a:pt x="175" y="10"/>
                </a:cubicBezTo>
                <a:cubicBezTo>
                  <a:pt x="176" y="10"/>
                  <a:pt x="176" y="11"/>
                  <a:pt x="177" y="12"/>
                </a:cubicBezTo>
                <a:cubicBezTo>
                  <a:pt x="180" y="9"/>
                  <a:pt x="181" y="13"/>
                  <a:pt x="183" y="14"/>
                </a:cubicBezTo>
                <a:cubicBezTo>
                  <a:pt x="185" y="13"/>
                  <a:pt x="188" y="15"/>
                  <a:pt x="189" y="17"/>
                </a:cubicBezTo>
                <a:cubicBezTo>
                  <a:pt x="189" y="17"/>
                  <a:pt x="189" y="17"/>
                  <a:pt x="189" y="17"/>
                </a:cubicBezTo>
                <a:cubicBezTo>
                  <a:pt x="192" y="20"/>
                  <a:pt x="189" y="23"/>
                  <a:pt x="189" y="25"/>
                </a:cubicBezTo>
                <a:cubicBezTo>
                  <a:pt x="189" y="26"/>
                  <a:pt x="190" y="27"/>
                  <a:pt x="189" y="28"/>
                </a:cubicBezTo>
                <a:cubicBezTo>
                  <a:pt x="189" y="28"/>
                  <a:pt x="189" y="29"/>
                  <a:pt x="190" y="29"/>
                </a:cubicBezTo>
                <a:cubicBezTo>
                  <a:pt x="193" y="31"/>
                  <a:pt x="193" y="32"/>
                  <a:pt x="191" y="35"/>
                </a:cubicBezTo>
                <a:cubicBezTo>
                  <a:pt x="190" y="37"/>
                  <a:pt x="189" y="39"/>
                  <a:pt x="188" y="41"/>
                </a:cubicBezTo>
                <a:cubicBezTo>
                  <a:pt x="189" y="42"/>
                  <a:pt x="192" y="39"/>
                  <a:pt x="192" y="37"/>
                </a:cubicBezTo>
                <a:cubicBezTo>
                  <a:pt x="194" y="36"/>
                  <a:pt x="195" y="37"/>
                  <a:pt x="196" y="39"/>
                </a:cubicBezTo>
                <a:cubicBezTo>
                  <a:pt x="197" y="40"/>
                  <a:pt x="196" y="41"/>
                  <a:pt x="196" y="42"/>
                </a:cubicBezTo>
                <a:cubicBezTo>
                  <a:pt x="193" y="46"/>
                  <a:pt x="191" y="50"/>
                  <a:pt x="188" y="54"/>
                </a:cubicBezTo>
                <a:cubicBezTo>
                  <a:pt x="187" y="56"/>
                  <a:pt x="186" y="58"/>
                  <a:pt x="184" y="61"/>
                </a:cubicBezTo>
                <a:cubicBezTo>
                  <a:pt x="185" y="60"/>
                  <a:pt x="185" y="60"/>
                  <a:pt x="185" y="60"/>
                </a:cubicBezTo>
                <a:cubicBezTo>
                  <a:pt x="187" y="57"/>
                  <a:pt x="189" y="55"/>
                  <a:pt x="191" y="53"/>
                </a:cubicBezTo>
                <a:cubicBezTo>
                  <a:pt x="193" y="51"/>
                  <a:pt x="195" y="48"/>
                  <a:pt x="197" y="46"/>
                </a:cubicBezTo>
                <a:cubicBezTo>
                  <a:pt x="197" y="45"/>
                  <a:pt x="198" y="45"/>
                  <a:pt x="198" y="45"/>
                </a:cubicBezTo>
                <a:cubicBezTo>
                  <a:pt x="198" y="45"/>
                  <a:pt x="199" y="45"/>
                  <a:pt x="199" y="46"/>
                </a:cubicBezTo>
                <a:cubicBezTo>
                  <a:pt x="202" y="48"/>
                  <a:pt x="202" y="48"/>
                  <a:pt x="199" y="52"/>
                </a:cubicBezTo>
                <a:cubicBezTo>
                  <a:pt x="199" y="52"/>
                  <a:pt x="198" y="53"/>
                  <a:pt x="198" y="53"/>
                </a:cubicBezTo>
                <a:cubicBezTo>
                  <a:pt x="197" y="54"/>
                  <a:pt x="196" y="55"/>
                  <a:pt x="197" y="56"/>
                </a:cubicBezTo>
                <a:cubicBezTo>
                  <a:pt x="198" y="57"/>
                  <a:pt x="198" y="58"/>
                  <a:pt x="198" y="58"/>
                </a:cubicBezTo>
                <a:cubicBezTo>
                  <a:pt x="196" y="61"/>
                  <a:pt x="195" y="65"/>
                  <a:pt x="193" y="68"/>
                </a:cubicBezTo>
                <a:cubicBezTo>
                  <a:pt x="192" y="69"/>
                  <a:pt x="191" y="70"/>
                  <a:pt x="190" y="71"/>
                </a:cubicBezTo>
                <a:cubicBezTo>
                  <a:pt x="190" y="72"/>
                  <a:pt x="190" y="73"/>
                  <a:pt x="191" y="73"/>
                </a:cubicBezTo>
                <a:cubicBezTo>
                  <a:pt x="191" y="74"/>
                  <a:pt x="192" y="74"/>
                  <a:pt x="191" y="75"/>
                </a:cubicBezTo>
                <a:cubicBezTo>
                  <a:pt x="191" y="76"/>
                  <a:pt x="192" y="77"/>
                  <a:pt x="192" y="77"/>
                </a:cubicBezTo>
                <a:cubicBezTo>
                  <a:pt x="193" y="78"/>
                  <a:pt x="193" y="79"/>
                  <a:pt x="192" y="80"/>
                </a:cubicBezTo>
                <a:cubicBezTo>
                  <a:pt x="189" y="83"/>
                  <a:pt x="186" y="86"/>
                  <a:pt x="183" y="90"/>
                </a:cubicBezTo>
                <a:cubicBezTo>
                  <a:pt x="183" y="90"/>
                  <a:pt x="183" y="90"/>
                  <a:pt x="184" y="90"/>
                </a:cubicBezTo>
                <a:cubicBezTo>
                  <a:pt x="184" y="90"/>
                  <a:pt x="185" y="90"/>
                  <a:pt x="186" y="90"/>
                </a:cubicBezTo>
                <a:cubicBezTo>
                  <a:pt x="186" y="90"/>
                  <a:pt x="187" y="90"/>
                  <a:pt x="187" y="90"/>
                </a:cubicBezTo>
                <a:cubicBezTo>
                  <a:pt x="189" y="91"/>
                  <a:pt x="191" y="94"/>
                  <a:pt x="190" y="96"/>
                </a:cubicBezTo>
                <a:cubicBezTo>
                  <a:pt x="188" y="99"/>
                  <a:pt x="185" y="102"/>
                  <a:pt x="183" y="105"/>
                </a:cubicBezTo>
                <a:cubicBezTo>
                  <a:pt x="181" y="108"/>
                  <a:pt x="178" y="112"/>
                  <a:pt x="175" y="115"/>
                </a:cubicBezTo>
                <a:cubicBezTo>
                  <a:pt x="174" y="116"/>
                  <a:pt x="173" y="118"/>
                  <a:pt x="172" y="119"/>
                </a:cubicBezTo>
                <a:cubicBezTo>
                  <a:pt x="173" y="119"/>
                  <a:pt x="173" y="119"/>
                  <a:pt x="173" y="119"/>
                </a:cubicBezTo>
                <a:cubicBezTo>
                  <a:pt x="175" y="117"/>
                  <a:pt x="177" y="115"/>
                  <a:pt x="178" y="113"/>
                </a:cubicBezTo>
                <a:cubicBezTo>
                  <a:pt x="181" y="110"/>
                  <a:pt x="183" y="108"/>
                  <a:pt x="186" y="105"/>
                </a:cubicBezTo>
                <a:cubicBezTo>
                  <a:pt x="186" y="105"/>
                  <a:pt x="187" y="105"/>
                  <a:pt x="187" y="105"/>
                </a:cubicBezTo>
                <a:cubicBezTo>
                  <a:pt x="190" y="106"/>
                  <a:pt x="191" y="109"/>
                  <a:pt x="190" y="111"/>
                </a:cubicBezTo>
                <a:cubicBezTo>
                  <a:pt x="188" y="114"/>
                  <a:pt x="187" y="116"/>
                  <a:pt x="185" y="118"/>
                </a:cubicBezTo>
                <a:cubicBezTo>
                  <a:pt x="183" y="120"/>
                  <a:pt x="181" y="122"/>
                  <a:pt x="180" y="124"/>
                </a:cubicBezTo>
                <a:cubicBezTo>
                  <a:pt x="179" y="125"/>
                  <a:pt x="179" y="125"/>
                  <a:pt x="179" y="125"/>
                </a:cubicBezTo>
                <a:cubicBezTo>
                  <a:pt x="180" y="125"/>
                  <a:pt x="180" y="125"/>
                  <a:pt x="180" y="125"/>
                </a:cubicBezTo>
                <a:cubicBezTo>
                  <a:pt x="183" y="122"/>
                  <a:pt x="185" y="119"/>
                  <a:pt x="187" y="116"/>
                </a:cubicBezTo>
                <a:cubicBezTo>
                  <a:pt x="188" y="115"/>
                  <a:pt x="189" y="114"/>
                  <a:pt x="189" y="114"/>
                </a:cubicBezTo>
                <a:cubicBezTo>
                  <a:pt x="190" y="113"/>
                  <a:pt x="191" y="113"/>
                  <a:pt x="192" y="114"/>
                </a:cubicBezTo>
                <a:cubicBezTo>
                  <a:pt x="193" y="115"/>
                  <a:pt x="193" y="116"/>
                  <a:pt x="194" y="117"/>
                </a:cubicBezTo>
                <a:cubicBezTo>
                  <a:pt x="195" y="118"/>
                  <a:pt x="194" y="119"/>
                  <a:pt x="193" y="120"/>
                </a:cubicBezTo>
                <a:cubicBezTo>
                  <a:pt x="191" y="122"/>
                  <a:pt x="189" y="124"/>
                  <a:pt x="187" y="126"/>
                </a:cubicBezTo>
                <a:cubicBezTo>
                  <a:pt x="188" y="128"/>
                  <a:pt x="189" y="130"/>
                  <a:pt x="190" y="131"/>
                </a:cubicBezTo>
                <a:cubicBezTo>
                  <a:pt x="190" y="132"/>
                  <a:pt x="190" y="133"/>
                  <a:pt x="190" y="133"/>
                </a:cubicBezTo>
                <a:cubicBezTo>
                  <a:pt x="188" y="135"/>
                  <a:pt x="186" y="137"/>
                  <a:pt x="184" y="140"/>
                </a:cubicBezTo>
                <a:cubicBezTo>
                  <a:pt x="183" y="140"/>
                  <a:pt x="183" y="141"/>
                  <a:pt x="183" y="141"/>
                </a:cubicBezTo>
                <a:cubicBezTo>
                  <a:pt x="186" y="140"/>
                  <a:pt x="185" y="140"/>
                  <a:pt x="187" y="142"/>
                </a:cubicBezTo>
                <a:cubicBezTo>
                  <a:pt x="188" y="143"/>
                  <a:pt x="188" y="144"/>
                  <a:pt x="188" y="145"/>
                </a:cubicBezTo>
                <a:cubicBezTo>
                  <a:pt x="189" y="146"/>
                  <a:pt x="189" y="146"/>
                  <a:pt x="188" y="147"/>
                </a:cubicBezTo>
                <a:cubicBezTo>
                  <a:pt x="186" y="149"/>
                  <a:pt x="185" y="151"/>
                  <a:pt x="183" y="153"/>
                </a:cubicBezTo>
                <a:cubicBezTo>
                  <a:pt x="186" y="153"/>
                  <a:pt x="186" y="156"/>
                  <a:pt x="187" y="157"/>
                </a:cubicBezTo>
                <a:cubicBezTo>
                  <a:pt x="187" y="158"/>
                  <a:pt x="187" y="159"/>
                  <a:pt x="186" y="159"/>
                </a:cubicBezTo>
                <a:cubicBezTo>
                  <a:pt x="185" y="161"/>
                  <a:pt x="183" y="163"/>
                  <a:pt x="182" y="165"/>
                </a:cubicBezTo>
                <a:cubicBezTo>
                  <a:pt x="181" y="165"/>
                  <a:pt x="180" y="167"/>
                  <a:pt x="179" y="167"/>
                </a:cubicBezTo>
                <a:cubicBezTo>
                  <a:pt x="178" y="168"/>
                  <a:pt x="177" y="167"/>
                  <a:pt x="176" y="167"/>
                </a:cubicBezTo>
                <a:cubicBezTo>
                  <a:pt x="176" y="167"/>
                  <a:pt x="175" y="167"/>
                  <a:pt x="175" y="166"/>
                </a:cubicBezTo>
                <a:cubicBezTo>
                  <a:pt x="174" y="167"/>
                  <a:pt x="173" y="168"/>
                  <a:pt x="172" y="169"/>
                </a:cubicBezTo>
                <a:cubicBezTo>
                  <a:pt x="170" y="170"/>
                  <a:pt x="167" y="170"/>
                  <a:pt x="166" y="168"/>
                </a:cubicBezTo>
                <a:cubicBezTo>
                  <a:pt x="166" y="167"/>
                  <a:pt x="165" y="167"/>
                  <a:pt x="165" y="166"/>
                </a:cubicBezTo>
                <a:cubicBezTo>
                  <a:pt x="163" y="168"/>
                  <a:pt x="161" y="170"/>
                  <a:pt x="159" y="172"/>
                </a:cubicBezTo>
                <a:cubicBezTo>
                  <a:pt x="159" y="172"/>
                  <a:pt x="158" y="173"/>
                  <a:pt x="158" y="172"/>
                </a:cubicBezTo>
                <a:cubicBezTo>
                  <a:pt x="157" y="172"/>
                  <a:pt x="155" y="171"/>
                  <a:pt x="154" y="170"/>
                </a:cubicBezTo>
                <a:cubicBezTo>
                  <a:pt x="153" y="169"/>
                  <a:pt x="154" y="167"/>
                  <a:pt x="155" y="166"/>
                </a:cubicBezTo>
                <a:cubicBezTo>
                  <a:pt x="156" y="165"/>
                  <a:pt x="156" y="164"/>
                  <a:pt x="157" y="163"/>
                </a:cubicBezTo>
                <a:cubicBezTo>
                  <a:pt x="157" y="163"/>
                  <a:pt x="157" y="163"/>
                  <a:pt x="157" y="162"/>
                </a:cubicBezTo>
                <a:cubicBezTo>
                  <a:pt x="155" y="164"/>
                  <a:pt x="153" y="166"/>
                  <a:pt x="150" y="168"/>
                </a:cubicBezTo>
                <a:cubicBezTo>
                  <a:pt x="149" y="170"/>
                  <a:pt x="147" y="171"/>
                  <a:pt x="145" y="173"/>
                </a:cubicBezTo>
                <a:cubicBezTo>
                  <a:pt x="145" y="173"/>
                  <a:pt x="144" y="174"/>
                  <a:pt x="144" y="173"/>
                </a:cubicBezTo>
                <a:cubicBezTo>
                  <a:pt x="141" y="173"/>
                  <a:pt x="140" y="172"/>
                  <a:pt x="140" y="169"/>
                </a:cubicBezTo>
                <a:cubicBezTo>
                  <a:pt x="139" y="170"/>
                  <a:pt x="138" y="170"/>
                  <a:pt x="137" y="171"/>
                </a:cubicBezTo>
                <a:cubicBezTo>
                  <a:pt x="135" y="173"/>
                  <a:pt x="133" y="175"/>
                  <a:pt x="131" y="177"/>
                </a:cubicBezTo>
                <a:cubicBezTo>
                  <a:pt x="130" y="178"/>
                  <a:pt x="129" y="179"/>
                  <a:pt x="128" y="178"/>
                </a:cubicBezTo>
                <a:cubicBezTo>
                  <a:pt x="128" y="177"/>
                  <a:pt x="127" y="177"/>
                  <a:pt x="126" y="176"/>
                </a:cubicBezTo>
                <a:cubicBezTo>
                  <a:pt x="125" y="174"/>
                  <a:pt x="125" y="172"/>
                  <a:pt x="126" y="171"/>
                </a:cubicBezTo>
                <a:cubicBezTo>
                  <a:pt x="131" y="167"/>
                  <a:pt x="135" y="163"/>
                  <a:pt x="139" y="159"/>
                </a:cubicBezTo>
                <a:cubicBezTo>
                  <a:pt x="142" y="157"/>
                  <a:pt x="143" y="155"/>
                  <a:pt x="145" y="153"/>
                </a:cubicBezTo>
                <a:cubicBezTo>
                  <a:pt x="147" y="152"/>
                  <a:pt x="149" y="150"/>
                  <a:pt x="150" y="148"/>
                </a:cubicBezTo>
                <a:cubicBezTo>
                  <a:pt x="150" y="148"/>
                  <a:pt x="150" y="148"/>
                  <a:pt x="150" y="148"/>
                </a:cubicBezTo>
                <a:cubicBezTo>
                  <a:pt x="149" y="149"/>
                  <a:pt x="148" y="150"/>
                  <a:pt x="146" y="151"/>
                </a:cubicBezTo>
                <a:cubicBezTo>
                  <a:pt x="142" y="154"/>
                  <a:pt x="138" y="158"/>
                  <a:pt x="134" y="161"/>
                </a:cubicBezTo>
                <a:cubicBezTo>
                  <a:pt x="132" y="163"/>
                  <a:pt x="130" y="164"/>
                  <a:pt x="128" y="166"/>
                </a:cubicBezTo>
                <a:cubicBezTo>
                  <a:pt x="125" y="168"/>
                  <a:pt x="123" y="170"/>
                  <a:pt x="120" y="173"/>
                </a:cubicBezTo>
                <a:cubicBezTo>
                  <a:pt x="119" y="174"/>
                  <a:pt x="119" y="174"/>
                  <a:pt x="118" y="175"/>
                </a:cubicBezTo>
                <a:cubicBezTo>
                  <a:pt x="118" y="176"/>
                  <a:pt x="117" y="176"/>
                  <a:pt x="116" y="176"/>
                </a:cubicBezTo>
                <a:cubicBezTo>
                  <a:pt x="115" y="175"/>
                  <a:pt x="114" y="174"/>
                  <a:pt x="113" y="173"/>
                </a:cubicBezTo>
                <a:cubicBezTo>
                  <a:pt x="112" y="172"/>
                  <a:pt x="113" y="171"/>
                  <a:pt x="114" y="170"/>
                </a:cubicBezTo>
                <a:cubicBezTo>
                  <a:pt x="114" y="169"/>
                  <a:pt x="114" y="169"/>
                  <a:pt x="115" y="168"/>
                </a:cubicBezTo>
                <a:cubicBezTo>
                  <a:pt x="111" y="164"/>
                  <a:pt x="111" y="164"/>
                  <a:pt x="112" y="161"/>
                </a:cubicBezTo>
                <a:cubicBezTo>
                  <a:pt x="110" y="163"/>
                  <a:pt x="107" y="165"/>
                  <a:pt x="104" y="168"/>
                </a:cubicBezTo>
                <a:cubicBezTo>
                  <a:pt x="102" y="169"/>
                  <a:pt x="100" y="171"/>
                  <a:pt x="98" y="173"/>
                </a:cubicBezTo>
                <a:cubicBezTo>
                  <a:pt x="96" y="174"/>
                  <a:pt x="96" y="175"/>
                  <a:pt x="94" y="173"/>
                </a:cubicBezTo>
                <a:cubicBezTo>
                  <a:pt x="94" y="172"/>
                  <a:pt x="93" y="171"/>
                  <a:pt x="92" y="171"/>
                </a:cubicBezTo>
                <a:cubicBezTo>
                  <a:pt x="91" y="171"/>
                  <a:pt x="90" y="171"/>
                  <a:pt x="90" y="171"/>
                </a:cubicBezTo>
                <a:cubicBezTo>
                  <a:pt x="88" y="169"/>
                  <a:pt x="86" y="168"/>
                  <a:pt x="87" y="166"/>
                </a:cubicBezTo>
                <a:cubicBezTo>
                  <a:pt x="86" y="166"/>
                  <a:pt x="85" y="166"/>
                  <a:pt x="84" y="166"/>
                </a:cubicBezTo>
                <a:cubicBezTo>
                  <a:pt x="83" y="166"/>
                  <a:pt x="82" y="166"/>
                  <a:pt x="82" y="166"/>
                </a:cubicBezTo>
                <a:cubicBezTo>
                  <a:pt x="79" y="168"/>
                  <a:pt x="77" y="170"/>
                  <a:pt x="75" y="172"/>
                </a:cubicBezTo>
                <a:cubicBezTo>
                  <a:pt x="74" y="172"/>
                  <a:pt x="74" y="172"/>
                  <a:pt x="74" y="172"/>
                </a:cubicBezTo>
                <a:cubicBezTo>
                  <a:pt x="73" y="174"/>
                  <a:pt x="73" y="174"/>
                  <a:pt x="71" y="172"/>
                </a:cubicBezTo>
                <a:cubicBezTo>
                  <a:pt x="71" y="172"/>
                  <a:pt x="71" y="171"/>
                  <a:pt x="70" y="171"/>
                </a:cubicBezTo>
                <a:cubicBezTo>
                  <a:pt x="69" y="170"/>
                  <a:pt x="69" y="168"/>
                  <a:pt x="70" y="167"/>
                </a:cubicBezTo>
                <a:cubicBezTo>
                  <a:pt x="72" y="165"/>
                  <a:pt x="73" y="164"/>
                  <a:pt x="75" y="162"/>
                </a:cubicBezTo>
                <a:cubicBezTo>
                  <a:pt x="77" y="160"/>
                  <a:pt x="79" y="159"/>
                  <a:pt x="82" y="157"/>
                </a:cubicBezTo>
                <a:cubicBezTo>
                  <a:pt x="83" y="156"/>
                  <a:pt x="83" y="155"/>
                  <a:pt x="84" y="154"/>
                </a:cubicBezTo>
                <a:cubicBezTo>
                  <a:pt x="83" y="153"/>
                  <a:pt x="81" y="154"/>
                  <a:pt x="80" y="155"/>
                </a:cubicBezTo>
                <a:cubicBezTo>
                  <a:pt x="76" y="157"/>
                  <a:pt x="73" y="160"/>
                  <a:pt x="69" y="163"/>
                </a:cubicBezTo>
                <a:cubicBezTo>
                  <a:pt x="66" y="165"/>
                  <a:pt x="63" y="167"/>
                  <a:pt x="61" y="170"/>
                </a:cubicBezTo>
                <a:cubicBezTo>
                  <a:pt x="59" y="171"/>
                  <a:pt x="58" y="171"/>
                  <a:pt x="57" y="169"/>
                </a:cubicBezTo>
                <a:cubicBezTo>
                  <a:pt x="57" y="168"/>
                  <a:pt x="56" y="167"/>
                  <a:pt x="56" y="166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24000" tIns="36000" rIns="324000" bIns="36000" rtlCol="0" anchor="ctr">
            <a:noAutofit/>
          </a:bodyPr>
          <a:lstStyle/>
          <a:p>
            <a:pPr algn="ctr"/>
            <a:r>
              <a:rPr lang="en-US" sz="1400" b="1">
                <a:solidFill>
                  <a:prstClr val="white"/>
                </a:solidFill>
                <a:latin typeface="Santander Text" panose="020B0504020201020104"/>
                <a:ea typeface="Open Sans" panose="020B0606030504020204" pitchFamily="34" charset="0"/>
                <a:cs typeface="Open Sans" panose="020B0606030504020204" pitchFamily="34" charset="0"/>
              </a:rPr>
              <a:t>Please, bear in mind that in light of the perimeter extraction, not only the contracts belonging to these lines of FinRep 18 / NOPER Annex will be requested, but also, the perimeter according to other relevant dimensions: stage, performing status, etc. (see next slide)</a:t>
            </a:r>
            <a:endParaRPr lang="es-ES" sz="1400" b="1">
              <a:solidFill>
                <a:prstClr val="white"/>
              </a:solidFill>
              <a:latin typeface="Santander Text" panose="020B0504020201020104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74D1DC-CE25-4292-8DF3-CD6146115A28}"/>
              </a:ext>
            </a:extLst>
          </p:cNvPr>
          <p:cNvSpPr txBox="1"/>
          <p:nvPr/>
        </p:nvSpPr>
        <p:spPr>
          <a:xfrm rot="16200000">
            <a:off x="564072" y="3588528"/>
            <a:ext cx="10358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b="1" err="1">
                <a:latin typeface="Santander Headline" panose="020B0504020201020104"/>
              </a:rPr>
              <a:t>On</a:t>
            </a:r>
            <a:r>
              <a:rPr lang="es-ES_tradnl" sz="1400" b="1">
                <a:latin typeface="Santander Headline" panose="020B0504020201020104"/>
              </a:rPr>
              <a:t>-balance</a:t>
            </a:r>
            <a:endParaRPr lang="es-ES" sz="1400" b="1">
              <a:latin typeface="Santander Headline" panose="020B0504020201020104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AEC5C0F-7CE7-47ED-B837-E5CA5E738471}"/>
              </a:ext>
            </a:extLst>
          </p:cNvPr>
          <p:cNvSpPr txBox="1"/>
          <p:nvPr/>
        </p:nvSpPr>
        <p:spPr>
          <a:xfrm rot="16200000">
            <a:off x="7106005" y="4714240"/>
            <a:ext cx="10518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b="1">
                <a:latin typeface="Santander Headline" panose="020B0504020201020104"/>
              </a:rPr>
              <a:t>Off-balance</a:t>
            </a:r>
            <a:endParaRPr lang="es-ES" sz="1400" b="1">
              <a:latin typeface="Santander Headline" panose="020B0504020201020104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605ADEED-AFC8-4248-AC7E-5F74E11825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9083503"/>
              </p:ext>
            </p:extLst>
          </p:nvPr>
        </p:nvGraphicFramePr>
        <p:xfrm>
          <a:off x="1334144" y="1438274"/>
          <a:ext cx="4667995" cy="4750890"/>
        </p:xfrm>
        <a:graphic>
          <a:graphicData uri="http://schemas.openxmlformats.org/drawingml/2006/table">
            <a:tbl>
              <a:tblPr/>
              <a:tblGrid>
                <a:gridCol w="4667995">
                  <a:extLst>
                    <a:ext uri="{9D8B030D-6E8A-4147-A177-3AD203B41FA5}">
                      <a16:colId xmlns:a16="http://schemas.microsoft.com/office/drawing/2014/main" val="3460511946"/>
                    </a:ext>
                  </a:extLst>
                </a:gridCol>
              </a:tblGrid>
              <a:tr h="126874"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Cash balances at central banks and other demand deposits (005)</a:t>
                      </a:r>
                    </a:p>
                  </a:txBody>
                  <a:tcPr marL="3988" marR="3988" marT="39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7941444"/>
                  </a:ext>
                </a:extLst>
              </a:tr>
              <a:tr h="126874">
                <a:tc>
                  <a:txBody>
                    <a:bodyPr/>
                    <a:lstStyle/>
                    <a:p>
                      <a:pPr algn="l" fontAlgn="ctr"/>
                      <a:r>
                        <a:rPr lang="es-ES" sz="600" b="1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Debt securities (010)</a:t>
                      </a:r>
                    </a:p>
                  </a:txBody>
                  <a:tcPr marL="3988" marR="3988" marT="39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7894945"/>
                  </a:ext>
                </a:extLst>
              </a:tr>
              <a:tr h="126874">
                <a:tc>
                  <a:txBody>
                    <a:bodyPr/>
                    <a:lstStyle/>
                    <a:p>
                      <a:pPr algn="l" fontAlgn="ctr"/>
                      <a:r>
                        <a:rPr lang="es-ES" sz="6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General governments (030)</a:t>
                      </a:r>
                    </a:p>
                  </a:txBody>
                  <a:tcPr marL="59826" marR="3988" marT="39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1924162"/>
                  </a:ext>
                </a:extLst>
              </a:tr>
              <a:tr h="126874">
                <a:tc>
                  <a:txBody>
                    <a:bodyPr/>
                    <a:lstStyle/>
                    <a:p>
                      <a:pPr algn="l" fontAlgn="ctr"/>
                      <a:r>
                        <a:rPr lang="es-ES" sz="6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Credit institutions (040)</a:t>
                      </a:r>
                    </a:p>
                  </a:txBody>
                  <a:tcPr marL="59826" marR="3988" marT="39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0847917"/>
                  </a:ext>
                </a:extLst>
              </a:tr>
              <a:tr h="126874">
                <a:tc>
                  <a:txBody>
                    <a:bodyPr/>
                    <a:lstStyle/>
                    <a:p>
                      <a:pPr algn="l" fontAlgn="ctr"/>
                      <a:r>
                        <a:rPr lang="es-ES" sz="6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Other financial corporations (050)</a:t>
                      </a:r>
                    </a:p>
                  </a:txBody>
                  <a:tcPr marL="59826" marR="3988" marT="39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9134100"/>
                  </a:ext>
                </a:extLst>
              </a:tr>
              <a:tr h="126874">
                <a:tc>
                  <a:txBody>
                    <a:bodyPr/>
                    <a:lstStyle/>
                    <a:p>
                      <a:pPr algn="l" fontAlgn="ctr"/>
                      <a:r>
                        <a:rPr lang="es-ES" sz="6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Non-financial corporations (060)</a:t>
                      </a:r>
                    </a:p>
                  </a:txBody>
                  <a:tcPr marL="59826" marR="3988" marT="39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6780005"/>
                  </a:ext>
                </a:extLst>
              </a:tr>
              <a:tr h="126874">
                <a:tc>
                  <a:txBody>
                    <a:bodyPr/>
                    <a:lstStyle/>
                    <a:p>
                      <a:pPr algn="l" fontAlgn="ctr"/>
                      <a:r>
                        <a:rPr lang="es-ES" sz="600" b="1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Loans and advances (070)</a:t>
                      </a:r>
                    </a:p>
                  </a:txBody>
                  <a:tcPr marL="3988" marR="3988" marT="39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3065014"/>
                  </a:ext>
                </a:extLst>
              </a:tr>
              <a:tr h="126874">
                <a:tc>
                  <a:txBody>
                    <a:bodyPr/>
                    <a:lstStyle/>
                    <a:p>
                      <a:pPr algn="l" fontAlgn="ctr"/>
                      <a:r>
                        <a:rPr lang="es-ES" sz="6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General governments (090)</a:t>
                      </a:r>
                    </a:p>
                  </a:txBody>
                  <a:tcPr marL="59826" marR="3988" marT="39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56981877"/>
                  </a:ext>
                </a:extLst>
              </a:tr>
              <a:tr h="126874">
                <a:tc>
                  <a:txBody>
                    <a:bodyPr/>
                    <a:lstStyle/>
                    <a:p>
                      <a:pPr algn="l" fontAlgn="ctr"/>
                      <a:r>
                        <a:rPr lang="es-ES" sz="6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Credit institutions (100)</a:t>
                      </a:r>
                    </a:p>
                  </a:txBody>
                  <a:tcPr marL="59826" marR="3988" marT="39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7374479"/>
                  </a:ext>
                </a:extLst>
              </a:tr>
              <a:tr h="126874">
                <a:tc>
                  <a:txBody>
                    <a:bodyPr/>
                    <a:lstStyle/>
                    <a:p>
                      <a:pPr algn="l" fontAlgn="ctr"/>
                      <a:r>
                        <a:rPr lang="es-ES" sz="6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Other financial corporations (110)</a:t>
                      </a:r>
                    </a:p>
                  </a:txBody>
                  <a:tcPr marL="59826" marR="3988" marT="39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36335728"/>
                  </a:ext>
                </a:extLst>
              </a:tr>
              <a:tr h="126874">
                <a:tc>
                  <a:txBody>
                    <a:bodyPr/>
                    <a:lstStyle/>
                    <a:p>
                      <a:pPr algn="l" fontAlgn="ctr"/>
                      <a:r>
                        <a:rPr lang="es-ES" sz="6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Non-financial corporations (120)</a:t>
                      </a:r>
                    </a:p>
                  </a:txBody>
                  <a:tcPr marL="59826" marR="3988" marT="39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2817996"/>
                  </a:ext>
                </a:extLst>
              </a:tr>
              <a:tr h="126874">
                <a:tc>
                  <a:txBody>
                    <a:bodyPr/>
                    <a:lstStyle/>
                    <a:p>
                      <a:pPr algn="l" fontAlgn="ctr"/>
                      <a:r>
                        <a:rPr lang="es-ES" sz="6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Households (150)</a:t>
                      </a:r>
                    </a:p>
                  </a:txBody>
                  <a:tcPr marL="59826" marR="3988" marT="39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3191268"/>
                  </a:ext>
                </a:extLst>
              </a:tr>
              <a:tr h="126874"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DEBT INSTRUMENTS AT COST OR AT AMORTISED COST (180)</a:t>
                      </a:r>
                    </a:p>
                  </a:txBody>
                  <a:tcPr marL="3988" marR="3988" marT="39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6885109"/>
                  </a:ext>
                </a:extLst>
              </a:tr>
              <a:tr h="126874">
                <a:tc>
                  <a:txBody>
                    <a:bodyPr/>
                    <a:lstStyle/>
                    <a:p>
                      <a:pPr algn="l" fontAlgn="ctr"/>
                      <a:r>
                        <a:rPr lang="es-ES" sz="600" b="1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Debt securities (181)</a:t>
                      </a:r>
                    </a:p>
                  </a:txBody>
                  <a:tcPr marL="3988" marR="3988" marT="39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9750735"/>
                  </a:ext>
                </a:extLst>
              </a:tr>
              <a:tr h="126874">
                <a:tc>
                  <a:txBody>
                    <a:bodyPr/>
                    <a:lstStyle/>
                    <a:p>
                      <a:pPr algn="l" fontAlgn="ctr"/>
                      <a:r>
                        <a:rPr lang="es-ES" sz="6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General governments (183)</a:t>
                      </a:r>
                    </a:p>
                  </a:txBody>
                  <a:tcPr marL="59826" marR="3988" marT="39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1465850"/>
                  </a:ext>
                </a:extLst>
              </a:tr>
              <a:tr h="126874">
                <a:tc>
                  <a:txBody>
                    <a:bodyPr/>
                    <a:lstStyle/>
                    <a:p>
                      <a:pPr algn="l" fontAlgn="ctr"/>
                      <a:r>
                        <a:rPr lang="es-ES" sz="6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Credit institutions (184)</a:t>
                      </a:r>
                    </a:p>
                  </a:txBody>
                  <a:tcPr marL="59826" marR="3988" marT="39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0590889"/>
                  </a:ext>
                </a:extLst>
              </a:tr>
              <a:tr h="104677">
                <a:tc>
                  <a:txBody>
                    <a:bodyPr/>
                    <a:lstStyle/>
                    <a:p>
                      <a:pPr algn="l" fontAlgn="ctr"/>
                      <a:r>
                        <a:rPr lang="es-ES" sz="6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Other financial corporations (185)</a:t>
                      </a:r>
                    </a:p>
                  </a:txBody>
                  <a:tcPr marL="59826" marR="3988" marT="39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9652967"/>
                  </a:ext>
                </a:extLst>
              </a:tr>
              <a:tr h="126874">
                <a:tc>
                  <a:txBody>
                    <a:bodyPr/>
                    <a:lstStyle/>
                    <a:p>
                      <a:pPr algn="l" fontAlgn="ctr"/>
                      <a:r>
                        <a:rPr lang="es-ES" sz="6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Non-financial corporations (186)</a:t>
                      </a:r>
                    </a:p>
                  </a:txBody>
                  <a:tcPr marL="59826" marR="3988" marT="39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1699421"/>
                  </a:ext>
                </a:extLst>
              </a:tr>
              <a:tr h="126874">
                <a:tc>
                  <a:txBody>
                    <a:bodyPr/>
                    <a:lstStyle/>
                    <a:p>
                      <a:pPr algn="l" fontAlgn="ctr"/>
                      <a:r>
                        <a:rPr lang="es-ES" sz="600" b="1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Loans and advances (191)</a:t>
                      </a:r>
                    </a:p>
                  </a:txBody>
                  <a:tcPr marL="3988" marR="3988" marT="39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9541401"/>
                  </a:ext>
                </a:extLst>
              </a:tr>
              <a:tr h="126874">
                <a:tc>
                  <a:txBody>
                    <a:bodyPr/>
                    <a:lstStyle/>
                    <a:p>
                      <a:pPr algn="l" fontAlgn="ctr"/>
                      <a:r>
                        <a:rPr lang="es-ES" sz="6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General governments (193)</a:t>
                      </a:r>
                    </a:p>
                  </a:txBody>
                  <a:tcPr marL="59826" marR="3988" marT="39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5162888"/>
                  </a:ext>
                </a:extLst>
              </a:tr>
              <a:tr h="126874">
                <a:tc>
                  <a:txBody>
                    <a:bodyPr/>
                    <a:lstStyle/>
                    <a:p>
                      <a:pPr algn="l" fontAlgn="ctr"/>
                      <a:r>
                        <a:rPr lang="es-ES" sz="6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Credit institutions (194)</a:t>
                      </a:r>
                    </a:p>
                  </a:txBody>
                  <a:tcPr marL="59826" marR="3988" marT="39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9594390"/>
                  </a:ext>
                </a:extLst>
              </a:tr>
              <a:tr h="126874">
                <a:tc>
                  <a:txBody>
                    <a:bodyPr/>
                    <a:lstStyle/>
                    <a:p>
                      <a:pPr algn="l" fontAlgn="ctr"/>
                      <a:r>
                        <a:rPr lang="es-ES" sz="6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Other financial corporations (195)</a:t>
                      </a:r>
                    </a:p>
                  </a:txBody>
                  <a:tcPr marL="59826" marR="3988" marT="39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2858033"/>
                  </a:ext>
                </a:extLst>
              </a:tr>
              <a:tr h="126874">
                <a:tc>
                  <a:txBody>
                    <a:bodyPr/>
                    <a:lstStyle/>
                    <a:p>
                      <a:pPr algn="l" fontAlgn="ctr"/>
                      <a:r>
                        <a:rPr lang="es-ES" sz="6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Households (197)</a:t>
                      </a:r>
                    </a:p>
                  </a:txBody>
                  <a:tcPr marL="59826" marR="3988" marT="39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1191745"/>
                  </a:ext>
                </a:extLst>
              </a:tr>
              <a:tr h="214373"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DEBT INSTRUMENTS AT FAIR VALUE THROUGH OTHER COMPREHENSIVE INCOME OR THROUGH EQUITY SUBJECT TO IMPAIRMENT (201)</a:t>
                      </a:r>
                    </a:p>
                  </a:txBody>
                  <a:tcPr marL="3988" marR="3988" marT="39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8302452"/>
                  </a:ext>
                </a:extLst>
              </a:tr>
              <a:tr h="126874">
                <a:tc>
                  <a:txBody>
                    <a:bodyPr/>
                    <a:lstStyle/>
                    <a:p>
                      <a:pPr algn="l" fontAlgn="ctr"/>
                      <a:r>
                        <a:rPr lang="es-ES" sz="600" b="1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Debt securities (211)</a:t>
                      </a:r>
                    </a:p>
                  </a:txBody>
                  <a:tcPr marL="3988" marR="3988" marT="39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542167"/>
                  </a:ext>
                </a:extLst>
              </a:tr>
              <a:tr h="126874">
                <a:tc>
                  <a:txBody>
                    <a:bodyPr/>
                    <a:lstStyle/>
                    <a:p>
                      <a:pPr algn="l" fontAlgn="ctr"/>
                      <a:r>
                        <a:rPr lang="es-ES" sz="6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General governments (213)</a:t>
                      </a:r>
                    </a:p>
                  </a:txBody>
                  <a:tcPr marL="59826" marR="3988" marT="39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09891601"/>
                  </a:ext>
                </a:extLst>
              </a:tr>
              <a:tr h="126874">
                <a:tc>
                  <a:txBody>
                    <a:bodyPr/>
                    <a:lstStyle/>
                    <a:p>
                      <a:pPr algn="l" fontAlgn="ctr"/>
                      <a:r>
                        <a:rPr lang="es-ES" sz="6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Credit institutions (214)</a:t>
                      </a:r>
                    </a:p>
                  </a:txBody>
                  <a:tcPr marL="59826" marR="3988" marT="39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89061197"/>
                  </a:ext>
                </a:extLst>
              </a:tr>
              <a:tr h="126874">
                <a:tc>
                  <a:txBody>
                    <a:bodyPr/>
                    <a:lstStyle/>
                    <a:p>
                      <a:pPr algn="l" fontAlgn="ctr"/>
                      <a:r>
                        <a:rPr lang="es-ES" sz="6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Other financial corporations (215)</a:t>
                      </a:r>
                    </a:p>
                  </a:txBody>
                  <a:tcPr marL="59826" marR="3988" marT="39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7462644"/>
                  </a:ext>
                </a:extLst>
              </a:tr>
              <a:tr h="126874">
                <a:tc>
                  <a:txBody>
                    <a:bodyPr/>
                    <a:lstStyle/>
                    <a:p>
                      <a:pPr algn="l" fontAlgn="ctr"/>
                      <a:r>
                        <a:rPr lang="es-ES" sz="6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Non-financial corporations (216)</a:t>
                      </a:r>
                    </a:p>
                  </a:txBody>
                  <a:tcPr marL="59826" marR="3988" marT="39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75205781"/>
                  </a:ext>
                </a:extLst>
              </a:tr>
              <a:tr h="126874">
                <a:tc>
                  <a:txBody>
                    <a:bodyPr/>
                    <a:lstStyle/>
                    <a:p>
                      <a:pPr algn="l" fontAlgn="ctr"/>
                      <a:r>
                        <a:rPr lang="es-ES" sz="600" b="1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Loans and advances (221)</a:t>
                      </a:r>
                    </a:p>
                  </a:txBody>
                  <a:tcPr marL="3988" marR="3988" marT="39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3791981"/>
                  </a:ext>
                </a:extLst>
              </a:tr>
              <a:tr h="126874">
                <a:tc>
                  <a:txBody>
                    <a:bodyPr/>
                    <a:lstStyle/>
                    <a:p>
                      <a:pPr algn="l" fontAlgn="ctr"/>
                      <a:r>
                        <a:rPr lang="es-ES" sz="6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General governments (223)</a:t>
                      </a:r>
                    </a:p>
                  </a:txBody>
                  <a:tcPr marL="59826" marR="3988" marT="39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5765272"/>
                  </a:ext>
                </a:extLst>
              </a:tr>
              <a:tr h="126874">
                <a:tc>
                  <a:txBody>
                    <a:bodyPr/>
                    <a:lstStyle/>
                    <a:p>
                      <a:pPr algn="l" fontAlgn="ctr"/>
                      <a:r>
                        <a:rPr lang="es-ES" sz="6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Credit institutions (224)</a:t>
                      </a:r>
                    </a:p>
                  </a:txBody>
                  <a:tcPr marL="59826" marR="3988" marT="39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410316"/>
                  </a:ext>
                </a:extLst>
              </a:tr>
              <a:tr h="126874">
                <a:tc>
                  <a:txBody>
                    <a:bodyPr/>
                    <a:lstStyle/>
                    <a:p>
                      <a:pPr algn="l" fontAlgn="ctr"/>
                      <a:r>
                        <a:rPr lang="es-ES" sz="6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Other financial corporations (225)</a:t>
                      </a:r>
                    </a:p>
                  </a:txBody>
                  <a:tcPr marL="59826" marR="3988" marT="39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1194684"/>
                  </a:ext>
                </a:extLst>
              </a:tr>
              <a:tr h="126874">
                <a:tc>
                  <a:txBody>
                    <a:bodyPr/>
                    <a:lstStyle/>
                    <a:p>
                      <a:pPr algn="l" fontAlgn="ctr"/>
                      <a:r>
                        <a:rPr lang="es-ES" sz="6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Non-financial corporations (226)</a:t>
                      </a:r>
                    </a:p>
                  </a:txBody>
                  <a:tcPr marL="59826" marR="3988" marT="39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5169977"/>
                  </a:ext>
                </a:extLst>
              </a:tr>
              <a:tr h="126874">
                <a:tc>
                  <a:txBody>
                    <a:bodyPr/>
                    <a:lstStyle/>
                    <a:p>
                      <a:pPr algn="l" fontAlgn="ctr"/>
                      <a:r>
                        <a:rPr lang="es-ES" sz="6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Households (227)</a:t>
                      </a:r>
                    </a:p>
                  </a:txBody>
                  <a:tcPr marL="59826" marR="3988" marT="39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74414111"/>
                  </a:ext>
                </a:extLst>
              </a:tr>
              <a:tr h="244998"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DEBT INSTRUMENTS AT STRICT LOCOM, OR FAIR VALUE THROUGH PROFIT OR LOSS OR THROUGH EQUITY NOT SUBJECT TO IMPAIRMENT (231)</a:t>
                      </a:r>
                    </a:p>
                  </a:txBody>
                  <a:tcPr marL="3988" marR="3988" marT="39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62904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420085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072F3045-4131-4922-824F-71D32BEBA188}"/>
              </a:ext>
            </a:extLst>
          </p:cNvPr>
          <p:cNvSpPr/>
          <p:nvPr/>
        </p:nvSpPr>
        <p:spPr>
          <a:xfrm>
            <a:off x="490040" y="4832279"/>
            <a:ext cx="1752961" cy="9334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b="1" err="1">
                <a:latin typeface="Santander Text" panose="020B0504020201020104"/>
              </a:rPr>
              <a:t>Subportfolio</a:t>
            </a:r>
            <a:r>
              <a:rPr lang="en-US" sz="1200" b="1">
                <a:latin typeface="Santander Text" panose="020B0504020201020104"/>
              </a:rPr>
              <a:t> 1: </a:t>
            </a:r>
          </a:p>
          <a:p>
            <a:pPr algn="ctr"/>
            <a:r>
              <a:rPr lang="en-US" sz="1200" b="1">
                <a:latin typeface="Santander Text" panose="020B0504020201020104"/>
              </a:rPr>
              <a:t>“n” contracts</a:t>
            </a:r>
          </a:p>
          <a:p>
            <a:pPr algn="ctr"/>
            <a:endParaRPr lang="en-US" sz="400" b="1">
              <a:latin typeface="Santander Text" panose="020B0504020201020104"/>
            </a:endParaRPr>
          </a:p>
        </p:txBody>
      </p:sp>
      <p:sp>
        <p:nvSpPr>
          <p:cNvPr id="41" name="CuadroTexto 24">
            <a:extLst>
              <a:ext uri="{FF2B5EF4-FFF2-40B4-BE49-F238E27FC236}">
                <a16:creationId xmlns:a16="http://schemas.microsoft.com/office/drawing/2014/main" id="{0E8AB9CC-44EA-441D-8818-4E567E52A25A}"/>
              </a:ext>
            </a:extLst>
          </p:cNvPr>
          <p:cNvSpPr txBox="1"/>
          <p:nvPr/>
        </p:nvSpPr>
        <p:spPr>
          <a:xfrm>
            <a:off x="440182" y="836677"/>
            <a:ext cx="11078679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just"/>
            <a:r>
              <a:rPr lang="en-US" sz="1400">
                <a:solidFill>
                  <a:prstClr val="black"/>
                </a:solidFill>
                <a:latin typeface="Santander Text" panose="020B0504020201020104" pitchFamily="34" charset="0"/>
              </a:rPr>
              <a:t>For the extraction of the perimeter of contracts, Units will report the Loan Tape in “</a:t>
            </a:r>
            <a:r>
              <a:rPr lang="en-US" sz="1400" b="1" err="1">
                <a:solidFill>
                  <a:prstClr val="black"/>
                </a:solidFill>
                <a:latin typeface="Santander Text" panose="020B0504020201020104" pitchFamily="34" charset="0"/>
              </a:rPr>
              <a:t>subportfolios</a:t>
            </a:r>
            <a:r>
              <a:rPr lang="en-US" sz="1400">
                <a:solidFill>
                  <a:prstClr val="black"/>
                </a:solidFill>
                <a:latin typeface="Santander Text" panose="020B0504020201020104" pitchFamily="34" charset="0"/>
              </a:rPr>
              <a:t>” of homogeneous contracts based on their </a:t>
            </a:r>
            <a:r>
              <a:rPr lang="en-US" sz="1400" b="1">
                <a:solidFill>
                  <a:prstClr val="black"/>
                </a:solidFill>
                <a:latin typeface="Santander Text" panose="020B0504020201020104" pitchFamily="34" charset="0"/>
              </a:rPr>
              <a:t>relevant dimensions </a:t>
            </a:r>
            <a:r>
              <a:rPr lang="en-US" sz="1400">
                <a:solidFill>
                  <a:prstClr val="black"/>
                </a:solidFill>
                <a:latin typeface="Santander Text" panose="020B0504020201020104" pitchFamily="34" charset="0"/>
              </a:rPr>
              <a:t>that will guide the consistency of the rest of the loan tape attributes: counterparty sector, type of instrument, accounting portfolio, stage, etc. </a:t>
            </a:r>
            <a:endParaRPr lang="es-ES" sz="1400">
              <a:solidFill>
                <a:prstClr val="black"/>
              </a:solidFill>
              <a:latin typeface="Santander Text" panose="020B0504020201020104" pitchFamily="34" charset="0"/>
            </a:endParaRP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0728737A-BA46-4B01-8D00-2BF5BDE894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0441906"/>
              </p:ext>
            </p:extLst>
          </p:nvPr>
        </p:nvGraphicFramePr>
        <p:xfrm>
          <a:off x="2243001" y="4832279"/>
          <a:ext cx="7037635" cy="933450"/>
        </p:xfrm>
        <a:graphic>
          <a:graphicData uri="http://schemas.openxmlformats.org/drawingml/2006/table">
            <a:tbl>
              <a:tblPr/>
              <a:tblGrid>
                <a:gridCol w="1172227">
                  <a:extLst>
                    <a:ext uri="{9D8B030D-6E8A-4147-A177-3AD203B41FA5}">
                      <a16:colId xmlns:a16="http://schemas.microsoft.com/office/drawing/2014/main" val="1457040632"/>
                    </a:ext>
                  </a:extLst>
                </a:gridCol>
                <a:gridCol w="547891">
                  <a:extLst>
                    <a:ext uri="{9D8B030D-6E8A-4147-A177-3AD203B41FA5}">
                      <a16:colId xmlns:a16="http://schemas.microsoft.com/office/drawing/2014/main" val="684571113"/>
                    </a:ext>
                  </a:extLst>
                </a:gridCol>
                <a:gridCol w="736472">
                  <a:extLst>
                    <a:ext uri="{9D8B030D-6E8A-4147-A177-3AD203B41FA5}">
                      <a16:colId xmlns:a16="http://schemas.microsoft.com/office/drawing/2014/main" val="1874595708"/>
                    </a:ext>
                  </a:extLst>
                </a:gridCol>
                <a:gridCol w="684329">
                  <a:extLst>
                    <a:ext uri="{9D8B030D-6E8A-4147-A177-3AD203B41FA5}">
                      <a16:colId xmlns:a16="http://schemas.microsoft.com/office/drawing/2014/main" val="3102096051"/>
                    </a:ext>
                  </a:extLst>
                </a:gridCol>
                <a:gridCol w="826479">
                  <a:extLst>
                    <a:ext uri="{9D8B030D-6E8A-4147-A177-3AD203B41FA5}">
                      <a16:colId xmlns:a16="http://schemas.microsoft.com/office/drawing/2014/main" val="3729122481"/>
                    </a:ext>
                  </a:extLst>
                </a:gridCol>
                <a:gridCol w="482887">
                  <a:extLst>
                    <a:ext uri="{9D8B030D-6E8A-4147-A177-3AD203B41FA5}">
                      <a16:colId xmlns:a16="http://schemas.microsoft.com/office/drawing/2014/main" val="349723910"/>
                    </a:ext>
                  </a:extLst>
                </a:gridCol>
                <a:gridCol w="891483">
                  <a:extLst>
                    <a:ext uri="{9D8B030D-6E8A-4147-A177-3AD203B41FA5}">
                      <a16:colId xmlns:a16="http://schemas.microsoft.com/office/drawing/2014/main" val="2232382895"/>
                    </a:ext>
                  </a:extLst>
                </a:gridCol>
                <a:gridCol w="485449">
                  <a:extLst>
                    <a:ext uri="{9D8B030D-6E8A-4147-A177-3AD203B41FA5}">
                      <a16:colId xmlns:a16="http://schemas.microsoft.com/office/drawing/2014/main" val="1801651339"/>
                    </a:ext>
                  </a:extLst>
                </a:gridCol>
                <a:gridCol w="605209">
                  <a:extLst>
                    <a:ext uri="{9D8B030D-6E8A-4147-A177-3AD203B41FA5}">
                      <a16:colId xmlns:a16="http://schemas.microsoft.com/office/drawing/2014/main" val="2612397216"/>
                    </a:ext>
                  </a:extLst>
                </a:gridCol>
                <a:gridCol w="605209">
                  <a:extLst>
                    <a:ext uri="{9D8B030D-6E8A-4147-A177-3AD203B41FA5}">
                      <a16:colId xmlns:a16="http://schemas.microsoft.com/office/drawing/2014/main" val="706432809"/>
                    </a:ext>
                  </a:extLst>
                </a:gridCol>
              </a:tblGrid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noProof="0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Subportfolio ID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noProof="0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Contract ID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noProof="0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NOPER Segment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i="0" u="none" strike="noStrike" noProof="0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Accounting portfolio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i="0" u="none" strike="noStrike" noProof="0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Product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noProof="0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noProof="0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Performing status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000" b="1" i="0" u="none" strike="noStrike">
                          <a:solidFill>
                            <a:schemeClr val="tx1"/>
                          </a:solidFill>
                          <a:effectLst/>
                          <a:latin typeface="Santander Text" panose="020B0504020201020104"/>
                        </a:rPr>
                        <a:t>Gross</a:t>
                      </a:r>
                    </a:p>
                  </a:txBody>
                  <a:tcPr marL="72000" marR="6350" marT="6350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noProof="0">
                          <a:solidFill>
                            <a:schemeClr val="tx1"/>
                          </a:solidFill>
                          <a:effectLst/>
                          <a:latin typeface="Santander Text" panose="020B0504020201020104"/>
                        </a:rPr>
                        <a:t>Provision</a:t>
                      </a:r>
                    </a:p>
                  </a:txBody>
                  <a:tcPr marL="72000" marR="6350" marT="6350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000" b="1" i="0" u="none" strike="noStrike">
                          <a:solidFill>
                            <a:schemeClr val="tx1"/>
                          </a:solidFill>
                          <a:effectLst/>
                          <a:latin typeface="Santander Text" panose="020B0504020201020104"/>
                        </a:rPr>
                        <a:t>Net</a:t>
                      </a:r>
                      <a:endParaRPr lang="es-ES" sz="1000" b="1" i="0" u="none" strike="noStrike">
                        <a:solidFill>
                          <a:schemeClr val="tx1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656396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marL="0" indent="0" algn="ctr" fontAlgn="b">
                        <a:buNone/>
                      </a:pPr>
                      <a:r>
                        <a:rPr lang="en-US" sz="1000" b="0" i="0" u="none" strike="noStrike" noProof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MMYY_RRECAPreS3NP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b">
                        <a:buNone/>
                      </a:pPr>
                      <a:r>
                        <a:rPr lang="en-US" sz="1000" b="0" i="0" u="none" strike="noStrike" noProof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(1) XXX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noProof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Households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noProof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Amortized cost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noProof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Loans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noProof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3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noProof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Non-Performing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XXX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(XXX)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XXX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999620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noProof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MMYY_RRECAPreS3NP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b">
                        <a:buNone/>
                      </a:pPr>
                      <a:r>
                        <a:rPr lang="en-US" sz="1000" b="0" i="0" u="none" strike="noStrike" noProof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(n) XXX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noProof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Households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noProof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Amortized cost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noProof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Loans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noProof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3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noProof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Non-Performing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XXX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(XXX)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XXX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5287812"/>
                  </a:ext>
                </a:extLst>
              </a:tr>
            </a:tbl>
          </a:graphicData>
        </a:graphic>
      </p:graphicFrame>
      <p:sp>
        <p:nvSpPr>
          <p:cNvPr id="22" name="CuadroTexto 24">
            <a:extLst>
              <a:ext uri="{FF2B5EF4-FFF2-40B4-BE49-F238E27FC236}">
                <a16:creationId xmlns:a16="http://schemas.microsoft.com/office/drawing/2014/main" id="{5BCE6801-7ED5-4767-AA16-36AB4E4514F1}"/>
              </a:ext>
            </a:extLst>
          </p:cNvPr>
          <p:cNvSpPr txBox="1"/>
          <p:nvPr/>
        </p:nvSpPr>
        <p:spPr>
          <a:xfrm>
            <a:off x="440182" y="1636667"/>
            <a:ext cx="11078679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just"/>
            <a:r>
              <a:rPr lang="en-US" sz="1400">
                <a:solidFill>
                  <a:prstClr val="black"/>
                </a:solidFill>
                <a:latin typeface="Santander Text" panose="020B0504020201020104" pitchFamily="34" charset="0"/>
              </a:rPr>
              <a:t>The table below shows the common attributes between Loan Tape and the NOPER Annex, which will determine the number of contract subsegments to be reported by the Units:</a:t>
            </a:r>
            <a:endParaRPr lang="es-ES" sz="1400">
              <a:solidFill>
                <a:prstClr val="black"/>
              </a:solidFill>
              <a:latin typeface="Santander Text" panose="020B0504020201020104" pitchFamily="34" charset="0"/>
            </a:endParaRPr>
          </a:p>
        </p:txBody>
      </p:sp>
      <p:graphicFrame>
        <p:nvGraphicFramePr>
          <p:cNvPr id="23" name="Tabla 57">
            <a:extLst>
              <a:ext uri="{FF2B5EF4-FFF2-40B4-BE49-F238E27FC236}">
                <a16:creationId xmlns:a16="http://schemas.microsoft.com/office/drawing/2014/main" id="{DA6EAE10-6C0F-4C32-9096-0CF837D684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5857226"/>
              </p:ext>
            </p:extLst>
          </p:nvPr>
        </p:nvGraphicFramePr>
        <p:xfrm>
          <a:off x="1584222" y="2219415"/>
          <a:ext cx="9197191" cy="1076791"/>
        </p:xfrm>
        <a:graphic>
          <a:graphicData uri="http://schemas.openxmlformats.org/drawingml/2006/table">
            <a:tbl>
              <a:tblPr/>
              <a:tblGrid>
                <a:gridCol w="26541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50629">
                  <a:extLst>
                    <a:ext uri="{9D8B030D-6E8A-4147-A177-3AD203B41FA5}">
                      <a16:colId xmlns:a16="http://schemas.microsoft.com/office/drawing/2014/main" val="2465000092"/>
                    </a:ext>
                  </a:extLst>
                </a:gridCol>
                <a:gridCol w="1476429">
                  <a:extLst>
                    <a:ext uri="{9D8B030D-6E8A-4147-A177-3AD203B41FA5}">
                      <a16:colId xmlns:a16="http://schemas.microsoft.com/office/drawing/2014/main" val="1911850969"/>
                    </a:ext>
                  </a:extLst>
                </a:gridCol>
                <a:gridCol w="687294">
                  <a:extLst>
                    <a:ext uri="{9D8B030D-6E8A-4147-A177-3AD203B41FA5}">
                      <a16:colId xmlns:a16="http://schemas.microsoft.com/office/drawing/2014/main" val="1418566233"/>
                    </a:ext>
                  </a:extLst>
                </a:gridCol>
                <a:gridCol w="1120384">
                  <a:extLst>
                    <a:ext uri="{9D8B030D-6E8A-4147-A177-3AD203B41FA5}">
                      <a16:colId xmlns:a16="http://schemas.microsoft.com/office/drawing/2014/main" val="184544328"/>
                    </a:ext>
                  </a:extLst>
                </a:gridCol>
                <a:gridCol w="1308262">
                  <a:extLst>
                    <a:ext uri="{9D8B030D-6E8A-4147-A177-3AD203B41FA5}">
                      <a16:colId xmlns:a16="http://schemas.microsoft.com/office/drawing/2014/main" val="462508465"/>
                    </a:ext>
                  </a:extLst>
                </a:gridCol>
              </a:tblGrid>
              <a:tr h="23613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noProof="0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NOPER Annex Segments</a:t>
                      </a:r>
                    </a:p>
                  </a:txBody>
                  <a:tcPr marL="72000" marR="6350" marT="6350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i="0" u="none" strike="noStrike" noProof="0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Product</a:t>
                      </a:r>
                    </a:p>
                  </a:txBody>
                  <a:tcPr marL="72000" marR="6350" marT="6350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i="0" u="none" strike="noStrike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Accounting Portfolio</a:t>
                      </a:r>
                    </a:p>
                  </a:txBody>
                  <a:tcPr marL="72000" marR="6350" marT="6350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</a:p>
                  </a:txBody>
                  <a:tcPr marL="72000" marR="6350" marT="6350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Performing status</a:t>
                      </a:r>
                    </a:p>
                  </a:txBody>
                  <a:tcPr marL="72000" marR="6350" marT="6350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Metrics</a:t>
                      </a:r>
                    </a:p>
                  </a:txBody>
                  <a:tcPr marL="72000" marR="6350" marT="6350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3274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   </a:t>
                      </a:r>
                      <a:r>
                        <a:rPr lang="en-US" sz="1000" b="0" i="0" u="none" strike="noStrike" noProof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General Governments 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Securities (on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Cash and cash balances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 1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noProof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Gross carrying amount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3946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   </a:t>
                      </a:r>
                      <a:r>
                        <a:rPr lang="en-US" sz="1000" b="0" i="0" u="none" strike="noStrike" noProof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Credit institutions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noProof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Loans (on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noProof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Amortized cost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Non-Performing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Provisions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7671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   </a:t>
                      </a:r>
                      <a:r>
                        <a:rPr lang="en-US" sz="1000" b="0" i="0" u="none" strike="noStrike" noProof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Other financial corporations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Loan Commitments (off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noProof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FVOCI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 3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6738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   </a:t>
                      </a:r>
                      <a:r>
                        <a:rPr lang="en-US" sz="1000" b="0" i="0" u="none" strike="noStrike" noProof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Non-financial corporations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noProof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Financial Guarantees given (on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noProof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FV with changes in PL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36935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noProof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   Households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Other commitments (</a:t>
                      </a:r>
                      <a:r>
                        <a:rPr lang="en-US" sz="10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offbalance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N/A (</a:t>
                      </a:r>
                      <a:r>
                        <a:rPr lang="en-US" sz="10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Offbalance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4337A205-1DCD-4824-BF85-03556F86A518}"/>
              </a:ext>
            </a:extLst>
          </p:cNvPr>
          <p:cNvSpPr/>
          <p:nvPr/>
        </p:nvSpPr>
        <p:spPr>
          <a:xfrm>
            <a:off x="9676774" y="4614009"/>
            <a:ext cx="2299048" cy="14977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3050" lvl="2" indent="-228600" algn="just">
              <a:lnSpc>
                <a:spcPct val="115000"/>
              </a:lnSpc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GB" sz="1000">
                <a:latin typeface="Santander Text" panose="020B0504020201020104"/>
                <a:ea typeface="Calibri" panose="020F0502020204030204" pitchFamily="34" charset="0"/>
                <a:cs typeface="Times New Roman" panose="02020603050405020304" pitchFamily="18" charset="0"/>
              </a:rPr>
              <a:t>Contracts in </a:t>
            </a:r>
            <a:r>
              <a:rPr lang="en-GB" sz="1000" b="1">
                <a:latin typeface="Santander Text" panose="020B0504020201020104"/>
                <a:ea typeface="Calibri" panose="020F0502020204030204" pitchFamily="34" charset="0"/>
                <a:cs typeface="Times New Roman" panose="02020603050405020304" pitchFamily="18" charset="0"/>
              </a:rPr>
              <a:t>row 150</a:t>
            </a:r>
            <a:r>
              <a:rPr lang="en-GB" sz="1000">
                <a:latin typeface="Santander Text" panose="020B0504020201020104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en-GB" sz="1000" i="1">
                <a:latin typeface="Santander Text" panose="020B0504020201020104"/>
                <a:ea typeface="Calibri" panose="020F0502020204030204" pitchFamily="34" charset="0"/>
                <a:cs typeface="Times New Roman" panose="02020603050405020304" pitchFamily="18" charset="0"/>
              </a:rPr>
              <a:t>Of which: Households</a:t>
            </a:r>
            <a:r>
              <a:rPr lang="en-GB" sz="1000">
                <a:latin typeface="Santander Text" panose="020B0504020201020104"/>
                <a:ea typeface="Calibri" panose="020F0502020204030204" pitchFamily="34" charset="0"/>
                <a:cs typeface="Times New Roman" panose="02020603050405020304" pitchFamily="18" charset="0"/>
              </a:rPr>
              <a:t>) at Amortized cost – Loans and advances- Stage 3 - Non-performing</a:t>
            </a:r>
            <a:endParaRPr lang="es-ES" sz="1000">
              <a:latin typeface="Santander Text" panose="020B0504020201020104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73050" lvl="2" indent="-228600" algn="just">
              <a:lnSpc>
                <a:spcPct val="115000"/>
              </a:lnSpc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GB" sz="1000">
                <a:latin typeface="Santander Text" panose="020B0504020201020104"/>
                <a:ea typeface="Calibri" panose="020F0502020204030204" pitchFamily="34" charset="0"/>
                <a:cs typeface="Times New Roman" panose="02020603050405020304" pitchFamily="18" charset="0"/>
              </a:rPr>
              <a:t>Gross carrying amount: </a:t>
            </a:r>
            <a:r>
              <a:rPr lang="en-GB" sz="1000" b="1">
                <a:latin typeface="Santander Text" panose="020B0504020201020104"/>
                <a:ea typeface="Calibri" panose="020F0502020204030204" pitchFamily="34" charset="0"/>
                <a:cs typeface="Times New Roman" panose="02020603050405020304" pitchFamily="18" charset="0"/>
              </a:rPr>
              <a:t>Column 121</a:t>
            </a:r>
            <a:endParaRPr lang="es-ES" sz="1000">
              <a:latin typeface="Santander Text" panose="020B0504020201020104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73050" lvl="2" indent="-228600" algn="just">
              <a:lnSpc>
                <a:spcPct val="115000"/>
              </a:lnSpc>
              <a:spcAft>
                <a:spcPts val="1000"/>
              </a:spcAft>
              <a:buFont typeface="Courier New" panose="02070309020205020404" pitchFamily="49" charset="0"/>
              <a:buChar char="o"/>
            </a:pPr>
            <a:r>
              <a:rPr lang="en-GB" sz="1000">
                <a:latin typeface="Santander Text" panose="020B0504020201020104"/>
                <a:ea typeface="Calibri" panose="020F0502020204030204" pitchFamily="34" charset="0"/>
                <a:cs typeface="Times New Roman" panose="02020603050405020304" pitchFamily="18" charset="0"/>
              </a:rPr>
              <a:t>Accumulated impairment: </a:t>
            </a:r>
            <a:r>
              <a:rPr lang="en-GB" sz="1000" b="1">
                <a:latin typeface="Santander Text" panose="020B0504020201020104"/>
                <a:ea typeface="Calibri" panose="020F0502020204030204" pitchFamily="34" charset="0"/>
                <a:cs typeface="Times New Roman" panose="02020603050405020304" pitchFamily="18" charset="0"/>
              </a:rPr>
              <a:t>Column 951</a:t>
            </a:r>
            <a:endParaRPr lang="es-ES" sz="1000" u="none" strike="noStrike">
              <a:effectLst/>
              <a:latin typeface="Santander Text" panose="020B0504020201020104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5" name="object 20">
            <a:extLst>
              <a:ext uri="{FF2B5EF4-FFF2-40B4-BE49-F238E27FC236}">
                <a16:creationId xmlns:a16="http://schemas.microsoft.com/office/drawing/2014/main" id="{BC04A8DB-750A-4A02-BD6F-9D32969B1A9F}"/>
              </a:ext>
            </a:extLst>
          </p:cNvPr>
          <p:cNvSpPr/>
          <p:nvPr/>
        </p:nvSpPr>
        <p:spPr>
          <a:xfrm rot="5400000">
            <a:off x="8986849" y="5413327"/>
            <a:ext cx="1512000" cy="0"/>
          </a:xfrm>
          <a:custGeom>
            <a:avLst/>
            <a:gdLst/>
            <a:ahLst/>
            <a:cxnLst/>
            <a:rect l="l" t="t" r="r" b="b"/>
            <a:pathLst>
              <a:path w="2560320">
                <a:moveTo>
                  <a:pt x="0" y="0"/>
                </a:moveTo>
                <a:lnTo>
                  <a:pt x="2559888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FD1858-D46D-4ABC-92A1-7CB64F1566AB}"/>
              </a:ext>
            </a:extLst>
          </p:cNvPr>
          <p:cNvSpPr txBox="1"/>
          <p:nvPr/>
        </p:nvSpPr>
        <p:spPr>
          <a:xfrm>
            <a:off x="9324419" y="5162726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/>
              <a:t>=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2F99336-BAE5-4F59-B226-43A7E488F7C4}"/>
              </a:ext>
            </a:extLst>
          </p:cNvPr>
          <p:cNvSpPr txBox="1"/>
          <p:nvPr/>
        </p:nvSpPr>
        <p:spPr>
          <a:xfrm>
            <a:off x="10187675" y="4391857"/>
            <a:ext cx="13991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b="1">
                <a:latin typeface="Santander Text" panose="020B0504020201020104"/>
              </a:rPr>
              <a:t>FinRep 18 / NOPER</a:t>
            </a:r>
          </a:p>
        </p:txBody>
      </p:sp>
      <p:sp>
        <p:nvSpPr>
          <p:cNvPr id="40" name="CuadroTexto 24">
            <a:extLst>
              <a:ext uri="{FF2B5EF4-FFF2-40B4-BE49-F238E27FC236}">
                <a16:creationId xmlns:a16="http://schemas.microsoft.com/office/drawing/2014/main" id="{50315A25-7053-4412-BDAD-D61ED71AA7F9}"/>
              </a:ext>
            </a:extLst>
          </p:cNvPr>
          <p:cNvSpPr txBox="1"/>
          <p:nvPr/>
        </p:nvSpPr>
        <p:spPr>
          <a:xfrm>
            <a:off x="445949" y="4356684"/>
            <a:ext cx="920572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just"/>
            <a:r>
              <a:rPr lang="en-US" sz="1400">
                <a:solidFill>
                  <a:prstClr val="black"/>
                </a:solidFill>
                <a:highlight>
                  <a:srgbClr val="C0C0C0"/>
                </a:highlight>
                <a:latin typeface="Santander Text" panose="020B0504020201020104" pitchFamily="34" charset="0"/>
              </a:rPr>
              <a:t>Example</a:t>
            </a:r>
            <a:r>
              <a:rPr lang="en-US" sz="1400">
                <a:solidFill>
                  <a:prstClr val="black"/>
                </a:solidFill>
                <a:latin typeface="Santander Text" panose="020B0504020201020104" pitchFamily="34" charset="0"/>
              </a:rPr>
              <a:t>:</a:t>
            </a:r>
          </a:p>
        </p:txBody>
      </p:sp>
      <p:sp>
        <p:nvSpPr>
          <p:cNvPr id="24" name="Rectángulo 20">
            <a:extLst>
              <a:ext uri="{FF2B5EF4-FFF2-40B4-BE49-F238E27FC236}">
                <a16:creationId xmlns:a16="http://schemas.microsoft.com/office/drawing/2014/main" id="{AA821E43-263C-4659-956E-71DA58AA4E3A}"/>
              </a:ext>
            </a:extLst>
          </p:cNvPr>
          <p:cNvSpPr/>
          <p:nvPr/>
        </p:nvSpPr>
        <p:spPr>
          <a:xfrm>
            <a:off x="7648925" y="4829979"/>
            <a:ext cx="407955" cy="332747"/>
          </a:xfrm>
          <a:prstGeom prst="rect">
            <a:avLst/>
          </a:prstGeom>
          <a:noFill/>
          <a:ln w="19050" cap="flat" cmpd="sng" algn="ctr">
            <a:solidFill>
              <a:schemeClr val="tx2"/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algn="ctr"/>
            <a:endParaRPr lang="en-US" sz="1200" b="1" u="sng">
              <a:solidFill>
                <a:srgbClr val="6E7678"/>
              </a:solidFill>
            </a:endParaRPr>
          </a:p>
        </p:txBody>
      </p:sp>
      <p:sp>
        <p:nvSpPr>
          <p:cNvPr id="26" name="Rectángulo 20">
            <a:extLst>
              <a:ext uri="{FF2B5EF4-FFF2-40B4-BE49-F238E27FC236}">
                <a16:creationId xmlns:a16="http://schemas.microsoft.com/office/drawing/2014/main" id="{1F2863BC-9969-49A4-B2C0-298D10735D45}"/>
              </a:ext>
            </a:extLst>
          </p:cNvPr>
          <p:cNvSpPr/>
          <p:nvPr/>
        </p:nvSpPr>
        <p:spPr>
          <a:xfrm>
            <a:off x="8120934" y="4829979"/>
            <a:ext cx="565866" cy="332747"/>
          </a:xfrm>
          <a:prstGeom prst="rect">
            <a:avLst/>
          </a:prstGeom>
          <a:noFill/>
          <a:ln w="19050" cap="flat" cmpd="sng" algn="ctr">
            <a:solidFill>
              <a:schemeClr val="tx2"/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algn="ctr"/>
            <a:endParaRPr lang="en-US" sz="1200" b="1" u="sng">
              <a:solidFill>
                <a:srgbClr val="6E7678"/>
              </a:solidFill>
            </a:endParaRPr>
          </a:p>
        </p:txBody>
      </p:sp>
      <p:cxnSp>
        <p:nvCxnSpPr>
          <p:cNvPr id="5" name="Connector: Elbow 4">
            <a:extLst>
              <a:ext uri="{FF2B5EF4-FFF2-40B4-BE49-F238E27FC236}">
                <a16:creationId xmlns:a16="http://schemas.microsoft.com/office/drawing/2014/main" id="{73930140-F0B9-4BEC-8693-A424CAEEBDEE}"/>
              </a:ext>
            </a:extLst>
          </p:cNvPr>
          <p:cNvCxnSpPr>
            <a:cxnSpLocks/>
            <a:endCxn id="28" idx="0"/>
          </p:cNvCxnSpPr>
          <p:nvPr/>
        </p:nvCxnSpPr>
        <p:spPr>
          <a:xfrm flipV="1">
            <a:off x="7823201" y="4829979"/>
            <a:ext cx="1196394" cy="2"/>
          </a:xfrm>
          <a:prstGeom prst="bentConnector4">
            <a:avLst>
              <a:gd name="adj1" fmla="val 810"/>
              <a:gd name="adj2" fmla="val 114301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ángulo 20">
            <a:extLst>
              <a:ext uri="{FF2B5EF4-FFF2-40B4-BE49-F238E27FC236}">
                <a16:creationId xmlns:a16="http://schemas.microsoft.com/office/drawing/2014/main" id="{1D88ED81-E4DA-4444-9195-79D09F48FB35}"/>
              </a:ext>
            </a:extLst>
          </p:cNvPr>
          <p:cNvSpPr/>
          <p:nvPr/>
        </p:nvSpPr>
        <p:spPr>
          <a:xfrm>
            <a:off x="8736662" y="4829979"/>
            <a:ext cx="565866" cy="332747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algn="ctr"/>
            <a:endParaRPr lang="en-US" sz="1200" b="1" u="sng">
              <a:solidFill>
                <a:srgbClr val="6E7678"/>
              </a:solidFill>
            </a:endParaRPr>
          </a:p>
        </p:txBody>
      </p: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0B0B9DFE-2938-4841-8BC5-969598ABC593}"/>
              </a:ext>
            </a:extLst>
          </p:cNvPr>
          <p:cNvCxnSpPr>
            <a:cxnSpLocks/>
            <a:stCxn id="26" idx="0"/>
            <a:endCxn id="28" idx="0"/>
          </p:cNvCxnSpPr>
          <p:nvPr/>
        </p:nvCxnSpPr>
        <p:spPr>
          <a:xfrm rot="5400000" flipH="1" flipV="1">
            <a:off x="8711731" y="4522115"/>
            <a:ext cx="12700" cy="615728"/>
          </a:xfrm>
          <a:prstGeom prst="bentConnector3">
            <a:avLst>
              <a:gd name="adj1" fmla="val 18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2259F43B-DF88-45DC-BB9D-B552191E4ACB}"/>
              </a:ext>
            </a:extLst>
          </p:cNvPr>
          <p:cNvSpPr txBox="1"/>
          <p:nvPr/>
        </p:nvSpPr>
        <p:spPr>
          <a:xfrm>
            <a:off x="7925949" y="4388221"/>
            <a:ext cx="96853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>
                <a:latin typeface="Santander Text" panose="020B0504020201020104"/>
              </a:rPr>
              <a:t>Gross - Provision</a:t>
            </a:r>
          </a:p>
        </p:txBody>
      </p:sp>
      <p:sp>
        <p:nvSpPr>
          <p:cNvPr id="35" name="Rectángulo 12">
            <a:extLst>
              <a:ext uri="{FF2B5EF4-FFF2-40B4-BE49-F238E27FC236}">
                <a16:creationId xmlns:a16="http://schemas.microsoft.com/office/drawing/2014/main" id="{798E92CA-0AB7-440C-BA65-4E1EE1689D4E}"/>
              </a:ext>
            </a:extLst>
          </p:cNvPr>
          <p:cNvSpPr/>
          <p:nvPr/>
        </p:nvSpPr>
        <p:spPr>
          <a:xfrm>
            <a:off x="354000" y="184614"/>
            <a:ext cx="11484000" cy="684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>
                <a:solidFill>
                  <a:schemeClr val="accent1"/>
                </a:solidFill>
              </a:rPr>
              <a:t>Proposed approach– Perimeter</a:t>
            </a:r>
          </a:p>
          <a:p>
            <a:r>
              <a:rPr lang="es-ES" sz="200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047FFC7-6EB1-4A72-8DB8-F99DDF1C4B6A}"/>
              </a:ext>
            </a:extLst>
          </p:cNvPr>
          <p:cNvSpPr/>
          <p:nvPr/>
        </p:nvSpPr>
        <p:spPr>
          <a:xfrm>
            <a:off x="2449149" y="5788561"/>
            <a:ext cx="714134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Clr>
                <a:srgbClr val="C00000"/>
              </a:buClr>
            </a:pPr>
            <a:r>
              <a:rPr lang="en-US" sz="1200" b="1">
                <a:latin typeface="Santander Text"/>
              </a:rPr>
              <a:t>Premises to consider:</a:t>
            </a:r>
          </a:p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n-US" sz="1200" b="1">
                <a:latin typeface="Santander Text"/>
              </a:rPr>
              <a:t>Instruments are unique</a:t>
            </a:r>
            <a:r>
              <a:rPr lang="en-US" sz="1200">
                <a:latin typeface="Santander Text"/>
              </a:rPr>
              <a:t>, appearing exclusively in a single subsegment.</a:t>
            </a:r>
          </a:p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n-US" sz="1200" b="1">
                <a:latin typeface="Santander Text"/>
              </a:rPr>
              <a:t>Only direct risk holders are included in ‘Entity’ Table. </a:t>
            </a:r>
            <a:r>
              <a:rPr lang="en-US" sz="1200">
                <a:latin typeface="Santander Text"/>
              </a:rPr>
              <a:t>Therefore, exclusive holders of indirect risks (guarantors) are not considered.</a:t>
            </a:r>
          </a:p>
        </p:txBody>
      </p:sp>
      <p:pic>
        <p:nvPicPr>
          <p:cNvPr id="43" name="Imagen 117" descr="image001">
            <a:hlinkClick r:id="rId4" action="ppaction://hlinksldjump"/>
            <a:extLst>
              <a:ext uri="{FF2B5EF4-FFF2-40B4-BE49-F238E27FC236}">
                <a16:creationId xmlns:a16="http://schemas.microsoft.com/office/drawing/2014/main" id="{876FC91C-3052-4268-A51B-FE744E725C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1311" y="4009332"/>
            <a:ext cx="136425" cy="1614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B264E7BD-7C44-4CFE-AC76-1C265E729882}"/>
              </a:ext>
            </a:extLst>
          </p:cNvPr>
          <p:cNvSpPr txBox="1"/>
          <p:nvPr/>
        </p:nvSpPr>
        <p:spPr>
          <a:xfrm>
            <a:off x="3298879" y="3742839"/>
            <a:ext cx="4524322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ES" sz="1200" b="1" err="1">
                <a:latin typeface="Santander Text" panose="020B0504020201020104"/>
              </a:rPr>
              <a:t>These</a:t>
            </a:r>
            <a:r>
              <a:rPr lang="es-ES" sz="1200" b="1">
                <a:latin typeface="Santander Text" panose="020B0504020201020104"/>
              </a:rPr>
              <a:t> </a:t>
            </a:r>
            <a:r>
              <a:rPr lang="es-ES" sz="1200" b="1" err="1">
                <a:latin typeface="Santander Text" panose="020B0504020201020104"/>
              </a:rPr>
              <a:t>Attributes</a:t>
            </a:r>
            <a:r>
              <a:rPr lang="es-ES" sz="1200" b="1">
                <a:latin typeface="Santander Text" panose="020B0504020201020104"/>
              </a:rPr>
              <a:t>: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b="1">
                <a:latin typeface="Santander Text" panose="020B0504020201020104"/>
              </a:rPr>
              <a:t>Anchored to 299 cells of </a:t>
            </a:r>
            <a:r>
              <a:rPr lang="en-US" sz="1200" b="1" err="1">
                <a:latin typeface="Santander Text" panose="020B0504020201020104"/>
              </a:rPr>
              <a:t>FinRep</a:t>
            </a:r>
            <a:r>
              <a:rPr lang="en-US" sz="1200" b="1">
                <a:latin typeface="Santander Text" panose="020B0504020201020104"/>
              </a:rPr>
              <a:t> 18/NOPER Annex, and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b="1">
                <a:latin typeface="Santander Text" panose="020B0504020201020104"/>
              </a:rPr>
              <a:t>Grouped into a maximum of 154 </a:t>
            </a:r>
            <a:r>
              <a:rPr lang="en-US" sz="1200" b="1" err="1">
                <a:latin typeface="Santander Text" panose="020B0504020201020104"/>
              </a:rPr>
              <a:t>subportfolios</a:t>
            </a:r>
            <a:endParaRPr lang="es-ES" sz="1200" b="1">
              <a:latin typeface="Santander Text" panose="020B0504020201020104"/>
            </a:endParaRPr>
          </a:p>
        </p:txBody>
      </p:sp>
      <p:pic>
        <p:nvPicPr>
          <p:cNvPr id="48" name="Imagen 117" descr="image001">
            <a:hlinkClick r:id="rId4" action="ppaction://hlinksldjump"/>
            <a:extLst>
              <a:ext uri="{FF2B5EF4-FFF2-40B4-BE49-F238E27FC236}">
                <a16:creationId xmlns:a16="http://schemas.microsoft.com/office/drawing/2014/main" id="{B8A46A41-0D93-4C15-B2B2-3E3A95CAEA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7832" y="4199017"/>
            <a:ext cx="136425" cy="1614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9" name="Picture 6" descr="Ilustración de flecha con curvas - Descargar PNG/SVG transparente">
            <a:extLst>
              <a:ext uri="{FF2B5EF4-FFF2-40B4-BE49-F238E27FC236}">
                <a16:creationId xmlns:a16="http://schemas.microsoft.com/office/drawing/2014/main" id="{E5F67DE5-78CA-4E3F-9B31-D7018AD7EE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3055828" flipH="1">
            <a:off x="439617" y="3168178"/>
            <a:ext cx="1140094" cy="10534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0" name="Object 29">
            <a:extLst>
              <a:ext uri="{FF2B5EF4-FFF2-40B4-BE49-F238E27FC236}">
                <a16:creationId xmlns:a16="http://schemas.microsoft.com/office/drawing/2014/main" id="{74639665-7C1A-4303-B016-7D574B6C534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1550370"/>
              </p:ext>
            </p:extLst>
          </p:nvPr>
        </p:nvGraphicFramePr>
        <p:xfrm>
          <a:off x="5621217" y="3304924"/>
          <a:ext cx="3886200" cy="1250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3" name="Macro-Enabled Worksheet" showAsIcon="1" r:id="rId8" imgW="914597" imgH="806311" progId="Excel.SheetMacroEnabled.12">
                  <p:embed/>
                </p:oleObj>
              </mc:Choice>
              <mc:Fallback>
                <p:oleObj name="Macro-Enabled Worksheet" showAsIcon="1" r:id="rId8" imgW="914597" imgH="806311" progId="Excel.SheetMacroEnabled.12">
                  <p:embed/>
                  <p:pic>
                    <p:nvPicPr>
                      <p:cNvPr id="30" name="Object 29">
                        <a:extLst>
                          <a:ext uri="{FF2B5EF4-FFF2-40B4-BE49-F238E27FC236}">
                            <a16:creationId xmlns:a16="http://schemas.microsoft.com/office/drawing/2014/main" id="{74639665-7C1A-4303-B016-7D574B6C534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621217" y="3304924"/>
                        <a:ext cx="3886200" cy="12509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837825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n 117" descr="image001">
            <a:hlinkClick r:id="rId4" action="ppaction://hlinksldjump"/>
            <a:extLst>
              <a:ext uri="{FF2B5EF4-FFF2-40B4-BE49-F238E27FC236}">
                <a16:creationId xmlns:a16="http://schemas.microsoft.com/office/drawing/2014/main" id="{1A1BE5A1-D8BE-4C63-89A3-313D99ABBD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69299" y="485105"/>
            <a:ext cx="324000" cy="3835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CuadroTexto 24">
            <a:extLst>
              <a:ext uri="{FF2B5EF4-FFF2-40B4-BE49-F238E27FC236}">
                <a16:creationId xmlns:a16="http://schemas.microsoft.com/office/drawing/2014/main" id="{E3786CCB-FDE5-4A1B-B330-5BBEC34D15F5}"/>
              </a:ext>
            </a:extLst>
          </p:cNvPr>
          <p:cNvSpPr txBox="1"/>
          <p:nvPr/>
        </p:nvSpPr>
        <p:spPr>
          <a:xfrm>
            <a:off x="512571" y="735102"/>
            <a:ext cx="11019739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just"/>
            <a:r>
              <a:rPr lang="en-US" sz="1400" b="1">
                <a:solidFill>
                  <a:prstClr val="black"/>
                </a:solidFill>
                <a:latin typeface="Santander Text" panose="020B0504020201020104" pitchFamily="34" charset="0"/>
              </a:rPr>
              <a:t>Only one file per table will be requested</a:t>
            </a:r>
            <a:r>
              <a:rPr lang="en-US" sz="1400">
                <a:solidFill>
                  <a:prstClr val="black"/>
                </a:solidFill>
                <a:latin typeface="Santander Text" panose="020B0504020201020104" pitchFamily="34" charset="0"/>
              </a:rPr>
              <a:t>, i.e. five files: entity, entity-instrument, instrument, instrument-protection, protection. The structure of each of these files will be unique, although it is important to note (</a:t>
            </a:r>
            <a:r>
              <a:rPr lang="en-US" sz="1400" baseline="30000">
                <a:solidFill>
                  <a:prstClr val="black"/>
                </a:solidFill>
                <a:latin typeface="Santander Text" panose="020B0504020201020104" pitchFamily="34" charset="0"/>
              </a:rPr>
              <a:t>1</a:t>
            </a:r>
            <a:r>
              <a:rPr lang="en-US" sz="1400">
                <a:solidFill>
                  <a:prstClr val="black"/>
                </a:solidFill>
                <a:latin typeface="Santander Text" panose="020B0504020201020104" pitchFamily="34" charset="0"/>
              </a:rPr>
              <a:t>) that certain fields will only apply depending on the NOPER segment and certain flags (SME, CRE, etc.), as explained below:</a:t>
            </a:r>
            <a:endParaRPr lang="es-ES" sz="1400" b="1">
              <a:latin typeface="Santander Text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D8D1970-8B83-4127-AB13-5DC985425052}"/>
              </a:ext>
            </a:extLst>
          </p:cNvPr>
          <p:cNvSpPr/>
          <p:nvPr/>
        </p:nvSpPr>
        <p:spPr>
          <a:xfrm>
            <a:off x="677720" y="3136158"/>
            <a:ext cx="8054296" cy="713796"/>
          </a:xfrm>
          <a:prstGeom prst="rect">
            <a:avLst/>
          </a:prstGeom>
          <a:solidFill>
            <a:schemeClr val="accent1">
              <a:lumMod val="20000"/>
              <a:lumOff val="80000"/>
              <a:alpha val="31000"/>
            </a:schemeClr>
          </a:solidFill>
          <a:ln w="1905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r>
              <a:rPr lang="en-US" sz="1100" b="1">
                <a:latin typeface="Santander Text" panose="020B0504020201020104"/>
              </a:rPr>
              <a:t>The </a:t>
            </a:r>
            <a:r>
              <a:rPr lang="en-US" sz="1100" b="1" err="1">
                <a:latin typeface="Santander Text" panose="020B0504020201020104"/>
              </a:rPr>
              <a:t>subportfolio</a:t>
            </a:r>
            <a:r>
              <a:rPr lang="en-US" sz="1100" b="1">
                <a:latin typeface="Santander Text" panose="020B0504020201020104"/>
              </a:rPr>
              <a:t> ID and two additional flags (Yes/No) shall be requested in the LT identifying, within Non-financial corporations:</a:t>
            </a:r>
          </a:p>
          <a:p>
            <a:r>
              <a:rPr lang="en-US" sz="1100" b="1">
                <a:latin typeface="Santander Text" panose="020B0504020201020104"/>
              </a:rPr>
              <a:t>1.    Loans granted to SMEs </a:t>
            </a:r>
            <a:r>
              <a:rPr lang="en-US" sz="1100">
                <a:latin typeface="Santander Text" panose="020B0504020201020104"/>
              </a:rPr>
              <a:t>(reported in </a:t>
            </a:r>
            <a:r>
              <a:rPr lang="en-US" sz="1100" err="1">
                <a:latin typeface="Santander Text" panose="020B0504020201020104"/>
              </a:rPr>
              <a:t>FinRep</a:t>
            </a:r>
            <a:r>
              <a:rPr lang="en-US" sz="1100">
                <a:latin typeface="Santander Text" panose="020B0504020201020104"/>
              </a:rPr>
              <a:t> 18 rows No 130, 900 or 920: “of which: SMEs”).</a:t>
            </a:r>
          </a:p>
          <a:p>
            <a:r>
              <a:rPr lang="es-ES" sz="1100" b="1">
                <a:latin typeface="Santander Text" panose="020B0504020201020104"/>
              </a:rPr>
              <a:t>2.</a:t>
            </a:r>
            <a:r>
              <a:rPr lang="en-US" sz="1100" b="1">
                <a:latin typeface="Santander Text" panose="020B0504020201020104"/>
              </a:rPr>
              <a:t>    Loans granted to Commercial Real Estate </a:t>
            </a:r>
            <a:r>
              <a:rPr lang="en-US" sz="1100">
                <a:latin typeface="Santander Text" panose="020B0504020201020104"/>
              </a:rPr>
              <a:t>(reported in </a:t>
            </a:r>
            <a:r>
              <a:rPr lang="en-US" sz="1100" err="1">
                <a:latin typeface="Santander Text" panose="020B0504020201020104"/>
              </a:rPr>
              <a:t>FinRep</a:t>
            </a:r>
            <a:r>
              <a:rPr lang="en-US" sz="1100">
                <a:latin typeface="Santander Text" panose="020B0504020201020104"/>
              </a:rPr>
              <a:t> 18 rows 140, 903, 923: “of which: loans collateralized by commercial immovable property”).</a:t>
            </a:r>
            <a:endParaRPr lang="es-ES" sz="1100">
              <a:latin typeface="Santander Text" panose="020B050402020102010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0FEBBE-2E42-4F48-9491-1268194AFAA3}"/>
              </a:ext>
            </a:extLst>
          </p:cNvPr>
          <p:cNvSpPr txBox="1"/>
          <p:nvPr/>
        </p:nvSpPr>
        <p:spPr>
          <a:xfrm>
            <a:off x="551292" y="1396153"/>
            <a:ext cx="1600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>
                <a:latin typeface="Santander Headline"/>
              </a:rPr>
              <a:t>Legal </a:t>
            </a:r>
            <a:r>
              <a:rPr lang="es-ES" sz="1400" b="1" err="1">
                <a:latin typeface="Santander Headline"/>
              </a:rPr>
              <a:t>Entities</a:t>
            </a:r>
            <a:endParaRPr lang="es-ES" sz="1400" b="1">
              <a:latin typeface="Santander Headline"/>
            </a:endParaRPr>
          </a:p>
          <a:p>
            <a:pPr marL="800100" lvl="1" indent="-342900">
              <a:buFont typeface="+mj-lt"/>
              <a:buAutoNum type="alphaUcPeriod"/>
            </a:pPr>
            <a:r>
              <a:rPr lang="es-ES" sz="1200" b="1" err="1">
                <a:solidFill>
                  <a:prstClr val="black"/>
                </a:solidFill>
                <a:latin typeface="Santander Headline"/>
              </a:rPr>
              <a:t>Loans</a:t>
            </a:r>
            <a:r>
              <a:rPr lang="es-ES" sz="1200" b="1">
                <a:solidFill>
                  <a:prstClr val="black"/>
                </a:solidFill>
                <a:latin typeface="Santander Headline"/>
              </a:rPr>
              <a:t>:</a:t>
            </a:r>
          </a:p>
          <a:p>
            <a:endParaRPr lang="es-ES" sz="1400" b="1">
              <a:latin typeface="Santander Headline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6112115-9A94-4637-9EDC-E9D07BF14F1E}"/>
              </a:ext>
            </a:extLst>
          </p:cNvPr>
          <p:cNvSpPr txBox="1"/>
          <p:nvPr/>
        </p:nvSpPr>
        <p:spPr>
          <a:xfrm>
            <a:off x="551292" y="4554467"/>
            <a:ext cx="1600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>
                <a:latin typeface="Santander Headline"/>
              </a:rPr>
              <a:t>Legal </a:t>
            </a:r>
            <a:r>
              <a:rPr lang="es-ES" sz="1400" b="1" err="1">
                <a:latin typeface="Santander Headline"/>
              </a:rPr>
              <a:t>Entities</a:t>
            </a:r>
            <a:endParaRPr lang="es-ES" sz="1400" b="1">
              <a:latin typeface="Santander Headline"/>
            </a:endParaRPr>
          </a:p>
        </p:txBody>
      </p:sp>
      <p:sp>
        <p:nvSpPr>
          <p:cNvPr id="21" name="Rectángulo 12">
            <a:extLst>
              <a:ext uri="{FF2B5EF4-FFF2-40B4-BE49-F238E27FC236}">
                <a16:creationId xmlns:a16="http://schemas.microsoft.com/office/drawing/2014/main" id="{E9609DEC-EB1C-4D02-A672-425A438EB102}"/>
              </a:ext>
            </a:extLst>
          </p:cNvPr>
          <p:cNvSpPr/>
          <p:nvPr/>
        </p:nvSpPr>
        <p:spPr>
          <a:xfrm>
            <a:off x="354000" y="184614"/>
            <a:ext cx="11484000" cy="684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>
                <a:solidFill>
                  <a:schemeClr val="accent1"/>
                </a:solidFill>
              </a:rPr>
              <a:t>Proposed approach– Perimeter</a:t>
            </a:r>
          </a:p>
          <a:p>
            <a:r>
              <a:rPr lang="es-ES" sz="200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1437DB3-EE3C-4FA6-A98D-7A30F288376C}"/>
              </a:ext>
            </a:extLst>
          </p:cNvPr>
          <p:cNvSpPr/>
          <p:nvPr/>
        </p:nvSpPr>
        <p:spPr>
          <a:xfrm>
            <a:off x="629850" y="5572836"/>
            <a:ext cx="8054295" cy="746684"/>
          </a:xfrm>
          <a:prstGeom prst="rect">
            <a:avLst/>
          </a:prstGeom>
          <a:solidFill>
            <a:schemeClr val="accent1">
              <a:lumMod val="20000"/>
              <a:lumOff val="80000"/>
              <a:alpha val="31000"/>
            </a:schemeClr>
          </a:solidFill>
          <a:ln w="1905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r>
              <a:rPr lang="en-US" sz="1100" b="1">
                <a:latin typeface="Santander Text" panose="020B0504020201020104"/>
              </a:rPr>
              <a:t>The </a:t>
            </a:r>
            <a:r>
              <a:rPr lang="en-US" sz="1100" b="1" err="1">
                <a:latin typeface="Santander Text" panose="020B0504020201020104"/>
              </a:rPr>
              <a:t>subportfolio</a:t>
            </a:r>
            <a:r>
              <a:rPr lang="en-US" sz="1100" b="1">
                <a:latin typeface="Santander Text" panose="020B0504020201020104"/>
              </a:rPr>
              <a:t> ID and two additional flags (Yes/No</a:t>
            </a:r>
            <a:r>
              <a:rPr lang="es-ES" sz="1100" b="1">
                <a:latin typeface="Santander Text" panose="020B0504020201020104"/>
              </a:rPr>
              <a:t>)</a:t>
            </a:r>
            <a:r>
              <a:rPr lang="en-US" sz="1100" b="1">
                <a:latin typeface="Santander Text" panose="020B0504020201020104"/>
              </a:rPr>
              <a:t> shall be requested in the LT identifying, within Households</a:t>
            </a:r>
            <a:r>
              <a:rPr lang="es-ES" sz="1100" b="1">
                <a:latin typeface="Santander Text" panose="020B0504020201020104"/>
              </a:rPr>
              <a:t>: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100" b="1">
                <a:latin typeface="Santander Text" panose="020B0504020201020104"/>
              </a:rPr>
              <a:t>Loans granted to Residential Real Estate </a:t>
            </a:r>
            <a:r>
              <a:rPr lang="en-US" sz="1100">
                <a:latin typeface="Santander Text" panose="020B0504020201020104"/>
              </a:rPr>
              <a:t>(reported in </a:t>
            </a:r>
            <a:r>
              <a:rPr lang="en-US" sz="1100" err="1">
                <a:latin typeface="Santander Text" panose="020B0504020201020104"/>
              </a:rPr>
              <a:t>FinRep</a:t>
            </a:r>
            <a:r>
              <a:rPr lang="en-US" sz="1100">
                <a:latin typeface="Santander Text" panose="020B0504020201020104"/>
              </a:rPr>
              <a:t> 18 rows No 160, 910 or 930: “of which: loans collateralized by residential immovable property”).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100" b="1">
                <a:latin typeface="Santander Text" panose="020B0504020201020104"/>
              </a:rPr>
              <a:t>Loans granted to Consumer Credit</a:t>
            </a:r>
            <a:r>
              <a:rPr lang="en-US" sz="1100">
                <a:latin typeface="Santander Text" panose="020B0504020201020104"/>
              </a:rPr>
              <a:t> (reported in </a:t>
            </a:r>
            <a:r>
              <a:rPr lang="en-US" sz="1100" err="1">
                <a:latin typeface="Santander Text" panose="020B0504020201020104"/>
              </a:rPr>
              <a:t>FinRep</a:t>
            </a:r>
            <a:r>
              <a:rPr lang="en-US" sz="1100">
                <a:latin typeface="Santander Text" panose="020B0504020201020104"/>
              </a:rPr>
              <a:t> 18 rows No 170, 913, 933: “of which: credit for consumption”).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01F7D97-DD99-4A2C-9C06-48980CD5E408}"/>
              </a:ext>
            </a:extLst>
          </p:cNvPr>
          <p:cNvSpPr txBox="1"/>
          <p:nvPr/>
        </p:nvSpPr>
        <p:spPr>
          <a:xfrm>
            <a:off x="551292" y="3945723"/>
            <a:ext cx="32282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buFont typeface="+mj-lt"/>
              <a:buAutoNum type="alphaUcPeriod" startAt="2"/>
            </a:pPr>
            <a:r>
              <a:rPr lang="es-ES" sz="1200" b="1" err="1">
                <a:latin typeface="Santander Headline"/>
              </a:rPr>
              <a:t>Debt</a:t>
            </a:r>
            <a:r>
              <a:rPr lang="es-ES" sz="1200" b="1">
                <a:latin typeface="Santander Headline"/>
              </a:rPr>
              <a:t> </a:t>
            </a:r>
            <a:r>
              <a:rPr lang="es-ES" sz="1200" b="1" err="1">
                <a:latin typeface="Santander Headline"/>
              </a:rPr>
              <a:t>securities</a:t>
            </a:r>
            <a:r>
              <a:rPr lang="es-ES" sz="1200" b="1">
                <a:latin typeface="Santander Headline"/>
              </a:rPr>
              <a:t> </a:t>
            </a:r>
            <a:r>
              <a:rPr lang="es-ES" sz="1200" b="1" err="1">
                <a:latin typeface="Santander Headline"/>
              </a:rPr>
              <a:t>acquired</a:t>
            </a:r>
            <a:r>
              <a:rPr lang="es-ES" sz="1200" b="1">
                <a:latin typeface="Santander Headline"/>
              </a:rPr>
              <a:t>: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B66BBEB-4184-49A4-89D8-618BBB0D2A6C}"/>
              </a:ext>
            </a:extLst>
          </p:cNvPr>
          <p:cNvSpPr/>
          <p:nvPr/>
        </p:nvSpPr>
        <p:spPr>
          <a:xfrm>
            <a:off x="629850" y="4205791"/>
            <a:ext cx="8097590" cy="306888"/>
          </a:xfrm>
          <a:prstGeom prst="rect">
            <a:avLst/>
          </a:prstGeom>
          <a:solidFill>
            <a:schemeClr val="accent1">
              <a:lumMod val="20000"/>
              <a:lumOff val="80000"/>
              <a:alpha val="31000"/>
            </a:schemeClr>
          </a:solidFill>
          <a:ln w="1905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r>
              <a:rPr lang="es-ES" sz="1100" b="1">
                <a:latin typeface="Santander Text" panose="020B0504020201020104"/>
              </a:rPr>
              <a:t>A </a:t>
            </a:r>
            <a:r>
              <a:rPr lang="es-ES" sz="1100" b="1" err="1">
                <a:latin typeface="Santander Text" panose="020B0504020201020104"/>
              </a:rPr>
              <a:t>unique</a:t>
            </a:r>
            <a:r>
              <a:rPr lang="es-ES" sz="1100" b="1">
                <a:latin typeface="Santander Text" panose="020B0504020201020104"/>
              </a:rPr>
              <a:t> “</a:t>
            </a:r>
            <a:r>
              <a:rPr lang="es-ES" sz="1100" b="1" err="1">
                <a:latin typeface="Santander Text" panose="020B0504020201020104"/>
              </a:rPr>
              <a:t>instrument</a:t>
            </a:r>
            <a:r>
              <a:rPr lang="es-ES" sz="1100" b="1">
                <a:latin typeface="Santander Text" panose="020B0504020201020104"/>
              </a:rPr>
              <a:t>” table </a:t>
            </a:r>
            <a:r>
              <a:rPr lang="es-ES" sz="1100" b="1" err="1">
                <a:latin typeface="Santander Text" panose="020B0504020201020104"/>
              </a:rPr>
              <a:t>with</a:t>
            </a:r>
            <a:r>
              <a:rPr lang="es-ES" sz="1100" b="1">
                <a:latin typeface="Santander Text" panose="020B0504020201020104"/>
              </a:rPr>
              <a:t> 94 </a:t>
            </a:r>
            <a:r>
              <a:rPr lang="es-ES" sz="1100" b="1" err="1">
                <a:latin typeface="Santander Text" panose="020B0504020201020104"/>
              </a:rPr>
              <a:t>fields</a:t>
            </a:r>
            <a:r>
              <a:rPr lang="es-ES" sz="1100" b="1">
                <a:latin typeface="Santander Text" panose="020B0504020201020104"/>
              </a:rPr>
              <a:t> </a:t>
            </a:r>
            <a:r>
              <a:rPr lang="es-ES" sz="1100" b="1" err="1">
                <a:latin typeface="Santander Text" panose="020B0504020201020104"/>
              </a:rPr>
              <a:t>will</a:t>
            </a:r>
            <a:r>
              <a:rPr lang="es-ES" sz="1100" b="1">
                <a:latin typeface="Santander Text" panose="020B0504020201020104"/>
              </a:rPr>
              <a:t> be </a:t>
            </a:r>
            <a:r>
              <a:rPr lang="es-ES" sz="1100" b="1" err="1">
                <a:latin typeface="Santander Text" panose="020B0504020201020104"/>
              </a:rPr>
              <a:t>requested</a:t>
            </a:r>
            <a:r>
              <a:rPr lang="es-ES" sz="1100" b="1">
                <a:latin typeface="Santander Text" panose="020B0504020201020104"/>
              </a:rPr>
              <a:t> + 3 </a:t>
            </a:r>
            <a:r>
              <a:rPr lang="es-ES" sz="1100" b="1" err="1">
                <a:latin typeface="Santander Text" panose="020B0504020201020104"/>
              </a:rPr>
              <a:t>identification</a:t>
            </a:r>
            <a:r>
              <a:rPr lang="es-ES" sz="1100" b="1">
                <a:latin typeface="Santander Text" panose="020B0504020201020104"/>
              </a:rPr>
              <a:t> </a:t>
            </a:r>
            <a:r>
              <a:rPr lang="es-ES" sz="1100" b="1" err="1">
                <a:latin typeface="Santander Text" panose="020B0504020201020104"/>
              </a:rPr>
              <a:t>fields</a:t>
            </a:r>
            <a:r>
              <a:rPr lang="es-ES" sz="1100" b="1">
                <a:latin typeface="Santander Text" panose="020B0504020201020104"/>
              </a:rPr>
              <a:t>. </a:t>
            </a:r>
            <a:endParaRPr lang="es-ES" sz="1100">
              <a:latin typeface="Santander Text" panose="020B0504020201020104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2AEFF37-5141-45B6-9144-A3CD903EEF38}"/>
              </a:ext>
            </a:extLst>
          </p:cNvPr>
          <p:cNvSpPr/>
          <p:nvPr/>
        </p:nvSpPr>
        <p:spPr>
          <a:xfrm>
            <a:off x="9448688" y="5083670"/>
            <a:ext cx="2192020" cy="1209076"/>
          </a:xfrm>
          <a:prstGeom prst="rect">
            <a:avLst/>
          </a:prstGeom>
          <a:solidFill>
            <a:schemeClr val="bg2">
              <a:alpha val="31000"/>
            </a:schemeClr>
          </a:solidFill>
          <a:ln w="19050" cap="flat" cmpd="sng" algn="ctr">
            <a:solidFill>
              <a:schemeClr val="tx1"/>
            </a:solidFill>
            <a:prstDash val="dash"/>
            <a:miter lim="800000"/>
          </a:ln>
          <a:effectLst/>
        </p:spPr>
        <p:txBody>
          <a:bodyPr rtlCol="0" anchor="t"/>
          <a:lstStyle/>
          <a:p>
            <a:pPr algn="ctr"/>
            <a:endParaRPr lang="es-ES" sz="1200" b="1" u="sng">
              <a:solidFill>
                <a:schemeClr val="tx2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59335E7-39F6-4EC4-B5E9-0B6664EFB037}"/>
              </a:ext>
            </a:extLst>
          </p:cNvPr>
          <p:cNvSpPr/>
          <p:nvPr/>
        </p:nvSpPr>
        <p:spPr>
          <a:xfrm>
            <a:off x="9522692" y="5149637"/>
            <a:ext cx="2039458" cy="10618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900">
                <a:latin typeface="Santander Text"/>
              </a:rPr>
              <a:t>(*) </a:t>
            </a:r>
            <a:r>
              <a:rPr lang="en-US" sz="900">
                <a:latin typeface="Santander Text"/>
              </a:rPr>
              <a:t>15 additional fields will be requested for contracts considered as Leverage Finance.</a:t>
            </a:r>
            <a:endParaRPr lang="es-ES" sz="900">
              <a:latin typeface="Santander Text"/>
            </a:endParaRPr>
          </a:p>
          <a:p>
            <a:endParaRPr lang="es-ES" sz="900">
              <a:latin typeface="Santander Text"/>
            </a:endParaRPr>
          </a:p>
          <a:p>
            <a:r>
              <a:rPr lang="es-ES" sz="900">
                <a:latin typeface="Santander Text"/>
              </a:rPr>
              <a:t>(**) I</a:t>
            </a:r>
            <a:r>
              <a:rPr lang="en-US" sz="900">
                <a:latin typeface="Santander Text"/>
              </a:rPr>
              <a:t>t will have to be reported for all contracts of a debtor that have at least one contract in RRE.</a:t>
            </a:r>
            <a:endParaRPr lang="es-ES" sz="900">
              <a:latin typeface="Santander Text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E70BD4E-B2DF-4D4C-A368-6391CEEA1FFC}"/>
              </a:ext>
            </a:extLst>
          </p:cNvPr>
          <p:cNvSpPr txBox="1"/>
          <p:nvPr/>
        </p:nvSpPr>
        <p:spPr>
          <a:xfrm>
            <a:off x="9328300" y="4803614"/>
            <a:ext cx="1600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b="1" err="1">
                <a:latin typeface="Santander Headline"/>
              </a:rPr>
              <a:t>Legend</a:t>
            </a:r>
            <a:endParaRPr lang="es-ES" sz="1200" b="1">
              <a:latin typeface="Santander Headline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1EA19D8-A544-4AD2-A24D-B1DCF53D4D9E}"/>
              </a:ext>
            </a:extLst>
          </p:cNvPr>
          <p:cNvSpPr txBox="1"/>
          <p:nvPr/>
        </p:nvSpPr>
        <p:spPr>
          <a:xfrm>
            <a:off x="9609334" y="3238910"/>
            <a:ext cx="21920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>
                <a:latin typeface="Santander Headline"/>
              </a:rPr>
              <a:t>Detail of applicable fields</a:t>
            </a:r>
          </a:p>
        </p:txBody>
      </p:sp>
      <p:sp>
        <p:nvSpPr>
          <p:cNvPr id="45" name="Isosceles Triangle 44">
            <a:extLst>
              <a:ext uri="{FF2B5EF4-FFF2-40B4-BE49-F238E27FC236}">
                <a16:creationId xmlns:a16="http://schemas.microsoft.com/office/drawing/2014/main" id="{61FF181B-05D9-4FA3-A452-FF210EEE683D}"/>
              </a:ext>
            </a:extLst>
          </p:cNvPr>
          <p:cNvSpPr/>
          <p:nvPr/>
        </p:nvSpPr>
        <p:spPr>
          <a:xfrm rot="5400000">
            <a:off x="7427947" y="3728039"/>
            <a:ext cx="3485456" cy="608261"/>
          </a:xfrm>
          <a:prstGeom prst="triangle">
            <a:avLst/>
          </a:prstGeom>
          <a:solidFill>
            <a:schemeClr val="accent1">
              <a:lumMod val="75000"/>
              <a:alpha val="31000"/>
            </a:schemeClr>
          </a:solidFill>
          <a:ln w="1905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algn="ctr"/>
            <a:endParaRPr lang="es-ES" sz="1200" b="1" u="sng">
              <a:solidFill>
                <a:schemeClr val="tx2"/>
              </a:solidFill>
            </a:endParaRPr>
          </a:p>
        </p:txBody>
      </p:sp>
      <p:graphicFrame>
        <p:nvGraphicFramePr>
          <p:cNvPr id="46" name="Tabla 7">
            <a:extLst>
              <a:ext uri="{FF2B5EF4-FFF2-40B4-BE49-F238E27FC236}">
                <a16:creationId xmlns:a16="http://schemas.microsoft.com/office/drawing/2014/main" id="{D8E419BE-22EE-4A4D-B813-22B8749253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0045093"/>
              </p:ext>
            </p:extLst>
          </p:nvPr>
        </p:nvGraphicFramePr>
        <p:xfrm>
          <a:off x="677720" y="1832385"/>
          <a:ext cx="8049717" cy="1203960"/>
        </p:xfrm>
        <a:graphic>
          <a:graphicData uri="http://schemas.openxmlformats.org/drawingml/2006/table">
            <a:tbl>
              <a:tblPr/>
              <a:tblGrid>
                <a:gridCol w="414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4560">
                  <a:extLst>
                    <a:ext uri="{9D8B030D-6E8A-4147-A177-3AD203B41FA5}">
                      <a16:colId xmlns:a16="http://schemas.microsoft.com/office/drawing/2014/main" val="931164600"/>
                    </a:ext>
                  </a:extLst>
                </a:gridCol>
                <a:gridCol w="1148080">
                  <a:extLst>
                    <a:ext uri="{9D8B030D-6E8A-4147-A177-3AD203B41FA5}">
                      <a16:colId xmlns:a16="http://schemas.microsoft.com/office/drawing/2014/main" val="4266344597"/>
                    </a:ext>
                  </a:extLst>
                </a:gridCol>
                <a:gridCol w="945449">
                  <a:extLst>
                    <a:ext uri="{9D8B030D-6E8A-4147-A177-3AD203B41FA5}">
                      <a16:colId xmlns:a16="http://schemas.microsoft.com/office/drawing/2014/main" val="1348945095"/>
                    </a:ext>
                  </a:extLst>
                </a:gridCol>
                <a:gridCol w="883348">
                  <a:extLst>
                    <a:ext uri="{9D8B030D-6E8A-4147-A177-3AD203B41FA5}">
                      <a16:colId xmlns:a16="http://schemas.microsoft.com/office/drawing/2014/main" val="706436110"/>
                    </a:ext>
                  </a:extLst>
                </a:gridCol>
              </a:tblGrid>
              <a:tr h="117192">
                <a:tc rowSpan="2">
                  <a:txBody>
                    <a:bodyPr/>
                    <a:lstStyle/>
                    <a:p>
                      <a:pPr algn="ctr" fontAlgn="b"/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ANNEX NOPER sector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Total </a:t>
                      </a:r>
                      <a:r>
                        <a:rPr lang="es-ES" sz="1000" b="1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subportf</a:t>
                      </a:r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.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s-ES" sz="1200" b="1" i="0" u="none" strike="noStrike">
                          <a:solidFill>
                            <a:schemeClr val="bg1"/>
                          </a:solidFill>
                          <a:effectLst/>
                          <a:latin typeface="Santander Text"/>
                        </a:rPr>
                        <a:t>Total </a:t>
                      </a:r>
                      <a:r>
                        <a:rPr lang="es-ES" sz="1200" b="1" i="0" u="none" strike="noStrike" err="1">
                          <a:solidFill>
                            <a:schemeClr val="bg1"/>
                          </a:solidFill>
                          <a:effectLst/>
                          <a:latin typeface="Santander Text"/>
                        </a:rPr>
                        <a:t>Fields</a:t>
                      </a:r>
                      <a:endParaRPr lang="es-ES" sz="1200" b="1" i="0" u="none" strike="noStrike">
                        <a:solidFill>
                          <a:schemeClr val="bg1"/>
                        </a:solidFill>
                        <a:effectLst/>
                        <a:latin typeface="Santander Text"/>
                      </a:endParaRP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s-ES" sz="1200" b="1" i="0" u="none" strike="noStrike" err="1">
                          <a:solidFill>
                            <a:schemeClr val="bg1"/>
                          </a:solidFill>
                          <a:effectLst/>
                          <a:latin typeface="Santander Text"/>
                        </a:rPr>
                        <a:t>Specific</a:t>
                      </a:r>
                      <a:r>
                        <a:rPr lang="es-ES" sz="1200" b="1" i="0" u="none" strike="noStrike">
                          <a:solidFill>
                            <a:schemeClr val="bg1"/>
                          </a:solidFill>
                          <a:effectLst/>
                          <a:latin typeface="Santander Text"/>
                        </a:rPr>
                        <a:t> </a:t>
                      </a:r>
                      <a:r>
                        <a:rPr lang="es-ES" sz="1200" b="1" i="0" u="none" strike="noStrike" err="1">
                          <a:solidFill>
                            <a:schemeClr val="bg1"/>
                          </a:solidFill>
                          <a:effectLst/>
                          <a:latin typeface="Santander Text"/>
                        </a:rPr>
                        <a:t>fields</a:t>
                      </a:r>
                      <a:endParaRPr lang="es-ES" sz="1200" b="1" i="0" u="none" strike="noStrike">
                        <a:solidFill>
                          <a:schemeClr val="bg1"/>
                        </a:solidFill>
                        <a:effectLst/>
                        <a:latin typeface="Santander Text"/>
                      </a:endParaRPr>
                    </a:p>
                  </a:txBody>
                  <a:tcPr marL="7200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s-ES" sz="1200" b="1" i="0" u="none" strike="noStrike">
                        <a:solidFill>
                          <a:schemeClr val="bg1"/>
                        </a:solidFill>
                        <a:effectLst/>
                        <a:latin typeface="Santander Text"/>
                      </a:endParaRPr>
                    </a:p>
                  </a:txBody>
                  <a:tcPr marL="7200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0838221"/>
                  </a:ext>
                </a:extLst>
              </a:tr>
              <a:tr h="117192">
                <a:tc vMerge="1">
                  <a:txBody>
                    <a:bodyPr/>
                    <a:lstStyle/>
                    <a:p>
                      <a:pPr algn="ctr" fontAlgn="b"/>
                      <a:endParaRPr lang="es-ES" sz="1000" b="1" i="0" u="none" strike="noStrike">
                        <a:solidFill>
                          <a:srgbClr val="000000"/>
                        </a:solidFill>
                        <a:effectLst/>
                        <a:latin typeface="Santander Text"/>
                      </a:endParaRPr>
                    </a:p>
                  </a:txBody>
                  <a:tcPr marL="7200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b"/>
                      <a:endParaRPr lang="es-ES" sz="1000" b="1" i="0" u="none" strike="noStrike">
                        <a:solidFill>
                          <a:srgbClr val="000000"/>
                        </a:solidFill>
                        <a:effectLst/>
                        <a:latin typeface="Santander Text"/>
                      </a:endParaRPr>
                    </a:p>
                  </a:txBody>
                  <a:tcPr marL="7200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b"/>
                      <a:endParaRPr lang="es-ES" sz="1200" b="1" i="0" u="none" strike="noStrike">
                        <a:solidFill>
                          <a:schemeClr val="tx1"/>
                        </a:solidFill>
                        <a:effectLst/>
                        <a:latin typeface="Santander Text"/>
                      </a:endParaRPr>
                    </a:p>
                  </a:txBody>
                  <a:tcPr marL="7200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200" b="1" i="0" u="none" strike="noStrike" err="1">
                          <a:solidFill>
                            <a:schemeClr val="bg1"/>
                          </a:solidFill>
                          <a:effectLst/>
                          <a:latin typeface="Santander Text"/>
                        </a:rPr>
                        <a:t>SMEs</a:t>
                      </a:r>
                      <a:r>
                        <a:rPr lang="es-ES" sz="1200" b="1" i="0" u="none" strike="noStrike">
                          <a:solidFill>
                            <a:schemeClr val="bg1"/>
                          </a:solidFill>
                          <a:effectLst/>
                          <a:latin typeface="Santander Text"/>
                        </a:rPr>
                        <a:t> (1)</a:t>
                      </a:r>
                    </a:p>
                  </a:txBody>
                  <a:tcPr marL="7200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1" i="0" u="none" strike="noStrike">
                          <a:solidFill>
                            <a:schemeClr val="bg1"/>
                          </a:solidFill>
                          <a:effectLst/>
                          <a:latin typeface="Santander Text"/>
                        </a:rPr>
                        <a:t>CRE (2) </a:t>
                      </a:r>
                    </a:p>
                  </a:txBody>
                  <a:tcPr marL="7200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6522177"/>
                  </a:ext>
                </a:extLst>
              </a:tr>
              <a:tr h="54835">
                <a:tc>
                  <a:txBody>
                    <a:bodyPr/>
                    <a:lstStyle/>
                    <a:p>
                      <a:pPr algn="l" fontAlgn="b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    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Cash balances at central banks and other demand deposits</a:t>
                      </a:r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 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4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6">
                  <a:txBody>
                    <a:bodyPr/>
                    <a:lstStyle/>
                    <a:p>
                      <a:pPr algn="ctr" fontAlgn="b"/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228 </a:t>
                      </a:r>
                    </a:p>
                    <a:p>
                      <a:pPr algn="ctr" fontAlgn="b"/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+ 15 </a:t>
                      </a:r>
                      <a:r>
                        <a:rPr lang="es-ES" sz="1000" b="1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fields</a:t>
                      </a:r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 </a:t>
                      </a:r>
                      <a:r>
                        <a:rPr lang="es-ES" sz="1000" b="1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of</a:t>
                      </a:r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 LF (*) </a:t>
                      </a:r>
                    </a:p>
                    <a:p>
                      <a:pPr algn="ctr" fontAlgn="b"/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+ 3 </a:t>
                      </a:r>
                      <a:r>
                        <a:rPr lang="es-ES" sz="1000" b="1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identification</a:t>
                      </a:r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 </a:t>
                      </a:r>
                      <a:r>
                        <a:rPr lang="es-ES" sz="1000" b="1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fields</a:t>
                      </a:r>
                      <a:endParaRPr lang="es-ES" sz="1000" b="1" i="0" u="none" strike="noStrike">
                        <a:solidFill>
                          <a:srgbClr val="000000"/>
                        </a:solidFill>
                        <a:effectLst/>
                        <a:latin typeface="Santander Text"/>
                      </a:endParaRP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b"/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Santander Text"/>
                      </a:endParaRP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dkUpDiag">
                      <a:fgClr>
                        <a:schemeClr val="bg2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rowSpan="2">
                  <a:txBody>
                    <a:bodyPr/>
                    <a:lstStyle/>
                    <a:p>
                      <a:pPr algn="ctr" fontAlgn="b"/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Santander Text"/>
                      </a:endParaRP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dkUpDiag">
                      <a:fgClr>
                        <a:schemeClr val="bg2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174128548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algn="l" fontAlgn="b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    General governments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32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fontAlgn="b"/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Santander Text"/>
                      </a:endParaRP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dkUpDiag">
                      <a:fgClr>
                        <a:schemeClr val="bg2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vMerge="1">
                  <a:txBody>
                    <a:bodyPr/>
                    <a:lstStyle/>
                    <a:p>
                      <a:pPr algn="ctr" fontAlgn="b"/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Santander Text"/>
                      </a:endParaRP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dkUpDiag">
                      <a:fgClr>
                        <a:schemeClr val="bg2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842368530"/>
                  </a:ext>
                </a:extLst>
              </a:tr>
              <a:tr h="158750">
                <a:tc vMerge="1">
                  <a:txBody>
                    <a:bodyPr/>
                    <a:lstStyle/>
                    <a:p>
                      <a:pPr algn="l" fontAlgn="b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    General </a:t>
                      </a:r>
                      <a:r>
                        <a:rPr lang="es-ES" sz="10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governments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Santander Text"/>
                      </a:endParaRP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b"/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32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b"/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Santander Text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Santander Text"/>
                      </a:endParaRP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dkUpDiag">
                      <a:fgClr>
                        <a:schemeClr val="bg2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Santander Text"/>
                      </a:endParaRP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dkUpDiag">
                      <a:fgClr>
                        <a:schemeClr val="bg2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8750">
                <a:tc>
                  <a:txBody>
                    <a:bodyPr/>
                    <a:lstStyle/>
                    <a:p>
                      <a:pPr algn="l" fontAlgn="b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    </a:t>
                      </a:r>
                      <a:r>
                        <a:rPr lang="es-ES" sz="10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Credit</a:t>
                      </a:r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 </a:t>
                      </a:r>
                      <a:r>
                        <a:rPr lang="es-ES" sz="10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institutions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Santander Text"/>
                      </a:endParaRP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32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b"/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Santander Text"/>
                      </a:endParaRPr>
                    </a:p>
                  </a:txBody>
                  <a:tcPr marL="7200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Santander Text"/>
                      </a:endParaRP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dkUpDiag">
                      <a:fgClr>
                        <a:schemeClr val="bg2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Santander Text"/>
                      </a:endParaRP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dkUpDiag">
                      <a:fgClr>
                        <a:schemeClr val="bg2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0066">
                <a:tc>
                  <a:txBody>
                    <a:bodyPr/>
                    <a:lstStyle/>
                    <a:p>
                      <a:pPr algn="l" fontAlgn="b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    </a:t>
                      </a:r>
                      <a:r>
                        <a:rPr lang="es-ES" sz="10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Other</a:t>
                      </a:r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 </a:t>
                      </a:r>
                      <a:r>
                        <a:rPr lang="es-ES" sz="10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financial</a:t>
                      </a:r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 </a:t>
                      </a:r>
                      <a:r>
                        <a:rPr lang="es-ES" sz="10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corporations</a:t>
                      </a:r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 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32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b"/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Santander Text"/>
                      </a:endParaRPr>
                    </a:p>
                  </a:txBody>
                  <a:tcPr marL="72000" marR="6350" marT="6350" marB="0" anchor="b"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Santander Text"/>
                      </a:endParaRP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dkUpDiag">
                      <a:fgClr>
                        <a:schemeClr val="bg2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Santander Text"/>
                      </a:endParaRP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dkUpDiag">
                      <a:fgClr>
                        <a:schemeClr val="bg2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    Non-</a:t>
                      </a:r>
                      <a:r>
                        <a:rPr lang="es-ES" sz="10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financial</a:t>
                      </a:r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 </a:t>
                      </a:r>
                      <a:r>
                        <a:rPr lang="es-ES" sz="10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corporations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Santander Text"/>
                      </a:endParaRP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32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b"/>
                      <a:endParaRPr lang="es-ES" sz="1000" b="1" i="0" u="none" strike="noStrike">
                        <a:solidFill>
                          <a:srgbClr val="000000"/>
                        </a:solidFill>
                        <a:effectLst/>
                        <a:latin typeface="Santander Text"/>
                      </a:endParaRP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+9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Santander Text"/>
                      </a:endParaRP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+17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Santander Text"/>
                      </a:endParaRP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47" name="Tabla 7">
            <a:extLst>
              <a:ext uri="{FF2B5EF4-FFF2-40B4-BE49-F238E27FC236}">
                <a16:creationId xmlns:a16="http://schemas.microsoft.com/office/drawing/2014/main" id="{2E59E1F4-9D18-4C84-91B5-5F8D695F90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3043271"/>
              </p:ext>
            </p:extLst>
          </p:nvPr>
        </p:nvGraphicFramePr>
        <p:xfrm>
          <a:off x="629850" y="4844424"/>
          <a:ext cx="8054295" cy="537210"/>
        </p:xfrm>
        <a:graphic>
          <a:graphicData uri="http://schemas.openxmlformats.org/drawingml/2006/table">
            <a:tbl>
              <a:tblPr/>
              <a:tblGrid>
                <a:gridCol w="2347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38960">
                  <a:extLst>
                    <a:ext uri="{9D8B030D-6E8A-4147-A177-3AD203B41FA5}">
                      <a16:colId xmlns:a16="http://schemas.microsoft.com/office/drawing/2014/main" val="4266344597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1129610681"/>
                    </a:ext>
                  </a:extLst>
                </a:gridCol>
                <a:gridCol w="2090305">
                  <a:extLst>
                    <a:ext uri="{9D8B030D-6E8A-4147-A177-3AD203B41FA5}">
                      <a16:colId xmlns:a16="http://schemas.microsoft.com/office/drawing/2014/main" val="2052975229"/>
                    </a:ext>
                  </a:extLst>
                </a:gridCol>
              </a:tblGrid>
              <a:tr h="117192">
                <a:tc rowSpan="2">
                  <a:txBody>
                    <a:bodyPr/>
                    <a:lstStyle/>
                    <a:p>
                      <a:pPr algn="ctr" fontAlgn="b"/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ANNEX NOPER sector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s-ES" sz="1200" b="1" i="0" u="none" strike="noStrike">
                          <a:solidFill>
                            <a:schemeClr val="tx1"/>
                          </a:solidFill>
                          <a:effectLst/>
                          <a:latin typeface="Santander Text"/>
                        </a:rPr>
                        <a:t>Total </a:t>
                      </a:r>
                      <a:r>
                        <a:rPr lang="es-ES" sz="1200" b="1" i="0" u="none" strike="noStrike" err="1">
                          <a:solidFill>
                            <a:schemeClr val="tx1"/>
                          </a:solidFill>
                          <a:effectLst/>
                          <a:latin typeface="Santander Text"/>
                        </a:rPr>
                        <a:t>subportf</a:t>
                      </a:r>
                      <a:r>
                        <a:rPr lang="es-ES" sz="1200" b="1" i="0" u="none" strike="noStrike">
                          <a:solidFill>
                            <a:schemeClr val="tx1"/>
                          </a:solidFill>
                          <a:effectLst/>
                          <a:latin typeface="Santander Text"/>
                        </a:rPr>
                        <a:t>.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s-ES" sz="1200" b="1" i="0" u="none" strike="noStrike">
                          <a:solidFill>
                            <a:schemeClr val="bg1"/>
                          </a:solidFill>
                          <a:effectLst/>
                          <a:latin typeface="Santander Text"/>
                        </a:rPr>
                        <a:t>Total </a:t>
                      </a:r>
                      <a:r>
                        <a:rPr lang="es-ES" sz="1200" b="1" i="0" u="none" strike="noStrike" err="1">
                          <a:solidFill>
                            <a:schemeClr val="bg1"/>
                          </a:solidFill>
                          <a:effectLst/>
                          <a:latin typeface="Santander Text"/>
                        </a:rPr>
                        <a:t>Fields</a:t>
                      </a:r>
                      <a:endParaRPr lang="es-ES" sz="1200" b="1" i="0" u="none" strike="noStrike">
                        <a:solidFill>
                          <a:schemeClr val="bg1"/>
                        </a:solidFill>
                        <a:effectLst/>
                        <a:latin typeface="Santander Text"/>
                      </a:endParaRP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200" b="1" i="0" u="none" strike="noStrike" err="1">
                          <a:solidFill>
                            <a:schemeClr val="bg1"/>
                          </a:solidFill>
                          <a:effectLst/>
                          <a:latin typeface="Santander Text"/>
                        </a:rPr>
                        <a:t>Specific</a:t>
                      </a:r>
                      <a:r>
                        <a:rPr lang="es-ES_tradnl" sz="1200" b="1" i="0" u="none" strike="noStrike">
                          <a:solidFill>
                            <a:schemeClr val="bg1"/>
                          </a:solidFill>
                          <a:effectLst/>
                          <a:latin typeface="Santander Text"/>
                        </a:rPr>
                        <a:t> </a:t>
                      </a:r>
                      <a:r>
                        <a:rPr lang="es-ES_tradnl" sz="1200" b="1" i="0" u="none" strike="noStrike" err="1">
                          <a:solidFill>
                            <a:schemeClr val="bg1"/>
                          </a:solidFill>
                          <a:effectLst/>
                          <a:latin typeface="Santander Text"/>
                        </a:rPr>
                        <a:t>fields</a:t>
                      </a:r>
                      <a:endParaRPr lang="es-ES" sz="1200" b="1" i="0" u="none" strike="noStrike">
                        <a:solidFill>
                          <a:schemeClr val="bg1"/>
                        </a:solidFill>
                        <a:effectLst/>
                        <a:latin typeface="Santander Text"/>
                      </a:endParaRPr>
                    </a:p>
                  </a:txBody>
                  <a:tcPr marL="7200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8852849"/>
                  </a:ext>
                </a:extLst>
              </a:tr>
              <a:tr h="117192">
                <a:tc vMerge="1">
                  <a:txBody>
                    <a:bodyPr/>
                    <a:lstStyle/>
                    <a:p>
                      <a:pPr algn="ctr" fontAlgn="b"/>
                      <a:endParaRPr lang="es-ES" sz="1000" b="1" i="0" u="none" strike="noStrike">
                        <a:solidFill>
                          <a:srgbClr val="000000"/>
                        </a:solidFill>
                        <a:effectLst/>
                        <a:latin typeface="Santander Text"/>
                      </a:endParaRPr>
                    </a:p>
                  </a:txBody>
                  <a:tcPr marL="7200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b"/>
                      <a:endParaRPr lang="es-ES" sz="1200" b="1" i="0" u="none" strike="noStrike">
                        <a:solidFill>
                          <a:schemeClr val="tx1"/>
                        </a:solidFill>
                        <a:effectLst/>
                        <a:latin typeface="Santander Text"/>
                      </a:endParaRPr>
                    </a:p>
                  </a:txBody>
                  <a:tcPr marL="7200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b"/>
                      <a:endParaRPr lang="es-ES" sz="1200" b="1" i="0" u="none" strike="noStrike">
                        <a:solidFill>
                          <a:schemeClr val="bg1"/>
                        </a:solidFill>
                        <a:effectLst/>
                        <a:latin typeface="Santander Text"/>
                      </a:endParaRPr>
                    </a:p>
                  </a:txBody>
                  <a:tcPr marL="7200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200" b="1" i="0" u="none" strike="noStrike">
                          <a:solidFill>
                            <a:schemeClr val="bg1"/>
                          </a:solidFill>
                          <a:effectLst/>
                          <a:latin typeface="Santander Text"/>
                        </a:rPr>
                        <a:t>RRE (1) (**)</a:t>
                      </a:r>
                    </a:p>
                  </a:txBody>
                  <a:tcPr marL="7200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08382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    </a:t>
                      </a:r>
                      <a:r>
                        <a:rPr lang="es-ES" sz="10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Households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Santander Text"/>
                      </a:endParaRP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22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161 + 3 </a:t>
                      </a:r>
                      <a:r>
                        <a:rPr lang="es-ES" sz="1000" b="1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identification</a:t>
                      </a:r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 </a:t>
                      </a:r>
                      <a:r>
                        <a:rPr lang="es-ES" sz="1000" b="1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fields</a:t>
                      </a:r>
                      <a:endParaRPr lang="es-ES" sz="1000" b="1" i="0" u="none" strike="noStrike">
                        <a:solidFill>
                          <a:srgbClr val="000000"/>
                        </a:solidFill>
                        <a:effectLst/>
                        <a:latin typeface="Santander Text"/>
                      </a:endParaRPr>
                    </a:p>
                  </a:txBody>
                  <a:tcPr marL="7200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+31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Santander Text"/>
                      </a:endParaRPr>
                    </a:p>
                  </a:txBody>
                  <a:tcPr marL="7200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2" name="Rectangle 21">
            <a:extLst>
              <a:ext uri="{FF2B5EF4-FFF2-40B4-BE49-F238E27FC236}">
                <a16:creationId xmlns:a16="http://schemas.microsoft.com/office/drawing/2014/main" id="{303D3B59-5145-457A-873D-934BD76924CF}"/>
              </a:ext>
            </a:extLst>
          </p:cNvPr>
          <p:cNvSpPr/>
          <p:nvPr/>
        </p:nvSpPr>
        <p:spPr>
          <a:xfrm>
            <a:off x="2019069" y="6506783"/>
            <a:ext cx="6637510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900">
                <a:solidFill>
                  <a:prstClr val="black"/>
                </a:solidFill>
                <a:latin typeface="Santander Text" panose="020B0504020201020104" pitchFamily="34" charset="0"/>
              </a:rPr>
              <a:t>(</a:t>
            </a:r>
            <a:r>
              <a:rPr lang="es-ES" sz="900" baseline="30000">
                <a:solidFill>
                  <a:prstClr val="black"/>
                </a:solidFill>
                <a:latin typeface="Santander Text" panose="020B0504020201020104" pitchFamily="34" charset="0"/>
              </a:rPr>
              <a:t>1</a:t>
            </a:r>
            <a:r>
              <a:rPr lang="es-ES" sz="900">
                <a:solidFill>
                  <a:prstClr val="black"/>
                </a:solidFill>
                <a:latin typeface="Santander Text" panose="020B0504020201020104" pitchFamily="34" charset="0"/>
              </a:rPr>
              <a:t>) </a:t>
            </a:r>
            <a:r>
              <a:rPr lang="en-US" sz="900">
                <a:solidFill>
                  <a:prstClr val="black"/>
                </a:solidFill>
                <a:latin typeface="Santander Text" panose="020B0504020201020104" pitchFamily="34" charset="0"/>
              </a:rPr>
              <a:t>The applicability of the fields shall be detailed in the document "Applicability of loan tape fields by counterparty sector". </a:t>
            </a:r>
            <a:endParaRPr lang="es-ES" sz="900"/>
          </a:p>
        </p:txBody>
      </p:sp>
      <p:pic>
        <p:nvPicPr>
          <p:cNvPr id="25" name="Picture 6" descr="Ilustración de flecha con curvas - Descargar PNG/SVG transparente">
            <a:extLst>
              <a:ext uri="{FF2B5EF4-FFF2-40B4-BE49-F238E27FC236}">
                <a16:creationId xmlns:a16="http://schemas.microsoft.com/office/drawing/2014/main" id="{18339D2A-8ECC-4BC1-A180-C045936087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3055828" flipH="1">
            <a:off x="5844212" y="2892955"/>
            <a:ext cx="406007" cy="3234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6" descr="Ilustración de flecha con curvas - Descargar PNG/SVG transparente">
            <a:extLst>
              <a:ext uri="{FF2B5EF4-FFF2-40B4-BE49-F238E27FC236}">
                <a16:creationId xmlns:a16="http://schemas.microsoft.com/office/drawing/2014/main" id="{DBC441F9-7918-42B2-99D6-A12BEA03C5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3055828" flipH="1">
            <a:off x="5001680" y="5313372"/>
            <a:ext cx="430662" cy="3979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270651AC-8B37-4770-8F64-95D7CA30DD0D}"/>
              </a:ext>
            </a:extLst>
          </p:cNvPr>
          <p:cNvSpPr/>
          <p:nvPr/>
        </p:nvSpPr>
        <p:spPr>
          <a:xfrm>
            <a:off x="9833091" y="3520287"/>
            <a:ext cx="1310640" cy="849550"/>
          </a:xfrm>
          <a:prstGeom prst="rect">
            <a:avLst/>
          </a:prstGeom>
          <a:solidFill>
            <a:schemeClr val="accent1">
              <a:lumMod val="75000"/>
              <a:alpha val="31000"/>
            </a:schemeClr>
          </a:solidFill>
          <a:ln w="1905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algn="ctr"/>
            <a:endParaRPr lang="es-ES" sz="1200" b="1" u="sng">
              <a:solidFill>
                <a:schemeClr val="tx2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33278BB-CAE1-4E1F-A27B-2EEEE138C1A7}"/>
              </a:ext>
            </a:extLst>
          </p:cNvPr>
          <p:cNvSpPr txBox="1"/>
          <p:nvPr/>
        </p:nvSpPr>
        <p:spPr>
          <a:xfrm>
            <a:off x="9503492" y="4369543"/>
            <a:ext cx="20168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>
                <a:latin typeface="Santander Text" panose="020B0504020201020104"/>
              </a:rPr>
              <a:t>In addition, a field is included in each table that identify the </a:t>
            </a:r>
            <a:r>
              <a:rPr lang="en-US" sz="800" err="1">
                <a:latin typeface="Santander Text" panose="020B0504020201020104"/>
              </a:rPr>
              <a:t>cargabal</a:t>
            </a:r>
            <a:r>
              <a:rPr lang="en-US" sz="800">
                <a:latin typeface="Santander Text" panose="020B0504020201020104"/>
              </a:rPr>
              <a:t> entity.</a:t>
            </a:r>
            <a:endParaRPr lang="es-ES" sz="800">
              <a:latin typeface="Santander Text" panose="020B0504020201020104"/>
            </a:endParaRPr>
          </a:p>
        </p:txBody>
      </p:sp>
      <p:graphicFrame>
        <p:nvGraphicFramePr>
          <p:cNvPr id="31" name="Object 30">
            <a:extLst>
              <a:ext uri="{FF2B5EF4-FFF2-40B4-BE49-F238E27FC236}">
                <a16:creationId xmlns:a16="http://schemas.microsoft.com/office/drawing/2014/main" id="{6FB58E20-9233-4237-9CA1-0D4092F2E7C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1041749"/>
              </p:ext>
            </p:extLst>
          </p:nvPr>
        </p:nvGraphicFramePr>
        <p:xfrm>
          <a:off x="10008940" y="3604861"/>
          <a:ext cx="914400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1" name="Worksheet" showAsIcon="1" r:id="rId10" imgW="914597" imgH="806311" progId="Excel.Sheet.12">
                  <p:embed/>
                </p:oleObj>
              </mc:Choice>
              <mc:Fallback>
                <p:oleObj name="Worksheet" showAsIcon="1" r:id="rId10" imgW="914597" imgH="806311" progId="Excel.Sheet.12">
                  <p:embed/>
                  <p:pic>
                    <p:nvPicPr>
                      <p:cNvPr id="31" name="Object 30">
                        <a:extLst>
                          <a:ext uri="{FF2B5EF4-FFF2-40B4-BE49-F238E27FC236}">
                            <a16:creationId xmlns:a16="http://schemas.microsoft.com/office/drawing/2014/main" id="{6FB58E20-9233-4237-9CA1-0D4092F2E7C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0008940" y="3604861"/>
                        <a:ext cx="914400" cy="8064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189985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CuadroTexto 24">
            <a:extLst>
              <a:ext uri="{FF2B5EF4-FFF2-40B4-BE49-F238E27FC236}">
                <a16:creationId xmlns:a16="http://schemas.microsoft.com/office/drawing/2014/main" id="{5A844692-2C2D-4A1A-A5B5-7DFCE0035273}"/>
              </a:ext>
            </a:extLst>
          </p:cNvPr>
          <p:cNvSpPr txBox="1"/>
          <p:nvPr/>
        </p:nvSpPr>
        <p:spPr>
          <a:xfrm>
            <a:off x="354000" y="907495"/>
            <a:ext cx="11078679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just"/>
            <a:r>
              <a:rPr lang="en-US" sz="1400">
                <a:solidFill>
                  <a:prstClr val="black"/>
                </a:solidFill>
                <a:latin typeface="Santander Text" panose="020B0504020201020104" pitchFamily="34" charset="0"/>
              </a:rPr>
              <a:t>Once the sub-portfolios of contracts are extracted, </a:t>
            </a:r>
            <a:r>
              <a:rPr lang="en-US" sz="1400" b="1">
                <a:solidFill>
                  <a:prstClr val="black"/>
                </a:solidFill>
                <a:latin typeface="Santander Text" panose="020B0504020201020104" pitchFamily="34" charset="0"/>
              </a:rPr>
              <a:t>the rest of the fields requested in the LT will be included</a:t>
            </a:r>
            <a:r>
              <a:rPr lang="en-US" sz="1400">
                <a:solidFill>
                  <a:prstClr val="black"/>
                </a:solidFill>
                <a:latin typeface="Santander Text" panose="020B0504020201020104" pitchFamily="34" charset="0"/>
              </a:rPr>
              <a:t>, </a:t>
            </a:r>
            <a:r>
              <a:rPr lang="en-US" sz="1400" b="1">
                <a:solidFill>
                  <a:prstClr val="black"/>
                </a:solidFill>
                <a:latin typeface="Santander Text" panose="020B0504020201020104" pitchFamily="34" charset="0"/>
              </a:rPr>
              <a:t>ensuring the consistency of the information with the characteristics of the </a:t>
            </a:r>
            <a:r>
              <a:rPr lang="en-US" sz="1400" b="1" err="1">
                <a:solidFill>
                  <a:prstClr val="black"/>
                </a:solidFill>
                <a:latin typeface="Santander Text" panose="020B0504020201020104" pitchFamily="34" charset="0"/>
              </a:rPr>
              <a:t>subportfolio</a:t>
            </a:r>
            <a:r>
              <a:rPr lang="en-US" sz="1400">
                <a:solidFill>
                  <a:prstClr val="black"/>
                </a:solidFill>
                <a:latin typeface="Santander Text" panose="020B0504020201020104" pitchFamily="34" charset="0"/>
              </a:rPr>
              <a:t> (non-performing, Stage 3, etc.). </a:t>
            </a:r>
            <a:r>
              <a:rPr lang="en-US" sz="1400" b="1">
                <a:solidFill>
                  <a:prstClr val="black"/>
                </a:solidFill>
                <a:latin typeface="Santander Text" panose="020B0504020201020104" pitchFamily="34" charset="0"/>
              </a:rPr>
              <a:t>By doing this, the regulatory and risk scopes will be aligned</a:t>
            </a:r>
            <a:r>
              <a:rPr lang="en-US" sz="1400">
                <a:solidFill>
                  <a:prstClr val="black"/>
                </a:solidFill>
                <a:latin typeface="Santander Text" panose="020B0504020201020104" pitchFamily="34" charset="0"/>
              </a:rPr>
              <a:t>.</a:t>
            </a:r>
            <a:endParaRPr lang="es-ES" sz="1400">
              <a:solidFill>
                <a:prstClr val="black"/>
              </a:solidFill>
              <a:latin typeface="Santander Text" panose="020B0504020201020104" pitchFamily="34" charset="0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58EFBF9-05DA-4642-88B1-B4BDCFAC61E8}"/>
              </a:ext>
            </a:extLst>
          </p:cNvPr>
          <p:cNvSpPr/>
          <p:nvPr/>
        </p:nvSpPr>
        <p:spPr>
          <a:xfrm>
            <a:off x="1324821" y="1538043"/>
            <a:ext cx="1234599" cy="9334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b="1">
                <a:latin typeface="Santander Text" panose="020B0504020201020104"/>
              </a:rPr>
              <a:t>Subset 1: </a:t>
            </a:r>
          </a:p>
          <a:p>
            <a:pPr algn="ctr"/>
            <a:r>
              <a:rPr lang="en-US" sz="1200" b="1">
                <a:latin typeface="Santander Text" panose="020B0504020201020104"/>
              </a:rPr>
              <a:t>“n” contracts</a:t>
            </a:r>
          </a:p>
        </p:txBody>
      </p:sp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F350AFEE-7FEF-49C1-B526-8F31E096A4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1387091"/>
              </p:ext>
            </p:extLst>
          </p:nvPr>
        </p:nvGraphicFramePr>
        <p:xfrm>
          <a:off x="2535282" y="1547849"/>
          <a:ext cx="7611321" cy="933450"/>
        </p:xfrm>
        <a:graphic>
          <a:graphicData uri="http://schemas.openxmlformats.org/drawingml/2006/table">
            <a:tbl>
              <a:tblPr/>
              <a:tblGrid>
                <a:gridCol w="601761">
                  <a:extLst>
                    <a:ext uri="{9D8B030D-6E8A-4147-A177-3AD203B41FA5}">
                      <a16:colId xmlns:a16="http://schemas.microsoft.com/office/drawing/2014/main" val="684571113"/>
                    </a:ext>
                  </a:extLst>
                </a:gridCol>
                <a:gridCol w="759702">
                  <a:extLst>
                    <a:ext uri="{9D8B030D-6E8A-4147-A177-3AD203B41FA5}">
                      <a16:colId xmlns:a16="http://schemas.microsoft.com/office/drawing/2014/main" val="1874595708"/>
                    </a:ext>
                  </a:extLst>
                </a:gridCol>
                <a:gridCol w="721354">
                  <a:extLst>
                    <a:ext uri="{9D8B030D-6E8A-4147-A177-3AD203B41FA5}">
                      <a16:colId xmlns:a16="http://schemas.microsoft.com/office/drawing/2014/main" val="3102096051"/>
                    </a:ext>
                  </a:extLst>
                </a:gridCol>
                <a:gridCol w="653802">
                  <a:extLst>
                    <a:ext uri="{9D8B030D-6E8A-4147-A177-3AD203B41FA5}">
                      <a16:colId xmlns:a16="http://schemas.microsoft.com/office/drawing/2014/main" val="3729122481"/>
                    </a:ext>
                  </a:extLst>
                </a:gridCol>
                <a:gridCol w="436906">
                  <a:extLst>
                    <a:ext uri="{9D8B030D-6E8A-4147-A177-3AD203B41FA5}">
                      <a16:colId xmlns:a16="http://schemas.microsoft.com/office/drawing/2014/main" val="349723910"/>
                    </a:ext>
                  </a:extLst>
                </a:gridCol>
                <a:gridCol w="787811">
                  <a:extLst>
                    <a:ext uri="{9D8B030D-6E8A-4147-A177-3AD203B41FA5}">
                      <a16:colId xmlns:a16="http://schemas.microsoft.com/office/drawing/2014/main" val="2232382895"/>
                    </a:ext>
                  </a:extLst>
                </a:gridCol>
                <a:gridCol w="432638">
                  <a:extLst>
                    <a:ext uri="{9D8B030D-6E8A-4147-A177-3AD203B41FA5}">
                      <a16:colId xmlns:a16="http://schemas.microsoft.com/office/drawing/2014/main" val="1801651339"/>
                    </a:ext>
                  </a:extLst>
                </a:gridCol>
                <a:gridCol w="597828">
                  <a:extLst>
                    <a:ext uri="{9D8B030D-6E8A-4147-A177-3AD203B41FA5}">
                      <a16:colId xmlns:a16="http://schemas.microsoft.com/office/drawing/2014/main" val="2612397216"/>
                    </a:ext>
                  </a:extLst>
                </a:gridCol>
                <a:gridCol w="628605">
                  <a:extLst>
                    <a:ext uri="{9D8B030D-6E8A-4147-A177-3AD203B41FA5}">
                      <a16:colId xmlns:a16="http://schemas.microsoft.com/office/drawing/2014/main" val="496027900"/>
                    </a:ext>
                  </a:extLst>
                </a:gridCol>
                <a:gridCol w="663638">
                  <a:extLst>
                    <a:ext uri="{9D8B030D-6E8A-4147-A177-3AD203B41FA5}">
                      <a16:colId xmlns:a16="http://schemas.microsoft.com/office/drawing/2014/main" val="3491978523"/>
                    </a:ext>
                  </a:extLst>
                </a:gridCol>
                <a:gridCol w="663638">
                  <a:extLst>
                    <a:ext uri="{9D8B030D-6E8A-4147-A177-3AD203B41FA5}">
                      <a16:colId xmlns:a16="http://schemas.microsoft.com/office/drawing/2014/main" val="598494086"/>
                    </a:ext>
                  </a:extLst>
                </a:gridCol>
                <a:gridCol w="663638">
                  <a:extLst>
                    <a:ext uri="{9D8B030D-6E8A-4147-A177-3AD203B41FA5}">
                      <a16:colId xmlns:a16="http://schemas.microsoft.com/office/drawing/2014/main" val="3962317496"/>
                    </a:ext>
                  </a:extLst>
                </a:gridCol>
              </a:tblGrid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noProof="0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Contract ID</a:t>
                      </a:r>
                    </a:p>
                  </a:txBody>
                  <a:tcPr marL="72000" marR="6350" marT="6350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noProof="0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NOPER Segment</a:t>
                      </a:r>
                    </a:p>
                  </a:txBody>
                  <a:tcPr marL="72000" marR="6350" marT="6350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i="0" u="none" strike="noStrike" noProof="0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Accounting portfolio</a:t>
                      </a:r>
                    </a:p>
                  </a:txBody>
                  <a:tcPr marL="72000" marR="6350" marT="6350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i="0" u="none" strike="noStrike" noProof="0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Product</a:t>
                      </a:r>
                    </a:p>
                  </a:txBody>
                  <a:tcPr marL="72000" marR="6350" marT="6350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noProof="0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</a:p>
                  </a:txBody>
                  <a:tcPr marL="72000" marR="6350" marT="6350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noProof="0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Performing status</a:t>
                      </a:r>
                    </a:p>
                  </a:txBody>
                  <a:tcPr marL="72000" marR="6350" marT="6350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noProof="0">
                          <a:solidFill>
                            <a:schemeClr val="tx1"/>
                          </a:solidFill>
                          <a:effectLst/>
                          <a:latin typeface="Santander Text" panose="020B0504020201020104"/>
                        </a:rPr>
                        <a:t>Bruto</a:t>
                      </a:r>
                    </a:p>
                  </a:txBody>
                  <a:tcPr marL="72000" marR="6350" marT="6350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noProof="0">
                          <a:solidFill>
                            <a:schemeClr val="tx1"/>
                          </a:solidFill>
                          <a:effectLst/>
                          <a:latin typeface="Santander Text" panose="020B0504020201020104"/>
                        </a:rPr>
                        <a:t>Provisión</a:t>
                      </a:r>
                    </a:p>
                  </a:txBody>
                  <a:tcPr marL="72000" marR="6350" marT="6350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noProof="0">
                          <a:solidFill>
                            <a:schemeClr val="tx1"/>
                          </a:solidFill>
                          <a:effectLst/>
                          <a:latin typeface="Santander Text" panose="020B0504020201020104"/>
                        </a:rPr>
                        <a:t>Neto</a:t>
                      </a:r>
                    </a:p>
                  </a:txBody>
                  <a:tcPr marL="72000" marR="6350" marT="6350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 noProof="0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PD 12M IFRS9</a:t>
                      </a:r>
                    </a:p>
                  </a:txBody>
                  <a:tcPr marL="72000" marR="6350" marT="6350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i="0" u="none" strike="noStrike" noProof="0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PD lifet. IFRS9</a:t>
                      </a:r>
                    </a:p>
                  </a:txBody>
                  <a:tcPr marL="72000" marR="6350" marT="6350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i="0" u="none" strike="noStrike" noProof="0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[…]</a:t>
                      </a:r>
                    </a:p>
                  </a:txBody>
                  <a:tcPr marL="72000" marR="6350" marT="6350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656396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marL="0" indent="0" algn="ctr" fontAlgn="b">
                        <a:buNone/>
                      </a:pPr>
                      <a:r>
                        <a:rPr lang="en-US" sz="1000" b="0" i="0" u="none" strike="noStrike" noProof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(1) XXX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noProof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Households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noProof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Amortized cost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noProof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Loans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noProof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3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noProof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Non-Performing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noProof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XXX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noProof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(XXX)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XXX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N/A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[…]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2999620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marL="0" indent="0" algn="ctr" fontAlgn="b">
                        <a:buNone/>
                      </a:pPr>
                      <a:r>
                        <a:rPr lang="en-US" sz="1000" b="0" i="0" u="none" strike="noStrike" noProof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(n) XXX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noProof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Households</a:t>
                      </a:r>
                    </a:p>
                    <a:p>
                      <a:pPr algn="ctr" fontAlgn="b"/>
                      <a:endParaRPr lang="en-US" sz="1000" b="0" i="0" u="none" strike="noStrike" noProof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noProof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Amortized cost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noProof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Loans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noProof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3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noProof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Non-Performing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noProof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XXX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noProof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(XXX)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XXX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N/A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[…]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5287812"/>
                  </a:ext>
                </a:extLst>
              </a:tr>
            </a:tbl>
          </a:graphicData>
        </a:graphic>
      </p:graphicFrame>
      <p:sp>
        <p:nvSpPr>
          <p:cNvPr id="42" name="Rectángulo 59">
            <a:extLst>
              <a:ext uri="{FF2B5EF4-FFF2-40B4-BE49-F238E27FC236}">
                <a16:creationId xmlns:a16="http://schemas.microsoft.com/office/drawing/2014/main" id="{B9B6833C-83B9-4E49-94E5-C627FC4F0F78}"/>
              </a:ext>
            </a:extLst>
          </p:cNvPr>
          <p:cNvSpPr/>
          <p:nvPr/>
        </p:nvSpPr>
        <p:spPr>
          <a:xfrm>
            <a:off x="8154840" y="1835775"/>
            <a:ext cx="1327256" cy="655195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algn="ctr"/>
            <a:endParaRPr lang="en-US" sz="1200" b="1" u="sng">
              <a:solidFill>
                <a:srgbClr val="6E7678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3F9DAA-A265-45CE-9C99-D328DA3A3D23}"/>
              </a:ext>
            </a:extLst>
          </p:cNvPr>
          <p:cNvSpPr txBox="1"/>
          <p:nvPr/>
        </p:nvSpPr>
        <p:spPr>
          <a:xfrm>
            <a:off x="7671335" y="2688596"/>
            <a:ext cx="40348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>
                <a:latin typeface="Santander Text" panose="020B0504020201020104"/>
              </a:rPr>
              <a:t>Coherence: in this case, the contract is classified in Stage 3, because the PD will be lifetime and will be equal to 100%.</a:t>
            </a:r>
          </a:p>
        </p:txBody>
      </p:sp>
      <p:sp>
        <p:nvSpPr>
          <p:cNvPr id="44" name="Freeform 335">
            <a:extLst>
              <a:ext uri="{FF2B5EF4-FFF2-40B4-BE49-F238E27FC236}">
                <a16:creationId xmlns:a16="http://schemas.microsoft.com/office/drawing/2014/main" id="{01A5BE36-6583-48B6-9190-1C7EE19A5EB0}"/>
              </a:ext>
            </a:extLst>
          </p:cNvPr>
          <p:cNvSpPr>
            <a:spLocks noEditPoints="1"/>
          </p:cNvSpPr>
          <p:nvPr/>
        </p:nvSpPr>
        <p:spPr bwMode="auto">
          <a:xfrm rot="16200000">
            <a:off x="8755567" y="2332856"/>
            <a:ext cx="264116" cy="359246"/>
          </a:xfrm>
          <a:custGeom>
            <a:avLst/>
            <a:gdLst>
              <a:gd name="T0" fmla="*/ 3 w 41"/>
              <a:gd name="T1" fmla="*/ 23 h 37"/>
              <a:gd name="T2" fmla="*/ 0 w 41"/>
              <a:gd name="T3" fmla="*/ 20 h 37"/>
              <a:gd name="T4" fmla="*/ 2 w 41"/>
              <a:gd name="T5" fmla="*/ 16 h 37"/>
              <a:gd name="T6" fmla="*/ 11 w 41"/>
              <a:gd name="T7" fmla="*/ 5 h 37"/>
              <a:gd name="T8" fmla="*/ 14 w 41"/>
              <a:gd name="T9" fmla="*/ 2 h 37"/>
              <a:gd name="T10" fmla="*/ 17 w 41"/>
              <a:gd name="T11" fmla="*/ 0 h 37"/>
              <a:gd name="T12" fmla="*/ 20 w 41"/>
              <a:gd name="T13" fmla="*/ 3 h 37"/>
              <a:gd name="T14" fmla="*/ 20 w 41"/>
              <a:gd name="T15" fmla="*/ 9 h 37"/>
              <a:gd name="T16" fmla="*/ 30 w 41"/>
              <a:gd name="T17" fmla="*/ 9 h 37"/>
              <a:gd name="T18" fmla="*/ 39 w 41"/>
              <a:gd name="T19" fmla="*/ 8 h 37"/>
              <a:gd name="T20" fmla="*/ 41 w 41"/>
              <a:gd name="T21" fmla="*/ 14 h 37"/>
              <a:gd name="T22" fmla="*/ 41 w 41"/>
              <a:gd name="T23" fmla="*/ 24 h 37"/>
              <a:gd name="T24" fmla="*/ 35 w 41"/>
              <a:gd name="T25" fmla="*/ 25 h 37"/>
              <a:gd name="T26" fmla="*/ 29 w 41"/>
              <a:gd name="T27" fmla="*/ 25 h 37"/>
              <a:gd name="T28" fmla="*/ 19 w 41"/>
              <a:gd name="T29" fmla="*/ 27 h 37"/>
              <a:gd name="T30" fmla="*/ 20 w 41"/>
              <a:gd name="T31" fmla="*/ 37 h 37"/>
              <a:gd name="T32" fmla="*/ 18 w 41"/>
              <a:gd name="T33" fmla="*/ 36 h 37"/>
              <a:gd name="T34" fmla="*/ 13 w 41"/>
              <a:gd name="T35" fmla="*/ 31 h 37"/>
              <a:gd name="T36" fmla="*/ 7 w 41"/>
              <a:gd name="T37" fmla="*/ 26 h 37"/>
              <a:gd name="T38" fmla="*/ 10 w 41"/>
              <a:gd name="T39" fmla="*/ 12 h 37"/>
              <a:gd name="T40" fmla="*/ 20 w 41"/>
              <a:gd name="T41" fmla="*/ 18 h 37"/>
              <a:gd name="T42" fmla="*/ 27 w 41"/>
              <a:gd name="T43" fmla="*/ 22 h 37"/>
              <a:gd name="T44" fmla="*/ 31 w 41"/>
              <a:gd name="T45" fmla="*/ 23 h 37"/>
              <a:gd name="T46" fmla="*/ 21 w 41"/>
              <a:gd name="T47" fmla="*/ 17 h 37"/>
              <a:gd name="T48" fmla="*/ 12 w 41"/>
              <a:gd name="T49" fmla="*/ 12 h 37"/>
              <a:gd name="T50" fmla="*/ 10 w 41"/>
              <a:gd name="T51" fmla="*/ 10 h 37"/>
              <a:gd name="T52" fmla="*/ 23 w 41"/>
              <a:gd name="T53" fmla="*/ 13 h 37"/>
              <a:gd name="T54" fmla="*/ 36 w 41"/>
              <a:gd name="T55" fmla="*/ 21 h 37"/>
              <a:gd name="T56" fmla="*/ 38 w 41"/>
              <a:gd name="T57" fmla="*/ 21 h 37"/>
              <a:gd name="T58" fmla="*/ 30 w 41"/>
              <a:gd name="T59" fmla="*/ 15 h 37"/>
              <a:gd name="T60" fmla="*/ 24 w 41"/>
              <a:gd name="T61" fmla="*/ 11 h 37"/>
              <a:gd name="T62" fmla="*/ 6 w 41"/>
              <a:gd name="T63" fmla="*/ 20 h 37"/>
              <a:gd name="T64" fmla="*/ 15 w 41"/>
              <a:gd name="T65" fmla="*/ 25 h 37"/>
              <a:gd name="T66" fmla="*/ 14 w 41"/>
              <a:gd name="T67" fmla="*/ 23 h 37"/>
              <a:gd name="T68" fmla="*/ 9 w 41"/>
              <a:gd name="T69" fmla="*/ 20 h 37"/>
              <a:gd name="T70" fmla="*/ 4 w 41"/>
              <a:gd name="T71" fmla="*/ 19 h 37"/>
              <a:gd name="T72" fmla="*/ 11 w 41"/>
              <a:gd name="T73" fmla="*/ 16 h 37"/>
              <a:gd name="T74" fmla="*/ 14 w 41"/>
              <a:gd name="T75" fmla="*/ 18 h 37"/>
              <a:gd name="T76" fmla="*/ 23 w 41"/>
              <a:gd name="T77" fmla="*/ 24 h 37"/>
              <a:gd name="T78" fmla="*/ 23 w 41"/>
              <a:gd name="T79" fmla="*/ 22 h 37"/>
              <a:gd name="T80" fmla="*/ 38 w 41"/>
              <a:gd name="T81" fmla="*/ 18 h 37"/>
              <a:gd name="T82" fmla="*/ 34 w 41"/>
              <a:gd name="T83" fmla="*/ 15 h 37"/>
              <a:gd name="T84" fmla="*/ 33 w 41"/>
              <a:gd name="T85" fmla="*/ 22 h 37"/>
              <a:gd name="T86" fmla="*/ 23 w 41"/>
              <a:gd name="T87" fmla="*/ 16 h 37"/>
              <a:gd name="T88" fmla="*/ 33 w 41"/>
              <a:gd name="T89" fmla="*/ 22 h 37"/>
              <a:gd name="T90" fmla="*/ 16 w 41"/>
              <a:gd name="T91" fmla="*/ 28 h 37"/>
              <a:gd name="T92" fmla="*/ 8 w 41"/>
              <a:gd name="T93" fmla="*/ 23 h 37"/>
              <a:gd name="T94" fmla="*/ 9 w 41"/>
              <a:gd name="T95" fmla="*/ 25 h 37"/>
              <a:gd name="T96" fmla="*/ 16 w 41"/>
              <a:gd name="T97" fmla="*/ 29 h 37"/>
              <a:gd name="T98" fmla="*/ 16 w 41"/>
              <a:gd name="T99" fmla="*/ 7 h 37"/>
              <a:gd name="T100" fmla="*/ 13 w 41"/>
              <a:gd name="T101" fmla="*/ 6 h 37"/>
              <a:gd name="T102" fmla="*/ 19 w 41"/>
              <a:gd name="T103" fmla="*/ 12 h 37"/>
              <a:gd name="T104" fmla="*/ 35 w 41"/>
              <a:gd name="T105" fmla="*/ 10 h 37"/>
              <a:gd name="T106" fmla="*/ 39 w 41"/>
              <a:gd name="T107" fmla="*/ 11 h 37"/>
              <a:gd name="T108" fmla="*/ 35 w 41"/>
              <a:gd name="T109" fmla="*/ 10 h 37"/>
              <a:gd name="T110" fmla="*/ 12 w 41"/>
              <a:gd name="T111" fmla="*/ 19 h 37"/>
              <a:gd name="T112" fmla="*/ 38 w 41"/>
              <a:gd name="T113" fmla="*/ 15 h 37"/>
              <a:gd name="T114" fmla="*/ 38 w 41"/>
              <a:gd name="T115" fmla="*/ 15 h 37"/>
              <a:gd name="T116" fmla="*/ 26 w 41"/>
              <a:gd name="T117" fmla="*/ 11 h 37"/>
              <a:gd name="T118" fmla="*/ 35 w 41"/>
              <a:gd name="T119" fmla="*/ 23 h 37"/>
              <a:gd name="T120" fmla="*/ 35 w 41"/>
              <a:gd name="T121" fmla="*/ 23 h 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41" h="37">
                <a:moveTo>
                  <a:pt x="7" y="26"/>
                </a:moveTo>
                <a:cubicBezTo>
                  <a:pt x="6" y="25"/>
                  <a:pt x="5" y="24"/>
                  <a:pt x="4" y="23"/>
                </a:cubicBezTo>
                <a:cubicBezTo>
                  <a:pt x="3" y="23"/>
                  <a:pt x="3" y="23"/>
                  <a:pt x="3" y="23"/>
                </a:cubicBezTo>
                <a:cubicBezTo>
                  <a:pt x="3" y="23"/>
                  <a:pt x="3" y="23"/>
                  <a:pt x="3" y="23"/>
                </a:cubicBezTo>
                <a:cubicBezTo>
                  <a:pt x="2" y="22"/>
                  <a:pt x="1" y="22"/>
                  <a:pt x="1" y="21"/>
                </a:cubicBezTo>
                <a:cubicBezTo>
                  <a:pt x="0" y="21"/>
                  <a:pt x="0" y="20"/>
                  <a:pt x="0" y="20"/>
                </a:cubicBezTo>
                <a:cubicBezTo>
                  <a:pt x="0" y="20"/>
                  <a:pt x="1" y="19"/>
                  <a:pt x="1" y="19"/>
                </a:cubicBezTo>
                <a:cubicBezTo>
                  <a:pt x="0" y="19"/>
                  <a:pt x="0" y="19"/>
                  <a:pt x="0" y="19"/>
                </a:cubicBezTo>
                <a:cubicBezTo>
                  <a:pt x="0" y="17"/>
                  <a:pt x="1" y="17"/>
                  <a:pt x="2" y="16"/>
                </a:cubicBezTo>
                <a:cubicBezTo>
                  <a:pt x="2" y="15"/>
                  <a:pt x="3" y="15"/>
                  <a:pt x="4" y="14"/>
                </a:cubicBezTo>
                <a:cubicBezTo>
                  <a:pt x="5" y="13"/>
                  <a:pt x="5" y="12"/>
                  <a:pt x="6" y="11"/>
                </a:cubicBezTo>
                <a:cubicBezTo>
                  <a:pt x="8" y="9"/>
                  <a:pt x="10" y="7"/>
                  <a:pt x="11" y="5"/>
                </a:cubicBezTo>
                <a:cubicBezTo>
                  <a:pt x="12" y="5"/>
                  <a:pt x="12" y="4"/>
                  <a:pt x="12" y="3"/>
                </a:cubicBezTo>
                <a:cubicBezTo>
                  <a:pt x="12" y="3"/>
                  <a:pt x="13" y="3"/>
                  <a:pt x="13" y="3"/>
                </a:cubicBezTo>
                <a:cubicBezTo>
                  <a:pt x="14" y="3"/>
                  <a:pt x="14" y="2"/>
                  <a:pt x="14" y="2"/>
                </a:cubicBezTo>
                <a:cubicBezTo>
                  <a:pt x="14" y="2"/>
                  <a:pt x="15" y="2"/>
                  <a:pt x="15" y="2"/>
                </a:cubicBezTo>
                <a:cubicBezTo>
                  <a:pt x="15" y="1"/>
                  <a:pt x="16" y="0"/>
                  <a:pt x="17" y="1"/>
                </a:cubicBezTo>
                <a:cubicBezTo>
                  <a:pt x="17" y="1"/>
                  <a:pt x="17" y="0"/>
                  <a:pt x="17" y="0"/>
                </a:cubicBezTo>
                <a:cubicBezTo>
                  <a:pt x="18" y="0"/>
                  <a:pt x="19" y="0"/>
                  <a:pt x="19" y="1"/>
                </a:cubicBezTo>
                <a:cubicBezTo>
                  <a:pt x="19" y="1"/>
                  <a:pt x="20" y="1"/>
                  <a:pt x="19" y="2"/>
                </a:cubicBezTo>
                <a:cubicBezTo>
                  <a:pt x="19" y="2"/>
                  <a:pt x="20" y="3"/>
                  <a:pt x="20" y="3"/>
                </a:cubicBezTo>
                <a:cubicBezTo>
                  <a:pt x="20" y="5"/>
                  <a:pt x="19" y="6"/>
                  <a:pt x="19" y="8"/>
                </a:cubicBezTo>
                <a:cubicBezTo>
                  <a:pt x="19" y="8"/>
                  <a:pt x="19" y="8"/>
                  <a:pt x="19" y="9"/>
                </a:cubicBezTo>
                <a:cubicBezTo>
                  <a:pt x="19" y="9"/>
                  <a:pt x="20" y="9"/>
                  <a:pt x="20" y="9"/>
                </a:cubicBezTo>
                <a:cubicBezTo>
                  <a:pt x="20" y="9"/>
                  <a:pt x="21" y="9"/>
                  <a:pt x="22" y="9"/>
                </a:cubicBezTo>
                <a:cubicBezTo>
                  <a:pt x="23" y="9"/>
                  <a:pt x="25" y="8"/>
                  <a:pt x="26" y="9"/>
                </a:cubicBezTo>
                <a:cubicBezTo>
                  <a:pt x="27" y="9"/>
                  <a:pt x="29" y="9"/>
                  <a:pt x="30" y="9"/>
                </a:cubicBezTo>
                <a:cubicBezTo>
                  <a:pt x="31" y="9"/>
                  <a:pt x="33" y="8"/>
                  <a:pt x="34" y="8"/>
                </a:cubicBezTo>
                <a:cubicBezTo>
                  <a:pt x="36" y="8"/>
                  <a:pt x="37" y="8"/>
                  <a:pt x="39" y="9"/>
                </a:cubicBezTo>
                <a:cubicBezTo>
                  <a:pt x="39" y="9"/>
                  <a:pt x="39" y="8"/>
                  <a:pt x="39" y="8"/>
                </a:cubicBezTo>
                <a:cubicBezTo>
                  <a:pt x="40" y="8"/>
                  <a:pt x="40" y="8"/>
                  <a:pt x="40" y="8"/>
                </a:cubicBezTo>
                <a:cubicBezTo>
                  <a:pt x="41" y="10"/>
                  <a:pt x="41" y="11"/>
                  <a:pt x="41" y="12"/>
                </a:cubicBezTo>
                <a:cubicBezTo>
                  <a:pt x="41" y="13"/>
                  <a:pt x="41" y="13"/>
                  <a:pt x="41" y="14"/>
                </a:cubicBezTo>
                <a:cubicBezTo>
                  <a:pt x="41" y="15"/>
                  <a:pt x="41" y="16"/>
                  <a:pt x="41" y="18"/>
                </a:cubicBezTo>
                <a:cubicBezTo>
                  <a:pt x="41" y="19"/>
                  <a:pt x="41" y="20"/>
                  <a:pt x="41" y="22"/>
                </a:cubicBezTo>
                <a:cubicBezTo>
                  <a:pt x="41" y="23"/>
                  <a:pt x="41" y="23"/>
                  <a:pt x="41" y="24"/>
                </a:cubicBezTo>
                <a:cubicBezTo>
                  <a:pt x="41" y="25"/>
                  <a:pt x="40" y="25"/>
                  <a:pt x="39" y="25"/>
                </a:cubicBezTo>
                <a:cubicBezTo>
                  <a:pt x="39" y="24"/>
                  <a:pt x="38" y="25"/>
                  <a:pt x="37" y="25"/>
                </a:cubicBezTo>
                <a:cubicBezTo>
                  <a:pt x="36" y="25"/>
                  <a:pt x="36" y="25"/>
                  <a:pt x="35" y="25"/>
                </a:cubicBezTo>
                <a:cubicBezTo>
                  <a:pt x="34" y="25"/>
                  <a:pt x="34" y="25"/>
                  <a:pt x="34" y="25"/>
                </a:cubicBezTo>
                <a:cubicBezTo>
                  <a:pt x="34" y="25"/>
                  <a:pt x="33" y="25"/>
                  <a:pt x="33" y="25"/>
                </a:cubicBezTo>
                <a:cubicBezTo>
                  <a:pt x="32" y="25"/>
                  <a:pt x="30" y="25"/>
                  <a:pt x="29" y="25"/>
                </a:cubicBezTo>
                <a:cubicBezTo>
                  <a:pt x="28" y="25"/>
                  <a:pt x="27" y="25"/>
                  <a:pt x="25" y="25"/>
                </a:cubicBezTo>
                <a:cubicBezTo>
                  <a:pt x="24" y="25"/>
                  <a:pt x="22" y="26"/>
                  <a:pt x="20" y="26"/>
                </a:cubicBezTo>
                <a:cubicBezTo>
                  <a:pt x="19" y="26"/>
                  <a:pt x="19" y="26"/>
                  <a:pt x="19" y="27"/>
                </a:cubicBezTo>
                <a:cubicBezTo>
                  <a:pt x="19" y="29"/>
                  <a:pt x="19" y="30"/>
                  <a:pt x="20" y="31"/>
                </a:cubicBezTo>
                <a:cubicBezTo>
                  <a:pt x="20" y="33"/>
                  <a:pt x="20" y="34"/>
                  <a:pt x="20" y="35"/>
                </a:cubicBezTo>
                <a:cubicBezTo>
                  <a:pt x="21" y="36"/>
                  <a:pt x="21" y="37"/>
                  <a:pt x="20" y="37"/>
                </a:cubicBezTo>
                <a:cubicBezTo>
                  <a:pt x="20" y="37"/>
                  <a:pt x="20" y="37"/>
                  <a:pt x="19" y="37"/>
                </a:cubicBezTo>
                <a:cubicBezTo>
                  <a:pt x="19" y="37"/>
                  <a:pt x="19" y="37"/>
                  <a:pt x="19" y="37"/>
                </a:cubicBezTo>
                <a:cubicBezTo>
                  <a:pt x="18" y="37"/>
                  <a:pt x="18" y="37"/>
                  <a:pt x="18" y="36"/>
                </a:cubicBezTo>
                <a:cubicBezTo>
                  <a:pt x="18" y="35"/>
                  <a:pt x="17" y="35"/>
                  <a:pt x="16" y="34"/>
                </a:cubicBezTo>
                <a:cubicBezTo>
                  <a:pt x="16" y="34"/>
                  <a:pt x="16" y="34"/>
                  <a:pt x="16" y="34"/>
                </a:cubicBezTo>
                <a:cubicBezTo>
                  <a:pt x="15" y="33"/>
                  <a:pt x="14" y="32"/>
                  <a:pt x="13" y="31"/>
                </a:cubicBezTo>
                <a:cubicBezTo>
                  <a:pt x="12" y="31"/>
                  <a:pt x="12" y="30"/>
                  <a:pt x="12" y="30"/>
                </a:cubicBezTo>
                <a:cubicBezTo>
                  <a:pt x="10" y="29"/>
                  <a:pt x="10" y="28"/>
                  <a:pt x="8" y="27"/>
                </a:cubicBezTo>
                <a:cubicBezTo>
                  <a:pt x="7" y="27"/>
                  <a:pt x="7" y="26"/>
                  <a:pt x="7" y="26"/>
                </a:cubicBezTo>
                <a:close/>
                <a:moveTo>
                  <a:pt x="10" y="10"/>
                </a:moveTo>
                <a:cubicBezTo>
                  <a:pt x="10" y="11"/>
                  <a:pt x="10" y="11"/>
                  <a:pt x="10" y="11"/>
                </a:cubicBezTo>
                <a:cubicBezTo>
                  <a:pt x="10" y="12"/>
                  <a:pt x="10" y="12"/>
                  <a:pt x="10" y="12"/>
                </a:cubicBezTo>
                <a:cubicBezTo>
                  <a:pt x="11" y="13"/>
                  <a:pt x="12" y="13"/>
                  <a:pt x="13" y="14"/>
                </a:cubicBezTo>
                <a:cubicBezTo>
                  <a:pt x="15" y="15"/>
                  <a:pt x="16" y="16"/>
                  <a:pt x="18" y="17"/>
                </a:cubicBezTo>
                <a:cubicBezTo>
                  <a:pt x="18" y="17"/>
                  <a:pt x="19" y="18"/>
                  <a:pt x="20" y="18"/>
                </a:cubicBezTo>
                <a:cubicBezTo>
                  <a:pt x="21" y="19"/>
                  <a:pt x="23" y="20"/>
                  <a:pt x="25" y="21"/>
                </a:cubicBezTo>
                <a:cubicBezTo>
                  <a:pt x="26" y="21"/>
                  <a:pt x="26" y="22"/>
                  <a:pt x="27" y="22"/>
                </a:cubicBezTo>
                <a:cubicBezTo>
                  <a:pt x="27" y="22"/>
                  <a:pt x="27" y="22"/>
                  <a:pt x="27" y="22"/>
                </a:cubicBezTo>
                <a:cubicBezTo>
                  <a:pt x="27" y="23"/>
                  <a:pt x="28" y="23"/>
                  <a:pt x="28" y="23"/>
                </a:cubicBezTo>
                <a:cubicBezTo>
                  <a:pt x="29" y="23"/>
                  <a:pt x="29" y="23"/>
                  <a:pt x="30" y="23"/>
                </a:cubicBezTo>
                <a:cubicBezTo>
                  <a:pt x="30" y="23"/>
                  <a:pt x="30" y="23"/>
                  <a:pt x="31" y="23"/>
                </a:cubicBezTo>
                <a:cubicBezTo>
                  <a:pt x="30" y="23"/>
                  <a:pt x="30" y="22"/>
                  <a:pt x="29" y="22"/>
                </a:cubicBezTo>
                <a:cubicBezTo>
                  <a:pt x="28" y="21"/>
                  <a:pt x="26" y="21"/>
                  <a:pt x="25" y="20"/>
                </a:cubicBezTo>
                <a:cubicBezTo>
                  <a:pt x="24" y="19"/>
                  <a:pt x="23" y="18"/>
                  <a:pt x="21" y="17"/>
                </a:cubicBezTo>
                <a:cubicBezTo>
                  <a:pt x="20" y="17"/>
                  <a:pt x="19" y="16"/>
                  <a:pt x="18" y="15"/>
                </a:cubicBezTo>
                <a:cubicBezTo>
                  <a:pt x="17" y="14"/>
                  <a:pt x="16" y="14"/>
                  <a:pt x="15" y="13"/>
                </a:cubicBezTo>
                <a:cubicBezTo>
                  <a:pt x="14" y="13"/>
                  <a:pt x="13" y="12"/>
                  <a:pt x="12" y="12"/>
                </a:cubicBezTo>
                <a:cubicBezTo>
                  <a:pt x="11" y="11"/>
                  <a:pt x="10" y="11"/>
                  <a:pt x="10" y="10"/>
                </a:cubicBezTo>
                <a:cubicBezTo>
                  <a:pt x="10" y="10"/>
                  <a:pt x="10" y="10"/>
                  <a:pt x="10" y="10"/>
                </a:cubicBezTo>
                <a:cubicBezTo>
                  <a:pt x="10" y="10"/>
                  <a:pt x="10" y="10"/>
                  <a:pt x="10" y="10"/>
                </a:cubicBezTo>
                <a:close/>
                <a:moveTo>
                  <a:pt x="20" y="12"/>
                </a:moveTo>
                <a:cubicBezTo>
                  <a:pt x="21" y="12"/>
                  <a:pt x="21" y="12"/>
                  <a:pt x="22" y="13"/>
                </a:cubicBezTo>
                <a:cubicBezTo>
                  <a:pt x="22" y="13"/>
                  <a:pt x="23" y="13"/>
                  <a:pt x="23" y="13"/>
                </a:cubicBezTo>
                <a:cubicBezTo>
                  <a:pt x="24" y="14"/>
                  <a:pt x="25" y="14"/>
                  <a:pt x="26" y="15"/>
                </a:cubicBezTo>
                <a:cubicBezTo>
                  <a:pt x="27" y="16"/>
                  <a:pt x="29" y="17"/>
                  <a:pt x="31" y="18"/>
                </a:cubicBezTo>
                <a:cubicBezTo>
                  <a:pt x="32" y="19"/>
                  <a:pt x="34" y="20"/>
                  <a:pt x="36" y="21"/>
                </a:cubicBezTo>
                <a:cubicBezTo>
                  <a:pt x="36" y="21"/>
                  <a:pt x="37" y="21"/>
                  <a:pt x="38" y="22"/>
                </a:cubicBezTo>
                <a:cubicBezTo>
                  <a:pt x="38" y="22"/>
                  <a:pt x="38" y="22"/>
                  <a:pt x="38" y="22"/>
                </a:cubicBezTo>
                <a:cubicBezTo>
                  <a:pt x="38" y="21"/>
                  <a:pt x="38" y="21"/>
                  <a:pt x="38" y="21"/>
                </a:cubicBezTo>
                <a:cubicBezTo>
                  <a:pt x="37" y="20"/>
                  <a:pt x="36" y="20"/>
                  <a:pt x="36" y="20"/>
                </a:cubicBezTo>
                <a:cubicBezTo>
                  <a:pt x="34" y="19"/>
                  <a:pt x="33" y="18"/>
                  <a:pt x="32" y="17"/>
                </a:cubicBezTo>
                <a:cubicBezTo>
                  <a:pt x="32" y="16"/>
                  <a:pt x="31" y="16"/>
                  <a:pt x="30" y="15"/>
                </a:cubicBezTo>
                <a:cubicBezTo>
                  <a:pt x="29" y="15"/>
                  <a:pt x="28" y="14"/>
                  <a:pt x="27" y="14"/>
                </a:cubicBezTo>
                <a:cubicBezTo>
                  <a:pt x="26" y="14"/>
                  <a:pt x="26" y="14"/>
                  <a:pt x="25" y="13"/>
                </a:cubicBezTo>
                <a:cubicBezTo>
                  <a:pt x="24" y="13"/>
                  <a:pt x="24" y="12"/>
                  <a:pt x="24" y="11"/>
                </a:cubicBezTo>
                <a:cubicBezTo>
                  <a:pt x="23" y="11"/>
                  <a:pt x="21" y="11"/>
                  <a:pt x="20" y="12"/>
                </a:cubicBezTo>
                <a:close/>
                <a:moveTo>
                  <a:pt x="4" y="19"/>
                </a:moveTo>
                <a:cubicBezTo>
                  <a:pt x="5" y="19"/>
                  <a:pt x="5" y="20"/>
                  <a:pt x="6" y="20"/>
                </a:cubicBezTo>
                <a:cubicBezTo>
                  <a:pt x="7" y="21"/>
                  <a:pt x="8" y="21"/>
                  <a:pt x="10" y="22"/>
                </a:cubicBezTo>
                <a:cubicBezTo>
                  <a:pt x="10" y="22"/>
                  <a:pt x="11" y="23"/>
                  <a:pt x="12" y="23"/>
                </a:cubicBezTo>
                <a:cubicBezTo>
                  <a:pt x="13" y="24"/>
                  <a:pt x="14" y="25"/>
                  <a:pt x="15" y="25"/>
                </a:cubicBezTo>
                <a:cubicBezTo>
                  <a:pt x="16" y="26"/>
                  <a:pt x="16" y="26"/>
                  <a:pt x="17" y="26"/>
                </a:cubicBezTo>
                <a:cubicBezTo>
                  <a:pt x="17" y="26"/>
                  <a:pt x="17" y="25"/>
                  <a:pt x="16" y="25"/>
                </a:cubicBezTo>
                <a:cubicBezTo>
                  <a:pt x="16" y="24"/>
                  <a:pt x="15" y="24"/>
                  <a:pt x="14" y="23"/>
                </a:cubicBezTo>
                <a:cubicBezTo>
                  <a:pt x="14" y="23"/>
                  <a:pt x="13" y="22"/>
                  <a:pt x="13" y="22"/>
                </a:cubicBezTo>
                <a:cubicBezTo>
                  <a:pt x="12" y="22"/>
                  <a:pt x="12" y="22"/>
                  <a:pt x="11" y="21"/>
                </a:cubicBezTo>
                <a:cubicBezTo>
                  <a:pt x="10" y="21"/>
                  <a:pt x="10" y="20"/>
                  <a:pt x="9" y="20"/>
                </a:cubicBezTo>
                <a:cubicBezTo>
                  <a:pt x="8" y="19"/>
                  <a:pt x="6" y="19"/>
                  <a:pt x="4" y="18"/>
                </a:cubicBezTo>
                <a:cubicBezTo>
                  <a:pt x="4" y="18"/>
                  <a:pt x="4" y="18"/>
                  <a:pt x="4" y="18"/>
                </a:cubicBezTo>
                <a:cubicBezTo>
                  <a:pt x="4" y="18"/>
                  <a:pt x="4" y="18"/>
                  <a:pt x="4" y="19"/>
                </a:cubicBezTo>
                <a:close/>
                <a:moveTo>
                  <a:pt x="9" y="14"/>
                </a:moveTo>
                <a:cubicBezTo>
                  <a:pt x="9" y="14"/>
                  <a:pt x="9" y="15"/>
                  <a:pt x="9" y="15"/>
                </a:cubicBezTo>
                <a:cubicBezTo>
                  <a:pt x="10" y="15"/>
                  <a:pt x="10" y="16"/>
                  <a:pt x="11" y="16"/>
                </a:cubicBezTo>
                <a:cubicBezTo>
                  <a:pt x="11" y="16"/>
                  <a:pt x="11" y="16"/>
                  <a:pt x="12" y="16"/>
                </a:cubicBezTo>
                <a:cubicBezTo>
                  <a:pt x="12" y="17"/>
                  <a:pt x="12" y="17"/>
                  <a:pt x="13" y="17"/>
                </a:cubicBezTo>
                <a:cubicBezTo>
                  <a:pt x="13" y="18"/>
                  <a:pt x="14" y="18"/>
                  <a:pt x="14" y="18"/>
                </a:cubicBezTo>
                <a:cubicBezTo>
                  <a:pt x="16" y="19"/>
                  <a:pt x="17" y="20"/>
                  <a:pt x="19" y="21"/>
                </a:cubicBezTo>
                <a:cubicBezTo>
                  <a:pt x="19" y="21"/>
                  <a:pt x="20" y="21"/>
                  <a:pt x="20" y="21"/>
                </a:cubicBezTo>
                <a:cubicBezTo>
                  <a:pt x="21" y="22"/>
                  <a:pt x="22" y="23"/>
                  <a:pt x="23" y="24"/>
                </a:cubicBezTo>
                <a:cubicBezTo>
                  <a:pt x="23" y="24"/>
                  <a:pt x="23" y="24"/>
                  <a:pt x="23" y="24"/>
                </a:cubicBezTo>
                <a:cubicBezTo>
                  <a:pt x="23" y="24"/>
                  <a:pt x="24" y="23"/>
                  <a:pt x="25" y="23"/>
                </a:cubicBezTo>
                <a:cubicBezTo>
                  <a:pt x="24" y="23"/>
                  <a:pt x="23" y="22"/>
                  <a:pt x="23" y="22"/>
                </a:cubicBezTo>
                <a:cubicBezTo>
                  <a:pt x="18" y="19"/>
                  <a:pt x="14" y="16"/>
                  <a:pt x="9" y="14"/>
                </a:cubicBezTo>
                <a:close/>
                <a:moveTo>
                  <a:pt x="29" y="12"/>
                </a:moveTo>
                <a:cubicBezTo>
                  <a:pt x="32" y="15"/>
                  <a:pt x="35" y="17"/>
                  <a:pt x="38" y="18"/>
                </a:cubicBezTo>
                <a:cubicBezTo>
                  <a:pt x="39" y="18"/>
                  <a:pt x="38" y="18"/>
                  <a:pt x="38" y="17"/>
                </a:cubicBezTo>
                <a:cubicBezTo>
                  <a:pt x="38" y="17"/>
                  <a:pt x="37" y="16"/>
                  <a:pt x="36" y="16"/>
                </a:cubicBezTo>
                <a:cubicBezTo>
                  <a:pt x="36" y="16"/>
                  <a:pt x="35" y="15"/>
                  <a:pt x="34" y="15"/>
                </a:cubicBezTo>
                <a:cubicBezTo>
                  <a:pt x="33" y="14"/>
                  <a:pt x="32" y="13"/>
                  <a:pt x="30" y="12"/>
                </a:cubicBezTo>
                <a:cubicBezTo>
                  <a:pt x="30" y="12"/>
                  <a:pt x="30" y="12"/>
                  <a:pt x="29" y="12"/>
                </a:cubicBezTo>
                <a:close/>
                <a:moveTo>
                  <a:pt x="33" y="22"/>
                </a:moveTo>
                <a:cubicBezTo>
                  <a:pt x="33" y="21"/>
                  <a:pt x="33" y="21"/>
                  <a:pt x="33" y="21"/>
                </a:cubicBezTo>
                <a:cubicBezTo>
                  <a:pt x="29" y="19"/>
                  <a:pt x="25" y="16"/>
                  <a:pt x="21" y="14"/>
                </a:cubicBezTo>
                <a:cubicBezTo>
                  <a:pt x="21" y="15"/>
                  <a:pt x="22" y="16"/>
                  <a:pt x="23" y="16"/>
                </a:cubicBezTo>
                <a:cubicBezTo>
                  <a:pt x="24" y="17"/>
                  <a:pt x="26" y="18"/>
                  <a:pt x="27" y="19"/>
                </a:cubicBezTo>
                <a:cubicBezTo>
                  <a:pt x="28" y="20"/>
                  <a:pt x="30" y="20"/>
                  <a:pt x="32" y="21"/>
                </a:cubicBezTo>
                <a:cubicBezTo>
                  <a:pt x="32" y="21"/>
                  <a:pt x="32" y="21"/>
                  <a:pt x="33" y="22"/>
                </a:cubicBezTo>
                <a:close/>
                <a:moveTo>
                  <a:pt x="17" y="30"/>
                </a:moveTo>
                <a:cubicBezTo>
                  <a:pt x="17" y="29"/>
                  <a:pt x="17" y="29"/>
                  <a:pt x="17" y="28"/>
                </a:cubicBezTo>
                <a:cubicBezTo>
                  <a:pt x="16" y="28"/>
                  <a:pt x="16" y="28"/>
                  <a:pt x="16" y="28"/>
                </a:cubicBezTo>
                <a:cubicBezTo>
                  <a:pt x="15" y="28"/>
                  <a:pt x="14" y="27"/>
                  <a:pt x="13" y="26"/>
                </a:cubicBezTo>
                <a:cubicBezTo>
                  <a:pt x="12" y="26"/>
                  <a:pt x="12" y="26"/>
                  <a:pt x="12" y="26"/>
                </a:cubicBezTo>
                <a:cubicBezTo>
                  <a:pt x="10" y="25"/>
                  <a:pt x="9" y="24"/>
                  <a:pt x="8" y="23"/>
                </a:cubicBezTo>
                <a:cubicBezTo>
                  <a:pt x="8" y="23"/>
                  <a:pt x="8" y="23"/>
                  <a:pt x="8" y="23"/>
                </a:cubicBezTo>
                <a:cubicBezTo>
                  <a:pt x="8" y="24"/>
                  <a:pt x="8" y="24"/>
                  <a:pt x="8" y="24"/>
                </a:cubicBezTo>
                <a:cubicBezTo>
                  <a:pt x="8" y="24"/>
                  <a:pt x="9" y="24"/>
                  <a:pt x="9" y="25"/>
                </a:cubicBezTo>
                <a:cubicBezTo>
                  <a:pt x="10" y="25"/>
                  <a:pt x="10" y="26"/>
                  <a:pt x="11" y="26"/>
                </a:cubicBezTo>
                <a:cubicBezTo>
                  <a:pt x="12" y="27"/>
                  <a:pt x="13" y="27"/>
                  <a:pt x="13" y="28"/>
                </a:cubicBezTo>
                <a:cubicBezTo>
                  <a:pt x="14" y="28"/>
                  <a:pt x="15" y="29"/>
                  <a:pt x="16" y="29"/>
                </a:cubicBezTo>
                <a:cubicBezTo>
                  <a:pt x="16" y="30"/>
                  <a:pt x="17" y="30"/>
                  <a:pt x="17" y="30"/>
                </a:cubicBezTo>
                <a:close/>
                <a:moveTo>
                  <a:pt x="13" y="6"/>
                </a:moveTo>
                <a:cubicBezTo>
                  <a:pt x="14" y="6"/>
                  <a:pt x="15" y="7"/>
                  <a:pt x="16" y="7"/>
                </a:cubicBezTo>
                <a:cubicBezTo>
                  <a:pt x="16" y="7"/>
                  <a:pt x="17" y="7"/>
                  <a:pt x="17" y="7"/>
                </a:cubicBezTo>
                <a:cubicBezTo>
                  <a:pt x="17" y="6"/>
                  <a:pt x="17" y="6"/>
                  <a:pt x="17" y="5"/>
                </a:cubicBezTo>
                <a:cubicBezTo>
                  <a:pt x="16" y="5"/>
                  <a:pt x="14" y="5"/>
                  <a:pt x="13" y="6"/>
                </a:cubicBezTo>
                <a:close/>
                <a:moveTo>
                  <a:pt x="15" y="11"/>
                </a:moveTo>
                <a:cubicBezTo>
                  <a:pt x="16" y="12"/>
                  <a:pt x="17" y="12"/>
                  <a:pt x="18" y="13"/>
                </a:cubicBezTo>
                <a:cubicBezTo>
                  <a:pt x="19" y="13"/>
                  <a:pt x="19" y="12"/>
                  <a:pt x="19" y="12"/>
                </a:cubicBezTo>
                <a:cubicBezTo>
                  <a:pt x="18" y="12"/>
                  <a:pt x="17" y="11"/>
                  <a:pt x="16" y="10"/>
                </a:cubicBezTo>
                <a:cubicBezTo>
                  <a:pt x="16" y="10"/>
                  <a:pt x="16" y="11"/>
                  <a:pt x="15" y="11"/>
                </a:cubicBezTo>
                <a:close/>
                <a:moveTo>
                  <a:pt x="35" y="10"/>
                </a:moveTo>
                <a:cubicBezTo>
                  <a:pt x="35" y="10"/>
                  <a:pt x="35" y="10"/>
                  <a:pt x="35" y="11"/>
                </a:cubicBezTo>
                <a:cubicBezTo>
                  <a:pt x="36" y="11"/>
                  <a:pt x="37" y="12"/>
                  <a:pt x="38" y="12"/>
                </a:cubicBezTo>
                <a:cubicBezTo>
                  <a:pt x="38" y="12"/>
                  <a:pt x="38" y="11"/>
                  <a:pt x="39" y="11"/>
                </a:cubicBezTo>
                <a:cubicBezTo>
                  <a:pt x="39" y="10"/>
                  <a:pt x="39" y="10"/>
                  <a:pt x="38" y="10"/>
                </a:cubicBezTo>
                <a:cubicBezTo>
                  <a:pt x="37" y="10"/>
                  <a:pt x="37" y="10"/>
                  <a:pt x="36" y="10"/>
                </a:cubicBezTo>
                <a:cubicBezTo>
                  <a:pt x="36" y="10"/>
                  <a:pt x="36" y="10"/>
                  <a:pt x="35" y="10"/>
                </a:cubicBezTo>
                <a:close/>
                <a:moveTo>
                  <a:pt x="9" y="17"/>
                </a:moveTo>
                <a:cubicBezTo>
                  <a:pt x="9" y="17"/>
                  <a:pt x="9" y="17"/>
                  <a:pt x="9" y="17"/>
                </a:cubicBezTo>
                <a:cubicBezTo>
                  <a:pt x="10" y="18"/>
                  <a:pt x="11" y="19"/>
                  <a:pt x="12" y="19"/>
                </a:cubicBezTo>
                <a:cubicBezTo>
                  <a:pt x="12" y="19"/>
                  <a:pt x="12" y="19"/>
                  <a:pt x="12" y="19"/>
                </a:cubicBezTo>
                <a:cubicBezTo>
                  <a:pt x="11" y="18"/>
                  <a:pt x="10" y="18"/>
                  <a:pt x="9" y="17"/>
                </a:cubicBezTo>
                <a:close/>
                <a:moveTo>
                  <a:pt x="38" y="15"/>
                </a:moveTo>
                <a:cubicBezTo>
                  <a:pt x="38" y="15"/>
                  <a:pt x="38" y="14"/>
                  <a:pt x="38" y="14"/>
                </a:cubicBezTo>
                <a:cubicBezTo>
                  <a:pt x="37" y="14"/>
                  <a:pt x="36" y="13"/>
                  <a:pt x="35" y="13"/>
                </a:cubicBezTo>
                <a:cubicBezTo>
                  <a:pt x="36" y="14"/>
                  <a:pt x="37" y="14"/>
                  <a:pt x="38" y="15"/>
                </a:cubicBezTo>
                <a:close/>
                <a:moveTo>
                  <a:pt x="28" y="12"/>
                </a:moveTo>
                <a:cubicBezTo>
                  <a:pt x="28" y="12"/>
                  <a:pt x="28" y="12"/>
                  <a:pt x="28" y="12"/>
                </a:cubicBezTo>
                <a:cubicBezTo>
                  <a:pt x="28" y="11"/>
                  <a:pt x="28" y="10"/>
                  <a:pt x="26" y="11"/>
                </a:cubicBezTo>
                <a:cubicBezTo>
                  <a:pt x="27" y="11"/>
                  <a:pt x="28" y="12"/>
                  <a:pt x="28" y="12"/>
                </a:cubicBezTo>
                <a:close/>
                <a:moveTo>
                  <a:pt x="35" y="23"/>
                </a:moveTo>
                <a:cubicBezTo>
                  <a:pt x="35" y="23"/>
                  <a:pt x="35" y="23"/>
                  <a:pt x="35" y="23"/>
                </a:cubicBezTo>
                <a:cubicBezTo>
                  <a:pt x="35" y="22"/>
                  <a:pt x="34" y="22"/>
                  <a:pt x="33" y="22"/>
                </a:cubicBezTo>
                <a:cubicBezTo>
                  <a:pt x="33" y="22"/>
                  <a:pt x="33" y="22"/>
                  <a:pt x="33" y="22"/>
                </a:cubicBezTo>
                <a:cubicBezTo>
                  <a:pt x="34" y="22"/>
                  <a:pt x="34" y="23"/>
                  <a:pt x="35" y="23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3" name="Rectángulo 12">
            <a:extLst>
              <a:ext uri="{FF2B5EF4-FFF2-40B4-BE49-F238E27FC236}">
                <a16:creationId xmlns:a16="http://schemas.microsoft.com/office/drawing/2014/main" id="{2A829B09-51D9-4602-94B0-725728E513F0}"/>
              </a:ext>
            </a:extLst>
          </p:cNvPr>
          <p:cNvSpPr/>
          <p:nvPr/>
        </p:nvSpPr>
        <p:spPr>
          <a:xfrm>
            <a:off x="354000" y="184614"/>
            <a:ext cx="11484000" cy="684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>
                <a:solidFill>
                  <a:schemeClr val="accent1"/>
                </a:solidFill>
              </a:rPr>
              <a:t>Proposed approach– Perimeter</a:t>
            </a:r>
          </a:p>
          <a:p>
            <a:r>
              <a:rPr lang="es-ES" sz="200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</a:p>
        </p:txBody>
      </p:sp>
      <p:sp>
        <p:nvSpPr>
          <p:cNvPr id="26" name="CuadroTexto 24">
            <a:extLst>
              <a:ext uri="{FF2B5EF4-FFF2-40B4-BE49-F238E27FC236}">
                <a16:creationId xmlns:a16="http://schemas.microsoft.com/office/drawing/2014/main" id="{185A7D21-148C-4B44-86BA-BE99C567504E}"/>
              </a:ext>
            </a:extLst>
          </p:cNvPr>
          <p:cNvSpPr txBox="1"/>
          <p:nvPr/>
        </p:nvSpPr>
        <p:spPr>
          <a:xfrm>
            <a:off x="354000" y="3823366"/>
            <a:ext cx="11239299" cy="116955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just"/>
            <a:r>
              <a:rPr lang="en-US" sz="1400">
                <a:solidFill>
                  <a:prstClr val="black"/>
                </a:solidFill>
                <a:latin typeface="Santander Text" panose="020B0504020201020104" pitchFamily="34" charset="0"/>
              </a:rPr>
              <a:t>Finally, in addition to the information submitted through the </a:t>
            </a:r>
            <a:r>
              <a:rPr lang="en-US" sz="1400" err="1">
                <a:solidFill>
                  <a:prstClr val="black"/>
                </a:solidFill>
                <a:latin typeface="Santander Text" panose="020B0504020201020104" pitchFamily="34" charset="0"/>
              </a:rPr>
              <a:t>subportfolios</a:t>
            </a:r>
            <a:r>
              <a:rPr lang="en-US" sz="1400">
                <a:solidFill>
                  <a:prstClr val="black"/>
                </a:solidFill>
                <a:latin typeface="Santander Text" panose="020B0504020201020104" pitchFamily="34" charset="0"/>
              </a:rPr>
              <a:t>, </a:t>
            </a:r>
            <a:r>
              <a:rPr lang="en-US" sz="1400" b="1">
                <a:solidFill>
                  <a:prstClr val="black"/>
                </a:solidFill>
                <a:latin typeface="Santander Text" panose="020B0504020201020104" pitchFamily="34" charset="0"/>
              </a:rPr>
              <a:t>each entity will be asked for the list of contracts corresponding to:</a:t>
            </a:r>
          </a:p>
          <a:p>
            <a:pPr algn="just"/>
            <a:endParaRPr lang="en-US" sz="1400" b="1">
              <a:solidFill>
                <a:prstClr val="black"/>
              </a:solidFill>
              <a:latin typeface="Santander Text" panose="020B0504020201020104" pitchFamily="34" charset="0"/>
            </a:endParaRPr>
          </a:p>
          <a:p>
            <a:pPr marL="742950" lvl="1" indent="-285750" algn="just">
              <a:buFont typeface="Wingdings" panose="05000000000000000000" pitchFamily="2" charset="2"/>
              <a:buChar char="Ø"/>
            </a:pPr>
            <a:r>
              <a:rPr lang="en-US" sz="1400" b="1">
                <a:solidFill>
                  <a:prstClr val="black"/>
                </a:solidFill>
                <a:latin typeface="Santander Text" panose="020B0504020201020104" pitchFamily="34" charset="0"/>
              </a:rPr>
              <a:t>Defaulted </a:t>
            </a:r>
            <a:r>
              <a:rPr lang="en-US" sz="1400">
                <a:solidFill>
                  <a:prstClr val="black"/>
                </a:solidFill>
                <a:latin typeface="Santander Text" panose="020B0504020201020104" pitchFamily="34" charset="0"/>
              </a:rPr>
              <a:t>reported in column 110 of </a:t>
            </a:r>
            <a:r>
              <a:rPr lang="en-US" sz="1400" err="1">
                <a:solidFill>
                  <a:prstClr val="black"/>
                </a:solidFill>
                <a:latin typeface="Santander Text" panose="020B0504020201020104" pitchFamily="34" charset="0"/>
              </a:rPr>
              <a:t>Finrep</a:t>
            </a:r>
            <a:r>
              <a:rPr lang="en-US" sz="1400">
                <a:solidFill>
                  <a:prstClr val="black"/>
                </a:solidFill>
                <a:latin typeface="Santander Text" panose="020B0504020201020104" pitchFamily="34" charset="0"/>
              </a:rPr>
              <a:t> 18, which corresponds to 43 cells of Annex NOPER.</a:t>
            </a:r>
          </a:p>
          <a:p>
            <a:pPr marL="742950" lvl="1" indent="-285750" algn="just">
              <a:buFont typeface="Wingdings" panose="05000000000000000000" pitchFamily="2" charset="2"/>
              <a:buChar char="Ø"/>
            </a:pPr>
            <a:r>
              <a:rPr lang="es-ES" sz="1400" b="1" err="1">
                <a:solidFill>
                  <a:prstClr val="black"/>
                </a:solidFill>
                <a:latin typeface="Santander Text" panose="020B0504020201020104" pitchFamily="34" charset="0"/>
              </a:rPr>
              <a:t>Forbearance</a:t>
            </a:r>
            <a:r>
              <a:rPr lang="es-ES" sz="1400" b="1">
                <a:solidFill>
                  <a:prstClr val="black"/>
                </a:solidFill>
                <a:latin typeface="Santander Text" panose="020B0504020201020104" pitchFamily="34" charset="0"/>
              </a:rPr>
              <a:t> </a:t>
            </a:r>
            <a:r>
              <a:rPr lang="es-ES" sz="1400">
                <a:solidFill>
                  <a:prstClr val="black"/>
                </a:solidFill>
                <a:latin typeface="Santander Text" panose="020B0504020201020104" pitchFamily="34" charset="0"/>
              </a:rPr>
              <a:t>reportados en la columna 10 del </a:t>
            </a:r>
            <a:r>
              <a:rPr lang="es-ES" sz="1400" err="1">
                <a:solidFill>
                  <a:prstClr val="black"/>
                </a:solidFill>
                <a:latin typeface="Santander Text" panose="020B0504020201020104" pitchFamily="34" charset="0"/>
              </a:rPr>
              <a:t>Finrep</a:t>
            </a:r>
            <a:r>
              <a:rPr lang="es-ES" sz="1400">
                <a:solidFill>
                  <a:prstClr val="black"/>
                </a:solidFill>
                <a:latin typeface="Santander Text" panose="020B0504020201020104" pitchFamily="34" charset="0"/>
              </a:rPr>
              <a:t> 19, que corresponde a 29 celdas del Anexo FORBE.</a:t>
            </a:r>
          </a:p>
          <a:p>
            <a:pPr marL="742950" lvl="1" indent="-285750" algn="just">
              <a:buFont typeface="Wingdings" panose="05000000000000000000" pitchFamily="2" charset="2"/>
              <a:buChar char="Ø"/>
            </a:pPr>
            <a:r>
              <a:rPr lang="es-ES" sz="1400" b="1" err="1">
                <a:solidFill>
                  <a:prstClr val="black"/>
                </a:solidFill>
                <a:latin typeface="Santander Text" panose="020B0504020201020104" pitchFamily="34" charset="0"/>
              </a:rPr>
              <a:t>Leverage</a:t>
            </a:r>
            <a:r>
              <a:rPr lang="es-ES" sz="1400" b="1">
                <a:solidFill>
                  <a:prstClr val="black"/>
                </a:solidFill>
                <a:latin typeface="Santander Text" panose="020B0504020201020104" pitchFamily="34" charset="0"/>
              </a:rPr>
              <a:t> </a:t>
            </a:r>
            <a:r>
              <a:rPr lang="es-ES" sz="1400" b="1" err="1">
                <a:solidFill>
                  <a:prstClr val="black"/>
                </a:solidFill>
                <a:latin typeface="Santander Text" panose="020B0504020201020104" pitchFamily="34" charset="0"/>
              </a:rPr>
              <a:t>Finance</a:t>
            </a:r>
            <a:endParaRPr lang="es-ES" sz="1400" b="1">
              <a:solidFill>
                <a:prstClr val="black"/>
              </a:solidFill>
              <a:latin typeface="Santander Text" panose="020B0504020201020104" pitchFamily="34" charset="0"/>
            </a:endParaRPr>
          </a:p>
        </p:txBody>
      </p:sp>
      <p:graphicFrame>
        <p:nvGraphicFramePr>
          <p:cNvPr id="30" name="Object 29">
            <a:extLst>
              <a:ext uri="{FF2B5EF4-FFF2-40B4-BE49-F238E27FC236}">
                <a16:creationId xmlns:a16="http://schemas.microsoft.com/office/drawing/2014/main" id="{4B32D91F-8FB8-49F0-B892-FBB6EDDF387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2012939"/>
              </p:ext>
            </p:extLst>
          </p:nvPr>
        </p:nvGraphicFramePr>
        <p:xfrm>
          <a:off x="9063842" y="4296085"/>
          <a:ext cx="382200" cy="3370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49" name="Macro-Enabled Worksheet" showAsIcon="1" r:id="rId4" imgW="914597" imgH="806311" progId="Excel.SheetMacroEnabled.12">
                  <p:embed/>
                </p:oleObj>
              </mc:Choice>
              <mc:Fallback>
                <p:oleObj name="Macro-Enabled Worksheet" showAsIcon="1" r:id="rId4" imgW="914597" imgH="806311" progId="Excel.SheetMacroEnabled.12">
                  <p:embed/>
                  <p:pic>
                    <p:nvPicPr>
                      <p:cNvPr id="30" name="Object 29">
                        <a:extLst>
                          <a:ext uri="{FF2B5EF4-FFF2-40B4-BE49-F238E27FC236}">
                            <a16:creationId xmlns:a16="http://schemas.microsoft.com/office/drawing/2014/main" id="{4B32D91F-8FB8-49F0-B892-FBB6EDDF387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063842" y="4296085"/>
                        <a:ext cx="382200" cy="33707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30">
            <a:extLst>
              <a:ext uri="{FF2B5EF4-FFF2-40B4-BE49-F238E27FC236}">
                <a16:creationId xmlns:a16="http://schemas.microsoft.com/office/drawing/2014/main" id="{00BAF182-B56D-4DB4-8F56-16C7E4F182F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0780124"/>
              </p:ext>
            </p:extLst>
          </p:nvPr>
        </p:nvGraphicFramePr>
        <p:xfrm>
          <a:off x="9063842" y="4633164"/>
          <a:ext cx="382200" cy="3370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50" name="Worksheet" showAsIcon="1" r:id="rId6" imgW="914597" imgH="806311" progId="Excel.Sheet.12">
                  <p:embed/>
                </p:oleObj>
              </mc:Choice>
              <mc:Fallback>
                <p:oleObj name="Worksheet" showAsIcon="1" r:id="rId6" imgW="914597" imgH="806311" progId="Excel.Sheet.12">
                  <p:embed/>
                  <p:pic>
                    <p:nvPicPr>
                      <p:cNvPr id="31" name="Object 30">
                        <a:extLst>
                          <a:ext uri="{FF2B5EF4-FFF2-40B4-BE49-F238E27FC236}">
                            <a16:creationId xmlns:a16="http://schemas.microsoft.com/office/drawing/2014/main" id="{00BAF182-B56D-4DB4-8F56-16C7E4F182F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063842" y="4633164"/>
                        <a:ext cx="382200" cy="33707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226805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/>
          <p:cNvSpPr>
            <a:spLocks noGrp="1"/>
          </p:cNvSpPr>
          <p:nvPr>
            <p:ph type="title"/>
          </p:nvPr>
        </p:nvSpPr>
        <p:spPr>
          <a:xfrm>
            <a:off x="809147" y="635999"/>
            <a:ext cx="4386194" cy="2852737"/>
          </a:xfrm>
        </p:spPr>
        <p:txBody>
          <a:bodyPr>
            <a:normAutofit/>
          </a:bodyPr>
          <a:lstStyle/>
          <a:p>
            <a:r>
              <a:rPr lang="es-ES" sz="4400" err="1">
                <a:latin typeface="Santander Headline" panose="020B0504020201020104" pitchFamily="34" charset="0"/>
              </a:rPr>
              <a:t>Annex</a:t>
            </a:r>
            <a:endParaRPr lang="es-ES" sz="4400">
              <a:latin typeface="Santander Headline" panose="020B05040202010201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49992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ángulo 12">
            <a:extLst>
              <a:ext uri="{FF2B5EF4-FFF2-40B4-BE49-F238E27FC236}">
                <a16:creationId xmlns:a16="http://schemas.microsoft.com/office/drawing/2014/main" id="{49C8E16C-8F14-4490-8570-2E5E436A9B9D}"/>
              </a:ext>
            </a:extLst>
          </p:cNvPr>
          <p:cNvSpPr/>
          <p:nvPr/>
        </p:nvSpPr>
        <p:spPr>
          <a:xfrm>
            <a:off x="354000" y="184614"/>
            <a:ext cx="11484000" cy="684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3200">
                <a:solidFill>
                  <a:schemeClr val="accent1"/>
                </a:solidFill>
              </a:rPr>
              <a:t>ANNEX – </a:t>
            </a:r>
            <a:r>
              <a:rPr lang="es-ES" sz="3200" err="1">
                <a:solidFill>
                  <a:schemeClr val="accent1"/>
                </a:solidFill>
              </a:rPr>
              <a:t>Unique</a:t>
            </a:r>
            <a:r>
              <a:rPr lang="es-ES" sz="3200">
                <a:solidFill>
                  <a:schemeClr val="accent1"/>
                </a:solidFill>
              </a:rPr>
              <a:t> </a:t>
            </a:r>
            <a:r>
              <a:rPr lang="es-ES" sz="3200" err="1">
                <a:solidFill>
                  <a:schemeClr val="accent1"/>
                </a:solidFill>
              </a:rPr>
              <a:t>identifier</a:t>
            </a:r>
            <a:r>
              <a:rPr lang="es-ES" sz="3200">
                <a:solidFill>
                  <a:schemeClr val="accent1"/>
                </a:solidFill>
              </a:rPr>
              <a:t> </a:t>
            </a:r>
            <a:r>
              <a:rPr lang="es-ES" sz="3200" err="1">
                <a:solidFill>
                  <a:schemeClr val="accent1"/>
                </a:solidFill>
              </a:rPr>
              <a:t>of</a:t>
            </a:r>
            <a:r>
              <a:rPr lang="es-ES" sz="3200">
                <a:solidFill>
                  <a:schemeClr val="accent1"/>
                </a:solidFill>
              </a:rPr>
              <a:t> </a:t>
            </a:r>
            <a:r>
              <a:rPr lang="es-ES" sz="3200" err="1">
                <a:solidFill>
                  <a:schemeClr val="accent1"/>
                </a:solidFill>
              </a:rPr>
              <a:t>the</a:t>
            </a:r>
            <a:r>
              <a:rPr lang="es-ES" sz="3200">
                <a:solidFill>
                  <a:schemeClr val="accent1"/>
                </a:solidFill>
              </a:rPr>
              <a:t> </a:t>
            </a:r>
            <a:r>
              <a:rPr lang="es-ES" sz="3200" err="1">
                <a:solidFill>
                  <a:schemeClr val="accent1"/>
                </a:solidFill>
              </a:rPr>
              <a:t>subportfolios</a:t>
            </a:r>
            <a:r>
              <a:rPr lang="es-ES" sz="3200">
                <a:solidFill>
                  <a:schemeClr val="accent1"/>
                </a:solidFill>
              </a:rPr>
              <a:t> </a:t>
            </a:r>
          </a:p>
          <a:p>
            <a:r>
              <a:rPr lang="es-ES" sz="200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</a:p>
        </p:txBody>
      </p:sp>
      <p:pic>
        <p:nvPicPr>
          <p:cNvPr id="4" name="Imagen 117" descr="image001">
            <a:hlinkClick r:id="rId3" action="ppaction://hlinksldjump"/>
            <a:extLst>
              <a:ext uri="{FF2B5EF4-FFF2-40B4-BE49-F238E27FC236}">
                <a16:creationId xmlns:a16="http://schemas.microsoft.com/office/drawing/2014/main" id="{B344EC8D-A2CF-4ADE-B964-CD1132A865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69299" y="485105"/>
            <a:ext cx="324000" cy="3835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CuadroTexto 24">
            <a:extLst>
              <a:ext uri="{FF2B5EF4-FFF2-40B4-BE49-F238E27FC236}">
                <a16:creationId xmlns:a16="http://schemas.microsoft.com/office/drawing/2014/main" id="{C727AC3C-1FDF-4B74-B347-844F0E2DCB4C}"/>
              </a:ext>
            </a:extLst>
          </p:cNvPr>
          <p:cNvSpPr txBox="1"/>
          <p:nvPr/>
        </p:nvSpPr>
        <p:spPr>
          <a:xfrm>
            <a:off x="352620" y="805767"/>
            <a:ext cx="11078679" cy="9541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just"/>
            <a:r>
              <a:rPr lang="en-US" sz="1400">
                <a:solidFill>
                  <a:prstClr val="black"/>
                </a:solidFill>
                <a:latin typeface="Santander Text" panose="020B0504020201020104" pitchFamily="34" charset="0"/>
              </a:rPr>
              <a:t>First, each possible </a:t>
            </a:r>
            <a:r>
              <a:rPr lang="en-US" sz="1400" err="1">
                <a:solidFill>
                  <a:prstClr val="black"/>
                </a:solidFill>
                <a:latin typeface="Santander Text" panose="020B0504020201020104" pitchFamily="34" charset="0"/>
              </a:rPr>
              <a:t>subportfolio</a:t>
            </a:r>
            <a:r>
              <a:rPr lang="en-US" sz="1400">
                <a:solidFill>
                  <a:prstClr val="black"/>
                </a:solidFill>
                <a:latin typeface="Santander Text" panose="020B0504020201020104" pitchFamily="34" charset="0"/>
              </a:rPr>
              <a:t> or combination of relevant attributes is named with a unique identifier.</a:t>
            </a:r>
            <a:r>
              <a:rPr lang="es-ES" sz="1400">
                <a:solidFill>
                  <a:prstClr val="black"/>
                </a:solidFill>
                <a:latin typeface="Santander Text" panose="020B0504020201020104" pitchFamily="34" charset="0"/>
              </a:rPr>
              <a:t> </a:t>
            </a:r>
          </a:p>
          <a:p>
            <a:pPr algn="just"/>
            <a:endParaRPr lang="es-ES" sz="1400">
              <a:solidFill>
                <a:prstClr val="black"/>
              </a:solidFill>
              <a:latin typeface="Santander Text" panose="020B0504020201020104" pitchFamily="34" charset="0"/>
            </a:endParaRPr>
          </a:p>
          <a:p>
            <a:pPr algn="just"/>
            <a:r>
              <a:rPr lang="en-US" sz="1400">
                <a:solidFill>
                  <a:prstClr val="black"/>
                </a:solidFill>
                <a:latin typeface="Santander Text" panose="020B0504020201020104" pitchFamily="34" charset="0"/>
              </a:rPr>
              <a:t>The unique identifier of each requested sub-portfolio is constructed considering the month (MM) and year (YY) to which the information refers (Example: 0621), and a coding resulting from the attributes of the sub-portfolio. The proposed encoding is detailed below:</a:t>
            </a:r>
            <a:endParaRPr lang="es-ES" sz="1400">
              <a:solidFill>
                <a:prstClr val="black"/>
              </a:solidFill>
              <a:latin typeface="Santander Text" panose="020B0504020201020104" pitchFamily="34" charset="0"/>
            </a:endParaRPr>
          </a:p>
        </p:txBody>
      </p:sp>
      <p:sp>
        <p:nvSpPr>
          <p:cNvPr id="6" name="CuadroTexto 24">
            <a:extLst>
              <a:ext uri="{FF2B5EF4-FFF2-40B4-BE49-F238E27FC236}">
                <a16:creationId xmlns:a16="http://schemas.microsoft.com/office/drawing/2014/main" id="{FB6F4547-DBFD-4C8F-959C-598BFACDBF76}"/>
              </a:ext>
            </a:extLst>
          </p:cNvPr>
          <p:cNvSpPr txBox="1"/>
          <p:nvPr/>
        </p:nvSpPr>
        <p:spPr>
          <a:xfrm>
            <a:off x="352619" y="4457740"/>
            <a:ext cx="11078679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just"/>
            <a:r>
              <a:rPr lang="en-US" sz="1400">
                <a:solidFill>
                  <a:prstClr val="black"/>
                </a:solidFill>
                <a:latin typeface="Santander Text" panose="020B0504020201020104" pitchFamily="34" charset="0"/>
              </a:rPr>
              <a:t>In the event that an attribute does not apply, it will be excluded from the encoding. Example: cash and cash balances are not associated with a “NOPER Annex Segments” so the unique code will start directly with “CASH”.</a:t>
            </a:r>
            <a:r>
              <a:rPr lang="es-ES" sz="1400">
                <a:solidFill>
                  <a:prstClr val="black"/>
                </a:solidFill>
                <a:latin typeface="Santander Text" panose="020B0504020201020104" pitchFamily="34" charset="0"/>
              </a:rPr>
              <a:t> </a:t>
            </a:r>
            <a:endParaRPr lang="es-ES" sz="1400" b="1">
              <a:latin typeface="Santander Text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7A83227-185E-4506-887C-0CEB923DD8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1992902"/>
              </p:ext>
            </p:extLst>
          </p:nvPr>
        </p:nvGraphicFramePr>
        <p:xfrm>
          <a:off x="609019" y="2155755"/>
          <a:ext cx="10984279" cy="1906104"/>
        </p:xfrm>
        <a:graphic>
          <a:graphicData uri="http://schemas.openxmlformats.org/drawingml/2006/table">
            <a:tbl>
              <a:tblPr/>
              <a:tblGrid>
                <a:gridCol w="1595166">
                  <a:extLst>
                    <a:ext uri="{9D8B030D-6E8A-4147-A177-3AD203B41FA5}">
                      <a16:colId xmlns:a16="http://schemas.microsoft.com/office/drawing/2014/main" val="4147897159"/>
                    </a:ext>
                  </a:extLst>
                </a:gridCol>
                <a:gridCol w="394636">
                  <a:extLst>
                    <a:ext uri="{9D8B030D-6E8A-4147-A177-3AD203B41FA5}">
                      <a16:colId xmlns:a16="http://schemas.microsoft.com/office/drawing/2014/main" val="700941719"/>
                    </a:ext>
                  </a:extLst>
                </a:gridCol>
                <a:gridCol w="866274">
                  <a:extLst>
                    <a:ext uri="{9D8B030D-6E8A-4147-A177-3AD203B41FA5}">
                      <a16:colId xmlns:a16="http://schemas.microsoft.com/office/drawing/2014/main" val="484319789"/>
                    </a:ext>
                  </a:extLst>
                </a:gridCol>
                <a:gridCol w="163629">
                  <a:extLst>
                    <a:ext uri="{9D8B030D-6E8A-4147-A177-3AD203B41FA5}">
                      <a16:colId xmlns:a16="http://schemas.microsoft.com/office/drawing/2014/main" val="1850563446"/>
                    </a:ext>
                  </a:extLst>
                </a:gridCol>
                <a:gridCol w="1155032">
                  <a:extLst>
                    <a:ext uri="{9D8B030D-6E8A-4147-A177-3AD203B41FA5}">
                      <a16:colId xmlns:a16="http://schemas.microsoft.com/office/drawing/2014/main" val="2480758722"/>
                    </a:ext>
                  </a:extLst>
                </a:gridCol>
                <a:gridCol w="1078029">
                  <a:extLst>
                    <a:ext uri="{9D8B030D-6E8A-4147-A177-3AD203B41FA5}">
                      <a16:colId xmlns:a16="http://schemas.microsoft.com/office/drawing/2014/main" val="94337149"/>
                    </a:ext>
                  </a:extLst>
                </a:gridCol>
                <a:gridCol w="173255">
                  <a:extLst>
                    <a:ext uri="{9D8B030D-6E8A-4147-A177-3AD203B41FA5}">
                      <a16:colId xmlns:a16="http://schemas.microsoft.com/office/drawing/2014/main" val="768225828"/>
                    </a:ext>
                  </a:extLst>
                </a:gridCol>
                <a:gridCol w="1790299">
                  <a:extLst>
                    <a:ext uri="{9D8B030D-6E8A-4147-A177-3AD203B41FA5}">
                      <a16:colId xmlns:a16="http://schemas.microsoft.com/office/drawing/2014/main" val="1746956508"/>
                    </a:ext>
                  </a:extLst>
                </a:gridCol>
                <a:gridCol w="712269">
                  <a:extLst>
                    <a:ext uri="{9D8B030D-6E8A-4147-A177-3AD203B41FA5}">
                      <a16:colId xmlns:a16="http://schemas.microsoft.com/office/drawing/2014/main" val="2148925480"/>
                    </a:ext>
                  </a:extLst>
                </a:gridCol>
                <a:gridCol w="45947">
                  <a:extLst>
                    <a:ext uri="{9D8B030D-6E8A-4147-A177-3AD203B41FA5}">
                      <a16:colId xmlns:a16="http://schemas.microsoft.com/office/drawing/2014/main" val="2569480457"/>
                    </a:ext>
                  </a:extLst>
                </a:gridCol>
                <a:gridCol w="406159">
                  <a:extLst>
                    <a:ext uri="{9D8B030D-6E8A-4147-A177-3AD203B41FA5}">
                      <a16:colId xmlns:a16="http://schemas.microsoft.com/office/drawing/2014/main" val="2952334102"/>
                    </a:ext>
                  </a:extLst>
                </a:gridCol>
                <a:gridCol w="683675">
                  <a:extLst>
                    <a:ext uri="{9D8B030D-6E8A-4147-A177-3AD203B41FA5}">
                      <a16:colId xmlns:a16="http://schemas.microsoft.com/office/drawing/2014/main" val="1485213928"/>
                    </a:ext>
                  </a:extLst>
                </a:gridCol>
                <a:gridCol w="173255">
                  <a:extLst>
                    <a:ext uri="{9D8B030D-6E8A-4147-A177-3AD203B41FA5}">
                      <a16:colId xmlns:a16="http://schemas.microsoft.com/office/drawing/2014/main" val="2289152906"/>
                    </a:ext>
                  </a:extLst>
                </a:gridCol>
                <a:gridCol w="856649">
                  <a:extLst>
                    <a:ext uri="{9D8B030D-6E8A-4147-A177-3AD203B41FA5}">
                      <a16:colId xmlns:a16="http://schemas.microsoft.com/office/drawing/2014/main" val="730240121"/>
                    </a:ext>
                  </a:extLst>
                </a:gridCol>
                <a:gridCol w="890005">
                  <a:extLst>
                    <a:ext uri="{9D8B030D-6E8A-4147-A177-3AD203B41FA5}">
                      <a16:colId xmlns:a16="http://schemas.microsoft.com/office/drawing/2014/main" val="3403257231"/>
                    </a:ext>
                  </a:extLst>
                </a:gridCol>
              </a:tblGrid>
              <a:tr h="317684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Santander Text"/>
                        </a:rPr>
                        <a:t>Segments NOPER Annex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1000" b="1" i="0" u="none" strike="noStrike">
                          <a:solidFill>
                            <a:schemeClr val="bg1"/>
                          </a:solidFill>
                          <a:effectLst/>
                          <a:latin typeface="Santander Text"/>
                        </a:rPr>
                        <a:t>Split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1000" b="1" i="0" u="none" strike="noStrike" err="1">
                          <a:solidFill>
                            <a:srgbClr val="FFFFFF"/>
                          </a:solidFill>
                          <a:effectLst/>
                          <a:latin typeface="Santander Text"/>
                        </a:rPr>
                        <a:t>Subportfolio</a:t>
                      </a:r>
                      <a:r>
                        <a:rPr lang="es-ES" sz="1000" b="1" i="0" u="none" strike="noStrike">
                          <a:solidFill>
                            <a:srgbClr val="FFFFFF"/>
                          </a:solidFill>
                          <a:effectLst/>
                          <a:latin typeface="Santander Text"/>
                        </a:rPr>
                        <a:t> ID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es-ES" sz="1000" b="1" i="0" u="none" strike="noStrike">
                        <a:solidFill>
                          <a:srgbClr val="FFFFFF"/>
                        </a:solidFill>
                        <a:effectLst/>
                        <a:latin typeface="Santander Text"/>
                      </a:endParaRP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Santander Text"/>
                        </a:rPr>
                        <a:t>Accounting portfolio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1" i="0" u="none" strike="noStrike" err="1">
                          <a:solidFill>
                            <a:srgbClr val="FFFFFF"/>
                          </a:solidFill>
                          <a:effectLst/>
                          <a:latin typeface="Santander Text"/>
                        </a:rPr>
                        <a:t>Subportfolio</a:t>
                      </a: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Santander Text"/>
                        </a:rPr>
                        <a:t> ID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es-ES" sz="1000" b="1" i="0" u="none" strike="noStrike">
                        <a:solidFill>
                          <a:srgbClr val="FFFFFF"/>
                        </a:solidFill>
                        <a:effectLst/>
                        <a:latin typeface="Santander Text"/>
                      </a:endParaRP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1000" b="1" i="0" u="none" strike="noStrike" err="1">
                          <a:solidFill>
                            <a:srgbClr val="FFFFFF"/>
                          </a:solidFill>
                          <a:effectLst/>
                          <a:latin typeface="Santander Text"/>
                        </a:rPr>
                        <a:t>Product</a:t>
                      </a:r>
                      <a:endParaRPr lang="es-ES" sz="1000" b="1" i="0" u="none" strike="noStrike">
                        <a:solidFill>
                          <a:srgbClr val="FFFFFF"/>
                        </a:solidFill>
                        <a:effectLst/>
                        <a:latin typeface="Santander Text"/>
                      </a:endParaRP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1000" b="1" i="0" u="none" strike="noStrike" err="1">
                          <a:solidFill>
                            <a:srgbClr val="FFFFFF"/>
                          </a:solidFill>
                          <a:effectLst/>
                          <a:latin typeface="Santander Text"/>
                        </a:rPr>
                        <a:t>Subportfolio</a:t>
                      </a:r>
                      <a:r>
                        <a:rPr lang="es-ES" sz="1000" b="1" i="0" u="none" strike="noStrike">
                          <a:solidFill>
                            <a:srgbClr val="FFFFFF"/>
                          </a:solidFill>
                          <a:effectLst/>
                          <a:latin typeface="Santander Text"/>
                        </a:rPr>
                        <a:t> ID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es-ES" sz="1000" b="1" i="0" u="none" strike="noStrike">
                        <a:solidFill>
                          <a:srgbClr val="FFFFFF"/>
                        </a:solidFill>
                        <a:effectLst/>
                        <a:latin typeface="Santander Text"/>
                      </a:endParaRP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1000" b="1" i="0" u="none" strike="noStrike" err="1">
                          <a:solidFill>
                            <a:srgbClr val="FFFFFF"/>
                          </a:solidFill>
                          <a:effectLst/>
                          <a:latin typeface="Santander Text"/>
                        </a:rPr>
                        <a:t>Stage</a:t>
                      </a:r>
                      <a:endParaRPr lang="es-ES" sz="1000" b="1" i="0" u="none" strike="noStrike">
                        <a:solidFill>
                          <a:srgbClr val="FFFFFF"/>
                        </a:solidFill>
                        <a:effectLst/>
                        <a:latin typeface="Santander Text"/>
                      </a:endParaRP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1000" b="1" i="0" u="none" strike="noStrike" err="1">
                          <a:solidFill>
                            <a:srgbClr val="FFFFFF"/>
                          </a:solidFill>
                          <a:effectLst/>
                          <a:latin typeface="Santander Text"/>
                        </a:rPr>
                        <a:t>Subportfolio</a:t>
                      </a:r>
                      <a:r>
                        <a:rPr lang="es-ES" sz="1000" b="1" i="0" u="none" strike="noStrike">
                          <a:solidFill>
                            <a:srgbClr val="FFFFFF"/>
                          </a:solidFill>
                          <a:effectLst/>
                          <a:latin typeface="Santander Text"/>
                        </a:rPr>
                        <a:t> ID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es-ES" sz="1000" b="1" i="0" u="none" strike="noStrike">
                        <a:solidFill>
                          <a:srgbClr val="FFFFFF"/>
                        </a:solidFill>
                        <a:effectLst/>
                        <a:latin typeface="Santander Text"/>
                      </a:endParaRP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1000" b="1" i="0" u="none" strike="noStrike" err="1">
                          <a:solidFill>
                            <a:srgbClr val="FFFFFF"/>
                          </a:solidFill>
                          <a:effectLst/>
                          <a:latin typeface="Santander Text"/>
                        </a:rPr>
                        <a:t>Performing</a:t>
                      </a:r>
                      <a:r>
                        <a:rPr lang="es-ES" sz="1000" b="1" i="0" u="none" strike="noStrike">
                          <a:solidFill>
                            <a:srgbClr val="FFFFFF"/>
                          </a:solidFill>
                          <a:effectLst/>
                          <a:latin typeface="Santander Text"/>
                        </a:rPr>
                        <a:t> status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1000" b="1" i="0" u="none" strike="noStrike" err="1">
                          <a:solidFill>
                            <a:srgbClr val="FFFFFF"/>
                          </a:solidFill>
                          <a:effectLst/>
                          <a:latin typeface="Santander Text"/>
                        </a:rPr>
                        <a:t>Subportfolio</a:t>
                      </a:r>
                      <a:r>
                        <a:rPr lang="es-ES" sz="1000" b="1" i="0" u="none" strike="noStrike">
                          <a:solidFill>
                            <a:srgbClr val="FFFFFF"/>
                          </a:solidFill>
                          <a:effectLst/>
                          <a:latin typeface="Santander Text"/>
                        </a:rPr>
                        <a:t> ID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0220078"/>
                  </a:ext>
                </a:extLst>
              </a:tr>
              <a:tr h="317684"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    </a:t>
                      </a:r>
                      <a:r>
                        <a:rPr lang="en-US" sz="1000" b="0" i="0" u="none" strike="noStrike" noProof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General Governments 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Santander Text"/>
                      </a:endParaRP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Santander Text"/>
                      </a:endParaRP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AP</a:t>
                      </a: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Santander Text"/>
                      </a:endParaRP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Amortized cost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CASH</a:t>
                      </a: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Santander Text"/>
                      </a:endParaRP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Securities (on BS)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VRD</a:t>
                      </a: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Santander Text"/>
                      </a:endParaRP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10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Stage</a:t>
                      </a:r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 1</a:t>
                      </a: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S1</a:t>
                      </a: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Santander Text"/>
                      </a:endParaRP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10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Performing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Santander Text"/>
                      </a:endParaRP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P</a:t>
                      </a: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0643453"/>
                  </a:ext>
                </a:extLst>
              </a:tr>
              <a:tr h="317684"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    </a:t>
                      </a:r>
                      <a:r>
                        <a:rPr lang="es-ES" sz="10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Credit</a:t>
                      </a:r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 </a:t>
                      </a:r>
                      <a:r>
                        <a:rPr lang="es-ES" sz="10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Institutions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Santander Text"/>
                      </a:endParaRP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Santander Text"/>
                      </a:endParaRP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EC</a:t>
                      </a: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Santander Text"/>
                      </a:endParaRP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FVOCI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CA</a:t>
                      </a: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Santander Text"/>
                      </a:endParaRP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Loans (on BS)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PRE</a:t>
                      </a: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Santander Text"/>
                      </a:endParaRP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10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Stage</a:t>
                      </a:r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 2</a:t>
                      </a: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S2</a:t>
                      </a: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Santander Text"/>
                      </a:endParaRP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Non-</a:t>
                      </a:r>
                      <a:r>
                        <a:rPr lang="es-ES" sz="10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Performing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Santander Text"/>
                      </a:endParaRP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NP</a:t>
                      </a: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4055317"/>
                  </a:ext>
                </a:extLst>
              </a:tr>
              <a:tr h="317684"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    </a:t>
                      </a:r>
                      <a:r>
                        <a:rPr lang="en-US" sz="1000" b="0" i="0" u="none" strike="noStrike" noProof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Other financial corporations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Santander Text"/>
                      </a:endParaRP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Santander Text"/>
                      </a:endParaRP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OSF</a:t>
                      </a: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Santander Text"/>
                      </a:endParaRP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FV with changes in PL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VRPN</a:t>
                      </a: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Santander Text"/>
                      </a:endParaRP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000" b="0" i="0" u="none" strike="noStrike" noProof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Loan commitments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 (off BS)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COMP</a:t>
                      </a: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Santander Text"/>
                      </a:endParaRP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Stage 3</a:t>
                      </a: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S3</a:t>
                      </a: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 </a:t>
                      </a: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 </a:t>
                      </a: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2175091"/>
                  </a:ext>
                </a:extLst>
              </a:tr>
              <a:tr h="317684"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    </a:t>
                      </a:r>
                      <a:r>
                        <a:rPr lang="en-US" sz="1000" b="0" i="0" u="none" strike="noStrike" noProof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Non-financial corporations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Santander Text"/>
                      </a:endParaRP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Santander Text"/>
                      </a:endParaRP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SNF</a:t>
                      </a: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Santander Text"/>
                      </a:endParaRP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Amortized cost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VRPL</a:t>
                      </a: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Santander Text"/>
                      </a:endParaRP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Financial guarantees given (off BS)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GUAR</a:t>
                      </a: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 </a:t>
                      </a: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 </a:t>
                      </a: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 </a:t>
                      </a: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 </a:t>
                      </a: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5168986"/>
                  </a:ext>
                </a:extLst>
              </a:tr>
              <a:tr h="317684"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    </a:t>
                      </a:r>
                      <a:r>
                        <a:rPr lang="es-ES" sz="10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Households</a:t>
                      </a:r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Santander Text"/>
                      </a:endParaRP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Santander Text"/>
                      </a:endParaRP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HOG</a:t>
                      </a: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Santander Text"/>
                      </a:endParaRP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Santander Text"/>
                      </a:endParaRP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Santander Text"/>
                      </a:endParaRP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Santander Text"/>
                      </a:endParaRP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Other commitments (off BS)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OCOM</a:t>
                      </a: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 </a:t>
                      </a: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 </a:t>
                      </a: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 </a:t>
                      </a: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 </a:t>
                      </a: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83320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56532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8" name="Tabla 5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8538712"/>
              </p:ext>
            </p:extLst>
          </p:nvPr>
        </p:nvGraphicFramePr>
        <p:xfrm>
          <a:off x="354000" y="655304"/>
          <a:ext cx="10852479" cy="5547392"/>
        </p:xfrm>
        <a:graphic>
          <a:graphicData uri="http://schemas.openxmlformats.org/drawingml/2006/table">
            <a:tbl>
              <a:tblPr/>
              <a:tblGrid>
                <a:gridCol w="205026">
                  <a:extLst>
                    <a:ext uri="{9D8B030D-6E8A-4147-A177-3AD203B41FA5}">
                      <a16:colId xmlns:a16="http://schemas.microsoft.com/office/drawing/2014/main" val="1131844151"/>
                    </a:ext>
                  </a:extLst>
                </a:gridCol>
                <a:gridCol w="1425330">
                  <a:extLst>
                    <a:ext uri="{9D8B030D-6E8A-4147-A177-3AD203B41FA5}">
                      <a16:colId xmlns:a16="http://schemas.microsoft.com/office/drawing/2014/main" val="2814068171"/>
                    </a:ext>
                  </a:extLst>
                </a:gridCol>
                <a:gridCol w="15672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6151">
                  <a:extLst>
                    <a:ext uri="{9D8B030D-6E8A-4147-A177-3AD203B41FA5}">
                      <a16:colId xmlns:a16="http://schemas.microsoft.com/office/drawing/2014/main" val="2465000092"/>
                    </a:ext>
                  </a:extLst>
                </a:gridCol>
                <a:gridCol w="1617828">
                  <a:extLst>
                    <a:ext uri="{9D8B030D-6E8A-4147-A177-3AD203B41FA5}">
                      <a16:colId xmlns:a16="http://schemas.microsoft.com/office/drawing/2014/main" val="1911850969"/>
                    </a:ext>
                  </a:extLst>
                </a:gridCol>
                <a:gridCol w="494181">
                  <a:extLst>
                    <a:ext uri="{9D8B030D-6E8A-4147-A177-3AD203B41FA5}">
                      <a16:colId xmlns:a16="http://schemas.microsoft.com/office/drawing/2014/main" val="1418566233"/>
                    </a:ext>
                  </a:extLst>
                </a:gridCol>
                <a:gridCol w="1003443">
                  <a:extLst>
                    <a:ext uri="{9D8B030D-6E8A-4147-A177-3AD203B41FA5}">
                      <a16:colId xmlns:a16="http://schemas.microsoft.com/office/drawing/2014/main" val="184544328"/>
                    </a:ext>
                  </a:extLst>
                </a:gridCol>
                <a:gridCol w="3163236">
                  <a:extLst>
                    <a:ext uri="{9D8B030D-6E8A-4147-A177-3AD203B41FA5}">
                      <a16:colId xmlns:a16="http://schemas.microsoft.com/office/drawing/2014/main" val="462508465"/>
                    </a:ext>
                  </a:extLst>
                </a:gridCol>
              </a:tblGrid>
              <a:tr h="291968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1" i="0" u="none" strike="noStrike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#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1" i="0" u="none" strike="noStrike" err="1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Subportfolio</a:t>
                      </a:r>
                      <a:r>
                        <a:rPr lang="es-ES" sz="800" b="1" i="0" u="none" strike="noStrike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 ID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i="0" u="none" strike="noStrike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NOPER Annex Segments</a:t>
                      </a:r>
                      <a:endParaRPr lang="es-ES" sz="800" b="1" i="0" u="none" strike="noStrike">
                        <a:solidFill>
                          <a:schemeClr val="bg1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800" b="1" i="0" u="none" strike="noStrike" err="1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Accounting</a:t>
                      </a:r>
                      <a:r>
                        <a:rPr lang="es-ES" sz="800" b="1" i="0" u="none" strike="noStrike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 Portfolio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800" b="1" i="0" u="none" strike="noStrike" err="1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Product</a:t>
                      </a:r>
                      <a:endParaRPr lang="es-ES" sz="800" b="1" i="0" u="none" strike="noStrike">
                        <a:solidFill>
                          <a:schemeClr val="bg1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1" i="0" u="none" strike="noStrike" err="1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endParaRPr lang="es-ES" sz="800" b="1" i="0" u="none" strike="noStrike">
                        <a:solidFill>
                          <a:schemeClr val="bg1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1" i="0" u="none" strike="noStrike" err="1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r>
                        <a:rPr lang="es-ES" sz="800" b="1" i="0" u="none" strike="noStrike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 status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1" i="0" u="none" strike="noStrike" err="1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Metrics</a:t>
                      </a:r>
                      <a:endParaRPr lang="es-ES" sz="800" b="1" i="0" u="none" strike="noStrike">
                        <a:solidFill>
                          <a:schemeClr val="bg1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7694284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MMYY_CASHPRES1P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Cash and cash balances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Loans (on BS)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1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Gross carrying amount and Provisions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11062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MMYY_CASHPRES2P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Cash and cash balances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Loans (on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Gross carrying amount and Provisions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9689030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3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MMYY_CASHPRES2NP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Cash and cash balances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Loans (on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Gross carrying amount and Provisions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2986869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4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MMYY_CASHPRES3NP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Cash and cash balances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Loans (on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3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Gross carrying amount and Provisions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5501476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5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MMYY_APCAVRDS1P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General governments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Amortized cost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Securities (on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1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Gross carrying amount and Provisions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6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MMYY_APCAVRDS2P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General governments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Amortized cost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Securities (on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Gross carrying amount and Provisions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7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MMYY_APCAVRDS2NP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General governments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Amortized cost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Securities (on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Gross carrying amount and Provisions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8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MMYY_APCAVRDS3NP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General governments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Amortized cost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Securities (on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3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Gross carrying amount and Provisions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9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MMYY_APVRPNVRDS1P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General governments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FVOCI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Securities (on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1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Gross carrying amount and Provisions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10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MMYY_APVRPNVRDS2P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General governments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FVOCI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Securities (on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Gross carrying amount and Provisions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3131345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11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MMYY_APVRPNVRDS2NP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General governments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FVOCI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Securities (on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Gross carrying amount and Provisions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MMYY_APVRPNVRDS3NP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General governments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FVOCI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Securities (on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3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Gross carrying amount and Provisions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8504707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13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MMYY_APVRPLVRDP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General governments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FV with changes in PL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Securities (on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Gross carrying amount and </a:t>
                      </a: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Adjustments due to credit risk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951584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14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MMYY_APVRPLVRDNP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General governments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FV with changes in PL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Securities (on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Gross carrying amount and </a:t>
                      </a: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Adjustments due to credit risk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5512201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15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MMYY_APCAPRES1P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General governments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Amortized cost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Loans (on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1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Gross carrying amount and Provisions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907570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16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MMYY_APCAPRES2P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General governments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Amortized cost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Loans (on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Gross carrying amount and Provisions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0722773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17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MMYY_APCAPRES2NP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General governments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Amortized cost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Loans (on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Gross carrying amount and Provisions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574709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18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MMYY_APCAPRES3NP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General governments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Amortized cost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Loans (on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3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Gross carrying amount and Provisions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7234100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19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MMYY_APVRPNPRES1P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General governments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FVOCI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Loans (on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1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Gross carrying amount and Provisions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4020829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20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MMYY_APVRPNPRES2P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General governments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FVOCI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Loans (on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Gross carrying amount and Provisions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8391527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21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MMYY_APVRPNPRES2NP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General governments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FVOCI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Loans (on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Gross carrying amount and Provisions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1459855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22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MMYY_APVRPNPRES3NP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General governments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FVOCI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Loans (on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3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Gross carrying amount and Provisions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7827153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23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MMYY_APVRPLPREP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General governments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FV with changes in PL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Loans (on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Gross carrying amount and Adjustments due to credit risk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5679636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24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MMYY_APVRPLPRENP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General governments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FV with changes in PL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Loans (on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Gross carrying amount and Adjustments due to credit risk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5760054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25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MMYY_APCOMS1P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General governments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noProof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Loan commitments</a:t>
                      </a: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(off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1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Nominal and off-balance provisions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2970687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26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MMYY_APCOMS2P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General governments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Loan commitments (off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Nominal and off-balance provisions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6618583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27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MMYY_APCOMS2NP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General governments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Loan commitments (off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Nominal and off-balance provisions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9831690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28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MMYY_APCOMS3NP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General governments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Loan commitments (off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3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Nominal and off-balance provisions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9112091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29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MMYY_APGUARS1P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General governments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Guarantees (off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1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Nominal and off-balance provisions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4143044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30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MMYY_APGUARS2P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General governments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Guarantees (off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Nominal and off-balance provisions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0246813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31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MMYY_APGUARS2NP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General governments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Guarantees (off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Nominal and off-balance provisions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2743400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32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MMYY_APGUARS3NP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General governments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Guarantees (off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3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Nominal and off-balance provisions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3501872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33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MMYY_APOCOMS1P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General governments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Other commitments (off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1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Nominal and off-balance provisions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5510564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34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MMYY_APOCOMS2P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General governments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Other commitments (off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Nominal and off-balance provisions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1129335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35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MMYY_APOCOMS2NP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General governments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Other commitments (off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Nominal and off-balance provisions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1069294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36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MMYY_APOCOMS3NP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General governments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Other commitments (off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3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Nominal and off-balance provisions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569035"/>
                  </a:ext>
                </a:extLst>
              </a:tr>
            </a:tbl>
          </a:graphicData>
        </a:graphic>
      </p:graphicFrame>
      <p:sp>
        <p:nvSpPr>
          <p:cNvPr id="16" name="Rectángulo 12">
            <a:extLst>
              <a:ext uri="{FF2B5EF4-FFF2-40B4-BE49-F238E27FC236}">
                <a16:creationId xmlns:a16="http://schemas.microsoft.com/office/drawing/2014/main" id="{49C8E16C-8F14-4490-8570-2E5E436A9B9D}"/>
              </a:ext>
            </a:extLst>
          </p:cNvPr>
          <p:cNvSpPr/>
          <p:nvPr/>
        </p:nvSpPr>
        <p:spPr>
          <a:xfrm>
            <a:off x="354000" y="626854"/>
            <a:ext cx="11484000" cy="2712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>
                <a:solidFill>
                  <a:schemeClr val="accent1"/>
                </a:solidFill>
              </a:rPr>
              <a:t>ANNEX – List of </a:t>
            </a:r>
            <a:r>
              <a:rPr lang="en-US" sz="3200" err="1">
                <a:solidFill>
                  <a:schemeClr val="accent1"/>
                </a:solidFill>
              </a:rPr>
              <a:t>subportfolios</a:t>
            </a:r>
            <a:r>
              <a:rPr lang="en-US" sz="3200">
                <a:solidFill>
                  <a:schemeClr val="accent1"/>
                </a:solidFill>
              </a:rPr>
              <a:t> in scope of loan tape</a:t>
            </a:r>
          </a:p>
          <a:p>
            <a:r>
              <a:rPr lang="es-ES" sz="3200">
                <a:solidFill>
                  <a:schemeClr val="accent1"/>
                </a:solidFill>
              </a:rPr>
              <a:t> </a:t>
            </a:r>
          </a:p>
          <a:p>
            <a:r>
              <a:rPr lang="es-ES" sz="200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</a:p>
        </p:txBody>
      </p:sp>
      <p:pic>
        <p:nvPicPr>
          <p:cNvPr id="20" name="Imagen 117" descr="image001">
            <a:hlinkClick r:id="rId3" action="ppaction://hlinksldjump"/>
            <a:extLst>
              <a:ext uri="{FF2B5EF4-FFF2-40B4-BE49-F238E27FC236}">
                <a16:creationId xmlns:a16="http://schemas.microsoft.com/office/drawing/2014/main" id="{1A1BE5A1-D8BE-4C63-89A3-313D99ABBD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88568" y="251350"/>
            <a:ext cx="324000" cy="3835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682919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8" name="Tabla 5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0751185"/>
              </p:ext>
            </p:extLst>
          </p:nvPr>
        </p:nvGraphicFramePr>
        <p:xfrm>
          <a:off x="426720" y="750175"/>
          <a:ext cx="10789920" cy="4945742"/>
        </p:xfrm>
        <a:graphic>
          <a:graphicData uri="http://schemas.openxmlformats.org/drawingml/2006/table">
            <a:tbl>
              <a:tblPr/>
              <a:tblGrid>
                <a:gridCol w="203845">
                  <a:extLst>
                    <a:ext uri="{9D8B030D-6E8A-4147-A177-3AD203B41FA5}">
                      <a16:colId xmlns:a16="http://schemas.microsoft.com/office/drawing/2014/main" val="1131844151"/>
                    </a:ext>
                  </a:extLst>
                </a:gridCol>
                <a:gridCol w="1417113">
                  <a:extLst>
                    <a:ext uri="{9D8B030D-6E8A-4147-A177-3AD203B41FA5}">
                      <a16:colId xmlns:a16="http://schemas.microsoft.com/office/drawing/2014/main" val="2814068171"/>
                    </a:ext>
                  </a:extLst>
                </a:gridCol>
                <a:gridCol w="15582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8218">
                  <a:extLst>
                    <a:ext uri="{9D8B030D-6E8A-4147-A177-3AD203B41FA5}">
                      <a16:colId xmlns:a16="http://schemas.microsoft.com/office/drawing/2014/main" val="2465000092"/>
                    </a:ext>
                  </a:extLst>
                </a:gridCol>
                <a:gridCol w="1627559">
                  <a:extLst>
                    <a:ext uri="{9D8B030D-6E8A-4147-A177-3AD203B41FA5}">
                      <a16:colId xmlns:a16="http://schemas.microsoft.com/office/drawing/2014/main" val="1911850969"/>
                    </a:ext>
                  </a:extLst>
                </a:gridCol>
                <a:gridCol w="472275">
                  <a:extLst>
                    <a:ext uri="{9D8B030D-6E8A-4147-A177-3AD203B41FA5}">
                      <a16:colId xmlns:a16="http://schemas.microsoft.com/office/drawing/2014/main" val="1418566233"/>
                    </a:ext>
                  </a:extLst>
                </a:gridCol>
                <a:gridCol w="997659">
                  <a:extLst>
                    <a:ext uri="{9D8B030D-6E8A-4147-A177-3AD203B41FA5}">
                      <a16:colId xmlns:a16="http://schemas.microsoft.com/office/drawing/2014/main" val="184544328"/>
                    </a:ext>
                  </a:extLst>
                </a:gridCol>
                <a:gridCol w="3145002">
                  <a:extLst>
                    <a:ext uri="{9D8B030D-6E8A-4147-A177-3AD203B41FA5}">
                      <a16:colId xmlns:a16="http://schemas.microsoft.com/office/drawing/2014/main" val="462508465"/>
                    </a:ext>
                  </a:extLst>
                </a:gridCol>
              </a:tblGrid>
              <a:tr h="291968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1" i="0" u="none" strike="noStrike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#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1" i="0" u="none" strike="noStrike" err="1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Subportfolio</a:t>
                      </a:r>
                      <a:r>
                        <a:rPr lang="es-ES" sz="800" b="1" i="0" u="none" strike="noStrike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 ID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i="0" u="none" strike="noStrike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NOPER Annex Segments</a:t>
                      </a:r>
                      <a:endParaRPr lang="es-ES" sz="800" b="1" i="0" u="none" strike="noStrike">
                        <a:solidFill>
                          <a:schemeClr val="bg1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800" b="1" i="0" u="none" strike="noStrike" err="1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Accounting</a:t>
                      </a:r>
                      <a:r>
                        <a:rPr lang="es-ES" sz="800" b="1" i="0" u="none" strike="noStrike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 Portfolio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800" b="1" i="0" u="none" strike="noStrike" err="1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Product</a:t>
                      </a:r>
                      <a:endParaRPr lang="es-ES" sz="800" b="1" i="0" u="none" strike="noStrike">
                        <a:solidFill>
                          <a:schemeClr val="bg1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1" i="0" u="none" strike="noStrike" err="1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endParaRPr lang="es-ES" sz="800" b="1" i="0" u="none" strike="noStrike">
                        <a:solidFill>
                          <a:schemeClr val="bg1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1" i="0" u="none" strike="noStrike" err="1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r>
                        <a:rPr lang="es-ES" sz="800" b="1" i="0" u="none" strike="noStrike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 status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1" i="0" u="none" strike="noStrike" err="1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Metrics</a:t>
                      </a:r>
                      <a:endParaRPr lang="es-ES" sz="800" b="1" i="0" u="none" strike="noStrike">
                        <a:solidFill>
                          <a:schemeClr val="bg1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7694284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37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MMYY_ECCAVRDS1P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   </a:t>
                      </a:r>
                      <a:r>
                        <a:rPr lang="en-US" sz="800" b="0" i="0" u="none" strike="noStrike" noProof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Credit institutions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Amortized cost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Securities (on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1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Gross carrying amount and Provisions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11062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38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MMYY_ECCAVRDS2P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Credit institutions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Amortized cost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Securities (on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Gross carrying amount and Provisions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9689030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39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MMYY_ECCAVRDS2NP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Credit institutions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Amortized cost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Securities (on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Gross carrying amount and Provisions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2986869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40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MMYY_ECCAVRDS3NP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Credit institutions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Amortized cost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Securities (on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3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Gross carrying amount and Provisions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5501476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41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MMYY_ECVRPNVRDS1P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Credit institutions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FVOCI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Securities (on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1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Gross carrying amount and Provisions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42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MMYY_ECVRPNVRDS2P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Credit institutions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FVOCI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Securities (on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Gross carrying amount and Provisions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43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MMYY_ECVRPNVRDS2NP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Credit institutions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FVOCI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Securities (on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Gross carrying amount and Provisions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44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MMYY_ECVRPNVRDS3NP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Credit institutions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FVOCI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Securities (on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3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Gross carrying amount and Provisions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45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MMYY_ECVRPLVRDP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Credit institutions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FV with changes in PL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Securities (on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Gross carrying amount and Adjustments due to credit risk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46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MMYY_ECVRPLVRDNP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Credit institutions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FV with changes in PL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Securities (on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Gross carrying amount and Adjustments due to credit risk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31313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47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MMYY_ECCAPRES1P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Credit institutions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Amortized cost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Loans (on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1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Gross carrying amount and Provisions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48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MMYY_ECCAPRES2P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Credit institutions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Amortized cost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Loans (on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Gross carrying amount and Provisions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8504707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49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MMYY_ECCAPRES2NP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Credit institutions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Amortized cost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Loans (on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Gross carrying amount and Provisions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951584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50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MMYY_ECCAPRES3NP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Credit institutions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Amortized cost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Loans (on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3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Gross carrying amount and Provisions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5512201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51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MMYY_ECVRPNPRES1P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Credit institutions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FVOCI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Loans (on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1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Gross carrying amount and Provisions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907570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52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MMYY_ECVRPNPRES2P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Credit institutions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FVOCI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Loans (on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Gross carrying amount and Provisions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0722773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53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MMYY_ECVRPNPRES2NP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Credit institutions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FVOCI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Loans (on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Gross carrying amount and Provisions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574709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54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MMYY_ECVRPNPRES3NP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Credit institutions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FVOCI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Loans (on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3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Gross carrying amount and Provisions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7234100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55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MMYY_ECVRPLPREP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Credit institutions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FV with changes in PL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Loans (on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Gross carrying amount and Adjustments due to credit risk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4020829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56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MMYY_ECVRPLPRENP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Credit institutions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FV with changes in PL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Loans (on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Gross carrying amount and Adjustments due to credit risk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8391527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57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MMYY_ECCOMS1P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Credit institutions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noProof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Loan commitments</a:t>
                      </a: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(off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1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Nominal and off-balance provisions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1459855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58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MMYY_ECCOMS2P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Credit institutions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Loan commitments (off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Nominal and off-balance provisions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7827153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59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MMYY_ECCOMS2NP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Credit institutions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Loan commitments (off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Nominal and off-balance provisions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5679636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60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MMYY_ECCOMS3NP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Credit institutions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Loan commitments (off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3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Nominal and off-balance provisions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5760054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61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MMYY_ECGUARS1P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Credit institutions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Guarantees (off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1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Nominal and off-balance provisions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2970687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62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MMYY_ECGUARS2P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Credit institutions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Guarantees (off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Nominal and off-balance provisions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6618583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63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MMYY_ECGUARS2NP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Credit institutions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Guarantees (off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Nominal and off-balance provisions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9831690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64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MMYY_ECGUARS3NP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Credit institutions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Guarantees (off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3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Nominal and off-balance provisions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9112091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65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MMYY_ECOCOMS1P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Credit institutions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Other commitments (off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1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Nominal and off-balance provisions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4143044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66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MMYY_ECOCOMS2P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Credit institutions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Other commitments (off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Nominal and off-balance provisions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0246813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67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MMYY_ECOCOMS2NP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Credit institutions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Other commitments (off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Nominal and off-balance provisions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2743400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68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MMYY_ECOCOMS3NP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Credit institutions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Other commitments (off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3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Nominal and off-balance provisions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3501872"/>
                  </a:ext>
                </a:extLst>
              </a:tr>
            </a:tbl>
          </a:graphicData>
        </a:graphic>
      </p:graphicFrame>
      <p:pic>
        <p:nvPicPr>
          <p:cNvPr id="20" name="Imagen 117" descr="image001">
            <a:hlinkClick r:id="rId3" action="ppaction://hlinksldjump"/>
            <a:extLst>
              <a:ext uri="{FF2B5EF4-FFF2-40B4-BE49-F238E27FC236}">
                <a16:creationId xmlns:a16="http://schemas.microsoft.com/office/drawing/2014/main" id="{1A1BE5A1-D8BE-4C63-89A3-313D99ABBD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88568" y="251350"/>
            <a:ext cx="324000" cy="3835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Rectángulo 12">
            <a:extLst>
              <a:ext uri="{FF2B5EF4-FFF2-40B4-BE49-F238E27FC236}">
                <a16:creationId xmlns:a16="http://schemas.microsoft.com/office/drawing/2014/main" id="{7F2C4C67-E464-4833-BBB6-4FA38F3FBBC3}"/>
              </a:ext>
            </a:extLst>
          </p:cNvPr>
          <p:cNvSpPr/>
          <p:nvPr/>
        </p:nvSpPr>
        <p:spPr>
          <a:xfrm>
            <a:off x="354000" y="750175"/>
            <a:ext cx="11484000" cy="2712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>
                <a:solidFill>
                  <a:schemeClr val="accent1"/>
                </a:solidFill>
              </a:rPr>
              <a:t>ANNEX – List of </a:t>
            </a:r>
            <a:r>
              <a:rPr lang="en-US" sz="3200" err="1">
                <a:solidFill>
                  <a:schemeClr val="accent1"/>
                </a:solidFill>
              </a:rPr>
              <a:t>subportfolios</a:t>
            </a:r>
            <a:r>
              <a:rPr lang="en-US" sz="3200">
                <a:solidFill>
                  <a:schemeClr val="accent1"/>
                </a:solidFill>
              </a:rPr>
              <a:t> in scope of loan tape</a:t>
            </a:r>
          </a:p>
          <a:p>
            <a:r>
              <a:rPr lang="es-ES" sz="3200">
                <a:solidFill>
                  <a:schemeClr val="accent1"/>
                </a:solidFill>
              </a:rPr>
              <a:t> </a:t>
            </a:r>
          </a:p>
          <a:p>
            <a:r>
              <a:rPr lang="es-ES" sz="200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525606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8" name="Tabla 5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2504827"/>
              </p:ext>
            </p:extLst>
          </p:nvPr>
        </p:nvGraphicFramePr>
        <p:xfrm>
          <a:off x="426720" y="750175"/>
          <a:ext cx="10728959" cy="4963456"/>
        </p:xfrm>
        <a:graphic>
          <a:graphicData uri="http://schemas.openxmlformats.org/drawingml/2006/table">
            <a:tbl>
              <a:tblPr/>
              <a:tblGrid>
                <a:gridCol w="202693">
                  <a:extLst>
                    <a:ext uri="{9D8B030D-6E8A-4147-A177-3AD203B41FA5}">
                      <a16:colId xmlns:a16="http://schemas.microsoft.com/office/drawing/2014/main" val="1131844151"/>
                    </a:ext>
                  </a:extLst>
                </a:gridCol>
                <a:gridCol w="1409107">
                  <a:extLst>
                    <a:ext uri="{9D8B030D-6E8A-4147-A177-3AD203B41FA5}">
                      <a16:colId xmlns:a16="http://schemas.microsoft.com/office/drawing/2014/main" val="2814068171"/>
                    </a:ext>
                  </a:extLst>
                </a:gridCol>
                <a:gridCol w="180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2958">
                  <a:extLst>
                    <a:ext uri="{9D8B030D-6E8A-4147-A177-3AD203B41FA5}">
                      <a16:colId xmlns:a16="http://schemas.microsoft.com/office/drawing/2014/main" val="2465000092"/>
                    </a:ext>
                  </a:extLst>
                </a:gridCol>
                <a:gridCol w="1632586">
                  <a:extLst>
                    <a:ext uri="{9D8B030D-6E8A-4147-A177-3AD203B41FA5}">
                      <a16:colId xmlns:a16="http://schemas.microsoft.com/office/drawing/2014/main" val="1911850969"/>
                    </a:ext>
                  </a:extLst>
                </a:gridCol>
                <a:gridCol w="483331">
                  <a:extLst>
                    <a:ext uri="{9D8B030D-6E8A-4147-A177-3AD203B41FA5}">
                      <a16:colId xmlns:a16="http://schemas.microsoft.com/office/drawing/2014/main" val="1418566233"/>
                    </a:ext>
                  </a:extLst>
                </a:gridCol>
                <a:gridCol w="870891">
                  <a:extLst>
                    <a:ext uri="{9D8B030D-6E8A-4147-A177-3AD203B41FA5}">
                      <a16:colId xmlns:a16="http://schemas.microsoft.com/office/drawing/2014/main" val="184544328"/>
                    </a:ext>
                  </a:extLst>
                </a:gridCol>
                <a:gridCol w="3127233">
                  <a:extLst>
                    <a:ext uri="{9D8B030D-6E8A-4147-A177-3AD203B41FA5}">
                      <a16:colId xmlns:a16="http://schemas.microsoft.com/office/drawing/2014/main" val="462508465"/>
                    </a:ext>
                  </a:extLst>
                </a:gridCol>
              </a:tblGrid>
              <a:tr h="291968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1" i="0" u="none" strike="noStrike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#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1" i="0" u="none" strike="noStrike" err="1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Subportfolio</a:t>
                      </a:r>
                      <a:r>
                        <a:rPr lang="es-ES" sz="800" b="1" i="0" u="none" strike="noStrike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 ID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i="0" u="none" strike="noStrike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NOPER Annex Segments</a:t>
                      </a:r>
                      <a:endParaRPr lang="es-ES" sz="800" b="1" i="0" u="none" strike="noStrike">
                        <a:solidFill>
                          <a:schemeClr val="bg1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800" b="1" i="0" u="none" strike="noStrike" err="1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Accounting</a:t>
                      </a:r>
                      <a:r>
                        <a:rPr lang="es-ES" sz="800" b="1" i="0" u="none" strike="noStrike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 Portfolio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800" b="1" i="0" u="none" strike="noStrike" err="1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Product</a:t>
                      </a:r>
                      <a:endParaRPr lang="es-ES" sz="800" b="1" i="0" u="none" strike="noStrike">
                        <a:solidFill>
                          <a:schemeClr val="bg1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1" i="0" u="none" strike="noStrike" err="1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endParaRPr lang="es-ES" sz="800" b="1" i="0" u="none" strike="noStrike">
                        <a:solidFill>
                          <a:schemeClr val="bg1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1" i="0" u="none" strike="noStrike" err="1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r>
                        <a:rPr lang="es-ES" sz="800" b="1" i="0" u="none" strike="noStrike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 status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1" i="0" u="none" strike="noStrike" err="1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Metrics</a:t>
                      </a:r>
                      <a:endParaRPr lang="es-ES" sz="800" b="1" i="0" u="none" strike="noStrike">
                        <a:solidFill>
                          <a:schemeClr val="bg1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7694284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69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MMYY_OSFCAVRDS1P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   </a:t>
                      </a:r>
                      <a:r>
                        <a:rPr lang="en-US" sz="800" b="0" i="0" u="none" strike="noStrike" noProof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Other financial corporations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Amortized cost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Securities (on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1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Gross carrying amount and Provisions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11062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70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MMYY_OSFCAVRDS2P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Other financial corporations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Amortized cost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Securities (on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Gross carrying amount and Provisions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9689030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71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MMYY_OSFCAVRDS2NP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Other financial corporations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Amortized cost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Securities (on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Gross carrying amount and Provisions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2986869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72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MMYY_OSFCAVRDS3NP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Other financial corporations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Amortized cost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Securities (on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3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Gross carrying amount and Provisions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5501476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73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MMYY_OSFVRPNVRDS1P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Other financial corporations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FVOCI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Securities (on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1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Gross carrying amount and Provisions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74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MMYY_OSFVRPNVRDS2P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Other financial corporations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FVOCI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Securities (on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Gross carrying amount and Provisions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75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MMYY_OSFVRPNVRDS2NP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Other financial corporations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FVOCI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Securities (on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Gross carrying amount and Provisions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76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MMYY_OSFVRPNVRDS3NP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Other financial corporations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FVOCI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Securities (on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3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Gross carrying amount and Provisions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77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MMYY_OSFVRPLVRDP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Other financial corporations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FV with changes in PL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Securities (on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Gross carrying amount and Adjustments due to credit risk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78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MMYY_OSFVRPLVRDNP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Other financial corporations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FV with changes in PL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Securities (on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Gross carrying amount and Adjustments due to credit risk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3131345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79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MMYY_OSFCAPRES1P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Other financial corporations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Amortized cost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Loans (on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1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Gross carrying amount and Provisions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80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MMYY_OSFCAPRES2P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Other financial corporations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Amortized cost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Loans (on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Gross carrying amount and Provisions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8504707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81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MMYY_OSFCAPRES2NP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Other financial corporations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Amortized cost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Loans (on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Gross carrying amount and Provisions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951584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82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MMYY_OSFCAPRES3NP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Other financial corporations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Amortized cost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Loans (on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3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Gross carrying amount and Provisions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5512201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83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MMYY_OSFVRPNPRES1P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Other financial corporations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FVOCI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Loans (on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1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Gross carrying amount and Provisions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907570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84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MMYY_OSFVRPNPRES2P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Other financial corporations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FVOCI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Loans (on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Gross carrying amount and Provisions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0722773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85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MMYY_OSFVRPNPRES2NP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Other financial corporations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FVOCI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Loans (on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Gross carrying amount and Provisions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574709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86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MMYY_OSFVRPNPRES3NP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Other financial corporations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FVOCI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Loans (on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3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Gross carrying amount and Provisions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7234100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87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MMYY_OSFVRPLPREP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Other financial corporations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FV with changes in PL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Loans (on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Gross carrying amount and Adjustments due to credit risk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4020829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88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MMYY_OSFVRPLPRENP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Other financial corporations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FV with changes in PL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Loans (on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Gross carrying amount and Adjustments due to credit risk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8391527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89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MMYY_OSFCOMS1P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Other financial corporations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noProof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Loan commitments</a:t>
                      </a: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(off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1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Nominal and off-balance provisions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1459855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90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MMYY_OSFCOMS2P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Other financial corporations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Loan commitments (off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Nominal and off-balance provisions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7827153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91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MMYY_OSFCOMS2NP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Other financial corporations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Loan commitments (off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Nominal and off-balance provisions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5679636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92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MMYY_OSFCOMS3NP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Other financial corporations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Loan commitments (off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3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Nominal and off-balance provisions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5760054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93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MMYY_OSFGUARS1P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Other financial corporations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Guarantees (off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1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Nominal and off-balance provisions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2970687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94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MMYY_OSFGUARS2P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Other financial corporations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Guarantees (off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Nominal and off-balance provisions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6618583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95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MMYY_OSFGUARS2NP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Other financial corporations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Guarantees (off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Nominal and off-balance provisions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9831690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96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MMYY_OSFGUARS3NP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Other financial corporations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Guarantees (off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3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Nominal and off-balance provisions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9112091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97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MMYY_OSFOCOMS1P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Other financial corporations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Other commitments (off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1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Nominal and off-balance provisions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4143044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98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MMYY_OSFOCOMS2P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Other financial corporations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Other commitments (off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Nominal and off-balance provisions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0246813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99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MMYY_OSFOCOMS2NP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Other financial corporations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Other commitments (off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Nominal and off-balance provisions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2743400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100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MMYY_OSFOCOMS3NP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Other financial corporations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Other commitments (off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3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Nominal and off-balance provisions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3501872"/>
                  </a:ext>
                </a:extLst>
              </a:tr>
            </a:tbl>
          </a:graphicData>
        </a:graphic>
      </p:graphicFrame>
      <p:pic>
        <p:nvPicPr>
          <p:cNvPr id="20" name="Imagen 117" descr="image001">
            <a:hlinkClick r:id="rId3" action="ppaction://hlinksldjump"/>
            <a:extLst>
              <a:ext uri="{FF2B5EF4-FFF2-40B4-BE49-F238E27FC236}">
                <a16:creationId xmlns:a16="http://schemas.microsoft.com/office/drawing/2014/main" id="{1A1BE5A1-D8BE-4C63-89A3-313D99ABBD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88568" y="251350"/>
            <a:ext cx="324000" cy="3835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Rectángulo 12">
            <a:extLst>
              <a:ext uri="{FF2B5EF4-FFF2-40B4-BE49-F238E27FC236}">
                <a16:creationId xmlns:a16="http://schemas.microsoft.com/office/drawing/2014/main" id="{F37EDF75-13BB-4CF1-9F3B-39E347EE3158}"/>
              </a:ext>
            </a:extLst>
          </p:cNvPr>
          <p:cNvSpPr/>
          <p:nvPr/>
        </p:nvSpPr>
        <p:spPr>
          <a:xfrm>
            <a:off x="354000" y="750175"/>
            <a:ext cx="11484000" cy="2712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>
                <a:solidFill>
                  <a:schemeClr val="accent1"/>
                </a:solidFill>
              </a:rPr>
              <a:t>ANNEX – List of </a:t>
            </a:r>
            <a:r>
              <a:rPr lang="en-US" sz="3200" err="1">
                <a:solidFill>
                  <a:schemeClr val="accent1"/>
                </a:solidFill>
              </a:rPr>
              <a:t>subportfolios</a:t>
            </a:r>
            <a:r>
              <a:rPr lang="en-US" sz="3200">
                <a:solidFill>
                  <a:schemeClr val="accent1"/>
                </a:solidFill>
              </a:rPr>
              <a:t> in scope of loan tape</a:t>
            </a:r>
          </a:p>
          <a:p>
            <a:r>
              <a:rPr lang="es-ES" sz="3200">
                <a:solidFill>
                  <a:schemeClr val="accent1"/>
                </a:solidFill>
              </a:rPr>
              <a:t> </a:t>
            </a:r>
          </a:p>
          <a:p>
            <a:r>
              <a:rPr lang="es-ES" sz="200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652186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8" name="Tabla 5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847302"/>
              </p:ext>
            </p:extLst>
          </p:nvPr>
        </p:nvGraphicFramePr>
        <p:xfrm>
          <a:off x="426720" y="775928"/>
          <a:ext cx="10706947" cy="4963456"/>
        </p:xfrm>
        <a:graphic>
          <a:graphicData uri="http://schemas.openxmlformats.org/drawingml/2006/table">
            <a:tbl>
              <a:tblPr/>
              <a:tblGrid>
                <a:gridCol w="202277">
                  <a:extLst>
                    <a:ext uri="{9D8B030D-6E8A-4147-A177-3AD203B41FA5}">
                      <a16:colId xmlns:a16="http://schemas.microsoft.com/office/drawing/2014/main" val="1131844151"/>
                    </a:ext>
                  </a:extLst>
                </a:gridCol>
                <a:gridCol w="1406216">
                  <a:extLst>
                    <a:ext uri="{9D8B030D-6E8A-4147-A177-3AD203B41FA5}">
                      <a16:colId xmlns:a16="http://schemas.microsoft.com/office/drawing/2014/main" val="2814068171"/>
                    </a:ext>
                  </a:extLst>
                </a:gridCol>
                <a:gridCol w="15310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6958">
                  <a:extLst>
                    <a:ext uri="{9D8B030D-6E8A-4147-A177-3AD203B41FA5}">
                      <a16:colId xmlns:a16="http://schemas.microsoft.com/office/drawing/2014/main" val="2465000092"/>
                    </a:ext>
                  </a:extLst>
                </a:gridCol>
                <a:gridCol w="1607798">
                  <a:extLst>
                    <a:ext uri="{9D8B030D-6E8A-4147-A177-3AD203B41FA5}">
                      <a16:colId xmlns:a16="http://schemas.microsoft.com/office/drawing/2014/main" val="1911850969"/>
                    </a:ext>
                  </a:extLst>
                </a:gridCol>
                <a:gridCol w="589527">
                  <a:extLst>
                    <a:ext uri="{9D8B030D-6E8A-4147-A177-3AD203B41FA5}">
                      <a16:colId xmlns:a16="http://schemas.microsoft.com/office/drawing/2014/main" val="1418566233"/>
                    </a:ext>
                  </a:extLst>
                </a:gridCol>
                <a:gridCol w="952326">
                  <a:extLst>
                    <a:ext uri="{9D8B030D-6E8A-4147-A177-3AD203B41FA5}">
                      <a16:colId xmlns:a16="http://schemas.microsoft.com/office/drawing/2014/main" val="184544328"/>
                    </a:ext>
                  </a:extLst>
                </a:gridCol>
                <a:gridCol w="3120817">
                  <a:extLst>
                    <a:ext uri="{9D8B030D-6E8A-4147-A177-3AD203B41FA5}">
                      <a16:colId xmlns:a16="http://schemas.microsoft.com/office/drawing/2014/main" val="462508465"/>
                    </a:ext>
                  </a:extLst>
                </a:gridCol>
              </a:tblGrid>
              <a:tr h="291968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1" i="0" u="none" strike="noStrike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#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1" i="0" u="none" strike="noStrike" err="1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Subportfolio</a:t>
                      </a:r>
                      <a:r>
                        <a:rPr lang="es-ES" sz="800" b="1" i="0" u="none" strike="noStrike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 ID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i="0" u="none" strike="noStrike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NOPER Annex Segments</a:t>
                      </a:r>
                      <a:endParaRPr lang="es-ES" sz="800" b="1" i="0" u="none" strike="noStrike">
                        <a:solidFill>
                          <a:schemeClr val="bg1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800" b="1" i="0" u="none" strike="noStrike" err="1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Accounting</a:t>
                      </a:r>
                      <a:r>
                        <a:rPr lang="es-ES" sz="800" b="1" i="0" u="none" strike="noStrike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 Portfolio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800" b="1" i="0" u="none" strike="noStrike" err="1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Product</a:t>
                      </a:r>
                      <a:endParaRPr lang="es-ES" sz="800" b="1" i="0" u="none" strike="noStrike">
                        <a:solidFill>
                          <a:schemeClr val="bg1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1" i="0" u="none" strike="noStrike" err="1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endParaRPr lang="es-ES" sz="800" b="1" i="0" u="none" strike="noStrike">
                        <a:solidFill>
                          <a:schemeClr val="bg1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1" i="0" u="none" strike="noStrike" err="1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r>
                        <a:rPr lang="es-ES" sz="800" b="1" i="0" u="none" strike="noStrike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 status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1" i="0" u="none" strike="noStrike" err="1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Metrics</a:t>
                      </a:r>
                      <a:endParaRPr lang="es-ES" sz="800" b="1" i="0" u="none" strike="noStrike">
                        <a:solidFill>
                          <a:schemeClr val="bg1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7694284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101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MMYY_SNFCAVRDS1P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   </a:t>
                      </a:r>
                      <a:r>
                        <a:rPr lang="en-US" sz="800" b="0" i="0" u="none" strike="noStrike" noProof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Non-financial corporations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Amortized cost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Securities (on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1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Gross carrying amount and Provisions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11062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102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MMYY_SNFCAVRDS2P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Non-financial corporations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Amortized cost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Securities (on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Gross carrying amount and Provisions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9689030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103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MMYY_SNFCAVRDS2NP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Non-financial corporations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Amortized cost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Securities (on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Gross carrying amount and Provisions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2986869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104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MMYY_SNFCAVRDS3NP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Non-financial corporations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Amortized cost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Securities (on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3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Gross carrying amount and Provisions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5501476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105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MMYY_SNFVRPNVRDS1P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Non-financial corporations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FVOCI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Securities (on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1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Gross carrying amount and Provisions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106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MMYY_SNFVRPNVRDS2P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Non-financial corporations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FVOCI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Securities (on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Gross carrying amount and Provisions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107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MMYY_SNFVRPNVRDS2NP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Non-financial corporations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FVOCI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Securities (on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Gross carrying amount and Provisions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108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MMYY_SNFVRPNVRDS3NP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Non-financial corporations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FVOCI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Securities (on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3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Gross carrying amount and Provisions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109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MMYY_SNFVRPLVRDP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Non-financial corporations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FV with changes in PL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Securities (on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Gross carrying amount and Adjustments due to credit risk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110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MMYY_SNFVRPLVRDNP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Non-financial corporations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FV with changes in PL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Securities (on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Gross carrying amount and Adjustments due to credit risk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3131345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111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MMYY_SNFCAPRES1P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Non-financial corporations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Amortized cost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Loans (on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1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Gross carrying amount and Provisions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112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MMYY_SNFCAPRES2P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Non-financial corporations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Amortized cost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Loans (on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Gross carrying amount and Provisions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8504707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113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MMYY_SNFCAPRES2NP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Non-financial corporations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Amortized cost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Loans (on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Gross carrying amount and Provisions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951584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114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MMYY_SNFCAPRES3NP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Non-financial corporations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Amortized cost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Loans (on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3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Gross carrying amount and Provisions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5512201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115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MMYY_SNFVRPNPRES1P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Non-financial corporations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FVOCI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Loans (on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1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Gross carrying amount and Provisions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907570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116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MMYY_SNFVRPNPRES2P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Non-financial corporations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FVOCI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Loans (on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Gross carrying amount and Provisions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0722773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117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MMYY_SNFVRPNPRES2NP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Non-financial corporations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FVOCI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Loans (on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Gross carrying amount and Provisions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574709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118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MMYY_SNFVRPNPRES3NP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Non-financial corporations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FVOCI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Loans (on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3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Gross carrying amount and Provisions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7234100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119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MMYY_SNFVRPLPREP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Non-financial corporations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FV with changes in PL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Loans (on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Gross carrying amount and Adjustments due to credit risk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4020829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120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MMYY_SNFVRPLPRENP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Non-financial corporations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FV with changes in PL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Loans (on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Gross carrying amount and Adjustments due to credit risk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8391527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121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MMYY_SNFCOMS1P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Non-financial corporations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noProof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Loan commitments</a:t>
                      </a: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(off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1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Nominal and off-balance provisions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1459855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122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MMYY_SNFCOMS2P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Non-financial corporations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Loan commitments (off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Nominal and off-balance provisions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7827153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123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MMYY_SNFCOMS2NP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Non-financial corporations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Loan commitments (off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Nominal and off-balance provisions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5679636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124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MMYY_SNFCOMS3NP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Non-financial corporations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Loan commitments (off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3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Nominal and off-balance provisions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5760054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125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MMYY_SNFGUARS1P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Non-financial corporations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Guarantees (off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1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Nominal and off-balance provisions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2970687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126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MMYY_SNFGUARS2P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Non-financial corporations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Guarantees (off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Nominal and off-balance provisions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6618583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127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MMYY_SNFGUARS2NP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Non-financial corporations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Guarantees (off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Nominal and off-balance provisions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9831690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128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MMYY_SNFGUARS3NP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Non-financial corporations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Guarantees (off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3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Nominal and off-balance provisions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9112091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129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MMYY_SNFOCOMS1P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Non-financial corporations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Other commitments (off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1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Nominal and off-balance provisions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4143044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130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MMYY_SNFOCOMS2P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Non-financial corporations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Other commitments (off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Nominal and off-balance provisions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0246813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131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MMYY_SNFOCOMS2NP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Non-financial corporations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Other commitments (off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Nominal and off-balance provisions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2743400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132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MMYY_SNFOCOMS3NP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Non-financial corporations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Other commitments (off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3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Nominal and off-balance provisions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3501872"/>
                  </a:ext>
                </a:extLst>
              </a:tr>
            </a:tbl>
          </a:graphicData>
        </a:graphic>
      </p:graphicFrame>
      <p:pic>
        <p:nvPicPr>
          <p:cNvPr id="20" name="Imagen 117" descr="image001">
            <a:hlinkClick r:id="rId3" action="ppaction://hlinksldjump"/>
            <a:extLst>
              <a:ext uri="{FF2B5EF4-FFF2-40B4-BE49-F238E27FC236}">
                <a16:creationId xmlns:a16="http://schemas.microsoft.com/office/drawing/2014/main" id="{1A1BE5A1-D8BE-4C63-89A3-313D99ABBD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88568" y="251350"/>
            <a:ext cx="324000" cy="3835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ángulo 12">
            <a:extLst>
              <a:ext uri="{FF2B5EF4-FFF2-40B4-BE49-F238E27FC236}">
                <a16:creationId xmlns:a16="http://schemas.microsoft.com/office/drawing/2014/main" id="{B5D69FFE-236D-43EB-904B-DF5B4C2B6AD2}"/>
              </a:ext>
            </a:extLst>
          </p:cNvPr>
          <p:cNvSpPr/>
          <p:nvPr/>
        </p:nvSpPr>
        <p:spPr>
          <a:xfrm>
            <a:off x="354000" y="750175"/>
            <a:ext cx="11484000" cy="2712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>
                <a:solidFill>
                  <a:schemeClr val="accent1"/>
                </a:solidFill>
              </a:rPr>
              <a:t>ANNEX – List of </a:t>
            </a:r>
            <a:r>
              <a:rPr lang="en-US" sz="3200" err="1">
                <a:solidFill>
                  <a:schemeClr val="accent1"/>
                </a:solidFill>
              </a:rPr>
              <a:t>subportfolios</a:t>
            </a:r>
            <a:r>
              <a:rPr lang="en-US" sz="3200">
                <a:solidFill>
                  <a:schemeClr val="accent1"/>
                </a:solidFill>
              </a:rPr>
              <a:t> in scope of loan tape</a:t>
            </a:r>
          </a:p>
          <a:p>
            <a:r>
              <a:rPr lang="es-ES" sz="3200">
                <a:solidFill>
                  <a:schemeClr val="accent1"/>
                </a:solidFill>
              </a:rPr>
              <a:t> </a:t>
            </a:r>
          </a:p>
          <a:p>
            <a:r>
              <a:rPr lang="es-ES" sz="200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209273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8" name="Tabla 5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0717309"/>
              </p:ext>
            </p:extLst>
          </p:nvPr>
        </p:nvGraphicFramePr>
        <p:xfrm>
          <a:off x="434076" y="1420100"/>
          <a:ext cx="10733457" cy="3503616"/>
        </p:xfrm>
        <a:graphic>
          <a:graphicData uri="http://schemas.openxmlformats.org/drawingml/2006/table">
            <a:tbl>
              <a:tblPr/>
              <a:tblGrid>
                <a:gridCol w="202778">
                  <a:extLst>
                    <a:ext uri="{9D8B030D-6E8A-4147-A177-3AD203B41FA5}">
                      <a16:colId xmlns:a16="http://schemas.microsoft.com/office/drawing/2014/main" val="1131844151"/>
                    </a:ext>
                  </a:extLst>
                </a:gridCol>
                <a:gridCol w="1409698">
                  <a:extLst>
                    <a:ext uri="{9D8B030D-6E8A-4147-A177-3AD203B41FA5}">
                      <a16:colId xmlns:a16="http://schemas.microsoft.com/office/drawing/2014/main" val="2814068171"/>
                    </a:ext>
                  </a:extLst>
                </a:gridCol>
                <a:gridCol w="1550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1058">
                  <a:extLst>
                    <a:ext uri="{9D8B030D-6E8A-4147-A177-3AD203B41FA5}">
                      <a16:colId xmlns:a16="http://schemas.microsoft.com/office/drawing/2014/main" val="2465000092"/>
                    </a:ext>
                  </a:extLst>
                </a:gridCol>
                <a:gridCol w="1610830">
                  <a:extLst>
                    <a:ext uri="{9D8B030D-6E8A-4147-A177-3AD203B41FA5}">
                      <a16:colId xmlns:a16="http://schemas.microsoft.com/office/drawing/2014/main" val="1911850969"/>
                    </a:ext>
                  </a:extLst>
                </a:gridCol>
                <a:gridCol w="478016">
                  <a:extLst>
                    <a:ext uri="{9D8B030D-6E8A-4147-A177-3AD203B41FA5}">
                      <a16:colId xmlns:a16="http://schemas.microsoft.com/office/drawing/2014/main" val="1418566233"/>
                    </a:ext>
                  </a:extLst>
                </a:gridCol>
                <a:gridCol w="992438">
                  <a:extLst>
                    <a:ext uri="{9D8B030D-6E8A-4147-A177-3AD203B41FA5}">
                      <a16:colId xmlns:a16="http://schemas.microsoft.com/office/drawing/2014/main" val="184544328"/>
                    </a:ext>
                  </a:extLst>
                </a:gridCol>
                <a:gridCol w="3128544">
                  <a:extLst>
                    <a:ext uri="{9D8B030D-6E8A-4147-A177-3AD203B41FA5}">
                      <a16:colId xmlns:a16="http://schemas.microsoft.com/office/drawing/2014/main" val="462508465"/>
                    </a:ext>
                  </a:extLst>
                </a:gridCol>
              </a:tblGrid>
              <a:tr h="291968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1" i="0" u="none" strike="noStrike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#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1" i="0" u="none" strike="noStrike" err="1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Subportfolio</a:t>
                      </a:r>
                      <a:r>
                        <a:rPr lang="es-ES" sz="800" b="1" i="0" u="none" strike="noStrike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 ID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i="0" u="none" strike="noStrike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NOPER Annex Segments</a:t>
                      </a:r>
                      <a:endParaRPr lang="es-ES" sz="800" b="1" i="0" u="none" strike="noStrike">
                        <a:solidFill>
                          <a:schemeClr val="bg1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800" b="1" i="0" u="none" strike="noStrike" err="1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Accounting</a:t>
                      </a:r>
                      <a:r>
                        <a:rPr lang="es-ES" sz="800" b="1" i="0" u="none" strike="noStrike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 Portfolio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800" b="1" i="0" u="none" strike="noStrike" err="1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Product</a:t>
                      </a:r>
                      <a:endParaRPr lang="es-ES" sz="800" b="1" i="0" u="none" strike="noStrike">
                        <a:solidFill>
                          <a:schemeClr val="bg1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1" i="0" u="none" strike="noStrike" err="1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endParaRPr lang="es-ES" sz="800" b="1" i="0" u="none" strike="noStrike">
                        <a:solidFill>
                          <a:schemeClr val="bg1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1" i="0" u="none" strike="noStrike" err="1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r>
                        <a:rPr lang="es-ES" sz="800" b="1" i="0" u="none" strike="noStrike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 status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1" i="0" u="none" strike="noStrike" err="1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Metrics</a:t>
                      </a:r>
                      <a:endParaRPr lang="es-ES" sz="800" b="1" i="0" u="none" strike="noStrike">
                        <a:solidFill>
                          <a:schemeClr val="bg1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7694284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133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MMYY_HOGCAPRES1P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   Households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Amortized cost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Loans (on BS)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1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Gross carrying amount and Provisions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134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MMYY_HOGCAPRES2P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Households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Amortized cost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Loans (on BS)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Gross carrying amount and Provisions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8504707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135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MMYY_HOGCAPRES2NP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Households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Amortized cost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Loans (on BS)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Gross carrying amount and Provisions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951584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136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MMYY_HOGCAPRES3NP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Households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Amortized cost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Loans (on BS)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3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Gross carrying amount and Provisions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5512201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137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MMYY_HOGVRPNPRES1P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Households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FVOCI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Loans (on BS)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1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Gross carrying amount and Provisions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907570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138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MMYY_HOGVRPNPRES2P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Households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FVOCI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Loans (on BS)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Gross carrying amount and Provisions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0722773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139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MMYY_HOGVRPNPRES2NP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Households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FVOCI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Loans (on BS)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Gross carrying amount and Provisions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574709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140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MMYY_HOGVRPNPRES3NP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Households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FVOCI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Loans (on BS)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3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Gross carrying amount and Provisions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7234100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141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MMYY_HOGVRPLPREP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Households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FV with changes in PL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Loans (on BS)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Gross carrying amount and Adjustments due to credit risk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4020829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142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MMYY_HOGVRPLPRENP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Households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FV with changes in PL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Loans</a:t>
                      </a: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(</a:t>
                      </a:r>
                      <a:r>
                        <a:rPr kumimoji="0" lang="es-ES" sz="8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on</a:t>
                      </a: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BS)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Gross carrying amount and Adjustments due to credit risk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8391527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143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MMYY_HOGCOMS1P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Households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Loan commitments (off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1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Nominal and off-balance provisions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1459855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144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MMYY_HOGCOMS2P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Households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Loan commitments (off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Nominal and off-balance provisions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7827153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145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MMYY_HOGCOMS2NP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Households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Loan commitments (off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Nominal and off-balance provisions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5679636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146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MMYY_HOGCOMS3NP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Households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Loan commitments (off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3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Nominal and off-balance provisions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5760054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147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MMYY_HOGGUARS1P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Households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Guarantees</a:t>
                      </a: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(off BS)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1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Nominal and off-balance provisions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2970687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148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MMYY_HOGGUARS2P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Households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Guarantees (off BS)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Nominal and off-balance provisions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6618583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149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MMYY_HOGGUARS2NP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Households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Guarantees (off BS)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Nominal and off-balance provisions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9831690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150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MMYY_HOGGUARS3NP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Households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Guarantees</a:t>
                      </a: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(off BS)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3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Nominal and off-balance provisions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9112091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151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MMYY_HOGOCOMS1P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Households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noProof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Loan commitments</a:t>
                      </a: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(off BS)</a:t>
                      </a:r>
                    </a:p>
                  </a:txBody>
                  <a:tcPr marL="65455" marR="5773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1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Nominal and off-balance provisions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4143044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152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MMYY_HOGOCOMS2P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Households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Loan commitments (off BS)</a:t>
                      </a:r>
                    </a:p>
                  </a:txBody>
                  <a:tcPr marL="65455" marR="5773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Nominal and off-balance provisions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0246813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153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MMYY_HOGOCOMS2NP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Households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noProof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Loan commitments</a:t>
                      </a: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(off BS)</a:t>
                      </a:r>
                    </a:p>
                  </a:txBody>
                  <a:tcPr marL="65455" marR="5773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Nominal and off-balance provisions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2743400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154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MMYY_HOGOCOMS3NP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Households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Loan commitments (off BS)</a:t>
                      </a:r>
                    </a:p>
                  </a:txBody>
                  <a:tcPr marL="65455" marR="5773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3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Nominal and off-balance provisions</a:t>
                      </a:r>
                      <a:endParaRPr lang="es-ES" sz="8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3501872"/>
                  </a:ext>
                </a:extLst>
              </a:tr>
            </a:tbl>
          </a:graphicData>
        </a:graphic>
      </p:graphicFrame>
      <p:sp>
        <p:nvSpPr>
          <p:cNvPr id="16" name="Rectángulo 12">
            <a:extLst>
              <a:ext uri="{FF2B5EF4-FFF2-40B4-BE49-F238E27FC236}">
                <a16:creationId xmlns:a16="http://schemas.microsoft.com/office/drawing/2014/main" id="{49C8E16C-8F14-4490-8570-2E5E436A9B9D}"/>
              </a:ext>
            </a:extLst>
          </p:cNvPr>
          <p:cNvSpPr/>
          <p:nvPr/>
        </p:nvSpPr>
        <p:spPr>
          <a:xfrm>
            <a:off x="354000" y="184614"/>
            <a:ext cx="11484000" cy="684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3200">
                <a:solidFill>
                  <a:schemeClr val="accent1"/>
                </a:solidFill>
              </a:rPr>
              <a:t>ANEXO – Listado de </a:t>
            </a:r>
            <a:r>
              <a:rPr lang="es-ES" sz="3200" err="1">
                <a:solidFill>
                  <a:schemeClr val="accent1"/>
                </a:solidFill>
              </a:rPr>
              <a:t>subportfolios</a:t>
            </a:r>
            <a:r>
              <a:rPr lang="es-ES" sz="3200">
                <a:solidFill>
                  <a:schemeClr val="accent1"/>
                </a:solidFill>
              </a:rPr>
              <a:t> bajo alcance del loan tape </a:t>
            </a:r>
          </a:p>
          <a:p>
            <a:r>
              <a:rPr lang="es-ES" sz="200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</a:p>
        </p:txBody>
      </p:sp>
      <p:pic>
        <p:nvPicPr>
          <p:cNvPr id="20" name="Imagen 117" descr="image001">
            <a:hlinkClick r:id="rId3" action="ppaction://hlinksldjump"/>
            <a:extLst>
              <a:ext uri="{FF2B5EF4-FFF2-40B4-BE49-F238E27FC236}">
                <a16:creationId xmlns:a16="http://schemas.microsoft.com/office/drawing/2014/main" id="{1A1BE5A1-D8BE-4C63-89A3-313D99ABBD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88568" y="251350"/>
            <a:ext cx="324000" cy="3835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9583671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Tema de Office">
  <a:themeElements>
    <a:clrScheme name="Personalizado 3">
      <a:dk1>
        <a:sysClr val="windowText" lastClr="000000"/>
      </a:dk1>
      <a:lt1>
        <a:sysClr val="window" lastClr="FFFFFF"/>
      </a:lt1>
      <a:dk2>
        <a:srgbClr val="6E7678"/>
      </a:dk2>
      <a:lt2>
        <a:srgbClr val="E7E6E6"/>
      </a:lt2>
      <a:accent1>
        <a:srgbClr val="EB0000"/>
      </a:accent1>
      <a:accent2>
        <a:srgbClr val="DEEDF1"/>
      </a:accent2>
      <a:accent3>
        <a:srgbClr val="9D3566"/>
      </a:accent3>
      <a:accent4>
        <a:srgbClr val="62B967"/>
      </a:accent4>
      <a:accent5>
        <a:srgbClr val="1AB2BB"/>
      </a:accent5>
      <a:accent6>
        <a:srgbClr val="FFCB32"/>
      </a:accent6>
      <a:hlink>
        <a:srgbClr val="3265FF"/>
      </a:hlink>
      <a:folHlink>
        <a:srgbClr val="954F72"/>
      </a:folHlink>
    </a:clrScheme>
    <a:fontScheme name="Personalizado 66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>
            <a:lumMod val="95000"/>
            <a:alpha val="31000"/>
          </a:sysClr>
        </a:solidFill>
        <a:ln w="19050" cap="flat" cmpd="sng" algn="ctr">
          <a:solidFill>
            <a:srgbClr val="FF0000"/>
          </a:solidFill>
          <a:prstDash val="dash"/>
          <a:miter lim="800000"/>
        </a:ln>
        <a:effectLst/>
      </a:spPr>
      <a:bodyPr rtlCol="0" anchor="t"/>
      <a:lstStyle>
        <a:defPPr>
          <a:defRPr sz="1200" b="1" u="sng" dirty="0">
            <a:solidFill>
              <a:schemeClr val="tx2"/>
            </a:solidFill>
          </a:defRPr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CC2D3ED97170E4B9280DA12ED175D08" ma:contentTypeVersion="7" ma:contentTypeDescription="Create a new document." ma:contentTypeScope="" ma:versionID="fa10dac7acc8825bdd0e5d2bc7ee184d">
  <xsd:schema xmlns:xsd="http://www.w3.org/2001/XMLSchema" xmlns:xs="http://www.w3.org/2001/XMLSchema" xmlns:p="http://schemas.microsoft.com/office/2006/metadata/properties" xmlns:ns2="0deb8465-17ac-43ac-816d-d04ab7aca019" xmlns:ns3="0a445346-87c5-46b1-91e1-f711c6026011" targetNamespace="http://schemas.microsoft.com/office/2006/metadata/properties" ma:root="true" ma:fieldsID="ccd27116591556d23f55a37a2d240d03" ns2:_="" ns3:_="">
    <xsd:import namespace="0deb8465-17ac-43ac-816d-d04ab7aca019"/>
    <xsd:import namespace="0a445346-87c5-46b1-91e1-f711c602601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deb8465-17ac-43ac-816d-d04ab7aca01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445346-87c5-46b1-91e1-f711c6026011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DD9C4BB-930D-4DF3-85DD-8D55B2C2B01C}">
  <ds:schemaRefs>
    <ds:schemaRef ds:uri="99f8dcde-2d2b-443a-8f1b-c30094e17596"/>
    <ds:schemaRef ds:uri="cf3f2eca-df97-4417-a07a-12411351a118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DC3CD27C-739E-4208-AB9A-3318482E857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09A90BC-E69D-4FEC-8B0D-1CC56001036A}"/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12</Slides>
  <Notes>10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1_Tema de Office</vt:lpstr>
      <vt:lpstr>Structural Loan Tape  Perimeter</vt:lpstr>
      <vt:lpstr>PowerPoint Presentation</vt:lpstr>
      <vt:lpstr>PowerPoint Presentation</vt:lpstr>
      <vt:lpstr>PowerPoint Presentation</vt:lpstr>
      <vt:lpstr>PowerPoint Presentation</vt:lpstr>
      <vt:lpstr>Annex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FERNANDEZ CASTRO ANA ISABEL</dc:creator>
  <cp:revision>1</cp:revision>
  <dcterms:created xsi:type="dcterms:W3CDTF">2021-04-22T09:22:15Z</dcterms:created>
  <dcterms:modified xsi:type="dcterms:W3CDTF">2021-09-23T20:18:27Z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c2abd79-57a9-4473-8700-c843f76a1e37_Enabled">
    <vt:lpwstr>True</vt:lpwstr>
  </property>
  <property fmtid="{D5CDD505-2E9C-101B-9397-08002B2CF9AE}" pid="3" name="MSIP_Label_0c2abd79-57a9-4473-8700-c843f76a1e37_SiteId">
    <vt:lpwstr>35595a02-4d6d-44ac-99e1-f9ab4cd872db</vt:lpwstr>
  </property>
  <property fmtid="{D5CDD505-2E9C-101B-9397-08002B2CF9AE}" pid="4" name="MSIP_Label_0c2abd79-57a9-4473-8700-c843f76a1e37_Owner">
    <vt:lpwstr>n220359@corp.geoban.com</vt:lpwstr>
  </property>
  <property fmtid="{D5CDD505-2E9C-101B-9397-08002B2CF9AE}" pid="5" name="MSIP_Label_0c2abd79-57a9-4473-8700-c843f76a1e37_SetDate">
    <vt:lpwstr>2021-04-22T10:12:15.8539061Z</vt:lpwstr>
  </property>
  <property fmtid="{D5CDD505-2E9C-101B-9397-08002B2CF9AE}" pid="6" name="MSIP_Label_0c2abd79-57a9-4473-8700-c843f76a1e37_Name">
    <vt:lpwstr>Internal</vt:lpwstr>
  </property>
  <property fmtid="{D5CDD505-2E9C-101B-9397-08002B2CF9AE}" pid="7" name="MSIP_Label_0c2abd79-57a9-4473-8700-c843f76a1e37_Application">
    <vt:lpwstr>Microsoft Azure Information Protection</vt:lpwstr>
  </property>
  <property fmtid="{D5CDD505-2E9C-101B-9397-08002B2CF9AE}" pid="8" name="MSIP_Label_0c2abd79-57a9-4473-8700-c843f76a1e37_ActionId">
    <vt:lpwstr>f9befcd9-fc55-4b42-badc-5e3754719c43</vt:lpwstr>
  </property>
  <property fmtid="{D5CDD505-2E9C-101B-9397-08002B2CF9AE}" pid="9" name="MSIP_Label_0c2abd79-57a9-4473-8700-c843f76a1e37_Extended_MSFT_Method">
    <vt:lpwstr>Manual</vt:lpwstr>
  </property>
  <property fmtid="{D5CDD505-2E9C-101B-9397-08002B2CF9AE}" pid="10" name="Sensitivity">
    <vt:lpwstr>Internal</vt:lpwstr>
  </property>
  <property fmtid="{D5CDD505-2E9C-101B-9397-08002B2CF9AE}" pid="11" name="ContentTypeId">
    <vt:lpwstr>0x0101009CC2D3ED97170E4B9280DA12ED175D08</vt:lpwstr>
  </property>
</Properties>
</file>