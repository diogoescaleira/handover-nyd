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0"/>
  </p:notesMasterIdLst>
  <p:sldIdLst>
    <p:sldId id="1786" r:id="rId22"/>
    <p:sldId id="258" r:id="rId23"/>
    <p:sldId id="1924" r:id="rId24"/>
    <p:sldId id="3149" r:id="rId25"/>
    <p:sldId id="3154" r:id="rId26"/>
    <p:sldId id="3152" r:id="rId27"/>
    <p:sldId id="3129" r:id="rId28"/>
    <p:sldId id="266" r:id="rId29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FF7C80"/>
    <a:srgbClr val="5F5F5F"/>
    <a:srgbClr val="707070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#9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11 </a:t>
            </a:r>
            <a:r>
              <a:rPr lang="pt-PT" dirty="0">
                <a:latin typeface="Arial" panose="020B0604020202020204" pitchFamily="34" charset="0"/>
              </a:rPr>
              <a:t>de março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 dirty="0" err="1">
                <a:latin typeface="Arial" panose="020B0604020202020204" pitchFamily="34" charset="0"/>
              </a:rPr>
              <a:t>Reporting</a:t>
            </a:r>
            <a:r>
              <a:rPr lang="pt-PT" sz="2000" i="1">
                <a:latin typeface="Arial" panose="020B0604020202020204" pitchFamily="34" charset="0"/>
              </a:rPr>
              <a:t>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9ª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11:00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11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março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Caguerelho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</a:t>
            </a:r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Fernandes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13388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Passos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Atualização da documentação com as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alterações efetuadas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 o processo durante 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Dez23. 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3016210"/>
          </a:xfrm>
          <a:prstGeom prst="rect">
            <a:avLst/>
          </a:prstGeom>
          <a:noFill/>
        </p:spPr>
        <p:txBody>
          <a:bodyPr wrap="square" lIns="72000" tIns="45720" rIns="18000" bIns="4572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implementação de alterações metodológicas e funcionais nos processos de geração de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da geração do universo local;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de análises comparativas face aos exercícios de Jun23;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 processo de validação (ex. controlos vs GD);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de confronto com 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XBRL;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documentação do processo.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342198" y="1829064"/>
            <a:ext cx="3343948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pt-PT" altLang="pt-PT" sz="16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</a:p>
          <a:p>
            <a:pPr marL="285750" lvl="0" indent="-285750" algn="l" defTabSz="412629" hangingPunct="0">
              <a:buFont typeface="Arial" panose="020B0604020202020204" pitchFamily="34" charset="0"/>
              <a:buChar char="•"/>
            </a:pP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Atrasos na entrega dos </a:t>
            </a:r>
            <a:r>
              <a:rPr lang="pt-PT" alt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 devido a atraso na </a:t>
            </a:r>
            <a:r>
              <a:rPr lang="pt-PT" alt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resposta de conciliação </a:t>
            </a: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parte de </a:t>
            </a:r>
            <a:r>
              <a:rPr lang="pt-PT" altLang="pt-PT" sz="1200" dirty="0" err="1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CdG</a:t>
            </a:r>
            <a:r>
              <a:rPr lang="pt-PT" alt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443751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13210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12925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12766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83399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01211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161666" y="557605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285004" y="5791729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694622" y="5788413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72008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60035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72922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59197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84034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40065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43362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48762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7353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55939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72434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44765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619212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33535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285004" y="6019386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417579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nã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13189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84034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730337"/>
            <a:ext cx="3610821" cy="232821"/>
            <a:chOff x="3394765" y="5751275"/>
            <a:chExt cx="3610821" cy="232821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506420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9 Fevereiro </a:t>
              </a:r>
              <a:r>
                <a:rPr kumimoji="0" lang="pt-PT" sz="900" b="0" u="none" strike="noStrike" kern="1200" cap="none" spc="0" normalizeH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Início de disponibilização dos </a:t>
              </a:r>
              <a:r>
                <a:rPr kumimoji="0" lang="pt-PT" sz="900" b="0" u="none" strike="noStrike" kern="1200" cap="none" spc="0" normalizeH="0" noProof="0" dirty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templates</a:t>
              </a:r>
              <a:endPara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85272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11302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11302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38769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38769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05696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71%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52364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52479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82%</a:t>
            </a:r>
            <a:endParaRPr lang="pt-PT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17007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198497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198775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21551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385206" y="221948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73547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394304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39695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605547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811875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70410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70410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84045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296407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296407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6106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61339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18209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61339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11297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78935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50165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85375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85375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06690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50165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50165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718051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778280" y="4938908"/>
            <a:ext cx="43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39473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78935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33152" y="233853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18624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042125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20366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20366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20461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00202" y="1082661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3572" y="1082661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46398" y="1082661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28510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91%</a:t>
              </a:r>
              <a:endPara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261" y="5931851"/>
            <a:ext cx="3040698" cy="232821"/>
            <a:chOff x="3394765" y="5751275"/>
            <a:chExt cx="3040698" cy="232821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93629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8 Março – Última data da disponibiliza dos templates 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917953" y="6133365"/>
            <a:ext cx="3526558" cy="232821"/>
            <a:chOff x="3394765" y="5751275"/>
            <a:chExt cx="3526558" cy="232821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15 Março – Data da entrega dos templates ao regulador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491270"/>
            <a:ext cx="144000" cy="14400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7540997" y="560005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88732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24451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17765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07825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53355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48247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93585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82455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706701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694622" y="600378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85375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50165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718392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39507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19719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35854" y="233853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78693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61444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18209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2304902"/>
            <a:ext cx="144000" cy="144000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6553488-886A-50E0-50E2-447D2B4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1" name="Text Placeholder 224">
            <a:extLst>
              <a:ext uri="{FF2B5EF4-FFF2-40B4-BE49-F238E27FC236}">
                <a16:creationId xmlns:a16="http://schemas.microsoft.com/office/drawing/2014/main" id="{32CA3140-0DFA-C764-2D7D-35B8BF7CED7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  <a:endParaRPr kumimoji="0" lang="pt-PT" sz="16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ACDB8-8BCD-5233-6283-1A95E8381BF2}"/>
              </a:ext>
            </a:extLst>
          </p:cNvPr>
          <p:cNvSpPr/>
          <p:nvPr/>
        </p:nvSpPr>
        <p:spPr>
          <a:xfrm>
            <a:off x="8777777" y="4066906"/>
            <a:ext cx="1025901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B0981-0B3A-4525-CD54-7487F04B51C9}"/>
              </a:ext>
            </a:extLst>
          </p:cNvPr>
          <p:cNvSpPr/>
          <p:nvPr/>
        </p:nvSpPr>
        <p:spPr>
          <a:xfrm>
            <a:off x="8962377" y="4937713"/>
            <a:ext cx="847852" cy="108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F480BB-714F-0D51-B576-030D4657CE2A}"/>
              </a:ext>
            </a:extLst>
          </p:cNvPr>
          <p:cNvGrpSpPr/>
          <p:nvPr/>
        </p:nvGrpSpPr>
        <p:grpSpPr>
          <a:xfrm>
            <a:off x="285004" y="6254527"/>
            <a:ext cx="1765840" cy="232821"/>
            <a:chOff x="4094233" y="5919315"/>
            <a:chExt cx="1765840" cy="23282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9C006B-28D7-AD24-5725-ECFFE7271306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chemeClr val="accent3">
                <a:lumMod val="25000"/>
                <a:lumOff val="75000"/>
              </a:schemeClr>
            </a:solidFill>
            <a:ln w="3175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111240BF-9E6B-1EC6-0C7A-F1F210B8DBFD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671846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Antecipação de tarefa</a:t>
              </a:r>
              <a:endParaRPr kumimoji="0" lang="pt-PT" sz="9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7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162104"/>
            <a:ext cx="144000" cy="144000"/>
          </a:xfrm>
          <a:prstGeom prst="rect">
            <a:avLst/>
          </a:prstGeom>
        </p:spPr>
      </p:pic>
      <p:pic>
        <p:nvPicPr>
          <p:cNvPr id="185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3507217"/>
            <a:ext cx="144000" cy="144000"/>
          </a:xfrm>
          <a:prstGeom prst="rect">
            <a:avLst/>
          </a:prstGeom>
        </p:spPr>
      </p:pic>
      <p:pic>
        <p:nvPicPr>
          <p:cNvPr id="19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4037888"/>
            <a:ext cx="144000" cy="144000"/>
          </a:xfrm>
          <a:prstGeom prst="rect">
            <a:avLst/>
          </a:prstGeom>
        </p:spPr>
      </p:pic>
      <p:sp>
        <p:nvSpPr>
          <p:cNvPr id="203" name="Rectangle 202">
            <a:extLst>
              <a:ext uri="{FF2B5EF4-FFF2-40B4-BE49-F238E27FC236}">
                <a16:creationId xmlns:a16="http://schemas.microsoft.com/office/drawing/2014/main" id="{417ACDB8-8BCD-5233-6283-1A95E8381BF2}"/>
              </a:ext>
            </a:extLst>
          </p:cNvPr>
          <p:cNvSpPr/>
          <p:nvPr/>
        </p:nvSpPr>
        <p:spPr>
          <a:xfrm>
            <a:off x="8962377" y="4401964"/>
            <a:ext cx="1025901" cy="144000"/>
          </a:xfrm>
          <a:prstGeom prst="rect">
            <a:avLst/>
          </a:prstGeom>
          <a:solidFill>
            <a:schemeClr val="accent3">
              <a:lumMod val="25000"/>
              <a:lumOff val="7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4401087"/>
            <a:ext cx="396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80728" y="4417207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4980728" y="4914761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5219604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pt-PT" sz="900" b="1" kern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Atualização da documentação do processo</a:t>
            </a:r>
            <a:endParaRPr kumimoji="0" lang="en-US" sz="900" b="1" i="0" u="none" strike="noStrike" kern="1200" cap="none" spc="0" normalizeH="0" baseline="3000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129641"/>
            <a:ext cx="299592" cy="434196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10095234" y="5274965"/>
            <a:ext cx="216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0076748" y="1062941"/>
            <a:ext cx="46801" cy="4392000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Fevereiro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de Fevereiro</a:t>
            </a:r>
            <a:endParaRPr kumimoji="0" lang="pt-PT" sz="105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A0C957B8-1C91-D5F5-BCC6-5BB2C72B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13137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Março </a:t>
            </a:r>
          </a:p>
          <a:p>
            <a:pPr lvl="0" defTabSz="412629">
              <a:defRPr/>
            </a:pPr>
            <a:r>
              <a:rPr lang="pt-PT" sz="105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 </a:t>
            </a:r>
            <a:r>
              <a:rPr lang="pt-PT" sz="105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Março versão reconciliada)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1,2 (STE)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Atraso na reconciliação Mis-Contab por parte de CdG (6 de Março)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pic>
        <p:nvPicPr>
          <p:cNvPr id="4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2882852"/>
            <a:ext cx="144000" cy="144000"/>
          </a:xfrm>
          <a:prstGeom prst="rect">
            <a:avLst/>
          </a:prstGeom>
        </p:spPr>
      </p:pic>
      <p:pic>
        <p:nvPicPr>
          <p:cNvPr id="4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3450431"/>
            <a:ext cx="144000" cy="144000"/>
          </a:xfrm>
          <a:prstGeom prst="rect">
            <a:avLst/>
          </a:prstGeom>
        </p:spPr>
      </p:pic>
      <p:pic>
        <p:nvPicPr>
          <p:cNvPr id="4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018010"/>
            <a:ext cx="144000" cy="144000"/>
          </a:xfrm>
          <a:prstGeom prst="rect">
            <a:avLst/>
          </a:prstGeom>
        </p:spPr>
      </p:pic>
      <p:pic>
        <p:nvPicPr>
          <p:cNvPr id="4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721194"/>
            <a:ext cx="144000" cy="144000"/>
          </a:xfrm>
          <a:prstGeom prst="rect">
            <a:avLst/>
          </a:prstGeom>
        </p:spPr>
      </p:pic>
      <p:pic>
        <p:nvPicPr>
          <p:cNvPr id="4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4591603"/>
            <a:ext cx="144000" cy="144000"/>
          </a:xfrm>
          <a:prstGeom prst="rect">
            <a:avLst/>
          </a:prstGeom>
        </p:spPr>
      </p:pic>
      <p:pic>
        <p:nvPicPr>
          <p:cNvPr id="4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84" y="5153168"/>
            <a:ext cx="1440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F6DE77F-CA77-8AB8-C8EE-6C7430411578}"/>
              </a:ext>
            </a:extLst>
          </p:cNvPr>
          <p:cNvGrpSpPr/>
          <p:nvPr/>
        </p:nvGrpSpPr>
        <p:grpSpPr>
          <a:xfrm>
            <a:off x="291098" y="2199579"/>
            <a:ext cx="11608216" cy="622086"/>
            <a:chOff x="291097" y="4785965"/>
            <a:chExt cx="11608216" cy="827997"/>
          </a:xfrm>
        </p:grpSpPr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0ED034E7-7332-6C4B-3A16-8B384839B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F0BF557-771F-D7E2-9DF6-88A2C5EFA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Ajustes contabilisticos a incidir sobre os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STE</a:t>
              </a:r>
              <a:endParaRPr kumimoji="0" lang="pt-PT" sz="1050" i="1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F64D31A1-E344-E1D7-A2B3-59729FF12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 na reconciliação Mis-Contab por parte de CdG (6 de Março)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D920CC19-8834-CCEE-0E6E-26DDD0D3A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Envio de versão preliminar sem ajustes</a:t>
              </a:r>
              <a:endParaRPr kumimoji="0" lang="pt-PT" sz="105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558">
              <a:extLst>
                <a:ext uri="{FF2B5EF4-FFF2-40B4-BE49-F238E27FC236}">
                  <a16:creationId xmlns:a16="http://schemas.microsoft.com/office/drawing/2014/main" id="{B7C96B58-4A0F-4699-DA28-A1F21DFFF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B09A665-B512-52D2-1111-438CDC504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endParaRPr lang="pt-PT" sz="1050" b="1" i="1" baseline="30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E76E15-D5B0-5156-7FC4-8C54E159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28 de </a:t>
              </a:r>
            </a:p>
            <a:p>
              <a:pPr defTabSz="412629"/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082155A-8906-25B5-8600-D14593BB1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março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22 de fevereiro a 15 de março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b="1" i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1659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716596"/>
            <a:ext cx="1381306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</a:t>
            </a:r>
            <a:endParaRPr lang="pt-PT" sz="105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72953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Atualização da documentação com as alterações efetuadas sobre o processo durante o reporte de Dez23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72953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março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729538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844194"/>
            <a:ext cx="649525" cy="27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767d911d-09c2-43d9-a326-6ded42ddccd2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f788909-93b9-4481-96a4-a6ab2493c341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29C300-D64B-4CE0-84E0-F9DD9AD91A6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777</Words>
  <Application>Microsoft Office PowerPoint</Application>
  <PresentationFormat>Custom</PresentationFormat>
  <Paragraphs>207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8</vt:i4>
      </vt:variant>
    </vt:vector>
  </HeadingPairs>
  <TitlesOfParts>
    <vt:vector size="37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15</cp:revision>
  <dcterms:created xsi:type="dcterms:W3CDTF">2018-12-07T14:01:11Z</dcterms:created>
  <dcterms:modified xsi:type="dcterms:W3CDTF">2024-03-11T09:20:41Z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