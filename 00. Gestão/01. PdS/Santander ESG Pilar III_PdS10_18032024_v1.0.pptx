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29"/>
  </p:notesMasterIdLst>
  <p:sldIdLst>
    <p:sldId id="1786" r:id="rId22"/>
    <p:sldId id="258" r:id="rId23"/>
    <p:sldId id="1924" r:id="rId24"/>
    <p:sldId id="3149" r:id="rId25"/>
    <p:sldId id="3154" r:id="rId26"/>
    <p:sldId id="3152" r:id="rId27"/>
    <p:sldId id="266" r:id="rId28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FF7C80"/>
    <a:srgbClr val="5F5F5F"/>
    <a:srgbClr val="707070"/>
    <a:srgbClr val="003E51"/>
    <a:srgbClr val="C00000"/>
    <a:srgbClr val="FFDF79"/>
    <a:srgbClr val="005F7C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276"/>
        <p:guide pos="392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928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</a:rPr>
              <a:t>Ponto de Situação #10</a:t>
            </a:r>
            <a:endParaRPr lang="pt-PT" i="1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>
                <a:latin typeface="Arial" panose="020B0604020202020204" pitchFamily="34" charset="0"/>
              </a:rPr>
              <a:t>18 de março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 err="1">
                <a:latin typeface="Arial" panose="020B0604020202020204" pitchFamily="34" charset="0"/>
              </a:rPr>
              <a:t>Reporting</a:t>
            </a:r>
            <a:r>
              <a:rPr lang="pt-PT" sz="2000" i="1">
                <a:latin typeface="Arial" panose="020B0604020202020204" pitchFamily="34" charset="0"/>
              </a:rPr>
              <a:t>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10ª 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9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:30 – 10:30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18 de março 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021892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67607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Luis Godinho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Helder Fernandes</a:t>
            </a: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159A6AC7-D04B-4272-B901-1C6FA7F3E4E7}"/>
              </a:ext>
            </a:extLst>
          </p:cNvPr>
          <p:cNvSpPr>
            <a:spLocks/>
          </p:cNvSpPr>
          <p:nvPr/>
        </p:nvSpPr>
        <p:spPr bwMode="auto">
          <a:xfrm>
            <a:off x="7950233" y="1648026"/>
            <a:ext cx="3600000" cy="4511215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283757" y="1648026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8100985" y="1829064"/>
            <a:ext cx="3343948" cy="6006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Próximos</a:t>
            </a:r>
            <a:r>
              <a:rPr lang="en-GB" altLang="pt-PT" sz="1600" b="1" ker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lang="en-GB" altLang="pt-PT" sz="1600" b="1" kern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Passos</a:t>
            </a:r>
            <a:endParaRPr lang="en-GB" altLang="pt-PT" sz="1600" b="1" ker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4451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3931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3931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sp>
        <p:nvSpPr>
          <p:cNvPr id="41" name="Freeform 6">
            <a:extLst>
              <a:ext uri="{FF2B5EF4-FFF2-40B4-BE49-F238E27FC236}">
                <a16:creationId xmlns:a16="http://schemas.microsoft.com/office/drawing/2014/main" id="{7968FF25-F10F-4F3F-BA2E-BE2DB06264A6}"/>
              </a:ext>
            </a:extLst>
          </p:cNvPr>
          <p:cNvSpPr>
            <a:spLocks/>
          </p:cNvSpPr>
          <p:nvPr/>
        </p:nvSpPr>
        <p:spPr bwMode="auto">
          <a:xfrm>
            <a:off x="617282" y="1648026"/>
            <a:ext cx="3600000" cy="4511227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BC3C-1F70-4500-AC90-B256830C063D}"/>
              </a:ext>
            </a:extLst>
          </p:cNvPr>
          <p:cNvSpPr txBox="1"/>
          <p:nvPr/>
        </p:nvSpPr>
        <p:spPr>
          <a:xfrm>
            <a:off x="617282" y="1844955"/>
            <a:ext cx="3600000" cy="969496"/>
          </a:xfrm>
          <a:prstGeom prst="rect">
            <a:avLst/>
          </a:prstGeom>
          <a:noFill/>
        </p:spPr>
        <p:txBody>
          <a:bodyPr wrap="square" lIns="72000" tIns="45720" rIns="18000" bIns="45720" rtlCol="0" anchor="t">
            <a:spAutoFit/>
          </a:bodyPr>
          <a:lstStyle/>
          <a:p>
            <a:pPr marL="0" marR="0" lvl="0" indent="0" defTabSz="412629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pt-PT" sz="16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Progresso</a:t>
            </a:r>
            <a:endParaRPr kumimoji="0" lang="pt-PT" sz="16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da documentação do processo.</a:t>
            </a: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C685FF1D-0939-4A5D-B535-CCF8B56EE62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78040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sym typeface="Helvetica Light"/>
            </a:endParaRPr>
          </a:p>
        </p:txBody>
      </p:sp>
      <p:pic>
        <p:nvPicPr>
          <p:cNvPr id="48" name="Graphic 47" descr="List RTL">
            <a:extLst>
              <a:ext uri="{FF2B5EF4-FFF2-40B4-BE49-F238E27FC236}">
                <a16:creationId xmlns:a16="http://schemas.microsoft.com/office/drawing/2014/main" id="{B6DA387A-C4F6-4715-B166-03D3C4B0556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636" y="1317778"/>
            <a:ext cx="522516" cy="523306"/>
          </a:xfrm>
          <a:prstGeom prst="rect">
            <a:avLst/>
          </a:prstGeom>
        </p:spPr>
      </p:pic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5" name="AutoShape 5">
            <a:extLst>
              <a:ext uri="{FF2B5EF4-FFF2-40B4-BE49-F238E27FC236}">
                <a16:creationId xmlns:a16="http://schemas.microsoft.com/office/drawing/2014/main" id="{43D09C47-A09D-47B1-B48B-2A227BBF0D2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410991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3" name="Graphic 52" descr="Connections">
            <a:extLst>
              <a:ext uri="{FF2B5EF4-FFF2-40B4-BE49-F238E27FC236}">
                <a16:creationId xmlns:a16="http://schemas.microsoft.com/office/drawing/2014/main" id="{2958E870-3676-43BF-9A54-C2C8707995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466013" y="1295211"/>
            <a:ext cx="568440" cy="56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4342198" y="1829064"/>
            <a:ext cx="3343948" cy="6006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pt-PT" altLang="pt-PT" sz="16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6443751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13210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12925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12766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83399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01211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161666" y="557605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285004" y="5791729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694622" y="5788413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72008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60035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72922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59197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84034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84034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84034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40065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43362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48762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7353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55939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72434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44765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contabilística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4619212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33535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informação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285004" y="6019386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417579"/>
            <a:ext cx="10551427" cy="488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2023.</a:t>
            </a:r>
          </a:p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Atividades</a:t>
            </a:r>
            <a:r>
              <a:rPr kumimoji="0" lang="pt-PT" sz="800" b="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nã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</a:t>
            </a:r>
            <a:r>
              <a:rPr kumimoji="0" lang="pt-PT" sz="800" b="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executadas em virtude de procedimentos de conciliação corporativa face ao paralelo enviado pela Contabilidade.</a:t>
            </a:r>
          </a:p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pt-PT" sz="8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Detalhe apresentado no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slide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5.</a:t>
            </a:r>
            <a:endParaRPr kumimoji="0" lang="pt-PT" sz="8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13189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84034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261" y="5730337"/>
            <a:ext cx="3610821" cy="232821"/>
            <a:chOff x="3394765" y="5751275"/>
            <a:chExt cx="3610821" cy="232821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506420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9 Fevereiro </a:t>
              </a: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Início de disponibilização dos </a:t>
              </a:r>
              <a:r>
                <a:rPr kumimoji="0" lang="pt-PT" sz="900" b="0" u="none" strike="noStrike" kern="1200" cap="none" spc="0" normalizeH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templates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17007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17007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85272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11302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11302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38769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38769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05696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52364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52479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82%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17007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198497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198775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21551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385206" y="221948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73547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91900" y="3943048"/>
            <a:ext cx="913384" cy="334800"/>
            <a:chOff x="3571418" y="2079604"/>
            <a:chExt cx="913384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71418" y="2079604"/>
              <a:ext cx="490909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39695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605547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811875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90%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70410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70410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84045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296407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296407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61065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61339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449307" y="318209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449307" y="261339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112975"/>
            <a:ext cx="61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294112" y="178935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50165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85375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85375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79" y="406690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50165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350165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718051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778280" y="4938908"/>
            <a:ext cx="43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39473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789358"/>
            <a:ext cx="612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233152" y="233853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186241"/>
            <a:ext cx="5148000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294179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042125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20366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20366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300202" y="1082661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3572" y="1082661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46398" y="1082661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28510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91%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261" y="5931851"/>
            <a:ext cx="3040698" cy="232821"/>
            <a:chOff x="3394765" y="5751275"/>
            <a:chExt cx="3040698" cy="232821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93629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8 Março – Última data da disponibiliza dos templates 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953" y="6133365"/>
            <a:ext cx="3526558" cy="232821"/>
            <a:chOff x="3394765" y="5751275"/>
            <a:chExt cx="3526558" cy="232821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15 Março – Data da entrega dos templates ao regulador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491270"/>
            <a:ext cx="144000" cy="14400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7540997" y="5600055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887321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0997" y="6244519"/>
            <a:ext cx="108000" cy="108000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6" y="6177650"/>
            <a:ext cx="1801521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Atraso não recuperável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078252"/>
            <a:ext cx="144000" cy="1440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9860" y="6533559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5" y="6482477"/>
            <a:ext cx="1801521" cy="2328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Não aplicável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935853"/>
            <a:ext cx="144000" cy="144000"/>
          </a:xfrm>
          <a:prstGeom prst="rect">
            <a:avLst/>
          </a:prstGeom>
        </p:spPr>
      </p:pic>
      <p:pic>
        <p:nvPicPr>
          <p:cNvPr id="15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824553"/>
            <a:ext cx="144000" cy="144000"/>
          </a:xfrm>
          <a:prstGeom prst="rect">
            <a:avLst/>
          </a:prstGeom>
        </p:spPr>
      </p:pic>
      <p:pic>
        <p:nvPicPr>
          <p:cNvPr id="15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4706701"/>
            <a:ext cx="144000" cy="144000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694622" y="6003786"/>
            <a:ext cx="1270505" cy="232821"/>
            <a:chOff x="4094233" y="5919315"/>
            <a:chExt cx="1270505" cy="232821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rgbClr val="FF7C80"/>
            </a:solid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</a:t>
              </a:r>
              <a:endParaRPr kumimoji="0" lang="pt-PT" sz="9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594997" y="3853753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608273" y="3501655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009457" y="4718392"/>
            <a:ext cx="108000" cy="108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005717" y="4395078"/>
            <a:ext cx="108000" cy="144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39234" y="1197198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35854" y="2338534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96814" y="178693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5307" y="261444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6390" y="3182092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304902"/>
            <a:ext cx="144000" cy="144000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6553488-886A-50E0-50E2-447D2B4C7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(1|2)</a:t>
            </a:r>
          </a:p>
        </p:txBody>
      </p:sp>
      <p:sp>
        <p:nvSpPr>
          <p:cNvPr id="21" name="Text Placeholder 224">
            <a:extLst>
              <a:ext uri="{FF2B5EF4-FFF2-40B4-BE49-F238E27FC236}">
                <a16:creationId xmlns:a16="http://schemas.microsoft.com/office/drawing/2014/main" id="{32CA3140-0DFA-C764-2D7D-35B8BF7CED7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  <a:endParaRPr kumimoji="0" lang="pt-PT" sz="16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7ACDB8-8BCD-5233-6283-1A95E8381BF2}"/>
              </a:ext>
            </a:extLst>
          </p:cNvPr>
          <p:cNvSpPr/>
          <p:nvPr/>
        </p:nvSpPr>
        <p:spPr>
          <a:xfrm>
            <a:off x="8777777" y="4066906"/>
            <a:ext cx="1025901" cy="108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B0981-0B3A-4525-CD54-7487F04B51C9}"/>
              </a:ext>
            </a:extLst>
          </p:cNvPr>
          <p:cNvSpPr/>
          <p:nvPr/>
        </p:nvSpPr>
        <p:spPr>
          <a:xfrm>
            <a:off x="8962377" y="4937713"/>
            <a:ext cx="847852" cy="108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F480BB-714F-0D51-B576-030D4657CE2A}"/>
              </a:ext>
            </a:extLst>
          </p:cNvPr>
          <p:cNvGrpSpPr/>
          <p:nvPr/>
        </p:nvGrpSpPr>
        <p:grpSpPr>
          <a:xfrm>
            <a:off x="285004" y="6254527"/>
            <a:ext cx="1765840" cy="232821"/>
            <a:chOff x="4094233" y="5919315"/>
            <a:chExt cx="1765840" cy="23282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9C006B-28D7-AD24-5725-ECFFE7271306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chemeClr val="accent3">
                <a:lumMod val="25000"/>
                <a:lumOff val="75000"/>
              </a:schemeClr>
            </a:solidFill>
            <a:ln w="3175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111240BF-9E6B-1EC6-0C7A-F1F210B8DBFD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671846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Antecipação de tarefa</a:t>
              </a:r>
              <a:endParaRPr kumimoji="0" lang="pt-PT" sz="9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pic>
        <p:nvPicPr>
          <p:cNvPr id="17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162104"/>
            <a:ext cx="144000" cy="144000"/>
          </a:xfrm>
          <a:prstGeom prst="rect">
            <a:avLst/>
          </a:prstGeom>
        </p:spPr>
      </p:pic>
      <p:pic>
        <p:nvPicPr>
          <p:cNvPr id="185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507217"/>
            <a:ext cx="144000" cy="144000"/>
          </a:xfrm>
          <a:prstGeom prst="rect">
            <a:avLst/>
          </a:prstGeom>
        </p:spPr>
      </p:pic>
      <p:pic>
        <p:nvPicPr>
          <p:cNvPr id="19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4037888"/>
            <a:ext cx="144000" cy="144000"/>
          </a:xfrm>
          <a:prstGeom prst="rect">
            <a:avLst/>
          </a:prstGeom>
        </p:spPr>
      </p:pic>
      <p:sp>
        <p:nvSpPr>
          <p:cNvPr id="203" name="Rectangle 202">
            <a:extLst>
              <a:ext uri="{FF2B5EF4-FFF2-40B4-BE49-F238E27FC236}">
                <a16:creationId xmlns:a16="http://schemas.microsoft.com/office/drawing/2014/main" id="{417ACDB8-8BCD-5233-6283-1A95E8381BF2}"/>
              </a:ext>
            </a:extLst>
          </p:cNvPr>
          <p:cNvSpPr/>
          <p:nvPr/>
        </p:nvSpPr>
        <p:spPr>
          <a:xfrm>
            <a:off x="8962377" y="4401964"/>
            <a:ext cx="1025901" cy="144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4401087"/>
            <a:ext cx="396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5219604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Atualização da documentação do processo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129641"/>
            <a:ext cx="299592" cy="434196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10095234" y="5274965"/>
            <a:ext cx="216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0277916" y="1062941"/>
            <a:ext cx="46801" cy="4392000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74520" y="5187409"/>
            <a:ext cx="937930" cy="334800"/>
            <a:chOff x="3546872" y="2079604"/>
            <a:chExt cx="937930" cy="334800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pic>
        <p:nvPicPr>
          <p:cNvPr id="20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4907275"/>
            <a:ext cx="144000" cy="144000"/>
          </a:xfrm>
          <a:prstGeom prst="rect">
            <a:avLst/>
          </a:prstGeom>
        </p:spPr>
      </p:pic>
      <p:pic>
        <p:nvPicPr>
          <p:cNvPr id="21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373" y="4380508"/>
            <a:ext cx="144000" cy="144000"/>
          </a:xfrm>
          <a:prstGeom prst="rect">
            <a:avLst/>
          </a:prstGeom>
        </p:spPr>
      </p:pic>
      <p:pic>
        <p:nvPicPr>
          <p:cNvPr id="21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5282809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</a:t>
            </a:r>
            <a:r>
              <a:rPr kumimoji="0" lang="pt-PT" sz="1200" b="0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templates</a:t>
            </a:r>
            <a:r>
              <a:rPr kumimoji="0" lang="pt-PT" sz="1200" b="0" i="0" u="none" strike="noStrike" kern="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locais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i="1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de Fevereiro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entrega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de Fevereiro</a:t>
            </a:r>
            <a:endParaRPr kumimoji="0" lang="pt-PT" sz="105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de Março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7316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54119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1,4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7411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</a:t>
            </a: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54119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7322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5411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3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73390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54097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1,2 (STE)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pic>
        <p:nvPicPr>
          <p:cNvPr id="4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2882852"/>
            <a:ext cx="144000" cy="144000"/>
          </a:xfrm>
          <a:prstGeom prst="rect">
            <a:avLst/>
          </a:prstGeom>
        </p:spPr>
      </p:pic>
      <p:pic>
        <p:nvPicPr>
          <p:cNvPr id="4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3450431"/>
            <a:ext cx="144000" cy="144000"/>
          </a:xfrm>
          <a:prstGeom prst="rect">
            <a:avLst/>
          </a:prstGeom>
        </p:spPr>
      </p:pic>
      <p:pic>
        <p:nvPicPr>
          <p:cNvPr id="4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4018010"/>
            <a:ext cx="144000" cy="144000"/>
          </a:xfrm>
          <a:prstGeom prst="rect">
            <a:avLst/>
          </a:prstGeom>
        </p:spPr>
      </p:pic>
      <p:pic>
        <p:nvPicPr>
          <p:cNvPr id="4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5721194"/>
            <a:ext cx="144000" cy="144000"/>
          </a:xfrm>
          <a:prstGeom prst="rect">
            <a:avLst/>
          </a:prstGeom>
        </p:spPr>
      </p:pic>
      <p:pic>
        <p:nvPicPr>
          <p:cNvPr id="4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4591603"/>
            <a:ext cx="144000" cy="144000"/>
          </a:xfrm>
          <a:prstGeom prst="rect">
            <a:avLst/>
          </a:prstGeom>
        </p:spPr>
      </p:pic>
      <p:pic>
        <p:nvPicPr>
          <p:cNvPr id="4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5153168"/>
            <a:ext cx="144000" cy="144000"/>
          </a:xfrm>
          <a:prstGeom prst="rect">
            <a:avLst/>
          </a:prstGeom>
        </p:spPr>
      </p:pic>
      <p:sp>
        <p:nvSpPr>
          <p:cNvPr id="50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506" y="2131156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de Março</a:t>
            </a:r>
            <a:endParaRPr kumimoji="0" lang="pt-PT" sz="105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4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91" y="2311156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F6DE77F-CA77-8AB8-C8EE-6C7430411578}"/>
              </a:ext>
            </a:extLst>
          </p:cNvPr>
          <p:cNvGrpSpPr/>
          <p:nvPr/>
        </p:nvGrpSpPr>
        <p:grpSpPr>
          <a:xfrm>
            <a:off x="291098" y="2199579"/>
            <a:ext cx="11608216" cy="622086"/>
            <a:chOff x="291097" y="4785965"/>
            <a:chExt cx="11608216" cy="827997"/>
          </a:xfrm>
        </p:grpSpPr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0ED034E7-7332-6C4B-3A16-8B384839B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8F0BF557-771F-D7E2-9DF6-88A2C5EFA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Ajustes contabilisticos a incidir sobre os </a:t>
              </a:r>
              <a:r>
                <a:rPr lang="pt-PT" sz="105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STE</a:t>
              </a:r>
              <a:endParaRPr kumimoji="0" lang="pt-PT" sz="1050" i="1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F64D31A1-E344-E1D7-A2B3-59729FF12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reconciliação Mis-Contab por parte de CdG (6 de Março)</a:t>
              </a:r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D920CC19-8834-CCEE-0E6E-26DDD0D3A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Envio de versão preliminar sem ajustes</a:t>
              </a:r>
              <a:endPara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558">
              <a:extLst>
                <a:ext uri="{FF2B5EF4-FFF2-40B4-BE49-F238E27FC236}">
                  <a16:creationId xmlns:a16="http://schemas.microsoft.com/office/drawing/2014/main" id="{B7C96B58-4A0F-4699-DA28-A1F21DFFF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B09A665-B512-52D2-1111-438CDC504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lang="pt-PT" sz="1050" b="1" i="1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E76E15-D5B0-5156-7FC4-8C54E159F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28 de </a:t>
              </a:r>
            </a:p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fevereiro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082155A-8906-25B5-8600-D14593BB1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 de março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3277D9-8D10-4CA6-8A09-1C4D05FB1A2A}">
  <ds:schemaRefs>
    <ds:schemaRef ds:uri="1f788909-93b9-4481-96a4-a6ab2493c341"/>
    <ds:schemaRef ds:uri="767d911d-09c2-43d9-a326-6ded42ddcc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CC8BE6-EE02-4E35-895D-F2E4AD068CC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596</Words>
  <Application>Microsoft Office PowerPoint</Application>
  <PresentationFormat>Custom</PresentationFormat>
  <Paragraphs>179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7</vt:i4>
      </vt:variant>
    </vt:vector>
  </HeadingPairs>
  <TitlesOfParts>
    <vt:vector size="33" baseType="lpstr">
      <vt:lpstr>Abril Fatface</vt:lpstr>
      <vt:lpstr>Arial</vt:lpstr>
      <vt:lpstr>Helvetica Light</vt:lpstr>
      <vt:lpstr>Helvetica Neue</vt:lpstr>
      <vt:lpstr>Muli</vt:lpstr>
      <vt:lpstr>Muli Black</vt:lpstr>
      <vt:lpstr>Muli Bold</vt:lpstr>
      <vt:lpstr>Muli Light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Dora da Silva Roxo</cp:lastModifiedBy>
  <cp:revision>1</cp:revision>
  <dcterms:created xsi:type="dcterms:W3CDTF">2018-12-07T14:01:11Z</dcterms:created>
  <dcterms:modified xsi:type="dcterms:W3CDTF">2024-03-21T08:57:05Z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