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2.xml" ContentType="application/vnd.openxmlformats-officedocument.theme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17"/>
  </p:notesMasterIdLst>
  <p:sldIdLst>
    <p:sldId id="2146846988" r:id="rId5"/>
    <p:sldId id="279" r:id="rId6"/>
    <p:sldId id="2147483197" r:id="rId7"/>
    <p:sldId id="2147483199" r:id="rId8"/>
    <p:sldId id="2147483204" r:id="rId9"/>
    <p:sldId id="2146847319" r:id="rId10"/>
    <p:sldId id="2147483187" r:id="rId11"/>
    <p:sldId id="2147483200" r:id="rId12"/>
    <p:sldId id="2147483201" r:id="rId13"/>
    <p:sldId id="2147483202" r:id="rId14"/>
    <p:sldId id="2147483203" r:id="rId15"/>
    <p:sldId id="2147479821" r:id="rId16"/>
  </p:sldIdLst>
  <p:sldSz cx="12192000" cy="6858000"/>
  <p:notesSz cx="6858000" cy="9144000"/>
  <p:custDataLst>
    <p:tags r:id="rId1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1FB469-7CCC-44DA-8C44-10F3EBD62FAD}">
          <p14:sldIdLst>
            <p14:sldId id="2146846988"/>
            <p14:sldId id="279"/>
            <p14:sldId id="2147483197"/>
            <p14:sldId id="2147483199"/>
            <p14:sldId id="2147483204"/>
          </p14:sldIdLst>
        </p14:section>
        <p14:section name="Anexos" id="{6865B48F-12FD-405C-A52E-31A3F49FA11A}">
          <p14:sldIdLst>
            <p14:sldId id="2146847319"/>
            <p14:sldId id="2147483187"/>
            <p14:sldId id="2147483200"/>
            <p14:sldId id="2147483201"/>
            <p14:sldId id="2147483202"/>
            <p14:sldId id="2147483203"/>
            <p14:sldId id="21474798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6B974D-ABA7-9B04-D2F9-6FB18DF28E3F}" name="LESSMEISTER PASCUAL, BEGOÑA" initials="LPB" userId="S::tacdblp@es.generali.com::5fa45824-e63e-467e-bcdb-82b9974a129f" providerId="AD"/>
  <p188:author id="{58E89B86-4B32-E1D7-3C4B-EE4447B3D8C1}" name="Lobo, Monica Barbosa" initials="LB" userId="S::molobo@deloitte.pt::23a83908-40a9-41e4-8056-aadf2b217502" providerId="AD"/>
  <p188:author id="{26BBB0BC-3CB1-9958-51CA-564A03658F33}" name="Deloitte" initials="CHH" userId="Deloitte" providerId="None"/>
  <p188:author id="{89AF51CB-4845-3043-9930-64653105C22B}" name="Wu, Yuan Yuan" initials="" userId="S::yuawu@deloitte.pt::48d081ab-ff00-4544-9ce7-0a8eb2f074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E40"/>
    <a:srgbClr val="FFC8C8"/>
    <a:srgbClr val="FBE7E7"/>
    <a:srgbClr val="000000"/>
    <a:srgbClr val="F5F5F5"/>
    <a:srgbClr val="F2F2F2"/>
    <a:srgbClr val="F77DE8"/>
    <a:srgbClr val="C3DEE7"/>
    <a:srgbClr val="7EA8B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Relationship Id="rId4" Type="http://schemas.openxmlformats.org/officeDocument/2006/relationships/themeOverride" Target="../theme/themeOverride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Emissões BST 2023</cx:pt>
          <cx:pt idx="1">Medidas RNC</cx:pt>
          <cx:pt idx="2">A. Nova carteira</cx:pt>
          <cx:pt idx="3">B. Melhoria de EPCs</cx:pt>
          <cx:pt idx="4">C. Consumo real</cx:pt>
          <cx:pt idx="5">NET ZERO TARGETS</cx:pt>
        </cx:lvl>
      </cx:strDim>
      <cx:numDim type="val">
        <cx:f>Sheet1!$B$2:$B$7</cx:f>
        <cx:lvl ptCount="6" formatCode="Estandar">
          <cx:pt idx="0">35.5</cx:pt>
          <cx:pt idx="1">-4.6399999999999997</cx:pt>
          <cx:pt idx="2">-0.72999999999999998</cx:pt>
          <cx:pt idx="3">-0.59999999999999998</cx:pt>
          <cx:pt idx="4">-1.21</cx:pt>
          <cx:pt idx="5">28.32</cx:pt>
        </cx:lvl>
      </cx:numDim>
    </cx:data>
  </cx:chartData>
  <cx:chart>
    <cx:plotArea>
      <cx:plotAreaRegion>
        <cx:series layoutId="waterfall" uniqueId="{4C83ECD8-7E59-469C-9637-A02EAC185C5D}">
          <cx:tx>
            <cx:txData>
              <cx:f>Sheet1!$B$1</cx:f>
              <cx:v>Series1</cx:v>
            </cx:txData>
          </cx:tx>
          <cx:dataPt idx="0">
            <cx:spPr>
              <a:solidFill>
                <a:srgbClr val="DA291C"/>
              </a:solidFill>
            </cx:spPr>
          </cx:dataPt>
          <cx:dataPt idx="1">
            <cx:spPr>
              <a:solidFill>
                <a:prstClr val="white">
                  <a:lumMod val="75000"/>
                </a:prstClr>
              </a:solidFill>
            </cx:spPr>
          </cx:dataPt>
          <cx:dataPt idx="2">
            <cx:spPr>
              <a:solidFill>
                <a:srgbClr val="046A38"/>
              </a:solidFill>
            </cx:spPr>
          </cx:dataPt>
          <cx:dataPt idx="4">
            <cx:spPr>
              <a:solidFill>
                <a:srgbClr val="007CB0"/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800" b="1"/>
                </a:pPr>
                <a:endParaRPr lang="en-US" sz="800" b="1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/>
                </a:endParaRPr>
              </a:p>
            </cx:txPr>
            <cx:visibility seriesName="0" categoryName="0" value="1"/>
            <cx:separator>, </cx:separator>
            <cx:dataLabelHidden idx="5"/>
          </cx:dataLabels>
          <cx:dataId val="0"/>
          <cx:layoutPr>
            <cx:subtotals>
              <cx:idx val="0"/>
              <cx:idx val="5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800"/>
            </a:pPr>
            <a:endParaRPr lang="en-US" sz="8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>
        <cx:valScaling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800"/>
            </a:pPr>
            <a:endParaRPr lang="en-US" sz="8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E7095-7E78-4A72-A738-3DBA6DB97B52}" type="datetimeFigureOut">
              <a:rPr lang="es-ES" smtClean="0"/>
              <a:t>16/12/2024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AD81B-7D25-48CF-95C4-7DAF0A39AEC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83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n-US" smtClean="0">
                <a:solidFill>
                  <a:srgbClr val="6E6F73"/>
                </a:solidFill>
                <a:latin typeface="Trebuchet MS"/>
              </a:rPr>
              <a:pPr/>
              <a:t>1</a:t>
            </a:fld>
            <a:endParaRPr lang="en-US">
              <a:solidFill>
                <a:srgbClr val="6E6F73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0656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AD81B-7D25-48CF-95C4-7DAF0A39AEC7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1421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AD81B-7D25-48CF-95C4-7DAF0A39AEC7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356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7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9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57529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chemeClr val="accent1"/>
                </a:solidFill>
              </a:rPr>
              <a:t>Index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7172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5606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73969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7075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20174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7806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2145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1375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709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/>
              <a:t>Inserte aqu</a:t>
            </a:r>
            <a:r>
              <a:rPr lang="es-ES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22194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06497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4270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283111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275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86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0029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chemeClr val="accent1"/>
                </a:solidFill>
              </a:rPr>
              <a:t>Index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709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2881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57115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9121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72702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426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3476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9375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617950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/>
              <a:t>Inserte aqu</a:t>
            </a:r>
            <a:r>
              <a:rPr lang="es-ES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24902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343163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4913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81963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98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15" imgH="416" progId="TCLayout.ActiveDocument.1">
                  <p:embed/>
                </p:oleObj>
              </mc:Choice>
              <mc:Fallback>
                <p:oleObj name="Diapositiva de think-cell" r:id="rId4" imgW="415" imgH="41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s-ES" sz="4100">
              <a:solidFill>
                <a:prstClr val="white"/>
              </a:solidFill>
              <a:latin typeface="Santander Headline" panose="020B0504020201020104" pitchFamily="34" charset="0"/>
              <a:sym typeface="Santander Headline" panose="020B0504020201020104" pitchFamily="34" charset="0"/>
            </a:endParaRP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2375"/>
            <a:ext cx="12192000" cy="5635625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/>
            </a:lvl1pPr>
          </a:lstStyle>
          <a:p>
            <a:r>
              <a:rPr lang="es-ES"/>
              <a:t>Inserte aquí su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2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1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716CF4-8F71-4951-A722-34E8796FEA7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3203" y="5734901"/>
            <a:ext cx="1996262" cy="347972"/>
          </a:xfrm>
          <a:prstGeom prst="rect">
            <a:avLst/>
          </a:prstGeom>
        </p:spPr>
      </p:pic>
      <p:pic>
        <p:nvPicPr>
          <p:cNvPr id="12" name="Imagen 3" descr="Vista de una ciudad desde lo alto de una casa&#10;&#10;Descripción generada automáticamente">
            <a:extLst>
              <a:ext uri="{FF2B5EF4-FFF2-40B4-BE49-F238E27FC236}">
                <a16:creationId xmlns:a16="http://schemas.microsoft.com/office/drawing/2014/main" id="{887D96E7-09F6-4945-BBDB-5AEE7D5AD6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6"/>
          <a:stretch/>
        </p:blipFill>
        <p:spPr>
          <a:xfrm>
            <a:off x="6096000" y="1214032"/>
            <a:ext cx="6095999" cy="562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4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65"/>
            <a:ext cx="5297557" cy="1606047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2805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6"/>
          <p:cNvSpPr/>
          <p:nvPr userDrawn="1"/>
        </p:nvSpPr>
        <p:spPr>
          <a:xfrm>
            <a:off x="8924925" y="0"/>
            <a:ext cx="3267075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4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0454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1228874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4" imgW="270" imgH="270" progId="TCLayout.ActiveDocument.1">
                  <p:embed/>
                </p:oleObj>
              </mc:Choice>
              <mc:Fallback>
                <p:oleObj name="Diapositiva de think-cell" r:id="rId24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1 CuadroTexto"/>
          <p:cNvSpPr txBox="1"/>
          <p:nvPr userDrawn="1"/>
        </p:nvSpPr>
        <p:spPr>
          <a:xfrm>
            <a:off x="10845800" y="6265203"/>
            <a:ext cx="50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D759F66-99BC-4AB1-83F8-8F582847D04F}" type="slidenum">
              <a:rPr lang="es-ES" sz="1000" b="1" smtClean="0">
                <a:solidFill>
                  <a:srgbClr val="FF0000"/>
                </a:solidFill>
              </a:rPr>
              <a:pPr algn="ctr"/>
              <a:t>‹#›</a:t>
            </a:fld>
            <a:endParaRPr lang="es-ES" sz="1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73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9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fundoambiental.pt/plataforma-vales-de-eficiencia/lista-de-fornecedores-vale-eficiencia.aspx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15" imgH="416" progId="TCLayout.ActiveDocument.1">
                  <p:embed/>
                </p:oleObj>
              </mc:Choice>
              <mc:Fallback>
                <p:oleObj name="Diapositiva de think-cell" r:id="rId4" imgW="415" imgH="41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7868215-8100-4B7F-94B7-43E4D3CFD9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8181C91-5F05-4148-9C01-17D4C7DB8804}" type="slidenum">
              <a:rPr lang="en-US" smtClean="0"/>
              <a:pPr/>
              <a:t>1</a:t>
            </a:fld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ítulo 5">
            <a:extLst>
              <a:ext uri="{FF2B5EF4-FFF2-40B4-BE49-F238E27FC236}">
                <a16:creationId xmlns:a16="http://schemas.microsoft.com/office/drawing/2014/main" id="{80525EEF-BDB8-4355-A38F-EBD818E19C79}"/>
              </a:ext>
            </a:extLst>
          </p:cNvPr>
          <p:cNvSpPr txBox="1">
            <a:spLocks/>
          </p:cNvSpPr>
          <p:nvPr/>
        </p:nvSpPr>
        <p:spPr>
          <a:xfrm>
            <a:off x="704505" y="2885184"/>
            <a:ext cx="5271179" cy="2476386"/>
          </a:xfrm>
          <a:prstGeom prst="rect">
            <a:avLst/>
          </a:prstGeom>
        </p:spPr>
        <p:txBody>
          <a:bodyPr lIns="0" tIns="0" rIns="0" bIns="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pt-PT" sz="3600" dirty="0">
                <a:solidFill>
                  <a:srgbClr val="FF3B3B"/>
                </a:solidFill>
                <a:latin typeface="Santander Headline" panose="020B0504020201020104"/>
                <a:cs typeface="Calibri"/>
              </a:rPr>
              <a:t>Estratégia Net Zero para Real </a:t>
            </a:r>
            <a:r>
              <a:rPr lang="pt-PT" sz="3600" dirty="0" err="1">
                <a:solidFill>
                  <a:srgbClr val="FF3B3B"/>
                </a:solidFill>
                <a:latin typeface="Santander Headline" panose="020B0504020201020104"/>
                <a:cs typeface="Calibri"/>
              </a:rPr>
              <a:t>Estate</a:t>
            </a:r>
            <a:endParaRPr lang="pt-PT" sz="3600" dirty="0">
              <a:solidFill>
                <a:srgbClr val="FF3B3B"/>
              </a:solidFill>
              <a:latin typeface="Santander Headline" panose="020B0504020201020104"/>
              <a:cs typeface="Calibri"/>
            </a:endParaRPr>
          </a:p>
          <a:p>
            <a:pPr>
              <a:spcAft>
                <a:spcPts val="1200"/>
              </a:spcAft>
            </a:pPr>
            <a:endParaRPr lang="en-US" sz="1600" dirty="0">
              <a:solidFill>
                <a:srgbClr val="FF3B3B"/>
              </a:solidFill>
              <a:latin typeface="Santander Headline" panose="020B0504020201020104"/>
              <a:cs typeface="Calibri"/>
            </a:endParaRPr>
          </a:p>
          <a:p>
            <a:pPr>
              <a:spcAft>
                <a:spcPts val="1200"/>
              </a:spcAft>
            </a:pPr>
            <a:r>
              <a:rPr lang="en-US" sz="1200" dirty="0">
                <a:latin typeface="Santander Headline" panose="020B0504020201020104"/>
                <a:cs typeface="Calibri"/>
              </a:rPr>
              <a:t>25 de </a:t>
            </a:r>
            <a:r>
              <a:rPr lang="en-US" sz="1200" dirty="0" err="1">
                <a:latin typeface="Santander Headline" panose="020B0504020201020104"/>
                <a:cs typeface="Calibri"/>
              </a:rPr>
              <a:t>setembro</a:t>
            </a:r>
            <a:r>
              <a:rPr lang="en-US" sz="1200" dirty="0">
                <a:latin typeface="Santander Headline" panose="020B0504020201020104"/>
                <a:cs typeface="Calibri"/>
              </a:rPr>
              <a:t> de 2024</a:t>
            </a:r>
          </a:p>
        </p:txBody>
      </p:sp>
    </p:spTree>
    <p:extLst>
      <p:ext uri="{BB962C8B-B14F-4D97-AF65-F5344CB8AC3E}">
        <p14:creationId xmlns:p14="http://schemas.microsoft.com/office/powerpoint/2010/main" val="371748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B3BFD8-3181-4178-001D-E47C55EB8094}"/>
              </a:ext>
            </a:extLst>
          </p:cNvPr>
          <p:cNvSpPr/>
          <p:nvPr/>
        </p:nvSpPr>
        <p:spPr>
          <a:xfrm>
            <a:off x="0" y="761696"/>
            <a:ext cx="2854259" cy="60963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74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934" dirty="0"/>
              <a:t>1. </a:t>
            </a:r>
            <a:r>
              <a:rPr lang="en-US" sz="1934" dirty="0" err="1"/>
              <a:t>Imóveis</a:t>
            </a:r>
            <a:r>
              <a:rPr lang="en-US" sz="1934" dirty="0"/>
              <a:t> </a:t>
            </a:r>
            <a:r>
              <a:rPr lang="en-US" sz="1934" dirty="0" err="1"/>
              <a:t>Residenciais</a:t>
            </a:r>
            <a:r>
              <a:rPr lang="en-US" sz="1934" dirty="0"/>
              <a:t> | </a:t>
            </a:r>
            <a:r>
              <a:rPr lang="en-US" sz="1934" dirty="0" err="1"/>
              <a:t>Principais</a:t>
            </a:r>
            <a:r>
              <a:rPr lang="en-US" sz="1934" dirty="0"/>
              <a:t> </a:t>
            </a:r>
            <a:r>
              <a:rPr lang="en-US" sz="1934" dirty="0" err="1"/>
              <a:t>resultados</a:t>
            </a:r>
            <a:r>
              <a:rPr lang="en-US" sz="1934" dirty="0"/>
              <a:t> das </a:t>
            </a:r>
            <a:r>
              <a:rPr lang="en-US" sz="1934" dirty="0" err="1"/>
              <a:t>emissões</a:t>
            </a:r>
            <a:r>
              <a:rPr lang="en-US" sz="1934" dirty="0"/>
              <a:t> da </a:t>
            </a:r>
            <a:r>
              <a:rPr lang="en-US" sz="1934" dirty="0" err="1"/>
              <a:t>carteira</a:t>
            </a:r>
            <a:endParaRPr lang="en-US" sz="1934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3D759-22F2-4907-90B9-F6461AADAB4D}"/>
              </a:ext>
            </a:extLst>
          </p:cNvPr>
          <p:cNvSpPr/>
          <p:nvPr/>
        </p:nvSpPr>
        <p:spPr>
          <a:xfrm>
            <a:off x="0" y="962122"/>
            <a:ext cx="2854256" cy="260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450"/>
            <a:r>
              <a:rPr lang="pt-PT" sz="1160" b="1" dirty="0">
                <a:solidFill>
                  <a:schemeClr val="bg1"/>
                </a:solidFill>
              </a:rPr>
              <a:t>RECORDATÓRIO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5A2925-9990-DC6B-D37E-48D3915766FF}"/>
              </a:ext>
            </a:extLst>
          </p:cNvPr>
          <p:cNvSpPr/>
          <p:nvPr/>
        </p:nvSpPr>
        <p:spPr>
          <a:xfrm>
            <a:off x="291267" y="1222155"/>
            <a:ext cx="2480107" cy="481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39225" indent="-165775">
              <a:lnSpc>
                <a:spcPct val="125000"/>
              </a:lnSpc>
              <a:spcBef>
                <a:spcPts val="580"/>
              </a:spcBef>
              <a:buFont typeface="Wingdings" panose="05000000000000000000" pitchFamily="2" charset="2"/>
              <a:buChar char="§"/>
            </a:pPr>
            <a:r>
              <a:rPr lang="pt-PT" sz="1064" b="1" dirty="0">
                <a:solidFill>
                  <a:schemeClr val="tx1"/>
                </a:solidFill>
              </a:rPr>
              <a:t>Até 2024 - Cumprir com os objetivos do </a:t>
            </a:r>
            <a:r>
              <a:rPr lang="pt-PT" sz="1064" b="1" i="1" dirty="0" err="1">
                <a:solidFill>
                  <a:schemeClr val="tx1"/>
                </a:solidFill>
              </a:rPr>
              <a:t>scorecard</a:t>
            </a:r>
            <a:endParaRPr lang="pt-PT" sz="1064" b="1" i="1" dirty="0">
              <a:solidFill>
                <a:schemeClr val="tx1"/>
              </a:solidFill>
            </a:endParaRPr>
          </a:p>
          <a:p>
            <a:pPr marL="571003" lvl="1" indent="-221033">
              <a:lnSpc>
                <a:spcPct val="125000"/>
              </a:lnSpc>
              <a:spcBef>
                <a:spcPts val="580"/>
              </a:spcBef>
              <a:buFont typeface="+mj-lt"/>
              <a:buAutoNum type="alphaLcPeriod"/>
            </a:pPr>
            <a:r>
              <a:rPr lang="pt-PT" sz="1064" b="1" dirty="0">
                <a:solidFill>
                  <a:schemeClr val="tx1"/>
                </a:solidFill>
              </a:rPr>
              <a:t>Imóveis residenciais </a:t>
            </a:r>
            <a:r>
              <a:rPr lang="pt-PT" sz="1064" dirty="0">
                <a:solidFill>
                  <a:schemeClr val="tx1"/>
                </a:solidFill>
              </a:rPr>
              <a:t>– Iniciar o plano de descarbonização do portefólio</a:t>
            </a:r>
          </a:p>
          <a:p>
            <a:pPr marL="571003" lvl="1" indent="-221033">
              <a:lnSpc>
                <a:spcPct val="125000"/>
              </a:lnSpc>
              <a:spcBef>
                <a:spcPts val="580"/>
              </a:spcBef>
              <a:buFont typeface="+mj-lt"/>
              <a:buAutoNum type="alphaLcPeriod"/>
            </a:pPr>
            <a:r>
              <a:rPr lang="pt-PT" sz="1064" b="1" dirty="0">
                <a:solidFill>
                  <a:schemeClr val="tx1"/>
                </a:solidFill>
              </a:rPr>
              <a:t>Imóveis comerciais </a:t>
            </a:r>
            <a:r>
              <a:rPr lang="pt-PT" sz="1064" dirty="0">
                <a:solidFill>
                  <a:schemeClr val="tx1"/>
                </a:solidFill>
              </a:rPr>
              <a:t>- Obter uma visão inicial da pegada</a:t>
            </a:r>
          </a:p>
          <a:p>
            <a:pPr marL="571003" lvl="1" indent="-221033">
              <a:lnSpc>
                <a:spcPct val="125000"/>
              </a:lnSpc>
              <a:spcBef>
                <a:spcPts val="580"/>
              </a:spcBef>
              <a:buFont typeface="+mj-lt"/>
              <a:buAutoNum type="alphaLcPeriod"/>
            </a:pPr>
            <a:r>
              <a:rPr lang="pt-PT" sz="1064" b="1" i="1" dirty="0">
                <a:solidFill>
                  <a:schemeClr val="tx1"/>
                </a:solidFill>
                <a:highlight>
                  <a:srgbClr val="FFFF00"/>
                </a:highlight>
              </a:rPr>
              <a:t>Leasing</a:t>
            </a:r>
            <a:r>
              <a:rPr lang="pt-PT" sz="1064" b="1" dirty="0">
                <a:solidFill>
                  <a:schemeClr val="tx1"/>
                </a:solidFill>
                <a:highlight>
                  <a:srgbClr val="FFFF00"/>
                </a:highlight>
              </a:rPr>
              <a:t> auto e agricultura </a:t>
            </a:r>
            <a:r>
              <a:rPr lang="pt-PT" sz="1064" dirty="0">
                <a:solidFill>
                  <a:schemeClr val="tx1"/>
                </a:solidFill>
                <a:highlight>
                  <a:srgbClr val="FFFF00"/>
                </a:highlight>
              </a:rPr>
              <a:t>– Identificar a materialidade</a:t>
            </a:r>
          </a:p>
          <a:p>
            <a:pPr marL="339225" lvl="1" indent="-165775">
              <a:lnSpc>
                <a:spcPct val="125000"/>
              </a:lnSpc>
              <a:spcBef>
                <a:spcPts val="580"/>
              </a:spcBef>
              <a:buFont typeface="Wingdings" panose="05000000000000000000" pitchFamily="2" charset="2"/>
              <a:buChar char="§"/>
            </a:pPr>
            <a:r>
              <a:rPr lang="pt-PT" sz="1064" b="1" dirty="0">
                <a:solidFill>
                  <a:schemeClr val="tx1"/>
                </a:solidFill>
              </a:rPr>
              <a:t>Até 2025 - Preparar a divulgação dos planos de descarbonização do portefólio imobiliário </a:t>
            </a:r>
            <a:r>
              <a:rPr lang="pt-PT" sz="1064" dirty="0">
                <a:solidFill>
                  <a:schemeClr val="tx1"/>
                </a:solidFill>
              </a:rPr>
              <a:t>(comercial e residencial)</a:t>
            </a:r>
          </a:p>
        </p:txBody>
      </p:sp>
      <p:cxnSp>
        <p:nvCxnSpPr>
          <p:cNvPr id="51" name="shape5">
            <a:extLst>
              <a:ext uri="{FF2B5EF4-FFF2-40B4-BE49-F238E27FC236}">
                <a16:creationId xmlns:a16="http://schemas.microsoft.com/office/drawing/2014/main" id="{C784A2BC-7D39-C0F1-E757-0ED02A2F1B4C}"/>
              </a:ext>
            </a:extLst>
          </p:cNvPr>
          <p:cNvCxnSpPr>
            <a:cxnSpLocks/>
          </p:cNvCxnSpPr>
          <p:nvPr/>
        </p:nvCxnSpPr>
        <p:spPr>
          <a:xfrm>
            <a:off x="2854259" y="787221"/>
            <a:ext cx="0" cy="6094797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A35DB416-D4B3-A4A8-EC88-B00F2F50820E}"/>
              </a:ext>
            </a:extLst>
          </p:cNvPr>
          <p:cNvSpPr/>
          <p:nvPr/>
        </p:nvSpPr>
        <p:spPr>
          <a:xfrm>
            <a:off x="418043" y="4640381"/>
            <a:ext cx="2346877" cy="1515531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615" rIns="34808" rtlCol="0" anchor="ctr"/>
          <a:lstStyle/>
          <a:p>
            <a:pPr>
              <a:lnSpc>
                <a:spcPct val="125000"/>
              </a:lnSpc>
              <a:spcBef>
                <a:spcPts val="580"/>
              </a:spcBef>
            </a:pPr>
            <a:r>
              <a:rPr lang="pt-PT" sz="1064" b="1" i="1" u="sng" dirty="0">
                <a:solidFill>
                  <a:schemeClr val="tx2"/>
                </a:solidFill>
              </a:rPr>
              <a:t>Nota sobre pegada carbono</a:t>
            </a:r>
          </a:p>
          <a:p>
            <a:pPr>
              <a:lnSpc>
                <a:spcPct val="125000"/>
              </a:lnSpc>
              <a:spcBef>
                <a:spcPts val="580"/>
              </a:spcBef>
            </a:pPr>
            <a:r>
              <a:rPr lang="pt-PT" sz="1064" b="1" i="1" u="sng" dirty="0">
                <a:solidFill>
                  <a:schemeClr val="tx2"/>
                </a:solidFill>
              </a:rPr>
              <a:t>1. </a:t>
            </a:r>
            <a:r>
              <a:rPr lang="pt-PT" sz="1064" b="1" i="1" u="sng" dirty="0" err="1">
                <a:solidFill>
                  <a:schemeClr val="tx2"/>
                </a:solidFill>
              </a:rPr>
              <a:t>Benchmark</a:t>
            </a:r>
            <a:r>
              <a:rPr lang="pt-PT" sz="1064" b="1" u="sng" dirty="0">
                <a:solidFill>
                  <a:schemeClr val="tx2"/>
                </a:solidFill>
              </a:rPr>
              <a:t> fatores de emissão</a:t>
            </a:r>
            <a:r>
              <a:rPr lang="pt-PT" sz="1064" dirty="0">
                <a:solidFill>
                  <a:schemeClr val="tx2"/>
                </a:solidFill>
              </a:rPr>
              <a:t>:</a:t>
            </a:r>
          </a:p>
          <a:p>
            <a:pPr>
              <a:lnSpc>
                <a:spcPct val="125000"/>
              </a:lnSpc>
              <a:spcBef>
                <a:spcPts val="580"/>
              </a:spcBef>
            </a:pPr>
            <a:r>
              <a:rPr lang="pt-PT" sz="1064" dirty="0">
                <a:solidFill>
                  <a:schemeClr val="tx2"/>
                </a:solidFill>
              </a:rPr>
              <a:t>Os principais </a:t>
            </a:r>
            <a:r>
              <a:rPr lang="pt-PT" sz="1064" i="1" dirty="0" err="1">
                <a:solidFill>
                  <a:schemeClr val="tx2"/>
                </a:solidFill>
              </a:rPr>
              <a:t>players</a:t>
            </a:r>
            <a:r>
              <a:rPr lang="pt-PT" sz="1064" dirty="0">
                <a:solidFill>
                  <a:schemeClr val="tx2"/>
                </a:solidFill>
              </a:rPr>
              <a:t> do mercado Português e Corporação encontram-se a usar PCAF.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9CA1F847-4A10-39A6-72A0-0ABCC0BE3205}"/>
              </a:ext>
            </a:extLst>
          </p:cNvPr>
          <p:cNvSpPr txBox="1">
            <a:spLocks/>
          </p:cNvSpPr>
          <p:nvPr/>
        </p:nvSpPr>
        <p:spPr>
          <a:xfrm>
            <a:off x="3124813" y="1045142"/>
            <a:ext cx="8676000" cy="2209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pt-PT" sz="1100" b="1" dirty="0">
                <a:latin typeface="Santander Text" panose="020B0604020202020204"/>
              </a:rPr>
              <a:t>INTENSIDADE DE CARBONO EM KG CO2 POR M2 (i.e. sem considerar o valor financiado)</a:t>
            </a:r>
            <a:endParaRPr lang="pt-PT" sz="1100" b="1" u="sng" baseline="30000" dirty="0">
              <a:latin typeface="Santander Text" panose="020B0604020202020204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F935D06-5131-B4E4-4C42-E3DC0D7C8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69699"/>
              </p:ext>
            </p:extLst>
          </p:nvPr>
        </p:nvGraphicFramePr>
        <p:xfrm>
          <a:off x="5514755" y="1593242"/>
          <a:ext cx="31897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883">
                  <a:extLst>
                    <a:ext uri="{9D8B030D-6E8A-4147-A177-3AD203B41FA5}">
                      <a16:colId xmlns:a16="http://schemas.microsoft.com/office/drawing/2014/main" val="952496577"/>
                    </a:ext>
                  </a:extLst>
                </a:gridCol>
                <a:gridCol w="1594883">
                  <a:extLst>
                    <a:ext uri="{9D8B030D-6E8A-4147-A177-3AD203B41FA5}">
                      <a16:colId xmlns:a16="http://schemas.microsoft.com/office/drawing/2014/main" val="4025795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ADENE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PCAF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0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35,50 kg / 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10,15 kg / 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476948"/>
                  </a:ext>
                </a:extLst>
              </a:tr>
            </a:tbl>
          </a:graphicData>
        </a:graphic>
      </p:graphicFrame>
      <p:sp>
        <p:nvSpPr>
          <p:cNvPr id="27" name="Content Placeholder 4">
            <a:extLst>
              <a:ext uri="{FF2B5EF4-FFF2-40B4-BE49-F238E27FC236}">
                <a16:creationId xmlns:a16="http://schemas.microsoft.com/office/drawing/2014/main" id="{93E17A42-C873-5E62-83BE-5936155AD033}"/>
              </a:ext>
            </a:extLst>
          </p:cNvPr>
          <p:cNvSpPr txBox="1">
            <a:spLocks/>
          </p:cNvSpPr>
          <p:nvPr/>
        </p:nvSpPr>
        <p:spPr>
          <a:xfrm>
            <a:off x="3124813" y="1558847"/>
            <a:ext cx="2307055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lang="pt-PT" sz="1100" dirty="0">
                <a:latin typeface="Santander Text" panose="020B0604020202020204"/>
              </a:rPr>
              <a:t>Considerando os fatores de emissão das fontes:</a:t>
            </a:r>
            <a:endParaRPr lang="pt-PT" sz="1100" u="sng" baseline="30000" dirty="0">
              <a:latin typeface="Santander Text" panose="020B0604020202020204"/>
            </a:endParaRPr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A62462FC-7EB8-9C5F-FDB7-F4BFDBE235B7}"/>
              </a:ext>
            </a:extLst>
          </p:cNvPr>
          <p:cNvSpPr txBox="1">
            <a:spLocks/>
          </p:cNvSpPr>
          <p:nvPr/>
        </p:nvSpPr>
        <p:spPr>
          <a:xfrm>
            <a:off x="3124813" y="2551631"/>
            <a:ext cx="8676000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pt-PT" sz="1100" dirty="0">
                <a:latin typeface="Santander Text" panose="020B0604020202020204"/>
              </a:rPr>
              <a:t>Os resultados apurados com base nos fatores de emissão do PCAF encontram-se mais alinhados com os resultados corporativos e os </a:t>
            </a:r>
            <a:r>
              <a:rPr lang="pt-PT" sz="1100" dirty="0" err="1">
                <a:latin typeface="Santander Text" panose="020B0604020202020204"/>
              </a:rPr>
              <a:t>peers</a:t>
            </a:r>
            <a:r>
              <a:rPr lang="pt-PT" sz="1100" dirty="0">
                <a:latin typeface="Santander Text" panose="020B0604020202020204"/>
              </a:rPr>
              <a:t> do mercado português. Contudo nem sempre é possível realizar comparações uma vez que nem todos os bancos estão a divulgar os resultados:</a:t>
            </a:r>
            <a:endParaRPr lang="pt-PT" sz="1100" u="sng" baseline="30000" dirty="0">
              <a:latin typeface="Santander Text" panose="020B0604020202020204"/>
            </a:endParaRPr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AE9AFDBA-EFB9-5103-F10A-A1E8A29DC458}"/>
              </a:ext>
            </a:extLst>
          </p:cNvPr>
          <p:cNvSpPr txBox="1">
            <a:spLocks/>
          </p:cNvSpPr>
          <p:nvPr/>
        </p:nvSpPr>
        <p:spPr>
          <a:xfrm>
            <a:off x="4234428" y="3248762"/>
            <a:ext cx="1553321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lang="pt-PT" sz="1100" b="1" cap="small" dirty="0">
                <a:solidFill>
                  <a:srgbClr val="FF0000"/>
                </a:solidFill>
                <a:latin typeface="Santander Text" panose="020B0604020202020204"/>
              </a:rPr>
              <a:t>Grupo Santander</a:t>
            </a:r>
            <a:endParaRPr lang="pt-PT" sz="1100" b="1" u="sng" cap="small" dirty="0">
              <a:solidFill>
                <a:srgbClr val="FF0000"/>
              </a:solidFill>
              <a:latin typeface="Santander Text" panose="020B0604020202020204"/>
            </a:endParaRP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5E5B3509-627C-82BD-8384-CAFA11909792}"/>
              </a:ext>
            </a:extLst>
          </p:cNvPr>
          <p:cNvSpPr txBox="1">
            <a:spLocks/>
          </p:cNvSpPr>
          <p:nvPr/>
        </p:nvSpPr>
        <p:spPr>
          <a:xfrm>
            <a:off x="8774344" y="3248762"/>
            <a:ext cx="1553321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lang="pt-PT" sz="1100" b="1" cap="small" dirty="0">
                <a:solidFill>
                  <a:schemeClr val="accent5"/>
                </a:solidFill>
                <a:latin typeface="Santander Text" panose="020B0604020202020204"/>
              </a:rPr>
              <a:t>Mercado Português</a:t>
            </a:r>
            <a:endParaRPr lang="pt-PT" sz="1100" b="1" u="sng" cap="small" dirty="0">
              <a:solidFill>
                <a:schemeClr val="accent5"/>
              </a:solidFill>
              <a:latin typeface="Santander Text" panose="020B0604020202020204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F6518B8F-0232-3779-F1CC-4E8CF62F8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925905"/>
              </p:ext>
            </p:extLst>
          </p:nvPr>
        </p:nvGraphicFramePr>
        <p:xfrm>
          <a:off x="3191328" y="3632027"/>
          <a:ext cx="36395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760">
                  <a:extLst>
                    <a:ext uri="{9D8B030D-6E8A-4147-A177-3AD203B41FA5}">
                      <a16:colId xmlns:a16="http://schemas.microsoft.com/office/drawing/2014/main" val="2432895398"/>
                    </a:ext>
                  </a:extLst>
                </a:gridCol>
                <a:gridCol w="1099760">
                  <a:extLst>
                    <a:ext uri="{9D8B030D-6E8A-4147-A177-3AD203B41FA5}">
                      <a16:colId xmlns:a16="http://schemas.microsoft.com/office/drawing/2014/main" val="17815034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903010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Santander Text" panose="020B0604020202020204"/>
                        </a:rPr>
                        <a:t>Geografia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Santander Text" panose="020B0604020202020204"/>
                        </a:rPr>
                        <a:t>Kg / m2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Santander Text" panose="020B0604020202020204"/>
                        </a:rPr>
                        <a:t>Fatores de emissão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6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Reino Unido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42,8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 (2020)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305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Espanha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24,8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 (2020)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624973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0451205-9DC1-0C73-8F7C-DE369FD8A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628437"/>
              </p:ext>
            </p:extLst>
          </p:nvPr>
        </p:nvGraphicFramePr>
        <p:xfrm>
          <a:off x="7731244" y="3632027"/>
          <a:ext cx="3639520" cy="21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760">
                  <a:extLst>
                    <a:ext uri="{9D8B030D-6E8A-4147-A177-3AD203B41FA5}">
                      <a16:colId xmlns:a16="http://schemas.microsoft.com/office/drawing/2014/main" val="2432895398"/>
                    </a:ext>
                  </a:extLst>
                </a:gridCol>
                <a:gridCol w="1099760">
                  <a:extLst>
                    <a:ext uri="{9D8B030D-6E8A-4147-A177-3AD203B41FA5}">
                      <a16:colId xmlns:a16="http://schemas.microsoft.com/office/drawing/2014/main" val="17815034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903010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Santander Text" panose="020B0604020202020204"/>
                        </a:rPr>
                        <a:t>Banco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Santander Text" panose="020B0604020202020204"/>
                        </a:rPr>
                        <a:t>Kg / m2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Santander Text" panose="020B0604020202020204"/>
                        </a:rPr>
                        <a:t>Fatores de emissão</a:t>
                      </a: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660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CGD (2023)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5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30549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CGD (2022)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11,1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62497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BPI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*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3664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 err="1">
                          <a:latin typeface="Santander Text" panose="020B0604020202020204"/>
                        </a:rPr>
                        <a:t>Mbcp</a:t>
                      </a:r>
                      <a:endParaRPr lang="pt-PT" sz="1100" dirty="0">
                        <a:latin typeface="Santander Text" panose="020B0604020202020204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*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66078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NB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*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80237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CA (2022)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20,7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ADENE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36673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604020202020204"/>
                        </a:rPr>
                        <a:t>Montepio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1100" dirty="0">
                          <a:latin typeface="Santander Text" panose="020B0604020202020204"/>
                        </a:rPr>
                        <a:t>*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100" dirty="0">
                          <a:latin typeface="Santander Text" panose="020B0604020202020204"/>
                        </a:rPr>
                        <a:t>PCAF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863343"/>
                  </a:ext>
                </a:extLst>
              </a:tr>
            </a:tbl>
          </a:graphicData>
        </a:graphic>
      </p:graphicFrame>
      <p:sp>
        <p:nvSpPr>
          <p:cNvPr id="46" name="Content Placeholder 4">
            <a:extLst>
              <a:ext uri="{FF2B5EF4-FFF2-40B4-BE49-F238E27FC236}">
                <a16:creationId xmlns:a16="http://schemas.microsoft.com/office/drawing/2014/main" id="{D5EC7379-140C-B716-F362-2542F8A1016B}"/>
              </a:ext>
            </a:extLst>
          </p:cNvPr>
          <p:cNvSpPr txBox="1">
            <a:spLocks/>
          </p:cNvSpPr>
          <p:nvPr/>
        </p:nvSpPr>
        <p:spPr>
          <a:xfrm>
            <a:off x="7731244" y="5979303"/>
            <a:ext cx="3741209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pt-PT" sz="1100">
                <a:latin typeface="Santander Text" panose="020B0604020202020204"/>
              </a:rPr>
              <a:t>* Não apresenta informação detalhada para o crédito habitação.</a:t>
            </a:r>
          </a:p>
        </p:txBody>
      </p:sp>
    </p:spTree>
    <p:extLst>
      <p:ext uri="{BB962C8B-B14F-4D97-AF65-F5344CB8AC3E}">
        <p14:creationId xmlns:p14="http://schemas.microsoft.com/office/powerpoint/2010/main" val="106461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934" dirty="0"/>
              <a:t>1. </a:t>
            </a:r>
            <a:r>
              <a:rPr lang="en-US" sz="1934" dirty="0" err="1"/>
              <a:t>Imóveis</a:t>
            </a:r>
            <a:r>
              <a:rPr lang="en-US" sz="1934" dirty="0"/>
              <a:t> </a:t>
            </a:r>
            <a:r>
              <a:rPr lang="en-US" sz="1934" dirty="0" err="1"/>
              <a:t>Residenciais</a:t>
            </a:r>
            <a:r>
              <a:rPr lang="en-US" sz="1934" dirty="0"/>
              <a:t> | Targets </a:t>
            </a:r>
            <a:r>
              <a:rPr lang="en-US" sz="1934" dirty="0" err="1"/>
              <a:t>propostos</a:t>
            </a:r>
            <a:endParaRPr lang="en-US" sz="1934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99D795-11FA-410B-634B-A5957F5F8D11}"/>
              </a:ext>
            </a:extLst>
          </p:cNvPr>
          <p:cNvSpPr/>
          <p:nvPr/>
        </p:nvSpPr>
        <p:spPr>
          <a:xfrm>
            <a:off x="0" y="761696"/>
            <a:ext cx="2854259" cy="60963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74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B324A-26E5-05F5-3409-7058B09356C5}"/>
              </a:ext>
            </a:extLst>
          </p:cNvPr>
          <p:cNvSpPr/>
          <p:nvPr/>
        </p:nvSpPr>
        <p:spPr>
          <a:xfrm>
            <a:off x="-3" y="962122"/>
            <a:ext cx="2854259" cy="260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450"/>
            <a:r>
              <a:rPr lang="pt-PT" sz="1160" b="1" dirty="0">
                <a:solidFill>
                  <a:schemeClr val="bg1"/>
                </a:solidFill>
              </a:rPr>
              <a:t>METODOLOGIA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59C982-A26E-EE10-B0FB-A53D987419CA}"/>
              </a:ext>
            </a:extLst>
          </p:cNvPr>
          <p:cNvSpPr/>
          <p:nvPr/>
        </p:nvSpPr>
        <p:spPr>
          <a:xfrm>
            <a:off x="291267" y="1222155"/>
            <a:ext cx="2480107" cy="481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39225" indent="-165775">
              <a:lnSpc>
                <a:spcPct val="125000"/>
              </a:lnSpc>
              <a:spcBef>
                <a:spcPts val="580"/>
              </a:spcBef>
              <a:buFont typeface="Wingdings" panose="05000000000000000000" pitchFamily="2" charset="2"/>
              <a:buChar char="§"/>
            </a:pPr>
            <a:r>
              <a:rPr lang="pt-PT" sz="1064" dirty="0">
                <a:solidFill>
                  <a:schemeClr val="tx1"/>
                </a:solidFill>
              </a:rPr>
              <a:t>Para o estabelecimento de pressupostos e assunções para a definição de objetivos e metas, foram identificadas as ambições de descarbonização da regulamentação nacional e europeia e utilizadas as recomendações de </a:t>
            </a:r>
            <a:r>
              <a:rPr lang="pt-PT" sz="1064" i="1" dirty="0" err="1">
                <a:solidFill>
                  <a:schemeClr val="tx1"/>
                </a:solidFill>
              </a:rPr>
              <a:t>frameworks</a:t>
            </a:r>
            <a:r>
              <a:rPr lang="pt-PT" sz="1064" dirty="0">
                <a:solidFill>
                  <a:schemeClr val="tx1"/>
                </a:solidFill>
              </a:rPr>
              <a:t> e standards de mercado.</a:t>
            </a:r>
          </a:p>
          <a:p>
            <a:pPr marL="339225" indent="-165775">
              <a:lnSpc>
                <a:spcPct val="125000"/>
              </a:lnSpc>
              <a:spcBef>
                <a:spcPts val="580"/>
              </a:spcBef>
              <a:buFont typeface="Wingdings" panose="05000000000000000000" pitchFamily="2" charset="2"/>
              <a:buChar char="§"/>
            </a:pPr>
            <a:r>
              <a:rPr lang="pt-PT" sz="1064" dirty="0">
                <a:solidFill>
                  <a:schemeClr val="tx1"/>
                </a:solidFill>
              </a:rPr>
              <a:t>Como referência foi utilizada a </a:t>
            </a:r>
            <a:r>
              <a:rPr lang="pt-PT" sz="1064" b="1" dirty="0">
                <a:solidFill>
                  <a:schemeClr val="tx1"/>
                </a:solidFill>
              </a:rPr>
              <a:t>metodologia </a:t>
            </a:r>
            <a:r>
              <a:rPr lang="pt-PT" sz="1064" b="1" dirty="0" err="1">
                <a:solidFill>
                  <a:schemeClr val="tx1"/>
                </a:solidFill>
              </a:rPr>
              <a:t>SBTi</a:t>
            </a:r>
            <a:r>
              <a:rPr lang="pt-PT" sz="1064" dirty="0">
                <a:solidFill>
                  <a:schemeClr val="tx1"/>
                </a:solidFill>
              </a:rPr>
              <a:t>, e os </a:t>
            </a:r>
            <a:r>
              <a:rPr lang="pt-PT" sz="1064" b="1" dirty="0">
                <a:solidFill>
                  <a:schemeClr val="tx1"/>
                </a:solidFill>
              </a:rPr>
              <a:t>cenários para Portugal ou internacionais</a:t>
            </a:r>
            <a:r>
              <a:rPr lang="pt-PT" sz="1064" dirty="0">
                <a:solidFill>
                  <a:schemeClr val="tx1"/>
                </a:solidFill>
              </a:rPr>
              <a:t> referenciados pelo Roteiro para a Neutralidade Carbónica 2050 (</a:t>
            </a:r>
            <a:r>
              <a:rPr lang="pt-PT" sz="1064" b="1" dirty="0">
                <a:solidFill>
                  <a:schemeClr val="tx1"/>
                </a:solidFill>
              </a:rPr>
              <a:t>RNC</a:t>
            </a:r>
            <a:r>
              <a:rPr lang="pt-PT" sz="1064" dirty="0">
                <a:solidFill>
                  <a:schemeClr val="tx1"/>
                </a:solidFill>
              </a:rPr>
              <a:t>), pela </a:t>
            </a:r>
            <a:r>
              <a:rPr lang="pt-PT" sz="1064" dirty="0" err="1">
                <a:solidFill>
                  <a:schemeClr val="tx1"/>
                </a:solidFill>
              </a:rPr>
              <a:t>Internation</a:t>
            </a:r>
            <a:r>
              <a:rPr lang="pt-PT" sz="1064" dirty="0">
                <a:solidFill>
                  <a:schemeClr val="tx1"/>
                </a:solidFill>
              </a:rPr>
              <a:t> </a:t>
            </a:r>
            <a:r>
              <a:rPr lang="pt-PT" sz="1064" dirty="0" err="1">
                <a:solidFill>
                  <a:schemeClr val="tx1"/>
                </a:solidFill>
              </a:rPr>
              <a:t>Energy</a:t>
            </a:r>
            <a:r>
              <a:rPr lang="pt-PT" sz="1064" dirty="0">
                <a:solidFill>
                  <a:schemeClr val="tx1"/>
                </a:solidFill>
              </a:rPr>
              <a:t> </a:t>
            </a:r>
            <a:r>
              <a:rPr lang="pt-PT" sz="1064" dirty="0" err="1">
                <a:solidFill>
                  <a:schemeClr val="tx1"/>
                </a:solidFill>
              </a:rPr>
              <a:t>Agency</a:t>
            </a:r>
            <a:r>
              <a:rPr lang="pt-PT" sz="1064" dirty="0">
                <a:solidFill>
                  <a:schemeClr val="tx1"/>
                </a:solidFill>
              </a:rPr>
              <a:t> (</a:t>
            </a:r>
            <a:r>
              <a:rPr lang="pt-PT" sz="1064" b="1" dirty="0">
                <a:solidFill>
                  <a:schemeClr val="tx1"/>
                </a:solidFill>
              </a:rPr>
              <a:t>IAE</a:t>
            </a:r>
            <a:r>
              <a:rPr lang="pt-PT" sz="1064" dirty="0">
                <a:solidFill>
                  <a:schemeClr val="tx1"/>
                </a:solidFill>
              </a:rPr>
              <a:t>) e pelo </a:t>
            </a:r>
            <a:r>
              <a:rPr lang="pt-PT" sz="1064" dirty="0" err="1">
                <a:solidFill>
                  <a:schemeClr val="tx1"/>
                </a:solidFill>
              </a:rPr>
              <a:t>Carbon</a:t>
            </a:r>
            <a:r>
              <a:rPr lang="pt-PT" sz="1064" dirty="0">
                <a:solidFill>
                  <a:schemeClr val="tx1"/>
                </a:solidFill>
              </a:rPr>
              <a:t> Risk Real </a:t>
            </a:r>
            <a:r>
              <a:rPr lang="pt-PT" sz="1064" dirty="0" err="1">
                <a:solidFill>
                  <a:schemeClr val="tx1"/>
                </a:solidFill>
              </a:rPr>
              <a:t>Estate</a:t>
            </a:r>
            <a:r>
              <a:rPr lang="pt-PT" sz="1064" dirty="0">
                <a:solidFill>
                  <a:schemeClr val="tx1"/>
                </a:solidFill>
              </a:rPr>
              <a:t> Monitor (</a:t>
            </a:r>
            <a:r>
              <a:rPr lang="pt-PT" sz="1064" b="1" dirty="0">
                <a:solidFill>
                  <a:schemeClr val="tx1"/>
                </a:solidFill>
              </a:rPr>
              <a:t>CRREM</a:t>
            </a:r>
            <a:r>
              <a:rPr lang="pt-PT" sz="1064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0" name="shape5">
            <a:extLst>
              <a:ext uri="{FF2B5EF4-FFF2-40B4-BE49-F238E27FC236}">
                <a16:creationId xmlns:a16="http://schemas.microsoft.com/office/drawing/2014/main" id="{1E96C0A9-2062-29D4-46AC-9249BBB42227}"/>
              </a:ext>
            </a:extLst>
          </p:cNvPr>
          <p:cNvCxnSpPr>
            <a:cxnSpLocks/>
          </p:cNvCxnSpPr>
          <p:nvPr/>
        </p:nvCxnSpPr>
        <p:spPr>
          <a:xfrm>
            <a:off x="2854259" y="787221"/>
            <a:ext cx="0" cy="6094797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643662-7DEB-2B45-44C3-824066B1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70720"/>
              </p:ext>
            </p:extLst>
          </p:nvPr>
        </p:nvGraphicFramePr>
        <p:xfrm>
          <a:off x="3212713" y="962122"/>
          <a:ext cx="4807006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210918843"/>
                    </a:ext>
                  </a:extLst>
                </a:gridCol>
                <a:gridCol w="1675006">
                  <a:extLst>
                    <a:ext uri="{9D8B030D-6E8A-4147-A177-3AD203B41FA5}">
                      <a16:colId xmlns:a16="http://schemas.microsoft.com/office/drawing/2014/main" val="952496577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4025795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ADENE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PCAF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00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Ponto de partida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35,50 kg / m2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10,15 kg / 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47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63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Cenário RNC 2050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23,06 kg / m2 </a:t>
                      </a:r>
                    </a:p>
                    <a:p>
                      <a:pPr algn="ctr"/>
                      <a:r>
                        <a:rPr lang="pt-PT" sz="1000" dirty="0"/>
                        <a:t>(-35% redução face ao ponto de partida)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7,92 kg / m2 </a:t>
                      </a:r>
                    </a:p>
                    <a:p>
                      <a:pPr algn="ctr"/>
                      <a:r>
                        <a:rPr lang="pt-PT" sz="1000" dirty="0"/>
                        <a:t>(22% de redução face ao ponto de partida)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91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Cenário IEA (recomendado)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13,34 kg / m2</a:t>
                      </a:r>
                    </a:p>
                    <a:p>
                      <a:pPr algn="ctr"/>
                      <a:r>
                        <a:rPr lang="pt-PT" sz="1000" dirty="0"/>
                        <a:t>(-62% face ao ponto de partida)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13,34 kg / m2</a:t>
                      </a:r>
                    </a:p>
                    <a:p>
                      <a:pPr algn="ctr"/>
                      <a:r>
                        <a:rPr lang="pt-PT" sz="1000" dirty="0"/>
                        <a:t>(</a:t>
                      </a:r>
                      <a:r>
                        <a:rPr lang="pt-PT" sz="1000" dirty="0">
                          <a:solidFill>
                            <a:schemeClr val="accent1"/>
                          </a:solidFill>
                        </a:rPr>
                        <a:t>+31%</a:t>
                      </a:r>
                      <a:r>
                        <a:rPr lang="pt-PT" sz="1000" dirty="0"/>
                        <a:t> face ao ponto de partida)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70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Cenário CRREM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/>
                        <a:t>5,16 kg / m2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dirty="0"/>
                        <a:t>(-85% face ao ponto de partida)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5,16 kg / m2</a:t>
                      </a:r>
                    </a:p>
                    <a:p>
                      <a:pPr algn="ctr"/>
                      <a:r>
                        <a:rPr lang="pt-PT" sz="1000" dirty="0"/>
                        <a:t>(-49% face ao ponto de partida)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8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13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Proposta de target</a:t>
                      </a:r>
                    </a:p>
                    <a:p>
                      <a:pPr algn="ctr"/>
                      <a:r>
                        <a:rPr lang="pt-PT" sz="1200" dirty="0"/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28,32 </a:t>
                      </a:r>
                    </a:p>
                    <a:p>
                      <a:pPr algn="ctr"/>
                      <a:r>
                        <a:rPr lang="pt-PT" sz="1000" dirty="0"/>
                        <a:t>(-20% face ao ponto de partida)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/>
                        <a:t>8,86 kg / m2 </a:t>
                      </a:r>
                    </a:p>
                    <a:p>
                      <a:pPr algn="ctr"/>
                      <a:r>
                        <a:rPr lang="pt-PT" sz="1000" dirty="0"/>
                        <a:t>(-13% face ao ponto de partida)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870815"/>
                  </a:ext>
                </a:extLst>
              </a:tr>
            </a:tbl>
          </a:graphicData>
        </a:graphic>
      </p:graphicFrame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3A0377D-B24F-9079-BC92-BC36F5E03462}"/>
              </a:ext>
            </a:extLst>
          </p:cNvPr>
          <p:cNvSpPr txBox="1">
            <a:spLocks/>
          </p:cNvSpPr>
          <p:nvPr/>
        </p:nvSpPr>
        <p:spPr>
          <a:xfrm>
            <a:off x="8378172" y="1092138"/>
            <a:ext cx="3056022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pt-PT" sz="1100" b="1" dirty="0">
                <a:solidFill>
                  <a:schemeClr val="accent5"/>
                </a:solidFill>
                <a:latin typeface="Santander Text" panose="020B0604020202020204"/>
              </a:rPr>
              <a:t>PONTO DE PARTIDA: ADENE</a:t>
            </a:r>
          </a:p>
          <a:p>
            <a:pPr marL="171450" indent="-171450">
              <a:lnSpc>
                <a:spcPct val="125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t-PT" sz="1100" dirty="0">
                <a:latin typeface="Santander Text" panose="020B0604020202020204"/>
              </a:rPr>
              <a:t>Cenário do IEA utilizado na </a:t>
            </a:r>
            <a:r>
              <a:rPr lang="pt-PT" sz="1100" i="1" dirty="0" err="1">
                <a:latin typeface="Santander Text" panose="020B0604020202020204"/>
              </a:rPr>
              <a:t>framework</a:t>
            </a:r>
            <a:r>
              <a:rPr lang="pt-PT" sz="1100" dirty="0">
                <a:latin typeface="Santander Text" panose="020B0604020202020204"/>
              </a:rPr>
              <a:t> </a:t>
            </a:r>
            <a:r>
              <a:rPr lang="pt-PT" sz="1100" dirty="0" err="1">
                <a:latin typeface="Santander Text" panose="020B0604020202020204"/>
              </a:rPr>
              <a:t>SBTi</a:t>
            </a:r>
            <a:r>
              <a:rPr lang="pt-PT" sz="1100" dirty="0">
                <a:latin typeface="Santander Text" panose="020B0604020202020204"/>
              </a:rPr>
              <a:t> e recomendado pelo Grupo Santander muito exigente para 2030, considerando-se irrealista para atingir em 6 anos</a:t>
            </a:r>
          </a:p>
          <a:p>
            <a:pPr marL="171450" indent="-171450">
              <a:lnSpc>
                <a:spcPct val="125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t-PT" sz="1100" dirty="0">
                <a:latin typeface="Santander Text" panose="020B0604020202020204"/>
              </a:rPr>
              <a:t>Proposta de target (28,32 kg/m2) considera uma redução de ~20%, não permitindo contudo atingir o cenário previsto pelo RNC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86E65F5F-6A99-9454-BFFD-10E8BDFC5574}"/>
              </a:ext>
            </a:extLst>
          </p:cNvPr>
          <p:cNvSpPr txBox="1">
            <a:spLocks/>
          </p:cNvSpPr>
          <p:nvPr/>
        </p:nvSpPr>
        <p:spPr>
          <a:xfrm>
            <a:off x="8378172" y="3208073"/>
            <a:ext cx="3056022" cy="22092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pt-PT" sz="1100" b="1" dirty="0">
                <a:solidFill>
                  <a:schemeClr val="accent5"/>
                </a:solidFill>
                <a:latin typeface="Santander Text" panose="020B0604020202020204"/>
              </a:rPr>
              <a:t>PONTO DE PARTIDA: PCAF</a:t>
            </a:r>
          </a:p>
          <a:p>
            <a:pPr marL="171450" indent="-171450">
              <a:lnSpc>
                <a:spcPct val="125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t-PT" sz="1100" dirty="0">
                <a:latin typeface="Santander Text" panose="020B0604020202020204"/>
              </a:rPr>
              <a:t>Cenário do IEA utilizado na </a:t>
            </a:r>
            <a:r>
              <a:rPr lang="pt-PT" sz="1100" i="1" dirty="0" err="1">
                <a:latin typeface="Santander Text" panose="020B0604020202020204"/>
              </a:rPr>
              <a:t>framework</a:t>
            </a:r>
            <a:r>
              <a:rPr lang="pt-PT" sz="1100" dirty="0">
                <a:latin typeface="Santander Text" panose="020B0604020202020204"/>
              </a:rPr>
              <a:t> </a:t>
            </a:r>
            <a:r>
              <a:rPr lang="pt-PT" sz="1100" dirty="0" err="1">
                <a:latin typeface="Santander Text" panose="020B0604020202020204"/>
              </a:rPr>
              <a:t>SBTi</a:t>
            </a:r>
            <a:r>
              <a:rPr lang="pt-PT" sz="1100" dirty="0">
                <a:latin typeface="Santander Text" panose="020B0604020202020204"/>
              </a:rPr>
              <a:t> e recomendado pelo Grupo Santander é superior aos resultados já apurados</a:t>
            </a:r>
          </a:p>
          <a:p>
            <a:pPr marL="171450" indent="-171450">
              <a:lnSpc>
                <a:spcPct val="125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t-PT" sz="1100" dirty="0">
                <a:latin typeface="Santander Text" panose="020B0604020202020204"/>
              </a:rPr>
              <a:t>Proposta de target (8,86 kg/m2) considera uma redução de ~13% assumindo o ritmo de redução anual prevista pelo RNC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B1A4D0-624D-B24A-1207-7A09E0F390EE}"/>
              </a:ext>
            </a:extLst>
          </p:cNvPr>
          <p:cNvSpPr/>
          <p:nvPr/>
        </p:nvSpPr>
        <p:spPr>
          <a:xfrm>
            <a:off x="3212713" y="5212200"/>
            <a:ext cx="8465937" cy="10682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200" dirty="0">
                <a:solidFill>
                  <a:schemeClr val="bg1"/>
                </a:solidFill>
              </a:rPr>
              <a:t>A fonte dos fatores de emissão impacta significativamente na decisão quanto aos targets a atingir. </a:t>
            </a:r>
          </a:p>
          <a:p>
            <a:endParaRPr lang="pt-PT" sz="1200" dirty="0">
              <a:solidFill>
                <a:schemeClr val="bg1"/>
              </a:solidFill>
            </a:endParaRPr>
          </a:p>
          <a:p>
            <a:r>
              <a:rPr lang="pt-PT" sz="1200" dirty="0">
                <a:solidFill>
                  <a:schemeClr val="bg1"/>
                </a:solidFill>
              </a:rPr>
              <a:t>A utilização do cenário ADENE obriga à aplicação de medidas sobre a carteira de CH de modo a provocar alterações ao </a:t>
            </a:r>
            <a:r>
              <a:rPr lang="pt-PT" sz="1200" i="1" dirty="0">
                <a:solidFill>
                  <a:schemeClr val="bg1"/>
                </a:solidFill>
              </a:rPr>
              <a:t>portfolio </a:t>
            </a:r>
            <a:r>
              <a:rPr lang="pt-PT" sz="1200" i="1" dirty="0" err="1">
                <a:solidFill>
                  <a:schemeClr val="bg1"/>
                </a:solidFill>
              </a:rPr>
              <a:t>mix</a:t>
            </a:r>
            <a:endParaRPr lang="pt-PT" sz="1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44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934" dirty="0"/>
              <a:t>1. </a:t>
            </a:r>
            <a:r>
              <a:rPr lang="en-US" sz="1934" dirty="0" err="1"/>
              <a:t>Imóveis</a:t>
            </a:r>
            <a:r>
              <a:rPr lang="en-US" sz="1934" dirty="0"/>
              <a:t> </a:t>
            </a:r>
            <a:r>
              <a:rPr lang="en-US" sz="1934" dirty="0" err="1"/>
              <a:t>Residenciais</a:t>
            </a:r>
            <a:r>
              <a:rPr lang="en-US" sz="1934" dirty="0"/>
              <a:t> | ADENE: </a:t>
            </a:r>
            <a:r>
              <a:rPr lang="en-US" sz="1934" dirty="0" err="1"/>
              <a:t>Medidas</a:t>
            </a:r>
            <a:r>
              <a:rPr lang="en-US" sz="1934" dirty="0"/>
              <a:t> </a:t>
            </a:r>
            <a:r>
              <a:rPr lang="en-US" sz="1934" dirty="0" err="1"/>
              <a:t>propostas</a:t>
            </a:r>
            <a:endParaRPr lang="en-US" sz="1934" dirty="0">
              <a:solidFill>
                <a:srgbClr val="FF000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BD0754D-55E8-A8FA-971A-49C4B5BF2756}"/>
              </a:ext>
            </a:extLst>
          </p:cNvPr>
          <p:cNvGrpSpPr/>
          <p:nvPr/>
        </p:nvGrpSpPr>
        <p:grpSpPr>
          <a:xfrm>
            <a:off x="7563852" y="2597352"/>
            <a:ext cx="4090737" cy="3468015"/>
            <a:chOff x="7563852" y="1297950"/>
            <a:chExt cx="4090737" cy="3468015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2" name="Chart 1">
                  <a:extLst>
                    <a:ext uri="{FF2B5EF4-FFF2-40B4-BE49-F238E27FC236}">
                      <a16:creationId xmlns:a16="http://schemas.microsoft.com/office/drawing/2014/main" id="{4B751F7F-6FEF-76D4-5B97-2E3F0B06523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529467582"/>
                    </p:ext>
                  </p:extLst>
                </p:nvPr>
              </p:nvGraphicFramePr>
              <p:xfrm>
                <a:off x="7563852" y="1297950"/>
                <a:ext cx="4090737" cy="3468015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2"/>
                </a:graphicData>
              </a:graphic>
            </p:graphicFrame>
          </mc:Choice>
          <mc:Fallback xmlns="">
            <p:pic>
              <p:nvPicPr>
                <p:cNvPr id="2" name="Chart 1">
                  <a:extLst>
                    <a:ext uri="{FF2B5EF4-FFF2-40B4-BE49-F238E27FC236}">
                      <a16:creationId xmlns:a16="http://schemas.microsoft.com/office/drawing/2014/main" id="{4B751F7F-6FEF-76D4-5B97-2E3F0B06523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3852" y="2597352"/>
                  <a:ext cx="4090737" cy="346801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61A72A-01A9-1B9C-8B3F-B33E7CD493E1}"/>
                </a:ext>
              </a:extLst>
            </p:cNvPr>
            <p:cNvSpPr txBox="1"/>
            <p:nvPr/>
          </p:nvSpPr>
          <p:spPr>
            <a:xfrm>
              <a:off x="11036627" y="2012448"/>
              <a:ext cx="4331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28,32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BE4AECA-6811-EAC5-072D-74392A778C48}"/>
              </a:ext>
            </a:extLst>
          </p:cNvPr>
          <p:cNvSpPr/>
          <p:nvPr/>
        </p:nvSpPr>
        <p:spPr bwMode="gray">
          <a:xfrm>
            <a:off x="250832" y="1003298"/>
            <a:ext cx="2925506" cy="448820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t"/>
          <a:lstStyle/>
          <a:p>
            <a:pPr>
              <a:lnSpc>
                <a:spcPct val="106000"/>
              </a:lnSpc>
              <a:spcBef>
                <a:spcPts val="600"/>
              </a:spcBef>
            </a:pPr>
            <a:r>
              <a:rPr lang="pt-PT" sz="1100" b="1" u="sng" dirty="0">
                <a:latin typeface="Santander Text" panose="020B0604020202020204"/>
                <a:cs typeface="Calibri Light" panose="020F0302020204030204" pitchFamily="34" charset="0"/>
              </a:rPr>
              <a:t>Atividades propostas</a:t>
            </a:r>
            <a:r>
              <a:rPr lang="pt-PT" sz="1100" b="1" dirty="0">
                <a:latin typeface="Santander Text" panose="020B0604020202020204"/>
                <a:cs typeface="Calibri Light" panose="020F0302020204030204" pitchFamily="34" charset="0"/>
              </a:rPr>
              <a:t>:</a:t>
            </a:r>
          </a:p>
          <a:p>
            <a:pPr>
              <a:lnSpc>
                <a:spcPct val="106000"/>
              </a:lnSpc>
              <a:spcBef>
                <a:spcPts val="600"/>
              </a:spcBef>
            </a:pPr>
            <a:r>
              <a:rPr lang="pt-PT" sz="1100" b="1" dirty="0">
                <a:latin typeface="Santander Text" panose="020B0604020202020204"/>
                <a:cs typeface="Calibri Light" panose="020F0302020204030204" pitchFamily="34" charset="0"/>
              </a:rPr>
              <a:t>A.     Medidas associadas à atração de novos edifícios: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Medidas sobre as novas casas: bonificação para habitações com “bons” </a:t>
            </a:r>
            <a:r>
              <a:rPr lang="pt-PT" sz="1100" dirty="0" err="1">
                <a:latin typeface="Santander Text" panose="020B0604020202020204"/>
                <a:cs typeface="Calibri Light" panose="020F0302020204030204" pitchFamily="34" charset="0"/>
              </a:rPr>
              <a:t>EPCs</a:t>
            </a: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 e desinvestimento para habitações com “maus” </a:t>
            </a:r>
            <a:r>
              <a:rPr lang="pt-PT" sz="1100" dirty="0" err="1">
                <a:latin typeface="Santander Text" panose="020B0604020202020204"/>
                <a:cs typeface="Calibri Light" panose="020F0302020204030204" pitchFamily="34" charset="0"/>
              </a:rPr>
              <a:t>EPCs</a:t>
            </a: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pt-PT" sz="1100" b="1" dirty="0">
                <a:latin typeface="Santander Text" panose="020B0604020202020204"/>
                <a:cs typeface="Calibri Light" panose="020F0302020204030204" pitchFamily="34" charset="0"/>
              </a:rPr>
              <a:t>B.     Medidas que promovem melhorias nos certificados das habitações:</a:t>
            </a:r>
            <a:endParaRPr lang="pt-PT" sz="1100" dirty="0">
              <a:latin typeface="Santander Text" panose="020B0604020202020204"/>
              <a:cs typeface="Calibri Light" panose="020F0302020204030204" pitchFamily="34" charset="0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Incentivos às renovações;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Disponibilização da pegada carbónica;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Formações à rede;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Pedagogia / prestação de informação aos clientes;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Implementação das alterações sobre o </a:t>
            </a:r>
            <a:r>
              <a:rPr lang="pt-PT" sz="1100" i="1" dirty="0">
                <a:latin typeface="Santander Text" panose="020B0604020202020204"/>
                <a:cs typeface="Calibri Light" panose="020F0302020204030204" pitchFamily="34" charset="0"/>
              </a:rPr>
              <a:t>Marketplace;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pt-PT" sz="1100" b="1" dirty="0">
                <a:latin typeface="Santander Text" panose="020B0604020202020204"/>
                <a:cs typeface="Calibri Light" panose="020F0302020204030204" pitchFamily="34" charset="0"/>
              </a:rPr>
              <a:t>C.     Medidas que permitem identificar a emissão real das habitações:</a:t>
            </a:r>
            <a:endParaRPr lang="pt-PT" sz="1100" i="1" dirty="0">
              <a:latin typeface="Santander Text" panose="020B0604020202020204"/>
              <a:cs typeface="Calibri Light" panose="020F0302020204030204" pitchFamily="34" charset="0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pt-PT" sz="1100" dirty="0">
                <a:latin typeface="Santander Text" panose="020B0604020202020204"/>
                <a:cs typeface="Calibri Light" panose="020F0302020204030204" pitchFamily="34" charset="0"/>
              </a:rPr>
              <a:t>Protocolos sobre os fornecedores de energia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E5D9F1-5EE1-CC0B-7EA7-0C63A1B6E9A2}"/>
              </a:ext>
            </a:extLst>
          </p:cNvPr>
          <p:cNvSpPr/>
          <p:nvPr/>
        </p:nvSpPr>
        <p:spPr bwMode="gray">
          <a:xfrm>
            <a:off x="279706" y="3204544"/>
            <a:ext cx="212537" cy="212537"/>
          </a:xfrm>
          <a:prstGeom prst="ellipse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pt-PT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87BD8C-7B4D-274C-3E2A-13059E0D0C7B}"/>
              </a:ext>
            </a:extLst>
          </p:cNvPr>
          <p:cNvSpPr/>
          <p:nvPr/>
        </p:nvSpPr>
        <p:spPr bwMode="gray">
          <a:xfrm>
            <a:off x="279706" y="3480638"/>
            <a:ext cx="212537" cy="212537"/>
          </a:xfrm>
          <a:prstGeom prst="ellipse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pt-PT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3D7240-81C6-316E-C923-74A9D464F81F}"/>
              </a:ext>
            </a:extLst>
          </p:cNvPr>
          <p:cNvSpPr/>
          <p:nvPr/>
        </p:nvSpPr>
        <p:spPr bwMode="gray">
          <a:xfrm>
            <a:off x="279706" y="5537910"/>
            <a:ext cx="212537" cy="212537"/>
          </a:xfrm>
          <a:prstGeom prst="ellipse">
            <a:avLst/>
          </a:prstGeom>
          <a:solidFill>
            <a:srgbClr val="0070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pt-PT" sz="12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FCB831F-4B06-DD2D-4C1A-8A49A67D8BD0}"/>
              </a:ext>
            </a:extLst>
          </p:cNvPr>
          <p:cNvSpPr/>
          <p:nvPr/>
        </p:nvSpPr>
        <p:spPr bwMode="gray">
          <a:xfrm>
            <a:off x="279706" y="4533508"/>
            <a:ext cx="212537" cy="212537"/>
          </a:xfrm>
          <a:prstGeom prst="ellipse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pt-PT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25139F4-0C44-8887-C671-EFC7A744E2D8}"/>
              </a:ext>
            </a:extLst>
          </p:cNvPr>
          <p:cNvSpPr/>
          <p:nvPr/>
        </p:nvSpPr>
        <p:spPr bwMode="gray">
          <a:xfrm>
            <a:off x="279706" y="4056889"/>
            <a:ext cx="212537" cy="212537"/>
          </a:xfrm>
          <a:prstGeom prst="ellipse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pt-PT" sz="1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3E0215-21C4-FC80-8FDC-405A54D72353}"/>
              </a:ext>
            </a:extLst>
          </p:cNvPr>
          <p:cNvSpPr/>
          <p:nvPr/>
        </p:nvSpPr>
        <p:spPr bwMode="gray">
          <a:xfrm>
            <a:off x="279706" y="3780795"/>
            <a:ext cx="212537" cy="212537"/>
          </a:xfrm>
          <a:prstGeom prst="ellipse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pt-PT" sz="12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204362-A5BF-C430-3B8A-70B01881FD6E}"/>
              </a:ext>
            </a:extLst>
          </p:cNvPr>
          <p:cNvGrpSpPr/>
          <p:nvPr/>
        </p:nvGrpSpPr>
        <p:grpSpPr>
          <a:xfrm>
            <a:off x="279706" y="1780825"/>
            <a:ext cx="225831" cy="212400"/>
            <a:chOff x="459378" y="2091109"/>
            <a:chExt cx="225831" cy="2124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88AB52B-0D0D-D1A6-3C22-82195C7FD856}"/>
                </a:ext>
              </a:extLst>
            </p:cNvPr>
            <p:cNvGrpSpPr/>
            <p:nvPr/>
          </p:nvGrpSpPr>
          <p:grpSpPr>
            <a:xfrm>
              <a:off x="459378" y="2091109"/>
              <a:ext cx="212400" cy="212400"/>
              <a:chOff x="203769" y="1796594"/>
              <a:chExt cx="192134" cy="178567"/>
            </a:xfrm>
          </p:grpSpPr>
          <p:sp>
            <p:nvSpPr>
              <p:cNvPr id="23" name="Chord 22">
                <a:extLst>
                  <a:ext uri="{FF2B5EF4-FFF2-40B4-BE49-F238E27FC236}">
                    <a16:creationId xmlns:a16="http://schemas.microsoft.com/office/drawing/2014/main" id="{B1E70EB4-849E-8078-39C0-8F4723B224C4}"/>
                  </a:ext>
                </a:extLst>
              </p:cNvPr>
              <p:cNvSpPr/>
              <p:nvPr/>
            </p:nvSpPr>
            <p:spPr bwMode="gray">
              <a:xfrm rot="4120036">
                <a:off x="210853" y="1789510"/>
                <a:ext cx="169488" cy="183655"/>
              </a:xfrm>
              <a:prstGeom prst="chord">
                <a:avLst/>
              </a:prstGeom>
              <a:solidFill>
                <a:schemeClr val="accent3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pt-PT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Chord 23">
                <a:extLst>
                  <a:ext uri="{FF2B5EF4-FFF2-40B4-BE49-F238E27FC236}">
                    <a16:creationId xmlns:a16="http://schemas.microsoft.com/office/drawing/2014/main" id="{CC3ADF3E-3F96-98FD-3F39-461BA761B314}"/>
                  </a:ext>
                </a:extLst>
              </p:cNvPr>
              <p:cNvSpPr/>
              <p:nvPr/>
            </p:nvSpPr>
            <p:spPr bwMode="gray">
              <a:xfrm rot="16200000">
                <a:off x="219503" y="1798761"/>
                <a:ext cx="169200" cy="183600"/>
              </a:xfrm>
              <a:prstGeom prst="chord">
                <a:avLst>
                  <a:gd name="adj1" fmla="val 1690247"/>
                  <a:gd name="adj2" fmla="val 14158264"/>
                </a:avLst>
              </a:prstGeom>
              <a:solidFill>
                <a:srgbClr val="6FC2B4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pt-PT" sz="16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09C2A2-E73E-7C41-FEEA-D5D31550DBE5}"/>
                </a:ext>
              </a:extLst>
            </p:cNvPr>
            <p:cNvSpPr txBox="1"/>
            <p:nvPr/>
          </p:nvSpPr>
          <p:spPr>
            <a:xfrm>
              <a:off x="523657" y="2091145"/>
              <a:ext cx="16155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pt-PT" sz="1200">
                  <a:solidFill>
                    <a:schemeClr val="bg1"/>
                  </a:solidFill>
                </a:rPr>
                <a:t>1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AAA69B3-5B4C-EA48-FCDD-0BA42F7A9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212" y="1907403"/>
            <a:ext cx="3620382" cy="327904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453E6A0-0C60-DE3D-4D0D-0443B37CCDDA}"/>
              </a:ext>
            </a:extLst>
          </p:cNvPr>
          <p:cNvSpPr/>
          <p:nvPr/>
        </p:nvSpPr>
        <p:spPr>
          <a:xfrm>
            <a:off x="144379" y="906379"/>
            <a:ext cx="6874042" cy="526181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174CBA2-C212-0AF8-C421-FADD3FD66C4F}"/>
              </a:ext>
            </a:extLst>
          </p:cNvPr>
          <p:cNvSpPr/>
          <p:nvPr/>
        </p:nvSpPr>
        <p:spPr>
          <a:xfrm rot="5400000">
            <a:off x="4639856" y="3433290"/>
            <a:ext cx="5261811" cy="200526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68195E-8988-6E41-A139-885D19B6EB20}"/>
              </a:ext>
            </a:extLst>
          </p:cNvPr>
          <p:cNvSpPr txBox="1"/>
          <p:nvPr/>
        </p:nvSpPr>
        <p:spPr>
          <a:xfrm>
            <a:off x="7732295" y="1003298"/>
            <a:ext cx="400250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t-PT" sz="1100" dirty="0">
                <a:latin typeface="Santander Text" panose="020B0604020202020204"/>
              </a:rPr>
              <a:t>É expectável que parte da diminuição nas emissões provenham da evolução natural dos fatores de emissão de acordo com as medidas e o estimado pelo RNC</a:t>
            </a: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pt-PT" sz="1100" dirty="0">
                <a:latin typeface="Santander Text" panose="020B0604020202020204"/>
              </a:rPr>
              <a:t>Contudo, se for considerado o ponto de partida da ADENE será necessário implementar mais medidas para atrair edifícios mais eficientes, renovar as habitações existentes e obter o consumo real das habitações, que se entende que está maioritariamente assente em energia “verde”</a:t>
            </a:r>
          </a:p>
          <a:p>
            <a:endParaRPr lang="pt-PT" sz="1100" dirty="0">
              <a:latin typeface="Santander Text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5067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934" dirty="0"/>
              <a:t>2. </a:t>
            </a:r>
            <a:r>
              <a:rPr lang="en-US" sz="1934" dirty="0" err="1"/>
              <a:t>Imóveis</a:t>
            </a:r>
            <a:r>
              <a:rPr lang="en-US" sz="1934" dirty="0"/>
              <a:t> </a:t>
            </a:r>
            <a:r>
              <a:rPr lang="en-US" sz="1934" dirty="0" err="1"/>
              <a:t>comerciais</a:t>
            </a:r>
            <a:r>
              <a:rPr lang="en-US" sz="1934" dirty="0"/>
              <a:t> | </a:t>
            </a:r>
            <a:r>
              <a:rPr lang="en-US" sz="1934" dirty="0" err="1"/>
              <a:t>Fase</a:t>
            </a:r>
            <a:r>
              <a:rPr lang="en-US" sz="1934" dirty="0"/>
              <a:t> </a:t>
            </a:r>
            <a:r>
              <a:rPr lang="en-US" sz="1934" dirty="0" err="1"/>
              <a:t>por</a:t>
            </a:r>
            <a:r>
              <a:rPr lang="en-US" sz="1934" dirty="0"/>
              <a:t> </a:t>
            </a:r>
            <a:r>
              <a:rPr lang="en-US" sz="1934" dirty="0" err="1"/>
              <a:t>iniciar</a:t>
            </a:r>
            <a:r>
              <a:rPr lang="en-US" sz="1934" dirty="0"/>
              <a:t> </a:t>
            </a:r>
            <a:r>
              <a:rPr lang="en-US" sz="1934" dirty="0" err="1"/>
              <a:t>em</a:t>
            </a:r>
            <a:r>
              <a:rPr lang="en-US" sz="1934" dirty="0"/>
              <a:t> </a:t>
            </a:r>
            <a:r>
              <a:rPr lang="en-US" sz="1934" dirty="0" err="1"/>
              <a:t>Outubro</a:t>
            </a:r>
            <a:endParaRPr lang="en-US" sz="1934" dirty="0">
              <a:solidFill>
                <a:srgbClr val="FF0000"/>
              </a:solidFill>
            </a:endParaRP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/>
        </p:nvSpPr>
        <p:spPr>
          <a:xfrm>
            <a:off x="3347660" y="935968"/>
            <a:ext cx="8320080" cy="2948730"/>
          </a:xfrm>
          <a:prstGeom prst="rect">
            <a:avLst/>
          </a:prstGeom>
        </p:spPr>
        <p:txBody>
          <a:bodyPr vert="horz" lIns="91373" tIns="45686" rIns="91373" bIns="45686" rtlCol="0">
            <a:noAutofit/>
          </a:bodyPr>
          <a:lstStyle>
            <a:lvl1pPr marL="0" indent="0" algn="l" defTabSz="91375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2812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687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563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438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À semelhança do que foi realizado para os imóveis residenciais, está planeado seguir-se uma abordagem composta pelas seguintes etapas:</a:t>
            </a:r>
          </a:p>
          <a:p>
            <a:endParaRPr lang="pt-PT" sz="700" dirty="0"/>
          </a:p>
          <a:p>
            <a:endParaRPr lang="pt-PT" sz="700" dirty="0"/>
          </a:p>
          <a:p>
            <a:endParaRPr lang="pt-PT" sz="100" dirty="0"/>
          </a:p>
          <a:p>
            <a:endParaRPr lang="pt-PT" dirty="0"/>
          </a:p>
          <a:p>
            <a:endParaRPr lang="pt-PT" sz="1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88957EE-3B5C-BC2F-BD8C-2D8C9E1B81BC}"/>
              </a:ext>
            </a:extLst>
          </p:cNvPr>
          <p:cNvGrpSpPr/>
          <p:nvPr/>
        </p:nvGrpSpPr>
        <p:grpSpPr>
          <a:xfrm>
            <a:off x="3286856" y="1899693"/>
            <a:ext cx="8441689" cy="1679002"/>
            <a:chOff x="2846070" y="2230905"/>
            <a:chExt cx="8441689" cy="167900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ADD616-AC32-0836-E060-42CB1D1687CE}"/>
                </a:ext>
              </a:extLst>
            </p:cNvPr>
            <p:cNvSpPr/>
            <p:nvPr/>
          </p:nvSpPr>
          <p:spPr>
            <a:xfrm>
              <a:off x="2846070" y="2482146"/>
              <a:ext cx="4357370" cy="11067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6876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3751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0624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7498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4377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1250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8124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4998" algn="l" defTabSz="913751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D395927-83B9-491C-D327-C16D03A87F56}"/>
                </a:ext>
              </a:extLst>
            </p:cNvPr>
            <p:cNvGrpSpPr/>
            <p:nvPr/>
          </p:nvGrpSpPr>
          <p:grpSpPr>
            <a:xfrm>
              <a:off x="3423229" y="2230905"/>
              <a:ext cx="7864530" cy="1679002"/>
              <a:chOff x="3291149" y="2210585"/>
              <a:chExt cx="7864530" cy="1679002"/>
            </a:xfrm>
          </p:grpSpPr>
          <p:sp>
            <p:nvSpPr>
              <p:cNvPr id="30" name="Arrow: Pentagon 29">
                <a:extLst>
                  <a:ext uri="{FF2B5EF4-FFF2-40B4-BE49-F238E27FC236}">
                    <a16:creationId xmlns:a16="http://schemas.microsoft.com/office/drawing/2014/main" id="{77338E62-9016-B8D1-88D8-7A6970B7C73A}"/>
                  </a:ext>
                </a:extLst>
              </p:cNvPr>
              <p:cNvSpPr/>
              <p:nvPr/>
            </p:nvSpPr>
            <p:spPr bwMode="gray">
              <a:xfrm>
                <a:off x="3300467" y="2210585"/>
                <a:ext cx="3780000" cy="193509"/>
              </a:xfrm>
              <a:prstGeom prst="homePlate">
                <a:avLst/>
              </a:prstGeom>
              <a:solidFill>
                <a:schemeClr val="tx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</a:rPr>
                  <a:t>POSICIONAMENTO ESTRATÉGICO</a:t>
                </a:r>
              </a:p>
            </p:txBody>
          </p:sp>
          <p:sp>
            <p:nvSpPr>
              <p:cNvPr id="31" name="Arrow: Chevron 30">
                <a:extLst>
                  <a:ext uri="{FF2B5EF4-FFF2-40B4-BE49-F238E27FC236}">
                    <a16:creationId xmlns:a16="http://schemas.microsoft.com/office/drawing/2014/main" id="{8B5271AB-EE2B-7821-3436-BB58807544CD}"/>
                  </a:ext>
                </a:extLst>
              </p:cNvPr>
              <p:cNvSpPr/>
              <p:nvPr/>
            </p:nvSpPr>
            <p:spPr bwMode="gray">
              <a:xfrm>
                <a:off x="7250429" y="2210585"/>
                <a:ext cx="3905250" cy="193509"/>
              </a:xfrm>
              <a:prstGeom prst="chevron">
                <a:avLst/>
              </a:prstGeom>
              <a:solidFill>
                <a:schemeClr val="tx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</a:rPr>
                  <a:t>IMPLEMENTAÇÃO PLANO NET ZERO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813ABD2-0F47-0134-6F2F-F910B4D8B7AA}"/>
                  </a:ext>
                </a:extLst>
              </p:cNvPr>
              <p:cNvSpPr/>
              <p:nvPr/>
            </p:nvSpPr>
            <p:spPr>
              <a:xfrm>
                <a:off x="3291149" y="2432668"/>
                <a:ext cx="3770685" cy="1456919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36000"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Cálculo da pegada de carbono (Referência dezembro 2023)</a:t>
                </a:r>
              </a:p>
              <a:p>
                <a:pPr marL="171450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Definição de </a:t>
                </a:r>
                <a:r>
                  <a:rPr lang="pt-PT" sz="1000" i="1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targets net zero 2030</a:t>
                </a:r>
              </a:p>
              <a:p>
                <a:pPr marL="171450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Plano </a:t>
                </a:r>
                <a:r>
                  <a:rPr lang="pt-PT" sz="1000" i="1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net zero</a:t>
                </a:r>
              </a:p>
              <a:p>
                <a:pPr marL="628650" lvl="1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Identificação de iniciativas de descarbonização </a:t>
                </a:r>
              </a:p>
              <a:p>
                <a:pPr marL="628650" lvl="1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Definição do roteiro de descarbonização </a:t>
                </a:r>
              </a:p>
            </p:txBody>
          </p:sp>
          <p:sp>
            <p:nvSpPr>
              <p:cNvPr id="33" name="Arrow: Chevron 32">
                <a:extLst>
                  <a:ext uri="{FF2B5EF4-FFF2-40B4-BE49-F238E27FC236}">
                    <a16:creationId xmlns:a16="http://schemas.microsoft.com/office/drawing/2014/main" id="{06884CE5-31C2-0B55-D74A-03A6CE2456A1}"/>
                  </a:ext>
                </a:extLst>
              </p:cNvPr>
              <p:cNvSpPr/>
              <p:nvPr/>
            </p:nvSpPr>
            <p:spPr bwMode="gray">
              <a:xfrm>
                <a:off x="7250429" y="2925104"/>
                <a:ext cx="3905250" cy="193509"/>
              </a:xfrm>
              <a:prstGeom prst="chevron">
                <a:avLst/>
              </a:prstGeom>
              <a:solidFill>
                <a:schemeClr val="tx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0" tIns="0" rIns="0" bIns="0"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lt"/>
                  </a:rPr>
                  <a:t>MONITORIZAÇÃO DA PEGADA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B6472E2-76CE-F1A6-C0BE-0BC41AE4A819}"/>
                  </a:ext>
                </a:extLst>
              </p:cNvPr>
              <p:cNvSpPr/>
              <p:nvPr/>
            </p:nvSpPr>
            <p:spPr>
              <a:xfrm>
                <a:off x="7256406" y="2432670"/>
                <a:ext cx="3899273" cy="4053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36000"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Implementação do roteiro descarbonização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7CD4294-41E5-AC12-C4A7-B04BA35AAB02}"/>
                  </a:ext>
                </a:extLst>
              </p:cNvPr>
              <p:cNvSpPr/>
              <p:nvPr/>
            </p:nvSpPr>
            <p:spPr>
              <a:xfrm>
                <a:off x="7256406" y="3190074"/>
                <a:ext cx="3899273" cy="6995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36000"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Criação de um </a:t>
                </a:r>
                <a:r>
                  <a:rPr lang="pt-PT" sz="1000" i="1" dirty="0" err="1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dashboard</a:t>
                </a:r>
                <a:r>
                  <a:rPr lang="pt-PT" sz="1000" i="1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 </a:t>
                </a: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de monitorização da pegada </a:t>
                </a:r>
              </a:p>
              <a:p>
                <a:pPr marL="171450" indent="-1714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:r>
                  <a:rPr lang="pt-PT" sz="1000" dirty="0">
                    <a:solidFill>
                      <a:schemeClr val="tx1"/>
                    </a:solidFill>
                    <a:cs typeface="Calibri Light" panose="020F0302020204030204" pitchFamily="34" charset="0"/>
                  </a:rPr>
                  <a:t>Realização de uma acompanhamento regular da evolução da pegada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C316AC75-3FED-7484-E758-B0D1A15ED8C6}"/>
                  </a:ext>
                </a:extLst>
              </p:cNvPr>
              <p:cNvSpPr/>
              <p:nvPr/>
            </p:nvSpPr>
            <p:spPr>
              <a:xfrm>
                <a:off x="3762983" y="3635427"/>
                <a:ext cx="183200" cy="1611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  <a:lvl1pPr marL="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6876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3751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06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74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4377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1250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198124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4998" algn="l" defTabSz="913751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PT"/>
              </a:p>
            </p:txBody>
          </p:sp>
        </p:grpSp>
        <p:sp>
          <p:nvSpPr>
            <p:cNvPr id="12" name="Freeform 646">
              <a:extLst>
                <a:ext uri="{FF2B5EF4-FFF2-40B4-BE49-F238E27FC236}">
                  <a16:creationId xmlns:a16="http://schemas.microsoft.com/office/drawing/2014/main" id="{044A5E7E-6CD6-DF4F-5473-FCA1B3A7A4D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751063" y="2251021"/>
              <a:ext cx="144000" cy="144001"/>
            </a:xfrm>
            <a:custGeom>
              <a:avLst/>
              <a:gdLst>
                <a:gd name="T0" fmla="*/ 160 w 512"/>
                <a:gd name="T1" fmla="*/ 394 h 512"/>
                <a:gd name="T2" fmla="*/ 154 w 512"/>
                <a:gd name="T3" fmla="*/ 393 h 512"/>
                <a:gd name="T4" fmla="*/ 149 w 512"/>
                <a:gd name="T5" fmla="*/ 384 h 512"/>
                <a:gd name="T6" fmla="*/ 149 w 512"/>
                <a:gd name="T7" fmla="*/ 128 h 512"/>
                <a:gd name="T8" fmla="*/ 154 w 512"/>
                <a:gd name="T9" fmla="*/ 118 h 512"/>
                <a:gd name="T10" fmla="*/ 165 w 512"/>
                <a:gd name="T11" fmla="*/ 118 h 512"/>
                <a:gd name="T12" fmla="*/ 399 w 512"/>
                <a:gd name="T13" fmla="*/ 246 h 512"/>
                <a:gd name="T14" fmla="*/ 405 w 512"/>
                <a:gd name="T15" fmla="*/ 256 h 512"/>
                <a:gd name="T16" fmla="*/ 399 w 512"/>
                <a:gd name="T17" fmla="*/ 265 h 512"/>
                <a:gd name="T18" fmla="*/ 165 w 512"/>
                <a:gd name="T19" fmla="*/ 393 h 512"/>
                <a:gd name="T20" fmla="*/ 160 w 512"/>
                <a:gd name="T21" fmla="*/ 394 h 512"/>
                <a:gd name="T22" fmla="*/ 170 w 512"/>
                <a:gd name="T23" fmla="*/ 146 h 512"/>
                <a:gd name="T24" fmla="*/ 170 w 512"/>
                <a:gd name="T25" fmla="*/ 366 h 512"/>
                <a:gd name="T26" fmla="*/ 372 w 512"/>
                <a:gd name="T27" fmla="*/ 256 h 512"/>
                <a:gd name="T28" fmla="*/ 170 w 512"/>
                <a:gd name="T29" fmla="*/ 146 h 512"/>
                <a:gd name="T30" fmla="*/ 256 w 512"/>
                <a:gd name="T31" fmla="*/ 0 h 512"/>
                <a:gd name="T32" fmla="*/ 0 w 512"/>
                <a:gd name="T33" fmla="*/ 256 h 512"/>
                <a:gd name="T34" fmla="*/ 256 w 512"/>
                <a:gd name="T35" fmla="*/ 512 h 512"/>
                <a:gd name="T36" fmla="*/ 512 w 512"/>
                <a:gd name="T37" fmla="*/ 256 h 512"/>
                <a:gd name="T38" fmla="*/ 256 w 512"/>
                <a:gd name="T3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2" h="512">
                  <a:moveTo>
                    <a:pt x="160" y="394"/>
                  </a:moveTo>
                  <a:cubicBezTo>
                    <a:pt x="158" y="394"/>
                    <a:pt x="156" y="394"/>
                    <a:pt x="154" y="393"/>
                  </a:cubicBezTo>
                  <a:cubicBezTo>
                    <a:pt x="151" y="391"/>
                    <a:pt x="149" y="387"/>
                    <a:pt x="149" y="384"/>
                  </a:cubicBezTo>
                  <a:cubicBezTo>
                    <a:pt x="149" y="128"/>
                    <a:pt x="149" y="128"/>
                    <a:pt x="149" y="128"/>
                  </a:cubicBezTo>
                  <a:cubicBezTo>
                    <a:pt x="149" y="124"/>
                    <a:pt x="151" y="120"/>
                    <a:pt x="154" y="118"/>
                  </a:cubicBezTo>
                  <a:cubicBezTo>
                    <a:pt x="157" y="117"/>
                    <a:pt x="161" y="117"/>
                    <a:pt x="165" y="118"/>
                  </a:cubicBezTo>
                  <a:cubicBezTo>
                    <a:pt x="399" y="246"/>
                    <a:pt x="399" y="246"/>
                    <a:pt x="399" y="246"/>
                  </a:cubicBezTo>
                  <a:cubicBezTo>
                    <a:pt x="403" y="248"/>
                    <a:pt x="405" y="252"/>
                    <a:pt x="405" y="256"/>
                  </a:cubicBezTo>
                  <a:cubicBezTo>
                    <a:pt x="405" y="260"/>
                    <a:pt x="403" y="263"/>
                    <a:pt x="399" y="265"/>
                  </a:cubicBezTo>
                  <a:cubicBezTo>
                    <a:pt x="165" y="393"/>
                    <a:pt x="165" y="393"/>
                    <a:pt x="165" y="393"/>
                  </a:cubicBezTo>
                  <a:cubicBezTo>
                    <a:pt x="163" y="394"/>
                    <a:pt x="161" y="394"/>
                    <a:pt x="160" y="394"/>
                  </a:cubicBezTo>
                  <a:close/>
                  <a:moveTo>
                    <a:pt x="170" y="146"/>
                  </a:moveTo>
                  <a:cubicBezTo>
                    <a:pt x="170" y="366"/>
                    <a:pt x="170" y="366"/>
                    <a:pt x="170" y="366"/>
                  </a:cubicBezTo>
                  <a:cubicBezTo>
                    <a:pt x="372" y="256"/>
                    <a:pt x="372" y="256"/>
                    <a:pt x="372" y="256"/>
                  </a:cubicBezTo>
                  <a:lnTo>
                    <a:pt x="170" y="146"/>
                  </a:ln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6876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3751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06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74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4377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125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81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49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3" name="Freeform 646">
              <a:extLst>
                <a:ext uri="{FF2B5EF4-FFF2-40B4-BE49-F238E27FC236}">
                  <a16:creationId xmlns:a16="http://schemas.microsoft.com/office/drawing/2014/main" id="{4CA0D086-9538-3B00-B67F-89E943C28CC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613969" y="2251021"/>
              <a:ext cx="144000" cy="144001"/>
            </a:xfrm>
            <a:custGeom>
              <a:avLst/>
              <a:gdLst>
                <a:gd name="T0" fmla="*/ 160 w 512"/>
                <a:gd name="T1" fmla="*/ 394 h 512"/>
                <a:gd name="T2" fmla="*/ 154 w 512"/>
                <a:gd name="T3" fmla="*/ 393 h 512"/>
                <a:gd name="T4" fmla="*/ 149 w 512"/>
                <a:gd name="T5" fmla="*/ 384 h 512"/>
                <a:gd name="T6" fmla="*/ 149 w 512"/>
                <a:gd name="T7" fmla="*/ 128 h 512"/>
                <a:gd name="T8" fmla="*/ 154 w 512"/>
                <a:gd name="T9" fmla="*/ 118 h 512"/>
                <a:gd name="T10" fmla="*/ 165 w 512"/>
                <a:gd name="T11" fmla="*/ 118 h 512"/>
                <a:gd name="T12" fmla="*/ 399 w 512"/>
                <a:gd name="T13" fmla="*/ 246 h 512"/>
                <a:gd name="T14" fmla="*/ 405 w 512"/>
                <a:gd name="T15" fmla="*/ 256 h 512"/>
                <a:gd name="T16" fmla="*/ 399 w 512"/>
                <a:gd name="T17" fmla="*/ 265 h 512"/>
                <a:gd name="T18" fmla="*/ 165 w 512"/>
                <a:gd name="T19" fmla="*/ 393 h 512"/>
                <a:gd name="T20" fmla="*/ 160 w 512"/>
                <a:gd name="T21" fmla="*/ 394 h 512"/>
                <a:gd name="T22" fmla="*/ 170 w 512"/>
                <a:gd name="T23" fmla="*/ 146 h 512"/>
                <a:gd name="T24" fmla="*/ 170 w 512"/>
                <a:gd name="T25" fmla="*/ 366 h 512"/>
                <a:gd name="T26" fmla="*/ 372 w 512"/>
                <a:gd name="T27" fmla="*/ 256 h 512"/>
                <a:gd name="T28" fmla="*/ 170 w 512"/>
                <a:gd name="T29" fmla="*/ 146 h 512"/>
                <a:gd name="T30" fmla="*/ 256 w 512"/>
                <a:gd name="T31" fmla="*/ 0 h 512"/>
                <a:gd name="T32" fmla="*/ 0 w 512"/>
                <a:gd name="T33" fmla="*/ 256 h 512"/>
                <a:gd name="T34" fmla="*/ 256 w 512"/>
                <a:gd name="T35" fmla="*/ 512 h 512"/>
                <a:gd name="T36" fmla="*/ 512 w 512"/>
                <a:gd name="T37" fmla="*/ 256 h 512"/>
                <a:gd name="T38" fmla="*/ 256 w 512"/>
                <a:gd name="T3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2" h="512">
                  <a:moveTo>
                    <a:pt x="160" y="394"/>
                  </a:moveTo>
                  <a:cubicBezTo>
                    <a:pt x="158" y="394"/>
                    <a:pt x="156" y="394"/>
                    <a:pt x="154" y="393"/>
                  </a:cubicBezTo>
                  <a:cubicBezTo>
                    <a:pt x="151" y="391"/>
                    <a:pt x="149" y="387"/>
                    <a:pt x="149" y="384"/>
                  </a:cubicBezTo>
                  <a:cubicBezTo>
                    <a:pt x="149" y="128"/>
                    <a:pt x="149" y="128"/>
                    <a:pt x="149" y="128"/>
                  </a:cubicBezTo>
                  <a:cubicBezTo>
                    <a:pt x="149" y="124"/>
                    <a:pt x="151" y="120"/>
                    <a:pt x="154" y="118"/>
                  </a:cubicBezTo>
                  <a:cubicBezTo>
                    <a:pt x="157" y="117"/>
                    <a:pt x="161" y="117"/>
                    <a:pt x="165" y="118"/>
                  </a:cubicBezTo>
                  <a:cubicBezTo>
                    <a:pt x="399" y="246"/>
                    <a:pt x="399" y="246"/>
                    <a:pt x="399" y="246"/>
                  </a:cubicBezTo>
                  <a:cubicBezTo>
                    <a:pt x="403" y="248"/>
                    <a:pt x="405" y="252"/>
                    <a:pt x="405" y="256"/>
                  </a:cubicBezTo>
                  <a:cubicBezTo>
                    <a:pt x="405" y="260"/>
                    <a:pt x="403" y="263"/>
                    <a:pt x="399" y="265"/>
                  </a:cubicBezTo>
                  <a:cubicBezTo>
                    <a:pt x="165" y="393"/>
                    <a:pt x="165" y="393"/>
                    <a:pt x="165" y="393"/>
                  </a:cubicBezTo>
                  <a:cubicBezTo>
                    <a:pt x="163" y="394"/>
                    <a:pt x="161" y="394"/>
                    <a:pt x="160" y="394"/>
                  </a:cubicBezTo>
                  <a:close/>
                  <a:moveTo>
                    <a:pt x="170" y="146"/>
                  </a:moveTo>
                  <a:cubicBezTo>
                    <a:pt x="170" y="366"/>
                    <a:pt x="170" y="366"/>
                    <a:pt x="170" y="366"/>
                  </a:cubicBezTo>
                  <a:cubicBezTo>
                    <a:pt x="372" y="256"/>
                    <a:pt x="372" y="256"/>
                    <a:pt x="372" y="256"/>
                  </a:cubicBezTo>
                  <a:lnTo>
                    <a:pt x="170" y="146"/>
                  </a:ln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6876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3751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06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74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4377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125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81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49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4" name="Freeform 646">
              <a:extLst>
                <a:ext uri="{FF2B5EF4-FFF2-40B4-BE49-F238E27FC236}">
                  <a16:creationId xmlns:a16="http://schemas.microsoft.com/office/drawing/2014/main" id="{70DCEA23-829C-7FD2-89EB-63BC67CCF6E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613969" y="2971033"/>
              <a:ext cx="144000" cy="144001"/>
            </a:xfrm>
            <a:custGeom>
              <a:avLst/>
              <a:gdLst>
                <a:gd name="T0" fmla="*/ 160 w 512"/>
                <a:gd name="T1" fmla="*/ 394 h 512"/>
                <a:gd name="T2" fmla="*/ 154 w 512"/>
                <a:gd name="T3" fmla="*/ 393 h 512"/>
                <a:gd name="T4" fmla="*/ 149 w 512"/>
                <a:gd name="T5" fmla="*/ 384 h 512"/>
                <a:gd name="T6" fmla="*/ 149 w 512"/>
                <a:gd name="T7" fmla="*/ 128 h 512"/>
                <a:gd name="T8" fmla="*/ 154 w 512"/>
                <a:gd name="T9" fmla="*/ 118 h 512"/>
                <a:gd name="T10" fmla="*/ 165 w 512"/>
                <a:gd name="T11" fmla="*/ 118 h 512"/>
                <a:gd name="T12" fmla="*/ 399 w 512"/>
                <a:gd name="T13" fmla="*/ 246 h 512"/>
                <a:gd name="T14" fmla="*/ 405 w 512"/>
                <a:gd name="T15" fmla="*/ 256 h 512"/>
                <a:gd name="T16" fmla="*/ 399 w 512"/>
                <a:gd name="T17" fmla="*/ 265 h 512"/>
                <a:gd name="T18" fmla="*/ 165 w 512"/>
                <a:gd name="T19" fmla="*/ 393 h 512"/>
                <a:gd name="T20" fmla="*/ 160 w 512"/>
                <a:gd name="T21" fmla="*/ 394 h 512"/>
                <a:gd name="T22" fmla="*/ 170 w 512"/>
                <a:gd name="T23" fmla="*/ 146 h 512"/>
                <a:gd name="T24" fmla="*/ 170 w 512"/>
                <a:gd name="T25" fmla="*/ 366 h 512"/>
                <a:gd name="T26" fmla="*/ 372 w 512"/>
                <a:gd name="T27" fmla="*/ 256 h 512"/>
                <a:gd name="T28" fmla="*/ 170 w 512"/>
                <a:gd name="T29" fmla="*/ 146 h 512"/>
                <a:gd name="T30" fmla="*/ 256 w 512"/>
                <a:gd name="T31" fmla="*/ 0 h 512"/>
                <a:gd name="T32" fmla="*/ 0 w 512"/>
                <a:gd name="T33" fmla="*/ 256 h 512"/>
                <a:gd name="T34" fmla="*/ 256 w 512"/>
                <a:gd name="T35" fmla="*/ 512 h 512"/>
                <a:gd name="T36" fmla="*/ 512 w 512"/>
                <a:gd name="T37" fmla="*/ 256 h 512"/>
                <a:gd name="T38" fmla="*/ 256 w 512"/>
                <a:gd name="T39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2" h="512">
                  <a:moveTo>
                    <a:pt x="160" y="394"/>
                  </a:moveTo>
                  <a:cubicBezTo>
                    <a:pt x="158" y="394"/>
                    <a:pt x="156" y="394"/>
                    <a:pt x="154" y="393"/>
                  </a:cubicBezTo>
                  <a:cubicBezTo>
                    <a:pt x="151" y="391"/>
                    <a:pt x="149" y="387"/>
                    <a:pt x="149" y="384"/>
                  </a:cubicBezTo>
                  <a:cubicBezTo>
                    <a:pt x="149" y="128"/>
                    <a:pt x="149" y="128"/>
                    <a:pt x="149" y="128"/>
                  </a:cubicBezTo>
                  <a:cubicBezTo>
                    <a:pt x="149" y="124"/>
                    <a:pt x="151" y="120"/>
                    <a:pt x="154" y="118"/>
                  </a:cubicBezTo>
                  <a:cubicBezTo>
                    <a:pt x="157" y="117"/>
                    <a:pt x="161" y="117"/>
                    <a:pt x="165" y="118"/>
                  </a:cubicBezTo>
                  <a:cubicBezTo>
                    <a:pt x="399" y="246"/>
                    <a:pt x="399" y="246"/>
                    <a:pt x="399" y="246"/>
                  </a:cubicBezTo>
                  <a:cubicBezTo>
                    <a:pt x="403" y="248"/>
                    <a:pt x="405" y="252"/>
                    <a:pt x="405" y="256"/>
                  </a:cubicBezTo>
                  <a:cubicBezTo>
                    <a:pt x="405" y="260"/>
                    <a:pt x="403" y="263"/>
                    <a:pt x="399" y="265"/>
                  </a:cubicBezTo>
                  <a:cubicBezTo>
                    <a:pt x="165" y="393"/>
                    <a:pt x="165" y="393"/>
                    <a:pt x="165" y="393"/>
                  </a:cubicBezTo>
                  <a:cubicBezTo>
                    <a:pt x="163" y="394"/>
                    <a:pt x="161" y="394"/>
                    <a:pt x="160" y="394"/>
                  </a:cubicBezTo>
                  <a:close/>
                  <a:moveTo>
                    <a:pt x="170" y="146"/>
                  </a:moveTo>
                  <a:cubicBezTo>
                    <a:pt x="170" y="366"/>
                    <a:pt x="170" y="366"/>
                    <a:pt x="170" y="366"/>
                  </a:cubicBezTo>
                  <a:cubicBezTo>
                    <a:pt x="372" y="256"/>
                    <a:pt x="372" y="256"/>
                    <a:pt x="372" y="256"/>
                  </a:cubicBezTo>
                  <a:lnTo>
                    <a:pt x="170" y="146"/>
                  </a:ln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6876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3751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06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74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4377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125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81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49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BA1AA7C3-D73D-8EC5-0F87-195D29DA246D}"/>
                </a:ext>
              </a:extLst>
            </p:cNvPr>
            <p:cNvSpPr txBox="1"/>
            <p:nvPr/>
          </p:nvSpPr>
          <p:spPr>
            <a:xfrm>
              <a:off x="3067919" y="2521600"/>
              <a:ext cx="338554" cy="104519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>
              <a:defPPr>
                <a:defRPr lang="es-ES"/>
              </a:defPPr>
              <a:lvl1pPr marL="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6876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3751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06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74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4377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1250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8124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4998" algn="l" defTabSz="913751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PT" sz="1000" dirty="0"/>
                <a:t>Objetivos 2024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7927E50-F073-3349-9CC9-4900249AE8B9}"/>
              </a:ext>
            </a:extLst>
          </p:cNvPr>
          <p:cNvSpPr/>
          <p:nvPr/>
        </p:nvSpPr>
        <p:spPr>
          <a:xfrm>
            <a:off x="0" y="761696"/>
            <a:ext cx="2854259" cy="60963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74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340E29-FE44-7713-AE37-A0A9F9C19F0B}"/>
              </a:ext>
            </a:extLst>
          </p:cNvPr>
          <p:cNvSpPr/>
          <p:nvPr/>
        </p:nvSpPr>
        <p:spPr>
          <a:xfrm>
            <a:off x="0" y="962122"/>
            <a:ext cx="2854256" cy="260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450"/>
            <a:r>
              <a:rPr lang="pt-PT" sz="1160" b="1" dirty="0">
                <a:solidFill>
                  <a:schemeClr val="bg1"/>
                </a:solidFill>
              </a:rPr>
              <a:t>RECORDATÓRIO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5AFC42-BB88-1105-7ECD-5F8E44664031}"/>
              </a:ext>
            </a:extLst>
          </p:cNvPr>
          <p:cNvSpPr/>
          <p:nvPr/>
        </p:nvSpPr>
        <p:spPr>
          <a:xfrm>
            <a:off x="291267" y="1222155"/>
            <a:ext cx="2480107" cy="4813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39225" indent="-165775">
              <a:lnSpc>
                <a:spcPct val="125000"/>
              </a:lnSpc>
              <a:spcBef>
                <a:spcPts val="580"/>
              </a:spcBef>
              <a:buFont typeface="Wingdings" panose="05000000000000000000" pitchFamily="2" charset="2"/>
              <a:buChar char="§"/>
            </a:pPr>
            <a:r>
              <a:rPr lang="pt-PT" sz="1064" b="1" dirty="0">
                <a:solidFill>
                  <a:schemeClr val="tx1"/>
                </a:solidFill>
              </a:rPr>
              <a:t>Até 2024 - Cumprir com os objetivos do </a:t>
            </a:r>
            <a:r>
              <a:rPr lang="pt-PT" sz="1064" b="1" i="1" dirty="0" err="1">
                <a:solidFill>
                  <a:schemeClr val="tx1"/>
                </a:solidFill>
              </a:rPr>
              <a:t>scorecard</a:t>
            </a:r>
            <a:endParaRPr lang="pt-PT" sz="1064" b="1" i="1" dirty="0">
              <a:solidFill>
                <a:schemeClr val="tx1"/>
              </a:solidFill>
            </a:endParaRPr>
          </a:p>
          <a:p>
            <a:pPr marL="571003" lvl="1" indent="-221033">
              <a:lnSpc>
                <a:spcPct val="125000"/>
              </a:lnSpc>
              <a:spcBef>
                <a:spcPts val="580"/>
              </a:spcBef>
              <a:buFont typeface="+mj-lt"/>
              <a:buAutoNum type="alphaLcPeriod"/>
            </a:pPr>
            <a:r>
              <a:rPr lang="pt-PT" sz="1064" b="1" dirty="0">
                <a:solidFill>
                  <a:schemeClr val="tx1"/>
                </a:solidFill>
              </a:rPr>
              <a:t>Imóveis residenciais </a:t>
            </a:r>
            <a:r>
              <a:rPr lang="pt-PT" sz="1064" dirty="0">
                <a:solidFill>
                  <a:schemeClr val="tx1"/>
                </a:solidFill>
              </a:rPr>
              <a:t>– Iniciar o plano de descarbonização do portefólio</a:t>
            </a:r>
          </a:p>
          <a:p>
            <a:pPr marL="571003" lvl="1" indent="-221033">
              <a:lnSpc>
                <a:spcPct val="125000"/>
              </a:lnSpc>
              <a:spcBef>
                <a:spcPts val="580"/>
              </a:spcBef>
              <a:buFont typeface="+mj-lt"/>
              <a:buAutoNum type="alphaLcPeriod"/>
            </a:pPr>
            <a:r>
              <a:rPr lang="pt-PT" sz="1064" b="1" dirty="0">
                <a:solidFill>
                  <a:schemeClr val="tx1"/>
                </a:solidFill>
              </a:rPr>
              <a:t>Imóveis comerciais </a:t>
            </a:r>
            <a:r>
              <a:rPr lang="pt-PT" sz="1064" dirty="0">
                <a:solidFill>
                  <a:schemeClr val="tx1"/>
                </a:solidFill>
              </a:rPr>
              <a:t>- Obter uma visão inicial da pegada</a:t>
            </a:r>
          </a:p>
          <a:p>
            <a:pPr marL="571003" lvl="1" indent="-221033">
              <a:lnSpc>
                <a:spcPct val="125000"/>
              </a:lnSpc>
              <a:spcBef>
                <a:spcPts val="580"/>
              </a:spcBef>
              <a:buFont typeface="+mj-lt"/>
              <a:buAutoNum type="alphaLcPeriod"/>
            </a:pPr>
            <a:r>
              <a:rPr lang="pt-PT" sz="1064" b="1" i="1" dirty="0">
                <a:solidFill>
                  <a:schemeClr val="tx1"/>
                </a:solidFill>
                <a:highlight>
                  <a:srgbClr val="FFFF00"/>
                </a:highlight>
              </a:rPr>
              <a:t>Leasing</a:t>
            </a:r>
            <a:r>
              <a:rPr lang="pt-PT" sz="1064" b="1" dirty="0">
                <a:solidFill>
                  <a:schemeClr val="tx1"/>
                </a:solidFill>
                <a:highlight>
                  <a:srgbClr val="FFFF00"/>
                </a:highlight>
              </a:rPr>
              <a:t> auto e agricultura </a:t>
            </a:r>
            <a:r>
              <a:rPr lang="pt-PT" sz="1064" dirty="0">
                <a:solidFill>
                  <a:schemeClr val="tx1"/>
                </a:solidFill>
                <a:highlight>
                  <a:srgbClr val="FFFF00"/>
                </a:highlight>
              </a:rPr>
              <a:t>– Identificar a materialidade</a:t>
            </a:r>
          </a:p>
          <a:p>
            <a:pPr marL="339225" lvl="1" indent="-165775">
              <a:lnSpc>
                <a:spcPct val="125000"/>
              </a:lnSpc>
              <a:spcBef>
                <a:spcPts val="580"/>
              </a:spcBef>
              <a:buFont typeface="Wingdings" panose="05000000000000000000" pitchFamily="2" charset="2"/>
              <a:buChar char="§"/>
            </a:pPr>
            <a:r>
              <a:rPr lang="pt-PT" sz="1064" b="1" dirty="0">
                <a:solidFill>
                  <a:schemeClr val="tx1"/>
                </a:solidFill>
              </a:rPr>
              <a:t>Até 2025 - Preparar a divulgação dos planos de descarbonização do portefólio imobiliário </a:t>
            </a:r>
            <a:r>
              <a:rPr lang="pt-PT" sz="1064" dirty="0">
                <a:solidFill>
                  <a:schemeClr val="tx1"/>
                </a:solidFill>
              </a:rPr>
              <a:t>(comercial e residencial)</a:t>
            </a:r>
          </a:p>
        </p:txBody>
      </p:sp>
      <p:cxnSp>
        <p:nvCxnSpPr>
          <p:cNvPr id="40" name="shape5">
            <a:extLst>
              <a:ext uri="{FF2B5EF4-FFF2-40B4-BE49-F238E27FC236}">
                <a16:creationId xmlns:a16="http://schemas.microsoft.com/office/drawing/2014/main" id="{6A1D7B27-AC33-36C5-330D-8B7BC25A93AC}"/>
              </a:ext>
            </a:extLst>
          </p:cNvPr>
          <p:cNvCxnSpPr>
            <a:cxnSpLocks/>
          </p:cNvCxnSpPr>
          <p:nvPr/>
        </p:nvCxnSpPr>
        <p:spPr>
          <a:xfrm>
            <a:off x="2854259" y="787221"/>
            <a:ext cx="0" cy="6094797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97B6F51-FA33-146E-0FC8-43AF636793C7}"/>
              </a:ext>
            </a:extLst>
          </p:cNvPr>
          <p:cNvSpPr/>
          <p:nvPr/>
        </p:nvSpPr>
        <p:spPr>
          <a:xfrm>
            <a:off x="3212713" y="4378014"/>
            <a:ext cx="8465937" cy="10682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200" dirty="0">
                <a:solidFill>
                  <a:schemeClr val="bg1"/>
                </a:solidFill>
              </a:rPr>
              <a:t>Está previsto iniciar os trabalhos em Outubro, de modo a garantir que pelo menos a pegada de carbono esteja apurada até ao final do ano, para reporte ao Santander Corporativo</a:t>
            </a:r>
            <a:endParaRPr lang="pt-PT" sz="1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55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18" y="626373"/>
            <a:ext cx="6368237" cy="2852737"/>
          </a:xfrm>
        </p:spPr>
        <p:txBody>
          <a:bodyPr/>
          <a:lstStyle/>
          <a:p>
            <a:r>
              <a:rPr lang="pt-PT" altLang="pt-PT">
                <a:latin typeface="Calibri "/>
              </a:rPr>
              <a:t>Anexos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8931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hink-cell data - do not delete" hidden="1">
            <a:extLst>
              <a:ext uri="{FF2B5EF4-FFF2-40B4-BE49-F238E27FC236}">
                <a16:creationId xmlns:a16="http://schemas.microsoft.com/office/drawing/2014/main" id="{80008B5C-420D-1218-BB69-98086B8FF8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3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008B5C-420D-1218-BB69-98086B8FF8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1">
            <a:extLst>
              <a:ext uri="{FF2B5EF4-FFF2-40B4-BE49-F238E27FC236}">
                <a16:creationId xmlns:a16="http://schemas.microsoft.com/office/drawing/2014/main" id="{C34E28CE-D9DE-76ED-3FDB-DA0EAA1187B9}"/>
              </a:ext>
            </a:extLst>
          </p:cNvPr>
          <p:cNvSpPr txBox="1">
            <a:spLocks/>
          </p:cNvSpPr>
          <p:nvPr/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397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048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4699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635000" indent="-1397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Propostas de iniciativas – Contrapartes </a:t>
            </a:r>
            <a:r>
              <a:rPr kumimoji="0" lang="pt-PT" sz="1800" b="0" i="0" u="sng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que já estão alinhadas </a:t>
            </a:r>
          </a:p>
        </p:txBody>
      </p:sp>
      <p:sp>
        <p:nvSpPr>
          <p:cNvPr id="45" name="Title 2">
            <a:extLst>
              <a:ext uri="{FF2B5EF4-FFF2-40B4-BE49-F238E27FC236}">
                <a16:creationId xmlns:a16="http://schemas.microsoft.com/office/drawing/2014/main" id="{497303F2-CD39-9A26-18B9-9305F5C718BD}"/>
              </a:ext>
            </a:extLst>
          </p:cNvPr>
          <p:cNvSpPr txBox="1">
            <a:spLocks/>
          </p:cNvSpPr>
          <p:nvPr/>
        </p:nvSpPr>
        <p:spPr bwMode="gray">
          <a:xfrm>
            <a:off x="463295" y="355517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Calibri Light" panose="020F0302020204030204" pitchFamily="34" charset="0"/>
              </a:rPr>
              <a:t>Iniciativas para a descarbonização</a:t>
            </a:r>
          </a:p>
        </p:txBody>
      </p:sp>
      <p:pic>
        <p:nvPicPr>
          <p:cNvPr id="55" name="Picture 3">
            <a:extLst>
              <a:ext uri="{FF2B5EF4-FFF2-40B4-BE49-F238E27FC236}">
                <a16:creationId xmlns:a16="http://schemas.microsoft.com/office/drawing/2014/main" id="{69540999-1327-463B-DD04-86BCACF99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611" y="2952769"/>
            <a:ext cx="2433700" cy="221702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BC8395D-E06B-9C33-536F-89D50F35C1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691" y="3946772"/>
            <a:ext cx="3045955" cy="16388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0558C88-8416-5F03-8F0C-69F8B48B417C}"/>
              </a:ext>
            </a:extLst>
          </p:cNvPr>
          <p:cNvSpPr/>
          <p:nvPr/>
        </p:nvSpPr>
        <p:spPr bwMode="gray">
          <a:xfrm>
            <a:off x="459785" y="2306973"/>
            <a:ext cx="11012208" cy="368100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Criação de incentivos à atração de habitação “verde”, </a:t>
            </a:r>
            <a:r>
              <a:rPr kumimoji="0" lang="pt-PT" sz="105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i.e</a:t>
            </a: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 ao financiamento a edifícios com </a:t>
            </a:r>
            <a:r>
              <a:rPr kumimoji="0" lang="pt-PT" sz="1050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EPCs</a:t>
            </a: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 A+, A, B e B-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4FC9A1-1FD5-40BE-587C-9C9227BBF118}"/>
              </a:ext>
            </a:extLst>
          </p:cNvPr>
          <p:cNvSpPr/>
          <p:nvPr/>
        </p:nvSpPr>
        <p:spPr bwMode="gray">
          <a:xfrm>
            <a:off x="459784" y="2706523"/>
            <a:ext cx="11012207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2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Diminuição dos custos suportados pelos clientes, nomeadamente:</a:t>
            </a:r>
          </a:p>
          <a:p>
            <a:pPr marL="628650" lvl="1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A constituição de um 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produto com </a:t>
            </a:r>
            <a:r>
              <a:rPr lang="pt-PT" sz="1050" b="1" i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spread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 mais vantajoso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que atraia clientes com soluções mais eficientes ou dos requisitos associados à obtenção de 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spreads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 mais competitivos;</a:t>
            </a:r>
          </a:p>
          <a:p>
            <a:pPr marL="628650" lvl="1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Diminuição ou isenção de comissões (e.g. comissão de avaliação).</a:t>
            </a: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0" lvl="1">
              <a:lnSpc>
                <a:spcPct val="106000"/>
              </a:lnSpc>
              <a:spcBef>
                <a:spcPts val="600"/>
              </a:spcBef>
            </a:pPr>
            <a:endParaRPr lang="pt-PT" sz="1050" b="1" u="sng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357188" lvl="1">
              <a:lnSpc>
                <a:spcPct val="106000"/>
              </a:lnSpc>
              <a:spcBef>
                <a:spcPts val="600"/>
              </a:spcBef>
            </a:pPr>
            <a:r>
              <a:rPr lang="pt-PT" sz="1050" b="1" u="sng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Exemplos no mercado:</a:t>
            </a:r>
            <a:endParaRPr lang="pt-PT" sz="1050" b="1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lvl="1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6E21A4-70C3-1039-BA11-57AA36B32CC8}"/>
              </a:ext>
            </a:extLst>
          </p:cNvPr>
          <p:cNvSpPr txBox="1"/>
          <p:nvPr/>
        </p:nvSpPr>
        <p:spPr>
          <a:xfrm>
            <a:off x="459785" y="1939533"/>
            <a:ext cx="485566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defRPr/>
            </a:pPr>
            <a:r>
              <a:rPr lang="pt-PT" sz="1200" b="1" cap="all">
                <a:solidFill>
                  <a:srgbClr val="43B02A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Atração de </a:t>
            </a:r>
            <a:r>
              <a:rPr lang="pt-PT" sz="1200" b="1" u="sng" cap="all">
                <a:solidFill>
                  <a:srgbClr val="43B02A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novo negócio focado em edificios eficientes  </a:t>
            </a:r>
          </a:p>
        </p:txBody>
      </p:sp>
      <p:sp>
        <p:nvSpPr>
          <p:cNvPr id="60" name="Freeform 984">
            <a:hlinkClick r:id="" action="ppaction://noaction"/>
            <a:extLst>
              <a:ext uri="{FF2B5EF4-FFF2-40B4-BE49-F238E27FC236}">
                <a16:creationId xmlns:a16="http://schemas.microsoft.com/office/drawing/2014/main" id="{61F6FDE6-14C2-0978-DA44-529493E9D27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04642" y="5731100"/>
            <a:ext cx="180529" cy="18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93 w 512"/>
              <a:gd name="T11" fmla="*/ 132 h 512"/>
              <a:gd name="T12" fmla="*/ 255 w 512"/>
              <a:gd name="T13" fmla="*/ 410 h 512"/>
              <a:gd name="T14" fmla="*/ 245 w 512"/>
              <a:gd name="T15" fmla="*/ 416 h 512"/>
              <a:gd name="T16" fmla="*/ 244 w 512"/>
              <a:gd name="T17" fmla="*/ 416 h 512"/>
              <a:gd name="T18" fmla="*/ 235 w 512"/>
              <a:gd name="T19" fmla="*/ 409 h 512"/>
              <a:gd name="T20" fmla="*/ 200 w 512"/>
              <a:gd name="T21" fmla="*/ 312 h 512"/>
              <a:gd name="T22" fmla="*/ 103 w 512"/>
              <a:gd name="T23" fmla="*/ 276 h 512"/>
              <a:gd name="T24" fmla="*/ 96 w 512"/>
              <a:gd name="T25" fmla="*/ 267 h 512"/>
              <a:gd name="T26" fmla="*/ 102 w 512"/>
              <a:gd name="T27" fmla="*/ 257 h 512"/>
              <a:gd name="T28" fmla="*/ 379 w 512"/>
              <a:gd name="T29" fmla="*/ 118 h 512"/>
              <a:gd name="T30" fmla="*/ 391 w 512"/>
              <a:gd name="T31" fmla="*/ 120 h 512"/>
              <a:gd name="T32" fmla="*/ 393 w 512"/>
              <a:gd name="T33" fmla="*/ 132 h 512"/>
              <a:gd name="T34" fmla="*/ 133 w 512"/>
              <a:gd name="T35" fmla="*/ 265 h 512"/>
              <a:gd name="T36" fmla="*/ 360 w 512"/>
              <a:gd name="T37" fmla="*/ 152 h 512"/>
              <a:gd name="T38" fmla="*/ 247 w 512"/>
              <a:gd name="T39" fmla="*/ 378 h 512"/>
              <a:gd name="T40" fmla="*/ 218 w 512"/>
              <a:gd name="T41" fmla="*/ 300 h 512"/>
              <a:gd name="T42" fmla="*/ 212 w 512"/>
              <a:gd name="T43" fmla="*/ 294 h 512"/>
              <a:gd name="T44" fmla="*/ 133 w 512"/>
              <a:gd name="T45" fmla="*/ 26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93" y="132"/>
                </a:moveTo>
                <a:cubicBezTo>
                  <a:pt x="255" y="410"/>
                  <a:pt x="255" y="410"/>
                  <a:pt x="255" y="410"/>
                </a:cubicBezTo>
                <a:cubicBezTo>
                  <a:pt x="253" y="413"/>
                  <a:pt x="249" y="416"/>
                  <a:pt x="245" y="416"/>
                </a:cubicBezTo>
                <a:cubicBezTo>
                  <a:pt x="245" y="416"/>
                  <a:pt x="245" y="416"/>
                  <a:pt x="244" y="416"/>
                </a:cubicBezTo>
                <a:cubicBezTo>
                  <a:pt x="240" y="415"/>
                  <a:pt x="236" y="413"/>
                  <a:pt x="235" y="409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103" y="276"/>
                  <a:pt x="103" y="276"/>
                  <a:pt x="103" y="276"/>
                </a:cubicBezTo>
                <a:cubicBezTo>
                  <a:pt x="99" y="275"/>
                  <a:pt x="96" y="271"/>
                  <a:pt x="96" y="267"/>
                </a:cubicBezTo>
                <a:cubicBezTo>
                  <a:pt x="95" y="263"/>
                  <a:pt x="98" y="259"/>
                  <a:pt x="102" y="257"/>
                </a:cubicBezTo>
                <a:cubicBezTo>
                  <a:pt x="379" y="118"/>
                  <a:pt x="379" y="118"/>
                  <a:pt x="379" y="118"/>
                </a:cubicBezTo>
                <a:cubicBezTo>
                  <a:pt x="383" y="116"/>
                  <a:pt x="388" y="117"/>
                  <a:pt x="391" y="120"/>
                </a:cubicBezTo>
                <a:cubicBezTo>
                  <a:pt x="394" y="123"/>
                  <a:pt x="395" y="128"/>
                  <a:pt x="393" y="132"/>
                </a:cubicBezTo>
                <a:close/>
                <a:moveTo>
                  <a:pt x="133" y="265"/>
                </a:moveTo>
                <a:cubicBezTo>
                  <a:pt x="360" y="152"/>
                  <a:pt x="360" y="152"/>
                  <a:pt x="360" y="152"/>
                </a:cubicBezTo>
                <a:cubicBezTo>
                  <a:pt x="247" y="378"/>
                  <a:pt x="247" y="378"/>
                  <a:pt x="247" y="378"/>
                </a:cubicBezTo>
                <a:cubicBezTo>
                  <a:pt x="218" y="300"/>
                  <a:pt x="218" y="300"/>
                  <a:pt x="218" y="300"/>
                </a:cubicBezTo>
                <a:cubicBezTo>
                  <a:pt x="217" y="297"/>
                  <a:pt x="215" y="295"/>
                  <a:pt x="212" y="294"/>
                </a:cubicBezTo>
                <a:lnTo>
                  <a:pt x="133" y="265"/>
                </a:ln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F38447-66C2-56AD-0DCB-7D0ED546C089}"/>
              </a:ext>
            </a:extLst>
          </p:cNvPr>
          <p:cNvSpPr txBox="1"/>
          <p:nvPr/>
        </p:nvSpPr>
        <p:spPr>
          <a:xfrm>
            <a:off x="6673671" y="5751850"/>
            <a:ext cx="270662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pt-PT" sz="900">
                <a:solidFill>
                  <a:srgbClr val="313131"/>
                </a:solidFill>
                <a:latin typeface="Calibri"/>
              </a:rPr>
              <a:t>Para mais detalhe sobre o </a:t>
            </a:r>
            <a:r>
              <a:rPr lang="pt-PT" sz="900" i="1" err="1">
                <a:solidFill>
                  <a:srgbClr val="313131"/>
                </a:solidFill>
                <a:latin typeface="Calibri"/>
              </a:rPr>
              <a:t>benchmark</a:t>
            </a:r>
            <a:r>
              <a:rPr lang="pt-PT" sz="900" i="1">
                <a:solidFill>
                  <a:srgbClr val="313131"/>
                </a:solidFill>
                <a:latin typeface="Calibri"/>
              </a:rPr>
              <a:t>, </a:t>
            </a:r>
            <a:r>
              <a:rPr lang="pt-PT" sz="900">
                <a:solidFill>
                  <a:srgbClr val="313131"/>
                </a:solidFill>
                <a:latin typeface="Calibri"/>
              </a:rPr>
              <a:t>ver anexo 3</a:t>
            </a:r>
          </a:p>
        </p:txBody>
      </p:sp>
      <p:sp>
        <p:nvSpPr>
          <p:cNvPr id="62" name="Content Placeholder 4">
            <a:extLst>
              <a:ext uri="{FF2B5EF4-FFF2-40B4-BE49-F238E27FC236}">
                <a16:creationId xmlns:a16="http://schemas.microsoft.com/office/drawing/2014/main" id="{B241DEDC-3D34-B2E4-D06A-447A12A9EAEF}"/>
              </a:ext>
            </a:extLst>
          </p:cNvPr>
          <p:cNvSpPr txBox="1">
            <a:spLocks/>
          </p:cNvSpPr>
          <p:nvPr/>
        </p:nvSpPr>
        <p:spPr>
          <a:xfrm>
            <a:off x="461823" y="1328286"/>
            <a:ext cx="11232872" cy="5277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100" b="0">
                <a:cs typeface="Calibri Light" panose="020F0302020204030204" pitchFamily="34" charset="0"/>
              </a:defRPr>
            </a:lvl1pPr>
            <a:lvl2pPr marL="1397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="1">
                <a:latin typeface="+mj-lt"/>
                <a:cs typeface="Calibri Light" panose="020F0302020204030204" pitchFamily="34" charset="0"/>
              </a:defRPr>
            </a:lvl2pPr>
            <a:lvl3pPr marL="3048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sz="1300">
                <a:cs typeface="Calibri Light" panose="020F0302020204030204" pitchFamily="34" charset="0"/>
              </a:defRPr>
            </a:lvl3pPr>
            <a:lvl4pPr marL="4699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sz="1300" baseline="0">
                <a:cs typeface="Calibri Light" panose="020F0302020204030204" pitchFamily="34" charset="0"/>
              </a:defRPr>
            </a:lvl4pPr>
            <a:lvl5pPr marL="635000" indent="-1397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sz="1300" baseline="0">
                <a:cs typeface="Calibri Light" panose="020F030202020403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lang="pt-PT">
                <a:solidFill>
                  <a:prstClr val="black"/>
                </a:solidFill>
                <a:latin typeface="Calibri"/>
              </a:rPr>
              <a:t>Deverá ser realizado um esforço na atração de clientes alinhados com o avanço climático – a criação de medidas de atração destes clientes cria um efeito de sinalização por parte do Banco, afirmando que está comprometido com a valorização energética.</a:t>
            </a:r>
          </a:p>
        </p:txBody>
      </p:sp>
      <p:pic>
        <p:nvPicPr>
          <p:cNvPr id="63" name="Picture 62" descr="A logo on a black background&#10;&#10;Description automatically generated">
            <a:extLst>
              <a:ext uri="{FF2B5EF4-FFF2-40B4-BE49-F238E27FC236}">
                <a16:creationId xmlns:a16="http://schemas.microsoft.com/office/drawing/2014/main" id="{00A5F48E-897C-17EC-20F4-070F0C1DF82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611" y="5002002"/>
            <a:ext cx="1423101" cy="747128"/>
          </a:xfrm>
          <a:prstGeom prst="rect">
            <a:avLst/>
          </a:prstGeom>
        </p:spPr>
      </p:pic>
      <p:pic>
        <p:nvPicPr>
          <p:cNvPr id="64" name="Picture 63" descr="A blue and black text&#10;&#10;Description automatically generated">
            <a:extLst>
              <a:ext uri="{FF2B5EF4-FFF2-40B4-BE49-F238E27FC236}">
                <a16:creationId xmlns:a16="http://schemas.microsoft.com/office/drawing/2014/main" id="{7D8E6D09-C33C-21FA-6AC5-0A35A60F673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6" t="29007" r="8728" b="43208"/>
          <a:stretch/>
        </p:blipFill>
        <p:spPr>
          <a:xfrm>
            <a:off x="10043054" y="3703348"/>
            <a:ext cx="1011177" cy="187968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CF708F88-E37B-2C57-210E-7AC1555F7C46}"/>
              </a:ext>
            </a:extLst>
          </p:cNvPr>
          <p:cNvSpPr/>
          <p:nvPr/>
        </p:nvSpPr>
        <p:spPr bwMode="gray">
          <a:xfrm>
            <a:off x="459784" y="6302922"/>
            <a:ext cx="11012206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Alto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0DB0752-B892-46E6-7BB8-765F28DFE282}"/>
              </a:ext>
            </a:extLst>
          </p:cNvPr>
          <p:cNvSpPr/>
          <p:nvPr/>
        </p:nvSpPr>
        <p:spPr bwMode="gray">
          <a:xfrm>
            <a:off x="459784" y="6107433"/>
            <a:ext cx="11012206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Baixa</a:t>
            </a:r>
          </a:p>
        </p:txBody>
      </p:sp>
    </p:spTree>
    <p:extLst>
      <p:ext uri="{BB962C8B-B14F-4D97-AF65-F5344CB8AC3E}">
        <p14:creationId xmlns:p14="http://schemas.microsoft.com/office/powerpoint/2010/main" val="316287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8693EDE-1B35-474E-0D70-C79FC8E3837F}"/>
              </a:ext>
            </a:extLst>
          </p:cNvPr>
          <p:cNvSpPr/>
          <p:nvPr/>
        </p:nvSpPr>
        <p:spPr bwMode="gray">
          <a:xfrm>
            <a:off x="459785" y="2306973"/>
            <a:ext cx="11012208" cy="368100"/>
          </a:xfrm>
          <a:prstGeom prst="rect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Criação de incentivos à renovação através de benefícios personalizados (i.e., aumento do leque de descontos dentro da rede Santander, taxas de juro vantajosas, </a:t>
            </a:r>
            <a:r>
              <a:rPr lang="pt-PT" sz="1050" b="1" err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etc</a:t>
            </a: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), com foco em edifícios com </a:t>
            </a:r>
            <a:r>
              <a:rPr lang="pt-PT" sz="1050" b="1" err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EPCs</a:t>
            </a: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 C, D, E, F e sem EPC</a:t>
            </a: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4D6869B4-BF05-F0AA-4B19-9A86A4E3ED2F}"/>
              </a:ext>
            </a:extLst>
          </p:cNvPr>
          <p:cNvSpPr txBox="1">
            <a:spLocks/>
          </p:cNvSpPr>
          <p:nvPr/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397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048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4699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635000" indent="-1397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Propostas de iniciativas – Contrapartes </a:t>
            </a:r>
            <a:r>
              <a:rPr kumimoji="0" lang="pt-PT" sz="1800" b="0" i="0" u="sng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que se encontram a desenvolver e escalar soluções climáticas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(1/3)</a:t>
            </a:r>
          </a:p>
        </p:txBody>
      </p:sp>
      <p:sp>
        <p:nvSpPr>
          <p:cNvPr id="41" name="Title 2">
            <a:extLst>
              <a:ext uri="{FF2B5EF4-FFF2-40B4-BE49-F238E27FC236}">
                <a16:creationId xmlns:a16="http://schemas.microsoft.com/office/drawing/2014/main" id="{8E81D8A4-AB43-1A9D-5939-A7FB21DCA4FA}"/>
              </a:ext>
            </a:extLst>
          </p:cNvPr>
          <p:cNvSpPr txBox="1">
            <a:spLocks/>
          </p:cNvSpPr>
          <p:nvPr/>
        </p:nvSpPr>
        <p:spPr bwMode="gray">
          <a:xfrm>
            <a:off x="463295" y="355517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Calibri Light" panose="020F0302020204030204" pitchFamily="34" charset="0"/>
              </a:rPr>
              <a:t>Iniciativas para a descarbonização</a:t>
            </a:r>
          </a:p>
        </p:txBody>
      </p:sp>
      <p:sp>
        <p:nvSpPr>
          <p:cNvPr id="42" name="Content Placeholder 4">
            <a:extLst>
              <a:ext uri="{FF2B5EF4-FFF2-40B4-BE49-F238E27FC236}">
                <a16:creationId xmlns:a16="http://schemas.microsoft.com/office/drawing/2014/main" id="{510D1926-012D-58E6-6352-FD1EB497F233}"/>
              </a:ext>
            </a:extLst>
          </p:cNvPr>
          <p:cNvSpPr txBox="1">
            <a:spLocks/>
          </p:cNvSpPr>
          <p:nvPr/>
        </p:nvSpPr>
        <p:spPr>
          <a:xfrm>
            <a:off x="461823" y="1328286"/>
            <a:ext cx="11232872" cy="5277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100" b="0">
                <a:cs typeface="Calibri Light" panose="020F0302020204030204" pitchFamily="34" charset="0"/>
              </a:defRPr>
            </a:lvl1pPr>
            <a:lvl2pPr marL="1397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="1">
                <a:latin typeface="+mj-lt"/>
                <a:cs typeface="Calibri Light" panose="020F0302020204030204" pitchFamily="34" charset="0"/>
              </a:defRPr>
            </a:lvl2pPr>
            <a:lvl3pPr marL="3048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sz="1300">
                <a:cs typeface="Calibri Light" panose="020F0302020204030204" pitchFamily="34" charset="0"/>
              </a:defRPr>
            </a:lvl3pPr>
            <a:lvl4pPr marL="4699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sz="1300" baseline="0">
                <a:cs typeface="Calibri Light" panose="020F0302020204030204" pitchFamily="34" charset="0"/>
              </a:defRPr>
            </a:lvl4pPr>
            <a:lvl5pPr marL="635000" indent="-1397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sz="1300" baseline="0">
                <a:cs typeface="Calibri Light" panose="020F030202020403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lang="pt-PT">
                <a:solidFill>
                  <a:prstClr val="black"/>
                </a:solidFill>
                <a:latin typeface="Calibri"/>
              </a:rPr>
              <a:t>É sugerido que as habitações em carteira progridam de forma gradual para uma emissão de carbono mais eficiente. Nesse sentido, são propostas medidas que permitem a progressão gradual da carteira para um patamar mais eficiente, independentemente de ser carteira atual ou novo negócio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CD9931-BBFF-F876-6714-7D8431450B9B}"/>
              </a:ext>
            </a:extLst>
          </p:cNvPr>
          <p:cNvSpPr/>
          <p:nvPr/>
        </p:nvSpPr>
        <p:spPr bwMode="gray">
          <a:xfrm>
            <a:off x="459784" y="2707342"/>
            <a:ext cx="3646800" cy="3362598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Criação de produtos de 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crédito à remodelação “verde” 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com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condições mais vantajosas quando comparado com a restante oferta de remodelação de modo a incentivar os clientes a remodelar a sua habitação.</a:t>
            </a:r>
          </a:p>
          <a:p>
            <a:pPr marL="182563">
              <a:lnSpc>
                <a:spcPct val="106000"/>
              </a:lnSpc>
              <a:spcBef>
                <a:spcPts val="600"/>
              </a:spcBef>
            </a:pPr>
            <a:r>
              <a:rPr lang="pt-PT" sz="1050" b="1" u="sng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Exemplos no mercado:</a:t>
            </a: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F1D2A8-7F33-AF24-75CD-BCD50506C7B5}"/>
              </a:ext>
            </a:extLst>
          </p:cNvPr>
          <p:cNvSpPr txBox="1"/>
          <p:nvPr/>
        </p:nvSpPr>
        <p:spPr>
          <a:xfrm>
            <a:off x="459785" y="1939533"/>
            <a:ext cx="485566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defRPr/>
            </a:pPr>
            <a:r>
              <a:rPr lang="pt-PT" sz="1200" b="1" cap="all">
                <a:solidFill>
                  <a:srgbClr val="C4D600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INCENTIVO À </a:t>
            </a:r>
            <a:r>
              <a:rPr lang="pt-PT" sz="1200" b="1" u="sng" cap="all">
                <a:solidFill>
                  <a:srgbClr val="C4D600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MELHORIA DA CAPACIDADE ENERGÉTICA (1/2) </a:t>
            </a:r>
            <a:endParaRPr lang="pt-PT" sz="1200" b="1" cap="all">
              <a:solidFill>
                <a:srgbClr val="C4D600"/>
              </a:solidFill>
              <a:latin typeface="Calibr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Freeform 984">
            <a:hlinkClick r:id="" action="ppaction://noaction"/>
            <a:extLst>
              <a:ext uri="{FF2B5EF4-FFF2-40B4-BE49-F238E27FC236}">
                <a16:creationId xmlns:a16="http://schemas.microsoft.com/office/drawing/2014/main" id="{6C9C3E6D-D4A5-D724-6303-C18E551097A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00235" y="5772266"/>
            <a:ext cx="180529" cy="18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93 w 512"/>
              <a:gd name="T11" fmla="*/ 132 h 512"/>
              <a:gd name="T12" fmla="*/ 255 w 512"/>
              <a:gd name="T13" fmla="*/ 410 h 512"/>
              <a:gd name="T14" fmla="*/ 245 w 512"/>
              <a:gd name="T15" fmla="*/ 416 h 512"/>
              <a:gd name="T16" fmla="*/ 244 w 512"/>
              <a:gd name="T17" fmla="*/ 416 h 512"/>
              <a:gd name="T18" fmla="*/ 235 w 512"/>
              <a:gd name="T19" fmla="*/ 409 h 512"/>
              <a:gd name="T20" fmla="*/ 200 w 512"/>
              <a:gd name="T21" fmla="*/ 312 h 512"/>
              <a:gd name="T22" fmla="*/ 103 w 512"/>
              <a:gd name="T23" fmla="*/ 276 h 512"/>
              <a:gd name="T24" fmla="*/ 96 w 512"/>
              <a:gd name="T25" fmla="*/ 267 h 512"/>
              <a:gd name="T26" fmla="*/ 102 w 512"/>
              <a:gd name="T27" fmla="*/ 257 h 512"/>
              <a:gd name="T28" fmla="*/ 379 w 512"/>
              <a:gd name="T29" fmla="*/ 118 h 512"/>
              <a:gd name="T30" fmla="*/ 391 w 512"/>
              <a:gd name="T31" fmla="*/ 120 h 512"/>
              <a:gd name="T32" fmla="*/ 393 w 512"/>
              <a:gd name="T33" fmla="*/ 132 h 512"/>
              <a:gd name="T34" fmla="*/ 133 w 512"/>
              <a:gd name="T35" fmla="*/ 265 h 512"/>
              <a:gd name="T36" fmla="*/ 360 w 512"/>
              <a:gd name="T37" fmla="*/ 152 h 512"/>
              <a:gd name="T38" fmla="*/ 247 w 512"/>
              <a:gd name="T39" fmla="*/ 378 h 512"/>
              <a:gd name="T40" fmla="*/ 218 w 512"/>
              <a:gd name="T41" fmla="*/ 300 h 512"/>
              <a:gd name="T42" fmla="*/ 212 w 512"/>
              <a:gd name="T43" fmla="*/ 294 h 512"/>
              <a:gd name="T44" fmla="*/ 133 w 512"/>
              <a:gd name="T45" fmla="*/ 26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93" y="132"/>
                </a:moveTo>
                <a:cubicBezTo>
                  <a:pt x="255" y="410"/>
                  <a:pt x="255" y="410"/>
                  <a:pt x="255" y="410"/>
                </a:cubicBezTo>
                <a:cubicBezTo>
                  <a:pt x="253" y="413"/>
                  <a:pt x="249" y="416"/>
                  <a:pt x="245" y="416"/>
                </a:cubicBezTo>
                <a:cubicBezTo>
                  <a:pt x="245" y="416"/>
                  <a:pt x="245" y="416"/>
                  <a:pt x="244" y="416"/>
                </a:cubicBezTo>
                <a:cubicBezTo>
                  <a:pt x="240" y="415"/>
                  <a:pt x="236" y="413"/>
                  <a:pt x="235" y="409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103" y="276"/>
                  <a:pt x="103" y="276"/>
                  <a:pt x="103" y="276"/>
                </a:cubicBezTo>
                <a:cubicBezTo>
                  <a:pt x="99" y="275"/>
                  <a:pt x="96" y="271"/>
                  <a:pt x="96" y="267"/>
                </a:cubicBezTo>
                <a:cubicBezTo>
                  <a:pt x="95" y="263"/>
                  <a:pt x="98" y="259"/>
                  <a:pt x="102" y="257"/>
                </a:cubicBezTo>
                <a:cubicBezTo>
                  <a:pt x="379" y="118"/>
                  <a:pt x="379" y="118"/>
                  <a:pt x="379" y="118"/>
                </a:cubicBezTo>
                <a:cubicBezTo>
                  <a:pt x="383" y="116"/>
                  <a:pt x="388" y="117"/>
                  <a:pt x="391" y="120"/>
                </a:cubicBezTo>
                <a:cubicBezTo>
                  <a:pt x="394" y="123"/>
                  <a:pt x="395" y="128"/>
                  <a:pt x="393" y="132"/>
                </a:cubicBezTo>
                <a:close/>
                <a:moveTo>
                  <a:pt x="133" y="265"/>
                </a:moveTo>
                <a:cubicBezTo>
                  <a:pt x="360" y="152"/>
                  <a:pt x="360" y="152"/>
                  <a:pt x="360" y="152"/>
                </a:cubicBezTo>
                <a:cubicBezTo>
                  <a:pt x="247" y="378"/>
                  <a:pt x="247" y="378"/>
                  <a:pt x="247" y="378"/>
                </a:cubicBezTo>
                <a:cubicBezTo>
                  <a:pt x="218" y="300"/>
                  <a:pt x="218" y="300"/>
                  <a:pt x="218" y="300"/>
                </a:cubicBezTo>
                <a:cubicBezTo>
                  <a:pt x="217" y="297"/>
                  <a:pt x="215" y="295"/>
                  <a:pt x="212" y="294"/>
                </a:cubicBezTo>
                <a:lnTo>
                  <a:pt x="133" y="265"/>
                </a:ln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4C862A-F7F7-CC77-8F07-D6970FA5312C}"/>
              </a:ext>
            </a:extLst>
          </p:cNvPr>
          <p:cNvSpPr txBox="1"/>
          <p:nvPr/>
        </p:nvSpPr>
        <p:spPr>
          <a:xfrm>
            <a:off x="969264" y="5793016"/>
            <a:ext cx="270662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pt-PT" sz="900">
                <a:solidFill>
                  <a:srgbClr val="313131"/>
                </a:solidFill>
                <a:latin typeface="Calibri"/>
              </a:rPr>
              <a:t>Para mais detalhe sobre o </a:t>
            </a:r>
            <a:r>
              <a:rPr lang="pt-PT" sz="900" i="1" err="1">
                <a:solidFill>
                  <a:srgbClr val="313131"/>
                </a:solidFill>
                <a:latin typeface="Calibri"/>
              </a:rPr>
              <a:t>benchmark</a:t>
            </a:r>
            <a:r>
              <a:rPr lang="pt-PT" sz="900" i="1">
                <a:solidFill>
                  <a:srgbClr val="313131"/>
                </a:solidFill>
                <a:latin typeface="Calibri"/>
              </a:rPr>
              <a:t>, </a:t>
            </a:r>
            <a:r>
              <a:rPr lang="pt-PT" sz="900">
                <a:solidFill>
                  <a:srgbClr val="313131"/>
                </a:solidFill>
                <a:latin typeface="Calibri"/>
              </a:rPr>
              <a:t>ver anexo 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F43C5B-3F18-CA2D-455D-72D28D9E7846}"/>
              </a:ext>
            </a:extLst>
          </p:cNvPr>
          <p:cNvSpPr/>
          <p:nvPr/>
        </p:nvSpPr>
        <p:spPr bwMode="gray">
          <a:xfrm>
            <a:off x="4142489" y="2707342"/>
            <a:ext cx="3646800" cy="3362598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Disponibilização</a:t>
            </a:r>
            <a:r>
              <a:rPr lang="pt-PT" sz="1050" b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ao cliente da 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pegada carbónica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associada ao empréstimo em curso </a:t>
            </a:r>
            <a:r>
              <a:rPr lang="pt-PT" sz="1050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e/ou 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impacto nas condições de crédito.</a:t>
            </a:r>
            <a:endParaRPr lang="pt-PT" sz="1050" b="1">
              <a:solidFill>
                <a:srgbClr val="86BC25"/>
              </a:solidFill>
              <a:highlight>
                <a:srgbClr val="FFFF00"/>
              </a:highlight>
              <a:latin typeface="Calibri (Body)"/>
              <a:cs typeface="Calibri Light" panose="020F030202020403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F272E5-E8F5-1568-CB39-30CBF49619B6}"/>
              </a:ext>
            </a:extLst>
          </p:cNvPr>
          <p:cNvSpPr/>
          <p:nvPr/>
        </p:nvSpPr>
        <p:spPr bwMode="gray">
          <a:xfrm>
            <a:off x="7825193" y="2707342"/>
            <a:ext cx="3646800" cy="3362598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Realização de 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formações especificas à rede comercial 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com o objetivo de sensibilizar sobre as melhores soluções no âmbito da eficiência energética das casas;</a:t>
            </a:r>
          </a:p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Esta formação deverá incluir informação sobre os incentivos do estado à renovação de habitações e soluções de eficiência energética para os edifícios.</a:t>
            </a:r>
          </a:p>
        </p:txBody>
      </p:sp>
      <p:pic>
        <p:nvPicPr>
          <p:cNvPr id="56" name="Picture 55" descr="A person standing in front of a group of people&#10;&#10;Description automatically generated">
            <a:extLst>
              <a:ext uri="{FF2B5EF4-FFF2-40B4-BE49-F238E27FC236}">
                <a16:creationId xmlns:a16="http://schemas.microsoft.com/office/drawing/2014/main" id="{6149077F-2AF5-0392-AC13-B44F52BF3E1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90" y="4217369"/>
            <a:ext cx="2716856" cy="1526528"/>
          </a:xfrm>
          <a:prstGeom prst="rect">
            <a:avLst/>
          </a:prstGeom>
        </p:spPr>
      </p:pic>
      <p:pic>
        <p:nvPicPr>
          <p:cNvPr id="57" name="Picture 56" descr="A hand holding a green house shaped object in grass&#10;&#10;Description automatically generated">
            <a:extLst>
              <a:ext uri="{FF2B5EF4-FFF2-40B4-BE49-F238E27FC236}">
                <a16:creationId xmlns:a16="http://schemas.microsoft.com/office/drawing/2014/main" id="{74048CCC-DF16-E504-C061-22CFDB345E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457" y="4217369"/>
            <a:ext cx="3160654" cy="1553379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5C3844F7-6216-981D-1193-09A3B0D43258}"/>
              </a:ext>
            </a:extLst>
          </p:cNvPr>
          <p:cNvGrpSpPr/>
          <p:nvPr/>
        </p:nvGrpSpPr>
        <p:grpSpPr>
          <a:xfrm>
            <a:off x="706523" y="3619402"/>
            <a:ext cx="3191428" cy="2124495"/>
            <a:chOff x="459784" y="3626776"/>
            <a:chExt cx="3696696" cy="2460846"/>
          </a:xfrm>
        </p:grpSpPr>
        <p:pic>
          <p:nvPicPr>
            <p:cNvPr id="59" name="Picture 58" descr="A blue and green text on a black background&#10;&#10;Description automatically generated">
              <a:extLst>
                <a:ext uri="{FF2B5EF4-FFF2-40B4-BE49-F238E27FC236}">
                  <a16:creationId xmlns:a16="http://schemas.microsoft.com/office/drawing/2014/main" id="{C7387E98-DB00-49D7-8F36-608D6F499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045115" y="4976257"/>
              <a:ext cx="1457528" cy="765202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91E9E42-3F14-2916-8836-5331D64BBA75}"/>
                </a:ext>
              </a:extLst>
            </p:cNvPr>
            <p:cNvGrpSpPr/>
            <p:nvPr/>
          </p:nvGrpSpPr>
          <p:grpSpPr>
            <a:xfrm>
              <a:off x="459784" y="3626776"/>
              <a:ext cx="3415365" cy="2404163"/>
              <a:chOff x="459784" y="3626776"/>
              <a:chExt cx="3415365" cy="2404163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50C27DB6-9745-9FC6-495F-5B78F2740C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0248" y="3807958"/>
                <a:ext cx="2237215" cy="163111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A2182D8-BA8B-1EF7-DA5A-CB57AAA79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0279" y="4622691"/>
                <a:ext cx="1813436" cy="134825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D441ED21-B3EC-2B1C-8911-E98FA4D01C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r="51491"/>
              <a:stretch/>
            </p:blipFill>
            <p:spPr>
              <a:xfrm>
                <a:off x="2476448" y="3760686"/>
                <a:ext cx="1398701" cy="92811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4" name="Picture 63" descr="A logo on a black background&#10;&#10;Description automatically generated">
                <a:extLst>
                  <a:ext uri="{FF2B5EF4-FFF2-40B4-BE49-F238E27FC236}">
                    <a16:creationId xmlns:a16="http://schemas.microsoft.com/office/drawing/2014/main" id="{87ECB5B6-A3DB-97A4-C256-892CB28DA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9784" y="5283811"/>
                <a:ext cx="1423101" cy="747128"/>
              </a:xfrm>
              <a:prstGeom prst="rect">
                <a:avLst/>
              </a:prstGeom>
            </p:spPr>
          </p:pic>
          <p:pic>
            <p:nvPicPr>
              <p:cNvPr id="65" name="Picture 64" descr="A black and orange logo&#10;&#10;Description automatically generated">
                <a:extLst>
                  <a:ext uri="{FF2B5EF4-FFF2-40B4-BE49-F238E27FC236}">
                    <a16:creationId xmlns:a16="http://schemas.microsoft.com/office/drawing/2014/main" id="{66F73028-4A77-62BB-FD09-E85170AF5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09947" y="3626776"/>
                <a:ext cx="765202" cy="133910"/>
              </a:xfrm>
              <a:prstGeom prst="rect">
                <a:avLst/>
              </a:prstGeom>
            </p:spPr>
          </p:pic>
        </p:grp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60304027-D9D7-D533-842A-463293484D2A}"/>
              </a:ext>
            </a:extLst>
          </p:cNvPr>
          <p:cNvSpPr/>
          <p:nvPr/>
        </p:nvSpPr>
        <p:spPr bwMode="gray">
          <a:xfrm>
            <a:off x="459784" y="6302922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Alto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D144325-BD36-569C-6797-E21A5860A509}"/>
              </a:ext>
            </a:extLst>
          </p:cNvPr>
          <p:cNvSpPr/>
          <p:nvPr/>
        </p:nvSpPr>
        <p:spPr bwMode="gray">
          <a:xfrm>
            <a:off x="459784" y="6107433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Baixa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C90514C-CC7A-41B7-E949-F1EF932A0549}"/>
              </a:ext>
            </a:extLst>
          </p:cNvPr>
          <p:cNvSpPr/>
          <p:nvPr/>
        </p:nvSpPr>
        <p:spPr bwMode="gray">
          <a:xfrm>
            <a:off x="4142489" y="6302922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Baixo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2BD213-D2EE-6C52-62CE-205AD74A3174}"/>
              </a:ext>
            </a:extLst>
          </p:cNvPr>
          <p:cNvSpPr/>
          <p:nvPr/>
        </p:nvSpPr>
        <p:spPr bwMode="gray">
          <a:xfrm>
            <a:off x="4142489" y="6107433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Alta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D35D11E-8422-2C3C-AC0F-4877011A8105}"/>
              </a:ext>
            </a:extLst>
          </p:cNvPr>
          <p:cNvSpPr/>
          <p:nvPr/>
        </p:nvSpPr>
        <p:spPr bwMode="gray">
          <a:xfrm>
            <a:off x="7825193" y="6302922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Médio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3510CE4-84E7-5E47-9741-5C38A1C2501C}"/>
              </a:ext>
            </a:extLst>
          </p:cNvPr>
          <p:cNvSpPr/>
          <p:nvPr/>
        </p:nvSpPr>
        <p:spPr bwMode="gray">
          <a:xfrm>
            <a:off x="7825193" y="6107433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Média</a:t>
            </a:r>
          </a:p>
        </p:txBody>
      </p:sp>
    </p:spTree>
    <p:extLst>
      <p:ext uri="{BB962C8B-B14F-4D97-AF65-F5344CB8AC3E}">
        <p14:creationId xmlns:p14="http://schemas.microsoft.com/office/powerpoint/2010/main" val="421567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169967A-186E-8FD8-5562-338D1B3B56D1}"/>
              </a:ext>
            </a:extLst>
          </p:cNvPr>
          <p:cNvSpPr/>
          <p:nvPr/>
        </p:nvSpPr>
        <p:spPr bwMode="gray">
          <a:xfrm>
            <a:off x="459785" y="2306973"/>
            <a:ext cx="11012208" cy="368100"/>
          </a:xfrm>
          <a:prstGeom prst="rect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Criação de incentivos à renovação através de benefícios personalizados (i.e., aumento do leque de descontos dentro da rede Santander, taxas de juro vantajosas, </a:t>
            </a:r>
            <a:r>
              <a:rPr lang="pt-PT" sz="1050" b="1" err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etc</a:t>
            </a: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), com foco em edifícios com </a:t>
            </a:r>
            <a:r>
              <a:rPr lang="pt-PT" sz="1050" b="1" err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EPCs</a:t>
            </a: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 C, D, E, F e sem EPC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2E9A1C6B-CECA-13CE-5AFD-034D1CF17B90}"/>
              </a:ext>
            </a:extLst>
          </p:cNvPr>
          <p:cNvSpPr txBox="1">
            <a:spLocks/>
          </p:cNvSpPr>
          <p:nvPr/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397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048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4699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635000" indent="-1397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Propostas de iniciativas – Contrapartes </a:t>
            </a:r>
            <a:r>
              <a:rPr kumimoji="0" lang="pt-PT" sz="1800" b="0" i="0" u="sng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que se encontram a desenvolver e escalar soluções climáticas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(2/3)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16C53FB8-9CD9-9724-1BC6-29D37739C018}"/>
              </a:ext>
            </a:extLst>
          </p:cNvPr>
          <p:cNvSpPr txBox="1">
            <a:spLocks/>
          </p:cNvSpPr>
          <p:nvPr/>
        </p:nvSpPr>
        <p:spPr bwMode="gray">
          <a:xfrm>
            <a:off x="463295" y="355517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Calibri Light" panose="020F0302020204030204" pitchFamily="34" charset="0"/>
              </a:rPr>
              <a:t>Iniciativas para a descarbonização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61FFF395-CF10-BC57-74ED-4A7917DE6EC6}"/>
              </a:ext>
            </a:extLst>
          </p:cNvPr>
          <p:cNvSpPr txBox="1">
            <a:spLocks/>
          </p:cNvSpPr>
          <p:nvPr/>
        </p:nvSpPr>
        <p:spPr>
          <a:xfrm>
            <a:off x="461823" y="1328286"/>
            <a:ext cx="11232872" cy="5277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100" b="0">
                <a:cs typeface="Calibri Light" panose="020F0302020204030204" pitchFamily="34" charset="0"/>
              </a:defRPr>
            </a:lvl1pPr>
            <a:lvl2pPr marL="1397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="1">
                <a:latin typeface="+mj-lt"/>
                <a:cs typeface="Calibri Light" panose="020F0302020204030204" pitchFamily="34" charset="0"/>
              </a:defRPr>
            </a:lvl2pPr>
            <a:lvl3pPr marL="3048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sz="1300">
                <a:cs typeface="Calibri Light" panose="020F0302020204030204" pitchFamily="34" charset="0"/>
              </a:defRPr>
            </a:lvl3pPr>
            <a:lvl4pPr marL="4699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sz="1300" baseline="0">
                <a:cs typeface="Calibri Light" panose="020F0302020204030204" pitchFamily="34" charset="0"/>
              </a:defRPr>
            </a:lvl4pPr>
            <a:lvl5pPr marL="635000" indent="-1397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sz="1300" baseline="0">
                <a:cs typeface="Calibri Light" panose="020F030202020403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lang="pt-PT">
                <a:solidFill>
                  <a:prstClr val="black"/>
                </a:solidFill>
                <a:latin typeface="Calibri"/>
              </a:rPr>
              <a:t>É sugerido que as habitações em carteira progridam de forma gradual para uma emissão de carbono mais eficiente. Nesse sentido, são propostas medidas que permitem a progressão gradual da carteira para um patamar mais eficiente, independentemente de ser carteira atual ou novo negócio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C558A8-15D9-D59C-E7DE-4D8EDB39D2C4}"/>
              </a:ext>
            </a:extLst>
          </p:cNvPr>
          <p:cNvSpPr/>
          <p:nvPr/>
        </p:nvSpPr>
        <p:spPr bwMode="gray">
          <a:xfrm>
            <a:off x="459785" y="2706523"/>
            <a:ext cx="5472000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227388" algn="l"/>
              </a:tabLst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Disponibilização aos clientes de informação acerca das 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opções de melhoria de eficiência energética adaptadas ao seu certificado energético;</a:t>
            </a:r>
          </a:p>
          <a:p>
            <a:pPr>
              <a:lnSpc>
                <a:spcPct val="106000"/>
              </a:lnSpc>
              <a:spcBef>
                <a:spcPts val="600"/>
              </a:spcBef>
              <a:tabLst>
                <a:tab pos="3227388" algn="l"/>
              </a:tabLst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180975">
              <a:lnSpc>
                <a:spcPct val="106000"/>
              </a:lnSpc>
              <a:spcBef>
                <a:spcPts val="600"/>
              </a:spcBef>
              <a:tabLst>
                <a:tab pos="3227388" algn="l"/>
              </a:tabLst>
            </a:pPr>
            <a:r>
              <a:rPr lang="pt-PT" sz="1050" b="1" u="sng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Exemplos no mercado:</a:t>
            </a: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276225"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F0703D-D106-F3B7-E617-ADB38E5CBE55}"/>
              </a:ext>
            </a:extLst>
          </p:cNvPr>
          <p:cNvSpPr txBox="1"/>
          <p:nvPr/>
        </p:nvSpPr>
        <p:spPr>
          <a:xfrm>
            <a:off x="459785" y="1939533"/>
            <a:ext cx="485566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defRPr/>
            </a:pPr>
            <a:r>
              <a:rPr lang="pt-PT" sz="1200" b="1" cap="all">
                <a:solidFill>
                  <a:srgbClr val="C4D600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INCENTIVO À </a:t>
            </a:r>
            <a:r>
              <a:rPr lang="pt-PT" sz="1200" b="1" u="sng" cap="all">
                <a:solidFill>
                  <a:srgbClr val="C4D600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MELHORIA DA CAPACIDADE ENERGÉTICA (2/2) </a:t>
            </a:r>
            <a:endParaRPr lang="pt-PT" sz="1200" b="1" cap="all">
              <a:solidFill>
                <a:srgbClr val="C4D600"/>
              </a:solidFill>
              <a:latin typeface="Calibr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E793E6-E521-33B3-D107-E88F356C9679}"/>
              </a:ext>
            </a:extLst>
          </p:cNvPr>
          <p:cNvSpPr/>
          <p:nvPr/>
        </p:nvSpPr>
        <p:spPr bwMode="gray">
          <a:xfrm>
            <a:off x="6002959" y="5698780"/>
            <a:ext cx="4758162" cy="33299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361950" indent="-341313" algn="just" defTabSz="742950">
              <a:defRPr/>
            </a:pPr>
            <a:r>
              <a:rPr lang="pt-PT" sz="800" b="1">
                <a:solidFill>
                  <a:srgbClr val="D0D0CE">
                    <a:lumMod val="10000"/>
                  </a:srgbClr>
                </a:solidFill>
                <a:latin typeface="Neo Sans" panose="020B0504020202020204"/>
                <a:cs typeface="Calibri" panose="020F0502020204030204" pitchFamily="34" charset="0"/>
              </a:rPr>
              <a:t>Notas: [1] </a:t>
            </a:r>
            <a:r>
              <a:rPr lang="pt-PT" sz="800">
                <a:solidFill>
                  <a:prstClr val="black"/>
                </a:solidFill>
                <a:latin typeface="Calibri"/>
                <a:hlinkClick r:id="rId2" tooltip="https://www.fundoambiental.pt/plataforma-vales-de-eficiencia/lista-de-fornecedores-vale-eficiencia.aspx"/>
              </a:rPr>
              <a:t>Plataforma Vales de Eficiência (fundoambiental.pt)</a:t>
            </a:r>
            <a:r>
              <a:rPr lang="pt-PT" sz="800">
                <a:solidFill>
                  <a:prstClr val="black"/>
                </a:solidFill>
                <a:latin typeface="Calibri"/>
              </a:rPr>
              <a:t> </a:t>
            </a:r>
            <a:r>
              <a:rPr lang="pt-PT" sz="800" b="1">
                <a:solidFill>
                  <a:srgbClr val="D0D0CE">
                    <a:lumMod val="10000"/>
                  </a:srgbClr>
                </a:solidFill>
                <a:latin typeface="Neo Sans" panose="020B0504020202020204"/>
                <a:cs typeface="Calibri" panose="020F0502020204030204" pitchFamily="34" charset="0"/>
              </a:rPr>
              <a:t> </a:t>
            </a:r>
            <a:endParaRPr lang="pt-PT" sz="800">
              <a:solidFill>
                <a:srgbClr val="D0D0CE">
                  <a:lumMod val="10000"/>
                </a:srgbClr>
              </a:solidFill>
              <a:latin typeface="Neo Sans" panose="020B0504020202020204"/>
              <a:cs typeface="Calibri" panose="020F0502020204030204" pitchFamily="34" charset="0"/>
            </a:endParaRPr>
          </a:p>
        </p:txBody>
      </p:sp>
      <p:pic>
        <p:nvPicPr>
          <p:cNvPr id="44" name="Picture 4">
            <a:extLst>
              <a:ext uri="{FF2B5EF4-FFF2-40B4-BE49-F238E27FC236}">
                <a16:creationId xmlns:a16="http://schemas.microsoft.com/office/drawing/2014/main" id="{0E130542-355C-3161-D2C5-89BFABBFE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00" y="4029613"/>
            <a:ext cx="4530279" cy="135976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Freeform 984">
            <a:hlinkClick r:id="" action="ppaction://noaction"/>
            <a:extLst>
              <a:ext uri="{FF2B5EF4-FFF2-40B4-BE49-F238E27FC236}">
                <a16:creationId xmlns:a16="http://schemas.microsoft.com/office/drawing/2014/main" id="{1BD2C8D7-07AB-FC96-7CB3-533F80689B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20009" y="5787948"/>
            <a:ext cx="180529" cy="180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393 w 512"/>
              <a:gd name="T11" fmla="*/ 132 h 512"/>
              <a:gd name="T12" fmla="*/ 255 w 512"/>
              <a:gd name="T13" fmla="*/ 410 h 512"/>
              <a:gd name="T14" fmla="*/ 245 w 512"/>
              <a:gd name="T15" fmla="*/ 416 h 512"/>
              <a:gd name="T16" fmla="*/ 244 w 512"/>
              <a:gd name="T17" fmla="*/ 416 h 512"/>
              <a:gd name="T18" fmla="*/ 235 w 512"/>
              <a:gd name="T19" fmla="*/ 409 h 512"/>
              <a:gd name="T20" fmla="*/ 200 w 512"/>
              <a:gd name="T21" fmla="*/ 312 h 512"/>
              <a:gd name="T22" fmla="*/ 103 w 512"/>
              <a:gd name="T23" fmla="*/ 276 h 512"/>
              <a:gd name="T24" fmla="*/ 96 w 512"/>
              <a:gd name="T25" fmla="*/ 267 h 512"/>
              <a:gd name="T26" fmla="*/ 102 w 512"/>
              <a:gd name="T27" fmla="*/ 257 h 512"/>
              <a:gd name="T28" fmla="*/ 379 w 512"/>
              <a:gd name="T29" fmla="*/ 118 h 512"/>
              <a:gd name="T30" fmla="*/ 391 w 512"/>
              <a:gd name="T31" fmla="*/ 120 h 512"/>
              <a:gd name="T32" fmla="*/ 393 w 512"/>
              <a:gd name="T33" fmla="*/ 132 h 512"/>
              <a:gd name="T34" fmla="*/ 133 w 512"/>
              <a:gd name="T35" fmla="*/ 265 h 512"/>
              <a:gd name="T36" fmla="*/ 360 w 512"/>
              <a:gd name="T37" fmla="*/ 152 h 512"/>
              <a:gd name="T38" fmla="*/ 247 w 512"/>
              <a:gd name="T39" fmla="*/ 378 h 512"/>
              <a:gd name="T40" fmla="*/ 218 w 512"/>
              <a:gd name="T41" fmla="*/ 300 h 512"/>
              <a:gd name="T42" fmla="*/ 212 w 512"/>
              <a:gd name="T43" fmla="*/ 294 h 512"/>
              <a:gd name="T44" fmla="*/ 133 w 512"/>
              <a:gd name="T45" fmla="*/ 26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93" y="132"/>
                </a:moveTo>
                <a:cubicBezTo>
                  <a:pt x="255" y="410"/>
                  <a:pt x="255" y="410"/>
                  <a:pt x="255" y="410"/>
                </a:cubicBezTo>
                <a:cubicBezTo>
                  <a:pt x="253" y="413"/>
                  <a:pt x="249" y="416"/>
                  <a:pt x="245" y="416"/>
                </a:cubicBezTo>
                <a:cubicBezTo>
                  <a:pt x="245" y="416"/>
                  <a:pt x="245" y="416"/>
                  <a:pt x="244" y="416"/>
                </a:cubicBezTo>
                <a:cubicBezTo>
                  <a:pt x="240" y="415"/>
                  <a:pt x="236" y="413"/>
                  <a:pt x="235" y="409"/>
                </a:cubicBezTo>
                <a:cubicBezTo>
                  <a:pt x="200" y="312"/>
                  <a:pt x="200" y="312"/>
                  <a:pt x="200" y="312"/>
                </a:cubicBezTo>
                <a:cubicBezTo>
                  <a:pt x="103" y="276"/>
                  <a:pt x="103" y="276"/>
                  <a:pt x="103" y="276"/>
                </a:cubicBezTo>
                <a:cubicBezTo>
                  <a:pt x="99" y="275"/>
                  <a:pt x="96" y="271"/>
                  <a:pt x="96" y="267"/>
                </a:cubicBezTo>
                <a:cubicBezTo>
                  <a:pt x="95" y="263"/>
                  <a:pt x="98" y="259"/>
                  <a:pt x="102" y="257"/>
                </a:cubicBezTo>
                <a:cubicBezTo>
                  <a:pt x="379" y="118"/>
                  <a:pt x="379" y="118"/>
                  <a:pt x="379" y="118"/>
                </a:cubicBezTo>
                <a:cubicBezTo>
                  <a:pt x="383" y="116"/>
                  <a:pt x="388" y="117"/>
                  <a:pt x="391" y="120"/>
                </a:cubicBezTo>
                <a:cubicBezTo>
                  <a:pt x="394" y="123"/>
                  <a:pt x="395" y="128"/>
                  <a:pt x="393" y="132"/>
                </a:cubicBezTo>
                <a:close/>
                <a:moveTo>
                  <a:pt x="133" y="265"/>
                </a:moveTo>
                <a:cubicBezTo>
                  <a:pt x="360" y="152"/>
                  <a:pt x="360" y="152"/>
                  <a:pt x="360" y="152"/>
                </a:cubicBezTo>
                <a:cubicBezTo>
                  <a:pt x="247" y="378"/>
                  <a:pt x="247" y="378"/>
                  <a:pt x="247" y="378"/>
                </a:cubicBezTo>
                <a:cubicBezTo>
                  <a:pt x="218" y="300"/>
                  <a:pt x="218" y="300"/>
                  <a:pt x="218" y="300"/>
                </a:cubicBezTo>
                <a:cubicBezTo>
                  <a:pt x="217" y="297"/>
                  <a:pt x="215" y="295"/>
                  <a:pt x="212" y="294"/>
                </a:cubicBezTo>
                <a:lnTo>
                  <a:pt x="133" y="265"/>
                </a:lnTo>
                <a:close/>
              </a:path>
            </a:pathLst>
          </a:custGeom>
          <a:solidFill>
            <a:sysClr val="windowText" lastClr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8FA1F2-E5EA-E5ED-7252-5EDF35606E6F}"/>
              </a:ext>
            </a:extLst>
          </p:cNvPr>
          <p:cNvSpPr txBox="1"/>
          <p:nvPr/>
        </p:nvSpPr>
        <p:spPr>
          <a:xfrm>
            <a:off x="989038" y="5808698"/>
            <a:ext cx="270662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pt-PT" sz="900">
                <a:solidFill>
                  <a:srgbClr val="313131"/>
                </a:solidFill>
                <a:latin typeface="Calibri"/>
              </a:rPr>
              <a:t>Para mais detalhe sobre o </a:t>
            </a:r>
            <a:r>
              <a:rPr lang="pt-PT" sz="900" i="1" err="1">
                <a:solidFill>
                  <a:srgbClr val="313131"/>
                </a:solidFill>
                <a:latin typeface="Calibri"/>
              </a:rPr>
              <a:t>benchmark</a:t>
            </a:r>
            <a:r>
              <a:rPr lang="pt-PT" sz="900" i="1">
                <a:solidFill>
                  <a:srgbClr val="313131"/>
                </a:solidFill>
                <a:latin typeface="Calibri"/>
              </a:rPr>
              <a:t>, </a:t>
            </a:r>
            <a:r>
              <a:rPr lang="pt-PT" sz="900">
                <a:solidFill>
                  <a:srgbClr val="313131"/>
                </a:solidFill>
                <a:latin typeface="Calibri"/>
              </a:rPr>
              <a:t>ver anexo 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F810DC-9581-4FA3-9550-3D74CEEB2927}"/>
              </a:ext>
            </a:extLst>
          </p:cNvPr>
          <p:cNvSpPr/>
          <p:nvPr/>
        </p:nvSpPr>
        <p:spPr bwMode="gray">
          <a:xfrm>
            <a:off x="5995601" y="2706523"/>
            <a:ext cx="5472000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tabLst>
                <a:tab pos="3227388" algn="l"/>
              </a:tabLst>
              <a:defRPr/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Disponibilização de acesso a materiais e fornecedores de produtos e serviços que permitam melhorar a eficiência energética a preços mais competitivos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: Introdução na plataforma </a:t>
            </a:r>
            <a:r>
              <a:rPr lang="pt-PT" sz="1050" b="1" i="1" err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marketplace</a:t>
            </a:r>
            <a:r>
              <a:rPr lang="pt-PT" sz="1050" b="1" i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 </a:t>
            </a:r>
            <a:r>
              <a:rPr lang="pt-PT" sz="1050" b="1">
                <a:solidFill>
                  <a:srgbClr val="86BC25"/>
                </a:solidFill>
                <a:latin typeface="Calibri (Body)"/>
                <a:cs typeface="Calibri Light" panose="020F0302020204030204" pitchFamily="34" charset="0"/>
              </a:rPr>
              <a:t>do Banco de iniciativas que visem incentivar à eficiência energética.</a:t>
            </a:r>
          </a:p>
          <a:p>
            <a:pPr marL="180975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  <a:tabLst>
                <a:tab pos="3227388" algn="l"/>
              </a:tabLst>
              <a:defRPr/>
            </a:pPr>
            <a:r>
              <a:rPr lang="pt-PT" sz="1050" b="1" u="sng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Sugestões:</a:t>
            </a:r>
          </a:p>
          <a:p>
            <a:pPr marL="352425" indent="-171450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3227388" algn="l"/>
              </a:tabLst>
              <a:defRPr/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Integração de produtos que possam ser adquiridos por forma a facilitar a evolução da habitação para uma habitação mais eficiente (com certificado energético entre B- e A+);</a:t>
            </a:r>
          </a:p>
          <a:p>
            <a:pPr marL="352425" indent="-171450">
              <a:lnSpc>
                <a:spcPct val="106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3227388" algn="l"/>
              </a:tabLst>
              <a:defRPr/>
            </a:pP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Integração de empresas prestadoras de serviços que já se encontrem em programas como “casa eficiente”</a:t>
            </a:r>
            <a:r>
              <a:rPr lang="pt-PT" sz="1050" baseline="-2500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 </a:t>
            </a:r>
            <a:r>
              <a:rPr lang="pt-PT" sz="1050" baseline="3000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[1]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, 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passive </a:t>
            </a:r>
            <a:r>
              <a:rPr lang="pt-PT" sz="1050" i="1" err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housing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, </a:t>
            </a:r>
            <a:r>
              <a:rPr lang="pt-PT" sz="1050" i="1" err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etc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por forma a facilitar a realização das remodelações ou produtos adquiridos no 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Marketplace,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garantindo a melhoria energética.</a:t>
            </a:r>
            <a:endParaRPr lang="pt-PT" sz="1050" b="1">
              <a:solidFill>
                <a:srgbClr val="86BC25"/>
              </a:solidFill>
              <a:latin typeface="Calibri (Body)"/>
              <a:cs typeface="Calibri Light" panose="020F0302020204030204" pitchFamily="34" charset="0"/>
            </a:endParaRPr>
          </a:p>
        </p:txBody>
      </p:sp>
      <p:pic>
        <p:nvPicPr>
          <p:cNvPr id="48" name="Picture 47" descr="A room with a bike and a water heater&#10;&#10;Description automatically generated">
            <a:extLst>
              <a:ext uri="{FF2B5EF4-FFF2-40B4-BE49-F238E27FC236}">
                <a16:creationId xmlns:a16="http://schemas.microsoft.com/office/drawing/2014/main" id="{82541029-15F9-CB6F-DFEA-56289D8E79D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5817" y="4855541"/>
            <a:ext cx="1253436" cy="797650"/>
          </a:xfrm>
          <a:prstGeom prst="rect">
            <a:avLst/>
          </a:prstGeom>
        </p:spPr>
      </p:pic>
      <p:pic>
        <p:nvPicPr>
          <p:cNvPr id="49" name="Picture 48" descr="A logo on a black background&#10;&#10;Description automatically generated">
            <a:extLst>
              <a:ext uri="{FF2B5EF4-FFF2-40B4-BE49-F238E27FC236}">
                <a16:creationId xmlns:a16="http://schemas.microsoft.com/office/drawing/2014/main" id="{356EC112-1208-E7D8-6121-36FA76FBC58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094" y="3370008"/>
            <a:ext cx="1423101" cy="74712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B89DFF3-82B4-DE37-4064-D1F272749ADF}"/>
              </a:ext>
            </a:extLst>
          </p:cNvPr>
          <p:cNvSpPr/>
          <p:nvPr/>
        </p:nvSpPr>
        <p:spPr bwMode="gray">
          <a:xfrm>
            <a:off x="459783" y="6302922"/>
            <a:ext cx="5471999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 Impacto sobre os fatores de emissão: Baixa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371078-F517-B40B-A087-EC35DC284AE4}"/>
              </a:ext>
            </a:extLst>
          </p:cNvPr>
          <p:cNvSpPr/>
          <p:nvPr/>
        </p:nvSpPr>
        <p:spPr bwMode="gray">
          <a:xfrm>
            <a:off x="459783" y="6107433"/>
            <a:ext cx="5471999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Baixa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7A3EC4-5482-E314-9710-42992A40CCC6}"/>
              </a:ext>
            </a:extLst>
          </p:cNvPr>
          <p:cNvSpPr/>
          <p:nvPr/>
        </p:nvSpPr>
        <p:spPr bwMode="gray">
          <a:xfrm>
            <a:off x="5995600" y="6302922"/>
            <a:ext cx="5471999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 Impacto sobre os fatores de emissão: Média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4D1F6E3-5292-8E15-492D-BBFB2AC36CF4}"/>
              </a:ext>
            </a:extLst>
          </p:cNvPr>
          <p:cNvSpPr/>
          <p:nvPr/>
        </p:nvSpPr>
        <p:spPr bwMode="gray">
          <a:xfrm>
            <a:off x="5995600" y="6107433"/>
            <a:ext cx="5471999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Alta</a:t>
            </a:r>
          </a:p>
        </p:txBody>
      </p:sp>
    </p:spTree>
    <p:extLst>
      <p:ext uri="{BB962C8B-B14F-4D97-AF65-F5344CB8AC3E}">
        <p14:creationId xmlns:p14="http://schemas.microsoft.com/office/powerpoint/2010/main" val="12894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CBE64FE-1DFB-4006-6BB0-F88D6F171B05}"/>
              </a:ext>
            </a:extLst>
          </p:cNvPr>
          <p:cNvSpPr/>
          <p:nvPr/>
        </p:nvSpPr>
        <p:spPr bwMode="gray">
          <a:xfrm>
            <a:off x="459785" y="2306973"/>
            <a:ext cx="11012208" cy="368100"/>
          </a:xfrm>
          <a:prstGeom prst="rect">
            <a:avLst/>
          </a:prstGeom>
          <a:solidFill>
            <a:srgbClr val="C4D60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Desenvolvimento de iniciativas que visem a criação ou fortalecimento de parceiras para </a:t>
            </a:r>
            <a:r>
              <a:rPr lang="pt-PT" sz="1050" b="1" u="sng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obter informação mais fidedigna e completa sobre os consumos</a:t>
            </a: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, com o objetivo de obter informação real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F95C6129-741F-C732-625D-59CA66E26D31}"/>
              </a:ext>
            </a:extLst>
          </p:cNvPr>
          <p:cNvSpPr txBox="1">
            <a:spLocks/>
          </p:cNvSpPr>
          <p:nvPr/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397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048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4699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635000" indent="-1397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Propostas de iniciativas – Contrapartes </a:t>
            </a:r>
            <a:r>
              <a:rPr kumimoji="0" lang="pt-PT" sz="1800" b="0" i="0" u="sng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que se encontram a desenvolver e escalar soluções climáticas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 </a:t>
            </a: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(3/3)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0FBCDB1B-F9D7-5923-5363-3C31C44BB97E}"/>
              </a:ext>
            </a:extLst>
          </p:cNvPr>
          <p:cNvSpPr txBox="1">
            <a:spLocks/>
          </p:cNvSpPr>
          <p:nvPr/>
        </p:nvSpPr>
        <p:spPr bwMode="gray">
          <a:xfrm>
            <a:off x="463295" y="355517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Calibri Light" panose="020F0302020204030204" pitchFamily="34" charset="0"/>
              </a:rPr>
              <a:t>Iniciativas para a descarbonização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3C52BD7F-65F9-5173-A153-E53B39D3E601}"/>
              </a:ext>
            </a:extLst>
          </p:cNvPr>
          <p:cNvSpPr txBox="1">
            <a:spLocks/>
          </p:cNvSpPr>
          <p:nvPr/>
        </p:nvSpPr>
        <p:spPr>
          <a:xfrm>
            <a:off x="461823" y="1328286"/>
            <a:ext cx="11232872" cy="5277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100" b="0">
                <a:cs typeface="Calibri Light" panose="020F0302020204030204" pitchFamily="34" charset="0"/>
              </a:defRPr>
            </a:lvl1pPr>
            <a:lvl2pPr marL="1397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="1">
                <a:latin typeface="+mj-lt"/>
                <a:cs typeface="Calibri Light" panose="020F0302020204030204" pitchFamily="34" charset="0"/>
              </a:defRPr>
            </a:lvl2pPr>
            <a:lvl3pPr marL="3048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sz="1300">
                <a:cs typeface="Calibri Light" panose="020F0302020204030204" pitchFamily="34" charset="0"/>
              </a:defRPr>
            </a:lvl3pPr>
            <a:lvl4pPr marL="4699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sz="1300" baseline="0">
                <a:cs typeface="Calibri Light" panose="020F0302020204030204" pitchFamily="34" charset="0"/>
              </a:defRPr>
            </a:lvl4pPr>
            <a:lvl5pPr marL="635000" indent="-1397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sz="1300" baseline="0">
                <a:cs typeface="Calibri Light" panose="020F030202020403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lang="pt-PT">
                <a:solidFill>
                  <a:prstClr val="black"/>
                </a:solidFill>
                <a:latin typeface="Calibri"/>
              </a:rPr>
              <a:t>É sugerido que as habitações em carteira progridam de forma gradual para uma emissão de carbono mais eficiente. Nesse sentido, são propostas medidas que permitem a progressão gradual da carteira para um patamar mais eficiente, independentemente de ser carteira atual ou novo negócio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D3CA94-1ED3-B9B3-BB09-2F8240BF649E}"/>
              </a:ext>
            </a:extLst>
          </p:cNvPr>
          <p:cNvSpPr/>
          <p:nvPr/>
        </p:nvSpPr>
        <p:spPr bwMode="gray">
          <a:xfrm>
            <a:off x="459784" y="2706523"/>
            <a:ext cx="11012207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2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Criação de protocolos entre o cliente, o Banco e os fornecedores de energia com vista à partilha de informação real sobre os imóveis.</a:t>
            </a:r>
          </a:p>
          <a:p>
            <a:pPr marL="182563">
              <a:lnSpc>
                <a:spcPct val="106000"/>
              </a:lnSpc>
              <a:spcBef>
                <a:spcPts val="600"/>
              </a:spcBef>
            </a:pPr>
            <a:r>
              <a:rPr lang="pt-PT" sz="1050" b="1" u="sng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Sugestões:</a:t>
            </a:r>
          </a:p>
          <a:p>
            <a:pPr marL="628650" lvl="1" indent="-171450">
              <a:lnSpc>
                <a:spcPct val="106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Cada um dos intervenientes tem acesso aos seguintes benefícios:</a:t>
            </a:r>
          </a:p>
          <a:p>
            <a:pPr marL="1085850" lvl="2" indent="-171450">
              <a:lnSpc>
                <a:spcPct val="106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050" b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Cliente: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 tem acesso a energia a preço mais reduzido;</a:t>
            </a:r>
          </a:p>
          <a:p>
            <a:pPr marL="1085850" lvl="2" indent="-171450">
              <a:lnSpc>
                <a:spcPct val="106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050" b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Santander: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recebe informação detalhada do consumo de energia partilhado pelo fornecedor de energia. Assim, o Banco tem disponível informação viável do imóvel de modo a obter o 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score 1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ou </a:t>
            </a:r>
            <a:r>
              <a:rPr lang="pt-PT" sz="1050" i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2.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Adicionalmente poderá incentivar os clientes a adquirir energia verde do fornecedor;</a:t>
            </a:r>
          </a:p>
          <a:p>
            <a:pPr marL="1085850" lvl="2" indent="-171450">
              <a:lnSpc>
                <a:spcPct val="106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050" b="1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Fornecedor de energia: </a:t>
            </a:r>
            <a:r>
              <a:rPr lang="pt-PT" sz="1050">
                <a:solidFill>
                  <a:prstClr val="black"/>
                </a:solidFill>
                <a:latin typeface="Calibri (Body)"/>
                <a:cs typeface="Calibri Light" panose="020F0302020204030204" pitchFamily="34" charset="0"/>
              </a:rPr>
              <a:t>acesso ao cliente através da rede Santander.</a:t>
            </a:r>
            <a:endParaRPr lang="pt-PT" sz="1050">
              <a:solidFill>
                <a:prstClr val="black"/>
              </a:solidFill>
              <a:latin typeface="Calibri"/>
              <a:cs typeface="Calibri Light" panose="020F03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87454-1E8D-32FD-BB72-EAFD9E9E06F3}"/>
              </a:ext>
            </a:extLst>
          </p:cNvPr>
          <p:cNvSpPr txBox="1"/>
          <p:nvPr/>
        </p:nvSpPr>
        <p:spPr>
          <a:xfrm>
            <a:off x="459784" y="1939533"/>
            <a:ext cx="6343351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defRPr/>
            </a:pPr>
            <a:r>
              <a:rPr lang="pt-PT" sz="1200" b="1" cap="all">
                <a:solidFill>
                  <a:srgbClr val="C4D600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INCENTIVO À </a:t>
            </a:r>
            <a:r>
              <a:rPr lang="pt-PT" sz="1200" b="1" u="sng" cap="all">
                <a:solidFill>
                  <a:srgbClr val="C4D600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MELHORIA DA INFORMAÇÃO SOBRE OS CONSUMOS ENERGÉTICOS</a:t>
            </a:r>
            <a:endParaRPr lang="pt-PT" sz="1200" b="1" cap="all">
              <a:solidFill>
                <a:srgbClr val="C4D600"/>
              </a:solidFill>
              <a:latin typeface="Calibri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9" name="Picture 38" descr="A close-up of a document&#10;&#10;Description automatically generated">
            <a:extLst>
              <a:ext uri="{FF2B5EF4-FFF2-40B4-BE49-F238E27FC236}">
                <a16:creationId xmlns:a16="http://schemas.microsoft.com/office/drawing/2014/main" id="{46C90413-B35E-7B5D-E6F8-D10FFFCBFF6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945" y="2828746"/>
            <a:ext cx="2134824" cy="3017217"/>
          </a:xfrm>
          <a:prstGeom prst="rect">
            <a:avLst/>
          </a:prstGeom>
        </p:spPr>
      </p:pic>
      <p:pic>
        <p:nvPicPr>
          <p:cNvPr id="40" name="Picture 3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165A61F-72B8-571F-6A05-530425CC46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769" y="2828746"/>
            <a:ext cx="2134823" cy="301721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306FF748-68E4-B57F-6587-F455DAAECF19}"/>
              </a:ext>
            </a:extLst>
          </p:cNvPr>
          <p:cNvSpPr/>
          <p:nvPr/>
        </p:nvSpPr>
        <p:spPr bwMode="gray">
          <a:xfrm>
            <a:off x="8993688" y="2991704"/>
            <a:ext cx="914400" cy="582460"/>
          </a:xfrm>
          <a:prstGeom prst="rect">
            <a:avLst/>
          </a:prstGeom>
          <a:noFill/>
          <a:ln w="28575" algn="ctr">
            <a:solidFill>
              <a:srgbClr val="26890D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pt-PT" sz="1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8D1F5F-F767-1A6D-4772-C2DD0D7DCA12}"/>
              </a:ext>
            </a:extLst>
          </p:cNvPr>
          <p:cNvSpPr/>
          <p:nvPr/>
        </p:nvSpPr>
        <p:spPr bwMode="gray">
          <a:xfrm>
            <a:off x="459784" y="6302922"/>
            <a:ext cx="11012206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Alto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F14D09-DE53-7E93-7491-0B280C5E823D}"/>
              </a:ext>
            </a:extLst>
          </p:cNvPr>
          <p:cNvSpPr/>
          <p:nvPr/>
        </p:nvSpPr>
        <p:spPr bwMode="gray">
          <a:xfrm>
            <a:off x="459784" y="6107433"/>
            <a:ext cx="11012206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Alta</a:t>
            </a:r>
          </a:p>
        </p:txBody>
      </p:sp>
    </p:spTree>
    <p:extLst>
      <p:ext uri="{BB962C8B-B14F-4D97-AF65-F5344CB8AC3E}">
        <p14:creationId xmlns:p14="http://schemas.microsoft.com/office/powerpoint/2010/main" val="208265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BDF5C4C-6A53-9830-4F2D-C729B41E2E72}"/>
              </a:ext>
            </a:extLst>
          </p:cNvPr>
          <p:cNvSpPr/>
          <p:nvPr/>
        </p:nvSpPr>
        <p:spPr bwMode="gray">
          <a:xfrm>
            <a:off x="459785" y="2306973"/>
            <a:ext cx="11012208" cy="368100"/>
          </a:xfrm>
          <a:prstGeom prst="rect">
            <a:avLst/>
          </a:prstGeom>
          <a:solidFill>
            <a:srgbClr val="6FC2B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pt-PT" sz="1050" b="1">
                <a:solidFill>
                  <a:prstClr val="white"/>
                </a:solidFill>
                <a:latin typeface="Calibri (Body)"/>
                <a:cs typeface="Calibri Light" panose="020F0302020204030204" pitchFamily="34" charset="0"/>
              </a:rPr>
              <a:t>Criação de políticas mínimas de EPC e quotas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0E7BEF14-50CA-8BE6-D02B-2967A0757110}"/>
              </a:ext>
            </a:extLst>
          </p:cNvPr>
          <p:cNvSpPr txBox="1">
            <a:spLocks/>
          </p:cNvSpPr>
          <p:nvPr/>
        </p:nvSpPr>
        <p:spPr>
          <a:xfrm>
            <a:off x="463295" y="682940"/>
            <a:ext cx="11277600" cy="757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397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048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4699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635000" indent="-1397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Propostas de iniciativas – Contrapartes </a:t>
            </a:r>
            <a:r>
              <a:rPr kumimoji="0" lang="pt-PT" sz="1800" b="0" i="0" u="sng" strike="noStrike" kern="1200" cap="none" spc="0" normalizeH="0" baseline="0" noProof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/>
                <a:ea typeface="+mn-ea"/>
                <a:cs typeface="Calibri Light" panose="020F0302020204030204" pitchFamily="34" charset="0"/>
              </a:rPr>
              <a:t>altamente intensos em carbono</a:t>
            </a: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1A90190D-AFF8-7BA8-7450-4285C023BFEA}"/>
              </a:ext>
            </a:extLst>
          </p:cNvPr>
          <p:cNvSpPr txBox="1">
            <a:spLocks/>
          </p:cNvSpPr>
          <p:nvPr/>
        </p:nvSpPr>
        <p:spPr bwMode="gray">
          <a:xfrm>
            <a:off x="463295" y="355517"/>
            <a:ext cx="112776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Calibri Light" panose="020F0302020204030204" pitchFamily="34" charset="0"/>
              </a:rPr>
              <a:t>Iniciativas para a descarbonização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EC353597-7F4F-0C4A-C3E2-6E25FD2955DF}"/>
              </a:ext>
            </a:extLst>
          </p:cNvPr>
          <p:cNvSpPr txBox="1">
            <a:spLocks/>
          </p:cNvSpPr>
          <p:nvPr/>
        </p:nvSpPr>
        <p:spPr>
          <a:xfrm>
            <a:off x="461823" y="1328286"/>
            <a:ext cx="11232872" cy="5277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100" b="0">
                <a:cs typeface="Calibri Light" panose="020F0302020204030204" pitchFamily="34" charset="0"/>
              </a:defRPr>
            </a:lvl1pPr>
            <a:lvl2pPr marL="1397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300" b="1">
                <a:latin typeface="+mj-lt"/>
                <a:cs typeface="Calibri Light" panose="020F0302020204030204" pitchFamily="34" charset="0"/>
              </a:defRPr>
            </a:lvl2pPr>
            <a:lvl3pPr marL="3048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sz="1300">
                <a:cs typeface="Calibri Light" panose="020F0302020204030204" pitchFamily="34" charset="0"/>
              </a:defRPr>
            </a:lvl3pPr>
            <a:lvl4pPr marL="469900" indent="-139700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sz="1300" baseline="0">
                <a:cs typeface="Calibri Light" panose="020F0302020204030204" pitchFamily="34" charset="0"/>
              </a:defRPr>
            </a:lvl4pPr>
            <a:lvl5pPr marL="635000" indent="-139700" defTabSz="798513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sz="1300" baseline="0">
                <a:cs typeface="Calibri Light" panose="020F0302020204030204" pitchFamily="34" charset="0"/>
              </a:defRPr>
            </a:lvl5pPr>
            <a:lvl6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6pPr>
            <a:lvl7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/>
            </a:lvl7pPr>
            <a:lvl8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8pPr>
            <a:lvl9pPr marL="532800" indent="-176400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baseline="0"/>
            </a:lvl9pPr>
          </a:lstStyle>
          <a:p>
            <a:r>
              <a:rPr lang="pt-PT">
                <a:solidFill>
                  <a:prstClr val="black"/>
                </a:solidFill>
                <a:latin typeface="Calibri"/>
              </a:rPr>
              <a:t>Relativamente às habitações menos eficientes (EPC E </a:t>
            </a:r>
            <a:r>
              <a:rPr lang="pt-PT" err="1">
                <a:solidFill>
                  <a:prstClr val="black"/>
                </a:solidFill>
                <a:latin typeface="Calibri"/>
              </a:rPr>
              <a:t>e</a:t>
            </a:r>
            <a:r>
              <a:rPr lang="pt-PT">
                <a:solidFill>
                  <a:prstClr val="black"/>
                </a:solidFill>
                <a:latin typeface="Calibri"/>
              </a:rPr>
              <a:t> F), o Banco para o atual portfólio deve incentivar à melhoria das mesmas até ao seu </a:t>
            </a:r>
            <a:r>
              <a:rPr lang="pt-PT" i="1" err="1">
                <a:solidFill>
                  <a:prstClr val="black"/>
                </a:solidFill>
                <a:latin typeface="Calibri"/>
              </a:rPr>
              <a:t>run</a:t>
            </a:r>
            <a:r>
              <a:rPr lang="pt-PT" i="1">
                <a:solidFill>
                  <a:prstClr val="black"/>
                </a:solidFill>
                <a:latin typeface="Calibri"/>
              </a:rPr>
              <a:t>-off,</a:t>
            </a:r>
            <a:r>
              <a:rPr lang="pt-PT">
                <a:solidFill>
                  <a:prstClr val="black"/>
                </a:solidFill>
                <a:latin typeface="Calibri"/>
              </a:rPr>
              <a:t> através da aplicação das medidas mencionadas no ponto anterior. Relativamente ao novo negócio, deve existir um foco na descarbonização através do desinvestimento.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A4F92D-C0C9-F976-A26C-6F472C8F3F11}"/>
              </a:ext>
            </a:extLst>
          </p:cNvPr>
          <p:cNvSpPr txBox="1"/>
          <p:nvPr/>
        </p:nvSpPr>
        <p:spPr>
          <a:xfrm>
            <a:off x="459784" y="1939533"/>
            <a:ext cx="6343351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defRPr/>
            </a:pPr>
            <a:r>
              <a:rPr lang="pt-PT" sz="1200" b="1" u="sng" cap="all">
                <a:solidFill>
                  <a:srgbClr val="6FC2B4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Desinvestimento em novo negócio </a:t>
            </a:r>
            <a:r>
              <a:rPr lang="pt-PT" sz="1200" b="1" cap="all">
                <a:solidFill>
                  <a:srgbClr val="6FC2B4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focado em </a:t>
            </a:r>
            <a:r>
              <a:rPr lang="pt-PT" sz="1200" b="1" u="sng" cap="all">
                <a:solidFill>
                  <a:srgbClr val="6FC2B4"/>
                </a:solidFill>
                <a:latin typeface="Calibri"/>
                <a:ea typeface="Open Sans" panose="020B0606030504020204" pitchFamily="34" charset="0"/>
                <a:cs typeface="Open Sans" panose="020B0606030504020204" pitchFamily="34" charset="0"/>
              </a:rPr>
              <a:t>edificios Ineficientes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93B8E9-1F91-4834-63F0-D2EC0B4841A8}"/>
              </a:ext>
            </a:extLst>
          </p:cNvPr>
          <p:cNvSpPr/>
          <p:nvPr/>
        </p:nvSpPr>
        <p:spPr bwMode="gray">
          <a:xfrm>
            <a:off x="459784" y="2706523"/>
            <a:ext cx="3646800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Caso não haja um esforço para remodelação do imóvel, 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aplicação de </a:t>
            </a:r>
            <a:r>
              <a:rPr lang="pt-PT" sz="1050" b="1" i="1" err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thresholds</a:t>
            </a:r>
            <a:r>
              <a:rPr lang="pt-PT" sz="1050" b="1" i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 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de empréstimos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, por exemplo, 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não conceder empréstimos a novas habitações com certificado abaixo de E </a:t>
            </a:r>
            <a:r>
              <a:rPr lang="pt-PT" sz="1050" b="1" err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e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 F 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ou cujo projeto não incentive a </a:t>
            </a:r>
            <a:r>
              <a:rPr lang="pt-PT" sz="1050">
                <a:solidFill>
                  <a:prstClr val="black"/>
                </a:solidFill>
                <a:latin typeface="Calibri"/>
              </a:rPr>
              <a:t>transição para uma classe energética mais favorável.</a:t>
            </a:r>
            <a:endParaRPr lang="pt-PT" sz="1050">
              <a:solidFill>
                <a:prstClr val="black"/>
              </a:solidFill>
              <a:highlight>
                <a:srgbClr val="FFFF00"/>
              </a:highlight>
              <a:latin typeface="Calibri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  <a:p>
            <a:pPr>
              <a:lnSpc>
                <a:spcPct val="106000"/>
              </a:lnSpc>
              <a:spcBef>
                <a:spcPts val="600"/>
              </a:spcBef>
            </a:pPr>
            <a:endParaRPr lang="pt-PT" sz="1050">
              <a:solidFill>
                <a:prstClr val="black"/>
              </a:solidFill>
              <a:latin typeface="Calibri (Body)"/>
              <a:cs typeface="Calibri Light" panose="020F03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EC6F7A-8BFC-25C8-33E5-D3DB5A432493}"/>
              </a:ext>
            </a:extLst>
          </p:cNvPr>
          <p:cNvSpPr/>
          <p:nvPr/>
        </p:nvSpPr>
        <p:spPr bwMode="gray">
          <a:xfrm>
            <a:off x="4142489" y="2706523"/>
            <a:ext cx="3646800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Criação de quotas 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à conceção de empréstimos a habitações com certificado abaixo de </a:t>
            </a:r>
            <a:r>
              <a:rPr lang="pt-PT" sz="1050" b="1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E </a:t>
            </a:r>
            <a:r>
              <a:rPr lang="pt-PT" sz="1050" b="1" err="1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e</a:t>
            </a:r>
            <a:r>
              <a:rPr lang="pt-PT" sz="1050" b="1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 F.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4A0EAA-EC6F-2CBF-ECD2-EB294116AA89}"/>
              </a:ext>
            </a:extLst>
          </p:cNvPr>
          <p:cNvSpPr/>
          <p:nvPr/>
        </p:nvSpPr>
        <p:spPr bwMode="gray">
          <a:xfrm>
            <a:off x="7825193" y="2706523"/>
            <a:ext cx="3646800" cy="3362400"/>
          </a:xfrm>
          <a:prstGeom prst="rect">
            <a:avLst/>
          </a:prstGeom>
          <a:noFill/>
          <a:ln w="19050" algn="ctr">
            <a:solidFill>
              <a:srgbClr val="D9D9D9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/>
                </a:solidFill>
              </a14:hiddenFill>
            </a:ext>
          </a:extLst>
        </p:spPr>
        <p:txBody>
          <a:bodyPr wrap="square" lIns="88900" tIns="88900" rIns="88900" bIns="88900" numCol="1" rtlCol="0" anchor="t"/>
          <a:lstStyle/>
          <a:p>
            <a:pPr marL="171450" indent="-171450">
              <a:lnSpc>
                <a:spcPct val="106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Como alternativa à criação de quotas ou definição de </a:t>
            </a:r>
            <a:r>
              <a:rPr lang="pt-PT" sz="1050" i="1" err="1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thresholds</a:t>
            </a:r>
            <a:r>
              <a:rPr lang="pt-PT" sz="1050" i="1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 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poderá ser </a:t>
            </a:r>
            <a:r>
              <a:rPr lang="pt-PT" sz="1050" b="1">
                <a:solidFill>
                  <a:srgbClr val="86BC25"/>
                </a:solidFill>
                <a:latin typeface="Calibri"/>
                <a:cs typeface="Calibri Light" panose="020F0302020204030204" pitchFamily="34" charset="0"/>
              </a:rPr>
              <a:t>aplicada uma penalização aos novos empréstimos para casas menos eficientes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. Esta penalização poderá tomar a forma de </a:t>
            </a:r>
            <a:r>
              <a:rPr lang="pt-PT" sz="1050" i="1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spreads </a:t>
            </a:r>
            <a:r>
              <a:rPr lang="pt-PT" sz="1050">
                <a:solidFill>
                  <a:prstClr val="black"/>
                </a:solidFill>
                <a:latin typeface="Calibri"/>
                <a:cs typeface="Calibri Light" panose="020F0302020204030204" pitchFamily="34" charset="0"/>
              </a:rPr>
              <a:t>mais elevados ou condições menos vantajosas para este tipo de habitações.</a:t>
            </a:r>
            <a:endParaRPr lang="pt-PT" sz="1050" i="1">
              <a:solidFill>
                <a:prstClr val="black"/>
              </a:solidFill>
              <a:latin typeface="Calibri"/>
              <a:cs typeface="Calibri Light" panose="020F0302020204030204" pitchFamily="34" charset="0"/>
            </a:endParaRPr>
          </a:p>
        </p:txBody>
      </p:sp>
      <p:pic>
        <p:nvPicPr>
          <p:cNvPr id="45" name="Picture 44" descr="A blue house with a metal door and a metal railing&#10;&#10;Description automatically generated">
            <a:extLst>
              <a:ext uri="{FF2B5EF4-FFF2-40B4-BE49-F238E27FC236}">
                <a16:creationId xmlns:a16="http://schemas.microsoft.com/office/drawing/2014/main" id="{D35DD327-FD87-43EE-5324-7E4EA85B37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50" y="3909325"/>
            <a:ext cx="2684068" cy="1789379"/>
          </a:xfrm>
          <a:prstGeom prst="rect">
            <a:avLst/>
          </a:prstGeom>
        </p:spPr>
      </p:pic>
      <p:pic>
        <p:nvPicPr>
          <p:cNvPr id="46" name="Picture 45" descr="Smoke coming out of a factory&#10;&#10;Description automatically generated">
            <a:extLst>
              <a:ext uri="{FF2B5EF4-FFF2-40B4-BE49-F238E27FC236}">
                <a16:creationId xmlns:a16="http://schemas.microsoft.com/office/drawing/2014/main" id="{7B97DA6B-94ED-F35F-181B-A0FD93B6BA5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638" y="3909325"/>
            <a:ext cx="2898562" cy="1789379"/>
          </a:xfrm>
          <a:prstGeom prst="rect">
            <a:avLst/>
          </a:prstGeom>
        </p:spPr>
      </p:pic>
      <p:pic>
        <p:nvPicPr>
          <p:cNvPr id="47" name="Picture 46" descr="A calculator and small wooden houses&#10;&#10;Description automatically generated">
            <a:extLst>
              <a:ext uri="{FF2B5EF4-FFF2-40B4-BE49-F238E27FC236}">
                <a16:creationId xmlns:a16="http://schemas.microsoft.com/office/drawing/2014/main" id="{5AC68CBC-687A-9A8D-2219-2B287EFF12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185" y="3909325"/>
            <a:ext cx="3048790" cy="1789379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6BAC8CB0-24CD-0512-4511-7C6A985D72E9}"/>
              </a:ext>
            </a:extLst>
          </p:cNvPr>
          <p:cNvSpPr/>
          <p:nvPr/>
        </p:nvSpPr>
        <p:spPr bwMode="gray">
          <a:xfrm>
            <a:off x="459784" y="6302922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Alto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1635FA-8016-F8EC-79EC-EA719527A965}"/>
              </a:ext>
            </a:extLst>
          </p:cNvPr>
          <p:cNvSpPr/>
          <p:nvPr/>
        </p:nvSpPr>
        <p:spPr bwMode="gray">
          <a:xfrm>
            <a:off x="459784" y="6107433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Baixa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0A2C4A-3190-E164-BD74-C9739CA64B0A}"/>
              </a:ext>
            </a:extLst>
          </p:cNvPr>
          <p:cNvSpPr/>
          <p:nvPr/>
        </p:nvSpPr>
        <p:spPr bwMode="gray">
          <a:xfrm>
            <a:off x="4142489" y="6302922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Alto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D0D413D-CBEB-5E71-2946-7688785067E4}"/>
              </a:ext>
            </a:extLst>
          </p:cNvPr>
          <p:cNvSpPr/>
          <p:nvPr/>
        </p:nvSpPr>
        <p:spPr bwMode="gray">
          <a:xfrm>
            <a:off x="4142489" y="6107433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Baixa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E668672-F3F0-CF13-86D1-B9512790B229}"/>
              </a:ext>
            </a:extLst>
          </p:cNvPr>
          <p:cNvSpPr/>
          <p:nvPr/>
        </p:nvSpPr>
        <p:spPr bwMode="gray">
          <a:xfrm>
            <a:off x="7825193" y="6302922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Impacto sobre os fatores de emissão: Alto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DD156C-79C6-3682-CCCD-F7389F49DDA3}"/>
              </a:ext>
            </a:extLst>
          </p:cNvPr>
          <p:cNvSpPr/>
          <p:nvPr/>
        </p:nvSpPr>
        <p:spPr bwMode="gray">
          <a:xfrm>
            <a:off x="7825193" y="6107433"/>
            <a:ext cx="3646800" cy="180000"/>
          </a:xfrm>
          <a:prstGeom prst="rect">
            <a:avLst/>
          </a:prstGeom>
          <a:solidFill>
            <a:srgbClr val="D0D0CE">
              <a:lumMod val="90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defTabSz="91440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(Body)"/>
                <a:cs typeface="Calibri Light" panose="020F0302020204030204" pitchFamily="34" charset="0"/>
              </a:rPr>
              <a:t>Dificuldade de implementação: Baixa</a:t>
            </a:r>
          </a:p>
        </p:txBody>
      </p:sp>
    </p:spTree>
    <p:extLst>
      <p:ext uri="{BB962C8B-B14F-4D97-AF65-F5344CB8AC3E}">
        <p14:creationId xmlns:p14="http://schemas.microsoft.com/office/powerpoint/2010/main" val="229434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hink-cell data - do not delete" hidden="1">
            <a:extLst>
              <a:ext uri="{FF2B5EF4-FFF2-40B4-BE49-F238E27FC236}">
                <a16:creationId xmlns:a16="http://schemas.microsoft.com/office/drawing/2014/main" id="{80008B5C-420D-1218-BB69-98086B8FF8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06" imgH="306" progId="TCLayout.ActiveDocument.1">
                  <p:embed/>
                </p:oleObj>
              </mc:Choice>
              <mc:Fallback>
                <p:oleObj name="Diapositiva de think-cell" r:id="rId4" imgW="306" imgH="306" progId="TCLayout.ActiveDocument.1">
                  <p:embed/>
                  <p:pic>
                    <p:nvPicPr>
                      <p:cNvPr id="3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008B5C-420D-1218-BB69-98086B8FF8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Marcador de texto 4">
            <a:extLst>
              <a:ext uri="{FF2B5EF4-FFF2-40B4-BE49-F238E27FC236}">
                <a16:creationId xmlns:a16="http://schemas.microsoft.com/office/drawing/2014/main" id="{A73F9098-9F21-3C92-12A2-2732759A4F7F}"/>
              </a:ext>
            </a:extLst>
          </p:cNvPr>
          <p:cNvSpPr txBox="1">
            <a:spLocks/>
          </p:cNvSpPr>
          <p:nvPr/>
        </p:nvSpPr>
        <p:spPr>
          <a:xfrm>
            <a:off x="716633" y="3196142"/>
            <a:ext cx="10758734" cy="465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>
                <a:solidFill>
                  <a:srgbClr val="EB0000"/>
                </a:solidFill>
                <a:latin typeface="Santander Headline" panose="020B0504020201020104"/>
              </a:rPr>
              <a:t>OBRIGADO</a:t>
            </a:r>
            <a:endParaRPr kumimoji="0" lang="en-US" sz="1200" b="1" u="none" strike="noStrike" kern="1200" cap="none" spc="0" normalizeH="0" baseline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Santander Headline" panose="020B0504020201020104"/>
              <a:ea typeface="+mn-ea"/>
              <a:cs typeface="+mn-cs"/>
            </a:endParaRPr>
          </a:p>
        </p:txBody>
      </p:sp>
      <p:sp>
        <p:nvSpPr>
          <p:cNvPr id="146" name="TextBox 66">
            <a:extLst>
              <a:ext uri="{FF2B5EF4-FFF2-40B4-BE49-F238E27FC236}">
                <a16:creationId xmlns:a16="http://schemas.microsoft.com/office/drawing/2014/main" id="{15CFCF51-8568-4DAF-3DEB-09417D0B74A4}"/>
              </a:ext>
            </a:extLst>
          </p:cNvPr>
          <p:cNvSpPr txBox="1"/>
          <p:nvPr/>
        </p:nvSpPr>
        <p:spPr>
          <a:xfrm>
            <a:off x="3571596" y="7195551"/>
            <a:ext cx="2043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GB" sz="1600" b="1">
                <a:solidFill>
                  <a:srgbClr val="C00000">
                    <a:lumMod val="60000"/>
                    <a:lumOff val="40000"/>
                  </a:srgbClr>
                </a:solidFill>
                <a:latin typeface="Santander Text"/>
              </a:rPr>
              <a:t>* </a:t>
            </a:r>
            <a:r>
              <a:rPr lang="en-GB" sz="800" b="1">
                <a:solidFill>
                  <a:srgbClr val="595959"/>
                </a:solidFill>
                <a:latin typeface="Santander Text"/>
                <a:ea typeface="Open Sans" panose="020B0606030504020204" pitchFamily="34" charset="0"/>
                <a:cs typeface="Open Sans" panose="020B0606030504020204" pitchFamily="34" charset="0"/>
              </a:rPr>
              <a:t>Aligned with Annual Report perimeter</a:t>
            </a:r>
            <a:endParaRPr lang="en-GB" sz="800" i="1">
              <a:solidFill>
                <a:srgbClr val="595959"/>
              </a:solidFill>
              <a:latin typeface="Santander Tex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AABBC2-5E13-156D-7F1D-6B67B4A74DB6}"/>
              </a:ext>
            </a:extLst>
          </p:cNvPr>
          <p:cNvSpPr txBox="1">
            <a:spLocks/>
          </p:cNvSpPr>
          <p:nvPr/>
        </p:nvSpPr>
        <p:spPr>
          <a:xfrm>
            <a:off x="716633" y="3661857"/>
            <a:ext cx="8767241" cy="72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Tx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397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3048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469900" indent="-1397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635000" indent="-1397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>
                <a:latin typeface="+mj-lt"/>
              </a:rPr>
              <a:t>25 de setembro de 2024</a:t>
            </a:r>
          </a:p>
        </p:txBody>
      </p:sp>
    </p:spTree>
    <p:extLst>
      <p:ext uri="{BB962C8B-B14F-4D97-AF65-F5344CB8AC3E}">
        <p14:creationId xmlns:p14="http://schemas.microsoft.com/office/powerpoint/2010/main" val="79343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235"/>
  <p:tag name="FILLLINECOLOR2" val="13158655"/>
  <p:tag name="FILLLINECOLOR3" val="9540095"/>
  <p:tag name="FILLLINECOLOR4" val="5921535"/>
  <p:tag name="FILLLINECOLOR5" val="176"/>
  <p:tag name="FILLLINECOLOR6" val="118"/>
  <p:tag name="FILLLINECOLOR7" val="15855070"/>
  <p:tag name="FILLLINECOLOR8" val="14932925"/>
  <p:tag name="FILLLINECOLOR9" val="13615501"/>
  <p:tag name="FILLLINECOLOR10" val="10719045"/>
  <p:tag name="FILLLINECOLOR11" val="5326626"/>
  <p:tag name="FILLLINECOLOR12" val="2170126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235"/>
  <p:tag name="FONTCOLOR2" val="15855070"/>
  <p:tag name="FONTCOLOR3" val="12566463"/>
  <p:tag name="FONTCOLOR4" val="8355711"/>
  <p:tag name="FONTCOLOR5" val="0"/>
  <p:tag name="FONTCOLOR6" val="167772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5JR3opqEUYNwdwYVsenU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3">
    <a:dk1>
      <a:sysClr val="windowText" lastClr="000000"/>
    </a:dk1>
    <a:lt1>
      <a:sysClr val="window" lastClr="FFFFFF"/>
    </a:lt1>
    <a:dk2>
      <a:srgbClr val="53565A"/>
    </a:dk2>
    <a:lt2>
      <a:srgbClr val="D0D0CE"/>
    </a:lt2>
    <a:accent1>
      <a:srgbClr val="86BC25"/>
    </a:accent1>
    <a:accent2>
      <a:srgbClr val="43B02A"/>
    </a:accent2>
    <a:accent3>
      <a:srgbClr val="26890D"/>
    </a:accent3>
    <a:accent4>
      <a:srgbClr val="046A38"/>
    </a:accent4>
    <a:accent5>
      <a:srgbClr val="0D8390"/>
    </a:accent5>
    <a:accent6>
      <a:srgbClr val="007CB0"/>
    </a:accent6>
    <a:hlink>
      <a:srgbClr val="00A3E0"/>
    </a:hlink>
    <a:folHlink>
      <a:srgbClr val="7F7F7F"/>
    </a:folHlink>
  </a:clrScheme>
  <a:fontScheme name="Custom 2">
    <a:majorFont>
      <a:latin typeface="Calibri"/>
      <a:ea typeface=""/>
      <a:cs typeface=""/>
    </a:majorFont>
    <a:minorFont>
      <a:latin typeface="Calibri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891D558BC6CE45BCCE0C5A666FB0F3" ma:contentTypeVersion="0" ma:contentTypeDescription="Criar um novo documento." ma:contentTypeScope="" ma:versionID="b40840396c289eb29a18cf70dabe61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e5dd87df735ef3b463c673a61c2ee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B01A42-E850-4F1D-B7E2-103B9FB8A37E}">
  <ds:schemaRefs>
    <ds:schemaRef ds:uri="7b741b50-e379-4134-b432-c1476f4a6b51"/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sharepoint/v3"/>
    <ds:schemaRef ds:uri="9d844b9b-c934-4070-9caf-02bb07f037bb"/>
    <ds:schemaRef ds:uri="cf199011-3632-4d70-bda7-dd40b324e6e4"/>
  </ds:schemaRefs>
</ds:datastoreItem>
</file>

<file path=customXml/itemProps2.xml><?xml version="1.0" encoding="utf-8"?>
<ds:datastoreItem xmlns:ds="http://schemas.openxmlformats.org/officeDocument/2006/customXml" ds:itemID="{551E9A20-B79D-4944-90BF-5455A43C4040}"/>
</file>

<file path=customXml/itemProps3.xml><?xml version="1.0" encoding="utf-8"?>
<ds:datastoreItem xmlns:ds="http://schemas.openxmlformats.org/officeDocument/2006/customXml" ds:itemID="{6A38195B-48AD-442D-9216-7F09B9CD4A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2198</Words>
  <Application>Microsoft Office PowerPoint</Application>
  <PresentationFormat>Widescreen</PresentationFormat>
  <Paragraphs>252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Arial</vt:lpstr>
      <vt:lpstr>Calibri</vt:lpstr>
      <vt:lpstr>Calibri </vt:lpstr>
      <vt:lpstr>Calibri (Body)</vt:lpstr>
      <vt:lpstr>Calibri Light</vt:lpstr>
      <vt:lpstr>Courier New</vt:lpstr>
      <vt:lpstr>Neo Sans</vt:lpstr>
      <vt:lpstr>Santander Headline</vt:lpstr>
      <vt:lpstr>Santander Text</vt:lpstr>
      <vt:lpstr>Trebuchet MS</vt:lpstr>
      <vt:lpstr>Wingdings</vt:lpstr>
      <vt:lpstr>Wingdings 2</vt:lpstr>
      <vt:lpstr>1_Tema de Office</vt:lpstr>
      <vt:lpstr>Diapositiva de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Deloitte</dc:creator>
  <cp:lastModifiedBy>Teresa Lúcio Guimarães</cp:lastModifiedBy>
  <cp:revision>3</cp:revision>
  <dcterms:created xsi:type="dcterms:W3CDTF">2024-04-10T08:13:45Z</dcterms:created>
  <dcterms:modified xsi:type="dcterms:W3CDTF">2024-12-16T18:26:16Z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2024-04-10T08:13:58Z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a22a985a-fdd2-47dd-9048-2a1d3983de2a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0x01010085891D558BC6CE45BCCE0C5A666FB0F3</vt:lpwstr>
  </property>
  <property fmtid="{D5CDD505-2E9C-101B-9397-08002B2CF9AE}" pid="10" name="MediaServiceImageTags">
    <vt:lpwstr/>
  </property>
  <property fmtid="{D5CDD505-2E9C-101B-9397-08002B2CF9AE}" pid="11" name="MSIP_Label_0c2abd79-57a9-4473-8700-c843f76a1e37_Enabled">
    <vt:lpwstr>true</vt:lpwstr>
  </property>
  <property fmtid="{D5CDD505-2E9C-101B-9397-08002B2CF9AE}" pid="12" name="MSIP_Label_0c2abd79-57a9-4473-8700-c843f76a1e37_SetDate">
    <vt:lpwstr>2024-12-16T18:26:07Z</vt:lpwstr>
  </property>
  <property fmtid="{D5CDD505-2E9C-101B-9397-08002B2CF9AE}" pid="13" name="MSIP_Label_0c2abd79-57a9-4473-8700-c843f76a1e37_Method">
    <vt:lpwstr>Privileged</vt:lpwstr>
  </property>
  <property fmtid="{D5CDD505-2E9C-101B-9397-08002B2CF9AE}" pid="14" name="MSIP_Label_0c2abd79-57a9-4473-8700-c843f76a1e37_Name">
    <vt:lpwstr>Internal</vt:lpwstr>
  </property>
  <property fmtid="{D5CDD505-2E9C-101B-9397-08002B2CF9AE}" pid="15" name="MSIP_Label_0c2abd79-57a9-4473-8700-c843f76a1e37_SiteId">
    <vt:lpwstr>35595a02-4d6d-44ac-99e1-f9ab4cd872db</vt:lpwstr>
  </property>
  <property fmtid="{D5CDD505-2E9C-101B-9397-08002B2CF9AE}" pid="16" name="MSIP_Label_0c2abd79-57a9-4473-8700-c843f76a1e37_ActionId">
    <vt:lpwstr>557be7c9-ef78-42e6-81b2-870153f24dee</vt:lpwstr>
  </property>
  <property fmtid="{D5CDD505-2E9C-101B-9397-08002B2CF9AE}" pid="17" name="MSIP_Label_0c2abd79-57a9-4473-8700-c843f76a1e37_ContentBits">
    <vt:lpwstr>0</vt:lpwstr>
  </property>
</Properties>
</file>