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094" r:id="rId5"/>
  </p:sldMasterIdLst>
  <p:notesMasterIdLst>
    <p:notesMasterId r:id="rId10"/>
  </p:notesMasterIdLst>
  <p:handoutMasterIdLst>
    <p:handoutMasterId r:id="rId11"/>
  </p:handoutMasterIdLst>
  <p:sldIdLst>
    <p:sldId id="2147377375" r:id="rId6"/>
    <p:sldId id="259" r:id="rId7"/>
    <p:sldId id="2147377584" r:id="rId8"/>
    <p:sldId id="399" r:id="rId9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8C"/>
    <a:srgbClr val="1AB2BB"/>
    <a:srgbClr val="99FFCC"/>
    <a:srgbClr val="FFDDDD"/>
    <a:srgbClr val="EB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50" y="108"/>
      </p:cViewPr>
      <p:guideLst>
        <p:guide orient="horz" pos="2297"/>
        <p:guide pos="3840"/>
        <p:guide orient="horz" pos="21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01/04/2024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01/04/2024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3b7496e9b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13b7496e9b_0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113b7496e9b_0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4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3377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1" y="1096745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29" y="2722773"/>
            <a:ext cx="4933667" cy="243701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1"/>
              </a:spcAft>
              <a:buNone/>
              <a:defRPr sz="1934">
                <a:solidFill>
                  <a:schemeClr val="tx2"/>
                </a:solidFill>
              </a:defRPr>
            </a:lvl1pPr>
            <a:lvl2pPr marL="441845" indent="0" algn="ctr">
              <a:buNone/>
              <a:defRPr sz="1934"/>
            </a:lvl2pPr>
            <a:lvl3pPr marL="883689" indent="0" algn="ctr">
              <a:buNone/>
              <a:defRPr sz="1741"/>
            </a:lvl3pPr>
            <a:lvl4pPr marL="1325530" indent="0" algn="ctr">
              <a:buNone/>
              <a:defRPr sz="1547"/>
            </a:lvl4pPr>
            <a:lvl5pPr marL="1767373" indent="0" algn="ctr">
              <a:buNone/>
              <a:defRPr sz="1547"/>
            </a:lvl5pPr>
            <a:lvl6pPr marL="2209221" indent="0" algn="ctr">
              <a:buNone/>
              <a:defRPr sz="1547"/>
            </a:lvl6pPr>
            <a:lvl7pPr marL="2651063" indent="0" algn="ctr">
              <a:buNone/>
              <a:defRPr sz="1547"/>
            </a:lvl7pPr>
            <a:lvl8pPr marL="3092906" indent="0" algn="ctr">
              <a:buNone/>
              <a:defRPr sz="1547"/>
            </a:lvl8pPr>
            <a:lvl9pPr marL="3534749" indent="0" algn="ctr">
              <a:buNone/>
              <a:defRPr sz="1547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63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1845" indent="0">
              <a:buNone/>
              <a:defRPr sz="1257">
                <a:solidFill>
                  <a:schemeClr val="tx2"/>
                </a:solidFill>
              </a:defRPr>
            </a:lvl2pPr>
            <a:lvl3pPr marL="883689" indent="0">
              <a:buNone/>
              <a:defRPr sz="1257">
                <a:solidFill>
                  <a:schemeClr val="tx2"/>
                </a:solidFill>
              </a:defRPr>
            </a:lvl3pPr>
            <a:lvl4pPr marL="1325530" indent="0">
              <a:buNone/>
              <a:defRPr sz="1257">
                <a:solidFill>
                  <a:schemeClr val="tx2"/>
                </a:solidFill>
              </a:defRPr>
            </a:lvl4pPr>
            <a:lvl5pPr marL="1767373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29555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40" y="312345"/>
            <a:ext cx="1849580" cy="282702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1257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496"/>
            <a:ext cx="10634459" cy="4907801"/>
          </a:xfrm>
        </p:spPr>
        <p:txBody>
          <a:bodyPr>
            <a:normAutofit/>
          </a:bodyPr>
          <a:lstStyle>
            <a:lvl1pPr marL="417489" indent="-382700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96280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1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1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4">
                <a:solidFill>
                  <a:schemeClr val="bg1"/>
                </a:solidFill>
              </a:defRPr>
            </a:lvl1pPr>
            <a:lvl2pPr>
              <a:defRPr sz="13346">
                <a:solidFill>
                  <a:schemeClr val="tx1"/>
                </a:solidFill>
              </a:defRPr>
            </a:lvl2pPr>
            <a:lvl3pPr>
              <a:defRPr sz="11122">
                <a:solidFill>
                  <a:schemeClr val="tx1"/>
                </a:solidFill>
              </a:defRPr>
            </a:lvl3pPr>
            <a:lvl4pPr>
              <a:defRPr sz="9284">
                <a:solidFill>
                  <a:schemeClr val="tx1"/>
                </a:solidFill>
              </a:defRPr>
            </a:lvl4pPr>
            <a:lvl5pPr>
              <a:defRPr sz="9284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12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7"/>
            <a:ext cx="5296867" cy="1606419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8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50183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09"/>
            <a:ext cx="10757333" cy="1823433"/>
          </a:xfrm>
        </p:spPr>
        <p:txBody>
          <a:bodyPr anchor="t">
            <a:no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6" y="3094281"/>
            <a:ext cx="10757333" cy="3084115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2276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83" y="1110017"/>
            <a:ext cx="3800624" cy="505185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04" y="1126533"/>
            <a:ext cx="6696163" cy="505186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5882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6" y="1087717"/>
            <a:ext cx="3910892" cy="1183406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2517752"/>
            <a:ext cx="3910892" cy="366064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07" y="1087690"/>
            <a:ext cx="6682681" cy="512404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937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77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8"/>
            <a:ext cx="6612104" cy="4503566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926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81"/>
            <a:ext cx="3910892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5" y="1192081"/>
            <a:ext cx="6455897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6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5" y="1994362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5" y="3685922"/>
            <a:ext cx="187127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</p:spTree>
    <p:extLst>
      <p:ext uri="{BB962C8B-B14F-4D97-AF65-F5344CB8AC3E}">
        <p14:creationId xmlns:p14="http://schemas.microsoft.com/office/powerpoint/2010/main" val="122831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31140"/>
            <a:ext cx="12190413" cy="16284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35"/>
            <a:ext cx="1347308" cy="45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0" y="5574867"/>
            <a:ext cx="578632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195" y="1946103"/>
            <a:ext cx="3365041" cy="1250066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pt-PT" sz="1257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257">
              <a:solidFill>
                <a:schemeClr val="tx2"/>
              </a:solidFill>
            </a:endParaRPr>
          </a:p>
          <a:p>
            <a:r>
              <a:rPr lang="pt-PT" sz="1257">
                <a:solidFill>
                  <a:schemeClr val="tx2"/>
                </a:solidFill>
              </a:rPr>
              <a:t>A nossa cultura baseia-se no princípio</a:t>
            </a:r>
            <a:r>
              <a:rPr lang="pt-PT" sz="1257" baseline="0">
                <a:solidFill>
                  <a:schemeClr val="tx2"/>
                </a:solidFill>
              </a:rPr>
              <a:t> </a:t>
            </a:r>
            <a:r>
              <a:rPr lang="pt-PT" sz="1257">
                <a:solidFill>
                  <a:schemeClr val="tx2"/>
                </a:solidFill>
              </a:rPr>
              <a:t>de que tudo</a:t>
            </a:r>
            <a:r>
              <a:rPr lang="pt-PT" sz="1257" baseline="0">
                <a:solidFill>
                  <a:schemeClr val="tx2"/>
                </a:solidFill>
              </a:rPr>
              <a:t> o </a:t>
            </a:r>
            <a:r>
              <a:rPr lang="pt-PT" sz="1257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18" y="628338"/>
            <a:ext cx="3365041" cy="684457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3868" err="1">
                <a:solidFill>
                  <a:schemeClr val="accent1"/>
                </a:solidFill>
              </a:rPr>
              <a:t>Obrigado</a:t>
            </a:r>
            <a:r>
              <a:rPr lang="es-ES" sz="3868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0924" y="3423933"/>
            <a:ext cx="2785550" cy="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98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exto a dos columnas">
  <p:cSld name="Interior texto a dos columna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9918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22719" y="284466"/>
            <a:ext cx="10978571" cy="51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095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26474" lvl="2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68632" lvl="3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10791" lvl="4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3"/>
          </p:nvPr>
        </p:nvSpPr>
        <p:spPr>
          <a:xfrm>
            <a:off x="622719" y="864200"/>
            <a:ext cx="10978571" cy="370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74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2pPr>
            <a:lvl3pPr marL="1326474" lvl="2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3pPr>
            <a:lvl4pPr marL="1768632" lvl="3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4pPr>
            <a:lvl5pPr marL="2210791" lvl="4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4"/>
          </p:nvPr>
        </p:nvSpPr>
        <p:spPr>
          <a:xfrm>
            <a:off x="6201993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023" y="6535295"/>
            <a:ext cx="1070438" cy="18778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343778" y="6439639"/>
            <a:ext cx="274284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6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4C3CA411-E46C-4918-92F8-09028ADD12C4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69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7"/>
            <a:ext cx="10514231" cy="4352346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-365914804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232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 dt="0"/>
  <p:txStyles>
    <p:titleStyle>
      <a:lvl1pPr algn="l" defTabSz="883689" rtl="0" eaLnBrk="1" latinLnBrk="0" hangingPunct="1">
        <a:lnSpc>
          <a:spcPct val="90000"/>
        </a:lnSpc>
        <a:spcBef>
          <a:spcPct val="0"/>
        </a:spcBef>
        <a:buNone/>
        <a:defRPr sz="43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22" indent="-220922" algn="l" defTabSz="883689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1pPr>
      <a:lvl2pPr marL="662766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4611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6452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988297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430140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871984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313829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755673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1pPr>
      <a:lvl2pPr marL="441845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2pPr>
      <a:lvl3pPr marL="88368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3pPr>
      <a:lvl4pPr marL="132553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76737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209221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65106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092906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53474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i="1" dirty="0" err="1" smtClean="0"/>
              <a:t>Report</a:t>
            </a:r>
            <a:r>
              <a:rPr lang="pt-PT" i="1" dirty="0" smtClean="0"/>
              <a:t> </a:t>
            </a:r>
            <a:r>
              <a:rPr lang="pt-PT" i="1" dirty="0" err="1" smtClean="0"/>
              <a:t>Valuation</a:t>
            </a:r>
            <a:endParaRPr lang="pt-PT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9886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1. </a:t>
            </a:r>
            <a:r>
              <a:rPr lang="es-ES" sz="1934" dirty="0" err="1" smtClean="0"/>
              <a:t>Enquadramento</a:t>
            </a:r>
            <a:endParaRPr lang="es-ES" sz="1934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5793581"/>
          </a:xfrm>
        </p:spPr>
        <p:txBody>
          <a:bodyPr>
            <a:noAutofit/>
          </a:bodyPr>
          <a:lstStyle/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Report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Valuation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foi solicitado pelo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Board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(Autoridade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Resolução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da União Bancária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Europeia) e tem como propósito realizar uma avaliação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robusta do Ativo do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Banco. Atualmente,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este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está a ser gerado via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SAS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, contudo, não está a ser alimentado pelas fontes mais apropriadas, não sendo possível a realização de parametrizações. Adicionalmente, não segue o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Modelo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atual de Governo de Dados.</a:t>
            </a:r>
          </a:p>
          <a:p>
            <a:pPr marL="727908" lvl="1" indent="-285750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Responsabilidade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Área de Gestão Financeira e de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Capital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Frequência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: Não existe frequência de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definida, contudo, deverá estar disponível quando for solicitado 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Envio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: Deverá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ser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enviado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à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Corporação,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que por sua vez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enviará ao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Board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Universo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20 ficheiros CSV (308 campos no total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88962"/>
              </p:ext>
            </p:extLst>
          </p:nvPr>
        </p:nvGraphicFramePr>
        <p:xfrm>
          <a:off x="1691639" y="3027397"/>
          <a:ext cx="9776630" cy="3247648"/>
        </p:xfrm>
        <a:graphic>
          <a:graphicData uri="http://schemas.openxmlformats.org/drawingml/2006/table">
            <a:tbl>
              <a:tblPr/>
              <a:tblGrid>
                <a:gridCol w="2261497">
                  <a:extLst>
                    <a:ext uri="{9D8B030D-6E8A-4147-A177-3AD203B41FA5}">
                      <a16:colId xmlns:a16="http://schemas.microsoft.com/office/drawing/2014/main" val="3920668561"/>
                    </a:ext>
                  </a:extLst>
                </a:gridCol>
                <a:gridCol w="2612841">
                  <a:extLst>
                    <a:ext uri="{9D8B030D-6E8A-4147-A177-3AD203B41FA5}">
                      <a16:colId xmlns:a16="http://schemas.microsoft.com/office/drawing/2014/main" val="1443770872"/>
                    </a:ext>
                  </a:extLst>
                </a:gridCol>
                <a:gridCol w="3754079">
                  <a:extLst>
                    <a:ext uri="{9D8B030D-6E8A-4147-A177-3AD203B41FA5}">
                      <a16:colId xmlns:a16="http://schemas.microsoft.com/office/drawing/2014/main" val="2874237066"/>
                    </a:ext>
                  </a:extLst>
                </a:gridCol>
                <a:gridCol w="1148213">
                  <a:extLst>
                    <a:ext uri="{9D8B030D-6E8A-4147-A177-3AD203B41FA5}">
                      <a16:colId xmlns:a16="http://schemas.microsoft.com/office/drawing/2014/main" val="907307770"/>
                    </a:ext>
                  </a:extLst>
                </a:gridCol>
              </a:tblGrid>
              <a:tr h="1605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Módulo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Submódulo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Nome do Ficheiro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</a:t>
                      </a:r>
                      <a:r>
                        <a:rPr lang="en-US" sz="9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Campos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61849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 legal persons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XXXXX_YYYYMMDD_01_01_leg_instr.csv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100793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XXXXX_YYYYMMDD_01_02_leg_count.csv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419835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XXXXX_YYYYMMDD_01_03_leg_prot.csv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10540"/>
                  </a:ext>
                </a:extLst>
              </a:tr>
              <a:tr h="133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XXXXX_YYYYMMDD_01_04_leg_instr_count.csv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066329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XXXXX_YYYYMMDD_01_05_leg_instr_prot.csv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56959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Exposures to natural persons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XXXXX_YYYYMMDD_02_01_nat_instr.csv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17368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XXXXX_YYYYMMDD_02_02_nat_count.csv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196929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XXXXX_YYYYMMDD_02_03_nat_prot.csv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268675"/>
                  </a:ext>
                </a:extLst>
              </a:tr>
              <a:tr h="1337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XXXXX_YYYYMMDD_02_04_nat_instr_count.csv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71029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XXXXX_YYYYMMDD_02_05_nat_instr_prot.csv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453398"/>
                  </a:ext>
                </a:extLst>
              </a:tr>
              <a:tr h="14724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Off-balance sheet exposures</a:t>
                      </a:r>
                    </a:p>
                  </a:txBody>
                  <a:tcPr marL="7605" marR="7605" marT="760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XXXXX_YYYYMMDD_03_01_off_instr.csv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09322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Counterparties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XXXXX_YYYYMMDD_03_02_off_count.csv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383558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Protections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XXXXX_YYYYMMDD_03_03_off_prot.csv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882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Instrument-Counterparty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XXXXX_YYYYMMDD_03_04_off_instr_count.csv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689007"/>
                  </a:ext>
                </a:extLst>
              </a:tr>
              <a:tr h="1472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Instrument-Protection relation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XXXXX_YYYYMMDD_03_05_off_instr_prot.csv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061315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Derivatives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XXXXX_YYYYMMDD_04_01_derivatives.csv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574157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Debt securities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XXXXX_YYYYMMDD_05_01_debtsecurities.csv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45935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Equity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XXXXX_YYYYMMDD_06_01_equity.csv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32458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DTAs/DTCs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XXXXX_YYYYMMDD_07_01_dtasdtcs.csv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46993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Intangible assets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XXXXX_YYYYMMDD_08_01_intangible.csv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05" marR="7605" marT="760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901010"/>
                  </a:ext>
                </a:extLst>
              </a:tr>
              <a:tr h="14724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308</a:t>
                      </a:r>
                    </a:p>
                  </a:txBody>
                  <a:tcPr marL="7605" marR="7605" marT="76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515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98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2</a:t>
            </a:r>
            <a:r>
              <a:rPr lang="es-ES" sz="1934" dirty="0" smtClean="0"/>
              <a:t>. </a:t>
            </a:r>
            <a:r>
              <a:rPr lang="es-ES" sz="1934" dirty="0" err="1"/>
              <a:t>Arquitetura</a:t>
            </a:r>
            <a:r>
              <a:rPr lang="es-ES" sz="1934" dirty="0"/>
              <a:t> </a:t>
            </a:r>
            <a:r>
              <a:rPr lang="es-ES" sz="1934" dirty="0" smtClean="0"/>
              <a:t>TO-BE</a:t>
            </a:r>
            <a:endParaRPr lang="es-ES" sz="1934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2081770"/>
          </a:xfrm>
        </p:spPr>
        <p:txBody>
          <a:bodyPr>
            <a:noAutofit/>
          </a:bodyPr>
          <a:lstStyle/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A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produção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deste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</a:t>
            </a:r>
            <a:r>
              <a:rPr lang="pt-BR" sz="1547" i="1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eport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será efetuada via motor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aproveitando assim o mesmo para gerar </a:t>
            </a:r>
            <a:r>
              <a:rPr lang="pt-BR" sz="1547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este novo âmbito/caso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de uso, garantido a coerência/consistência dos dados. </a:t>
            </a: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Esta</a:t>
            </a:r>
            <a:r>
              <a:rPr lang="pt-PT" altLang="en-US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solução tem por objetivo não só construir um processo robusto, consistente e sinérgico, mas também ir ao encontro da recomendação de Auditoria Interna (AUD11482).</a:t>
            </a:r>
            <a:r>
              <a:rPr lang="en-US" altLang="en-US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Atualmente o motor Loan Tape já serve o caso de uso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Estrutural e brevemente servirá também os casos de uso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Green Dashboard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 Pilar III, que se encontram em Desenvolvimento/Testes. No entanto, será necessário adicionar novos campos e novas parametrizações de forma a responder a este novo âmbito/caso de uso.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PT" sz="1547" dirty="0" smtClean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57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Rectángulo 68"/>
          <p:cNvSpPr/>
          <p:nvPr/>
        </p:nvSpPr>
        <p:spPr>
          <a:xfrm>
            <a:off x="1166474" y="2575769"/>
            <a:ext cx="1729305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48" name="Rectángulo 302"/>
          <p:cNvSpPr/>
          <p:nvPr/>
        </p:nvSpPr>
        <p:spPr>
          <a:xfrm>
            <a:off x="3589157" y="3441828"/>
            <a:ext cx="5882908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ángulo 305"/>
          <p:cNvSpPr/>
          <p:nvPr/>
        </p:nvSpPr>
        <p:spPr>
          <a:xfrm>
            <a:off x="3589156" y="2493890"/>
            <a:ext cx="7165158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Repositórios e Motores de SI</a:t>
            </a:r>
          </a:p>
        </p:txBody>
      </p:sp>
      <p:sp>
        <p:nvSpPr>
          <p:cNvPr id="150" name="Rectángulo 69"/>
          <p:cNvSpPr/>
          <p:nvPr/>
        </p:nvSpPr>
        <p:spPr>
          <a:xfrm>
            <a:off x="1187234" y="2493890"/>
            <a:ext cx="1682025" cy="2160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kumimoji="0" lang="en-GB" sz="10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Locais</a:t>
            </a:r>
            <a:endParaRPr kumimoji="0" lang="en-GB" sz="10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51" name="Rectangle 18"/>
          <p:cNvSpPr>
            <a:spLocks noChangeArrowheads="1"/>
          </p:cNvSpPr>
          <p:nvPr/>
        </p:nvSpPr>
        <p:spPr bwMode="auto">
          <a:xfrm>
            <a:off x="1354069" y="447816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52" name="Rectangle 32"/>
          <p:cNvSpPr>
            <a:spLocks noChangeArrowheads="1"/>
          </p:cNvSpPr>
          <p:nvPr/>
        </p:nvSpPr>
        <p:spPr bwMode="auto">
          <a:xfrm>
            <a:off x="1354069" y="299679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53" name="Rectangle 30"/>
          <p:cNvSpPr>
            <a:spLocks noChangeArrowheads="1"/>
          </p:cNvSpPr>
          <p:nvPr/>
        </p:nvSpPr>
        <p:spPr bwMode="auto">
          <a:xfrm>
            <a:off x="1354069" y="521884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BDP</a:t>
            </a:r>
          </a:p>
        </p:txBody>
      </p:sp>
      <p:sp>
        <p:nvSpPr>
          <p:cNvPr id="154" name="Rectangle 18"/>
          <p:cNvSpPr>
            <a:spLocks noChangeArrowheads="1"/>
          </p:cNvSpPr>
          <p:nvPr/>
        </p:nvSpPr>
        <p:spPr bwMode="auto">
          <a:xfrm>
            <a:off x="1354069" y="398437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Contencioso</a:t>
            </a:r>
          </a:p>
        </p:txBody>
      </p:sp>
      <p:sp>
        <p:nvSpPr>
          <p:cNvPr id="155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349058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Empréstimos</a:t>
            </a:r>
          </a:p>
        </p:txBody>
      </p:sp>
      <p:sp>
        <p:nvSpPr>
          <p:cNvPr id="156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4725055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</a:t>
            </a:r>
          </a:p>
        </p:txBody>
      </p:sp>
      <p:sp>
        <p:nvSpPr>
          <p:cNvPr id="157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324369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MUG</a:t>
            </a:r>
          </a:p>
        </p:txBody>
      </p:sp>
      <p:sp>
        <p:nvSpPr>
          <p:cNvPr id="15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749903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Finrep</a:t>
            </a:r>
          </a:p>
        </p:txBody>
      </p:sp>
      <p:sp>
        <p:nvSpPr>
          <p:cNvPr id="15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423126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Capital</a:t>
            </a: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971" y="373747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Imparidade</a:t>
            </a:r>
          </a:p>
        </p:txBody>
      </p:sp>
      <p:sp>
        <p:nvSpPr>
          <p:cNvPr id="161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66" y="4971949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580079" y="6031284"/>
            <a:ext cx="2111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Data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Lake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– </a:t>
            </a:r>
            <a:r>
              <a:rPr lang="pt-PT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 Tape</a:t>
            </a:r>
            <a:endParaRPr lang="pt-PT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63" name="Rectangle 30"/>
          <p:cNvSpPr>
            <a:spLocks noChangeArrowheads="1"/>
          </p:cNvSpPr>
          <p:nvPr/>
        </p:nvSpPr>
        <p:spPr bwMode="auto">
          <a:xfrm>
            <a:off x="1359766" y="5465737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164" name="Rectangle 30"/>
          <p:cNvSpPr>
            <a:spLocks noChangeArrowheads="1"/>
          </p:cNvSpPr>
          <p:nvPr/>
        </p:nvSpPr>
        <p:spPr bwMode="auto">
          <a:xfrm>
            <a:off x="1359766" y="5712631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MIS</a:t>
            </a:r>
          </a:p>
        </p:txBody>
      </p:sp>
      <p:sp>
        <p:nvSpPr>
          <p:cNvPr id="165" name="Rectangle 30"/>
          <p:cNvSpPr>
            <a:spLocks noChangeArrowheads="1"/>
          </p:cNvSpPr>
          <p:nvPr/>
        </p:nvSpPr>
        <p:spPr bwMode="auto">
          <a:xfrm>
            <a:off x="1359766" y="5959528"/>
            <a:ext cx="1363192" cy="18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…</a:t>
            </a:r>
          </a:p>
        </p:txBody>
      </p:sp>
      <p:grpSp>
        <p:nvGrpSpPr>
          <p:cNvPr id="166" name="Group 165"/>
          <p:cNvGrpSpPr/>
          <p:nvPr/>
        </p:nvGrpSpPr>
        <p:grpSpPr>
          <a:xfrm>
            <a:off x="6514847" y="2800422"/>
            <a:ext cx="729047" cy="553048"/>
            <a:chOff x="2988362" y="1267823"/>
            <a:chExt cx="737727" cy="564878"/>
          </a:xfrm>
        </p:grpSpPr>
        <p:pic>
          <p:nvPicPr>
            <p:cNvPr id="16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9" name="CuadroTexto 86"/>
          <p:cNvSpPr txBox="1"/>
          <p:nvPr/>
        </p:nvSpPr>
        <p:spPr>
          <a:xfrm>
            <a:off x="6294596" y="264828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4159827" y="3170587"/>
            <a:ext cx="982327" cy="240407"/>
            <a:chOff x="3608497" y="4223067"/>
            <a:chExt cx="952559" cy="323062"/>
          </a:xfrm>
        </p:grpSpPr>
        <p:sp>
          <p:nvSpPr>
            <p:cNvPr id="17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173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71" idx="2"/>
          </p:cNvCxnSpPr>
          <p:nvPr/>
        </p:nvCxnSpPr>
        <p:spPr>
          <a:xfrm rot="16200000" flipH="1">
            <a:off x="4293689" y="3629736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4" name="Elbow Connector 173"/>
          <p:cNvCxnSpPr>
            <a:endCxn id="172" idx="0"/>
          </p:cNvCxnSpPr>
          <p:nvPr/>
        </p:nvCxnSpPr>
        <p:spPr>
          <a:xfrm rot="10800000" flipV="1">
            <a:off x="4653463" y="3055921"/>
            <a:ext cx="1861384" cy="132956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75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45" y="3904745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" name="CuadroTexto 86"/>
          <p:cNvSpPr txBox="1"/>
          <p:nvPr/>
        </p:nvSpPr>
        <p:spPr>
          <a:xfrm>
            <a:off x="3926454" y="426794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7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421113" y="4979085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78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CuadroTexto 86"/>
          <p:cNvSpPr txBox="1"/>
          <p:nvPr/>
        </p:nvSpPr>
        <p:spPr>
          <a:xfrm>
            <a:off x="5000103" y="537218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82" name="Elbow Connector 181"/>
          <p:cNvCxnSpPr>
            <a:stCxn id="158" idx="3"/>
            <a:endCxn id="179" idx="2"/>
          </p:cNvCxnSpPr>
          <p:nvPr/>
        </p:nvCxnSpPr>
        <p:spPr>
          <a:xfrm>
            <a:off x="2717261" y="2839903"/>
            <a:ext cx="2703852" cy="234167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3" name="Elbow Connector 182"/>
          <p:cNvCxnSpPr>
            <a:stCxn id="175" idx="2"/>
            <a:endCxn id="179" idx="2"/>
          </p:cNvCxnSpPr>
          <p:nvPr/>
        </p:nvCxnSpPr>
        <p:spPr>
          <a:xfrm rot="16200000" flipH="1">
            <a:off x="4537866" y="4298331"/>
            <a:ext cx="867829" cy="89866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84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3876423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5" name="Group 184"/>
          <p:cNvGrpSpPr/>
          <p:nvPr/>
        </p:nvGrpSpPr>
        <p:grpSpPr>
          <a:xfrm>
            <a:off x="6210095" y="3562128"/>
            <a:ext cx="2268887" cy="2503429"/>
            <a:chOff x="6210095" y="2525811"/>
            <a:chExt cx="2091549" cy="2660071"/>
          </a:xfrm>
        </p:grpSpPr>
        <p:sp>
          <p:nvSpPr>
            <p:cNvPr id="186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7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88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91" name="CuadroTexto 86"/>
          <p:cNvSpPr txBox="1"/>
          <p:nvPr/>
        </p:nvSpPr>
        <p:spPr>
          <a:xfrm>
            <a:off x="6225132" y="421070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2" name="CuadroTexto 86"/>
          <p:cNvSpPr txBox="1"/>
          <p:nvPr/>
        </p:nvSpPr>
        <p:spPr>
          <a:xfrm>
            <a:off x="6234191" y="4954142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3" name="CuadroTexto 86"/>
          <p:cNvSpPr txBox="1"/>
          <p:nvPr/>
        </p:nvSpPr>
        <p:spPr>
          <a:xfrm>
            <a:off x="6234192" y="5727038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194" name="CuadroTexto 86"/>
          <p:cNvSpPr txBox="1"/>
          <p:nvPr/>
        </p:nvSpPr>
        <p:spPr>
          <a:xfrm>
            <a:off x="7272507" y="538207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195" name="CuadroTexto 86"/>
          <p:cNvSpPr txBox="1"/>
          <p:nvPr/>
        </p:nvSpPr>
        <p:spPr>
          <a:xfrm>
            <a:off x="7268084" y="453540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pic>
        <p:nvPicPr>
          <p:cNvPr id="196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4605859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5375578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162" y="5045682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142" y="4145856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CuadroTexto 86"/>
          <p:cNvSpPr txBox="1"/>
          <p:nvPr/>
        </p:nvSpPr>
        <p:spPr>
          <a:xfrm>
            <a:off x="5783045" y="3358762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01" name="Elbow Connector 200"/>
          <p:cNvCxnSpPr>
            <a:stCxn id="179" idx="4"/>
          </p:cNvCxnSpPr>
          <p:nvPr/>
        </p:nvCxnSpPr>
        <p:spPr>
          <a:xfrm flipV="1">
            <a:off x="5793545" y="5178968"/>
            <a:ext cx="602899" cy="2611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2" name="Straight Arrow Connector 201"/>
          <p:cNvCxnSpPr/>
          <p:nvPr/>
        </p:nvCxnSpPr>
        <p:spPr>
          <a:xfrm flipV="1">
            <a:off x="2904858" y="5743217"/>
            <a:ext cx="3471735" cy="5587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3" name="Elbow Connector 202"/>
          <p:cNvCxnSpPr>
            <a:stCxn id="167" idx="2"/>
            <a:endCxn id="180" idx="0"/>
          </p:cNvCxnSpPr>
          <p:nvPr/>
        </p:nvCxnSpPr>
        <p:spPr>
          <a:xfrm rot="5400000">
            <a:off x="5447402" y="3513398"/>
            <a:ext cx="1677304" cy="1357449"/>
          </a:xfrm>
          <a:prstGeom prst="bentConnector3">
            <a:avLst>
              <a:gd name="adj1" fmla="val 366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04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69" y="3883500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637" y="5207206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" name="Elbow Connector 205"/>
          <p:cNvCxnSpPr>
            <a:stCxn id="167" idx="3"/>
            <a:endCxn id="205" idx="0"/>
          </p:cNvCxnSpPr>
          <p:nvPr/>
        </p:nvCxnSpPr>
        <p:spPr>
          <a:xfrm>
            <a:off x="7243894" y="3076946"/>
            <a:ext cx="1781103" cy="2130260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07" name="Group 206"/>
          <p:cNvGrpSpPr/>
          <p:nvPr/>
        </p:nvGrpSpPr>
        <p:grpSpPr>
          <a:xfrm>
            <a:off x="10022913" y="4532297"/>
            <a:ext cx="1288224" cy="1197595"/>
            <a:chOff x="10072503" y="3695273"/>
            <a:chExt cx="1288224" cy="1197595"/>
          </a:xfrm>
        </p:grpSpPr>
        <p:grpSp>
          <p:nvGrpSpPr>
            <p:cNvPr id="208" name="Group 207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210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209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2" name="Straight Arrow Connector 211"/>
          <p:cNvCxnSpPr/>
          <p:nvPr/>
        </p:nvCxnSpPr>
        <p:spPr>
          <a:xfrm flipV="1">
            <a:off x="9219875" y="5339986"/>
            <a:ext cx="911848" cy="1093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3" name="Straight Arrow Connector 212"/>
          <p:cNvCxnSpPr>
            <a:endCxn id="205" idx="1"/>
          </p:cNvCxnSpPr>
          <p:nvPr/>
        </p:nvCxnSpPr>
        <p:spPr>
          <a:xfrm>
            <a:off x="8494717" y="5336566"/>
            <a:ext cx="40092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4" name="TextBox 213"/>
          <p:cNvSpPr txBox="1"/>
          <p:nvPr/>
        </p:nvSpPr>
        <p:spPr>
          <a:xfrm>
            <a:off x="9623526" y="5696611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dirty="0" smtClean="0">
                <a:solidFill>
                  <a:prstClr val="black"/>
                </a:solidFill>
                <a:latin typeface="Calibri" panose="020F0502020204030204"/>
              </a:rPr>
              <a:t>Legenda: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15" name="Straight Connector 214"/>
          <p:cNvCxnSpPr/>
          <p:nvPr/>
        </p:nvCxnSpPr>
        <p:spPr>
          <a:xfrm>
            <a:off x="9741380" y="5937164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6" name="Straight Connector 215"/>
          <p:cNvCxnSpPr/>
          <p:nvPr/>
        </p:nvCxnSpPr>
        <p:spPr>
          <a:xfrm>
            <a:off x="9741380" y="6072528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Straight Connector 216"/>
          <p:cNvCxnSpPr/>
          <p:nvPr/>
        </p:nvCxnSpPr>
        <p:spPr>
          <a:xfrm>
            <a:off x="9741380" y="6210380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10146286" y="582174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0146286" y="596322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10143099" y="609496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 smtClean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68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69" grpId="0"/>
      <p:bldP spid="176" grpId="0"/>
      <p:bldP spid="181" grpId="0"/>
      <p:bldP spid="191" grpId="0"/>
      <p:bldP spid="192" grpId="0"/>
      <p:bldP spid="193" grpId="0"/>
      <p:bldP spid="194" grpId="0"/>
      <p:bldP spid="195" grpId="0"/>
      <p:bldP spid="2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7D0F5B5-9F31-E4AE-3271-9C61E6DE5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083378"/>
              </p:ext>
            </p:extLst>
          </p:nvPr>
        </p:nvGraphicFramePr>
        <p:xfrm>
          <a:off x="4327808" y="1144033"/>
          <a:ext cx="3630300" cy="3139577"/>
        </p:xfrm>
        <a:graphic>
          <a:graphicData uri="http://schemas.openxmlformats.org/drawingml/2006/table">
            <a:tbl>
              <a:tblPr/>
              <a:tblGrid>
                <a:gridCol w="72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3392812642"/>
                    </a:ext>
                  </a:extLst>
                </a:gridCol>
              </a:tblGrid>
              <a:tr h="212444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2Q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3Q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4Q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2025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673"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2ED798E-A717-C7B4-45DA-3E08355F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35351"/>
              </p:ext>
            </p:extLst>
          </p:nvPr>
        </p:nvGraphicFramePr>
        <p:xfrm>
          <a:off x="1031727" y="1144033"/>
          <a:ext cx="3296899" cy="3139307"/>
        </p:xfrm>
        <a:graphic>
          <a:graphicData uri="http://schemas.openxmlformats.org/drawingml/2006/table">
            <a:tbl>
              <a:tblPr/>
              <a:tblGrid>
                <a:gridCol w="329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444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Atividades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403">
                <a:tc>
                  <a:txBody>
                    <a:bodyPr/>
                    <a:lstStyle/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Análise Funcional</a:t>
                      </a:r>
                      <a:r>
                        <a:rPr lang="pt-BR" sz="1000" b="1" baseline="0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(Mapeamento dos campos, DDR)</a:t>
                      </a:r>
                      <a:endParaRPr lang="pt-BR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err="1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Desenvolvimento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Testes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 smtClean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Definição/Implementação</a:t>
                      </a:r>
                      <a:r>
                        <a:rPr lang="pt-BR" sz="1000" b="1" baseline="0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de </a:t>
                      </a:r>
                      <a:r>
                        <a:rPr lang="pt-BR" sz="1000" b="1" dirty="0" smtClean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Controlos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3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9237306" y="6339939"/>
            <a:ext cx="2652947" cy="35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417" tIns="44196" rIns="88417" bIns="44196" rtlCol="0" anchor="ctr" anchorCtr="0">
            <a:noAutofit/>
          </a:bodyPr>
          <a:lstStyle/>
          <a:p>
            <a:pPr marL="0" marR="0" lvl="0" indent="0" algn="r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8843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4</a:t>
            </a:fld>
            <a:endParaRPr kumimoji="0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44;p14">
            <a:extLst>
              <a:ext uri="{FF2B5EF4-FFF2-40B4-BE49-F238E27FC236}">
                <a16:creationId xmlns:a16="http://schemas.microsoft.com/office/drawing/2014/main" id="{FC1EC8AE-4C14-3DE0-A8B1-08DA977CD8B1}"/>
              </a:ext>
            </a:extLst>
          </p:cNvPr>
          <p:cNvSpPr txBox="1"/>
          <p:nvPr/>
        </p:nvSpPr>
        <p:spPr>
          <a:xfrm>
            <a:off x="889117" y="337712"/>
            <a:ext cx="7255856" cy="35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17" tIns="44196" rIns="88417" bIns="44196" anchor="t" anchorCtr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kumimoji="0" lang="es-ES" sz="1934" b="0" i="0" u="none" strike="noStrike" kern="1200" cap="none" spc="0" normalizeH="0" baseline="0" noProof="0" dirty="0" err="1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Calendário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indicativo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5CA0108-8520-4B6A-B42A-E39931F952FE}"/>
              </a:ext>
            </a:extLst>
          </p:cNvPr>
          <p:cNvCxnSpPr>
            <a:cxnSpLocks/>
          </p:cNvCxnSpPr>
          <p:nvPr/>
        </p:nvCxnSpPr>
        <p:spPr>
          <a:xfrm>
            <a:off x="5904288" y="1072950"/>
            <a:ext cx="0" cy="5744570"/>
          </a:xfrm>
          <a:prstGeom prst="line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</p:cxnSp>
      <p:sp>
        <p:nvSpPr>
          <p:cNvPr id="8" name="Rectángulo 111">
            <a:extLst>
              <a:ext uri="{FF2B5EF4-FFF2-40B4-BE49-F238E27FC236}">
                <a16:creationId xmlns:a16="http://schemas.microsoft.com/office/drawing/2014/main" id="{161A4B43-328E-15C3-8BAD-41880F12218F}"/>
              </a:ext>
            </a:extLst>
          </p:cNvPr>
          <p:cNvSpPr/>
          <p:nvPr/>
        </p:nvSpPr>
        <p:spPr>
          <a:xfrm>
            <a:off x="4829181" y="1487984"/>
            <a:ext cx="720000" cy="104136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1741" kern="0">
              <a:solidFill>
                <a:prstClr val="white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9" name="Rombo 44">
            <a:extLst>
              <a:ext uri="{FF2B5EF4-FFF2-40B4-BE49-F238E27FC236}">
                <a16:creationId xmlns:a16="http://schemas.microsoft.com/office/drawing/2014/main" id="{2C85603B-B3B5-13A1-6EB8-5472DB466424}"/>
              </a:ext>
            </a:extLst>
          </p:cNvPr>
          <p:cNvSpPr/>
          <p:nvPr/>
        </p:nvSpPr>
        <p:spPr>
          <a:xfrm>
            <a:off x="4782776" y="1448583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" name="Rombo 44">
            <a:extLst>
              <a:ext uri="{FF2B5EF4-FFF2-40B4-BE49-F238E27FC236}">
                <a16:creationId xmlns:a16="http://schemas.microsoft.com/office/drawing/2014/main" id="{3179F618-DFFB-61D8-6869-7643021D4D4C}"/>
              </a:ext>
            </a:extLst>
          </p:cNvPr>
          <p:cNvSpPr/>
          <p:nvPr/>
        </p:nvSpPr>
        <p:spPr>
          <a:xfrm>
            <a:off x="5487197" y="1448583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6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5539662" y="2159321"/>
            <a:ext cx="951498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451612" y="2116249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2" name="Rectangle 57">
            <a:extLst>
              <a:ext uri="{FF2B5EF4-FFF2-40B4-BE49-F238E27FC236}">
                <a16:creationId xmlns:a16="http://schemas.microsoft.com/office/drawing/2014/main" id="{6FD458DF-3F01-762D-F0C7-41DC062529EE}"/>
              </a:ext>
            </a:extLst>
          </p:cNvPr>
          <p:cNvSpPr/>
          <p:nvPr/>
        </p:nvSpPr>
        <p:spPr>
          <a:xfrm>
            <a:off x="343473" y="578676"/>
            <a:ext cx="679109" cy="530573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5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1" name="Rombo 44">
            <a:extLst>
              <a:ext uri="{FF2B5EF4-FFF2-40B4-BE49-F238E27FC236}">
                <a16:creationId xmlns:a16="http://schemas.microsoft.com/office/drawing/2014/main" id="{80250042-7F4A-4A0C-016C-0CCD5CCAC3B3}"/>
              </a:ext>
            </a:extLst>
          </p:cNvPr>
          <p:cNvSpPr/>
          <p:nvPr/>
        </p:nvSpPr>
        <p:spPr>
          <a:xfrm>
            <a:off x="7855895" y="6075653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2" name="TextBox 245">
            <a:extLst>
              <a:ext uri="{FF2B5EF4-FFF2-40B4-BE49-F238E27FC236}">
                <a16:creationId xmlns:a16="http://schemas.microsoft.com/office/drawing/2014/main" id="{76A7400C-228D-794A-4C26-68B6C8FE01EE}"/>
              </a:ext>
            </a:extLst>
          </p:cNvPr>
          <p:cNvSpPr txBox="1"/>
          <p:nvPr/>
        </p:nvSpPr>
        <p:spPr>
          <a:xfrm>
            <a:off x="7900093" y="6072551"/>
            <a:ext cx="1001020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Start day</a:t>
            </a:r>
          </a:p>
        </p:txBody>
      </p:sp>
      <p:sp>
        <p:nvSpPr>
          <p:cNvPr id="63" name="TextBox 247">
            <a:extLst>
              <a:ext uri="{FF2B5EF4-FFF2-40B4-BE49-F238E27FC236}">
                <a16:creationId xmlns:a16="http://schemas.microsoft.com/office/drawing/2014/main" id="{F6F56E85-562D-764A-FA2A-5F5CD870B801}"/>
              </a:ext>
            </a:extLst>
          </p:cNvPr>
          <p:cNvSpPr txBox="1"/>
          <p:nvPr/>
        </p:nvSpPr>
        <p:spPr>
          <a:xfrm>
            <a:off x="8902332" y="6058514"/>
            <a:ext cx="1085315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End day</a:t>
            </a:r>
          </a:p>
        </p:txBody>
      </p:sp>
      <p:sp>
        <p:nvSpPr>
          <p:cNvPr id="128" name="Rombo 209">
            <a:extLst>
              <a:ext uri="{FF2B5EF4-FFF2-40B4-BE49-F238E27FC236}">
                <a16:creationId xmlns:a16="http://schemas.microsoft.com/office/drawing/2014/main" id="{A4911074-8108-268C-7414-74A981A1C1E6}"/>
              </a:ext>
            </a:extLst>
          </p:cNvPr>
          <p:cNvSpPr/>
          <p:nvPr/>
        </p:nvSpPr>
        <p:spPr>
          <a:xfrm>
            <a:off x="9785947" y="6075653"/>
            <a:ext cx="104447" cy="174078"/>
          </a:xfrm>
          <a:prstGeom prst="diamond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29" name="TextBox 249">
            <a:extLst>
              <a:ext uri="{FF2B5EF4-FFF2-40B4-BE49-F238E27FC236}">
                <a16:creationId xmlns:a16="http://schemas.microsoft.com/office/drawing/2014/main" id="{C0C8793F-6B7E-315B-CCC8-AF8A1C032567}"/>
              </a:ext>
            </a:extLst>
          </p:cNvPr>
          <p:cNvSpPr txBox="1"/>
          <p:nvPr/>
        </p:nvSpPr>
        <p:spPr>
          <a:xfrm>
            <a:off x="9888689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Delay</a:t>
            </a:r>
          </a:p>
        </p:txBody>
      </p:sp>
      <p:sp>
        <p:nvSpPr>
          <p:cNvPr id="130" name="Rombo 209">
            <a:extLst>
              <a:ext uri="{FF2B5EF4-FFF2-40B4-BE49-F238E27FC236}">
                <a16:creationId xmlns:a16="http://schemas.microsoft.com/office/drawing/2014/main" id="{5400F001-6C78-F223-C4DE-DCD58E9B6FEE}"/>
              </a:ext>
            </a:extLst>
          </p:cNvPr>
          <p:cNvSpPr/>
          <p:nvPr/>
        </p:nvSpPr>
        <p:spPr>
          <a:xfrm>
            <a:off x="8796355" y="6075653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3" name="Rombo 209">
            <a:extLst>
              <a:ext uri="{FF2B5EF4-FFF2-40B4-BE49-F238E27FC236}">
                <a16:creationId xmlns:a16="http://schemas.microsoft.com/office/drawing/2014/main" id="{258AA636-D956-3C8D-AE0E-0A7C4BA8708E}"/>
              </a:ext>
            </a:extLst>
          </p:cNvPr>
          <p:cNvSpPr/>
          <p:nvPr/>
        </p:nvSpPr>
        <p:spPr>
          <a:xfrm>
            <a:off x="10304333" y="6075653"/>
            <a:ext cx="104447" cy="174078"/>
          </a:xfrm>
          <a:prstGeom prst="diamond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4" name="TextBox 249">
            <a:extLst>
              <a:ext uri="{FF2B5EF4-FFF2-40B4-BE49-F238E27FC236}">
                <a16:creationId xmlns:a16="http://schemas.microsoft.com/office/drawing/2014/main" id="{F05DEB8F-E866-ED9B-F493-A3F929C2F165}"/>
              </a:ext>
            </a:extLst>
          </p:cNvPr>
          <p:cNvSpPr txBox="1"/>
          <p:nvPr/>
        </p:nvSpPr>
        <p:spPr>
          <a:xfrm>
            <a:off x="10407075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Completed</a:t>
            </a:r>
          </a:p>
        </p:txBody>
      </p:sp>
      <p:sp>
        <p:nvSpPr>
          <p:cNvPr id="135" name="Rectángulo 111">
            <a:extLst>
              <a:ext uri="{FF2B5EF4-FFF2-40B4-BE49-F238E27FC236}">
                <a16:creationId xmlns:a16="http://schemas.microsoft.com/office/drawing/2014/main" id="{BE1AB838-C366-D258-F979-100B2002C3B1}"/>
              </a:ext>
            </a:extLst>
          </p:cNvPr>
          <p:cNvSpPr/>
          <p:nvPr/>
        </p:nvSpPr>
        <p:spPr>
          <a:xfrm>
            <a:off x="11044913" y="6095481"/>
            <a:ext cx="278525" cy="104447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6" name="TextBox 249">
            <a:extLst>
              <a:ext uri="{FF2B5EF4-FFF2-40B4-BE49-F238E27FC236}">
                <a16:creationId xmlns:a16="http://schemas.microsoft.com/office/drawing/2014/main" id="{72350598-9BCB-11EC-9D2E-2169EC7BF58B}"/>
              </a:ext>
            </a:extLst>
          </p:cNvPr>
          <p:cNvSpPr txBox="1"/>
          <p:nvPr/>
        </p:nvSpPr>
        <p:spPr>
          <a:xfrm>
            <a:off x="11327407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WIP</a:t>
            </a:r>
          </a:p>
        </p:txBody>
      </p:sp>
      <p:sp>
        <p:nvSpPr>
          <p:cNvPr id="2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487197" y="2116249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320376" y="1586022"/>
            <a:ext cx="44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31/05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270836" y="2271592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30/09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0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6505878" y="2833430"/>
            <a:ext cx="504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1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930148" y="2790358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3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6453413" y="2790358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794151" y="2931365"/>
            <a:ext cx="488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30/11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0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6984033" y="3537652"/>
            <a:ext cx="252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1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7179701" y="3494580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2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6930148" y="3494580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7022330" y="3678166"/>
            <a:ext cx="4681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30/12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4623964" y="1586022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01/03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305449" y="2271592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01/06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304544" y="2931365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 smtClean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01/10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69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3" ma:contentTypeDescription="Criar um novo documento." ma:contentTypeScope="" ma:versionID="af2f9aa599193a55c79d292d76b6e337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4b25a183bab0937220f8c9e03018195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10D050-DF1B-4E4D-81F1-0DA827DFF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20CB99-AA57-49EC-B354-B607C2517B35}"/>
</file>

<file path=customXml/itemProps3.xml><?xml version="1.0" encoding="utf-8"?>
<ds:datastoreItem xmlns:ds="http://schemas.openxmlformats.org/officeDocument/2006/customXml" ds:itemID="{C110BE0F-158A-4048-94DA-080A6D67F648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09d3dac3-f296-4107-b579-4b1e37be6169"/>
    <ds:schemaRef ds:uri="5ad20f8b-9281-4829-a9aa-2b5a878ba2cc"/>
    <ds:schemaRef ds:uri="http://purl.org/dc/elements/1.1/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441</Words>
  <Application>Microsoft Office PowerPoint</Application>
  <PresentationFormat>Custom</PresentationFormat>
  <Paragraphs>150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Santander Headline</vt:lpstr>
      <vt:lpstr>Santander Text</vt:lpstr>
      <vt:lpstr>Times New Roman</vt:lpstr>
      <vt:lpstr>Tema de Office</vt:lpstr>
      <vt:lpstr>1_Tema de Office</vt:lpstr>
      <vt:lpstr>Report Valuation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Luís Filipe da Silva Pragosa</cp:lastModifiedBy>
  <cp:revision>42</cp:revision>
  <cp:lastPrinted>2020-02-14T10:49:34Z</cp:lastPrinted>
  <dcterms:created xsi:type="dcterms:W3CDTF">2018-03-19T11:10:43Z</dcterms:created>
  <dcterms:modified xsi:type="dcterms:W3CDTF">2024-04-01T10:45:00Z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0x0101000B6B9A5E792D2446B8986FAE34BEC557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2023-06-28T18:41:32Z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42f206b2-c692-4cb8-aa10-e52fc96ae511</vt:lpwstr>
  </property>
  <property fmtid="{D5CDD505-2E9C-101B-9397-08002B2CF9AE}" pid="10" name="MSIP_Label_c28a54a4-093b-4fbd-aebd-593e22a43ea3_ContentBits">
    <vt:lpwstr>1</vt:lpwstr>
  </property>
</Properties>
</file>