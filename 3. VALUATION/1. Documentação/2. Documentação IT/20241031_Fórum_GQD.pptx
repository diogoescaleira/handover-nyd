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4094" r:id="rId5"/>
  </p:sldMasterIdLst>
  <p:notesMasterIdLst>
    <p:notesMasterId r:id="rId13"/>
  </p:notesMasterIdLst>
  <p:handoutMasterIdLst>
    <p:handoutMasterId r:id="rId14"/>
  </p:handoutMasterIdLst>
  <p:sldIdLst>
    <p:sldId id="2147377375" r:id="rId6"/>
    <p:sldId id="259" r:id="rId7"/>
    <p:sldId id="2147377584" r:id="rId8"/>
    <p:sldId id="2147377585" r:id="rId9"/>
    <p:sldId id="2147377587" r:id="rId10"/>
    <p:sldId id="399" r:id="rId11"/>
    <p:sldId id="2147377586" r:id="rId12"/>
  </p:sldIdLst>
  <p:sldSz cx="12190413" cy="6859588"/>
  <p:notesSz cx="6858000" cy="9926638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868C"/>
    <a:srgbClr val="1AB2BB"/>
    <a:srgbClr val="99FFCC"/>
    <a:srgbClr val="FFDDDD"/>
    <a:srgbClr val="EB0000"/>
    <a:srgbClr val="DEEDF2"/>
    <a:srgbClr val="3C3C3B"/>
    <a:srgbClr val="363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94660"/>
  </p:normalViewPr>
  <p:slideViewPr>
    <p:cSldViewPr snapToGrid="0">
      <p:cViewPr varScale="1">
        <p:scale>
          <a:sx n="74" d="100"/>
          <a:sy n="74" d="100"/>
        </p:scale>
        <p:origin x="1454" y="67"/>
      </p:cViewPr>
      <p:guideLst>
        <p:guide orient="horz" pos="2297"/>
        <p:guide pos="3840"/>
        <p:guide orient="horz" pos="21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ís Filipe da Silva Pragosa" userId="4d0e0cea-b732-4472-9144-3c8ba6b0f54b" providerId="ADAL" clId="{E6B3F969-B5A0-4E4C-AD14-5EF80DEA546E}"/>
    <pc:docChg chg="addSld">
      <pc:chgData name="Luís Filipe da Silva Pragosa" userId="4d0e0cea-b732-4472-9144-3c8ba6b0f54b" providerId="ADAL" clId="{E6B3F969-B5A0-4E4C-AD14-5EF80DEA546E}" dt="2026-02-02T15:45:55.454" v="0" actId="680"/>
      <pc:docMkLst>
        <pc:docMk/>
      </pc:docMkLst>
      <pc:sldChg chg="new">
        <pc:chgData name="Luís Filipe da Silva Pragosa" userId="4d0e0cea-b732-4472-9144-3c8ba6b0f54b" providerId="ADAL" clId="{E6B3F969-B5A0-4E4C-AD14-5EF80DEA546E}" dt="2026-02-02T15:45:55.454" v="0" actId="680"/>
        <pc:sldMkLst>
          <pc:docMk/>
          <pc:sldMk cId="2619194244" sldId="21473775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02/02/2026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4025" y="1241425"/>
            <a:ext cx="59499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3b7496e9b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13b7496e9b_0_2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113b7496e9b_0_2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6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3377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13b7496e9b_0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113b7496e9b_0_2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113b7496e9b_0_2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  <a:tabLst/>
                <a:defRPr/>
              </a:pPr>
              <a:t>7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02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2" y="1096740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35" y="2722781"/>
            <a:ext cx="4933667" cy="243701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9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57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189" indent="0">
              <a:buNone/>
              <a:defRPr sz="1300">
                <a:solidFill>
                  <a:schemeClr val="tx2"/>
                </a:solidFill>
              </a:defRPr>
            </a:lvl2pPr>
            <a:lvl3pPr marL="914377" indent="0">
              <a:buNone/>
              <a:defRPr sz="1300">
                <a:solidFill>
                  <a:schemeClr val="tx2"/>
                </a:solidFill>
              </a:defRPr>
            </a:lvl3pPr>
            <a:lvl4pPr marL="1371566" indent="0">
              <a:buNone/>
              <a:defRPr sz="1300">
                <a:solidFill>
                  <a:schemeClr val="tx2"/>
                </a:solidFill>
              </a:defRPr>
            </a:lvl4pPr>
            <a:lvl5pPr marL="1828754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39" y="312351"/>
            <a:ext cx="1849581" cy="2975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503"/>
            <a:ext cx="10634458" cy="4907801"/>
          </a:xfrm>
        </p:spPr>
        <p:txBody>
          <a:bodyPr>
            <a:normAutofit/>
          </a:bodyPr>
          <a:lstStyle>
            <a:lvl1pPr marL="431989" indent="-39599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79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4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39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0" y="1087719"/>
            <a:ext cx="5296868" cy="160641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3" y="3094289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47" y="1087718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8" y="1087718"/>
            <a:ext cx="10757333" cy="1823433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40" y="3094289"/>
            <a:ext cx="10757333" cy="3084115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76" y="1110027"/>
            <a:ext cx="3800624" cy="505185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10" y="1126534"/>
            <a:ext cx="6696163" cy="505186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1"/>
            <a:ext cx="3910892" cy="1183406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2517761"/>
            <a:ext cx="3910892" cy="366064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10" y="1087699"/>
            <a:ext cx="6682681" cy="5124049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1" y="1708172"/>
            <a:ext cx="6612105" cy="450356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9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9" y="6211038"/>
            <a:ext cx="2742843" cy="365210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44" y="6263778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2" y="337187"/>
            <a:ext cx="10757334" cy="30487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 sz="1100"/>
            </a:lvl2pPr>
            <a:lvl3pPr marL="914377" indent="0">
              <a:buFontTx/>
              <a:buNone/>
              <a:defRPr sz="1100"/>
            </a:lvl3pPr>
            <a:lvl4pPr marL="1371566" indent="0">
              <a:buFontTx/>
              <a:buNone/>
              <a:defRPr sz="1100"/>
            </a:lvl4pPr>
            <a:lvl5pPr marL="1828754" indent="0">
              <a:buFontTx/>
              <a:buNone/>
              <a:defRPr sz="11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3" y="1192086"/>
            <a:ext cx="3910892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8" y="1192086"/>
            <a:ext cx="6455897" cy="65769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37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56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754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71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8" y="1994371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0" y="3685924"/>
            <a:ext cx="187126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9" y="5231142"/>
            <a:ext cx="12190413" cy="1628456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28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44"/>
            <a:ext cx="1347307" cy="45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8" y="5574876"/>
            <a:ext cx="578631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04" y="1946100"/>
            <a:ext cx="3365041" cy="1384993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21" y="628348"/>
            <a:ext cx="3365041" cy="70805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pt-PT" sz="4000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1" y="5231142"/>
            <a:ext cx="12195102" cy="1628456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59" y="3459001"/>
            <a:ext cx="3046241" cy="29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651" y="1096745"/>
            <a:ext cx="4936541" cy="1407330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529" y="2722773"/>
            <a:ext cx="4933667" cy="2437017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161"/>
              </a:spcAft>
              <a:buNone/>
              <a:defRPr sz="1934">
                <a:solidFill>
                  <a:schemeClr val="tx2"/>
                </a:solidFill>
              </a:defRPr>
            </a:lvl1pPr>
            <a:lvl2pPr marL="441845" indent="0" algn="ctr">
              <a:buNone/>
              <a:defRPr sz="1934"/>
            </a:lvl2pPr>
            <a:lvl3pPr marL="883689" indent="0" algn="ctr">
              <a:buNone/>
              <a:defRPr sz="1741"/>
            </a:lvl3pPr>
            <a:lvl4pPr marL="1325530" indent="0" algn="ctr">
              <a:buNone/>
              <a:defRPr sz="1547"/>
            </a:lvl4pPr>
            <a:lvl5pPr marL="1767373" indent="0" algn="ctr">
              <a:buNone/>
              <a:defRPr sz="1547"/>
            </a:lvl5pPr>
            <a:lvl6pPr marL="2209221" indent="0" algn="ctr">
              <a:buNone/>
              <a:defRPr sz="1547"/>
            </a:lvl6pPr>
            <a:lvl7pPr marL="2651063" indent="0" algn="ctr">
              <a:buNone/>
              <a:defRPr sz="1547"/>
            </a:lvl7pPr>
            <a:lvl8pPr marL="3092906" indent="0" algn="ctr">
              <a:buNone/>
              <a:defRPr sz="1547"/>
            </a:lvl8pPr>
            <a:lvl9pPr marL="3534749" indent="0" algn="ctr">
              <a:buNone/>
              <a:defRPr sz="1547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563" y="333729"/>
            <a:ext cx="11176096" cy="419197"/>
          </a:xfrm>
        </p:spPr>
        <p:txBody>
          <a:bodyPr>
            <a:noAutofit/>
          </a:bodyPr>
          <a:lstStyle>
            <a:lvl1pPr marL="0" indent="0">
              <a:buNone/>
              <a:defRPr sz="1257">
                <a:solidFill>
                  <a:schemeClr val="tx2"/>
                </a:solidFill>
              </a:defRPr>
            </a:lvl1pPr>
            <a:lvl2pPr marL="441845" indent="0">
              <a:buNone/>
              <a:defRPr sz="1257">
                <a:solidFill>
                  <a:schemeClr val="tx2"/>
                </a:solidFill>
              </a:defRPr>
            </a:lvl2pPr>
            <a:lvl3pPr marL="883689" indent="0">
              <a:buNone/>
              <a:defRPr sz="1257">
                <a:solidFill>
                  <a:schemeClr val="tx2"/>
                </a:solidFill>
              </a:defRPr>
            </a:lvl3pPr>
            <a:lvl4pPr marL="1325530" indent="0">
              <a:buNone/>
              <a:defRPr sz="1257">
                <a:solidFill>
                  <a:schemeClr val="tx2"/>
                </a:solidFill>
              </a:defRPr>
            </a:lvl4pPr>
            <a:lvl5pPr marL="1767373" indent="0">
              <a:buNone/>
              <a:defRPr sz="1257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29555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440" y="312345"/>
            <a:ext cx="1849580" cy="282702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1257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533" y="1100496"/>
            <a:ext cx="10634459" cy="4907801"/>
          </a:xfrm>
        </p:spPr>
        <p:txBody>
          <a:bodyPr>
            <a:normAutofit/>
          </a:bodyPr>
          <a:lstStyle>
            <a:lvl1pPr marL="417489" indent="-382700">
              <a:buClr>
                <a:schemeClr val="accent1"/>
              </a:buClr>
              <a:buSzPct val="45000"/>
              <a:buFont typeface="+mj-lt"/>
              <a:buAutoNum type="arabicPeriod"/>
              <a:defRPr lang="es-ES" sz="3868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96280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424" y="626519"/>
            <a:ext cx="4385624" cy="285339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868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4181" y="0"/>
            <a:ext cx="3266235" cy="6859588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4053" y="3271291"/>
            <a:ext cx="2958370" cy="2365509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054">
                <a:solidFill>
                  <a:schemeClr val="bg1"/>
                </a:solidFill>
              </a:defRPr>
            </a:lvl1pPr>
            <a:lvl2pPr>
              <a:defRPr sz="13346">
                <a:solidFill>
                  <a:schemeClr val="tx1"/>
                </a:solidFill>
              </a:defRPr>
            </a:lvl2pPr>
            <a:lvl3pPr>
              <a:defRPr sz="11122">
                <a:solidFill>
                  <a:schemeClr val="tx1"/>
                </a:solidFill>
              </a:defRPr>
            </a:lvl3pPr>
            <a:lvl4pPr>
              <a:defRPr sz="9284">
                <a:solidFill>
                  <a:schemeClr val="tx1"/>
                </a:solidFill>
              </a:defRPr>
            </a:lvl4pPr>
            <a:lvl5pPr>
              <a:defRPr sz="9284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127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1" y="1087717"/>
            <a:ext cx="5296867" cy="1606419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2" y="3094281"/>
            <a:ext cx="5308085" cy="308411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138" y="1087710"/>
            <a:ext cx="5080343" cy="50906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50183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49" y="1087709"/>
            <a:ext cx="10757333" cy="1823433"/>
          </a:xfrm>
        </p:spPr>
        <p:txBody>
          <a:bodyPr anchor="t">
            <a:no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0936" y="3094281"/>
            <a:ext cx="10757333" cy="3084115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2276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883" y="1110017"/>
            <a:ext cx="3800624" cy="5051859"/>
          </a:xfrm>
        </p:spPr>
        <p:txBody>
          <a:bodyPr anchor="t">
            <a:noAutofit/>
          </a:bodyPr>
          <a:lstStyle>
            <a:lvl1pPr>
              <a:defRPr sz="2514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104" y="1126533"/>
            <a:ext cx="6696163" cy="5051861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58829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156" y="1087717"/>
            <a:ext cx="3910892" cy="1183406"/>
          </a:xfrm>
        </p:spPr>
        <p:txBody>
          <a:bodyPr anchor="t">
            <a:normAutofit/>
          </a:bodyPr>
          <a:lstStyle>
            <a:lvl1pPr>
              <a:defRPr sz="3482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2517752"/>
            <a:ext cx="3910892" cy="366064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6807" y="1087690"/>
            <a:ext cx="6682681" cy="512404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16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937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77"/>
            <a:ext cx="3910892" cy="498631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202" y="1708178"/>
            <a:ext cx="6612104" cy="4503566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201" y="1192078"/>
            <a:ext cx="6586719" cy="38159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99264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9708" y="6211037"/>
            <a:ext cx="2742843" cy="365210"/>
          </a:xfrm>
        </p:spPr>
        <p:txBody>
          <a:bodyPr/>
          <a:lstStyle>
            <a:lvl1pPr>
              <a:defRPr sz="1257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535" y="6263777"/>
            <a:ext cx="1171955" cy="205590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0936" y="337178"/>
            <a:ext cx="10757335" cy="30487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257">
                <a:solidFill>
                  <a:schemeClr val="accent1"/>
                </a:solidFill>
              </a:defRPr>
            </a:lvl1pPr>
            <a:lvl2pPr marL="441845" indent="0">
              <a:buFontTx/>
              <a:buNone/>
              <a:defRPr sz="1064"/>
            </a:lvl2pPr>
            <a:lvl3pPr marL="883689" indent="0">
              <a:buFontTx/>
              <a:buNone/>
              <a:defRPr sz="1064"/>
            </a:lvl3pPr>
            <a:lvl4pPr marL="1325530" indent="0">
              <a:buFontTx/>
              <a:buNone/>
              <a:defRPr sz="870"/>
            </a:lvl4pPr>
            <a:lvl5pPr marL="1767373" indent="0">
              <a:buFontTx/>
              <a:buNone/>
              <a:defRPr sz="87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0940" y="1192081"/>
            <a:ext cx="3910892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3415" y="1192081"/>
            <a:ext cx="6455897" cy="65769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128"/>
              </a:spcAft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41845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83689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25530" indent="0">
              <a:buFontTx/>
              <a:buNone/>
              <a:defRPr lang="es-ES" sz="116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67373" indent="0">
              <a:buFontTx/>
              <a:buNone/>
              <a:defRPr lang="es-ES" sz="116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107" y="1994362"/>
            <a:ext cx="3911091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3415" y="1994362"/>
            <a:ext cx="6471876" cy="3606623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257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1785" y="3685922"/>
            <a:ext cx="187127" cy="207105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</p:spTree>
    <p:extLst>
      <p:ext uri="{BB962C8B-B14F-4D97-AF65-F5344CB8AC3E}">
        <p14:creationId xmlns:p14="http://schemas.microsoft.com/office/powerpoint/2010/main" val="122831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31140"/>
            <a:ext cx="12190413" cy="16284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367" tIns="44183" rIns="88367" bIns="44183" rtlCol="0" anchor="ctr"/>
          <a:lstStyle/>
          <a:p>
            <a:pPr algn="ctr"/>
            <a:endParaRPr lang="es-ES" sz="1837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872" y="5728730"/>
            <a:ext cx="1896345" cy="332665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63" y="5574435"/>
            <a:ext cx="1347308" cy="45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1570" y="5574867"/>
            <a:ext cx="578632" cy="455123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195" y="1946103"/>
            <a:ext cx="3365041" cy="1250066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pt-PT" sz="1257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257">
              <a:solidFill>
                <a:schemeClr val="tx2"/>
              </a:solidFill>
            </a:endParaRPr>
          </a:p>
          <a:p>
            <a:r>
              <a:rPr lang="pt-PT" sz="1257">
                <a:solidFill>
                  <a:schemeClr val="tx2"/>
                </a:solidFill>
              </a:rPr>
              <a:t>A nossa cultura baseia-se no princípio</a:t>
            </a:r>
            <a:r>
              <a:rPr lang="pt-PT" sz="1257" baseline="0">
                <a:solidFill>
                  <a:schemeClr val="tx2"/>
                </a:solidFill>
              </a:rPr>
              <a:t> </a:t>
            </a:r>
            <a:r>
              <a:rPr lang="pt-PT" sz="1257">
                <a:solidFill>
                  <a:schemeClr val="tx2"/>
                </a:solidFill>
              </a:rPr>
              <a:t>de que tudo</a:t>
            </a:r>
            <a:r>
              <a:rPr lang="pt-PT" sz="1257" baseline="0">
                <a:solidFill>
                  <a:schemeClr val="tx2"/>
                </a:solidFill>
              </a:rPr>
              <a:t> o </a:t>
            </a:r>
            <a:r>
              <a:rPr lang="pt-PT" sz="1257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418" y="628338"/>
            <a:ext cx="3365041" cy="684457"/>
          </a:xfrm>
          <a:prstGeom prst="rect">
            <a:avLst/>
          </a:prstGeom>
          <a:noFill/>
        </p:spPr>
        <p:txBody>
          <a:bodyPr wrap="square" lIns="88367" tIns="44183" rIns="88367" bIns="44183" rtlCol="0">
            <a:spAutoFit/>
          </a:bodyPr>
          <a:lstStyle/>
          <a:p>
            <a:r>
              <a:rPr lang="es-ES" sz="3868" err="1">
                <a:solidFill>
                  <a:schemeClr val="accent1"/>
                </a:solidFill>
              </a:rPr>
              <a:t>Obrigado</a:t>
            </a:r>
            <a:r>
              <a:rPr lang="es-ES" sz="3868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231140"/>
            <a:ext cx="12195101" cy="16284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8367" tIns="44183" rIns="88367" bIns="4418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837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0924" y="3423933"/>
            <a:ext cx="2785550" cy="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98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exto a dos columnas">
  <p:cSld name="Interior texto a dos columna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9918" y="1512351"/>
            <a:ext cx="5399297" cy="398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319336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26474" lvl="2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68632" lvl="3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10791" lvl="4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22719" y="284466"/>
            <a:ext cx="10978571" cy="51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221079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095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26474" lvl="2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768632" lvl="3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10791" lvl="4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3"/>
          </p:nvPr>
        </p:nvSpPr>
        <p:spPr>
          <a:xfrm>
            <a:off x="622719" y="864200"/>
            <a:ext cx="10978571" cy="370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221079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741" i="1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2pPr>
            <a:lvl3pPr marL="1326474" lvl="2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3pPr>
            <a:lvl4pPr marL="1768632" lvl="3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4pPr>
            <a:lvl5pPr marL="2210791" lvl="4" indent="-22107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741" i="1"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4"/>
          </p:nvPr>
        </p:nvSpPr>
        <p:spPr>
          <a:xfrm>
            <a:off x="6201993" y="1512351"/>
            <a:ext cx="5399297" cy="398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42158" lvl="0" indent="-319336" algn="l">
              <a:lnSpc>
                <a:spcPct val="90000"/>
              </a:lnSpc>
              <a:spcBef>
                <a:spcPts val="967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884316" lvl="1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26474" lvl="2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768632" lvl="3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10791" lvl="4" indent="-319336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•"/>
              <a:defRPr sz="1547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652949" lvl="5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095107" lvl="6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537265" lvl="7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979423" lvl="8" indent="-331619" algn="l">
              <a:lnSpc>
                <a:spcPct val="9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5023" y="6535295"/>
            <a:ext cx="1070438" cy="18778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343778" y="6439639"/>
            <a:ext cx="2742843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57" b="0" i="0" u="none" strike="noStrike" cap="none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262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0" y="365210"/>
            <a:ext cx="10514231" cy="1325870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00" y="1826047"/>
            <a:ext cx="10514231" cy="4352346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00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2"/>
            <a:ext cx="4114264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2"/>
            <a:ext cx="2742843" cy="365210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365914804,&quot;Placement&quot;:&quot;Header&quot;,&quot;Top&quot;:0.0,&quot;Left&quot;:0.0,&quot;SlideWidth&quot;:959,&quot;SlideHeight&quot;:540}">
            <a:extLst>
              <a:ext uri="{FF2B5EF4-FFF2-40B4-BE49-F238E27FC236}">
                <a16:creationId xmlns:a16="http://schemas.microsoft.com/office/drawing/2014/main" id="{4C3CA411-E46C-4918-92F8-09028ADD12C4}"/>
              </a:ext>
            </a:extLst>
          </p:cNvPr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210"/>
            <a:ext cx="10514231" cy="1325869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6047"/>
            <a:ext cx="10514231" cy="4352346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7823"/>
            <a:ext cx="4114264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7823"/>
            <a:ext cx="2742843" cy="365210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1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7" name="MSIPCMContentMarking" descr="{&quot;HashCode&quot;:-365914804,&quot;Placement&quot;:&quot;Header&quot;,&quot;Top&quot;:0.0,&quot;Left&quot;:0.0,&quot;SlideWidth&quot;:959,&quot;SlideHeight&quot;:540}"/>
          <p:cNvSpPr txBox="1"/>
          <p:nvPr userDrawn="1"/>
        </p:nvSpPr>
        <p:spPr>
          <a:xfrm>
            <a:off x="0" y="0"/>
            <a:ext cx="1472482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Restricted-confidential</a:t>
            </a:r>
          </a:p>
        </p:txBody>
      </p:sp>
    </p:spTree>
    <p:extLst>
      <p:ext uri="{BB962C8B-B14F-4D97-AF65-F5344CB8AC3E}">
        <p14:creationId xmlns:p14="http://schemas.microsoft.com/office/powerpoint/2010/main" val="173232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0" r:id="rId6"/>
    <p:sldLayoutId id="2147484101" r:id="rId7"/>
    <p:sldLayoutId id="2147484102" r:id="rId8"/>
    <p:sldLayoutId id="2147484103" r:id="rId9"/>
    <p:sldLayoutId id="2147484104" r:id="rId10"/>
    <p:sldLayoutId id="2147484105" r:id="rId11"/>
  </p:sldLayoutIdLst>
  <p:hf hdr="0" ftr="0" dt="0"/>
  <p:txStyles>
    <p:titleStyle>
      <a:lvl1pPr algn="l" defTabSz="883689" rtl="0" eaLnBrk="1" latinLnBrk="0" hangingPunct="1">
        <a:lnSpc>
          <a:spcPct val="90000"/>
        </a:lnSpc>
        <a:spcBef>
          <a:spcPct val="0"/>
        </a:spcBef>
        <a:buNone/>
        <a:defRPr sz="43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22" indent="-220922" algn="l" defTabSz="883689" rtl="0" eaLnBrk="1" latinLnBrk="0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1pPr>
      <a:lvl2pPr marL="662766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1" kern="1200">
          <a:solidFill>
            <a:schemeClr val="tx1"/>
          </a:solidFill>
          <a:latin typeface="+mn-lt"/>
          <a:ea typeface="+mn-ea"/>
          <a:cs typeface="+mn-cs"/>
        </a:defRPr>
      </a:lvl2pPr>
      <a:lvl3pPr marL="1104611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4" kern="1200">
          <a:solidFill>
            <a:schemeClr val="tx1"/>
          </a:solidFill>
          <a:latin typeface="+mn-lt"/>
          <a:ea typeface="+mn-ea"/>
          <a:cs typeface="+mn-cs"/>
        </a:defRPr>
      </a:lvl3pPr>
      <a:lvl4pPr marL="1546452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988297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430140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871984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313829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755673" indent="-220922" algn="l" defTabSz="883689" rtl="0" eaLnBrk="1" latinLnBrk="0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1pPr>
      <a:lvl2pPr marL="441845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2pPr>
      <a:lvl3pPr marL="88368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3pPr>
      <a:lvl4pPr marL="1325530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4pPr>
      <a:lvl5pPr marL="176737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5pPr>
      <a:lvl6pPr marL="2209221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6pPr>
      <a:lvl7pPr marL="2651063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7pPr>
      <a:lvl8pPr marL="3092906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8pPr>
      <a:lvl9pPr marL="3534749" algn="l" defTabSz="883689" rtl="0" eaLnBrk="1" latinLnBrk="0" hangingPunct="1">
        <a:defRPr sz="17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424" y="626519"/>
            <a:ext cx="7964376" cy="2853398"/>
          </a:xfrm>
        </p:spPr>
        <p:txBody>
          <a:bodyPr/>
          <a:lstStyle/>
          <a:p>
            <a:r>
              <a:rPr lang="pt-PT" i="1" dirty="0"/>
              <a:t>Report Valuation &amp; </a:t>
            </a:r>
            <a:r>
              <a:rPr lang="pt-PT" i="1" dirty="0" err="1"/>
              <a:t>Bail</a:t>
            </a:r>
            <a:r>
              <a:rPr lang="pt-PT" i="1" dirty="0"/>
              <a:t>-in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9886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1. </a:t>
            </a:r>
            <a:r>
              <a:rPr lang="es-ES" sz="1934" dirty="0" err="1"/>
              <a:t>Enquadramento</a:t>
            </a:r>
            <a:endParaRPr lang="es-ES" sz="1934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3"/>
            <a:ext cx="10653115" cy="5793581"/>
          </a:xfrm>
        </p:spPr>
        <p:txBody>
          <a:bodyPr>
            <a:noAutofit/>
          </a:bodyPr>
          <a:lstStyle/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 Valuation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e 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 Bail-in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foram solicitados pelo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Board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(Autoridade de Resolução da União Bancária Europeia). Atualmente, não se encontram automatizados numa aplicação/sistema do Banco, mas sim em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SAS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. Adicionalmente, não estão a ser alimentados pelas fontes mais apropriadas, não garantem consistência alargada e automática com outros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Reports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, não permitem a realização de parametrizações e não seguem o Modelo atual de Governo de Dados.</a:t>
            </a: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547" b="1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 Valuation</a:t>
            </a:r>
          </a:p>
          <a:p>
            <a:pPr marL="727908" lvl="1" indent="-285750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Objetivo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Avaliação do Ativo do Banco</a:t>
            </a:r>
            <a:endParaRPr lang="pt-BR" sz="1547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27908" lvl="1" indent="-285750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Responsabilidade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Área de Gestão Financeira e de Capital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Periodicidade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Não existe frequência de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definida, contudo, deverá estar disponível quando for solicitado 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Envio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Deverá ser enviado à Corporação, que por sua vez o enviará ao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Board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Perímetro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Individual Local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Universo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20 ficheiros CSV (308 campos no total)</a:t>
            </a: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r>
              <a:rPr lang="pt-BR" sz="1547" b="1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 Bail-in</a:t>
            </a:r>
          </a:p>
          <a:p>
            <a:pPr marL="727908" lvl="1" indent="-285750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Objetivo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Avaliação do Passivo do Banco</a:t>
            </a:r>
            <a:endParaRPr lang="pt-BR" sz="1547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27908" lvl="1" indent="-285750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Responsabilidade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Área de Gestão Financeira e de Capital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Periodicidade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Não existe frequência de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definida, contudo, deverá estar disponível quando for solicitado 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Envio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Deverá ser enviado à Corporação, que por sua vez o enviará ao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Single Resolution Board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Perímetro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Individual Local</a:t>
            </a:r>
          </a:p>
          <a:p>
            <a:pPr marL="718507" lvl="1" indent="-276349" algn="just"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u="sng" dirty="0">
                <a:latin typeface="Calibri" panose="020F0502020204030204" pitchFamily="34" charset="0"/>
                <a:ea typeface="Times New Roman" panose="02020603050405020304" pitchFamily="18" charset="0"/>
              </a:rPr>
              <a:t>Universo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1 ficheiro CSV (53 campos no total)</a:t>
            </a: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98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ángulo 68"/>
          <p:cNvSpPr/>
          <p:nvPr/>
        </p:nvSpPr>
        <p:spPr>
          <a:xfrm>
            <a:off x="3046533" y="1816817"/>
            <a:ext cx="1150339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2. </a:t>
            </a:r>
            <a:r>
              <a:rPr lang="es-ES" sz="1934" dirty="0" err="1"/>
              <a:t>Arquitetura</a:t>
            </a:r>
            <a:r>
              <a:rPr lang="es-ES" sz="1934" dirty="0"/>
              <a:t> </a:t>
            </a:r>
            <a:r>
              <a:rPr lang="es-ES" sz="1934" i="1" dirty="0"/>
              <a:t>TO-BE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3"/>
            <a:ext cx="10653115" cy="555599"/>
          </a:xfrm>
        </p:spPr>
        <p:txBody>
          <a:bodyPr>
            <a:noAutofit/>
          </a:bodyPr>
          <a:lstStyle/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 produção do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 Valuation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e do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 Bail-in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será efetuada via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Tape Reporting Engine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(Motor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Loan Tape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aproveitando assim o mesmo para gerar estes novos âmbitos/casos de uso:</a:t>
            </a: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endParaRPr lang="pt-PT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57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Rectángulo 68"/>
          <p:cNvSpPr/>
          <p:nvPr/>
        </p:nvSpPr>
        <p:spPr>
          <a:xfrm>
            <a:off x="1897994" y="1816817"/>
            <a:ext cx="1080000" cy="366903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48" name="Rectángulo 302"/>
          <p:cNvSpPr/>
          <p:nvPr/>
        </p:nvSpPr>
        <p:spPr>
          <a:xfrm>
            <a:off x="4273592" y="2682876"/>
            <a:ext cx="4725316" cy="279835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9" name="Rectángulo 305"/>
          <p:cNvSpPr/>
          <p:nvPr/>
        </p:nvSpPr>
        <p:spPr>
          <a:xfrm>
            <a:off x="3031372" y="1629853"/>
            <a:ext cx="5967536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+mn-cs"/>
              </a:rPr>
              <a:t>Datalake</a:t>
            </a:r>
          </a:p>
        </p:txBody>
      </p:sp>
      <p:sp>
        <p:nvSpPr>
          <p:cNvPr id="150" name="Rectángulo 69"/>
          <p:cNvSpPr/>
          <p:nvPr/>
        </p:nvSpPr>
        <p:spPr>
          <a:xfrm>
            <a:off x="1897994" y="1629853"/>
            <a:ext cx="1080000" cy="321085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lang="en-GB" sz="1000" b="1" kern="0" dirty="0" err="1">
                <a:solidFill>
                  <a:prstClr val="white"/>
                </a:solidFill>
                <a:latin typeface="Santander Headline" panose="020B0504020201020104" pitchFamily="34" charset="0"/>
              </a:rPr>
              <a:t>Intermédias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52" name="Rectangle 32"/>
          <p:cNvSpPr>
            <a:spLocks noChangeArrowheads="1"/>
          </p:cNvSpPr>
          <p:nvPr/>
        </p:nvSpPr>
        <p:spPr bwMode="auto">
          <a:xfrm>
            <a:off x="1925663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Imparidade</a:t>
            </a:r>
            <a:endParaRPr kumimoji="0" lang="pt-BR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55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BDR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57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Riscos</a:t>
            </a:r>
          </a:p>
        </p:txBody>
      </p:sp>
      <p:sp>
        <p:nvSpPr>
          <p:cNvPr id="158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ICs</a:t>
            </a:r>
          </a:p>
        </p:txBody>
      </p:sp>
      <p:sp>
        <p:nvSpPr>
          <p:cNvPr id="160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63" y="437182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4211015" y="5272332"/>
            <a:ext cx="2513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Tape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Reporting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Engine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pt-PT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(Motor </a:t>
            </a:r>
            <a:r>
              <a:rPr lang="pt-PT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Loan</a:t>
            </a:r>
            <a:r>
              <a:rPr lang="pt-PT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 Tape) </a:t>
            </a:r>
          </a:p>
        </p:txBody>
      </p:sp>
      <p:grpSp>
        <p:nvGrpSpPr>
          <p:cNvPr id="166" name="Group 165"/>
          <p:cNvGrpSpPr/>
          <p:nvPr/>
        </p:nvGrpSpPr>
        <p:grpSpPr>
          <a:xfrm>
            <a:off x="6650913" y="2173661"/>
            <a:ext cx="541382" cy="449352"/>
            <a:chOff x="2988362" y="1267823"/>
            <a:chExt cx="737727" cy="564878"/>
          </a:xfrm>
        </p:grpSpPr>
        <p:pic>
          <p:nvPicPr>
            <p:cNvPr id="167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8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9" name="CuadroTexto 86"/>
          <p:cNvSpPr txBox="1"/>
          <p:nvPr/>
        </p:nvSpPr>
        <p:spPr>
          <a:xfrm>
            <a:off x="6358357" y="1946001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i="1" dirty="0">
                <a:solidFill>
                  <a:prstClr val="black"/>
                </a:solidFill>
                <a:latin typeface="Santander Text" panose="020B0504020201020104" pitchFamily="34" charset="0"/>
              </a:rPr>
              <a:t>Front Datalake </a:t>
            </a:r>
            <a:r>
              <a:rPr lang="es-ES" sz="1000" b="1" i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Hub</a:t>
            </a:r>
            <a:endParaRPr lang="es-ES" sz="1000" b="1" i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4580450" y="2411635"/>
            <a:ext cx="982328" cy="240407"/>
            <a:chOff x="3608497" y="4223067"/>
            <a:chExt cx="952560" cy="323062"/>
          </a:xfrm>
        </p:grpSpPr>
        <p:sp>
          <p:nvSpPr>
            <p:cNvPr id="17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ysClr val="window" lastClr="FFFFFF"/>
            </a:solidFill>
            <a:ln w="3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800" b="0" i="0" u="none" strike="noStrike" kern="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2" y="4247645"/>
              <a:ext cx="947765" cy="289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00" b="0" i="1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Input</a:t>
              </a:r>
              <a:r>
                <a:rPr kumimoji="0" lang="pt-PT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E7E6E6">
                      <a:lumMod val="25000"/>
                    </a:srgbClr>
                  </a:solidFill>
                  <a:effectLst/>
                  <a:uLnTx/>
                  <a:uFillTx/>
                  <a:latin typeface="Santander Text" panose="020B0504020201020104" pitchFamily="34" charset="0"/>
                </a:rPr>
                <a:t> Manual</a:t>
              </a:r>
            </a:p>
          </p:txBody>
        </p:sp>
      </p:grpSp>
      <p:cxnSp>
        <p:nvCxnSpPr>
          <p:cNvPr id="173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96025" y="2870784"/>
            <a:ext cx="457679" cy="1986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4" name="Elbow Connector 173"/>
          <p:cNvCxnSpPr>
            <a:endCxn id="172" idx="0"/>
          </p:cNvCxnSpPr>
          <p:nvPr/>
        </p:nvCxnSpPr>
        <p:spPr>
          <a:xfrm rot="10800000" flipV="1">
            <a:off x="5074088" y="2312757"/>
            <a:ext cx="1605409" cy="117168"/>
          </a:xfrm>
          <a:prstGeom prst="bentConnector2">
            <a:avLst/>
          </a:prstGeom>
          <a:noFill/>
          <a:ln w="9525" cap="flat" cmpd="sng" algn="ctr">
            <a:solidFill>
              <a:srgbClr val="70AD47">
                <a:lumMod val="40000"/>
                <a:lumOff val="60000"/>
              </a:srgb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75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993" y="3145793"/>
            <a:ext cx="409005" cy="4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" name="CuadroTexto 86"/>
          <p:cNvSpPr txBox="1"/>
          <p:nvPr/>
        </p:nvSpPr>
        <p:spPr>
          <a:xfrm>
            <a:off x="4310502" y="3508997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Parametrizações</a:t>
            </a:r>
          </a:p>
        </p:txBody>
      </p:sp>
      <p:grpSp>
        <p:nvGrpSpPr>
          <p:cNvPr id="177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5668001" y="4220133"/>
            <a:ext cx="372432" cy="404986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78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 w="12700" cap="flat" cmpd="sng" algn="ctr">
              <a:solidFill>
                <a:srgbClr val="70AD47">
                  <a:lumMod val="20000"/>
                  <a:lumOff val="8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1" name="CuadroTexto 86"/>
          <p:cNvSpPr txBox="1"/>
          <p:nvPr/>
        </p:nvSpPr>
        <p:spPr>
          <a:xfrm>
            <a:off x="5219559" y="4613232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Universo</a:t>
            </a:r>
          </a:p>
        </p:txBody>
      </p:sp>
      <p:cxnSp>
        <p:nvCxnSpPr>
          <p:cNvPr id="182" name="Elbow Connector 181"/>
          <p:cNvCxnSpPr>
            <a:endCxn id="179" idx="2"/>
          </p:cNvCxnSpPr>
          <p:nvPr/>
        </p:nvCxnSpPr>
        <p:spPr>
          <a:xfrm>
            <a:off x="3802360" y="2134492"/>
            <a:ext cx="1865641" cy="2288135"/>
          </a:xfrm>
          <a:prstGeom prst="bentConnector3">
            <a:avLst>
              <a:gd name="adj1" fmla="val 37257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3" name="Elbow Connector 182"/>
          <p:cNvCxnSpPr/>
          <p:nvPr/>
        </p:nvCxnSpPr>
        <p:spPr>
          <a:xfrm rot="16200000" flipH="1">
            <a:off x="4853334" y="3608341"/>
            <a:ext cx="867829" cy="761505"/>
          </a:xfrm>
          <a:prstGeom prst="bentConnector2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84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6" y="3117471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5" name="Group 184"/>
          <p:cNvGrpSpPr/>
          <p:nvPr/>
        </p:nvGrpSpPr>
        <p:grpSpPr>
          <a:xfrm>
            <a:off x="6356399" y="2803176"/>
            <a:ext cx="1966913" cy="2503429"/>
            <a:chOff x="6210095" y="2525811"/>
            <a:chExt cx="2091549" cy="2660071"/>
          </a:xfrm>
        </p:grpSpPr>
        <p:sp>
          <p:nvSpPr>
            <p:cNvPr id="186" name="Rectángulo 302">
              <a:extLst>
                <a:ext uri="{FF2B5EF4-FFF2-40B4-BE49-F238E27FC236}">
                  <a16:creationId xmlns:a16="http://schemas.microsoft.com/office/drawing/2014/main" id="{8A9B3DBE-ACE6-4B81-ADD9-223668AAC958}"/>
                </a:ext>
              </a:extLst>
            </p:cNvPr>
            <p:cNvSpPr/>
            <p:nvPr/>
          </p:nvSpPr>
          <p:spPr>
            <a:xfrm>
              <a:off x="6363579" y="2721799"/>
              <a:ext cx="1938065" cy="2464083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7" name="Grupo 83">
              <a:extLst>
                <a:ext uri="{FF2B5EF4-FFF2-40B4-BE49-F238E27FC236}">
                  <a16:creationId xmlns:a16="http://schemas.microsoft.com/office/drawing/2014/main" id="{DA7F669B-1774-4125-9922-8107A6911262}"/>
                </a:ext>
              </a:extLst>
            </p:cNvPr>
            <p:cNvGrpSpPr/>
            <p:nvPr/>
          </p:nvGrpSpPr>
          <p:grpSpPr>
            <a:xfrm>
              <a:off x="6210095" y="2525811"/>
              <a:ext cx="343570" cy="355091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88" name="Disco magnético 89">
                <a:extLst>
                  <a:ext uri="{FF2B5EF4-FFF2-40B4-BE49-F238E27FC236}">
                    <a16:creationId xmlns:a16="http://schemas.microsoft.com/office/drawing/2014/main" id="{8B9BAC6E-9E5D-4251-8CC2-278BAAAA04D3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9" name="Disco magnético 91">
                <a:extLst>
                  <a:ext uri="{FF2B5EF4-FFF2-40B4-BE49-F238E27FC236}">
                    <a16:creationId xmlns:a16="http://schemas.microsoft.com/office/drawing/2014/main" id="{07023724-C232-4DCE-B2AD-572B51780A5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0" name="Disco magnético 92">
                <a:extLst>
                  <a:ext uri="{FF2B5EF4-FFF2-40B4-BE49-F238E27FC236}">
                    <a16:creationId xmlns:a16="http://schemas.microsoft.com/office/drawing/2014/main" id="{BCF97D6A-1EB0-49D3-A831-DC139A5D34ED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 w="12700" cap="flat" cmpd="sng" algn="ctr">
                <a:solidFill>
                  <a:srgbClr val="70AD47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91" name="CuadroTexto 86"/>
          <p:cNvSpPr txBox="1"/>
          <p:nvPr/>
        </p:nvSpPr>
        <p:spPr>
          <a:xfrm>
            <a:off x="6371436" y="345175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lt002_instrument</a:t>
            </a:r>
          </a:p>
        </p:txBody>
      </p:sp>
      <p:sp>
        <p:nvSpPr>
          <p:cNvPr id="192" name="CuadroTexto 86"/>
          <p:cNvSpPr txBox="1"/>
          <p:nvPr/>
        </p:nvSpPr>
        <p:spPr>
          <a:xfrm>
            <a:off x="6380495" y="419519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lt003_entity</a:t>
            </a:r>
          </a:p>
        </p:txBody>
      </p:sp>
      <p:sp>
        <p:nvSpPr>
          <p:cNvPr id="193" name="CuadroTexto 86"/>
          <p:cNvSpPr txBox="1"/>
          <p:nvPr/>
        </p:nvSpPr>
        <p:spPr>
          <a:xfrm>
            <a:off x="6380496" y="4968086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lt004_protection</a:t>
            </a:r>
          </a:p>
        </p:txBody>
      </p:sp>
      <p:sp>
        <p:nvSpPr>
          <p:cNvPr id="194" name="CuadroTexto 86"/>
          <p:cNvSpPr txBox="1"/>
          <p:nvPr/>
        </p:nvSpPr>
        <p:spPr>
          <a:xfrm>
            <a:off x="7208499" y="4623123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lt006_instr_prot</a:t>
            </a:r>
          </a:p>
        </p:txBody>
      </p:sp>
      <p:sp>
        <p:nvSpPr>
          <p:cNvPr id="195" name="CuadroTexto 86"/>
          <p:cNvSpPr txBox="1"/>
          <p:nvPr/>
        </p:nvSpPr>
        <p:spPr>
          <a:xfrm>
            <a:off x="7204076" y="3776455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lt005_instr_ent</a:t>
            </a:r>
          </a:p>
        </p:txBody>
      </p:sp>
      <p:pic>
        <p:nvPicPr>
          <p:cNvPr id="196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6" y="3846907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1966" y="4616626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5154" y="4286730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Picture 25" descr="database table&quot; Icon - Download for free – Iconduck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134" y="3386904"/>
            <a:ext cx="370567" cy="37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0" name="CuadroTexto 86"/>
          <p:cNvSpPr txBox="1"/>
          <p:nvPr/>
        </p:nvSpPr>
        <p:spPr>
          <a:xfrm>
            <a:off x="5929349" y="2599810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900" b="1" dirty="0">
                <a:solidFill>
                  <a:prstClr val="black"/>
                </a:solidFill>
                <a:latin typeface="Santander Text" panose="020B0504020201020104" pitchFamily="34" charset="0"/>
              </a:rPr>
              <a:t>Output</a:t>
            </a:r>
          </a:p>
        </p:txBody>
      </p:sp>
      <p:cxnSp>
        <p:nvCxnSpPr>
          <p:cNvPr id="201" name="Elbow Connector 200"/>
          <p:cNvCxnSpPr/>
          <p:nvPr/>
        </p:nvCxnSpPr>
        <p:spPr>
          <a:xfrm flipV="1">
            <a:off x="6031289" y="4419237"/>
            <a:ext cx="468000" cy="3390"/>
          </a:xfrm>
          <a:prstGeom prst="bentConnector3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2" name="Straight Arrow Connector 201"/>
          <p:cNvCxnSpPr/>
          <p:nvPr/>
        </p:nvCxnSpPr>
        <p:spPr>
          <a:xfrm>
            <a:off x="4196872" y="5084064"/>
            <a:ext cx="2302417" cy="12834"/>
          </a:xfrm>
          <a:prstGeom prst="straightConnector1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3" name="Elbow Connector 202"/>
          <p:cNvCxnSpPr>
            <a:stCxn id="167" idx="2"/>
            <a:endCxn id="180" idx="0"/>
          </p:cNvCxnSpPr>
          <p:nvPr/>
        </p:nvCxnSpPr>
        <p:spPr>
          <a:xfrm rot="5400000">
            <a:off x="5595218" y="2882012"/>
            <a:ext cx="1648809" cy="1130810"/>
          </a:xfrm>
          <a:prstGeom prst="bentConnector3">
            <a:avLst>
              <a:gd name="adj1" fmla="val 1751"/>
            </a:avLst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pic>
        <p:nvPicPr>
          <p:cNvPr id="204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433" y="3124548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31" descr="process&quot; Icon - Download for free – Iconduck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181" y="4448254"/>
            <a:ext cx="258719" cy="25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" name="Elbow Connector 205"/>
          <p:cNvCxnSpPr>
            <a:stCxn id="167" idx="3"/>
          </p:cNvCxnSpPr>
          <p:nvPr/>
        </p:nvCxnSpPr>
        <p:spPr>
          <a:xfrm>
            <a:off x="7192295" y="2398337"/>
            <a:ext cx="1541260" cy="2035499"/>
          </a:xfrm>
          <a:prstGeom prst="bentConnector2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grpSp>
        <p:nvGrpSpPr>
          <p:cNvPr id="207" name="Group 206"/>
          <p:cNvGrpSpPr/>
          <p:nvPr/>
        </p:nvGrpSpPr>
        <p:grpSpPr>
          <a:xfrm>
            <a:off x="9172521" y="4217474"/>
            <a:ext cx="804003" cy="684549"/>
            <a:chOff x="10072503" y="3695273"/>
            <a:chExt cx="1288224" cy="1197595"/>
          </a:xfrm>
        </p:grpSpPr>
        <p:grpSp>
          <p:nvGrpSpPr>
            <p:cNvPr id="208" name="Group 207"/>
            <p:cNvGrpSpPr/>
            <p:nvPr/>
          </p:nvGrpSpPr>
          <p:grpSpPr>
            <a:xfrm>
              <a:off x="10072503" y="3695273"/>
              <a:ext cx="1288224" cy="1197595"/>
              <a:chOff x="9692355" y="3052813"/>
              <a:chExt cx="1358030" cy="1232796"/>
            </a:xfrm>
          </p:grpSpPr>
          <p:sp>
            <p:nvSpPr>
              <p:cNvPr id="210" name="Rectángulo 302">
                <a:extLst>
                  <a:ext uri="{FF2B5EF4-FFF2-40B4-BE49-F238E27FC236}">
                    <a16:creationId xmlns:a16="http://schemas.microsoft.com/office/drawing/2014/main" id="{8A9B3DBE-ACE6-4B81-ADD9-223668AAC958}"/>
                  </a:ext>
                </a:extLst>
              </p:cNvPr>
              <p:cNvSpPr/>
              <p:nvPr/>
            </p:nvSpPr>
            <p:spPr>
              <a:xfrm>
                <a:off x="9815143" y="3216705"/>
                <a:ext cx="1235242" cy="1068904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E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211" name="Picture 210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692355" y="3052813"/>
                <a:ext cx="283429" cy="192090"/>
              </a:xfrm>
              <a:prstGeom prst="rect">
                <a:avLst/>
              </a:prstGeom>
            </p:spPr>
          </p:pic>
        </p:grpSp>
        <p:pic>
          <p:nvPicPr>
            <p:cNvPr id="209" name="Picture 36" descr="File - Free files and folders icons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7761" y="4144979"/>
              <a:ext cx="442633" cy="44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3" name="Straight Arrow Connector 212"/>
          <p:cNvCxnSpPr/>
          <p:nvPr/>
        </p:nvCxnSpPr>
        <p:spPr>
          <a:xfrm>
            <a:off x="8330125" y="4577614"/>
            <a:ext cx="324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4" name="TextBox 213"/>
          <p:cNvSpPr txBox="1"/>
          <p:nvPr/>
        </p:nvSpPr>
        <p:spPr>
          <a:xfrm>
            <a:off x="9486366" y="5650891"/>
            <a:ext cx="2061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1000" dirty="0">
                <a:solidFill>
                  <a:prstClr val="black"/>
                </a:solidFill>
                <a:latin typeface="Calibri" panose="020F0502020204030204"/>
              </a:rPr>
              <a:t>Legenda:</a:t>
            </a:r>
          </a:p>
        </p:txBody>
      </p:sp>
      <p:cxnSp>
        <p:nvCxnSpPr>
          <p:cNvPr id="215" name="Straight Connector 214"/>
          <p:cNvCxnSpPr/>
          <p:nvPr/>
        </p:nvCxnSpPr>
        <p:spPr>
          <a:xfrm>
            <a:off x="9604220" y="5891444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6" name="Straight Connector 215"/>
          <p:cNvCxnSpPr/>
          <p:nvPr/>
        </p:nvCxnSpPr>
        <p:spPr>
          <a:xfrm>
            <a:off x="9604220" y="6026808"/>
            <a:ext cx="383765" cy="0"/>
          </a:xfrm>
          <a:prstGeom prst="line">
            <a:avLst/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7" name="Straight Connector 216"/>
          <p:cNvCxnSpPr/>
          <p:nvPr/>
        </p:nvCxnSpPr>
        <p:spPr>
          <a:xfrm>
            <a:off x="9604220" y="6164660"/>
            <a:ext cx="383765" cy="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18" name="TextBox 217"/>
          <p:cNvSpPr txBox="1"/>
          <p:nvPr/>
        </p:nvSpPr>
        <p:spPr>
          <a:xfrm>
            <a:off x="10009126" y="5776028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>
                <a:solidFill>
                  <a:prstClr val="black"/>
                </a:solidFill>
                <a:latin typeface="Calibri" panose="020F0502020204030204"/>
              </a:rPr>
              <a:t>Extrações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9" name="TextBox 218"/>
          <p:cNvSpPr txBox="1"/>
          <p:nvPr/>
        </p:nvSpPr>
        <p:spPr>
          <a:xfrm>
            <a:off x="10009126" y="591750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>
                <a:solidFill>
                  <a:prstClr val="black"/>
                </a:solidFill>
                <a:latin typeface="Calibri" panose="020F0502020204030204"/>
              </a:rPr>
              <a:t>Atualização Parametrizações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10005939" y="6049244"/>
            <a:ext cx="2061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pt-PT" sz="900" dirty="0">
                <a:solidFill>
                  <a:prstClr val="black"/>
                </a:solidFill>
                <a:latin typeface="Calibri" panose="020F0502020204030204"/>
              </a:rPr>
              <a:t>Execução do motor</a:t>
            </a:r>
            <a:endParaRPr lang="pt-PT" sz="10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8934900" y="4547585"/>
            <a:ext cx="324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0" name="CuadroTexto 86"/>
          <p:cNvSpPr txBox="1"/>
          <p:nvPr/>
        </p:nvSpPr>
        <p:spPr>
          <a:xfrm>
            <a:off x="9940410" y="4114094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 defTabSz="914400"/>
            <a:r>
              <a:rPr lang="es-ES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Portal </a:t>
            </a:r>
          </a:p>
          <a:p>
            <a:pPr algn="ctr" defTabSz="914400"/>
            <a:r>
              <a:rPr lang="es-ES" sz="1000" b="1" dirty="0">
                <a:solidFill>
                  <a:prstClr val="black"/>
                </a:solidFill>
                <a:latin typeface="Santander Text" panose="020B0504020201020104" pitchFamily="34" charset="0"/>
              </a:rPr>
              <a:t>Corporativo</a:t>
            </a:r>
          </a:p>
        </p:txBody>
      </p:sp>
      <p:cxnSp>
        <p:nvCxnSpPr>
          <p:cNvPr id="91" name="Straight Arrow Connector 90"/>
          <p:cNvCxnSpPr/>
          <p:nvPr/>
        </p:nvCxnSpPr>
        <p:spPr>
          <a:xfrm>
            <a:off x="9964389" y="4524932"/>
            <a:ext cx="36000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6" name="Rectángulo 69"/>
          <p:cNvSpPr/>
          <p:nvPr/>
        </p:nvSpPr>
        <p:spPr>
          <a:xfrm>
            <a:off x="765345" y="1640610"/>
            <a:ext cx="1080000" cy="32040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Text" panose="020B0504020201020104" pitchFamily="34" charset="0"/>
              </a:rPr>
              <a:t>Aplicações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 </a:t>
            </a:r>
            <a:r>
              <a:rPr lang="en-GB" sz="1000" b="1" kern="0" dirty="0" err="1">
                <a:solidFill>
                  <a:prstClr val="white"/>
                </a:solidFill>
                <a:latin typeface="Santander Headline" panose="020B0504020201020104" pitchFamily="34" charset="0"/>
              </a:rPr>
              <a:t>Operacionais</a:t>
            </a:r>
            <a:endParaRPr kumimoji="0" lang="en-GB" sz="1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07" name="Rectángulo 68"/>
          <p:cNvSpPr/>
          <p:nvPr/>
        </p:nvSpPr>
        <p:spPr>
          <a:xfrm>
            <a:off x="765345" y="1934966"/>
            <a:ext cx="1080000" cy="354626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08" name="Rectangle 18"/>
          <p:cNvSpPr>
            <a:spLocks noChangeArrowheads="1"/>
          </p:cNvSpPr>
          <p:nvPr/>
        </p:nvSpPr>
        <p:spPr bwMode="auto">
          <a:xfrm>
            <a:off x="797769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Títulos</a:t>
            </a:r>
          </a:p>
        </p:txBody>
      </p:sp>
      <p:sp>
        <p:nvSpPr>
          <p:cNvPr id="110" name="Rectangle 30"/>
          <p:cNvSpPr>
            <a:spLocks noChangeArrowheads="1"/>
          </p:cNvSpPr>
          <p:nvPr/>
        </p:nvSpPr>
        <p:spPr bwMode="auto">
          <a:xfrm>
            <a:off x="797769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SIGOM</a:t>
            </a:r>
          </a:p>
        </p:txBody>
      </p:sp>
      <p:sp>
        <p:nvSpPr>
          <p:cNvPr id="111" name="Rectangle 18"/>
          <p:cNvSpPr>
            <a:spLocks noChangeArrowheads="1"/>
          </p:cNvSpPr>
          <p:nvPr/>
        </p:nvSpPr>
        <p:spPr bwMode="auto">
          <a:xfrm>
            <a:off x="797769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Empréstimos</a:t>
            </a:r>
            <a:endParaRPr kumimoji="0" lang="en-US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13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1985092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Contabilidade/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FNREP</a:t>
            </a:r>
          </a:p>
        </p:txBody>
      </p:sp>
      <p:sp>
        <p:nvSpPr>
          <p:cNvPr id="115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258177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Capital</a:t>
            </a:r>
            <a:endParaRPr kumimoji="0" lang="pt-BR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16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pt-PT" sz="1000" kern="0" dirty="0" err="1">
                <a:solidFill>
                  <a:prstClr val="black"/>
                </a:solidFill>
                <a:latin typeface="Santander Headline" panose="020B0504020201020104" pitchFamily="34" charset="0"/>
              </a:rPr>
              <a:t>Rentabilidade</a:t>
            </a:r>
            <a:endParaRPr kumimoji="0" lang="en-US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18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66" y="3178460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>
                <a:solidFill>
                  <a:prstClr val="black"/>
                </a:solidFill>
                <a:latin typeface="Santander Headline" panose="020B0504020201020104" pitchFamily="34" charset="0"/>
              </a:rPr>
              <a:t>Clientes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sp>
        <p:nvSpPr>
          <p:cNvPr id="120" name="Rectangle 30"/>
          <p:cNvSpPr>
            <a:spLocks noChangeArrowheads="1"/>
          </p:cNvSpPr>
          <p:nvPr/>
        </p:nvSpPr>
        <p:spPr bwMode="auto">
          <a:xfrm>
            <a:off x="803466" y="437182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 dirty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73211" y="4317220"/>
            <a:ext cx="939072" cy="494916"/>
          </a:xfrm>
          <a:prstGeom prst="rect">
            <a:avLst/>
          </a:prstGeom>
        </p:spPr>
      </p:pic>
      <p:cxnSp>
        <p:nvCxnSpPr>
          <p:cNvPr id="124" name="Straight Connector 123"/>
          <p:cNvCxnSpPr/>
          <p:nvPr/>
        </p:nvCxnSpPr>
        <p:spPr>
          <a:xfrm>
            <a:off x="10740950" y="4527052"/>
            <a:ext cx="288000" cy="0"/>
          </a:xfrm>
          <a:prstGeom prst="line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27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112" y="3775144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pt-PT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Headline" panose="020B0504020201020104" pitchFamily="34" charset="0"/>
                <a:ea typeface="+mn-ea"/>
                <a:cs typeface="+mn-cs"/>
              </a:rPr>
              <a:t>ALM</a:t>
            </a:r>
          </a:p>
        </p:txBody>
      </p:sp>
      <p:sp>
        <p:nvSpPr>
          <p:cNvPr id="129" name="Rectangle 30"/>
          <p:cNvSpPr>
            <a:spLocks noChangeArrowheads="1"/>
          </p:cNvSpPr>
          <p:nvPr/>
        </p:nvSpPr>
        <p:spPr bwMode="auto">
          <a:xfrm>
            <a:off x="3096112" y="4371826"/>
            <a:ext cx="1008000" cy="298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algn="ctr" defTabSz="914400">
              <a:defRPr/>
            </a:pPr>
            <a:r>
              <a:rPr lang="pt-PT" altLang="pt-PT" sz="1000" kern="0">
                <a:solidFill>
                  <a:prstClr val="black"/>
                </a:solidFill>
                <a:latin typeface="Santander Headline" panose="020B0504020201020104" pitchFamily="34" charset="0"/>
              </a:rPr>
              <a:t>…</a:t>
            </a:r>
            <a:endParaRPr kumimoji="0" lang="pt-PT" altLang="pt-PT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Headline" panose="020B0504020201020104" pitchFamily="34" charset="0"/>
              <a:ea typeface="+mn-ea"/>
              <a:cs typeface="+mn-cs"/>
            </a:endParaRPr>
          </a:p>
        </p:txBody>
      </p:sp>
      <p:grpSp>
        <p:nvGrpSpPr>
          <p:cNvPr id="137" name="Group 136"/>
          <p:cNvGrpSpPr/>
          <p:nvPr/>
        </p:nvGrpSpPr>
        <p:grpSpPr>
          <a:xfrm>
            <a:off x="10239008" y="4375200"/>
            <a:ext cx="541382" cy="449352"/>
            <a:chOff x="2988362" y="1267823"/>
            <a:chExt cx="737727" cy="564878"/>
          </a:xfrm>
        </p:grpSpPr>
        <p:pic>
          <p:nvPicPr>
            <p:cNvPr id="138" name="Picture 14" descr="Simple computer screen icon computer #AD , #Affiliate, #sponsored, #computer,  #screen, #icon, #Simple | Camera illustration, Screen icon, Computer logo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1211" y="1267823"/>
              <a:ext cx="564878" cy="564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9" name="Picture 16" descr="User shape - Free people icons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362" y="1471582"/>
              <a:ext cx="345698" cy="345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96813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69" grpId="0"/>
      <p:bldP spid="176" grpId="0"/>
      <p:bldP spid="181" grpId="0"/>
      <p:bldP spid="191" grpId="0"/>
      <p:bldP spid="192" grpId="0"/>
      <p:bldP spid="193" grpId="0"/>
      <p:bldP spid="194" grpId="0"/>
      <p:bldP spid="195" grpId="0"/>
      <p:bldP spid="200" grpId="0"/>
      <p:bldP spid="9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1934" dirty="0"/>
              <a:t>3. </a:t>
            </a:r>
            <a:r>
              <a:rPr lang="es-ES" sz="1934" dirty="0" err="1"/>
              <a:t>Benefícios</a:t>
            </a:r>
            <a:r>
              <a:rPr lang="es-ES" sz="1934" dirty="0"/>
              <a:t> 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7403" y="936402"/>
            <a:ext cx="10653115" cy="4751165"/>
          </a:xfrm>
        </p:spPr>
        <p:txBody>
          <a:bodyPr>
            <a:noAutofit/>
          </a:bodyPr>
          <a:lstStyle/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 utilização do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Tape Reporting Engine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(Motor 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Loan Tape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)</a:t>
            </a:r>
            <a:r>
              <a:rPr lang="pt-BR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PT" altLang="en-US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tem por objetivo garantir um processo robusto, consistente e sinérgico, permitindo assim: </a:t>
            </a:r>
          </a:p>
          <a:p>
            <a:pPr marL="727908" lvl="1" indent="-28575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altLang="en-US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Ir ao encontro da recomendação de Auditoria Interna (AUD11482);</a:t>
            </a:r>
          </a:p>
          <a:p>
            <a:pPr marL="727908" lvl="1" indent="-28575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Assegurar coerência e consistência total </a:t>
            </a: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nos campos comuns com outros </a:t>
            </a:r>
            <a:r>
              <a:rPr lang="pt-PT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Reports</a:t>
            </a: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: </a:t>
            </a:r>
            <a:r>
              <a:rPr lang="pt-PT" sz="1547" i="1" dirty="0" err="1">
                <a:latin typeface="Calibri" panose="020F0502020204030204" pitchFamily="34" charset="0"/>
                <a:ea typeface="Times New Roman" panose="02020603050405020304" pitchFamily="18" charset="0"/>
              </a:rPr>
              <a:t>Loan</a:t>
            </a:r>
            <a:r>
              <a:rPr lang="pt-PT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 Tape</a:t>
            </a: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 Estrutural, </a:t>
            </a:r>
            <a:r>
              <a:rPr lang="pt-PT" sz="1547" i="1" dirty="0">
                <a:latin typeface="Calibri" panose="020F0502020204030204" pitchFamily="34" charset="0"/>
                <a:ea typeface="Times New Roman" panose="02020603050405020304" pitchFamily="18" charset="0"/>
              </a:rPr>
              <a:t>Green </a:t>
            </a:r>
            <a:r>
              <a:rPr lang="pt-PT" sz="1547" i="1" dirty="0" err="1">
                <a:latin typeface="Calibri" panose="020F0502020204030204" pitchFamily="34" charset="0"/>
                <a:ea typeface="Times New Roman" panose="02020603050405020304" pitchFamily="18" charset="0"/>
              </a:rPr>
              <a:t>DashBoard</a:t>
            </a: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pt-BR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Pilar III;</a:t>
            </a:r>
          </a:p>
          <a:p>
            <a:pPr marL="727908" lvl="1" indent="-28575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Ancoragem de raiz com a Contabilidade; </a:t>
            </a:r>
          </a:p>
          <a:p>
            <a:pPr marL="727908" lvl="1" indent="-28575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Utilizar todos os campos comuns (evitando assim desenvolvimentos redundantes);</a:t>
            </a:r>
          </a:p>
          <a:p>
            <a:pPr marL="727908" lvl="1" indent="-28575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r>
              <a:rPr lang="pt-PT" sz="1547" dirty="0">
                <a:latin typeface="Calibri" panose="020F0502020204030204" pitchFamily="34" charset="0"/>
                <a:ea typeface="Times New Roman" panose="02020603050405020304" pitchFamily="18" charset="0"/>
              </a:rPr>
              <a:t>Utilizar todas as parametrizações comuns. </a:t>
            </a:r>
            <a:endParaRPr lang="en-US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algn="just">
              <a:spcBef>
                <a:spcPts val="580"/>
              </a:spcBef>
              <a:spcAft>
                <a:spcPts val="580"/>
              </a:spcAft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718507" lvl="1" indent="-276349" algn="just">
              <a:spcBef>
                <a:spcPts val="580"/>
              </a:spcBef>
              <a:spcAft>
                <a:spcPts val="580"/>
              </a:spcAft>
              <a:buFont typeface="Arial" panose="020B0604020202020204" pitchFamily="34" charset="0"/>
              <a:buChar char="•"/>
            </a:pPr>
            <a:endParaRPr lang="pt-PT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D2C8747-16CC-46F7-8AC4-664E9B00C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8368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0D97B6-E32F-4D7D-B839-7C3B51F2640F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88368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57" b="0" i="0" u="none" strike="noStrike" kern="1200" cap="none" spc="0" normalizeH="0" baseline="0" noProof="0" dirty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85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12928-B2FE-2281-F9BF-C5EFB821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68BC8C-708F-4154-7ABA-E6D6F3B1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FBB742-293E-FAC9-AC89-55DAD06EC7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635F1-5AD7-D78B-7734-1EB1C4C326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10BF6C-D453-863B-0372-03A9CC95D8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1919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7D0F5B5-9F31-E4AE-3271-9C61E6DE5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799372"/>
              </p:ext>
            </p:extLst>
          </p:nvPr>
        </p:nvGraphicFramePr>
        <p:xfrm>
          <a:off x="4501544" y="1299481"/>
          <a:ext cx="2178180" cy="1640569"/>
        </p:xfrm>
        <a:graphic>
          <a:graphicData uri="http://schemas.openxmlformats.org/drawingml/2006/table">
            <a:tbl>
              <a:tblPr/>
              <a:tblGrid>
                <a:gridCol w="7260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3392812642"/>
                    </a:ext>
                  </a:extLst>
                </a:gridCol>
              </a:tblGrid>
              <a:tr h="251647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3Q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4Q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1Q 2025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922"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2ED798E-A717-C7B4-45DA-3E08355F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90434"/>
              </p:ext>
            </p:extLst>
          </p:nvPr>
        </p:nvGraphicFramePr>
        <p:xfrm>
          <a:off x="1205463" y="1299483"/>
          <a:ext cx="3296899" cy="1641165"/>
        </p:xfrm>
        <a:graphic>
          <a:graphicData uri="http://schemas.openxmlformats.org/drawingml/2006/table">
            <a:tbl>
              <a:tblPr/>
              <a:tblGrid>
                <a:gridCol w="3296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016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Atividades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261">
                <a:tc>
                  <a:txBody>
                    <a:bodyPr/>
                    <a:lstStyle/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pt-BR" sz="1000" b="1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Análise Funcional</a:t>
                      </a:r>
                      <a:r>
                        <a:rPr lang="pt-BR" sz="1000" b="1" baseline="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(Mapeamento dos campos, DDR)</a:t>
                      </a:r>
                      <a:endParaRPr lang="pt-BR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 err="1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Desenvolvimento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Testes</a:t>
                      </a: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9237306" y="6339939"/>
            <a:ext cx="2652947" cy="35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8417" tIns="44196" rIns="88417" bIns="44196" rtlCol="0" anchor="ctr" anchorCtr="0">
            <a:noAutofit/>
          </a:bodyPr>
          <a:lstStyle/>
          <a:p>
            <a:pPr marL="0" marR="0" lvl="0" indent="0" algn="r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8843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6</a:t>
            </a:fld>
            <a:endParaRPr kumimoji="0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144;p14">
            <a:extLst>
              <a:ext uri="{FF2B5EF4-FFF2-40B4-BE49-F238E27FC236}">
                <a16:creationId xmlns:a16="http://schemas.microsoft.com/office/drawing/2014/main" id="{FC1EC8AE-4C14-3DE0-A8B1-08DA977CD8B1}"/>
              </a:ext>
            </a:extLst>
          </p:cNvPr>
          <p:cNvSpPr txBox="1"/>
          <p:nvPr/>
        </p:nvSpPr>
        <p:spPr>
          <a:xfrm>
            <a:off x="889117" y="337712"/>
            <a:ext cx="7255856" cy="35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17" tIns="44196" rIns="88417" bIns="44196" anchor="t" anchorCtr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934" dirty="0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kumimoji="0" lang="es-ES" sz="1934" b="0" i="0" u="none" strike="noStrike" kern="1200" cap="none" spc="0" normalizeH="0" baseline="0" noProof="0" dirty="0" err="1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Calendário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indicativo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5CA0108-8520-4B6A-B42A-E39931F952FE}"/>
              </a:ext>
            </a:extLst>
          </p:cNvPr>
          <p:cNvCxnSpPr>
            <a:cxnSpLocks/>
          </p:cNvCxnSpPr>
          <p:nvPr/>
        </p:nvCxnSpPr>
        <p:spPr>
          <a:xfrm>
            <a:off x="5904288" y="1072950"/>
            <a:ext cx="0" cy="5744570"/>
          </a:xfrm>
          <a:prstGeom prst="line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</p:cxnSp>
      <p:sp>
        <p:nvSpPr>
          <p:cNvPr id="8" name="Rectángulo 111">
            <a:extLst>
              <a:ext uri="{FF2B5EF4-FFF2-40B4-BE49-F238E27FC236}">
                <a16:creationId xmlns:a16="http://schemas.microsoft.com/office/drawing/2014/main" id="{161A4B43-328E-15C3-8BAD-41880F12218F}"/>
              </a:ext>
            </a:extLst>
          </p:cNvPr>
          <p:cNvSpPr/>
          <p:nvPr/>
        </p:nvSpPr>
        <p:spPr>
          <a:xfrm>
            <a:off x="4499062" y="1643432"/>
            <a:ext cx="1440000" cy="104136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1741" kern="0">
              <a:solidFill>
                <a:prstClr val="white"/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ombo 44">
            <a:extLst>
              <a:ext uri="{FF2B5EF4-FFF2-40B4-BE49-F238E27FC236}">
                <a16:creationId xmlns:a16="http://schemas.microsoft.com/office/drawing/2014/main" id="{3179F618-DFFB-61D8-6869-7643021D4D4C}"/>
              </a:ext>
            </a:extLst>
          </p:cNvPr>
          <p:cNvSpPr/>
          <p:nvPr/>
        </p:nvSpPr>
        <p:spPr>
          <a:xfrm>
            <a:off x="5894197" y="1604031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2" name="Rectangle 57">
            <a:extLst>
              <a:ext uri="{FF2B5EF4-FFF2-40B4-BE49-F238E27FC236}">
                <a16:creationId xmlns:a16="http://schemas.microsoft.com/office/drawing/2014/main" id="{6FD458DF-3F01-762D-F0C7-41DC062529EE}"/>
              </a:ext>
            </a:extLst>
          </p:cNvPr>
          <p:cNvSpPr/>
          <p:nvPr/>
        </p:nvSpPr>
        <p:spPr>
          <a:xfrm>
            <a:off x="343473" y="578676"/>
            <a:ext cx="679109" cy="530573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5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1" name="Rombo 44">
            <a:extLst>
              <a:ext uri="{FF2B5EF4-FFF2-40B4-BE49-F238E27FC236}">
                <a16:creationId xmlns:a16="http://schemas.microsoft.com/office/drawing/2014/main" id="{80250042-7F4A-4A0C-016C-0CCD5CCAC3B3}"/>
              </a:ext>
            </a:extLst>
          </p:cNvPr>
          <p:cNvSpPr/>
          <p:nvPr/>
        </p:nvSpPr>
        <p:spPr>
          <a:xfrm>
            <a:off x="7855895" y="6075653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62" name="TextBox 245">
            <a:extLst>
              <a:ext uri="{FF2B5EF4-FFF2-40B4-BE49-F238E27FC236}">
                <a16:creationId xmlns:a16="http://schemas.microsoft.com/office/drawing/2014/main" id="{76A7400C-228D-794A-4C26-68B6C8FE01EE}"/>
              </a:ext>
            </a:extLst>
          </p:cNvPr>
          <p:cNvSpPr txBox="1"/>
          <p:nvPr/>
        </p:nvSpPr>
        <p:spPr>
          <a:xfrm>
            <a:off x="7900093" y="6072551"/>
            <a:ext cx="1001020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Forecast Start day</a:t>
            </a:r>
          </a:p>
        </p:txBody>
      </p:sp>
      <p:sp>
        <p:nvSpPr>
          <p:cNvPr id="63" name="TextBox 247">
            <a:extLst>
              <a:ext uri="{FF2B5EF4-FFF2-40B4-BE49-F238E27FC236}">
                <a16:creationId xmlns:a16="http://schemas.microsoft.com/office/drawing/2014/main" id="{F6F56E85-562D-764A-FA2A-5F5CD870B801}"/>
              </a:ext>
            </a:extLst>
          </p:cNvPr>
          <p:cNvSpPr txBox="1"/>
          <p:nvPr/>
        </p:nvSpPr>
        <p:spPr>
          <a:xfrm>
            <a:off x="8902332" y="6058514"/>
            <a:ext cx="1085315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Forecast End day</a:t>
            </a:r>
          </a:p>
        </p:txBody>
      </p:sp>
      <p:sp>
        <p:nvSpPr>
          <p:cNvPr id="128" name="Rombo 209">
            <a:extLst>
              <a:ext uri="{FF2B5EF4-FFF2-40B4-BE49-F238E27FC236}">
                <a16:creationId xmlns:a16="http://schemas.microsoft.com/office/drawing/2014/main" id="{A4911074-8108-268C-7414-74A981A1C1E6}"/>
              </a:ext>
            </a:extLst>
          </p:cNvPr>
          <p:cNvSpPr/>
          <p:nvPr/>
        </p:nvSpPr>
        <p:spPr>
          <a:xfrm>
            <a:off x="9785947" y="6075653"/>
            <a:ext cx="104447" cy="174078"/>
          </a:xfrm>
          <a:prstGeom prst="diamond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29" name="TextBox 249">
            <a:extLst>
              <a:ext uri="{FF2B5EF4-FFF2-40B4-BE49-F238E27FC236}">
                <a16:creationId xmlns:a16="http://schemas.microsoft.com/office/drawing/2014/main" id="{C0C8793F-6B7E-315B-CCC8-AF8A1C032567}"/>
              </a:ext>
            </a:extLst>
          </p:cNvPr>
          <p:cNvSpPr txBox="1"/>
          <p:nvPr/>
        </p:nvSpPr>
        <p:spPr>
          <a:xfrm>
            <a:off x="9888689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Delay</a:t>
            </a:r>
          </a:p>
        </p:txBody>
      </p:sp>
      <p:sp>
        <p:nvSpPr>
          <p:cNvPr id="130" name="Rombo 209">
            <a:extLst>
              <a:ext uri="{FF2B5EF4-FFF2-40B4-BE49-F238E27FC236}">
                <a16:creationId xmlns:a16="http://schemas.microsoft.com/office/drawing/2014/main" id="{5400F001-6C78-F223-C4DE-DCD58E9B6FEE}"/>
              </a:ext>
            </a:extLst>
          </p:cNvPr>
          <p:cNvSpPr/>
          <p:nvPr/>
        </p:nvSpPr>
        <p:spPr>
          <a:xfrm>
            <a:off x="8796355" y="6075653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3" name="Rombo 209">
            <a:extLst>
              <a:ext uri="{FF2B5EF4-FFF2-40B4-BE49-F238E27FC236}">
                <a16:creationId xmlns:a16="http://schemas.microsoft.com/office/drawing/2014/main" id="{258AA636-D956-3C8D-AE0E-0A7C4BA8708E}"/>
              </a:ext>
            </a:extLst>
          </p:cNvPr>
          <p:cNvSpPr/>
          <p:nvPr/>
        </p:nvSpPr>
        <p:spPr>
          <a:xfrm>
            <a:off x="10304333" y="6075653"/>
            <a:ext cx="104447" cy="174078"/>
          </a:xfrm>
          <a:prstGeom prst="diamond">
            <a:avLst/>
          </a:prstGeom>
          <a:solidFill>
            <a:srgbClr val="0070C0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34" name="TextBox 249">
            <a:extLst>
              <a:ext uri="{FF2B5EF4-FFF2-40B4-BE49-F238E27FC236}">
                <a16:creationId xmlns:a16="http://schemas.microsoft.com/office/drawing/2014/main" id="{F05DEB8F-E866-ED9B-F493-A3F929C2F165}"/>
              </a:ext>
            </a:extLst>
          </p:cNvPr>
          <p:cNvSpPr txBox="1"/>
          <p:nvPr/>
        </p:nvSpPr>
        <p:spPr>
          <a:xfrm>
            <a:off x="10407075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Completed</a:t>
            </a:r>
          </a:p>
        </p:txBody>
      </p:sp>
      <p:sp>
        <p:nvSpPr>
          <p:cNvPr id="135" name="Rectángulo 111">
            <a:extLst>
              <a:ext uri="{FF2B5EF4-FFF2-40B4-BE49-F238E27FC236}">
                <a16:creationId xmlns:a16="http://schemas.microsoft.com/office/drawing/2014/main" id="{BE1AB838-C366-D258-F979-100B2002C3B1}"/>
              </a:ext>
            </a:extLst>
          </p:cNvPr>
          <p:cNvSpPr/>
          <p:nvPr/>
        </p:nvSpPr>
        <p:spPr>
          <a:xfrm>
            <a:off x="11044913" y="6095481"/>
            <a:ext cx="278525" cy="104447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36" name="TextBox 249">
            <a:extLst>
              <a:ext uri="{FF2B5EF4-FFF2-40B4-BE49-F238E27FC236}">
                <a16:creationId xmlns:a16="http://schemas.microsoft.com/office/drawing/2014/main" id="{72350598-9BCB-11EC-9D2E-2169EC7BF58B}"/>
              </a:ext>
            </a:extLst>
          </p:cNvPr>
          <p:cNvSpPr txBox="1"/>
          <p:nvPr/>
        </p:nvSpPr>
        <p:spPr>
          <a:xfrm>
            <a:off x="11327407" y="6058514"/>
            <a:ext cx="663237" cy="211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74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tander Text" panose="020B0504020201020104" pitchFamily="34" charset="0"/>
                <a:ea typeface="+mn-ea"/>
                <a:cs typeface="Calibri" panose="020F0502020204030204" pitchFamily="34" charset="0"/>
              </a:rPr>
              <a:t>WIP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708714" y="1741470"/>
            <a:ext cx="4492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31/12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952442" y="2171008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31/01</a:t>
            </a:r>
          </a:p>
        </p:txBody>
      </p:sp>
      <p:sp>
        <p:nvSpPr>
          <p:cNvPr id="50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5473839" y="2523891"/>
            <a:ext cx="972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51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401029" y="2480819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53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5421374" y="2480819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228456" y="2621826"/>
            <a:ext cx="488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28/02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4847505" y="2171008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16/09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272505" y="2621826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04/11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39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87403" y="936403"/>
            <a:ext cx="1892373" cy="50333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1236" lvl="1" indent="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1547" i="1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Report Valuation:</a:t>
            </a: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indent="0" algn="just">
              <a:spcBef>
                <a:spcPts val="580"/>
              </a:spcBef>
              <a:spcAft>
                <a:spcPts val="580"/>
              </a:spcAft>
              <a:buNone/>
            </a:pPr>
            <a:endParaRPr lang="pt-PT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0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87403" y="3572917"/>
            <a:ext cx="2258133" cy="503336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1236" lvl="1" indent="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1547" i="1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Report Bail-in:</a:t>
            </a: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indent="0" algn="just">
              <a:spcBef>
                <a:spcPts val="580"/>
              </a:spcBef>
              <a:spcAft>
                <a:spcPts val="580"/>
              </a:spcAft>
              <a:buNone/>
            </a:pPr>
            <a:endParaRPr lang="pt-PT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2" name="Rectángulo 111">
            <a:extLst>
              <a:ext uri="{FF2B5EF4-FFF2-40B4-BE49-F238E27FC236}">
                <a16:creationId xmlns:a16="http://schemas.microsoft.com/office/drawing/2014/main" id="{161A4B43-328E-15C3-8BAD-41880F12218F}"/>
              </a:ext>
            </a:extLst>
          </p:cNvPr>
          <p:cNvSpPr/>
          <p:nvPr/>
        </p:nvSpPr>
        <p:spPr>
          <a:xfrm>
            <a:off x="5057322" y="2057614"/>
            <a:ext cx="1080000" cy="104136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1741" kern="0">
              <a:solidFill>
                <a:prstClr val="white"/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2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5023665" y="2015665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43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105121" y="2015665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graphicFrame>
        <p:nvGraphicFramePr>
          <p:cNvPr id="93" name="Group 3">
            <a:extLst>
              <a:ext uri="{FF2B5EF4-FFF2-40B4-BE49-F238E27FC236}">
                <a16:creationId xmlns:a16="http://schemas.microsoft.com/office/drawing/2014/main" id="{77D0F5B5-9F31-E4AE-3271-9C61E6DE5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329780"/>
              </p:ext>
            </p:extLst>
          </p:nvPr>
        </p:nvGraphicFramePr>
        <p:xfrm>
          <a:off x="4498244" y="3944013"/>
          <a:ext cx="2178180" cy="1640569"/>
        </p:xfrm>
        <a:graphic>
          <a:graphicData uri="http://schemas.openxmlformats.org/drawingml/2006/table">
            <a:tbl>
              <a:tblPr/>
              <a:tblGrid>
                <a:gridCol w="7260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6060">
                  <a:extLst>
                    <a:ext uri="{9D8B030D-6E8A-4147-A177-3AD203B41FA5}">
                      <a16:colId xmlns:a16="http://schemas.microsoft.com/office/drawing/2014/main" val="3392812642"/>
                    </a:ext>
                  </a:extLst>
                </a:gridCol>
              </a:tblGrid>
              <a:tr h="251647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3Q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4Q 2024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1Q 2025</a:t>
                      </a: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9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8922"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???"/>
                        <a:tabLst/>
                      </a:pPr>
                      <a:endParaRPr kumimoji="0" 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4" name="Group 3">
            <a:extLst>
              <a:ext uri="{FF2B5EF4-FFF2-40B4-BE49-F238E27FC236}">
                <a16:creationId xmlns:a16="http://schemas.microsoft.com/office/drawing/2014/main" id="{E2ED798E-A717-C7B4-45DA-3E08355F0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423267"/>
              </p:ext>
            </p:extLst>
          </p:nvPr>
        </p:nvGraphicFramePr>
        <p:xfrm>
          <a:off x="1202163" y="3944015"/>
          <a:ext cx="3296899" cy="1641165"/>
        </p:xfrm>
        <a:graphic>
          <a:graphicData uri="http://schemas.openxmlformats.org/drawingml/2006/table">
            <a:tbl>
              <a:tblPr/>
              <a:tblGrid>
                <a:gridCol w="3296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016">
                <a:tc>
                  <a:txBody>
                    <a:bodyPr/>
                    <a:lstStyle/>
                    <a:p>
                      <a:pPr marL="0" marR="0" lvl="0" indent="0" algn="ctr" defTabSz="762000" rtl="0" eaLnBrk="1" fontAlgn="base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cs typeface="Arial" pitchFamily="34" charset="0"/>
                        </a:rPr>
                        <a:t>Atividades</a:t>
                      </a:r>
                      <a:endParaRPr kumimoji="0" 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cs typeface="Arial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93261">
                <a:tc>
                  <a:txBody>
                    <a:bodyPr/>
                    <a:lstStyle/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pt-BR" sz="1000" b="1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Análise Funcional</a:t>
                      </a:r>
                      <a:r>
                        <a:rPr lang="pt-BR" sz="1000" b="1" baseline="0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 (Mapeamento dos campos, DDR)</a:t>
                      </a:r>
                      <a:endParaRPr lang="pt-BR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pt-PT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 err="1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Desenvolvimento</a:t>
                      </a: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sz="1000" b="1" dirty="0">
                          <a:solidFill>
                            <a:prstClr val="black"/>
                          </a:solidFill>
                          <a:latin typeface="Santander Text" panose="020B0504020201020104" pitchFamily="34" charset="0"/>
                        </a:rPr>
                        <a:t>Testes</a:t>
                      </a:r>
                    </a:p>
                    <a:p>
                      <a:pPr marL="171450" lvl="1" indent="-171450">
                        <a:spcBef>
                          <a:spcPts val="550"/>
                        </a:spcBef>
                        <a:buFont typeface="Arial" panose="020B0604020202020204" pitchFamily="34" charset="0"/>
                        <a:buChar char="•"/>
                      </a:pPr>
                      <a:endParaRPr lang="en-US" sz="1000" b="1" dirty="0">
                        <a:solidFill>
                          <a:prstClr val="black"/>
                        </a:solidFill>
                        <a:latin typeface="Santander Text" panose="020B0504020201020104" pitchFamily="34" charset="0"/>
                      </a:endParaRPr>
                    </a:p>
                  </a:txBody>
                  <a:tcPr marL="40132" marR="40132" marT="40132" marB="40132" horzOverflow="overflow">
                    <a:lnL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9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5955171" y="5168423"/>
            <a:ext cx="504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0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397729" y="5125351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1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5894324" y="5125351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6225156" y="5266358"/>
            <a:ext cx="488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28/02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493429" y="4815540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01/12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745455" y="5266358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02/01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693222" y="4401012"/>
            <a:ext cx="4623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31/12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4740573" y="4401012"/>
            <a:ext cx="4893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01/09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10" name="Rectángulo 111">
            <a:extLst>
              <a:ext uri="{FF2B5EF4-FFF2-40B4-BE49-F238E27FC236}">
                <a16:creationId xmlns:a16="http://schemas.microsoft.com/office/drawing/2014/main" id="{161A4B43-328E-15C3-8BAD-41880F12218F}"/>
              </a:ext>
            </a:extLst>
          </p:cNvPr>
          <p:cNvSpPr/>
          <p:nvPr/>
        </p:nvSpPr>
        <p:spPr>
          <a:xfrm>
            <a:off x="4982648" y="4287618"/>
            <a:ext cx="972000" cy="104136"/>
          </a:xfrm>
          <a:prstGeom prst="rect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84316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1741" kern="0">
              <a:solidFill>
                <a:prstClr val="white"/>
              </a:solidFill>
              <a:latin typeface="Santander Text" panose="020B05040202010201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4940609" y="4245669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2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5894150" y="4245669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3" name="Rectángulo 111">
            <a:extLst>
              <a:ext uri="{FF2B5EF4-FFF2-40B4-BE49-F238E27FC236}">
                <a16:creationId xmlns:a16="http://schemas.microsoft.com/office/drawing/2014/main" id="{64749451-83EE-637F-BF45-3E56E4C89B61}"/>
              </a:ext>
            </a:extLst>
          </p:cNvPr>
          <p:cNvSpPr/>
          <p:nvPr/>
        </p:nvSpPr>
        <p:spPr>
          <a:xfrm>
            <a:off x="5725734" y="4708598"/>
            <a:ext cx="432000" cy="87039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6" name="Rombo 44">
            <a:extLst>
              <a:ext uri="{FF2B5EF4-FFF2-40B4-BE49-F238E27FC236}">
                <a16:creationId xmlns:a16="http://schemas.microsoft.com/office/drawing/2014/main" id="{6362E75D-D319-9E47-D002-914F16B9ECEC}"/>
              </a:ext>
            </a:extLst>
          </p:cNvPr>
          <p:cNvSpPr/>
          <p:nvPr/>
        </p:nvSpPr>
        <p:spPr>
          <a:xfrm>
            <a:off x="5684321" y="4660197"/>
            <a:ext cx="104447" cy="174078"/>
          </a:xfrm>
          <a:prstGeom prst="diamond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07" name="Rombo 44">
            <a:extLst>
              <a:ext uri="{FF2B5EF4-FFF2-40B4-BE49-F238E27FC236}">
                <a16:creationId xmlns:a16="http://schemas.microsoft.com/office/drawing/2014/main" id="{2EFBFC9B-E836-26A0-4496-77E8BDD9AAC2}"/>
              </a:ext>
            </a:extLst>
          </p:cNvPr>
          <p:cNvSpPr/>
          <p:nvPr/>
        </p:nvSpPr>
        <p:spPr>
          <a:xfrm>
            <a:off x="6105121" y="4660197"/>
            <a:ext cx="104447" cy="174078"/>
          </a:xfrm>
          <a:prstGeom prst="diamond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884316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74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A45B611-9651-0E84-B4F2-241C493CBBA7}"/>
              </a:ext>
            </a:extLst>
          </p:cNvPr>
          <p:cNvSpPr txBox="1"/>
          <p:nvPr/>
        </p:nvSpPr>
        <p:spPr>
          <a:xfrm>
            <a:off x="5932548" y="4815540"/>
            <a:ext cx="48809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883689">
              <a:buClr>
                <a:srgbClr val="000000"/>
              </a:buClr>
              <a:defRPr/>
            </a:pPr>
            <a:r>
              <a:rPr lang="en-GB" sz="800" kern="0" dirty="0">
                <a:solidFill>
                  <a:srgbClr val="FFFFFF">
                    <a:lumMod val="50000"/>
                  </a:srgbClr>
                </a:solidFill>
                <a:latin typeface="Santander Text" panose="020B0504020201020104" pitchFamily="34" charset="0"/>
                <a:cs typeface="Arial"/>
                <a:sym typeface="Arial"/>
              </a:rPr>
              <a:t>31/01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94690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9237306" y="6339939"/>
            <a:ext cx="2652947" cy="3530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8417" tIns="44196" rIns="88417" bIns="44196" rtlCol="0" anchor="ctr" anchorCtr="0">
            <a:noAutofit/>
          </a:bodyPr>
          <a:lstStyle/>
          <a:p>
            <a:pPr marL="0" marR="0" lvl="0" indent="0" algn="r" defTabSz="8843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57" b="0" i="0" u="none" strike="noStrike" kern="1200" cap="none" spc="0" normalizeH="0" baseline="0" noProof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8843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7</a:t>
            </a:fld>
            <a:endParaRPr kumimoji="0" sz="1257" b="0" i="0" u="none" strike="noStrike" kern="1200" cap="none" spc="0" normalizeH="0" baseline="0" noProof="0">
              <a:ln>
                <a:noFill/>
              </a:ln>
              <a:solidFill>
                <a:srgbClr val="EB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144;p14">
            <a:extLst>
              <a:ext uri="{FF2B5EF4-FFF2-40B4-BE49-F238E27FC236}">
                <a16:creationId xmlns:a16="http://schemas.microsoft.com/office/drawing/2014/main" id="{FC1EC8AE-4C14-3DE0-A8B1-08DA977CD8B1}"/>
              </a:ext>
            </a:extLst>
          </p:cNvPr>
          <p:cNvSpPr txBox="1"/>
          <p:nvPr/>
        </p:nvSpPr>
        <p:spPr>
          <a:xfrm>
            <a:off x="889117" y="337712"/>
            <a:ext cx="7255856" cy="35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17" tIns="44196" rIns="88417" bIns="44196" anchor="t" anchorCtr="0">
            <a:spAutoFit/>
          </a:bodyPr>
          <a:lstStyle/>
          <a:p>
            <a:pPr marL="0" marR="0" lvl="0" indent="0" algn="l" defTabSz="88431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934" noProof="0" dirty="0">
                <a:solidFill>
                  <a:srgbClr val="EB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 Modelo de </a:t>
            </a:r>
            <a:r>
              <a:rPr kumimoji="0" lang="es-ES" sz="1934" b="0" i="0" u="none" strike="noStrike" kern="1200" cap="none" spc="0" normalizeH="0" baseline="0" noProof="0" dirty="0" err="1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controlos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s-ES" sz="1934" b="0" i="0" u="none" strike="noStrike" kern="1200" cap="none" spc="0" normalizeH="0" baseline="0" noProof="0" dirty="0" err="1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em</a:t>
            </a:r>
            <a:r>
              <a:rPr kumimoji="0" lang="es-ES" sz="1934" b="0" i="0" u="none" strike="noStrike" kern="1200" cap="none" spc="0" normalizeH="0" baseline="0" noProof="0" dirty="0">
                <a:ln>
                  <a:noFill/>
                </a:ln>
                <a:solidFill>
                  <a:srgbClr val="EB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BAU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5CA0108-8520-4B6A-B42A-E39931F952FE}"/>
              </a:ext>
            </a:extLst>
          </p:cNvPr>
          <p:cNvCxnSpPr>
            <a:cxnSpLocks/>
          </p:cNvCxnSpPr>
          <p:nvPr/>
        </p:nvCxnSpPr>
        <p:spPr>
          <a:xfrm>
            <a:off x="5904288" y="1072950"/>
            <a:ext cx="0" cy="5744570"/>
          </a:xfrm>
          <a:prstGeom prst="line">
            <a:avLst/>
          </a:prstGeom>
          <a:solidFill>
            <a:srgbClr val="4F94B0"/>
          </a:solidFill>
          <a:ln w="6350" cap="flat" cmpd="sng" algn="ctr">
            <a:noFill/>
            <a:prstDash val="solid"/>
            <a:miter lim="800000"/>
          </a:ln>
          <a:effectLst/>
        </p:spPr>
      </p:cxnSp>
      <p:sp>
        <p:nvSpPr>
          <p:cNvPr id="52" name="Rectangle 57">
            <a:extLst>
              <a:ext uri="{FF2B5EF4-FFF2-40B4-BE49-F238E27FC236}">
                <a16:creationId xmlns:a16="http://schemas.microsoft.com/office/drawing/2014/main" id="{6FD458DF-3F01-762D-F0C7-41DC062529EE}"/>
              </a:ext>
            </a:extLst>
          </p:cNvPr>
          <p:cNvSpPr/>
          <p:nvPr/>
        </p:nvSpPr>
        <p:spPr>
          <a:xfrm>
            <a:off x="343473" y="578676"/>
            <a:ext cx="679109" cy="530573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884316" rtl="0" eaLnBrk="1" fontAlgn="auto" latinLnBrk="0" hangingPunct="1">
              <a:lnSpc>
                <a:spcPct val="100000"/>
              </a:lnSpc>
              <a:spcBef>
                <a:spcPts val="5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67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tander Text" panose="020B0504020201020104" pitchFamily="34" charset="0"/>
              <a:ea typeface="+mn-ea"/>
              <a:cs typeface="+mn-cs"/>
            </a:endParaRPr>
          </a:p>
        </p:txBody>
      </p:sp>
      <p:sp>
        <p:nvSpPr>
          <p:cNvPr id="39" name="Marcador de texto 6">
            <a:extLst>
              <a:ext uri="{FF2B5EF4-FFF2-40B4-BE49-F238E27FC236}">
                <a16:creationId xmlns:a16="http://schemas.microsoft.com/office/drawing/2014/main" id="{B41703F7-02B2-429B-8F4E-1DA655A99A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87403" y="936402"/>
            <a:ext cx="11002850" cy="3906185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1236" lvl="1" indent="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1547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Não se pretende desenvolver controlos localmente, mas sim o Portal Corporativo conter estes controlos, como já acontece com todos os restantes </a:t>
            </a:r>
            <a:r>
              <a:rPr lang="pt-BR" sz="1547" i="1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Reports </a:t>
            </a:r>
            <a:r>
              <a:rPr lang="pt-BR" sz="1547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(por exemplo no </a:t>
            </a:r>
            <a:r>
              <a:rPr lang="pt-BR" sz="1547" i="1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Loan Tape </a:t>
            </a:r>
            <a:r>
              <a:rPr lang="pt-BR" sz="1547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Estrutural). </a:t>
            </a:r>
          </a:p>
          <a:p>
            <a:pPr marL="221236" lvl="1" indent="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1547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 Corporação deverá assim disponibilizar estes controlos e indicar quando se poderá efetuar o </a:t>
            </a:r>
            <a:r>
              <a:rPr lang="pt-BR" sz="1547" i="1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upload</a:t>
            </a:r>
            <a:r>
              <a:rPr lang="pt-BR" sz="1547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dos ficheiros para teste.</a:t>
            </a:r>
          </a:p>
          <a:p>
            <a:pPr marL="221236" lvl="1" indent="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r>
              <a:rPr lang="pt-BR" sz="1547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pt-BR" sz="1547" i="1" dirty="0">
                <a:solidFill>
                  <a:schemeClr val="tx2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221236" lvl="1" indent="0" algn="just">
              <a:lnSpc>
                <a:spcPct val="100000"/>
              </a:lnSpc>
              <a:spcBef>
                <a:spcPts val="0"/>
              </a:spcBef>
              <a:spcAft>
                <a:spcPts val="580"/>
              </a:spcAft>
              <a:buNone/>
            </a:pPr>
            <a:endParaRPr lang="pt-BR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42158" lvl="1" indent="0" algn="just">
              <a:spcBef>
                <a:spcPts val="580"/>
              </a:spcBef>
              <a:spcAft>
                <a:spcPts val="580"/>
              </a:spcAft>
              <a:buNone/>
            </a:pPr>
            <a:endParaRPr lang="pt-PT" sz="1547" dirty="0"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38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B9A5E792D2446B8986FAE34BEC557" ma:contentTypeVersion="13" ma:contentTypeDescription="Create a new document." ma:contentTypeScope="" ma:versionID="bcbfbc2cb1af6561f86a8ad5daa6a063">
  <xsd:schema xmlns:xsd="http://www.w3.org/2001/XMLSchema" xmlns:xs="http://www.w3.org/2001/XMLSchema" xmlns:p="http://schemas.microsoft.com/office/2006/metadata/properties" xmlns:ns1="http://schemas.microsoft.com/sharepoint/v3" xmlns:ns2="5ad20f8b-9281-4829-a9aa-2b5a878ba2cc" xmlns:ns3="09d3dac3-f296-4107-b579-4b1e37be6169" targetNamespace="http://schemas.microsoft.com/office/2006/metadata/properties" ma:root="true" ma:fieldsID="0035057686010aa8dcf9a0ff3cb7fe0a" ns1:_="" ns2:_="" ns3:_="">
    <xsd:import namespace="http://schemas.microsoft.com/sharepoint/v3"/>
    <xsd:import namespace="5ad20f8b-9281-4829-a9aa-2b5a878ba2cc"/>
    <xsd:import namespace="09d3dac3-f296-4107-b579-4b1e37be61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d20f8b-9281-4829-a9aa-2b5a878ba2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d3dac3-f296-4107-b579-4b1e37be616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f43633d-4f01-4e5f-8ed6-670c29f8108f}" ma:internalName="TaxCatchAll" ma:showField="CatchAllData" ma:web="09d3dac3-f296-4107-b579-4b1e37be61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9d3dac3-f296-4107-b579-4b1e37be6169" xsi:nil="true"/>
    <lcf76f155ced4ddcb4097134ff3c332f xmlns="5ad20f8b-9281-4829-a9aa-2b5a878ba2c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3974981-DFC2-4F43-9E90-5F420E095E76}"/>
</file>

<file path=customXml/itemProps2.xml><?xml version="1.0" encoding="utf-8"?>
<ds:datastoreItem xmlns:ds="http://schemas.openxmlformats.org/officeDocument/2006/customXml" ds:itemID="{6B10D050-DF1B-4E4D-81F1-0DA827DFFA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10BE0F-158A-4048-94DA-080A6D67F648}">
  <ds:schemaRefs>
    <ds:schemaRef ds:uri="http://purl.org/dc/elements/1.1/"/>
    <ds:schemaRef ds:uri="http://schemas.microsoft.com/sharepoint/v3"/>
    <ds:schemaRef ds:uri="http://schemas.microsoft.com/office/infopath/2007/PartnerControls"/>
    <ds:schemaRef ds:uri="http://purl.org/dc/terms/"/>
    <ds:schemaRef ds:uri="5ad20f8b-9281-4829-a9aa-2b5a878ba2cc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09d3dac3-f296-4107-b579-4b1e37be616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548</Words>
  <Application>Microsoft Office PowerPoint</Application>
  <PresentationFormat>Custom</PresentationFormat>
  <Paragraphs>116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Santander Headline</vt:lpstr>
      <vt:lpstr>Santander Text</vt:lpstr>
      <vt:lpstr>Tema de Office</vt:lpstr>
      <vt:lpstr>1_Tema de Office</vt:lpstr>
      <vt:lpstr>Report Valuation &amp; Bail-in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Luís Filipe da Silva Pragosa</cp:lastModifiedBy>
  <cp:revision>81</cp:revision>
  <cp:lastPrinted>2020-02-14T10:49:34Z</cp:lastPrinted>
  <dcterms:created xsi:type="dcterms:W3CDTF">2018-03-19T11:10:43Z</dcterms:created>
  <dcterms:modified xsi:type="dcterms:W3CDTF">2026-02-02T15:46:06Z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0x0101000B6B9A5E792D2446B8986FAE34BEC557</vt:lpwstr>
  </property>
  <property fmtid="{D5CDD505-2E9C-101B-9397-08002B2CF9AE}" pid="3" name="MediaServiceImageTags">
    <vt:lpwstr/>
  </property>
  <property fmtid="{D5CDD505-2E9C-101B-9397-08002B2CF9AE}" pid="4" name="MSIP_Label_c28a54a4-093b-4fbd-aebd-593e22a43ea3_Enabled">
    <vt:lpwstr>true</vt:lpwstr>
  </property>
  <property fmtid="{D5CDD505-2E9C-101B-9397-08002B2CF9AE}" pid="5" name="MSIP_Label_c28a54a4-093b-4fbd-aebd-593e22a43ea3_SetDate">
    <vt:lpwstr>2023-06-28T18:41:32Z</vt:lpwstr>
  </property>
  <property fmtid="{D5CDD505-2E9C-101B-9397-08002B2CF9AE}" pid="6" name="MSIP_Label_c28a54a4-093b-4fbd-aebd-593e22a43ea3_Method">
    <vt:lpwstr>Privileged</vt:lpwstr>
  </property>
  <property fmtid="{D5CDD505-2E9C-101B-9397-08002B2CF9AE}" pid="7" name="MSIP_Label_c28a54a4-093b-4fbd-aebd-593e22a43ea3_Name">
    <vt:lpwstr>Restricted-confidential</vt:lpwstr>
  </property>
  <property fmtid="{D5CDD505-2E9C-101B-9397-08002B2CF9AE}" pid="8" name="MSIP_Label_c28a54a4-093b-4fbd-aebd-593e22a43ea3_SiteId">
    <vt:lpwstr>35595a02-4d6d-44ac-99e1-f9ab4cd872db</vt:lpwstr>
  </property>
  <property fmtid="{D5CDD505-2E9C-101B-9397-08002B2CF9AE}" pid="9" name="MSIP_Label_c28a54a4-093b-4fbd-aebd-593e22a43ea3_ActionId">
    <vt:lpwstr>42f206b2-c692-4cb8-aa10-e52fc96ae511</vt:lpwstr>
  </property>
  <property fmtid="{D5CDD505-2E9C-101B-9397-08002B2CF9AE}" pid="10" name="MSIP_Label_c28a54a4-093b-4fbd-aebd-593e22a43ea3_ContentBits">
    <vt:lpwstr>1</vt:lpwstr>
  </property>
</Properties>
</file>