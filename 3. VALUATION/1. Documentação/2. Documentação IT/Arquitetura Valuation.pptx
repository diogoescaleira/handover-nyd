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10" Type="http://schemas.openxmlformats.org/officeDocument/2006/relationships/customXml" Target="../customXml/item3.xml"/><Relationship Id="rId4" Type="http://schemas.openxmlformats.org/officeDocument/2006/relationships/presProps" Target="presProps.xml"/><Relationship Id="rId9" Type="http://schemas.openxmlformats.org/officeDocument/2006/relationships/customXml" Target="../customXml/item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FA2EA-0002-4302-9060-0E87986BC456}" type="datetimeFigureOut">
              <a:rPr lang="en-US" smtClean="0"/>
              <a:t>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D91F6-E619-486D-82CD-56C4D70B3C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8436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FA2EA-0002-4302-9060-0E87986BC456}" type="datetimeFigureOut">
              <a:rPr lang="en-US" smtClean="0"/>
              <a:t>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D91F6-E619-486D-82CD-56C4D70B3C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235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FA2EA-0002-4302-9060-0E87986BC456}" type="datetimeFigureOut">
              <a:rPr lang="en-US" smtClean="0"/>
              <a:t>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D91F6-E619-486D-82CD-56C4D70B3C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2176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FA2EA-0002-4302-9060-0E87986BC456}" type="datetimeFigureOut">
              <a:rPr lang="en-US" smtClean="0"/>
              <a:t>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D91F6-E619-486D-82CD-56C4D70B3C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8246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FA2EA-0002-4302-9060-0E87986BC456}" type="datetimeFigureOut">
              <a:rPr lang="en-US" smtClean="0"/>
              <a:t>1/24/2025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D91F6-E619-486D-82CD-56C4D70B3C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867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FA2EA-0002-4302-9060-0E87986BC456}" type="datetimeFigureOut">
              <a:rPr lang="en-US" smtClean="0"/>
              <a:t>1/24/2025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D91F6-E619-486D-82CD-56C4D70B3C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7781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FA2EA-0002-4302-9060-0E87986BC456}" type="datetimeFigureOut">
              <a:rPr lang="en-US" smtClean="0"/>
              <a:t>1/24/2025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D91F6-E619-486D-82CD-56C4D70B3C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6787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FA2EA-0002-4302-9060-0E87986BC456}" type="datetimeFigureOut">
              <a:rPr lang="en-US" smtClean="0"/>
              <a:t>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D91F6-E619-486D-82CD-56C4D70B3C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816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FA2EA-0002-4302-9060-0E87986BC456}" type="datetimeFigureOut">
              <a:rPr lang="en-US" smtClean="0"/>
              <a:t>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D91F6-E619-486D-82CD-56C4D70B3C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054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FA2EA-0002-4302-9060-0E87986BC456}" type="datetimeFigureOut">
              <a:rPr lang="en-US" smtClean="0"/>
              <a:t>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D91F6-E619-486D-82CD-56C4D70B3C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8031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FA2EA-0002-4302-9060-0E87986BC456}" type="datetimeFigureOut">
              <a:rPr lang="en-US" smtClean="0"/>
              <a:t>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D91F6-E619-486D-82CD-56C4D70B3C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2478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9FA2EA-0002-4302-9060-0E87986BC456}" type="datetimeFigureOut">
              <a:rPr lang="en-US" smtClean="0"/>
              <a:t>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BD91F6-E619-486D-82CD-56C4D70B3C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716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0207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68"/>
          <p:cNvSpPr/>
          <p:nvPr/>
        </p:nvSpPr>
        <p:spPr>
          <a:xfrm>
            <a:off x="3046533" y="1816817"/>
            <a:ext cx="1150339" cy="366903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000" b="0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antander Headline" panose="020B0504020201020104" pitchFamily="34" charset="0"/>
              <a:ea typeface="+mn-ea"/>
              <a:cs typeface="+mn-cs"/>
            </a:endParaRPr>
          </a:p>
        </p:txBody>
      </p:sp>
      <p:sp>
        <p:nvSpPr>
          <p:cNvPr id="5" name="Rectángulo 68"/>
          <p:cNvSpPr/>
          <p:nvPr/>
        </p:nvSpPr>
        <p:spPr>
          <a:xfrm>
            <a:off x="1897994" y="1816817"/>
            <a:ext cx="1080000" cy="366903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000" b="0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antander Headline" panose="020B0504020201020104" pitchFamily="34" charset="0"/>
              <a:ea typeface="+mn-ea"/>
              <a:cs typeface="+mn-cs"/>
            </a:endParaRPr>
          </a:p>
        </p:txBody>
      </p:sp>
      <p:sp>
        <p:nvSpPr>
          <p:cNvPr id="6" name="Rectángulo 302"/>
          <p:cNvSpPr/>
          <p:nvPr/>
        </p:nvSpPr>
        <p:spPr>
          <a:xfrm>
            <a:off x="4273592" y="2682876"/>
            <a:ext cx="4725316" cy="2798353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ángulo 305"/>
          <p:cNvSpPr/>
          <p:nvPr/>
        </p:nvSpPr>
        <p:spPr>
          <a:xfrm>
            <a:off x="3031372" y="1629853"/>
            <a:ext cx="5967536" cy="320400"/>
          </a:xfrm>
          <a:prstGeom prst="rect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1" i="1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Datalake</a:t>
            </a:r>
          </a:p>
        </p:txBody>
      </p:sp>
      <p:sp>
        <p:nvSpPr>
          <p:cNvPr id="8" name="Rectángulo 69"/>
          <p:cNvSpPr/>
          <p:nvPr/>
        </p:nvSpPr>
        <p:spPr>
          <a:xfrm>
            <a:off x="1897994" y="1629853"/>
            <a:ext cx="1080000" cy="321085"/>
          </a:xfrm>
          <a:prstGeom prst="rect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0" cap="none" spc="0" normalizeH="0" baseline="0" noProof="0" dirty="0" err="1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ntander Text" panose="020B0504020201020104" pitchFamily="34" charset="0"/>
              </a:rPr>
              <a:t>Aplicações</a:t>
            </a:r>
            <a:r>
              <a:rPr kumimoji="0" lang="en-GB" sz="1000" b="1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ntander Headline" panose="020B0504020201020104" pitchFamily="34" charset="0"/>
                <a:ea typeface="+mn-ea"/>
                <a:cs typeface="+mn-cs"/>
              </a:rPr>
              <a:t> </a:t>
            </a:r>
            <a:r>
              <a:rPr lang="en-GB" sz="1000" b="1" kern="0" dirty="0" err="1" smtClean="0">
                <a:solidFill>
                  <a:prstClr val="white"/>
                </a:solidFill>
                <a:latin typeface="Santander Headline" panose="020B0504020201020104" pitchFamily="34" charset="0"/>
              </a:rPr>
              <a:t>Intermédias</a:t>
            </a:r>
            <a:endParaRPr kumimoji="0" lang="en-GB" sz="1000" b="1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antander Headline" panose="020B0504020201020104" pitchFamily="34" charset="0"/>
              <a:ea typeface="+mn-ea"/>
              <a:cs typeface="+mn-cs"/>
            </a:endParaRPr>
          </a:p>
        </p:txBody>
      </p:sp>
      <p:sp>
        <p:nvSpPr>
          <p:cNvPr id="9" name="Rectangle 32"/>
          <p:cNvSpPr>
            <a:spLocks noChangeArrowheads="1"/>
          </p:cNvSpPr>
          <p:nvPr/>
        </p:nvSpPr>
        <p:spPr bwMode="auto">
          <a:xfrm>
            <a:off x="1925663" y="2581776"/>
            <a:ext cx="1008000" cy="2988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lvl="0" algn="ctr" defTabSz="914400">
              <a:defRPr/>
            </a:pPr>
            <a:r>
              <a:rPr lang="pt-PT" altLang="pt-PT" sz="1000" kern="0" dirty="0">
                <a:solidFill>
                  <a:prstClr val="black"/>
                </a:solidFill>
                <a:latin typeface="Santander Headline" panose="020B0504020201020104" pitchFamily="34" charset="0"/>
              </a:rPr>
              <a:t>Imparidade</a:t>
            </a:r>
            <a:endParaRPr kumimoji="0" lang="pt-BR" altLang="pt-PT" sz="10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tander Headline" panose="020B0504020201020104" pitchFamily="34" charset="0"/>
              <a:ea typeface="+mn-ea"/>
              <a:cs typeface="+mn-cs"/>
            </a:endParaRPr>
          </a:p>
        </p:txBody>
      </p:sp>
      <p:sp>
        <p:nvSpPr>
          <p:cNvPr id="10" name="Rectangle 30">
            <a:extLst>
              <a:ext uri="{FF2B5EF4-FFF2-40B4-BE49-F238E27FC236}">
                <a16:creationId xmlns:a16="http://schemas.microsoft.com/office/drawing/2014/main" id="{14EFBA94-FC78-49EB-A4AF-BA9FC608CD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5663" y="3775144"/>
            <a:ext cx="1008000" cy="2988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lvl="0" algn="ctr" defTabSz="914400">
              <a:defRPr/>
            </a:pPr>
            <a:r>
              <a:rPr lang="pt-PT" altLang="pt-PT" sz="1000" kern="0" dirty="0">
                <a:solidFill>
                  <a:prstClr val="black"/>
                </a:solidFill>
                <a:latin typeface="Santander Headline" panose="020B0504020201020104" pitchFamily="34" charset="0"/>
              </a:rPr>
              <a:t>BDR</a:t>
            </a:r>
            <a:endParaRPr kumimoji="0" lang="pt-PT" altLang="pt-PT" sz="10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tander Headline" panose="020B0504020201020104" pitchFamily="34" charset="0"/>
              <a:ea typeface="+mn-ea"/>
              <a:cs typeface="+mn-cs"/>
            </a:endParaRPr>
          </a:p>
        </p:txBody>
      </p:sp>
      <p:sp>
        <p:nvSpPr>
          <p:cNvPr id="11" name="Rectangle 32">
            <a:extLst>
              <a:ext uri="{FF2B5EF4-FFF2-40B4-BE49-F238E27FC236}">
                <a16:creationId xmlns:a16="http://schemas.microsoft.com/office/drawing/2014/main" id="{0C2E659E-B60D-4106-8DA8-791A90E668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5663" y="3178460"/>
            <a:ext cx="1008000" cy="2988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altLang="pt-PT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Headline" panose="020B0504020201020104" pitchFamily="34" charset="0"/>
                <a:ea typeface="+mn-ea"/>
                <a:cs typeface="+mn-cs"/>
              </a:rPr>
              <a:t>Riscos</a:t>
            </a:r>
          </a:p>
        </p:txBody>
      </p:sp>
      <p:sp>
        <p:nvSpPr>
          <p:cNvPr id="12" name="Rectangle 32">
            <a:extLst>
              <a:ext uri="{FF2B5EF4-FFF2-40B4-BE49-F238E27FC236}">
                <a16:creationId xmlns:a16="http://schemas.microsoft.com/office/drawing/2014/main" id="{A1B0947F-D6DD-43A8-A34D-42F678EE52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5663" y="1985092"/>
            <a:ext cx="1008000" cy="2988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altLang="pt-PT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Headline" panose="020B0504020201020104" pitchFamily="34" charset="0"/>
                <a:ea typeface="+mn-ea"/>
                <a:cs typeface="+mn-cs"/>
              </a:rPr>
              <a:t>ICs</a:t>
            </a:r>
          </a:p>
        </p:txBody>
      </p:sp>
      <p:sp>
        <p:nvSpPr>
          <p:cNvPr id="13" name="Rectangle 30">
            <a:extLst>
              <a:ext uri="{FF2B5EF4-FFF2-40B4-BE49-F238E27FC236}">
                <a16:creationId xmlns:a16="http://schemas.microsoft.com/office/drawing/2014/main" id="{14EFBA94-FC78-49EB-A4AF-BA9FC608CD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5663" y="4371826"/>
            <a:ext cx="1008000" cy="2988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lvl="0" algn="ctr" defTabSz="914400">
              <a:defRPr/>
            </a:pPr>
            <a:r>
              <a:rPr lang="pt-PT" altLang="pt-PT" sz="1000" kern="0" dirty="0">
                <a:solidFill>
                  <a:prstClr val="black"/>
                </a:solidFill>
                <a:latin typeface="Santander Headline" panose="020B0504020201020104" pitchFamily="34" charset="0"/>
              </a:rPr>
              <a:t>…</a:t>
            </a:r>
            <a:endParaRPr kumimoji="0" lang="pt-PT" altLang="pt-PT" sz="10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tander Headline" panose="020B0504020201020104" pitchFamily="34" charset="0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1CDA135-DCE9-4423-9C48-D0BC8EB548FB}"/>
              </a:ext>
            </a:extLst>
          </p:cNvPr>
          <p:cNvSpPr txBox="1"/>
          <p:nvPr/>
        </p:nvSpPr>
        <p:spPr>
          <a:xfrm>
            <a:off x="4211015" y="5272332"/>
            <a:ext cx="25130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pt-PT" sz="1000" b="1" i="1" dirty="0" smtClean="0">
                <a:solidFill>
                  <a:prstClr val="black"/>
                </a:solidFill>
                <a:latin typeface="Santander Text" panose="020B0504020201020104" pitchFamily="34" charset="0"/>
              </a:rPr>
              <a:t>Tape </a:t>
            </a:r>
            <a:r>
              <a:rPr lang="pt-PT" sz="1000" b="1" i="1" dirty="0" err="1">
                <a:solidFill>
                  <a:prstClr val="black"/>
                </a:solidFill>
                <a:latin typeface="Santander Text" panose="020B0504020201020104" pitchFamily="34" charset="0"/>
              </a:rPr>
              <a:t>Reporting</a:t>
            </a:r>
            <a:r>
              <a:rPr lang="pt-PT" sz="1000" b="1" i="1" dirty="0">
                <a:solidFill>
                  <a:prstClr val="black"/>
                </a:solidFill>
                <a:latin typeface="Santander Text" panose="020B0504020201020104" pitchFamily="34" charset="0"/>
              </a:rPr>
              <a:t> </a:t>
            </a:r>
            <a:r>
              <a:rPr lang="pt-PT" sz="1000" b="1" i="1" dirty="0" err="1" smtClean="0">
                <a:solidFill>
                  <a:prstClr val="black"/>
                </a:solidFill>
                <a:latin typeface="Santander Text" panose="020B0504020201020104" pitchFamily="34" charset="0"/>
              </a:rPr>
              <a:t>Engine</a:t>
            </a:r>
            <a:r>
              <a:rPr lang="pt-PT" sz="1000" b="1" i="1" dirty="0" smtClean="0">
                <a:solidFill>
                  <a:prstClr val="black"/>
                </a:solidFill>
                <a:latin typeface="Santander Text" panose="020B0504020201020104" pitchFamily="34" charset="0"/>
              </a:rPr>
              <a:t> </a:t>
            </a:r>
            <a:r>
              <a:rPr lang="pt-PT" sz="1000" b="1" dirty="0" smtClean="0">
                <a:solidFill>
                  <a:prstClr val="black"/>
                </a:solidFill>
                <a:latin typeface="Santander Text" panose="020B0504020201020104" pitchFamily="34" charset="0"/>
              </a:rPr>
              <a:t>(Motor </a:t>
            </a:r>
            <a:r>
              <a:rPr lang="pt-PT" sz="1000" b="1" i="1" dirty="0" err="1" smtClean="0">
                <a:solidFill>
                  <a:prstClr val="black"/>
                </a:solidFill>
                <a:latin typeface="Santander Text" panose="020B0504020201020104" pitchFamily="34" charset="0"/>
              </a:rPr>
              <a:t>Loan</a:t>
            </a:r>
            <a:r>
              <a:rPr lang="pt-PT" sz="1000" b="1" i="1" dirty="0" smtClean="0">
                <a:solidFill>
                  <a:prstClr val="black"/>
                </a:solidFill>
                <a:latin typeface="Santander Text" panose="020B0504020201020104" pitchFamily="34" charset="0"/>
              </a:rPr>
              <a:t> Tape) </a:t>
            </a:r>
            <a:endParaRPr lang="pt-PT" sz="1000" b="1" i="1" dirty="0">
              <a:solidFill>
                <a:prstClr val="black"/>
              </a:solidFill>
              <a:latin typeface="Santander Text" panose="020B0504020201020104" pitchFamily="34" charset="0"/>
            </a:endParaRPr>
          </a:p>
        </p:txBody>
      </p:sp>
      <p:grpSp>
        <p:nvGrpSpPr>
          <p:cNvPr id="15" name="Group 14"/>
          <p:cNvGrpSpPr/>
          <p:nvPr/>
        </p:nvGrpSpPr>
        <p:grpSpPr>
          <a:xfrm>
            <a:off x="6650913" y="2173661"/>
            <a:ext cx="541382" cy="449352"/>
            <a:chOff x="2988362" y="1267823"/>
            <a:chExt cx="737727" cy="564878"/>
          </a:xfrm>
        </p:grpSpPr>
        <p:pic>
          <p:nvPicPr>
            <p:cNvPr id="16" name="Picture 14" descr="Simple computer screen icon computer #AD , #Affiliate, #sponsored, #computer,  #screen, #icon, #Simple | Camera illustration, Screen icon, Computer logo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61211" y="1267823"/>
              <a:ext cx="564878" cy="5648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16" descr="User shape - Free people icons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88362" y="1471582"/>
              <a:ext cx="345698" cy="3456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8" name="CuadroTexto 86"/>
          <p:cNvSpPr txBox="1"/>
          <p:nvPr/>
        </p:nvSpPr>
        <p:spPr>
          <a:xfrm>
            <a:off x="6358357" y="1946001"/>
            <a:ext cx="1262685" cy="288791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Autofit/>
          </a:bodyPr>
          <a:lstStyle/>
          <a:p>
            <a:pPr algn="ctr" defTabSz="914400"/>
            <a:r>
              <a:rPr lang="es-ES" sz="1000" b="1" i="1" dirty="0" smtClean="0">
                <a:solidFill>
                  <a:prstClr val="black"/>
                </a:solidFill>
                <a:latin typeface="Santander Text" panose="020B0504020201020104" pitchFamily="34" charset="0"/>
              </a:rPr>
              <a:t>Front Datalake </a:t>
            </a:r>
            <a:r>
              <a:rPr lang="es-ES" sz="1000" b="1" i="1" dirty="0" err="1" smtClean="0">
                <a:solidFill>
                  <a:prstClr val="black"/>
                </a:solidFill>
                <a:latin typeface="Santander Text" panose="020B0504020201020104" pitchFamily="34" charset="0"/>
              </a:rPr>
              <a:t>Hub</a:t>
            </a:r>
            <a:endParaRPr lang="es-ES" sz="1000" b="1" i="1" dirty="0">
              <a:solidFill>
                <a:prstClr val="black"/>
              </a:solidFill>
              <a:latin typeface="Santander Text" panose="020B0504020201020104" pitchFamily="34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8CAED7A-A528-4152-B5B5-C4B98F66A0C8}"/>
              </a:ext>
            </a:extLst>
          </p:cNvPr>
          <p:cNvGrpSpPr/>
          <p:nvPr/>
        </p:nvGrpSpPr>
        <p:grpSpPr>
          <a:xfrm>
            <a:off x="4580450" y="2411635"/>
            <a:ext cx="982328" cy="240407"/>
            <a:chOff x="3608497" y="4223067"/>
            <a:chExt cx="952560" cy="323062"/>
          </a:xfrm>
        </p:grpSpPr>
        <p:sp>
          <p:nvSpPr>
            <p:cNvPr id="20" name="Fluxograma: multidocumentos 215">
              <a:extLst>
                <a:ext uri="{FF2B5EF4-FFF2-40B4-BE49-F238E27FC236}">
                  <a16:creationId xmlns:a16="http://schemas.microsoft.com/office/drawing/2014/main" id="{55D81000-F466-483E-AF13-600FF3A37032}"/>
                </a:ext>
              </a:extLst>
            </p:cNvPr>
            <p:cNvSpPr/>
            <p:nvPr/>
          </p:nvSpPr>
          <p:spPr>
            <a:xfrm>
              <a:off x="3608497" y="4223067"/>
              <a:ext cx="814813" cy="323062"/>
            </a:xfrm>
            <a:prstGeom prst="flowChartMultidocument">
              <a:avLst/>
            </a:prstGeom>
            <a:solidFill>
              <a:sysClr val="window" lastClr="FFFFFF"/>
            </a:solidFill>
            <a:ln w="31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0" rIns="36000" bIns="0"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800" b="0" i="0" u="none" strike="noStrike" kern="0" cap="none" spc="0" normalizeH="0" baseline="30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CaixaDeTexto 167">
              <a:extLst>
                <a:ext uri="{FF2B5EF4-FFF2-40B4-BE49-F238E27FC236}">
                  <a16:creationId xmlns:a16="http://schemas.microsoft.com/office/drawing/2014/main" id="{748ACA4D-EFBB-4C32-AFBC-9EC9A4B63BDE}"/>
                </a:ext>
              </a:extLst>
            </p:cNvPr>
            <p:cNvSpPr txBox="1"/>
            <p:nvPr/>
          </p:nvSpPr>
          <p:spPr>
            <a:xfrm>
              <a:off x="3613292" y="4247645"/>
              <a:ext cx="947765" cy="2895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800" b="0" i="1" u="none" strike="noStrike" kern="0" cap="none" spc="0" normalizeH="0" baseline="0" noProof="0" dirty="0" smtClean="0">
                  <a:ln>
                    <a:noFill/>
                  </a:ln>
                  <a:solidFill>
                    <a:srgbClr val="E7E6E6">
                      <a:lumMod val="25000"/>
                    </a:srgbClr>
                  </a:solidFill>
                  <a:effectLst/>
                  <a:uLnTx/>
                  <a:uFillTx/>
                  <a:latin typeface="Santander Text" panose="020B0504020201020104" pitchFamily="34" charset="0"/>
                </a:rPr>
                <a:t>Input</a:t>
              </a:r>
              <a:r>
                <a:rPr kumimoji="0" lang="pt-PT" sz="8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E7E6E6">
                      <a:lumMod val="25000"/>
                    </a:srgbClr>
                  </a:solidFill>
                  <a:effectLst/>
                  <a:uLnTx/>
                  <a:uFillTx/>
                  <a:latin typeface="Santander Text" panose="020B0504020201020104" pitchFamily="34" charset="0"/>
                </a:rPr>
                <a:t> Manual</a:t>
              </a:r>
            </a:p>
          </p:txBody>
        </p:sp>
      </p:grpSp>
      <p:cxnSp>
        <p:nvCxnSpPr>
          <p:cNvPr id="22" name="Conector angular 217">
            <a:extLst>
              <a:ext uri="{FF2B5EF4-FFF2-40B4-BE49-F238E27FC236}">
                <a16:creationId xmlns:a16="http://schemas.microsoft.com/office/drawing/2014/main" id="{104FF1AD-6C79-410F-877A-A8EED90DF68C}"/>
              </a:ext>
            </a:extLst>
          </p:cNvPr>
          <p:cNvCxnSpPr>
            <a:cxnSpLocks/>
          </p:cNvCxnSpPr>
          <p:nvPr/>
        </p:nvCxnSpPr>
        <p:spPr>
          <a:xfrm rot="16200000" flipH="1">
            <a:off x="4696025" y="2870784"/>
            <a:ext cx="457679" cy="1986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rgbClr val="70AD47">
                <a:lumMod val="40000"/>
                <a:lumOff val="60000"/>
              </a:srgbClr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3" name="Elbow Connector 22"/>
          <p:cNvCxnSpPr>
            <a:endCxn id="21" idx="0"/>
          </p:cNvCxnSpPr>
          <p:nvPr/>
        </p:nvCxnSpPr>
        <p:spPr>
          <a:xfrm rot="10800000" flipV="1">
            <a:off x="5074088" y="2312757"/>
            <a:ext cx="1605409" cy="117168"/>
          </a:xfrm>
          <a:prstGeom prst="bentConnector2">
            <a:avLst/>
          </a:prstGeom>
          <a:noFill/>
          <a:ln w="9525" cap="flat" cmpd="sng" algn="ctr">
            <a:solidFill>
              <a:srgbClr val="70AD47">
                <a:lumMod val="40000"/>
                <a:lumOff val="60000"/>
              </a:srgbClr>
            </a:solidFill>
            <a:prstDash val="solid"/>
            <a:miter lim="800000"/>
            <a:tailEnd type="triangle"/>
          </a:ln>
          <a:effectLst/>
        </p:spPr>
      </p:cxnSp>
      <p:pic>
        <p:nvPicPr>
          <p:cNvPr id="24" name="Picture 25" descr="database table&quot; Icon - Download for free – Iconduck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1993" y="3145793"/>
            <a:ext cx="409005" cy="409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CuadroTexto 86"/>
          <p:cNvSpPr txBox="1"/>
          <p:nvPr/>
        </p:nvSpPr>
        <p:spPr>
          <a:xfrm>
            <a:off x="4310502" y="3508997"/>
            <a:ext cx="1262685" cy="288791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Autofit/>
          </a:bodyPr>
          <a:lstStyle/>
          <a:p>
            <a:pPr algn="ctr" defTabSz="914400"/>
            <a:r>
              <a:rPr lang="es-ES" sz="900" b="1" dirty="0" smtClean="0">
                <a:solidFill>
                  <a:prstClr val="black"/>
                </a:solidFill>
                <a:latin typeface="Santander Text" panose="020B0504020201020104" pitchFamily="34" charset="0"/>
              </a:rPr>
              <a:t>Parametrizações</a:t>
            </a:r>
            <a:endParaRPr lang="es-ES" sz="900" b="1" dirty="0">
              <a:solidFill>
                <a:prstClr val="black"/>
              </a:solidFill>
              <a:latin typeface="Santander Text" panose="020B0504020201020104" pitchFamily="34" charset="0"/>
            </a:endParaRPr>
          </a:p>
        </p:txBody>
      </p:sp>
      <p:grpSp>
        <p:nvGrpSpPr>
          <p:cNvPr id="26" name="Grupo 83">
            <a:extLst>
              <a:ext uri="{FF2B5EF4-FFF2-40B4-BE49-F238E27FC236}">
                <a16:creationId xmlns:a16="http://schemas.microsoft.com/office/drawing/2014/main" id="{DA7F669B-1774-4125-9922-8107A6911262}"/>
              </a:ext>
            </a:extLst>
          </p:cNvPr>
          <p:cNvGrpSpPr/>
          <p:nvPr/>
        </p:nvGrpSpPr>
        <p:grpSpPr>
          <a:xfrm>
            <a:off x="5668001" y="4220133"/>
            <a:ext cx="372432" cy="404986"/>
            <a:chOff x="8038758" y="3835908"/>
            <a:chExt cx="1282700" cy="1173653"/>
          </a:xfrm>
          <a:solidFill>
            <a:srgbClr val="FFC000"/>
          </a:solidFill>
        </p:grpSpPr>
        <p:sp>
          <p:nvSpPr>
            <p:cNvPr id="27" name="Disco magnético 89">
              <a:extLst>
                <a:ext uri="{FF2B5EF4-FFF2-40B4-BE49-F238E27FC236}">
                  <a16:creationId xmlns:a16="http://schemas.microsoft.com/office/drawing/2014/main" id="{8B9BAC6E-9E5D-4251-8CC2-278BAAAA04D3}"/>
                </a:ext>
              </a:extLst>
            </p:cNvPr>
            <p:cNvSpPr/>
            <p:nvPr/>
          </p:nvSpPr>
          <p:spPr>
            <a:xfrm>
              <a:off x="8038758" y="4560176"/>
              <a:ext cx="1282700" cy="449385"/>
            </a:xfrm>
            <a:prstGeom prst="flowChartMagneticDisk">
              <a:avLst/>
            </a:prstGeom>
            <a:grpFill/>
            <a:ln w="12700" cap="flat" cmpd="sng" algn="ctr">
              <a:solidFill>
                <a:srgbClr val="70AD47">
                  <a:lumMod val="20000"/>
                  <a:lumOff val="8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Disco magnético 91">
              <a:extLst>
                <a:ext uri="{FF2B5EF4-FFF2-40B4-BE49-F238E27FC236}">
                  <a16:creationId xmlns:a16="http://schemas.microsoft.com/office/drawing/2014/main" id="{07023724-C232-4DCE-B2AD-572B51780A59}"/>
                </a:ext>
              </a:extLst>
            </p:cNvPr>
            <p:cNvSpPr/>
            <p:nvPr/>
          </p:nvSpPr>
          <p:spPr>
            <a:xfrm>
              <a:off x="8038758" y="4198042"/>
              <a:ext cx="1282700" cy="449385"/>
            </a:xfrm>
            <a:prstGeom prst="flowChartMagneticDisk">
              <a:avLst/>
            </a:prstGeom>
            <a:grpFill/>
            <a:ln w="12700" cap="flat" cmpd="sng" algn="ctr">
              <a:solidFill>
                <a:srgbClr val="70AD47">
                  <a:lumMod val="20000"/>
                  <a:lumOff val="8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" name="Disco magnético 92">
              <a:extLst>
                <a:ext uri="{FF2B5EF4-FFF2-40B4-BE49-F238E27FC236}">
                  <a16:creationId xmlns:a16="http://schemas.microsoft.com/office/drawing/2014/main" id="{BCF97D6A-1EB0-49D3-A831-DC139A5D34ED}"/>
                </a:ext>
              </a:extLst>
            </p:cNvPr>
            <p:cNvSpPr/>
            <p:nvPr/>
          </p:nvSpPr>
          <p:spPr>
            <a:xfrm>
              <a:off x="8038758" y="3835908"/>
              <a:ext cx="1282700" cy="449385"/>
            </a:xfrm>
            <a:prstGeom prst="flowChartMagneticDisk">
              <a:avLst/>
            </a:prstGeom>
            <a:grpFill/>
            <a:ln w="12700" cap="flat" cmpd="sng" algn="ctr">
              <a:solidFill>
                <a:srgbClr val="70AD47">
                  <a:lumMod val="20000"/>
                  <a:lumOff val="8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0" name="CuadroTexto 86"/>
          <p:cNvSpPr txBox="1"/>
          <p:nvPr/>
        </p:nvSpPr>
        <p:spPr>
          <a:xfrm>
            <a:off x="5219559" y="4613232"/>
            <a:ext cx="1262685" cy="288791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Autofit/>
          </a:bodyPr>
          <a:lstStyle/>
          <a:p>
            <a:pPr algn="ctr" defTabSz="914400"/>
            <a:r>
              <a:rPr lang="es-ES" sz="900" b="1" dirty="0" smtClean="0">
                <a:solidFill>
                  <a:prstClr val="black"/>
                </a:solidFill>
                <a:latin typeface="Santander Text" panose="020B0504020201020104" pitchFamily="34" charset="0"/>
              </a:rPr>
              <a:t>Universo</a:t>
            </a:r>
            <a:endParaRPr lang="es-ES" sz="900" b="1" dirty="0">
              <a:solidFill>
                <a:prstClr val="black"/>
              </a:solidFill>
              <a:latin typeface="Santander Text" panose="020B0504020201020104" pitchFamily="34" charset="0"/>
            </a:endParaRPr>
          </a:p>
        </p:txBody>
      </p:sp>
      <p:cxnSp>
        <p:nvCxnSpPr>
          <p:cNvPr id="31" name="Elbow Connector 30"/>
          <p:cNvCxnSpPr>
            <a:endCxn id="28" idx="2"/>
          </p:cNvCxnSpPr>
          <p:nvPr/>
        </p:nvCxnSpPr>
        <p:spPr>
          <a:xfrm>
            <a:off x="3802360" y="2134492"/>
            <a:ext cx="1865641" cy="2288135"/>
          </a:xfrm>
          <a:prstGeom prst="bentConnector3">
            <a:avLst>
              <a:gd name="adj1" fmla="val 37257"/>
            </a:avLst>
          </a:prstGeom>
          <a:noFill/>
          <a:ln w="952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2" name="Elbow Connector 31"/>
          <p:cNvCxnSpPr/>
          <p:nvPr/>
        </p:nvCxnSpPr>
        <p:spPr>
          <a:xfrm rot="16200000" flipH="1">
            <a:off x="4853334" y="3608341"/>
            <a:ext cx="867829" cy="761505"/>
          </a:xfrm>
          <a:prstGeom prst="bentConnector2">
            <a:avLst/>
          </a:prstGeom>
          <a:noFill/>
          <a:ln w="952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  <a:tailEnd type="triangle"/>
          </a:ln>
          <a:effectLst/>
        </p:spPr>
      </p:cxnSp>
      <p:pic>
        <p:nvPicPr>
          <p:cNvPr id="33" name="Picture 25" descr="database table&quot; Icon - Download for free – Iconduck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1966" y="3117471"/>
            <a:ext cx="370567" cy="370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4" name="Group 33"/>
          <p:cNvGrpSpPr/>
          <p:nvPr/>
        </p:nvGrpSpPr>
        <p:grpSpPr>
          <a:xfrm>
            <a:off x="6356399" y="2803176"/>
            <a:ext cx="1966913" cy="2503429"/>
            <a:chOff x="6210095" y="2525811"/>
            <a:chExt cx="2091549" cy="2660071"/>
          </a:xfrm>
        </p:grpSpPr>
        <p:sp>
          <p:nvSpPr>
            <p:cNvPr id="35" name="Rectángulo 302">
              <a:extLst>
                <a:ext uri="{FF2B5EF4-FFF2-40B4-BE49-F238E27FC236}">
                  <a16:creationId xmlns:a16="http://schemas.microsoft.com/office/drawing/2014/main" id="{8A9B3DBE-ACE6-4B81-ADD9-223668AAC958}"/>
                </a:ext>
              </a:extLst>
            </p:cNvPr>
            <p:cNvSpPr/>
            <p:nvPr/>
          </p:nvSpPr>
          <p:spPr>
            <a:xfrm>
              <a:off x="6363579" y="2721799"/>
              <a:ext cx="1938065" cy="2464083"/>
            </a:xfrm>
            <a:prstGeom prst="rect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36" name="Grupo 83">
              <a:extLst>
                <a:ext uri="{FF2B5EF4-FFF2-40B4-BE49-F238E27FC236}">
                  <a16:creationId xmlns:a16="http://schemas.microsoft.com/office/drawing/2014/main" id="{DA7F669B-1774-4125-9922-8107A6911262}"/>
                </a:ext>
              </a:extLst>
            </p:cNvPr>
            <p:cNvGrpSpPr/>
            <p:nvPr/>
          </p:nvGrpSpPr>
          <p:grpSpPr>
            <a:xfrm>
              <a:off x="6210095" y="2525811"/>
              <a:ext cx="343570" cy="355091"/>
              <a:chOff x="8038758" y="3835908"/>
              <a:chExt cx="1282700" cy="1173653"/>
            </a:xfrm>
            <a:solidFill>
              <a:srgbClr val="FFC000"/>
            </a:solidFill>
          </p:grpSpPr>
          <p:sp>
            <p:nvSpPr>
              <p:cNvPr id="37" name="Disco magnético 89">
                <a:extLst>
                  <a:ext uri="{FF2B5EF4-FFF2-40B4-BE49-F238E27FC236}">
                    <a16:creationId xmlns:a16="http://schemas.microsoft.com/office/drawing/2014/main" id="{8B9BAC6E-9E5D-4251-8CC2-278BAAAA04D3}"/>
                  </a:ext>
                </a:extLst>
              </p:cNvPr>
              <p:cNvSpPr/>
              <p:nvPr/>
            </p:nvSpPr>
            <p:spPr>
              <a:xfrm>
                <a:off x="8038758" y="4560176"/>
                <a:ext cx="1282700" cy="449385"/>
              </a:xfrm>
              <a:prstGeom prst="flowChartMagneticDisk">
                <a:avLst/>
              </a:prstGeom>
              <a:grpFill/>
              <a:ln w="12700" cap="flat" cmpd="sng" algn="ctr">
                <a:solidFill>
                  <a:srgbClr val="70AD47">
                    <a:lumMod val="20000"/>
                    <a:lumOff val="8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8" name="Disco magnético 91">
                <a:extLst>
                  <a:ext uri="{FF2B5EF4-FFF2-40B4-BE49-F238E27FC236}">
                    <a16:creationId xmlns:a16="http://schemas.microsoft.com/office/drawing/2014/main" id="{07023724-C232-4DCE-B2AD-572B51780A59}"/>
                  </a:ext>
                </a:extLst>
              </p:cNvPr>
              <p:cNvSpPr/>
              <p:nvPr/>
            </p:nvSpPr>
            <p:spPr>
              <a:xfrm>
                <a:off x="8038758" y="4198042"/>
                <a:ext cx="1282700" cy="449385"/>
              </a:xfrm>
              <a:prstGeom prst="flowChartMagneticDisk">
                <a:avLst/>
              </a:prstGeom>
              <a:grpFill/>
              <a:ln w="12700" cap="flat" cmpd="sng" algn="ctr">
                <a:solidFill>
                  <a:srgbClr val="70AD47">
                    <a:lumMod val="20000"/>
                    <a:lumOff val="8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9" name="Disco magnético 92">
                <a:extLst>
                  <a:ext uri="{FF2B5EF4-FFF2-40B4-BE49-F238E27FC236}">
                    <a16:creationId xmlns:a16="http://schemas.microsoft.com/office/drawing/2014/main" id="{BCF97D6A-1EB0-49D3-A831-DC139A5D34ED}"/>
                  </a:ext>
                </a:extLst>
              </p:cNvPr>
              <p:cNvSpPr/>
              <p:nvPr/>
            </p:nvSpPr>
            <p:spPr>
              <a:xfrm>
                <a:off x="8038758" y="3835908"/>
                <a:ext cx="1282700" cy="449385"/>
              </a:xfrm>
              <a:prstGeom prst="flowChartMagneticDisk">
                <a:avLst/>
              </a:prstGeom>
              <a:grpFill/>
              <a:ln w="12700" cap="flat" cmpd="sng" algn="ctr">
                <a:solidFill>
                  <a:srgbClr val="70AD47">
                    <a:lumMod val="20000"/>
                    <a:lumOff val="8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40" name="CuadroTexto 86"/>
          <p:cNvSpPr txBox="1"/>
          <p:nvPr/>
        </p:nvSpPr>
        <p:spPr>
          <a:xfrm>
            <a:off x="6371436" y="3451755"/>
            <a:ext cx="1262685" cy="288791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Autofit/>
          </a:bodyPr>
          <a:lstStyle/>
          <a:p>
            <a:pPr algn="ctr" defTabSz="914400"/>
            <a:r>
              <a:rPr lang="es-ES" sz="900" b="1" dirty="0" smtClean="0">
                <a:solidFill>
                  <a:prstClr val="black"/>
                </a:solidFill>
                <a:latin typeface="Santander Text" panose="020B0504020201020104" pitchFamily="34" charset="0"/>
              </a:rPr>
              <a:t>lt002_instrument</a:t>
            </a:r>
            <a:endParaRPr lang="es-ES" sz="900" b="1" dirty="0">
              <a:solidFill>
                <a:prstClr val="black"/>
              </a:solidFill>
              <a:latin typeface="Santander Text" panose="020B0504020201020104" pitchFamily="34" charset="0"/>
            </a:endParaRPr>
          </a:p>
        </p:txBody>
      </p:sp>
      <p:sp>
        <p:nvSpPr>
          <p:cNvPr id="41" name="CuadroTexto 86"/>
          <p:cNvSpPr txBox="1"/>
          <p:nvPr/>
        </p:nvSpPr>
        <p:spPr>
          <a:xfrm>
            <a:off x="6380495" y="4195190"/>
            <a:ext cx="1262685" cy="288791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Autofit/>
          </a:bodyPr>
          <a:lstStyle/>
          <a:p>
            <a:pPr algn="ctr" defTabSz="914400"/>
            <a:r>
              <a:rPr lang="es-ES" sz="900" b="1" dirty="0" smtClean="0">
                <a:solidFill>
                  <a:prstClr val="black"/>
                </a:solidFill>
                <a:latin typeface="Santander Text" panose="020B0504020201020104" pitchFamily="34" charset="0"/>
              </a:rPr>
              <a:t>lt003_entity</a:t>
            </a:r>
            <a:endParaRPr lang="es-ES" sz="900" b="1" dirty="0">
              <a:solidFill>
                <a:prstClr val="black"/>
              </a:solidFill>
              <a:latin typeface="Santander Text" panose="020B0504020201020104" pitchFamily="34" charset="0"/>
            </a:endParaRPr>
          </a:p>
        </p:txBody>
      </p:sp>
      <p:sp>
        <p:nvSpPr>
          <p:cNvPr id="42" name="CuadroTexto 86"/>
          <p:cNvSpPr txBox="1"/>
          <p:nvPr/>
        </p:nvSpPr>
        <p:spPr>
          <a:xfrm>
            <a:off x="6380496" y="4968086"/>
            <a:ext cx="1262685" cy="288791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Autofit/>
          </a:bodyPr>
          <a:lstStyle/>
          <a:p>
            <a:pPr algn="ctr" defTabSz="914400"/>
            <a:r>
              <a:rPr lang="es-ES" sz="900" b="1" dirty="0">
                <a:solidFill>
                  <a:prstClr val="black"/>
                </a:solidFill>
                <a:latin typeface="Santander Text" panose="020B0504020201020104" pitchFamily="34" charset="0"/>
              </a:rPr>
              <a:t>lt004_protection</a:t>
            </a:r>
          </a:p>
        </p:txBody>
      </p:sp>
      <p:sp>
        <p:nvSpPr>
          <p:cNvPr id="43" name="CuadroTexto 86"/>
          <p:cNvSpPr txBox="1"/>
          <p:nvPr/>
        </p:nvSpPr>
        <p:spPr>
          <a:xfrm>
            <a:off x="7208499" y="4623123"/>
            <a:ext cx="1262685" cy="288791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Autofit/>
          </a:bodyPr>
          <a:lstStyle/>
          <a:p>
            <a:pPr algn="ctr" defTabSz="914400"/>
            <a:r>
              <a:rPr lang="es-ES" sz="900" b="1" dirty="0">
                <a:solidFill>
                  <a:prstClr val="black"/>
                </a:solidFill>
                <a:latin typeface="Santander Text" panose="020B0504020201020104" pitchFamily="34" charset="0"/>
              </a:rPr>
              <a:t>lt006_instr_prot</a:t>
            </a:r>
          </a:p>
        </p:txBody>
      </p:sp>
      <p:sp>
        <p:nvSpPr>
          <p:cNvPr id="44" name="CuadroTexto 86"/>
          <p:cNvSpPr txBox="1"/>
          <p:nvPr/>
        </p:nvSpPr>
        <p:spPr>
          <a:xfrm>
            <a:off x="7204076" y="3776455"/>
            <a:ext cx="1262685" cy="288791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Autofit/>
          </a:bodyPr>
          <a:lstStyle/>
          <a:p>
            <a:pPr algn="ctr" defTabSz="914400"/>
            <a:r>
              <a:rPr lang="es-ES" sz="900" b="1" dirty="0">
                <a:solidFill>
                  <a:prstClr val="black"/>
                </a:solidFill>
                <a:latin typeface="Santander Text" panose="020B0504020201020104" pitchFamily="34" charset="0"/>
              </a:rPr>
              <a:t>lt005_instr_ent</a:t>
            </a:r>
          </a:p>
        </p:txBody>
      </p:sp>
      <p:pic>
        <p:nvPicPr>
          <p:cNvPr id="45" name="Picture 25" descr="database table&quot; Icon - Download for free – Iconduck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1966" y="3846907"/>
            <a:ext cx="370567" cy="370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" name="Picture 25" descr="database table&quot; Icon - Download for free – Iconduck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1966" y="4616626"/>
            <a:ext cx="370567" cy="370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" name="Picture 25" descr="database table&quot; Icon - Download for free – Iconduck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5154" y="4286730"/>
            <a:ext cx="370567" cy="370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" name="Picture 25" descr="database table&quot; Icon - Download for free – Iconduck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0134" y="3386904"/>
            <a:ext cx="370567" cy="370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9" name="CuadroTexto 86"/>
          <p:cNvSpPr txBox="1"/>
          <p:nvPr/>
        </p:nvSpPr>
        <p:spPr>
          <a:xfrm>
            <a:off x="5929349" y="2599810"/>
            <a:ext cx="1262685" cy="288791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Autofit/>
          </a:bodyPr>
          <a:lstStyle/>
          <a:p>
            <a:pPr algn="ctr" defTabSz="914400"/>
            <a:r>
              <a:rPr lang="es-ES" sz="900" b="1" dirty="0" smtClean="0">
                <a:solidFill>
                  <a:prstClr val="black"/>
                </a:solidFill>
                <a:latin typeface="Santander Text" panose="020B0504020201020104" pitchFamily="34" charset="0"/>
              </a:rPr>
              <a:t>Output</a:t>
            </a:r>
            <a:endParaRPr lang="es-ES" sz="900" b="1" dirty="0">
              <a:solidFill>
                <a:prstClr val="black"/>
              </a:solidFill>
              <a:latin typeface="Santander Text" panose="020B0504020201020104" pitchFamily="34" charset="0"/>
            </a:endParaRPr>
          </a:p>
        </p:txBody>
      </p:sp>
      <p:cxnSp>
        <p:nvCxnSpPr>
          <p:cNvPr id="50" name="Elbow Connector 49"/>
          <p:cNvCxnSpPr/>
          <p:nvPr/>
        </p:nvCxnSpPr>
        <p:spPr>
          <a:xfrm flipV="1">
            <a:off x="6031289" y="4419237"/>
            <a:ext cx="468000" cy="3390"/>
          </a:xfrm>
          <a:prstGeom prst="bentConnector3">
            <a:avLst/>
          </a:prstGeom>
          <a:noFill/>
          <a:ln w="952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51" name="Straight Arrow Connector 50"/>
          <p:cNvCxnSpPr/>
          <p:nvPr/>
        </p:nvCxnSpPr>
        <p:spPr>
          <a:xfrm>
            <a:off x="4196872" y="5084064"/>
            <a:ext cx="2302417" cy="12834"/>
          </a:xfrm>
          <a:prstGeom prst="straightConnector1">
            <a:avLst/>
          </a:prstGeom>
          <a:noFill/>
          <a:ln w="952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52" name="Elbow Connector 51"/>
          <p:cNvCxnSpPr>
            <a:stCxn id="16" idx="2"/>
            <a:endCxn id="29" idx="0"/>
          </p:cNvCxnSpPr>
          <p:nvPr/>
        </p:nvCxnSpPr>
        <p:spPr>
          <a:xfrm rot="5400000">
            <a:off x="5595218" y="2882012"/>
            <a:ext cx="1648809" cy="1130810"/>
          </a:xfrm>
          <a:prstGeom prst="bentConnector3">
            <a:avLst>
              <a:gd name="adj1" fmla="val 1751"/>
            </a:avLst>
          </a:prstGeom>
          <a:noFill/>
          <a:ln w="952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  <a:tailEnd type="triangle"/>
          </a:ln>
          <a:effectLst/>
        </p:spPr>
      </p:cxnSp>
      <p:pic>
        <p:nvPicPr>
          <p:cNvPr id="53" name="Picture 31" descr="process&quot; Icon - Download for free – Iconduck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1433" y="3124548"/>
            <a:ext cx="258719" cy="258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" name="Picture 31" descr="process&quot; Icon - Download for free – Iconduck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6181" y="4448254"/>
            <a:ext cx="258719" cy="258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5" name="Elbow Connector 54"/>
          <p:cNvCxnSpPr>
            <a:stCxn id="16" idx="3"/>
          </p:cNvCxnSpPr>
          <p:nvPr/>
        </p:nvCxnSpPr>
        <p:spPr>
          <a:xfrm>
            <a:off x="7192295" y="2398337"/>
            <a:ext cx="1541260" cy="2035499"/>
          </a:xfrm>
          <a:prstGeom prst="bentConnector2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grpSp>
        <p:nvGrpSpPr>
          <p:cNvPr id="56" name="Group 55"/>
          <p:cNvGrpSpPr/>
          <p:nvPr/>
        </p:nvGrpSpPr>
        <p:grpSpPr>
          <a:xfrm>
            <a:off x="9172521" y="4217474"/>
            <a:ext cx="804003" cy="684549"/>
            <a:chOff x="10072503" y="3695273"/>
            <a:chExt cx="1288224" cy="1197595"/>
          </a:xfrm>
        </p:grpSpPr>
        <p:grpSp>
          <p:nvGrpSpPr>
            <p:cNvPr id="57" name="Group 56"/>
            <p:cNvGrpSpPr/>
            <p:nvPr/>
          </p:nvGrpSpPr>
          <p:grpSpPr>
            <a:xfrm>
              <a:off x="10072503" y="3695273"/>
              <a:ext cx="1288224" cy="1197595"/>
              <a:chOff x="9692355" y="3052813"/>
              <a:chExt cx="1358030" cy="1232796"/>
            </a:xfrm>
          </p:grpSpPr>
          <p:sp>
            <p:nvSpPr>
              <p:cNvPr id="59" name="Rectángulo 302">
                <a:extLst>
                  <a:ext uri="{FF2B5EF4-FFF2-40B4-BE49-F238E27FC236}">
                    <a16:creationId xmlns:a16="http://schemas.microsoft.com/office/drawing/2014/main" id="{8A9B3DBE-ACE6-4B81-ADD9-223668AAC958}"/>
                  </a:ext>
                </a:extLst>
              </p:cNvPr>
              <p:cNvSpPr/>
              <p:nvPr/>
            </p:nvSpPr>
            <p:spPr>
              <a:xfrm>
                <a:off x="9815143" y="3216705"/>
                <a:ext cx="1235242" cy="1068904"/>
              </a:xfrm>
              <a:prstGeom prst="rect">
                <a:avLst/>
              </a:prstGeom>
              <a:noFill/>
              <a:ln w="12700" cap="flat" cmpd="sng" algn="ctr">
                <a:solidFill>
                  <a:sysClr val="window" lastClr="FFFFFF">
                    <a:lumMod val="85000"/>
                  </a:sys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pic>
            <p:nvPicPr>
              <p:cNvPr id="60" name="Picture 59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692355" y="3052813"/>
                <a:ext cx="283429" cy="192090"/>
              </a:xfrm>
              <a:prstGeom prst="rect">
                <a:avLst/>
              </a:prstGeom>
            </p:spPr>
          </p:pic>
        </p:grpSp>
        <p:pic>
          <p:nvPicPr>
            <p:cNvPr id="58" name="Picture 36" descr="File - Free files and folders icons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567761" y="4144979"/>
              <a:ext cx="442633" cy="4426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61" name="Straight Arrow Connector 60"/>
          <p:cNvCxnSpPr/>
          <p:nvPr/>
        </p:nvCxnSpPr>
        <p:spPr>
          <a:xfrm>
            <a:off x="8330125" y="4577614"/>
            <a:ext cx="324000" cy="0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62" name="TextBox 61"/>
          <p:cNvSpPr txBox="1"/>
          <p:nvPr/>
        </p:nvSpPr>
        <p:spPr>
          <a:xfrm>
            <a:off x="9486366" y="5650891"/>
            <a:ext cx="206155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pt-PT" sz="1000" dirty="0" smtClean="0">
                <a:solidFill>
                  <a:prstClr val="black"/>
                </a:solidFill>
                <a:latin typeface="Calibri" panose="020F0502020204030204"/>
              </a:rPr>
              <a:t>Legenda:</a:t>
            </a:r>
            <a:endParaRPr lang="pt-PT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63" name="Straight Connector 62"/>
          <p:cNvCxnSpPr/>
          <p:nvPr/>
        </p:nvCxnSpPr>
        <p:spPr>
          <a:xfrm>
            <a:off x="9604220" y="5891444"/>
            <a:ext cx="383765" cy="0"/>
          </a:xfrm>
          <a:prstGeom prst="line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64" name="Straight Connector 63"/>
          <p:cNvCxnSpPr/>
          <p:nvPr/>
        </p:nvCxnSpPr>
        <p:spPr>
          <a:xfrm>
            <a:off x="9604220" y="6026808"/>
            <a:ext cx="383765" cy="0"/>
          </a:xfrm>
          <a:prstGeom prst="line">
            <a:avLst/>
          </a:prstGeom>
          <a:noFill/>
          <a:ln w="6350" cap="flat" cmpd="sng" algn="ctr">
            <a:solidFill>
              <a:srgbClr val="70AD47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65" name="Straight Connector 64"/>
          <p:cNvCxnSpPr/>
          <p:nvPr/>
        </p:nvCxnSpPr>
        <p:spPr>
          <a:xfrm>
            <a:off x="9604220" y="6164660"/>
            <a:ext cx="383765" cy="0"/>
          </a:xfrm>
          <a:prstGeom prst="line">
            <a:avLst/>
          </a:prstGeom>
          <a:noFill/>
          <a:ln w="952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  <a:tailEnd type="triangle"/>
          </a:ln>
          <a:effectLst/>
        </p:spPr>
      </p:cxnSp>
      <p:sp>
        <p:nvSpPr>
          <p:cNvPr id="66" name="TextBox 65"/>
          <p:cNvSpPr txBox="1"/>
          <p:nvPr/>
        </p:nvSpPr>
        <p:spPr>
          <a:xfrm>
            <a:off x="10009126" y="5776028"/>
            <a:ext cx="20615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pt-PT" sz="900" dirty="0" smtClean="0">
                <a:solidFill>
                  <a:prstClr val="black"/>
                </a:solidFill>
                <a:latin typeface="Calibri" panose="020F0502020204030204"/>
              </a:rPr>
              <a:t>Extrações</a:t>
            </a:r>
            <a:endParaRPr lang="pt-PT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10009126" y="5917504"/>
            <a:ext cx="20615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pt-PT" sz="900" dirty="0" smtClean="0">
                <a:solidFill>
                  <a:prstClr val="black"/>
                </a:solidFill>
                <a:latin typeface="Calibri" panose="020F0502020204030204"/>
              </a:rPr>
              <a:t>Atualização Parametrizações</a:t>
            </a:r>
            <a:endParaRPr lang="pt-PT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10005939" y="6049244"/>
            <a:ext cx="20615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pt-PT" sz="900" dirty="0" smtClean="0">
                <a:solidFill>
                  <a:prstClr val="black"/>
                </a:solidFill>
                <a:latin typeface="Calibri" panose="020F0502020204030204"/>
              </a:rPr>
              <a:t>Execução do motor</a:t>
            </a:r>
            <a:endParaRPr lang="pt-PT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69" name="Straight Arrow Connector 68"/>
          <p:cNvCxnSpPr/>
          <p:nvPr/>
        </p:nvCxnSpPr>
        <p:spPr>
          <a:xfrm>
            <a:off x="8934900" y="4547585"/>
            <a:ext cx="324000" cy="0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70" name="CuadroTexto 86"/>
          <p:cNvSpPr txBox="1"/>
          <p:nvPr/>
        </p:nvSpPr>
        <p:spPr>
          <a:xfrm>
            <a:off x="9940410" y="4114094"/>
            <a:ext cx="1262685" cy="288791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Autofit/>
          </a:bodyPr>
          <a:lstStyle/>
          <a:p>
            <a:pPr algn="ctr" defTabSz="914400"/>
            <a:r>
              <a:rPr lang="es-ES" sz="1000" b="1" dirty="0" smtClean="0">
                <a:solidFill>
                  <a:prstClr val="black"/>
                </a:solidFill>
                <a:latin typeface="Santander Text" panose="020B0504020201020104" pitchFamily="34" charset="0"/>
              </a:rPr>
              <a:t>Portal </a:t>
            </a:r>
          </a:p>
          <a:p>
            <a:pPr algn="ctr" defTabSz="914400"/>
            <a:r>
              <a:rPr lang="es-ES" sz="1000" b="1" dirty="0" smtClean="0">
                <a:solidFill>
                  <a:prstClr val="black"/>
                </a:solidFill>
                <a:latin typeface="Santander Text" panose="020B0504020201020104" pitchFamily="34" charset="0"/>
              </a:rPr>
              <a:t>Corporativo</a:t>
            </a:r>
            <a:endParaRPr lang="es-ES" sz="1000" b="1" dirty="0">
              <a:solidFill>
                <a:prstClr val="black"/>
              </a:solidFill>
              <a:latin typeface="Santander Text" panose="020B0504020201020104" pitchFamily="34" charset="0"/>
            </a:endParaRPr>
          </a:p>
        </p:txBody>
      </p:sp>
      <p:cxnSp>
        <p:nvCxnSpPr>
          <p:cNvPr id="71" name="Straight Arrow Connector 70"/>
          <p:cNvCxnSpPr/>
          <p:nvPr/>
        </p:nvCxnSpPr>
        <p:spPr>
          <a:xfrm>
            <a:off x="9964389" y="4524932"/>
            <a:ext cx="360000" cy="0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72" name="Rectángulo 69"/>
          <p:cNvSpPr/>
          <p:nvPr/>
        </p:nvSpPr>
        <p:spPr>
          <a:xfrm>
            <a:off x="765345" y="1640610"/>
            <a:ext cx="1080000" cy="320400"/>
          </a:xfrm>
          <a:prstGeom prst="rect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0" cap="none" spc="0" normalizeH="0" baseline="0" noProof="0" dirty="0" err="1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ntander Text" panose="020B0504020201020104" pitchFamily="34" charset="0"/>
              </a:rPr>
              <a:t>Aplicações</a:t>
            </a:r>
            <a:r>
              <a:rPr kumimoji="0" lang="en-GB" sz="1000" b="1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ntander Headline" panose="020B0504020201020104" pitchFamily="34" charset="0"/>
                <a:ea typeface="+mn-ea"/>
                <a:cs typeface="+mn-cs"/>
              </a:rPr>
              <a:t> </a:t>
            </a:r>
            <a:r>
              <a:rPr lang="en-GB" sz="1000" b="1" kern="0" dirty="0" err="1" smtClean="0">
                <a:solidFill>
                  <a:prstClr val="white"/>
                </a:solidFill>
                <a:latin typeface="Santander Headline" panose="020B0504020201020104" pitchFamily="34" charset="0"/>
              </a:rPr>
              <a:t>Operacionais</a:t>
            </a:r>
            <a:endParaRPr kumimoji="0" lang="en-GB" sz="1000" b="1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antander Headline" panose="020B0504020201020104" pitchFamily="34" charset="0"/>
              <a:ea typeface="+mn-ea"/>
              <a:cs typeface="+mn-cs"/>
            </a:endParaRPr>
          </a:p>
        </p:txBody>
      </p:sp>
      <p:sp>
        <p:nvSpPr>
          <p:cNvPr id="73" name="Rectángulo 68"/>
          <p:cNvSpPr/>
          <p:nvPr/>
        </p:nvSpPr>
        <p:spPr>
          <a:xfrm>
            <a:off x="765345" y="1934966"/>
            <a:ext cx="1080000" cy="3546263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000" b="0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antander Headline" panose="020B0504020201020104" pitchFamily="34" charset="0"/>
              <a:ea typeface="+mn-ea"/>
              <a:cs typeface="+mn-cs"/>
            </a:endParaRPr>
          </a:p>
        </p:txBody>
      </p:sp>
      <p:sp>
        <p:nvSpPr>
          <p:cNvPr id="74" name="Rectangle 18"/>
          <p:cNvSpPr>
            <a:spLocks noChangeArrowheads="1"/>
          </p:cNvSpPr>
          <p:nvPr/>
        </p:nvSpPr>
        <p:spPr bwMode="auto">
          <a:xfrm>
            <a:off x="797769" y="2581776"/>
            <a:ext cx="1008000" cy="2988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altLang="pt-PT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Headline" panose="020B0504020201020104" pitchFamily="34" charset="0"/>
                <a:ea typeface="+mn-ea"/>
                <a:cs typeface="+mn-cs"/>
              </a:rPr>
              <a:t>Títulos</a:t>
            </a:r>
          </a:p>
        </p:txBody>
      </p:sp>
      <p:sp>
        <p:nvSpPr>
          <p:cNvPr id="75" name="Rectangle 30"/>
          <p:cNvSpPr>
            <a:spLocks noChangeArrowheads="1"/>
          </p:cNvSpPr>
          <p:nvPr/>
        </p:nvSpPr>
        <p:spPr bwMode="auto">
          <a:xfrm>
            <a:off x="797769" y="3775144"/>
            <a:ext cx="1008000" cy="2988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altLang="pt-PT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Headline" panose="020B0504020201020104" pitchFamily="34" charset="0"/>
                <a:ea typeface="+mn-ea"/>
                <a:cs typeface="+mn-cs"/>
              </a:rPr>
              <a:t>SIGOM</a:t>
            </a:r>
          </a:p>
        </p:txBody>
      </p:sp>
      <p:sp>
        <p:nvSpPr>
          <p:cNvPr id="76" name="Rectangle 18"/>
          <p:cNvSpPr>
            <a:spLocks noChangeArrowheads="1"/>
          </p:cNvSpPr>
          <p:nvPr/>
        </p:nvSpPr>
        <p:spPr bwMode="auto">
          <a:xfrm>
            <a:off x="797769" y="1985092"/>
            <a:ext cx="1008000" cy="2988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lvl="0" algn="ctr" defTabSz="914400">
              <a:defRPr/>
            </a:pPr>
            <a:r>
              <a:rPr lang="pt-PT" altLang="pt-PT" sz="1000" kern="0" dirty="0">
                <a:solidFill>
                  <a:prstClr val="black"/>
                </a:solidFill>
                <a:latin typeface="Santander Headline" panose="020B0504020201020104" pitchFamily="34" charset="0"/>
              </a:rPr>
              <a:t>Empréstimos</a:t>
            </a:r>
            <a:endParaRPr kumimoji="0" lang="en-US" altLang="pt-PT" sz="10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tander Headline" panose="020B0504020201020104" pitchFamily="34" charset="0"/>
              <a:ea typeface="+mn-ea"/>
              <a:cs typeface="+mn-cs"/>
            </a:endParaRPr>
          </a:p>
        </p:txBody>
      </p:sp>
      <p:sp>
        <p:nvSpPr>
          <p:cNvPr id="77" name="Rectangle 30">
            <a:extLst>
              <a:ext uri="{FF2B5EF4-FFF2-40B4-BE49-F238E27FC236}">
                <a16:creationId xmlns:a16="http://schemas.microsoft.com/office/drawing/2014/main" id="{677869A8-986F-4D44-A6FC-F1C6CE9DB3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6112" y="1985092"/>
            <a:ext cx="1008000" cy="2988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altLang="pt-PT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Headline" panose="020B0504020201020104" pitchFamily="34" charset="0"/>
                <a:ea typeface="+mn-ea"/>
                <a:cs typeface="+mn-cs"/>
              </a:rPr>
              <a:t>Contabilidade/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altLang="pt-PT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Headline" panose="020B0504020201020104" pitchFamily="34" charset="0"/>
                <a:ea typeface="+mn-ea"/>
                <a:cs typeface="+mn-cs"/>
              </a:rPr>
              <a:t>FNREP</a:t>
            </a:r>
          </a:p>
        </p:txBody>
      </p:sp>
      <p:sp>
        <p:nvSpPr>
          <p:cNvPr id="78" name="Rectangle 32">
            <a:extLst>
              <a:ext uri="{FF2B5EF4-FFF2-40B4-BE49-F238E27FC236}">
                <a16:creationId xmlns:a16="http://schemas.microsoft.com/office/drawing/2014/main" id="{A1B0947F-D6DD-43A8-A34D-42F678EE52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6112" y="2581776"/>
            <a:ext cx="1008000" cy="2988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lvl="0" algn="ctr" defTabSz="914400">
              <a:defRPr/>
            </a:pPr>
            <a:r>
              <a:rPr lang="en-US" altLang="pt-PT" sz="1000" kern="0" dirty="0">
                <a:solidFill>
                  <a:prstClr val="black"/>
                </a:solidFill>
                <a:latin typeface="Santander Headline" panose="020B0504020201020104" pitchFamily="34" charset="0"/>
              </a:rPr>
              <a:t>Capital</a:t>
            </a:r>
            <a:endParaRPr kumimoji="0" lang="pt-BR" altLang="pt-PT" sz="10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tander Headline" panose="020B0504020201020104" pitchFamily="34" charset="0"/>
              <a:ea typeface="+mn-ea"/>
              <a:cs typeface="+mn-cs"/>
            </a:endParaRPr>
          </a:p>
        </p:txBody>
      </p:sp>
      <p:sp>
        <p:nvSpPr>
          <p:cNvPr id="79" name="Rectangle 18">
            <a:extLst>
              <a:ext uri="{FF2B5EF4-FFF2-40B4-BE49-F238E27FC236}">
                <a16:creationId xmlns:a16="http://schemas.microsoft.com/office/drawing/2014/main" id="{CF6ECD96-2963-4F6B-9547-F4ECB6D31B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6112" y="3178460"/>
            <a:ext cx="1008000" cy="2988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lvl="0" algn="ctr" defTabSz="914400">
              <a:defRPr/>
            </a:pPr>
            <a:r>
              <a:rPr lang="en-US" altLang="pt-PT" sz="1000" kern="0" dirty="0" err="1">
                <a:solidFill>
                  <a:prstClr val="black"/>
                </a:solidFill>
                <a:latin typeface="Santander Headline" panose="020B0504020201020104" pitchFamily="34" charset="0"/>
              </a:rPr>
              <a:t>Rentabilidade</a:t>
            </a:r>
            <a:endParaRPr kumimoji="0" lang="en-US" altLang="pt-PT" sz="10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tander Headline" panose="020B0504020201020104" pitchFamily="34" charset="0"/>
              <a:ea typeface="+mn-ea"/>
              <a:cs typeface="+mn-cs"/>
            </a:endParaRPr>
          </a:p>
        </p:txBody>
      </p:sp>
      <p:sp>
        <p:nvSpPr>
          <p:cNvPr id="80" name="Rectangle 30">
            <a:extLst>
              <a:ext uri="{FF2B5EF4-FFF2-40B4-BE49-F238E27FC236}">
                <a16:creationId xmlns:a16="http://schemas.microsoft.com/office/drawing/2014/main" id="{677869A8-986F-4D44-A6FC-F1C6CE9DB3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3466" y="3178460"/>
            <a:ext cx="1008000" cy="2988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lvl="0" algn="ctr" defTabSz="914400">
              <a:defRPr/>
            </a:pPr>
            <a:r>
              <a:rPr lang="pt-PT" altLang="pt-PT" sz="1000" kern="0">
                <a:solidFill>
                  <a:prstClr val="black"/>
                </a:solidFill>
                <a:latin typeface="Santander Headline" panose="020B0504020201020104" pitchFamily="34" charset="0"/>
              </a:rPr>
              <a:t>Clientes</a:t>
            </a:r>
            <a:endParaRPr kumimoji="0" lang="pt-PT" altLang="pt-PT" sz="10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tander Headline" panose="020B0504020201020104" pitchFamily="34" charset="0"/>
              <a:ea typeface="+mn-ea"/>
              <a:cs typeface="+mn-cs"/>
            </a:endParaRPr>
          </a:p>
        </p:txBody>
      </p:sp>
      <p:sp>
        <p:nvSpPr>
          <p:cNvPr id="81" name="Rectangle 30"/>
          <p:cNvSpPr>
            <a:spLocks noChangeArrowheads="1"/>
          </p:cNvSpPr>
          <p:nvPr/>
        </p:nvSpPr>
        <p:spPr bwMode="auto">
          <a:xfrm>
            <a:off x="803466" y="4371826"/>
            <a:ext cx="1008000" cy="2988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lvl="0" algn="ctr" defTabSz="914400">
              <a:defRPr/>
            </a:pPr>
            <a:r>
              <a:rPr lang="pt-PT" altLang="pt-PT" sz="1000" kern="0" dirty="0" smtClean="0">
                <a:solidFill>
                  <a:prstClr val="black"/>
                </a:solidFill>
                <a:latin typeface="Santander Headline" panose="020B0504020201020104" pitchFamily="34" charset="0"/>
              </a:rPr>
              <a:t>…</a:t>
            </a:r>
            <a:endParaRPr kumimoji="0" lang="pt-PT" altLang="pt-PT" sz="10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tander Headline" panose="020B0504020201020104" pitchFamily="34" charset="0"/>
              <a:ea typeface="+mn-ea"/>
              <a:cs typeface="+mn-cs"/>
            </a:endParaRPr>
          </a:p>
        </p:txBody>
      </p:sp>
      <p:pic>
        <p:nvPicPr>
          <p:cNvPr id="82" name="Picture 8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73211" y="4317220"/>
            <a:ext cx="939072" cy="494916"/>
          </a:xfrm>
          <a:prstGeom prst="rect">
            <a:avLst/>
          </a:prstGeom>
        </p:spPr>
      </p:pic>
      <p:cxnSp>
        <p:nvCxnSpPr>
          <p:cNvPr id="83" name="Straight Connector 82"/>
          <p:cNvCxnSpPr/>
          <p:nvPr/>
        </p:nvCxnSpPr>
        <p:spPr>
          <a:xfrm>
            <a:off x="10740950" y="4527052"/>
            <a:ext cx="288000" cy="0"/>
          </a:xfrm>
          <a:prstGeom prst="line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84" name="Rectangle 18">
            <a:extLst>
              <a:ext uri="{FF2B5EF4-FFF2-40B4-BE49-F238E27FC236}">
                <a16:creationId xmlns:a16="http://schemas.microsoft.com/office/drawing/2014/main" id="{CF6ECD96-2963-4F6B-9547-F4ECB6D31B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6112" y="3775144"/>
            <a:ext cx="1008000" cy="2988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pt-PT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Headline" panose="020B0504020201020104" pitchFamily="34" charset="0"/>
                <a:ea typeface="+mn-ea"/>
                <a:cs typeface="+mn-cs"/>
              </a:rPr>
              <a:t>ALM</a:t>
            </a:r>
          </a:p>
        </p:txBody>
      </p:sp>
      <p:sp>
        <p:nvSpPr>
          <p:cNvPr id="85" name="Rectangle 30"/>
          <p:cNvSpPr>
            <a:spLocks noChangeArrowheads="1"/>
          </p:cNvSpPr>
          <p:nvPr/>
        </p:nvSpPr>
        <p:spPr bwMode="auto">
          <a:xfrm>
            <a:off x="3096112" y="4371826"/>
            <a:ext cx="1008000" cy="2988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lvl="0" algn="ctr" defTabSz="914400">
              <a:defRPr/>
            </a:pPr>
            <a:r>
              <a:rPr lang="pt-PT" altLang="pt-PT" sz="1000" kern="0">
                <a:solidFill>
                  <a:prstClr val="black"/>
                </a:solidFill>
                <a:latin typeface="Santander Headline" panose="020B0504020201020104" pitchFamily="34" charset="0"/>
              </a:rPr>
              <a:t>…</a:t>
            </a:r>
            <a:endParaRPr kumimoji="0" lang="pt-PT" altLang="pt-PT" sz="10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tander Headline" panose="020B0504020201020104" pitchFamily="34" charset="0"/>
              <a:ea typeface="+mn-ea"/>
              <a:cs typeface="+mn-cs"/>
            </a:endParaRPr>
          </a:p>
        </p:txBody>
      </p:sp>
      <p:grpSp>
        <p:nvGrpSpPr>
          <p:cNvPr id="86" name="Group 85"/>
          <p:cNvGrpSpPr/>
          <p:nvPr/>
        </p:nvGrpSpPr>
        <p:grpSpPr>
          <a:xfrm>
            <a:off x="10239008" y="4375200"/>
            <a:ext cx="541382" cy="449352"/>
            <a:chOff x="2988362" y="1267823"/>
            <a:chExt cx="737727" cy="564878"/>
          </a:xfrm>
        </p:grpSpPr>
        <p:pic>
          <p:nvPicPr>
            <p:cNvPr id="87" name="Picture 14" descr="Simple computer screen icon computer #AD , #Affiliate, #sponsored, #computer,  #screen, #icon, #Simple | Camera illustration, Screen icon, Computer logo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61211" y="1267823"/>
              <a:ext cx="564878" cy="5648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8" name="Picture 16" descr="User shape - Free people icons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88362" y="1471582"/>
              <a:ext cx="345698" cy="3456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659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18" grpId="0"/>
      <p:bldP spid="25" grpId="0"/>
      <p:bldP spid="30" grpId="0"/>
      <p:bldP spid="40" grpId="0"/>
      <p:bldP spid="41" grpId="0"/>
      <p:bldP spid="42" grpId="0"/>
      <p:bldP spid="43" grpId="0"/>
      <p:bldP spid="44" grpId="0"/>
      <p:bldP spid="49" grpId="0"/>
      <p:bldP spid="70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B6B9A5E792D2446B8986FAE34BEC557" ma:contentTypeVersion="13" ma:contentTypeDescription="Criar um novo documento." ma:contentTypeScope="" ma:versionID="af2f9aa599193a55c79d292d76b6e337">
  <xsd:schema xmlns:xsd="http://www.w3.org/2001/XMLSchema" xmlns:xs="http://www.w3.org/2001/XMLSchema" xmlns:p="http://schemas.microsoft.com/office/2006/metadata/properties" xmlns:ns1="http://schemas.microsoft.com/sharepoint/v3" xmlns:ns2="5ad20f8b-9281-4829-a9aa-2b5a878ba2cc" xmlns:ns3="09d3dac3-f296-4107-b579-4b1e37be6169" targetNamespace="http://schemas.microsoft.com/office/2006/metadata/properties" ma:root="true" ma:fieldsID="04b25a183bab0937220f8c9e03018195" ns1:_="" ns2:_="" ns3:_="">
    <xsd:import namespace="http://schemas.microsoft.com/sharepoint/v3"/>
    <xsd:import namespace="5ad20f8b-9281-4829-a9aa-2b5a878ba2cc"/>
    <xsd:import namespace="09d3dac3-f296-4107-b579-4b1e37be616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1:_ip_UnifiedCompliancePolicyProperties" minOccurs="0"/>
                <xsd:element ref="ns1:_ip_UnifiedCompliancePolicyUIActio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1" nillable="true" ma:displayName="Propriedades da Política de Conformidade Unificada" ma:hidden="true" ma:internalName="_ip_UnifiedCompliancePolicyProperties">
      <xsd:simpleType>
        <xsd:restriction base="dms:Note"/>
      </xsd:simpleType>
    </xsd:element>
    <xsd:element name="_ip_UnifiedCompliancePolicyUIAction" ma:index="12" nillable="true" ma:displayName="Ação de IU da Política de Conformidade Unificada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ad20f8b-9281-4829-a9aa-2b5a878ba2c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Etiquetas de Imagem" ma:readOnly="false" ma:fieldId="{5cf76f15-5ced-4ddc-b409-7134ff3c332f}" ma:taxonomyMulti="true" ma:sspId="e471ada5-31db-43fa-8830-84ca9293ff4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d3dac3-f296-4107-b579-4b1e37be6169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2f43633d-4f01-4e5f-8ed6-670c29f8108f}" ma:internalName="TaxCatchAll" ma:showField="CatchAllData" ma:web="09d3dac3-f296-4107-b579-4b1e37be616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09d3dac3-f296-4107-b579-4b1e37be6169" xsi:nil="true"/>
    <lcf76f155ced4ddcb4097134ff3c332f xmlns="5ad20f8b-9281-4829-a9aa-2b5a878ba2cc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2D380AA5-2F54-41B2-8075-FD87AA03D0C0}"/>
</file>

<file path=customXml/itemProps2.xml><?xml version="1.0" encoding="utf-8"?>
<ds:datastoreItem xmlns:ds="http://schemas.openxmlformats.org/officeDocument/2006/customXml" ds:itemID="{13BB9292-556E-4CC4-8A24-FF1DF3812ED4}"/>
</file>

<file path=customXml/itemProps3.xml><?xml version="1.0" encoding="utf-8"?>
<ds:datastoreItem xmlns:ds="http://schemas.openxmlformats.org/officeDocument/2006/customXml" ds:itemID="{26581705-97BD-4FC6-B302-6405B8514C51}"/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53</Words>
  <Application>Microsoft Office PowerPoint</Application>
  <PresentationFormat>Widescreen</PresentationFormat>
  <Paragraphs>36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Calibri</vt:lpstr>
      <vt:lpstr>Calibri Light</vt:lpstr>
      <vt:lpstr>Santander Headline</vt:lpstr>
      <vt:lpstr>Santander Text</vt:lpstr>
      <vt:lpstr>Office Theme</vt:lpstr>
      <vt:lpstr>PowerPoint Presentation</vt:lpstr>
      <vt:lpstr>PowerPoint Presentation</vt:lpstr>
    </vt:vector>
  </TitlesOfParts>
  <Company>Banco Santander Portugal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Luís Filipe da Silva Pragosa</dc:creator>
  <cp:lastModifiedBy>Luís Filipe da Silva Pragosa</cp:lastModifiedBy>
  <cp:revision>1</cp:revision>
  <dcterms:created xsi:type="dcterms:W3CDTF">2025-01-24T16:08:49Z</dcterms:created>
  <dcterms:modified xsi:type="dcterms:W3CDTF">2025-01-24T16:11:17Z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c2abd79-57a9-4473-8700-c843f76a1e37_Enabled">
    <vt:lpwstr>true</vt:lpwstr>
  </property>
  <property fmtid="{D5CDD505-2E9C-101B-9397-08002B2CF9AE}" pid="3" name="MSIP_Label_0c2abd79-57a9-4473-8700-c843f76a1e37_SetDate">
    <vt:lpwstr>2025-01-24T16:11:11Z</vt:lpwstr>
  </property>
  <property fmtid="{D5CDD505-2E9C-101B-9397-08002B2CF9AE}" pid="4" name="MSIP_Label_0c2abd79-57a9-4473-8700-c843f76a1e37_Method">
    <vt:lpwstr>Privileged</vt:lpwstr>
  </property>
  <property fmtid="{D5CDD505-2E9C-101B-9397-08002B2CF9AE}" pid="5" name="MSIP_Label_0c2abd79-57a9-4473-8700-c843f76a1e37_Name">
    <vt:lpwstr>Internal</vt:lpwstr>
  </property>
  <property fmtid="{D5CDD505-2E9C-101B-9397-08002B2CF9AE}" pid="6" name="MSIP_Label_0c2abd79-57a9-4473-8700-c843f76a1e37_SiteId">
    <vt:lpwstr>35595a02-4d6d-44ac-99e1-f9ab4cd872db</vt:lpwstr>
  </property>
  <property fmtid="{D5CDD505-2E9C-101B-9397-08002B2CF9AE}" pid="7" name="MSIP_Label_0c2abd79-57a9-4473-8700-c843f76a1e37_ActionId">
    <vt:lpwstr>a2a5b728-3540-409a-8aa7-55aa5a9cfb7c</vt:lpwstr>
  </property>
  <property fmtid="{D5CDD505-2E9C-101B-9397-08002B2CF9AE}" pid="8" name="MSIP_Label_0c2abd79-57a9-4473-8700-c843f76a1e37_ContentBits">
    <vt:lpwstr>0</vt:lpwstr>
  </property>
  <property fmtid="{D5CDD505-2E9C-101B-9397-08002B2CF9AE}" pid="9" name="ContentTypeId">
    <vt:lpwstr>0x0101000B6B9A5E792D2446B8986FAE34BEC557</vt:lpwstr>
  </property>
</Properties>
</file>