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82D_9C41D03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714" r:id="rId8"/>
    <p:sldMasterId id="2147483672" r:id="rId9"/>
    <p:sldMasterId id="2147483674" r:id="rId10"/>
    <p:sldMasterId id="2147483719" r:id="rId11"/>
    <p:sldMasterId id="2147483731" r:id="rId12"/>
  </p:sldMasterIdLst>
  <p:notesMasterIdLst>
    <p:notesMasterId r:id="rId22"/>
  </p:notesMasterIdLst>
  <p:sldIdLst>
    <p:sldId id="2095" r:id="rId13"/>
    <p:sldId id="2090" r:id="rId14"/>
    <p:sldId id="3102" r:id="rId15"/>
    <p:sldId id="3103" r:id="rId16"/>
    <p:sldId id="3099" r:id="rId17"/>
    <p:sldId id="2091" r:id="rId18"/>
    <p:sldId id="1853" r:id="rId19"/>
    <p:sldId id="2093" r:id="rId20"/>
    <p:sldId id="1866" r:id="rId21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92" userDrawn="1">
          <p15:clr>
            <a:srgbClr val="A4A3A4"/>
          </p15:clr>
        </p15:guide>
        <p15:guide id="3" pos="728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512F23-ECF9-FC74-E8C5-723516114F99}" name="Escaleira, Diogo Alexandre" initials="DE" userId="S::descaleira@neyond.pt::72fb12db-bc92-4c43-9b41-3ac15f1f989a" providerId="AD"/>
  <p188:author id="{636B5556-3D72-E2F0-6E87-C9E5E1972C66}" name="Ahmad, Nadia Genebra" initials="ANG" userId="S::nahmad@neyond.pt::2eef2cf0-e606-4076-8505-6d6658fa1c4a" providerId="AD"/>
  <p188:author id="{44B2048D-5C18-4B91-B955-1679C26855BB}" name="Caguerelho, Ana Rita" initials="AC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77FB27BA-7DEB-83CD-6B51-FF941D4B2020}" name="Almeida, Luis Alexandre" initials="ALA" userId="S::lualmeida@neyond.pt::5df86c4b-e2b3-489b-9c00-1eef9e703c19" providerId="AD"/>
  <p188:author id="{6DC05CBA-2895-20DA-C20B-07DC48541C05}" name="Godinho, Luis" initials="GL" userId="S::lgodinho@neyond.pt::73da12d6-0d4b-484b-8b4c-3d031c51bbc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meida, Luis Alexandre" initials="ALA" lastIdx="6" clrIdx="0">
    <p:extLst>
      <p:ext uri="{19B8F6BF-5375-455C-9EA6-DF929625EA0E}">
        <p15:presenceInfo xmlns:p15="http://schemas.microsoft.com/office/powerpoint/2012/main" userId="S::lualmeida@epimetheus.pt::5df86c4b-e2b3-489b-9c00-1eef9e703c19" providerId="AD"/>
      </p:ext>
    </p:extLst>
  </p:cmAuthor>
  <p:cmAuthor id="2" name="Amaro, Sandra" initials="AS" lastIdx="28" clrIdx="1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3" name="Godinho, Luis" initials="GL" lastIdx="16" clrIdx="2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4" name="Amaro, Sandra" initials="AS [2]" lastIdx="2" clrIdx="3">
    <p:extLst>
      <p:ext uri="{19B8F6BF-5375-455C-9EA6-DF929625EA0E}">
        <p15:presenceInfo xmlns:p15="http://schemas.microsoft.com/office/powerpoint/2012/main" userId="S::samaro@neyond.pt::6bedbfcc-5e0a-4e18-b9b0-c8ab328504b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E1"/>
    <a:srgbClr val="FFC1C1"/>
    <a:srgbClr val="009FDF"/>
    <a:srgbClr val="7F7F7F"/>
    <a:srgbClr val="005F7C"/>
    <a:srgbClr val="003E51"/>
    <a:srgbClr val="0077A7"/>
    <a:srgbClr val="E5F8FF"/>
    <a:srgbClr val="53CEFF"/>
    <a:srgbClr val="C6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02"/>
      </p:cViewPr>
      <p:guideLst>
        <p:guide orient="horz" pos="528"/>
        <p:guide pos="392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omments/modernComment_82D_9C41D0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C4F05E5-F1B8-4223-B213-025CD2D5FF7E}" authorId="{44B2048D-5C18-4B91-B955-1679C26855BB}" created="2025-03-24T21:09:33.12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21558847" sldId="2093"/>
      <ac:spMk id="27" creationId="{AF032C38-F273-9BA9-5B09-E5F60A8CCF62}"/>
      <ac:txMk cp="118" len="11">
        <ac:context len="131" hash="3423462499"/>
      </ac:txMk>
    </ac:txMkLst>
    <p188:pos x="9401254" y="263470"/>
    <p188:txBody>
      <a:bodyPr/>
      <a:lstStyle/>
      <a:p>
        <a:r>
          <a:rPr lang="pt-PT"/>
          <a:t>Rever ddl com DE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04C9-A8BE-D681-EF82-D470A1718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FFA19-DA00-4993-F8E4-DDA756258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BB22A-2231-4678-8781-08E5C403B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8457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F3A7-B326-4A7B-16E1-2C12D1E94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84317-87B7-A695-53EC-B8182831A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6612B-B44C-1BCD-4DF7-68BEF67AD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657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726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2588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3738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9026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3877495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5898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148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4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8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48" tIns="24748" rIns="24748" bIns="24748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3489817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656974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3255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8243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12721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44773813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21371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40394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35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E56451C-6603-4886-8834-3FFAEBC4B1FA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64C5294-ABDC-42D4-ADCF-D26545D42A58}"/>
              </a:ext>
            </a:extLst>
          </p:cNvPr>
          <p:cNvSpPr txBox="1">
            <a:spLocks/>
          </p:cNvSpPr>
          <p:nvPr userDrawn="1"/>
        </p:nvSpPr>
        <p:spPr>
          <a:xfrm>
            <a:off x="1001077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003E51"/>
                </a:solidFill>
                <a:effectLst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N.11.20219013115 V1.0</a:t>
            </a:r>
            <a:endParaRPr lang="pt-PT">
              <a:latin typeface="Muli Light" panose="00000400000000000000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9884F05-74D9-4C3B-91EE-D9F1A448778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80CC768-F03C-467D-87CD-181885B7E00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6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emplate-apresentações-neyond-02.jpg">
            <a:extLst>
              <a:ext uri="{FF2B5EF4-FFF2-40B4-BE49-F238E27FC236}">
                <a16:creationId xmlns:a16="http://schemas.microsoft.com/office/drawing/2014/main" id="{E1BE618C-12B1-40B2-A8FF-AEB3A4A89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009FE0"/>
              </a:clrFrom>
              <a:clrTo>
                <a:srgbClr val="009FE0">
                  <a:alpha val="0"/>
                </a:srgbClr>
              </a:clrTo>
            </a:clrChange>
          </a:blip>
          <a:srcRect t="56400" r="70825"/>
          <a:stretch/>
        </p:blipFill>
        <p:spPr>
          <a:xfrm>
            <a:off x="2" y="3868809"/>
            <a:ext cx="3556553" cy="29907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238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white.pdf">
            <a:extLst>
              <a:ext uri="{FF2B5EF4-FFF2-40B4-BE49-F238E27FC236}">
                <a16:creationId xmlns:a16="http://schemas.microsoft.com/office/drawing/2014/main" id="{C3A784EC-5643-480A-BD47-C5AE342C8C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8810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957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049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30.svg"/><Relationship Id="rId2" Type="http://schemas.openxmlformats.org/officeDocument/2006/relationships/tags" Target="../tags/tag2.xml"/><Relationship Id="rId16" Type="http://schemas.openxmlformats.org/officeDocument/2006/relationships/image" Target="../media/image1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3.sv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0.svg"/><Relationship Id="rId10" Type="http://schemas.openxmlformats.org/officeDocument/2006/relationships/image" Target="../media/image36.png"/><Relationship Id="rId4" Type="http://schemas.openxmlformats.org/officeDocument/2006/relationships/image" Target="../media/image16.png"/><Relationship Id="rId9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82D_9C41D03F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3C000A3-A263-4D79-A553-037722D3F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011692" cy="301892"/>
          </a:xfrm>
        </p:spPr>
        <p:txBody>
          <a:bodyPr/>
          <a:lstStyle/>
          <a:p>
            <a:r>
              <a:rPr lang="pt-PT" b="1"/>
              <a:t>Reunião de </a:t>
            </a:r>
            <a:r>
              <a:rPr lang="pt-PT" b="1" i="1" err="1"/>
              <a:t>Kick</a:t>
            </a:r>
            <a:r>
              <a:rPr lang="pt-PT" b="1" i="1"/>
              <a:t>-Off</a:t>
            </a:r>
            <a:endParaRPr lang="pt-PT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BA500-778A-41B0-A062-8A11E4414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/>
              <a:t>1 Abril 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A138B7-010B-4261-B134-DFBC17016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7214552" cy="900308"/>
          </a:xfrm>
        </p:spPr>
        <p:txBody>
          <a:bodyPr/>
          <a:lstStyle/>
          <a:p>
            <a:r>
              <a:rPr lang="pt-PT" dirty="0"/>
              <a:t>Implementação Satélites Corporativos ESG Pilar III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B9C4327-252D-0AC1-4EA4-63E875749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25" y="5116097"/>
            <a:ext cx="2730311" cy="47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138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610DF9-235C-4C23-9244-E5B334115C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/>
              <a:t>Agenda</a:t>
            </a:r>
          </a:p>
        </p:txBody>
      </p:sp>
      <p:sp>
        <p:nvSpPr>
          <p:cNvPr id="4" name="Rectangle 53">
            <a:extLst>
              <a:ext uri="{FF2B5EF4-FFF2-40B4-BE49-F238E27FC236}">
                <a16:creationId xmlns:a16="http://schemas.microsoft.com/office/drawing/2014/main" id="{70EEC10B-20D2-CB01-C4F7-242E2759A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accent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Light" panose="00000400000000000000" pitchFamily="2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8900" marR="0" lvl="0" indent="0" algn="just" defTabSz="405568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Efetuar a reunião de </a:t>
            </a:r>
            <a:r>
              <a:rPr kumimoji="0" lang="pt-PT" sz="1100" b="0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kick-off</a:t>
            </a:r>
            <a:r>
              <a:rPr kumimoji="0" lang="pt-PT" sz="11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100" b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d</a:t>
            </a:r>
            <a:r>
              <a:rPr kumimoji="0" lang="pt-PT" sz="11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e projeto, de acordo com a seguinte ordem de trabalhos</a:t>
            </a:r>
            <a:r>
              <a:rPr kumimoji="0" lang="pt-PT" sz="11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</a:t>
            </a:r>
          </a:p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Light" panose="00000400000000000000" pitchFamily="2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" name="Rectangle 54">
            <a:extLst>
              <a:ext uri="{FF2B5EF4-FFF2-40B4-BE49-F238E27FC236}">
                <a16:creationId xmlns:a16="http://schemas.microsoft.com/office/drawing/2014/main" id="{A1A02A6E-C1A5-777D-90F8-88C56197D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881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accent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Light" panose="00000400000000000000" pitchFamily="2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CF68E905-F558-001A-E07E-57642E6CD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D527BD10-08A2-BD22-9D32-27B7174EC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516D298-9A45-FC5C-30CF-1D6FA24B6146}"/>
              </a:ext>
            </a:extLst>
          </p:cNvPr>
          <p:cNvGrpSpPr/>
          <p:nvPr/>
        </p:nvGrpSpPr>
        <p:grpSpPr>
          <a:xfrm>
            <a:off x="1475933" y="2439744"/>
            <a:ext cx="5187797" cy="324000"/>
            <a:chOff x="1475933" y="2369408"/>
            <a:chExt cx="5187797" cy="324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CBA10B-5889-D432-025B-256C0A8FFC90}"/>
                </a:ext>
              </a:extLst>
            </p:cNvPr>
            <p:cNvSpPr/>
            <p:nvPr/>
          </p:nvSpPr>
          <p:spPr>
            <a:xfrm>
              <a:off x="1475933" y="2399090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  <a:cs typeface="Arial" panose="020B0604020202020204" pitchFamily="34" charset="0"/>
                  <a:sym typeface="Helvetica Light"/>
                </a:rPr>
                <a:t>Objetivos e âmbito 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3EDA59-D214-B085-BF0D-9D0C5892AFD7}"/>
                </a:ext>
              </a:extLst>
            </p:cNvPr>
            <p:cNvSpPr/>
            <p:nvPr/>
          </p:nvSpPr>
          <p:spPr>
            <a:xfrm>
              <a:off x="2883730" y="2399090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  <a:cs typeface="Arial" panose="020B0604020202020204" pitchFamily="34" charset="0"/>
                  <a:sym typeface="Helvetica Light"/>
                </a:rPr>
                <a:t>Alinhamento dos principais objetivos e âmbito do projeto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19D2A5-1A5F-23E3-B3C5-C1752C0BA1F1}"/>
                </a:ext>
              </a:extLst>
            </p:cNvPr>
            <p:cNvCxnSpPr>
              <a:cxnSpLocks/>
            </p:cNvCxnSpPr>
            <p:nvPr/>
          </p:nvCxnSpPr>
          <p:spPr>
            <a:xfrm>
              <a:off x="2698683" y="2369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722BEF1-D5DB-7D57-B52E-AA07D26E4C4E}"/>
              </a:ext>
            </a:extLst>
          </p:cNvPr>
          <p:cNvGrpSpPr/>
          <p:nvPr/>
        </p:nvGrpSpPr>
        <p:grpSpPr>
          <a:xfrm>
            <a:off x="728875" y="4483878"/>
            <a:ext cx="5936824" cy="432000"/>
            <a:chOff x="728875" y="3464093"/>
            <a:chExt cx="5936824" cy="432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7B6112-7B89-9C97-DB2E-EFDCA1C3095F}"/>
                </a:ext>
              </a:extLst>
            </p:cNvPr>
            <p:cNvSpPr/>
            <p:nvPr/>
          </p:nvSpPr>
          <p:spPr>
            <a:xfrm>
              <a:off x="728875" y="3547775"/>
              <a:ext cx="1901027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  <a:cs typeface="Arial" panose="020B0604020202020204" pitchFamily="34" charset="0"/>
                  <a:sym typeface="Helvetica Light"/>
                </a:rPr>
                <a:t>Próximos passos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8C65B60-59B3-2CBD-015D-0A0431A80D5F}"/>
                </a:ext>
              </a:extLst>
            </p:cNvPr>
            <p:cNvSpPr/>
            <p:nvPr/>
          </p:nvSpPr>
          <p:spPr>
            <a:xfrm>
              <a:off x="2885699" y="3547775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  <a:cs typeface="Arial" panose="020B0604020202020204" pitchFamily="34" charset="0"/>
                  <a:sym typeface="Helvetica Light"/>
                </a:rPr>
                <a:t>Identificação das principais atividades a 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Muli Light" panose="00000400000000000000" pitchFamily="2" charset="0"/>
                  <a:cs typeface="Arial" panose="020B0604020202020204" pitchFamily="34" charset="0"/>
                </a:rPr>
                <a:t>definir durante este </a:t>
              </a:r>
              <a:r>
                <a:rPr lang="pt-PT" sz="1000" i="1" err="1">
                  <a:solidFill>
                    <a:prstClr val="white">
                      <a:lumMod val="50000"/>
                    </a:prstClr>
                  </a:solidFill>
                  <a:latin typeface="Muli Light" panose="00000400000000000000" pitchFamily="2" charset="0"/>
                  <a:cs typeface="Arial" panose="020B0604020202020204" pitchFamily="34" charset="0"/>
                </a:rPr>
                <a:t>kick-off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Muli Light" panose="00000400000000000000" pitchFamily="2" charset="0"/>
                  <a:cs typeface="Arial" panose="020B0604020202020204" pitchFamily="34" charset="0"/>
                </a:rPr>
                <a:t> e a realizar nos </a:t>
              </a: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  <a:cs typeface="Arial" panose="020B0604020202020204" pitchFamily="34" charset="0"/>
                  <a:sym typeface="Helvetica Light"/>
                </a:rPr>
                <a:t>próximos dias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2634F7-09B1-DCAD-1097-797D214C8243}"/>
                </a:ext>
              </a:extLst>
            </p:cNvPr>
            <p:cNvCxnSpPr>
              <a:cxnSpLocks/>
            </p:cNvCxnSpPr>
            <p:nvPr/>
          </p:nvCxnSpPr>
          <p:spPr>
            <a:xfrm>
              <a:off x="2700652" y="3464093"/>
              <a:ext cx="0" cy="432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53">
            <a:extLst>
              <a:ext uri="{FF2B5EF4-FFF2-40B4-BE49-F238E27FC236}">
                <a16:creationId xmlns:a16="http://schemas.microsoft.com/office/drawing/2014/main" id="{EFE8F7F6-E170-2B4C-22ED-5D9E40D17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770434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accent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</a:rPr>
              <a:t>09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– 09:30</a:t>
            </a:r>
          </a:p>
        </p:txBody>
      </p:sp>
      <p:sp>
        <p:nvSpPr>
          <p:cNvPr id="19" name="Rectangle 53">
            <a:extLst>
              <a:ext uri="{FF2B5EF4-FFF2-40B4-BE49-F238E27FC236}">
                <a16:creationId xmlns:a16="http://schemas.microsoft.com/office/drawing/2014/main" id="{90DCAFA4-9ED9-AACB-2836-07FD1AC7F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accent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</a:rPr>
              <a:t>1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de Abril de 2025</a:t>
            </a:r>
          </a:p>
        </p:txBody>
      </p:sp>
      <p:sp>
        <p:nvSpPr>
          <p:cNvPr id="20" name="Rectangle 53">
            <a:extLst>
              <a:ext uri="{FF2B5EF4-FFF2-40B4-BE49-F238E27FC236}">
                <a16:creationId xmlns:a16="http://schemas.microsoft.com/office/drawing/2014/main" id="{EDC2C0D5-94D3-702B-47EA-2DB513BC8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21" name="Rectangle 53">
            <a:extLst>
              <a:ext uri="{FF2B5EF4-FFF2-40B4-BE49-F238E27FC236}">
                <a16:creationId xmlns:a16="http://schemas.microsoft.com/office/drawing/2014/main" id="{F4BFAC8C-53B5-18C3-43C2-C88EB5E1F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accent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</a:rPr>
              <a:t>Microsoft Teams</a:t>
            </a:r>
            <a:endParaRPr kumimoji="0" lang="pt-PT" sz="1000" b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uli Light" panose="00000400000000000000" pitchFamily="2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3">
            <a:extLst>
              <a:ext uri="{FF2B5EF4-FFF2-40B4-BE49-F238E27FC236}">
                <a16:creationId xmlns:a16="http://schemas.microsoft.com/office/drawing/2014/main" id="{D8A0ED0C-7028-36B9-8345-D0CFD50CA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4883F-C7B7-3DD2-81F9-1AECF5A01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9B82A793-7F4D-B912-F587-E641BA41D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8313" y="2685528"/>
            <a:ext cx="1188466" cy="50261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EB97ED1-8006-D124-9DD4-627AD425F42D}"/>
              </a:ext>
            </a:extLst>
          </p:cNvPr>
          <p:cNvSpPr txBox="1"/>
          <p:nvPr/>
        </p:nvSpPr>
        <p:spPr>
          <a:xfrm>
            <a:off x="8170559" y="3248541"/>
            <a:ext cx="3185699" cy="1583656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85738" marR="0" lvl="1" indent="-98425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pt-PT" sz="1200" dirty="0">
                <a:solidFill>
                  <a:srgbClr val="003E51"/>
                </a:solidFill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</a:rPr>
              <a:t>Luís Godinho</a:t>
            </a: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Light" panose="00000400000000000000" pitchFamily="2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Diogo Escaleira</a:t>
            </a:r>
          </a:p>
          <a:p>
            <a:pPr marL="185738" marR="0" lvl="1" indent="-98425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pt-PT" sz="1200" dirty="0">
                <a:solidFill>
                  <a:srgbClr val="003E51"/>
                </a:solidFill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</a:rPr>
              <a:t>Rita Caguerelho</a:t>
            </a:r>
          </a:p>
          <a:p>
            <a:pPr marL="185738" marR="0" lvl="1" indent="-98425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pt-PT" sz="1200" dirty="0">
                <a:solidFill>
                  <a:srgbClr val="003E51"/>
                </a:solidFill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</a:rPr>
              <a:t>Henrique Correia</a:t>
            </a:r>
          </a:p>
          <a:p>
            <a:pPr marL="185738" marR="0" lvl="1" indent="-98425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pt-PT" sz="1200" dirty="0">
                <a:solidFill>
                  <a:srgbClr val="003E51"/>
                </a:solidFill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</a:rPr>
              <a:t>Hélder Fernandes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8EB64B-6743-EF32-9B9A-2F2E67401985}"/>
              </a:ext>
            </a:extLst>
          </p:cNvPr>
          <p:cNvSpPr txBox="1"/>
          <p:nvPr/>
        </p:nvSpPr>
        <p:spPr>
          <a:xfrm>
            <a:off x="8110179" y="2160785"/>
            <a:ext cx="3185699" cy="42745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85738" marR="0" lvl="1" indent="-98425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Susana Bernardo</a:t>
            </a:r>
          </a:p>
          <a:p>
            <a:endParaRPr lang="pt-PT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3B1BD5-D8EA-9234-F1B8-08E862A90761}"/>
              </a:ext>
            </a:extLst>
          </p:cNvPr>
          <p:cNvGrpSpPr/>
          <p:nvPr/>
        </p:nvGrpSpPr>
        <p:grpSpPr>
          <a:xfrm>
            <a:off x="894536" y="3461811"/>
            <a:ext cx="5769194" cy="324000"/>
            <a:chOff x="894536" y="2855816"/>
            <a:chExt cx="5769194" cy="324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CA1BC3-BCD2-8428-9AA7-61F2223DCA55}"/>
                </a:ext>
              </a:extLst>
            </p:cNvPr>
            <p:cNvSpPr/>
            <p:nvPr/>
          </p:nvSpPr>
          <p:spPr>
            <a:xfrm>
              <a:off x="894536" y="2885498"/>
              <a:ext cx="1733398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  <a:cs typeface="Arial" panose="020B0604020202020204" pitchFamily="34" charset="0"/>
                  <a:sym typeface="Helvetica Light"/>
                </a:rPr>
                <a:t>Planeamento e organização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1D7025-49E6-1A03-BE9F-57A229407DD5}"/>
                </a:ext>
              </a:extLst>
            </p:cNvPr>
            <p:cNvSpPr/>
            <p:nvPr/>
          </p:nvSpPr>
          <p:spPr>
            <a:xfrm>
              <a:off x="2883730" y="2885498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  <a:cs typeface="Arial" panose="020B0604020202020204" pitchFamily="34" charset="0"/>
                  <a:sym typeface="Helvetica Light"/>
                </a:rPr>
                <a:t>Apresentação dos principais pontos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Muli Light" panose="00000400000000000000" pitchFamily="2" charset="0"/>
                  <a:cs typeface="Arial" panose="020B0604020202020204" pitchFamily="34" charset="0"/>
                </a:rPr>
                <a:t> relativos à organização e planeamento para o projeto</a:t>
              </a:r>
              <a:endParaRPr kumimoji="0" lang="pt-PT" sz="10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970FD0-BA59-D4F9-C97A-E81C34BCF38C}"/>
                </a:ext>
              </a:extLst>
            </p:cNvPr>
            <p:cNvCxnSpPr>
              <a:cxnSpLocks/>
            </p:cNvCxnSpPr>
            <p:nvPr/>
          </p:nvCxnSpPr>
          <p:spPr>
            <a:xfrm>
              <a:off x="2698683" y="2855816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4">
            <a:extLst>
              <a:ext uri="{FF2B5EF4-FFF2-40B4-BE49-F238E27FC236}">
                <a16:creationId xmlns:a16="http://schemas.microsoft.com/office/drawing/2014/main" id="{992855DA-5A5B-DF61-D010-087D541EC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594" y="1865851"/>
            <a:ext cx="1506185" cy="26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25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7BCF0-D1B6-B35E-25E0-94C94D75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68">
            <a:extLst>
              <a:ext uri="{FF2B5EF4-FFF2-40B4-BE49-F238E27FC236}">
                <a16:creationId xmlns:a16="http://schemas.microsoft.com/office/drawing/2014/main" id="{F9AF003D-24D7-233A-A436-EE1303F5484A}"/>
              </a:ext>
            </a:extLst>
          </p:cNvPr>
          <p:cNvSpPr/>
          <p:nvPr/>
        </p:nvSpPr>
        <p:spPr>
          <a:xfrm>
            <a:off x="843603" y="3794146"/>
            <a:ext cx="10461007" cy="2105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 anchorCtr="0"/>
          <a:lstStyle/>
          <a:p>
            <a:pPr algn="just"/>
            <a:endParaRPr lang="pt-PT" sz="1300" dirty="0">
              <a:solidFill>
                <a:srgbClr val="003E51"/>
              </a:solidFill>
              <a:latin typeface="Muli Light" panose="00000400000000000000" pitchFamily="2" charset="0"/>
            </a:endParaRPr>
          </a:p>
          <a:p>
            <a:pPr algn="just"/>
            <a:r>
              <a:rPr lang="pt-PT" sz="1300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O</a:t>
            </a:r>
            <a:r>
              <a:rPr lang="pt-PT" sz="1300" b="1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 âmbito </a:t>
            </a:r>
            <a:r>
              <a:rPr lang="pt-PT" sz="1300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prevê a </a:t>
            </a:r>
            <a:r>
              <a:rPr lang="pt-PT" sz="1300" b="1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implementação do processo de geração dos Satélites Corporativos ESG em Pilar III Agregados </a:t>
            </a:r>
            <a:r>
              <a:rPr lang="pt-PT" sz="1300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alimentados pelos modelos base de aprovisionamento da informação ESG – Modelo Verde e Modelo de Bens Imóveis, bem como informação complementar do Banco (</a:t>
            </a:r>
            <a:r>
              <a:rPr lang="pt-PT" sz="1300" dirty="0" err="1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ex</a:t>
            </a:r>
            <a:r>
              <a:rPr lang="pt-PT" sz="1300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: Modelo Único de Garantias, tabelas com informação de reporte </a:t>
            </a:r>
            <a:r>
              <a:rPr lang="pt-PT" sz="1300" dirty="0" err="1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FinRep</a:t>
            </a:r>
            <a:r>
              <a:rPr lang="pt-PT" sz="1300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). </a:t>
            </a:r>
          </a:p>
          <a:p>
            <a:pPr algn="just"/>
            <a:endParaRPr lang="pt-PT" sz="1300" dirty="0">
              <a:solidFill>
                <a:schemeClr val="accent3">
                  <a:lumMod val="50000"/>
                </a:schemeClr>
              </a:solidFill>
              <a:latin typeface="Muli Light" panose="00000400000000000000" pitchFamily="2" charset="0"/>
            </a:endParaRPr>
          </a:p>
          <a:p>
            <a:pPr algn="just"/>
            <a:r>
              <a:rPr lang="pt-PT" sz="1300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A geração dos Satélites Corporativos deverá ser assegurada através de </a:t>
            </a:r>
            <a:r>
              <a:rPr lang="pt-PT" sz="1300" i="1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Scripts</a:t>
            </a:r>
            <a:r>
              <a:rPr lang="pt-PT" sz="1300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, por Satélite, que permitam assegurar os reportes futuros do Banco. Está previsto a geração dos Satélites agregados, realização de testes ao processo e conceitos, realização de um exercício paralelo com o reporte tático sob o rácio de dezembro de 2024, identificação e sistematização de casuísticas/ diferenças, geração do reporte de junho de 2025 e passagem de conhecimento de todo o processo </a:t>
            </a:r>
            <a:r>
              <a:rPr lang="pt-PT" sz="1300" i="1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To </a:t>
            </a:r>
            <a:r>
              <a:rPr lang="pt-PT" sz="1300" i="1" dirty="0" err="1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Be</a:t>
            </a:r>
            <a:r>
              <a:rPr lang="pt-PT" sz="1300" dirty="0">
                <a:solidFill>
                  <a:schemeClr val="accent3">
                    <a:lumMod val="50000"/>
                  </a:schemeClr>
                </a:solidFill>
                <a:latin typeface="Muli Light" panose="00000400000000000000" pitchFamily="2" charset="0"/>
              </a:rPr>
              <a:t> ao Banco e respetiva documentação.</a:t>
            </a:r>
          </a:p>
          <a:p>
            <a:pPr algn="just"/>
            <a:endParaRPr lang="pt-PT" sz="1300" dirty="0">
              <a:solidFill>
                <a:schemeClr val="accent3">
                  <a:lumMod val="50000"/>
                </a:schemeClr>
              </a:solidFill>
              <a:latin typeface="Muli Light" panose="00000400000000000000" pitchFamily="2" charset="0"/>
            </a:endParaRPr>
          </a:p>
          <a:p>
            <a:pPr algn="just"/>
            <a:endParaRPr lang="pt-PT" sz="1300" dirty="0">
              <a:solidFill>
                <a:srgbClr val="003E51"/>
              </a:solidFill>
              <a:latin typeface="Muli Light" panose="00000400000000000000" pitchFamily="2" charset="0"/>
            </a:endParaRPr>
          </a:p>
          <a:p>
            <a:pPr algn="just"/>
            <a:endParaRPr lang="pt-PT" sz="1300" dirty="0">
              <a:solidFill>
                <a:srgbClr val="003E51"/>
              </a:solidFill>
              <a:latin typeface="Muli Light" panose="00000400000000000000" pitchFamily="2" charset="0"/>
            </a:endParaRPr>
          </a:p>
          <a:p>
            <a:pPr algn="ctr"/>
            <a:endParaRPr lang="es-ES" sz="1300" dirty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algn="just"/>
            <a:endParaRPr lang="es-ES" sz="1300" dirty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algn="ctr"/>
            <a:endParaRPr lang="es-ES" sz="1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7EA959-4230-64CD-24D1-4B0E46A38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/>
              <a:t>Objetivos e Âmbito</a:t>
            </a:r>
          </a:p>
        </p:txBody>
      </p:sp>
      <p:sp>
        <p:nvSpPr>
          <p:cNvPr id="42" name="Rectángulo 68">
            <a:extLst>
              <a:ext uri="{FF2B5EF4-FFF2-40B4-BE49-F238E27FC236}">
                <a16:creationId xmlns:a16="http://schemas.microsoft.com/office/drawing/2014/main" id="{6B1457A0-51DB-EE15-2F79-E51645141E3C}"/>
              </a:ext>
            </a:extLst>
          </p:cNvPr>
          <p:cNvSpPr/>
          <p:nvPr/>
        </p:nvSpPr>
        <p:spPr>
          <a:xfrm>
            <a:off x="843603" y="1848359"/>
            <a:ext cx="10621018" cy="1081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 anchorCtr="0"/>
          <a:lstStyle/>
          <a:p>
            <a:pPr algn="just"/>
            <a:endParaRPr lang="pt-PT" sz="1300">
              <a:solidFill>
                <a:srgbClr val="003E51"/>
              </a:solidFill>
              <a:latin typeface="Muli Light" panose="00000400000000000000" pitchFamily="2" charset="0"/>
            </a:endParaRPr>
          </a:p>
          <a:p>
            <a:pPr algn="just"/>
            <a:r>
              <a:rPr lang="pt-PT" sz="1300">
                <a:solidFill>
                  <a:srgbClr val="003E51"/>
                </a:solidFill>
                <a:latin typeface="Muli Light" panose="00000400000000000000" pitchFamily="2" charset="0"/>
              </a:rPr>
              <a:t>O </a:t>
            </a:r>
            <a:r>
              <a:rPr lang="pt-PT" sz="1300" b="1">
                <a:solidFill>
                  <a:srgbClr val="003E51"/>
                </a:solidFill>
                <a:latin typeface="Muli Light" panose="00000400000000000000" pitchFamily="2" charset="0"/>
              </a:rPr>
              <a:t>objetivo</a:t>
            </a:r>
            <a:r>
              <a:rPr lang="pt-PT" sz="1300">
                <a:solidFill>
                  <a:srgbClr val="003E51"/>
                </a:solidFill>
                <a:latin typeface="Muli Light" panose="00000400000000000000" pitchFamily="2" charset="0"/>
              </a:rPr>
              <a:t> do presente projeto pauta-se pelo apoio da </a:t>
            </a:r>
            <a:r>
              <a:rPr lang="pt-PT" sz="1300" b="1">
                <a:solidFill>
                  <a:srgbClr val="003E51"/>
                </a:solidFill>
                <a:latin typeface="Muli Light" panose="00000400000000000000" pitchFamily="2" charset="0"/>
              </a:rPr>
              <a:t>Neyond </a:t>
            </a:r>
            <a:r>
              <a:rPr lang="pt-PT" sz="1300">
                <a:solidFill>
                  <a:srgbClr val="003E51"/>
                </a:solidFill>
                <a:latin typeface="Muli Light" panose="00000400000000000000" pitchFamily="2" charset="0"/>
              </a:rPr>
              <a:t>na </a:t>
            </a:r>
            <a:r>
              <a:rPr lang="pt-PT" sz="1300" b="1">
                <a:solidFill>
                  <a:srgbClr val="003E51"/>
                </a:solidFill>
                <a:latin typeface="Muli Light" panose="00000400000000000000" pitchFamily="2" charset="0"/>
              </a:rPr>
              <a:t>conceção e implementação do</a:t>
            </a:r>
            <a:r>
              <a:rPr lang="pt-PT" sz="1300">
                <a:solidFill>
                  <a:srgbClr val="003E51"/>
                </a:solidFill>
                <a:latin typeface="Muli Light" panose="00000400000000000000" pitchFamily="2" charset="0"/>
              </a:rPr>
              <a:t> </a:t>
            </a:r>
            <a:r>
              <a:rPr lang="pt-PT" sz="1300" b="1">
                <a:solidFill>
                  <a:srgbClr val="003E51"/>
                </a:solidFill>
                <a:latin typeface="Muli Light" panose="00000400000000000000" pitchFamily="2" charset="0"/>
              </a:rPr>
              <a:t>processo de geração dos Satélites Corporativos</a:t>
            </a:r>
            <a:r>
              <a:rPr lang="pt-PT" sz="1300">
                <a:solidFill>
                  <a:srgbClr val="003E51"/>
                </a:solidFill>
                <a:latin typeface="Muli Light" panose="00000400000000000000" pitchFamily="2" charset="0"/>
              </a:rPr>
              <a:t> (ESG em Pilar III &amp; SREP/STE) para as operações </a:t>
            </a:r>
            <a:r>
              <a:rPr lang="pt-PT" sz="1300" b="1">
                <a:solidFill>
                  <a:srgbClr val="003E51"/>
                </a:solidFill>
                <a:latin typeface="Muli Light" panose="00000400000000000000" pitchFamily="2" charset="0"/>
              </a:rPr>
              <a:t>“agregadas”</a:t>
            </a:r>
            <a:r>
              <a:rPr lang="pt-PT" sz="1300">
                <a:solidFill>
                  <a:srgbClr val="003E51"/>
                </a:solidFill>
                <a:latin typeface="Muli Light" panose="00000400000000000000" pitchFamily="2" charset="0"/>
              </a:rPr>
              <a:t> que não fazem parte da </a:t>
            </a:r>
            <a:r>
              <a:rPr lang="pt-PT" sz="1300" b="1" i="1" err="1">
                <a:solidFill>
                  <a:srgbClr val="003E51"/>
                </a:solidFill>
                <a:latin typeface="Muli Light" panose="00000400000000000000" pitchFamily="2" charset="0"/>
              </a:rPr>
              <a:t>Loan</a:t>
            </a:r>
            <a:r>
              <a:rPr lang="pt-PT" sz="1300" b="1" i="1">
                <a:solidFill>
                  <a:srgbClr val="003E51"/>
                </a:solidFill>
                <a:latin typeface="Muli Light" panose="00000400000000000000" pitchFamily="2" charset="0"/>
              </a:rPr>
              <a:t> Tape </a:t>
            </a:r>
            <a:r>
              <a:rPr lang="pt-PT" sz="1300" b="1">
                <a:solidFill>
                  <a:srgbClr val="003E51"/>
                </a:solidFill>
                <a:latin typeface="Muli Light" panose="00000400000000000000" pitchFamily="2" charset="0"/>
              </a:rPr>
              <a:t>– Pilar III, </a:t>
            </a:r>
            <a:r>
              <a:rPr lang="pt-PT" sz="1300">
                <a:solidFill>
                  <a:srgbClr val="003E51"/>
                </a:solidFill>
                <a:latin typeface="Muli Light" panose="00000400000000000000" pitchFamily="2" charset="0"/>
              </a:rPr>
              <a:t>de acordo com os requisitos definidos corporativamente que cumpram com as normas regulamentares do reporte de Pilar III em ESG. </a:t>
            </a:r>
          </a:p>
          <a:p>
            <a:pPr algn="just"/>
            <a:endParaRPr lang="pt-PT" sz="1300">
              <a:solidFill>
                <a:srgbClr val="003E51"/>
              </a:solidFill>
              <a:latin typeface="Muli Light" panose="00000400000000000000" pitchFamily="2" charset="0"/>
            </a:endParaRPr>
          </a:p>
          <a:p>
            <a:pPr algn="ctr"/>
            <a:endParaRPr lang="es-ES" sz="130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algn="just"/>
            <a:endParaRPr lang="es-ES" sz="130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algn="ctr"/>
            <a:endParaRPr lang="es-ES" sz="130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27" name="Group 48">
            <a:extLst>
              <a:ext uri="{FF2B5EF4-FFF2-40B4-BE49-F238E27FC236}">
                <a16:creationId xmlns:a16="http://schemas.microsoft.com/office/drawing/2014/main" id="{175F41C8-2EFD-F9C6-0F98-50FEA770DE41}"/>
              </a:ext>
            </a:extLst>
          </p:cNvPr>
          <p:cNvGrpSpPr/>
          <p:nvPr/>
        </p:nvGrpSpPr>
        <p:grpSpPr>
          <a:xfrm>
            <a:off x="807277" y="1377449"/>
            <a:ext cx="2133784" cy="473198"/>
            <a:chOff x="4710724" y="1812877"/>
            <a:chExt cx="2133784" cy="473198"/>
          </a:xfrm>
        </p:grpSpPr>
        <p:sp>
          <p:nvSpPr>
            <p:cNvPr id="30" name="Rounded Rectangle 40">
              <a:extLst>
                <a:ext uri="{FF2B5EF4-FFF2-40B4-BE49-F238E27FC236}">
                  <a16:creationId xmlns:a16="http://schemas.microsoft.com/office/drawing/2014/main" id="{0A227067-0DDE-1391-B2F9-3B3658E87488}"/>
                </a:ext>
              </a:extLst>
            </p:cNvPr>
            <p:cNvSpPr/>
            <p:nvPr/>
          </p:nvSpPr>
          <p:spPr>
            <a:xfrm>
              <a:off x="4710724" y="1859318"/>
              <a:ext cx="2133784" cy="426757"/>
            </a:xfrm>
            <a:prstGeom prst="roundRect">
              <a:avLst>
                <a:gd name="adj" fmla="val 1777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>
                <a:latin typeface="Muli Light" panose="00000400000000000000" pitchFamily="2" charset="0"/>
              </a:endParaRPr>
            </a:p>
          </p:txBody>
        </p:sp>
        <p:sp>
          <p:nvSpPr>
            <p:cNvPr id="32" name="Freeform 49">
              <a:extLst>
                <a:ext uri="{FF2B5EF4-FFF2-40B4-BE49-F238E27FC236}">
                  <a16:creationId xmlns:a16="http://schemas.microsoft.com/office/drawing/2014/main" id="{A9D83256-C76C-7D90-5335-3845E56A21F9}"/>
                </a:ext>
              </a:extLst>
            </p:cNvPr>
            <p:cNvSpPr/>
            <p:nvPr/>
          </p:nvSpPr>
          <p:spPr>
            <a:xfrm flipH="1">
              <a:off x="4710724" y="1812877"/>
              <a:ext cx="2133784" cy="426757"/>
            </a:xfrm>
            <a:custGeom>
              <a:avLst/>
              <a:gdLst>
                <a:gd name="connsiteX0" fmla="*/ 0 w 2133784"/>
                <a:gd name="connsiteY0" fmla="*/ 75835 h 426757"/>
                <a:gd name="connsiteX1" fmla="*/ 22212 w 2133784"/>
                <a:gd name="connsiteY1" fmla="*/ 22212 h 426757"/>
                <a:gd name="connsiteX2" fmla="*/ 75835 w 2133784"/>
                <a:gd name="connsiteY2" fmla="*/ 1 h 426757"/>
                <a:gd name="connsiteX3" fmla="*/ 2057949 w 2133784"/>
                <a:gd name="connsiteY3" fmla="*/ 0 h 426757"/>
                <a:gd name="connsiteX4" fmla="*/ 2111572 w 2133784"/>
                <a:gd name="connsiteY4" fmla="*/ 22212 h 426757"/>
                <a:gd name="connsiteX5" fmla="*/ 2133783 w 2133784"/>
                <a:gd name="connsiteY5" fmla="*/ 75835 h 426757"/>
                <a:gd name="connsiteX6" fmla="*/ 2133784 w 2133784"/>
                <a:gd name="connsiteY6" fmla="*/ 350922 h 426757"/>
                <a:gd name="connsiteX7" fmla="*/ 2111572 w 2133784"/>
                <a:gd name="connsiteY7" fmla="*/ 404545 h 426757"/>
                <a:gd name="connsiteX8" fmla="*/ 2057949 w 2133784"/>
                <a:gd name="connsiteY8" fmla="*/ 426757 h 426757"/>
                <a:gd name="connsiteX9" fmla="*/ 75835 w 2133784"/>
                <a:gd name="connsiteY9" fmla="*/ 426757 h 426757"/>
                <a:gd name="connsiteX10" fmla="*/ 22212 w 2133784"/>
                <a:gd name="connsiteY10" fmla="*/ 404545 h 426757"/>
                <a:gd name="connsiteX11" fmla="*/ 0 w 2133784"/>
                <a:gd name="connsiteY11" fmla="*/ 350922 h 426757"/>
                <a:gd name="connsiteX12" fmla="*/ 0 w 2133784"/>
                <a:gd name="connsiteY12" fmla="*/ 75835 h 42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3784" h="426757">
                  <a:moveTo>
                    <a:pt x="0" y="75835"/>
                  </a:moveTo>
                  <a:cubicBezTo>
                    <a:pt x="0" y="55722"/>
                    <a:pt x="7990" y="36433"/>
                    <a:pt x="22212" y="22212"/>
                  </a:cubicBezTo>
                  <a:cubicBezTo>
                    <a:pt x="36434" y="7990"/>
                    <a:pt x="55723" y="0"/>
                    <a:pt x="75835" y="1"/>
                  </a:cubicBezTo>
                  <a:lnTo>
                    <a:pt x="2057949" y="0"/>
                  </a:lnTo>
                  <a:cubicBezTo>
                    <a:pt x="2078062" y="0"/>
                    <a:pt x="2097351" y="7990"/>
                    <a:pt x="2111572" y="22212"/>
                  </a:cubicBezTo>
                  <a:cubicBezTo>
                    <a:pt x="2125794" y="36434"/>
                    <a:pt x="2133784" y="55723"/>
                    <a:pt x="2133783" y="75835"/>
                  </a:cubicBezTo>
                  <a:cubicBezTo>
                    <a:pt x="2133783" y="167531"/>
                    <a:pt x="2133784" y="259226"/>
                    <a:pt x="2133784" y="350922"/>
                  </a:cubicBezTo>
                  <a:cubicBezTo>
                    <a:pt x="2133784" y="371035"/>
                    <a:pt x="2125794" y="390324"/>
                    <a:pt x="2111572" y="404545"/>
                  </a:cubicBezTo>
                  <a:cubicBezTo>
                    <a:pt x="2097350" y="418767"/>
                    <a:pt x="2078061" y="426757"/>
                    <a:pt x="2057949" y="426757"/>
                  </a:cubicBezTo>
                  <a:lnTo>
                    <a:pt x="75835" y="426757"/>
                  </a:lnTo>
                  <a:cubicBezTo>
                    <a:pt x="55722" y="426757"/>
                    <a:pt x="36433" y="418767"/>
                    <a:pt x="22212" y="404545"/>
                  </a:cubicBezTo>
                  <a:cubicBezTo>
                    <a:pt x="7990" y="390323"/>
                    <a:pt x="0" y="371034"/>
                    <a:pt x="0" y="350922"/>
                  </a:cubicBezTo>
                  <a:lnTo>
                    <a:pt x="0" y="7583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err="1">
                  <a:latin typeface="Muli" panose="00000500000000000000" pitchFamily="2" charset="0"/>
                </a:rPr>
                <a:t>Objetivos</a:t>
              </a:r>
              <a:endParaRPr lang="en-US" sz="1400" b="1">
                <a:latin typeface="Muli" panose="00000500000000000000" pitchFamily="2" charset="0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0297A54-B302-F948-1C63-E6E208CF9A21}"/>
              </a:ext>
            </a:extLst>
          </p:cNvPr>
          <p:cNvCxnSpPr/>
          <p:nvPr/>
        </p:nvCxnSpPr>
        <p:spPr>
          <a:xfrm>
            <a:off x="843603" y="1688069"/>
            <a:ext cx="2560" cy="1332000"/>
          </a:xfrm>
          <a:prstGeom prst="line">
            <a:avLst/>
          </a:prstGeom>
          <a:ln w="76200" cap="rnd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3367BEF-782F-B75F-9953-6570101BDEF2}"/>
              </a:ext>
            </a:extLst>
          </p:cNvPr>
          <p:cNvCxnSpPr>
            <a:cxnSpLocks/>
          </p:cNvCxnSpPr>
          <p:nvPr/>
        </p:nvCxnSpPr>
        <p:spPr>
          <a:xfrm flipH="1">
            <a:off x="846163" y="2961485"/>
            <a:ext cx="10620000" cy="0"/>
          </a:xfrm>
          <a:prstGeom prst="line">
            <a:avLst/>
          </a:prstGeom>
          <a:ln w="76200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D0BF1023-63D7-EFEA-D3AA-E4C8AFA8719A}"/>
              </a:ext>
            </a:extLst>
          </p:cNvPr>
          <p:cNvSpPr>
            <a:spLocks noChangeAspect="1"/>
          </p:cNvSpPr>
          <p:nvPr/>
        </p:nvSpPr>
        <p:spPr>
          <a:xfrm>
            <a:off x="724250" y="2840598"/>
            <a:ext cx="243825" cy="24382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3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endParaRPr lang="en-US" sz="1200" b="1">
              <a:solidFill>
                <a:srgbClr val="00CCFF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084E423-7A6F-238E-1D05-2ABCDE349555}"/>
              </a:ext>
            </a:extLst>
          </p:cNvPr>
          <p:cNvCxnSpPr>
            <a:cxnSpLocks/>
          </p:cNvCxnSpPr>
          <p:nvPr/>
        </p:nvCxnSpPr>
        <p:spPr>
          <a:xfrm flipH="1">
            <a:off x="846163" y="5924716"/>
            <a:ext cx="1040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54">
            <a:extLst>
              <a:ext uri="{FF2B5EF4-FFF2-40B4-BE49-F238E27FC236}">
                <a16:creationId xmlns:a16="http://schemas.microsoft.com/office/drawing/2014/main" id="{C8DE6D62-2F35-BE62-21F7-269F13953667}"/>
              </a:ext>
            </a:extLst>
          </p:cNvPr>
          <p:cNvGrpSpPr/>
          <p:nvPr/>
        </p:nvGrpSpPr>
        <p:grpSpPr>
          <a:xfrm>
            <a:off x="9246009" y="3322546"/>
            <a:ext cx="2134800" cy="471600"/>
            <a:chOff x="1443550" y="2414274"/>
            <a:chExt cx="2650681" cy="475826"/>
          </a:xfrm>
        </p:grpSpPr>
        <p:sp>
          <p:nvSpPr>
            <p:cNvPr id="45" name="Rounded Rectangle 41">
              <a:extLst>
                <a:ext uri="{FF2B5EF4-FFF2-40B4-BE49-F238E27FC236}">
                  <a16:creationId xmlns:a16="http://schemas.microsoft.com/office/drawing/2014/main" id="{4D5BA3CB-FF7E-4586-F894-7B678583B0F8}"/>
                </a:ext>
              </a:extLst>
            </p:cNvPr>
            <p:cNvSpPr/>
            <p:nvPr/>
          </p:nvSpPr>
          <p:spPr>
            <a:xfrm>
              <a:off x="1443550" y="2463343"/>
              <a:ext cx="2650681" cy="426757"/>
            </a:xfrm>
            <a:prstGeom prst="roundRect">
              <a:avLst>
                <a:gd name="adj" fmla="val 1777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sp>
          <p:nvSpPr>
            <p:cNvPr id="46" name="Rounded Rectangle 25">
              <a:extLst>
                <a:ext uri="{FF2B5EF4-FFF2-40B4-BE49-F238E27FC236}">
                  <a16:creationId xmlns:a16="http://schemas.microsoft.com/office/drawing/2014/main" id="{6E06AAA7-C2FE-CB8D-678C-4AD6C3B76D86}"/>
                </a:ext>
              </a:extLst>
            </p:cNvPr>
            <p:cNvSpPr/>
            <p:nvPr/>
          </p:nvSpPr>
          <p:spPr>
            <a:xfrm>
              <a:off x="1443550" y="2414274"/>
              <a:ext cx="2650681" cy="426757"/>
            </a:xfrm>
            <a:prstGeom prst="roundRect">
              <a:avLst>
                <a:gd name="adj" fmla="val 1777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err="1"/>
                <a:t>Âmbito</a:t>
              </a:r>
              <a:endParaRPr lang="en-US" sz="1400" b="1"/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BE71655-EF7C-5DB7-847C-866C4E1DE6A6}"/>
              </a:ext>
            </a:extLst>
          </p:cNvPr>
          <p:cNvCxnSpPr>
            <a:cxnSpLocks/>
          </p:cNvCxnSpPr>
          <p:nvPr/>
        </p:nvCxnSpPr>
        <p:spPr>
          <a:xfrm flipH="1">
            <a:off x="11342709" y="3535925"/>
            <a:ext cx="0" cy="2412000"/>
          </a:xfrm>
          <a:prstGeom prst="line">
            <a:avLst/>
          </a:prstGeom>
          <a:ln w="76200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DDD3156C-061C-0325-10A9-C99B6C80CF0F}"/>
              </a:ext>
            </a:extLst>
          </p:cNvPr>
          <p:cNvSpPr>
            <a:spLocks noChangeAspect="1"/>
          </p:cNvSpPr>
          <p:nvPr/>
        </p:nvSpPr>
        <p:spPr>
          <a:xfrm>
            <a:off x="11220796" y="5806920"/>
            <a:ext cx="243825" cy="24382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endParaRPr lang="en-US" sz="1200" b="1">
              <a:solidFill>
                <a:srgbClr val="00CCFF"/>
              </a:solidFill>
            </a:endParaRPr>
          </a:p>
        </p:txBody>
      </p:sp>
      <p:pic>
        <p:nvPicPr>
          <p:cNvPr id="52" name="Graphic 51" descr="Bullseye with solid fill">
            <a:extLst>
              <a:ext uri="{FF2B5EF4-FFF2-40B4-BE49-F238E27FC236}">
                <a16:creationId xmlns:a16="http://schemas.microsoft.com/office/drawing/2014/main" id="{62B4BC51-FA16-C471-FE1E-19AF4C22A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489" y="1405473"/>
            <a:ext cx="360000" cy="360000"/>
          </a:xfrm>
          <a:prstGeom prst="rect">
            <a:avLst/>
          </a:prstGeom>
        </p:spPr>
      </p:pic>
      <p:pic>
        <p:nvPicPr>
          <p:cNvPr id="56" name="Graphic 55" descr="Clipboard Partially Crossed with solid fill">
            <a:extLst>
              <a:ext uri="{FF2B5EF4-FFF2-40B4-BE49-F238E27FC236}">
                <a16:creationId xmlns:a16="http://schemas.microsoft.com/office/drawing/2014/main" id="{96483A7F-6D57-F736-E4C1-1B750DE5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15771" y="3342460"/>
            <a:ext cx="360000" cy="360001"/>
          </a:xfrm>
          <a:prstGeom prst="rect">
            <a:avLst/>
          </a:prstGeom>
        </p:spPr>
      </p:pic>
      <p:sp>
        <p:nvSpPr>
          <p:cNvPr id="61" name="Text Placeholder 190">
            <a:extLst>
              <a:ext uri="{FF2B5EF4-FFF2-40B4-BE49-F238E27FC236}">
                <a16:creationId xmlns:a16="http://schemas.microsoft.com/office/drawing/2014/main" id="{82F384A2-3264-99C7-0BC8-D20F947A23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/>
              <a:t>Objetivos e âmbito </a:t>
            </a:r>
            <a:r>
              <a:rPr lang="pt-PT" sz="1200"/>
              <a:t>(1|2)</a:t>
            </a:r>
            <a:endParaRPr lang="pt-PT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21517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6EF15-548D-3064-DF94-BB61A357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667ABE-534C-E4AE-E87E-D5D1563F29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/>
              <a:t>Objetivos e Âmbito</a:t>
            </a:r>
          </a:p>
        </p:txBody>
      </p:sp>
      <p:sp>
        <p:nvSpPr>
          <p:cNvPr id="61" name="Text Placeholder 190">
            <a:extLst>
              <a:ext uri="{FF2B5EF4-FFF2-40B4-BE49-F238E27FC236}">
                <a16:creationId xmlns:a16="http://schemas.microsoft.com/office/drawing/2014/main" id="{F6E7553B-E4AD-D0C8-85F2-EA49214E95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/>
              <a:t>Objetivos e âmbito </a:t>
            </a:r>
            <a:r>
              <a:rPr lang="pt-PT" sz="1200"/>
              <a:t>(2|2)</a:t>
            </a:r>
            <a:endParaRPr lang="pt-PT">
              <a:highlight>
                <a:srgbClr val="FFFF00"/>
              </a:highlight>
            </a:endParaRPr>
          </a:p>
        </p:txBody>
      </p:sp>
      <p:sp>
        <p:nvSpPr>
          <p:cNvPr id="4" name="Rectángulo 68">
            <a:extLst>
              <a:ext uri="{FF2B5EF4-FFF2-40B4-BE49-F238E27FC236}">
                <a16:creationId xmlns:a16="http://schemas.microsoft.com/office/drawing/2014/main" id="{86A79C84-F075-391C-774A-E367A00ECD66}"/>
              </a:ext>
            </a:extLst>
          </p:cNvPr>
          <p:cNvSpPr/>
          <p:nvPr/>
        </p:nvSpPr>
        <p:spPr>
          <a:xfrm>
            <a:off x="1830657" y="5253341"/>
            <a:ext cx="8241967" cy="252810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err="1">
                <a:solidFill>
                  <a:prstClr val="white"/>
                </a:solidFill>
                <a:latin typeface="Muli" panose="00000500000000000000" pitchFamily="2" charset="0"/>
              </a:rPr>
              <a:t>Geração</a:t>
            </a:r>
            <a:r>
              <a:rPr lang="es-ES" sz="1200" b="1">
                <a:solidFill>
                  <a:prstClr val="white"/>
                </a:solidFill>
                <a:latin typeface="Muli" panose="00000500000000000000" pitchFamily="2" charset="0"/>
              </a:rPr>
              <a:t> de Satélites Corporativos Agregados</a:t>
            </a:r>
          </a:p>
        </p:txBody>
      </p:sp>
      <p:sp>
        <p:nvSpPr>
          <p:cNvPr id="5" name="Rectángulo 68">
            <a:extLst>
              <a:ext uri="{FF2B5EF4-FFF2-40B4-BE49-F238E27FC236}">
                <a16:creationId xmlns:a16="http://schemas.microsoft.com/office/drawing/2014/main" id="{19FACA02-DBA2-B421-5148-442D3894C151}"/>
              </a:ext>
            </a:extLst>
          </p:cNvPr>
          <p:cNvSpPr/>
          <p:nvPr/>
        </p:nvSpPr>
        <p:spPr>
          <a:xfrm>
            <a:off x="5992021" y="3416906"/>
            <a:ext cx="3932792" cy="17604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s-ES" sz="1400" b="1" dirty="0">
                <a:solidFill>
                  <a:schemeClr val="tx1">
                    <a:alpha val="91000"/>
                  </a:schemeClr>
                </a:solidFill>
                <a:latin typeface="Muli" panose="00000500000000000000" pitchFamily="2" charset="0"/>
              </a:rPr>
              <a:t>Satélites Corporativos – Agregados</a:t>
            </a:r>
            <a:endParaRPr lang="es-ES" sz="1400" b="1" baseline="30000" dirty="0">
              <a:solidFill>
                <a:schemeClr val="tx1">
                  <a:alpha val="91000"/>
                </a:schemeClr>
              </a:solidFill>
              <a:latin typeface="Muli" panose="00000500000000000000" pitchFamily="2" charset="0"/>
            </a:endParaRPr>
          </a:p>
          <a:p>
            <a:pPr algn="ctr"/>
            <a:r>
              <a:rPr lang="es-ES" sz="1100" dirty="0">
                <a:solidFill>
                  <a:schemeClr val="tx1">
                    <a:alpha val="91000"/>
                  </a:schemeClr>
                </a:solidFill>
                <a:latin typeface="Muli" panose="00000500000000000000" pitchFamily="2" charset="0"/>
              </a:rPr>
              <a:t>(Agregado IDCOMB)</a:t>
            </a:r>
          </a:p>
        </p:txBody>
      </p:sp>
      <p:sp>
        <p:nvSpPr>
          <p:cNvPr id="6" name="Rectangle 32">
            <a:extLst>
              <a:ext uri="{FF2B5EF4-FFF2-40B4-BE49-F238E27FC236}">
                <a16:creationId xmlns:a16="http://schemas.microsoft.com/office/drawing/2014/main" id="{5ABA69C4-E413-0D56-9376-252211F54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149" y="3954470"/>
            <a:ext cx="1831351" cy="31624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b="1">
                <a:solidFill>
                  <a:schemeClr val="bg1"/>
                </a:solidFill>
                <a:latin typeface="Muli" panose="00000500000000000000" pitchFamily="2" charset="0"/>
              </a:rPr>
              <a:t>MdD_79_CESG_CNAE_ESG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040BC5A4-56F4-BA09-CC5F-4B13FCDD2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149" y="4320197"/>
            <a:ext cx="1831351" cy="31624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b="1">
                <a:solidFill>
                  <a:schemeClr val="bg1"/>
                </a:solidFill>
                <a:latin typeface="Muli" panose="00000500000000000000" pitchFamily="2" charset="0"/>
              </a:rPr>
              <a:t>MdD_80_ENPC</a:t>
            </a: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78796A19-BE65-63B3-12A2-67515722A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149" y="4685924"/>
            <a:ext cx="1831351" cy="31624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b="1">
                <a:solidFill>
                  <a:schemeClr val="bg1"/>
                </a:solidFill>
                <a:latin typeface="Muli" panose="00000500000000000000" pitchFamily="2" charset="0"/>
              </a:rPr>
              <a:t>MdD_83_MITI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96DC62F-67CB-B59A-4126-97F6CE453BFA}"/>
              </a:ext>
            </a:extLst>
          </p:cNvPr>
          <p:cNvGrpSpPr/>
          <p:nvPr/>
        </p:nvGrpSpPr>
        <p:grpSpPr>
          <a:xfrm>
            <a:off x="8007822" y="3954470"/>
            <a:ext cx="1831351" cy="1047702"/>
            <a:chOff x="7156431" y="5396147"/>
            <a:chExt cx="1831351" cy="1047702"/>
          </a:xfrm>
        </p:grpSpPr>
        <p:sp>
          <p:nvSpPr>
            <p:cNvPr id="104" name="Rectangle 32">
              <a:extLst>
                <a:ext uri="{FF2B5EF4-FFF2-40B4-BE49-F238E27FC236}">
                  <a16:creationId xmlns:a16="http://schemas.microsoft.com/office/drawing/2014/main" id="{B7F742AC-7AE8-DC30-44AF-46FA74FE0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31" y="5396147"/>
              <a:ext cx="1831351" cy="3162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altLang="pt-PT" sz="1000" b="1">
                  <a:solidFill>
                    <a:schemeClr val="bg1"/>
                  </a:solidFill>
                  <a:latin typeface="Muli" panose="00000500000000000000" pitchFamily="2" charset="0"/>
                </a:rPr>
                <a:t>MdD_84_GARB</a:t>
              </a:r>
            </a:p>
          </p:txBody>
        </p:sp>
        <p:sp>
          <p:nvSpPr>
            <p:cNvPr id="105" name="Rectangle 32">
              <a:extLst>
                <a:ext uri="{FF2B5EF4-FFF2-40B4-BE49-F238E27FC236}">
                  <a16:creationId xmlns:a16="http://schemas.microsoft.com/office/drawing/2014/main" id="{293911EF-9B55-A551-CC21-F52CBDD8E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31" y="5761874"/>
              <a:ext cx="1831351" cy="3162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altLang="pt-PT" sz="1000" b="1">
                  <a:solidFill>
                    <a:schemeClr val="bg1"/>
                  </a:solidFill>
                  <a:latin typeface="Muli" panose="00000500000000000000" pitchFamily="2" charset="0"/>
                </a:rPr>
                <a:t>MdD_93_GHGE_GHG</a:t>
              </a:r>
            </a:p>
          </p:txBody>
        </p:sp>
        <p:sp>
          <p:nvSpPr>
            <p:cNvPr id="106" name="Rectangle 32">
              <a:extLst>
                <a:ext uri="{FF2B5EF4-FFF2-40B4-BE49-F238E27FC236}">
                  <a16:creationId xmlns:a16="http://schemas.microsoft.com/office/drawing/2014/main" id="{7AA7F0AF-B76E-D074-A17E-664C3B9B3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31" y="6127603"/>
              <a:ext cx="1831351" cy="3162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altLang="pt-PT" sz="1000" b="1">
                  <a:solidFill>
                    <a:schemeClr val="bg1"/>
                  </a:solidFill>
                  <a:latin typeface="Muli" panose="00000500000000000000" pitchFamily="2" charset="0"/>
                </a:rPr>
                <a:t>MdD_109_IESG</a:t>
              </a:r>
              <a:endParaRPr lang="pt-PT" altLang="pt-PT" sz="1000" b="1" baseline="30000">
                <a:solidFill>
                  <a:schemeClr val="bg1"/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96" name="Rectángulo 68">
            <a:extLst>
              <a:ext uri="{FF2B5EF4-FFF2-40B4-BE49-F238E27FC236}">
                <a16:creationId xmlns:a16="http://schemas.microsoft.com/office/drawing/2014/main" id="{A7017150-62A5-4F03-DC45-2F863A06B814}"/>
              </a:ext>
            </a:extLst>
          </p:cNvPr>
          <p:cNvSpPr/>
          <p:nvPr/>
        </p:nvSpPr>
        <p:spPr>
          <a:xfrm>
            <a:off x="1830657" y="3416906"/>
            <a:ext cx="3932792" cy="176024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s-ES" sz="1400" b="1">
                <a:solidFill>
                  <a:schemeClr val="tx1"/>
                </a:solidFill>
                <a:latin typeface="Muli" panose="00000500000000000000" pitchFamily="2" charset="0"/>
              </a:rPr>
              <a:t>Satélites Corporativos - Granulares</a:t>
            </a:r>
          </a:p>
          <a:p>
            <a:pPr algn="ctr"/>
            <a:r>
              <a:rPr lang="es-ES" sz="1100">
                <a:solidFill>
                  <a:schemeClr val="tx1"/>
                </a:solidFill>
                <a:latin typeface="Muli" panose="00000500000000000000" pitchFamily="2" charset="0"/>
              </a:rPr>
              <a:t>(Contrato &amp; IDCOMB)</a:t>
            </a:r>
          </a:p>
        </p:txBody>
      </p:sp>
      <p:sp>
        <p:nvSpPr>
          <p:cNvPr id="97" name="Rectangle 32">
            <a:extLst>
              <a:ext uri="{FF2B5EF4-FFF2-40B4-BE49-F238E27FC236}">
                <a16:creationId xmlns:a16="http://schemas.microsoft.com/office/drawing/2014/main" id="{61C001A5-301D-2149-D631-CDFAF55FE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352" y="3954470"/>
            <a:ext cx="1832400" cy="31624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b="1">
                <a:solidFill>
                  <a:schemeClr val="bg1"/>
                </a:solidFill>
                <a:latin typeface="Muli" panose="00000500000000000000" pitchFamily="2" charset="0"/>
              </a:rPr>
              <a:t>SAT_79_GRA</a:t>
            </a:r>
          </a:p>
        </p:txBody>
      </p:sp>
      <p:sp>
        <p:nvSpPr>
          <p:cNvPr id="98" name="Rectangle 32">
            <a:extLst>
              <a:ext uri="{FF2B5EF4-FFF2-40B4-BE49-F238E27FC236}">
                <a16:creationId xmlns:a16="http://schemas.microsoft.com/office/drawing/2014/main" id="{7909A5EF-E133-3F3F-6AA6-BAFD2AAF9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352" y="4320197"/>
            <a:ext cx="1832400" cy="31624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b="1">
                <a:solidFill>
                  <a:schemeClr val="bg1"/>
                </a:solidFill>
                <a:latin typeface="Muli" panose="00000500000000000000" pitchFamily="2" charset="0"/>
              </a:rPr>
              <a:t>SAT_80_GRA</a:t>
            </a:r>
          </a:p>
        </p:txBody>
      </p:sp>
      <p:sp>
        <p:nvSpPr>
          <p:cNvPr id="99" name="Rectangle 32">
            <a:extLst>
              <a:ext uri="{FF2B5EF4-FFF2-40B4-BE49-F238E27FC236}">
                <a16:creationId xmlns:a16="http://schemas.microsoft.com/office/drawing/2014/main" id="{F323F51C-014D-2520-FE67-B2FF18788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352" y="4685924"/>
            <a:ext cx="1832400" cy="31624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b="1">
                <a:solidFill>
                  <a:schemeClr val="bg1"/>
                </a:solidFill>
                <a:latin typeface="Muli" panose="00000500000000000000" pitchFamily="2" charset="0"/>
              </a:rPr>
              <a:t>SAT_83_GRA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DFCDCD0-8712-E6ED-844C-17D3C56E035F}"/>
              </a:ext>
            </a:extLst>
          </p:cNvPr>
          <p:cNvGrpSpPr/>
          <p:nvPr/>
        </p:nvGrpSpPr>
        <p:grpSpPr>
          <a:xfrm>
            <a:off x="3843976" y="3954470"/>
            <a:ext cx="1832400" cy="1047702"/>
            <a:chOff x="9063055" y="2248469"/>
            <a:chExt cx="1832400" cy="1047702"/>
          </a:xfrm>
        </p:grpSpPr>
        <p:sp>
          <p:nvSpPr>
            <p:cNvPr id="101" name="Rectangle 32">
              <a:extLst>
                <a:ext uri="{FF2B5EF4-FFF2-40B4-BE49-F238E27FC236}">
                  <a16:creationId xmlns:a16="http://schemas.microsoft.com/office/drawing/2014/main" id="{08465878-AA29-8227-A917-E7B9D657E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55" y="2248469"/>
              <a:ext cx="1832400" cy="3162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altLang="pt-PT" sz="1000" b="1">
                  <a:solidFill>
                    <a:schemeClr val="bg1"/>
                  </a:solidFill>
                  <a:latin typeface="Muli" panose="00000500000000000000" pitchFamily="2" charset="0"/>
                </a:rPr>
                <a:t>SAT_84_GRA</a:t>
              </a:r>
            </a:p>
          </p:txBody>
        </p:sp>
        <p:sp>
          <p:nvSpPr>
            <p:cNvPr id="102" name="Rectangle 32">
              <a:extLst>
                <a:ext uri="{FF2B5EF4-FFF2-40B4-BE49-F238E27FC236}">
                  <a16:creationId xmlns:a16="http://schemas.microsoft.com/office/drawing/2014/main" id="{873523A4-123A-8C7A-BA46-5FBE421C7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55" y="2614196"/>
              <a:ext cx="1832400" cy="3162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altLang="pt-PT" sz="1000" b="1">
                  <a:solidFill>
                    <a:schemeClr val="bg1"/>
                  </a:solidFill>
                  <a:latin typeface="Muli" panose="00000500000000000000" pitchFamily="2" charset="0"/>
                </a:rPr>
                <a:t>SAT_93_GRA</a:t>
              </a:r>
            </a:p>
          </p:txBody>
        </p:sp>
        <p:sp>
          <p:nvSpPr>
            <p:cNvPr id="103" name="Rectangle 32">
              <a:extLst>
                <a:ext uri="{FF2B5EF4-FFF2-40B4-BE49-F238E27FC236}">
                  <a16:creationId xmlns:a16="http://schemas.microsoft.com/office/drawing/2014/main" id="{B54F1757-F7CD-AC86-361C-9D4FF5BF5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55" y="2979925"/>
              <a:ext cx="1832400" cy="3162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altLang="pt-PT" sz="1000" b="1">
                  <a:solidFill>
                    <a:schemeClr val="bg1"/>
                  </a:solidFill>
                  <a:latin typeface="Muli" panose="00000500000000000000" pitchFamily="2" charset="0"/>
                </a:rPr>
                <a:t>SAT_109_GRA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F797DDE-3886-CC77-5AB4-A3AABDE06259}"/>
              </a:ext>
            </a:extLst>
          </p:cNvPr>
          <p:cNvGrpSpPr/>
          <p:nvPr/>
        </p:nvGrpSpPr>
        <p:grpSpPr>
          <a:xfrm>
            <a:off x="10153385" y="3711505"/>
            <a:ext cx="1075774" cy="1168171"/>
            <a:chOff x="7758789" y="3249324"/>
            <a:chExt cx="1075774" cy="1168171"/>
          </a:xfrm>
        </p:grpSpPr>
        <p:pic>
          <p:nvPicPr>
            <p:cNvPr id="89" name="Graphic 88" descr="Circles with arrows with solid fill">
              <a:extLst>
                <a:ext uri="{FF2B5EF4-FFF2-40B4-BE49-F238E27FC236}">
                  <a16:creationId xmlns:a16="http://schemas.microsoft.com/office/drawing/2014/main" id="{E66A87F9-2DBA-0940-13DB-32077042A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467308" y="3249324"/>
              <a:ext cx="218900" cy="218900"/>
            </a:xfrm>
            <a:prstGeom prst="rect">
              <a:avLst/>
            </a:prstGeom>
          </p:spPr>
        </p:pic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AADBB1A-7677-3EA0-AB7F-7A506F11029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20144" y="3268321"/>
              <a:ext cx="553065" cy="553065"/>
              <a:chOff x="7928764" y="1797786"/>
              <a:chExt cx="736129" cy="736129"/>
            </a:xfrm>
            <a:solidFill>
              <a:schemeClr val="bg1">
                <a:lumMod val="50000"/>
              </a:schemeClr>
            </a:solidFill>
          </p:grpSpPr>
          <p:pic>
            <p:nvPicPr>
              <p:cNvPr id="92" name="Graphic 91" descr="Laptop">
                <a:extLst>
                  <a:ext uri="{FF2B5EF4-FFF2-40B4-BE49-F238E27FC236}">
                    <a16:creationId xmlns:a16="http://schemas.microsoft.com/office/drawing/2014/main" id="{A461FCFB-6A5A-BDA3-AEE5-6DA35B7879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7928764" y="1797786"/>
                <a:ext cx="736129" cy="736129"/>
              </a:xfrm>
              <a:prstGeom prst="rect">
                <a:avLst/>
              </a:prstGeom>
            </p:spPr>
          </p:pic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C62C4A85-3AB9-69C5-1F37-036605D42512}"/>
                  </a:ext>
                </a:extLst>
              </p:cNvPr>
              <p:cNvGrpSpPr/>
              <p:nvPr/>
            </p:nvGrpSpPr>
            <p:grpSpPr>
              <a:xfrm>
                <a:off x="8075683" y="2008034"/>
                <a:ext cx="442290" cy="216000"/>
                <a:chOff x="8071928" y="2008034"/>
                <a:chExt cx="442290" cy="216000"/>
              </a:xfrm>
              <a:grpFill/>
            </p:grpSpPr>
            <p:pic>
              <p:nvPicPr>
                <p:cNvPr id="94" name="Graphic 93" descr="List">
                  <a:extLst>
                    <a:ext uri="{FF2B5EF4-FFF2-40B4-BE49-F238E27FC236}">
                      <a16:creationId xmlns:a16="http://schemas.microsoft.com/office/drawing/2014/main" id="{7D31670C-A71E-72B3-9F40-952BA1562C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8071928" y="2008034"/>
                  <a:ext cx="216000" cy="216000"/>
                </a:xfrm>
                <a:prstGeom prst="rect">
                  <a:avLst/>
                </a:prstGeom>
              </p:spPr>
            </p:pic>
            <p:pic>
              <p:nvPicPr>
                <p:cNvPr id="95" name="Graphic 94" descr="Bar graph with upward trend">
                  <a:extLst>
                    <a:ext uri="{FF2B5EF4-FFF2-40B4-BE49-F238E27FC236}">
                      <a16:creationId xmlns:a16="http://schemas.microsoft.com/office/drawing/2014/main" id="{6CF0A329-22CF-E95D-F068-E0F6DFAB57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/>
                <a:stretch/>
              </p:blipFill>
              <p:spPr>
                <a:xfrm>
                  <a:off x="8298218" y="2008034"/>
                  <a:ext cx="216000" cy="216000"/>
                </a:xfrm>
                <a:prstGeom prst="rect">
                  <a:avLst/>
                </a:prstGeom>
              </p:spPr>
            </p:pic>
          </p:grpSp>
        </p:grpSp>
        <p:sp>
          <p:nvSpPr>
            <p:cNvPr id="91" name="Rectángulo 68">
              <a:extLst>
                <a:ext uri="{FF2B5EF4-FFF2-40B4-BE49-F238E27FC236}">
                  <a16:creationId xmlns:a16="http://schemas.microsoft.com/office/drawing/2014/main" id="{846CFB83-2FA8-3BCD-A051-C11DCD411E09}"/>
                </a:ext>
              </a:extLst>
            </p:cNvPr>
            <p:cNvSpPr/>
            <p:nvPr/>
          </p:nvSpPr>
          <p:spPr>
            <a:xfrm>
              <a:off x="7758789" y="3705934"/>
              <a:ext cx="1075774" cy="711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s-ES" sz="1200" i="1" err="1">
                  <a:solidFill>
                    <a:schemeClr val="tx1"/>
                  </a:solidFill>
                  <a:latin typeface="Muli" panose="00000500000000000000" pitchFamily="2" charset="0"/>
                </a:rPr>
                <a:t>Importação</a:t>
              </a:r>
              <a:r>
                <a:rPr lang="es-ES" sz="1200" i="1">
                  <a:solidFill>
                    <a:schemeClr val="tx1"/>
                  </a:solidFill>
                  <a:latin typeface="Muli" panose="00000500000000000000" pitchFamily="2" charset="0"/>
                </a:rPr>
                <a:t> no Portal Corporativo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D0DA85-E47C-1B65-320E-CCDA8D592410}"/>
              </a:ext>
            </a:extLst>
          </p:cNvPr>
          <p:cNvGrpSpPr/>
          <p:nvPr/>
        </p:nvGrpSpPr>
        <p:grpSpPr>
          <a:xfrm>
            <a:off x="1830657" y="2973614"/>
            <a:ext cx="8241967" cy="323168"/>
            <a:chOff x="6788205" y="1772060"/>
            <a:chExt cx="3859513" cy="323168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22D22A96-E19E-C025-16A6-2C3B7A32AD3E}"/>
                </a:ext>
              </a:extLst>
            </p:cNvPr>
            <p:cNvCxnSpPr>
              <a:cxnSpLocks/>
            </p:cNvCxnSpPr>
            <p:nvPr/>
          </p:nvCxnSpPr>
          <p:spPr>
            <a:xfrm>
              <a:off x="6788205" y="1933644"/>
              <a:ext cx="3859513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ángulo 69">
              <a:extLst>
                <a:ext uri="{FF2B5EF4-FFF2-40B4-BE49-F238E27FC236}">
                  <a16:creationId xmlns:a16="http://schemas.microsoft.com/office/drawing/2014/main" id="{156BB84E-312F-D401-D8BE-BE9DA3F31C77}"/>
                </a:ext>
              </a:extLst>
            </p:cNvPr>
            <p:cNvSpPr/>
            <p:nvPr/>
          </p:nvSpPr>
          <p:spPr>
            <a:xfrm>
              <a:off x="7884017" y="1772060"/>
              <a:ext cx="1667888" cy="32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>
                  <a:solidFill>
                    <a:schemeClr val="tx2"/>
                  </a:solidFill>
                  <a:latin typeface="Muli" panose="00000500000000000000" pitchFamily="2" charset="0"/>
                </a:rPr>
                <a:t>TABELAS </a:t>
              </a:r>
              <a:r>
                <a:rPr lang="en-GB" sz="1200" b="1" i="1">
                  <a:solidFill>
                    <a:schemeClr val="tx2"/>
                  </a:solidFill>
                  <a:latin typeface="Muli" panose="00000500000000000000" pitchFamily="2" charset="0"/>
                </a:rPr>
                <a:t>OUTPUT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828ADD-112A-E376-F99A-04A2F6DF0F29}"/>
              </a:ext>
            </a:extLst>
          </p:cNvPr>
          <p:cNvGrpSpPr/>
          <p:nvPr/>
        </p:nvGrpSpPr>
        <p:grpSpPr>
          <a:xfrm>
            <a:off x="961253" y="1353437"/>
            <a:ext cx="10119552" cy="323168"/>
            <a:chOff x="6689768" y="1772060"/>
            <a:chExt cx="4139594" cy="323168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DC7CC96-E563-DE4E-DFB1-6886D221DE97}"/>
                </a:ext>
              </a:extLst>
            </p:cNvPr>
            <p:cNvCxnSpPr>
              <a:cxnSpLocks/>
            </p:cNvCxnSpPr>
            <p:nvPr/>
          </p:nvCxnSpPr>
          <p:spPr>
            <a:xfrm>
              <a:off x="6689768" y="1933644"/>
              <a:ext cx="413959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ángulo 69">
              <a:extLst>
                <a:ext uri="{FF2B5EF4-FFF2-40B4-BE49-F238E27FC236}">
                  <a16:creationId xmlns:a16="http://schemas.microsoft.com/office/drawing/2014/main" id="{59CDDD1C-99B7-5D43-CA0D-19A41E0B1CA5}"/>
                </a:ext>
              </a:extLst>
            </p:cNvPr>
            <p:cNvSpPr/>
            <p:nvPr/>
          </p:nvSpPr>
          <p:spPr>
            <a:xfrm>
              <a:off x="7538587" y="1772060"/>
              <a:ext cx="2441956" cy="32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>
                  <a:solidFill>
                    <a:schemeClr val="tx2"/>
                  </a:solidFill>
                  <a:latin typeface="Muli" panose="00000500000000000000" pitchFamily="2" charset="0"/>
                </a:rPr>
                <a:t>TABELAS PARAMETRIZAÇÃO </a:t>
              </a:r>
              <a:r>
                <a:rPr lang="en-GB" sz="1200" b="1" i="1">
                  <a:solidFill>
                    <a:schemeClr val="tx2"/>
                  </a:solidFill>
                  <a:latin typeface="Muli" panose="00000500000000000000" pitchFamily="2" charset="0"/>
                </a:rPr>
                <a:t>&amp; INPUTS</a:t>
              </a:r>
            </a:p>
          </p:txBody>
        </p:sp>
      </p:grpSp>
      <p:sp>
        <p:nvSpPr>
          <p:cNvPr id="66" name="Rectángulo 68">
            <a:extLst>
              <a:ext uri="{FF2B5EF4-FFF2-40B4-BE49-F238E27FC236}">
                <a16:creationId xmlns:a16="http://schemas.microsoft.com/office/drawing/2014/main" id="{F7CBD872-8A7B-8795-1FBB-7EB9DDD2A0A4}"/>
              </a:ext>
            </a:extLst>
          </p:cNvPr>
          <p:cNvSpPr/>
          <p:nvPr/>
        </p:nvSpPr>
        <p:spPr>
          <a:xfrm>
            <a:off x="961253" y="1709525"/>
            <a:ext cx="10119552" cy="1051203"/>
          </a:xfrm>
          <a:prstGeom prst="rect">
            <a:avLst/>
          </a:prstGeom>
          <a:solidFill>
            <a:schemeClr val="tx1">
              <a:lumMod val="10000"/>
              <a:lumOff val="90000"/>
              <a:alpha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s-ES" sz="1400" b="1" err="1">
                <a:solidFill>
                  <a:schemeClr val="tx1"/>
                </a:solidFill>
                <a:latin typeface="Muli" panose="00000500000000000000" pitchFamily="2" charset="0"/>
              </a:rPr>
              <a:t>Processo</a:t>
            </a:r>
            <a:r>
              <a:rPr lang="es-ES" sz="1400" b="1">
                <a:solidFill>
                  <a:schemeClr val="tx1"/>
                </a:solidFill>
                <a:latin typeface="Muli" panose="00000500000000000000" pitchFamily="2" charset="0"/>
              </a:rPr>
              <a:t> auxiliar de </a:t>
            </a:r>
            <a:r>
              <a:rPr lang="es-ES" sz="1400" b="1" err="1">
                <a:solidFill>
                  <a:schemeClr val="tx1"/>
                </a:solidFill>
                <a:latin typeface="Muli" panose="00000500000000000000" pitchFamily="2" charset="0"/>
              </a:rPr>
              <a:t>geração</a:t>
            </a:r>
            <a:r>
              <a:rPr lang="es-ES" sz="1400" b="1">
                <a:solidFill>
                  <a:schemeClr val="tx1"/>
                </a:solidFill>
                <a:latin typeface="Muli" panose="00000500000000000000" pitchFamily="2" charset="0"/>
              </a:rPr>
              <a:t> de satélites</a:t>
            </a:r>
            <a:endParaRPr lang="es-ES" sz="110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9370416-1C59-2857-7D98-6682454E2008}"/>
              </a:ext>
            </a:extLst>
          </p:cNvPr>
          <p:cNvGrpSpPr/>
          <p:nvPr/>
        </p:nvGrpSpPr>
        <p:grpSpPr>
          <a:xfrm>
            <a:off x="3443698" y="2149350"/>
            <a:ext cx="5909626" cy="472825"/>
            <a:chOff x="3759518" y="2081923"/>
            <a:chExt cx="5909626" cy="4728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FC77831-6160-3D29-B9B5-F973E6063212}"/>
                </a:ext>
              </a:extLst>
            </p:cNvPr>
            <p:cNvGrpSpPr/>
            <p:nvPr/>
          </p:nvGrpSpPr>
          <p:grpSpPr>
            <a:xfrm>
              <a:off x="3759518" y="2088998"/>
              <a:ext cx="792000" cy="465747"/>
              <a:chOff x="2383707" y="3899036"/>
              <a:chExt cx="792000" cy="465747"/>
            </a:xfrm>
          </p:grpSpPr>
          <p:sp>
            <p:nvSpPr>
              <p:cNvPr id="60" name="CuadroTexto 86">
                <a:extLst>
                  <a:ext uri="{FF2B5EF4-FFF2-40B4-BE49-F238E27FC236}">
                    <a16:creationId xmlns:a16="http://schemas.microsoft.com/office/drawing/2014/main" id="{C003B3AC-427A-EF8B-3694-43F54CF2563E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>
                    <a:solidFill>
                      <a:prstClr val="black"/>
                    </a:solidFill>
                    <a:latin typeface="Muli" panose="00000500000000000000" pitchFamily="2" charset="0"/>
                  </a:rPr>
                  <a:t>LOAN </a:t>
                </a:r>
              </a:p>
              <a:p>
                <a:pPr algn="ctr"/>
                <a:r>
                  <a:rPr lang="es-ES" sz="1050" b="1">
                    <a:solidFill>
                      <a:prstClr val="black"/>
                    </a:solidFill>
                    <a:latin typeface="Muli" panose="00000500000000000000" pitchFamily="2" charset="0"/>
                  </a:rPr>
                  <a:t>TAPE</a:t>
                </a:r>
              </a:p>
            </p:txBody>
          </p:sp>
          <p:grpSp>
            <p:nvGrpSpPr>
              <p:cNvPr id="62" name="Grupo 83">
                <a:extLst>
                  <a:ext uri="{FF2B5EF4-FFF2-40B4-BE49-F238E27FC236}">
                    <a16:creationId xmlns:a16="http://schemas.microsoft.com/office/drawing/2014/main" id="{7C238F04-68AD-9FDE-301D-004189F36665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63" name="Disco magnético 89">
                  <a:extLst>
                    <a:ext uri="{FF2B5EF4-FFF2-40B4-BE49-F238E27FC236}">
                      <a16:creationId xmlns:a16="http://schemas.microsoft.com/office/drawing/2014/main" id="{BB1ED96A-C4D2-A542-A9CE-55FA6D52C902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64" name="Disco magnético 91">
                  <a:extLst>
                    <a:ext uri="{FF2B5EF4-FFF2-40B4-BE49-F238E27FC236}">
                      <a16:creationId xmlns:a16="http://schemas.microsoft.com/office/drawing/2014/main" id="{1B1DA342-8C8F-B765-32DD-84910530872E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65" name="Disco magnético 92">
                  <a:extLst>
                    <a:ext uri="{FF2B5EF4-FFF2-40B4-BE49-F238E27FC236}">
                      <a16:creationId xmlns:a16="http://schemas.microsoft.com/office/drawing/2014/main" id="{3D80DFE2-B4B8-36AD-362F-DFB832CD97EB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21517B7-81EA-5AFB-0DA1-F0C5AEDBF37C}"/>
                </a:ext>
              </a:extLst>
            </p:cNvPr>
            <p:cNvGrpSpPr/>
            <p:nvPr/>
          </p:nvGrpSpPr>
          <p:grpSpPr>
            <a:xfrm>
              <a:off x="5038924" y="2089000"/>
              <a:ext cx="792000" cy="465747"/>
              <a:chOff x="2383707" y="3899036"/>
              <a:chExt cx="792000" cy="465747"/>
            </a:xfrm>
          </p:grpSpPr>
          <p:sp>
            <p:nvSpPr>
              <p:cNvPr id="54" name="CuadroTexto 86">
                <a:extLst>
                  <a:ext uri="{FF2B5EF4-FFF2-40B4-BE49-F238E27FC236}">
                    <a16:creationId xmlns:a16="http://schemas.microsoft.com/office/drawing/2014/main" id="{9635F9B9-2A89-7B4D-8EA2-FD9D772B87B0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>
                    <a:solidFill>
                      <a:prstClr val="black"/>
                    </a:solidFill>
                    <a:latin typeface="Muli" panose="00000500000000000000" pitchFamily="2" charset="0"/>
                  </a:rPr>
                  <a:t>MODELO VERDE</a:t>
                </a:r>
              </a:p>
            </p:txBody>
          </p:sp>
          <p:grpSp>
            <p:nvGrpSpPr>
              <p:cNvPr id="55" name="Grupo 83">
                <a:extLst>
                  <a:ext uri="{FF2B5EF4-FFF2-40B4-BE49-F238E27FC236}">
                    <a16:creationId xmlns:a16="http://schemas.microsoft.com/office/drawing/2014/main" id="{B7339256-2559-6923-85A7-B483F17281BB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57" name="Disco magnético 89">
                  <a:extLst>
                    <a:ext uri="{FF2B5EF4-FFF2-40B4-BE49-F238E27FC236}">
                      <a16:creationId xmlns:a16="http://schemas.microsoft.com/office/drawing/2014/main" id="{DAB43ED2-1211-4B8A-A4E0-0D5B0AF7FD2B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58" name="Disco magnético 91">
                  <a:extLst>
                    <a:ext uri="{FF2B5EF4-FFF2-40B4-BE49-F238E27FC236}">
                      <a16:creationId xmlns:a16="http://schemas.microsoft.com/office/drawing/2014/main" id="{78B457C3-BBAB-5C74-ECB8-E7925C7D9941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59" name="Disco magnético 92">
                  <a:extLst>
                    <a:ext uri="{FF2B5EF4-FFF2-40B4-BE49-F238E27FC236}">
                      <a16:creationId xmlns:a16="http://schemas.microsoft.com/office/drawing/2014/main" id="{E5DC519B-33CD-DF4B-5B88-FA970424B846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3F08810-7B5E-4445-865F-6B0EDC7BB1CB}"/>
                </a:ext>
              </a:extLst>
            </p:cNvPr>
            <p:cNvGrpSpPr/>
            <p:nvPr/>
          </p:nvGrpSpPr>
          <p:grpSpPr>
            <a:xfrm>
              <a:off x="6318330" y="2089001"/>
              <a:ext cx="792000" cy="465747"/>
              <a:chOff x="2383707" y="3899036"/>
              <a:chExt cx="792000" cy="465747"/>
            </a:xfrm>
          </p:grpSpPr>
          <p:sp>
            <p:nvSpPr>
              <p:cNvPr id="39" name="CuadroTexto 86">
                <a:extLst>
                  <a:ext uri="{FF2B5EF4-FFF2-40B4-BE49-F238E27FC236}">
                    <a16:creationId xmlns:a16="http://schemas.microsoft.com/office/drawing/2014/main" id="{0917D096-2F9A-A182-CFC4-4F32B2941718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>
                    <a:solidFill>
                      <a:prstClr val="black"/>
                    </a:solidFill>
                    <a:latin typeface="Muli" panose="00000500000000000000" pitchFamily="2" charset="0"/>
                  </a:rPr>
                  <a:t>BENS IMÓVEIS</a:t>
                </a:r>
              </a:p>
            </p:txBody>
          </p:sp>
          <p:grpSp>
            <p:nvGrpSpPr>
              <p:cNvPr id="40" name="Grupo 83">
                <a:extLst>
                  <a:ext uri="{FF2B5EF4-FFF2-40B4-BE49-F238E27FC236}">
                    <a16:creationId xmlns:a16="http://schemas.microsoft.com/office/drawing/2014/main" id="{9B8B55C7-0FA7-F94F-5833-6F5D149BAF4B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43" name="Disco magnético 89">
                  <a:extLst>
                    <a:ext uri="{FF2B5EF4-FFF2-40B4-BE49-F238E27FC236}">
                      <a16:creationId xmlns:a16="http://schemas.microsoft.com/office/drawing/2014/main" id="{87438567-693B-FB10-14B9-770C9CF6C816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50" name="Disco magnético 91">
                  <a:extLst>
                    <a:ext uri="{FF2B5EF4-FFF2-40B4-BE49-F238E27FC236}">
                      <a16:creationId xmlns:a16="http://schemas.microsoft.com/office/drawing/2014/main" id="{C7911991-0951-9402-3761-719F739B2E85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53" name="Disco magnético 92">
                  <a:extLst>
                    <a:ext uri="{FF2B5EF4-FFF2-40B4-BE49-F238E27FC236}">
                      <a16:creationId xmlns:a16="http://schemas.microsoft.com/office/drawing/2014/main" id="{0661B01E-882F-D603-C724-44D8C9D4A7D0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5011BFA-A584-0B4C-FF27-16D0DAAA37F2}"/>
                </a:ext>
              </a:extLst>
            </p:cNvPr>
            <p:cNvGrpSpPr/>
            <p:nvPr/>
          </p:nvGrpSpPr>
          <p:grpSpPr>
            <a:xfrm>
              <a:off x="8877144" y="2089001"/>
              <a:ext cx="792000" cy="465742"/>
              <a:chOff x="2383707" y="4434530"/>
              <a:chExt cx="792000" cy="465742"/>
            </a:xfrm>
          </p:grpSpPr>
          <p:grpSp>
            <p:nvGrpSpPr>
              <p:cNvPr id="31" name="Grupo 83">
                <a:extLst>
                  <a:ext uri="{FF2B5EF4-FFF2-40B4-BE49-F238E27FC236}">
                    <a16:creationId xmlns:a16="http://schemas.microsoft.com/office/drawing/2014/main" id="{1C2E0349-C30F-5FB7-BDB5-7A1D917775FB}"/>
                  </a:ext>
                </a:extLst>
              </p:cNvPr>
              <p:cNvGrpSpPr/>
              <p:nvPr/>
            </p:nvGrpSpPr>
            <p:grpSpPr>
              <a:xfrm>
                <a:off x="2491148" y="4684272"/>
                <a:ext cx="577911" cy="216000"/>
                <a:chOff x="8038758" y="3835908"/>
                <a:chExt cx="1282700" cy="1173653"/>
              </a:xfrm>
              <a:solidFill>
                <a:srgbClr val="FF0000"/>
              </a:solidFill>
            </p:grpSpPr>
            <p:sp>
              <p:nvSpPr>
                <p:cNvPr id="36" name="Disco magnético 89">
                  <a:extLst>
                    <a:ext uri="{FF2B5EF4-FFF2-40B4-BE49-F238E27FC236}">
                      <a16:creationId xmlns:a16="http://schemas.microsoft.com/office/drawing/2014/main" id="{CC7E44E1-48B7-379A-F043-6F75014C62D9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37" name="Disco magnético 91">
                  <a:extLst>
                    <a:ext uri="{FF2B5EF4-FFF2-40B4-BE49-F238E27FC236}">
                      <a16:creationId xmlns:a16="http://schemas.microsoft.com/office/drawing/2014/main" id="{5FCB791A-816D-1F24-4307-15E5C5E2BA93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38" name="Disco magnético 92">
                  <a:extLst>
                    <a:ext uri="{FF2B5EF4-FFF2-40B4-BE49-F238E27FC236}">
                      <a16:creationId xmlns:a16="http://schemas.microsoft.com/office/drawing/2014/main" id="{0D5269BD-0CD2-8615-1467-B1851B406953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</p:grpSp>
          <p:sp>
            <p:nvSpPr>
              <p:cNvPr id="35" name="CuadroTexto 86">
                <a:extLst>
                  <a:ext uri="{FF2B5EF4-FFF2-40B4-BE49-F238E27FC236}">
                    <a16:creationId xmlns:a16="http://schemas.microsoft.com/office/drawing/2014/main" id="{78EE38FC-5FE0-71AB-C947-18F3EBD05130}"/>
                  </a:ext>
                </a:extLst>
              </p:cNvPr>
              <p:cNvSpPr txBox="1"/>
              <p:nvPr/>
            </p:nvSpPr>
            <p:spPr>
              <a:xfrm>
                <a:off x="2383707" y="4434530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>
                    <a:solidFill>
                      <a:prstClr val="black"/>
                    </a:solidFill>
                    <a:latin typeface="Muli" panose="00000500000000000000" pitchFamily="2" charset="0"/>
                  </a:rPr>
                  <a:t>(…)</a:t>
                </a: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026DF6C8-673E-CD1F-A912-9A2AC1F413DC}"/>
                </a:ext>
              </a:extLst>
            </p:cNvPr>
            <p:cNvGrpSpPr/>
            <p:nvPr/>
          </p:nvGrpSpPr>
          <p:grpSpPr>
            <a:xfrm>
              <a:off x="7597737" y="2081923"/>
              <a:ext cx="792000" cy="465747"/>
              <a:chOff x="2383707" y="3899036"/>
              <a:chExt cx="792000" cy="465747"/>
            </a:xfrm>
          </p:grpSpPr>
          <p:sp>
            <p:nvSpPr>
              <p:cNvPr id="116" name="CuadroTexto 86">
                <a:extLst>
                  <a:ext uri="{FF2B5EF4-FFF2-40B4-BE49-F238E27FC236}">
                    <a16:creationId xmlns:a16="http://schemas.microsoft.com/office/drawing/2014/main" id="{12CA7E45-5D06-6D16-EB52-9DEC1EC07F32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>
                    <a:solidFill>
                      <a:prstClr val="black"/>
                    </a:solidFill>
                    <a:latin typeface="Muli" panose="00000500000000000000" pitchFamily="2" charset="0"/>
                  </a:rPr>
                  <a:t>MUG</a:t>
                </a:r>
              </a:p>
            </p:txBody>
          </p:sp>
          <p:grpSp>
            <p:nvGrpSpPr>
              <p:cNvPr id="117" name="Grupo 83">
                <a:extLst>
                  <a:ext uri="{FF2B5EF4-FFF2-40B4-BE49-F238E27FC236}">
                    <a16:creationId xmlns:a16="http://schemas.microsoft.com/office/drawing/2014/main" id="{0FE30F22-FEE0-8595-F24E-DDB9985488AB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118" name="Disco magnético 89">
                  <a:extLst>
                    <a:ext uri="{FF2B5EF4-FFF2-40B4-BE49-F238E27FC236}">
                      <a16:creationId xmlns:a16="http://schemas.microsoft.com/office/drawing/2014/main" id="{C83301AB-9075-DBEC-F41A-DEDE5D531A80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19" name="Disco magnético 91">
                  <a:extLst>
                    <a:ext uri="{FF2B5EF4-FFF2-40B4-BE49-F238E27FC236}">
                      <a16:creationId xmlns:a16="http://schemas.microsoft.com/office/drawing/2014/main" id="{8C57DA28-26A7-2C65-10A9-974B3F7124EF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20" name="Disco magnético 92">
                  <a:extLst>
                    <a:ext uri="{FF2B5EF4-FFF2-40B4-BE49-F238E27FC236}">
                      <a16:creationId xmlns:a16="http://schemas.microsoft.com/office/drawing/2014/main" id="{C552F706-FF29-5DCA-C0F3-F8F09B17887B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</p:grpSp>
        </p:grpSp>
      </p:grpSp>
      <p:sp>
        <p:nvSpPr>
          <p:cNvPr id="123" name="Arrow: Bent 122">
            <a:extLst>
              <a:ext uri="{FF2B5EF4-FFF2-40B4-BE49-F238E27FC236}">
                <a16:creationId xmlns:a16="http://schemas.microsoft.com/office/drawing/2014/main" id="{0AACEAB9-B9B5-0F23-5079-C83B84AA2000}"/>
              </a:ext>
            </a:extLst>
          </p:cNvPr>
          <p:cNvSpPr/>
          <p:nvPr/>
        </p:nvSpPr>
        <p:spPr>
          <a:xfrm rot="10800000" flipH="1">
            <a:off x="1053846" y="2791554"/>
            <a:ext cx="668683" cy="938947"/>
          </a:xfrm>
          <a:prstGeom prst="bentArrow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25" name="Arrow: Pentagon 124">
            <a:extLst>
              <a:ext uri="{FF2B5EF4-FFF2-40B4-BE49-F238E27FC236}">
                <a16:creationId xmlns:a16="http://schemas.microsoft.com/office/drawing/2014/main" id="{EF3F279F-226D-4EB4-5D88-E4AF35F276A6}"/>
              </a:ext>
            </a:extLst>
          </p:cNvPr>
          <p:cNvSpPr/>
          <p:nvPr/>
        </p:nvSpPr>
        <p:spPr>
          <a:xfrm>
            <a:off x="5818134" y="3416906"/>
            <a:ext cx="101585" cy="1757368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6" name="Arrow: Pentagon 125">
            <a:extLst>
              <a:ext uri="{FF2B5EF4-FFF2-40B4-BE49-F238E27FC236}">
                <a16:creationId xmlns:a16="http://schemas.microsoft.com/office/drawing/2014/main" id="{812F11DE-2E8A-6A74-6C6E-14A3050978D4}"/>
              </a:ext>
            </a:extLst>
          </p:cNvPr>
          <p:cNvSpPr/>
          <p:nvPr/>
        </p:nvSpPr>
        <p:spPr>
          <a:xfrm>
            <a:off x="9971039" y="3416906"/>
            <a:ext cx="101585" cy="1757368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280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610DF9-235C-4C23-9244-E5B334115C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/>
              <a:t>Planeamento e Organização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6F610D-97D9-4035-8AAA-3BC2EA7D14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6067" y="1076423"/>
            <a:ext cx="10774923" cy="419662"/>
          </a:xfrm>
        </p:spPr>
        <p:txBody>
          <a:bodyPr/>
          <a:lstStyle/>
          <a:p>
            <a:r>
              <a:rPr lang="pt-PT" sz="1200" dirty="0">
                <a:solidFill>
                  <a:srgbClr val="003E51"/>
                </a:solidFill>
                <a:latin typeface="Muli Light" panose="00000400000000000000" pitchFamily="2" charset="0"/>
              </a:rPr>
              <a:t>A duração estimada para o projeto sob o âmbito de Implementação Satélites Corporativos de ESG em Pilar III &amp; SREP/STE</a:t>
            </a:r>
            <a:r>
              <a:rPr lang="pt-PT" b="1" dirty="0"/>
              <a:t> </a:t>
            </a:r>
            <a:r>
              <a:rPr lang="pt-PT" sz="1200" dirty="0">
                <a:solidFill>
                  <a:srgbClr val="003E51"/>
                </a:solidFill>
                <a:latin typeface="Muli Light" panose="00000400000000000000" pitchFamily="2" charset="0"/>
              </a:rPr>
              <a:t>de acordo com o seguinte plano:</a:t>
            </a:r>
            <a:endParaRPr lang="pt-PT" sz="1200" b="1" dirty="0">
              <a:solidFill>
                <a:srgbClr val="003E51"/>
              </a:solidFill>
              <a:latin typeface="Muli Light" panose="000004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444E94-A4AF-4DB5-900B-F2E5E122CB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/>
              <a:t>Planeamento</a:t>
            </a:r>
            <a:endParaRPr lang="pt-PT" sz="1300"/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49907"/>
            <a:chOff x="2854175" y="6420579"/>
            <a:chExt cx="3328407" cy="249907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4990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" panose="00000500000000000000" pitchFamily="2" charset="0"/>
                  <a:ea typeface="+mn-ea"/>
                  <a:cs typeface="+mn-cs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79"/>
              <a:ext cx="1276444" cy="234136"/>
              <a:chOff x="1747576" y="6428650"/>
              <a:chExt cx="1276610" cy="234167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34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Muli" panose="00000500000000000000" pitchFamily="2" charset="0"/>
                    <a:ea typeface="+mn-ea"/>
                    <a:cs typeface="+mn-cs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Muli" panose="00000500000000000000" pitchFamily="2" charset="0"/>
                    <a:ea typeface="+mn-ea"/>
                    <a:cs typeface="+mn-cs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" panose="00000500000000000000" pitchFamily="2" charset="0"/>
                  <a:ea typeface="+mn-ea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34136"/>
              <a:chOff x="3406519" y="6432511"/>
              <a:chExt cx="1271682" cy="234136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" panose="00000500000000000000" pitchFamily="2" charset="0"/>
                  <a:ea typeface="+mn-ea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34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Muli" panose="00000500000000000000" pitchFamily="2" charset="0"/>
                    <a:ea typeface="+mn-ea"/>
                    <a:cs typeface="+mn-cs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  <a:cs typeface="+mn-cs"/>
                  <a:sym typeface="Helvetica Light"/>
                </a:endParaRPr>
              </a:p>
            </p:txBody>
          </p:sp>
        </p:grpSp>
      </p:grp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Muli" panose="00000500000000000000" pitchFamily="2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Muli" panose="00000500000000000000" pitchFamily="2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585171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1" name="Diamond 230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42430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Muli" panose="00000500000000000000" pitchFamily="2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839313" y="1922112"/>
            <a:ext cx="1418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Muli" panose="00000500000000000000" pitchFamily="2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268850" y="1922112"/>
            <a:ext cx="1274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Muli" panose="00000500000000000000" pitchFamily="2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147348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Muli Light" panose="00000400000000000000" pitchFamily="2" charset="0"/>
              </a:rPr>
              <a:t>Hoje – 1/abril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Muli Light" panose="00000400000000000000" pitchFamily="2" charset="0"/>
              </a:rPr>
              <a:t>25/julho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554387" y="1922112"/>
            <a:ext cx="127439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Muli" panose="00000500000000000000" pitchFamily="2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4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Muli" panose="00000500000000000000" pitchFamily="2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Muli" panose="00000500000000000000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4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Muli" panose="00000500000000000000" pitchFamily="2" charset="0"/>
              </a:rPr>
              <a:t>Geração de </a:t>
            </a:r>
            <a:r>
              <a:rPr lang="pt-PT" sz="1000" b="1" i="1" kern="1200">
                <a:solidFill>
                  <a:srgbClr val="003E51"/>
                </a:solidFill>
                <a:latin typeface="Muli" panose="00000500000000000000" pitchFamily="2" charset="0"/>
              </a:rPr>
              <a:t>Scripts</a:t>
            </a:r>
            <a:r>
              <a:rPr lang="pt-PT" sz="1000" b="1" kern="1200">
                <a:solidFill>
                  <a:srgbClr val="003E51"/>
                </a:solidFill>
                <a:latin typeface="Muli" panose="00000500000000000000" pitchFamily="2" charset="0"/>
              </a:rPr>
              <a:t> &amp; Satélites Corporativos</a:t>
            </a:r>
            <a:endParaRPr lang="en-US" sz="1000" b="1" kern="1200">
              <a:solidFill>
                <a:srgbClr val="003E51"/>
              </a:solidFill>
              <a:latin typeface="Muli" panose="000005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/>
              <a:t>Satélites Granulares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/>
              <a:t>Satélites Agregados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/>
              <a:t>Validações, testes &amp; </a:t>
            </a:r>
            <a:r>
              <a:rPr lang="pt-PT" sz="1050" err="1"/>
              <a:t>re-testes</a:t>
            </a:r>
            <a:endParaRPr lang="pt-PT" sz="10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2" y="3001691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2" y="3216332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Muli" panose="00000500000000000000" pitchFamily="2" charset="0"/>
              </a:rPr>
              <a:t>Realização de paralelo com o reporte de dezembro de 2024</a:t>
            </a:r>
            <a:endParaRPr lang="en-US" sz="1000" b="1" kern="1200">
              <a:solidFill>
                <a:srgbClr val="003E51"/>
              </a:solidFill>
              <a:latin typeface="Muli" panose="00000500000000000000" pitchFamily="2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9767641" y="3735744"/>
            <a:ext cx="31707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6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Muli" panose="00000500000000000000" pitchFamily="2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Muli" panose="00000500000000000000" pitchFamily="2" charset="0"/>
            </a:endParaRPr>
          </a:p>
        </p:txBody>
      </p:sp>
      <p:sp>
        <p:nvSpPr>
          <p:cNvPr id="71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Muli" panose="00000500000000000000" pitchFamily="2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Muli" panose="00000500000000000000" pitchFamily="2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Light" panose="00000400000000000000" pitchFamily="2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D52EAB-5923-D107-2392-16243FA8ECCE}"/>
              </a:ext>
            </a:extLst>
          </p:cNvPr>
          <p:cNvGrpSpPr/>
          <p:nvPr/>
        </p:nvGrpSpPr>
        <p:grpSpPr>
          <a:xfrm>
            <a:off x="5451290" y="1799567"/>
            <a:ext cx="108000" cy="2772000"/>
            <a:chOff x="3546168" y="1579821"/>
            <a:chExt cx="108000" cy="443402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F2EC365-7791-604A-1681-A658BD989F1F}"/>
                </a:ext>
              </a:extLst>
            </p:cNvPr>
            <p:cNvCxnSpPr>
              <a:cxnSpLocks/>
            </p:cNvCxnSpPr>
            <p:nvPr/>
          </p:nvCxnSpPr>
          <p:spPr>
            <a:xfrm>
              <a:off x="3598392" y="1621841"/>
              <a:ext cx="21137" cy="4392000"/>
            </a:xfrm>
            <a:prstGeom prst="lin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</a:ln>
            <a:effectLst/>
          </p:spPr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1FAF1F6-88D3-9119-2BED-434DA4001BD6}"/>
                </a:ext>
              </a:extLst>
            </p:cNvPr>
            <p:cNvSpPr/>
            <p:nvPr/>
          </p:nvSpPr>
          <p:spPr>
            <a:xfrm>
              <a:off x="3546168" y="1579821"/>
              <a:ext cx="108000" cy="108000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1077925">
                <a:defRPr/>
              </a:pPr>
              <a:endParaRPr lang="pt-PT" sz="1300" kern="0">
                <a:solidFill>
                  <a:srgbClr val="FFFF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8373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DF26E7-3ECC-4F4D-A649-9AD02EA564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/>
              <a:t>Planeamento e Organização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BD29A-B660-42E8-9E7A-885EBFF129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/>
              <a:t>Equipa de projeto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339DC7-0DF5-2DEE-7855-63A8D0EC0959}"/>
              </a:ext>
            </a:extLst>
          </p:cNvPr>
          <p:cNvGrpSpPr/>
          <p:nvPr/>
        </p:nvGrpSpPr>
        <p:grpSpPr>
          <a:xfrm>
            <a:off x="1058700" y="1540824"/>
            <a:ext cx="10071236" cy="4407313"/>
            <a:chOff x="1058700" y="1845618"/>
            <a:chExt cx="10071236" cy="4407313"/>
          </a:xfrm>
        </p:grpSpPr>
        <p:sp>
          <p:nvSpPr>
            <p:cNvPr id="9" name="Rectangle 61">
              <a:extLst>
                <a:ext uri="{FF2B5EF4-FFF2-40B4-BE49-F238E27FC236}">
                  <a16:creationId xmlns:a16="http://schemas.microsoft.com/office/drawing/2014/main" id="{00403AC9-4956-8396-B62E-BB2E6AE53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4099" y="1845618"/>
              <a:ext cx="9015837" cy="2500320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9FD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91406" tIns="45703" rIns="91406" bIns="45703"/>
            <a:lstStyle/>
            <a:p>
              <a:pPr marL="0" marR="0" lvl="0" indent="0" defTabSz="412629" eaLnBrk="0" fontAlgn="auto" latinLnBrk="0" hangingPunct="1">
                <a:lnSpc>
                  <a:spcPct val="110000"/>
                </a:lnSpc>
                <a:spcBef>
                  <a:spcPct val="30000"/>
                </a:spcBef>
                <a:spcAft>
                  <a:spcPct val="30000"/>
                </a:spcAft>
                <a:buClr>
                  <a:srgbClr val="000000"/>
                </a:buClr>
                <a:buSzPct val="90000"/>
                <a:buFont typeface="Arial Unicode MS" pitchFamily="34" charset="-128"/>
                <a:buChar char="■"/>
                <a:tabLst/>
                <a:defRPr/>
              </a:pPr>
              <a:endParaRPr kumimoji="0" lang="pt-PT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1" name="Rectangle 63">
              <a:extLst>
                <a:ext uri="{FF2B5EF4-FFF2-40B4-BE49-F238E27FC236}">
                  <a16:creationId xmlns:a16="http://schemas.microsoft.com/office/drawing/2014/main" id="{0BB65B0C-BC55-9CFE-D56F-4F245E4E2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476" y="3021297"/>
              <a:ext cx="9385402" cy="3231634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3E51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91406" tIns="45703" rIns="91406" bIns="45703"/>
            <a:lstStyle/>
            <a:p>
              <a:pPr marL="0" marR="0" lvl="0" indent="0" defTabSz="412629" eaLnBrk="0" fontAlgn="auto" latinLnBrk="0" hangingPunct="1">
                <a:lnSpc>
                  <a:spcPct val="110000"/>
                </a:lnSpc>
                <a:spcBef>
                  <a:spcPct val="30000"/>
                </a:spcBef>
                <a:spcAft>
                  <a:spcPct val="30000"/>
                </a:spcAft>
                <a:buClr>
                  <a:srgbClr val="000000"/>
                </a:buClr>
                <a:buSzPct val="90000"/>
                <a:buFont typeface="Arial Unicode MS" pitchFamily="34" charset="-128"/>
                <a:buChar char="■"/>
                <a:tabLst/>
                <a:defRPr/>
              </a:pPr>
              <a:endParaRPr kumimoji="0" lang="pt-PT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+mn-cs"/>
              </a:endParaRPr>
            </a:p>
          </p:txBody>
        </p:sp>
        <p:cxnSp>
          <p:nvCxnSpPr>
            <p:cNvPr id="14" name="Straight Connector 57">
              <a:extLst>
                <a:ext uri="{FF2B5EF4-FFF2-40B4-BE49-F238E27FC236}">
                  <a16:creationId xmlns:a16="http://schemas.microsoft.com/office/drawing/2014/main" id="{AEE0178A-6F2A-497B-6CD1-EB90C62143C8}"/>
                </a:ext>
              </a:extLst>
            </p:cNvPr>
            <p:cNvCxnSpPr>
              <a:cxnSpLocks noChangeShapeType="1"/>
              <a:stCxn id="36" idx="2"/>
              <a:endCxn id="40" idx="0"/>
            </p:cNvCxnSpPr>
            <p:nvPr>
              <p:custDataLst>
                <p:tags r:id="rId1"/>
              </p:custDataLst>
            </p:nvPr>
          </p:nvCxnSpPr>
          <p:spPr bwMode="auto">
            <a:xfrm>
              <a:off x="5847516" y="3037504"/>
              <a:ext cx="253" cy="99327"/>
            </a:xfrm>
            <a:prstGeom prst="line">
              <a:avLst/>
            </a:prstGeom>
            <a:noFill/>
            <a:ln w="9525" algn="ctr">
              <a:solidFill>
                <a:srgbClr val="747474"/>
              </a:solidFill>
              <a:round/>
              <a:headEnd/>
              <a:tailEnd/>
            </a:ln>
          </p:spPr>
        </p:cxnSp>
        <p:cxnSp>
          <p:nvCxnSpPr>
            <p:cNvPr id="35" name="Straight Connector 58">
              <a:extLst>
                <a:ext uri="{FF2B5EF4-FFF2-40B4-BE49-F238E27FC236}">
                  <a16:creationId xmlns:a16="http://schemas.microsoft.com/office/drawing/2014/main" id="{07B3855A-2B73-5B6E-7985-328921488A48}"/>
                </a:ext>
              </a:extLst>
            </p:cNvPr>
            <p:cNvCxnSpPr>
              <a:cxnSpLocks noChangeShapeType="1"/>
              <a:stCxn id="38" idx="2"/>
            </p:cNvCxnSpPr>
            <p:nvPr>
              <p:custDataLst>
                <p:tags r:id="rId2"/>
              </p:custDataLst>
            </p:nvPr>
          </p:nvCxnSpPr>
          <p:spPr bwMode="auto">
            <a:xfrm>
              <a:off x="5847516" y="4312510"/>
              <a:ext cx="29" cy="147388"/>
            </a:xfrm>
            <a:prstGeom prst="line">
              <a:avLst/>
            </a:prstGeom>
            <a:noFill/>
            <a:ln w="9525" algn="ctr">
              <a:solidFill>
                <a:srgbClr val="747474"/>
              </a:solidFill>
              <a:round/>
              <a:headEnd/>
              <a:tailEnd/>
            </a:ln>
          </p:spPr>
        </p:cxnSp>
        <p:sp>
          <p:nvSpPr>
            <p:cNvPr id="36" name="Rectangle 64">
              <a:extLst>
                <a:ext uri="{FF2B5EF4-FFF2-40B4-BE49-F238E27FC236}">
                  <a16:creationId xmlns:a16="http://schemas.microsoft.com/office/drawing/2014/main" id="{4C4F8FF8-3325-BB1A-F2E7-A528C490AE9E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157221" y="2346941"/>
              <a:ext cx="3380589" cy="690563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lIns="91406" tIns="45703" rIns="91406" bIns="45703" anchor="t">
              <a:noAutofit/>
            </a:bodyPr>
            <a:lstStyle/>
            <a:p>
              <a:pPr marL="0" marR="0" lvl="0" indent="0" defTabSz="41262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Text Box 73">
              <a:extLst>
                <a:ext uri="{FF2B5EF4-FFF2-40B4-BE49-F238E27FC236}">
                  <a16:creationId xmlns:a16="http://schemas.microsoft.com/office/drawing/2014/main" id="{925CA16C-5C21-738F-7B29-86A8D4F21C73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143032" y="2665300"/>
              <a:ext cx="1052424" cy="248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7164" tIns="46783" rIns="97164" bIns="46783">
              <a:spAutoFit/>
            </a:bodyPr>
            <a:lstStyle/>
            <a:p>
              <a:pPr defTabSz="412629" eaLnBrk="0">
                <a:defRPr/>
              </a:pPr>
              <a:r>
                <a:rPr lang="pt-PT" sz="1000" i="1">
                  <a:solidFill>
                    <a:srgbClr val="003E51"/>
                  </a:solidFill>
                  <a:latin typeface="Muli" panose="00000500000000000000" pitchFamily="2" charset="0"/>
                  <a:cs typeface="Arial" panose="020B0604020202020204" pitchFamily="34" charset="0"/>
                </a:rPr>
                <a:t>Luís Godinho</a:t>
              </a:r>
            </a:p>
          </p:txBody>
        </p:sp>
        <p:sp>
          <p:nvSpPr>
            <p:cNvPr id="38" name="Rectangle 69">
              <a:extLst>
                <a:ext uri="{FF2B5EF4-FFF2-40B4-BE49-F238E27FC236}">
                  <a16:creationId xmlns:a16="http://schemas.microsoft.com/office/drawing/2014/main" id="{4D8508D3-9302-190C-19AD-FE9F80BD8E25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157221" y="3380968"/>
              <a:ext cx="3380589" cy="93154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lIns="91406" tIns="45703" rIns="91406" bIns="45703" anchor="t">
              <a:noAutofit/>
            </a:bodyPr>
            <a:lstStyle/>
            <a:p>
              <a:pPr marL="0" marR="0" lvl="0" indent="0" defTabSz="41262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9" name="Text Box 79">
              <a:extLst>
                <a:ext uri="{FF2B5EF4-FFF2-40B4-BE49-F238E27FC236}">
                  <a16:creationId xmlns:a16="http://schemas.microsoft.com/office/drawing/2014/main" id="{A4845DE5-E9FF-96F6-3585-6A36CCF4914F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111073" y="3780258"/>
              <a:ext cx="1116349" cy="248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7164" tIns="46783" rIns="97164" bIns="46783">
              <a:spAutoFit/>
            </a:bodyPr>
            <a:lstStyle/>
            <a:p>
              <a:pPr defTabSz="412629" eaLnBrk="0">
                <a:defRPr/>
              </a:pPr>
              <a:r>
                <a:rPr lang="pt-PT" sz="1000" i="1" dirty="0">
                  <a:solidFill>
                    <a:srgbClr val="003E51"/>
                  </a:solidFill>
                  <a:latin typeface="Muli" panose="00000500000000000000" pitchFamily="2" charset="0"/>
                  <a:cs typeface="Arial" panose="020B0604020202020204" pitchFamily="34" charset="0"/>
                </a:rPr>
                <a:t>Diogo Escaleira</a:t>
              </a:r>
            </a:p>
          </p:txBody>
        </p:sp>
        <p:sp>
          <p:nvSpPr>
            <p:cNvPr id="40" name="Text Box 84">
              <a:extLst>
                <a:ext uri="{FF2B5EF4-FFF2-40B4-BE49-F238E27FC236}">
                  <a16:creationId xmlns:a16="http://schemas.microsoft.com/office/drawing/2014/main" id="{96987068-AB23-FEA6-A458-200690D9CAF1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157724" y="3136828"/>
              <a:ext cx="3380084" cy="289638"/>
            </a:xfrm>
            <a:prstGeom prst="rect">
              <a:avLst/>
            </a:prstGeom>
            <a:solidFill>
              <a:srgbClr val="003E51"/>
            </a:solidFill>
            <a:ln w="3175" cap="flat" cmpd="sng" algn="ctr">
              <a:solidFill>
                <a:srgbClr val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91406" tIns="45703" rIns="91406" bIns="45703" anchor="ctr"/>
            <a:lstStyle/>
            <a:p>
              <a:pPr marL="0" marR="0" lvl="0" indent="0" defTabSz="766665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" panose="00000500000000000000" pitchFamily="2" charset="0"/>
                  <a:ea typeface="+mn-ea"/>
                  <a:cs typeface="Arial" panose="020B0604020202020204" pitchFamily="34" charset="0"/>
                </a:rPr>
                <a:t>Comité operacional</a:t>
              </a:r>
              <a:endParaRPr kumimoji="0" lang="en-US" sz="10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1" name="Text Box 74">
              <a:extLst>
                <a:ext uri="{FF2B5EF4-FFF2-40B4-BE49-F238E27FC236}">
                  <a16:creationId xmlns:a16="http://schemas.microsoft.com/office/drawing/2014/main" id="{EC4F49A5-F3FB-53F6-3F35-BAD06751CA99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187516" y="3780258"/>
              <a:ext cx="1650287" cy="248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7164" tIns="46783" rIns="97164" bIns="46783">
              <a:spAutoFit/>
            </a:bodyPr>
            <a:lstStyle/>
            <a:p>
              <a:pPr defTabSz="412629" eaLnBrk="0">
                <a:defRPr/>
              </a:pPr>
              <a:r>
                <a:rPr lang="pt-PT" sz="1000" i="1">
                  <a:solidFill>
                    <a:srgbClr val="003E51"/>
                  </a:solidFill>
                  <a:latin typeface="Muli" panose="00000500000000000000" pitchFamily="2" charset="0"/>
                  <a:cs typeface="Arial" panose="020B0604020202020204" pitchFamily="34" charset="0"/>
                </a:rPr>
                <a:t>Susana Bernardo</a:t>
              </a:r>
            </a:p>
          </p:txBody>
        </p:sp>
        <p:sp>
          <p:nvSpPr>
            <p:cNvPr id="42" name="Rectangle 65">
              <a:extLst>
                <a:ext uri="{FF2B5EF4-FFF2-40B4-BE49-F238E27FC236}">
                  <a16:creationId xmlns:a16="http://schemas.microsoft.com/office/drawing/2014/main" id="{AF678C78-53A2-8A26-E6D1-25EE9B69D488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744535" y="4711026"/>
              <a:ext cx="8227668" cy="146677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91406" tIns="45703" rIns="91406" bIns="45703" anchor="t">
              <a:noAutofit/>
            </a:bodyPr>
            <a:lstStyle/>
            <a:p>
              <a:pPr marL="0" marR="0" lvl="0" indent="0" defTabSz="41262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3" name="Text Box 68">
              <a:extLst>
                <a:ext uri="{FF2B5EF4-FFF2-40B4-BE49-F238E27FC236}">
                  <a16:creationId xmlns:a16="http://schemas.microsoft.com/office/drawing/2014/main" id="{0BBA1A7D-AFE6-BB71-4857-755A89E65875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744535" y="4412274"/>
              <a:ext cx="8227668" cy="288000"/>
            </a:xfrm>
            <a:prstGeom prst="rect">
              <a:avLst/>
            </a:prstGeom>
            <a:solidFill>
              <a:srgbClr val="003E51"/>
            </a:solidFill>
            <a:ln w="3175" cap="flat" cmpd="sng" algn="ctr">
              <a:solidFill>
                <a:srgbClr val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91406" tIns="45703" rIns="91406" bIns="45703" anchor="ctr"/>
            <a:lstStyle/>
            <a:p>
              <a:pPr marL="0" marR="0" lvl="0" indent="0" defTabSz="766665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" panose="00000500000000000000" pitchFamily="2" charset="0"/>
                  <a:ea typeface="+mn-ea"/>
                  <a:cs typeface="Arial" panose="020B0604020202020204" pitchFamily="34" charset="0"/>
                </a:rPr>
                <a:t>Equipa de projeto</a:t>
              </a:r>
              <a:endParaRPr kumimoji="0" lang="en-US" sz="10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4" name="Text Box 94">
              <a:extLst>
                <a:ext uri="{FF2B5EF4-FFF2-40B4-BE49-F238E27FC236}">
                  <a16:creationId xmlns:a16="http://schemas.microsoft.com/office/drawing/2014/main" id="{E9BEC3CF-3E98-23AF-351E-CED57AFE1553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150990" y="1977054"/>
              <a:ext cx="3386816" cy="396875"/>
            </a:xfrm>
            <a:prstGeom prst="rect">
              <a:avLst/>
            </a:prstGeom>
            <a:solidFill>
              <a:srgbClr val="003E51"/>
            </a:solidFill>
            <a:ln w="3175" cap="flat" cmpd="sng" algn="ctr">
              <a:solidFill>
                <a:srgbClr val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91406" tIns="45703" rIns="91406" bIns="45703" anchor="ctr"/>
            <a:lstStyle/>
            <a:p>
              <a:pPr marL="0" marR="0" lvl="0" indent="0" defTabSz="766665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" panose="00000500000000000000" pitchFamily="2" charset="0"/>
                  <a:ea typeface="+mn-ea"/>
                  <a:cs typeface="Arial" panose="020B0604020202020204" pitchFamily="34" charset="0"/>
                </a:rPr>
                <a:t>Comité de acompanhamento</a:t>
              </a:r>
              <a:endParaRPr kumimoji="0" lang="en-US" sz="10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D397BB-7EDA-135E-CEA1-6AE828175B30}"/>
                </a:ext>
              </a:extLst>
            </p:cNvPr>
            <p:cNvSpPr txBox="1"/>
            <p:nvPr/>
          </p:nvSpPr>
          <p:spPr>
            <a:xfrm>
              <a:off x="1058700" y="3035427"/>
              <a:ext cx="1266625" cy="246187"/>
            </a:xfrm>
            <a:prstGeom prst="rect">
              <a:avLst/>
            </a:prstGeom>
            <a:noFill/>
          </p:spPr>
          <p:txBody>
            <a:bodyPr wrap="none" lIns="91406" tIns="45703" rIns="91406" bIns="45703" rtlCol="0">
              <a:spAutoFit/>
            </a:bodyPr>
            <a:lstStyle/>
            <a:p>
              <a:pPr defTabSz="412629">
                <a:defRPr/>
              </a:pPr>
              <a:r>
                <a:rPr lang="pt-PT" sz="1000" b="1">
                  <a:solidFill>
                    <a:srgbClr val="003E51"/>
                  </a:solidFill>
                  <a:latin typeface="Muli" panose="00000500000000000000" pitchFamily="2" charset="0"/>
                  <a:cs typeface="Arial" panose="020B0604020202020204" pitchFamily="34" charset="0"/>
                </a:rPr>
                <a:t>Equipa de projeto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4014B62-A897-F774-06C5-912793C402C0}"/>
                </a:ext>
              </a:extLst>
            </p:cNvPr>
            <p:cNvSpPr txBox="1"/>
            <p:nvPr/>
          </p:nvSpPr>
          <p:spPr>
            <a:xfrm>
              <a:off x="9678861" y="1910296"/>
              <a:ext cx="1309905" cy="246187"/>
            </a:xfrm>
            <a:prstGeom prst="rect">
              <a:avLst/>
            </a:prstGeom>
            <a:noFill/>
          </p:spPr>
          <p:txBody>
            <a:bodyPr wrap="none" lIns="91406" tIns="45703" rIns="91406" bIns="45703" rtlCol="0">
              <a:spAutoFit/>
            </a:bodyPr>
            <a:lstStyle/>
            <a:p>
              <a:pPr defTabSz="412629">
                <a:defRPr/>
              </a:pPr>
              <a:r>
                <a:rPr lang="pt-PT" sz="1000" b="1">
                  <a:solidFill>
                    <a:srgbClr val="003E51">
                      <a:lumMod val="65000"/>
                      <a:lumOff val="35000"/>
                    </a:srgbClr>
                  </a:solidFill>
                  <a:latin typeface="Muli" panose="00000500000000000000" pitchFamily="2" charset="0"/>
                  <a:cs typeface="Arial" panose="020B0604020202020204" pitchFamily="34" charset="0"/>
                </a:rPr>
                <a:t>Direção de projeto</a:t>
              </a:r>
            </a:p>
          </p:txBody>
        </p:sp>
        <p:sp>
          <p:nvSpPr>
            <p:cNvPr id="47" name="Text Box 74">
              <a:extLst>
                <a:ext uri="{FF2B5EF4-FFF2-40B4-BE49-F238E27FC236}">
                  <a16:creationId xmlns:a16="http://schemas.microsoft.com/office/drawing/2014/main" id="{587CD104-372A-B3BD-596F-54C206256AC3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213607" y="2665300"/>
              <a:ext cx="1516588" cy="248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7164" tIns="46783" rIns="97164" bIns="46783">
              <a:spAutoFit/>
            </a:bodyPr>
            <a:lstStyle/>
            <a:p>
              <a:pPr defTabSz="412629" eaLnBrk="0">
                <a:defRPr/>
              </a:pPr>
              <a:r>
                <a:rPr lang="pt-PT" sz="1000" i="1">
                  <a:solidFill>
                    <a:srgbClr val="003E51"/>
                  </a:solidFill>
                  <a:latin typeface="Muli" panose="00000500000000000000" pitchFamily="2" charset="0"/>
                  <a:cs typeface="Arial" panose="020B0604020202020204" pitchFamily="34" charset="0"/>
                </a:rPr>
                <a:t>Susana Bernardo</a:t>
              </a:r>
              <a:endParaRPr lang="en-US" sz="1000" i="1">
                <a:solidFill>
                  <a:srgbClr val="003E51"/>
                </a:solidFill>
                <a:latin typeface="Muli" panose="00000500000000000000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2FCF0011-0C46-A652-1349-531C6EF4F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348253" y="2407020"/>
              <a:ext cx="641982" cy="271499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FC03872D-C08A-DC5B-47FB-36296EE2E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348253" y="3507923"/>
              <a:ext cx="641982" cy="271499"/>
            </a:xfrm>
            <a:prstGeom prst="rect">
              <a:avLst/>
            </a:prstGeom>
          </p:spPr>
        </p:pic>
        <p:sp>
          <p:nvSpPr>
            <p:cNvPr id="50" name="Text Box 39">
              <a:extLst>
                <a:ext uri="{FF2B5EF4-FFF2-40B4-BE49-F238E27FC236}">
                  <a16:creationId xmlns:a16="http://schemas.microsoft.com/office/drawing/2014/main" id="{20AC7BE9-DFAC-215E-0A1E-FE8869B26329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816854" y="5292628"/>
              <a:ext cx="2530369" cy="738901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9FDF">
                  <a:lumMod val="95000"/>
                </a:srgbClr>
              </a:solidFill>
              <a:prstDash val="solid"/>
              <a:miter lim="800000"/>
              <a:headEnd/>
              <a:tailEnd/>
            </a:ln>
            <a:effectLst/>
          </p:spPr>
          <p:txBody>
            <a:bodyPr lIns="35987" tIns="35987" rIns="35987" bIns="35987" anchor="ctr"/>
            <a:lstStyle/>
            <a:p>
              <a:pPr marL="0" marR="0" lvl="0" indent="0" defTabSz="412629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" panose="00000500000000000000" pitchFamily="2" charset="0"/>
                  <a:ea typeface="+mn-ea"/>
                  <a:cs typeface="Arial" panose="020B0604020202020204" pitchFamily="34" charset="0"/>
                </a:rPr>
                <a:t>Susana Bernardo</a:t>
              </a: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D8CC8C81-911F-674E-AC77-FF42A7008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307043" y="4882871"/>
              <a:ext cx="641982" cy="271499"/>
            </a:xfrm>
            <a:prstGeom prst="rect">
              <a:avLst/>
            </a:prstGeom>
          </p:spPr>
        </p:pic>
        <p:sp>
          <p:nvSpPr>
            <p:cNvPr id="52" name="Text Box 39">
              <a:extLst>
                <a:ext uri="{FF2B5EF4-FFF2-40B4-BE49-F238E27FC236}">
                  <a16:creationId xmlns:a16="http://schemas.microsoft.com/office/drawing/2014/main" id="{D5ABA45D-E1BB-B20F-4629-D5E5A4C05802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362634" y="5292628"/>
              <a:ext cx="2530800" cy="738901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9FDF">
                  <a:lumMod val="95000"/>
                </a:srgbClr>
              </a:solidFill>
              <a:prstDash val="solid"/>
              <a:miter lim="800000"/>
              <a:headEnd/>
              <a:tailEnd/>
            </a:ln>
            <a:effectLst/>
          </p:spPr>
          <p:txBody>
            <a:bodyPr lIns="35987" tIns="35987" rIns="35987" bIns="35987" anchor="ctr"/>
            <a:lstStyle>
              <a:defPPr marL="0" marR="0" indent="0" algn="l" defTabSz="449245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84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lvl="0" defTabSz="412629" eaLnBrk="0" hangingPunct="1">
                <a:defRPr sz="1000" kern="0">
                  <a:solidFill>
                    <a:srgbClr val="003E51"/>
                  </a:solidFill>
                  <a:uLnTx/>
                  <a:latin typeface="Muli" panose="00000500000000000000" pitchFamily="2" charset="0"/>
                  <a:cs typeface="Arial" panose="020B0604020202020204" pitchFamily="34" charset="0"/>
                </a:defRPr>
              </a:lvl1pPr>
            </a:lstStyle>
            <a:p>
              <a:pPr defTabSz="412629" eaLnBrk="0">
                <a:defRPr/>
              </a:pPr>
              <a:r>
                <a:rPr lang="pt-PT" sz="1000" i="1" dirty="0">
                  <a:solidFill>
                    <a:srgbClr val="003E51"/>
                  </a:solidFill>
                  <a:latin typeface="Muli" panose="00000500000000000000" pitchFamily="2" charset="0"/>
                  <a:cs typeface="Arial" panose="020B0604020202020204" pitchFamily="34" charset="0"/>
                </a:rPr>
                <a:t>Rita Caguerelho (SME)</a:t>
              </a:r>
            </a:p>
            <a:p>
              <a:pPr defTabSz="412629" eaLnBrk="0">
                <a:defRPr/>
              </a:pPr>
              <a:r>
                <a:rPr lang="pt-PT" sz="1000" i="1" dirty="0">
                  <a:solidFill>
                    <a:srgbClr val="003E51"/>
                  </a:solidFill>
                  <a:latin typeface="Muli" panose="00000500000000000000" pitchFamily="2" charset="0"/>
                  <a:cs typeface="Arial" panose="020B0604020202020204" pitchFamily="34" charset="0"/>
                </a:rPr>
                <a:t>Henrique Correia</a:t>
              </a:r>
            </a:p>
            <a:p>
              <a:pPr defTabSz="412629" eaLnBrk="0">
                <a:defRPr/>
              </a:pPr>
              <a:r>
                <a:rPr lang="pt-PT" sz="1000" i="1" dirty="0">
                  <a:solidFill>
                    <a:srgbClr val="003E51"/>
                  </a:solidFill>
                  <a:latin typeface="Muli" panose="00000500000000000000" pitchFamily="2" charset="0"/>
                  <a:cs typeface="Arial" panose="020B0604020202020204" pitchFamily="34" charset="0"/>
                </a:rPr>
                <a:t>Hélder Fernandes</a:t>
              </a:r>
            </a:p>
          </p:txBody>
        </p:sp>
      </p:grpSp>
      <p:pic>
        <p:nvPicPr>
          <p:cNvPr id="2050" name="Picture 2" descr="Banco Santander Logo PNG Download Original Logo Big Size">
            <a:extLst>
              <a:ext uri="{FF2B5EF4-FFF2-40B4-BE49-F238E27FC236}">
                <a16:creationId xmlns:a16="http://schemas.microsoft.com/office/drawing/2014/main" id="{2A7EEC06-4F1B-B50A-F3E4-D67072887C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05" b="41227"/>
          <a:stretch/>
        </p:blipFill>
        <p:spPr bwMode="auto">
          <a:xfrm>
            <a:off x="4292219" y="2095152"/>
            <a:ext cx="1412653" cy="25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Banco Santander Logo PNG Download Original Logo Big Size">
            <a:extLst>
              <a:ext uri="{FF2B5EF4-FFF2-40B4-BE49-F238E27FC236}">
                <a16:creationId xmlns:a16="http://schemas.microsoft.com/office/drawing/2014/main" id="{7EE9C57D-B349-0904-4D62-F976900503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05" b="41227"/>
          <a:stretch/>
        </p:blipFill>
        <p:spPr bwMode="auto">
          <a:xfrm>
            <a:off x="4306332" y="3210880"/>
            <a:ext cx="1412653" cy="25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Banco Santander Logo PNG Download Original Logo Big Size">
            <a:extLst>
              <a:ext uri="{FF2B5EF4-FFF2-40B4-BE49-F238E27FC236}">
                <a16:creationId xmlns:a16="http://schemas.microsoft.com/office/drawing/2014/main" id="{2225DD43-3909-E1C8-B8F5-ED3832886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05" b="41227"/>
          <a:stretch/>
        </p:blipFill>
        <p:spPr bwMode="auto">
          <a:xfrm>
            <a:off x="3287943" y="4595744"/>
            <a:ext cx="1412653" cy="25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95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DF26E7-3ECC-4F4D-A649-9AD02EA564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/>
              <a:t>Planeamento e Organização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BD29A-B660-42E8-9E7A-885EBFF129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/>
              <a:t>Modelo de </a:t>
            </a:r>
            <a:r>
              <a:rPr lang="pt-PT" i="1" err="1"/>
              <a:t>governance</a:t>
            </a:r>
            <a:endParaRPr lang="pt-PT" i="1"/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7783B290-5567-4A62-9164-BB8BCA80D800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1200">
                <a:latin typeface="Muli Light" panose="00000400000000000000" pitchFamily="2" charset="0"/>
              </a:rPr>
              <a:t>De seguida propomos um modelo de </a:t>
            </a:r>
            <a:r>
              <a:rPr lang="pt-PT" sz="1200" i="1" err="1">
                <a:latin typeface="Muli Light" panose="00000400000000000000" pitchFamily="2" charset="0"/>
              </a:rPr>
              <a:t>governance</a:t>
            </a:r>
            <a:r>
              <a:rPr lang="pt-PT" sz="1200">
                <a:latin typeface="Muli Light" panose="00000400000000000000" pitchFamily="2" charset="0"/>
              </a:rPr>
              <a:t> e respetiva </a:t>
            </a:r>
            <a:r>
              <a:rPr lang="pt-PT" sz="1200" i="1" err="1">
                <a:latin typeface="Muli Light" panose="00000400000000000000" pitchFamily="2" charset="0"/>
              </a:rPr>
              <a:t>framework</a:t>
            </a:r>
            <a:r>
              <a:rPr lang="pt-PT" sz="1200">
                <a:latin typeface="Muli Light" panose="00000400000000000000" pitchFamily="2" charset="0"/>
              </a:rPr>
              <a:t> de responsabilidades da gestão e equipa de projeto, onde pretendemos garantir que estão reunidas todas as condições para a tomada de decisão e prossecução dos </a:t>
            </a:r>
            <a:r>
              <a:rPr lang="pt-PT" sz="1200" i="1" err="1">
                <a:latin typeface="Muli Light" panose="00000400000000000000" pitchFamily="2" charset="0"/>
              </a:rPr>
              <a:t>milestones</a:t>
            </a:r>
            <a:r>
              <a:rPr lang="pt-PT" sz="1200">
                <a:latin typeface="Muli Light" panose="00000400000000000000" pitchFamily="2" charset="0"/>
              </a:rPr>
              <a:t> propostos no projeto.</a:t>
            </a:r>
          </a:p>
        </p:txBody>
      </p:sp>
      <p:sp>
        <p:nvSpPr>
          <p:cNvPr id="4" name="Oval 36">
            <a:extLst>
              <a:ext uri="{FF2B5EF4-FFF2-40B4-BE49-F238E27FC236}">
                <a16:creationId xmlns:a16="http://schemas.microsoft.com/office/drawing/2014/main" id="{A90A1E0A-661D-9CCC-77B1-674B723F8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067" y="6093837"/>
            <a:ext cx="122237" cy="122400"/>
          </a:xfrm>
          <a:prstGeom prst="ellipse">
            <a:avLst/>
          </a:prstGeom>
          <a:solidFill>
            <a:srgbClr val="BFBFBF"/>
          </a:solidFill>
          <a:ln w="9525" algn="ctr">
            <a:solidFill>
              <a:schemeClr val="bg2">
                <a:lumMod val="65000"/>
              </a:schemeClr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2" name="Oval 37">
            <a:extLst>
              <a:ext uri="{FF2B5EF4-FFF2-40B4-BE49-F238E27FC236}">
                <a16:creationId xmlns:a16="http://schemas.microsoft.com/office/drawing/2014/main" id="{398C86B5-1DC8-A43C-6F8C-D1B93F88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067" y="6259505"/>
            <a:ext cx="122237" cy="122400"/>
          </a:xfrm>
          <a:prstGeom prst="ellipse">
            <a:avLst/>
          </a:prstGeom>
          <a:solidFill>
            <a:srgbClr val="FFFFFF"/>
          </a:solidFill>
          <a:ln w="9525" algn="ctr">
            <a:solidFill>
              <a:schemeClr val="bg2">
                <a:lumMod val="65000"/>
              </a:schemeClr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l" defTabSz="412629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3" name="Oval 38">
            <a:extLst>
              <a:ext uri="{FF2B5EF4-FFF2-40B4-BE49-F238E27FC236}">
                <a16:creationId xmlns:a16="http://schemas.microsoft.com/office/drawing/2014/main" id="{E7EDEA11-7165-73F5-2B1E-3FDF3655D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067" y="6418670"/>
            <a:ext cx="122237" cy="1224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bg2">
                <a:lumMod val="65000"/>
              </a:schemeClr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AC8163C2-9FC8-9956-54EF-27887A129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870" y="6072911"/>
            <a:ext cx="1487487" cy="1642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marL="0" marR="0" lvl="0" indent="0" algn="l" defTabSz="41262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Participação </a:t>
            </a:r>
            <a:r>
              <a:rPr kumimoji="0" lang="pt-PT" sz="700" b="0" i="0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mandatória</a:t>
            </a:r>
            <a:endParaRPr kumimoji="0" lang="pt-PT" sz="7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40">
            <a:extLst>
              <a:ext uri="{FF2B5EF4-FFF2-40B4-BE49-F238E27FC236}">
                <a16:creationId xmlns:a16="http://schemas.microsoft.com/office/drawing/2014/main" id="{C10D2D2B-8A42-E4CB-4A2C-6B7E673F2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870" y="6238579"/>
            <a:ext cx="1487487" cy="1642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marL="0" marR="0" lvl="0" indent="0" algn="l" defTabSz="41262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Sem participação</a:t>
            </a:r>
          </a:p>
        </p:txBody>
      </p:sp>
      <p:sp>
        <p:nvSpPr>
          <p:cNvPr id="16" name="Rectangle 41">
            <a:extLst>
              <a:ext uri="{FF2B5EF4-FFF2-40B4-BE49-F238E27FC236}">
                <a16:creationId xmlns:a16="http://schemas.microsoft.com/office/drawing/2014/main" id="{A3148AA3-059C-176C-3909-B85231489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870" y="6418276"/>
            <a:ext cx="2261241" cy="123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marL="0" marR="0" lvl="0" indent="0" algn="l" defTabSz="41262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Participação opcional e sempre que necessário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309E9-0045-4D51-2B3C-B080331DFAC9}"/>
              </a:ext>
            </a:extLst>
          </p:cNvPr>
          <p:cNvSpPr txBox="1"/>
          <p:nvPr/>
        </p:nvSpPr>
        <p:spPr>
          <a:xfrm>
            <a:off x="609521" y="6035967"/>
            <a:ext cx="688730" cy="165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Legenda: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95D413-5123-92DB-C7FD-DEBFD562D4BC}"/>
              </a:ext>
            </a:extLst>
          </p:cNvPr>
          <p:cNvSpPr/>
          <p:nvPr/>
        </p:nvSpPr>
        <p:spPr>
          <a:xfrm>
            <a:off x="665858" y="2820090"/>
            <a:ext cx="10858696" cy="1630234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l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9FDF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0" name="Rectangle 42">
            <a:extLst>
              <a:ext uri="{FF2B5EF4-FFF2-40B4-BE49-F238E27FC236}">
                <a16:creationId xmlns:a16="http://schemas.microsoft.com/office/drawing/2014/main" id="{0262F3BE-ACF6-0880-9FE6-EE136FA6A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009" y="2826949"/>
            <a:ext cx="2731682" cy="16041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36000" rIns="36000">
            <a:spAutoFit/>
          </a:bodyPr>
          <a:lstStyle/>
          <a:p>
            <a:pPr marL="171450" marR="0" lvl="0" indent="-171450" algn="l" defTabSz="412629" rtl="0" eaLnBrk="1" fontAlgn="auto" latinLnBrk="0" hangingPunct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rPr>
              <a:t>Ponto de situação do projeto</a:t>
            </a:r>
          </a:p>
          <a:p>
            <a:pPr marL="171450" marR="0" lvl="0" indent="-171450" algn="l" defTabSz="412629" rtl="0" eaLnBrk="1" fontAlgn="auto" latinLnBrk="0" hangingPunct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rPr>
              <a:t>Revisão do plano de trabalho</a:t>
            </a:r>
          </a:p>
          <a:p>
            <a:pPr marL="171450" marR="0" lvl="0" indent="-171450" algn="l" defTabSz="412629" rtl="0" eaLnBrk="1" fontAlgn="auto" latinLnBrk="0" hangingPunct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rPr>
              <a:t>Principais aspetos a acautelar</a:t>
            </a:r>
          </a:p>
          <a:p>
            <a:pPr marL="171450" marR="0" lvl="0" indent="-171450" algn="l" defTabSz="412629" rtl="0" eaLnBrk="1" fontAlgn="auto" latinLnBrk="0" hangingPunct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rPr>
              <a:t>Tomada de decisões operacionais de projeto</a:t>
            </a:r>
          </a:p>
          <a:p>
            <a:pPr marL="171450" marR="0" lvl="0" indent="-171450" algn="l" defTabSz="412629" rtl="0" eaLnBrk="1" fontAlgn="auto" latinLnBrk="0" hangingPunct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Revisão de </a:t>
            </a: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outputs</a:t>
            </a: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 intermédios/finais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E2544824-09F0-65E3-E174-1B782CF90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0006" y="2909525"/>
            <a:ext cx="2533434" cy="1451365"/>
          </a:xfrm>
          <a:prstGeom prst="rect">
            <a:avLst/>
          </a:prstGeom>
          <a:noFill/>
          <a:ln w="3175">
            <a:noFill/>
            <a:headEnd/>
            <a:tailEnd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1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Sponsor</a:t>
            </a: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 do projeto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1" u="none" strike="noStrike" kern="0" cap="none" spc="0" normalizeH="0" baseline="0" noProof="0" err="1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Partner</a:t>
            </a: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 do projeto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Direção de projeto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Direção de projeto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Equipa de projeto</a:t>
            </a: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75000"/>
                    <a:lumOff val="25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 </a:t>
            </a:r>
          </a:p>
        </p:txBody>
      </p:sp>
      <p:sp>
        <p:nvSpPr>
          <p:cNvPr id="22" name="Oval 27">
            <a:extLst>
              <a:ext uri="{FF2B5EF4-FFF2-40B4-BE49-F238E27FC236}">
                <a16:creationId xmlns:a16="http://schemas.microsoft.com/office/drawing/2014/main" id="{C746302E-A1AD-B75C-C693-3741D9371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642" y="4085159"/>
            <a:ext cx="151200" cy="149736"/>
          </a:xfrm>
          <a:prstGeom prst="ellipse">
            <a:avLst/>
          </a:prstGeom>
          <a:solidFill>
            <a:srgbClr val="BFBFBF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9FDF">
                  <a:lumMod val="75000"/>
                </a:srgbClr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D2F2F77-1CA9-275A-7B43-EF6EC4B615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5892" y="4060060"/>
            <a:ext cx="462533" cy="195608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B944C76E-0AC6-6CB1-E512-884B8C49C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642" y="3075843"/>
            <a:ext cx="151200" cy="149736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412629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9FDF">
                  <a:lumMod val="75000"/>
                </a:srgbClr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33B483C-934F-8A98-2CE8-1AF0C9002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642" y="3580501"/>
            <a:ext cx="151200" cy="149736"/>
          </a:xfrm>
          <a:prstGeom prst="ellipse">
            <a:avLst/>
          </a:prstGeom>
          <a:solidFill>
            <a:srgbClr val="BFBFBF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9FDF">
                  <a:lumMod val="75000"/>
                </a:srgbClr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6" name="Oval 52">
            <a:extLst>
              <a:ext uri="{FF2B5EF4-FFF2-40B4-BE49-F238E27FC236}">
                <a16:creationId xmlns:a16="http://schemas.microsoft.com/office/drawing/2014/main" id="{A6954518-12C0-EEE5-8044-06F98862C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642" y="3328172"/>
            <a:ext cx="151200" cy="149736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9FDF">
                  <a:lumMod val="75000"/>
                </a:srgbClr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29AA2EE0-CAF8-5E72-3E21-078883F28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5892" y="3286918"/>
            <a:ext cx="462533" cy="195608"/>
          </a:xfrm>
          <a:prstGeom prst="rect">
            <a:avLst/>
          </a:prstGeom>
        </p:spPr>
      </p:pic>
      <p:sp>
        <p:nvSpPr>
          <p:cNvPr id="28" name="Oval 25">
            <a:extLst>
              <a:ext uri="{FF2B5EF4-FFF2-40B4-BE49-F238E27FC236}">
                <a16:creationId xmlns:a16="http://schemas.microsoft.com/office/drawing/2014/main" id="{3C183951-34CA-B1FA-CC0E-9271C060A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642" y="3832830"/>
            <a:ext cx="151200" cy="149736"/>
          </a:xfrm>
          <a:prstGeom prst="ellipse">
            <a:avLst/>
          </a:prstGeom>
          <a:solidFill>
            <a:srgbClr val="BFBFBF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9FDF">
                  <a:lumMod val="75000"/>
                </a:srgbClr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4DA894B9-7908-C3A5-A8F4-9E978CCDD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5892" y="3800812"/>
            <a:ext cx="462533" cy="195608"/>
          </a:xfrm>
          <a:prstGeom prst="rect">
            <a:avLst/>
          </a:prstGeom>
        </p:spPr>
      </p:pic>
      <p:sp>
        <p:nvSpPr>
          <p:cNvPr id="30" name="Rectangle 52">
            <a:extLst>
              <a:ext uri="{FF2B5EF4-FFF2-40B4-BE49-F238E27FC236}">
                <a16:creationId xmlns:a16="http://schemas.microsoft.com/office/drawing/2014/main" id="{959A50B6-FCB3-3369-1391-08F7F4A36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2335" y="3721416"/>
            <a:ext cx="1090800" cy="3921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36000" rIns="36000"/>
          <a:lstStyle/>
          <a:p>
            <a:pPr marL="0" marR="0" lvl="0" indent="0" algn="ctr" defTabSz="412629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1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ＭＳ Ｐゴシック" pitchFamily="8" charset="-128"/>
                <a:cs typeface="+mn-cs"/>
                <a:sym typeface="Helvetica Light"/>
              </a:rPr>
              <a:t>Status</a:t>
            </a:r>
            <a:r>
              <a:rPr kumimoji="0" lang="pt-PT" sz="800" b="1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ＭＳ Ｐゴシック" pitchFamily="8" charset="-128"/>
                <a:cs typeface="+mn-cs"/>
                <a:sym typeface="Helvetica Light"/>
              </a:rPr>
              <a:t> das atividades, </a:t>
            </a:r>
            <a:r>
              <a:rPr kumimoji="0" lang="pt-PT" sz="800" b="1" i="1" u="none" strike="noStrike" kern="0" cap="none" spc="0" normalizeH="0" baseline="0" noProof="0" err="1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ＭＳ Ｐゴシック" pitchFamily="8" charset="-128"/>
                <a:cs typeface="+mn-cs"/>
                <a:sym typeface="Helvetica Light"/>
              </a:rPr>
              <a:t>Issues</a:t>
            </a:r>
            <a:r>
              <a:rPr kumimoji="0" lang="pt-PT" sz="800" b="1" i="1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ＭＳ Ｐゴシック" pitchFamily="8" charset="-128"/>
                <a:cs typeface="+mn-cs"/>
                <a:sym typeface="Helvetica Light"/>
              </a:rPr>
              <a:t> e Riscos</a:t>
            </a:r>
          </a:p>
        </p:txBody>
      </p:sp>
      <p:sp>
        <p:nvSpPr>
          <p:cNvPr id="31" name="Rectangle 63">
            <a:extLst>
              <a:ext uri="{FF2B5EF4-FFF2-40B4-BE49-F238E27FC236}">
                <a16:creationId xmlns:a16="http://schemas.microsoft.com/office/drawing/2014/main" id="{3921E12E-E998-C6F7-EC5F-3E39ACA1C8B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320472" y="3721416"/>
            <a:ext cx="1092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rIns="360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8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800" b="1" i="0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ＭＳ Ｐゴシック" pitchFamily="8" charset="-128"/>
                <a:cs typeface="+mn-cs"/>
                <a:sym typeface="Helvetica Light"/>
              </a:rPr>
              <a:t>Reuniões presenciais/</a:t>
            </a:r>
            <a:r>
              <a:rPr kumimoji="0" lang="pt-PT" altLang="pt-PT" sz="800" b="1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ＭＳ Ｐゴシック" pitchFamily="8" charset="-128"/>
                <a:cs typeface="+mn-cs"/>
                <a:sym typeface="Helvetica Light"/>
              </a:rPr>
              <a:t>online</a:t>
            </a:r>
          </a:p>
        </p:txBody>
      </p:sp>
      <p:pic>
        <p:nvPicPr>
          <p:cNvPr id="32" name="Graphic 31" descr="Cycle with people">
            <a:extLst>
              <a:ext uri="{FF2B5EF4-FFF2-40B4-BE49-F238E27FC236}">
                <a16:creationId xmlns:a16="http://schemas.microsoft.com/office/drawing/2014/main" id="{79E73B4C-344A-F563-0C98-6A6245009E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8572" y="3156886"/>
            <a:ext cx="612000" cy="612000"/>
          </a:xfrm>
          <a:prstGeom prst="rect">
            <a:avLst/>
          </a:prstGeom>
        </p:spPr>
      </p:pic>
      <p:pic>
        <p:nvPicPr>
          <p:cNvPr id="43" name="Graphic 42" descr="Refresh">
            <a:extLst>
              <a:ext uri="{FF2B5EF4-FFF2-40B4-BE49-F238E27FC236}">
                <a16:creationId xmlns:a16="http://schemas.microsoft.com/office/drawing/2014/main" id="{A41C0DDF-C7A3-DEB6-4D7C-35A318FCCC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018" y="3078905"/>
            <a:ext cx="1112605" cy="111260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39AEF21-55C0-A806-A08F-AA9D51B7B1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9735" y="3210886"/>
            <a:ext cx="896000" cy="504000"/>
          </a:xfrm>
          <a:prstGeom prst="rect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50" name="Rectangle 5">
            <a:extLst>
              <a:ext uri="{FF2B5EF4-FFF2-40B4-BE49-F238E27FC236}">
                <a16:creationId xmlns:a16="http://schemas.microsoft.com/office/drawing/2014/main" id="{B29956F2-BC97-2FD9-57BD-42A91737B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465" y="3438278"/>
            <a:ext cx="1486330" cy="488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36000" rIns="36000">
            <a:spAutoFit/>
          </a:bodyPr>
          <a:lstStyle/>
          <a:p>
            <a:pPr marL="0" marR="0" lvl="0" indent="0" algn="ctr" defTabSz="412629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PDS </a:t>
            </a: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>
                  <a:lumMod val="90000"/>
                  <a:lumOff val="10000"/>
                </a:srgbClr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  <a:p>
            <a:pPr marL="0" marR="0" lvl="0" indent="0" algn="ctr" defTabSz="412629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srgbClr val="003E51">
                    <a:lumMod val="90000"/>
                    <a:lumOff val="10000"/>
                  </a:srgbClr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A definir</a:t>
            </a:r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5BFCED54-D3D0-CDDF-3418-918B78D79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3850" y="2324436"/>
            <a:ext cx="2484000" cy="502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36000" rIns="36000">
            <a:noAutofit/>
          </a:bodyPr>
          <a:lstStyle/>
          <a:p>
            <a:pPr marL="0" marR="0" lvl="0" indent="0" algn="ctr" defTabSz="412629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5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Principais objetivos a endereçar</a:t>
            </a:r>
          </a:p>
          <a:p>
            <a:pPr marL="0" marR="0" lvl="0" indent="0" algn="ctr" defTabSz="412629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5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4" name="Rectangle 10">
            <a:extLst>
              <a:ext uri="{FF2B5EF4-FFF2-40B4-BE49-F238E27FC236}">
                <a16:creationId xmlns:a16="http://schemas.microsoft.com/office/drawing/2014/main" id="{1E06EBE4-4451-EBB7-6DEE-12E413BA0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804" y="2324436"/>
            <a:ext cx="2484000" cy="27994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36000" rIns="36000">
            <a:noAutofit/>
          </a:bodyPr>
          <a:lstStyle/>
          <a:p>
            <a:pPr marL="0" marR="0" lvl="0" indent="0" algn="ctr" defTabSz="412629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5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Formato e suportes a utilizar</a:t>
            </a:r>
          </a:p>
        </p:txBody>
      </p:sp>
      <p:sp>
        <p:nvSpPr>
          <p:cNvPr id="104" name="Rectangle 19">
            <a:extLst>
              <a:ext uri="{FF2B5EF4-FFF2-40B4-BE49-F238E27FC236}">
                <a16:creationId xmlns:a16="http://schemas.microsoft.com/office/drawing/2014/main" id="{7DC46D9F-CD57-A6ED-2174-7D0FE5243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068" y="2324436"/>
            <a:ext cx="2484000" cy="39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36000" tIns="0" rIns="36000" bIns="0">
            <a:noAutofit/>
          </a:bodyPr>
          <a:lstStyle/>
          <a:p>
            <a:pPr marL="0" marR="0" lvl="0" indent="0" algn="ctr" defTabSz="412629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5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Equipas / Entidades / </a:t>
            </a:r>
            <a:r>
              <a:rPr kumimoji="0" lang="pt-PT" sz="115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Stakeholders</a:t>
            </a:r>
            <a:r>
              <a:rPr kumimoji="0" lang="pt-PT" sz="115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" panose="000005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 participantes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FB70C42-69FD-BA00-6564-F0FC617396D5}"/>
              </a:ext>
            </a:extLst>
          </p:cNvPr>
          <p:cNvCxnSpPr/>
          <p:nvPr/>
        </p:nvCxnSpPr>
        <p:spPr>
          <a:xfrm>
            <a:off x="3295374" y="2222685"/>
            <a:ext cx="0" cy="2235316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ysDot"/>
            <a:miter lim="800000"/>
          </a:ln>
          <a:effectLst/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733820C-2F8B-F03F-0813-6AED922E5B53}"/>
              </a:ext>
            </a:extLst>
          </p:cNvPr>
          <p:cNvCxnSpPr/>
          <p:nvPr/>
        </p:nvCxnSpPr>
        <p:spPr>
          <a:xfrm>
            <a:off x="6096327" y="2222685"/>
            <a:ext cx="0" cy="2235316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ysDot"/>
            <a:miter lim="800000"/>
          </a:ln>
          <a:effectLst/>
        </p:spPr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5B9AA93-3EDB-AFCD-7233-6430BDFB4EF1}"/>
              </a:ext>
            </a:extLst>
          </p:cNvPr>
          <p:cNvCxnSpPr/>
          <p:nvPr/>
        </p:nvCxnSpPr>
        <p:spPr>
          <a:xfrm>
            <a:off x="8897280" y="2222685"/>
            <a:ext cx="0" cy="2235316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ysDot"/>
            <a:miter lim="800000"/>
          </a:ln>
          <a:effectLst/>
        </p:spPr>
      </p:cxnSp>
      <p:pic>
        <p:nvPicPr>
          <p:cNvPr id="6" name="Picture 2" descr="Banco Santander Logo PNG Download Original Logo Big Size">
            <a:extLst>
              <a:ext uri="{FF2B5EF4-FFF2-40B4-BE49-F238E27FC236}">
                <a16:creationId xmlns:a16="http://schemas.microsoft.com/office/drawing/2014/main" id="{50256932-740B-76BF-FBA5-835FC8CE6E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05" b="41227"/>
          <a:stretch/>
        </p:blipFill>
        <p:spPr bwMode="auto">
          <a:xfrm>
            <a:off x="10025892" y="3074976"/>
            <a:ext cx="659013" cy="1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anco Santander Logo PNG Download Original Logo Big Size">
            <a:extLst>
              <a:ext uri="{FF2B5EF4-FFF2-40B4-BE49-F238E27FC236}">
                <a16:creationId xmlns:a16="http://schemas.microsoft.com/office/drawing/2014/main" id="{2C22495D-6DC1-8716-8F03-90FC0F5A4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05" b="41227"/>
          <a:stretch/>
        </p:blipFill>
        <p:spPr bwMode="auto">
          <a:xfrm>
            <a:off x="10025892" y="3595676"/>
            <a:ext cx="659013" cy="1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anco Santander Logo PNG Download Original Logo Big Size">
            <a:extLst>
              <a:ext uri="{FF2B5EF4-FFF2-40B4-BE49-F238E27FC236}">
                <a16:creationId xmlns:a16="http://schemas.microsoft.com/office/drawing/2014/main" id="{DA41944F-69E9-6A37-9240-F088F3B3DD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05" b="41227"/>
          <a:stretch/>
        </p:blipFill>
        <p:spPr bwMode="auto">
          <a:xfrm>
            <a:off x="10529197" y="4103676"/>
            <a:ext cx="659013" cy="1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888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AutoShape 3">
            <a:extLst>
              <a:ext uri="{FF2B5EF4-FFF2-40B4-BE49-F238E27FC236}">
                <a16:creationId xmlns:a16="http://schemas.microsoft.com/office/drawing/2014/main" id="{1481CAA2-87BA-963E-43FA-73A9DF4CF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74" y="3046195"/>
            <a:ext cx="418008" cy="467999"/>
          </a:xfrm>
          <a:prstGeom prst="homePlate">
            <a:avLst>
              <a:gd name="adj" fmla="val 17597"/>
            </a:avLst>
          </a:prstGeom>
          <a:solidFill>
            <a:srgbClr val="009FDF">
              <a:lumMod val="20000"/>
              <a:lumOff val="80000"/>
            </a:srgbClr>
          </a:solidFill>
          <a:ln w="3175">
            <a:noFill/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cs typeface="Arial" panose="020B0604020202020204" pitchFamily="34" charset="0"/>
              </a:rPr>
              <a:t>#3</a:t>
            </a:r>
          </a:p>
        </p:txBody>
      </p:sp>
      <p:sp>
        <p:nvSpPr>
          <p:cNvPr id="43" name="Freeform 4">
            <a:extLst>
              <a:ext uri="{FF2B5EF4-FFF2-40B4-BE49-F238E27FC236}">
                <a16:creationId xmlns:a16="http://schemas.microsoft.com/office/drawing/2014/main" id="{13A2F7AC-3052-80A9-4F00-EE710178248B}"/>
              </a:ext>
            </a:extLst>
          </p:cNvPr>
          <p:cNvSpPr>
            <a:spLocks/>
          </p:cNvSpPr>
          <p:nvPr/>
        </p:nvSpPr>
        <p:spPr bwMode="auto">
          <a:xfrm>
            <a:off x="1120628" y="3046195"/>
            <a:ext cx="8071825" cy="467344"/>
          </a:xfrm>
          <a:custGeom>
            <a:avLst/>
            <a:gdLst>
              <a:gd name="T0" fmla="*/ 0 w 4465"/>
              <a:gd name="T1" fmla="*/ 0 h 721"/>
              <a:gd name="T2" fmla="*/ 170892773 w 4465"/>
              <a:gd name="T3" fmla="*/ 626667129 h 721"/>
              <a:gd name="T4" fmla="*/ 0 w 4465"/>
              <a:gd name="T5" fmla="*/ 1311628059 h 721"/>
              <a:gd name="T6" fmla="*/ 2147483647 w 4465"/>
              <a:gd name="T7" fmla="*/ 1311628059 h 721"/>
              <a:gd name="T8" fmla="*/ 2147483647 w 4465"/>
              <a:gd name="T9" fmla="*/ 0 h 721"/>
              <a:gd name="T10" fmla="*/ 0 w 4465"/>
              <a:gd name="T11" fmla="*/ 0 h 72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9998"/>
              <a:gd name="connsiteY0" fmla="*/ 0 h 9986"/>
              <a:gd name="connsiteX1" fmla="*/ 135 w 9998"/>
              <a:gd name="connsiteY1" fmla="*/ 5319 h 9986"/>
              <a:gd name="connsiteX2" fmla="*/ 0 w 9998"/>
              <a:gd name="connsiteY2" fmla="*/ 9986 h 9986"/>
              <a:gd name="connsiteX3" fmla="*/ 9998 w 9998"/>
              <a:gd name="connsiteY3" fmla="*/ 9986 h 9986"/>
              <a:gd name="connsiteX4" fmla="*/ 9998 w 9998"/>
              <a:gd name="connsiteY4" fmla="*/ 0 h 9986"/>
              <a:gd name="connsiteX5" fmla="*/ 0 w 9998"/>
              <a:gd name="connsiteY5" fmla="*/ 0 h 9986"/>
              <a:gd name="connsiteX0" fmla="*/ 0 w 10000"/>
              <a:gd name="connsiteY0" fmla="*/ 0 h 10000"/>
              <a:gd name="connsiteX1" fmla="*/ 132 w 10000"/>
              <a:gd name="connsiteY1" fmla="*/ 4557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38 w 10000"/>
              <a:gd name="connsiteY1" fmla="*/ 4856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6 w 10000"/>
              <a:gd name="connsiteY1" fmla="*/ 4685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0 w 10000"/>
              <a:gd name="connsiteY1" fmla="*/ 4813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9 w 10000"/>
              <a:gd name="connsiteY1" fmla="*/ 4599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3 w 10000"/>
              <a:gd name="connsiteY1" fmla="*/ 4727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9" y="1562"/>
                  <a:pt x="74" y="3165"/>
                  <a:pt x="113" y="4727"/>
                </a:cubicBezTo>
                <a:cubicBezTo>
                  <a:pt x="74" y="6499"/>
                  <a:pt x="39" y="8228"/>
                  <a:pt x="0" y="10000"/>
                </a:cubicBezTo>
                <a:lnTo>
                  <a:pt x="10000" y="10000"/>
                </a:lnTo>
                <a:lnTo>
                  <a:pt x="10000" y="0"/>
                </a:lnTo>
                <a:lnTo>
                  <a:pt x="0" y="0"/>
                </a:lnTo>
              </a:path>
            </a:pathLst>
          </a:custGeom>
          <a:solidFill>
            <a:srgbClr val="FFFFFF">
              <a:lumMod val="95000"/>
            </a:srgbClr>
          </a:solidFill>
          <a:ln w="3175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5731" rIns="45731" anchor="ctr"/>
          <a:lstStyle/>
          <a:p>
            <a:pPr marL="180000" marR="0" lvl="0" indent="0" algn="l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05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44" name="Freeform 4">
            <a:extLst>
              <a:ext uri="{FF2B5EF4-FFF2-40B4-BE49-F238E27FC236}">
                <a16:creationId xmlns:a16="http://schemas.microsoft.com/office/drawing/2014/main" id="{80AC9796-0F4B-08F9-7647-E41009CE3FB2}"/>
              </a:ext>
            </a:extLst>
          </p:cNvPr>
          <p:cNvSpPr>
            <a:spLocks/>
          </p:cNvSpPr>
          <p:nvPr/>
        </p:nvSpPr>
        <p:spPr bwMode="auto">
          <a:xfrm>
            <a:off x="9310447" y="3046194"/>
            <a:ext cx="1715591" cy="467344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5731" rIns="45731" anchor="ctr"/>
          <a:lstStyle/>
          <a:p>
            <a:pPr marL="180000" marR="0" lvl="0" indent="0" algn="l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05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Light" panose="000004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4E8407-BDCE-9BC9-229F-3EE84CA691D4}"/>
              </a:ext>
            </a:extLst>
          </p:cNvPr>
          <p:cNvGrpSpPr/>
          <p:nvPr/>
        </p:nvGrpSpPr>
        <p:grpSpPr>
          <a:xfrm>
            <a:off x="708656" y="2009223"/>
            <a:ext cx="10317382" cy="468000"/>
            <a:chOff x="708656" y="1833733"/>
            <a:chExt cx="10317382" cy="558001"/>
          </a:xfrm>
        </p:grpSpPr>
        <p:sp>
          <p:nvSpPr>
            <p:cNvPr id="32" name="AutoShape 3">
              <a:extLst>
                <a:ext uri="{FF2B5EF4-FFF2-40B4-BE49-F238E27FC236}">
                  <a16:creationId xmlns:a16="http://schemas.microsoft.com/office/drawing/2014/main" id="{A48CC5DD-23F8-5A55-E14B-49EAD87EC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56" y="1833734"/>
              <a:ext cx="418008" cy="558000"/>
            </a:xfrm>
            <a:prstGeom prst="homePlate">
              <a:avLst>
                <a:gd name="adj" fmla="val 17597"/>
              </a:avLst>
            </a:prstGeom>
            <a:solidFill>
              <a:srgbClr val="009FDF">
                <a:lumMod val="20000"/>
                <a:lumOff val="80000"/>
              </a:srgbClr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200" b="1" i="1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Muli Light" panose="00000400000000000000" pitchFamily="2" charset="0"/>
                  <a:cs typeface="Arial" panose="020B0604020202020204" pitchFamily="34" charset="0"/>
                </a:rPr>
                <a:t>#1</a:t>
              </a:r>
            </a:p>
          </p:txBody>
        </p:sp>
        <p:sp>
          <p:nvSpPr>
            <p:cNvPr id="37" name="Freeform 4">
              <a:extLst>
                <a:ext uri="{FF2B5EF4-FFF2-40B4-BE49-F238E27FC236}">
                  <a16:creationId xmlns:a16="http://schemas.microsoft.com/office/drawing/2014/main" id="{0EE7091C-ED0C-B20E-0A0F-D9DBDA783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628" y="1833733"/>
              <a:ext cx="8071825" cy="557219"/>
            </a:xfrm>
            <a:custGeom>
              <a:avLst/>
              <a:gdLst>
                <a:gd name="T0" fmla="*/ 0 w 4465"/>
                <a:gd name="T1" fmla="*/ 0 h 721"/>
                <a:gd name="T2" fmla="*/ 170892773 w 4465"/>
                <a:gd name="T3" fmla="*/ 626667129 h 721"/>
                <a:gd name="T4" fmla="*/ 0 w 4465"/>
                <a:gd name="T5" fmla="*/ 1311628059 h 721"/>
                <a:gd name="T6" fmla="*/ 2147483647 w 4465"/>
                <a:gd name="T7" fmla="*/ 1311628059 h 721"/>
                <a:gd name="T8" fmla="*/ 2147483647 w 4465"/>
                <a:gd name="T9" fmla="*/ 0 h 721"/>
                <a:gd name="T10" fmla="*/ 0 w 4465"/>
                <a:gd name="T11" fmla="*/ 0 h 7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98"/>
                <a:gd name="connsiteY0" fmla="*/ 0 h 9986"/>
                <a:gd name="connsiteX1" fmla="*/ 135 w 9998"/>
                <a:gd name="connsiteY1" fmla="*/ 5319 h 9986"/>
                <a:gd name="connsiteX2" fmla="*/ 0 w 9998"/>
                <a:gd name="connsiteY2" fmla="*/ 9986 h 9986"/>
                <a:gd name="connsiteX3" fmla="*/ 9998 w 9998"/>
                <a:gd name="connsiteY3" fmla="*/ 9986 h 9986"/>
                <a:gd name="connsiteX4" fmla="*/ 9998 w 9998"/>
                <a:gd name="connsiteY4" fmla="*/ 0 h 9986"/>
                <a:gd name="connsiteX5" fmla="*/ 0 w 9998"/>
                <a:gd name="connsiteY5" fmla="*/ 0 h 9986"/>
                <a:gd name="connsiteX0" fmla="*/ 0 w 10000"/>
                <a:gd name="connsiteY0" fmla="*/ 0 h 10000"/>
                <a:gd name="connsiteX1" fmla="*/ 132 w 10000"/>
                <a:gd name="connsiteY1" fmla="*/ 4557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4" fmla="*/ 10000 w 10000"/>
                <a:gd name="connsiteY4" fmla="*/ 0 h 10000"/>
                <a:gd name="connsiteX5" fmla="*/ 0 w 10000"/>
                <a:gd name="connsiteY5" fmla="*/ 0 h 10000"/>
                <a:gd name="connsiteX0" fmla="*/ 0 w 10000"/>
                <a:gd name="connsiteY0" fmla="*/ 0 h 10000"/>
                <a:gd name="connsiteX1" fmla="*/ 138 w 10000"/>
                <a:gd name="connsiteY1" fmla="*/ 4856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4" fmla="*/ 10000 w 10000"/>
                <a:gd name="connsiteY4" fmla="*/ 0 h 10000"/>
                <a:gd name="connsiteX5" fmla="*/ 0 w 10000"/>
                <a:gd name="connsiteY5" fmla="*/ 0 h 10000"/>
                <a:gd name="connsiteX0" fmla="*/ 0 w 10000"/>
                <a:gd name="connsiteY0" fmla="*/ 0 h 10000"/>
                <a:gd name="connsiteX1" fmla="*/ 116 w 10000"/>
                <a:gd name="connsiteY1" fmla="*/ 4685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4" fmla="*/ 10000 w 10000"/>
                <a:gd name="connsiteY4" fmla="*/ 0 h 10000"/>
                <a:gd name="connsiteX5" fmla="*/ 0 w 10000"/>
                <a:gd name="connsiteY5" fmla="*/ 0 h 10000"/>
                <a:gd name="connsiteX0" fmla="*/ 0 w 10000"/>
                <a:gd name="connsiteY0" fmla="*/ 0 h 10000"/>
                <a:gd name="connsiteX1" fmla="*/ 110 w 10000"/>
                <a:gd name="connsiteY1" fmla="*/ 4813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4" fmla="*/ 10000 w 10000"/>
                <a:gd name="connsiteY4" fmla="*/ 0 h 10000"/>
                <a:gd name="connsiteX5" fmla="*/ 0 w 10000"/>
                <a:gd name="connsiteY5" fmla="*/ 0 h 10000"/>
                <a:gd name="connsiteX0" fmla="*/ 0 w 10000"/>
                <a:gd name="connsiteY0" fmla="*/ 0 h 10000"/>
                <a:gd name="connsiteX1" fmla="*/ 119 w 10000"/>
                <a:gd name="connsiteY1" fmla="*/ 4599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4" fmla="*/ 10000 w 10000"/>
                <a:gd name="connsiteY4" fmla="*/ 0 h 10000"/>
                <a:gd name="connsiteX5" fmla="*/ 0 w 10000"/>
                <a:gd name="connsiteY5" fmla="*/ 0 h 10000"/>
                <a:gd name="connsiteX0" fmla="*/ 0 w 10000"/>
                <a:gd name="connsiteY0" fmla="*/ 0 h 10000"/>
                <a:gd name="connsiteX1" fmla="*/ 113 w 10000"/>
                <a:gd name="connsiteY1" fmla="*/ 4727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4" fmla="*/ 10000 w 10000"/>
                <a:gd name="connsiteY4" fmla="*/ 0 h 10000"/>
                <a:gd name="connsiteX5" fmla="*/ 0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9" y="1562"/>
                    <a:pt x="74" y="3165"/>
                    <a:pt x="113" y="4727"/>
                  </a:cubicBezTo>
                  <a:cubicBezTo>
                    <a:pt x="74" y="6499"/>
                    <a:pt x="39" y="8228"/>
                    <a:pt x="0" y="10000"/>
                  </a:cubicBezTo>
                  <a:lnTo>
                    <a:pt x="10000" y="10000"/>
                  </a:lnTo>
                  <a:lnTo>
                    <a:pt x="10000" y="0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lumMod val="95000"/>
              </a:srgbClr>
            </a:solidFill>
            <a:ln w="3175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45731" rIns="45731" anchor="ctr"/>
            <a:lstStyle/>
            <a:p>
              <a:pPr marL="21600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5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4">
              <a:extLst>
                <a:ext uri="{FF2B5EF4-FFF2-40B4-BE49-F238E27FC236}">
                  <a16:creationId xmlns:a16="http://schemas.microsoft.com/office/drawing/2014/main" id="{F2165A8A-E324-5CFB-E21A-A1F810CD0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0447" y="1833733"/>
              <a:ext cx="1715591" cy="55721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3175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45731" rIns="45731" anchor="ctr"/>
            <a:lstStyle/>
            <a:p>
              <a:pPr marL="180000" marR="0" lvl="0" indent="0" algn="l" defTabSz="91458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cs typeface="Arial" panose="020B0604020202020204" pitchFamily="34" charset="0"/>
              </a:endParaRPr>
            </a:p>
          </p:txBody>
        </p:sp>
      </p:grpSp>
      <p:pic>
        <p:nvPicPr>
          <p:cNvPr id="72" name="Graphic 71">
            <a:extLst>
              <a:ext uri="{FF2B5EF4-FFF2-40B4-BE49-F238E27FC236}">
                <a16:creationId xmlns:a16="http://schemas.microsoft.com/office/drawing/2014/main" id="{811362D0-5BBF-F773-97BA-149EAAD02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54332" y="2086425"/>
            <a:ext cx="712548" cy="313597"/>
          </a:xfrm>
          <a:prstGeom prst="rect">
            <a:avLst/>
          </a:prstGeom>
        </p:spPr>
      </p:pic>
      <p:sp>
        <p:nvSpPr>
          <p:cNvPr id="33" name="AutoShape 3">
            <a:extLst>
              <a:ext uri="{FF2B5EF4-FFF2-40B4-BE49-F238E27FC236}">
                <a16:creationId xmlns:a16="http://schemas.microsoft.com/office/drawing/2014/main" id="{B490981B-3049-BE5E-B04C-6EE4521E5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74" y="2531449"/>
            <a:ext cx="418008" cy="467999"/>
          </a:xfrm>
          <a:prstGeom prst="homePlate">
            <a:avLst>
              <a:gd name="adj" fmla="val 17597"/>
            </a:avLst>
          </a:prstGeom>
          <a:solidFill>
            <a:srgbClr val="009FDF">
              <a:lumMod val="20000"/>
              <a:lumOff val="80000"/>
            </a:srgbClr>
          </a:solidFill>
          <a:ln w="3175">
            <a:noFill/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  <a:cs typeface="Arial" panose="020B0604020202020204" pitchFamily="34" charset="0"/>
              </a:rPr>
              <a:t>#2</a:t>
            </a:r>
          </a:p>
        </p:txBody>
      </p:sp>
      <p:sp>
        <p:nvSpPr>
          <p:cNvPr id="34" name="Freeform 4">
            <a:extLst>
              <a:ext uri="{FF2B5EF4-FFF2-40B4-BE49-F238E27FC236}">
                <a16:creationId xmlns:a16="http://schemas.microsoft.com/office/drawing/2014/main" id="{4626B948-EC94-DAF1-1A39-4B3B76EF2B21}"/>
              </a:ext>
            </a:extLst>
          </p:cNvPr>
          <p:cNvSpPr>
            <a:spLocks/>
          </p:cNvSpPr>
          <p:nvPr/>
        </p:nvSpPr>
        <p:spPr bwMode="auto">
          <a:xfrm>
            <a:off x="1120446" y="2531448"/>
            <a:ext cx="8071825" cy="467344"/>
          </a:xfrm>
          <a:custGeom>
            <a:avLst/>
            <a:gdLst>
              <a:gd name="T0" fmla="*/ 0 w 4465"/>
              <a:gd name="T1" fmla="*/ 0 h 721"/>
              <a:gd name="T2" fmla="*/ 170892773 w 4465"/>
              <a:gd name="T3" fmla="*/ 626667129 h 721"/>
              <a:gd name="T4" fmla="*/ 0 w 4465"/>
              <a:gd name="T5" fmla="*/ 1311628059 h 721"/>
              <a:gd name="T6" fmla="*/ 2147483647 w 4465"/>
              <a:gd name="T7" fmla="*/ 1311628059 h 721"/>
              <a:gd name="T8" fmla="*/ 2147483647 w 4465"/>
              <a:gd name="T9" fmla="*/ 0 h 721"/>
              <a:gd name="T10" fmla="*/ 0 w 4465"/>
              <a:gd name="T11" fmla="*/ 0 h 72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9998"/>
              <a:gd name="connsiteY0" fmla="*/ 0 h 9986"/>
              <a:gd name="connsiteX1" fmla="*/ 135 w 9998"/>
              <a:gd name="connsiteY1" fmla="*/ 5319 h 9986"/>
              <a:gd name="connsiteX2" fmla="*/ 0 w 9998"/>
              <a:gd name="connsiteY2" fmla="*/ 9986 h 9986"/>
              <a:gd name="connsiteX3" fmla="*/ 9998 w 9998"/>
              <a:gd name="connsiteY3" fmla="*/ 9986 h 9986"/>
              <a:gd name="connsiteX4" fmla="*/ 9998 w 9998"/>
              <a:gd name="connsiteY4" fmla="*/ 0 h 9986"/>
              <a:gd name="connsiteX5" fmla="*/ 0 w 9998"/>
              <a:gd name="connsiteY5" fmla="*/ 0 h 9986"/>
              <a:gd name="connsiteX0" fmla="*/ 0 w 10000"/>
              <a:gd name="connsiteY0" fmla="*/ 0 h 10000"/>
              <a:gd name="connsiteX1" fmla="*/ 132 w 10000"/>
              <a:gd name="connsiteY1" fmla="*/ 4557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38 w 10000"/>
              <a:gd name="connsiteY1" fmla="*/ 4856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6 w 10000"/>
              <a:gd name="connsiteY1" fmla="*/ 4685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0 w 10000"/>
              <a:gd name="connsiteY1" fmla="*/ 4813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9 w 10000"/>
              <a:gd name="connsiteY1" fmla="*/ 4599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3 w 10000"/>
              <a:gd name="connsiteY1" fmla="*/ 4727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9" y="1562"/>
                  <a:pt x="74" y="3165"/>
                  <a:pt x="113" y="4727"/>
                </a:cubicBezTo>
                <a:cubicBezTo>
                  <a:pt x="74" y="6499"/>
                  <a:pt x="39" y="8228"/>
                  <a:pt x="0" y="10000"/>
                </a:cubicBezTo>
                <a:lnTo>
                  <a:pt x="10000" y="10000"/>
                </a:lnTo>
                <a:lnTo>
                  <a:pt x="10000" y="0"/>
                </a:lnTo>
                <a:lnTo>
                  <a:pt x="0" y="0"/>
                </a:lnTo>
              </a:path>
            </a:pathLst>
          </a:custGeom>
          <a:solidFill>
            <a:srgbClr val="FFFFFF">
              <a:lumMod val="95000"/>
            </a:srgbClr>
          </a:solidFill>
          <a:ln w="3175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5731" rIns="45731" anchor="ctr"/>
          <a:lstStyle/>
          <a:p>
            <a:pPr marL="180000" marR="0" lvl="0" indent="0" algn="l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05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35" name="Freeform 4">
            <a:extLst>
              <a:ext uri="{FF2B5EF4-FFF2-40B4-BE49-F238E27FC236}">
                <a16:creationId xmlns:a16="http://schemas.microsoft.com/office/drawing/2014/main" id="{16EB12EB-C9C8-0E1B-FAA9-7C185D4FBB8A}"/>
              </a:ext>
            </a:extLst>
          </p:cNvPr>
          <p:cNvSpPr>
            <a:spLocks/>
          </p:cNvSpPr>
          <p:nvPr/>
        </p:nvSpPr>
        <p:spPr bwMode="auto">
          <a:xfrm>
            <a:off x="9310447" y="2531448"/>
            <a:ext cx="1715591" cy="467344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5731" rIns="45731" anchor="ctr"/>
          <a:lstStyle/>
          <a:p>
            <a:pPr marL="180000" marR="0" lvl="0" indent="0" algn="l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050" b="1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Light" panose="000004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33272A-4420-490E-984A-60DC5AF5FF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/>
              <a:t>Próximos passos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AF032C38-F273-9BA9-5B09-E5F60A8CCF62}"/>
              </a:ext>
            </a:extLst>
          </p:cNvPr>
          <p:cNvSpPr txBox="1">
            <a:spLocks/>
          </p:cNvSpPr>
          <p:nvPr/>
        </p:nvSpPr>
        <p:spPr>
          <a:xfrm>
            <a:off x="609521" y="1041455"/>
            <a:ext cx="11114228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457066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Light" panose="00000400000000000000" pitchFamily="2" charset="0"/>
              </a:rPr>
              <a:t>No seguimento do plano previamente apresentado, enumeramos as próximas atividades de projeto a desenvolver </a:t>
            </a:r>
            <a:r>
              <a:rPr lang="pt-PT" dirty="0"/>
              <a:t>até ao dia </a:t>
            </a:r>
            <a:r>
              <a:rPr lang="pt-PT" b="1" dirty="0"/>
              <a:t>11 de abril</a:t>
            </a:r>
            <a:r>
              <a:rPr lang="pt-PT" dirty="0"/>
              <a:t>:</a:t>
            </a:r>
            <a:endParaRPr kumimoji="0" lang="pt-PT" sz="1200" b="1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highlight>
                <a:srgbClr val="FFFFFF"/>
              </a:highlight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28" name="Freeform 4">
            <a:extLst>
              <a:ext uri="{FF2B5EF4-FFF2-40B4-BE49-F238E27FC236}">
                <a16:creationId xmlns:a16="http://schemas.microsoft.com/office/drawing/2014/main" id="{4A7DDA01-D2C4-AFB1-5D5B-F7BD51D1EBD5}"/>
              </a:ext>
            </a:extLst>
          </p:cNvPr>
          <p:cNvSpPr>
            <a:spLocks/>
          </p:cNvSpPr>
          <p:nvPr/>
        </p:nvSpPr>
        <p:spPr bwMode="auto">
          <a:xfrm>
            <a:off x="1117721" y="1590215"/>
            <a:ext cx="8075595" cy="338400"/>
          </a:xfrm>
          <a:custGeom>
            <a:avLst/>
            <a:gdLst>
              <a:gd name="T0" fmla="*/ 0 w 4465"/>
              <a:gd name="T1" fmla="*/ 0 h 721"/>
              <a:gd name="T2" fmla="*/ 170892773 w 4465"/>
              <a:gd name="T3" fmla="*/ 626667129 h 721"/>
              <a:gd name="T4" fmla="*/ 0 w 4465"/>
              <a:gd name="T5" fmla="*/ 1311628059 h 721"/>
              <a:gd name="T6" fmla="*/ 2147483647 w 4465"/>
              <a:gd name="T7" fmla="*/ 1311628059 h 721"/>
              <a:gd name="T8" fmla="*/ 2147483647 w 4465"/>
              <a:gd name="T9" fmla="*/ 0 h 721"/>
              <a:gd name="T10" fmla="*/ 0 w 4465"/>
              <a:gd name="T11" fmla="*/ 0 h 72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9998"/>
              <a:gd name="connsiteY0" fmla="*/ 0 h 9986"/>
              <a:gd name="connsiteX1" fmla="*/ 106 w 9998"/>
              <a:gd name="connsiteY1" fmla="*/ 4771 h 9986"/>
              <a:gd name="connsiteX2" fmla="*/ 0 w 9998"/>
              <a:gd name="connsiteY2" fmla="*/ 9986 h 9986"/>
              <a:gd name="connsiteX3" fmla="*/ 9998 w 9998"/>
              <a:gd name="connsiteY3" fmla="*/ 9986 h 9986"/>
              <a:gd name="connsiteX4" fmla="*/ 9998 w 9998"/>
              <a:gd name="connsiteY4" fmla="*/ 0 h 9986"/>
              <a:gd name="connsiteX5" fmla="*/ 0 w 9998"/>
              <a:gd name="connsiteY5" fmla="*/ 0 h 9986"/>
              <a:gd name="connsiteX0" fmla="*/ 0 w 10000"/>
              <a:gd name="connsiteY0" fmla="*/ 0 h 10000"/>
              <a:gd name="connsiteX1" fmla="*/ 118 w 10000"/>
              <a:gd name="connsiteY1" fmla="*/ 4851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5 w 10000"/>
              <a:gd name="connsiteY1" fmla="*/ 4459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9 w 10000"/>
              <a:gd name="connsiteY1" fmla="*/ 4968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9 w 10000"/>
              <a:gd name="connsiteY1" fmla="*/ 4677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3 w 10000"/>
              <a:gd name="connsiteY1" fmla="*/ 4793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0 w 10000"/>
              <a:gd name="connsiteY1" fmla="*/ 4619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4 w 10000"/>
              <a:gd name="connsiteY1" fmla="*/ 4793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6 w 10000"/>
              <a:gd name="connsiteY1" fmla="*/ 4793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0 w 10000"/>
              <a:gd name="connsiteY1" fmla="*/ 4851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13 w 10000"/>
              <a:gd name="connsiteY1" fmla="*/ 4793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94 w 10000"/>
              <a:gd name="connsiteY1" fmla="*/ 4793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83 w 10000"/>
              <a:gd name="connsiteY1" fmla="*/ 4449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98 w 10000"/>
              <a:gd name="connsiteY1" fmla="*/ 4707 h 10000"/>
              <a:gd name="connsiteX2" fmla="*/ 0 w 10000"/>
              <a:gd name="connsiteY2" fmla="*/ 10000 h 10000"/>
              <a:gd name="connsiteX3" fmla="*/ 10000 w 10000"/>
              <a:gd name="connsiteY3" fmla="*/ 10000 h 10000"/>
              <a:gd name="connsiteX4" fmla="*/ 10000 w 10000"/>
              <a:gd name="connsiteY4" fmla="*/ 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5" y="1592"/>
                  <a:pt x="63" y="3114"/>
                  <a:pt x="98" y="4707"/>
                </a:cubicBezTo>
                <a:cubicBezTo>
                  <a:pt x="63" y="6447"/>
                  <a:pt x="35" y="8260"/>
                  <a:pt x="0" y="10000"/>
                </a:cubicBezTo>
                <a:lnTo>
                  <a:pt x="10000" y="10000"/>
                </a:lnTo>
                <a:lnTo>
                  <a:pt x="10000" y="0"/>
                </a:lnTo>
                <a:lnTo>
                  <a:pt x="0" y="0"/>
                </a:lnTo>
              </a:path>
            </a:pathLst>
          </a:custGeom>
          <a:solidFill>
            <a:srgbClr val="003E51"/>
          </a:solidFill>
          <a:ln w="3175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5731" rIns="45731" anchor="ctr"/>
          <a:lstStyle/>
          <a:p>
            <a:pPr marL="0" marR="0" lvl="0" indent="0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"/>
                <a:ea typeface="Tahoma" pitchFamily="34" charset="0"/>
                <a:cs typeface="Arial" panose="020B0604020202020204" pitchFamily="34" charset="0"/>
              </a:rPr>
              <a:t>Atividades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Light" panose="00000400000000000000" pitchFamily="2" charset="0"/>
              <a:cs typeface="Arial" panose="020B0604020202020204" pitchFamily="34" charset="0"/>
            </a:endParaRPr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48F0DA85-955E-4452-7B0D-F52B834D3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56" y="1590216"/>
            <a:ext cx="405352" cy="338400"/>
          </a:xfrm>
          <a:prstGeom prst="homePlate">
            <a:avLst>
              <a:gd name="adj" fmla="val 17597"/>
            </a:avLst>
          </a:prstGeom>
          <a:solidFill>
            <a:srgbClr val="003E51"/>
          </a:solidFill>
          <a:ln w="3175">
            <a:noFill/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Light" panose="00000400000000000000" pitchFamily="2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30" name="Freeform 4">
            <a:extLst>
              <a:ext uri="{FF2B5EF4-FFF2-40B4-BE49-F238E27FC236}">
                <a16:creationId xmlns:a16="http://schemas.microsoft.com/office/drawing/2014/main" id="{CCF5AC05-A6A2-1FB2-C40B-10F35F929148}"/>
              </a:ext>
            </a:extLst>
          </p:cNvPr>
          <p:cNvSpPr>
            <a:spLocks/>
          </p:cNvSpPr>
          <p:nvPr/>
        </p:nvSpPr>
        <p:spPr bwMode="auto">
          <a:xfrm>
            <a:off x="9309645" y="1590215"/>
            <a:ext cx="1716393" cy="338400"/>
          </a:xfrm>
          <a:prstGeom prst="rect">
            <a:avLst/>
          </a:prstGeom>
          <a:solidFill>
            <a:srgbClr val="003E51"/>
          </a:solidFill>
          <a:ln w="3175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5731" rIns="45731" anchor="ctr"/>
          <a:lstStyle/>
          <a:p>
            <a:pPr marL="0" marR="0" lvl="0" indent="0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Light" panose="00000400000000000000" pitchFamily="2" charset="0"/>
                <a:cs typeface="Arial" panose="020B0604020202020204" pitchFamily="34" charset="0"/>
              </a:rPr>
              <a:t>Owner</a:t>
            </a:r>
          </a:p>
        </p:txBody>
      </p:sp>
      <p:graphicFrame>
        <p:nvGraphicFramePr>
          <p:cNvPr id="52" name="Table 52">
            <a:extLst>
              <a:ext uri="{FF2B5EF4-FFF2-40B4-BE49-F238E27FC236}">
                <a16:creationId xmlns:a16="http://schemas.microsoft.com/office/drawing/2014/main" id="{43E44C24-1A42-9E6B-AA5F-0298A288D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53029"/>
              </p:ext>
            </p:extLst>
          </p:nvPr>
        </p:nvGraphicFramePr>
        <p:xfrm>
          <a:off x="1244476" y="1979722"/>
          <a:ext cx="7947795" cy="4276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47795">
                  <a:extLst>
                    <a:ext uri="{9D8B030D-6E8A-4147-A177-3AD203B41FA5}">
                      <a16:colId xmlns:a16="http://schemas.microsoft.com/office/drawing/2014/main" val="386409900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pt-PT" sz="1050" b="0" dirty="0">
                          <a:latin typeface="Muli Light" panose="00000400000000000000" pitchFamily="2" charset="0"/>
                        </a:rPr>
                        <a:t>Agendamento das reuniões de ponto de situação do projeto.</a:t>
                      </a:r>
                      <a:endParaRPr lang="pt-PT" sz="1050" b="0" i="1" dirty="0">
                        <a:highlight>
                          <a:srgbClr val="FFFF00"/>
                        </a:highlight>
                        <a:latin typeface="Muli Light" panose="000004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184233"/>
                  </a:ext>
                </a:extLst>
              </a:tr>
              <a:tr h="475043">
                <a:tc>
                  <a:txBody>
                    <a:bodyPr/>
                    <a:lstStyle/>
                    <a:p>
                      <a:r>
                        <a:rPr lang="pt-PT" sz="1050" b="0" dirty="0">
                          <a:latin typeface="Muli Light" panose="00000400000000000000" pitchFamily="2" charset="0"/>
                        </a:rPr>
                        <a:t>Disponibilização de calendário da tabela de parametrização de </a:t>
                      </a:r>
                      <a:r>
                        <a:rPr lang="pt-PT" sz="1050" b="0" i="1" dirty="0">
                          <a:latin typeface="Muli Light" panose="00000400000000000000" pitchFamily="2" charset="0"/>
                        </a:rPr>
                        <a:t>IDCOMBS</a:t>
                      </a:r>
                      <a:r>
                        <a:rPr lang="pt-PT" sz="1050" b="0" dirty="0">
                          <a:latin typeface="Muli Light" panose="00000400000000000000" pitchFamily="2" charset="0"/>
                        </a:rPr>
                        <a:t> (AG001) e incorporação de imóveis adjudicados no Modelo de Bens Imóveis – </a:t>
                      </a:r>
                      <a:r>
                        <a:rPr lang="pt-PT" sz="1050" b="1" dirty="0">
                          <a:latin typeface="Muli Light" panose="00000400000000000000" pitchFamily="2" charset="0"/>
                        </a:rPr>
                        <a:t>a discutir</a:t>
                      </a:r>
                      <a:r>
                        <a:rPr lang="pt-PT" sz="1050" b="0" dirty="0">
                          <a:latin typeface="Muli Light" panose="00000400000000000000" pitchFamily="2" charset="0"/>
                        </a:rPr>
                        <a:t>.</a:t>
                      </a:r>
                      <a:endParaRPr lang="pt-PT" sz="1050" b="0" i="1" dirty="0">
                        <a:highlight>
                          <a:srgbClr val="FFFF00"/>
                        </a:highlight>
                        <a:latin typeface="Muli Light" panose="000004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91517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3E5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</a:rPr>
                        <a:t>Início de implementação do </a:t>
                      </a:r>
                      <a:r>
                        <a:rPr kumimoji="0" lang="pt-PT" sz="105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3E5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</a:rPr>
                        <a:t>Sátélite</a:t>
                      </a:r>
                      <a:r>
                        <a:rPr kumimoji="0" lang="pt-PT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3E5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</a:rPr>
                        <a:t> 79.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52543"/>
                  </a:ext>
                </a:extLst>
              </a:tr>
              <a:tr h="475043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3E5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299366"/>
                  </a:ext>
                </a:extLst>
              </a:tr>
              <a:tr h="475043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3E5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</a:rPr>
                        <a:t>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624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3E51"/>
                        </a:solidFill>
                        <a:effectLst/>
                        <a:uLnTx/>
                        <a:uFillTx/>
                        <a:latin typeface="Muli Light" panose="000004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270830"/>
                  </a:ext>
                </a:extLst>
              </a:tr>
              <a:tr h="475043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3E51"/>
                        </a:solidFill>
                        <a:effectLst/>
                        <a:uLnTx/>
                        <a:uFillTx/>
                        <a:latin typeface="Muli Light" panose="000004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46675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3E51"/>
                        </a:solidFill>
                        <a:effectLst/>
                        <a:uLnTx/>
                        <a:uFillTx/>
                        <a:latin typeface="Muli Light" panose="000004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875087"/>
                  </a:ext>
                </a:extLst>
              </a:tr>
            </a:tbl>
          </a:graphicData>
        </a:graphic>
      </p:graphicFrame>
      <p:pic>
        <p:nvPicPr>
          <p:cNvPr id="23" name="Picture 2" descr="Banco Santander Logo PNG Download Original Logo Big Size">
            <a:extLst>
              <a:ext uri="{FF2B5EF4-FFF2-40B4-BE49-F238E27FC236}">
                <a16:creationId xmlns:a16="http://schemas.microsoft.com/office/drawing/2014/main" id="{9579A993-DE60-169F-510E-F029A08BE8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05" b="41227"/>
          <a:stretch/>
        </p:blipFill>
        <p:spPr bwMode="auto">
          <a:xfrm>
            <a:off x="10084352" y="2147342"/>
            <a:ext cx="964861" cy="173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F6645532-CF3C-2735-4CDA-6DEBBCE16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11968" y="3123068"/>
            <a:ext cx="712548" cy="313597"/>
          </a:xfrm>
          <a:prstGeom prst="rect">
            <a:avLst/>
          </a:prstGeom>
        </p:spPr>
      </p:pic>
      <p:pic>
        <p:nvPicPr>
          <p:cNvPr id="5" name="Picture 2" descr="Banco Santander Logo PNG Download Original Logo Big Size">
            <a:extLst>
              <a:ext uri="{FF2B5EF4-FFF2-40B4-BE49-F238E27FC236}">
                <a16:creationId xmlns:a16="http://schemas.microsoft.com/office/drawing/2014/main" id="{F8722800-7961-37ED-1799-BEA4CCF1F7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05" b="41227"/>
          <a:stretch/>
        </p:blipFill>
        <p:spPr bwMode="auto">
          <a:xfrm>
            <a:off x="9685812" y="2678435"/>
            <a:ext cx="964861" cy="173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5588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075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6ix91pThk21SUQSEp3pI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T9RJRJjk0eX6ZOPzxx0O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0RkNmnZbEuFN6ZBXjp0k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bSGaUfJhES.dar7pB.zx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KpE4FBlTkG6IWHVybT9t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cihT8ulyEiIm6k9tw606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FE9i9ibUuPIm4LWRLoA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y.EFoYdEisnifGxjTsf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av4lLRYgUy3e4gugqQXH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vNo0FanHE2t9UNFTUpa1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vNo0FanHE2t9UNFTUpa1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gE63hg.5kqEXNIFFHyedw"/>
</p:tagLst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C4F319D-F7CC-47B8-B464-87FE1764F457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8F48CE1-8A91-4E1A-BE73-7D2F7DAC64B1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F2E31E4-9901-495B-855A-2D2A068FEFFE}"/>
    </a:ext>
  </a:extLst>
</a:theme>
</file>

<file path=ppt/theme/theme4.xml><?xml version="1.0" encoding="utf-8"?>
<a:theme xmlns:a="http://schemas.openxmlformats.org/drawingml/2006/main" name="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B2FE4A6B-F6AD-41F4-B806-7D3213B1E04B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5EF05C4-3636-43ED-9363-705EB74EA362}"/>
    </a:ext>
  </a:extLst>
</a:theme>
</file>

<file path=ppt/theme/theme6.xml><?xml version="1.0" encoding="utf-8"?>
<a:theme xmlns:a="http://schemas.openxmlformats.org/drawingml/2006/main" name="1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7DA459F9-F72B-4C75-9D6C-ACE866DAF679}"/>
    </a:ext>
  </a:extLst>
</a:theme>
</file>

<file path=ppt/theme/theme7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0BF0CA76-717D-4029-9DE4-3DF3A88C9284}"/>
    </a:ext>
  </a:extLst>
</a:theme>
</file>

<file path=ppt/theme/theme8.xml><?xml version="1.0" encoding="utf-8"?>
<a:theme xmlns:a="http://schemas.openxmlformats.org/drawingml/2006/main" name="5_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9.xml><?xml version="1.0" encoding="utf-8"?>
<a:theme xmlns:a="http://schemas.openxmlformats.org/drawingml/2006/main" name="1_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1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E0148DB1B66DA499B9393429ED53FDC" ma:contentTypeVersion="10" ma:contentTypeDescription="Criar um novo documento." ma:contentTypeScope="" ma:versionID="ecfdfd14f0df8c1a99a227e0dc8cc6fd">
  <xsd:schema xmlns:xsd="http://www.w3.org/2001/XMLSchema" xmlns:xs="http://www.w3.org/2001/XMLSchema" xmlns:p="http://schemas.microsoft.com/office/2006/metadata/properties" xmlns:ns1="http://schemas.microsoft.com/sharepoint/v3" xmlns:ns2="0273747b-dca1-4d55-aa99-3e8d5a2b08f3" targetNamespace="http://schemas.microsoft.com/office/2006/metadata/properties" ma:root="true" ma:fieldsID="a8fd8de08d5357c2321d147be1138355" ns1:_="" ns2:_="">
    <xsd:import namespace="http://schemas.microsoft.com/sharepoint/v3"/>
    <xsd:import namespace="0273747b-dca1-4d55-aa99-3e8d5a2b08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73747b-dca1-4d55-aa99-3e8d5a2b08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CDE1B3E-ED74-42B9-920D-4A03699A3255}"/>
</file>

<file path=customXml/itemProps2.xml><?xml version="1.0" encoding="utf-8"?>
<ds:datastoreItem xmlns:ds="http://schemas.openxmlformats.org/officeDocument/2006/customXml" ds:itemID="{ACBF8D17-0426-4CC1-8F30-F5A1DD0A79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F4B554-327C-4269-8756-69B4FDD30EB7}">
  <ds:schemaRefs>
    <ds:schemaRef ds:uri="fab952a2-8941-4fa8-b764-bee61bfe4a9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Neyond v0.4</Template>
  <TotalTime>135</TotalTime>
  <Words>791</Words>
  <Application>Microsoft Office PowerPoint</Application>
  <PresentationFormat>Custom</PresentationFormat>
  <Paragraphs>144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9</vt:i4>
      </vt:variant>
    </vt:vector>
  </HeadingPairs>
  <TitlesOfParts>
    <vt:vector size="27" baseType="lpstr">
      <vt:lpstr>Abril Fatface</vt:lpstr>
      <vt:lpstr>Arial</vt:lpstr>
      <vt:lpstr>Arial Unicode MS</vt:lpstr>
      <vt:lpstr>Calibri</vt:lpstr>
      <vt:lpstr>Helvetica Neue</vt:lpstr>
      <vt:lpstr>Muli</vt:lpstr>
      <vt:lpstr>Muli Black</vt:lpstr>
      <vt:lpstr>Muli Bold</vt:lpstr>
      <vt:lpstr>Muli Light</vt:lpstr>
      <vt:lpstr>1_Neyond_capa1</vt:lpstr>
      <vt:lpstr>Índice Neyond</vt:lpstr>
      <vt:lpstr>3_Neyond_separador</vt:lpstr>
      <vt:lpstr>Custom Design</vt:lpstr>
      <vt:lpstr>4_Custom Design</vt:lpstr>
      <vt:lpstr>1_Neyond_contracapa</vt:lpstr>
      <vt:lpstr>2_Neyond_Contracapa</vt:lpstr>
      <vt:lpstr>5_Custom Design</vt:lpstr>
      <vt:lpstr>1_Índice Neyond</vt:lpstr>
      <vt:lpstr>Implementação Satélites Corporativos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Neyond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Neyond Proposta e Apresentacao</dc:subject>
  <dc:creator>Escaleira, Diogo Alexandre</dc:creator>
  <cp:lastModifiedBy>Caguerelho, Ana Rita</cp:lastModifiedBy>
  <cp:revision>9</cp:revision>
  <dcterms:created xsi:type="dcterms:W3CDTF">2021-03-15T11:35:43Z</dcterms:created>
  <dcterms:modified xsi:type="dcterms:W3CDTF">2025-03-31T16:37:53Z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0x010100AE0148DB1B66DA499B9393429ED53FDC</vt:lpwstr>
  </property>
</Properties>
</file>