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31"/>
  </p:notesMasterIdLst>
  <p:sldIdLst>
    <p:sldId id="1786" r:id="rId22"/>
    <p:sldId id="258" r:id="rId23"/>
    <p:sldId id="1924" r:id="rId24"/>
    <p:sldId id="3152" r:id="rId25"/>
    <p:sldId id="3153" r:id="rId26"/>
    <p:sldId id="3157" r:id="rId27"/>
    <p:sldId id="3151" r:id="rId28"/>
    <p:sldId id="3158" r:id="rId29"/>
    <p:sldId id="266" r:id="rId30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13" name="Ana Rita Geraldo de Caguerelho" initials="ARGdC" lastIdx="16" clrIdx="12">
    <p:extLst>
      <p:ext uri="{19B8F6BF-5375-455C-9EA6-DF929625EA0E}">
        <p15:presenceInfo xmlns:p15="http://schemas.microsoft.com/office/powerpoint/2012/main" userId="S-1-5-21-478741036-1442749419-1446792091-251329" providerId="AD"/>
      </p:ext>
    </p:extLst>
  </p:cmAuthor>
  <p:cmAuthor id="14" name="Henrique Crespo Rodrigues Antunes Correia" initials="HCRAC" lastIdx="3" clrIdx="13">
    <p:extLst>
      <p:ext uri="{19B8F6BF-5375-455C-9EA6-DF929625EA0E}">
        <p15:presenceInfo xmlns:p15="http://schemas.microsoft.com/office/powerpoint/2012/main" userId="S-1-5-21-478741036-1442749419-1446792091-246923" providerId="AD"/>
      </p:ext>
    </p:extLst>
  </p:cmAuthor>
  <p:cmAuthor id="15" name="Diogo Alexandre Escaleira" initials="DAE" lastIdx="6" clrIdx="14">
    <p:extLst>
      <p:ext uri="{19B8F6BF-5375-455C-9EA6-DF929625EA0E}">
        <p15:presenceInfo xmlns:p15="http://schemas.microsoft.com/office/powerpoint/2012/main" userId="S-1-5-21-478741036-1442749419-1446792091-251128" providerId="AD"/>
      </p:ext>
    </p:extLst>
  </p:cmAuthor>
  <p:cmAuthor id="16" name="João Ricardo Galhardo Almeida Costa" initials="JRGAC" lastIdx="2" clrIdx="15">
    <p:extLst>
      <p:ext uri="{19B8F6BF-5375-455C-9EA6-DF929625EA0E}">
        <p15:presenceInfo xmlns:p15="http://schemas.microsoft.com/office/powerpoint/2012/main" userId="S-1-5-21-478741036-1442749419-1446792091-261144" providerId="AD"/>
      </p:ext>
    </p:extLst>
  </p:cmAuthor>
  <p:cmAuthor id="17" name="Hélder Filipe Felicidade Fernandes" initials="HFFF" lastIdx="3" clrIdx="16">
    <p:extLst>
      <p:ext uri="{19B8F6BF-5375-455C-9EA6-DF929625EA0E}">
        <p15:presenceInfo xmlns:p15="http://schemas.microsoft.com/office/powerpoint/2012/main" userId="S-1-5-21-478741036-1442749419-1446792091-26121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66"/>
    <a:srgbClr val="003E51"/>
    <a:srgbClr val="707070"/>
    <a:srgbClr val="8BCD44"/>
    <a:srgbClr val="C00000"/>
    <a:srgbClr val="FFDF79"/>
    <a:srgbClr val="005F7C"/>
    <a:srgbClr val="5F5F5F"/>
    <a:srgbClr val="94E6FF"/>
    <a:srgbClr val="009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03" autoAdjust="0"/>
    <p:restoredTop sz="95012" autoAdjust="0"/>
  </p:normalViewPr>
  <p:slideViewPr>
    <p:cSldViewPr snapToGrid="0">
      <p:cViewPr varScale="1">
        <p:scale>
          <a:sx n="104" d="100"/>
          <a:sy n="104" d="100"/>
        </p:scale>
        <p:origin x="438" y="120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3" dt="2025-05-29T09:06:50.996" idx="8">
    <p:pos x="6739" y="2096"/>
    <p:text>Esta data nao pode ser 3/abr, terá de ser a data de hoje porque é o primeiro pds que apresentamos isto</p:text>
    <p:extLst>
      <p:ext uri="{C676402C-5697-4E1C-873F-D02D1690AC5C}">
        <p15:threadingInfo xmlns:p15="http://schemas.microsoft.com/office/powerpoint/2012/main" timeZoneBias="-60"/>
      </p:ext>
    </p:extLst>
  </p:cm>
  <p:cm authorId="13" dt="2025-05-29T09:07:22.774" idx="9">
    <p:pos x="1346" y="2609"/>
    <p:text>Esta tabela já temos, no limite colocamos a tabela de contratos após passagem por esta tabela</p:text>
    <p:extLst>
      <p:ext uri="{C676402C-5697-4E1C-873F-D02D1690AC5C}">
        <p15:threadingInfo xmlns:p15="http://schemas.microsoft.com/office/powerpoint/2012/main" timeZoneBias="-60"/>
      </p:ext>
    </p:extLst>
  </p:cm>
  <p:cm authorId="13" dt="2025-05-29T09:07:48.679" idx="10">
    <p:pos x="6128" y="1582"/>
    <p:text>Este risco nao deverá ser dado como fechado?</p:text>
    <p:extLst>
      <p:ext uri="{C676402C-5697-4E1C-873F-D02D1690AC5C}">
        <p15:threadingInfo xmlns:p15="http://schemas.microsoft.com/office/powerpoint/2012/main" timeZoneBias="-60"/>
      </p:ext>
    </p:extLst>
  </p:cm>
  <p:cm authorId="13" dt="2025-05-29T09:08:15.864" idx="11">
    <p:pos x="1298" y="416"/>
    <p:text>Faltam aqui pontos face aos que identificámos acima</p:text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3" dt="2025-06-25T17:41:08.058" idx="15">
    <p:pos x="6933" y="2464"/>
    <p:text>A confirmar com DE</p:text>
    <p:extLst>
      <p:ext uri="{C676402C-5697-4E1C-873F-D02D1690AC5C}">
        <p15:threadingInfo xmlns:p15="http://schemas.microsoft.com/office/powerpoint/2012/main" timeZoneBias="-60"/>
      </p:ext>
    </p:extLst>
  </p:cm>
  <p:cm authorId="13" dt="2025-06-25T17:41:16.524" idx="16">
    <p:pos x="6933" y="2811"/>
    <p:text>A confirmar com DE</p:text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0032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00706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41458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9756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8417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Relationship Id="rId4" Type="http://schemas.microsoft.com/office/2018/10/relationships/comments" Target="NUL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comments" Target="../comments/comment2.xml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</a:t>
            </a:r>
            <a:r>
              <a:rPr lang="pt-PT" dirty="0" smtClean="0">
                <a:latin typeface="Arial" panose="020B0604020202020204" pitchFamily="34" charset="0"/>
              </a:rPr>
              <a:t>#9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 smtClean="0">
                <a:latin typeface="Arial" panose="020B0604020202020204" pitchFamily="34" charset="0"/>
              </a:rPr>
              <a:t>26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junho de 2025</a:t>
            </a:r>
            <a:endParaRPr lang="pt-PT" dirty="0"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076" y="2780694"/>
            <a:ext cx="7498749" cy="900308"/>
          </a:xfrm>
        </p:spPr>
        <p:txBody>
          <a:bodyPr/>
          <a:lstStyle/>
          <a:p>
            <a:r>
              <a:rPr lang="pt-PT" sz="2000" dirty="0" smtClean="0">
                <a:latin typeface="Arial" panose="020B0604020202020204" pitchFamily="34" charset="0"/>
              </a:rPr>
              <a:t>Implementação Templates Locais &amp; Satélites Corporativos</a:t>
            </a:r>
            <a:endParaRPr lang="pt-PT" sz="2000" dirty="0">
              <a:latin typeface="Arial" panose="020B0604020202020204" pitchFamily="34" charset="0"/>
            </a:endParaRP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</a:t>
            </a:r>
            <a:r>
              <a:rPr lang="pt-PT" sz="110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9ª </a:t>
            </a: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16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:30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–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17:00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26 </a:t>
            </a: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 </a:t>
            </a: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junho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2025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130601" y="3120820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</a:t>
            </a:r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737508"/>
            <a:ext cx="324439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Diogo Escaleira</a:t>
            </a:r>
          </a:p>
          <a:p>
            <a:endParaRPr lang="pt-PT" sz="1000" dirty="0" smtClea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Caguerelho</a:t>
            </a:r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Hélder Fernandes</a:t>
            </a: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 Natário</a:t>
            </a:r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João Galhardo</a:t>
            </a:r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8943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8943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637970" y="5891389"/>
              <a:ext cx="65915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Legenda</a:t>
              </a:r>
              <a:endParaRPr lang="pt-PT" sz="900" b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EA6C23-674A-479C-B866-18314CBBEBA1}"/>
              </a:ext>
            </a:extLst>
          </p:cNvPr>
          <p:cNvGrpSpPr/>
          <p:nvPr/>
        </p:nvGrpSpPr>
        <p:grpSpPr>
          <a:xfrm>
            <a:off x="7950233" y="1264393"/>
            <a:ext cx="3600000" cy="4894848"/>
            <a:chOff x="8028330" y="1264393"/>
            <a:chExt cx="3600000" cy="489484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A70E3A-9F42-4FE8-BE75-FF9DDC4EFC28}"/>
                </a:ext>
              </a:extLst>
            </p:cNvPr>
            <p:cNvGrpSpPr/>
            <p:nvPr/>
          </p:nvGrpSpPr>
          <p:grpSpPr>
            <a:xfrm>
              <a:off x="8028330" y="1264393"/>
              <a:ext cx="3600000" cy="4894848"/>
              <a:chOff x="7743850" y="1264393"/>
              <a:chExt cx="3240000" cy="4894848"/>
            </a:xfrm>
          </p:grpSpPr>
          <p:sp>
            <p:nvSpPr>
              <p:cNvPr id="35" name="AutoShape 5">
                <a:extLst>
                  <a:ext uri="{FF2B5EF4-FFF2-40B4-BE49-F238E27FC236}">
                    <a16:creationId xmlns:a16="http://schemas.microsoft.com/office/drawing/2014/main" id="{43D09C47-A09D-47B1-B48B-2A227BBF0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9025387" y="-17143"/>
                <a:ext cx="662903" cy="3225975"/>
              </a:xfrm>
              <a:prstGeom prst="homePlate">
                <a:avLst>
                  <a:gd name="adj" fmla="val 41986"/>
                </a:avLst>
              </a:prstGeom>
              <a:solidFill>
                <a:srgbClr val="003E51"/>
              </a:solidFill>
              <a:ln w="190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19191"/>
                      </a:outerShdw>
                    </a:effectLst>
                  </a14:hiddenEffects>
                </a:ext>
              </a:extLst>
            </p:spPr>
            <p:txBody>
              <a:bodyPr vert="eaVert" wrap="none" lIns="45731" rIns="45731"/>
              <a:lstStyle>
                <a:lvl1pPr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400" b="1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58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GB" altLang="pt-PT" sz="9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7" name="Freeform 6">
                <a:extLst>
                  <a:ext uri="{FF2B5EF4-FFF2-40B4-BE49-F238E27FC236}">
                    <a16:creationId xmlns:a16="http://schemas.microsoft.com/office/drawing/2014/main" id="{159A6AC7-D04B-4272-B901-1C6FA7F3E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3850" y="1648026"/>
                <a:ext cx="3240000" cy="451121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pic>
          <p:nvPicPr>
            <p:cNvPr id="53" name="Graphic 52" descr="Connections">
              <a:extLst>
                <a:ext uri="{FF2B5EF4-FFF2-40B4-BE49-F238E27FC236}">
                  <a16:creationId xmlns:a16="http://schemas.microsoft.com/office/drawing/2014/main" id="{2958E870-3676-43BF-9A54-C2C870799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/>
            <a:stretch/>
          </p:blipFill>
          <p:spPr>
            <a:xfrm>
              <a:off x="9544110" y="1295211"/>
              <a:ext cx="568440" cy="56844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CBB948-28AD-41A0-894D-99CB29EEB6AF}"/>
              </a:ext>
            </a:extLst>
          </p:cNvPr>
          <p:cNvGrpSpPr/>
          <p:nvPr/>
        </p:nvGrpSpPr>
        <p:grpSpPr>
          <a:xfrm>
            <a:off x="617282" y="1264393"/>
            <a:ext cx="3600002" cy="4894861"/>
            <a:chOff x="617282" y="1264393"/>
            <a:chExt cx="3600002" cy="489486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B29F295-60E2-4722-86AF-B0F2C59FF7CD}"/>
                </a:ext>
              </a:extLst>
            </p:cNvPr>
            <p:cNvGrpSpPr/>
            <p:nvPr/>
          </p:nvGrpSpPr>
          <p:grpSpPr>
            <a:xfrm>
              <a:off x="617282" y="1648026"/>
              <a:ext cx="3600002" cy="4511228"/>
              <a:chOff x="1350562" y="1648026"/>
              <a:chExt cx="2952000" cy="4259365"/>
            </a:xfrm>
          </p:grpSpPr>
          <p:sp>
            <p:nvSpPr>
              <p:cNvPr id="41" name="Freeform 6">
                <a:extLst>
                  <a:ext uri="{FF2B5EF4-FFF2-40B4-BE49-F238E27FC236}">
                    <a16:creationId xmlns:a16="http://schemas.microsoft.com/office/drawing/2014/main" id="{7968FF25-F10F-4F3F-BA2E-BE2DB0626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562" y="1648026"/>
                <a:ext cx="2952000" cy="425936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Helvetica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2C4BC3C-1F70-4500-AC90-B256830C063D}"/>
                  </a:ext>
                </a:extLst>
              </p:cNvPr>
              <p:cNvSpPr txBox="1"/>
              <p:nvPr/>
            </p:nvSpPr>
            <p:spPr>
              <a:xfrm>
                <a:off x="1350562" y="1764892"/>
                <a:ext cx="2951998" cy="3501650"/>
              </a:xfrm>
              <a:prstGeom prst="rect">
                <a:avLst/>
              </a:prstGeom>
              <a:noFill/>
            </p:spPr>
            <p:txBody>
              <a:bodyPr wrap="square" lIns="72000" rIns="18000" rtlCol="0" anchor="t">
                <a:spAutoFit/>
              </a:bodyPr>
              <a:lstStyle/>
              <a:p>
                <a:pPr marL="0" marR="0" lvl="0" indent="0" defTabSz="412629" eaLnBrk="1" fontAlgn="auto" latinLnBrk="0" hangingPunct="0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pt-PT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Progresso</a:t>
                </a:r>
                <a:endParaRPr kumimoji="0" lang="pt-PT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Re-teste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à tabela de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cálculo de emissões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financiadas após correção das incidências por parte da equipa de IT. Foram detetadas e partilhadas com a equipa de IT novas incidências relacionadas com o cálculo da emissão;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Continuação da análise comparativa entre as Emissões Financiadas e a Calculadora de Emissões;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Finalização do </a:t>
                </a:r>
                <a:r>
                  <a:rPr lang="pt-PT" sz="11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  <a:r>
                  <a:rPr lang="pt-PT" sz="11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e adaptação dos códigos existentes do Satélite 93.  </a:t>
                </a:r>
                <a:endParaRPr lang="pt-PT" sz="11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Finalização dos entregáveis relativos ao </a:t>
                </a:r>
                <a:r>
                  <a:rPr lang="pt-PT" sz="11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1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Continuação das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alterações de </a:t>
                </a:r>
                <a:r>
                  <a:rPr lang="pt-PT" sz="11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dos </a:t>
                </a:r>
                <a:r>
                  <a:rPr lang="pt-PT" sz="11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Templates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6, 7, 8 e 9,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ajustes da documentação </a:t>
                </a:r>
                <a:r>
                  <a:rPr lang="pt-PT" sz="11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word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1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do paralelo com o exercício tático de dezembro 2024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 </a:t>
                </a:r>
                <a:r>
                  <a:rPr lang="pt-PT" sz="11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  <a:r>
                  <a:rPr lang="pt-PT" sz="11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e adaptação dos códigos existentes do Satélite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84.  </a:t>
                </a:r>
                <a:endParaRPr lang="pt-PT" sz="11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" name="AutoShape 5">
              <a:extLst>
                <a:ext uri="{FF2B5EF4-FFF2-40B4-BE49-F238E27FC236}">
                  <a16:creationId xmlns:a16="http://schemas.microsoft.com/office/drawing/2014/main" id="{C685FF1D-0939-4A5D-B535-CCF8B56EE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2078040" y="-196364"/>
              <a:ext cx="662903" cy="3584417"/>
            </a:xfrm>
            <a:prstGeom prst="homePlate">
              <a:avLst>
                <a:gd name="adj" fmla="val 41986"/>
              </a:avLst>
            </a:prstGeom>
            <a:solidFill>
              <a:srgbClr val="003E51"/>
            </a:solidFill>
            <a:ln w="1905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19191"/>
                    </a:outerShdw>
                  </a:effectLst>
                </a14:hiddenEffects>
              </a:ext>
            </a:extLst>
          </p:spPr>
          <p:txBody>
            <a:bodyPr vert="eaVert" wrap="none" lIns="45731" rIns="45731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GB" altLang="pt-PT" sz="9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sym typeface="Helvetica Light"/>
              </a:endParaRPr>
            </a:p>
          </p:txBody>
        </p:sp>
        <p:pic>
          <p:nvPicPr>
            <p:cNvPr id="48" name="Graphic 47" descr="List RTL">
              <a:extLst>
                <a:ext uri="{FF2B5EF4-FFF2-40B4-BE49-F238E27FC236}">
                  <a16:creationId xmlns:a16="http://schemas.microsoft.com/office/drawing/2014/main" id="{B6DA387A-C4F6-4715-B166-03D3C4B05563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2154636" y="1317778"/>
              <a:ext cx="522516" cy="523306"/>
            </a:xfrm>
            <a:prstGeom prst="rect">
              <a:avLst/>
            </a:prstGeom>
          </p:spPr>
        </p:pic>
      </p:grp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8356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350233" y="1667078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4444237" y="1790427"/>
            <a:ext cx="3343948" cy="24468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Riscos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 </a:t>
            </a: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desafios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1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Inclusão de uma nova coluna na tabela de emissões financiadas de modo a identificar o saldo alvo de reporte corporativo e local; 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1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tabelas de Emissões Financiadas após correção;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1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</a:t>
            </a:r>
            <a:r>
              <a:rPr lang="pt-PT" sz="11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tabela de universo.</a:t>
            </a:r>
          </a:p>
          <a:p>
            <a:pPr algn="l" defTabSz="412629">
              <a:spcBef>
                <a:spcPts val="600"/>
              </a:spcBef>
              <a:spcAft>
                <a:spcPts val="600"/>
              </a:spcAft>
            </a:pP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7034544" y="2120711"/>
            <a:ext cx="188926" cy="188926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8078259" y="1790378"/>
            <a:ext cx="3343948" cy="9694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1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Tecnologia.</a:t>
            </a:r>
            <a:endParaRPr lang="pt-PT" sz="11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11567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10513113" y="2129855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roup 244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58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63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4" name="Diamond 63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66" name="Diamond 65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7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37" name="Diamond 36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0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(1|3)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projeto – Implementação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7536465" y="4527049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7099059" y="4327613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03639" y="2214768"/>
            <a:ext cx="9454930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Gestão de projeto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203638" y="2663528"/>
            <a:ext cx="9454931" cy="932700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91804" y="2466924"/>
            <a:ext cx="9466765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Especificação &amp; Simulação de Requisitos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188F0D9-10D7-7659-3578-B9E0A27D8360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2714665"/>
            <a:ext cx="3542400" cy="22390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universos a reportar por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pt-PT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DECD80-5697-E1DE-70F8-3A2DE1D52CD3}"/>
              </a:ext>
            </a:extLst>
          </p:cNvPr>
          <p:cNvSpPr txBox="1">
            <a:spLocks noChangeAspect="1"/>
          </p:cNvSpPr>
          <p:nvPr/>
        </p:nvSpPr>
        <p:spPr>
          <a:xfrm>
            <a:off x="1171893" y="2937717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Definição</a:t>
            </a:r>
            <a:r>
              <a:rPr lang="pt-PT" sz="1050" i="1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 de conceitos</a:t>
            </a:r>
            <a:endParaRPr lang="pt-PT" sz="105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203638" y="3857701"/>
            <a:ext cx="9454931" cy="109831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91803" y="3653242"/>
            <a:ext cx="9466766" cy="20445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 &amp; Certificação de </a:t>
            </a:r>
            <a:r>
              <a:rPr lang="pt-PT" sz="10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4F695-44B5-2F06-1B4A-84E6F0E20641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3134793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conceitos no LT Estrutural &amp; Satélites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09538-0AB0-E0ED-F799-EDD4D4DCF6AC}"/>
              </a:ext>
            </a:extLst>
          </p:cNvPr>
          <p:cNvSpPr txBox="1">
            <a:spLocks noChangeAspect="1"/>
          </p:cNvSpPr>
          <p:nvPr/>
        </p:nvSpPr>
        <p:spPr>
          <a:xfrm>
            <a:off x="1171893" y="3319188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regras de transformação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52065-2483-9523-D0D6-BC8F68A8DE7D}"/>
              </a:ext>
            </a:extLst>
          </p:cNvPr>
          <p:cNvSpPr txBox="1">
            <a:spLocks noChangeAspect="1"/>
          </p:cNvSpPr>
          <p:nvPr/>
        </p:nvSpPr>
        <p:spPr>
          <a:xfrm>
            <a:off x="1171890" y="3902842"/>
            <a:ext cx="4513937" cy="24865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Implementação de solução de reporte (ODBC &amp;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Procedure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DB1E3-C93D-437F-E43E-6FA6AB12C6EE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4104591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Realização de paralelos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C7B00F-D680-6434-7384-C500312E049B}"/>
              </a:ext>
            </a:extLst>
          </p:cNvPr>
          <p:cNvSpPr txBox="1">
            <a:spLocks noChangeAspect="1"/>
          </p:cNvSpPr>
          <p:nvPr/>
        </p:nvSpPr>
        <p:spPr>
          <a:xfrm>
            <a:off x="1171891" y="4309132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Comparação direta com o exercício tático de Dez24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55CD2-8867-6CD7-750B-60EB1BF1B579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4500991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Correção de implementações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171891" y="470553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56840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81808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38602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65856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809824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568410" y="2255305"/>
            <a:ext cx="509016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5568409" y="2758217"/>
            <a:ext cx="6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568410" y="2507461"/>
            <a:ext cx="2517732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8088505" y="3932010"/>
            <a:ext cx="230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888422" y="3691207"/>
            <a:ext cx="4756083" cy="1442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617472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0" name="Diamond 209">
            <a:extLst>
              <a:ext uri="{FF2B5EF4-FFF2-40B4-BE49-F238E27FC236}">
                <a16:creationId xmlns:a16="http://schemas.microsoft.com/office/drawing/2014/main" id="{526A51FB-4C0E-6BB9-CAC5-CE88C09584B0}"/>
              </a:ext>
            </a:extLst>
          </p:cNvPr>
          <p:cNvSpPr>
            <a:spLocks noChangeAspect="1"/>
          </p:cNvSpPr>
          <p:nvPr/>
        </p:nvSpPr>
        <p:spPr>
          <a:xfrm>
            <a:off x="6009231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1" name="Diamond 210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326307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3" name="Diamond 212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643383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4" name="Diamond 213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960459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5" name="Diamond 214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277535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6" name="Diamond 215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594611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7" name="Diamond 216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911687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8" name="Diamond 217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228763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9" name="Diamond 218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545839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0" name="Diamond 219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862915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1" name="Diamond 220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179991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2" name="Diamond 221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497067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3" name="Diamond 222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814143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9" name="Diamond 228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10131219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Diamond 229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448295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87191-4DF4-6C51-3A62-100E3E6F055F}"/>
              </a:ext>
            </a:extLst>
          </p:cNvPr>
          <p:cNvSpPr/>
          <p:nvPr/>
        </p:nvSpPr>
        <p:spPr>
          <a:xfrm>
            <a:off x="5568409" y="2993078"/>
            <a:ext cx="2520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6182A-7106-57E4-5EB6-8E1D22CA5E7B}"/>
              </a:ext>
            </a:extLst>
          </p:cNvPr>
          <p:cNvSpPr/>
          <p:nvPr/>
        </p:nvSpPr>
        <p:spPr>
          <a:xfrm>
            <a:off x="5568409" y="3190231"/>
            <a:ext cx="97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1F7DB-3F68-91E2-C963-81A7065C0E4F}"/>
              </a:ext>
            </a:extLst>
          </p:cNvPr>
          <p:cNvSpPr/>
          <p:nvPr/>
        </p:nvSpPr>
        <p:spPr>
          <a:xfrm>
            <a:off x="6529072" y="3387384"/>
            <a:ext cx="1548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09A4726-C9AE-CC72-4CBC-15639DA8EC96}"/>
              </a:ext>
            </a:extLst>
          </p:cNvPr>
          <p:cNvSpPr/>
          <p:nvPr/>
        </p:nvSpPr>
        <p:spPr>
          <a:xfrm>
            <a:off x="5890142" y="4131446"/>
            <a:ext cx="219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5890142" y="4330882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6437615" y="4530318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91803" y="5010698"/>
            <a:ext cx="9504000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1154871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and Materials</a:t>
            </a:r>
            <a:r>
              <a:rPr kumimoji="0" lang="pt-PT" sz="8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7816589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7872548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9417934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9473893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409651" y="472724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483610" y="474358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888422" y="1916015"/>
            <a:ext cx="101026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909821" y="1916015"/>
            <a:ext cx="125501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E98C0-CE50-5BB4-9627-CFB1F1182500}"/>
              </a:ext>
            </a:extLst>
          </p:cNvPr>
          <p:cNvSpPr/>
          <p:nvPr/>
        </p:nvSpPr>
        <p:spPr>
          <a:xfrm>
            <a:off x="5566477" y="1916015"/>
            <a:ext cx="310807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Março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175971" y="1916015"/>
            <a:ext cx="157762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A820F-6923-918E-28FC-3FBD45F1174D}"/>
              </a:ext>
            </a:extLst>
          </p:cNvPr>
          <p:cNvSpPr txBox="1"/>
          <p:nvPr/>
        </p:nvSpPr>
        <p:spPr>
          <a:xfrm>
            <a:off x="5304869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25/mar</a:t>
            </a:r>
            <a:endParaRPr lang="pt-PT" sz="700" b="1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259967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16/julho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764740" y="1916015"/>
            <a:ext cx="89382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101513" y="4533847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10236495" y="4525141"/>
            <a:ext cx="43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101513" y="4127627"/>
            <a:ext cx="540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10236495" y="4127627"/>
            <a:ext cx="432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910603" y="1578609"/>
            <a:ext cx="648000" cy="3634287"/>
            <a:chOff x="5596215" y="1578609"/>
            <a:chExt cx="648000" cy="363428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3420000"/>
              <a:chOff x="3546168" y="1579821"/>
              <a:chExt cx="108000" cy="443402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1"/>
                <a:ext cx="21137" cy="439200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00476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5526" y="4458686"/>
            <a:ext cx="9779535" cy="266087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(2|3)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Plano de projeto 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– Implementação Satélites Corporativos</a:t>
            </a:r>
            <a:endParaRPr kumimoji="0" lang="pt-PT" sz="1600" b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4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Gestão de projeto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380409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Diamond 92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5" name="Diamond 94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6" name="Diamond 95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7" name="Diamond 96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8" name="Diamond 97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9" name="Diamond 98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0" name="Diamond 99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1" name="Diamond 100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2" name="Diamond 101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3" name="Diamond 102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4" name="Diamond 103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5" name="Diamond 104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7" name="Diamond 106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8" name="Diamond 107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403875" y="1922112"/>
            <a:ext cx="1036873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451885" y="1922112"/>
            <a:ext cx="1246855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7709877" y="1922112"/>
            <a:ext cx="1596683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8032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25/julho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317697" y="1922112"/>
            <a:ext cx="151108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</a:p>
        </p:txBody>
      </p:sp>
      <p:sp>
        <p:nvSpPr>
          <p:cNvPr id="116" name="Rectangle 7">
            <a:extLst>
              <a:ext uri="{FF2B5EF4-FFF2-40B4-BE49-F238E27FC236}">
                <a16:creationId xmlns:a16="http://schemas.microsoft.com/office/drawing/2014/main" id="{8E8D470F-D691-CC6C-CFC8-22FD6E0033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466924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Preparação de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B70AB32-6041-4A0A-60F7-BBB3C964E625}"/>
              </a:ext>
            </a:extLst>
          </p:cNvPr>
          <p:cNvSpPr/>
          <p:nvPr/>
        </p:nvSpPr>
        <p:spPr>
          <a:xfrm>
            <a:off x="5425857" y="2507461"/>
            <a:ext cx="607594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9250" y="2910679"/>
            <a:ext cx="9779535" cy="72837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DF4089F8-4A0E-21F9-6596-5BE9AFBFAB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733623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de </a:t>
            </a: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5F204F-92EC-5ACA-E2F3-D63530EE37CA}"/>
              </a:ext>
            </a:extLst>
          </p:cNvPr>
          <p:cNvSpPr txBox="1">
            <a:spLocks noChangeAspect="1"/>
          </p:cNvSpPr>
          <p:nvPr/>
        </p:nvSpPr>
        <p:spPr>
          <a:xfrm>
            <a:off x="1029337" y="2963467"/>
            <a:ext cx="3871185" cy="213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Satélites Granulares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357419D-47A6-F846-EFEF-4C38585D1AF1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185768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Satélites Agregados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B5548F4-7AE4-C44A-6064-6FC01B012A7F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394048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Validações, testes &amp; </a:t>
            </a:r>
            <a:r>
              <a:rPr lang="pt-PT" sz="1000" err="1">
                <a:latin typeface="Arial" panose="020B0604020202020204" pitchFamily="34" charset="0"/>
                <a:cs typeface="Arial" panose="020B0604020202020204" pitchFamily="34" charset="0"/>
              </a:rPr>
              <a:t>re-testes</a:t>
            </a:r>
            <a:endParaRPr lang="pt-PT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E3D58D5-1ECF-F234-19DD-39FBC0866E26}"/>
              </a:ext>
            </a:extLst>
          </p:cNvPr>
          <p:cNvSpPr/>
          <p:nvPr/>
        </p:nvSpPr>
        <p:spPr>
          <a:xfrm>
            <a:off x="6074641" y="3001691"/>
            <a:ext cx="338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1418C6-D1E9-CBDB-27C9-361E401033ED}"/>
              </a:ext>
            </a:extLst>
          </p:cNvPr>
          <p:cNvSpPr/>
          <p:nvPr/>
        </p:nvSpPr>
        <p:spPr>
          <a:xfrm>
            <a:off x="6074641" y="3216332"/>
            <a:ext cx="338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706A1BF-9703-5D07-1DFC-088310652790}"/>
              </a:ext>
            </a:extLst>
          </p:cNvPr>
          <p:cNvSpPr/>
          <p:nvPr/>
        </p:nvSpPr>
        <p:spPr>
          <a:xfrm>
            <a:off x="9183867" y="3418272"/>
            <a:ext cx="583767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DFB3024-2134-0004-C433-2CD51BAD08EB}"/>
              </a:ext>
            </a:extLst>
          </p:cNvPr>
          <p:cNvSpPr/>
          <p:nvPr/>
        </p:nvSpPr>
        <p:spPr>
          <a:xfrm>
            <a:off x="6074642" y="2774160"/>
            <a:ext cx="3692995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7">
            <a:extLst>
              <a:ext uri="{FF2B5EF4-FFF2-40B4-BE49-F238E27FC236}">
                <a16:creationId xmlns:a16="http://schemas.microsoft.com/office/drawing/2014/main" id="{D6D02ADE-A6FF-54CE-5C1C-79C40CC974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695207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Realização de paralelo com o reporte de dezembro de 2024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2A42914-9C87-484F-1585-407FE4BE0FE8}"/>
              </a:ext>
            </a:extLst>
          </p:cNvPr>
          <p:cNvSpPr/>
          <p:nvPr/>
        </p:nvSpPr>
        <p:spPr>
          <a:xfrm>
            <a:off x="6272868" y="3735744"/>
            <a:ext cx="3811847" cy="1409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7">
            <a:extLst>
              <a:ext uri="{FF2B5EF4-FFF2-40B4-BE49-F238E27FC236}">
                <a16:creationId xmlns:a16="http://schemas.microsoft.com/office/drawing/2014/main" id="{D6B6CE45-B1EC-A35B-0938-113EC76637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97823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de junho de 2025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7">
            <a:extLst>
              <a:ext uri="{FF2B5EF4-FFF2-40B4-BE49-F238E27FC236}">
                <a16:creationId xmlns:a16="http://schemas.microsoft.com/office/drawing/2014/main" id="{82135F0B-1F60-CF53-532B-51BF81617B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426126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Documentação &amp; passagem de conhecimento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F172C3A-588A-8496-1408-6F814EF2F216}"/>
              </a:ext>
            </a:extLst>
          </p:cNvPr>
          <p:cNvSpPr/>
          <p:nvPr/>
        </p:nvSpPr>
        <p:spPr>
          <a:xfrm>
            <a:off x="9902991" y="4018772"/>
            <a:ext cx="92207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EFFDB1B-E1E8-3808-044B-80D15D21F6C7}"/>
              </a:ext>
            </a:extLst>
          </p:cNvPr>
          <p:cNvSpPr/>
          <p:nvPr/>
        </p:nvSpPr>
        <p:spPr>
          <a:xfrm>
            <a:off x="10082601" y="4301802"/>
            <a:ext cx="39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3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and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Materials</a:t>
            </a:r>
            <a:r>
              <a:rPr kumimoji="0" lang="pt-PT" sz="800" b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4" name="Diamond 63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5861958" y="227069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27070" y="451157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0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7292292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7348251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8881445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8937404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341030" y="454436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414989" y="456070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74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79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80" name="Diamond 79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77" name="Diamond 76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78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81" name="Diamond 80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94" name="Diamond 93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13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8433601" y="1578609"/>
            <a:ext cx="648000" cy="3146164"/>
            <a:chOff x="5596215" y="1578609"/>
            <a:chExt cx="648000" cy="2898656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2684369"/>
              <a:chOff x="3546168" y="1579821"/>
              <a:chExt cx="108000" cy="3480276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0"/>
                <a:ext cx="21860" cy="3438257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611513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(3|3)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entregas –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 &amp; Satélites Corporativos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plano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apresentado não inclui a inclusão do universo de adjudicados.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003843" y="1297065"/>
            <a:ext cx="3984530" cy="4990002"/>
            <a:chOff x="2003843" y="1297065"/>
            <a:chExt cx="3984530" cy="4990002"/>
          </a:xfrm>
        </p:grpSpPr>
        <p:sp>
          <p:nvSpPr>
            <p:cNvPr id="91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2921731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de 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Rectangle 25">
              <a:extLst>
                <a:ext uri="{FF2B5EF4-FFF2-40B4-BE49-F238E27FC236}">
                  <a16:creationId xmlns:a16="http://schemas.microsoft.com/office/drawing/2014/main" id="{4B98099B-9BC1-4802-8974-B3603A052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1297065"/>
              <a:ext cx="200705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lvl="0" defTabSz="914400" eaLnBrk="0">
                <a:lnSpc>
                  <a:spcPct val="110000"/>
                </a:lnSpc>
                <a:defRPr/>
              </a:pPr>
              <a:r>
                <a: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Data de </a:t>
              </a:r>
              <a:r>
                <a:rPr kumimoji="0" lang="pt-PT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entrega</a:t>
              </a:r>
              <a:r>
                <a:rPr lang="pt-PT" sz="1200" kern="1200" baseline="30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200" b="1" i="0" u="none" strike="noStrike" kern="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93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3493998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de maio</a:t>
              </a:r>
              <a:endParaRPr lang="pt-PT" sz="1050" b="1" dirty="0">
                <a:solidFill>
                  <a:srgbClr val="00CC6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2349464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CC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22</a:t>
              </a:r>
              <a:r>
                <a:rPr kumimoji="0" lang="pt-PT" sz="1050" b="1" i="0" u="none" strike="noStrike" kern="0" cap="none" spc="0" normalizeH="0" noProof="0" dirty="0" smtClean="0">
                  <a:ln>
                    <a:noFill/>
                  </a:ln>
                  <a:solidFill>
                    <a:srgbClr val="00CC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 de maio</a:t>
              </a:r>
              <a:endPara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00CC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9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4638532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</a:t>
              </a:r>
              <a:r>
                <a:rPr lang="pt-PT" sz="1050" b="1" dirty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5210799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de junho</a:t>
              </a:r>
            </a:p>
          </p:txBody>
        </p:sp>
        <p:sp>
          <p:nvSpPr>
            <p:cNvPr id="102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578306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junho</a:t>
              </a:r>
            </a:p>
          </p:txBody>
        </p:sp>
        <p:sp>
          <p:nvSpPr>
            <p:cNvPr id="103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292189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Rectangle 23">
              <a:extLst>
                <a:ext uri="{FF2B5EF4-FFF2-40B4-BE49-F238E27FC236}">
                  <a16:creationId xmlns:a16="http://schemas.microsoft.com/office/drawing/2014/main" id="{D20F415D-1EDC-4314-9A6F-9CEDE78E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1297065"/>
              <a:ext cx="188586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rtl="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b="1" i="1" noProof="0" dirty="0">
                  <a:solidFill>
                    <a:srgbClr val="FFFFFF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Templates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06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349412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7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234965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(STE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08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463859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5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09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521083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>
                <a:defRPr/>
              </a:pP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6,7,8,9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5783067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0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177742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(STE)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321" y="177719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de julho</a:t>
              </a:r>
              <a:endPara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406626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de 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406636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322932" y="1297065"/>
            <a:ext cx="3994258" cy="3820454"/>
            <a:chOff x="6449391" y="1300824"/>
            <a:chExt cx="3994258" cy="3820454"/>
          </a:xfrm>
        </p:grpSpPr>
        <p:sp>
          <p:nvSpPr>
            <p:cNvPr id="42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3481611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4B98099B-9BC1-4802-8974-B3603A052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1300824"/>
              <a:ext cx="200705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lvl="0" defTabSz="914400" eaLnBrk="0">
                <a:lnSpc>
                  <a:spcPct val="110000"/>
                </a:lnSpc>
                <a:defRPr/>
              </a:pPr>
              <a:r>
                <a: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Data de </a:t>
              </a:r>
              <a:r>
                <a:rPr kumimoji="0" lang="pt-PT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entrega</a:t>
              </a:r>
              <a:r>
                <a:rPr lang="pt-PT" sz="1200" kern="1200" baseline="30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200" b="1" i="0" u="none" strike="noStrike" kern="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4048719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</a:t>
              </a:r>
              <a:r>
                <a:rPr lang="pt-PT" sz="1050" b="1" dirty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00CC6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2914503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461582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julho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3482572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84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ectangle 23">
              <a:extLst>
                <a:ext uri="{FF2B5EF4-FFF2-40B4-BE49-F238E27FC236}">
                  <a16:creationId xmlns:a16="http://schemas.microsoft.com/office/drawing/2014/main" id="{D20F415D-1EDC-4314-9A6F-9CEDE78E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1300824"/>
              <a:ext cx="188586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rtl="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b="1" i="1" noProof="0" dirty="0" smtClean="0">
                  <a:solidFill>
                    <a:srgbClr val="FFFFFF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Satélites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9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4049926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93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2915218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83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4617278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109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2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2347864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80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3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6597" y="234739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</a:t>
              </a:r>
              <a:r>
                <a:rPr lang="pt-PT" sz="1050" b="1" dirty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54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178051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79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5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6597" y="178028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23 </a:t>
              </a:r>
              <a:r>
                <a:rPr lang="pt-PT" sz="1050" b="1" dirty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946410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4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218059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218059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Imóveis Adjudicados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217699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Corporativo. – A aguardar entrega de calendário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217699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217699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217699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noProof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</a:p>
          <a:p>
            <a:pPr defTabSz="412629"/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</a:t>
            </a:r>
            <a:endParaRPr kumimoji="0" lang="pt-PT" sz="1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</a:t>
            </a:r>
            <a:r>
              <a:rPr lang="pt-PT" sz="8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Santander e Tecnologia.</a:t>
            </a: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3074075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3074076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Emissões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financiadas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3070480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3070480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7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3070481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3070480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1" y="397624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3" y="397624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parametrização de Universo - ag801_param_satel_univ</a:t>
            </a: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2" y="397264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397264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2" y="397264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3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397264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1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</a:t>
            </a:r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39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47148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3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julho</a:t>
            </a:r>
            <a:r>
              <a:rPr kumimoji="0" lang="pt-PT" sz="12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637465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26 de junho até 3 de julho</a:t>
            </a:r>
            <a:endParaRPr lang="pt-PT" sz="1200" b="1" dirty="0">
              <a:solidFill>
                <a:srgbClr val="FFFFFF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637465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637465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637465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637465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202957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Finalização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6, 7, 8 e 9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realização dos paralelos com o reporte tático de dezembro 2024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202957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24625"/>
            <a:ext cx="1381306" cy="50895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Locais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29578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1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620510" y="2029578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término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desta atividade é posterior à próxima reunião de </a:t>
            </a:r>
            <a:r>
              <a:rPr kumimoji="0" lang="pt-PT" sz="800" b="0" i="1" u="none" strike="noStrike" kern="1200" cap="none" spc="0" normalizeH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PdS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7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259673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 da análise comparativa entre o Satélite 84 e 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exercício tático de dezembro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Agendamento da sessão de passagem de conhecimento para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próximo dia 03/07. 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260511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594671"/>
            <a:ext cx="1381306" cy="10640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Satélites Corporativos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596738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 smtClean="0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9" name="Group 48"/>
          <p:cNvGrpSpPr/>
          <p:nvPr/>
        </p:nvGrpSpPr>
        <p:grpSpPr>
          <a:xfrm>
            <a:off x="8620510" y="2605111"/>
            <a:ext cx="1175222" cy="504000"/>
            <a:chOff x="8614080" y="2661881"/>
            <a:chExt cx="1175222" cy="504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59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3156285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Início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109.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315645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  <a:r>
              <a:rPr lang="pt-PT" sz="1050" b="1" baseline="30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8620510" y="3156451"/>
            <a:ext cx="1175222" cy="504000"/>
            <a:chOff x="8614080" y="2661881"/>
            <a:chExt cx="1175222" cy="50400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3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64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9" y="3156285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45684" y="3735365"/>
            <a:ext cx="10903850" cy="1065780"/>
            <a:chOff x="559544" y="3735365"/>
            <a:chExt cx="10903850" cy="1065780"/>
          </a:xfrm>
        </p:grpSpPr>
        <p:sp>
          <p:nvSpPr>
            <p:cNvPr id="54" name="Arrow: Chevron 44">
              <a:extLst>
                <a:ext uri="{FF2B5EF4-FFF2-40B4-BE49-F238E27FC236}">
                  <a16:creationId xmlns:a16="http://schemas.microsoft.com/office/drawing/2014/main" id="{0C664B67-37F7-4DF9-949F-3D4F6E819FB9}"/>
                </a:ext>
              </a:extLst>
            </p:cNvPr>
            <p:cNvSpPr/>
            <p:nvPr/>
          </p:nvSpPr>
          <p:spPr>
            <a:xfrm>
              <a:off x="2558732" y="3737432"/>
              <a:ext cx="599280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rIns="0" anchor="ctr"/>
            <a:lstStyle/>
            <a:p>
              <a:pPr marL="216000" algn="l"/>
              <a:r>
                <a:rPr lang="pt-PT" sz="1050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Re-teste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por parte da equipa do projeto à informação disponibilizada relativa a Emissões Financiadas.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370BCD7-C5A2-4BC5-96FB-50084A9E0F73}"/>
                </a:ext>
              </a:extLst>
            </p:cNvPr>
            <p:cNvSpPr/>
            <p:nvPr/>
          </p:nvSpPr>
          <p:spPr>
            <a:xfrm>
              <a:off x="9879395" y="3745805"/>
              <a:ext cx="1583999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de julho</a:t>
              </a:r>
              <a:r>
                <a:rPr lang="pt-PT" sz="1050" b="1" baseline="30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379C478-E17D-4DD4-92C9-DC2D74F3CBA4}"/>
                </a:ext>
              </a:extLst>
            </p:cNvPr>
            <p:cNvSpPr txBox="1"/>
            <p:nvPr/>
          </p:nvSpPr>
          <p:spPr>
            <a:xfrm>
              <a:off x="1105700" y="3735365"/>
              <a:ext cx="1381306" cy="10640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wrap="square" lIns="18000" rIns="18000" rtlCol="0" anchor="ctr">
              <a:noAutofit/>
            </a:bodyPr>
            <a:lstStyle/>
            <a:p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 </a:t>
              </a:r>
              <a:r>
                <a:rPr lang="pt-PT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Locais &amp; Satélites </a:t>
              </a:r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Corporativos</a:t>
              </a:r>
              <a:endParaRPr lang="pt-PT" sz="105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AutoShape 3">
              <a:extLst>
                <a:ext uri="{FF2B5EF4-FFF2-40B4-BE49-F238E27FC236}">
                  <a16:creationId xmlns:a16="http://schemas.microsoft.com/office/drawing/2014/main" id="{0B4CCA65-23C1-7F2C-4907-295194C76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544" y="3737432"/>
              <a:ext cx="468000" cy="504000"/>
            </a:xfrm>
            <a:prstGeom prst="rect">
              <a:avLst/>
            </a:prstGeom>
            <a:solidFill>
              <a:srgbClr val="009FDF">
                <a:lumMod val="20000"/>
                <a:lumOff val="80000"/>
              </a:srgbClr>
            </a:solidFill>
            <a:ln w="3175">
              <a:solidFill>
                <a:schemeClr val="tx1">
                  <a:lumMod val="25000"/>
                  <a:lumOff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45731" rIns="45731" anchor="ctr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b="1" i="1" dirty="0">
                  <a:solidFill>
                    <a:srgbClr val="003E51"/>
                  </a:solidFill>
                  <a:cs typeface="Arial" panose="020B0604020202020204" pitchFamily="34" charset="0"/>
                </a:rPr>
                <a:t>4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8634370" y="3745805"/>
              <a:ext cx="1175222" cy="504000"/>
              <a:chOff x="8614080" y="2661881"/>
              <a:chExt cx="1175222" cy="5040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134ABFE-2E4D-15AA-D7C3-1A8DD7E7D5C7}"/>
                  </a:ext>
                </a:extLst>
              </p:cNvPr>
              <p:cNvSpPr/>
              <p:nvPr/>
            </p:nvSpPr>
            <p:spPr>
              <a:xfrm>
                <a:off x="8614080" y="2661881"/>
                <a:ext cx="117522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rIns="0" anchor="ctr"/>
              <a:lstStyle/>
              <a:p>
                <a:endParaRPr lang="pt-PT" sz="105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6" name="Graphic 21">
                <a:extLst>
                  <a:ext uri="{FF2B5EF4-FFF2-40B4-BE49-F238E27FC236}">
                    <a16:creationId xmlns:a16="http://schemas.microsoft.com/office/drawing/2014/main" id="{C194935A-565C-FA09-5C89-26F0105F7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8876929" y="2776537"/>
                <a:ext cx="649525" cy="274689"/>
              </a:xfrm>
              <a:prstGeom prst="rect">
                <a:avLst/>
              </a:prstGeom>
            </p:spPr>
          </p:pic>
        </p:grpSp>
        <p:sp>
          <p:nvSpPr>
            <p:cNvPr id="67" name="Arrow: Chevron 44">
              <a:extLst>
                <a:ext uri="{FF2B5EF4-FFF2-40B4-BE49-F238E27FC236}">
                  <a16:creationId xmlns:a16="http://schemas.microsoft.com/office/drawing/2014/main" id="{0C664B67-37F7-4DF9-949F-3D4F6E819FB9}"/>
                </a:ext>
              </a:extLst>
            </p:cNvPr>
            <p:cNvSpPr/>
            <p:nvPr/>
          </p:nvSpPr>
          <p:spPr>
            <a:xfrm>
              <a:off x="2558732" y="4296979"/>
              <a:ext cx="599280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rIns="0" anchor="ctr"/>
            <a:lstStyle/>
            <a:p>
              <a:pPr marL="216000" algn="l"/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Conclusão da análise comparativa entre as Emissões Financiadas e a Calculadora de Emissões.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370BCD7-C5A2-4BC5-96FB-50084A9E0F73}"/>
                </a:ext>
              </a:extLst>
            </p:cNvPr>
            <p:cNvSpPr/>
            <p:nvPr/>
          </p:nvSpPr>
          <p:spPr>
            <a:xfrm>
              <a:off x="9879395" y="4297145"/>
              <a:ext cx="1583999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de julho</a:t>
              </a:r>
              <a:r>
                <a:rPr lang="pt-PT" sz="1050" b="1" baseline="30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grpSp>
          <p:nvGrpSpPr>
            <p:cNvPr id="69" name="Group 68"/>
            <p:cNvGrpSpPr/>
            <p:nvPr/>
          </p:nvGrpSpPr>
          <p:grpSpPr>
            <a:xfrm>
              <a:off x="8634370" y="4297145"/>
              <a:ext cx="1175222" cy="504000"/>
              <a:chOff x="8614080" y="2661881"/>
              <a:chExt cx="1175222" cy="504000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134ABFE-2E4D-15AA-D7C3-1A8DD7E7D5C7}"/>
                  </a:ext>
                </a:extLst>
              </p:cNvPr>
              <p:cNvSpPr/>
              <p:nvPr/>
            </p:nvSpPr>
            <p:spPr>
              <a:xfrm>
                <a:off x="8614080" y="2661881"/>
                <a:ext cx="117522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rIns="0" anchor="ctr"/>
              <a:lstStyle/>
              <a:p>
                <a:endParaRPr lang="pt-PT" sz="105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71" name="Graphic 21">
                <a:extLst>
                  <a:ext uri="{FF2B5EF4-FFF2-40B4-BE49-F238E27FC236}">
                    <a16:creationId xmlns:a16="http://schemas.microsoft.com/office/drawing/2014/main" id="{C194935A-565C-FA09-5C89-26F0105F7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8876929" y="2776537"/>
                <a:ext cx="649525" cy="274689"/>
              </a:xfrm>
              <a:prstGeom prst="rect">
                <a:avLst/>
              </a:prstGeom>
            </p:spPr>
          </p:pic>
        </p:grpSp>
        <p:sp>
          <p:nvSpPr>
            <p:cNvPr id="72" name="AutoShape 3">
              <a:extLst>
                <a:ext uri="{FF2B5EF4-FFF2-40B4-BE49-F238E27FC236}">
                  <a16:creationId xmlns:a16="http://schemas.microsoft.com/office/drawing/2014/main" id="{0B4CCA65-23C1-7F2C-4907-295194C76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959" y="4296979"/>
              <a:ext cx="468000" cy="504000"/>
            </a:xfrm>
            <a:prstGeom prst="rect">
              <a:avLst/>
            </a:prstGeom>
            <a:solidFill>
              <a:srgbClr val="009FDF">
                <a:lumMod val="20000"/>
                <a:lumOff val="80000"/>
              </a:srgbClr>
            </a:solidFill>
            <a:ln w="3175">
              <a:solidFill>
                <a:schemeClr val="tx1">
                  <a:lumMod val="25000"/>
                  <a:lumOff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45731" rIns="45731" anchor="ctr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b="1" i="1" dirty="0">
                  <a:solidFill>
                    <a:srgbClr val="003E51"/>
                  </a:solidFill>
                  <a:cs typeface="Arial" panose="020B0604020202020204" pitchFamily="34" charset="0"/>
                </a:rPr>
                <a:t>5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721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B2EC0B2B90E8438FD7BC14926F993E" ma:contentTypeVersion="4" ma:contentTypeDescription="Create a new document." ma:contentTypeScope="" ma:versionID="a801877317c22008161799475e5acc2a">
  <xsd:schema xmlns:xsd="http://www.w3.org/2001/XMLSchema" xmlns:xs="http://www.w3.org/2001/XMLSchema" xmlns:p="http://schemas.microsoft.com/office/2006/metadata/properties" xmlns:ns2="572bdb13-c576-4166-8827-65186753b8b5" targetNamespace="http://schemas.microsoft.com/office/2006/metadata/properties" ma:root="true" ma:fieldsID="7508d97b502dca93bb7741c221dcb803" ns2:_="">
    <xsd:import namespace="572bdb13-c576-4166-8827-65186753b8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bdb13-c576-4166-8827-65186753b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3277D9-8D10-4CA6-8A09-1C4D05FB1A2A}">
  <ds:schemaRefs>
    <ds:schemaRef ds:uri="http://purl.org/dc/elements/1.1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572bdb13-c576-4166-8827-65186753b8b5"/>
    <ds:schemaRef ds:uri="http://www.w3.org/XML/1998/namespace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CD1ACE-FFE8-4DBE-814E-982D3B2ED7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2bdb13-c576-4166-8827-65186753b8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1531</TotalTime>
  <Words>991</Words>
  <Application>Microsoft Office PowerPoint</Application>
  <PresentationFormat>Custom</PresentationFormat>
  <Paragraphs>213</Paragraphs>
  <Slides>9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9</vt:i4>
      </vt:variant>
    </vt:vector>
  </HeadingPairs>
  <TitlesOfParts>
    <vt:vector size="38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Implementação Templates Locais &amp; Satélites Corporativos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Hélder Filipe Felicidade Fernandes</cp:lastModifiedBy>
  <cp:revision>113</cp:revision>
  <dcterms:created xsi:type="dcterms:W3CDTF">2018-12-07T14:01:11Z</dcterms:created>
  <dcterms:modified xsi:type="dcterms:W3CDTF">2025-06-26T14:07:58Z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0x010100FCB2EC0B2B90E8438FD7BC14926F993E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