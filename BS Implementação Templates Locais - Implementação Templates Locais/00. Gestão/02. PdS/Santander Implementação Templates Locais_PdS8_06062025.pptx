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10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11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12.xml" ContentType="application/vnd.openxmlformats-officedocument.theme+xml"/>
  <Override PartName="/ppt/slideLayouts/slideLayout26.xml" ContentType="application/vnd.openxmlformats-officedocument.presentationml.slideLayout+xml"/>
  <Override PartName="/ppt/theme/theme13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14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15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17.xml" ContentType="application/vnd.openxmlformats-officedocument.theme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18.xml" ContentType="application/vnd.openxmlformats-officedocument.theme+xml"/>
  <Override PartName="/ppt/theme/theme19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4" r:id="rId4"/>
    <p:sldMasterId id="2147483702" r:id="rId5"/>
    <p:sldMasterId id="2147483706" r:id="rId6"/>
    <p:sldMasterId id="2147483688" r:id="rId7"/>
    <p:sldMasterId id="2147483674" r:id="rId8"/>
    <p:sldMasterId id="2147483710" r:id="rId9"/>
    <p:sldMasterId id="2147483726" r:id="rId10"/>
    <p:sldMasterId id="2147483731" r:id="rId11"/>
    <p:sldMasterId id="2147483733" r:id="rId12"/>
    <p:sldMasterId id="2147483738" r:id="rId13"/>
    <p:sldMasterId id="2147483756" r:id="rId14"/>
    <p:sldMasterId id="2147483760" r:id="rId15"/>
    <p:sldMasterId id="2147483769" r:id="rId16"/>
    <p:sldMasterId id="2147483771" r:id="rId17"/>
    <p:sldMasterId id="2147483778" r:id="rId18"/>
    <p:sldMasterId id="2147483784" r:id="rId19"/>
    <p:sldMasterId id="2147483787" r:id="rId20"/>
    <p:sldMasterId id="2147483792" r:id="rId21"/>
  </p:sldMasterIdLst>
  <p:notesMasterIdLst>
    <p:notesMasterId r:id="rId31"/>
  </p:notesMasterIdLst>
  <p:sldIdLst>
    <p:sldId id="1786" r:id="rId22"/>
    <p:sldId id="258" r:id="rId23"/>
    <p:sldId id="1924" r:id="rId24"/>
    <p:sldId id="3152" r:id="rId25"/>
    <p:sldId id="3153" r:id="rId26"/>
    <p:sldId id="3157" r:id="rId27"/>
    <p:sldId id="3151" r:id="rId28"/>
    <p:sldId id="3158" r:id="rId29"/>
    <p:sldId id="266" r:id="rId30"/>
  </p:sldIdLst>
  <p:sldSz cx="12190413" cy="6859588"/>
  <p:notesSz cx="6858000" cy="9144000"/>
  <p:defaultTextStyle>
    <a:defPPr marL="0" marR="0" indent="0" algn="l" defTabSz="449245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884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112311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224622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336934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449245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561556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673867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786178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898489" algn="ctr" defTabSz="40556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57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  <p:extLst>
    <p:ext uri="{EFAFB233-063F-42B5-8137-9DF3F51BA10A}">
      <p15:sldGuideLst xmlns:p15="http://schemas.microsoft.com/office/powerpoint/2012/main">
        <p15:guide id="1" orient="horz" pos="1276" userDrawn="1">
          <p15:clr>
            <a:srgbClr val="A4A3A4"/>
          </p15:clr>
        </p15:guide>
        <p15:guide id="2" pos="3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ereira, Joao" initials="PJ" lastIdx="117" clrIdx="0">
    <p:extLst>
      <p:ext uri="{19B8F6BF-5375-455C-9EA6-DF929625EA0E}">
        <p15:presenceInfo xmlns:p15="http://schemas.microsoft.com/office/powerpoint/2012/main" userId="S::jpereira@epimetheus.pt::a240beba-fee2-4a23-986d-f8fb809b0673" providerId="AD"/>
      </p:ext>
    </p:extLst>
  </p:cmAuthor>
  <p:cmAuthor id="2" name="Maranga, Luis Miguel" initials="MLM" lastIdx="92" clrIdx="1">
    <p:extLst>
      <p:ext uri="{19B8F6BF-5375-455C-9EA6-DF929625EA0E}">
        <p15:presenceInfo xmlns:p15="http://schemas.microsoft.com/office/powerpoint/2012/main" userId="S::lmaranga@epimetheus.pt::8f3347f3-4e20-4fd2-bf94-7b3d86be4c32" providerId="AD"/>
      </p:ext>
    </p:extLst>
  </p:cmAuthor>
  <p:cmAuthor id="3" name="Vieira, Paulo Neiva" initials="VPN" lastIdx="24" clrIdx="2">
    <p:extLst>
      <p:ext uri="{19B8F6BF-5375-455C-9EA6-DF929625EA0E}">
        <p15:presenceInfo xmlns:p15="http://schemas.microsoft.com/office/powerpoint/2012/main" userId="S::pavieira@epimetheus.pt::c20eadd0-e61a-4ca2-a58c-b88c67a34227" providerId="AD"/>
      </p:ext>
    </p:extLst>
  </p:cmAuthor>
  <p:cmAuthor id="4" name="Cardoso, Nuno Alexandre" initials="CA" lastIdx="4" clrIdx="3">
    <p:extLst>
      <p:ext uri="{19B8F6BF-5375-455C-9EA6-DF929625EA0E}">
        <p15:presenceInfo xmlns:p15="http://schemas.microsoft.com/office/powerpoint/2012/main" userId="S::ncardoso@epimetheus.pt::c8ba9172-f0b5-4f90-bf4b-4e14342d57de" providerId="AD"/>
      </p:ext>
    </p:extLst>
  </p:cmAuthor>
  <p:cmAuthor id="5" name="Godinho, Luis" initials="GL" lastIdx="178" clrIdx="4">
    <p:extLst>
      <p:ext uri="{19B8F6BF-5375-455C-9EA6-DF929625EA0E}">
        <p15:presenceInfo xmlns:p15="http://schemas.microsoft.com/office/powerpoint/2012/main" userId="S::lgodinho@epimetheus.pt::73da12d6-0d4b-484b-8b4c-3d031c51bbca" providerId="AD"/>
      </p:ext>
    </p:extLst>
  </p:cmAuthor>
  <p:cmAuthor id="6" name="Queiroz, Andre Miguel" initials="QAM" lastIdx="2" clrIdx="5">
    <p:extLst>
      <p:ext uri="{19B8F6BF-5375-455C-9EA6-DF929625EA0E}">
        <p15:presenceInfo xmlns:p15="http://schemas.microsoft.com/office/powerpoint/2012/main" userId="S::aqueiroz@epimetheus.pt::ea6045e6-670f-4468-88e1-84c25e8ccec0" providerId="AD"/>
      </p:ext>
    </p:extLst>
  </p:cmAuthor>
  <p:cmAuthor id="7" name="Amaro, Sandra" initials="AS" lastIdx="62" clrIdx="6">
    <p:extLst>
      <p:ext uri="{19B8F6BF-5375-455C-9EA6-DF929625EA0E}">
        <p15:presenceInfo xmlns:p15="http://schemas.microsoft.com/office/powerpoint/2012/main" userId="S::samaro@epimetheus.pt::6bedbfcc-5e0a-4e18-b9b0-c8ab328504b9" providerId="AD"/>
      </p:ext>
    </p:extLst>
  </p:cmAuthor>
  <p:cmAuthor id="8" name="Goncalves, Sofia Maria" initials="GSM" lastIdx="43" clrIdx="7">
    <p:extLst>
      <p:ext uri="{19B8F6BF-5375-455C-9EA6-DF929625EA0E}">
        <p15:presenceInfo xmlns:p15="http://schemas.microsoft.com/office/powerpoint/2012/main" userId="S::sogoncalves@epimetheus.pt::1e48f094-560d-4059-b8b7-4ac332255dcb" providerId="AD"/>
      </p:ext>
    </p:extLst>
  </p:cmAuthor>
  <p:cmAuthor id="9" name="Sousa, Luis Filipe" initials="SLF" lastIdx="5" clrIdx="8">
    <p:extLst>
      <p:ext uri="{19B8F6BF-5375-455C-9EA6-DF929625EA0E}">
        <p15:presenceInfo xmlns:p15="http://schemas.microsoft.com/office/powerpoint/2012/main" userId="S::lsousa@epimetheus.pt::c000e94c-30eb-4439-a755-c8c777314584" providerId="AD"/>
      </p:ext>
    </p:extLst>
  </p:cmAuthor>
  <p:cmAuthor id="10" name="Ventura, Hugo Miguel" initials="VHM" lastIdx="15" clrIdx="9">
    <p:extLst>
      <p:ext uri="{19B8F6BF-5375-455C-9EA6-DF929625EA0E}">
        <p15:presenceInfo xmlns:p15="http://schemas.microsoft.com/office/powerpoint/2012/main" userId="S::hventura@epimetheus.pt::7f25fc2f-b5e6-4615-bb77-9e7a5745551f" providerId="AD"/>
      </p:ext>
    </p:extLst>
  </p:cmAuthor>
  <p:cmAuthor id="11" name="Cunha, Ricardo Jesus" initials="CRJ" lastIdx="12" clrIdx="10">
    <p:extLst>
      <p:ext uri="{19B8F6BF-5375-455C-9EA6-DF929625EA0E}">
        <p15:presenceInfo xmlns:p15="http://schemas.microsoft.com/office/powerpoint/2012/main" userId="S::ricunha@epimetheus.pt::3a14ff4c-a595-4060-b93a-2caaccc102b9" providerId="AD"/>
      </p:ext>
    </p:extLst>
  </p:cmAuthor>
  <p:cmAuthor id="12" name="Escaleira, Diogo Alexandre" initials="EDA" lastIdx="1" clrIdx="11">
    <p:extLst>
      <p:ext uri="{19B8F6BF-5375-455C-9EA6-DF929625EA0E}">
        <p15:presenceInfo xmlns:p15="http://schemas.microsoft.com/office/powerpoint/2012/main" userId="S::descaleira@epimetheus.pt::72fb12db-bc92-4c43-9b41-3ac15f1f989a" providerId="AD"/>
      </p:ext>
    </p:extLst>
  </p:cmAuthor>
  <p:cmAuthor id="13" name="Ana Rita Geraldo de Caguerelho" initials="ARGdC" lastIdx="14" clrIdx="12">
    <p:extLst>
      <p:ext uri="{19B8F6BF-5375-455C-9EA6-DF929625EA0E}">
        <p15:presenceInfo xmlns:p15="http://schemas.microsoft.com/office/powerpoint/2012/main" userId="S-1-5-21-478741036-1442749419-1446792091-251329" providerId="AD"/>
      </p:ext>
    </p:extLst>
  </p:cmAuthor>
  <p:cmAuthor id="14" name="Henrique Crespo Rodrigues Antunes Correia" initials="HCRAC" lastIdx="3" clrIdx="13">
    <p:extLst>
      <p:ext uri="{19B8F6BF-5375-455C-9EA6-DF929625EA0E}">
        <p15:presenceInfo xmlns:p15="http://schemas.microsoft.com/office/powerpoint/2012/main" userId="S-1-5-21-478741036-1442749419-1446792091-246923" providerId="AD"/>
      </p:ext>
    </p:extLst>
  </p:cmAuthor>
  <p:cmAuthor id="15" name="Diogo Alexandre Escaleira" initials="DAE" lastIdx="6" clrIdx="14">
    <p:extLst>
      <p:ext uri="{19B8F6BF-5375-455C-9EA6-DF929625EA0E}">
        <p15:presenceInfo xmlns:p15="http://schemas.microsoft.com/office/powerpoint/2012/main" userId="S-1-5-21-478741036-1442749419-1446792091-251128" providerId="AD"/>
      </p:ext>
    </p:extLst>
  </p:cmAuthor>
  <p:cmAuthor id="16" name="João Ricardo Galhardo Almeida Costa" initials="JRGAC" lastIdx="2" clrIdx="15">
    <p:extLst>
      <p:ext uri="{19B8F6BF-5375-455C-9EA6-DF929625EA0E}">
        <p15:presenceInfo xmlns:p15="http://schemas.microsoft.com/office/powerpoint/2012/main" userId="S-1-5-21-478741036-1442749419-1446792091-261144" providerId="AD"/>
      </p:ext>
    </p:extLst>
  </p:cmAuthor>
  <p:cmAuthor id="17" name="Hélder Filipe Felicidade Fernandes" initials="HFFF" lastIdx="3" clrIdx="16">
    <p:extLst>
      <p:ext uri="{19B8F6BF-5375-455C-9EA6-DF929625EA0E}">
        <p15:presenceInfo xmlns:p15="http://schemas.microsoft.com/office/powerpoint/2012/main" userId="S-1-5-21-478741036-1442749419-1446792091-26121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C66"/>
    <a:srgbClr val="003E51"/>
    <a:srgbClr val="707070"/>
    <a:srgbClr val="8BCD44"/>
    <a:srgbClr val="C00000"/>
    <a:srgbClr val="FFDF79"/>
    <a:srgbClr val="005F7C"/>
    <a:srgbClr val="5F5F5F"/>
    <a:srgbClr val="94E6FF"/>
    <a:srgbClr val="009F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4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03" autoAdjust="0"/>
    <p:restoredTop sz="95012" autoAdjust="0"/>
  </p:normalViewPr>
  <p:slideViewPr>
    <p:cSldViewPr snapToGrid="0">
      <p:cViewPr varScale="1">
        <p:scale>
          <a:sx n="96" d="100"/>
          <a:sy n="96" d="100"/>
        </p:scale>
        <p:origin x="84" y="276"/>
      </p:cViewPr>
      <p:guideLst>
        <p:guide orient="horz" pos="1276"/>
        <p:guide pos="392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5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openxmlformats.org/officeDocument/2006/relationships/viewProps" Target="view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4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slide" Target="slides/slide8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3.xml"/><Relationship Id="rId32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2.xml"/><Relationship Id="rId28" Type="http://schemas.openxmlformats.org/officeDocument/2006/relationships/slide" Target="slides/slide7.xml"/><Relationship Id="rId36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" Target="slides/slide1.xml"/><Relationship Id="rId27" Type="http://schemas.openxmlformats.org/officeDocument/2006/relationships/slide" Target="slides/slide6.xml"/><Relationship Id="rId30" Type="http://schemas.openxmlformats.org/officeDocument/2006/relationships/slide" Target="slides/slide9.xml"/><Relationship Id="rId35" Type="http://schemas.openxmlformats.org/officeDocument/2006/relationships/theme" Target="theme/theme1.xml"/><Relationship Id="rId8" Type="http://schemas.openxmlformats.org/officeDocument/2006/relationships/slideMaster" Target="slideMasters/slideMaster5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7" dt="2025-06-04T17:19:52.909" idx="2">
    <p:pos x="927" y="1521"/>
    <p:text>A terminar a validação. Caso verifique algo erro, atualizo esse status aqui até a hora do PdS.</p:text>
    <p:extLst>
      <p:ext uri="{C676402C-5697-4E1C-873F-D02D1690AC5C}">
        <p15:threadingInfo xmlns:p15="http://schemas.microsoft.com/office/powerpoint/2012/main" timeZoneBias="-60"/>
      </p:ext>
    </p:extLst>
  </p:cm>
  <p:cm authorId="13" dt="2025-06-05T12:02:07.790" idx="14">
    <p:pos x="927" y="1657"/>
    <p:text>de acordo com os re-testes</p:text>
    <p:extLst>
      <p:ext uri="{C676402C-5697-4E1C-873F-D02D1690AC5C}">
        <p15:threadingInfo xmlns:p15="http://schemas.microsoft.com/office/powerpoint/2012/main" timeZoneBias="-60">
          <p15:parentCm authorId="17" idx="2"/>
        </p15:threadingInfo>
      </p:ext>
    </p:extLst>
  </p:cm>
  <p:cm authorId="17" dt="2025-06-04T17:47:16.828" idx="3">
    <p:pos x="3343" y="1866"/>
    <p:text>Avaliar se queremos dar esta visibilidade</p:text>
    <p:extLst>
      <p:ext uri="{C676402C-5697-4E1C-873F-D02D1690AC5C}">
        <p15:threadingInfo xmlns:p15="http://schemas.microsoft.com/office/powerpoint/2012/main" timeZoneBias="-60"/>
      </p:ext>
    </p:extLst>
  </p:cm>
  <p:cm authorId="13" dt="2025-06-05T12:01:58.297" idx="13">
    <p:pos x="3343" y="2002"/>
    <p:text>sim queremos</p:text>
    <p:extLst>
      <p:ext uri="{C676402C-5697-4E1C-873F-D02D1690AC5C}">
        <p15:threadingInfo xmlns:p15="http://schemas.microsoft.com/office/powerpoint/2012/main" timeZoneBias="-60">
          <p15:parentCm authorId="17" idx="3"/>
        </p15:threadingInfo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3" dt="2025-05-29T09:06:50.996" idx="8">
    <p:pos x="6739" y="2096"/>
    <p:text>Esta data nao pode ser 3/abr, terá de ser a data de hoje porque é o primeiro pds que apresentamos isto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22.774" idx="9">
    <p:pos x="1346" y="2609"/>
    <p:text>Esta tabela já temos, no limite colocamos a tabela de contratos após passagem por esta tabela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7:48.679" idx="10">
    <p:pos x="6128" y="1582"/>
    <p:text>Este risco nao deverá ser dado como fechado?</p:text>
    <p:extLst>
      <p:ext uri="{C676402C-5697-4E1C-873F-D02D1690AC5C}">
        <p15:threadingInfo xmlns:p15="http://schemas.microsoft.com/office/powerpoint/2012/main" timeZoneBias="-60"/>
      </p:ext>
    </p:extLst>
  </p:cm>
  <p:cm authorId="13" dt="2025-05-29T09:08:15.864" idx="11">
    <p:pos x="1298" y="416"/>
    <p:text>Faltam aqui pontos face aos que identificámos acima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1pPr>
    <a:lvl2pPr indent="112311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2pPr>
    <a:lvl3pPr indent="224622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3pPr>
    <a:lvl4pPr indent="336934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4pPr>
    <a:lvl5pPr indent="449245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5pPr>
    <a:lvl6pPr indent="561556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6pPr>
    <a:lvl7pPr indent="673867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7pPr>
    <a:lvl8pPr indent="786178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8pPr>
    <a:lvl9pPr indent="898489" defTabSz="224622" latinLnBrk="0">
      <a:lnSpc>
        <a:spcPct val="117999"/>
      </a:lnSpc>
      <a:defRPr sz="1081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381603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648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100321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007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414587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3197565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4178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4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5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3F6B1260-E885-40E4-9472-5D2F63367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4895422" cy="301892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tint val="75000"/>
                  </a:schemeClr>
                </a:solidFill>
                <a:latin typeface="Muli Light" panose="00000400000000000000" pitchFamily="2" charset="0"/>
                <a:cs typeface="Arial" panose="020B0604020202020204" pitchFamily="34" charset="0"/>
              </a:defRPr>
            </a:lvl1pPr>
            <a:lvl2pPr marL="2227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45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682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90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1137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3364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592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819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pt-PT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E4BFDDA9-04CB-42FB-B1B0-1B692D96921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52525" y="6345975"/>
            <a:ext cx="1907752" cy="28819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000" baseline="0">
                <a:solidFill>
                  <a:srgbClr val="003E51"/>
                </a:solidFill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pt-PT" err="1"/>
              <a:t>Click</a:t>
            </a:r>
            <a:r>
              <a:rPr lang="pt-PT"/>
              <a:t> to </a:t>
            </a:r>
            <a:r>
              <a:rPr lang="pt-PT" err="1"/>
              <a:t>add</a:t>
            </a:r>
            <a:r>
              <a:rPr lang="pt-PT"/>
              <a:t> date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997750-FF72-467B-ACFF-81B71F9848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525" y="2746617"/>
            <a:ext cx="4895422" cy="900308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>
              <a:lnSpc>
                <a:spcPct val="100000"/>
              </a:lnSpc>
              <a:defRPr sz="2200">
                <a:latin typeface="Muli Bold" panose="000008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0575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8402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8728" y="1362404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47592" y="136228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8728" y="1736659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7592" y="173665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5AA104C2-253D-4E00-BCF1-80D3FC312F3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973" y="309174"/>
            <a:ext cx="1631978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ÍNDICE</a:t>
            </a:r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5844E4C2-EB70-4B9D-ABF8-0DEE63B699E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3346" y="2111152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3346" y="2485407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54110" y="2859900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110" y="3234155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8B0C433B-B4BE-4029-B272-F6DC777655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58728" y="3608648"/>
            <a:ext cx="3569823" cy="25734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1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73EA040B-5927-4E6F-BA96-E30D93D74CB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8728" y="3982900"/>
            <a:ext cx="3569823" cy="25746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r>
              <a:rPr lang="en-US"/>
              <a:t> 2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452211" y="2111033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452211" y="2485407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1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456831" y="2859781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456831" y="3234155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A5DA502A-60BF-45CC-9CE3-48F854F60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61452" y="3608529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  <p:sp>
        <p:nvSpPr>
          <p:cNvPr id="26" name="Text Placeholder 18">
            <a:extLst>
              <a:ext uri="{FF2B5EF4-FFF2-40B4-BE49-F238E27FC236}">
                <a16:creationId xmlns:a16="http://schemas.microsoft.com/office/drawing/2014/main" id="{084B56D5-3E1E-4A05-8198-8212554196F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461452" y="3982900"/>
            <a:ext cx="466664" cy="25746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754">
                <a:latin typeface="Muli Bold" panose="00000800000000000000" pitchFamily="2" charset="0"/>
              </a:defRPr>
            </a:lvl1pPr>
          </a:lstStyle>
          <a:p>
            <a:pPr lvl="0"/>
            <a:r>
              <a:rPr lang="en-US"/>
              <a:t>#</a:t>
            </a:r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876223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5647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277679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62153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1178408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890307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86500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524079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963374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49153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195451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7690BFAA-E82F-41A9-8C93-23507FFA76EF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473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0845259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FFFFFF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FFFFFF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73567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71619648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7049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3147940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3065851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15511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15722719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9756690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0737312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3" y="76218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8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109009F-C856-4D9E-8F28-0A0A0C41B4D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1" y="1742685"/>
            <a:ext cx="11114228" cy="1191694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0000"/>
              </a:lnSpc>
              <a:buNone/>
              <a:defRPr sz="1050">
                <a:solidFill>
                  <a:srgbClr val="003E51"/>
                </a:solidFill>
                <a:latin typeface="Muli Light"/>
                <a:sym typeface="Muli Light"/>
              </a:defRPr>
            </a:lvl1pPr>
          </a:lstStyle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endParaRPr lang="pt-PT"/>
          </a:p>
          <a:p>
            <a:pPr algn="l">
              <a:lnSpc>
                <a:spcPct val="110000"/>
              </a:lnSpc>
              <a:defRPr sz="2100">
                <a:solidFill>
                  <a:srgbClr val="003E51"/>
                </a:solidFill>
                <a:latin typeface="Muli Light"/>
                <a:ea typeface="Muli Light"/>
                <a:cs typeface="Muli Light"/>
                <a:sym typeface="Muli Light"/>
              </a:defRPr>
            </a:pPr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8" y="6576344"/>
            <a:ext cx="407894" cy="144067"/>
          </a:xfrm>
          <a:prstGeom prst="rect">
            <a:avLst/>
          </a:prstGeom>
        </p:spPr>
        <p:txBody>
          <a:bodyPr vert="horz" lIns="60951" tIns="30475" rIns="60951" bIns="30475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7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7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58618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7AC3D2BA-8FCB-4E95-A820-0FBA462FDF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800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93EA053E-82F0-4290-A5C4-10B5A163DEC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9520" y="3763247"/>
            <a:ext cx="10767129" cy="495415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1800" i="1">
                <a:solidFill>
                  <a:schemeClr val="bg2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Subtítulo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D511D5B1-FD20-4D0E-BDEC-2CBE2901DE5D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chemeClr val="bg2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chemeClr val="bg2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444001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4823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41084153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563888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8034167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048585207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1179640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650997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4732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asted-image.pdf">
            <a:extLst>
              <a:ext uri="{FF2B5EF4-FFF2-40B4-BE49-F238E27FC236}">
                <a16:creationId xmlns:a16="http://schemas.microsoft.com/office/drawing/2014/main" id="{E541F357-AADF-43CD-B59E-C9C349BC1E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437280" y="4850351"/>
            <a:ext cx="1315854" cy="741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hape 195">
            <a:extLst>
              <a:ext uri="{FF2B5EF4-FFF2-40B4-BE49-F238E27FC236}">
                <a16:creationId xmlns:a16="http://schemas.microsoft.com/office/drawing/2014/main" id="{3E295EC7-7F17-482E-BACC-233844E93A82}"/>
              </a:ext>
            </a:extLst>
          </p:cNvPr>
          <p:cNvSpPr/>
          <p:nvPr userDrawn="1"/>
        </p:nvSpPr>
        <p:spPr>
          <a:xfrm>
            <a:off x="343430" y="6484599"/>
            <a:ext cx="5517112" cy="293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24739" tIns="24739" rIns="24739" bIns="24739">
            <a:spAutoFit/>
          </a:bodyPr>
          <a:lstStyle>
            <a:lvl1pPr algn="l">
              <a:lnSpc>
                <a:spcPct val="90000"/>
              </a:lnSpc>
              <a:defRPr sz="3600">
                <a:solidFill>
                  <a:srgbClr val="FFFFFF"/>
                </a:solidFill>
                <a:latin typeface="Abril Fatface"/>
                <a:ea typeface="Abril Fatface"/>
                <a:cs typeface="Abril Fatface"/>
                <a:sym typeface="Abril Fatface"/>
              </a:defRPr>
            </a:lvl1pPr>
          </a:lstStyle>
          <a:p>
            <a:r>
              <a:rPr lang="pt-PT" sz="1754"/>
              <a:t>Lisboa . Porto. Madrid</a:t>
            </a:r>
            <a:endParaRPr sz="1754"/>
          </a:p>
        </p:txBody>
      </p:sp>
    </p:spTree>
    <p:extLst>
      <p:ext uri="{BB962C8B-B14F-4D97-AF65-F5344CB8AC3E}">
        <p14:creationId xmlns:p14="http://schemas.microsoft.com/office/powerpoint/2010/main" val="28659881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80830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2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8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33" indent="-114233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212354"/>
          </a:xfrm>
          <a:prstGeom prst="rect">
            <a:avLst/>
          </a:prstGeom>
        </p:spPr>
        <p:txBody>
          <a:bodyPr lIns="45707" tIns="22854" rIns="45707" bIns="22854">
            <a:spAutoFit/>
          </a:bodyPr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1" y="6576343"/>
            <a:ext cx="407893" cy="144068"/>
          </a:xfrm>
          <a:prstGeom prst="rect">
            <a:avLst/>
          </a:prstGeom>
        </p:spPr>
        <p:txBody>
          <a:bodyPr vert="horz" lIns="60919" tIns="30459" rIns="60919" bIns="30459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7127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8095" y="76219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2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375977DD-8464-48C3-9386-D13B910ECF5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4759" y="352507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1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6"/>
            <a:ext cx="407894" cy="144067"/>
          </a:xfrm>
          <a:prstGeom prst="rect">
            <a:avLst/>
          </a:prstGeom>
        </p:spPr>
        <p:txBody>
          <a:bodyPr vert="horz" lIns="59373" tIns="29686" rIns="59373" bIns="29686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90338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0960900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1F97EBE-E3CA-467D-B1ED-744D1846EAA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09520" y="3077288"/>
            <a:ext cx="6133302" cy="495415"/>
          </a:xfrm>
          <a:prstGeom prst="rect">
            <a:avLst/>
          </a:prstGeom>
        </p:spPr>
        <p:txBody>
          <a:bodyPr lIns="45707" tIns="22854" rIns="45707" bIns="22854"/>
          <a:lstStyle>
            <a:lvl1pPr marL="0" indent="0">
              <a:buNone/>
              <a:defRPr sz="28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lvl="0"/>
            <a:r>
              <a:rPr lang="en-US" err="1"/>
              <a:t>Título</a:t>
            </a:r>
            <a:endParaRPr lang="pt-PT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5B1EE7E-7ED4-4A4B-BB2B-AAC8DAC23C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9520" y="3763248"/>
            <a:ext cx="6133302" cy="495415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marR="0" indent="0" algn="l" defTabSz="412629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700">
                <a:solidFill>
                  <a:srgbClr val="FFFFFF"/>
                </a:solidFill>
                <a:latin typeface="Abril Fatface" panose="02000503000000020003" pitchFamily="2" charset="0"/>
              </a:defRPr>
            </a:lvl1pPr>
          </a:lstStyle>
          <a:p>
            <a:pPr algn="l"/>
            <a:r>
              <a:rPr lang="en-US" sz="1600" i="1" err="1">
                <a:latin typeface="Abril Fatface" panose="02000503000000020003" pitchFamily="2" charset="0"/>
              </a:rPr>
              <a:t>Subtítulo</a:t>
            </a:r>
            <a:endParaRPr lang="pt-PT" sz="1600" i="1">
              <a:latin typeface="Abril Fatface" panose="02000503000000020003" pitchFamily="2" charset="0"/>
            </a:endParaRPr>
          </a:p>
        </p:txBody>
      </p:sp>
      <p:sp>
        <p:nvSpPr>
          <p:cNvPr id="9" name="Slide Number Placeholder 1">
            <a:extLst>
              <a:ext uri="{FF2B5EF4-FFF2-40B4-BE49-F238E27FC236}">
                <a16:creationId xmlns:a16="http://schemas.microsoft.com/office/drawing/2014/main" id="{88C84594-3F70-4E97-9419-CFFC29A9E83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DF7F8C6F-E93C-4463-8904-006418542CE4}"/>
              </a:ext>
            </a:extLst>
          </p:cNvPr>
          <p:cNvSpPr txBox="1">
            <a:spLocks/>
          </p:cNvSpPr>
          <p:nvPr userDrawn="1"/>
        </p:nvSpPr>
        <p:spPr>
          <a:xfrm>
            <a:off x="11713521" y="6652561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5CBEC77-3D02-4E77-A2A5-9AE679E7883C}" type="slidenum">
              <a:rPr kumimoji="0" lang="pt-PT" sz="8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uli Black" panose="00000A00000000000000" pitchFamily="2" charset="0"/>
                <a:ea typeface="+mn-ea"/>
                <a:cs typeface="Arial" panose="020B0604020202020204" pitchFamily="34" charset="0"/>
                <a:sym typeface="Helvetica Light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8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uli Black" panose="00000A00000000000000" pitchFamily="2" charset="0"/>
              <a:ea typeface="+mn-ea"/>
              <a:cs typeface="Arial" panose="020B0604020202020204" pitchFamily="34" charset="0"/>
              <a:sym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29616050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CE523DC-152B-40D4-9B65-23200A00DE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E69D6D5-AE8D-49A3-BC60-E7B04FDBCC2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461897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895C7139-3DCC-4C1B-897D-5F2CFDE34B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9521" y="260727"/>
            <a:ext cx="7266629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0" indent="0">
              <a:buNone/>
              <a:defRPr sz="20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34C081C9-B184-4F12-BA9A-7849F1D85D8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521" y="711127"/>
            <a:ext cx="6999964" cy="238181"/>
          </a:xfrm>
          <a:prstGeom prst="rect">
            <a:avLst/>
          </a:prstGeom>
        </p:spPr>
        <p:txBody>
          <a:bodyPr lIns="45707" tIns="22854" rIns="45707" bIns="22854" anchor="ctr"/>
          <a:lstStyle>
            <a:lvl1pPr marL="114267" indent="-114267">
              <a:buNone/>
              <a:defRPr lang="pt-PT" sz="1600" b="0" dirty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marL="0" lvl="0" indent="0"/>
            <a:r>
              <a:rPr lang="pt-PT"/>
              <a:t>Subtítulo</a:t>
            </a:r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419A0CB-C986-4C28-AB1F-D0593B544C44}"/>
              </a:ext>
            </a:extLst>
          </p:cNvPr>
          <p:cNvSpPr txBox="1">
            <a:spLocks/>
          </p:cNvSpPr>
          <p:nvPr userDrawn="1"/>
        </p:nvSpPr>
        <p:spPr>
          <a:xfrm>
            <a:off x="11637330" y="6576343"/>
            <a:ext cx="407893" cy="144068"/>
          </a:xfrm>
          <a:prstGeom prst="rect">
            <a:avLst/>
          </a:prstGeom>
        </p:spPr>
        <p:txBody>
          <a:bodyPr vert="horz" lIns="60941" tIns="30470" rIns="60941" bIns="30470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800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800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686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F0C51B2-4354-45B1-AFA1-CE321426BAC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0C28093B-22EC-452E-97D9-FC2EE34DE8E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521" y="1747560"/>
            <a:ext cx="11114228" cy="216456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E3CE24A1-4835-4C51-B3CE-1BA11617E5D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954101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lide Number Placeholder 1">
            <a:extLst>
              <a:ext uri="{FF2B5EF4-FFF2-40B4-BE49-F238E27FC236}">
                <a16:creationId xmlns:a16="http://schemas.microsoft.com/office/drawing/2014/main" id="{F7A882FE-509F-46F6-B40B-C8BF58E28BA0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6D5895F8-E3DD-4C99-AEE4-5C64B3763ED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C1FA54A-5353-4401-94C5-CD802CEC71A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37569006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pic>
        <p:nvPicPr>
          <p:cNvPr id="7" name="img-01.jpg">
            <a:extLst>
              <a:ext uri="{FF2B5EF4-FFF2-40B4-BE49-F238E27FC236}">
                <a16:creationId xmlns:a16="http://schemas.microsoft.com/office/drawing/2014/main" id="{72387631-D232-4517-838C-C81DBD4D57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484" t="2071" r="25601" b="40869"/>
          <a:stretch>
            <a:fillRect/>
          </a:stretch>
        </p:blipFill>
        <p:spPr>
          <a:xfrm>
            <a:off x="6186701" y="1161526"/>
            <a:ext cx="6013101" cy="33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86477" y="4604818"/>
            <a:ext cx="6003936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1440F19B-F281-4EAD-BF43-51F3EF34C974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811B3BDB-9D79-46D9-A75A-D5CA63A556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9522" y="1917242"/>
            <a:ext cx="5101127" cy="305278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endParaRPr lang="pt-PT"/>
          </a:p>
          <a:p>
            <a:endParaRPr lang="pt-PT"/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302291BC-DB07-489D-BD05-AD88BE16D05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F2FF0F0-9643-4EA4-9C5D-8E36411E68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1983199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5"/>
            <a:ext cx="2762968" cy="46632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F230C8-37CE-4617-BFF2-5704B10EF20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047933" y="1161527"/>
            <a:ext cx="2532961" cy="365209"/>
          </a:xfrm>
          <a:prstGeom prst="rect">
            <a:avLst/>
          </a:prstGeom>
        </p:spPr>
        <p:txBody>
          <a:bodyPr/>
          <a:lstStyle>
            <a:lvl1pPr marL="0" marR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877" i="1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err="1"/>
              <a:t>Vel</a:t>
            </a:r>
            <a:r>
              <a:rPr lang="pt-PT"/>
              <a:t> pulvinar eros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</a:t>
            </a:r>
          </a:p>
        </p:txBody>
      </p:sp>
      <p:pic>
        <p:nvPicPr>
          <p:cNvPr id="10" name="pasted-image.pdf">
            <a:extLst>
              <a:ext uri="{FF2B5EF4-FFF2-40B4-BE49-F238E27FC236}">
                <a16:creationId xmlns:a16="http://schemas.microsoft.com/office/drawing/2014/main" id="{1E198230-6FE6-4BCE-AF50-D1474F237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5352" y="1161525"/>
            <a:ext cx="5019713" cy="4663263"/>
          </a:xfrm>
          <a:prstGeom prst="rect">
            <a:avLst/>
          </a:prstGeom>
          <a:ln w="12700">
            <a:miter lim="400000"/>
          </a:ln>
        </p:spPr>
      </p:pic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119006FE-268E-439C-B492-F93D7E21DB42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38786130-1BB0-4022-8677-50638EEB08B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D843D9F3-34FC-495C-847E-DBEED217A1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77431409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2F60448-B884-4341-B18E-4112F526DF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1" y="1161526"/>
            <a:ext cx="11114228" cy="125443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600">
                <a:solidFill>
                  <a:srgbClr val="003E51"/>
                </a:solidFill>
                <a:latin typeface="Muli Bold" panose="000008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B22FD1-0D51-49FD-9DC2-1D9461DC2D6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29206366"/>
              </p:ext>
            </p:extLst>
          </p:nvPr>
        </p:nvGraphicFramePr>
        <p:xfrm>
          <a:off x="609522" y="2609455"/>
          <a:ext cx="11114224" cy="240860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78556">
                  <a:extLst>
                    <a:ext uri="{9D8B030D-6E8A-4147-A177-3AD203B41FA5}">
                      <a16:colId xmlns:a16="http://schemas.microsoft.com/office/drawing/2014/main" val="345841659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1656217494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577820785"/>
                    </a:ext>
                  </a:extLst>
                </a:gridCol>
                <a:gridCol w="2778556">
                  <a:extLst>
                    <a:ext uri="{9D8B030D-6E8A-4147-A177-3AD203B41FA5}">
                      <a16:colId xmlns:a16="http://schemas.microsoft.com/office/drawing/2014/main" val="3410760329"/>
                    </a:ext>
                  </a:extLst>
                </a:gridCol>
              </a:tblGrid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5384511"/>
                  </a:ext>
                </a:extLst>
              </a:tr>
              <a:tr h="377201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B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074130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1385764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6052251"/>
                  </a:ext>
                </a:extLst>
              </a:tr>
              <a:tr h="507852"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pt-PT" sz="400"/>
                    </a:p>
                  </a:txBody>
                  <a:tcPr marL="45714" marR="45714" marT="22866" marB="22866">
                    <a:lnL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5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5015240"/>
                  </a:ext>
                </a:extLst>
              </a:tr>
            </a:tbl>
          </a:graphicData>
        </a:graphic>
      </p:graphicFrame>
      <p:sp>
        <p:nvSpPr>
          <p:cNvPr id="12" name="Slide Number Placeholder 1">
            <a:extLst>
              <a:ext uri="{FF2B5EF4-FFF2-40B4-BE49-F238E27FC236}">
                <a16:creationId xmlns:a16="http://schemas.microsoft.com/office/drawing/2014/main" id="{E60C485E-CDF4-4F09-B2BC-97ECFC5CB47C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63A4B709-BAE3-4418-BD6A-6C529E62357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D5C8DCB-F025-40DF-A3D8-C8088665E6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1511806191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ettyImages-468837861.jpg">
            <a:extLst>
              <a:ext uri="{FF2B5EF4-FFF2-40B4-BE49-F238E27FC236}">
                <a16:creationId xmlns:a16="http://schemas.microsoft.com/office/drawing/2014/main" id="{1F35E71E-1C98-44F8-AB21-393185A51C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4166" r="28794"/>
          <a:stretch>
            <a:fillRect/>
          </a:stretch>
        </p:blipFill>
        <p:spPr>
          <a:xfrm>
            <a:off x="6462665" y="0"/>
            <a:ext cx="5731785" cy="6859588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16505678-6CBE-4F67-9969-6481565CC7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9522" y="1161527"/>
            <a:ext cx="5101127" cy="4009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rgbClr val="003E51"/>
                </a:solidFill>
                <a:latin typeface="Abril Fatface" panose="02000503000000020003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 </a:t>
            </a:r>
            <a:r>
              <a:rPr lang="pt-PT" err="1"/>
              <a:t>donec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libero in </a:t>
            </a:r>
            <a:r>
              <a:rPr lang="pt-PT" err="1"/>
              <a:t>interdum</a:t>
            </a:r>
            <a:r>
              <a:rPr lang="pt-PT"/>
              <a:t> </a:t>
            </a:r>
            <a:r>
              <a:rPr lang="pt-PT" err="1"/>
              <a:t>fringilla</a:t>
            </a:r>
            <a:endParaRPr lang="pt-PT"/>
          </a:p>
        </p:txBody>
      </p:sp>
      <p:sp>
        <p:nvSpPr>
          <p:cNvPr id="13" name="Slide Number Placeholder 1">
            <a:extLst>
              <a:ext uri="{FF2B5EF4-FFF2-40B4-BE49-F238E27FC236}">
                <a16:creationId xmlns:a16="http://schemas.microsoft.com/office/drawing/2014/main" id="{37F34C8E-B15C-4635-B5AC-AA54510FBBA5}"/>
              </a:ext>
            </a:extLst>
          </p:cNvPr>
          <p:cNvSpPr txBox="1">
            <a:spLocks/>
          </p:cNvSpPr>
          <p:nvPr userDrawn="1"/>
        </p:nvSpPr>
        <p:spPr>
          <a:xfrm>
            <a:off x="11637329" y="6576345"/>
            <a:ext cx="407894" cy="144067"/>
          </a:xfrm>
          <a:prstGeom prst="rect">
            <a:avLst/>
          </a:prstGeom>
        </p:spPr>
        <p:txBody>
          <a:bodyPr vert="horz" lIns="59395" tIns="29697" rIns="59395" bIns="29697" rtlCol="0" anchor="ctr"/>
          <a:lstStyle>
            <a:defPPr>
              <a:defRPr lang="pt-PT"/>
            </a:defPPr>
            <a:lvl1pPr marL="0" algn="ctr" defTabSz="914400" rtl="0" eaLnBrk="1" latinLnBrk="0" hangingPunct="1">
              <a:defRPr sz="1200" b="1" kern="1200">
                <a:solidFill>
                  <a:srgbClr val="45414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5CBEC77-3D02-4E77-A2A5-9AE679E7883C}" type="slidenum">
              <a:rPr lang="pt-PT" sz="682" smtClean="0">
                <a:solidFill>
                  <a:srgbClr val="003E51"/>
                </a:solidFill>
                <a:latin typeface="Muli Black" panose="00000A00000000000000" pitchFamily="2" charset="0"/>
                <a:cs typeface="Arial" panose="020B0604020202020204" pitchFamily="34" charset="0"/>
              </a:rPr>
              <a:pPr/>
              <a:t>‹#›</a:t>
            </a:fld>
            <a:endParaRPr lang="pt-PT" sz="682">
              <a:solidFill>
                <a:srgbClr val="003E51"/>
              </a:solidFill>
              <a:latin typeface="Muli Black" panose="00000A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39F06A50-75CF-4610-920C-75555BF129C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2" y="1709854"/>
            <a:ext cx="5101127" cy="4455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err="1"/>
              <a:t>Lorem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dolor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</a:t>
            </a:r>
            <a:r>
              <a:rPr lang="pt-PT" err="1"/>
              <a:t>consectetur</a:t>
            </a:r>
            <a:r>
              <a:rPr lang="pt-PT"/>
              <a:t> </a:t>
            </a:r>
            <a:r>
              <a:rPr lang="pt-PT" err="1"/>
              <a:t>adipiscing</a:t>
            </a:r>
            <a:r>
              <a:rPr lang="pt-PT"/>
              <a:t> </a:t>
            </a:r>
            <a:r>
              <a:rPr lang="pt-PT" err="1"/>
              <a:t>elit</a:t>
            </a:r>
            <a:r>
              <a:rPr lang="pt-PT"/>
              <a:t>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mauris</a:t>
            </a:r>
            <a:r>
              <a:rPr lang="pt-PT"/>
              <a:t> id sem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fringilla</a:t>
            </a:r>
            <a:r>
              <a:rPr lang="pt-PT"/>
              <a:t>. </a:t>
            </a:r>
            <a:r>
              <a:rPr lang="pt-PT" err="1"/>
              <a:t>Mauris</a:t>
            </a:r>
            <a:r>
              <a:rPr lang="pt-PT"/>
              <a:t> </a:t>
            </a:r>
            <a:r>
              <a:rPr lang="pt-PT" err="1"/>
              <a:t>mattis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lobortis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rutrum</a:t>
            </a:r>
            <a:r>
              <a:rPr lang="pt-PT"/>
              <a:t> </a:t>
            </a:r>
            <a:r>
              <a:rPr lang="pt-PT" err="1"/>
              <a:t>faucibus</a:t>
            </a:r>
            <a:r>
              <a:rPr lang="pt-PT"/>
              <a:t> massa, id </a:t>
            </a:r>
            <a:r>
              <a:rPr lang="pt-PT" err="1"/>
              <a:t>ultricies</a:t>
            </a:r>
            <a:r>
              <a:rPr lang="pt-PT"/>
              <a:t> </a:t>
            </a:r>
            <a:r>
              <a:rPr lang="pt-PT" err="1"/>
              <a:t>velit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rhoncus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</a:t>
            </a:r>
            <a:r>
              <a:rPr lang="pt-PT" err="1"/>
              <a:t>metus</a:t>
            </a:r>
            <a:r>
              <a:rPr lang="pt-PT"/>
              <a:t> eros, </a:t>
            </a:r>
            <a:r>
              <a:rPr lang="pt-PT" err="1"/>
              <a:t>suscipit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dapibus</a:t>
            </a:r>
            <a:r>
              <a:rPr lang="pt-PT"/>
              <a:t>, </a:t>
            </a:r>
            <a:r>
              <a:rPr lang="pt-PT" err="1"/>
              <a:t>commodo</a:t>
            </a:r>
            <a:r>
              <a:rPr lang="pt-PT"/>
              <a:t> id </a:t>
            </a:r>
            <a:r>
              <a:rPr lang="pt-PT" err="1"/>
              <a:t>tellus</a:t>
            </a:r>
            <a:r>
              <a:rPr lang="pt-PT"/>
              <a:t>. </a:t>
            </a:r>
            <a:r>
              <a:rPr lang="pt-PT" err="1"/>
              <a:t>Integer</a:t>
            </a:r>
            <a:r>
              <a:rPr lang="pt-PT"/>
              <a:t> </a:t>
            </a:r>
            <a:r>
              <a:rPr lang="pt-PT" err="1"/>
              <a:t>placerat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ipsum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,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scelerisque</a:t>
            </a:r>
            <a:r>
              <a:rPr lang="pt-PT"/>
              <a:t> </a:t>
            </a:r>
            <a:r>
              <a:rPr lang="pt-PT" err="1"/>
              <a:t>ex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. </a:t>
            </a:r>
            <a:r>
              <a:rPr lang="pt-PT" err="1"/>
              <a:t>Duis</a:t>
            </a:r>
            <a:r>
              <a:rPr lang="pt-PT"/>
              <a:t>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hendrerit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. </a:t>
            </a:r>
            <a:r>
              <a:rPr lang="pt-PT" err="1"/>
              <a:t>Proin</a:t>
            </a:r>
            <a:r>
              <a:rPr lang="pt-PT"/>
              <a:t> non ante </a:t>
            </a:r>
            <a:r>
              <a:rPr lang="pt-PT" err="1"/>
              <a:t>quam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luctus</a:t>
            </a:r>
            <a:r>
              <a:rPr lang="pt-PT"/>
              <a:t> </a:t>
            </a:r>
            <a:r>
              <a:rPr lang="pt-PT" err="1"/>
              <a:t>elementum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.</a:t>
            </a:r>
          </a:p>
          <a:p>
            <a:r>
              <a:rPr lang="pt-PT" err="1"/>
              <a:t>Nullam</a:t>
            </a:r>
            <a:r>
              <a:rPr lang="pt-PT"/>
              <a:t> vitae tortor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gravida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at</a:t>
            </a:r>
            <a:r>
              <a:rPr lang="pt-PT"/>
              <a:t> id odio. In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urna,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arcu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non. </a:t>
            </a:r>
            <a:r>
              <a:rPr lang="pt-PT" err="1"/>
              <a:t>Nullam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pulvinar.</a:t>
            </a:r>
          </a:p>
          <a:p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lorem</a:t>
            </a:r>
            <a:r>
              <a:rPr lang="pt-PT"/>
              <a:t>, </a:t>
            </a:r>
            <a:r>
              <a:rPr lang="pt-PT" err="1"/>
              <a:t>consequat</a:t>
            </a:r>
            <a:r>
              <a:rPr lang="pt-PT"/>
              <a:t> non </a:t>
            </a:r>
            <a:r>
              <a:rPr lang="pt-PT" err="1"/>
              <a:t>turpis</a:t>
            </a:r>
            <a:r>
              <a:rPr lang="pt-PT"/>
              <a:t> eu, </a:t>
            </a:r>
            <a:r>
              <a:rPr lang="pt-PT" err="1"/>
              <a:t>molestie</a:t>
            </a:r>
            <a:r>
              <a:rPr lang="pt-PT"/>
              <a:t> </a:t>
            </a:r>
            <a:r>
              <a:rPr lang="pt-PT" err="1"/>
              <a:t>vestibulum</a:t>
            </a:r>
            <a:r>
              <a:rPr lang="pt-PT"/>
              <a:t> </a:t>
            </a:r>
            <a:r>
              <a:rPr lang="pt-PT" err="1"/>
              <a:t>ligula</a:t>
            </a:r>
            <a:r>
              <a:rPr lang="pt-PT"/>
              <a:t>. </a:t>
            </a:r>
            <a:r>
              <a:rPr lang="pt-PT" err="1"/>
              <a:t>Nam</a:t>
            </a:r>
            <a:r>
              <a:rPr lang="pt-PT"/>
              <a:t> ante </a:t>
            </a:r>
            <a:r>
              <a:rPr lang="pt-PT" err="1"/>
              <a:t>orci</a:t>
            </a:r>
            <a:r>
              <a:rPr lang="pt-PT"/>
              <a:t>, </a:t>
            </a:r>
            <a:r>
              <a:rPr lang="pt-PT" err="1"/>
              <a:t>rutrum</a:t>
            </a:r>
            <a:r>
              <a:rPr lang="pt-PT"/>
              <a:t> in </a:t>
            </a:r>
            <a:r>
              <a:rPr lang="pt-PT" err="1"/>
              <a:t>faucibus</a:t>
            </a:r>
            <a:r>
              <a:rPr lang="pt-PT"/>
              <a:t> </a:t>
            </a:r>
            <a:r>
              <a:rPr lang="pt-PT" err="1"/>
              <a:t>sit</a:t>
            </a:r>
            <a:r>
              <a:rPr lang="pt-PT"/>
              <a:t> </a:t>
            </a:r>
            <a:r>
              <a:rPr lang="pt-PT" err="1"/>
              <a:t>amet</a:t>
            </a:r>
            <a:r>
              <a:rPr lang="pt-PT"/>
              <a:t>, egestas eu </a:t>
            </a:r>
            <a:r>
              <a:rPr lang="pt-PT" err="1"/>
              <a:t>neque</a:t>
            </a:r>
            <a:r>
              <a:rPr lang="pt-PT"/>
              <a:t>. </a:t>
            </a:r>
            <a:r>
              <a:rPr lang="pt-PT" err="1"/>
              <a:t>Praesent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mollis</a:t>
            </a:r>
            <a:r>
              <a:rPr lang="pt-PT"/>
              <a:t> eros,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iaculis</a:t>
            </a:r>
            <a:r>
              <a:rPr lang="pt-PT"/>
              <a:t> </a:t>
            </a:r>
            <a:r>
              <a:rPr lang="pt-PT" err="1"/>
              <a:t>orci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</a:t>
            </a:r>
            <a:r>
              <a:rPr lang="pt-PT" err="1"/>
              <a:t>consectetur</a:t>
            </a:r>
            <a:r>
              <a:rPr lang="pt-PT"/>
              <a:t>. Ut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ornare</a:t>
            </a:r>
            <a:r>
              <a:rPr lang="pt-PT"/>
              <a:t> </a:t>
            </a:r>
            <a:r>
              <a:rPr lang="pt-PT" err="1"/>
              <a:t>eget</a:t>
            </a:r>
            <a:r>
              <a:rPr lang="pt-PT"/>
              <a:t> </a:t>
            </a:r>
            <a:r>
              <a:rPr lang="pt-PT" err="1"/>
              <a:t>suscipit</a:t>
            </a:r>
            <a:r>
              <a:rPr lang="pt-PT"/>
              <a:t> a, </a:t>
            </a:r>
            <a:r>
              <a:rPr lang="pt-PT" err="1"/>
              <a:t>volutpat</a:t>
            </a:r>
            <a:r>
              <a:rPr lang="pt-PT"/>
              <a:t> </a:t>
            </a:r>
            <a:r>
              <a:rPr lang="pt-PT" err="1"/>
              <a:t>nec</a:t>
            </a:r>
            <a:r>
              <a:rPr lang="pt-PT"/>
              <a:t> </a:t>
            </a:r>
            <a:r>
              <a:rPr lang="pt-PT" err="1"/>
              <a:t>nunc</a:t>
            </a:r>
            <a:r>
              <a:rPr lang="pt-PT"/>
              <a:t>. </a:t>
            </a:r>
            <a:r>
              <a:rPr lang="pt-PT" err="1"/>
              <a:t>Vivamus</a:t>
            </a:r>
            <a:r>
              <a:rPr lang="pt-PT"/>
              <a:t> </a:t>
            </a:r>
            <a:r>
              <a:rPr lang="pt-PT" err="1"/>
              <a:t>tempor</a:t>
            </a:r>
            <a:r>
              <a:rPr lang="pt-PT"/>
              <a:t> </a:t>
            </a:r>
            <a:r>
              <a:rPr lang="pt-PT" err="1"/>
              <a:t>lectus</a:t>
            </a:r>
            <a:r>
              <a:rPr lang="pt-PT"/>
              <a:t> </a:t>
            </a:r>
            <a:r>
              <a:rPr lang="pt-PT" err="1"/>
              <a:t>vel</a:t>
            </a:r>
            <a:r>
              <a:rPr lang="pt-PT"/>
              <a:t> </a:t>
            </a:r>
            <a:r>
              <a:rPr lang="pt-PT" err="1"/>
              <a:t>aliquam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. </a:t>
            </a:r>
            <a:r>
              <a:rPr lang="pt-PT" err="1"/>
              <a:t>Quisque</a:t>
            </a:r>
            <a:r>
              <a:rPr lang="pt-PT"/>
              <a:t> </a:t>
            </a:r>
            <a:r>
              <a:rPr lang="pt-PT" err="1"/>
              <a:t>tincidunt</a:t>
            </a:r>
            <a:r>
              <a:rPr lang="pt-PT"/>
              <a:t> </a:t>
            </a:r>
            <a:r>
              <a:rPr lang="pt-PT" err="1"/>
              <a:t>vehicula</a:t>
            </a:r>
            <a:r>
              <a:rPr lang="pt-PT"/>
              <a:t> </a:t>
            </a:r>
            <a:r>
              <a:rPr lang="pt-PT" err="1"/>
              <a:t>sodales</a:t>
            </a:r>
            <a:r>
              <a:rPr lang="pt-PT"/>
              <a:t>. </a:t>
            </a:r>
            <a:r>
              <a:rPr lang="pt-PT" err="1"/>
              <a:t>Curabitur</a:t>
            </a:r>
            <a:r>
              <a:rPr lang="pt-PT"/>
              <a:t> </a:t>
            </a:r>
            <a:r>
              <a:rPr lang="pt-PT" err="1"/>
              <a:t>condimentum</a:t>
            </a:r>
            <a:r>
              <a:rPr lang="pt-PT"/>
              <a:t> </a:t>
            </a:r>
            <a:r>
              <a:rPr lang="pt-PT" err="1"/>
              <a:t>venenatis</a:t>
            </a:r>
            <a:r>
              <a:rPr lang="pt-PT"/>
              <a:t>.</a:t>
            </a:r>
          </a:p>
          <a:p>
            <a:r>
              <a:rPr lang="pt-PT" err="1"/>
              <a:t>Orci</a:t>
            </a:r>
            <a:r>
              <a:rPr lang="pt-PT"/>
              <a:t> </a:t>
            </a:r>
            <a:r>
              <a:rPr lang="pt-PT" err="1"/>
              <a:t>varius</a:t>
            </a:r>
            <a:r>
              <a:rPr lang="pt-PT"/>
              <a:t> </a:t>
            </a:r>
            <a:r>
              <a:rPr lang="pt-PT" err="1"/>
              <a:t>natoque</a:t>
            </a:r>
            <a:r>
              <a:rPr lang="pt-PT"/>
              <a:t> </a:t>
            </a:r>
            <a:r>
              <a:rPr lang="pt-PT" err="1"/>
              <a:t>penatibus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magnis</a:t>
            </a:r>
            <a:r>
              <a:rPr lang="pt-PT"/>
              <a:t> </a:t>
            </a:r>
            <a:r>
              <a:rPr lang="pt-PT" err="1"/>
              <a:t>dis</a:t>
            </a:r>
            <a:r>
              <a:rPr lang="pt-PT"/>
              <a:t> </a:t>
            </a:r>
            <a:r>
              <a:rPr lang="pt-PT" err="1"/>
              <a:t>parturient</a:t>
            </a:r>
            <a:r>
              <a:rPr lang="pt-PT"/>
              <a:t> montes, </a:t>
            </a:r>
            <a:r>
              <a:rPr lang="pt-PT" err="1"/>
              <a:t>nascetur</a:t>
            </a:r>
            <a:r>
              <a:rPr lang="pt-PT"/>
              <a:t> </a:t>
            </a:r>
            <a:r>
              <a:rPr lang="pt-PT" err="1"/>
              <a:t>ridiculus</a:t>
            </a:r>
            <a:r>
              <a:rPr lang="pt-PT"/>
              <a:t> mus. </a:t>
            </a:r>
            <a:r>
              <a:rPr lang="pt-PT" err="1"/>
              <a:t>Sed</a:t>
            </a:r>
            <a:r>
              <a:rPr lang="pt-PT"/>
              <a:t> </a:t>
            </a:r>
            <a:r>
              <a:rPr lang="pt-PT" err="1"/>
              <a:t>feugiat</a:t>
            </a:r>
            <a:r>
              <a:rPr lang="pt-PT"/>
              <a:t> ultrices </a:t>
            </a:r>
            <a:r>
              <a:rPr lang="pt-PT" err="1"/>
              <a:t>tellus</a:t>
            </a:r>
            <a:r>
              <a:rPr lang="pt-PT"/>
              <a:t>, in </a:t>
            </a:r>
            <a:r>
              <a:rPr lang="pt-PT" err="1"/>
              <a:t>aliquet</a:t>
            </a:r>
            <a:r>
              <a:rPr lang="pt-PT"/>
              <a:t> magna </a:t>
            </a:r>
            <a:r>
              <a:rPr lang="pt-PT" err="1"/>
              <a:t>lacinia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. </a:t>
            </a:r>
            <a:r>
              <a:rPr lang="pt-PT" err="1"/>
              <a:t>Phasellus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 </a:t>
            </a:r>
            <a:r>
              <a:rPr lang="pt-PT" err="1"/>
              <a:t>lacus</a:t>
            </a:r>
            <a:r>
              <a:rPr lang="pt-PT"/>
              <a:t> </a:t>
            </a:r>
            <a:r>
              <a:rPr lang="pt-PT" err="1"/>
              <a:t>et</a:t>
            </a:r>
            <a:r>
              <a:rPr lang="pt-PT"/>
              <a:t> </a:t>
            </a:r>
            <a:r>
              <a:rPr lang="pt-PT" err="1"/>
              <a:t>euismod</a:t>
            </a:r>
            <a:r>
              <a:rPr lang="pt-PT"/>
              <a:t> egestas.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congue</a:t>
            </a:r>
            <a:r>
              <a:rPr lang="pt-PT"/>
              <a:t> </a:t>
            </a:r>
            <a:r>
              <a:rPr lang="pt-PT" err="1"/>
              <a:t>blandit</a:t>
            </a:r>
            <a:r>
              <a:rPr lang="pt-PT"/>
              <a:t> </a:t>
            </a:r>
            <a:r>
              <a:rPr lang="pt-PT" err="1"/>
              <a:t>convallis</a:t>
            </a:r>
            <a:r>
              <a:rPr lang="pt-PT"/>
              <a:t>. </a:t>
            </a:r>
            <a:r>
              <a:rPr lang="pt-PT" err="1"/>
              <a:t>Class</a:t>
            </a:r>
            <a:r>
              <a:rPr lang="pt-PT"/>
              <a:t> </a:t>
            </a:r>
            <a:r>
              <a:rPr lang="pt-PT" err="1"/>
              <a:t>aptent</a:t>
            </a:r>
            <a:r>
              <a:rPr lang="pt-PT"/>
              <a:t> </a:t>
            </a:r>
            <a:r>
              <a:rPr lang="pt-PT" err="1"/>
              <a:t>taciti</a:t>
            </a:r>
            <a:r>
              <a:rPr lang="pt-PT"/>
              <a:t> </a:t>
            </a:r>
            <a:r>
              <a:rPr lang="pt-PT" err="1"/>
              <a:t>sociosqu</a:t>
            </a:r>
            <a:r>
              <a:rPr lang="pt-PT"/>
              <a:t> ad </a:t>
            </a:r>
            <a:r>
              <a:rPr lang="pt-PT" err="1"/>
              <a:t>litora</a:t>
            </a:r>
            <a:r>
              <a:rPr lang="pt-PT"/>
              <a:t> </a:t>
            </a:r>
            <a:r>
              <a:rPr lang="pt-PT" err="1"/>
              <a:t>torquent</a:t>
            </a:r>
            <a:r>
              <a:rPr lang="pt-PT"/>
              <a:t> per </a:t>
            </a:r>
            <a:r>
              <a:rPr lang="pt-PT" err="1"/>
              <a:t>conubia</a:t>
            </a:r>
            <a:r>
              <a:rPr lang="pt-PT"/>
              <a:t> </a:t>
            </a:r>
            <a:r>
              <a:rPr lang="pt-PT" err="1"/>
              <a:t>nostra</a:t>
            </a:r>
            <a:r>
              <a:rPr lang="pt-PT"/>
              <a:t>, per </a:t>
            </a:r>
            <a:r>
              <a:rPr lang="pt-PT" err="1"/>
              <a:t>inceptos</a:t>
            </a:r>
            <a:r>
              <a:rPr lang="pt-PT"/>
              <a:t> </a:t>
            </a:r>
            <a:r>
              <a:rPr lang="pt-PT" err="1"/>
              <a:t>himenaeos</a:t>
            </a:r>
            <a:r>
              <a:rPr lang="pt-PT"/>
              <a:t>. </a:t>
            </a:r>
            <a:r>
              <a:rPr lang="pt-PT" err="1"/>
              <a:t>Nunc</a:t>
            </a:r>
            <a:r>
              <a:rPr lang="pt-PT"/>
              <a:t> in </a:t>
            </a:r>
            <a:r>
              <a:rPr lang="pt-PT" err="1"/>
              <a:t>vulputate</a:t>
            </a:r>
            <a:r>
              <a:rPr lang="pt-PT"/>
              <a:t> mi.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auctor</a:t>
            </a:r>
            <a:r>
              <a:rPr lang="pt-PT"/>
              <a:t> </a:t>
            </a:r>
            <a:r>
              <a:rPr lang="pt-PT" err="1"/>
              <a:t>erat</a:t>
            </a:r>
            <a:r>
              <a:rPr lang="pt-PT"/>
              <a:t> </a:t>
            </a:r>
            <a:r>
              <a:rPr lang="pt-PT" err="1"/>
              <a:t>turpis</a:t>
            </a:r>
            <a:r>
              <a:rPr lang="pt-PT"/>
              <a:t>, </a:t>
            </a:r>
            <a:r>
              <a:rPr lang="pt-PT" err="1"/>
              <a:t>ac</a:t>
            </a:r>
            <a:r>
              <a:rPr lang="pt-PT"/>
              <a:t> </a:t>
            </a:r>
            <a:r>
              <a:rPr lang="pt-PT" err="1"/>
              <a:t>efficitur</a:t>
            </a:r>
            <a:r>
              <a:rPr lang="pt-PT"/>
              <a:t> </a:t>
            </a:r>
            <a:r>
              <a:rPr lang="pt-PT" err="1"/>
              <a:t>nulla</a:t>
            </a:r>
            <a:r>
              <a:rPr lang="pt-PT"/>
              <a:t> </a:t>
            </a:r>
            <a:r>
              <a:rPr lang="pt-PT" err="1"/>
              <a:t>laoreet</a:t>
            </a:r>
            <a:r>
              <a:rPr lang="pt-PT"/>
              <a:t> quis. </a:t>
            </a:r>
            <a:r>
              <a:rPr lang="pt-PT" err="1"/>
              <a:t>Nunc</a:t>
            </a:r>
            <a:r>
              <a:rPr lang="pt-PT"/>
              <a:t> </a:t>
            </a:r>
            <a:r>
              <a:rPr lang="pt-PT" err="1"/>
              <a:t>accumsan</a:t>
            </a:r>
            <a:r>
              <a:rPr lang="pt-PT"/>
              <a:t> </a:t>
            </a:r>
            <a:r>
              <a:rPr lang="pt-PT" err="1"/>
              <a:t>sapien</a:t>
            </a:r>
            <a:r>
              <a:rPr lang="pt-PT"/>
              <a:t> a ante </a:t>
            </a:r>
            <a:r>
              <a:rPr lang="pt-PT" err="1"/>
              <a:t>tempus</a:t>
            </a:r>
            <a:r>
              <a:rPr lang="pt-PT"/>
              <a:t> </a:t>
            </a:r>
            <a:r>
              <a:rPr lang="pt-PT" err="1"/>
              <a:t>lacinia</a:t>
            </a:r>
            <a:r>
              <a:rPr lang="pt-PT"/>
              <a:t>.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037F267E-E9F9-442B-9DBC-1D09F67841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90" y="249173"/>
            <a:ext cx="7266629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400">
                <a:solidFill>
                  <a:srgbClr val="003E51"/>
                </a:solidFill>
                <a:latin typeface="Muli Black" panose="00000A00000000000000" pitchFamily="2" charset="0"/>
              </a:defRPr>
            </a:lvl1pPr>
          </a:lstStyle>
          <a:p>
            <a:pPr lvl="0"/>
            <a:r>
              <a:rPr lang="pt-PT"/>
              <a:t>Título 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8A4E472F-A866-4850-8C06-CACB8DC18A7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tabLst/>
              <a:defRPr sz="1600" b="0">
                <a:solidFill>
                  <a:srgbClr val="003E51"/>
                </a:solidFill>
                <a:latin typeface="Muli" panose="00000500000000000000" pitchFamily="2" charset="0"/>
              </a:defRPr>
            </a:lvl1pPr>
          </a:lstStyle>
          <a:p>
            <a:pPr lvl="0"/>
            <a:r>
              <a:rPr lang="pt-PT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846636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8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7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9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theme" Target="../theme/theme10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image" Target="../media/image7.png"/><Relationship Id="rId5" Type="http://schemas.openxmlformats.org/officeDocument/2006/relationships/image" Target="../media/image3.png"/><Relationship Id="rId4" Type="http://schemas.openxmlformats.org/officeDocument/2006/relationships/theme" Target="../theme/theme11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6.png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29.xml"/><Relationship Id="rId7" Type="http://schemas.openxmlformats.org/officeDocument/2006/relationships/theme" Target="../theme/theme14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9" Type="http://schemas.openxmlformats.org/officeDocument/2006/relationships/image" Target="../media/image7.png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theme" Target="../theme/theme15.xml"/></Relationships>
</file>

<file path=ppt/slideMasters/_rels/slideMaster16.xml.rels><?xml version="1.0" encoding="UTF-8" standalone="yes"?>
<Relationships xmlns="http://schemas.openxmlformats.org/package/2006/relationships"><Relationship Id="rId3" Type="http://schemas.openxmlformats.org/officeDocument/2006/relationships/theme" Target="../theme/theme16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3.png"/><Relationship Id="rId5" Type="http://schemas.openxmlformats.org/officeDocument/2006/relationships/theme" Target="../theme/theme17.xml"/><Relationship Id="rId4" Type="http://schemas.openxmlformats.org/officeDocument/2006/relationships/slideLayout" Target="../slideLayouts/slideLayout41.xml"/></Relationships>
</file>

<file path=ppt/slideMasters/_rels/slideMaster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Layout" Target="../slideLayouts/slideLayout44.xml"/><Relationship Id="rId7" Type="http://schemas.openxmlformats.org/officeDocument/2006/relationships/theme" Target="../theme/theme18.xml"/><Relationship Id="rId2" Type="http://schemas.openxmlformats.org/officeDocument/2006/relationships/slideLayout" Target="../slideLayouts/slideLayout43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5.xml"/><Relationship Id="rId9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.png">
            <a:extLst>
              <a:ext uri="{FF2B5EF4-FFF2-40B4-BE49-F238E27FC236}">
                <a16:creationId xmlns:a16="http://schemas.microsoft.com/office/drawing/2014/main" id="{78052317-F054-4A47-98BD-A3E4D2DB7B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7028" y="341777"/>
            <a:ext cx="4238063" cy="2159458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19FD69-E702-4F11-8706-45EEEFCE9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r="11117"/>
          <a:stretch/>
        </p:blipFill>
        <p:spPr>
          <a:xfrm>
            <a:off x="8990164" y="0"/>
            <a:ext cx="2275933" cy="6859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50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708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05_01.png">
            <a:extLst>
              <a:ext uri="{FF2B5EF4-FFF2-40B4-BE49-F238E27FC236}">
                <a16:creationId xmlns:a16="http://schemas.microsoft.com/office/drawing/2014/main" id="{32BA6EBF-5562-4727-9DC6-3BD90A89C66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03_Indice.png">
            <a:extLst>
              <a:ext uri="{FF2B5EF4-FFF2-40B4-BE49-F238E27FC236}">
                <a16:creationId xmlns:a16="http://schemas.microsoft.com/office/drawing/2014/main" id="{43BAEF5B-8F8B-465A-9949-DE951D41B1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50851"/>
          <a:stretch/>
        </p:blipFill>
        <p:spPr>
          <a:xfrm>
            <a:off x="6198826" y="0"/>
            <a:ext cx="5985949" cy="685958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33056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68151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14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91545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799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3E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Logo white.pdf">
            <a:extLst>
              <a:ext uri="{FF2B5EF4-FFF2-40B4-BE49-F238E27FC236}">
                <a16:creationId xmlns:a16="http://schemas.microsoft.com/office/drawing/2014/main" id="{A7714FFF-5612-4744-B3EB-D14AF51F2EA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3685" y="2371188"/>
            <a:ext cx="5023044" cy="211721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953982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23460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91083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9" r:id="rId2"/>
    <p:sldLayoutId id="2147483730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4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544537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0" y="6096098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65535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6" r:id="rId2"/>
    <p:sldLayoutId id="2147483737" r:id="rId3"/>
  </p:sldLayoutIdLst>
  <p:txStyles>
    <p:titleStyle>
      <a:lvl1pPr algn="l" defTabSz="457066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67" indent="-114267" algn="l" defTabSz="457066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0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33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865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398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9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463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996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2530" indent="-114267" algn="l" defTabSz="457066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53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066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60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4131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664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197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730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263" algn="l" defTabSz="457066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546787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BBFC06F-EA62-4716-A2D1-F243BEC47CD3}"/>
              </a:ext>
            </a:extLst>
          </p:cNvPr>
          <p:cNvSpPr/>
          <p:nvPr userDrawn="1"/>
        </p:nvSpPr>
        <p:spPr>
          <a:xfrm>
            <a:off x="9964402" y="6485235"/>
            <a:ext cx="1329210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PT" sz="800" kern="1200">
                <a:solidFill>
                  <a:schemeClr val="tx1"/>
                </a:solidFill>
                <a:effectLst/>
                <a:latin typeface="Muli" panose="00000500000000000000" pitchFamily="2" charset="0"/>
                <a:ea typeface="+mn-ea"/>
                <a:cs typeface="Arial" panose="020B0604020202020204" pitchFamily="34" charset="0"/>
              </a:rPr>
              <a:t>N.11.20219012262 v1.1</a:t>
            </a:r>
            <a:endParaRPr lang="pt-PT" sz="800">
              <a:latin typeface="Muli" panose="00000500000000000000" pitchFamily="2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4341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09782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asted-image.pdf">
            <a:extLst>
              <a:ext uri="{FF2B5EF4-FFF2-40B4-BE49-F238E27FC236}">
                <a16:creationId xmlns:a16="http://schemas.microsoft.com/office/drawing/2014/main" id="{610F84D4-3B17-4F9B-911F-E68DC26BB94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" y="0"/>
            <a:ext cx="12190413" cy="6859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07.png">
            <a:extLst>
              <a:ext uri="{FF2B5EF4-FFF2-40B4-BE49-F238E27FC236}">
                <a16:creationId xmlns:a16="http://schemas.microsoft.com/office/drawing/2014/main" id="{F3F38F1A-6F2E-4849-8F7E-28FBA025358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" y="2768588"/>
            <a:ext cx="12192735" cy="178125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065628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6088114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6" r:id="rId5"/>
    <p:sldLayoutId id="2147483777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3285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60814" y="-91060"/>
            <a:ext cx="2381998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201851" y="6096099"/>
            <a:ext cx="1061529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4060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5" r:id="rId1"/>
    <p:sldLayoutId id="2147483786" r:id="rId2"/>
  </p:sldLayoutIdLst>
  <p:txStyles>
    <p:titleStyle>
      <a:lvl1pPr algn="l" defTabSz="456929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233" indent="-114233" algn="l" defTabSz="45692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69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57116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99625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089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6553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01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3482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1947" indent="-114233" algn="l" defTabSz="456929" rtl="0" eaLnBrk="1" latinLnBrk="0" hangingPunct="1">
        <a:lnSpc>
          <a:spcPct val="90000"/>
        </a:lnSpc>
        <a:spcBef>
          <a:spcPts val="251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46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56929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39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13857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142321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370786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599250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827714" algn="l" defTabSz="456929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1675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05_01.png">
            <a:extLst>
              <a:ext uri="{FF2B5EF4-FFF2-40B4-BE49-F238E27FC236}">
                <a16:creationId xmlns:a16="http://schemas.microsoft.com/office/drawing/2014/main" id="{4FE9AC4B-7D05-4555-972F-FF753F94C696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60812" y="-91060"/>
            <a:ext cx="2381997" cy="10538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" name="05_02.png">
            <a:extLst>
              <a:ext uri="{FF2B5EF4-FFF2-40B4-BE49-F238E27FC236}">
                <a16:creationId xmlns:a16="http://schemas.microsoft.com/office/drawing/2014/main" id="{6AA67640-EFFC-4808-8E4F-A2795C96A842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201848" y="6096098"/>
            <a:ext cx="1061530" cy="8228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959692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</p:sldLayoutIdLst>
  <p:txStyles>
    <p:titleStyle>
      <a:lvl1pPr algn="l" defTabSz="445496" rtl="0" eaLnBrk="1" latinLnBrk="0" hangingPunct="1">
        <a:lnSpc>
          <a:spcPct val="90000"/>
        </a:lnSpc>
        <a:spcBef>
          <a:spcPct val="0"/>
        </a:spcBef>
        <a:buNone/>
        <a:defRPr sz="21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1374" indent="-111374" algn="l" defTabSz="445496" rtl="0" eaLnBrk="1" latinLnBrk="0" hangingPunct="1">
        <a:lnSpc>
          <a:spcPct val="90000"/>
        </a:lnSpc>
        <a:spcBef>
          <a:spcPts val="487"/>
        </a:spcBef>
        <a:buFont typeface="Arial" panose="020B0604020202020204" pitchFamily="34" charset="0"/>
        <a:buChar char="•"/>
        <a:defRPr sz="1364" kern="1200">
          <a:solidFill>
            <a:schemeClr val="tx1"/>
          </a:solidFill>
          <a:latin typeface="+mn-lt"/>
          <a:ea typeface="+mn-ea"/>
          <a:cs typeface="+mn-cs"/>
        </a:defRPr>
      </a:lvl1pPr>
      <a:lvl2pPr marL="334122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1169" kern="1200">
          <a:solidFill>
            <a:schemeClr val="tx1"/>
          </a:solidFill>
          <a:latin typeface="+mn-lt"/>
          <a:ea typeface="+mn-ea"/>
          <a:cs typeface="+mn-cs"/>
        </a:defRPr>
      </a:lvl2pPr>
      <a:lvl3pPr marL="556870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974" kern="1200">
          <a:solidFill>
            <a:schemeClr val="tx1"/>
          </a:solidFill>
          <a:latin typeface="+mn-lt"/>
          <a:ea typeface="+mn-ea"/>
          <a:cs typeface="+mn-cs"/>
        </a:defRPr>
      </a:lvl3pPr>
      <a:lvl4pPr marL="77961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1002365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225113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447861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670609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893357" indent="-111374" algn="l" defTabSz="445496" rtl="0" eaLnBrk="1" latinLnBrk="0" hangingPunct="1">
        <a:lnSpc>
          <a:spcPct val="90000"/>
        </a:lnSpc>
        <a:spcBef>
          <a:spcPts val="244"/>
        </a:spcBef>
        <a:buFont typeface="Arial" panose="020B0604020202020204" pitchFamily="34" charset="0"/>
        <a:buChar char="•"/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1pPr>
      <a:lvl2pPr marL="222748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2pPr>
      <a:lvl3pPr marL="445496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3pPr>
      <a:lvl4pPr marL="668244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4pPr>
      <a:lvl5pPr marL="890991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5pPr>
      <a:lvl6pPr marL="1113739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6pPr>
      <a:lvl7pPr marL="1336487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7pPr>
      <a:lvl8pPr marL="1559235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8pPr>
      <a:lvl9pPr marL="1781983" algn="l" defTabSz="445496" rtl="0" eaLnBrk="1" latinLnBrk="0" hangingPunct="1">
        <a:defRPr sz="8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23.svg"/><Relationship Id="rId5" Type="http://schemas.openxmlformats.org/officeDocument/2006/relationships/image" Target="../media/image20.png"/><Relationship Id="rId4" Type="http://schemas.openxmlformats.org/officeDocument/2006/relationships/image" Target="../media/image21.svg"/><Relationship Id="rId9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NUL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2.xml"/><Relationship Id="rId4" Type="http://schemas.microsoft.com/office/2018/10/relationships/comments" Target="NUL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6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FDFDE417-BE67-403A-8E7B-2F67EBE84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526" y="3805233"/>
            <a:ext cx="6870674" cy="301892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</a:rPr>
              <a:t>Ponto de Situação </a:t>
            </a:r>
            <a:r>
              <a:rPr lang="pt-PT" dirty="0" smtClean="0">
                <a:latin typeface="Arial" panose="020B0604020202020204" pitchFamily="34" charset="0"/>
              </a:rPr>
              <a:t>#8</a:t>
            </a:r>
            <a:endParaRPr lang="pt-PT" i="1" dirty="0">
              <a:latin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EDB14-447D-417D-BB84-48C9F66C8A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pt-PT" dirty="0" smtClean="0">
                <a:latin typeface="Arial" panose="020B0604020202020204" pitchFamily="34" charset="0"/>
              </a:rPr>
              <a:t>06 </a:t>
            </a:r>
            <a:r>
              <a:rPr lang="pt-PT" dirty="0">
                <a:latin typeface="Arial" panose="020B0604020202020204" pitchFamily="34" charset="0"/>
              </a:rPr>
              <a:t>de </a:t>
            </a:r>
            <a:r>
              <a:rPr lang="pt-PT" dirty="0" smtClean="0">
                <a:latin typeface="Arial" panose="020B0604020202020204" pitchFamily="34" charset="0"/>
              </a:rPr>
              <a:t>junho de 2025</a:t>
            </a:r>
            <a:endParaRPr lang="pt-PT" dirty="0">
              <a:latin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E9D7301-5192-460C-A18F-7FB1958252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076" y="2780694"/>
            <a:ext cx="7498749" cy="900308"/>
          </a:xfrm>
        </p:spPr>
        <p:txBody>
          <a:bodyPr/>
          <a:lstStyle/>
          <a:p>
            <a:r>
              <a:rPr lang="pt-PT" sz="2000" dirty="0" smtClean="0">
                <a:latin typeface="Arial" panose="020B0604020202020204" pitchFamily="34" charset="0"/>
              </a:rPr>
              <a:t>Implementação Templates Locais &amp; Satélites Corporativos</a:t>
            </a:r>
            <a:endParaRPr lang="pt-PT" sz="2000" dirty="0">
              <a:latin typeface="Arial" panose="020B0604020202020204" pitchFamily="34" charset="0"/>
            </a:endParaRPr>
          </a:p>
        </p:txBody>
      </p:sp>
      <p:pic>
        <p:nvPicPr>
          <p:cNvPr id="1026" name="Picture 2" descr="Santander Logo: valor, história, PNG">
            <a:extLst>
              <a:ext uri="{FF2B5EF4-FFF2-40B4-BE49-F238E27FC236}">
                <a16:creationId xmlns:a16="http://schemas.microsoft.com/office/drawing/2014/main" id="{B41535F9-35DB-2473-8C65-3479DB7C1B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990" y="5422236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7958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EE1117D-CBD7-4CD3-A4DB-E3D3350DE2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6" name="Rectangle 53">
            <a:extLst>
              <a:ext uri="{FF2B5EF4-FFF2-40B4-BE49-F238E27FC236}">
                <a16:creationId xmlns:a16="http://schemas.microsoft.com/office/drawing/2014/main" id="{27633E4E-7104-494E-9D8B-7DC965C20D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560881"/>
            <a:ext cx="6984776" cy="3799784"/>
          </a:xfrm>
          <a:prstGeom prst="rect">
            <a:avLst/>
          </a:prstGeom>
          <a:noFill/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72000" tIns="36000" rIns="72000" bIns="36000"/>
          <a:lstStyle/>
          <a:p>
            <a:pPr marL="88900" marR="0" lvl="0" indent="0" algn="just" defTabSz="914400" rtl="0" eaLnBrk="0" fontAlgn="auto" latinLnBrk="0" hangingPunct="0">
              <a:lnSpc>
                <a:spcPct val="100000"/>
              </a:lnSpc>
              <a:spcBef>
                <a:spcPct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04853" algn="just" defTabSz="1077718" eaLnBrk="0">
              <a:spcBef>
                <a:spcPct val="0"/>
              </a:spcBef>
              <a:spcAft>
                <a:spcPts val="476"/>
              </a:spcAft>
              <a:defRPr/>
            </a:pP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Realização da </a:t>
            </a:r>
            <a:r>
              <a:rPr lang="pt-PT" sz="1100" dirty="0" smtClean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8ª </a:t>
            </a:r>
            <a:r>
              <a:rPr lang="pt-PT" sz="1100" dirty="0">
                <a:solidFill>
                  <a:schemeClr val="tx1"/>
                </a:solidFill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reunião de acompanhamento de projeto, de acordo com a seguinte ordem de atividades:</a:t>
            </a:r>
          </a:p>
        </p:txBody>
      </p:sp>
      <p:sp>
        <p:nvSpPr>
          <p:cNvPr id="7" name="Rectangle 54">
            <a:extLst>
              <a:ext uri="{FF2B5EF4-FFF2-40B4-BE49-F238E27FC236}">
                <a16:creationId xmlns:a16="http://schemas.microsoft.com/office/drawing/2014/main" id="{D3FFE2EB-DD03-4F13-B691-855F6CC70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560424"/>
            <a:ext cx="3595569" cy="3799784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numCol="2"/>
          <a:lstStyle/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C3D21F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87313" marR="0" lvl="1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1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solidFill>
                <a:srgbClr val="003E51"/>
              </a:solidFill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  <a:p>
            <a:pPr marL="185738" marR="0" lvl="1" indent="-98425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pt-PT" sz="1100"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</a:endParaRPr>
          </a:p>
          <a:p>
            <a:pPr marL="87313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" name="Rectangle 54">
            <a:extLst>
              <a:ext uri="{FF2B5EF4-FFF2-40B4-BE49-F238E27FC236}">
                <a16:creationId xmlns:a16="http://schemas.microsoft.com/office/drawing/2014/main" id="{15D8C526-E58D-4844-A15C-905928933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1270011"/>
            <a:ext cx="6984776" cy="288000"/>
          </a:xfrm>
          <a:prstGeom prst="rect">
            <a:avLst/>
          </a:prstGeom>
          <a:solidFill>
            <a:srgbClr val="003E5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Objetivos</a:t>
            </a:r>
          </a:p>
        </p:txBody>
      </p:sp>
      <p:sp>
        <p:nvSpPr>
          <p:cNvPr id="9" name="Rectangle 54">
            <a:extLst>
              <a:ext uri="{FF2B5EF4-FFF2-40B4-BE49-F238E27FC236}">
                <a16:creationId xmlns:a16="http://schemas.microsoft.com/office/drawing/2014/main" id="{3A558929-AD00-44AD-AEC2-4D0E93AFA4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1269554"/>
            <a:ext cx="3595569" cy="288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Participantes</a:t>
            </a: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id="{487B6253-6564-45E9-9883-00D4FB5C6A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000" y="5768268"/>
            <a:ext cx="3456022" cy="285396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12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:00 </a:t>
            </a:r>
            <a:r>
              <a:rPr kumimoji="0" lang="pt-PT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–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13:00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id="{7CD9833C-0640-421F-85C5-C0408FE1B9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770433"/>
            <a:ext cx="3456384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06 </a:t>
            </a:r>
            <a:r>
              <a:rPr lang="pt-PT" sz="1000" dirty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de </a:t>
            </a:r>
            <a:r>
              <a:rPr lang="pt-PT" sz="1000" dirty="0" smtClean="0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junho </a:t>
            </a:r>
            <a:r>
              <a:rPr kumimoji="0" lang="pt-PT" sz="10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de 2025</a:t>
            </a: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id="{F6DF2307-5D44-46E3-93B3-01FAF6F54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483529"/>
            <a:ext cx="3595569" cy="287337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Local</a:t>
            </a:r>
          </a:p>
        </p:txBody>
      </p:sp>
      <p:sp>
        <p:nvSpPr>
          <p:cNvPr id="34" name="Rectangle 53">
            <a:extLst>
              <a:ext uri="{FF2B5EF4-FFF2-40B4-BE49-F238E27FC236}">
                <a16:creationId xmlns:a16="http://schemas.microsoft.com/office/drawing/2014/main" id="{0A565E87-EBA8-4478-8807-362A8F4B9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413" y="5768268"/>
            <a:ext cx="3595569" cy="288000"/>
          </a:xfrm>
          <a:prstGeom prst="rect">
            <a:avLst/>
          </a:prstGeom>
          <a:solidFill>
            <a:srgbClr val="FFFFFF"/>
          </a:solidFill>
          <a:ln w="6350" algn="ctr">
            <a:solidFill>
              <a:schemeClr val="tx1"/>
            </a:solidFill>
            <a:prstDash val="sysDot"/>
            <a:miter lim="800000"/>
            <a:headEnd/>
            <a:tailEnd/>
          </a:ln>
        </p:spPr>
        <p:txBody>
          <a:bodyPr lIns="0" tIns="36000" rIns="0" bIns="3600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pt-PT" sz="1000" i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Microsoft Teams </a:t>
            </a:r>
            <a:r>
              <a:rPr lang="pt-PT" sz="1000" i="1" err="1"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</a:rPr>
              <a:t>Call</a:t>
            </a:r>
            <a:endParaRPr kumimoji="0" lang="pt-PT" sz="1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5" name="Rectangle 53">
            <a:extLst>
              <a:ext uri="{FF2B5EF4-FFF2-40B4-BE49-F238E27FC236}">
                <a16:creationId xmlns:a16="http://schemas.microsoft.com/office/drawing/2014/main" id="{A0F59B8D-BAFC-4D64-A266-A80A48DB5F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606" y="5483936"/>
            <a:ext cx="3456384" cy="28733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6D32B9F-193D-456F-B10D-46C5107E0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3360" y="5485694"/>
            <a:ext cx="3456384" cy="284739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Hora Início - Fim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B6C59664-F150-4886-8873-78A8C7EE5E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9130601" y="3120820"/>
            <a:ext cx="1188466" cy="50261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1916E43-00E8-4AAD-AB66-E306BF4D9129}"/>
              </a:ext>
            </a:extLst>
          </p:cNvPr>
          <p:cNvGrpSpPr/>
          <p:nvPr/>
        </p:nvGrpSpPr>
        <p:grpSpPr>
          <a:xfrm>
            <a:off x="1185783" y="3120811"/>
            <a:ext cx="5073500" cy="324000"/>
            <a:chOff x="1187752" y="3242607"/>
            <a:chExt cx="5073500" cy="324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6605C5F-FD24-4091-A7C9-C05F74228E45}"/>
                </a:ext>
              </a:extLst>
            </p:cNvPr>
            <p:cNvSpPr/>
            <p:nvPr/>
          </p:nvSpPr>
          <p:spPr>
            <a:xfrm>
              <a:off x="1187752" y="3272289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Planeamento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5AED5A5-B1F6-4685-B572-96070B7665D9}"/>
                </a:ext>
              </a:extLst>
            </p:cNvPr>
            <p:cNvSpPr/>
            <p:nvPr/>
          </p:nvSpPr>
          <p:spPr>
            <a:xfrm>
              <a:off x="2481252" y="3272289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Resumo do </a:t>
              </a:r>
              <a:r>
                <a:rPr lang="pt-PT" sz="1000" i="1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status</a:t>
              </a: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das atividades a realizar ao longo do projeto</a:t>
              </a:r>
            </a:p>
          </p:txBody>
        </p: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61BD3468-356B-443F-8186-5B679E995BBE}"/>
                </a:ext>
              </a:extLst>
            </p:cNvPr>
            <p:cNvCxnSpPr/>
            <p:nvPr/>
          </p:nvCxnSpPr>
          <p:spPr>
            <a:xfrm>
              <a:off x="2410502" y="3242607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C8D6F25-667B-4D64-B49F-653A819D33AE}"/>
              </a:ext>
            </a:extLst>
          </p:cNvPr>
          <p:cNvGrpSpPr/>
          <p:nvPr/>
        </p:nvGrpSpPr>
        <p:grpSpPr>
          <a:xfrm>
            <a:off x="1185783" y="4746782"/>
            <a:ext cx="5073500" cy="324000"/>
            <a:chOff x="1185783" y="4289890"/>
            <a:chExt cx="5073500" cy="324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4D43095-8AA4-4821-B289-361FBCD35E66}"/>
                </a:ext>
              </a:extLst>
            </p:cNvPr>
            <p:cNvSpPr/>
            <p:nvPr/>
          </p:nvSpPr>
          <p:spPr>
            <a:xfrm>
              <a:off x="1185783" y="4319571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Próximos Passos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92D3BCA-9A35-4706-BB3E-697EA65D690A}"/>
                </a:ext>
              </a:extLst>
            </p:cNvPr>
            <p:cNvSpPr/>
            <p:nvPr/>
          </p:nvSpPr>
          <p:spPr>
            <a:xfrm>
              <a:off x="2479283" y="4319571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Identificação das próximas atividades a desenvolver</a:t>
              </a:r>
            </a:p>
          </p:txBody>
        </p: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EEE93767-3839-411B-A61B-40FD60B12553}"/>
                </a:ext>
              </a:extLst>
            </p:cNvPr>
            <p:cNvCxnSpPr/>
            <p:nvPr/>
          </p:nvCxnSpPr>
          <p:spPr>
            <a:xfrm>
              <a:off x="2408533" y="4289890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C98F0DD-2292-49EB-ABC6-2CB6D81D48D3}"/>
              </a:ext>
            </a:extLst>
          </p:cNvPr>
          <p:cNvGrpSpPr/>
          <p:nvPr/>
        </p:nvGrpSpPr>
        <p:grpSpPr>
          <a:xfrm>
            <a:off x="1185783" y="3933797"/>
            <a:ext cx="5073500" cy="324000"/>
            <a:chOff x="1185783" y="3791408"/>
            <a:chExt cx="5073500" cy="324000"/>
          </a:xfrm>
        </p:grpSpPr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BE05A05-1DA4-4ACD-B9BA-368B042EC2E4}"/>
                </a:ext>
              </a:extLst>
            </p:cNvPr>
            <p:cNvSpPr/>
            <p:nvPr/>
          </p:nvSpPr>
          <p:spPr>
            <a:xfrm>
              <a:off x="1185783" y="3821089"/>
              <a:ext cx="1152000" cy="26463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marL="0" marR="0" lvl="0" indent="0" algn="r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Esclarecimentos</a:t>
              </a:r>
              <a:endParaRPr kumimoji="0" lang="pt-PT" sz="10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E429228-8794-4E96-B932-C8831B0D6C7B}"/>
                </a:ext>
              </a:extLst>
            </p:cNvPr>
            <p:cNvSpPr/>
            <p:nvPr/>
          </p:nvSpPr>
          <p:spPr>
            <a:xfrm>
              <a:off x="2479283" y="3821089"/>
              <a:ext cx="3780000" cy="264638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marL="0" marR="0" lvl="0" indent="0" algn="l" defTabSz="40556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00" b="0" i="0" u="none" strike="noStrike" kern="0" cap="none" spc="0" normalizeH="0" baseline="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Definição / discussão de temas identificados</a:t>
              </a:r>
            </a:p>
          </p:txBody>
        </p: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7DDA7C09-7720-4321-B9C0-A674A42CA489}"/>
                </a:ext>
              </a:extLst>
            </p:cNvPr>
            <p:cNvCxnSpPr/>
            <p:nvPr/>
          </p:nvCxnSpPr>
          <p:spPr>
            <a:xfrm>
              <a:off x="2408533" y="3791408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D15F32F-6EBC-43CC-BBE5-56B4AD7B8010}"/>
              </a:ext>
            </a:extLst>
          </p:cNvPr>
          <p:cNvGrpSpPr/>
          <p:nvPr/>
        </p:nvGrpSpPr>
        <p:grpSpPr>
          <a:xfrm>
            <a:off x="1185783" y="2307825"/>
            <a:ext cx="5073500" cy="324000"/>
            <a:chOff x="1187752" y="2545149"/>
            <a:chExt cx="5073500" cy="324000"/>
          </a:xfrm>
        </p:grpSpPr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D631F8B1-E329-468A-9C14-84D90F695609}"/>
                </a:ext>
              </a:extLst>
            </p:cNvPr>
            <p:cNvSpPr/>
            <p:nvPr/>
          </p:nvSpPr>
          <p:spPr>
            <a:xfrm>
              <a:off x="1187752" y="2574831"/>
              <a:ext cx="1152000" cy="26463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Sumário </a:t>
              </a:r>
            </a:p>
            <a:p>
              <a:pPr lvl="0" algn="r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Executivo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870518A-CC29-4C64-8C31-867BDBBC4DC6}"/>
                </a:ext>
              </a:extLst>
            </p:cNvPr>
            <p:cNvSpPr/>
            <p:nvPr/>
          </p:nvSpPr>
          <p:spPr>
            <a:xfrm>
              <a:off x="2481252" y="2574831"/>
              <a:ext cx="3780000" cy="264637"/>
            </a:xfrm>
            <a:prstGeom prst="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</a:ln>
            <a:effectLst/>
          </p:spPr>
          <p:txBody>
            <a:bodyPr lIns="54000" rIns="36000" rtlCol="0" anchor="ctr"/>
            <a:lstStyle/>
            <a:p>
              <a:pPr lvl="0" algn="l" defTabSz="914400" eaLnBrk="0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PT" sz="1000">
                  <a:solidFill>
                    <a:prstClr val="white">
                      <a:lumMod val="50000"/>
                    </a:prst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Visão global sobre evolução da execução do projeto, riscos e dependências principais</a:t>
              </a:r>
              <a:endParaRPr lang="pt-PT" sz="1000" i="1">
                <a:solidFill>
                  <a:prstClr val="white">
                    <a:lumMod val="50000"/>
                  </a:prst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917CF51-27B9-4A3D-B8D1-FB3BEDB05936}"/>
                </a:ext>
              </a:extLst>
            </p:cNvPr>
            <p:cNvCxnSpPr/>
            <p:nvPr/>
          </p:nvCxnSpPr>
          <p:spPr>
            <a:xfrm>
              <a:off x="2410502" y="2545149"/>
              <a:ext cx="0" cy="32400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Picture 2" descr="Santander Logo: valor, história, PNG">
            <a:extLst>
              <a:ext uri="{FF2B5EF4-FFF2-40B4-BE49-F238E27FC236}">
                <a16:creationId xmlns:a16="http://schemas.microsoft.com/office/drawing/2014/main" id="{53364168-FA32-F00E-A1B1-C3E02A43AC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013" y="1437103"/>
            <a:ext cx="1642369" cy="923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C9B73E2-1AB7-292B-963E-ED0B0745789E}"/>
              </a:ext>
            </a:extLst>
          </p:cNvPr>
          <p:cNvSpPr txBox="1"/>
          <p:nvPr/>
        </p:nvSpPr>
        <p:spPr>
          <a:xfrm>
            <a:off x="8143000" y="2293166"/>
            <a:ext cx="32443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1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Susana </a:t>
            </a:r>
            <a:r>
              <a:rPr lang="pt-PT" sz="11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Bernardo</a:t>
            </a:r>
            <a:endParaRPr lang="pt-PT" sz="11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A85C88-438F-B557-E685-B9BBD82B1C1A}"/>
              </a:ext>
            </a:extLst>
          </p:cNvPr>
          <p:cNvSpPr txBox="1"/>
          <p:nvPr/>
        </p:nvSpPr>
        <p:spPr>
          <a:xfrm>
            <a:off x="8143000" y="3737508"/>
            <a:ext cx="324439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Diogo Escaleira</a:t>
            </a:r>
          </a:p>
          <a:p>
            <a:endParaRPr lang="pt-PT" sz="1000" dirty="0" smtClean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Rita Caguerelho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Hélder Fernandes</a:t>
            </a: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Pedro Natário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PT" sz="10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João Galhardo</a:t>
            </a:r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PT" sz="10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9587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25B62A-73E6-47B4-9EB4-F4B966E47D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Sumário Executivo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FF2D0AE-D308-4F38-8820-C70A2A1656F6}"/>
              </a:ext>
            </a:extLst>
          </p:cNvPr>
          <p:cNvGrpSpPr/>
          <p:nvPr/>
        </p:nvGrpSpPr>
        <p:grpSpPr>
          <a:xfrm>
            <a:off x="4311926" y="6178291"/>
            <a:ext cx="3566561" cy="536504"/>
            <a:chOff x="7252834" y="5891389"/>
            <a:chExt cx="3566561" cy="536504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EFBAE9-1B28-4DAD-90FA-813654A968B1}"/>
                </a:ext>
              </a:extLst>
            </p:cNvPr>
            <p:cNvSpPr/>
            <p:nvPr/>
          </p:nvSpPr>
          <p:spPr>
            <a:xfrm>
              <a:off x="7252834" y="6208943"/>
              <a:ext cx="188926" cy="188926"/>
            </a:xfrm>
            <a:prstGeom prst="ellipse">
              <a:avLst/>
            </a:prstGeom>
            <a:solidFill>
              <a:srgbClr val="92D0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D11BD45-287A-4465-A5D1-02ABE03418BC}"/>
                </a:ext>
              </a:extLst>
            </p:cNvPr>
            <p:cNvSpPr txBox="1"/>
            <p:nvPr/>
          </p:nvSpPr>
          <p:spPr>
            <a:xfrm>
              <a:off x="7385145" y="6197061"/>
              <a:ext cx="928459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Sem impactos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3928C99D-7896-432E-9208-322C22992C67}"/>
                </a:ext>
              </a:extLst>
            </p:cNvPr>
            <p:cNvSpPr/>
            <p:nvPr/>
          </p:nvSpPr>
          <p:spPr>
            <a:xfrm>
              <a:off x="8275298" y="6208943"/>
              <a:ext cx="188926" cy="188926"/>
            </a:xfrm>
            <a:prstGeom prst="ellipse">
              <a:avLst/>
            </a:prstGeom>
            <a:solidFill>
              <a:srgbClr val="FFBF50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F3BE222-478C-4D2B-B77A-03A3D331FCFA}"/>
                </a:ext>
              </a:extLst>
            </p:cNvPr>
            <p:cNvSpPr txBox="1"/>
            <p:nvPr/>
          </p:nvSpPr>
          <p:spPr>
            <a:xfrm>
              <a:off x="8400395" y="6197061"/>
              <a:ext cx="108074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Risco de impacto</a:t>
              </a: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B5E22654-130B-4944-AA44-EEA54C3122F0}"/>
                </a:ext>
              </a:extLst>
            </p:cNvPr>
            <p:cNvSpPr/>
            <p:nvPr/>
          </p:nvSpPr>
          <p:spPr>
            <a:xfrm>
              <a:off x="9435620" y="6203931"/>
              <a:ext cx="188926" cy="188926"/>
            </a:xfrm>
            <a:prstGeom prst="ellipse">
              <a:avLst/>
            </a:prstGeom>
            <a:solidFill>
              <a:srgbClr val="EE2429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PT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E1D79E60-0396-4E00-9822-B853EE35BF6C}"/>
                </a:ext>
              </a:extLst>
            </p:cNvPr>
            <p:cNvSpPr txBox="1"/>
            <p:nvPr/>
          </p:nvSpPr>
          <p:spPr>
            <a:xfrm>
              <a:off x="9554305" y="6192049"/>
              <a:ext cx="1265090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i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Impactos verificados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CFDA3B2-F780-460D-B318-DAB70D67F536}"/>
                </a:ext>
              </a:extLst>
            </p:cNvPr>
            <p:cNvCxnSpPr/>
            <p:nvPr/>
          </p:nvCxnSpPr>
          <p:spPr>
            <a:xfrm>
              <a:off x="7255089" y="6108403"/>
              <a:ext cx="34249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7D18978-6D1C-44C1-BB7C-B6F2FA7A46DB}"/>
                </a:ext>
              </a:extLst>
            </p:cNvPr>
            <p:cNvSpPr txBox="1"/>
            <p:nvPr/>
          </p:nvSpPr>
          <p:spPr>
            <a:xfrm>
              <a:off x="8637970" y="5891389"/>
              <a:ext cx="659155" cy="2308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defTabSz="1219170"/>
              <a:r>
                <a:rPr lang="pt-PT" sz="900" b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Legenda</a:t>
              </a:r>
              <a:endParaRPr lang="pt-PT" sz="900" b="1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EEA6C23-674A-479C-B866-18314CBBEBA1}"/>
              </a:ext>
            </a:extLst>
          </p:cNvPr>
          <p:cNvGrpSpPr/>
          <p:nvPr/>
        </p:nvGrpSpPr>
        <p:grpSpPr>
          <a:xfrm>
            <a:off x="7950233" y="1264393"/>
            <a:ext cx="3600000" cy="4894848"/>
            <a:chOff x="8028330" y="1264393"/>
            <a:chExt cx="3600000" cy="4894848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3A70E3A-9F42-4FE8-BE75-FF9DDC4EFC28}"/>
                </a:ext>
              </a:extLst>
            </p:cNvPr>
            <p:cNvGrpSpPr/>
            <p:nvPr/>
          </p:nvGrpSpPr>
          <p:grpSpPr>
            <a:xfrm>
              <a:off x="8028330" y="1264393"/>
              <a:ext cx="3600000" cy="4894848"/>
              <a:chOff x="7743850" y="1264393"/>
              <a:chExt cx="3240000" cy="4894848"/>
            </a:xfrm>
          </p:grpSpPr>
          <p:sp>
            <p:nvSpPr>
              <p:cNvPr id="35" name="AutoShape 5">
                <a:extLst>
                  <a:ext uri="{FF2B5EF4-FFF2-40B4-BE49-F238E27FC236}">
                    <a16:creationId xmlns:a16="http://schemas.microsoft.com/office/drawing/2014/main" id="{43D09C47-A09D-47B1-B48B-2A227BBF0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9025387" y="-17143"/>
                <a:ext cx="662903" cy="3225975"/>
              </a:xfrm>
              <a:prstGeom prst="homePlate">
                <a:avLst>
                  <a:gd name="adj" fmla="val 41986"/>
                </a:avLst>
              </a:prstGeom>
              <a:solidFill>
                <a:srgbClr val="003E51"/>
              </a:solidFill>
              <a:ln w="19050">
                <a:noFill/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919191"/>
                      </a:outerShdw>
                    </a:effectLst>
                  </a14:hiddenEffects>
                </a:ext>
              </a:extLst>
            </p:spPr>
            <p:txBody>
              <a:bodyPr vert="eaVert" wrap="none" lIns="45731" rIns="45731"/>
              <a:lstStyle>
                <a:lvl1pPr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rgbClr val="FFD200"/>
                  </a:buClr>
                  <a:buSzPct val="75000"/>
                  <a:buFont typeface="Arial" panose="020B0604020202020204" pitchFamily="34" charset="0"/>
                  <a:defRPr sz="1400" b="1">
                    <a:solidFill>
                      <a:schemeClr val="hlink"/>
                    </a:solidFill>
                    <a:latin typeface="Arial" panose="020B0604020202020204" pitchFamily="34" charset="0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SzPct val="75000"/>
                  <a:buFont typeface="Arial" panose="020B0604020202020204" pitchFamily="34" charset="0"/>
                  <a:buChar char="►"/>
                  <a:defRPr sz="1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583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GB" altLang="pt-PT" sz="900" b="0" i="1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37" name="Freeform 6">
                <a:extLst>
                  <a:ext uri="{FF2B5EF4-FFF2-40B4-BE49-F238E27FC236}">
                    <a16:creationId xmlns:a16="http://schemas.microsoft.com/office/drawing/2014/main" id="{159A6AC7-D04B-4272-B901-1C6FA7F3E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43850" y="1648026"/>
                <a:ext cx="3240000" cy="451121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pic>
          <p:nvPicPr>
            <p:cNvPr id="53" name="Graphic 52" descr="Connections">
              <a:extLst>
                <a:ext uri="{FF2B5EF4-FFF2-40B4-BE49-F238E27FC236}">
                  <a16:creationId xmlns:a16="http://schemas.microsoft.com/office/drawing/2014/main" id="{2958E870-3676-43BF-9A54-C2C8707995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rcRect/>
            <a:stretch/>
          </p:blipFill>
          <p:spPr>
            <a:xfrm>
              <a:off x="9544110" y="1295211"/>
              <a:ext cx="568440" cy="56844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DCBB948-28AD-41A0-894D-99CB29EEB6AF}"/>
              </a:ext>
            </a:extLst>
          </p:cNvPr>
          <p:cNvGrpSpPr/>
          <p:nvPr/>
        </p:nvGrpSpPr>
        <p:grpSpPr>
          <a:xfrm>
            <a:off x="617282" y="1264393"/>
            <a:ext cx="3600002" cy="4894861"/>
            <a:chOff x="617282" y="1264393"/>
            <a:chExt cx="3600002" cy="4894861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B29F295-60E2-4722-86AF-B0F2C59FF7CD}"/>
                </a:ext>
              </a:extLst>
            </p:cNvPr>
            <p:cNvGrpSpPr/>
            <p:nvPr/>
          </p:nvGrpSpPr>
          <p:grpSpPr>
            <a:xfrm>
              <a:off x="617282" y="1648026"/>
              <a:ext cx="3600002" cy="4511228"/>
              <a:chOff x="1350562" y="1648026"/>
              <a:chExt cx="2952000" cy="4259365"/>
            </a:xfrm>
          </p:grpSpPr>
          <p:sp>
            <p:nvSpPr>
              <p:cNvPr id="41" name="Freeform 6">
                <a:extLst>
                  <a:ext uri="{FF2B5EF4-FFF2-40B4-BE49-F238E27FC236}">
                    <a16:creationId xmlns:a16="http://schemas.microsoft.com/office/drawing/2014/main" id="{7968FF25-F10F-4F3F-BA2E-BE2DB06264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0562" y="1648026"/>
                <a:ext cx="2952000" cy="4259365"/>
              </a:xfrm>
              <a:custGeom>
                <a:avLst/>
                <a:gdLst>
                  <a:gd name="T0" fmla="*/ 5319639 w 1590"/>
                  <a:gd name="T1" fmla="*/ 0 h 1901"/>
                  <a:gd name="T2" fmla="*/ 1059877831 w 1590"/>
                  <a:gd name="T3" fmla="*/ 255052971 h 1901"/>
                  <a:gd name="T4" fmla="*/ 2113106401 w 1590"/>
                  <a:gd name="T5" fmla="*/ 0 h 1901"/>
                  <a:gd name="T6" fmla="*/ 2113106401 w 1590"/>
                  <a:gd name="T7" fmla="*/ 2147483647 h 1901"/>
                  <a:gd name="T8" fmla="*/ 0 w 1590"/>
                  <a:gd name="T9" fmla="*/ 2147483647 h 1901"/>
                  <a:gd name="T10" fmla="*/ 31915528 w 1590"/>
                  <a:gd name="T11" fmla="*/ 2147483647 h 1901"/>
                  <a:gd name="T12" fmla="*/ 10638125 w 1590"/>
                  <a:gd name="T13" fmla="*/ 2147483647 h 1901"/>
                  <a:gd name="T14" fmla="*/ 5319639 w 1590"/>
                  <a:gd name="T15" fmla="*/ 2147483647 h 1901"/>
                  <a:gd name="T16" fmla="*/ 5319639 w 1590"/>
                  <a:gd name="T17" fmla="*/ 0 h 190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590" h="1901">
                    <a:moveTo>
                      <a:pt x="4" y="0"/>
                    </a:moveTo>
                    <a:lnTo>
                      <a:pt x="797" y="127"/>
                    </a:lnTo>
                    <a:lnTo>
                      <a:pt x="1589" y="0"/>
                    </a:lnTo>
                    <a:lnTo>
                      <a:pt x="1589" y="1900"/>
                    </a:lnTo>
                    <a:lnTo>
                      <a:pt x="0" y="1900"/>
                    </a:lnTo>
                    <a:lnTo>
                      <a:pt x="24" y="1900"/>
                    </a:lnTo>
                    <a:lnTo>
                      <a:pt x="8" y="1900"/>
                    </a:lnTo>
                    <a:lnTo>
                      <a:pt x="4" y="1900"/>
                    </a:lnTo>
                    <a:lnTo>
                      <a:pt x="4" y="0"/>
                    </a:lnTo>
                  </a:path>
                </a:pathLst>
              </a:custGeom>
              <a:solidFill>
                <a:srgbClr val="FFFFFF">
                  <a:lumMod val="95000"/>
                </a:srgbClr>
              </a:solidFill>
              <a:ln w="19050" cap="rnd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45731" rIns="45731"/>
              <a:lstStyle/>
              <a:p>
                <a:pPr marL="0" marR="0" lvl="0" indent="0" algn="ctr" defTabSz="914583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1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sym typeface="Helvetica Light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2C4BC3C-1F70-4500-AC90-B256830C063D}"/>
                  </a:ext>
                </a:extLst>
              </p:cNvPr>
              <p:cNvSpPr txBox="1"/>
              <p:nvPr/>
            </p:nvSpPr>
            <p:spPr>
              <a:xfrm>
                <a:off x="1350562" y="1764892"/>
                <a:ext cx="2951998" cy="3821302"/>
              </a:xfrm>
              <a:prstGeom prst="rect">
                <a:avLst/>
              </a:prstGeom>
              <a:noFill/>
            </p:spPr>
            <p:txBody>
              <a:bodyPr wrap="square" lIns="72000" rIns="18000" rtlCol="0" anchor="t">
                <a:spAutoFit/>
              </a:bodyPr>
              <a:lstStyle/>
              <a:p>
                <a:pPr marL="0" marR="0" lvl="0" indent="0" defTabSz="412629" eaLnBrk="1" fontAlgn="auto" latinLnBrk="0" hangingPunct="0">
                  <a:lnSpc>
                    <a:spcPct val="2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altLang="pt-PT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Helvetica Light"/>
                  </a:rPr>
                  <a:t>Progresso</a:t>
                </a:r>
                <a:endParaRPr kumimoji="0" lang="pt-PT" sz="1600" b="0" i="0" u="none" strike="noStrike" kern="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Re-teste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à tabela de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cálculo de emissões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financiadas após correção das incidências por parte da equipa de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IT. Foram detetadas e partilhadas com a equipa de IT novas incidências relacionadas com o cálculo da emissão;</a:t>
                </a:r>
                <a:endParaRPr lang="pt-PT" sz="1100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Inicio da análise comparativa entre as Emissões Financiadas e a Calculadora de Emissões;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da inclusão dos Imóveis Adjudicados nos Satélites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79&amp;80 e conclusão do paralelo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com o exercício tático de dezembro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2024 para este universo; 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mapping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 conceitos e adaptação dos códigos existentes do Satélite 93.  </a:t>
                </a:r>
                <a:endParaRPr lang="pt-PT" sz="11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Finalização dos entregáveis relativos ao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5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</a:p>
              <a:p>
                <a:pPr marL="171450" indent="-171450" algn="l" defTabSz="412629">
                  <a:spcBef>
                    <a:spcPts val="600"/>
                  </a:spcBef>
                  <a:buFont typeface="Arial" panose="020B0604020202020204" pitchFamily="34" charset="0"/>
                  <a:buChar char="•"/>
                </a:pP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Continuação das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alterações de 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script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do </a:t>
                </a:r>
                <a:r>
                  <a:rPr lang="pt-PT" sz="1100" i="1" dirty="0" err="1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Template</a:t>
                </a:r>
                <a:r>
                  <a:rPr lang="pt-PT" sz="1100" i="1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1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ajustes da documentação </a:t>
                </a:r>
                <a:r>
                  <a:rPr lang="pt-PT" sz="1100" i="1" dirty="0" err="1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word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PT" sz="1100" i="1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 </a:t>
                </a:r>
                <a:r>
                  <a:rPr lang="pt-PT" sz="1100" dirty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início do paralelo com o exercício tático de dezembro 2024</a:t>
                </a:r>
                <a:r>
                  <a:rPr lang="pt-PT" sz="1100" dirty="0" smtClean="0">
                    <a:solidFill>
                      <a:srgbClr val="70707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;</a:t>
                </a:r>
                <a:endParaRPr lang="pt-PT" sz="1100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AutoShape 5">
              <a:extLst>
                <a:ext uri="{FF2B5EF4-FFF2-40B4-BE49-F238E27FC236}">
                  <a16:creationId xmlns:a16="http://schemas.microsoft.com/office/drawing/2014/main" id="{C685FF1D-0939-4A5D-B535-CCF8B56EE62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2078040" y="-196364"/>
              <a:ext cx="662903" cy="3584417"/>
            </a:xfrm>
            <a:prstGeom prst="homePlate">
              <a:avLst>
                <a:gd name="adj" fmla="val 41986"/>
              </a:avLst>
            </a:prstGeom>
            <a:solidFill>
              <a:srgbClr val="003E51"/>
            </a:solidFill>
            <a:ln w="19050">
              <a:noFill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919191"/>
                    </a:outerShdw>
                  </a:effectLst>
                </a14:hiddenEffects>
              </a:ext>
            </a:extLst>
          </p:spPr>
          <p:txBody>
            <a:bodyPr vert="eaVert" wrap="none" lIns="45731" rIns="45731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endParaRPr kumimoji="0" lang="en-GB" altLang="pt-PT" sz="900" b="0" i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sym typeface="Helvetica Light"/>
              </a:endParaRPr>
            </a:p>
          </p:txBody>
        </p:sp>
        <p:pic>
          <p:nvPicPr>
            <p:cNvPr id="48" name="Graphic 47" descr="List RTL">
              <a:extLst>
                <a:ext uri="{FF2B5EF4-FFF2-40B4-BE49-F238E27FC236}">
                  <a16:creationId xmlns:a16="http://schemas.microsoft.com/office/drawing/2014/main" id="{B6DA387A-C4F6-4715-B166-03D3C4B05563}"/>
                </a:ext>
              </a:extLst>
            </p:cNvPr>
            <p:cNvPicPr>
              <a:picLocks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2154636" y="1317778"/>
              <a:ext cx="522516" cy="523306"/>
            </a:xfrm>
            <a:prstGeom prst="rect">
              <a:avLst/>
            </a:prstGeom>
          </p:spPr>
        </p:pic>
      </p:grpSp>
      <p:sp>
        <p:nvSpPr>
          <p:cNvPr id="32" name="AutoShape 5">
            <a:extLst>
              <a:ext uri="{FF2B5EF4-FFF2-40B4-BE49-F238E27FC236}">
                <a16:creationId xmlns:a16="http://schemas.microsoft.com/office/drawing/2014/main" id="{E63BDF97-7422-4357-BF28-4E869A5DD23A}"/>
              </a:ext>
            </a:extLst>
          </p:cNvPr>
          <p:cNvSpPr>
            <a:spLocks noChangeArrowheads="1"/>
          </p:cNvSpPr>
          <p:nvPr/>
        </p:nvSpPr>
        <p:spPr bwMode="auto">
          <a:xfrm rot="16200000" flipH="1">
            <a:off x="5783564" y="-196364"/>
            <a:ext cx="662903" cy="3584417"/>
          </a:xfrm>
          <a:prstGeom prst="homePlate">
            <a:avLst>
              <a:gd name="adj" fmla="val 41986"/>
            </a:avLst>
          </a:prstGeom>
          <a:solidFill>
            <a:srgbClr val="003E51"/>
          </a:solidFill>
          <a:ln w="19050">
            <a:noFill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919191"/>
                  </a:outerShdw>
                </a:effectLst>
              </a14:hiddenEffects>
            </a:ext>
          </a:extLst>
        </p:spPr>
        <p:txBody>
          <a:bodyPr vert="eaVert" wrap="none" lIns="45731" rIns="45731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GB" altLang="pt-PT" sz="900" b="0" i="1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5D16D15E-EF44-4117-8F79-C8BC9FDCF1E5}"/>
              </a:ext>
            </a:extLst>
          </p:cNvPr>
          <p:cNvSpPr>
            <a:spLocks/>
          </p:cNvSpPr>
          <p:nvPr/>
        </p:nvSpPr>
        <p:spPr bwMode="auto">
          <a:xfrm>
            <a:off x="4350233" y="1667078"/>
            <a:ext cx="3600000" cy="4511213"/>
          </a:xfrm>
          <a:custGeom>
            <a:avLst/>
            <a:gdLst>
              <a:gd name="T0" fmla="*/ 5319639 w 1590"/>
              <a:gd name="T1" fmla="*/ 0 h 1901"/>
              <a:gd name="T2" fmla="*/ 1059877831 w 1590"/>
              <a:gd name="T3" fmla="*/ 255052971 h 1901"/>
              <a:gd name="T4" fmla="*/ 2113106401 w 1590"/>
              <a:gd name="T5" fmla="*/ 0 h 1901"/>
              <a:gd name="T6" fmla="*/ 2113106401 w 1590"/>
              <a:gd name="T7" fmla="*/ 2147483647 h 1901"/>
              <a:gd name="T8" fmla="*/ 0 w 1590"/>
              <a:gd name="T9" fmla="*/ 2147483647 h 1901"/>
              <a:gd name="T10" fmla="*/ 31915528 w 1590"/>
              <a:gd name="T11" fmla="*/ 2147483647 h 1901"/>
              <a:gd name="T12" fmla="*/ 10638125 w 1590"/>
              <a:gd name="T13" fmla="*/ 2147483647 h 1901"/>
              <a:gd name="T14" fmla="*/ 5319639 w 1590"/>
              <a:gd name="T15" fmla="*/ 2147483647 h 1901"/>
              <a:gd name="T16" fmla="*/ 5319639 w 1590"/>
              <a:gd name="T17" fmla="*/ 0 h 190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590" h="1901">
                <a:moveTo>
                  <a:pt x="4" y="0"/>
                </a:moveTo>
                <a:lnTo>
                  <a:pt x="797" y="127"/>
                </a:lnTo>
                <a:lnTo>
                  <a:pt x="1589" y="0"/>
                </a:lnTo>
                <a:lnTo>
                  <a:pt x="1589" y="1900"/>
                </a:lnTo>
                <a:lnTo>
                  <a:pt x="0" y="1900"/>
                </a:lnTo>
                <a:lnTo>
                  <a:pt x="24" y="1900"/>
                </a:lnTo>
                <a:lnTo>
                  <a:pt x="8" y="1900"/>
                </a:lnTo>
                <a:lnTo>
                  <a:pt x="4" y="1900"/>
                </a:lnTo>
                <a:lnTo>
                  <a:pt x="4" y="0"/>
                </a:lnTo>
              </a:path>
            </a:pathLst>
          </a:custGeom>
          <a:solidFill>
            <a:srgbClr val="FFFFFF">
              <a:lumMod val="95000"/>
            </a:srgbClr>
          </a:solidFill>
          <a:ln w="19050" cap="rnd" cmpd="sng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5731" rIns="45731"/>
          <a:lstStyle/>
          <a:p>
            <a:pPr marL="0" marR="0" lvl="0" indent="0" algn="ctr" defTabSz="914583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pt-PT" sz="11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AE567D8-F108-4FC1-8DD4-36ADCCABE4C3}"/>
              </a:ext>
            </a:extLst>
          </p:cNvPr>
          <p:cNvSpPr txBox="1"/>
          <p:nvPr/>
        </p:nvSpPr>
        <p:spPr>
          <a:xfrm>
            <a:off x="4444237" y="1790427"/>
            <a:ext cx="3343948" cy="24468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Riscos</a:t>
            </a:r>
            <a:r>
              <a:rPr lang="en-GB" altLang="pt-PT" sz="1600" b="1" kern="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e </a:t>
            </a:r>
            <a:r>
              <a:rPr lang="en-GB" altLang="pt-PT" sz="1600" b="1" kern="0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desafios</a:t>
            </a:r>
            <a:endParaRPr lang="en-GB" altLang="pt-PT" sz="1600" b="1" kern="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Inclusão de uma nova coluna na tabela de emissões financiadas de modo a identificar o saldo alvo de reporte corporativo e local; </a:t>
            </a:r>
            <a:endParaRPr lang="pt-PT" sz="11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tabelas de Emissões Financiadas após correção;</a:t>
            </a:r>
            <a:endParaRPr lang="pt-PT" sz="1100" dirty="0" smtClean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universo.</a:t>
            </a:r>
          </a:p>
          <a:p>
            <a:pPr algn="l" defTabSz="412629">
              <a:spcBef>
                <a:spcPts val="600"/>
              </a:spcBef>
              <a:spcAft>
                <a:spcPts val="600"/>
              </a:spcAft>
            </a:pPr>
            <a:endParaRPr lang="pt-PT" sz="12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2" name="Graphic 51" descr="Daily calendar">
            <a:extLst>
              <a:ext uri="{FF2B5EF4-FFF2-40B4-BE49-F238E27FC236}">
                <a16:creationId xmlns:a16="http://schemas.microsoft.com/office/drawing/2014/main" id="{57180BB1-8122-4E1F-922B-3B88B3E1417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5834467" y="1320441"/>
            <a:ext cx="517980" cy="517980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7034544" y="2120711"/>
            <a:ext cx="188926" cy="188926"/>
          </a:xfrm>
          <a:prstGeom prst="ellipse">
            <a:avLst/>
          </a:prstGeom>
          <a:solidFill>
            <a:srgbClr val="FF0000"/>
          </a:solidFill>
          <a:ln w="31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D6D797-458A-1198-F3B1-EAC41A33EBEA}"/>
              </a:ext>
            </a:extLst>
          </p:cNvPr>
          <p:cNvSpPr txBox="1"/>
          <p:nvPr/>
        </p:nvSpPr>
        <p:spPr>
          <a:xfrm>
            <a:off x="8078259" y="1790378"/>
            <a:ext cx="3343948" cy="9694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ctr" defTabSz="412629" hangingPunct="0">
              <a:lnSpc>
                <a:spcPct val="250000"/>
              </a:lnSpc>
            </a:pPr>
            <a:r>
              <a:rPr lang="en-GB" altLang="pt-PT" sz="1600" b="1" kern="0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Dependências</a:t>
            </a:r>
          </a:p>
          <a:p>
            <a:pPr marL="171450" indent="-171450" algn="l" defTabSz="412629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t-PT" sz="1100" dirty="0" smtClean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Tecnologia.</a:t>
            </a:r>
            <a:endParaRPr lang="pt-PT" sz="1100" dirty="0">
              <a:solidFill>
                <a:srgbClr val="70707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2984771" y="2111567"/>
            <a:ext cx="188926" cy="188926"/>
          </a:xfrm>
          <a:prstGeom prst="ellipse">
            <a:avLst/>
          </a:prstGeom>
          <a:solidFill>
            <a:srgbClr val="8BCD44"/>
          </a:solidFill>
          <a:ln w="3175">
            <a:solidFill>
              <a:srgbClr val="8BCD4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DEE67B28-AB50-44CF-8180-5B21950F9EC9}"/>
              </a:ext>
            </a:extLst>
          </p:cNvPr>
          <p:cNvSpPr/>
          <p:nvPr/>
        </p:nvSpPr>
        <p:spPr>
          <a:xfrm>
            <a:off x="10513113" y="2129855"/>
            <a:ext cx="188926" cy="188926"/>
          </a:xfrm>
          <a:prstGeom prst="ellipse">
            <a:avLst/>
          </a:prstGeom>
          <a:solidFill>
            <a:srgbClr val="FFC000"/>
          </a:solidFill>
          <a:ln w="31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321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roup 244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58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63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4" name="Diamond 63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66" name="Diamond 65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67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37" name="Diamond 36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39" name="Diamond 38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0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(1|3)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projeto – Implementação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7536465" y="4527049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Rectangle 94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7099059" y="4327613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203639" y="2214768"/>
            <a:ext cx="9454930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2663528"/>
            <a:ext cx="9454931" cy="932700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8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4" y="2466924"/>
            <a:ext cx="9466765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Especificação &amp; Simulação de Requisitos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TextBox 204">
            <a:extLst>
              <a:ext uri="{FF2B5EF4-FFF2-40B4-BE49-F238E27FC236}">
                <a16:creationId xmlns:a16="http://schemas.microsoft.com/office/drawing/2014/main" id="{9188F0D9-10D7-7659-3578-B9E0A27D8360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2714665"/>
            <a:ext cx="3542400" cy="22390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universos a reportar por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endParaRPr lang="pt-PT" sz="105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DECD80-5697-E1DE-70F8-3A2DE1D52CD3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2937717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Definição</a:t>
            </a:r>
            <a:r>
              <a:rPr lang="pt-PT" sz="1050" i="1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pt-PT" sz="1050" i="1" err="1"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 de conceitos</a:t>
            </a:r>
            <a:endParaRPr lang="pt-PT" sz="1050" i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5382684-0872-7223-D05C-F347D9281570}"/>
              </a:ext>
            </a:extLst>
          </p:cNvPr>
          <p:cNvSpPr txBox="1"/>
          <p:nvPr/>
        </p:nvSpPr>
        <p:spPr bwMode="auto">
          <a:xfrm>
            <a:off x="1203638" y="3857701"/>
            <a:ext cx="9454931" cy="109831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C1BE42C6-5B5D-BDAE-7559-20DC79915C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3653242"/>
            <a:ext cx="9466766" cy="204459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Implementação &amp; Certificação de </a:t>
            </a:r>
            <a:r>
              <a:rPr lang="pt-PT" sz="1000" b="1" i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</a:t>
            </a: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4F695-44B5-2F06-1B4A-84E6F0E20641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3134793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conceitos no LT Estrutural &amp; Satélites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709538-0AB0-E0ED-F799-EDD4D4DCF6AC}"/>
              </a:ext>
            </a:extLst>
          </p:cNvPr>
          <p:cNvSpPr txBox="1">
            <a:spLocks noChangeAspect="1"/>
          </p:cNvSpPr>
          <p:nvPr/>
        </p:nvSpPr>
        <p:spPr>
          <a:xfrm>
            <a:off x="1171893" y="3319188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Identificação de regras de transformação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52065-2483-9523-D0D6-BC8F68A8DE7D}"/>
              </a:ext>
            </a:extLst>
          </p:cNvPr>
          <p:cNvSpPr txBox="1">
            <a:spLocks noChangeAspect="1"/>
          </p:cNvSpPr>
          <p:nvPr/>
        </p:nvSpPr>
        <p:spPr>
          <a:xfrm>
            <a:off x="1171890" y="3902842"/>
            <a:ext cx="4513937" cy="248655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Implementação de solução de reporte (ODBC &amp;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Stored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Procedure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0DB1E3-C93D-437F-E43E-6FA6AB12C6EE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104591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>
                <a:latin typeface="Arial" panose="020B0604020202020204" pitchFamily="34" charset="0"/>
                <a:cs typeface="Arial" panose="020B0604020202020204" pitchFamily="34" charset="0"/>
              </a:rPr>
              <a:t>Realização de paralelos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C7B00F-D680-6434-7384-C500312E049B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309132"/>
            <a:ext cx="3542400" cy="185248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Comparação direta com o exercício tático de Dez24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55CD2-8867-6CD7-750B-60EB1BF1B579}"/>
              </a:ext>
            </a:extLst>
          </p:cNvPr>
          <p:cNvSpPr txBox="1">
            <a:spLocks noChangeAspect="1"/>
          </p:cNvSpPr>
          <p:nvPr/>
        </p:nvSpPr>
        <p:spPr>
          <a:xfrm>
            <a:off x="1171892" y="4500991"/>
            <a:ext cx="3542400" cy="197929"/>
          </a:xfrm>
          <a:prstGeom prst="rect">
            <a:avLst/>
          </a:prstGeom>
          <a:noFill/>
          <a:effectLst/>
        </p:spPr>
        <p:txBody>
          <a:bodyPr wrap="square" lIns="180000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Correção de implementações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171891" y="470553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5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5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56840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1" name="Straight Connector 200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81808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38602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65856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8098249" y="2214768"/>
            <a:ext cx="1" cy="298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55" name="Rectangle 54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568410" y="2255305"/>
            <a:ext cx="509016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5568409" y="2758217"/>
            <a:ext cx="61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568410" y="2507461"/>
            <a:ext cx="2517732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B2D7B61E-DC77-DCDF-25B1-632FC81256B4}"/>
              </a:ext>
            </a:extLst>
          </p:cNvPr>
          <p:cNvSpPr/>
          <p:nvPr/>
        </p:nvSpPr>
        <p:spPr>
          <a:xfrm>
            <a:off x="8088505" y="3932010"/>
            <a:ext cx="230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DF634CDD-F3A6-FA2B-C273-A185D0C807A0}"/>
              </a:ext>
            </a:extLst>
          </p:cNvPr>
          <p:cNvSpPr/>
          <p:nvPr/>
        </p:nvSpPr>
        <p:spPr>
          <a:xfrm>
            <a:off x="5888422" y="3691207"/>
            <a:ext cx="4756083" cy="1442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2666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617472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0" name="Diamond 209">
            <a:extLst>
              <a:ext uri="{FF2B5EF4-FFF2-40B4-BE49-F238E27FC236}">
                <a16:creationId xmlns:a16="http://schemas.microsoft.com/office/drawing/2014/main" id="{526A51FB-4C0E-6BB9-CAC5-CE88C09584B0}"/>
              </a:ext>
            </a:extLst>
          </p:cNvPr>
          <p:cNvSpPr>
            <a:spLocks noChangeAspect="1"/>
          </p:cNvSpPr>
          <p:nvPr/>
        </p:nvSpPr>
        <p:spPr>
          <a:xfrm>
            <a:off x="600923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1" name="Diamond 210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32630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3" name="Diamond 212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64338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4" name="Diamond 213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96045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5" name="Diamond 214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27753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6" name="Diamond 215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59461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7" name="Diamond 216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91168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8" name="Diamond 217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22876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9" name="Diamond 218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54583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0" name="Diamond 219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86291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1" name="Diamond 220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179991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2" name="Diamond 221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497067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3" name="Diamond 222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814143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9" name="Diamond 228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10131219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30" name="Diamond 229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448295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87191-4DF4-6C51-3A62-100E3E6F055F}"/>
              </a:ext>
            </a:extLst>
          </p:cNvPr>
          <p:cNvSpPr/>
          <p:nvPr/>
        </p:nvSpPr>
        <p:spPr>
          <a:xfrm>
            <a:off x="5568409" y="2993078"/>
            <a:ext cx="2520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6182A-7106-57E4-5EB6-8E1D22CA5E7B}"/>
              </a:ext>
            </a:extLst>
          </p:cNvPr>
          <p:cNvSpPr/>
          <p:nvPr/>
        </p:nvSpPr>
        <p:spPr>
          <a:xfrm>
            <a:off x="5568409" y="3190231"/>
            <a:ext cx="97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6B1F7DB-3F68-91E2-C963-81A7065C0E4F}"/>
              </a:ext>
            </a:extLst>
          </p:cNvPr>
          <p:cNvSpPr/>
          <p:nvPr/>
        </p:nvSpPr>
        <p:spPr>
          <a:xfrm>
            <a:off x="6529072" y="3387384"/>
            <a:ext cx="1548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809A4726-C9AE-CC72-4CBC-15639DA8EC96}"/>
              </a:ext>
            </a:extLst>
          </p:cNvPr>
          <p:cNvSpPr/>
          <p:nvPr/>
        </p:nvSpPr>
        <p:spPr>
          <a:xfrm>
            <a:off x="5890142" y="4131446"/>
            <a:ext cx="219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2499697-143B-6CB6-06D5-8F87E0EF3015}"/>
              </a:ext>
            </a:extLst>
          </p:cNvPr>
          <p:cNvSpPr/>
          <p:nvPr/>
        </p:nvSpPr>
        <p:spPr>
          <a:xfrm>
            <a:off x="5890142" y="4330882"/>
            <a:ext cx="504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6437615" y="4530318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191803" y="5010698"/>
            <a:ext cx="9504000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1154871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and Materials</a:t>
            </a:r>
            <a:r>
              <a:rPr kumimoji="0" lang="pt-PT" sz="800" b="1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816589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Diamond 1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872548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9417934" y="472975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9473893" y="474609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409651" y="472724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Diamond 35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83610" y="474358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888422" y="1916015"/>
            <a:ext cx="101026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909821" y="1916015"/>
            <a:ext cx="1255010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10E98C0-CE50-5BB4-9627-CFB1F1182500}"/>
              </a:ext>
            </a:extLst>
          </p:cNvPr>
          <p:cNvSpPr/>
          <p:nvPr/>
        </p:nvSpPr>
        <p:spPr>
          <a:xfrm>
            <a:off x="5566477" y="1916015"/>
            <a:ext cx="310807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8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Março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8175971" y="1916015"/>
            <a:ext cx="15776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50A820F-6923-918E-28FC-3FBD45F1174D}"/>
              </a:ext>
            </a:extLst>
          </p:cNvPr>
          <p:cNvSpPr txBox="1"/>
          <p:nvPr/>
        </p:nvSpPr>
        <p:spPr>
          <a:xfrm>
            <a:off x="5304869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25/mar</a:t>
            </a:r>
            <a:endParaRPr lang="pt-PT" sz="700" b="1" i="1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259967" y="1631935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16/julho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764740" y="1916015"/>
            <a:ext cx="89382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100" b="1" dirty="0" smtClean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  <a:endParaRPr lang="pt-PT" sz="1100" b="1" dirty="0">
              <a:solidFill>
                <a:schemeClr val="bg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533847"/>
            <a:ext cx="540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525141"/>
            <a:ext cx="432000" cy="1368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9101513" y="4127627"/>
            <a:ext cx="540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2E746E0-13C0-9137-53B1-BEB566B999E0}"/>
              </a:ext>
            </a:extLst>
          </p:cNvPr>
          <p:cNvSpPr/>
          <p:nvPr/>
        </p:nvSpPr>
        <p:spPr>
          <a:xfrm>
            <a:off x="10236495" y="4127627"/>
            <a:ext cx="432000" cy="136800"/>
          </a:xfrm>
          <a:prstGeom prst="rect">
            <a:avLst/>
          </a:prstGeom>
          <a:solidFill>
            <a:schemeClr val="tx1">
              <a:lumMod val="25000"/>
              <a:lumOff val="75000"/>
            </a:scheme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7952139" y="1578609"/>
            <a:ext cx="648000" cy="3634287"/>
            <a:chOff x="5596215" y="1578609"/>
            <a:chExt cx="648000" cy="3634287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3420000"/>
              <a:chOff x="3546168" y="1579821"/>
              <a:chExt cx="108000" cy="4434020"/>
            </a:xfrm>
          </p:grpSpPr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1"/>
                <a:ext cx="21137" cy="439200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004763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extBox 64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5526" y="4458686"/>
            <a:ext cx="9779535" cy="266087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(2|3)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Plano de projeto 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– Implementação Satélites Corporativos</a:t>
            </a:r>
            <a:endParaRPr kumimoji="0" lang="pt-PT" sz="1600" b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4" name="Rectangle 7">
            <a:extLst>
              <a:ext uri="{FF2B5EF4-FFF2-40B4-BE49-F238E27FC236}">
                <a16:creationId xmlns:a16="http://schemas.microsoft.com/office/drawing/2014/main" id="{47E48671-3259-C26C-E049-C5B44E378EB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6118" y="2214768"/>
            <a:ext cx="979649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Setup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Gestão de projeto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6723A724-ACD2-8784-36D9-A2AE1521EF57}"/>
              </a:ext>
            </a:extLst>
          </p:cNvPr>
          <p:cNvCxnSpPr>
            <a:cxnSpLocks/>
          </p:cNvCxnSpPr>
          <p:nvPr/>
        </p:nvCxnSpPr>
        <p:spPr>
          <a:xfrm flipH="1">
            <a:off x="5380409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F14048A9-E280-C0E7-194B-99AF602EE960}"/>
              </a:ext>
            </a:extLst>
          </p:cNvPr>
          <p:cNvCxnSpPr>
            <a:cxnSpLocks/>
          </p:cNvCxnSpPr>
          <p:nvPr/>
        </p:nvCxnSpPr>
        <p:spPr>
          <a:xfrm flipH="1">
            <a:off x="666056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F2488368-43DE-4216-6DEE-12F16A1857CC}"/>
              </a:ext>
            </a:extLst>
          </p:cNvPr>
          <p:cNvCxnSpPr>
            <a:cxnSpLocks/>
          </p:cNvCxnSpPr>
          <p:nvPr/>
        </p:nvCxnSpPr>
        <p:spPr>
          <a:xfrm flipH="1">
            <a:off x="922850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FB4DB7A-1DA2-EBDD-889D-5D2C6A557C8E}"/>
              </a:ext>
            </a:extLst>
          </p:cNvPr>
          <p:cNvCxnSpPr>
            <a:cxnSpLocks/>
          </p:cNvCxnSpPr>
          <p:nvPr/>
        </p:nvCxnSpPr>
        <p:spPr>
          <a:xfrm flipH="1">
            <a:off x="1050104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C3C25DC6-B9F3-B382-3393-99316CA7196D}"/>
              </a:ext>
            </a:extLst>
          </p:cNvPr>
          <p:cNvCxnSpPr>
            <a:cxnSpLocks/>
          </p:cNvCxnSpPr>
          <p:nvPr/>
        </p:nvCxnSpPr>
        <p:spPr>
          <a:xfrm flipH="1">
            <a:off x="7940728" y="2214768"/>
            <a:ext cx="1" cy="2268000"/>
          </a:xfrm>
          <a:prstGeom prst="line">
            <a:avLst/>
          </a:prstGeom>
          <a:noFill/>
          <a:ln w="3175" cap="flat" cmpd="sng" algn="ctr">
            <a:solidFill>
              <a:srgbClr val="EBEBEB"/>
            </a:solidFill>
            <a:prstDash val="solid"/>
            <a:miter lim="800000"/>
            <a:headEnd w="med" len="sm"/>
            <a:tailEnd type="none" w="med" len="sm"/>
          </a:ln>
          <a:effectLst/>
        </p:spPr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91E8B352-52C0-6DD9-FC52-DEE1708DC4E4}"/>
              </a:ext>
            </a:extLst>
          </p:cNvPr>
          <p:cNvSpPr/>
          <p:nvPr/>
        </p:nvSpPr>
        <p:spPr>
          <a:xfrm>
            <a:off x="5410889" y="2255305"/>
            <a:ext cx="543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3" name="Diamond 92">
            <a:extLst>
              <a:ext uri="{FF2B5EF4-FFF2-40B4-BE49-F238E27FC236}">
                <a16:creationId xmlns:a16="http://schemas.microsoft.com/office/drawing/2014/main" id="{2F7C5680-58AC-C969-8593-388B35F42DD8}"/>
              </a:ext>
            </a:extLst>
          </p:cNvPr>
          <p:cNvSpPr>
            <a:spLocks noChangeAspect="1"/>
          </p:cNvSpPr>
          <p:nvPr/>
        </p:nvSpPr>
        <p:spPr>
          <a:xfrm>
            <a:off x="5459951" y="2270709"/>
            <a:ext cx="104082" cy="104118"/>
          </a:xfrm>
          <a:prstGeom prst="diamond">
            <a:avLst/>
          </a:prstGeom>
          <a:solidFill>
            <a:schemeClr val="accent4"/>
          </a:solidFill>
          <a:ln w="3175" cap="flat" cmpd="sng" algn="ctr">
            <a:solidFill>
              <a:schemeClr val="accent4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5" name="Diamond 94">
            <a:extLst>
              <a:ext uri="{FF2B5EF4-FFF2-40B4-BE49-F238E27FC236}">
                <a16:creationId xmlns:a16="http://schemas.microsoft.com/office/drawing/2014/main" id="{7E5854AF-BC7E-7965-209A-2645B9219FF9}"/>
              </a:ext>
            </a:extLst>
          </p:cNvPr>
          <p:cNvSpPr>
            <a:spLocks noChangeAspect="1"/>
          </p:cNvSpPr>
          <p:nvPr/>
        </p:nvSpPr>
        <p:spPr>
          <a:xfrm>
            <a:off x="616878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6" name="Diamond 95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648586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65A09F36-00C5-CB4A-3A2E-BFDB9011F51F}"/>
              </a:ext>
            </a:extLst>
          </p:cNvPr>
          <p:cNvSpPr>
            <a:spLocks noChangeAspect="1"/>
          </p:cNvSpPr>
          <p:nvPr/>
        </p:nvSpPr>
        <p:spPr>
          <a:xfrm>
            <a:off x="680293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8" name="Diamond 97">
            <a:extLst>
              <a:ext uri="{FF2B5EF4-FFF2-40B4-BE49-F238E27FC236}">
                <a16:creationId xmlns:a16="http://schemas.microsoft.com/office/drawing/2014/main" id="{4479F722-536C-C2D7-6ED9-57AA411155C1}"/>
              </a:ext>
            </a:extLst>
          </p:cNvPr>
          <p:cNvSpPr>
            <a:spLocks noChangeAspect="1"/>
          </p:cNvSpPr>
          <p:nvPr/>
        </p:nvSpPr>
        <p:spPr>
          <a:xfrm>
            <a:off x="712001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99" name="Diamond 98">
            <a:extLst>
              <a:ext uri="{FF2B5EF4-FFF2-40B4-BE49-F238E27FC236}">
                <a16:creationId xmlns:a16="http://schemas.microsoft.com/office/drawing/2014/main" id="{3E80F536-14F0-FCC3-009D-75C10937F016}"/>
              </a:ext>
            </a:extLst>
          </p:cNvPr>
          <p:cNvSpPr>
            <a:spLocks noChangeAspect="1"/>
          </p:cNvSpPr>
          <p:nvPr/>
        </p:nvSpPr>
        <p:spPr>
          <a:xfrm>
            <a:off x="743709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0" name="Diamond 99">
            <a:extLst>
              <a:ext uri="{FF2B5EF4-FFF2-40B4-BE49-F238E27FC236}">
                <a16:creationId xmlns:a16="http://schemas.microsoft.com/office/drawing/2014/main" id="{EAABF2DB-E1B1-CCCB-40E6-F4E1A0B1902C}"/>
              </a:ext>
            </a:extLst>
          </p:cNvPr>
          <p:cNvSpPr>
            <a:spLocks noChangeAspect="1"/>
          </p:cNvSpPr>
          <p:nvPr/>
        </p:nvSpPr>
        <p:spPr>
          <a:xfrm>
            <a:off x="775416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1" name="Diamond 100">
            <a:extLst>
              <a:ext uri="{FF2B5EF4-FFF2-40B4-BE49-F238E27FC236}">
                <a16:creationId xmlns:a16="http://schemas.microsoft.com/office/drawing/2014/main" id="{1CBF9E89-1D5F-64BE-B4BA-851DEF039EB6}"/>
              </a:ext>
            </a:extLst>
          </p:cNvPr>
          <p:cNvSpPr>
            <a:spLocks noChangeAspect="1"/>
          </p:cNvSpPr>
          <p:nvPr/>
        </p:nvSpPr>
        <p:spPr>
          <a:xfrm>
            <a:off x="807124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2" name="Diamond 101">
            <a:extLst>
              <a:ext uri="{FF2B5EF4-FFF2-40B4-BE49-F238E27FC236}">
                <a16:creationId xmlns:a16="http://schemas.microsoft.com/office/drawing/2014/main" id="{BA3885CE-BA28-6F81-D83D-0783933BB427}"/>
              </a:ext>
            </a:extLst>
          </p:cNvPr>
          <p:cNvSpPr>
            <a:spLocks noChangeAspect="1"/>
          </p:cNvSpPr>
          <p:nvPr/>
        </p:nvSpPr>
        <p:spPr>
          <a:xfrm>
            <a:off x="838831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3" name="Diamond 102">
            <a:extLst>
              <a:ext uri="{FF2B5EF4-FFF2-40B4-BE49-F238E27FC236}">
                <a16:creationId xmlns:a16="http://schemas.microsoft.com/office/drawing/2014/main" id="{0528907E-F0EE-3FD7-217D-715397769FA7}"/>
              </a:ext>
            </a:extLst>
          </p:cNvPr>
          <p:cNvSpPr>
            <a:spLocks noChangeAspect="1"/>
          </p:cNvSpPr>
          <p:nvPr/>
        </p:nvSpPr>
        <p:spPr>
          <a:xfrm>
            <a:off x="870539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4" name="Diamond 103">
            <a:extLst>
              <a:ext uri="{FF2B5EF4-FFF2-40B4-BE49-F238E27FC236}">
                <a16:creationId xmlns:a16="http://schemas.microsoft.com/office/drawing/2014/main" id="{BFBF5C95-93A4-E113-20F9-1D6A964F2544}"/>
              </a:ext>
            </a:extLst>
          </p:cNvPr>
          <p:cNvSpPr>
            <a:spLocks noChangeAspect="1"/>
          </p:cNvSpPr>
          <p:nvPr/>
        </p:nvSpPr>
        <p:spPr>
          <a:xfrm>
            <a:off x="9022470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5" name="Diamond 104">
            <a:extLst>
              <a:ext uri="{FF2B5EF4-FFF2-40B4-BE49-F238E27FC236}">
                <a16:creationId xmlns:a16="http://schemas.microsoft.com/office/drawing/2014/main" id="{6924E5E4-51DC-A08E-3DCD-42D37AA11DD6}"/>
              </a:ext>
            </a:extLst>
          </p:cNvPr>
          <p:cNvSpPr>
            <a:spLocks noChangeAspect="1"/>
          </p:cNvSpPr>
          <p:nvPr/>
        </p:nvSpPr>
        <p:spPr>
          <a:xfrm>
            <a:off x="9339546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6" name="Diamond 105">
            <a:extLst>
              <a:ext uri="{FF2B5EF4-FFF2-40B4-BE49-F238E27FC236}">
                <a16:creationId xmlns:a16="http://schemas.microsoft.com/office/drawing/2014/main" id="{E237526D-61C5-F342-35B3-6F17427B0B61}"/>
              </a:ext>
            </a:extLst>
          </p:cNvPr>
          <p:cNvSpPr>
            <a:spLocks noChangeAspect="1"/>
          </p:cNvSpPr>
          <p:nvPr/>
        </p:nvSpPr>
        <p:spPr>
          <a:xfrm>
            <a:off x="965662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7" name="Diamond 106">
            <a:extLst>
              <a:ext uri="{FF2B5EF4-FFF2-40B4-BE49-F238E27FC236}">
                <a16:creationId xmlns:a16="http://schemas.microsoft.com/office/drawing/2014/main" id="{AF8EDCAA-1956-D5B3-EFC1-903F1B710CC0}"/>
              </a:ext>
            </a:extLst>
          </p:cNvPr>
          <p:cNvSpPr>
            <a:spLocks noChangeAspect="1"/>
          </p:cNvSpPr>
          <p:nvPr/>
        </p:nvSpPr>
        <p:spPr>
          <a:xfrm>
            <a:off x="9973698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8" name="Diamond 107">
            <a:extLst>
              <a:ext uri="{FF2B5EF4-FFF2-40B4-BE49-F238E27FC236}">
                <a16:creationId xmlns:a16="http://schemas.microsoft.com/office/drawing/2014/main" id="{AFB5CED3-F17A-98C5-74BF-F8ECAFD775DE}"/>
              </a:ext>
            </a:extLst>
          </p:cNvPr>
          <p:cNvSpPr>
            <a:spLocks noChangeAspect="1"/>
          </p:cNvSpPr>
          <p:nvPr/>
        </p:nvSpPr>
        <p:spPr>
          <a:xfrm>
            <a:off x="10290774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09" name="Diamond 108">
            <a:extLst>
              <a:ext uri="{FF2B5EF4-FFF2-40B4-BE49-F238E27FC236}">
                <a16:creationId xmlns:a16="http://schemas.microsoft.com/office/drawing/2014/main" id="{3AF63743-EF16-5DC4-0FA5-1163DEBA88FA}"/>
              </a:ext>
            </a:extLst>
          </p:cNvPr>
          <p:cNvSpPr>
            <a:spLocks noChangeAspect="1"/>
          </p:cNvSpPr>
          <p:nvPr/>
        </p:nvSpPr>
        <p:spPr>
          <a:xfrm>
            <a:off x="10607852" y="227070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5B305258-A866-04ED-7D85-B6E99AE62A53}"/>
              </a:ext>
            </a:extLst>
          </p:cNvPr>
          <p:cNvSpPr/>
          <p:nvPr/>
        </p:nvSpPr>
        <p:spPr>
          <a:xfrm>
            <a:off x="5403875" y="1922112"/>
            <a:ext cx="103687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CDF22A88-D2DB-1434-4987-DB8CFA80FCDD}"/>
              </a:ext>
            </a:extLst>
          </p:cNvPr>
          <p:cNvSpPr/>
          <p:nvPr/>
        </p:nvSpPr>
        <p:spPr>
          <a:xfrm>
            <a:off x="6451885" y="1922112"/>
            <a:ext cx="1246855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Maio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C300240-07E8-8EF5-C9E1-709D9A40655F}"/>
              </a:ext>
            </a:extLst>
          </p:cNvPr>
          <p:cNvSpPr/>
          <p:nvPr/>
        </p:nvSpPr>
        <p:spPr>
          <a:xfrm>
            <a:off x="7709877" y="1922112"/>
            <a:ext cx="1596683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E4E5F93-54CE-5D2F-F9C9-0894332A0F87}"/>
              </a:ext>
            </a:extLst>
          </p:cNvPr>
          <p:cNvSpPr txBox="1"/>
          <p:nvPr/>
        </p:nvSpPr>
        <p:spPr>
          <a:xfrm>
            <a:off x="10395816" y="1638032"/>
            <a:ext cx="648000" cy="200055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25/julho</a:t>
            </a:r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5002BF93-62DB-031D-B714-CAC00C786F8B}"/>
              </a:ext>
            </a:extLst>
          </p:cNvPr>
          <p:cNvSpPr/>
          <p:nvPr/>
        </p:nvSpPr>
        <p:spPr>
          <a:xfrm>
            <a:off x="9317697" y="1922112"/>
            <a:ext cx="1511089" cy="241200"/>
          </a:xfrm>
          <a:prstGeom prst="rect">
            <a:avLst/>
          </a:prstGeom>
          <a:solidFill>
            <a:srgbClr val="003E51"/>
          </a:solidFill>
          <a:ln w="3175" cap="flat" cmpd="sng" algn="ctr">
            <a:solidFill>
              <a:sysClr val="window" lastClr="FFFFFF">
                <a:lumMod val="65000"/>
              </a:sysClr>
            </a:solidFill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r>
              <a:rPr lang="pt-PT" sz="1000" b="1" dirty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Julho</a:t>
            </a:r>
          </a:p>
        </p:txBody>
      </p:sp>
      <p:sp>
        <p:nvSpPr>
          <p:cNvPr id="116" name="Rectangle 7">
            <a:extLst>
              <a:ext uri="{FF2B5EF4-FFF2-40B4-BE49-F238E27FC236}">
                <a16:creationId xmlns:a16="http://schemas.microsoft.com/office/drawing/2014/main" id="{8E8D470F-D691-CC6C-CFC8-22FD6E00335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466924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Preparação de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1B70AB32-6041-4A0A-60F7-BBB3C964E625}"/>
              </a:ext>
            </a:extLst>
          </p:cNvPr>
          <p:cNvSpPr/>
          <p:nvPr/>
        </p:nvSpPr>
        <p:spPr>
          <a:xfrm>
            <a:off x="5425857" y="2507461"/>
            <a:ext cx="607594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B17C56A9-1F67-E1A6-7B6D-530592E9A1A7}"/>
              </a:ext>
            </a:extLst>
          </p:cNvPr>
          <p:cNvSpPr txBox="1"/>
          <p:nvPr/>
        </p:nvSpPr>
        <p:spPr bwMode="auto">
          <a:xfrm>
            <a:off x="1049250" y="2910679"/>
            <a:ext cx="9779535" cy="728378"/>
          </a:xfrm>
          <a:prstGeom prst="round2SameRect">
            <a:avLst>
              <a:gd name="adj1" fmla="val 0"/>
              <a:gd name="adj2" fmla="val 7295"/>
            </a:avLst>
          </a:prstGeom>
          <a:noFill/>
          <a:ln>
            <a:solidFill>
              <a:sysClr val="window" lastClr="FFFFFF">
                <a:lumMod val="85000"/>
              </a:sysClr>
            </a:solidFill>
          </a:ln>
        </p:spPr>
        <p:txBody>
          <a:bodyPr lIns="0" rIns="0" anchor="ctr"/>
          <a:lstStyle/>
          <a:p>
            <a:pPr marL="0" marR="0" lvl="5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9" name="Rectangle 7">
            <a:extLst>
              <a:ext uri="{FF2B5EF4-FFF2-40B4-BE49-F238E27FC236}">
                <a16:creationId xmlns:a16="http://schemas.microsoft.com/office/drawing/2014/main" id="{DF4089F8-4A0E-21F9-6596-5BE9AFBFABC1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2733623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Geração de </a:t>
            </a:r>
            <a:r>
              <a:rPr lang="pt-PT" sz="1000" b="1" i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Scripts</a:t>
            </a: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Satélites Corporativos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755F204F-92EC-5ACA-E2F3-D63530EE37CA}"/>
              </a:ext>
            </a:extLst>
          </p:cNvPr>
          <p:cNvSpPr txBox="1">
            <a:spLocks noChangeAspect="1"/>
          </p:cNvSpPr>
          <p:nvPr/>
        </p:nvSpPr>
        <p:spPr>
          <a:xfrm>
            <a:off x="1029337" y="2963467"/>
            <a:ext cx="3871185" cy="213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Satélites Granulares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A357419D-47A6-F846-EFEF-4C38585D1AF1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185768"/>
            <a:ext cx="3542400" cy="197929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Satélites Agregados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B5548F4-7AE4-C44A-6064-6FC01B012A7F}"/>
              </a:ext>
            </a:extLst>
          </p:cNvPr>
          <p:cNvSpPr txBox="1">
            <a:spLocks noChangeAspect="1"/>
          </p:cNvSpPr>
          <p:nvPr/>
        </p:nvSpPr>
        <p:spPr>
          <a:xfrm>
            <a:off x="1029338" y="3394048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>
                <a:latin typeface="Arial" panose="020B0604020202020204" pitchFamily="34" charset="0"/>
                <a:cs typeface="Arial" panose="020B0604020202020204" pitchFamily="34" charset="0"/>
              </a:rPr>
              <a:t>Validações, testes &amp; </a:t>
            </a:r>
            <a:r>
              <a:rPr lang="pt-PT" sz="1000" err="1">
                <a:latin typeface="Arial" panose="020B0604020202020204" pitchFamily="34" charset="0"/>
                <a:cs typeface="Arial" panose="020B0604020202020204" pitchFamily="34" charset="0"/>
              </a:rPr>
              <a:t>re-testes</a:t>
            </a:r>
            <a:endParaRPr lang="pt-PT" sz="1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5E3D58D5-1ECF-F234-19DD-39FBC0866E26}"/>
              </a:ext>
            </a:extLst>
          </p:cNvPr>
          <p:cNvSpPr/>
          <p:nvPr/>
        </p:nvSpPr>
        <p:spPr>
          <a:xfrm>
            <a:off x="6074641" y="3001691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A01418C6-D1E9-CBDB-27C9-361E401033ED}"/>
              </a:ext>
            </a:extLst>
          </p:cNvPr>
          <p:cNvSpPr/>
          <p:nvPr/>
        </p:nvSpPr>
        <p:spPr>
          <a:xfrm>
            <a:off x="6074641" y="3216332"/>
            <a:ext cx="3384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706A1BF-9703-5D07-1DFC-088310652790}"/>
              </a:ext>
            </a:extLst>
          </p:cNvPr>
          <p:cNvSpPr/>
          <p:nvPr/>
        </p:nvSpPr>
        <p:spPr>
          <a:xfrm>
            <a:off x="9183867" y="3418272"/>
            <a:ext cx="583767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10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ADFB3024-2134-0004-C433-2CD51BAD08EB}"/>
              </a:ext>
            </a:extLst>
          </p:cNvPr>
          <p:cNvSpPr/>
          <p:nvPr/>
        </p:nvSpPr>
        <p:spPr>
          <a:xfrm>
            <a:off x="6074642" y="2774160"/>
            <a:ext cx="3692995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7" name="Rectangle 7">
            <a:extLst>
              <a:ext uri="{FF2B5EF4-FFF2-40B4-BE49-F238E27FC236}">
                <a16:creationId xmlns:a16="http://schemas.microsoft.com/office/drawing/2014/main" id="{D6D02ADE-A6FF-54CE-5C1C-79C40CC97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695207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Realização de paralelo com o reporte de dezembro de 2024</a:t>
            </a:r>
            <a:endParaRPr lang="en-US" sz="1000" b="1" kern="120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42A42914-9C87-484F-1585-407FE4BE0FE8}"/>
              </a:ext>
            </a:extLst>
          </p:cNvPr>
          <p:cNvSpPr/>
          <p:nvPr/>
        </p:nvSpPr>
        <p:spPr>
          <a:xfrm>
            <a:off x="6272868" y="3735744"/>
            <a:ext cx="3811847" cy="14093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9" name="Rectangle 7">
            <a:extLst>
              <a:ext uri="{FF2B5EF4-FFF2-40B4-BE49-F238E27FC236}">
                <a16:creationId xmlns:a16="http://schemas.microsoft.com/office/drawing/2014/main" id="{D6B6CE45-B1EC-A35B-0938-113EC76637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397823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Reporte de junho de 2025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Rectangle 7">
            <a:extLst>
              <a:ext uri="{FF2B5EF4-FFF2-40B4-BE49-F238E27FC236}">
                <a16:creationId xmlns:a16="http://schemas.microsoft.com/office/drawing/2014/main" id="{82135F0B-1F60-CF53-532B-51BF81617B19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49250" y="4261265"/>
            <a:ext cx="9779536" cy="21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Documentação &amp; passagem de conhecimento</a:t>
            </a:r>
            <a:endParaRPr lang="en-US" sz="1000" b="1" kern="120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4F172C3A-588A-8496-1408-6F814EF2F216}"/>
              </a:ext>
            </a:extLst>
          </p:cNvPr>
          <p:cNvSpPr/>
          <p:nvPr/>
        </p:nvSpPr>
        <p:spPr>
          <a:xfrm>
            <a:off x="9902991" y="4018772"/>
            <a:ext cx="92207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4EFFDB1B-E1E8-3808-044B-80D15D21F6C7}"/>
              </a:ext>
            </a:extLst>
          </p:cNvPr>
          <p:cNvSpPr/>
          <p:nvPr/>
        </p:nvSpPr>
        <p:spPr>
          <a:xfrm>
            <a:off x="10082601" y="4301802"/>
            <a:ext cx="396000" cy="13492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defTabSz="1375364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Rectangle 7">
            <a:extLst>
              <a:ext uri="{FF2B5EF4-FFF2-40B4-BE49-F238E27FC236}">
                <a16:creationId xmlns:a16="http://schemas.microsoft.com/office/drawing/2014/main" id="{3C7B49CE-9BF9-8976-075F-03ED755972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34282" y="5010698"/>
            <a:ext cx="9821226" cy="204459"/>
          </a:xfrm>
          <a:prstGeom prst="rect">
            <a:avLst/>
          </a:prstGeom>
          <a:solidFill>
            <a:srgbClr val="EBEBE6"/>
          </a:solidFill>
          <a:ln w="38100">
            <a:noFill/>
            <a:miter lim="800000"/>
            <a:headEnd/>
            <a:tailEnd/>
          </a:ln>
          <a:effectLst/>
        </p:spPr>
        <p:txBody>
          <a:bodyPr wrap="square" lIns="0" tIns="99659" rIns="72000" bIns="99659" anchor="ctr" anchorCtr="0"/>
          <a:lstStyle/>
          <a:p>
            <a:pPr marL="72000" algn="l" defTabSz="412629">
              <a:tabLst>
                <a:tab pos="268288" algn="l"/>
              </a:tabLst>
              <a:defRPr/>
            </a:pPr>
            <a:r>
              <a:rPr lang="pt-PT" sz="1000" b="1" kern="12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Identificação de casuísticas de diferenças e correções</a:t>
            </a:r>
            <a:r>
              <a:rPr lang="pt-PT" sz="1000" b="1" kern="1200" baseline="3000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sp>
        <p:nvSpPr>
          <p:cNvPr id="163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7350" y="5229451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 padronização de diferenças por casuísticas deverá ser avaliada no final deste projeto numa lógica de 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Time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and</a:t>
            </a:r>
            <a:r>
              <a:rPr kumimoji="0" lang="pt-PT" sz="800" b="1" i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1" i="1" u="none" strike="noStrike" kern="1200" cap="none" spc="0" normalizeH="0" baseline="0" noProof="0" dirty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Materials</a:t>
            </a:r>
            <a:r>
              <a:rPr kumimoji="0" lang="pt-PT" sz="800" b="1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kumimoji="0" lang="pt-PT" sz="800" b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dada a imprevisibilidade de estimação da mesma</a:t>
            </a:r>
            <a:r>
              <a:rPr kumimoji="0" lang="pt-PT" sz="8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4" name="Diamond 63">
            <a:extLst>
              <a:ext uri="{FF2B5EF4-FFF2-40B4-BE49-F238E27FC236}">
                <a16:creationId xmlns:a16="http://schemas.microsoft.com/office/drawing/2014/main" id="{E3C978EF-71A5-D181-183B-67A7C9B5C41F}"/>
              </a:ext>
            </a:extLst>
          </p:cNvPr>
          <p:cNvSpPr>
            <a:spLocks noChangeAspect="1"/>
          </p:cNvSpPr>
          <p:nvPr/>
        </p:nvSpPr>
        <p:spPr>
          <a:xfrm>
            <a:off x="5861958" y="2270699"/>
            <a:ext cx="104082" cy="104118"/>
          </a:xfrm>
          <a:prstGeom prst="diamond">
            <a:avLst/>
          </a:prstGeom>
          <a:solidFill>
            <a:srgbClr val="FFFFFF"/>
          </a:solidFill>
          <a:ln w="3175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0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1310599-3195-0C59-C5C7-2F68D25BACD4}"/>
              </a:ext>
            </a:extLst>
          </p:cNvPr>
          <p:cNvSpPr txBox="1">
            <a:spLocks noChangeAspect="1"/>
          </p:cNvSpPr>
          <p:nvPr/>
        </p:nvSpPr>
        <p:spPr>
          <a:xfrm>
            <a:off x="1027070" y="4511571"/>
            <a:ext cx="3542400" cy="185248"/>
          </a:xfrm>
          <a:prstGeom prst="rect">
            <a:avLst/>
          </a:prstGeom>
          <a:noFill/>
          <a:effectLst/>
        </p:spPr>
        <p:txBody>
          <a:bodyPr wrap="square" rtlCol="0" anchor="ctr">
            <a:noAutofit/>
          </a:bodyPr>
          <a:lstStyle>
            <a:defPPr marL="0" marR="0" indent="0" algn="l" defTabSz="449245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84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algn="l" defTabSz="412629">
              <a:spcAft>
                <a:spcPts val="600"/>
              </a:spcAft>
              <a:defRPr sz="900">
                <a:solidFill>
                  <a:srgbClr val="003E51"/>
                </a:solidFill>
                <a:latin typeface="Muli Light" panose="00000400000000000000" pitchFamily="2" charset="0"/>
              </a:defRPr>
            </a:lvl1pPr>
          </a:lstStyle>
          <a:p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Documentação do processo </a:t>
            </a:r>
            <a:r>
              <a:rPr lang="pt-PT" sz="1000" i="1" dirty="0">
                <a:latin typeface="Arial" panose="020B0604020202020204" pitchFamily="34" charset="0"/>
                <a:cs typeface="Arial" panose="020B0604020202020204" pitchFamily="34" charset="0"/>
              </a:rPr>
              <a:t>To </a:t>
            </a:r>
            <a:r>
              <a:rPr lang="pt-PT" sz="1000" i="1" dirty="0" err="1">
                <a:latin typeface="Arial" panose="020B0604020202020204" pitchFamily="34" charset="0"/>
                <a:cs typeface="Arial" panose="020B0604020202020204" pitchFamily="34" charset="0"/>
              </a:rPr>
              <a:t>Be</a:t>
            </a:r>
            <a:r>
              <a:rPr lang="pt-PT" sz="1000" dirty="0">
                <a:latin typeface="Arial" panose="020B0604020202020204" pitchFamily="34" charset="0"/>
                <a:cs typeface="Arial" panose="020B0604020202020204" pitchFamily="34" charset="0"/>
              </a:rPr>
              <a:t> proposto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0429B894-D00E-A2EC-3271-C40EFB713A61}"/>
              </a:ext>
            </a:extLst>
          </p:cNvPr>
          <p:cNvSpPr/>
          <p:nvPr/>
        </p:nvSpPr>
        <p:spPr>
          <a:xfrm>
            <a:off x="7292292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8" name="Diamond 67">
            <a:extLst>
              <a:ext uri="{FF2B5EF4-FFF2-40B4-BE49-F238E27FC236}">
                <a16:creationId xmlns:a16="http://schemas.microsoft.com/office/drawing/2014/main" id="{465B90BF-E598-B740-4B8E-3A2A9821D420}"/>
              </a:ext>
            </a:extLst>
          </p:cNvPr>
          <p:cNvSpPr>
            <a:spLocks noChangeAspect="1"/>
          </p:cNvSpPr>
          <p:nvPr/>
        </p:nvSpPr>
        <p:spPr>
          <a:xfrm>
            <a:off x="7348251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B5BEB0B-5BFD-E773-772E-C8AFC68D3F27}"/>
              </a:ext>
            </a:extLst>
          </p:cNvPr>
          <p:cNvSpPr/>
          <p:nvPr/>
        </p:nvSpPr>
        <p:spPr>
          <a:xfrm>
            <a:off x="8881445" y="4532905"/>
            <a:ext cx="216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Diamond 69">
            <a:extLst>
              <a:ext uri="{FF2B5EF4-FFF2-40B4-BE49-F238E27FC236}">
                <a16:creationId xmlns:a16="http://schemas.microsoft.com/office/drawing/2014/main" id="{CD205661-9198-36D7-8EAB-3F0560985861}"/>
              </a:ext>
            </a:extLst>
          </p:cNvPr>
          <p:cNvSpPr>
            <a:spLocks noChangeAspect="1"/>
          </p:cNvSpPr>
          <p:nvPr/>
        </p:nvSpPr>
        <p:spPr>
          <a:xfrm>
            <a:off x="8937404" y="4549246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C75960E-D96A-A1F0-39C8-BB59D448BAA0}"/>
              </a:ext>
            </a:extLst>
          </p:cNvPr>
          <p:cNvSpPr/>
          <p:nvPr/>
        </p:nvSpPr>
        <p:spPr>
          <a:xfrm>
            <a:off x="10341030" y="4544366"/>
            <a:ext cx="252000" cy="136800"/>
          </a:xfrm>
          <a:prstGeom prst="rect">
            <a:avLst/>
          </a:prstGeom>
          <a:solidFill>
            <a:srgbClr val="003E51">
              <a:lumMod val="25000"/>
              <a:lumOff val="75000"/>
            </a:srgbClr>
          </a:solidFill>
          <a:ln w="3175" cap="flat" cmpd="sng" algn="ctr">
            <a:noFill/>
            <a:prstDash val="solid"/>
          </a:ln>
          <a:effectLst/>
        </p:spPr>
        <p:txBody>
          <a:bodyPr lIns="0" rIns="0" rtlCol="0" anchor="ctr"/>
          <a:lstStyle/>
          <a:p>
            <a:pPr defTabSz="1219170" eaLnBrk="0" hangingPunct="1"/>
            <a:endParaRPr lang="pt-PT" sz="800" b="1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Diamond 71">
            <a:extLst>
              <a:ext uri="{FF2B5EF4-FFF2-40B4-BE49-F238E27FC236}">
                <a16:creationId xmlns:a16="http://schemas.microsoft.com/office/drawing/2014/main" id="{92AA8718-D351-7A60-360D-D5974E5755E0}"/>
              </a:ext>
            </a:extLst>
          </p:cNvPr>
          <p:cNvSpPr>
            <a:spLocks noChangeAspect="1"/>
          </p:cNvSpPr>
          <p:nvPr/>
        </p:nvSpPr>
        <p:spPr>
          <a:xfrm>
            <a:off x="10414989" y="4560707"/>
            <a:ext cx="104082" cy="104118"/>
          </a:xfrm>
          <a:prstGeom prst="diamond">
            <a:avLst/>
          </a:prstGeom>
          <a:solidFill>
            <a:schemeClr val="accent2">
              <a:lumMod val="75000"/>
            </a:schemeClr>
          </a:solidFill>
          <a:ln w="3175" cap="flat" cmpd="sng" algn="ctr">
            <a:solidFill>
              <a:schemeClr val="accent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EB57593-72A6-9315-5BE9-2BA6E68E941E}"/>
              </a:ext>
            </a:extLst>
          </p:cNvPr>
          <p:cNvGrpSpPr/>
          <p:nvPr/>
        </p:nvGrpSpPr>
        <p:grpSpPr>
          <a:xfrm>
            <a:off x="756067" y="6344379"/>
            <a:ext cx="3328407" cy="261610"/>
            <a:chOff x="2854175" y="6420579"/>
            <a:chExt cx="3328407" cy="261610"/>
          </a:xfrm>
        </p:grpSpPr>
        <p:sp>
          <p:nvSpPr>
            <p:cNvPr id="74" name="Text Placeholder 3">
              <a:extLst>
                <a:ext uri="{FF2B5EF4-FFF2-40B4-BE49-F238E27FC236}">
                  <a16:creationId xmlns:a16="http://schemas.microsoft.com/office/drawing/2014/main" id="{2A57DB55-55E8-D9FA-ECC8-E8EF4DE979C1}"/>
                </a:ext>
              </a:extLst>
            </p:cNvPr>
            <p:cNvSpPr txBox="1">
              <a:spLocks/>
            </p:cNvSpPr>
            <p:nvPr/>
          </p:nvSpPr>
          <p:spPr>
            <a:xfrm>
              <a:off x="2854175" y="6420579"/>
              <a:ext cx="75773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1000" b="1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Legenda:</a:t>
              </a:r>
              <a:endParaRPr kumimoji="0" lang="pt-PT" sz="10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B1B72E6F-B91B-75C9-DF30-0D9AF0891ECA}"/>
                </a:ext>
              </a:extLst>
            </p:cNvPr>
            <p:cNvGrpSpPr/>
            <p:nvPr/>
          </p:nvGrpSpPr>
          <p:grpSpPr>
            <a:xfrm>
              <a:off x="3611913" y="6430589"/>
              <a:ext cx="1276444" cy="244682"/>
              <a:chOff x="1747576" y="6428650"/>
              <a:chExt cx="1276610" cy="244714"/>
            </a:xfrm>
          </p:grpSpPr>
          <p:sp>
            <p:nvSpPr>
              <p:cNvPr id="79" name="Text Placeholder 3">
                <a:extLst>
                  <a:ext uri="{FF2B5EF4-FFF2-40B4-BE49-F238E27FC236}">
                    <a16:creationId xmlns:a16="http://schemas.microsoft.com/office/drawing/2014/main" id="{44128D0F-4199-0711-66E2-8601832FB41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47250" y="6428650"/>
                <a:ext cx="1176936" cy="2447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</a:t>
                </a:r>
                <a:r>
                  <a:rPr kumimoji="0" lang="pt-PT" sz="900" b="0" i="1" u="none" strike="noStrike" kern="1200" cap="none" spc="0" normalizeH="0" baseline="0" noProof="0" err="1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Kickoff</a:t>
                </a:r>
                <a:endParaRPr kumimoji="0" lang="pt-PT" sz="900" b="0" i="1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80" name="Diamond 79">
                <a:extLst>
                  <a:ext uri="{FF2B5EF4-FFF2-40B4-BE49-F238E27FC236}">
                    <a16:creationId xmlns:a16="http://schemas.microsoft.com/office/drawing/2014/main" id="{5765CB58-631E-687A-3A08-6C6B0E7985DA}"/>
                  </a:ext>
                </a:extLst>
              </p:cNvPr>
              <p:cNvSpPr/>
              <p:nvPr/>
            </p:nvSpPr>
            <p:spPr>
              <a:xfrm>
                <a:off x="1747576" y="6485909"/>
                <a:ext cx="125955" cy="126000"/>
              </a:xfrm>
              <a:prstGeom prst="diamond">
                <a:avLst/>
              </a:prstGeom>
              <a:solidFill>
                <a:schemeClr val="accent4"/>
              </a:solidFill>
              <a:ln w="3175" cap="flat" cmpd="sng" algn="ctr">
                <a:solidFill>
                  <a:schemeClr val="accent4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  <p:grpSp>
          <p:nvGrpSpPr>
            <p:cNvPr id="76" name="Group 75">
              <a:extLst>
                <a:ext uri="{FF2B5EF4-FFF2-40B4-BE49-F238E27FC236}">
                  <a16:creationId xmlns:a16="http://schemas.microsoft.com/office/drawing/2014/main" id="{1055F664-C382-0613-D546-217DCFD50AA5}"/>
                </a:ext>
              </a:extLst>
            </p:cNvPr>
            <p:cNvGrpSpPr/>
            <p:nvPr/>
          </p:nvGrpSpPr>
          <p:grpSpPr>
            <a:xfrm>
              <a:off x="4910900" y="6432511"/>
              <a:ext cx="1271682" cy="244682"/>
              <a:chOff x="3406519" y="6432511"/>
              <a:chExt cx="1271682" cy="244682"/>
            </a:xfrm>
          </p:grpSpPr>
          <p:sp>
            <p:nvSpPr>
              <p:cNvPr id="77" name="Diamond 76">
                <a:extLst>
                  <a:ext uri="{FF2B5EF4-FFF2-40B4-BE49-F238E27FC236}">
                    <a16:creationId xmlns:a16="http://schemas.microsoft.com/office/drawing/2014/main" id="{16ED01B3-96E2-56ED-A116-AF52B959D420}"/>
                  </a:ext>
                </a:extLst>
              </p:cNvPr>
              <p:cNvSpPr/>
              <p:nvPr/>
            </p:nvSpPr>
            <p:spPr>
              <a:xfrm>
                <a:off x="3406519" y="6486587"/>
                <a:ext cx="125939" cy="125983"/>
              </a:xfrm>
              <a:prstGeom prst="diamond">
                <a:avLst/>
              </a:prstGeom>
              <a:solidFill>
                <a:srgbClr val="FFFFFF"/>
              </a:solidFill>
              <a:ln w="3175" cap="flat" cmpd="sng" algn="ctr">
                <a:solidFill>
                  <a:schemeClr val="tx1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l" defTabSz="412464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pt-PT" sz="1200" b="0" i="0" u="none" strike="noStrike" kern="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  <p:sp>
            <p:nvSpPr>
              <p:cNvPr id="78" name="Text Placeholder 3">
                <a:extLst>
                  <a:ext uri="{FF2B5EF4-FFF2-40B4-BE49-F238E27FC236}">
                    <a16:creationId xmlns:a16="http://schemas.microsoft.com/office/drawing/2014/main" id="{9AA4433C-2D5B-C8CC-4267-4153CF9654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01418" y="6432511"/>
                <a:ext cx="1176783" cy="2446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lvl1pPr marL="114267" indent="-114267" algn="l" defTabSz="457066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4280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3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7133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1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99865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028398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2569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485463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713996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1942530" indent="-114267" algn="l" defTabSz="457066" rtl="0" eaLnBrk="1" latinLnBrk="0" hangingPunct="1">
                  <a:lnSpc>
                    <a:spcPct val="90000"/>
                  </a:lnSpc>
                  <a:spcBef>
                    <a:spcPts val="251"/>
                  </a:spcBef>
                  <a:buFont typeface="Arial" panose="020B0604020202020204" pitchFamily="34" charset="0"/>
                  <a:buChar char="•"/>
                  <a:defRPr sz="1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456929" rtl="0" eaLnBrk="1" fontAlgn="auto" latinLnBrk="0" hangingPunct="1">
                  <a:lnSpc>
                    <a:spcPct val="110000"/>
                  </a:lnSpc>
                  <a:spcBef>
                    <a:spcPts val="5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pt-PT" sz="900" b="0" i="0" u="none" strike="noStrike" kern="1200" cap="none" spc="0" normalizeH="0" baseline="0" noProof="0">
                    <a:ln>
                      <a:noFill/>
                    </a:ln>
                    <a:solidFill>
                      <a:srgbClr val="003E5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  <a:sym typeface="Muli Light"/>
                  </a:rPr>
                  <a:t>Reunião de PDS</a:t>
                </a:r>
                <a:endParaRPr kumimoji="0" lang="pt-PT" sz="900" b="0" i="0" u="none" strike="noStrike" kern="1200" cap="none" spc="0" normalizeH="0" baseline="0" noProof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endParaRPr>
              </a:p>
            </p:txBody>
          </p:sp>
        </p:grpSp>
      </p:grpSp>
      <p:sp>
        <p:nvSpPr>
          <p:cNvPr id="81" name="Diamond 80">
            <a:extLst>
              <a:ext uri="{FF2B5EF4-FFF2-40B4-BE49-F238E27FC236}">
                <a16:creationId xmlns:a16="http://schemas.microsoft.com/office/drawing/2014/main" id="{A4D65543-4F85-BD3C-D129-CCAC6FD8E50E}"/>
              </a:ext>
            </a:extLst>
          </p:cNvPr>
          <p:cNvSpPr>
            <a:spLocks noChangeAspect="1"/>
          </p:cNvSpPr>
          <p:nvPr/>
        </p:nvSpPr>
        <p:spPr>
          <a:xfrm>
            <a:off x="4023232" y="6430097"/>
            <a:ext cx="104082" cy="104118"/>
          </a:xfrm>
          <a:prstGeom prst="diamond">
            <a:avLst/>
          </a:prstGeom>
          <a:solidFill>
            <a:srgbClr val="00B050"/>
          </a:solidFill>
          <a:ln w="3175" cap="flat" cmpd="sng" algn="ctr">
            <a:solidFill>
              <a:srgbClr val="00B05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l" defTabSz="412464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PT" sz="1200" b="0" i="0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82" name="Text Placeholder 3">
            <a:extLst>
              <a:ext uri="{FF2B5EF4-FFF2-40B4-BE49-F238E27FC236}">
                <a16:creationId xmlns:a16="http://schemas.microsoft.com/office/drawing/2014/main" id="{E4ECBDFF-E2E1-FE67-41CD-92E41A5E9B99}"/>
              </a:ext>
            </a:extLst>
          </p:cNvPr>
          <p:cNvSpPr txBox="1">
            <a:spLocks/>
          </p:cNvSpPr>
          <p:nvPr/>
        </p:nvSpPr>
        <p:spPr>
          <a:xfrm>
            <a:off x="4094658" y="6362904"/>
            <a:ext cx="1544575" cy="24468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900" b="0" i="0" u="none" strike="noStrike" kern="120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Documentação preliminar</a:t>
            </a:r>
            <a:endParaRPr kumimoji="0" lang="pt-PT" sz="900" b="0" i="0" u="none" strike="noStrike" kern="120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CF4B2A0-D142-E77D-D7FF-CBBFBB106AC6}"/>
              </a:ext>
            </a:extLst>
          </p:cNvPr>
          <p:cNvGrpSpPr/>
          <p:nvPr/>
        </p:nvGrpSpPr>
        <p:grpSpPr>
          <a:xfrm>
            <a:off x="5596215" y="6362904"/>
            <a:ext cx="1361786" cy="244682"/>
            <a:chOff x="6454685" y="6591504"/>
            <a:chExt cx="1361786" cy="244682"/>
          </a:xfrm>
        </p:grpSpPr>
        <p:sp>
          <p:nvSpPr>
            <p:cNvPr id="94" name="Diamond 93">
              <a:extLst>
                <a:ext uri="{FF2B5EF4-FFF2-40B4-BE49-F238E27FC236}">
                  <a16:creationId xmlns:a16="http://schemas.microsoft.com/office/drawing/2014/main" id="{26C9CF88-5C61-F04F-888E-42BA21CB0E8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454685" y="6658697"/>
              <a:ext cx="104082" cy="104118"/>
            </a:xfrm>
            <a:prstGeom prst="diamond">
              <a:avLst/>
            </a:prstGeom>
            <a:solidFill>
              <a:schemeClr val="accent2">
                <a:lumMod val="75000"/>
              </a:schemeClr>
            </a:solidFill>
            <a:ln w="3175" cap="flat" cmpd="sng" algn="ctr">
              <a:solidFill>
                <a:schemeClr val="accent2">
                  <a:lumMod val="75000"/>
                </a:scheme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l" defTabSz="412464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13" name="Text Placeholder 3">
              <a:extLst>
                <a:ext uri="{FF2B5EF4-FFF2-40B4-BE49-F238E27FC236}">
                  <a16:creationId xmlns:a16="http://schemas.microsoft.com/office/drawing/2014/main" id="{EFBEBEC5-7FBA-B788-CA42-6DB30B67DADE}"/>
                </a:ext>
              </a:extLst>
            </p:cNvPr>
            <p:cNvSpPr txBox="1">
              <a:spLocks/>
            </p:cNvSpPr>
            <p:nvPr/>
          </p:nvSpPr>
          <p:spPr>
            <a:xfrm>
              <a:off x="6526111" y="6591504"/>
              <a:ext cx="1290360" cy="244682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lvl1pPr marL="114267" indent="-114267" algn="l" defTabSz="457066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4280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3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7133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99865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028398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2569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485463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713996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942530" indent="-114267" algn="l" defTabSz="457066" rtl="0" eaLnBrk="1" latinLnBrk="0" hangingPunct="1">
                <a:lnSpc>
                  <a:spcPct val="90000"/>
                </a:lnSpc>
                <a:spcBef>
                  <a:spcPts val="251"/>
                </a:spcBef>
                <a:buFont typeface="Arial" panose="020B0604020202020204" pitchFamily="34" charset="0"/>
                <a:buChar char="•"/>
                <a:defRPr sz="1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456929" rtl="0" eaLnBrk="1" fontAlgn="auto" latinLnBrk="0" hangingPunct="1">
                <a:lnSpc>
                  <a:spcPct val="110000"/>
                </a:lnSpc>
                <a:spcBef>
                  <a:spcPts val="5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pt-PT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003E51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Documentação final</a:t>
              </a:r>
              <a:endParaRPr kumimoji="0" lang="pt-PT" sz="9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170" name="Group 169"/>
          <p:cNvGrpSpPr/>
          <p:nvPr/>
        </p:nvGrpSpPr>
        <p:grpSpPr>
          <a:xfrm>
            <a:off x="7475130" y="1578609"/>
            <a:ext cx="648000" cy="3146164"/>
            <a:chOff x="5596215" y="1578609"/>
            <a:chExt cx="648000" cy="2898656"/>
          </a:xfrm>
        </p:grpSpPr>
        <p:grpSp>
          <p:nvGrpSpPr>
            <p:cNvPr id="171" name="Group 170">
              <a:extLst>
                <a:ext uri="{FF2B5EF4-FFF2-40B4-BE49-F238E27FC236}">
                  <a16:creationId xmlns:a16="http://schemas.microsoft.com/office/drawing/2014/main" id="{08D52EAB-5923-D107-2392-16243FA8ECCE}"/>
                </a:ext>
              </a:extLst>
            </p:cNvPr>
            <p:cNvGrpSpPr/>
            <p:nvPr/>
          </p:nvGrpSpPr>
          <p:grpSpPr>
            <a:xfrm>
              <a:off x="5866215" y="1792896"/>
              <a:ext cx="108000" cy="2684369"/>
              <a:chOff x="3546168" y="1579821"/>
              <a:chExt cx="108000" cy="3480276"/>
            </a:xfrm>
          </p:grpSpPr>
          <p:cxnSp>
            <p:nvCxnSpPr>
              <p:cNvPr id="173" name="Straight Connector 172">
                <a:extLst>
                  <a:ext uri="{FF2B5EF4-FFF2-40B4-BE49-F238E27FC236}">
                    <a16:creationId xmlns:a16="http://schemas.microsoft.com/office/drawing/2014/main" id="{0F2EC365-7791-604A-1681-A658BD989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98392" y="1621840"/>
                <a:ext cx="21860" cy="343825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174" name="Oval 173">
                <a:extLst>
                  <a:ext uri="{FF2B5EF4-FFF2-40B4-BE49-F238E27FC236}">
                    <a16:creationId xmlns:a16="http://schemas.microsoft.com/office/drawing/2014/main" id="{51FAF1F6-88D3-9119-2BED-434DA4001BD6}"/>
                  </a:ext>
                </a:extLst>
              </p:cNvPr>
              <p:cNvSpPr/>
              <p:nvPr/>
            </p:nvSpPr>
            <p:spPr>
              <a:xfrm>
                <a:off x="3546168" y="1579821"/>
                <a:ext cx="108000" cy="108000"/>
              </a:xfrm>
              <a:prstGeom prst="ellipse">
                <a:avLst/>
              </a:prstGeom>
              <a:solidFill>
                <a:srgbClr val="FFFFFF"/>
              </a:solidFill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1077925">
                  <a:defRPr/>
                </a:pPr>
                <a:endParaRPr lang="pt-PT" sz="1300" kern="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2" name="TextBox 171">
              <a:extLst>
                <a:ext uri="{FF2B5EF4-FFF2-40B4-BE49-F238E27FC236}">
                  <a16:creationId xmlns:a16="http://schemas.microsoft.com/office/drawing/2014/main" id="{450A820F-6923-918E-28FC-3FBD45F1174D}"/>
                </a:ext>
              </a:extLst>
            </p:cNvPr>
            <p:cNvSpPr txBox="1"/>
            <p:nvPr/>
          </p:nvSpPr>
          <p:spPr>
            <a:xfrm>
              <a:off x="5596215" y="1578609"/>
              <a:ext cx="648000" cy="2000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r>
                <a:rPr lang="pt-PT" sz="700" b="1" i="1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Hoje</a:t>
              </a:r>
              <a:endParaRPr lang="pt-PT" sz="700" b="1" i="1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611513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9490" y="249173"/>
            <a:ext cx="7266629" cy="238180"/>
          </a:xfrm>
        </p:spPr>
        <p:txBody>
          <a:bodyPr/>
          <a:lstStyle/>
          <a:p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Planeamento (3|3)</a:t>
            </a:r>
            <a:endParaRPr lang="pt-P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0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Plano de entregas – </a:t>
            </a:r>
            <a:r>
              <a:rPr lang="pt-PT" i="1" dirty="0" smtClean="0">
                <a:latin typeface="Arial" panose="020B0604020202020204" pitchFamily="34" charset="0"/>
                <a:cs typeface="Arial" panose="020B0604020202020204" pitchFamily="34" charset="0"/>
              </a:rPr>
              <a:t>Templates</a:t>
            </a:r>
            <a:r>
              <a:rPr lang="pt-PT" dirty="0" smtClean="0">
                <a:latin typeface="Arial" panose="020B0604020202020204" pitchFamily="34" charset="0"/>
                <a:cs typeface="Arial" panose="020B0604020202020204" pitchFamily="34" charset="0"/>
              </a:rPr>
              <a:t> Locais &amp; Satélites Corporativos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plano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apresentado não inclui a inclusão do universo de adjudicados.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003843" y="1297065"/>
            <a:ext cx="3984530" cy="4990002"/>
            <a:chOff x="2003843" y="1297065"/>
            <a:chExt cx="3984530" cy="4990002"/>
          </a:xfrm>
        </p:grpSpPr>
        <p:sp>
          <p:nvSpPr>
            <p:cNvPr id="91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92173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1297065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3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3493998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de maio</a:t>
              </a:r>
              <a:endParaRPr lang="pt-PT" sz="1050" b="1" dirty="0">
                <a:solidFill>
                  <a:srgbClr val="00CC66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2349464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pt-PT" sz="105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22</a:t>
              </a:r>
              <a:r>
                <a:rPr kumimoji="0" lang="pt-PT" sz="1050" b="1" i="0" u="none" strike="noStrike" kern="0" cap="none" spc="0" normalizeH="0" noProof="0" dirty="0" smtClean="0">
                  <a:ln>
                    <a:noFill/>
                  </a:ln>
                  <a:solidFill>
                    <a:srgbClr val="00CC66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Helvetica Light"/>
                </a:rPr>
                <a:t> de maio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00CC66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9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638532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9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21079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</a:p>
          </p:txBody>
        </p:sp>
        <p:sp>
          <p:nvSpPr>
            <p:cNvPr id="102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578306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30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103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92189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297065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Templates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6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349412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</p:txBody>
        </p:sp>
        <p:sp>
          <p:nvSpPr>
            <p:cNvPr id="107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234965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 (STE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)</a:t>
              </a:r>
            </a:p>
          </p:txBody>
        </p:sp>
        <p:sp>
          <p:nvSpPr>
            <p:cNvPr id="108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638595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5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0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21083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>
                <a:defRPr/>
              </a:pP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6,7,8,9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5783067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0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177742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 </a:t>
              </a: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(STE)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139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1321" y="177719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marL="0" marR="0" lvl="0" indent="0" defTabSz="412629" rtl="0" eaLnBrk="1" fontAlgn="auto" latinLnBrk="0" hangingPunct="0">
                <a:lnSpc>
                  <a:spcPct val="100000"/>
                </a:lnSpc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 de julho</a:t>
              </a:r>
              <a:endPara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70707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37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414" y="406626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de 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843" y="406636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i="1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</a:t>
              </a:r>
              <a:r>
                <a:rPr lang="pt-PT" sz="1050" i="1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i="1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6322932" y="1297065"/>
            <a:ext cx="3994258" cy="3820454"/>
            <a:chOff x="6449391" y="1300824"/>
            <a:chExt cx="3994258" cy="3820454"/>
          </a:xfrm>
        </p:grpSpPr>
        <p:sp>
          <p:nvSpPr>
            <p:cNvPr id="42" name="Rectangle 25">
              <a:extLst>
                <a:ext uri="{FF2B5EF4-FFF2-40B4-BE49-F238E27FC236}">
                  <a16:creationId xmlns:a16="http://schemas.microsoft.com/office/drawing/2014/main" id="{EED8F888-5BB1-7A74-405E-028D6B44A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3481611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Rectangle 25">
              <a:extLst>
                <a:ext uri="{FF2B5EF4-FFF2-40B4-BE49-F238E27FC236}">
                  <a16:creationId xmlns:a16="http://schemas.microsoft.com/office/drawing/2014/main" id="{4B98099B-9BC1-4802-8974-B3603A052E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1300824"/>
              <a:ext cx="200705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lvl="0" defTabSz="914400" eaLnBrk="0">
                <a:lnSpc>
                  <a:spcPct val="110000"/>
                </a:lnSpc>
                <a:defRPr/>
              </a:pPr>
              <a:r>
                <a:rPr kumimoji="0" lang="pt-PT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Data de </a:t>
              </a:r>
              <a:r>
                <a:rPr kumimoji="0" lang="pt-PT" sz="1200" b="1" i="0" u="none" strike="noStrike" kern="0" cap="none" spc="0" normalizeH="0" baseline="0" noProof="0" dirty="0" smtClean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  <a:sym typeface="Helvetica Light"/>
                </a:rPr>
                <a:t>entrega</a:t>
              </a:r>
              <a:r>
                <a:rPr lang="pt-PT" sz="1200" kern="1200" baseline="30000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  <a:sym typeface="Muli Light"/>
                </a:rPr>
                <a:t>1</a:t>
              </a:r>
              <a:endParaRPr kumimoji="0" lang="pt-PT" sz="1200" b="1" i="0" u="none" strike="noStrike" kern="0" cap="none" spc="0" normalizeH="0" baseline="3000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4" name="Rectangle 25">
              <a:extLst>
                <a:ext uri="{FF2B5EF4-FFF2-40B4-BE49-F238E27FC236}">
                  <a16:creationId xmlns:a16="http://schemas.microsoft.com/office/drawing/2014/main" id="{E1492F7E-F7A0-4E85-8FC1-862D9C8BA9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048719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2914503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dirty="0">
                <a:solidFill>
                  <a:srgbClr val="70707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22690" y="461582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r>
                <a:rPr lang="pt-PT" sz="1050" b="1" dirty="0" smtClean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 </a:t>
              </a:r>
              <a:r>
                <a:rPr lang="pt-PT" sz="1050" b="1" dirty="0">
                  <a:solidFill>
                    <a:srgbClr val="70707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</a:p>
          </p:txBody>
        </p:sp>
        <p:sp>
          <p:nvSpPr>
            <p:cNvPr id="47" name="Rectangle 23">
              <a:extLst>
                <a:ext uri="{FF2B5EF4-FFF2-40B4-BE49-F238E27FC236}">
                  <a16:creationId xmlns:a16="http://schemas.microsoft.com/office/drawing/2014/main" id="{967FFCDF-AA55-4D26-46C6-FCE66F3FDF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3482572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84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Rectangle 23">
              <a:extLst>
                <a:ext uri="{FF2B5EF4-FFF2-40B4-BE49-F238E27FC236}">
                  <a16:creationId xmlns:a16="http://schemas.microsoft.com/office/drawing/2014/main" id="{D20F415D-1EDC-4314-9A6F-9CEDE78E1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300824"/>
              <a:ext cx="1885863" cy="409212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solidFill>
                <a:schemeClr val="tx1"/>
              </a:solidFill>
              <a:prstDash val="solid"/>
              <a:headEnd/>
              <a:tailEnd/>
            </a:ln>
            <a:effectLst/>
          </p:spPr>
          <p:txBody>
            <a:bodyPr lIns="36000" tIns="36000" rIns="36000" bIns="36000" anchor="ctr"/>
            <a:lstStyle/>
            <a:p>
              <a:pPr marL="0" marR="0" lvl="0" indent="0" algn="ctr" defTabSz="914400" rtl="0" eaLnBrk="0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pt-PT" sz="1200" b="1" i="1" noProof="0" dirty="0" smtClean="0">
                  <a:solidFill>
                    <a:srgbClr val="FFFFFF"/>
                  </a:solidFill>
                  <a:latin typeface="Arial" panose="020B0604020202020204" pitchFamily="34" charset="0"/>
                  <a:ea typeface="Tahoma" pitchFamily="34" charset="0"/>
                  <a:cs typeface="Arial" panose="020B0604020202020204" pitchFamily="34" charset="0"/>
                </a:rPr>
                <a:t>Satélites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49" name="Rectangle 23">
              <a:extLst>
                <a:ext uri="{FF2B5EF4-FFF2-40B4-BE49-F238E27FC236}">
                  <a16:creationId xmlns:a16="http://schemas.microsoft.com/office/drawing/2014/main" id="{93C193AE-EED8-440A-8458-F8D9C966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049926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91521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83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Rectangle 23">
              <a:extLst>
                <a:ext uri="{FF2B5EF4-FFF2-40B4-BE49-F238E27FC236}">
                  <a16:creationId xmlns:a16="http://schemas.microsoft.com/office/drawing/2014/main" id="{84B7A843-AB83-7A51-CC69-A3CC24D3DB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4617278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109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2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2347864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80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3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2347395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16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  <p:sp>
          <p:nvSpPr>
            <p:cNvPr id="54" name="Rectangle 23">
              <a:extLst>
                <a:ext uri="{FF2B5EF4-FFF2-40B4-BE49-F238E27FC236}">
                  <a16:creationId xmlns:a16="http://schemas.microsoft.com/office/drawing/2014/main" id="{01BE7C0B-121C-19E7-1B3C-9B63E3FD24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49391" y="1780510"/>
              <a:ext cx="1885863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36000" tIns="36000" rIns="36000" bIns="36000" anchor="ctr"/>
            <a:lstStyle/>
            <a:p>
              <a:pPr lvl="0">
                <a:defRPr/>
              </a:pP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Satélite 79</a:t>
              </a:r>
              <a:endParaRPr kumimoji="0" lang="pt-PT" sz="1050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endParaRPr>
            </a:p>
          </p:txBody>
        </p:sp>
        <p:sp>
          <p:nvSpPr>
            <p:cNvPr id="55" name="Rectangle 25">
              <a:extLst>
                <a:ext uri="{FF2B5EF4-FFF2-40B4-BE49-F238E27FC236}">
                  <a16:creationId xmlns:a16="http://schemas.microsoft.com/office/drawing/2014/main" id="{C038E3E7-0DAE-DB2E-F6D3-13A1468474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36597" y="1780287"/>
              <a:ext cx="200705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 algn="ctr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</p:spPr>
          <p:txBody>
            <a:bodyPr lIns="108000" tIns="36000" rIns="108000" bIns="36000" anchor="ctr"/>
            <a:lstStyle/>
            <a:p>
              <a:pPr lvl="0" defTabSz="412629">
                <a:defRPr/>
              </a:pPr>
              <a:r>
                <a:rPr lang="pt-PT" sz="1050" b="1" dirty="0" smtClean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23 </a:t>
              </a:r>
              <a:r>
                <a:rPr lang="pt-PT" sz="1050" b="1" dirty="0">
                  <a:solidFill>
                    <a:srgbClr val="00CC66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maio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7946410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6950BFC3-D8DA-4A85-94F7-54DA5524770B}">
      <p188:commentRel xmlns="" xmlns:p188="http://schemas.microsoft.com/office/powerpoint/2018/8/main" r:id="rId4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38681D9-A404-4DDD-A070-B6EFA3645A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desafios</a:t>
            </a: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D6BD3C03-AA9A-477D-9848-4E58FF45581E}"/>
              </a:ext>
            </a:extLst>
          </p:cNvPr>
          <p:cNvSpPr txBox="1">
            <a:spLocks/>
          </p:cNvSpPr>
          <p:nvPr/>
        </p:nvSpPr>
        <p:spPr>
          <a:xfrm>
            <a:off x="609521" y="1161527"/>
            <a:ext cx="11114228" cy="400936"/>
          </a:xfrm>
          <a:prstGeom prst="rect">
            <a:avLst/>
          </a:prstGeom>
        </p:spPr>
        <p:txBody>
          <a:bodyPr/>
          <a:lstStyle>
            <a:lvl1pPr marL="0" indent="0" algn="l" defTabSz="445496" rtl="0" eaLnBrk="1" latinLnBrk="0" hangingPunct="1">
              <a:lnSpc>
                <a:spcPct val="100000"/>
              </a:lnSpc>
              <a:spcBef>
                <a:spcPts val="487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Muli Light" panose="000004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843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Seguem os principais </a:t>
            </a:r>
            <a:r>
              <a:rPr kumimoji="0" lang="pt-PT" sz="1200" b="1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riscos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1" i="1" u="none" strike="noStrike" kern="0" cap="none" spc="0" normalizeH="0" baseline="0" noProof="0" err="1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issues</a:t>
            </a:r>
            <a:r>
              <a:rPr kumimoji="0" lang="pt-PT" sz="1200" b="0" i="1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64" charset="-128"/>
                <a:cs typeface="Arial" panose="020B0604020202020204" pitchFamily="34" charset="0"/>
                <a:sym typeface="Helvetica Light"/>
              </a:rPr>
              <a:t>identificados no decorrer das atividades realizadas:</a:t>
            </a:r>
            <a:endParaRPr kumimoji="0" lang="pt-PT" sz="1200" b="0" i="1" u="none" strike="noStrike" kern="0" cap="none" spc="0" normalizeH="0" baseline="0" noProof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ea typeface="ＭＳ Ｐゴシック" pitchFamily="64" charset="-128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2" name="Text Placeholder 224">
            <a:extLst>
              <a:ext uri="{FF2B5EF4-FFF2-40B4-BE49-F238E27FC236}">
                <a16:creationId xmlns:a16="http://schemas.microsoft.com/office/drawing/2014/main" id="{09AC6B61-CD26-49A6-BC89-9727BDF499E0}"/>
              </a:ext>
            </a:extLst>
          </p:cNvPr>
          <p:cNvSpPr txBox="1">
            <a:spLocks/>
          </p:cNvSpPr>
          <p:nvPr/>
        </p:nvSpPr>
        <p:spPr>
          <a:xfrm>
            <a:off x="549490" y="663824"/>
            <a:ext cx="6999964" cy="238180"/>
          </a:xfrm>
          <a:prstGeom prst="rect">
            <a:avLst/>
          </a:prstGeom>
        </p:spPr>
        <p:txBody>
          <a:bodyPr anchor="ctr"/>
          <a:lstStyle>
            <a:lvl1pPr marL="0" indent="0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None/>
              <a:tabLst/>
              <a:defRPr sz="1600" b="0" kern="1200">
                <a:solidFill>
                  <a:srgbClr val="003E51"/>
                </a:solidFill>
                <a:latin typeface="Muli" panose="00000500000000000000" pitchFamily="2" charset="0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Riscos e </a:t>
            </a:r>
            <a:r>
              <a:rPr kumimoji="0" lang="pt-PT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Issues</a:t>
            </a:r>
            <a:endParaRPr kumimoji="0" lang="pt-PT" sz="16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D9A007-2076-434E-9443-413CAB9A9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5" y="1705888"/>
            <a:ext cx="954338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Tipo de impacto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D20F415D-1EDC-4314-9A6F-9CEDE78E15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1705888"/>
            <a:ext cx="188586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Descrição</a:t>
            </a:r>
          </a:p>
        </p:txBody>
      </p:sp>
      <p:sp>
        <p:nvSpPr>
          <p:cNvPr id="4" name="Rectangle 23">
            <a:extLst>
              <a:ext uri="{FF2B5EF4-FFF2-40B4-BE49-F238E27FC236}">
                <a16:creationId xmlns:a16="http://schemas.microsoft.com/office/drawing/2014/main" id="{CC982C70-ACC8-4597-8973-E6D2E923B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1705888"/>
            <a:ext cx="2686112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Impacto</a:t>
            </a:r>
          </a:p>
        </p:txBody>
      </p:sp>
      <p:sp>
        <p:nvSpPr>
          <p:cNvPr id="6" name="Rectangle 25">
            <a:extLst>
              <a:ext uri="{FF2B5EF4-FFF2-40B4-BE49-F238E27FC236}">
                <a16:creationId xmlns:a16="http://schemas.microsoft.com/office/drawing/2014/main" id="{4B98099B-9BC1-4802-8974-B3603A052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1705888"/>
            <a:ext cx="2007053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Medida de mitigação</a:t>
            </a:r>
          </a:p>
        </p:txBody>
      </p:sp>
      <p:sp>
        <p:nvSpPr>
          <p:cNvPr id="8" name="Rectangle 26">
            <a:extLst>
              <a:ext uri="{FF2B5EF4-FFF2-40B4-BE49-F238E27FC236}">
                <a16:creationId xmlns:a16="http://schemas.microsoft.com/office/drawing/2014/main" id="{56CE09CC-2821-420F-AF6F-BE5831FAB2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3" y="1705888"/>
            <a:ext cx="725946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Nível de impacto</a:t>
            </a:r>
          </a:p>
        </p:txBody>
      </p:sp>
      <p:sp>
        <p:nvSpPr>
          <p:cNvPr id="15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218059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16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218059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Imóveis Adjudicados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217699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Corporativo. – A aguardar entrega de calendário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217699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2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217699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217699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4" name="Rectangle 25">
            <a:extLst>
              <a:ext uri="{FF2B5EF4-FFF2-40B4-BE49-F238E27FC236}">
                <a16:creationId xmlns:a16="http://schemas.microsoft.com/office/drawing/2014/main" id="{82D1FAD0-5C7D-6A0E-4E3E-A04A7E54B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1705888"/>
            <a:ext cx="1075140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Estado / Conclusão</a:t>
            </a:r>
          </a:p>
        </p:txBody>
      </p:sp>
      <p:sp>
        <p:nvSpPr>
          <p:cNvPr id="30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noProof="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000" b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</a:p>
          <a:p>
            <a:pPr defTabSz="412629"/>
            <a:r>
              <a:rPr kumimoji="0" lang="pt-PT" sz="1000" b="1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abril</a:t>
            </a:r>
            <a:endParaRPr kumimoji="0" lang="pt-PT" sz="1000" b="1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3" name="Rectangle 25">
            <a:extLst>
              <a:ext uri="{FF2B5EF4-FFF2-40B4-BE49-F238E27FC236}">
                <a16:creationId xmlns:a16="http://schemas.microsoft.com/office/drawing/2014/main" id="{9A133E12-D2DA-658A-F057-44EDEE6345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Abertura</a:t>
            </a:r>
          </a:p>
        </p:txBody>
      </p:sp>
      <p:sp>
        <p:nvSpPr>
          <p:cNvPr id="40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217699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42" name="Rectangle 25">
            <a:extLst>
              <a:ext uri="{FF2B5EF4-FFF2-40B4-BE49-F238E27FC236}">
                <a16:creationId xmlns:a16="http://schemas.microsoft.com/office/drawing/2014/main" id="{B745728B-05A0-EA3C-AC4C-0DBDF1C09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2" y="1705888"/>
            <a:ext cx="877271" cy="409212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F363ED70-21A4-44CD-ABA0-1E46C337981E}"/>
              </a:ext>
            </a:extLst>
          </p:cNvPr>
          <p:cNvSpPr txBox="1">
            <a:spLocks/>
          </p:cNvSpPr>
          <p:nvPr/>
        </p:nvSpPr>
        <p:spPr>
          <a:xfrm>
            <a:off x="291099" y="6372639"/>
            <a:ext cx="10753074" cy="22775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838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1" u="none" strike="noStrike" kern="1200" cap="none" spc="0" normalizeH="0" baseline="3000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1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Atividade com </a:t>
            </a:r>
            <a:r>
              <a:rPr lang="pt-PT" sz="80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ownership</a:t>
            </a:r>
            <a:r>
              <a:rPr lang="pt-PT" sz="80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Banco </a:t>
            </a:r>
            <a:r>
              <a:rPr lang="pt-PT" sz="80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Santander e Tecnologia.</a:t>
            </a:r>
            <a:endParaRPr kumimoji="0" lang="pt-PT" sz="800" b="0" i="0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Muli Light"/>
            </a:endParaRPr>
          </a:p>
        </p:txBody>
      </p:sp>
      <p:sp>
        <p:nvSpPr>
          <p:cNvPr id="23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6" y="3074075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8" y="3074076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Emissões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financiadas</a:t>
            </a:r>
          </a:p>
        </p:txBody>
      </p:sp>
      <p:sp>
        <p:nvSpPr>
          <p:cNvPr id="25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7" y="3070480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8" y="3070480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7" y="3070481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28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5" y="3070480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9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31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44" y="3070480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  <p:sp>
        <p:nvSpPr>
          <p:cNvPr id="32" name="Rectangle 25">
            <a:extLst>
              <a:ext uri="{FF2B5EF4-FFF2-40B4-BE49-F238E27FC236}">
                <a16:creationId xmlns:a16="http://schemas.microsoft.com/office/drawing/2014/main" id="{D2C2F4A1-4D98-4A99-9DB2-497E6CEB7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1131" y="3976240"/>
            <a:ext cx="9543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marL="0" marR="0" lvl="0" indent="0" algn="ctr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b="0" i="0" u="none" strike="noStrike" kern="0" cap="none" spc="0" normalizeH="0" baseline="0" noProof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Tarefas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3C193AE-EED8-440A-8458-F8D9C9665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093" y="3976241"/>
            <a:ext cx="1885863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36000" tIns="36000" rIns="36000" bIns="36000" anchor="ctr"/>
          <a:lstStyle/>
          <a:p>
            <a:pPr lvl="0"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Disponibilização da tabela de parametrização de Universo - ag801_param_satel_univ</a:t>
            </a:r>
          </a:p>
        </p:txBody>
      </p:sp>
      <p:sp>
        <p:nvSpPr>
          <p:cNvPr id="36" name="Rectangle 23">
            <a:extLst>
              <a:ext uri="{FF2B5EF4-FFF2-40B4-BE49-F238E27FC236}">
                <a16:creationId xmlns:a16="http://schemas.microsoft.com/office/drawing/2014/main" id="{C9760DFB-850B-446D-A564-0D9F5205F4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9642" y="3972645"/>
            <a:ext cx="268611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72000" tIns="36000" rIns="72000" bIns="36000" anchor="ctr"/>
          <a:lstStyle/>
          <a:p>
            <a:pPr lvl="0" algn="l" defTabSz="412629">
              <a:spcBef>
                <a:spcPts val="600"/>
              </a:spcBef>
              <a:defRPr/>
            </a:pP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não receção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 informação no </a:t>
            </a:r>
            <a:r>
              <a:rPr lang="pt-PT" sz="1050" i="1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</a:t>
            </a:r>
            <a:r>
              <a:rPr lang="pt-PT" sz="1050" i="1" dirty="0" err="1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Lake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poderá impactar os reportes Local e Corporativo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– A aguardar entrega de calendário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1492F7E-F7A0-4E85-8FC1-862D9C8BA9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0053" y="3972645"/>
            <a:ext cx="2007052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50" u="none" strike="noStrike" kern="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Definir</a:t>
            </a:r>
            <a:r>
              <a:rPr kumimoji="0" lang="pt-PT" sz="1050" u="none" strike="noStrike" kern="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metodologia alternativa de aprovisionamento da informação.</a:t>
            </a:r>
            <a:endParaRPr kumimoji="0" lang="pt-PT" sz="1050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38" name="Rectangle 558">
            <a:extLst>
              <a:ext uri="{FF2B5EF4-FFF2-40B4-BE49-F238E27FC236}">
                <a16:creationId xmlns:a16="http://schemas.microsoft.com/office/drawing/2014/main" id="{432BD16A-511A-4A9A-B13B-41D8B4D93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9932" y="3972646"/>
            <a:ext cx="725946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rnd" algn="ctr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</p:spPr>
        <p:txBody>
          <a:bodyPr lIns="0" tIns="0" rIns="0" bIns="0" anchor="ctr" anchorCtr="1"/>
          <a:lstStyle/>
          <a:p>
            <a:pPr marL="12700" lvl="0" indent="-12700">
              <a:defRPr/>
            </a:pPr>
            <a:r>
              <a:rPr lang="pt-PT" sz="104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Alto</a:t>
            </a:r>
          </a:p>
        </p:txBody>
      </p:sp>
      <p:sp>
        <p:nvSpPr>
          <p:cNvPr id="39" name="Rectangle 25">
            <a:extLst>
              <a:ext uri="{FF2B5EF4-FFF2-40B4-BE49-F238E27FC236}">
                <a16:creationId xmlns:a16="http://schemas.microsoft.com/office/drawing/2014/main" id="{488958EA-39C6-AD50-DC90-E4641279C5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1280" y="3972645"/>
            <a:ext cx="1075139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>
              <a:spcBef>
                <a:spcPts val="600"/>
              </a:spcBef>
            </a:pPr>
            <a:r>
              <a:rPr kumimoji="0" lang="pt-PT" sz="105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Aberto</a:t>
            </a:r>
            <a:r>
              <a:rPr kumimoji="0" lang="pt-PT" sz="1050" b="1" u="none" strike="noStrike" kern="1200" cap="none" spc="0" normalizeH="0" baseline="3000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endParaRPr kumimoji="0" lang="pt-PT" sz="1050" b="1" i="1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41" name="Rectangle 25">
            <a:extLst>
              <a:ext uri="{FF2B5EF4-FFF2-40B4-BE49-F238E27FC236}">
                <a16:creationId xmlns:a16="http://schemas.microsoft.com/office/drawing/2014/main" id="{61557572-BD4A-B8F8-5DE8-F1AAC466F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70594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defTabSz="412629"/>
            <a:r>
              <a:rPr lang="pt-PT" sz="100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 </a:t>
            </a:r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</a:p>
          <a:p>
            <a:pPr defTabSz="412629"/>
            <a:r>
              <a:rPr lang="pt-PT" sz="10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abril</a:t>
            </a:r>
          </a:p>
        </p:txBody>
      </p:sp>
      <p:sp>
        <p:nvSpPr>
          <p:cNvPr id="43" name="Rectangle 25">
            <a:extLst>
              <a:ext uri="{FF2B5EF4-FFF2-40B4-BE49-F238E27FC236}">
                <a16:creationId xmlns:a16="http://schemas.microsoft.com/office/drawing/2014/main" id="{0111535E-E8BD-B3F4-84D7-B43145794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2039" y="3972645"/>
            <a:ext cx="877270" cy="8244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algn="ctr">
            <a:solidFill>
              <a:schemeClr val="bg1">
                <a:lumMod val="85000"/>
              </a:schemeClr>
            </a:solidFill>
            <a:miter lim="800000"/>
            <a:headEnd/>
            <a:tailEnd/>
          </a:ln>
        </p:spPr>
        <p:txBody>
          <a:bodyPr lIns="108000" tIns="36000" rIns="108000" bIns="36000" anchor="ctr"/>
          <a:lstStyle/>
          <a:p>
            <a:pPr marL="0" marR="0" lvl="0" indent="0" defTabSz="405568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000" b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-</a:t>
            </a:r>
          </a:p>
        </p:txBody>
      </p:sp>
    </p:spTree>
    <p:extLst>
      <p:ext uri="{BB962C8B-B14F-4D97-AF65-F5344CB8AC3E}">
        <p14:creationId xmlns:p14="http://schemas.microsoft.com/office/powerpoint/2010/main" val="3471480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31AD5EB-AEE4-46F1-B1D9-0B05ED8544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PT">
                <a:latin typeface="Arial" panose="020B0604020202020204" pitchFamily="34" charset="0"/>
                <a:cs typeface="Arial" panose="020B0604020202020204" pitchFamily="34" charset="0"/>
              </a:rPr>
              <a:t>Próximos Passos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613DC-8C22-4792-B7B7-D93AD418CD67}"/>
              </a:ext>
            </a:extLst>
          </p:cNvPr>
          <p:cNvSpPr txBox="1">
            <a:spLocks/>
          </p:cNvSpPr>
          <p:nvPr/>
        </p:nvSpPr>
        <p:spPr>
          <a:xfrm>
            <a:off x="609521" y="1171192"/>
            <a:ext cx="9433718" cy="391271"/>
          </a:xfrm>
          <a:prstGeom prst="rect">
            <a:avLst/>
          </a:prstGeom>
        </p:spPr>
        <p:txBody>
          <a:bodyPr/>
          <a:lstStyle>
            <a:lvl1pPr marL="111374" indent="-111374" algn="l" defTabSz="445496" rtl="0" eaLnBrk="1" latinLnBrk="0" hangingPunct="1">
              <a:lnSpc>
                <a:spcPct val="90000"/>
              </a:lnSpc>
              <a:spcBef>
                <a:spcPts val="487"/>
              </a:spcBef>
              <a:buFont typeface="Arial" panose="020B0604020202020204" pitchFamily="34" charset="0"/>
              <a:buChar char="•"/>
              <a:defRPr sz="136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34122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116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56870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97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7961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02365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25113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47861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70609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93357" indent="-111374" algn="l" defTabSz="445496" rtl="0" eaLnBrk="1" latinLnBrk="0" hangingPunct="1">
              <a:lnSpc>
                <a:spcPct val="90000"/>
              </a:lnSpc>
              <a:spcBef>
                <a:spcPts val="244"/>
              </a:spcBef>
              <a:buFont typeface="Arial" panose="020B0604020202020204" pitchFamily="34" charset="0"/>
              <a:buChar char="•"/>
              <a:defRPr sz="87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45496" rtl="0" eaLnBrk="1" fontAlgn="auto" latinLnBrk="0" hangingPunct="1">
              <a:lnSpc>
                <a:spcPct val="90000"/>
              </a:lnSpc>
              <a:spcBef>
                <a:spcPts val="487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Apresentamos em seguida as próximas atividades a desenvolver até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19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de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junho</a:t>
            </a:r>
            <a:r>
              <a:rPr kumimoji="0" lang="pt-PT" sz="12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 </a:t>
            </a:r>
            <a:r>
              <a:rPr kumimoji="0" lang="pt-PT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e </a:t>
            </a:r>
            <a:r>
              <a:rPr kumimoji="0" lang="pt-PT" sz="1200" b="0" i="0" u="none" strike="noStrike" kern="120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Helvetica Light"/>
              </a:rPr>
              <a:t>respetivos responsáveis:</a:t>
            </a:r>
          </a:p>
        </p:txBody>
      </p:sp>
      <p:sp>
        <p:nvSpPr>
          <p:cNvPr id="33" name="Arrow: Chevron 44">
            <a:extLst>
              <a:ext uri="{FF2B5EF4-FFF2-40B4-BE49-F238E27FC236}">
                <a16:creationId xmlns:a16="http://schemas.microsoft.com/office/drawing/2014/main" id="{5A5775D3-8E92-4882-941D-C9B8227FAFF4}"/>
              </a:ext>
            </a:extLst>
          </p:cNvPr>
          <p:cNvSpPr/>
          <p:nvPr/>
        </p:nvSpPr>
        <p:spPr>
          <a:xfrm>
            <a:off x="2551302" y="1637465"/>
            <a:ext cx="5992802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 dirty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Atividades – </a:t>
            </a:r>
            <a:r>
              <a:rPr lang="pt-PT" sz="1200" b="1" dirty="0" smtClean="0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5 de junho até 19 de junho</a:t>
            </a:r>
            <a:endParaRPr lang="pt-PT" sz="1200" b="1" dirty="0">
              <a:solidFill>
                <a:srgbClr val="FFFFFF"/>
              </a:solidFill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</a:endParaRPr>
          </a:p>
        </p:txBody>
      </p:sp>
      <p:sp>
        <p:nvSpPr>
          <p:cNvPr id="34" name="AutoShape 3">
            <a:extLst>
              <a:ext uri="{FF2B5EF4-FFF2-40B4-BE49-F238E27FC236}">
                <a16:creationId xmlns:a16="http://schemas.microsoft.com/office/drawing/2014/main" id="{C1FFD409-2011-4857-90A4-E2154DEE9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1637465"/>
            <a:ext cx="468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defTabSz="914400">
              <a:lnSpc>
                <a:spcPct val="110000"/>
              </a:lnSpc>
            </a:pPr>
            <a:r>
              <a:rPr lang="pt-PT" b="1">
                <a:solidFill>
                  <a:srgbClr val="FFFFFF"/>
                </a:solidFill>
                <a:ea typeface="Tahoma" pitchFamily="34" charset="0"/>
                <a:cs typeface="Arial" panose="020B0604020202020204" pitchFamily="34" charset="0"/>
              </a:rPr>
              <a:t>ID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433DBD-871D-4043-80CB-036A2C5E7F08}"/>
              </a:ext>
            </a:extLst>
          </p:cNvPr>
          <p:cNvSpPr/>
          <p:nvPr/>
        </p:nvSpPr>
        <p:spPr>
          <a:xfrm>
            <a:off x="8614080" y="1637465"/>
            <a:ext cx="1175223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Responsável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F1DEE07-3067-4608-8BF8-13B17BB0FA37}"/>
              </a:ext>
            </a:extLst>
          </p:cNvPr>
          <p:cNvSpPr/>
          <p:nvPr/>
        </p:nvSpPr>
        <p:spPr>
          <a:xfrm>
            <a:off x="9865535" y="1637465"/>
            <a:ext cx="1584000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marL="0" marR="0" lvl="0" indent="0" algn="ctr" defTabSz="914400" rtl="0" eaLnBrk="0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PT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  <a:sym typeface="Helvetica Light"/>
              </a:rPr>
              <a:t>Data Fecho</a:t>
            </a:r>
            <a:endParaRPr kumimoji="0" lang="pt-PT" sz="1200" b="1" i="0" u="none" strike="noStrike" kern="0" cap="none" spc="0" normalizeH="0" baseline="3000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Tahoma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76" name="Text Placeholder 224">
            <a:extLst>
              <a:ext uri="{FF2B5EF4-FFF2-40B4-BE49-F238E27FC236}">
                <a16:creationId xmlns:a16="http://schemas.microsoft.com/office/drawing/2014/main" id="{B0531D9A-964F-441F-9D35-2E599A0B89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9490" y="663824"/>
            <a:ext cx="6999964" cy="238180"/>
          </a:xfrm>
        </p:spPr>
        <p:txBody>
          <a:bodyPr/>
          <a:lstStyle/>
          <a:p>
            <a:r>
              <a:rPr lang="pt-PT" dirty="0">
                <a:latin typeface="Arial" panose="020B0604020202020204" pitchFamily="34" charset="0"/>
                <a:cs typeface="Arial" panose="020B0604020202020204" pitchFamily="34" charset="0"/>
              </a:rPr>
              <a:t>Listagem de próximos passos</a:t>
            </a:r>
          </a:p>
        </p:txBody>
      </p:sp>
      <p:sp>
        <p:nvSpPr>
          <p:cNvPr id="96" name="Arrow: Chevron 44">
            <a:extLst>
              <a:ext uri="{FF2B5EF4-FFF2-40B4-BE49-F238E27FC236}">
                <a16:creationId xmlns:a16="http://schemas.microsoft.com/office/drawing/2014/main" id="{6F1384F0-FBB7-4B97-B930-2DCADEAA1C78}"/>
              </a:ext>
            </a:extLst>
          </p:cNvPr>
          <p:cNvSpPr/>
          <p:nvPr/>
        </p:nvSpPr>
        <p:spPr>
          <a:xfrm>
            <a:off x="1091840" y="1637465"/>
            <a:ext cx="1381306" cy="324000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headEnd/>
            <a:tailEnd/>
          </a:ln>
          <a:effectLst/>
        </p:spPr>
        <p:txBody>
          <a:bodyPr lIns="36000" tIns="36000" rIns="36000" bIns="36000" anchor="ctr"/>
          <a:lstStyle/>
          <a:p>
            <a:pPr defTabSz="914400" eaLnBrk="0">
              <a:lnSpc>
                <a:spcPct val="110000"/>
              </a:lnSpc>
            </a:pPr>
            <a:r>
              <a:rPr lang="pt-PT" sz="1200" b="1">
                <a:solidFill>
                  <a:srgbClr val="FFFFFF"/>
                </a:solidFill>
                <a:latin typeface="Arial" panose="020B0604020202020204" pitchFamily="34" charset="0"/>
                <a:ea typeface="Tahoma" pitchFamily="34" charset="0"/>
                <a:cs typeface="Arial" panose="020B0604020202020204" pitchFamily="34" charset="0"/>
              </a:rPr>
              <a:t>Âmbito</a:t>
            </a:r>
          </a:p>
        </p:txBody>
      </p:sp>
      <p:sp>
        <p:nvSpPr>
          <p:cNvPr id="115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02957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Finalização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ao nível 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realização dos paralelos com o reporte tático de dezembro 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029578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</a:t>
            </a:r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 </a:t>
            </a:r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junho</a:t>
            </a:r>
            <a:r>
              <a:rPr lang="pt-PT" sz="1050" b="1" baseline="300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024625"/>
            <a:ext cx="1381306" cy="508953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Templates Locais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02957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1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5" name="Group 4"/>
          <p:cNvGrpSpPr/>
          <p:nvPr/>
        </p:nvGrpSpPr>
        <p:grpSpPr>
          <a:xfrm>
            <a:off x="8620510" y="2029578"/>
            <a:ext cx="1175222" cy="504000"/>
            <a:chOff x="8614080" y="2661881"/>
            <a:chExt cx="1175222" cy="504000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861607CE-6B85-6AEF-28A8-A3189AD80791}"/>
              </a:ext>
            </a:extLst>
          </p:cNvPr>
          <p:cNvSpPr txBox="1">
            <a:spLocks/>
          </p:cNvSpPr>
          <p:nvPr/>
        </p:nvSpPr>
        <p:spPr>
          <a:xfrm>
            <a:off x="999918" y="6531678"/>
            <a:ext cx="9880670" cy="218393"/>
          </a:xfrm>
          <a:prstGeom prst="rect">
            <a:avLst/>
          </a:prstGeom>
        </p:spPr>
        <p:txBody>
          <a:bodyPr wrap="square">
            <a:spAutoFit/>
          </a:bodyPr>
          <a:lstStyle>
            <a:lvl1pPr marL="114267" indent="-114267" algn="l" defTabSz="457066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0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7133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99865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8398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569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5463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13996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42530" indent="-114267" algn="l" defTabSz="457066" rtl="0" eaLnBrk="1" latinLnBrk="0" hangingPunct="1">
              <a:lnSpc>
                <a:spcPct val="90000"/>
              </a:lnSpc>
              <a:spcBef>
                <a:spcPts val="251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6929" rtl="0" eaLnBrk="1" fontAlgn="auto" latinLnBrk="0" hangingPunct="1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pt-PT" sz="800" b="0" i="0" u="none" strike="noStrike" kern="1200" cap="none" spc="0" normalizeH="0" baseline="3000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1</a:t>
            </a:r>
            <a:r>
              <a:rPr kumimoji="0" lang="pt-PT" sz="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O término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 desta atividade é posterior à próxima reunião de </a:t>
            </a:r>
            <a:r>
              <a:rPr kumimoji="0" lang="pt-PT" sz="800" b="0" i="1" u="none" strike="noStrike" kern="1200" cap="none" spc="0" normalizeH="0" noProof="0" dirty="0" err="1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PdS</a:t>
            </a:r>
            <a:r>
              <a:rPr kumimoji="0" lang="pt-PT" sz="800" b="0" i="0" u="none" strike="noStrike" kern="1200" cap="none" spc="0" normalizeH="0" noProof="0" dirty="0" smtClean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  <a:sym typeface="Muli Light"/>
              </a:rPr>
              <a:t>.</a:t>
            </a:r>
            <a:endParaRPr kumimoji="0" lang="pt-PT" sz="800" b="0" i="1" u="none" strike="noStrike" kern="120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Helvetica Light"/>
            </a:endParaRPr>
          </a:p>
        </p:txBody>
      </p:sp>
      <p:sp>
        <p:nvSpPr>
          <p:cNvPr id="27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2596738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Inicio da análise comparativa entre o Satélite 93 e 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exercício tático de dezembro 2024</a:t>
            </a:r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  <a:endParaRPr lang="pt-PT" sz="1050" dirty="0">
              <a:solidFill>
                <a:srgbClr val="003E5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260511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junho</a:t>
            </a:r>
            <a:r>
              <a:rPr lang="pt-PT" sz="1050" b="1" baseline="30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pt-PT" sz="1050" b="1" baseline="300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79C478-E17D-4DD4-92C9-DC2D74F3CBA4}"/>
              </a:ext>
            </a:extLst>
          </p:cNvPr>
          <p:cNvSpPr txBox="1"/>
          <p:nvPr/>
        </p:nvSpPr>
        <p:spPr>
          <a:xfrm>
            <a:off x="1091840" y="2594671"/>
            <a:ext cx="1381306" cy="1064077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txBody>
          <a:bodyPr wrap="square" lIns="18000" rIns="18000" rtlCol="0" anchor="ctr">
            <a:noAutofit/>
          </a:bodyPr>
          <a:lstStyle/>
          <a:p>
            <a:r>
              <a:rPr lang="pt-PT" sz="1050" b="1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Satélites Corporativos</a:t>
            </a:r>
            <a:endParaRPr lang="pt-PT" sz="1050" b="1" i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684" y="2596738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 smtClean="0">
                <a:solidFill>
                  <a:srgbClr val="003E51"/>
                </a:solidFill>
                <a:cs typeface="Arial" panose="020B0604020202020204" pitchFamily="34" charset="0"/>
              </a:rPr>
              <a:t>2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49" name="Group 48"/>
          <p:cNvGrpSpPr/>
          <p:nvPr/>
        </p:nvGrpSpPr>
        <p:grpSpPr>
          <a:xfrm>
            <a:off x="8620510" y="2605111"/>
            <a:ext cx="1175222" cy="504000"/>
            <a:chOff x="8614080" y="2661881"/>
            <a:chExt cx="1175222" cy="504000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51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59" name="Arrow: Chevron 44">
            <a:extLst>
              <a:ext uri="{FF2B5EF4-FFF2-40B4-BE49-F238E27FC236}">
                <a16:creationId xmlns:a16="http://schemas.microsoft.com/office/drawing/2014/main" id="{0C664B67-37F7-4DF9-949F-3D4F6E819FB9}"/>
              </a:ext>
            </a:extLst>
          </p:cNvPr>
          <p:cNvSpPr/>
          <p:nvPr/>
        </p:nvSpPr>
        <p:spPr>
          <a:xfrm>
            <a:off x="2544872" y="3156285"/>
            <a:ext cx="5992802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square" lIns="0" rIns="0" anchor="ctr"/>
          <a:lstStyle/>
          <a:p>
            <a:pPr marL="216000" algn="l"/>
            <a:r>
              <a:rPr lang="pt-PT" sz="1050" dirty="0" smtClean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Continuação 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 </a:t>
            </a:r>
            <a:r>
              <a:rPr lang="pt-PT" sz="1050" i="1" dirty="0" err="1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mapping</a:t>
            </a:r>
            <a:r>
              <a: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conceitos e adaptação dos códigos existentes dos Satélite 93.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370BCD7-C5A2-4BC5-96FB-50084A9E0F73}"/>
              </a:ext>
            </a:extLst>
          </p:cNvPr>
          <p:cNvSpPr/>
          <p:nvPr/>
        </p:nvSpPr>
        <p:spPr>
          <a:xfrm>
            <a:off x="9865535" y="3156451"/>
            <a:ext cx="1583999" cy="504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ffectLst/>
        </p:spPr>
        <p:txBody>
          <a:bodyPr wrap="none" lIns="0" rIns="0" anchor="ctr"/>
          <a:lstStyle/>
          <a:p>
            <a:r>
              <a:rPr lang="pt-PT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 de junho</a:t>
            </a:r>
            <a:r>
              <a: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grpSp>
        <p:nvGrpSpPr>
          <p:cNvPr id="61" name="Group 60"/>
          <p:cNvGrpSpPr/>
          <p:nvPr/>
        </p:nvGrpSpPr>
        <p:grpSpPr>
          <a:xfrm>
            <a:off x="8620510" y="3156451"/>
            <a:ext cx="1175222" cy="504000"/>
            <a:chOff x="8614080" y="2661881"/>
            <a:chExt cx="1175222" cy="504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1134ABFE-2E4D-15AA-D7C3-1A8DD7E7D5C7}"/>
                </a:ext>
              </a:extLst>
            </p:cNvPr>
            <p:cNvSpPr/>
            <p:nvPr/>
          </p:nvSpPr>
          <p:spPr>
            <a:xfrm>
              <a:off x="8614080" y="2661881"/>
              <a:ext cx="117522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endParaRPr lang="pt-PT" sz="105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63" name="Graphic 21">
              <a:extLst>
                <a:ext uri="{FF2B5EF4-FFF2-40B4-BE49-F238E27FC236}">
                  <a16:creationId xmlns:a16="http://schemas.microsoft.com/office/drawing/2014/main" id="{C194935A-565C-FA09-5C89-26F0105F7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8876929" y="2776537"/>
              <a:ext cx="649525" cy="274689"/>
            </a:xfrm>
            <a:prstGeom prst="rect">
              <a:avLst/>
            </a:prstGeom>
          </p:spPr>
        </p:pic>
      </p:grpSp>
      <p:sp>
        <p:nvSpPr>
          <p:cNvPr id="64" name="AutoShape 3">
            <a:extLst>
              <a:ext uri="{FF2B5EF4-FFF2-40B4-BE49-F238E27FC236}">
                <a16:creationId xmlns:a16="http://schemas.microsoft.com/office/drawing/2014/main" id="{0B4CCA65-23C1-7F2C-4907-295194C76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099" y="3156285"/>
            <a:ext cx="468000" cy="504000"/>
          </a:xfrm>
          <a:prstGeom prst="rect">
            <a:avLst/>
          </a:prstGeom>
          <a:solidFill>
            <a:srgbClr val="009FDF">
              <a:lumMod val="20000"/>
              <a:lumOff val="80000"/>
            </a:srgbClr>
          </a:solidFill>
          <a:ln w="3175">
            <a:solidFill>
              <a:schemeClr val="tx1">
                <a:lumMod val="25000"/>
                <a:lumOff val="75000"/>
              </a:schemeClr>
            </a:solidFill>
            <a:miter lim="800000"/>
            <a:headEnd/>
            <a:tailEnd/>
          </a:ln>
          <a:effectLst/>
        </p:spPr>
        <p:txBody>
          <a:bodyPr wrap="none" lIns="45731" rIns="45731" anchor="ctr"/>
          <a:lstStyle>
            <a:lvl1pPr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rgbClr val="FFD200"/>
              </a:buClr>
              <a:buSzPct val="75000"/>
              <a:buFont typeface="Arial" panose="020B0604020202020204" pitchFamily="34" charset="0"/>
              <a:defRPr sz="1400" b="1">
                <a:solidFill>
                  <a:schemeClr val="hlink"/>
                </a:solidFill>
                <a:latin typeface="Arial" panose="020B060402020202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75000"/>
              <a:buFont typeface="Arial" panose="020B0604020202020204" pitchFamily="34" charset="0"/>
              <a:buChar char="►"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58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pt-PT" b="1" i="1" noProof="0" dirty="0">
                <a:solidFill>
                  <a:srgbClr val="003E51"/>
                </a:solidFill>
                <a:cs typeface="Arial" panose="020B0604020202020204" pitchFamily="34" charset="0"/>
              </a:rPr>
              <a:t>3</a:t>
            </a:r>
            <a:endParaRPr kumimoji="0" lang="pt-PT" sz="1200" b="1" i="1" u="none" strike="noStrike" kern="0" cap="none" spc="0" normalizeH="0" baseline="0" noProof="0" dirty="0">
              <a:ln>
                <a:noFill/>
              </a:ln>
              <a:solidFill>
                <a:srgbClr val="003E51"/>
              </a:solidFill>
              <a:effectLst/>
              <a:uLnTx/>
              <a:uFillTx/>
              <a:cs typeface="Arial" panose="020B0604020202020204" pitchFamily="34" charset="0"/>
              <a:sym typeface="Helvetica Light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45684" y="3735365"/>
            <a:ext cx="10903850" cy="1065780"/>
            <a:chOff x="559544" y="3735365"/>
            <a:chExt cx="10903850" cy="1065780"/>
          </a:xfrm>
        </p:grpSpPr>
        <p:sp>
          <p:nvSpPr>
            <p:cNvPr id="54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3737432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 err="1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Re-teste</a:t>
              </a:r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por parte da equipa do projeto à informação disponibilizada relativa a Emissões Financiadas.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374580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junho</a:t>
              </a:r>
              <a:endPara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379C478-E17D-4DD4-92C9-DC2D74F3CBA4}"/>
                </a:ext>
              </a:extLst>
            </p:cNvPr>
            <p:cNvSpPr txBox="1"/>
            <p:nvPr/>
          </p:nvSpPr>
          <p:spPr>
            <a:xfrm>
              <a:off x="1105700" y="3735365"/>
              <a:ext cx="1381306" cy="106407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txBody>
            <a:bodyPr wrap="square" lIns="18000" rIns="18000" rtlCol="0" anchor="ctr">
              <a:noAutofit/>
            </a:bodyPr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Templates </a:t>
              </a:r>
              <a:r>
                <a:rPr lang="pt-PT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Locais &amp; Satélites 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Corporativos</a:t>
              </a:r>
              <a:endParaRPr lang="pt-PT" sz="1050" b="1" i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9544" y="3737432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4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  <p:grpSp>
          <p:nvGrpSpPr>
            <p:cNvPr id="58" name="Group 57"/>
            <p:cNvGrpSpPr/>
            <p:nvPr/>
          </p:nvGrpSpPr>
          <p:grpSpPr>
            <a:xfrm>
              <a:off x="8634370" y="3745805"/>
              <a:ext cx="1175222" cy="504000"/>
              <a:chOff x="8614080" y="2661881"/>
              <a:chExt cx="1175222" cy="504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66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67" name="Arrow: Chevron 44">
              <a:extLst>
                <a:ext uri="{FF2B5EF4-FFF2-40B4-BE49-F238E27FC236}">
                  <a16:creationId xmlns:a16="http://schemas.microsoft.com/office/drawing/2014/main" id="{0C664B67-37F7-4DF9-949F-3D4F6E819FB9}"/>
                </a:ext>
              </a:extLst>
            </p:cNvPr>
            <p:cNvSpPr/>
            <p:nvPr/>
          </p:nvSpPr>
          <p:spPr>
            <a:xfrm>
              <a:off x="2558732" y="4296979"/>
              <a:ext cx="5992802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0" rIns="0" anchor="ctr"/>
            <a:lstStyle/>
            <a:p>
              <a:pPr marL="216000" algn="l"/>
              <a:r>
                <a:rPr lang="pt-PT" sz="1050" dirty="0" smtClean="0">
                  <a:solidFill>
                    <a:srgbClr val="003E5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Conclusão da análise comparativa entre as Emissões Financiadas e a Calculadora de Emissões.</a:t>
              </a:r>
              <a:endParaRPr lang="pt-PT" sz="1050" dirty="0">
                <a:solidFill>
                  <a:srgbClr val="003E5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B370BCD7-C5A2-4BC5-96FB-50084A9E0F73}"/>
                </a:ext>
              </a:extLst>
            </p:cNvPr>
            <p:cNvSpPr/>
            <p:nvPr/>
          </p:nvSpPr>
          <p:spPr>
            <a:xfrm>
              <a:off x="9879395" y="4297145"/>
              <a:ext cx="1583999" cy="504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0" rIns="0" anchor="ctr"/>
            <a:lstStyle/>
            <a:p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13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pt-PT" sz="1050" b="1" dirty="0" smtClean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 junho</a:t>
              </a:r>
              <a:endParaRPr lang="pt-PT" sz="1050" b="1" baseline="30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69" name="Group 68"/>
            <p:cNvGrpSpPr/>
            <p:nvPr/>
          </p:nvGrpSpPr>
          <p:grpSpPr>
            <a:xfrm>
              <a:off x="8634370" y="4297145"/>
              <a:ext cx="1175222" cy="504000"/>
              <a:chOff x="8614080" y="2661881"/>
              <a:chExt cx="1175222" cy="50400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1134ABFE-2E4D-15AA-D7C3-1A8DD7E7D5C7}"/>
                  </a:ext>
                </a:extLst>
              </p:cNvPr>
              <p:cNvSpPr/>
              <p:nvPr/>
            </p:nvSpPr>
            <p:spPr>
              <a:xfrm>
                <a:off x="8614080" y="2661881"/>
                <a:ext cx="1175222" cy="50400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1">
                    <a:lumMod val="8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rIns="0" anchor="ctr"/>
              <a:lstStyle/>
              <a:p>
                <a:endParaRPr lang="pt-PT" sz="1050" b="1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1" name="Graphic 21">
                <a:extLst>
                  <a:ext uri="{FF2B5EF4-FFF2-40B4-BE49-F238E27FC236}">
                    <a16:creationId xmlns:a16="http://schemas.microsoft.com/office/drawing/2014/main" id="{C194935A-565C-FA09-5C89-26F0105F73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8876929" y="2776537"/>
                <a:ext cx="649525" cy="274689"/>
              </a:xfrm>
              <a:prstGeom prst="rect">
                <a:avLst/>
              </a:prstGeom>
            </p:spPr>
          </p:pic>
        </p:grpSp>
        <p:sp>
          <p:nvSpPr>
            <p:cNvPr id="72" name="AutoShape 3">
              <a:extLst>
                <a:ext uri="{FF2B5EF4-FFF2-40B4-BE49-F238E27FC236}">
                  <a16:creationId xmlns:a16="http://schemas.microsoft.com/office/drawing/2014/main" id="{0B4CCA65-23C1-7F2C-4907-295194C761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5959" y="4296979"/>
              <a:ext cx="468000" cy="504000"/>
            </a:xfrm>
            <a:prstGeom prst="rect">
              <a:avLst/>
            </a:prstGeom>
            <a:solidFill>
              <a:srgbClr val="009FDF">
                <a:lumMod val="20000"/>
                <a:lumOff val="80000"/>
              </a:srgbClr>
            </a:solidFill>
            <a:ln w="3175">
              <a:solidFill>
                <a:schemeClr val="tx1">
                  <a:lumMod val="25000"/>
                  <a:lumOff val="75000"/>
                </a:schemeClr>
              </a:solidFill>
              <a:miter lim="800000"/>
              <a:headEnd/>
              <a:tailEnd/>
            </a:ln>
            <a:effectLst/>
          </p:spPr>
          <p:txBody>
            <a:bodyPr wrap="none" lIns="45731" rIns="45731" anchor="ctr"/>
            <a:lstStyle>
              <a:lvl1pPr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rgbClr val="FFD200"/>
                </a:buClr>
                <a:buSzPct val="75000"/>
                <a:buFont typeface="Arial" panose="020B0604020202020204" pitchFamily="34" charset="0"/>
                <a:defRPr sz="1400" b="1">
                  <a:solidFill>
                    <a:schemeClr val="hlink"/>
                  </a:solidFill>
                  <a:latin typeface="Arial" panose="020B0604020202020204" pitchFamily="34" charset="0"/>
                </a:defRPr>
              </a:lvl2pPr>
              <a:lvl3pPr marL="11430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l" eaLnBrk="0" hangingPunct="0">
                <a:spcBef>
                  <a:spcPct val="20000"/>
                </a:spcBef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SzPct val="75000"/>
                <a:buFont typeface="Arial" panose="020B0604020202020204" pitchFamily="34" charset="0"/>
                <a:buChar char="►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583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lang="pt-PT" b="1" i="1" dirty="0">
                  <a:solidFill>
                    <a:srgbClr val="003E51"/>
                  </a:solidFill>
                  <a:cs typeface="Arial" panose="020B0604020202020204" pitchFamily="34" charset="0"/>
                </a:rPr>
                <a:t>5</a:t>
              </a:r>
              <a:endParaRPr kumimoji="0" lang="pt-PT" sz="1200" b="1" i="1" u="none" strike="noStrike" kern="0" cap="none" spc="0" normalizeH="0" baseline="0" noProof="0" dirty="0">
                <a:ln>
                  <a:noFill/>
                </a:ln>
                <a:solidFill>
                  <a:srgbClr val="003E51"/>
                </a:solidFill>
                <a:effectLst/>
                <a:uLnTx/>
                <a:uFillTx/>
                <a:cs typeface="Arial" panose="020B0604020202020204" pitchFamily="34" charset="0"/>
                <a:sym typeface="Helvetica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7214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3935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6.png"/></Relationships>
</file>

<file path=ppt/theme/theme1.xml><?xml version="1.0" encoding="utf-8"?>
<a:theme xmlns:a="http://schemas.openxmlformats.org/drawingml/2006/main" name="1_Neyond_capa1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FE8CC2E2-EC5A-4ADA-A9BD-5E7CAC9ECF29}"/>
    </a:ext>
  </a:extLst>
</a:theme>
</file>

<file path=ppt/theme/theme2.xml><?xml version="1.0" encoding="utf-8"?>
<a:theme xmlns:a="http://schemas.openxmlformats.org/drawingml/2006/main" name="Índice Neyond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1906E1C-C6C7-4E5D-B5C8-1774B51E9F00}"/>
    </a:ext>
  </a:extLst>
</a:theme>
</file>

<file path=ppt/theme/theme3.xml><?xml version="1.0" encoding="utf-8"?>
<a:theme xmlns:a="http://schemas.openxmlformats.org/drawingml/2006/main" name="3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4.xml><?xml version="1.0" encoding="utf-8"?>
<a:theme xmlns:a="http://schemas.openxmlformats.org/drawingml/2006/main" name="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5.xml><?xml version="1.0" encoding="utf-8"?>
<a:theme xmlns:a="http://schemas.openxmlformats.org/drawingml/2006/main" name="2_Neyond_Contracapa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C1061BD2-87EA-410A-9B2B-292C31D2D64C}"/>
    </a:ext>
  </a:extLst>
</a:theme>
</file>

<file path=ppt/theme/theme6.xml><?xml version="1.0" encoding="utf-8"?>
<a:theme xmlns:a="http://schemas.openxmlformats.org/drawingml/2006/main" name="1_Custom Design">
  <a:themeElements>
    <a:clrScheme name="Custom 1">
      <a:dk1>
        <a:srgbClr val="003E51"/>
      </a:dk1>
      <a:lt1>
        <a:sysClr val="window" lastClr="FFFFFF"/>
      </a:lt1>
      <a:dk2>
        <a:srgbClr val="009FDF"/>
      </a:dk2>
      <a:lt2>
        <a:srgbClr val="EBEB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7.xml><?xml version="1.0" encoding="utf-8"?>
<a:theme xmlns:a="http://schemas.openxmlformats.org/drawingml/2006/main" name="2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4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3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5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1.xml><?xml version="1.0" encoding="utf-8"?>
<a:theme xmlns:a="http://schemas.openxmlformats.org/drawingml/2006/main" name="4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2.xml><?xml version="1.0" encoding="utf-8"?>
<a:theme xmlns:a="http://schemas.openxmlformats.org/drawingml/2006/main" name="6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3.xml><?xml version="1.0" encoding="utf-8"?>
<a:theme xmlns:a="http://schemas.openxmlformats.org/drawingml/2006/main" name="6_Neyond_separador">
  <a:themeElements>
    <a:clrScheme name="Neyond_theme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D3C78B26-6D87-4C4A-90FF-EFEC1B2ECD85}"/>
    </a:ext>
  </a:extLst>
</a:theme>
</file>

<file path=ppt/theme/theme14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5.xml><?xml version="1.0" encoding="utf-8"?>
<a:theme xmlns:a="http://schemas.openxmlformats.org/drawingml/2006/main" name="8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9_Custom Design">
  <a:themeElements>
    <a:clrScheme name="Neyond">
      <a:dk1>
        <a:srgbClr val="003E51"/>
      </a:dk1>
      <a:lt1>
        <a:srgbClr val="009FDF"/>
      </a:lt1>
      <a:dk2>
        <a:srgbClr val="EBEBE6"/>
      </a:dk2>
      <a:lt2>
        <a:srgbClr val="FFFFFF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1200" dirty="0" err="1" smtClean="0">
            <a:latin typeface="Muli" panose="000005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10_Custom Design">
  <a:themeElements>
    <a:clrScheme name="Custom 3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8.xml><?xml version="1.0" encoding="utf-8"?>
<a:theme xmlns:a="http://schemas.openxmlformats.org/drawingml/2006/main" name="5_Custom Design">
  <a:themeElements>
    <a:clrScheme name="Neyond SG">
      <a:dk1>
        <a:srgbClr val="003E51"/>
      </a:dk1>
      <a:lt1>
        <a:sysClr val="window" lastClr="FFFFFF"/>
      </a:lt1>
      <a:dk2>
        <a:srgbClr val="009FDF"/>
      </a:dk2>
      <a:lt2>
        <a:srgbClr val="FFFFFF"/>
      </a:lt2>
      <a:accent1>
        <a:srgbClr val="1F497D"/>
      </a:accent1>
      <a:accent2>
        <a:srgbClr val="7F7F7F"/>
      </a:accent2>
      <a:accent3>
        <a:srgbClr val="003E51"/>
      </a:accent3>
      <a:accent4>
        <a:srgbClr val="000000"/>
      </a:accent4>
      <a:accent5>
        <a:srgbClr val="EBEBE6"/>
      </a:accent5>
      <a:accent6>
        <a:srgbClr val="009FDF"/>
      </a:accent6>
      <a:hlink>
        <a:srgbClr val="000000"/>
      </a:hlink>
      <a:folHlink>
        <a:srgbClr val="7F7F7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eyond_Template_PPT v0.3.potx" id="{5E068373-C754-4558-883A-5F23C430DF26}" vid="{8F93F1CC-2886-4A26-AD94-753ACEAFA8F1}"/>
    </a:ext>
  </a:extLst>
</a:theme>
</file>

<file path=ppt/theme/theme19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6322C7A-A30D-41CB-B995-A53DD6D5475F}">
  <we:reference id="wa104178141" version="3.10.0.152" store="en-US" storeType="OMEX"/>
  <we:alternateReferences>
    <we:reference id="wa104178141" version="3.10.0.152" store="WA104178141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B2EC0B2B90E8438FD7BC14926F993E" ma:contentTypeVersion="3" ma:contentTypeDescription="Criar um novo documento." ma:contentTypeScope="" ma:versionID="3b9189e12f11176f5cfcf680d227dc59">
  <xsd:schema xmlns:xsd="http://www.w3.org/2001/XMLSchema" xmlns:xs="http://www.w3.org/2001/XMLSchema" xmlns:p="http://schemas.microsoft.com/office/2006/metadata/properties" xmlns:ns2="572bdb13-c576-4166-8827-65186753b8b5" targetNamespace="http://schemas.microsoft.com/office/2006/metadata/properties" ma:root="true" ma:fieldsID="a19afc087ef3c4e00df32303148ef8c8" ns2:_="">
    <xsd:import namespace="572bdb13-c576-4166-8827-65186753b8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bdb13-c576-4166-8827-65186753b8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277D9-8D10-4CA6-8A09-1C4D05FB1A2A}">
  <ds:schemaRefs>
    <ds:schemaRef ds:uri="http://purl.org/dc/elements/1.1/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572bdb13-c576-4166-8827-65186753b8b5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5D42E87E-16F2-479C-90D0-A9DB593A214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FFB4E95-3E42-446F-B905-3244C3523D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72bdb13-c576-4166-8827-65186753b8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Words>976</Words>
  <Application>Microsoft Office PowerPoint</Application>
  <PresentationFormat>Custom</PresentationFormat>
  <Paragraphs>213</Paragraphs>
  <Slides>9</Slides>
  <Notes>7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18</vt:i4>
      </vt:variant>
      <vt:variant>
        <vt:lpstr>Slide Titles</vt:lpstr>
      </vt:variant>
      <vt:variant>
        <vt:i4>9</vt:i4>
      </vt:variant>
    </vt:vector>
  </HeadingPairs>
  <TitlesOfParts>
    <vt:vector size="38" baseType="lpstr">
      <vt:lpstr>ＭＳ Ｐゴシック</vt:lpstr>
      <vt:lpstr>Abril Fatface</vt:lpstr>
      <vt:lpstr>Arial</vt:lpstr>
      <vt:lpstr>Calibri</vt:lpstr>
      <vt:lpstr>Helvetica Light</vt:lpstr>
      <vt:lpstr>Helvetica Neue</vt:lpstr>
      <vt:lpstr>Muli</vt:lpstr>
      <vt:lpstr>Muli Black</vt:lpstr>
      <vt:lpstr>Muli Bold</vt:lpstr>
      <vt:lpstr>Muli Light</vt:lpstr>
      <vt:lpstr>Tahoma</vt:lpstr>
      <vt:lpstr>1_Neyond_capa1</vt:lpstr>
      <vt:lpstr>Índice Neyond</vt:lpstr>
      <vt:lpstr>3_Neyond_separador</vt:lpstr>
      <vt:lpstr>Custom Design</vt:lpstr>
      <vt:lpstr>2_Neyond_Contracapa</vt:lpstr>
      <vt:lpstr>1_Custom Design</vt:lpstr>
      <vt:lpstr>2_Custom Design</vt:lpstr>
      <vt:lpstr>4_Neyond_separador</vt:lpstr>
      <vt:lpstr>3_Custom Design</vt:lpstr>
      <vt:lpstr>5_Neyond_separador</vt:lpstr>
      <vt:lpstr>4_Custom Design</vt:lpstr>
      <vt:lpstr>6_Custom Design</vt:lpstr>
      <vt:lpstr>6_Neyond_separador</vt:lpstr>
      <vt:lpstr>7_Custom Design</vt:lpstr>
      <vt:lpstr>8_Custom Design</vt:lpstr>
      <vt:lpstr>9_Custom Design</vt:lpstr>
      <vt:lpstr>10_Custom Design</vt:lpstr>
      <vt:lpstr>5_Custom Design</vt:lpstr>
      <vt:lpstr>Implementação Templates Locais &amp; Satélites Corporativos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EuroBic - Add-On - PdS</dc:title>
  <dc:creator>Fonseca, Martim Ferreira</dc:creator>
  <cp:lastModifiedBy>Hélder Filipe Felicidade Fernandes</cp:lastModifiedBy>
  <cp:revision>111</cp:revision>
  <dcterms:created xsi:type="dcterms:W3CDTF">2018-12-07T14:01:11Z</dcterms:created>
  <dcterms:modified xsi:type="dcterms:W3CDTF">2025-06-06T00:15:58Z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0x010100FCB2EC0B2B90E8438FD7BC14926F993E</vt:lpwstr>
  </property>
  <property fmtid="{D5CDD505-2E9C-101B-9397-08002B2CF9AE}" pid="3" name="MSIP_Label_0c2abd79-57a9-4473-8700-c843f76a1e37_Enabled">
    <vt:lpwstr>true</vt:lpwstr>
  </property>
  <property fmtid="{D5CDD505-2E9C-101B-9397-08002B2CF9AE}" pid="4" name="MSIP_Label_0c2abd79-57a9-4473-8700-c843f76a1e37_SetDate">
    <vt:lpwstr>2023-12-21T08:33:00Z</vt:lpwstr>
  </property>
  <property fmtid="{D5CDD505-2E9C-101B-9397-08002B2CF9AE}" pid="5" name="MSIP_Label_0c2abd79-57a9-4473-8700-c843f76a1e37_Method">
    <vt:lpwstr>Privileged</vt:lpwstr>
  </property>
  <property fmtid="{D5CDD505-2E9C-101B-9397-08002B2CF9AE}" pid="6" name="MSIP_Label_0c2abd79-57a9-4473-8700-c843f76a1e37_Name">
    <vt:lpwstr>Internal</vt:lpwstr>
  </property>
  <property fmtid="{D5CDD505-2E9C-101B-9397-08002B2CF9AE}" pid="7" name="MSIP_Label_0c2abd79-57a9-4473-8700-c843f76a1e37_SiteId">
    <vt:lpwstr>35595a02-4d6d-44ac-99e1-f9ab4cd872db</vt:lpwstr>
  </property>
  <property fmtid="{D5CDD505-2E9C-101B-9397-08002B2CF9AE}" pid="8" name="MSIP_Label_0c2abd79-57a9-4473-8700-c843f76a1e37_ActionId">
    <vt:lpwstr>48b6d64e-98e1-465e-9af0-0252a0bd3191</vt:lpwstr>
  </property>
  <property fmtid="{D5CDD505-2E9C-101B-9397-08002B2CF9AE}" pid="9" name="MSIP_Label_0c2abd79-57a9-4473-8700-c843f76a1e37_ContentBits">
    <vt:lpwstr>0</vt:lpwstr>
  </property>
</Properties>
</file>