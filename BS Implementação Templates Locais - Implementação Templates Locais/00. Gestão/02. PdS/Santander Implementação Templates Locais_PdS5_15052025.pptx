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2.xml" ContentType="application/vnd.openxmlformats-officedocument.theme+xml"/>
  <Override PartName="/ppt/slideLayouts/slideLayout26.xml" ContentType="application/vnd.openxmlformats-officedocument.presentationml.slideLayout+xml"/>
  <Override PartName="/ppt/theme/theme1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1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1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7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674" r:id="rId8"/>
    <p:sldMasterId id="2147483710" r:id="rId9"/>
    <p:sldMasterId id="2147483726" r:id="rId10"/>
    <p:sldMasterId id="2147483731" r:id="rId11"/>
    <p:sldMasterId id="2147483733" r:id="rId12"/>
    <p:sldMasterId id="2147483738" r:id="rId13"/>
    <p:sldMasterId id="2147483756" r:id="rId14"/>
    <p:sldMasterId id="2147483760" r:id="rId15"/>
    <p:sldMasterId id="2147483769" r:id="rId16"/>
    <p:sldMasterId id="2147483771" r:id="rId17"/>
    <p:sldMasterId id="2147483778" r:id="rId18"/>
    <p:sldMasterId id="2147483784" r:id="rId19"/>
    <p:sldMasterId id="2147483787" r:id="rId20"/>
    <p:sldMasterId id="2147483792" r:id="rId21"/>
  </p:sldMasterIdLst>
  <p:notesMasterIdLst>
    <p:notesMasterId r:id="rId31"/>
  </p:notesMasterIdLst>
  <p:sldIdLst>
    <p:sldId id="1786" r:id="rId22"/>
    <p:sldId id="258" r:id="rId23"/>
    <p:sldId id="1924" r:id="rId24"/>
    <p:sldId id="3152" r:id="rId25"/>
    <p:sldId id="3153" r:id="rId26"/>
    <p:sldId id="3157" r:id="rId27"/>
    <p:sldId id="3151" r:id="rId28"/>
    <p:sldId id="3158" r:id="rId29"/>
    <p:sldId id="266" r:id="rId30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276" userDrawn="1">
          <p15:clr>
            <a:srgbClr val="A4A3A4"/>
          </p15:clr>
        </p15:guide>
        <p15:guide id="2" pos="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reira, Joao" initials="PJ" lastIdx="117" clrIdx="0">
    <p:extLst>
      <p:ext uri="{19B8F6BF-5375-455C-9EA6-DF929625EA0E}">
        <p15:presenceInfo xmlns:p15="http://schemas.microsoft.com/office/powerpoint/2012/main" userId="S::jpereira@epimetheus.pt::a240beba-fee2-4a23-986d-f8fb809b0673" providerId="AD"/>
      </p:ext>
    </p:extLst>
  </p:cmAuthor>
  <p:cmAuthor id="2" name="Maranga, Luis Miguel" initials="MLM" lastIdx="92" clrIdx="1">
    <p:extLst>
      <p:ext uri="{19B8F6BF-5375-455C-9EA6-DF929625EA0E}">
        <p15:presenceInfo xmlns:p15="http://schemas.microsoft.com/office/powerpoint/2012/main" userId="S::lmaranga@epimetheus.pt::8f3347f3-4e20-4fd2-bf94-7b3d86be4c32" providerId="AD"/>
      </p:ext>
    </p:extLst>
  </p:cmAuthor>
  <p:cmAuthor id="3" name="Vieira, Paulo Neiva" initials="VPN" lastIdx="24" clrIdx="2">
    <p:extLst>
      <p:ext uri="{19B8F6BF-5375-455C-9EA6-DF929625EA0E}">
        <p15:presenceInfo xmlns:p15="http://schemas.microsoft.com/office/powerpoint/2012/main" userId="S::pavieira@epimetheus.pt::c20eadd0-e61a-4ca2-a58c-b88c67a34227" providerId="AD"/>
      </p:ext>
    </p:extLst>
  </p:cmAuthor>
  <p:cmAuthor id="4" name="Cardoso, Nuno Alexandre" initials="CA" lastIdx="4" clrIdx="3">
    <p:extLst>
      <p:ext uri="{19B8F6BF-5375-455C-9EA6-DF929625EA0E}">
        <p15:presenceInfo xmlns:p15="http://schemas.microsoft.com/office/powerpoint/2012/main" userId="S::ncardoso@epimetheus.pt::c8ba9172-f0b5-4f90-bf4b-4e14342d57de" providerId="AD"/>
      </p:ext>
    </p:extLst>
  </p:cmAuthor>
  <p:cmAuthor id="5" name="Godinho, Luis" initials="GL" lastIdx="178" clrIdx="4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6" name="Queiroz, Andre Miguel" initials="QAM" lastIdx="2" clrIdx="5">
    <p:extLst>
      <p:ext uri="{19B8F6BF-5375-455C-9EA6-DF929625EA0E}">
        <p15:presenceInfo xmlns:p15="http://schemas.microsoft.com/office/powerpoint/2012/main" userId="S::aqueiroz@epimetheus.pt::ea6045e6-670f-4468-88e1-84c25e8ccec0" providerId="AD"/>
      </p:ext>
    </p:extLst>
  </p:cmAuthor>
  <p:cmAuthor id="7" name="Amaro, Sandra" initials="AS" lastIdx="62" clrIdx="6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8" name="Goncalves, Sofia Maria" initials="GSM" lastIdx="43" clrIdx="7">
    <p:extLst>
      <p:ext uri="{19B8F6BF-5375-455C-9EA6-DF929625EA0E}">
        <p15:presenceInfo xmlns:p15="http://schemas.microsoft.com/office/powerpoint/2012/main" userId="S::sogoncalves@epimetheus.pt::1e48f094-560d-4059-b8b7-4ac332255dcb" providerId="AD"/>
      </p:ext>
    </p:extLst>
  </p:cmAuthor>
  <p:cmAuthor id="9" name="Sousa, Luis Filipe" initials="SLF" lastIdx="5" clrIdx="8">
    <p:extLst>
      <p:ext uri="{19B8F6BF-5375-455C-9EA6-DF929625EA0E}">
        <p15:presenceInfo xmlns:p15="http://schemas.microsoft.com/office/powerpoint/2012/main" userId="S::lsousa@epimetheus.pt::c000e94c-30eb-4439-a755-c8c777314584" providerId="AD"/>
      </p:ext>
    </p:extLst>
  </p:cmAuthor>
  <p:cmAuthor id="10" name="Ventura, Hugo Miguel" initials="VHM" lastIdx="15" clrIdx="9">
    <p:extLst>
      <p:ext uri="{19B8F6BF-5375-455C-9EA6-DF929625EA0E}">
        <p15:presenceInfo xmlns:p15="http://schemas.microsoft.com/office/powerpoint/2012/main" userId="S::hventura@epimetheus.pt::7f25fc2f-b5e6-4615-bb77-9e7a5745551f" providerId="AD"/>
      </p:ext>
    </p:extLst>
  </p:cmAuthor>
  <p:cmAuthor id="11" name="Cunha, Ricardo Jesus" initials="CRJ" lastIdx="12" clrIdx="10">
    <p:extLst>
      <p:ext uri="{19B8F6BF-5375-455C-9EA6-DF929625EA0E}">
        <p15:presenceInfo xmlns:p15="http://schemas.microsoft.com/office/powerpoint/2012/main" userId="S::ricunha@epimetheus.pt::3a14ff4c-a595-4060-b93a-2caaccc102b9" providerId="AD"/>
      </p:ext>
    </p:extLst>
  </p:cmAuthor>
  <p:cmAuthor id="12" name="Escaleira, Diogo Alexandre" initials="EDA" lastIdx="1" clrIdx="11">
    <p:extLst>
      <p:ext uri="{19B8F6BF-5375-455C-9EA6-DF929625EA0E}">
        <p15:presenceInfo xmlns:p15="http://schemas.microsoft.com/office/powerpoint/2012/main" userId="S::descaleira@epimetheus.pt::72fb12db-bc92-4c43-9b41-3ac15f1f989a" providerId="AD"/>
      </p:ext>
    </p:extLst>
  </p:cmAuthor>
  <p:cmAuthor id="13" name="Ana Rita Geraldo de Caguerelho" initials="ARGdC" lastIdx="6" clrIdx="12">
    <p:extLst>
      <p:ext uri="{19B8F6BF-5375-455C-9EA6-DF929625EA0E}">
        <p15:presenceInfo xmlns:p15="http://schemas.microsoft.com/office/powerpoint/2012/main" userId="S-1-5-21-478741036-1442749419-1446792091-251329" providerId="AD"/>
      </p:ext>
    </p:extLst>
  </p:cmAuthor>
  <p:cmAuthor id="14" name="Henrique Crespo Rodrigues Antunes Correia" initials="HCRAC" lastIdx="3" clrIdx="13">
    <p:extLst>
      <p:ext uri="{19B8F6BF-5375-455C-9EA6-DF929625EA0E}">
        <p15:presenceInfo xmlns:p15="http://schemas.microsoft.com/office/powerpoint/2012/main" userId="S-1-5-21-478741036-1442749419-1446792091-246923" providerId="AD"/>
      </p:ext>
    </p:extLst>
  </p:cmAuthor>
  <p:cmAuthor id="15" name="Diogo Alexandre Escaleira" initials="DAE" lastIdx="6" clrIdx="14">
    <p:extLst>
      <p:ext uri="{19B8F6BF-5375-455C-9EA6-DF929625EA0E}">
        <p15:presenceInfo xmlns:p15="http://schemas.microsoft.com/office/powerpoint/2012/main" userId="S-1-5-21-478741036-1442749419-1446792091-251128" providerId="AD"/>
      </p:ext>
    </p:extLst>
  </p:cmAuthor>
  <p:cmAuthor id="16" name="João Ricardo Galhardo Almeida Costa" initials="JRGAC" lastIdx="2" clrIdx="15">
    <p:extLst>
      <p:ext uri="{19B8F6BF-5375-455C-9EA6-DF929625EA0E}">
        <p15:presenceInfo xmlns:p15="http://schemas.microsoft.com/office/powerpoint/2012/main" userId="S-1-5-21-478741036-1442749419-1446792091-26114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7070"/>
    <a:srgbClr val="8BCD44"/>
    <a:srgbClr val="003E51"/>
    <a:srgbClr val="C00000"/>
    <a:srgbClr val="FFDF79"/>
    <a:srgbClr val="005F7C"/>
    <a:srgbClr val="5F5F5F"/>
    <a:srgbClr val="94E6FF"/>
    <a:srgbClr val="009FDF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75" autoAdjust="0"/>
    <p:restoredTop sz="95012" autoAdjust="0"/>
  </p:normalViewPr>
  <p:slideViewPr>
    <p:cSldViewPr snapToGrid="0">
      <p:cViewPr varScale="1">
        <p:scale>
          <a:sx n="104" d="100"/>
          <a:sy n="104" d="100"/>
        </p:scale>
        <p:origin x="966" y="120"/>
      </p:cViewPr>
      <p:guideLst>
        <p:guide orient="horz" pos="1276"/>
        <p:guide pos="3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5.xml"/><Relationship Id="rId3" Type="http://schemas.openxmlformats.org/officeDocument/2006/relationships/customXml" Target="../customXml/item3.xml"/><Relationship Id="rId21" Type="http://schemas.openxmlformats.org/officeDocument/2006/relationships/slideMaster" Target="slideMasters/slideMaster18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4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slide" Target="slides/slide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3.xml"/><Relationship Id="rId32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2.xml"/><Relationship Id="rId28" Type="http://schemas.openxmlformats.org/officeDocument/2006/relationships/slide" Target="slides/slide7.xml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1.xml"/><Relationship Id="rId27" Type="http://schemas.openxmlformats.org/officeDocument/2006/relationships/slide" Target="slides/slide6.xml"/><Relationship Id="rId30" Type="http://schemas.openxmlformats.org/officeDocument/2006/relationships/slide" Target="slides/slide9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8160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48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0032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00706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41458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19756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84178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8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840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404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6659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665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346" y="2111152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346" y="2485407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110" y="2859900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110" y="3234155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8728" y="3608648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8728" y="3982900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2211" y="2111033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52211" y="2485407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6831" y="2859781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56831" y="323415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1452" y="360852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61452" y="3982900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27767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17840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8650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2407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63374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915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19545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690BFAA-E82F-41A9-8C93-23507FFA76EF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473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84525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356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161964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704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31479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06585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15511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72271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9756690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0737312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3" y="76218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8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109009F-C856-4D9E-8F28-0A0A0C41B4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1" y="1742685"/>
            <a:ext cx="11114228" cy="119169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050">
                <a:solidFill>
                  <a:srgbClr val="003E51"/>
                </a:solidFill>
                <a:latin typeface="Muli Light"/>
                <a:sym typeface="Muli Light"/>
              </a:defRPr>
            </a:lvl1pPr>
          </a:lstStyle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endParaRPr lang="pt-PT"/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8" y="6576344"/>
            <a:ext cx="407894" cy="144067"/>
          </a:xfrm>
          <a:prstGeom prst="rect">
            <a:avLst/>
          </a:prstGeom>
        </p:spPr>
        <p:txBody>
          <a:bodyPr vert="horz" lIns="60951" tIns="30475" rIns="60951" bIns="30475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7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7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5861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4400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48237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084153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563888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803416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8585207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117964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0997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732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95">
            <a:extLst>
              <a:ext uri="{FF2B5EF4-FFF2-40B4-BE49-F238E27FC236}">
                <a16:creationId xmlns:a16="http://schemas.microsoft.com/office/drawing/2014/main" id="{3E295EC7-7F17-482E-BACC-233844E93A82}"/>
              </a:ext>
            </a:extLst>
          </p:cNvPr>
          <p:cNvSpPr/>
          <p:nvPr userDrawn="1"/>
        </p:nvSpPr>
        <p:spPr>
          <a:xfrm>
            <a:off x="343430" y="6484599"/>
            <a:ext cx="5517112" cy="29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4739" tIns="24739" rIns="24739" bIns="24739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</a:lstStyle>
          <a:p>
            <a:r>
              <a:rPr lang="pt-PT" sz="1754"/>
              <a:t>Lisboa . Porto. Madrid</a:t>
            </a:r>
            <a:endParaRPr sz="1754"/>
          </a:p>
        </p:txBody>
      </p:sp>
    </p:spTree>
    <p:extLst>
      <p:ext uri="{BB962C8B-B14F-4D97-AF65-F5344CB8AC3E}">
        <p14:creationId xmlns:p14="http://schemas.microsoft.com/office/powerpoint/2010/main" val="28659881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80830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27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9033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0960900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9616050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461897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95C7139-3DCC-4C1B-897D-5F2CFDE34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4C081C9-B184-4F12-BA9A-7849F1D85D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419A0CB-C986-4C28-AB1F-D0593B544C44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6866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54101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756900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1983199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743140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29206366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5118061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84663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1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7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.png"/><Relationship Id="rId5" Type="http://schemas.openxmlformats.org/officeDocument/2006/relationships/theme" Target="../theme/theme17.xml"/><Relationship Id="rId4" Type="http://schemas.openxmlformats.org/officeDocument/2006/relationships/slideLayout" Target="../slideLayouts/slideLayout41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08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4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99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2346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9108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9" r:id="rId2"/>
    <p:sldLayoutId id="2147483730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5445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6553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6" r:id="rId2"/>
    <p:sldLayoutId id="2147483737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4678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BFC06F-EA62-4716-A2D1-F243BEC47CD3}"/>
              </a:ext>
            </a:extLst>
          </p:cNvPr>
          <p:cNvSpPr/>
          <p:nvPr userDrawn="1"/>
        </p:nvSpPr>
        <p:spPr>
          <a:xfrm>
            <a:off x="9964402" y="6485235"/>
            <a:ext cx="13292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800" kern="1200">
                <a:solidFill>
                  <a:schemeClr val="tx1"/>
                </a:solidFill>
                <a:effectLst/>
                <a:latin typeface="Muli" panose="00000500000000000000" pitchFamily="2" charset="0"/>
                <a:ea typeface="+mn-ea"/>
                <a:cs typeface="Arial" panose="020B0604020202020204" pitchFamily="34" charset="0"/>
              </a:rPr>
              <a:t>N.11.20219012262 v1.1</a:t>
            </a:r>
            <a:endParaRPr lang="pt-PT" sz="800"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34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0978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6562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08811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3285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4060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167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5969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23.svg"/><Relationship Id="rId5" Type="http://schemas.openxmlformats.org/officeDocument/2006/relationships/image" Target="../media/image20.png"/><Relationship Id="rId4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2.xml"/><Relationship Id="rId4" Type="http://schemas.microsoft.com/office/2018/10/relationships/comments" Target="NUL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DFDE417-BE67-403A-8E7B-2F67EBE84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6870674" cy="301892"/>
          </a:xfrm>
        </p:spPr>
        <p:txBody>
          <a:bodyPr/>
          <a:lstStyle/>
          <a:p>
            <a:r>
              <a:rPr lang="pt-PT" dirty="0">
                <a:latin typeface="Arial" panose="020B0604020202020204" pitchFamily="34" charset="0"/>
              </a:rPr>
              <a:t>Ponto de Situação </a:t>
            </a:r>
            <a:r>
              <a:rPr lang="pt-PT" dirty="0" smtClean="0">
                <a:latin typeface="Arial" panose="020B0604020202020204" pitchFamily="34" charset="0"/>
              </a:rPr>
              <a:t>#5</a:t>
            </a:r>
            <a:endParaRPr lang="pt-PT" i="1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EDB14-447D-417D-BB84-48C9F66C8A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pt-PT" dirty="0" smtClean="0">
                <a:latin typeface="Arial" panose="020B0604020202020204" pitchFamily="34" charset="0"/>
              </a:rPr>
              <a:t>15 </a:t>
            </a:r>
            <a:r>
              <a:rPr lang="pt-PT" dirty="0">
                <a:latin typeface="Arial" panose="020B0604020202020204" pitchFamily="34" charset="0"/>
              </a:rPr>
              <a:t>de </a:t>
            </a:r>
            <a:r>
              <a:rPr lang="pt-PT" dirty="0" smtClean="0">
                <a:latin typeface="Arial" panose="020B0604020202020204" pitchFamily="34" charset="0"/>
              </a:rPr>
              <a:t>maio de 2025</a:t>
            </a:r>
            <a:endParaRPr lang="pt-PT" dirty="0">
              <a:latin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9D7301-5192-460C-A18F-7FB195825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076" y="2780694"/>
            <a:ext cx="7498749" cy="900308"/>
          </a:xfrm>
        </p:spPr>
        <p:txBody>
          <a:bodyPr/>
          <a:lstStyle/>
          <a:p>
            <a:r>
              <a:rPr lang="pt-PT" sz="2000" dirty="0" smtClean="0">
                <a:latin typeface="Arial" panose="020B0604020202020204" pitchFamily="34" charset="0"/>
              </a:rPr>
              <a:t>Implementação Templates Locais &amp; Satélites Corporativos</a:t>
            </a:r>
            <a:endParaRPr lang="pt-PT" sz="2000" dirty="0">
              <a:latin typeface="Arial" panose="020B0604020202020204" pitchFamily="34" charset="0"/>
            </a:endParaRPr>
          </a:p>
        </p:txBody>
      </p:sp>
      <p:pic>
        <p:nvPicPr>
          <p:cNvPr id="1026" name="Picture 2" descr="Santander Logo: valor, história, PNG">
            <a:extLst>
              <a:ext uri="{FF2B5EF4-FFF2-40B4-BE49-F238E27FC236}">
                <a16:creationId xmlns:a16="http://schemas.microsoft.com/office/drawing/2014/main" id="{B41535F9-35DB-2473-8C65-3479DB7C1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0" y="5422236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95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E1117D-CBD7-4CD3-A4DB-E3D3350DE2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6" name="Rectangle 53">
            <a:extLst>
              <a:ext uri="{FF2B5EF4-FFF2-40B4-BE49-F238E27FC236}">
                <a16:creationId xmlns:a16="http://schemas.microsoft.com/office/drawing/2014/main" id="{27633E4E-7104-494E-9D8B-7DC965C20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560881"/>
            <a:ext cx="6984776" cy="3799784"/>
          </a:xfrm>
          <a:prstGeom prst="rect">
            <a:avLst/>
          </a:prstGeom>
          <a:noFill/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72000" tIns="36000" rIns="72000" bIns="36000"/>
          <a:lstStyle/>
          <a:p>
            <a:pPr marL="88900" marR="0" lvl="0" indent="0" algn="just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04853" algn="just" defTabSz="1077718" eaLnBrk="0">
              <a:spcBef>
                <a:spcPct val="0"/>
              </a:spcBef>
              <a:spcAft>
                <a:spcPts val="476"/>
              </a:spcAft>
              <a:defRPr/>
            </a:pP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Realização da </a:t>
            </a:r>
            <a:r>
              <a:rPr lang="pt-PT" sz="1100" dirty="0" smtClean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5ª </a:t>
            </a: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reunião de acompanhamento de projeto, de acordo com a seguinte ordem de atividades:</a:t>
            </a:r>
          </a:p>
        </p:txBody>
      </p:sp>
      <p:sp>
        <p:nvSpPr>
          <p:cNvPr id="7" name="Rectangle 54">
            <a:extLst>
              <a:ext uri="{FF2B5EF4-FFF2-40B4-BE49-F238E27FC236}">
                <a16:creationId xmlns:a16="http://schemas.microsoft.com/office/drawing/2014/main" id="{D3FFE2EB-DD03-4F13-B691-855F6CC70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560424"/>
            <a:ext cx="3595569" cy="3799784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numCol="2"/>
          <a:lstStyle/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C3D21F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solidFill>
                <a:srgbClr val="003E51"/>
              </a:solidFill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87313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" name="Rectangle 54">
            <a:extLst>
              <a:ext uri="{FF2B5EF4-FFF2-40B4-BE49-F238E27FC236}">
                <a16:creationId xmlns:a16="http://schemas.microsoft.com/office/drawing/2014/main" id="{15D8C526-E58D-4844-A15C-905928933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270011"/>
            <a:ext cx="6984776" cy="288000"/>
          </a:xfrm>
          <a:prstGeom prst="rect">
            <a:avLst/>
          </a:prstGeom>
          <a:solidFill>
            <a:srgbClr val="003E5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Objetivos</a:t>
            </a:r>
          </a:p>
        </p:txBody>
      </p:sp>
      <p:sp>
        <p:nvSpPr>
          <p:cNvPr id="9" name="Rectangle 54">
            <a:extLst>
              <a:ext uri="{FF2B5EF4-FFF2-40B4-BE49-F238E27FC236}">
                <a16:creationId xmlns:a16="http://schemas.microsoft.com/office/drawing/2014/main" id="{3A558929-AD00-44AD-AEC2-4D0E93AFA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269554"/>
            <a:ext cx="3595569" cy="28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Participantes</a:t>
            </a:r>
          </a:p>
        </p:txBody>
      </p:sp>
      <p:sp>
        <p:nvSpPr>
          <p:cNvPr id="31" name="Rectangle 53">
            <a:extLst>
              <a:ext uri="{FF2B5EF4-FFF2-40B4-BE49-F238E27FC236}">
                <a16:creationId xmlns:a16="http://schemas.microsoft.com/office/drawing/2014/main" id="{487B6253-6564-45E9-9883-00D4FB5C6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000" y="5768268"/>
            <a:ext cx="3456022" cy="285396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12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:00 </a:t>
            </a:r>
            <a:r>
              <a:rPr kumimoji="0" lang="pt-PT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– 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13:00</a:t>
            </a: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2" name="Rectangle 53">
            <a:extLst>
              <a:ext uri="{FF2B5EF4-FFF2-40B4-BE49-F238E27FC236}">
                <a16:creationId xmlns:a16="http://schemas.microsoft.com/office/drawing/2014/main" id="{7CD9833C-0640-421F-85C5-C0408FE1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770433"/>
            <a:ext cx="3456384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15 </a:t>
            </a:r>
            <a:r>
              <a:rPr lang="pt-PT" sz="1000" dirty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de </a:t>
            </a: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maio 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 2025</a:t>
            </a: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Rectangle 53">
            <a:extLst>
              <a:ext uri="{FF2B5EF4-FFF2-40B4-BE49-F238E27FC236}">
                <a16:creationId xmlns:a16="http://schemas.microsoft.com/office/drawing/2014/main" id="{F6DF2307-5D44-46E3-93B3-01FAF6F54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483529"/>
            <a:ext cx="3595569" cy="287337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Local</a:t>
            </a:r>
          </a:p>
        </p:txBody>
      </p:sp>
      <p:sp>
        <p:nvSpPr>
          <p:cNvPr id="34" name="Rectangle 53">
            <a:extLst>
              <a:ext uri="{FF2B5EF4-FFF2-40B4-BE49-F238E27FC236}">
                <a16:creationId xmlns:a16="http://schemas.microsoft.com/office/drawing/2014/main" id="{0A565E87-EBA8-4478-8807-362A8F4B9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768268"/>
            <a:ext cx="3595569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0" tIns="36000" rIns="0" bIns="3600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PT" sz="1000" i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Microsoft Teams </a:t>
            </a:r>
            <a:r>
              <a:rPr lang="pt-PT" sz="1000" i="1" err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Call</a:t>
            </a:r>
            <a:endParaRPr kumimoji="0" lang="pt-PT" sz="10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" name="Rectangle 53">
            <a:extLst>
              <a:ext uri="{FF2B5EF4-FFF2-40B4-BE49-F238E27FC236}">
                <a16:creationId xmlns:a16="http://schemas.microsoft.com/office/drawing/2014/main" id="{A0F59B8D-BAFC-4D64-A266-A80A48DB5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483936"/>
            <a:ext cx="3456384" cy="28733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D32B9F-193D-456F-B10D-46C5107E0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360" y="5485694"/>
            <a:ext cx="3456384" cy="284739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Hora Início - Fim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B6C59664-F150-4886-8873-78A8C7EE5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130601" y="3287068"/>
            <a:ext cx="1188466" cy="50261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1916E43-00E8-4AAD-AB66-E306BF4D9129}"/>
              </a:ext>
            </a:extLst>
          </p:cNvPr>
          <p:cNvGrpSpPr/>
          <p:nvPr/>
        </p:nvGrpSpPr>
        <p:grpSpPr>
          <a:xfrm>
            <a:off x="1185783" y="3120811"/>
            <a:ext cx="5073500" cy="324000"/>
            <a:chOff x="1187752" y="3242607"/>
            <a:chExt cx="5073500" cy="324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605C5F-FD24-4091-A7C9-C05F74228E45}"/>
                </a:ext>
              </a:extLst>
            </p:cNvPr>
            <p:cNvSpPr/>
            <p:nvPr/>
          </p:nvSpPr>
          <p:spPr>
            <a:xfrm>
              <a:off x="1187752" y="3272289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Planeamento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5AED5A5-B1F6-4685-B572-96070B7665D9}"/>
                </a:ext>
              </a:extLst>
            </p:cNvPr>
            <p:cNvSpPr/>
            <p:nvPr/>
          </p:nvSpPr>
          <p:spPr>
            <a:xfrm>
              <a:off x="2481252" y="3272289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Resumo do </a:t>
              </a:r>
              <a:r>
                <a:rPr lang="pt-PT" sz="1000" i="1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status</a:t>
              </a: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das atividades a realizar ao longo do projeto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1BD3468-356B-443F-8186-5B679E995BBE}"/>
                </a:ext>
              </a:extLst>
            </p:cNvPr>
            <p:cNvCxnSpPr/>
            <p:nvPr/>
          </p:nvCxnSpPr>
          <p:spPr>
            <a:xfrm>
              <a:off x="2410502" y="3242607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C8D6F25-667B-4D64-B49F-653A819D33AE}"/>
              </a:ext>
            </a:extLst>
          </p:cNvPr>
          <p:cNvGrpSpPr/>
          <p:nvPr/>
        </p:nvGrpSpPr>
        <p:grpSpPr>
          <a:xfrm>
            <a:off x="1185783" y="4746782"/>
            <a:ext cx="5073500" cy="324000"/>
            <a:chOff x="1185783" y="4289890"/>
            <a:chExt cx="5073500" cy="324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4D43095-8AA4-4821-B289-361FBCD35E66}"/>
                </a:ext>
              </a:extLst>
            </p:cNvPr>
            <p:cNvSpPr/>
            <p:nvPr/>
          </p:nvSpPr>
          <p:spPr>
            <a:xfrm>
              <a:off x="1185783" y="4319571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Próximos Passos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92D3BCA-9A35-4706-BB3E-697EA65D690A}"/>
                </a:ext>
              </a:extLst>
            </p:cNvPr>
            <p:cNvSpPr/>
            <p:nvPr/>
          </p:nvSpPr>
          <p:spPr>
            <a:xfrm>
              <a:off x="2479283" y="4319571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Identificação das próximas atividades a desenvolver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E93767-3839-411B-A61B-40FD60B12553}"/>
                </a:ext>
              </a:extLst>
            </p:cNvPr>
            <p:cNvCxnSpPr/>
            <p:nvPr/>
          </p:nvCxnSpPr>
          <p:spPr>
            <a:xfrm>
              <a:off x="2408533" y="4289890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C98F0DD-2292-49EB-ABC6-2CB6D81D48D3}"/>
              </a:ext>
            </a:extLst>
          </p:cNvPr>
          <p:cNvGrpSpPr/>
          <p:nvPr/>
        </p:nvGrpSpPr>
        <p:grpSpPr>
          <a:xfrm>
            <a:off x="1185783" y="3933797"/>
            <a:ext cx="5073500" cy="324000"/>
            <a:chOff x="1185783" y="3791408"/>
            <a:chExt cx="5073500" cy="324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BE05A05-1DA4-4ACD-B9BA-368B042EC2E4}"/>
                </a:ext>
              </a:extLst>
            </p:cNvPr>
            <p:cNvSpPr/>
            <p:nvPr/>
          </p:nvSpPr>
          <p:spPr>
            <a:xfrm>
              <a:off x="1185783" y="3821089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Esclarecimentos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E429228-8794-4E96-B932-C8831B0D6C7B}"/>
                </a:ext>
              </a:extLst>
            </p:cNvPr>
            <p:cNvSpPr/>
            <p:nvPr/>
          </p:nvSpPr>
          <p:spPr>
            <a:xfrm>
              <a:off x="2479283" y="3821089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marL="0" marR="0" lvl="0" indent="0" algn="l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Definição / discussão de temas identificados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DDA7C09-7720-4321-B9C0-A674A42CA489}"/>
                </a:ext>
              </a:extLst>
            </p:cNvPr>
            <p:cNvCxnSpPr/>
            <p:nvPr/>
          </p:nvCxnSpPr>
          <p:spPr>
            <a:xfrm>
              <a:off x="2408533" y="3791408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15F32F-6EBC-43CC-BBE5-56B4AD7B8010}"/>
              </a:ext>
            </a:extLst>
          </p:cNvPr>
          <p:cNvGrpSpPr/>
          <p:nvPr/>
        </p:nvGrpSpPr>
        <p:grpSpPr>
          <a:xfrm>
            <a:off x="1185783" y="2307825"/>
            <a:ext cx="5073500" cy="324000"/>
            <a:chOff x="1187752" y="2545149"/>
            <a:chExt cx="5073500" cy="324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631F8B1-E329-468A-9C14-84D90F695609}"/>
                </a:ext>
              </a:extLst>
            </p:cNvPr>
            <p:cNvSpPr/>
            <p:nvPr/>
          </p:nvSpPr>
          <p:spPr>
            <a:xfrm>
              <a:off x="1187752" y="2574831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Sumário </a:t>
              </a:r>
            </a:p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Executivo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870518A-CC29-4C64-8C31-867BDBBC4DC6}"/>
                </a:ext>
              </a:extLst>
            </p:cNvPr>
            <p:cNvSpPr/>
            <p:nvPr/>
          </p:nvSpPr>
          <p:spPr>
            <a:xfrm>
              <a:off x="2481252" y="2574831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Visão global sobre evolução da execução do projeto, riscos e dependências principais</a:t>
              </a:r>
              <a:endParaRPr lang="pt-PT" sz="1000" i="1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917CF51-27B9-4A3D-B8D1-FB3BEDB05936}"/>
                </a:ext>
              </a:extLst>
            </p:cNvPr>
            <p:cNvCxnSpPr/>
            <p:nvPr/>
          </p:nvCxnSpPr>
          <p:spPr>
            <a:xfrm>
              <a:off x="2410502" y="2545149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2" descr="Santander Logo: valor, história, PNG">
            <a:extLst>
              <a:ext uri="{FF2B5EF4-FFF2-40B4-BE49-F238E27FC236}">
                <a16:creationId xmlns:a16="http://schemas.microsoft.com/office/drawing/2014/main" id="{53364168-FA32-F00E-A1B1-C3E02A43A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013" y="1437103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9B73E2-1AB7-292B-963E-ED0B0745789E}"/>
              </a:ext>
            </a:extLst>
          </p:cNvPr>
          <p:cNvSpPr txBox="1"/>
          <p:nvPr/>
        </p:nvSpPr>
        <p:spPr>
          <a:xfrm>
            <a:off x="8143000" y="2293166"/>
            <a:ext cx="3244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Susana </a:t>
            </a:r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Bernardo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85C88-438F-B557-E685-B9BBD82B1C1A}"/>
              </a:ext>
            </a:extLst>
          </p:cNvPr>
          <p:cNvSpPr txBox="1"/>
          <p:nvPr/>
        </p:nvSpPr>
        <p:spPr>
          <a:xfrm>
            <a:off x="8143000" y="3996119"/>
            <a:ext cx="324439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Diogo Escaleira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Hélder Fernandes</a:t>
            </a:r>
          </a:p>
          <a:p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Pedro Natário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João Galhardo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58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5B62A-73E6-47B4-9EB4-F4B966E47D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Sumário Executivo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F2D0AE-D308-4F38-8820-C70A2A1656F6}"/>
              </a:ext>
            </a:extLst>
          </p:cNvPr>
          <p:cNvGrpSpPr/>
          <p:nvPr/>
        </p:nvGrpSpPr>
        <p:grpSpPr>
          <a:xfrm>
            <a:off x="4311926" y="6178291"/>
            <a:ext cx="3566561" cy="536504"/>
            <a:chOff x="7252834" y="5891389"/>
            <a:chExt cx="3566561" cy="53650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9EFBAE9-1B28-4DAD-90FA-813654A968B1}"/>
                </a:ext>
              </a:extLst>
            </p:cNvPr>
            <p:cNvSpPr/>
            <p:nvPr/>
          </p:nvSpPr>
          <p:spPr>
            <a:xfrm>
              <a:off x="7252834" y="6208943"/>
              <a:ext cx="188926" cy="18892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D11BD45-287A-4465-A5D1-02ABE03418BC}"/>
                </a:ext>
              </a:extLst>
            </p:cNvPr>
            <p:cNvSpPr txBox="1"/>
            <p:nvPr/>
          </p:nvSpPr>
          <p:spPr>
            <a:xfrm>
              <a:off x="7385145" y="6197061"/>
              <a:ext cx="928459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Sem impactos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928C99D-7896-432E-9208-322C22992C67}"/>
                </a:ext>
              </a:extLst>
            </p:cNvPr>
            <p:cNvSpPr/>
            <p:nvPr/>
          </p:nvSpPr>
          <p:spPr>
            <a:xfrm>
              <a:off x="8275298" y="6208943"/>
              <a:ext cx="188926" cy="188926"/>
            </a:xfrm>
            <a:prstGeom prst="ellipse">
              <a:avLst/>
            </a:prstGeom>
            <a:solidFill>
              <a:srgbClr val="FFBF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3BE222-478C-4D2B-B77A-03A3D331FCFA}"/>
                </a:ext>
              </a:extLst>
            </p:cNvPr>
            <p:cNvSpPr txBox="1"/>
            <p:nvPr/>
          </p:nvSpPr>
          <p:spPr>
            <a:xfrm>
              <a:off x="8400395" y="6197061"/>
              <a:ext cx="108074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Risco de impacto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5E22654-130B-4944-AA44-EEA54C3122F0}"/>
                </a:ext>
              </a:extLst>
            </p:cNvPr>
            <p:cNvSpPr/>
            <p:nvPr/>
          </p:nvSpPr>
          <p:spPr>
            <a:xfrm>
              <a:off x="9435620" y="6203931"/>
              <a:ext cx="188926" cy="188926"/>
            </a:xfrm>
            <a:prstGeom prst="ellipse">
              <a:avLst/>
            </a:prstGeom>
            <a:solidFill>
              <a:srgbClr val="EE2429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D79E60-0396-4E00-9822-B853EE35BF6C}"/>
                </a:ext>
              </a:extLst>
            </p:cNvPr>
            <p:cNvSpPr txBox="1"/>
            <p:nvPr/>
          </p:nvSpPr>
          <p:spPr>
            <a:xfrm>
              <a:off x="9554305" y="6192049"/>
              <a:ext cx="1265090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Impactos verificados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CFDA3B2-F780-460D-B318-DAB70D67F536}"/>
                </a:ext>
              </a:extLst>
            </p:cNvPr>
            <p:cNvCxnSpPr/>
            <p:nvPr/>
          </p:nvCxnSpPr>
          <p:spPr>
            <a:xfrm>
              <a:off x="7255089" y="6108403"/>
              <a:ext cx="342491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D18978-6D1C-44C1-BB7C-B6F2FA7A46DB}"/>
                </a:ext>
              </a:extLst>
            </p:cNvPr>
            <p:cNvSpPr txBox="1"/>
            <p:nvPr/>
          </p:nvSpPr>
          <p:spPr>
            <a:xfrm>
              <a:off x="8637970" y="5891389"/>
              <a:ext cx="65915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b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Legenda</a:t>
              </a:r>
              <a:endParaRPr lang="pt-PT" sz="900" b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EA6C23-674A-479C-B866-18314CBBEBA1}"/>
              </a:ext>
            </a:extLst>
          </p:cNvPr>
          <p:cNvGrpSpPr/>
          <p:nvPr/>
        </p:nvGrpSpPr>
        <p:grpSpPr>
          <a:xfrm>
            <a:off x="7950233" y="1264393"/>
            <a:ext cx="3600000" cy="4894848"/>
            <a:chOff x="8028330" y="1264393"/>
            <a:chExt cx="3600000" cy="489484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3A70E3A-9F42-4FE8-BE75-FF9DDC4EFC28}"/>
                </a:ext>
              </a:extLst>
            </p:cNvPr>
            <p:cNvGrpSpPr/>
            <p:nvPr/>
          </p:nvGrpSpPr>
          <p:grpSpPr>
            <a:xfrm>
              <a:off x="8028330" y="1264393"/>
              <a:ext cx="3600000" cy="4894848"/>
              <a:chOff x="7743850" y="1264393"/>
              <a:chExt cx="3240000" cy="4894848"/>
            </a:xfrm>
          </p:grpSpPr>
          <p:sp>
            <p:nvSpPr>
              <p:cNvPr id="35" name="AutoShape 5">
                <a:extLst>
                  <a:ext uri="{FF2B5EF4-FFF2-40B4-BE49-F238E27FC236}">
                    <a16:creationId xmlns:a16="http://schemas.microsoft.com/office/drawing/2014/main" id="{43D09C47-A09D-47B1-B48B-2A227BBF0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H="1">
                <a:off x="9025387" y="-17143"/>
                <a:ext cx="662903" cy="3225975"/>
              </a:xfrm>
              <a:prstGeom prst="homePlate">
                <a:avLst>
                  <a:gd name="adj" fmla="val 41986"/>
                </a:avLst>
              </a:prstGeom>
              <a:solidFill>
                <a:srgbClr val="003E51"/>
              </a:solidFill>
              <a:ln w="1905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19191"/>
                      </a:outerShdw>
                    </a:effectLst>
                  </a14:hiddenEffects>
                </a:ext>
              </a:extLst>
            </p:spPr>
            <p:txBody>
              <a:bodyPr vert="eaVert" wrap="none" lIns="45731" rIns="45731"/>
              <a:lstStyle>
                <a:lvl1pPr algn="l" eaLnBrk="0" hangingPunct="0">
                  <a:spcBef>
                    <a:spcPct val="20000"/>
                  </a:spcBef>
                  <a:buClr>
                    <a:srgbClr val="FFD200"/>
                  </a:buClr>
                  <a:buSzPct val="75000"/>
                  <a:buFont typeface="Arial" panose="020B0604020202020204" pitchFamily="34" charset="0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D200"/>
                  </a:buClr>
                  <a:buSzPct val="75000"/>
                  <a:buFont typeface="Arial" panose="020B0604020202020204" pitchFamily="34" charset="0"/>
                  <a:defRPr sz="1400" b="1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583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GB" altLang="pt-PT" sz="9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37" name="Freeform 6">
                <a:extLst>
                  <a:ext uri="{FF2B5EF4-FFF2-40B4-BE49-F238E27FC236}">
                    <a16:creationId xmlns:a16="http://schemas.microsoft.com/office/drawing/2014/main" id="{159A6AC7-D04B-4272-B901-1C6FA7F3E4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3850" y="1648026"/>
                <a:ext cx="3240000" cy="4511215"/>
              </a:xfrm>
              <a:custGeom>
                <a:avLst/>
                <a:gdLst>
                  <a:gd name="T0" fmla="*/ 5319639 w 1590"/>
                  <a:gd name="T1" fmla="*/ 0 h 1901"/>
                  <a:gd name="T2" fmla="*/ 1059877831 w 1590"/>
                  <a:gd name="T3" fmla="*/ 255052971 h 1901"/>
                  <a:gd name="T4" fmla="*/ 2113106401 w 1590"/>
                  <a:gd name="T5" fmla="*/ 0 h 1901"/>
                  <a:gd name="T6" fmla="*/ 2113106401 w 1590"/>
                  <a:gd name="T7" fmla="*/ 2147483647 h 1901"/>
                  <a:gd name="T8" fmla="*/ 0 w 1590"/>
                  <a:gd name="T9" fmla="*/ 2147483647 h 1901"/>
                  <a:gd name="T10" fmla="*/ 31915528 w 1590"/>
                  <a:gd name="T11" fmla="*/ 2147483647 h 1901"/>
                  <a:gd name="T12" fmla="*/ 10638125 w 1590"/>
                  <a:gd name="T13" fmla="*/ 2147483647 h 1901"/>
                  <a:gd name="T14" fmla="*/ 5319639 w 1590"/>
                  <a:gd name="T15" fmla="*/ 2147483647 h 1901"/>
                  <a:gd name="T16" fmla="*/ 5319639 w 1590"/>
                  <a:gd name="T17" fmla="*/ 0 h 190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90" h="1901">
                    <a:moveTo>
                      <a:pt x="4" y="0"/>
                    </a:moveTo>
                    <a:lnTo>
                      <a:pt x="797" y="127"/>
                    </a:lnTo>
                    <a:lnTo>
                      <a:pt x="1589" y="0"/>
                    </a:lnTo>
                    <a:lnTo>
                      <a:pt x="1589" y="1900"/>
                    </a:lnTo>
                    <a:lnTo>
                      <a:pt x="0" y="1900"/>
                    </a:lnTo>
                    <a:lnTo>
                      <a:pt x="24" y="1900"/>
                    </a:lnTo>
                    <a:lnTo>
                      <a:pt x="8" y="1900"/>
                    </a:lnTo>
                    <a:lnTo>
                      <a:pt x="4" y="1900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FFFFFF">
                  <a:lumMod val="95000"/>
                </a:srgbClr>
              </a:solidFill>
              <a:ln w="190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31" rIns="45731"/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pic>
          <p:nvPicPr>
            <p:cNvPr id="53" name="Graphic 52" descr="Connections">
              <a:extLst>
                <a:ext uri="{FF2B5EF4-FFF2-40B4-BE49-F238E27FC236}">
                  <a16:creationId xmlns:a16="http://schemas.microsoft.com/office/drawing/2014/main" id="{2958E870-3676-43BF-9A54-C2C870799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rcRect/>
            <a:stretch/>
          </p:blipFill>
          <p:spPr>
            <a:xfrm>
              <a:off x="9544110" y="1295211"/>
              <a:ext cx="568440" cy="56844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CBB948-28AD-41A0-894D-99CB29EEB6AF}"/>
              </a:ext>
            </a:extLst>
          </p:cNvPr>
          <p:cNvGrpSpPr/>
          <p:nvPr/>
        </p:nvGrpSpPr>
        <p:grpSpPr>
          <a:xfrm>
            <a:off x="617282" y="1264393"/>
            <a:ext cx="3600002" cy="4894860"/>
            <a:chOff x="617282" y="1264393"/>
            <a:chExt cx="3600002" cy="489486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B29F295-60E2-4722-86AF-B0F2C59FF7CD}"/>
                </a:ext>
              </a:extLst>
            </p:cNvPr>
            <p:cNvGrpSpPr/>
            <p:nvPr/>
          </p:nvGrpSpPr>
          <p:grpSpPr>
            <a:xfrm>
              <a:off x="617282" y="1648026"/>
              <a:ext cx="3600002" cy="4511227"/>
              <a:chOff x="1350562" y="1648026"/>
              <a:chExt cx="2952000" cy="4259365"/>
            </a:xfrm>
          </p:grpSpPr>
          <p:sp>
            <p:nvSpPr>
              <p:cNvPr id="41" name="Freeform 6">
                <a:extLst>
                  <a:ext uri="{FF2B5EF4-FFF2-40B4-BE49-F238E27FC236}">
                    <a16:creationId xmlns:a16="http://schemas.microsoft.com/office/drawing/2014/main" id="{7968FF25-F10F-4F3F-BA2E-BE2DB06264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0562" y="1648026"/>
                <a:ext cx="2952000" cy="4259365"/>
              </a:xfrm>
              <a:custGeom>
                <a:avLst/>
                <a:gdLst>
                  <a:gd name="T0" fmla="*/ 5319639 w 1590"/>
                  <a:gd name="T1" fmla="*/ 0 h 1901"/>
                  <a:gd name="T2" fmla="*/ 1059877831 w 1590"/>
                  <a:gd name="T3" fmla="*/ 255052971 h 1901"/>
                  <a:gd name="T4" fmla="*/ 2113106401 w 1590"/>
                  <a:gd name="T5" fmla="*/ 0 h 1901"/>
                  <a:gd name="T6" fmla="*/ 2113106401 w 1590"/>
                  <a:gd name="T7" fmla="*/ 2147483647 h 1901"/>
                  <a:gd name="T8" fmla="*/ 0 w 1590"/>
                  <a:gd name="T9" fmla="*/ 2147483647 h 1901"/>
                  <a:gd name="T10" fmla="*/ 31915528 w 1590"/>
                  <a:gd name="T11" fmla="*/ 2147483647 h 1901"/>
                  <a:gd name="T12" fmla="*/ 10638125 w 1590"/>
                  <a:gd name="T13" fmla="*/ 2147483647 h 1901"/>
                  <a:gd name="T14" fmla="*/ 5319639 w 1590"/>
                  <a:gd name="T15" fmla="*/ 2147483647 h 1901"/>
                  <a:gd name="T16" fmla="*/ 5319639 w 1590"/>
                  <a:gd name="T17" fmla="*/ 0 h 190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90" h="1901">
                    <a:moveTo>
                      <a:pt x="4" y="0"/>
                    </a:moveTo>
                    <a:lnTo>
                      <a:pt x="797" y="127"/>
                    </a:lnTo>
                    <a:lnTo>
                      <a:pt x="1589" y="0"/>
                    </a:lnTo>
                    <a:lnTo>
                      <a:pt x="1589" y="1900"/>
                    </a:lnTo>
                    <a:lnTo>
                      <a:pt x="0" y="1900"/>
                    </a:lnTo>
                    <a:lnTo>
                      <a:pt x="24" y="1900"/>
                    </a:lnTo>
                    <a:lnTo>
                      <a:pt x="8" y="1900"/>
                    </a:lnTo>
                    <a:lnTo>
                      <a:pt x="4" y="1900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FFFFFF">
                  <a:lumMod val="95000"/>
                </a:srgbClr>
              </a:solidFill>
              <a:ln w="190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31" rIns="45731"/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Helvetica Light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2C4BC3C-1F70-4500-AC90-B256830C063D}"/>
                  </a:ext>
                </a:extLst>
              </p:cNvPr>
              <p:cNvSpPr txBox="1"/>
              <p:nvPr/>
            </p:nvSpPr>
            <p:spPr>
              <a:xfrm>
                <a:off x="1350562" y="1764892"/>
                <a:ext cx="2951998" cy="3995659"/>
              </a:xfrm>
              <a:prstGeom prst="rect">
                <a:avLst/>
              </a:prstGeom>
              <a:noFill/>
            </p:spPr>
            <p:txBody>
              <a:bodyPr wrap="square" lIns="72000" rIns="18000" rtlCol="0" anchor="t">
                <a:spAutoFit/>
              </a:bodyPr>
              <a:lstStyle/>
              <a:p>
                <a:pPr marL="0" marR="0" lvl="0" indent="0" defTabSz="412629" eaLnBrk="1" fontAlgn="auto" latinLnBrk="0" hangingPunct="0">
                  <a:lnSpc>
                    <a:spcPct val="2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altLang="pt-PT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Light"/>
                  </a:rPr>
                  <a:t>Progresso</a:t>
                </a:r>
                <a:endParaRPr kumimoji="0" lang="pt-PT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Início dos testes à tabela de cálculo de emissões financiadas;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Finalização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 </a:t>
                </a:r>
                <a:r>
                  <a:rPr lang="pt-PT" sz="1200" i="1" dirty="0" err="1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mapping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conceitos e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continuação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das alterações de 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script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do </a:t>
                </a:r>
                <a:r>
                  <a:rPr lang="pt-PT" sz="1200" i="1" dirty="0" err="1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Template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 </a:t>
                </a:r>
                <a:r>
                  <a:rPr lang="pt-PT" sz="1200" i="1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  <a:endParaRPr lang="pt-PT" sz="1200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Finalização das alterações de 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script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 </a:t>
                </a:r>
                <a:r>
                  <a:rPr lang="pt-PT" sz="1200" i="1" dirty="0" err="1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Template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EBA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ajustes finais da documentação </a:t>
                </a:r>
                <a:r>
                  <a:rPr lang="pt-PT" sz="1200" i="1" dirty="0" err="1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word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 início da preparação do paralelo com o exercício tático de dezembro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2024;</a:t>
                </a:r>
                <a:endParaRPr lang="pt-PT" sz="1200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Finalização das alterações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script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 satélite 79 e ajustes estruturais da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documentação </a:t>
                </a:r>
                <a:r>
                  <a:rPr lang="pt-PT" sz="1200" i="1" dirty="0" err="1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word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 do paralelo com o exercício tático de dezembro 2024;</a:t>
                </a:r>
                <a:endParaRPr lang="pt-PT" sz="1200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Finalização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 </a:t>
                </a:r>
                <a:r>
                  <a:rPr lang="pt-PT" sz="1200" i="1" dirty="0" err="1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mapping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conceitos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 das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alterações de 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script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do satélite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80 e início da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preparação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 paralelo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 o exercício tático de dezembro 2024</a:t>
                </a:r>
              </a:p>
            </p:txBody>
          </p:sp>
        </p:grpSp>
        <p:sp>
          <p:nvSpPr>
            <p:cNvPr id="40" name="AutoShape 5">
              <a:extLst>
                <a:ext uri="{FF2B5EF4-FFF2-40B4-BE49-F238E27FC236}">
                  <a16:creationId xmlns:a16="http://schemas.microsoft.com/office/drawing/2014/main" id="{C685FF1D-0939-4A5D-B535-CCF8B56EE6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2078040" y="-196364"/>
              <a:ext cx="662903" cy="3584417"/>
            </a:xfrm>
            <a:prstGeom prst="homePlate">
              <a:avLst>
                <a:gd name="adj" fmla="val 41986"/>
              </a:avLst>
            </a:prstGeom>
            <a:solidFill>
              <a:srgbClr val="003E51"/>
            </a:solidFill>
            <a:ln w="1905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19191"/>
                    </a:outerShdw>
                  </a:effectLst>
                </a14:hiddenEffects>
              </a:ext>
            </a:extLst>
          </p:spPr>
          <p:txBody>
            <a:bodyPr vert="eaVert" wrap="none" lIns="45731" rIns="45731"/>
            <a:lstStyle>
              <a:lvl1pPr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400" b="1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583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GB" altLang="pt-PT" sz="900" b="0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sym typeface="Helvetica Light"/>
              </a:endParaRPr>
            </a:p>
          </p:txBody>
        </p:sp>
        <p:pic>
          <p:nvPicPr>
            <p:cNvPr id="48" name="Graphic 47" descr="List RTL">
              <a:extLst>
                <a:ext uri="{FF2B5EF4-FFF2-40B4-BE49-F238E27FC236}">
                  <a16:creationId xmlns:a16="http://schemas.microsoft.com/office/drawing/2014/main" id="{B6DA387A-C4F6-4715-B166-03D3C4B05563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2154636" y="1317778"/>
              <a:ext cx="522516" cy="523306"/>
            </a:xfrm>
            <a:prstGeom prst="rect">
              <a:avLst/>
            </a:prstGeom>
          </p:spPr>
        </p:pic>
      </p:grpSp>
      <p:sp>
        <p:nvSpPr>
          <p:cNvPr id="32" name="AutoShape 5">
            <a:extLst>
              <a:ext uri="{FF2B5EF4-FFF2-40B4-BE49-F238E27FC236}">
                <a16:creationId xmlns:a16="http://schemas.microsoft.com/office/drawing/2014/main" id="{E63BDF97-7422-4357-BF28-4E869A5DD23A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783564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5D16D15E-EF44-4117-8F79-C8BC9FDCF1E5}"/>
              </a:ext>
            </a:extLst>
          </p:cNvPr>
          <p:cNvSpPr>
            <a:spLocks/>
          </p:cNvSpPr>
          <p:nvPr/>
        </p:nvSpPr>
        <p:spPr bwMode="auto">
          <a:xfrm>
            <a:off x="4350234" y="1667078"/>
            <a:ext cx="3600000" cy="4511213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E567D8-F108-4FC1-8DD4-36ADCCABE4C3}"/>
              </a:ext>
            </a:extLst>
          </p:cNvPr>
          <p:cNvSpPr txBox="1"/>
          <p:nvPr/>
        </p:nvSpPr>
        <p:spPr>
          <a:xfrm>
            <a:off x="4444237" y="1790427"/>
            <a:ext cx="3343948" cy="16773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Riscos</a:t>
            </a:r>
            <a:r>
              <a:rPr lang="en-GB" altLang="pt-PT" sz="1600" b="1" kern="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 </a:t>
            </a: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desafios</a:t>
            </a:r>
            <a:endParaRPr lang="en-GB" altLang="pt-PT" sz="1600" b="1" kern="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de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adjudicados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(4/4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tabela de parametrização de 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Universo - </a:t>
            </a:r>
            <a:r>
              <a:rPr lang="pt-PT" sz="1200" i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ag801_param_satel_univ</a:t>
            </a:r>
          </a:p>
        </p:txBody>
      </p:sp>
      <p:pic>
        <p:nvPicPr>
          <p:cNvPr id="52" name="Graphic 51" descr="Daily calendar">
            <a:extLst>
              <a:ext uri="{FF2B5EF4-FFF2-40B4-BE49-F238E27FC236}">
                <a16:creationId xmlns:a16="http://schemas.microsoft.com/office/drawing/2014/main" id="{57180BB1-8122-4E1F-922B-3B88B3E141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5834467" y="1320441"/>
            <a:ext cx="517980" cy="517980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7034544" y="2120711"/>
            <a:ext cx="188926" cy="188926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D6D797-458A-1198-F3B1-EAC41A33EBEA}"/>
              </a:ext>
            </a:extLst>
          </p:cNvPr>
          <p:cNvSpPr txBox="1"/>
          <p:nvPr/>
        </p:nvSpPr>
        <p:spPr>
          <a:xfrm>
            <a:off x="8078259" y="1790378"/>
            <a:ext cx="3343948" cy="9694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Dependências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Tecnologia.</a:t>
            </a:r>
            <a:endParaRPr lang="pt-PT" sz="12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2984771" y="2111567"/>
            <a:ext cx="188926" cy="188926"/>
          </a:xfrm>
          <a:prstGeom prst="ellipse">
            <a:avLst/>
          </a:prstGeom>
          <a:solidFill>
            <a:srgbClr val="8BCD44"/>
          </a:solidFill>
          <a:ln w="3175">
            <a:solidFill>
              <a:srgbClr val="8BCD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10513113" y="2129855"/>
            <a:ext cx="188926" cy="188926"/>
          </a:xfrm>
          <a:prstGeom prst="ellipse">
            <a:avLst/>
          </a:prstGeom>
          <a:solidFill>
            <a:srgbClr val="FFC00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1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A2499697-143B-6CB6-06D5-8F87E0EF3015}"/>
              </a:ext>
            </a:extLst>
          </p:cNvPr>
          <p:cNvSpPr/>
          <p:nvPr/>
        </p:nvSpPr>
        <p:spPr>
          <a:xfrm>
            <a:off x="6941538" y="4327613"/>
            <a:ext cx="504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1EB57593-72A6-9315-5BE9-2BA6E68E941E}"/>
              </a:ext>
            </a:extLst>
          </p:cNvPr>
          <p:cNvGrpSpPr/>
          <p:nvPr/>
        </p:nvGrpSpPr>
        <p:grpSpPr>
          <a:xfrm>
            <a:off x="756067" y="6344379"/>
            <a:ext cx="3328407" cy="261610"/>
            <a:chOff x="2854175" y="6420579"/>
            <a:chExt cx="3328407" cy="261610"/>
          </a:xfrm>
        </p:grpSpPr>
        <p:sp>
          <p:nvSpPr>
            <p:cNvPr id="58" name="Text Placeholder 3">
              <a:extLst>
                <a:ext uri="{FF2B5EF4-FFF2-40B4-BE49-F238E27FC236}">
                  <a16:creationId xmlns:a16="http://schemas.microsoft.com/office/drawing/2014/main" id="{2A57DB55-55E8-D9FA-ECC8-E8EF4DE979C1}"/>
                </a:ext>
              </a:extLst>
            </p:cNvPr>
            <p:cNvSpPr txBox="1">
              <a:spLocks/>
            </p:cNvSpPr>
            <p:nvPr/>
          </p:nvSpPr>
          <p:spPr>
            <a:xfrm>
              <a:off x="2854175" y="6420579"/>
              <a:ext cx="75773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1000" b="1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Legenda:</a:t>
              </a: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1B72E6F-B91B-75C9-DF30-0D9AF0891ECA}"/>
                </a:ext>
              </a:extLst>
            </p:cNvPr>
            <p:cNvGrpSpPr/>
            <p:nvPr/>
          </p:nvGrpSpPr>
          <p:grpSpPr>
            <a:xfrm>
              <a:off x="3611913" y="6430589"/>
              <a:ext cx="1276444" cy="244682"/>
              <a:chOff x="1747576" y="6428650"/>
              <a:chExt cx="1276610" cy="244714"/>
            </a:xfrm>
          </p:grpSpPr>
          <p:sp>
            <p:nvSpPr>
              <p:cNvPr id="63" name="Text Placeholder 3">
                <a:extLst>
                  <a:ext uri="{FF2B5EF4-FFF2-40B4-BE49-F238E27FC236}">
                    <a16:creationId xmlns:a16="http://schemas.microsoft.com/office/drawing/2014/main" id="{44128D0F-4199-0711-66E2-8601832FB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47250" y="6428650"/>
                <a:ext cx="1176936" cy="244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</a:t>
                </a:r>
                <a:r>
                  <a:rPr kumimoji="0" lang="pt-PT" sz="900" b="0" i="1" u="none" strike="noStrike" kern="1200" cap="none" spc="0" normalizeH="0" baseline="0" noProof="0" err="1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Kickoff</a:t>
                </a:r>
                <a:endParaRPr kumimoji="0" lang="pt-PT" sz="900" b="0" i="1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4" name="Diamond 63">
                <a:extLst>
                  <a:ext uri="{FF2B5EF4-FFF2-40B4-BE49-F238E27FC236}">
                    <a16:creationId xmlns:a16="http://schemas.microsoft.com/office/drawing/2014/main" id="{5765CB58-631E-687A-3A08-6C6B0E7985DA}"/>
                  </a:ext>
                </a:extLst>
              </p:cNvPr>
              <p:cNvSpPr/>
              <p:nvPr/>
            </p:nvSpPr>
            <p:spPr>
              <a:xfrm>
                <a:off x="1747576" y="6485909"/>
                <a:ext cx="125955" cy="126000"/>
              </a:xfrm>
              <a:prstGeom prst="diamond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accent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055F664-C382-0613-D546-217DCFD50AA5}"/>
                </a:ext>
              </a:extLst>
            </p:cNvPr>
            <p:cNvGrpSpPr/>
            <p:nvPr/>
          </p:nvGrpSpPr>
          <p:grpSpPr>
            <a:xfrm>
              <a:off x="4910900" y="6432511"/>
              <a:ext cx="1271682" cy="244682"/>
              <a:chOff x="3406519" y="6432511"/>
              <a:chExt cx="1271682" cy="244682"/>
            </a:xfrm>
          </p:grpSpPr>
          <p:sp>
            <p:nvSpPr>
              <p:cNvPr id="66" name="Diamond 65">
                <a:extLst>
                  <a:ext uri="{FF2B5EF4-FFF2-40B4-BE49-F238E27FC236}">
                    <a16:creationId xmlns:a16="http://schemas.microsoft.com/office/drawing/2014/main" id="{16ED01B3-96E2-56ED-A116-AF52B959D420}"/>
                  </a:ext>
                </a:extLst>
              </p:cNvPr>
              <p:cNvSpPr/>
              <p:nvPr/>
            </p:nvSpPr>
            <p:spPr>
              <a:xfrm>
                <a:off x="3406519" y="6486587"/>
                <a:ext cx="125939" cy="125983"/>
              </a:xfrm>
              <a:prstGeom prst="diamond">
                <a:avLst/>
              </a:prstGeom>
              <a:solidFill>
                <a:srgbClr val="FFFFFF"/>
              </a:soli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7" name="Text Placeholder 3">
                <a:extLst>
                  <a:ext uri="{FF2B5EF4-FFF2-40B4-BE49-F238E27FC236}">
                    <a16:creationId xmlns:a16="http://schemas.microsoft.com/office/drawing/2014/main" id="{9AA4433C-2D5B-C8CC-4267-4153CF9654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01418" y="6432511"/>
                <a:ext cx="1176783" cy="244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PDS</a:t>
                </a:r>
                <a:endPara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</p:grpSp>
      <p:sp>
        <p:nvSpPr>
          <p:cNvPr id="50" name="Rectangle 7">
            <a:extLst>
              <a:ext uri="{FF2B5EF4-FFF2-40B4-BE49-F238E27FC236}">
                <a16:creationId xmlns:a16="http://schemas.microsoft.com/office/drawing/2014/main" id="{47E48671-3259-C26C-E049-C5B44E378E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6118" y="2214768"/>
            <a:ext cx="979649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 &amp; Gestão de projeto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382684-0872-7223-D05C-F347D9281570}"/>
              </a:ext>
            </a:extLst>
          </p:cNvPr>
          <p:cNvSpPr txBox="1"/>
          <p:nvPr/>
        </p:nvSpPr>
        <p:spPr bwMode="auto">
          <a:xfrm>
            <a:off x="1046009" y="2666287"/>
            <a:ext cx="9796496" cy="932700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Rectangle 7">
            <a:extLst>
              <a:ext uri="{FF2B5EF4-FFF2-40B4-BE49-F238E27FC236}">
                <a16:creationId xmlns:a16="http://schemas.microsoft.com/office/drawing/2014/main" id="{C1BE42C6-5B5D-BDAE-7559-20DC79915C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3" y="2466924"/>
            <a:ext cx="9806942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Especificação &amp; Simulação de Requisitos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9188F0D9-10D7-7659-3578-B9E0A27D8360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2714665"/>
            <a:ext cx="3542400" cy="223905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universos a reportar por </a:t>
            </a:r>
            <a:r>
              <a:rPr lang="pt-PT" sz="1050" i="1" err="1"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endParaRPr lang="pt-PT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DECD80-5697-E1DE-70F8-3A2DE1D52CD3}"/>
              </a:ext>
            </a:extLst>
          </p:cNvPr>
          <p:cNvSpPr txBox="1">
            <a:spLocks noChangeAspect="1"/>
          </p:cNvSpPr>
          <p:nvPr/>
        </p:nvSpPr>
        <p:spPr>
          <a:xfrm>
            <a:off x="1014372" y="2937717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Definição</a:t>
            </a:r>
            <a:r>
              <a:rPr lang="pt-PT" sz="1050" i="1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pt-PT" sz="1050" i="1" err="1"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 de conceitos</a:t>
            </a:r>
            <a:endParaRPr lang="pt-PT" sz="105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5382684-0872-7223-D05C-F347D9281570}"/>
              </a:ext>
            </a:extLst>
          </p:cNvPr>
          <p:cNvSpPr txBox="1"/>
          <p:nvPr/>
        </p:nvSpPr>
        <p:spPr bwMode="auto">
          <a:xfrm>
            <a:off x="1046009" y="3860460"/>
            <a:ext cx="9796496" cy="1098318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7">
            <a:extLst>
              <a:ext uri="{FF2B5EF4-FFF2-40B4-BE49-F238E27FC236}">
                <a16:creationId xmlns:a16="http://schemas.microsoft.com/office/drawing/2014/main" id="{C1BE42C6-5B5D-BDAE-7559-20DC79915C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2" y="3661096"/>
            <a:ext cx="9821226" cy="20445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Implementação &amp; Certificação de </a:t>
            </a:r>
            <a:r>
              <a:rPr lang="pt-PT" sz="1000" b="1" i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</a:t>
            </a: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34F695-44B5-2F06-1B4A-84E6F0E20641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3134793"/>
            <a:ext cx="3542400" cy="185248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conceitos no LT Estrutural &amp; Satélites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709538-0AB0-E0ED-F799-EDD4D4DCF6AC}"/>
              </a:ext>
            </a:extLst>
          </p:cNvPr>
          <p:cNvSpPr txBox="1">
            <a:spLocks noChangeAspect="1"/>
          </p:cNvSpPr>
          <p:nvPr/>
        </p:nvSpPr>
        <p:spPr>
          <a:xfrm>
            <a:off x="1014372" y="3319188"/>
            <a:ext cx="3542400" cy="197929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regras de transformação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F52065-2483-9523-D0D6-BC8F68A8DE7D}"/>
              </a:ext>
            </a:extLst>
          </p:cNvPr>
          <p:cNvSpPr txBox="1">
            <a:spLocks noChangeAspect="1"/>
          </p:cNvSpPr>
          <p:nvPr/>
        </p:nvSpPr>
        <p:spPr>
          <a:xfrm>
            <a:off x="1014369" y="3902842"/>
            <a:ext cx="4513937" cy="248655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Implementação de solução de reporte (ODBC &amp;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Stored</a:t>
            </a:r>
            <a:r>
              <a:rPr lang="pt-PT" sz="105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Procedure</a:t>
            </a:r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0DB1E3-C93D-437F-E43E-6FA6AB12C6EE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4104591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Realização de paralelos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C7B00F-D680-6434-7384-C500312E049B}"/>
              </a:ext>
            </a:extLst>
          </p:cNvPr>
          <p:cNvSpPr txBox="1">
            <a:spLocks noChangeAspect="1"/>
          </p:cNvSpPr>
          <p:nvPr/>
        </p:nvSpPr>
        <p:spPr>
          <a:xfrm>
            <a:off x="1014370" y="4309132"/>
            <a:ext cx="3542400" cy="185248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Comparação direta com o exercício tático de Dez24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55CD2-8867-6CD7-750B-60EB1BF1B579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4500991"/>
            <a:ext cx="3542400" cy="197929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Correção de implementações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310599-3195-0C59-C5C7-2F68D25BACD4}"/>
              </a:ext>
            </a:extLst>
          </p:cNvPr>
          <p:cNvSpPr txBox="1">
            <a:spLocks noChangeAspect="1"/>
          </p:cNvSpPr>
          <p:nvPr/>
        </p:nvSpPr>
        <p:spPr>
          <a:xfrm>
            <a:off x="1014370" y="4705531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Documentação do processo </a:t>
            </a:r>
            <a:r>
              <a:rPr lang="pt-PT" sz="1050" i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 proposto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723A724-ACD2-8784-36D9-A2AE1521EF57}"/>
              </a:ext>
            </a:extLst>
          </p:cNvPr>
          <p:cNvCxnSpPr>
            <a:cxnSpLocks/>
          </p:cNvCxnSpPr>
          <p:nvPr/>
        </p:nvCxnSpPr>
        <p:spPr>
          <a:xfrm flipH="1">
            <a:off x="541088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F14048A9-E280-C0E7-194B-99AF602EE960}"/>
              </a:ext>
            </a:extLst>
          </p:cNvPr>
          <p:cNvCxnSpPr>
            <a:cxnSpLocks/>
          </p:cNvCxnSpPr>
          <p:nvPr/>
        </p:nvCxnSpPr>
        <p:spPr>
          <a:xfrm flipH="1">
            <a:off x="666056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F2488368-43DE-4216-6DEE-12F16A1857CC}"/>
              </a:ext>
            </a:extLst>
          </p:cNvPr>
          <p:cNvCxnSpPr>
            <a:cxnSpLocks/>
          </p:cNvCxnSpPr>
          <p:nvPr/>
        </p:nvCxnSpPr>
        <p:spPr>
          <a:xfrm flipH="1">
            <a:off x="922850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BFB4DB7A-1DA2-EBDD-889D-5D2C6A557C8E}"/>
              </a:ext>
            </a:extLst>
          </p:cNvPr>
          <p:cNvCxnSpPr>
            <a:cxnSpLocks/>
          </p:cNvCxnSpPr>
          <p:nvPr/>
        </p:nvCxnSpPr>
        <p:spPr>
          <a:xfrm flipH="1">
            <a:off x="1050104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C3C25DC6-B9F3-B382-3393-99316CA7196D}"/>
              </a:ext>
            </a:extLst>
          </p:cNvPr>
          <p:cNvCxnSpPr>
            <a:cxnSpLocks/>
          </p:cNvCxnSpPr>
          <p:nvPr/>
        </p:nvCxnSpPr>
        <p:spPr>
          <a:xfrm flipH="1">
            <a:off x="794072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91E8B352-52C0-6DD9-FC52-DEE1708DC4E4}"/>
              </a:ext>
            </a:extLst>
          </p:cNvPr>
          <p:cNvSpPr/>
          <p:nvPr/>
        </p:nvSpPr>
        <p:spPr>
          <a:xfrm>
            <a:off x="5410889" y="2255305"/>
            <a:ext cx="543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D7B61E-DC77-DCDF-25B1-632FC81256B4}"/>
              </a:ext>
            </a:extLst>
          </p:cNvPr>
          <p:cNvSpPr/>
          <p:nvPr/>
        </p:nvSpPr>
        <p:spPr>
          <a:xfrm>
            <a:off x="5410888" y="2758217"/>
            <a:ext cx="61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F634CDD-F3A6-FA2B-C273-A185D0C807A0}"/>
              </a:ext>
            </a:extLst>
          </p:cNvPr>
          <p:cNvSpPr/>
          <p:nvPr/>
        </p:nvSpPr>
        <p:spPr>
          <a:xfrm>
            <a:off x="5410889" y="2507461"/>
            <a:ext cx="4140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2D7B61E-DC77-DCDF-25B1-632FC81256B4}"/>
              </a:ext>
            </a:extLst>
          </p:cNvPr>
          <p:cNvSpPr/>
          <p:nvPr/>
        </p:nvSpPr>
        <p:spPr>
          <a:xfrm>
            <a:off x="7707464" y="3932010"/>
            <a:ext cx="2304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F634CDD-F3A6-FA2B-C273-A185D0C807A0}"/>
              </a:ext>
            </a:extLst>
          </p:cNvPr>
          <p:cNvSpPr/>
          <p:nvPr/>
        </p:nvSpPr>
        <p:spPr>
          <a:xfrm>
            <a:off x="7707464" y="3691207"/>
            <a:ext cx="2556000" cy="14423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2F7C5680-58AC-C969-8593-388B35F42DD8}"/>
              </a:ext>
            </a:extLst>
          </p:cNvPr>
          <p:cNvSpPr>
            <a:spLocks noChangeAspect="1"/>
          </p:cNvSpPr>
          <p:nvPr/>
        </p:nvSpPr>
        <p:spPr>
          <a:xfrm>
            <a:off x="5459951" y="2270709"/>
            <a:ext cx="104082" cy="104118"/>
          </a:xfrm>
          <a:prstGeom prst="diamond">
            <a:avLst/>
          </a:prstGeom>
          <a:solidFill>
            <a:schemeClr val="accent4"/>
          </a:solidFill>
          <a:ln w="3175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0" name="Diamond 209">
            <a:extLst>
              <a:ext uri="{FF2B5EF4-FFF2-40B4-BE49-F238E27FC236}">
                <a16:creationId xmlns:a16="http://schemas.microsoft.com/office/drawing/2014/main" id="{526A51FB-4C0E-6BB9-CAC5-CE88C09584B0}"/>
              </a:ext>
            </a:extLst>
          </p:cNvPr>
          <p:cNvSpPr>
            <a:spLocks noChangeAspect="1"/>
          </p:cNvSpPr>
          <p:nvPr/>
        </p:nvSpPr>
        <p:spPr>
          <a:xfrm>
            <a:off x="585171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1" name="Diamond 210">
            <a:extLst>
              <a:ext uri="{FF2B5EF4-FFF2-40B4-BE49-F238E27FC236}">
                <a16:creationId xmlns:a16="http://schemas.microsoft.com/office/drawing/2014/main" id="{7E5854AF-BC7E-7965-209A-2645B9219FF9}"/>
              </a:ext>
            </a:extLst>
          </p:cNvPr>
          <p:cNvSpPr>
            <a:spLocks noChangeAspect="1"/>
          </p:cNvSpPr>
          <p:nvPr/>
        </p:nvSpPr>
        <p:spPr>
          <a:xfrm>
            <a:off x="616878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3" name="Diamond 212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648586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4" name="Diamond 213">
            <a:extLst>
              <a:ext uri="{FF2B5EF4-FFF2-40B4-BE49-F238E27FC236}">
                <a16:creationId xmlns:a16="http://schemas.microsoft.com/office/drawing/2014/main" id="{65A09F36-00C5-CB4A-3A2E-BFDB9011F51F}"/>
              </a:ext>
            </a:extLst>
          </p:cNvPr>
          <p:cNvSpPr>
            <a:spLocks noChangeAspect="1"/>
          </p:cNvSpPr>
          <p:nvPr/>
        </p:nvSpPr>
        <p:spPr>
          <a:xfrm>
            <a:off x="680293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5" name="Diamond 214">
            <a:extLst>
              <a:ext uri="{FF2B5EF4-FFF2-40B4-BE49-F238E27FC236}">
                <a16:creationId xmlns:a16="http://schemas.microsoft.com/office/drawing/2014/main" id="{4479F722-536C-C2D7-6ED9-57AA411155C1}"/>
              </a:ext>
            </a:extLst>
          </p:cNvPr>
          <p:cNvSpPr>
            <a:spLocks noChangeAspect="1"/>
          </p:cNvSpPr>
          <p:nvPr/>
        </p:nvSpPr>
        <p:spPr>
          <a:xfrm>
            <a:off x="712001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6" name="Diamond 215">
            <a:extLst>
              <a:ext uri="{FF2B5EF4-FFF2-40B4-BE49-F238E27FC236}">
                <a16:creationId xmlns:a16="http://schemas.microsoft.com/office/drawing/2014/main" id="{3E80F536-14F0-FCC3-009D-75C10937F016}"/>
              </a:ext>
            </a:extLst>
          </p:cNvPr>
          <p:cNvSpPr>
            <a:spLocks noChangeAspect="1"/>
          </p:cNvSpPr>
          <p:nvPr/>
        </p:nvSpPr>
        <p:spPr>
          <a:xfrm>
            <a:off x="743709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7" name="Diamond 216">
            <a:extLst>
              <a:ext uri="{FF2B5EF4-FFF2-40B4-BE49-F238E27FC236}">
                <a16:creationId xmlns:a16="http://schemas.microsoft.com/office/drawing/2014/main" id="{EAABF2DB-E1B1-CCCB-40E6-F4E1A0B1902C}"/>
              </a:ext>
            </a:extLst>
          </p:cNvPr>
          <p:cNvSpPr>
            <a:spLocks noChangeAspect="1"/>
          </p:cNvSpPr>
          <p:nvPr/>
        </p:nvSpPr>
        <p:spPr>
          <a:xfrm>
            <a:off x="775416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8" name="Diamond 217">
            <a:extLst>
              <a:ext uri="{FF2B5EF4-FFF2-40B4-BE49-F238E27FC236}">
                <a16:creationId xmlns:a16="http://schemas.microsoft.com/office/drawing/2014/main" id="{1CBF9E89-1D5F-64BE-B4BA-851DEF039EB6}"/>
              </a:ext>
            </a:extLst>
          </p:cNvPr>
          <p:cNvSpPr>
            <a:spLocks noChangeAspect="1"/>
          </p:cNvSpPr>
          <p:nvPr/>
        </p:nvSpPr>
        <p:spPr>
          <a:xfrm>
            <a:off x="807124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9" name="Diamond 218">
            <a:extLst>
              <a:ext uri="{FF2B5EF4-FFF2-40B4-BE49-F238E27FC236}">
                <a16:creationId xmlns:a16="http://schemas.microsoft.com/office/drawing/2014/main" id="{BA3885CE-BA28-6F81-D83D-0783933BB427}"/>
              </a:ext>
            </a:extLst>
          </p:cNvPr>
          <p:cNvSpPr>
            <a:spLocks noChangeAspect="1"/>
          </p:cNvSpPr>
          <p:nvPr/>
        </p:nvSpPr>
        <p:spPr>
          <a:xfrm>
            <a:off x="838831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0" name="Diamond 219">
            <a:extLst>
              <a:ext uri="{FF2B5EF4-FFF2-40B4-BE49-F238E27FC236}">
                <a16:creationId xmlns:a16="http://schemas.microsoft.com/office/drawing/2014/main" id="{0528907E-F0EE-3FD7-217D-715397769FA7}"/>
              </a:ext>
            </a:extLst>
          </p:cNvPr>
          <p:cNvSpPr>
            <a:spLocks noChangeAspect="1"/>
          </p:cNvSpPr>
          <p:nvPr/>
        </p:nvSpPr>
        <p:spPr>
          <a:xfrm>
            <a:off x="870539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1" name="Diamond 220">
            <a:extLst>
              <a:ext uri="{FF2B5EF4-FFF2-40B4-BE49-F238E27FC236}">
                <a16:creationId xmlns:a16="http://schemas.microsoft.com/office/drawing/2014/main" id="{BFBF5C95-93A4-E113-20F9-1D6A964F2544}"/>
              </a:ext>
            </a:extLst>
          </p:cNvPr>
          <p:cNvSpPr>
            <a:spLocks noChangeAspect="1"/>
          </p:cNvSpPr>
          <p:nvPr/>
        </p:nvSpPr>
        <p:spPr>
          <a:xfrm>
            <a:off x="902247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2" name="Diamond 221">
            <a:extLst>
              <a:ext uri="{FF2B5EF4-FFF2-40B4-BE49-F238E27FC236}">
                <a16:creationId xmlns:a16="http://schemas.microsoft.com/office/drawing/2014/main" id="{6924E5E4-51DC-A08E-3DCD-42D37AA11DD6}"/>
              </a:ext>
            </a:extLst>
          </p:cNvPr>
          <p:cNvSpPr>
            <a:spLocks noChangeAspect="1"/>
          </p:cNvSpPr>
          <p:nvPr/>
        </p:nvSpPr>
        <p:spPr>
          <a:xfrm>
            <a:off x="933954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3" name="Diamond 222">
            <a:extLst>
              <a:ext uri="{FF2B5EF4-FFF2-40B4-BE49-F238E27FC236}">
                <a16:creationId xmlns:a16="http://schemas.microsoft.com/office/drawing/2014/main" id="{E237526D-61C5-F342-35B3-6F17427B0B61}"/>
              </a:ext>
            </a:extLst>
          </p:cNvPr>
          <p:cNvSpPr>
            <a:spLocks noChangeAspect="1"/>
          </p:cNvSpPr>
          <p:nvPr/>
        </p:nvSpPr>
        <p:spPr>
          <a:xfrm>
            <a:off x="965662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9" name="Diamond 228">
            <a:extLst>
              <a:ext uri="{FF2B5EF4-FFF2-40B4-BE49-F238E27FC236}">
                <a16:creationId xmlns:a16="http://schemas.microsoft.com/office/drawing/2014/main" id="{AF8EDCAA-1956-D5B3-EFC1-903F1B710CC0}"/>
              </a:ext>
            </a:extLst>
          </p:cNvPr>
          <p:cNvSpPr>
            <a:spLocks noChangeAspect="1"/>
          </p:cNvSpPr>
          <p:nvPr/>
        </p:nvSpPr>
        <p:spPr>
          <a:xfrm>
            <a:off x="997369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0" name="Diamond 229">
            <a:extLst>
              <a:ext uri="{FF2B5EF4-FFF2-40B4-BE49-F238E27FC236}">
                <a16:creationId xmlns:a16="http://schemas.microsoft.com/office/drawing/2014/main" id="{AFB5CED3-F17A-98C5-74BF-F8ECAFD775DE}"/>
              </a:ext>
            </a:extLst>
          </p:cNvPr>
          <p:cNvSpPr>
            <a:spLocks noChangeAspect="1"/>
          </p:cNvSpPr>
          <p:nvPr/>
        </p:nvSpPr>
        <p:spPr>
          <a:xfrm>
            <a:off x="1029077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1" name="Diamond 230">
            <a:extLst>
              <a:ext uri="{FF2B5EF4-FFF2-40B4-BE49-F238E27FC236}">
                <a16:creationId xmlns:a16="http://schemas.microsoft.com/office/drawing/2014/main" id="{3AF63743-EF16-5DC4-0FA5-1163DEBA88FA}"/>
              </a:ext>
            </a:extLst>
          </p:cNvPr>
          <p:cNvSpPr>
            <a:spLocks noChangeAspect="1"/>
          </p:cNvSpPr>
          <p:nvPr/>
        </p:nvSpPr>
        <p:spPr>
          <a:xfrm>
            <a:off x="1060785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A87191-4DF4-6C51-3A62-100E3E6F055F}"/>
              </a:ext>
            </a:extLst>
          </p:cNvPr>
          <p:cNvSpPr/>
          <p:nvPr/>
        </p:nvSpPr>
        <p:spPr>
          <a:xfrm>
            <a:off x="5410888" y="2993078"/>
            <a:ext cx="2520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C6182A-7106-57E4-5EB6-8E1D22CA5E7B}"/>
              </a:ext>
            </a:extLst>
          </p:cNvPr>
          <p:cNvSpPr/>
          <p:nvPr/>
        </p:nvSpPr>
        <p:spPr>
          <a:xfrm>
            <a:off x="5410888" y="3190231"/>
            <a:ext cx="972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B1F7DB-3F68-91E2-C963-81A7065C0E4F}"/>
              </a:ext>
            </a:extLst>
          </p:cNvPr>
          <p:cNvSpPr/>
          <p:nvPr/>
        </p:nvSpPr>
        <p:spPr>
          <a:xfrm>
            <a:off x="6371551" y="3387384"/>
            <a:ext cx="1548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09A4726-C9AE-CC72-4CBC-15639DA8EC96}"/>
              </a:ext>
            </a:extLst>
          </p:cNvPr>
          <p:cNvSpPr/>
          <p:nvPr/>
        </p:nvSpPr>
        <p:spPr>
          <a:xfrm>
            <a:off x="5732621" y="4131446"/>
            <a:ext cx="219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499697-143B-6CB6-06D5-8F87E0EF3015}"/>
              </a:ext>
            </a:extLst>
          </p:cNvPr>
          <p:cNvSpPr/>
          <p:nvPr/>
        </p:nvSpPr>
        <p:spPr>
          <a:xfrm>
            <a:off x="5732621" y="4330882"/>
            <a:ext cx="504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6280094" y="4530318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3C7B49CE-9BF9-8976-075F-03ED755972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2" y="5010698"/>
            <a:ext cx="9821226" cy="204459"/>
          </a:xfrm>
          <a:prstGeom prst="rect">
            <a:avLst/>
          </a:prstGeom>
          <a:solidFill>
            <a:srgbClr val="EBEBE6"/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Identificação de casuísticas de diferenças e correções</a:t>
            </a:r>
            <a:r>
              <a:rPr lang="pt-PT" sz="10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7350" y="5229451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 padronização de diferenças por casuísticas deverá ser avaliada no final deste projeto numa lógica de </a:t>
            </a:r>
            <a:r>
              <a:rPr kumimoji="0" lang="pt-PT" sz="8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Time and Materials</a:t>
            </a:r>
            <a:r>
              <a:rPr kumimoji="0" lang="pt-PT" sz="800" b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dada a imprevisibilidade de estimação da mesma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endParaRPr kumimoji="0" lang="pt-PT" sz="800" b="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29B894-D00E-A2EC-3271-C40EFB713A61}"/>
              </a:ext>
            </a:extLst>
          </p:cNvPr>
          <p:cNvSpPr/>
          <p:nvPr/>
        </p:nvSpPr>
        <p:spPr>
          <a:xfrm>
            <a:off x="7659068" y="472975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465B90BF-E598-B740-4B8E-3A2A9821D420}"/>
              </a:ext>
            </a:extLst>
          </p:cNvPr>
          <p:cNvSpPr>
            <a:spLocks noChangeAspect="1"/>
          </p:cNvSpPr>
          <p:nvPr/>
        </p:nvSpPr>
        <p:spPr>
          <a:xfrm>
            <a:off x="7715027" y="474609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5BEB0B-5BFD-E773-772E-C8AFC68D3F27}"/>
              </a:ext>
            </a:extLst>
          </p:cNvPr>
          <p:cNvSpPr/>
          <p:nvPr/>
        </p:nvSpPr>
        <p:spPr>
          <a:xfrm>
            <a:off x="9036893" y="472975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CD205661-9198-36D7-8EAB-3F0560985861}"/>
              </a:ext>
            </a:extLst>
          </p:cNvPr>
          <p:cNvSpPr>
            <a:spLocks noChangeAspect="1"/>
          </p:cNvSpPr>
          <p:nvPr/>
        </p:nvSpPr>
        <p:spPr>
          <a:xfrm>
            <a:off x="9092852" y="474609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75960E-D96A-A1F0-39C8-BB59D448BAA0}"/>
              </a:ext>
            </a:extLst>
          </p:cNvPr>
          <p:cNvSpPr/>
          <p:nvPr/>
        </p:nvSpPr>
        <p:spPr>
          <a:xfrm>
            <a:off x="10028610" y="4727246"/>
            <a:ext cx="25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Diamond 35">
            <a:extLst>
              <a:ext uri="{FF2B5EF4-FFF2-40B4-BE49-F238E27FC236}">
                <a16:creationId xmlns:a16="http://schemas.microsoft.com/office/drawing/2014/main" id="{92AA8718-D351-7A60-360D-D5974E5755E0}"/>
              </a:ext>
            </a:extLst>
          </p:cNvPr>
          <p:cNvSpPr>
            <a:spLocks noChangeAspect="1"/>
          </p:cNvSpPr>
          <p:nvPr/>
        </p:nvSpPr>
        <p:spPr>
          <a:xfrm>
            <a:off x="10102569" y="4743587"/>
            <a:ext cx="104082" cy="104118"/>
          </a:xfrm>
          <a:prstGeom prst="diamond">
            <a:avLst/>
          </a:prstGeom>
          <a:solidFill>
            <a:schemeClr val="accent2">
              <a:lumMod val="75000"/>
            </a:schemeClr>
          </a:solidFill>
          <a:ln w="3175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A4D65543-4F85-BD3C-D129-CCAC6FD8E50E}"/>
              </a:ext>
            </a:extLst>
          </p:cNvPr>
          <p:cNvSpPr>
            <a:spLocks noChangeAspect="1"/>
          </p:cNvSpPr>
          <p:nvPr/>
        </p:nvSpPr>
        <p:spPr>
          <a:xfrm>
            <a:off x="4023232" y="6430097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E4ECBDFF-E2E1-FE67-41CD-92E41A5E9B99}"/>
              </a:ext>
            </a:extLst>
          </p:cNvPr>
          <p:cNvSpPr txBox="1">
            <a:spLocks/>
          </p:cNvSpPr>
          <p:nvPr/>
        </p:nvSpPr>
        <p:spPr>
          <a:xfrm>
            <a:off x="4094658" y="6362904"/>
            <a:ext cx="1544575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Documentação preliminar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CF4B2A0-D142-E77D-D7FF-CBBFBB106AC6}"/>
              </a:ext>
            </a:extLst>
          </p:cNvPr>
          <p:cNvGrpSpPr/>
          <p:nvPr/>
        </p:nvGrpSpPr>
        <p:grpSpPr>
          <a:xfrm>
            <a:off x="5596215" y="6362904"/>
            <a:ext cx="1361786" cy="244682"/>
            <a:chOff x="6454685" y="6591504"/>
            <a:chExt cx="1361786" cy="244682"/>
          </a:xfrm>
        </p:grpSpPr>
        <p:sp>
          <p:nvSpPr>
            <p:cNvPr id="39" name="Diamond 38">
              <a:extLst>
                <a:ext uri="{FF2B5EF4-FFF2-40B4-BE49-F238E27FC236}">
                  <a16:creationId xmlns:a16="http://schemas.microsoft.com/office/drawing/2014/main" id="{26C9CF88-5C61-F04F-888E-42BA21CB0E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4685" y="6658697"/>
              <a:ext cx="104082" cy="104118"/>
            </a:xfrm>
            <a:prstGeom prst="diamond">
              <a:avLst/>
            </a:prstGeom>
            <a:solidFill>
              <a:schemeClr val="accent2">
                <a:lumMod val="75000"/>
              </a:schemeClr>
            </a:solidFill>
            <a:ln w="3175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12464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0" name="Text Placeholder 3">
              <a:extLst>
                <a:ext uri="{FF2B5EF4-FFF2-40B4-BE49-F238E27FC236}">
                  <a16:creationId xmlns:a16="http://schemas.microsoft.com/office/drawing/2014/main" id="{EFBEBEC5-7FBA-B788-CA42-6DB30B67DADE}"/>
                </a:ext>
              </a:extLst>
            </p:cNvPr>
            <p:cNvSpPr txBox="1">
              <a:spLocks/>
            </p:cNvSpPr>
            <p:nvPr/>
          </p:nvSpPr>
          <p:spPr>
            <a:xfrm>
              <a:off x="6526111" y="6591504"/>
              <a:ext cx="1290360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Documentação final</a:t>
              </a:r>
              <a:endPara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B305258-A866-04ED-7D85-B6E99AE62A53}"/>
              </a:ext>
            </a:extLst>
          </p:cNvPr>
          <p:cNvSpPr/>
          <p:nvPr/>
        </p:nvSpPr>
        <p:spPr>
          <a:xfrm>
            <a:off x="5730901" y="1916015"/>
            <a:ext cx="101026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F22A88-D2DB-1434-4987-DB8CFA80FCDD}"/>
              </a:ext>
            </a:extLst>
          </p:cNvPr>
          <p:cNvSpPr/>
          <p:nvPr/>
        </p:nvSpPr>
        <p:spPr>
          <a:xfrm>
            <a:off x="6752299" y="1916015"/>
            <a:ext cx="1568741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10E98C0-CE50-5BB4-9627-CFB1F1182500}"/>
              </a:ext>
            </a:extLst>
          </p:cNvPr>
          <p:cNvSpPr/>
          <p:nvPr/>
        </p:nvSpPr>
        <p:spPr>
          <a:xfrm>
            <a:off x="5408956" y="1916015"/>
            <a:ext cx="310807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8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Março</a:t>
            </a:r>
            <a:endParaRPr lang="pt-PT" sz="11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300240-07E8-8EF5-C9E1-709D9A40655F}"/>
              </a:ext>
            </a:extLst>
          </p:cNvPr>
          <p:cNvSpPr/>
          <p:nvPr/>
        </p:nvSpPr>
        <p:spPr>
          <a:xfrm>
            <a:off x="8332178" y="1916015"/>
            <a:ext cx="1538097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0A820F-6923-918E-28FC-3FBD45F1174D}"/>
              </a:ext>
            </a:extLst>
          </p:cNvPr>
          <p:cNvSpPr txBox="1"/>
          <p:nvPr/>
        </p:nvSpPr>
        <p:spPr>
          <a:xfrm>
            <a:off x="5147348" y="1631935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25/mar</a:t>
            </a:r>
            <a:endParaRPr lang="pt-PT" sz="700" b="1" i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4E5F93-54CE-5D2F-F9C9-0894332A0F87}"/>
              </a:ext>
            </a:extLst>
          </p:cNvPr>
          <p:cNvSpPr txBox="1"/>
          <p:nvPr/>
        </p:nvSpPr>
        <p:spPr>
          <a:xfrm>
            <a:off x="10395816" y="1631935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16/julho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02BF93-62DB-031D-B714-CAC00C786F8B}"/>
              </a:ext>
            </a:extLst>
          </p:cNvPr>
          <p:cNvSpPr/>
          <p:nvPr/>
        </p:nvSpPr>
        <p:spPr>
          <a:xfrm>
            <a:off x="9881413" y="1916015"/>
            <a:ext cx="96120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Julho</a:t>
            </a:r>
            <a:endParaRPr lang="pt-PT" sz="11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(1|3)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Plano de projeto – Implementação </a:t>
            </a:r>
            <a:r>
              <a:rPr lang="pt-PT" i="1" dirty="0" smtClean="0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 Locais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854789" y="1578609"/>
            <a:ext cx="648000" cy="3634287"/>
            <a:chOff x="5596215" y="1578609"/>
            <a:chExt cx="648000" cy="363428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8D52EAB-5923-D107-2392-16243FA8ECCE}"/>
                </a:ext>
              </a:extLst>
            </p:cNvPr>
            <p:cNvGrpSpPr/>
            <p:nvPr/>
          </p:nvGrpSpPr>
          <p:grpSpPr>
            <a:xfrm>
              <a:off x="5866215" y="1792896"/>
              <a:ext cx="108000" cy="3420000"/>
              <a:chOff x="3546168" y="1579821"/>
              <a:chExt cx="108000" cy="4434020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0F2EC365-7791-604A-1681-A658BD989F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8392" y="1621841"/>
                <a:ext cx="21137" cy="4392000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1FAF1F6-88D3-9119-2BED-434DA4001BD6}"/>
                  </a:ext>
                </a:extLst>
              </p:cNvPr>
              <p:cNvSpPr/>
              <p:nvPr/>
            </p:nvSpPr>
            <p:spPr>
              <a:xfrm>
                <a:off x="3546168" y="1579821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1077925">
                  <a:defRPr/>
                </a:pPr>
                <a:endParaRPr lang="pt-PT" sz="1300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50A820F-6923-918E-28FC-3FBD45F1174D}"/>
                </a:ext>
              </a:extLst>
            </p:cNvPr>
            <p:cNvSpPr txBox="1"/>
            <p:nvPr/>
          </p:nvSpPr>
          <p:spPr>
            <a:xfrm>
              <a:off x="5596215" y="1578609"/>
              <a:ext cx="648000" cy="2000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pt-PT" sz="700" b="1" i="1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Hoje</a:t>
              </a:r>
              <a:endPara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6" name="Rectangle 95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7378944" y="4527049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8720472" y="4533847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9855454" y="4525141"/>
            <a:ext cx="432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8720472" y="4127627"/>
            <a:ext cx="540000" cy="13680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9855454" y="4127627"/>
            <a:ext cx="432000" cy="13680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0476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=""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64">
            <a:extLst>
              <a:ext uri="{FF2B5EF4-FFF2-40B4-BE49-F238E27FC236}">
                <a16:creationId xmlns:a16="http://schemas.microsoft.com/office/drawing/2014/main" id="{B17C56A9-1F67-E1A6-7B6D-530592E9A1A7}"/>
              </a:ext>
            </a:extLst>
          </p:cNvPr>
          <p:cNvSpPr txBox="1"/>
          <p:nvPr/>
        </p:nvSpPr>
        <p:spPr bwMode="auto">
          <a:xfrm>
            <a:off x="1045526" y="4458686"/>
            <a:ext cx="9779535" cy="266087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(2|3)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Plano de projeto 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– Implementação Satélites Corporativos</a:t>
            </a:r>
            <a:endParaRPr kumimoji="0" lang="pt-PT" sz="1600" b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4" name="Rectangle 7">
            <a:extLst>
              <a:ext uri="{FF2B5EF4-FFF2-40B4-BE49-F238E27FC236}">
                <a16:creationId xmlns:a16="http://schemas.microsoft.com/office/drawing/2014/main" id="{47E48671-3259-C26C-E049-C5B44E378E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6118" y="2214768"/>
            <a:ext cx="979649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 &amp; Gestão de projeto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723A724-ACD2-8784-36D9-A2AE1521EF57}"/>
              </a:ext>
            </a:extLst>
          </p:cNvPr>
          <p:cNvCxnSpPr>
            <a:cxnSpLocks/>
          </p:cNvCxnSpPr>
          <p:nvPr/>
        </p:nvCxnSpPr>
        <p:spPr>
          <a:xfrm flipH="1">
            <a:off x="5380409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14048A9-E280-C0E7-194B-99AF602EE960}"/>
              </a:ext>
            </a:extLst>
          </p:cNvPr>
          <p:cNvCxnSpPr>
            <a:cxnSpLocks/>
          </p:cNvCxnSpPr>
          <p:nvPr/>
        </p:nvCxnSpPr>
        <p:spPr>
          <a:xfrm flipH="1">
            <a:off x="666056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2488368-43DE-4216-6DEE-12F16A1857CC}"/>
              </a:ext>
            </a:extLst>
          </p:cNvPr>
          <p:cNvCxnSpPr>
            <a:cxnSpLocks/>
          </p:cNvCxnSpPr>
          <p:nvPr/>
        </p:nvCxnSpPr>
        <p:spPr>
          <a:xfrm flipH="1">
            <a:off x="922850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FB4DB7A-1DA2-EBDD-889D-5D2C6A557C8E}"/>
              </a:ext>
            </a:extLst>
          </p:cNvPr>
          <p:cNvCxnSpPr>
            <a:cxnSpLocks/>
          </p:cNvCxnSpPr>
          <p:nvPr/>
        </p:nvCxnSpPr>
        <p:spPr>
          <a:xfrm flipH="1">
            <a:off x="1050104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3C25DC6-B9F3-B382-3393-99316CA7196D}"/>
              </a:ext>
            </a:extLst>
          </p:cNvPr>
          <p:cNvCxnSpPr>
            <a:cxnSpLocks/>
          </p:cNvCxnSpPr>
          <p:nvPr/>
        </p:nvCxnSpPr>
        <p:spPr>
          <a:xfrm flipH="1">
            <a:off x="794072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91E8B352-52C0-6DD9-FC52-DEE1708DC4E4}"/>
              </a:ext>
            </a:extLst>
          </p:cNvPr>
          <p:cNvSpPr/>
          <p:nvPr/>
        </p:nvSpPr>
        <p:spPr>
          <a:xfrm>
            <a:off x="5410889" y="2255305"/>
            <a:ext cx="543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Diamond 92">
            <a:extLst>
              <a:ext uri="{FF2B5EF4-FFF2-40B4-BE49-F238E27FC236}">
                <a16:creationId xmlns:a16="http://schemas.microsoft.com/office/drawing/2014/main" id="{2F7C5680-58AC-C969-8593-388B35F42DD8}"/>
              </a:ext>
            </a:extLst>
          </p:cNvPr>
          <p:cNvSpPr>
            <a:spLocks noChangeAspect="1"/>
          </p:cNvSpPr>
          <p:nvPr/>
        </p:nvSpPr>
        <p:spPr>
          <a:xfrm>
            <a:off x="5459951" y="2270709"/>
            <a:ext cx="104082" cy="104118"/>
          </a:xfrm>
          <a:prstGeom prst="diamond">
            <a:avLst/>
          </a:prstGeom>
          <a:solidFill>
            <a:schemeClr val="accent4"/>
          </a:solidFill>
          <a:ln w="3175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5" name="Diamond 94">
            <a:extLst>
              <a:ext uri="{FF2B5EF4-FFF2-40B4-BE49-F238E27FC236}">
                <a16:creationId xmlns:a16="http://schemas.microsoft.com/office/drawing/2014/main" id="{7E5854AF-BC7E-7965-209A-2645B9219FF9}"/>
              </a:ext>
            </a:extLst>
          </p:cNvPr>
          <p:cNvSpPr>
            <a:spLocks noChangeAspect="1"/>
          </p:cNvSpPr>
          <p:nvPr/>
        </p:nvSpPr>
        <p:spPr>
          <a:xfrm>
            <a:off x="616878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6" name="Diamond 95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648586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7" name="Diamond 96">
            <a:extLst>
              <a:ext uri="{FF2B5EF4-FFF2-40B4-BE49-F238E27FC236}">
                <a16:creationId xmlns:a16="http://schemas.microsoft.com/office/drawing/2014/main" id="{65A09F36-00C5-CB4A-3A2E-BFDB9011F51F}"/>
              </a:ext>
            </a:extLst>
          </p:cNvPr>
          <p:cNvSpPr>
            <a:spLocks noChangeAspect="1"/>
          </p:cNvSpPr>
          <p:nvPr/>
        </p:nvSpPr>
        <p:spPr>
          <a:xfrm>
            <a:off x="680293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8" name="Diamond 97">
            <a:extLst>
              <a:ext uri="{FF2B5EF4-FFF2-40B4-BE49-F238E27FC236}">
                <a16:creationId xmlns:a16="http://schemas.microsoft.com/office/drawing/2014/main" id="{4479F722-536C-C2D7-6ED9-57AA411155C1}"/>
              </a:ext>
            </a:extLst>
          </p:cNvPr>
          <p:cNvSpPr>
            <a:spLocks noChangeAspect="1"/>
          </p:cNvSpPr>
          <p:nvPr/>
        </p:nvSpPr>
        <p:spPr>
          <a:xfrm>
            <a:off x="712001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9" name="Diamond 98">
            <a:extLst>
              <a:ext uri="{FF2B5EF4-FFF2-40B4-BE49-F238E27FC236}">
                <a16:creationId xmlns:a16="http://schemas.microsoft.com/office/drawing/2014/main" id="{3E80F536-14F0-FCC3-009D-75C10937F016}"/>
              </a:ext>
            </a:extLst>
          </p:cNvPr>
          <p:cNvSpPr>
            <a:spLocks noChangeAspect="1"/>
          </p:cNvSpPr>
          <p:nvPr/>
        </p:nvSpPr>
        <p:spPr>
          <a:xfrm>
            <a:off x="743709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0" name="Diamond 99">
            <a:extLst>
              <a:ext uri="{FF2B5EF4-FFF2-40B4-BE49-F238E27FC236}">
                <a16:creationId xmlns:a16="http://schemas.microsoft.com/office/drawing/2014/main" id="{EAABF2DB-E1B1-CCCB-40E6-F4E1A0B1902C}"/>
              </a:ext>
            </a:extLst>
          </p:cNvPr>
          <p:cNvSpPr>
            <a:spLocks noChangeAspect="1"/>
          </p:cNvSpPr>
          <p:nvPr/>
        </p:nvSpPr>
        <p:spPr>
          <a:xfrm>
            <a:off x="775416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1" name="Diamond 100">
            <a:extLst>
              <a:ext uri="{FF2B5EF4-FFF2-40B4-BE49-F238E27FC236}">
                <a16:creationId xmlns:a16="http://schemas.microsoft.com/office/drawing/2014/main" id="{1CBF9E89-1D5F-64BE-B4BA-851DEF039EB6}"/>
              </a:ext>
            </a:extLst>
          </p:cNvPr>
          <p:cNvSpPr>
            <a:spLocks noChangeAspect="1"/>
          </p:cNvSpPr>
          <p:nvPr/>
        </p:nvSpPr>
        <p:spPr>
          <a:xfrm>
            <a:off x="807124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2" name="Diamond 101">
            <a:extLst>
              <a:ext uri="{FF2B5EF4-FFF2-40B4-BE49-F238E27FC236}">
                <a16:creationId xmlns:a16="http://schemas.microsoft.com/office/drawing/2014/main" id="{BA3885CE-BA28-6F81-D83D-0783933BB427}"/>
              </a:ext>
            </a:extLst>
          </p:cNvPr>
          <p:cNvSpPr>
            <a:spLocks noChangeAspect="1"/>
          </p:cNvSpPr>
          <p:nvPr/>
        </p:nvSpPr>
        <p:spPr>
          <a:xfrm>
            <a:off x="838831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3" name="Diamond 102">
            <a:extLst>
              <a:ext uri="{FF2B5EF4-FFF2-40B4-BE49-F238E27FC236}">
                <a16:creationId xmlns:a16="http://schemas.microsoft.com/office/drawing/2014/main" id="{0528907E-F0EE-3FD7-217D-715397769FA7}"/>
              </a:ext>
            </a:extLst>
          </p:cNvPr>
          <p:cNvSpPr>
            <a:spLocks noChangeAspect="1"/>
          </p:cNvSpPr>
          <p:nvPr/>
        </p:nvSpPr>
        <p:spPr>
          <a:xfrm>
            <a:off x="870539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4" name="Diamond 103">
            <a:extLst>
              <a:ext uri="{FF2B5EF4-FFF2-40B4-BE49-F238E27FC236}">
                <a16:creationId xmlns:a16="http://schemas.microsoft.com/office/drawing/2014/main" id="{BFBF5C95-93A4-E113-20F9-1D6A964F2544}"/>
              </a:ext>
            </a:extLst>
          </p:cNvPr>
          <p:cNvSpPr>
            <a:spLocks noChangeAspect="1"/>
          </p:cNvSpPr>
          <p:nvPr/>
        </p:nvSpPr>
        <p:spPr>
          <a:xfrm>
            <a:off x="902247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5" name="Diamond 104">
            <a:extLst>
              <a:ext uri="{FF2B5EF4-FFF2-40B4-BE49-F238E27FC236}">
                <a16:creationId xmlns:a16="http://schemas.microsoft.com/office/drawing/2014/main" id="{6924E5E4-51DC-A08E-3DCD-42D37AA11DD6}"/>
              </a:ext>
            </a:extLst>
          </p:cNvPr>
          <p:cNvSpPr>
            <a:spLocks noChangeAspect="1"/>
          </p:cNvSpPr>
          <p:nvPr/>
        </p:nvSpPr>
        <p:spPr>
          <a:xfrm>
            <a:off x="933954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E237526D-61C5-F342-35B3-6F17427B0B61}"/>
              </a:ext>
            </a:extLst>
          </p:cNvPr>
          <p:cNvSpPr>
            <a:spLocks noChangeAspect="1"/>
          </p:cNvSpPr>
          <p:nvPr/>
        </p:nvSpPr>
        <p:spPr>
          <a:xfrm>
            <a:off x="965662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7" name="Diamond 106">
            <a:extLst>
              <a:ext uri="{FF2B5EF4-FFF2-40B4-BE49-F238E27FC236}">
                <a16:creationId xmlns:a16="http://schemas.microsoft.com/office/drawing/2014/main" id="{AF8EDCAA-1956-D5B3-EFC1-903F1B710CC0}"/>
              </a:ext>
            </a:extLst>
          </p:cNvPr>
          <p:cNvSpPr>
            <a:spLocks noChangeAspect="1"/>
          </p:cNvSpPr>
          <p:nvPr/>
        </p:nvSpPr>
        <p:spPr>
          <a:xfrm>
            <a:off x="997369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8" name="Diamond 107">
            <a:extLst>
              <a:ext uri="{FF2B5EF4-FFF2-40B4-BE49-F238E27FC236}">
                <a16:creationId xmlns:a16="http://schemas.microsoft.com/office/drawing/2014/main" id="{AFB5CED3-F17A-98C5-74BF-F8ECAFD775DE}"/>
              </a:ext>
            </a:extLst>
          </p:cNvPr>
          <p:cNvSpPr>
            <a:spLocks noChangeAspect="1"/>
          </p:cNvSpPr>
          <p:nvPr/>
        </p:nvSpPr>
        <p:spPr>
          <a:xfrm>
            <a:off x="1029077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3AF63743-EF16-5DC4-0FA5-1163DEBA88FA}"/>
              </a:ext>
            </a:extLst>
          </p:cNvPr>
          <p:cNvSpPr>
            <a:spLocks noChangeAspect="1"/>
          </p:cNvSpPr>
          <p:nvPr/>
        </p:nvSpPr>
        <p:spPr>
          <a:xfrm>
            <a:off x="1060785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B305258-A866-04ED-7D85-B6E99AE62A53}"/>
              </a:ext>
            </a:extLst>
          </p:cNvPr>
          <p:cNvSpPr/>
          <p:nvPr/>
        </p:nvSpPr>
        <p:spPr>
          <a:xfrm>
            <a:off x="5403875" y="1922112"/>
            <a:ext cx="1036873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DF22A88-D2DB-1434-4987-DB8CFA80FCDD}"/>
              </a:ext>
            </a:extLst>
          </p:cNvPr>
          <p:cNvSpPr/>
          <p:nvPr/>
        </p:nvSpPr>
        <p:spPr>
          <a:xfrm>
            <a:off x="6451885" y="1922112"/>
            <a:ext cx="1544035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C300240-07E8-8EF5-C9E1-709D9A40655F}"/>
              </a:ext>
            </a:extLst>
          </p:cNvPr>
          <p:cNvSpPr/>
          <p:nvPr/>
        </p:nvSpPr>
        <p:spPr>
          <a:xfrm>
            <a:off x="8007057" y="1922112"/>
            <a:ext cx="1536193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E4E5F93-54CE-5D2F-F9C9-0894332A0F87}"/>
              </a:ext>
            </a:extLst>
          </p:cNvPr>
          <p:cNvSpPr txBox="1"/>
          <p:nvPr/>
        </p:nvSpPr>
        <p:spPr>
          <a:xfrm>
            <a:off x="10395816" y="1638032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25/julho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002BF93-62DB-031D-B714-CAC00C786F8B}"/>
              </a:ext>
            </a:extLst>
          </p:cNvPr>
          <p:cNvSpPr/>
          <p:nvPr/>
        </p:nvSpPr>
        <p:spPr>
          <a:xfrm>
            <a:off x="9554387" y="1922112"/>
            <a:ext cx="1274399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Julho</a:t>
            </a:r>
          </a:p>
        </p:txBody>
      </p:sp>
      <p:sp>
        <p:nvSpPr>
          <p:cNvPr id="116" name="Rectangle 7">
            <a:extLst>
              <a:ext uri="{FF2B5EF4-FFF2-40B4-BE49-F238E27FC236}">
                <a16:creationId xmlns:a16="http://schemas.microsoft.com/office/drawing/2014/main" id="{8E8D470F-D691-CC6C-CFC8-22FD6E00335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2466924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Preparação de Satélites Corporativos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B70AB32-6041-4A0A-60F7-BBB3C964E625}"/>
              </a:ext>
            </a:extLst>
          </p:cNvPr>
          <p:cNvSpPr/>
          <p:nvPr/>
        </p:nvSpPr>
        <p:spPr>
          <a:xfrm>
            <a:off x="5425857" y="2507461"/>
            <a:ext cx="607594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17C56A9-1F67-E1A6-7B6D-530592E9A1A7}"/>
              </a:ext>
            </a:extLst>
          </p:cNvPr>
          <p:cNvSpPr txBox="1"/>
          <p:nvPr/>
        </p:nvSpPr>
        <p:spPr bwMode="auto">
          <a:xfrm>
            <a:off x="1049250" y="2910679"/>
            <a:ext cx="9779535" cy="728378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7">
            <a:extLst>
              <a:ext uri="{FF2B5EF4-FFF2-40B4-BE49-F238E27FC236}">
                <a16:creationId xmlns:a16="http://schemas.microsoft.com/office/drawing/2014/main" id="{DF4089F8-4A0E-21F9-6596-5BE9AFBFABC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2733623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de </a:t>
            </a:r>
            <a:r>
              <a:rPr lang="pt-PT" sz="1000" b="1" i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Scripts</a:t>
            </a: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Satélites Corporativos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55F204F-92EC-5ACA-E2F3-D63530EE37CA}"/>
              </a:ext>
            </a:extLst>
          </p:cNvPr>
          <p:cNvSpPr txBox="1">
            <a:spLocks noChangeAspect="1"/>
          </p:cNvSpPr>
          <p:nvPr/>
        </p:nvSpPr>
        <p:spPr>
          <a:xfrm>
            <a:off x="1029337" y="2963467"/>
            <a:ext cx="3871185" cy="213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>
                <a:latin typeface="Arial" panose="020B0604020202020204" pitchFamily="34" charset="0"/>
                <a:cs typeface="Arial" panose="020B0604020202020204" pitchFamily="34" charset="0"/>
              </a:rPr>
              <a:t>Satélites Granulares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357419D-47A6-F846-EFEF-4C38585D1AF1}"/>
              </a:ext>
            </a:extLst>
          </p:cNvPr>
          <p:cNvSpPr txBox="1">
            <a:spLocks noChangeAspect="1"/>
          </p:cNvSpPr>
          <p:nvPr/>
        </p:nvSpPr>
        <p:spPr>
          <a:xfrm>
            <a:off x="1029338" y="3185768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Satélites Agregados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B5548F4-7AE4-C44A-6064-6FC01B012A7F}"/>
              </a:ext>
            </a:extLst>
          </p:cNvPr>
          <p:cNvSpPr txBox="1">
            <a:spLocks noChangeAspect="1"/>
          </p:cNvSpPr>
          <p:nvPr/>
        </p:nvSpPr>
        <p:spPr>
          <a:xfrm>
            <a:off x="1029338" y="3394048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>
                <a:latin typeface="Arial" panose="020B0604020202020204" pitchFamily="34" charset="0"/>
                <a:cs typeface="Arial" panose="020B0604020202020204" pitchFamily="34" charset="0"/>
              </a:rPr>
              <a:t>Validações, testes &amp; </a:t>
            </a:r>
            <a:r>
              <a:rPr lang="pt-PT" sz="1000" err="1">
                <a:latin typeface="Arial" panose="020B0604020202020204" pitchFamily="34" charset="0"/>
                <a:cs typeface="Arial" panose="020B0604020202020204" pitchFamily="34" charset="0"/>
              </a:rPr>
              <a:t>re-testes</a:t>
            </a:r>
            <a:endParaRPr lang="pt-PT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E3D58D5-1ECF-F234-19DD-39FBC0866E26}"/>
              </a:ext>
            </a:extLst>
          </p:cNvPr>
          <p:cNvSpPr/>
          <p:nvPr/>
        </p:nvSpPr>
        <p:spPr>
          <a:xfrm>
            <a:off x="6074641" y="3001691"/>
            <a:ext cx="3384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01418C6-D1E9-CBDB-27C9-361E401033ED}"/>
              </a:ext>
            </a:extLst>
          </p:cNvPr>
          <p:cNvSpPr/>
          <p:nvPr/>
        </p:nvSpPr>
        <p:spPr>
          <a:xfrm>
            <a:off x="6074641" y="3216332"/>
            <a:ext cx="3384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706A1BF-9703-5D07-1DFC-088310652790}"/>
              </a:ext>
            </a:extLst>
          </p:cNvPr>
          <p:cNvSpPr/>
          <p:nvPr/>
        </p:nvSpPr>
        <p:spPr>
          <a:xfrm>
            <a:off x="9183867" y="3418272"/>
            <a:ext cx="583767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DFB3024-2134-0004-C433-2CD51BAD08EB}"/>
              </a:ext>
            </a:extLst>
          </p:cNvPr>
          <p:cNvSpPr/>
          <p:nvPr/>
        </p:nvSpPr>
        <p:spPr>
          <a:xfrm>
            <a:off x="6074642" y="2774160"/>
            <a:ext cx="3692995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Rectangle 7">
            <a:extLst>
              <a:ext uri="{FF2B5EF4-FFF2-40B4-BE49-F238E27FC236}">
                <a16:creationId xmlns:a16="http://schemas.microsoft.com/office/drawing/2014/main" id="{D6D02ADE-A6FF-54CE-5C1C-79C40CC974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3695207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Realização de paralelo com o reporte de dezembro de 2024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2A42914-9C87-484F-1585-407FE4BE0FE8}"/>
              </a:ext>
            </a:extLst>
          </p:cNvPr>
          <p:cNvSpPr/>
          <p:nvPr/>
        </p:nvSpPr>
        <p:spPr>
          <a:xfrm>
            <a:off x="6272868" y="3735744"/>
            <a:ext cx="3811847" cy="1409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7">
            <a:extLst>
              <a:ext uri="{FF2B5EF4-FFF2-40B4-BE49-F238E27FC236}">
                <a16:creationId xmlns:a16="http://schemas.microsoft.com/office/drawing/2014/main" id="{D6B6CE45-B1EC-A35B-0938-113EC766378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3978235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 de junho de 2025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Rectangle 7">
            <a:extLst>
              <a:ext uri="{FF2B5EF4-FFF2-40B4-BE49-F238E27FC236}">
                <a16:creationId xmlns:a16="http://schemas.microsoft.com/office/drawing/2014/main" id="{82135F0B-1F60-CF53-532B-51BF81617B1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4261265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Documentação &amp; passagem de conhecimento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F172C3A-588A-8496-1408-6F814EF2F216}"/>
              </a:ext>
            </a:extLst>
          </p:cNvPr>
          <p:cNvSpPr/>
          <p:nvPr/>
        </p:nvSpPr>
        <p:spPr>
          <a:xfrm>
            <a:off x="9902991" y="4018772"/>
            <a:ext cx="92207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EFFDB1B-E1E8-3808-044B-80D15D21F6C7}"/>
              </a:ext>
            </a:extLst>
          </p:cNvPr>
          <p:cNvSpPr/>
          <p:nvPr/>
        </p:nvSpPr>
        <p:spPr>
          <a:xfrm>
            <a:off x="10082601" y="4301802"/>
            <a:ext cx="39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Rectangle 7">
            <a:extLst>
              <a:ext uri="{FF2B5EF4-FFF2-40B4-BE49-F238E27FC236}">
                <a16:creationId xmlns:a16="http://schemas.microsoft.com/office/drawing/2014/main" id="{3C7B49CE-9BF9-8976-075F-03ED755972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2" y="5010698"/>
            <a:ext cx="9821226" cy="204459"/>
          </a:xfrm>
          <a:prstGeom prst="rect">
            <a:avLst/>
          </a:prstGeom>
          <a:solidFill>
            <a:srgbClr val="EBEBE6"/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Identificação de casuísticas de diferenças e correções</a:t>
            </a:r>
            <a:r>
              <a:rPr lang="pt-PT" sz="10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63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7350" y="5229451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 padronização de diferenças por casuísticas deverá ser avaliada no final deste projeto numa lógica de </a:t>
            </a:r>
            <a:r>
              <a:rPr kumimoji="0" lang="pt-PT" sz="800" b="1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Time </a:t>
            </a:r>
            <a:r>
              <a:rPr kumimoji="0" lang="pt-PT" sz="800" b="1" i="1" u="none" strike="noStrike" kern="120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and</a:t>
            </a:r>
            <a:r>
              <a:rPr kumimoji="0" lang="pt-PT" sz="800" b="1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1" i="1" u="none" strike="noStrike" kern="120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Materials</a:t>
            </a:r>
            <a:r>
              <a:rPr kumimoji="0" lang="pt-PT" sz="800" b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dada a imprevisibilidade de estimação da mesma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170" name="Group 169"/>
          <p:cNvGrpSpPr/>
          <p:nvPr/>
        </p:nvGrpSpPr>
        <p:grpSpPr>
          <a:xfrm>
            <a:off x="6531536" y="1578609"/>
            <a:ext cx="648000" cy="3146164"/>
            <a:chOff x="5596215" y="1578609"/>
            <a:chExt cx="648000" cy="2898656"/>
          </a:xfrm>
        </p:grpSpPr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08D52EAB-5923-D107-2392-16243FA8ECCE}"/>
                </a:ext>
              </a:extLst>
            </p:cNvPr>
            <p:cNvGrpSpPr/>
            <p:nvPr/>
          </p:nvGrpSpPr>
          <p:grpSpPr>
            <a:xfrm>
              <a:off x="5866215" y="1792896"/>
              <a:ext cx="108000" cy="2684369"/>
              <a:chOff x="3546168" y="1579821"/>
              <a:chExt cx="108000" cy="3480276"/>
            </a:xfrm>
          </p:grpSpPr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0F2EC365-7791-604A-1681-A658BD989F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8392" y="1621840"/>
                <a:ext cx="21860" cy="3438257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51FAF1F6-88D3-9119-2BED-434DA4001BD6}"/>
                  </a:ext>
                </a:extLst>
              </p:cNvPr>
              <p:cNvSpPr/>
              <p:nvPr/>
            </p:nvSpPr>
            <p:spPr>
              <a:xfrm>
                <a:off x="3546168" y="1579821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1077925">
                  <a:defRPr/>
                </a:pPr>
                <a:endParaRPr lang="pt-PT" sz="1300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450A820F-6923-918E-28FC-3FBD45F1174D}"/>
                </a:ext>
              </a:extLst>
            </p:cNvPr>
            <p:cNvSpPr txBox="1"/>
            <p:nvPr/>
          </p:nvSpPr>
          <p:spPr>
            <a:xfrm>
              <a:off x="5596215" y="1578609"/>
              <a:ext cx="648000" cy="2000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pt-PT" sz="700" b="1" i="1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Hoje</a:t>
              </a:r>
              <a:endPara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4" name="Diamond 63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5861958" y="227069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310599-3195-0C59-C5C7-2F68D25BACD4}"/>
              </a:ext>
            </a:extLst>
          </p:cNvPr>
          <p:cNvSpPr txBox="1">
            <a:spLocks noChangeAspect="1"/>
          </p:cNvSpPr>
          <p:nvPr/>
        </p:nvSpPr>
        <p:spPr>
          <a:xfrm>
            <a:off x="1027070" y="4511571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Documentação do processo </a:t>
            </a:r>
            <a:r>
              <a:rPr lang="pt-PT" sz="1000" i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t-PT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 proposto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429B894-D00E-A2EC-3271-C40EFB713A61}"/>
              </a:ext>
            </a:extLst>
          </p:cNvPr>
          <p:cNvSpPr/>
          <p:nvPr/>
        </p:nvSpPr>
        <p:spPr>
          <a:xfrm>
            <a:off x="7292292" y="453290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Diamond 67">
            <a:extLst>
              <a:ext uri="{FF2B5EF4-FFF2-40B4-BE49-F238E27FC236}">
                <a16:creationId xmlns:a16="http://schemas.microsoft.com/office/drawing/2014/main" id="{465B90BF-E598-B740-4B8E-3A2A9821D420}"/>
              </a:ext>
            </a:extLst>
          </p:cNvPr>
          <p:cNvSpPr>
            <a:spLocks noChangeAspect="1"/>
          </p:cNvSpPr>
          <p:nvPr/>
        </p:nvSpPr>
        <p:spPr>
          <a:xfrm>
            <a:off x="7348251" y="454924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B5BEB0B-5BFD-E773-772E-C8AFC68D3F27}"/>
              </a:ext>
            </a:extLst>
          </p:cNvPr>
          <p:cNvSpPr/>
          <p:nvPr/>
        </p:nvSpPr>
        <p:spPr>
          <a:xfrm>
            <a:off x="8881445" y="453290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CD205661-9198-36D7-8EAB-3F0560985861}"/>
              </a:ext>
            </a:extLst>
          </p:cNvPr>
          <p:cNvSpPr>
            <a:spLocks noChangeAspect="1"/>
          </p:cNvSpPr>
          <p:nvPr/>
        </p:nvSpPr>
        <p:spPr>
          <a:xfrm>
            <a:off x="8937404" y="454924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C75960E-D96A-A1F0-39C8-BB59D448BAA0}"/>
              </a:ext>
            </a:extLst>
          </p:cNvPr>
          <p:cNvSpPr/>
          <p:nvPr/>
        </p:nvSpPr>
        <p:spPr>
          <a:xfrm>
            <a:off x="10341030" y="4544366"/>
            <a:ext cx="25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92AA8718-D351-7A60-360D-D5974E5755E0}"/>
              </a:ext>
            </a:extLst>
          </p:cNvPr>
          <p:cNvSpPr>
            <a:spLocks noChangeAspect="1"/>
          </p:cNvSpPr>
          <p:nvPr/>
        </p:nvSpPr>
        <p:spPr>
          <a:xfrm>
            <a:off x="10414989" y="4560707"/>
            <a:ext cx="104082" cy="104118"/>
          </a:xfrm>
          <a:prstGeom prst="diamond">
            <a:avLst/>
          </a:prstGeom>
          <a:solidFill>
            <a:schemeClr val="accent2">
              <a:lumMod val="75000"/>
            </a:schemeClr>
          </a:solidFill>
          <a:ln w="3175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EB57593-72A6-9315-5BE9-2BA6E68E941E}"/>
              </a:ext>
            </a:extLst>
          </p:cNvPr>
          <p:cNvGrpSpPr/>
          <p:nvPr/>
        </p:nvGrpSpPr>
        <p:grpSpPr>
          <a:xfrm>
            <a:off x="756067" y="6344379"/>
            <a:ext cx="3328407" cy="261610"/>
            <a:chOff x="2854175" y="6420579"/>
            <a:chExt cx="3328407" cy="261610"/>
          </a:xfrm>
        </p:grpSpPr>
        <p:sp>
          <p:nvSpPr>
            <p:cNvPr id="74" name="Text Placeholder 3">
              <a:extLst>
                <a:ext uri="{FF2B5EF4-FFF2-40B4-BE49-F238E27FC236}">
                  <a16:creationId xmlns:a16="http://schemas.microsoft.com/office/drawing/2014/main" id="{2A57DB55-55E8-D9FA-ECC8-E8EF4DE979C1}"/>
                </a:ext>
              </a:extLst>
            </p:cNvPr>
            <p:cNvSpPr txBox="1">
              <a:spLocks/>
            </p:cNvSpPr>
            <p:nvPr/>
          </p:nvSpPr>
          <p:spPr>
            <a:xfrm>
              <a:off x="2854175" y="6420579"/>
              <a:ext cx="75773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1000" b="1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Legenda:</a:t>
              </a: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B1B72E6F-B91B-75C9-DF30-0D9AF0891ECA}"/>
                </a:ext>
              </a:extLst>
            </p:cNvPr>
            <p:cNvGrpSpPr/>
            <p:nvPr/>
          </p:nvGrpSpPr>
          <p:grpSpPr>
            <a:xfrm>
              <a:off x="3611913" y="6430589"/>
              <a:ext cx="1276444" cy="244682"/>
              <a:chOff x="1747576" y="6428650"/>
              <a:chExt cx="1276610" cy="244714"/>
            </a:xfrm>
          </p:grpSpPr>
          <p:sp>
            <p:nvSpPr>
              <p:cNvPr id="79" name="Text Placeholder 3">
                <a:extLst>
                  <a:ext uri="{FF2B5EF4-FFF2-40B4-BE49-F238E27FC236}">
                    <a16:creationId xmlns:a16="http://schemas.microsoft.com/office/drawing/2014/main" id="{44128D0F-4199-0711-66E2-8601832FB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47250" y="6428650"/>
                <a:ext cx="1176936" cy="244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</a:t>
                </a:r>
                <a:r>
                  <a:rPr kumimoji="0" lang="pt-PT" sz="900" b="0" i="1" u="none" strike="noStrike" kern="1200" cap="none" spc="0" normalizeH="0" baseline="0" noProof="0" err="1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Kickoff</a:t>
                </a:r>
                <a:endParaRPr kumimoji="0" lang="pt-PT" sz="900" b="0" i="1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80" name="Diamond 79">
                <a:extLst>
                  <a:ext uri="{FF2B5EF4-FFF2-40B4-BE49-F238E27FC236}">
                    <a16:creationId xmlns:a16="http://schemas.microsoft.com/office/drawing/2014/main" id="{5765CB58-631E-687A-3A08-6C6B0E7985DA}"/>
                  </a:ext>
                </a:extLst>
              </p:cNvPr>
              <p:cNvSpPr/>
              <p:nvPr/>
            </p:nvSpPr>
            <p:spPr>
              <a:xfrm>
                <a:off x="1747576" y="6485909"/>
                <a:ext cx="125955" cy="126000"/>
              </a:xfrm>
              <a:prstGeom prst="diamond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accent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1055F664-C382-0613-D546-217DCFD50AA5}"/>
                </a:ext>
              </a:extLst>
            </p:cNvPr>
            <p:cNvGrpSpPr/>
            <p:nvPr/>
          </p:nvGrpSpPr>
          <p:grpSpPr>
            <a:xfrm>
              <a:off x="4910900" y="6432511"/>
              <a:ext cx="1271682" cy="244682"/>
              <a:chOff x="3406519" y="6432511"/>
              <a:chExt cx="1271682" cy="244682"/>
            </a:xfrm>
          </p:grpSpPr>
          <p:sp>
            <p:nvSpPr>
              <p:cNvPr id="77" name="Diamond 76">
                <a:extLst>
                  <a:ext uri="{FF2B5EF4-FFF2-40B4-BE49-F238E27FC236}">
                    <a16:creationId xmlns:a16="http://schemas.microsoft.com/office/drawing/2014/main" id="{16ED01B3-96E2-56ED-A116-AF52B959D420}"/>
                  </a:ext>
                </a:extLst>
              </p:cNvPr>
              <p:cNvSpPr/>
              <p:nvPr/>
            </p:nvSpPr>
            <p:spPr>
              <a:xfrm>
                <a:off x="3406519" y="6486587"/>
                <a:ext cx="125939" cy="125983"/>
              </a:xfrm>
              <a:prstGeom prst="diamond">
                <a:avLst/>
              </a:prstGeom>
              <a:solidFill>
                <a:srgbClr val="FFFFFF"/>
              </a:soli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78" name="Text Placeholder 3">
                <a:extLst>
                  <a:ext uri="{FF2B5EF4-FFF2-40B4-BE49-F238E27FC236}">
                    <a16:creationId xmlns:a16="http://schemas.microsoft.com/office/drawing/2014/main" id="{9AA4433C-2D5B-C8CC-4267-4153CF9654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01418" y="6432511"/>
                <a:ext cx="1176783" cy="244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PDS</a:t>
                </a:r>
                <a:endPara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</p:grpSp>
      <p:sp>
        <p:nvSpPr>
          <p:cNvPr id="81" name="Diamond 80">
            <a:extLst>
              <a:ext uri="{FF2B5EF4-FFF2-40B4-BE49-F238E27FC236}">
                <a16:creationId xmlns:a16="http://schemas.microsoft.com/office/drawing/2014/main" id="{A4D65543-4F85-BD3C-D129-CCAC6FD8E50E}"/>
              </a:ext>
            </a:extLst>
          </p:cNvPr>
          <p:cNvSpPr>
            <a:spLocks noChangeAspect="1"/>
          </p:cNvSpPr>
          <p:nvPr/>
        </p:nvSpPr>
        <p:spPr>
          <a:xfrm>
            <a:off x="4023232" y="6430097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2" name="Text Placeholder 3">
            <a:extLst>
              <a:ext uri="{FF2B5EF4-FFF2-40B4-BE49-F238E27FC236}">
                <a16:creationId xmlns:a16="http://schemas.microsoft.com/office/drawing/2014/main" id="{E4ECBDFF-E2E1-FE67-41CD-92E41A5E9B99}"/>
              </a:ext>
            </a:extLst>
          </p:cNvPr>
          <p:cNvSpPr txBox="1">
            <a:spLocks/>
          </p:cNvSpPr>
          <p:nvPr/>
        </p:nvSpPr>
        <p:spPr>
          <a:xfrm>
            <a:off x="4094658" y="6362904"/>
            <a:ext cx="1544575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Documentação preliminar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CF4B2A0-D142-E77D-D7FF-CBBFBB106AC6}"/>
              </a:ext>
            </a:extLst>
          </p:cNvPr>
          <p:cNvGrpSpPr/>
          <p:nvPr/>
        </p:nvGrpSpPr>
        <p:grpSpPr>
          <a:xfrm>
            <a:off x="5596215" y="6362904"/>
            <a:ext cx="1361786" cy="244682"/>
            <a:chOff x="6454685" y="6591504"/>
            <a:chExt cx="1361786" cy="244682"/>
          </a:xfrm>
        </p:grpSpPr>
        <p:sp>
          <p:nvSpPr>
            <p:cNvPr id="94" name="Diamond 93">
              <a:extLst>
                <a:ext uri="{FF2B5EF4-FFF2-40B4-BE49-F238E27FC236}">
                  <a16:creationId xmlns:a16="http://schemas.microsoft.com/office/drawing/2014/main" id="{26C9CF88-5C61-F04F-888E-42BA21CB0E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4685" y="6658697"/>
              <a:ext cx="104082" cy="104118"/>
            </a:xfrm>
            <a:prstGeom prst="diamond">
              <a:avLst/>
            </a:prstGeom>
            <a:solidFill>
              <a:schemeClr val="accent2">
                <a:lumMod val="75000"/>
              </a:schemeClr>
            </a:solidFill>
            <a:ln w="3175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12464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13" name="Text Placeholder 3">
              <a:extLst>
                <a:ext uri="{FF2B5EF4-FFF2-40B4-BE49-F238E27FC236}">
                  <a16:creationId xmlns:a16="http://schemas.microsoft.com/office/drawing/2014/main" id="{EFBEBEC5-7FBA-B788-CA42-6DB30B67DADE}"/>
                </a:ext>
              </a:extLst>
            </p:cNvPr>
            <p:cNvSpPr txBox="1">
              <a:spLocks/>
            </p:cNvSpPr>
            <p:nvPr/>
          </p:nvSpPr>
          <p:spPr>
            <a:xfrm>
              <a:off x="6526111" y="6591504"/>
              <a:ext cx="1290360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Documentação final</a:t>
              </a:r>
              <a:endPara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611513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=""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(3|3)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Plano de entregas – </a:t>
            </a:r>
            <a:r>
              <a:rPr lang="pt-PT" i="1" dirty="0" smtClean="0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 Locais &amp; Satélites Corporativos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9918" y="6531678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plano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apresentado não inclui a inclusão do universo de adjudicados.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003843" y="1297065"/>
            <a:ext cx="3984530" cy="4990002"/>
            <a:chOff x="2003843" y="1297065"/>
            <a:chExt cx="3984530" cy="4990002"/>
          </a:xfrm>
        </p:grpSpPr>
        <p:sp>
          <p:nvSpPr>
            <p:cNvPr id="91" name="Rectangle 25">
              <a:extLst>
                <a:ext uri="{FF2B5EF4-FFF2-40B4-BE49-F238E27FC236}">
                  <a16:creationId xmlns:a16="http://schemas.microsoft.com/office/drawing/2014/main" id="{EED8F888-5BB1-7A74-405E-028D6B44A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2921731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 de julho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Rectangle 25">
              <a:extLst>
                <a:ext uri="{FF2B5EF4-FFF2-40B4-BE49-F238E27FC236}">
                  <a16:creationId xmlns:a16="http://schemas.microsoft.com/office/drawing/2014/main" id="{4B98099B-9BC1-4802-8974-B3603A052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1297065"/>
              <a:ext cx="200705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lvl="0" defTabSz="914400" eaLnBrk="0">
                <a:lnSpc>
                  <a:spcPct val="110000"/>
                </a:lnSpc>
                <a:defRPr/>
              </a:pPr>
              <a:r>
                <a:rPr kumimoji="0" lang="pt-P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Data de </a:t>
              </a:r>
              <a:r>
                <a:rPr kumimoji="0" lang="pt-PT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entrega</a:t>
              </a:r>
              <a:r>
                <a:rPr lang="pt-PT" sz="1200" kern="1200" baseline="30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</a:t>
              </a:r>
              <a:endParaRPr kumimoji="0" lang="pt-PT" sz="1200" b="1" i="0" u="none" strike="noStrike" kern="0" cap="none" spc="0" normalizeH="0" baseline="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93" name="Rectangle 25">
              <a:extLst>
                <a:ext uri="{FF2B5EF4-FFF2-40B4-BE49-F238E27FC236}">
                  <a16:creationId xmlns:a16="http://schemas.microsoft.com/office/drawing/2014/main" id="{E1492F7E-F7A0-4E85-8FC1-862D9C8BA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3493998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 de maio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2349464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70707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22</a:t>
              </a:r>
              <a:r>
                <a:rPr kumimoji="0" lang="pt-PT" sz="1050" b="1" i="0" u="none" strike="noStrike" kern="0" cap="none" spc="0" normalizeH="0" noProof="0" dirty="0" smtClean="0">
                  <a:ln>
                    <a:noFill/>
                  </a:ln>
                  <a:solidFill>
                    <a:srgbClr val="70707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 de maio</a:t>
              </a:r>
              <a:endParaRPr kumimoji="0" lang="pt-PT" sz="1050" b="1" i="0" u="none" strike="noStrike" kern="0" cap="none" spc="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97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4638532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27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99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5210799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30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102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5783067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17 de junho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Rectangle 23">
              <a:extLst>
                <a:ext uri="{FF2B5EF4-FFF2-40B4-BE49-F238E27FC236}">
                  <a16:creationId xmlns:a16="http://schemas.microsoft.com/office/drawing/2014/main" id="{967FFCDF-AA55-4D26-46C6-FCE66F3FD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292189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Rectangle 23">
              <a:extLst>
                <a:ext uri="{FF2B5EF4-FFF2-40B4-BE49-F238E27FC236}">
                  <a16:creationId xmlns:a16="http://schemas.microsoft.com/office/drawing/2014/main" id="{D20F415D-1EDC-4314-9A6F-9CEDE78E1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1297065"/>
              <a:ext cx="188586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marL="0" marR="0" lvl="0" indent="0" algn="ctr" defTabSz="914400" rtl="0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200" b="1" i="1" noProof="0" dirty="0">
                  <a:solidFill>
                    <a:srgbClr val="FFFFFF"/>
                  </a:solidFill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</a:rPr>
                <a:t>Templates</a:t>
              </a:r>
              <a:endParaRPr kumimoji="0" lang="pt-PT" sz="1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06" name="Rectangle 23">
              <a:extLst>
                <a:ext uri="{FF2B5EF4-FFF2-40B4-BE49-F238E27FC236}">
                  <a16:creationId xmlns:a16="http://schemas.microsoft.com/office/drawing/2014/main" id="{93C193AE-EED8-440A-8458-F8D9C966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3494125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 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7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2349655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>
                <a:defRPr/>
              </a:pP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 (STE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08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4638595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i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5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09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521083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>
                <a:defRPr/>
              </a:pPr>
              <a:r>
                <a:rPr lang="pt-PT" sz="1050" i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6,7,8,9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5783067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30" name="Rectangle 23">
              <a:extLst>
                <a:ext uri="{FF2B5EF4-FFF2-40B4-BE49-F238E27FC236}">
                  <a16:creationId xmlns:a16="http://schemas.microsoft.com/office/drawing/2014/main" id="{01BE7C0B-121C-19E7-1B3C-9B63E3FD2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177742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(STE)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39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1321" y="1777197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 de julho</a:t>
              </a:r>
              <a:endParaRPr kumimoji="0" lang="pt-PT" sz="1050" b="1" i="0" u="none" strike="noStrike" kern="0" cap="none" spc="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37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4066265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 de junho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406636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i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322932" y="1297065"/>
            <a:ext cx="3994258" cy="3820454"/>
            <a:chOff x="6449391" y="1300824"/>
            <a:chExt cx="3994258" cy="3820454"/>
          </a:xfrm>
        </p:grpSpPr>
        <p:sp>
          <p:nvSpPr>
            <p:cNvPr id="42" name="Rectangle 25">
              <a:extLst>
                <a:ext uri="{FF2B5EF4-FFF2-40B4-BE49-F238E27FC236}">
                  <a16:creationId xmlns:a16="http://schemas.microsoft.com/office/drawing/2014/main" id="{EED8F888-5BB1-7A74-405E-028D6B44A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3481611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30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43" name="Rectangle 25">
              <a:extLst>
                <a:ext uri="{FF2B5EF4-FFF2-40B4-BE49-F238E27FC236}">
                  <a16:creationId xmlns:a16="http://schemas.microsoft.com/office/drawing/2014/main" id="{4B98099B-9BC1-4802-8974-B3603A052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1300824"/>
              <a:ext cx="200705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lvl="0" defTabSz="914400" eaLnBrk="0">
                <a:lnSpc>
                  <a:spcPct val="110000"/>
                </a:lnSpc>
                <a:defRPr/>
              </a:pPr>
              <a:r>
                <a:rPr kumimoji="0" lang="pt-P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Data de </a:t>
              </a:r>
              <a:r>
                <a:rPr kumimoji="0" lang="pt-PT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entrega</a:t>
              </a:r>
              <a:r>
                <a:rPr lang="pt-PT" sz="1200" kern="1200" baseline="30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</a:t>
              </a:r>
              <a:endParaRPr kumimoji="0" lang="pt-PT" sz="1200" b="1" i="0" u="none" strike="noStrike" kern="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25">
              <a:extLst>
                <a:ext uri="{FF2B5EF4-FFF2-40B4-BE49-F238E27FC236}">
                  <a16:creationId xmlns:a16="http://schemas.microsoft.com/office/drawing/2014/main" id="{E1492F7E-F7A0-4E85-8FC1-862D9C8BA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4048719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27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2914503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17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4615825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junho</a:t>
              </a:r>
            </a:p>
          </p:txBody>
        </p:sp>
        <p:sp>
          <p:nvSpPr>
            <p:cNvPr id="47" name="Rectangle 23">
              <a:extLst>
                <a:ext uri="{FF2B5EF4-FFF2-40B4-BE49-F238E27FC236}">
                  <a16:creationId xmlns:a16="http://schemas.microsoft.com/office/drawing/2014/main" id="{967FFCDF-AA55-4D26-46C6-FCE66F3FD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3482572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84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Rectangle 23">
              <a:extLst>
                <a:ext uri="{FF2B5EF4-FFF2-40B4-BE49-F238E27FC236}">
                  <a16:creationId xmlns:a16="http://schemas.microsoft.com/office/drawing/2014/main" id="{D20F415D-1EDC-4314-9A6F-9CEDE78E1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1300824"/>
              <a:ext cx="188586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marL="0" marR="0" lvl="0" indent="0" algn="ctr" defTabSz="914400" rtl="0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200" b="1" i="1" noProof="0" dirty="0" smtClean="0">
                  <a:solidFill>
                    <a:srgbClr val="FFFFFF"/>
                  </a:solidFill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</a:rPr>
                <a:t>Satélites</a:t>
              </a:r>
              <a:endParaRPr kumimoji="0" lang="pt-PT" sz="1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9" name="Rectangle 23">
              <a:extLst>
                <a:ext uri="{FF2B5EF4-FFF2-40B4-BE49-F238E27FC236}">
                  <a16:creationId xmlns:a16="http://schemas.microsoft.com/office/drawing/2014/main" id="{93C193AE-EED8-440A-8458-F8D9C966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4049926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93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2915218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83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4617278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109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2" name="Rectangle 23">
              <a:extLst>
                <a:ext uri="{FF2B5EF4-FFF2-40B4-BE49-F238E27FC236}">
                  <a16:creationId xmlns:a16="http://schemas.microsoft.com/office/drawing/2014/main" id="{01BE7C0B-121C-19E7-1B3C-9B63E3FD2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2347864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80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3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6597" y="2347395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54" name="Rectangle 23">
              <a:extLst>
                <a:ext uri="{FF2B5EF4-FFF2-40B4-BE49-F238E27FC236}">
                  <a16:creationId xmlns:a16="http://schemas.microsoft.com/office/drawing/2014/main" id="{01BE7C0B-121C-19E7-1B3C-9B63E3FD2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178051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79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5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6597" y="1780287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23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946410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="" xmlns:p188="http://schemas.microsoft.com/office/powerpoint/2018/8/main" r:id="rId4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Riscos e desafios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principais </a:t>
            </a: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riscos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1" i="1" u="none" strike="noStrike" kern="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issues</a:t>
            </a:r>
            <a:r>
              <a:rPr kumimoji="0" lang="pt-PT" sz="12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identificados no decorrer das atividades realizadas:</a:t>
            </a:r>
            <a:endParaRPr kumimoji="0" lang="pt-PT" sz="1200" b="0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Riscos e </a:t>
            </a:r>
            <a:r>
              <a:rPr kumimoji="0" lang="pt-PT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Issues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D9A007-2076-434E-9443-413CAB9A9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5" y="1705888"/>
            <a:ext cx="954338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Tipo de impacto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1705888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Descrição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1705888"/>
            <a:ext cx="2686112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Impacto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1705888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Medida de mitigação</a:t>
            </a: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56CE09CC-2821-420F-AF6F-BE5831FAB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3" y="1705888"/>
            <a:ext cx="725946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Nível de impacto</a:t>
            </a:r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6" y="2180590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2180591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Imóveis Adjudicados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2176995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Corporativo. – A aguardar entrega de calendário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8" y="2176995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7" y="2176996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9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5" y="2176995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1705888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Estado / Conclusão</a:t>
            </a:r>
          </a:p>
        </p:txBody>
      </p:sp>
      <p:sp>
        <p:nvSpPr>
          <p:cNvPr id="30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9" y="217699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noProof="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000" b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 </a:t>
            </a:r>
          </a:p>
          <a:p>
            <a:pPr defTabSz="412629"/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abril</a:t>
            </a:r>
            <a:endParaRPr kumimoji="0" lang="pt-PT" sz="1000" b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9A133E12-D2DA-658A-F057-44EDEE634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Abertura</a:t>
            </a:r>
          </a:p>
        </p:txBody>
      </p:sp>
      <p:sp>
        <p:nvSpPr>
          <p:cNvPr id="40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4" y="217699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B745728B-05A0-EA3C-AC4C-0DBDF1C09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2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F363ED70-21A4-44CD-ABA0-1E46C337981E}"/>
              </a:ext>
            </a:extLst>
          </p:cNvPr>
          <p:cNvSpPr txBox="1">
            <a:spLocks/>
          </p:cNvSpPr>
          <p:nvPr/>
        </p:nvSpPr>
        <p:spPr>
          <a:xfrm>
            <a:off x="291099" y="6372639"/>
            <a:ext cx="10753074" cy="2277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1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Atividade com </a:t>
            </a:r>
            <a:r>
              <a:rPr lang="pt-PT" sz="80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ownership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Banco </a:t>
            </a:r>
            <a:r>
              <a:rPr lang="pt-PT" sz="8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Santander e Tecnologia.</a:t>
            </a:r>
            <a:endParaRPr kumimoji="0" lang="pt-PT" sz="8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6" y="3074075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3074076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Emissões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financiadas</a:t>
            </a:r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3070480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– A aguardar entrega de calendário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8" y="3070480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7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7" y="3070481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5" y="3070480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9" y="3070480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de </a:t>
            </a:r>
          </a:p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4" y="3070480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32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1" y="3976240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3" y="3976241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tabela de parametrização de Universo - ag801_param_satel_univ</a:t>
            </a:r>
          </a:p>
        </p:txBody>
      </p:sp>
      <p:sp>
        <p:nvSpPr>
          <p:cNvPr id="36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2" y="3972645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– A aguardar entrega de calendário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3972645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2" y="3972646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39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3972645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1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397264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</a:t>
            </a:r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</a:p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43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39" y="397264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47148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1AD5EB-AEE4-46F1-B1D9-0B05ED8544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Próximos Passos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613DC-8C22-4792-B7B7-D93AD418CD67}"/>
              </a:ext>
            </a:extLst>
          </p:cNvPr>
          <p:cNvSpPr txBox="1">
            <a:spLocks/>
          </p:cNvSpPr>
          <p:nvPr/>
        </p:nvSpPr>
        <p:spPr>
          <a:xfrm>
            <a:off x="609521" y="1171192"/>
            <a:ext cx="9433718" cy="391271"/>
          </a:xfrm>
          <a:prstGeom prst="rect">
            <a:avLst/>
          </a:prstGeom>
        </p:spPr>
        <p:txBody>
          <a:bodyPr/>
          <a:lstStyle>
            <a:lvl1pPr marL="111374" indent="-111374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Apresentamos em seguida as próximas atividades a desenvolver até </a:t>
            </a:r>
            <a:r>
              <a:rPr lang="pt-PT" sz="12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maio</a:t>
            </a:r>
            <a:r>
              <a:rPr kumimoji="0" lang="pt-PT" sz="12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respetivos responsáveis:</a:t>
            </a:r>
          </a:p>
        </p:txBody>
      </p:sp>
      <p:sp>
        <p:nvSpPr>
          <p:cNvPr id="33" name="Arrow: Chevron 44">
            <a:extLst>
              <a:ext uri="{FF2B5EF4-FFF2-40B4-BE49-F238E27FC236}">
                <a16:creationId xmlns:a16="http://schemas.microsoft.com/office/drawing/2014/main" id="{5A5775D3-8E92-4882-941D-C9B8227FAFF4}"/>
              </a:ext>
            </a:extLst>
          </p:cNvPr>
          <p:cNvSpPr/>
          <p:nvPr/>
        </p:nvSpPr>
        <p:spPr>
          <a:xfrm>
            <a:off x="2551302" y="1890385"/>
            <a:ext cx="5992802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Atividades – </a:t>
            </a:r>
            <a:r>
              <a:rPr lang="pt-PT" sz="1200" b="1" dirty="0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15 de maio a 22 de maio</a:t>
            </a:r>
            <a:endParaRPr lang="pt-PT" sz="1200" b="1" dirty="0">
              <a:solidFill>
                <a:srgbClr val="FFFFFF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</p:txBody>
      </p:sp>
      <p:sp>
        <p:nvSpPr>
          <p:cNvPr id="34" name="AutoShape 3">
            <a:extLst>
              <a:ext uri="{FF2B5EF4-FFF2-40B4-BE49-F238E27FC236}">
                <a16:creationId xmlns:a16="http://schemas.microsoft.com/office/drawing/2014/main" id="{C1FFD409-2011-4857-90A4-E2154DEE9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1890385"/>
            <a:ext cx="468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10000"/>
              </a:lnSpc>
            </a:pPr>
            <a:r>
              <a:rPr lang="pt-PT" b="1">
                <a:solidFill>
                  <a:srgbClr val="FFFFFF"/>
                </a:solidFill>
                <a:ea typeface="Tahoma" pitchFamily="34" charset="0"/>
                <a:cs typeface="Arial" panose="020B0604020202020204" pitchFamily="34" charset="0"/>
              </a:rPr>
              <a:t>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433DBD-871D-4043-80CB-036A2C5E7F08}"/>
              </a:ext>
            </a:extLst>
          </p:cNvPr>
          <p:cNvSpPr/>
          <p:nvPr/>
        </p:nvSpPr>
        <p:spPr>
          <a:xfrm>
            <a:off x="8614080" y="1890385"/>
            <a:ext cx="1175223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Responsável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1DEE07-3067-4608-8BF8-13B17BB0FA37}"/>
              </a:ext>
            </a:extLst>
          </p:cNvPr>
          <p:cNvSpPr/>
          <p:nvPr/>
        </p:nvSpPr>
        <p:spPr>
          <a:xfrm>
            <a:off x="9865535" y="1890385"/>
            <a:ext cx="1584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  <a:endParaRPr kumimoji="0" lang="pt-PT" sz="1200" b="1" i="0" u="none" strike="noStrike" kern="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6" name="Text Placeholder 224">
            <a:extLst>
              <a:ext uri="{FF2B5EF4-FFF2-40B4-BE49-F238E27FC236}">
                <a16:creationId xmlns:a16="http://schemas.microsoft.com/office/drawing/2014/main" id="{B0531D9A-964F-441F-9D35-2E599A0B89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Listagem de próximos passos</a:t>
            </a:r>
          </a:p>
        </p:txBody>
      </p:sp>
      <p:sp>
        <p:nvSpPr>
          <p:cNvPr id="96" name="Arrow: Chevron 44">
            <a:extLst>
              <a:ext uri="{FF2B5EF4-FFF2-40B4-BE49-F238E27FC236}">
                <a16:creationId xmlns:a16="http://schemas.microsoft.com/office/drawing/2014/main" id="{6F1384F0-FBB7-4B97-B930-2DCADEAA1C78}"/>
              </a:ext>
            </a:extLst>
          </p:cNvPr>
          <p:cNvSpPr/>
          <p:nvPr/>
        </p:nvSpPr>
        <p:spPr>
          <a:xfrm>
            <a:off x="1091840" y="1890385"/>
            <a:ext cx="1381306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Âmbito</a:t>
            </a:r>
          </a:p>
        </p:txBody>
      </p:sp>
      <p:sp>
        <p:nvSpPr>
          <p:cNvPr id="115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44872" y="2282498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Finalização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adaptação dos códigos existentes ao nível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STE2.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2282498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 de maio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2277545"/>
            <a:ext cx="1381306" cy="107363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Locais</a:t>
            </a:r>
            <a:endParaRPr lang="pt-PT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282498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>
                <a:solidFill>
                  <a:srgbClr val="003E51"/>
                </a:solidFill>
                <a:cs typeface="Arial" panose="020B0604020202020204" pitchFamily="34" charset="0"/>
              </a:rPr>
              <a:t>1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008548FB-4C77-7168-AB49-6EB532CD5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847179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>
                <a:solidFill>
                  <a:srgbClr val="003E51"/>
                </a:solidFill>
                <a:cs typeface="Arial" panose="020B0604020202020204" pitchFamily="34" charset="0"/>
              </a:rPr>
              <a:t>2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" name="Arrow: Chevron 44">
            <a:extLst>
              <a:ext uri="{FF2B5EF4-FFF2-40B4-BE49-F238E27FC236}">
                <a16:creationId xmlns:a16="http://schemas.microsoft.com/office/drawing/2014/main" id="{D0BEBFDC-F087-81EF-1E9C-9F828017B33A}"/>
              </a:ext>
            </a:extLst>
          </p:cNvPr>
          <p:cNvSpPr/>
          <p:nvPr/>
        </p:nvSpPr>
        <p:spPr>
          <a:xfrm>
            <a:off x="2551302" y="2847179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Finalização 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adaptação dos códigos existentes ao nível do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 e realização dos paralelos com o reporte tático de dezembro 2024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Sessão de apresentação para passagem de conhecimento acerca da geração do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FD7BD8-B578-7AA6-7118-3A4A017FF540}"/>
              </a:ext>
            </a:extLst>
          </p:cNvPr>
          <p:cNvSpPr/>
          <p:nvPr/>
        </p:nvSpPr>
        <p:spPr>
          <a:xfrm>
            <a:off x="9865535" y="2847179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de maio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22D1E6-F2FC-4900-13C1-2FC52E7DF984}"/>
              </a:ext>
            </a:extLst>
          </p:cNvPr>
          <p:cNvSpPr/>
          <p:nvPr/>
        </p:nvSpPr>
        <p:spPr>
          <a:xfrm>
            <a:off x="8614080" y="2847179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5AA57DC5-4E8E-1FF3-C37E-C43536236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885806" y="2961835"/>
            <a:ext cx="649525" cy="274689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8614080" y="2282498"/>
            <a:ext cx="1175222" cy="504000"/>
            <a:chOff x="8614080" y="2661881"/>
            <a:chExt cx="1175222" cy="504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27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44872" y="3969512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Finalização das alterações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 códigos existentes de forma a incorporar as bases estruturais no processo de geração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satélite 80.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3969512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de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Arrow: Chevron 44">
            <a:extLst>
              <a:ext uri="{FF2B5EF4-FFF2-40B4-BE49-F238E27FC236}">
                <a16:creationId xmlns:a16="http://schemas.microsoft.com/office/drawing/2014/main" id="{394D66E5-897B-42B9-B8A5-1CBD1E0A7128}"/>
              </a:ext>
            </a:extLst>
          </p:cNvPr>
          <p:cNvSpPr/>
          <p:nvPr/>
        </p:nvSpPr>
        <p:spPr>
          <a:xfrm>
            <a:off x="2544872" y="3405429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documentação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do paralelo com o exercício tático de dezembro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no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processo de geração do satélite 79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654541-EF9E-424A-958C-DEFF0A280CEE}"/>
              </a:ext>
            </a:extLst>
          </p:cNvPr>
          <p:cNvSpPr/>
          <p:nvPr/>
        </p:nvSpPr>
        <p:spPr>
          <a:xfrm>
            <a:off x="9865535" y="3405429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 </a:t>
            </a:r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  <a:r>
              <a:rPr lang="pt-PT" sz="1050" b="1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3405429"/>
            <a:ext cx="1381306" cy="10680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Satélites Corporativos</a:t>
            </a:r>
            <a:endParaRPr lang="pt-PT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3969512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dirty="0" smtClean="0">
                <a:solidFill>
                  <a:srgbClr val="003E51"/>
                </a:solidFill>
                <a:cs typeface="Arial" panose="020B0604020202020204" pitchFamily="34" charset="0"/>
              </a:rPr>
              <a:t>4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7" name="AutoShape 3">
            <a:extLst>
              <a:ext uri="{FF2B5EF4-FFF2-40B4-BE49-F238E27FC236}">
                <a16:creationId xmlns:a16="http://schemas.microsoft.com/office/drawing/2014/main" id="{45B9DB54-7E6A-D04C-2303-FCA0099F3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3405429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dirty="0">
                <a:solidFill>
                  <a:srgbClr val="003E51"/>
                </a:solidFill>
                <a:cs typeface="Arial" panose="020B0604020202020204" pitchFamily="34" charset="0"/>
              </a:rPr>
              <a:t>3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134ABFE-2E4D-15AA-D7C3-1A8DD7E7D5C7}"/>
              </a:ext>
            </a:extLst>
          </p:cNvPr>
          <p:cNvSpPr/>
          <p:nvPr/>
        </p:nvSpPr>
        <p:spPr>
          <a:xfrm>
            <a:off x="8603978" y="3411262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8" name="Graphic 21">
            <a:extLst>
              <a:ext uri="{FF2B5EF4-FFF2-40B4-BE49-F238E27FC236}">
                <a16:creationId xmlns:a16="http://schemas.microsoft.com/office/drawing/2014/main" id="{C194935A-565C-FA09-5C89-26F0105F7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866827" y="3525918"/>
            <a:ext cx="649525" cy="274689"/>
          </a:xfrm>
          <a:prstGeom prst="rect">
            <a:avLst/>
          </a:prstGeom>
        </p:spPr>
      </p:pic>
      <p:grpSp>
        <p:nvGrpSpPr>
          <p:cNvPr id="49" name="Group 48"/>
          <p:cNvGrpSpPr/>
          <p:nvPr/>
        </p:nvGrpSpPr>
        <p:grpSpPr>
          <a:xfrm>
            <a:off x="8614080" y="3969512"/>
            <a:ext cx="1175222" cy="504000"/>
            <a:chOff x="8614080" y="2661881"/>
            <a:chExt cx="1175222" cy="504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9918" y="6531678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término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desta atividade é posterior à próxima reunião de </a:t>
            </a:r>
            <a:r>
              <a:rPr kumimoji="0" lang="pt-PT" sz="800" b="0" i="1" u="none" strike="noStrike" kern="1200" cap="none" spc="0" normalizeH="0" noProof="0" dirty="0" err="1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PdS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.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4527762"/>
            <a:ext cx="1381306" cy="10680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Locais &amp; Satélites Corporativos</a:t>
            </a:r>
            <a:endParaRPr lang="pt-PT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099" y="4527762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>
                <a:solidFill>
                  <a:srgbClr val="003E51"/>
                </a:solidFill>
                <a:cs typeface="Arial" panose="020B0604020202020204" pitchFamily="34" charset="0"/>
              </a:rPr>
              <a:t>5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9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099" y="5092443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>
                <a:solidFill>
                  <a:srgbClr val="003E51"/>
                </a:solidFill>
                <a:cs typeface="Arial" panose="020B0604020202020204" pitchFamily="34" charset="0"/>
              </a:rPr>
              <a:t>6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4" name="Arrow: Chevron 44">
            <a:extLst>
              <a:ext uri="{FF2B5EF4-FFF2-40B4-BE49-F238E27FC236}">
                <a16:creationId xmlns:a16="http://schemas.microsoft.com/office/drawing/2014/main" id="{394D66E5-897B-42B9-B8A5-1CBD1E0A7128}"/>
              </a:ext>
            </a:extLst>
          </p:cNvPr>
          <p:cNvSpPr/>
          <p:nvPr/>
        </p:nvSpPr>
        <p:spPr>
          <a:xfrm>
            <a:off x="2544872" y="4527762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testes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parte da equipa do projeto à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informação disponibilizada relativa a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missões Financiadas.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4527762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 de maio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8614080" y="4527762"/>
            <a:ext cx="1175222" cy="504000"/>
            <a:chOff x="8614080" y="2661881"/>
            <a:chExt cx="1175222" cy="50400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3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54" name="Arrow: Chevron 44">
            <a:extLst>
              <a:ext uri="{FF2B5EF4-FFF2-40B4-BE49-F238E27FC236}">
                <a16:creationId xmlns:a16="http://schemas.microsoft.com/office/drawing/2014/main" id="{394D66E5-897B-42B9-B8A5-1CBD1E0A7128}"/>
              </a:ext>
            </a:extLst>
          </p:cNvPr>
          <p:cNvSpPr/>
          <p:nvPr/>
        </p:nvSpPr>
        <p:spPr>
          <a:xfrm>
            <a:off x="2551302" y="5095029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Início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 testes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à informação disponibilizada relativa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móveis Adjudicados (</a:t>
            </a:r>
            <a:r>
              <a:rPr lang="pt-PT" sz="1050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Totta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Urbe + Stock adjudicados + próprios + dações + arrematações).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71965" y="5095029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 de maio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8620510" y="5095029"/>
            <a:ext cx="1175222" cy="504000"/>
            <a:chOff x="8614080" y="2661881"/>
            <a:chExt cx="1175222" cy="50400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8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7214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93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FE8CC2E2-EC5A-4ADA-A9BD-5E7CAC9ECF29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4.xml><?xml version="1.0" encoding="utf-8"?>
<a:theme xmlns:a="http://schemas.openxmlformats.org/drawingml/2006/main" name="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5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C1061BD2-87EA-410A-9B2B-292C31D2D64C}"/>
    </a:ext>
  </a:extLst>
</a:theme>
</file>

<file path=ppt/theme/theme6.xml><?xml version="1.0" encoding="utf-8"?>
<a:theme xmlns:a="http://schemas.openxmlformats.org/drawingml/2006/main" name="1_Custom Design">
  <a:themeElements>
    <a:clrScheme name="Custom 1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7.xml><?xml version="1.0" encoding="utf-8"?>
<a:theme xmlns:a="http://schemas.openxmlformats.org/drawingml/2006/main" name="2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1.xml><?xml version="1.0" encoding="utf-8"?>
<a:theme xmlns:a="http://schemas.openxmlformats.org/drawingml/2006/main" name="4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2.xml><?xml version="1.0" encoding="utf-8"?>
<a:theme xmlns:a="http://schemas.openxmlformats.org/drawingml/2006/main" name="6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3.xml><?xml version="1.0" encoding="utf-8"?>
<a:theme xmlns:a="http://schemas.openxmlformats.org/drawingml/2006/main" name="6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4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5.xml><?xml version="1.0" encoding="utf-8"?>
<a:theme xmlns:a="http://schemas.openxmlformats.org/drawingml/2006/main" name="8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9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8.xml><?xml version="1.0" encoding="utf-8"?>
<a:theme xmlns:a="http://schemas.openxmlformats.org/drawingml/2006/main" name="5_Custom Design">
  <a:themeElements>
    <a:clrScheme name="Neyond SG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9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CB2EC0B2B90E8438FD7BC14926F993E" ma:contentTypeVersion="4" ma:contentTypeDescription="Criar um novo documento." ma:contentTypeScope="" ma:versionID="d9add12a91e3d781bad8a638b6bc738f">
  <xsd:schema xmlns:xsd="http://www.w3.org/2001/XMLSchema" xmlns:xs="http://www.w3.org/2001/XMLSchema" xmlns:p="http://schemas.microsoft.com/office/2006/metadata/properties" xmlns:ns2="572bdb13-c576-4166-8827-65186753b8b5" targetNamespace="http://schemas.microsoft.com/office/2006/metadata/properties" ma:root="true" ma:fieldsID="8d9d6555579ed94e54dceefd7bad9d49" ns2:_="">
    <xsd:import namespace="572bdb13-c576-4166-8827-65186753b8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2bdb13-c576-4166-8827-65186753b8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3277D9-8D10-4CA6-8A09-1C4D05FB1A2A}">
  <ds:schemaRefs>
    <ds:schemaRef ds:uri="c1fb8f92-2b85-4698-b4e6-d8439f298c5f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infopath/2007/PartnerControls"/>
    <ds:schemaRef ds:uri="340aea95-890d-43fd-a456-8e279056e40c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5D42E87E-16F2-479C-90D0-A9DB593A21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47F83F-6EC5-4460-916C-D5AC11E6D0C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1066</TotalTime>
  <Words>992</Words>
  <Application>Microsoft Office PowerPoint</Application>
  <PresentationFormat>Custom</PresentationFormat>
  <Paragraphs>212</Paragraphs>
  <Slides>9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18</vt:i4>
      </vt:variant>
      <vt:variant>
        <vt:lpstr>Slide Titles</vt:lpstr>
      </vt:variant>
      <vt:variant>
        <vt:i4>9</vt:i4>
      </vt:variant>
    </vt:vector>
  </HeadingPairs>
  <TitlesOfParts>
    <vt:vector size="38" baseType="lpstr">
      <vt:lpstr>ＭＳ Ｐゴシック</vt:lpstr>
      <vt:lpstr>Abril Fatface</vt:lpstr>
      <vt:lpstr>Arial</vt:lpstr>
      <vt:lpstr>Calibri</vt:lpstr>
      <vt:lpstr>Helvetica Light</vt:lpstr>
      <vt:lpstr>Helvetica Neue</vt:lpstr>
      <vt:lpstr>Muli</vt:lpstr>
      <vt:lpstr>Muli Black</vt:lpstr>
      <vt:lpstr>Muli Bold</vt:lpstr>
      <vt:lpstr>Muli Light</vt:lpstr>
      <vt:lpstr>Tahoma</vt:lpstr>
      <vt:lpstr>1_Neyond_capa1</vt:lpstr>
      <vt:lpstr>Índice Neyond</vt:lpstr>
      <vt:lpstr>3_Neyond_separador</vt:lpstr>
      <vt:lpstr>Custom Design</vt:lpstr>
      <vt:lpstr>2_Neyond_Contracapa</vt:lpstr>
      <vt:lpstr>1_Custom Design</vt:lpstr>
      <vt:lpstr>2_Custom Design</vt:lpstr>
      <vt:lpstr>4_Neyond_separador</vt:lpstr>
      <vt:lpstr>3_Custom Design</vt:lpstr>
      <vt:lpstr>5_Neyond_separador</vt:lpstr>
      <vt:lpstr>4_Custom Design</vt:lpstr>
      <vt:lpstr>6_Custom Design</vt:lpstr>
      <vt:lpstr>6_Neyond_separador</vt:lpstr>
      <vt:lpstr>7_Custom Design</vt:lpstr>
      <vt:lpstr>8_Custom Design</vt:lpstr>
      <vt:lpstr>9_Custom Design</vt:lpstr>
      <vt:lpstr>10_Custom Design</vt:lpstr>
      <vt:lpstr>5_Custom Design</vt:lpstr>
      <vt:lpstr>Implementação Templates Locais &amp; Satélites Corporativos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EuroBic - Add-On - PdS</dc:title>
  <dc:creator>Fonseca, Martim Ferreira</dc:creator>
  <cp:lastModifiedBy>Hélder Filipe Felicidade Fernandes</cp:lastModifiedBy>
  <cp:revision>75</cp:revision>
  <dcterms:created xsi:type="dcterms:W3CDTF">2018-12-07T14:01:11Z</dcterms:created>
  <dcterms:modified xsi:type="dcterms:W3CDTF">2025-05-15T13:07:18Z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0x010100FCB2EC0B2B90E8438FD7BC14926F993E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2023-12-21T08:33:00Z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48b6d64e-98e1-465e-9af0-0252a0bd3191</vt:lpwstr>
  </property>
  <property fmtid="{D5CDD505-2E9C-101B-9397-08002B2CF9AE}" pid="9" name="MSIP_Label_0c2abd79-57a9-4473-8700-c843f76a1e37_ContentBits">
    <vt:lpwstr>0</vt:lpwstr>
  </property>
</Properties>
</file>