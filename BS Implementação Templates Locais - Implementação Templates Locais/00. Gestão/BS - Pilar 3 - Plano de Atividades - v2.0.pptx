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9" r:id="rId5"/>
  </p:sldMasterIdLst>
  <p:notesMasterIdLst>
    <p:notesMasterId r:id="rId9"/>
  </p:notesMasterIdLst>
  <p:sldIdLst>
    <p:sldId id="1882" r:id="rId6"/>
    <p:sldId id="1880" r:id="rId7"/>
    <p:sldId id="1881" r:id="rId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B2BB"/>
    <a:srgbClr val="1A0000"/>
    <a:srgbClr val="5DD5FF"/>
    <a:srgbClr val="97E4FF"/>
    <a:srgbClr val="FF7C80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5" d="100"/>
          <a:sy n="65" d="100"/>
        </p:scale>
        <p:origin x="6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caleira, Diogo Alexandre" userId="72fb12db-bc92-4c43-9b41-3ac15f1f989a" providerId="ADAL" clId="{F0F15712-57FB-4B01-A45F-6AC6B4C0123A}"/>
    <pc:docChg chg="modSld">
      <pc:chgData name="Escaleira, Diogo Alexandre" userId="72fb12db-bc92-4c43-9b41-3ac15f1f989a" providerId="ADAL" clId="{F0F15712-57FB-4B01-A45F-6AC6B4C0123A}" dt="2024-10-28T17:42:15.245" v="20" actId="20577"/>
      <pc:docMkLst>
        <pc:docMk/>
      </pc:docMkLst>
      <pc:sldChg chg="modSp mod">
        <pc:chgData name="Escaleira, Diogo Alexandre" userId="72fb12db-bc92-4c43-9b41-3ac15f1f989a" providerId="ADAL" clId="{F0F15712-57FB-4B01-A45F-6AC6B4C0123A}" dt="2024-10-28T17:42:15.245" v="20" actId="20577"/>
        <pc:sldMkLst>
          <pc:docMk/>
          <pc:sldMk cId="3979406667" sldId="1876"/>
        </pc:sldMkLst>
        <pc:spChg chg="mod">
          <ac:chgData name="Escaleira, Diogo Alexandre" userId="72fb12db-bc92-4c43-9b41-3ac15f1f989a" providerId="ADAL" clId="{F0F15712-57FB-4B01-A45F-6AC6B4C0123A}" dt="2024-10-28T17:42:09.137" v="12" actId="20577"/>
          <ac:spMkLst>
            <pc:docMk/>
            <pc:sldMk cId="3979406667" sldId="1876"/>
            <ac:spMk id="2" creationId="{F27900AA-4B94-777D-354E-E7DD109B7E28}"/>
          </ac:spMkLst>
        </pc:spChg>
        <pc:spChg chg="mod">
          <ac:chgData name="Escaleira, Diogo Alexandre" userId="72fb12db-bc92-4c43-9b41-3ac15f1f989a" providerId="ADAL" clId="{F0F15712-57FB-4B01-A45F-6AC6B4C0123A}" dt="2024-10-28T17:42:15.245" v="20" actId="20577"/>
          <ac:spMkLst>
            <pc:docMk/>
            <pc:sldMk cId="3979406667" sldId="1876"/>
            <ac:spMk id="4" creationId="{463EE483-0A14-4FAB-AA30-F2A1D9723CB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C3E4B-3299-454D-A25F-548AD5A2AB44}" type="datetimeFigureOut">
              <a:rPr lang="pt-PT" smtClean="0"/>
              <a:t>25/07/2025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35C9D6-C500-4C4B-8BDE-633879B7D4C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89074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76202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18917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573929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95C7139-3DCC-4C1B-897D-5F2CFDE34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260667"/>
            <a:ext cx="7267575" cy="238126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4C081C9-B184-4F12-BA9A-7849F1D85D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710963"/>
            <a:ext cx="7000875" cy="238126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44" indent="-114244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419A0CB-C986-4C28-AB1F-D0593B544C44}"/>
              </a:ext>
            </a:extLst>
          </p:cNvPr>
          <p:cNvSpPr txBox="1">
            <a:spLocks/>
          </p:cNvSpPr>
          <p:nvPr userDrawn="1"/>
        </p:nvSpPr>
        <p:spPr>
          <a:xfrm>
            <a:off x="11638846" y="6574820"/>
            <a:ext cx="407946" cy="144035"/>
          </a:xfrm>
          <a:prstGeom prst="rect">
            <a:avLst/>
          </a:prstGeom>
        </p:spPr>
        <p:txBody>
          <a:bodyPr vert="horz" lIns="60927" tIns="30463" rIns="60927" bIns="30463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215C314-4D8D-4710-8632-E0C1EF7C919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1600" y="1579198"/>
            <a:ext cx="5098184" cy="28266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tIns="504000" rIns="144000" bIns="1008000" anchor="b" anchorCtr="1"/>
          <a:lstStyle>
            <a:lvl1pPr marL="0" indent="0" algn="ctr">
              <a:buNone/>
              <a:defRPr sz="1200" b="1">
                <a:latin typeface="Muli Light" panose="00000400000000000000" pitchFamily="2" charset="0"/>
              </a:defRPr>
            </a:lvl1pPr>
          </a:lstStyle>
          <a:p>
            <a:r>
              <a:rPr lang="pt-PT"/>
              <a:t>Inserir Imagem</a:t>
            </a:r>
          </a:p>
        </p:txBody>
      </p:sp>
    </p:spTree>
    <p:extLst>
      <p:ext uri="{BB962C8B-B14F-4D97-AF65-F5344CB8AC3E}">
        <p14:creationId xmlns:p14="http://schemas.microsoft.com/office/powerpoint/2010/main" val="2024135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1161258"/>
            <a:ext cx="11115675" cy="40084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" y="1747155"/>
            <a:ext cx="11115675" cy="21640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95C7139-3DCC-4C1B-897D-5F2CFDE34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260667"/>
            <a:ext cx="7267575" cy="238126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chemeClr val="tx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4C081C9-B184-4F12-BA9A-7849F1D85D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710963"/>
            <a:ext cx="7000875" cy="238126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44" indent="-114244">
              <a:buNone/>
              <a:defRPr lang="pt-PT" sz="1600" b="0" dirty="0">
                <a:solidFill>
                  <a:schemeClr val="tx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419A0CB-C986-4C28-AB1F-D0593B544C44}"/>
              </a:ext>
            </a:extLst>
          </p:cNvPr>
          <p:cNvSpPr txBox="1">
            <a:spLocks/>
          </p:cNvSpPr>
          <p:nvPr userDrawn="1"/>
        </p:nvSpPr>
        <p:spPr>
          <a:xfrm>
            <a:off x="11638846" y="6574820"/>
            <a:ext cx="407946" cy="144035"/>
          </a:xfrm>
          <a:prstGeom prst="rect">
            <a:avLst/>
          </a:prstGeom>
        </p:spPr>
        <p:txBody>
          <a:bodyPr vert="horz" lIns="60927" tIns="30463" rIns="60927" bIns="30463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457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E0B40CA-00EC-498E-853B-ADF4F63BC8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260667"/>
            <a:ext cx="7267575" cy="238126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3EB069B-378A-42BA-9A4C-CA006E022A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710963"/>
            <a:ext cx="7000875" cy="238126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44" indent="-114244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FED06CE-673D-4E49-8185-D3E647F98F8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54339" y="2018833"/>
            <a:ext cx="3526297" cy="2195005"/>
          </a:xfrm>
          <a:prstGeom prst="rect">
            <a:avLst/>
          </a:prstGeom>
        </p:spPr>
        <p:txBody>
          <a:bodyPr bIns="684000" anchor="b"/>
          <a:lstStyle>
            <a:lvl1pPr marL="0" indent="0" algn="ctr">
              <a:buNone/>
              <a:defRPr sz="1200" b="1">
                <a:latin typeface="Muli Light" panose="00000400000000000000" pitchFamily="2" charset="0"/>
              </a:defRPr>
            </a:lvl1pPr>
          </a:lstStyle>
          <a:p>
            <a:r>
              <a:rPr lang="pt-PT"/>
              <a:t>Inserir imagem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F1C1B6E-0FF1-4B70-9A2F-E0B03BE4091D}"/>
              </a:ext>
            </a:extLst>
          </p:cNvPr>
          <p:cNvSpPr txBox="1">
            <a:spLocks/>
          </p:cNvSpPr>
          <p:nvPr userDrawn="1"/>
        </p:nvSpPr>
        <p:spPr>
          <a:xfrm>
            <a:off x="11638846" y="6574820"/>
            <a:ext cx="407946" cy="144035"/>
          </a:xfrm>
          <a:prstGeom prst="rect">
            <a:avLst/>
          </a:prstGeom>
        </p:spPr>
        <p:txBody>
          <a:bodyPr vert="horz" lIns="60927" tIns="30463" rIns="60927" bIns="30463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36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6">
            <a:extLst>
              <a:ext uri="{FF2B5EF4-FFF2-40B4-BE49-F238E27FC236}">
                <a16:creationId xmlns:a16="http://schemas.microsoft.com/office/drawing/2014/main" id="{A1E83213-F72C-4FC9-9F70-BBACBED43F7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41195" y="1300960"/>
            <a:ext cx="2008815" cy="4512340"/>
          </a:xfrm>
          <a:prstGeom prst="roundRect">
            <a:avLst>
              <a:gd name="adj" fmla="val 12220"/>
            </a:avLst>
          </a:prstGeom>
        </p:spPr>
        <p:txBody>
          <a:bodyPr bIns="1620000" anchor="b"/>
          <a:lstStyle>
            <a:lvl1pPr marL="0" indent="0" algn="ctr">
              <a:buNone/>
              <a:defRPr sz="1200" b="1">
                <a:latin typeface="Muli Light" panose="00000400000000000000" pitchFamily="2" charset="0"/>
              </a:defRPr>
            </a:lvl1pPr>
          </a:lstStyle>
          <a:p>
            <a:r>
              <a:rPr lang="pt-PT"/>
              <a:t>Inserir imagem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BCD47D5-B500-44AC-A275-304155A38D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260667"/>
            <a:ext cx="7267575" cy="238126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FD7C91-B005-48D5-8A14-04C5A664C0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710963"/>
            <a:ext cx="7000875" cy="238126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44" indent="-114244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13483C3B-690D-4A5E-B4FC-B670B4EBE849}"/>
              </a:ext>
            </a:extLst>
          </p:cNvPr>
          <p:cNvSpPr txBox="1">
            <a:spLocks/>
          </p:cNvSpPr>
          <p:nvPr userDrawn="1"/>
        </p:nvSpPr>
        <p:spPr>
          <a:xfrm>
            <a:off x="11638846" y="6574820"/>
            <a:ext cx="407946" cy="144035"/>
          </a:xfrm>
          <a:prstGeom prst="rect">
            <a:avLst/>
          </a:prstGeom>
        </p:spPr>
        <p:txBody>
          <a:bodyPr vert="horz" lIns="60927" tIns="30463" rIns="60927" bIns="30463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896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779E78C-C1DB-41FD-ADD2-AA54E5462E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260667"/>
            <a:ext cx="7267575" cy="238126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chemeClr val="tx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798B46AE-6862-4076-836A-DD134C56B0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710963"/>
            <a:ext cx="7000875" cy="238126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44" indent="-114244">
              <a:buNone/>
              <a:defRPr lang="pt-PT" sz="1600" b="0" dirty="0">
                <a:solidFill>
                  <a:schemeClr val="tx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364059-36EA-4708-A0B7-BB1E3D46342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18946" y="1844248"/>
            <a:ext cx="5329931" cy="3009203"/>
          </a:xfrm>
          <a:prstGeom prst="rect">
            <a:avLst/>
          </a:prstGeom>
        </p:spPr>
        <p:txBody>
          <a:bodyPr bIns="1008000" anchor="b"/>
          <a:lstStyle>
            <a:lvl1pPr marL="0" indent="0" algn="ctr">
              <a:buNone/>
              <a:defRPr sz="1200">
                <a:latin typeface="Muli" panose="00000500000000000000" pitchFamily="2" charset="0"/>
              </a:defRPr>
            </a:lvl1pPr>
          </a:lstStyle>
          <a:p>
            <a:r>
              <a:rPr lang="pt-PT"/>
              <a:t>Inserir imagem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E296E98D-982E-452B-9053-0941BF5B1A2F}"/>
              </a:ext>
            </a:extLst>
          </p:cNvPr>
          <p:cNvSpPr txBox="1">
            <a:spLocks/>
          </p:cNvSpPr>
          <p:nvPr userDrawn="1"/>
        </p:nvSpPr>
        <p:spPr>
          <a:xfrm>
            <a:off x="11638846" y="6574820"/>
            <a:ext cx="407946" cy="144035"/>
          </a:xfrm>
          <a:prstGeom prst="rect">
            <a:avLst/>
          </a:prstGeom>
        </p:spPr>
        <p:txBody>
          <a:bodyPr vert="horz" lIns="60927" tIns="30463" rIns="60927" bIns="30463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451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">
            <a:extLst>
              <a:ext uri="{FF2B5EF4-FFF2-40B4-BE49-F238E27FC236}">
                <a16:creationId xmlns:a16="http://schemas.microsoft.com/office/drawing/2014/main" id="{7416B798-7BAA-4828-8961-B11D0E2BCE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13637" y="1472371"/>
            <a:ext cx="2008815" cy="4512340"/>
          </a:xfrm>
          <a:prstGeom prst="roundRect">
            <a:avLst>
              <a:gd name="adj" fmla="val 12220"/>
            </a:avLst>
          </a:prstGeom>
        </p:spPr>
        <p:txBody>
          <a:bodyPr bIns="1764000" anchor="b"/>
          <a:lstStyle>
            <a:lvl1pPr marL="0" indent="0" algn="ctr">
              <a:buNone/>
              <a:defRPr sz="1200">
                <a:latin typeface="Muli" panose="00000500000000000000" pitchFamily="2" charset="0"/>
              </a:defRPr>
            </a:lvl1pPr>
          </a:lstStyle>
          <a:p>
            <a:r>
              <a:rPr lang="pt-PT"/>
              <a:t>Inserir imagem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E656333-822A-4231-AF53-A62800495A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260667"/>
            <a:ext cx="7267575" cy="238126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chemeClr val="tx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1402F146-093B-4D68-A969-087C31F820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710963"/>
            <a:ext cx="7000875" cy="238126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44" indent="-114244">
              <a:buNone/>
              <a:defRPr lang="pt-PT" sz="1600" b="0" dirty="0">
                <a:solidFill>
                  <a:schemeClr val="tx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A0DEFF09-3265-4617-8818-4E1ADD5FF10B}"/>
              </a:ext>
            </a:extLst>
          </p:cNvPr>
          <p:cNvSpPr txBox="1">
            <a:spLocks/>
          </p:cNvSpPr>
          <p:nvPr userDrawn="1"/>
        </p:nvSpPr>
        <p:spPr>
          <a:xfrm>
            <a:off x="11638846" y="6574820"/>
            <a:ext cx="407946" cy="144035"/>
          </a:xfrm>
          <a:prstGeom prst="rect">
            <a:avLst/>
          </a:prstGeom>
        </p:spPr>
        <p:txBody>
          <a:bodyPr vert="horz" lIns="60927" tIns="30463" rIns="60927" bIns="30463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858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562" y="249115"/>
            <a:ext cx="7267575" cy="2381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1161258"/>
            <a:ext cx="11115675" cy="40084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8844" y="6574823"/>
            <a:ext cx="407947" cy="144034"/>
          </a:xfrm>
          <a:prstGeom prst="rect">
            <a:avLst/>
          </a:prstGeom>
        </p:spPr>
        <p:txBody>
          <a:bodyPr vert="horz" lIns="59381" tIns="29690" rIns="59381" bIns="2969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" y="1747155"/>
            <a:ext cx="11115675" cy="21640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562" y="663670"/>
            <a:ext cx="7000875" cy="2381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51388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8844" y="6574823"/>
            <a:ext cx="407947" cy="144034"/>
          </a:xfrm>
          <a:prstGeom prst="rect">
            <a:avLst/>
          </a:prstGeom>
        </p:spPr>
        <p:txBody>
          <a:bodyPr vert="horz" lIns="59381" tIns="29690" rIns="59381" bIns="2969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562" y="249115"/>
            <a:ext cx="7267575" cy="2381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562" y="663670"/>
            <a:ext cx="7000875" cy="2381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006725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1161258"/>
            <a:ext cx="5101791" cy="4008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7507" y="1161257"/>
            <a:ext cx="6013884" cy="3328589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7282" y="4603753"/>
            <a:ext cx="6004718" cy="365124"/>
          </a:xfrm>
          <a:prstGeom prst="rect">
            <a:avLst/>
          </a:prstGeom>
        </p:spPr>
        <p:txBody>
          <a:bodyPr/>
          <a:lstStyle>
            <a:lvl1pPr marL="0" marR="0" indent="0" algn="l" defTabSz="445407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07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8844" y="6574823"/>
            <a:ext cx="407947" cy="144034"/>
          </a:xfrm>
          <a:prstGeom prst="rect">
            <a:avLst/>
          </a:prstGeom>
        </p:spPr>
        <p:txBody>
          <a:bodyPr vert="horz" lIns="59381" tIns="29690" rIns="59381" bIns="2969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2" y="1916799"/>
            <a:ext cx="5101791" cy="305207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562" y="249115"/>
            <a:ext cx="7267575" cy="2381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562" y="663670"/>
            <a:ext cx="7000875" cy="2381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07610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1161257"/>
            <a:ext cx="2763328" cy="46621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9111" y="1161259"/>
            <a:ext cx="2533291" cy="365124"/>
          </a:xfrm>
          <a:prstGeom prst="rect">
            <a:avLst/>
          </a:prstGeom>
        </p:spPr>
        <p:txBody>
          <a:bodyPr/>
          <a:lstStyle>
            <a:lvl1pPr marL="0" marR="0" indent="0" algn="l" defTabSz="445407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07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820" y="1161257"/>
            <a:ext cx="5020366" cy="466218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8844" y="6574823"/>
            <a:ext cx="407947" cy="144034"/>
          </a:xfrm>
          <a:prstGeom prst="rect">
            <a:avLst/>
          </a:prstGeom>
        </p:spPr>
        <p:txBody>
          <a:bodyPr vert="horz" lIns="59381" tIns="29690" rIns="59381" bIns="2969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562" y="249115"/>
            <a:ext cx="7267575" cy="2381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562" y="663670"/>
            <a:ext cx="7000875" cy="2381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197743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1161257"/>
            <a:ext cx="11115675" cy="12541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53877495"/>
              </p:ext>
            </p:extLst>
          </p:nvPr>
        </p:nvGraphicFramePr>
        <p:xfrm>
          <a:off x="609601" y="2608852"/>
          <a:ext cx="11115671" cy="24080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918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918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918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918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734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20" marR="45720" marT="22861" marB="22861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20" marR="45720" marT="22861" marB="22861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20" marR="45720" marT="22861" marB="22861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20" marR="45720" marT="22861" marB="22861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114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20" marR="45720" marT="22861" marB="22861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20" marR="45720" marT="22861" marB="22861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20" marR="45720" marT="22861" marB="22861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20" marR="45720" marT="22861" marB="22861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734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20" marR="45720" marT="22861" marB="22861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20" marR="45720" marT="22861" marB="22861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20" marR="45720" marT="22861" marB="22861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20" marR="45720" marT="22861" marB="22861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734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20" marR="45720" marT="22861" marB="22861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20" marR="45720" marT="22861" marB="22861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20" marR="45720" marT="22861" marB="22861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20" marR="45720" marT="22861" marB="22861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734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20" marR="45720" marT="22861" marB="22861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20" marR="45720" marT="22861" marB="22861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20" marR="45720" marT="22861" marB="22861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20" marR="45720" marT="22861" marB="22861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8844" y="6574823"/>
            <a:ext cx="407947" cy="144034"/>
          </a:xfrm>
          <a:prstGeom prst="rect">
            <a:avLst/>
          </a:prstGeom>
        </p:spPr>
        <p:txBody>
          <a:bodyPr vert="horz" lIns="59381" tIns="29690" rIns="59381" bIns="2969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562" y="249115"/>
            <a:ext cx="7267575" cy="2381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562" y="663670"/>
            <a:ext cx="7000875" cy="2381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64526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3507" y="0"/>
            <a:ext cx="5732531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1161258"/>
            <a:ext cx="5101791" cy="4008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8844" y="6574823"/>
            <a:ext cx="407947" cy="144034"/>
          </a:xfrm>
          <a:prstGeom prst="rect">
            <a:avLst/>
          </a:prstGeom>
        </p:spPr>
        <p:txBody>
          <a:bodyPr vert="horz" lIns="59381" tIns="29690" rIns="59381" bIns="2969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2" y="1709458"/>
            <a:ext cx="5101791" cy="4454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562" y="249115"/>
            <a:ext cx="7267575" cy="2381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562" y="663670"/>
            <a:ext cx="7000875" cy="2381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64701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e_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 txBox="1">
            <a:spLocks/>
          </p:cNvSpPr>
          <p:nvPr userDrawn="1"/>
        </p:nvSpPr>
        <p:spPr>
          <a:xfrm>
            <a:off x="11150400" y="6436800"/>
            <a:ext cx="816000" cy="288000"/>
          </a:xfrm>
          <a:prstGeom prst="rect">
            <a:avLst/>
          </a:prstGeom>
        </p:spPr>
        <p:txBody>
          <a:bodyPr vert="horz" lIns="121889" tIns="60944" rIns="121889" bIns="60944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1200" smtClean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pt-PT" sz="120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Placeholder 4"/>
          <p:cNvSpPr>
            <a:spLocks noGrp="1"/>
          </p:cNvSpPr>
          <p:nvPr>
            <p:ph type="title"/>
          </p:nvPr>
        </p:nvSpPr>
        <p:spPr>
          <a:xfrm>
            <a:off x="524489" y="373704"/>
            <a:ext cx="11040000" cy="484746"/>
          </a:xfrm>
          <a:prstGeom prst="rect">
            <a:avLst/>
          </a:prstGeom>
        </p:spPr>
        <p:txBody>
          <a:bodyPr vert="horz" lIns="108000" tIns="60958" rIns="121917" bIns="60958" rtlCol="0" anchor="ctr">
            <a:noAutofit/>
          </a:bodyPr>
          <a:lstStyle>
            <a:lvl1pPr>
              <a:defRPr sz="2400" b="0">
                <a:solidFill>
                  <a:srgbClr val="B7C82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6" name="Subtitle 2"/>
          <p:cNvSpPr>
            <a:spLocks noGrp="1"/>
          </p:cNvSpPr>
          <p:nvPr>
            <p:ph type="subTitle" idx="14"/>
          </p:nvPr>
        </p:nvSpPr>
        <p:spPr>
          <a:xfrm>
            <a:off x="524488" y="726642"/>
            <a:ext cx="11033911" cy="359917"/>
          </a:xfrm>
          <a:prstGeom prst="rect">
            <a:avLst/>
          </a:prstGeom>
        </p:spPr>
        <p:txBody>
          <a:bodyPr lIns="108000"/>
          <a:lstStyle>
            <a:lvl1pPr marL="0" indent="0" algn="l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1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6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8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525300" y="1438504"/>
            <a:ext cx="11033099" cy="136810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801" indent="-285693">
              <a:buFont typeface="Wingdings" panose="05000000000000000000" pitchFamily="2" charset="2"/>
              <a:buChar char="§"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771" indent="-228554">
              <a:buFont typeface="Courier New" panose="02070309020205020404" pitchFamily="49" charset="0"/>
              <a:buChar char="►"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99880" indent="-228554"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6989" indent="-228554">
              <a:buFont typeface="Courier New" panose="02070309020205020404" pitchFamily="49" charset="0"/>
              <a:buChar char="­"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188352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626" y="3076576"/>
            <a:ext cx="10768531" cy="4953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799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626" y="3762376"/>
            <a:ext cx="10768531" cy="49530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8844" y="6574823"/>
            <a:ext cx="407947" cy="144034"/>
          </a:xfrm>
          <a:prstGeom prst="rect">
            <a:avLst/>
          </a:prstGeom>
        </p:spPr>
        <p:txBody>
          <a:bodyPr vert="horz" lIns="59381" tIns="29690" rIns="59381" bIns="2969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844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0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22" y="-91039"/>
            <a:ext cx="2382308" cy="1053624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3309" y="6094687"/>
            <a:ext cx="1061667" cy="8226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23054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456975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44" indent="-114244" algn="l" defTabSz="45697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731" indent="-114244" algn="l" defTabSz="456975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219" indent="-114244" algn="l" defTabSz="456975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705" indent="-114244" algn="l" defTabSz="456975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192" indent="-114244" algn="l" defTabSz="456975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679" indent="-114244" algn="l" defTabSz="456975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166" indent="-114244" algn="l" defTabSz="456975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653" indent="-114244" algn="l" defTabSz="456975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141" indent="-114244" algn="l" defTabSz="456975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7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87" algn="l" defTabSz="45697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75" algn="l" defTabSz="45697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463" algn="l" defTabSz="45697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948" algn="l" defTabSz="45697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435" algn="l" defTabSz="45697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923" algn="l" defTabSz="45697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410" algn="l" defTabSz="45697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897" algn="l" defTabSz="45697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0819" y="-91039"/>
            <a:ext cx="2382307" cy="1053624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203306" y="6094687"/>
            <a:ext cx="1061668" cy="8226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687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</p:sldLayoutIdLst>
  <p:txStyles>
    <p:titleStyle>
      <a:lvl1pPr algn="l" defTabSz="445407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52" indent="-111352" algn="l" defTabSz="445407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055" indent="-111352" algn="l" defTabSz="445407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759" indent="-111352" algn="l" defTabSz="445407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461" indent="-111352" algn="l" defTabSz="445407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165" indent="-111352" algn="l" defTabSz="445407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4868" indent="-111352" algn="l" defTabSz="445407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571" indent="-111352" algn="l" defTabSz="445407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275" indent="-111352" algn="l" defTabSz="445407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2978" indent="-111352" algn="l" defTabSz="445407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07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03" algn="l" defTabSz="445407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07" algn="l" defTabSz="445407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110" algn="l" defTabSz="445407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813" algn="l" defTabSz="445407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516" algn="l" defTabSz="445407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220" algn="l" defTabSz="445407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8923" algn="l" defTabSz="445407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627" algn="l" defTabSz="445407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3EE483-0A14-4FAB-AA30-F2A1D9723C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b="1" dirty="0">
                <a:latin typeface="+mn-lt"/>
              </a:rPr>
              <a:t>Pilar III ESG</a:t>
            </a:r>
            <a:endParaRPr lang="pt-PT" b="1" i="1" dirty="0">
              <a:latin typeface="+mn-lt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2853C35-B707-1D1B-D953-FDE54833DDDB}"/>
              </a:ext>
            </a:extLst>
          </p:cNvPr>
          <p:cNvGrpSpPr/>
          <p:nvPr/>
        </p:nvGrpSpPr>
        <p:grpSpPr>
          <a:xfrm>
            <a:off x="956199" y="6183339"/>
            <a:ext cx="1986342" cy="219010"/>
            <a:chOff x="583525" y="6243989"/>
            <a:chExt cx="2093573" cy="230832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54A498C-E6B6-81F9-A7CA-7F86401F3595}"/>
                </a:ext>
              </a:extLst>
            </p:cNvPr>
            <p:cNvSpPr/>
            <p:nvPr/>
          </p:nvSpPr>
          <p:spPr>
            <a:xfrm>
              <a:off x="583525" y="6287405"/>
              <a:ext cx="144000" cy="144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217"/>
              <a:endParaRPr lang="pt-PT">
                <a:solidFill>
                  <a:prstClr val="white"/>
                </a:solidFill>
                <a:latin typeface="Arial"/>
                <a:sym typeface="Helvetica Light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E2455F7-0DC1-747D-1CBB-45A35A08A425}"/>
                </a:ext>
              </a:extLst>
            </p:cNvPr>
            <p:cNvSpPr txBox="1"/>
            <p:nvPr/>
          </p:nvSpPr>
          <p:spPr>
            <a:xfrm>
              <a:off x="727525" y="6243989"/>
              <a:ext cx="194957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17"/>
              <a:r>
                <a:rPr lang="pt-PT" sz="900" dirty="0">
                  <a:solidFill>
                    <a:prstClr val="black"/>
                  </a:solidFill>
                  <a:latin typeface="Muli"/>
                  <a:sym typeface="Helvetica Light"/>
                </a:rPr>
                <a:t>Desinvestimento &amp; Contabilidade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996E780-C371-3571-78B7-D2898D614515}"/>
              </a:ext>
            </a:extLst>
          </p:cNvPr>
          <p:cNvGrpSpPr/>
          <p:nvPr/>
        </p:nvGrpSpPr>
        <p:grpSpPr>
          <a:xfrm>
            <a:off x="3060100" y="6183342"/>
            <a:ext cx="885547" cy="230832"/>
            <a:chOff x="1561408" y="6240198"/>
            <a:chExt cx="933349" cy="243292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6C3D879B-CBEC-D8F0-5318-407303A9372E}"/>
                </a:ext>
              </a:extLst>
            </p:cNvPr>
            <p:cNvSpPr/>
            <p:nvPr/>
          </p:nvSpPr>
          <p:spPr>
            <a:xfrm>
              <a:off x="1561408" y="6283614"/>
              <a:ext cx="144000" cy="144000"/>
            </a:xfrm>
            <a:prstGeom prst="rect">
              <a:avLst/>
            </a:prstGeom>
            <a:solidFill>
              <a:srgbClr val="62B96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217"/>
              <a:endParaRPr lang="pt-PT">
                <a:solidFill>
                  <a:prstClr val="white"/>
                </a:solidFill>
                <a:latin typeface="Arial"/>
                <a:sym typeface="Helvetica Light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BB2118A-FA3F-BF55-36D9-DF1B85526679}"/>
                </a:ext>
              </a:extLst>
            </p:cNvPr>
            <p:cNvSpPr txBox="1"/>
            <p:nvPr/>
          </p:nvSpPr>
          <p:spPr>
            <a:xfrm>
              <a:off x="1705407" y="6240198"/>
              <a:ext cx="789350" cy="2432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17"/>
              <a:r>
                <a:rPr lang="pt-PT" sz="900" dirty="0" smtClean="0">
                  <a:solidFill>
                    <a:prstClr val="black"/>
                  </a:solidFill>
                  <a:latin typeface="Muli"/>
                  <a:sym typeface="Helvetica Light"/>
                </a:rPr>
                <a:t>Tecnologia</a:t>
              </a:r>
              <a:endParaRPr lang="pt-PT" sz="900" dirty="0">
                <a:solidFill>
                  <a:prstClr val="black"/>
                </a:solidFill>
                <a:latin typeface="Muli"/>
                <a:sym typeface="Helvetica Light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0DD1D6D-4DCD-5094-C06D-9440D8FABCC5}"/>
              </a:ext>
            </a:extLst>
          </p:cNvPr>
          <p:cNvGrpSpPr/>
          <p:nvPr/>
        </p:nvGrpSpPr>
        <p:grpSpPr>
          <a:xfrm>
            <a:off x="4461341" y="6183339"/>
            <a:ext cx="629700" cy="219010"/>
            <a:chOff x="3056074" y="6261463"/>
            <a:chExt cx="663694" cy="230832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14E5490-5A41-8CAC-36F3-802AFAC9FD65}"/>
                </a:ext>
              </a:extLst>
            </p:cNvPr>
            <p:cNvSpPr/>
            <p:nvPr/>
          </p:nvSpPr>
          <p:spPr>
            <a:xfrm>
              <a:off x="3056074" y="6304879"/>
              <a:ext cx="144000" cy="144000"/>
            </a:xfrm>
            <a:prstGeom prst="rect">
              <a:avLst/>
            </a:prstGeom>
            <a:solidFill>
              <a:srgbClr val="DEEDF1">
                <a:lumMod val="9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217"/>
              <a:endParaRPr lang="pt-PT">
                <a:solidFill>
                  <a:prstClr val="white"/>
                </a:solidFill>
                <a:latin typeface="Arial"/>
                <a:sym typeface="Helvetica Light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B9E9B86-6857-B3F2-A52E-78003EBB5989}"/>
                </a:ext>
              </a:extLst>
            </p:cNvPr>
            <p:cNvSpPr txBox="1"/>
            <p:nvPr/>
          </p:nvSpPr>
          <p:spPr>
            <a:xfrm>
              <a:off x="3200074" y="6261463"/>
              <a:ext cx="5196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17"/>
              <a:r>
                <a:rPr lang="pt-PT" sz="900" dirty="0" err="1">
                  <a:solidFill>
                    <a:prstClr val="black"/>
                  </a:solidFill>
                  <a:latin typeface="Muli"/>
                  <a:sym typeface="Helvetica Light"/>
                </a:rPr>
                <a:t>Gloval</a:t>
              </a:r>
              <a:endParaRPr lang="pt-PT" sz="900" dirty="0">
                <a:solidFill>
                  <a:prstClr val="black"/>
                </a:solidFill>
                <a:latin typeface="Muli"/>
                <a:sym typeface="Helvetica Light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933684A-70DF-3D0D-9501-382AA3FE6825}"/>
              </a:ext>
            </a:extLst>
          </p:cNvPr>
          <p:cNvGrpSpPr/>
          <p:nvPr/>
        </p:nvGrpSpPr>
        <p:grpSpPr>
          <a:xfrm>
            <a:off x="5208596" y="6183339"/>
            <a:ext cx="1014488" cy="219010"/>
            <a:chOff x="3864976" y="6272670"/>
            <a:chExt cx="1069253" cy="230832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09797A01-5CCC-3750-E417-E02C5D6BD7B0}"/>
                </a:ext>
              </a:extLst>
            </p:cNvPr>
            <p:cNvSpPr/>
            <p:nvPr/>
          </p:nvSpPr>
          <p:spPr>
            <a:xfrm>
              <a:off x="3864976" y="6316086"/>
              <a:ext cx="144000" cy="144000"/>
            </a:xfrm>
            <a:prstGeom prst="rect">
              <a:avLst/>
            </a:prstGeom>
            <a:solidFill>
              <a:srgbClr val="EB0000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217"/>
              <a:endParaRPr lang="pt-PT">
                <a:solidFill>
                  <a:prstClr val="white"/>
                </a:solidFill>
                <a:latin typeface="Arial"/>
                <a:sym typeface="Helvetica Light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6B95EAA-5766-8EE9-0F32-90E28B440EE3}"/>
                </a:ext>
              </a:extLst>
            </p:cNvPr>
            <p:cNvSpPr txBox="1"/>
            <p:nvPr/>
          </p:nvSpPr>
          <p:spPr>
            <a:xfrm>
              <a:off x="4008976" y="6272670"/>
              <a:ext cx="92525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17"/>
              <a:r>
                <a:rPr lang="pt-PT" sz="900" dirty="0">
                  <a:solidFill>
                    <a:prstClr val="black"/>
                  </a:solidFill>
                  <a:latin typeface="Muli"/>
                  <a:sym typeface="Helvetica Light"/>
                </a:rPr>
                <a:t>Contabilidade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D64F5D6-375B-9140-DEF3-AD4A9A760F03}"/>
              </a:ext>
            </a:extLst>
          </p:cNvPr>
          <p:cNvGrpSpPr/>
          <p:nvPr/>
        </p:nvGrpSpPr>
        <p:grpSpPr>
          <a:xfrm>
            <a:off x="6340639" y="6183339"/>
            <a:ext cx="702704" cy="219010"/>
            <a:chOff x="5026747" y="6240199"/>
            <a:chExt cx="740638" cy="230832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9205EB8A-F980-D26C-99DD-26DD5F761756}"/>
                </a:ext>
              </a:extLst>
            </p:cNvPr>
            <p:cNvSpPr/>
            <p:nvPr/>
          </p:nvSpPr>
          <p:spPr>
            <a:xfrm>
              <a:off x="5026747" y="6283615"/>
              <a:ext cx="144000" cy="144000"/>
            </a:xfrm>
            <a:prstGeom prst="rect">
              <a:avLst/>
            </a:prstGeom>
            <a:solidFill>
              <a:srgbClr val="1AB2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217"/>
              <a:endParaRPr lang="pt-PT">
                <a:solidFill>
                  <a:prstClr val="white"/>
                </a:solidFill>
                <a:latin typeface="Arial"/>
                <a:sym typeface="Helvetica Light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EE1BD7F-47E9-2FC5-751E-F675268D481E}"/>
                </a:ext>
              </a:extLst>
            </p:cNvPr>
            <p:cNvSpPr txBox="1"/>
            <p:nvPr/>
          </p:nvSpPr>
          <p:spPr>
            <a:xfrm>
              <a:off x="5170747" y="6240199"/>
              <a:ext cx="59663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17"/>
              <a:r>
                <a:rPr lang="pt-PT" sz="900" dirty="0" err="1">
                  <a:solidFill>
                    <a:prstClr val="black"/>
                  </a:solidFill>
                  <a:latin typeface="Muli"/>
                  <a:sym typeface="Helvetica Light"/>
                </a:rPr>
                <a:t>Neyond</a:t>
              </a:r>
              <a:endParaRPr lang="pt-PT" sz="900" dirty="0">
                <a:solidFill>
                  <a:prstClr val="black"/>
                </a:solidFill>
                <a:latin typeface="Muli"/>
                <a:sym typeface="Helvetica Light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0F1F493-2419-4F87-2535-28EF21E34971}"/>
              </a:ext>
            </a:extLst>
          </p:cNvPr>
          <p:cNvGrpSpPr/>
          <p:nvPr/>
        </p:nvGrpSpPr>
        <p:grpSpPr>
          <a:xfrm>
            <a:off x="7160900" y="6183339"/>
            <a:ext cx="903464" cy="219010"/>
            <a:chOff x="5934890" y="6248749"/>
            <a:chExt cx="952235" cy="230832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474B1AB-4021-1030-3C1A-DD89D18B2B65}"/>
                </a:ext>
              </a:extLst>
            </p:cNvPr>
            <p:cNvSpPr/>
            <p:nvPr/>
          </p:nvSpPr>
          <p:spPr>
            <a:xfrm>
              <a:off x="5934890" y="6292165"/>
              <a:ext cx="144000" cy="144000"/>
            </a:xfrm>
            <a:prstGeom prst="rect">
              <a:avLst/>
            </a:prstGeom>
            <a:solidFill>
              <a:srgbClr val="EB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217"/>
              <a:endParaRPr lang="pt-PT">
                <a:solidFill>
                  <a:prstClr val="white"/>
                </a:solidFill>
                <a:latin typeface="Arial"/>
                <a:sym typeface="Helvetica Light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EABB4C5-1347-5CF0-5398-EBCCF1F5E098}"/>
                </a:ext>
              </a:extLst>
            </p:cNvPr>
            <p:cNvSpPr txBox="1"/>
            <p:nvPr/>
          </p:nvSpPr>
          <p:spPr>
            <a:xfrm>
              <a:off x="6078890" y="6248749"/>
              <a:ext cx="80823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17"/>
              <a:r>
                <a:rPr lang="pt-PT" sz="900" dirty="0">
                  <a:solidFill>
                    <a:prstClr val="black"/>
                  </a:solidFill>
                  <a:latin typeface="Muli"/>
                  <a:sym typeface="Helvetica Light"/>
                </a:rPr>
                <a:t>Corporação</a:t>
              </a: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E7D33982-5487-0088-D081-8EB063230B86}"/>
              </a:ext>
            </a:extLst>
          </p:cNvPr>
          <p:cNvSpPr txBox="1"/>
          <p:nvPr/>
        </p:nvSpPr>
        <p:spPr>
          <a:xfrm>
            <a:off x="851043" y="5947149"/>
            <a:ext cx="877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217"/>
            <a:r>
              <a:rPr lang="pt-PT" sz="1000" b="1" dirty="0">
                <a:solidFill>
                  <a:prstClr val="black"/>
                </a:solidFill>
                <a:latin typeface="Muli"/>
                <a:sym typeface="Helvetica Light"/>
              </a:rPr>
              <a:t>Legenda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F27900AA-4B94-777D-354E-E7DD109B7E28}"/>
              </a:ext>
            </a:extLst>
          </p:cNvPr>
          <p:cNvSpPr txBox="1">
            <a:spLocks/>
          </p:cNvSpPr>
          <p:nvPr/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PT" sz="1600" b="0" kern="1200" dirty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267" marR="0" lvl="0" indent="-114267" algn="l" defTabSz="457066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>
                <a:solidFill>
                  <a:srgbClr val="003E51"/>
                </a:solidFill>
                <a:sym typeface="Helvetica Light"/>
              </a:rPr>
              <a:t>Calendário – Reporte de </a:t>
            </a:r>
            <a:r>
              <a:rPr lang="pt-PT" dirty="0" smtClean="0">
                <a:solidFill>
                  <a:srgbClr val="003E51"/>
                </a:solidFill>
                <a:sym typeface="Helvetica Light"/>
              </a:rPr>
              <a:t>Julho 2025</a:t>
            </a:r>
            <a:endParaRPr kumimoji="0" lang="pt-PT" sz="12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62" y="1173459"/>
            <a:ext cx="10083600" cy="4492525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0F3EC7E1-8F03-0E25-6D68-2CE8249F88F3}"/>
              </a:ext>
            </a:extLst>
          </p:cNvPr>
          <p:cNvSpPr txBox="1"/>
          <p:nvPr/>
        </p:nvSpPr>
        <p:spPr>
          <a:xfrm>
            <a:off x="6748067" y="1528876"/>
            <a:ext cx="1288800" cy="338554"/>
          </a:xfrm>
          <a:prstGeom prst="rect">
            <a:avLst/>
          </a:prstGeom>
          <a:solidFill>
            <a:srgbClr val="DEEDF1">
              <a:lumMod val="90000"/>
            </a:srgbClr>
          </a:solidFill>
        </p:spPr>
        <p:txBody>
          <a:bodyPr wrap="square" rtlCol="0">
            <a:spAutoFit/>
          </a:bodyPr>
          <a:lstStyle/>
          <a:p>
            <a:pPr defTabSz="914217"/>
            <a:r>
              <a:rPr lang="pt-PT" sz="800" dirty="0">
                <a:solidFill>
                  <a:prstClr val="black"/>
                </a:solidFill>
                <a:latin typeface="Muli"/>
                <a:sym typeface="Helvetica Light"/>
              </a:rPr>
              <a:t>GLOVAL- </a:t>
            </a:r>
            <a:r>
              <a:rPr lang="pt-PT" sz="800" dirty="0" smtClean="0">
                <a:solidFill>
                  <a:prstClr val="black"/>
                </a:solidFill>
                <a:latin typeface="Muli"/>
                <a:sym typeface="Helvetica Light"/>
              </a:rPr>
              <a:t>colaterais (entrega)</a:t>
            </a:r>
            <a:endParaRPr lang="pt-PT" sz="800" dirty="0">
              <a:solidFill>
                <a:prstClr val="black"/>
              </a:solidFill>
              <a:latin typeface="Muli"/>
              <a:sym typeface="Helvetica Light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F3EC7E1-8F03-0E25-6D68-2CE8249F88F3}"/>
              </a:ext>
            </a:extLst>
          </p:cNvPr>
          <p:cNvSpPr txBox="1"/>
          <p:nvPr/>
        </p:nvSpPr>
        <p:spPr>
          <a:xfrm>
            <a:off x="3953565" y="3502756"/>
            <a:ext cx="1288800" cy="338554"/>
          </a:xfrm>
          <a:prstGeom prst="rect">
            <a:avLst/>
          </a:prstGeom>
          <a:solidFill>
            <a:srgbClr val="DEEDF1">
              <a:lumMod val="90000"/>
            </a:srgbClr>
          </a:solidFill>
        </p:spPr>
        <p:txBody>
          <a:bodyPr wrap="square" rtlCol="0">
            <a:spAutoFit/>
          </a:bodyPr>
          <a:lstStyle/>
          <a:p>
            <a:pPr defTabSz="914217"/>
            <a:r>
              <a:rPr lang="pt-PT" sz="800" dirty="0">
                <a:solidFill>
                  <a:prstClr val="black"/>
                </a:solidFill>
                <a:latin typeface="Muli"/>
                <a:sym typeface="Helvetica Light"/>
              </a:rPr>
              <a:t>GLOVAL- </a:t>
            </a:r>
            <a:r>
              <a:rPr lang="pt-PT" sz="800" dirty="0" smtClean="0">
                <a:solidFill>
                  <a:prstClr val="black"/>
                </a:solidFill>
                <a:latin typeface="Muli"/>
                <a:sym typeface="Helvetica Light"/>
              </a:rPr>
              <a:t>adjudicados (entrega)</a:t>
            </a:r>
            <a:endParaRPr lang="pt-PT" sz="800" dirty="0">
              <a:solidFill>
                <a:prstClr val="black"/>
              </a:solidFill>
              <a:latin typeface="Muli"/>
              <a:sym typeface="Helvetica Ligh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443250-149A-FCA5-E4DF-E1281749A3AC}"/>
              </a:ext>
            </a:extLst>
          </p:cNvPr>
          <p:cNvSpPr txBox="1"/>
          <p:nvPr/>
        </p:nvSpPr>
        <p:spPr>
          <a:xfrm>
            <a:off x="6748067" y="3258911"/>
            <a:ext cx="1288799" cy="338554"/>
          </a:xfrm>
          <a:prstGeom prst="rect">
            <a:avLst/>
          </a:prstGeom>
          <a:solidFill>
            <a:srgbClr val="62B967">
              <a:lumMod val="20000"/>
              <a:lumOff val="80000"/>
            </a:srgbClr>
          </a:solidFill>
        </p:spPr>
        <p:txBody>
          <a:bodyPr wrap="square" rtlCol="0">
            <a:spAutoFit/>
          </a:bodyPr>
          <a:lstStyle/>
          <a:p>
            <a:pPr defTabSz="914217"/>
            <a:r>
              <a:rPr lang="pt-PT" sz="800" dirty="0">
                <a:solidFill>
                  <a:prstClr val="black"/>
                </a:solidFill>
                <a:sym typeface="Helvetica Light"/>
              </a:rPr>
              <a:t>Modelo Verde </a:t>
            </a:r>
            <a:r>
              <a:rPr lang="pt-PT" sz="800" dirty="0">
                <a:solidFill>
                  <a:prstClr val="black"/>
                </a:solidFill>
                <a:latin typeface="Muli"/>
                <a:sym typeface="Helvetica Light"/>
              </a:rPr>
              <a:t>(v1</a:t>
            </a:r>
            <a:r>
              <a:rPr lang="pt-PT" sz="800" dirty="0" smtClean="0">
                <a:solidFill>
                  <a:prstClr val="black"/>
                </a:solidFill>
                <a:latin typeface="Muli"/>
                <a:sym typeface="Helvetica Light"/>
              </a:rPr>
              <a:t>) + submissão LT (v1)</a:t>
            </a:r>
            <a:endParaRPr lang="pt-PT" sz="800" dirty="0">
              <a:solidFill>
                <a:prstClr val="black"/>
              </a:solidFill>
              <a:latin typeface="Muli"/>
              <a:sym typeface="Helvetica Light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DBA50F5-4EE2-EEB9-BA81-144E82898F55}"/>
              </a:ext>
            </a:extLst>
          </p:cNvPr>
          <p:cNvSpPr txBox="1"/>
          <p:nvPr/>
        </p:nvSpPr>
        <p:spPr>
          <a:xfrm>
            <a:off x="1068596" y="4953623"/>
            <a:ext cx="2884969" cy="216000"/>
          </a:xfrm>
          <a:prstGeom prst="rect">
            <a:avLst/>
          </a:prstGeom>
          <a:solidFill>
            <a:srgbClr val="1AB2BB"/>
          </a:solidFill>
        </p:spPr>
        <p:txBody>
          <a:bodyPr wrap="square" rtlCol="0">
            <a:spAutoFit/>
          </a:bodyPr>
          <a:lstStyle/>
          <a:p>
            <a:pPr defTabSz="914217"/>
            <a:r>
              <a:rPr lang="pt-PT" sz="800" dirty="0">
                <a:solidFill>
                  <a:prstClr val="white"/>
                </a:solidFill>
                <a:latin typeface="Muli"/>
                <a:sym typeface="Helvetica Light"/>
              </a:rPr>
              <a:t>Submissão satélites – versão final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36D33E9-87C9-80A7-304D-80C3EAF90F1D}"/>
              </a:ext>
            </a:extLst>
          </p:cNvPr>
          <p:cNvSpPr txBox="1"/>
          <p:nvPr/>
        </p:nvSpPr>
        <p:spPr>
          <a:xfrm>
            <a:off x="3967961" y="4953623"/>
            <a:ext cx="1367902" cy="219010"/>
          </a:xfrm>
          <a:prstGeom prst="rect">
            <a:avLst/>
          </a:prstGeom>
          <a:solidFill>
            <a:srgbClr val="EB0000"/>
          </a:solidFill>
        </p:spPr>
        <p:txBody>
          <a:bodyPr wrap="square" rtlCol="0">
            <a:spAutoFit/>
          </a:bodyPr>
          <a:lstStyle/>
          <a:p>
            <a:pPr defTabSz="914217"/>
            <a:r>
              <a:rPr lang="pt-PT" sz="800" dirty="0">
                <a:solidFill>
                  <a:prstClr val="white"/>
                </a:solidFill>
                <a:latin typeface="Muli"/>
                <a:sym typeface="Helvetica Light"/>
              </a:rPr>
              <a:t>Entrega final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4CCCC37-59AA-D961-FBA9-A2F7429AA319}"/>
              </a:ext>
            </a:extLst>
          </p:cNvPr>
          <p:cNvSpPr txBox="1"/>
          <p:nvPr/>
        </p:nvSpPr>
        <p:spPr>
          <a:xfrm>
            <a:off x="3953565" y="3258911"/>
            <a:ext cx="1288799" cy="215444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square" rtlCol="0">
            <a:spAutoFit/>
          </a:bodyPr>
          <a:lstStyle/>
          <a:p>
            <a:pPr defTabSz="914217"/>
            <a:r>
              <a:rPr lang="pt-PT" sz="800" dirty="0">
                <a:solidFill>
                  <a:prstClr val="black"/>
                </a:solidFill>
                <a:latin typeface="Muli"/>
                <a:sym typeface="Helvetica Light"/>
              </a:rPr>
              <a:t>Adjudicados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3EC7E1-8F03-0E25-6D68-2CE8249F88F3}"/>
              </a:ext>
            </a:extLst>
          </p:cNvPr>
          <p:cNvSpPr txBox="1"/>
          <p:nvPr/>
        </p:nvSpPr>
        <p:spPr>
          <a:xfrm>
            <a:off x="6748067" y="2418181"/>
            <a:ext cx="1288800" cy="338554"/>
          </a:xfrm>
          <a:prstGeom prst="rect">
            <a:avLst/>
          </a:prstGeom>
          <a:solidFill>
            <a:srgbClr val="DEEDF1">
              <a:lumMod val="90000"/>
            </a:srgbClr>
          </a:solidFill>
        </p:spPr>
        <p:txBody>
          <a:bodyPr wrap="square" rtlCol="0">
            <a:spAutoFit/>
          </a:bodyPr>
          <a:lstStyle/>
          <a:p>
            <a:pPr defTabSz="914217"/>
            <a:r>
              <a:rPr lang="pt-PT" sz="800" dirty="0">
                <a:solidFill>
                  <a:prstClr val="black"/>
                </a:solidFill>
                <a:latin typeface="Muli"/>
                <a:sym typeface="Helvetica Light"/>
              </a:rPr>
              <a:t>GLOVAL- </a:t>
            </a:r>
            <a:r>
              <a:rPr lang="pt-PT" sz="800" dirty="0" smtClean="0">
                <a:solidFill>
                  <a:prstClr val="black"/>
                </a:solidFill>
                <a:latin typeface="Muli"/>
                <a:sym typeface="Helvetica Light"/>
              </a:rPr>
              <a:t>colaterais (receção)</a:t>
            </a:r>
            <a:endParaRPr lang="pt-PT" sz="800" dirty="0">
              <a:solidFill>
                <a:prstClr val="black"/>
              </a:solidFill>
              <a:latin typeface="Muli"/>
              <a:sym typeface="Helvetica Ligh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3EC7E1-8F03-0E25-6D68-2CE8249F88F3}"/>
              </a:ext>
            </a:extLst>
          </p:cNvPr>
          <p:cNvSpPr txBox="1"/>
          <p:nvPr/>
        </p:nvSpPr>
        <p:spPr>
          <a:xfrm>
            <a:off x="2424167" y="4243712"/>
            <a:ext cx="1288800" cy="324000"/>
          </a:xfrm>
          <a:prstGeom prst="rect">
            <a:avLst/>
          </a:prstGeom>
          <a:solidFill>
            <a:srgbClr val="DEEDF1">
              <a:lumMod val="90000"/>
            </a:srgbClr>
          </a:solidFill>
        </p:spPr>
        <p:txBody>
          <a:bodyPr wrap="square" rtlCol="0">
            <a:spAutoFit/>
          </a:bodyPr>
          <a:lstStyle/>
          <a:p>
            <a:pPr defTabSz="914217"/>
            <a:r>
              <a:rPr lang="pt-PT" sz="800" dirty="0">
                <a:solidFill>
                  <a:prstClr val="black"/>
                </a:solidFill>
                <a:latin typeface="Muli"/>
                <a:sym typeface="Helvetica Light"/>
              </a:rPr>
              <a:t>GLOVAL- </a:t>
            </a:r>
            <a:r>
              <a:rPr lang="pt-PT" sz="800" dirty="0" smtClean="0">
                <a:solidFill>
                  <a:prstClr val="black"/>
                </a:solidFill>
                <a:latin typeface="Muli"/>
                <a:sym typeface="Helvetica Light"/>
              </a:rPr>
              <a:t>adjudicados (receção)</a:t>
            </a:r>
            <a:endParaRPr lang="pt-PT" sz="800" dirty="0">
              <a:solidFill>
                <a:prstClr val="black"/>
              </a:solidFill>
              <a:latin typeface="Muli"/>
              <a:sym typeface="Helvetica Ligh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6D33E9-87C9-80A7-304D-80C3EAF90F1D}"/>
              </a:ext>
            </a:extLst>
          </p:cNvPr>
          <p:cNvSpPr txBox="1"/>
          <p:nvPr/>
        </p:nvSpPr>
        <p:spPr>
          <a:xfrm>
            <a:off x="5370668" y="4950663"/>
            <a:ext cx="1367902" cy="219010"/>
          </a:xfrm>
          <a:prstGeom prst="rect">
            <a:avLst/>
          </a:prstGeom>
          <a:solidFill>
            <a:srgbClr val="1AB2BB"/>
          </a:solidFill>
          <a:ln>
            <a:noFill/>
          </a:ln>
        </p:spPr>
        <p:txBody>
          <a:bodyPr wrap="square" rtlCol="0">
            <a:spAutoFit/>
          </a:bodyPr>
          <a:lstStyle/>
          <a:p>
            <a:pPr defTabSz="914217"/>
            <a:r>
              <a:rPr lang="pt-PT" sz="800" dirty="0" smtClean="0">
                <a:solidFill>
                  <a:prstClr val="white"/>
                </a:solidFill>
                <a:latin typeface="Muli"/>
                <a:sym typeface="Helvetica Light"/>
              </a:rPr>
              <a:t>Fim de projeto</a:t>
            </a:r>
            <a:endParaRPr lang="pt-PT" sz="800" dirty="0">
              <a:solidFill>
                <a:prstClr val="white"/>
              </a:solidFill>
              <a:latin typeface="Muli"/>
              <a:sym typeface="Helvetica Light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3EC7E1-8F03-0E25-6D68-2CE8249F88F3}"/>
              </a:ext>
            </a:extLst>
          </p:cNvPr>
          <p:cNvSpPr txBox="1"/>
          <p:nvPr/>
        </p:nvSpPr>
        <p:spPr>
          <a:xfrm>
            <a:off x="2424167" y="4537274"/>
            <a:ext cx="1288800" cy="252000"/>
          </a:xfrm>
          <a:prstGeom prst="rect">
            <a:avLst/>
          </a:prstGeom>
          <a:solidFill>
            <a:srgbClr val="1AB2BB"/>
          </a:solidFill>
        </p:spPr>
        <p:txBody>
          <a:bodyPr wrap="square" rtlCol="0">
            <a:spAutoFit/>
          </a:bodyPr>
          <a:lstStyle/>
          <a:p>
            <a:pPr defTabSz="914217"/>
            <a:r>
              <a:rPr lang="pt-PT" sz="700" dirty="0" smtClean="0">
                <a:solidFill>
                  <a:schemeClr val="bg1"/>
                </a:solidFill>
                <a:latin typeface="Muli"/>
                <a:sym typeface="Helvetica Light"/>
              </a:rPr>
              <a:t>Parametrização operações verdes</a:t>
            </a:r>
            <a:endParaRPr lang="pt-PT" sz="700" dirty="0">
              <a:solidFill>
                <a:schemeClr val="bg1"/>
              </a:solidFill>
              <a:latin typeface="Muli"/>
              <a:sym typeface="Helvetica Light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F26789B-A940-9934-7A35-7BD2F2E76E35}"/>
              </a:ext>
            </a:extLst>
          </p:cNvPr>
          <p:cNvSpPr txBox="1"/>
          <p:nvPr/>
        </p:nvSpPr>
        <p:spPr>
          <a:xfrm>
            <a:off x="1069659" y="4089560"/>
            <a:ext cx="7056000" cy="200055"/>
          </a:xfrm>
          <a:prstGeom prst="rect">
            <a:avLst/>
          </a:prstGeom>
          <a:solidFill>
            <a:srgbClr val="1AB2BB"/>
          </a:solidFill>
        </p:spPr>
        <p:txBody>
          <a:bodyPr wrap="square" rtlCol="0">
            <a:spAutoFit/>
          </a:bodyPr>
          <a:lstStyle/>
          <a:p>
            <a:pPr defTabSz="914217"/>
            <a:r>
              <a:rPr lang="pt-PT" sz="700" dirty="0">
                <a:solidFill>
                  <a:prstClr val="white"/>
                </a:solidFill>
                <a:latin typeface="Muli"/>
                <a:sym typeface="Helvetica Light"/>
              </a:rPr>
              <a:t>Submissão satélites - 1ª versão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26789B-A940-9934-7A35-7BD2F2E76E35}"/>
              </a:ext>
            </a:extLst>
          </p:cNvPr>
          <p:cNvSpPr txBox="1"/>
          <p:nvPr/>
        </p:nvSpPr>
        <p:spPr>
          <a:xfrm>
            <a:off x="1068596" y="4307378"/>
            <a:ext cx="1355571" cy="200055"/>
          </a:xfrm>
          <a:prstGeom prst="rect">
            <a:avLst/>
          </a:prstGeom>
          <a:solidFill>
            <a:srgbClr val="1AB2BB"/>
          </a:solidFill>
        </p:spPr>
        <p:txBody>
          <a:bodyPr wrap="square" rtlCol="0">
            <a:spAutoFit/>
          </a:bodyPr>
          <a:lstStyle/>
          <a:p>
            <a:pPr defTabSz="914217"/>
            <a:r>
              <a:rPr lang="pt-PT" sz="700" dirty="0" smtClean="0">
                <a:solidFill>
                  <a:prstClr val="white"/>
                </a:solidFill>
                <a:latin typeface="Muli"/>
                <a:sym typeface="Helvetica Light"/>
              </a:rPr>
              <a:t>Satélite 83</a:t>
            </a:r>
            <a:endParaRPr lang="pt-PT" sz="700" dirty="0">
              <a:solidFill>
                <a:prstClr val="white"/>
              </a:solidFill>
              <a:latin typeface="Muli"/>
              <a:sym typeface="Helvetica Ligh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26789B-A940-9934-7A35-7BD2F2E76E35}"/>
              </a:ext>
            </a:extLst>
          </p:cNvPr>
          <p:cNvSpPr txBox="1"/>
          <p:nvPr/>
        </p:nvSpPr>
        <p:spPr>
          <a:xfrm>
            <a:off x="5370668" y="4313452"/>
            <a:ext cx="1355571" cy="307777"/>
          </a:xfrm>
          <a:prstGeom prst="rect">
            <a:avLst/>
          </a:prstGeom>
          <a:solidFill>
            <a:srgbClr val="1AB2BB"/>
          </a:solidFill>
        </p:spPr>
        <p:txBody>
          <a:bodyPr wrap="square" rtlCol="0">
            <a:spAutoFit/>
          </a:bodyPr>
          <a:lstStyle/>
          <a:p>
            <a:pPr defTabSz="914217"/>
            <a:r>
              <a:rPr lang="pt-PT" sz="700" dirty="0" smtClean="0">
                <a:solidFill>
                  <a:prstClr val="white"/>
                </a:solidFill>
                <a:latin typeface="Muli"/>
                <a:sym typeface="Helvetica Light"/>
              </a:rPr>
              <a:t>Satélites 79 e 93 (versões preliminares)</a:t>
            </a:r>
            <a:endParaRPr lang="pt-PT" sz="700" dirty="0">
              <a:solidFill>
                <a:prstClr val="white"/>
              </a:solidFill>
              <a:latin typeface="Muli"/>
              <a:sym typeface="Helvetica Light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26789B-A940-9934-7A35-7BD2F2E76E35}"/>
              </a:ext>
            </a:extLst>
          </p:cNvPr>
          <p:cNvSpPr txBox="1"/>
          <p:nvPr/>
        </p:nvSpPr>
        <p:spPr>
          <a:xfrm>
            <a:off x="6770088" y="4309054"/>
            <a:ext cx="1355571" cy="200055"/>
          </a:xfrm>
          <a:prstGeom prst="rect">
            <a:avLst/>
          </a:prstGeom>
          <a:solidFill>
            <a:srgbClr val="1AB2BB"/>
          </a:solidFill>
        </p:spPr>
        <p:txBody>
          <a:bodyPr wrap="square" rtlCol="0">
            <a:spAutoFit/>
          </a:bodyPr>
          <a:lstStyle/>
          <a:p>
            <a:pPr defTabSz="914217"/>
            <a:r>
              <a:rPr lang="pt-PT" sz="700" dirty="0" smtClean="0">
                <a:solidFill>
                  <a:prstClr val="white"/>
                </a:solidFill>
                <a:latin typeface="Muli"/>
                <a:sym typeface="Helvetica Light"/>
              </a:rPr>
              <a:t>Satélites 80</a:t>
            </a:r>
            <a:endParaRPr lang="pt-PT" sz="700" dirty="0">
              <a:solidFill>
                <a:prstClr val="white"/>
              </a:solidFill>
              <a:latin typeface="Muli"/>
              <a:sym typeface="Helvetica Ligh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26789B-A940-9934-7A35-7BD2F2E76E35}"/>
              </a:ext>
            </a:extLst>
          </p:cNvPr>
          <p:cNvSpPr txBox="1"/>
          <p:nvPr/>
        </p:nvSpPr>
        <p:spPr>
          <a:xfrm>
            <a:off x="1068596" y="5189943"/>
            <a:ext cx="1355571" cy="200055"/>
          </a:xfrm>
          <a:prstGeom prst="rect">
            <a:avLst/>
          </a:prstGeom>
          <a:solidFill>
            <a:srgbClr val="1AB2BB"/>
          </a:solidFill>
        </p:spPr>
        <p:txBody>
          <a:bodyPr wrap="square" rtlCol="0">
            <a:spAutoFit/>
          </a:bodyPr>
          <a:lstStyle/>
          <a:p>
            <a:pPr defTabSz="914217"/>
            <a:r>
              <a:rPr lang="pt-PT" sz="700" dirty="0" smtClean="0">
                <a:solidFill>
                  <a:prstClr val="white"/>
                </a:solidFill>
                <a:latin typeface="Muli"/>
                <a:sym typeface="Helvetica Light"/>
              </a:rPr>
              <a:t>Satélites 84</a:t>
            </a:r>
            <a:endParaRPr lang="pt-PT" sz="700" dirty="0">
              <a:solidFill>
                <a:prstClr val="white"/>
              </a:solidFill>
              <a:latin typeface="Muli"/>
              <a:sym typeface="Helvetica Ligh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26789B-A940-9934-7A35-7BD2F2E76E35}"/>
              </a:ext>
            </a:extLst>
          </p:cNvPr>
          <p:cNvSpPr txBox="1"/>
          <p:nvPr/>
        </p:nvSpPr>
        <p:spPr>
          <a:xfrm>
            <a:off x="5370667" y="5189943"/>
            <a:ext cx="1367903" cy="415498"/>
          </a:xfrm>
          <a:prstGeom prst="rect">
            <a:avLst/>
          </a:prstGeom>
          <a:solidFill>
            <a:srgbClr val="1AB2BB"/>
          </a:solidFill>
        </p:spPr>
        <p:txBody>
          <a:bodyPr wrap="square" rtlCol="0">
            <a:spAutoFit/>
          </a:bodyPr>
          <a:lstStyle/>
          <a:p>
            <a:pPr defTabSz="914217"/>
            <a:r>
              <a:rPr lang="pt-PT" sz="700" dirty="0" smtClean="0">
                <a:solidFill>
                  <a:prstClr val="white"/>
                </a:solidFill>
                <a:latin typeface="Muli"/>
                <a:sym typeface="Helvetica Light"/>
              </a:rPr>
              <a:t>Entrega documentação final  </a:t>
            </a:r>
            <a:r>
              <a:rPr lang="pt-PT" sz="700" i="1" dirty="0" smtClean="0">
                <a:solidFill>
                  <a:prstClr val="white"/>
                </a:solidFill>
                <a:latin typeface="Muli"/>
                <a:sym typeface="Helvetica Light"/>
              </a:rPr>
              <a:t>Templates </a:t>
            </a:r>
            <a:r>
              <a:rPr lang="pt-PT" sz="700" dirty="0" smtClean="0">
                <a:solidFill>
                  <a:prstClr val="white"/>
                </a:solidFill>
                <a:latin typeface="Muli"/>
                <a:sym typeface="Helvetica Light"/>
              </a:rPr>
              <a:t>Locais e Satélites Corporativos Agregados</a:t>
            </a:r>
            <a:endParaRPr lang="pt-PT" sz="700" i="1" dirty="0">
              <a:solidFill>
                <a:prstClr val="white"/>
              </a:solidFill>
              <a:latin typeface="Muli"/>
              <a:sym typeface="Helvetica Ligh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26789B-A940-9934-7A35-7BD2F2E76E35}"/>
              </a:ext>
            </a:extLst>
          </p:cNvPr>
          <p:cNvSpPr txBox="1"/>
          <p:nvPr/>
        </p:nvSpPr>
        <p:spPr>
          <a:xfrm>
            <a:off x="1068596" y="5405887"/>
            <a:ext cx="1355571" cy="415498"/>
          </a:xfrm>
          <a:prstGeom prst="rect">
            <a:avLst/>
          </a:prstGeom>
          <a:solidFill>
            <a:srgbClr val="1AB2BB"/>
          </a:solidFill>
        </p:spPr>
        <p:txBody>
          <a:bodyPr wrap="square" rtlCol="0">
            <a:spAutoFit/>
          </a:bodyPr>
          <a:lstStyle/>
          <a:p>
            <a:pPr defTabSz="914217"/>
            <a:r>
              <a:rPr lang="pt-PT" sz="700" dirty="0" smtClean="0">
                <a:solidFill>
                  <a:prstClr val="white"/>
                </a:solidFill>
                <a:latin typeface="Muli"/>
                <a:sym typeface="Helvetica Light"/>
              </a:rPr>
              <a:t>Passagem de conhecimento de subida de </a:t>
            </a:r>
            <a:r>
              <a:rPr lang="pt-PT" sz="700" i="1" dirty="0" smtClean="0">
                <a:solidFill>
                  <a:prstClr val="white"/>
                </a:solidFill>
                <a:latin typeface="Muli"/>
                <a:sym typeface="Helvetica Light"/>
              </a:rPr>
              <a:t>inputs </a:t>
            </a:r>
            <a:r>
              <a:rPr lang="pt-PT" sz="700" dirty="0" smtClean="0">
                <a:solidFill>
                  <a:prstClr val="white"/>
                </a:solidFill>
                <a:latin typeface="Muli"/>
                <a:sym typeface="Helvetica Light"/>
              </a:rPr>
              <a:t>e tabelas de parametrização</a:t>
            </a:r>
            <a:endParaRPr lang="pt-PT" sz="700" dirty="0">
              <a:solidFill>
                <a:prstClr val="white"/>
              </a:solidFill>
              <a:latin typeface="Muli"/>
              <a:sym typeface="Helvetica Light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443250-149A-FCA5-E4DF-E1281749A3AC}"/>
              </a:ext>
            </a:extLst>
          </p:cNvPr>
          <p:cNvSpPr txBox="1"/>
          <p:nvPr/>
        </p:nvSpPr>
        <p:spPr>
          <a:xfrm>
            <a:off x="6770088" y="4479117"/>
            <a:ext cx="1355571" cy="307777"/>
          </a:xfrm>
          <a:prstGeom prst="rect">
            <a:avLst/>
          </a:prstGeom>
          <a:solidFill>
            <a:srgbClr val="62B967">
              <a:lumMod val="20000"/>
              <a:lumOff val="80000"/>
            </a:srgbClr>
          </a:solidFill>
        </p:spPr>
        <p:txBody>
          <a:bodyPr wrap="square" rtlCol="0">
            <a:spAutoFit/>
          </a:bodyPr>
          <a:lstStyle/>
          <a:p>
            <a:pPr defTabSz="914217"/>
            <a:r>
              <a:rPr lang="pt-PT" sz="700" dirty="0" smtClean="0">
                <a:solidFill>
                  <a:prstClr val="black"/>
                </a:solidFill>
                <a:sym typeface="Helvetica Light"/>
              </a:rPr>
              <a:t>Entrega emissões financiadas</a:t>
            </a:r>
            <a:endParaRPr lang="pt-PT" sz="700" dirty="0">
              <a:solidFill>
                <a:prstClr val="black"/>
              </a:solidFill>
              <a:latin typeface="Muli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039978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262" y="1132466"/>
            <a:ext cx="10083600" cy="452368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3EE483-0A14-4FAB-AA30-F2A1D9723C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b="1" dirty="0">
                <a:latin typeface="+mn-lt"/>
              </a:rPr>
              <a:t>Pilar III ESG</a:t>
            </a:r>
            <a:endParaRPr lang="pt-PT" b="1" i="1" dirty="0">
              <a:latin typeface="+mn-lt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2853C35-B707-1D1B-D953-FDE54833DDDB}"/>
              </a:ext>
            </a:extLst>
          </p:cNvPr>
          <p:cNvGrpSpPr/>
          <p:nvPr/>
        </p:nvGrpSpPr>
        <p:grpSpPr>
          <a:xfrm>
            <a:off x="956199" y="6183339"/>
            <a:ext cx="1986342" cy="219010"/>
            <a:chOff x="583525" y="6243989"/>
            <a:chExt cx="2093573" cy="230832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54A498C-E6B6-81F9-A7CA-7F86401F3595}"/>
                </a:ext>
              </a:extLst>
            </p:cNvPr>
            <p:cNvSpPr/>
            <p:nvPr/>
          </p:nvSpPr>
          <p:spPr>
            <a:xfrm>
              <a:off x="583525" y="6287405"/>
              <a:ext cx="144000" cy="144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217"/>
              <a:endParaRPr lang="pt-PT">
                <a:solidFill>
                  <a:prstClr val="white"/>
                </a:solidFill>
                <a:latin typeface="Arial"/>
                <a:sym typeface="Helvetica Light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E2455F7-0DC1-747D-1CBB-45A35A08A425}"/>
                </a:ext>
              </a:extLst>
            </p:cNvPr>
            <p:cNvSpPr txBox="1"/>
            <p:nvPr/>
          </p:nvSpPr>
          <p:spPr>
            <a:xfrm>
              <a:off x="727525" y="6243989"/>
              <a:ext cx="194957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17"/>
              <a:r>
                <a:rPr lang="pt-PT" sz="900" dirty="0">
                  <a:solidFill>
                    <a:prstClr val="black"/>
                  </a:solidFill>
                  <a:latin typeface="Muli"/>
                  <a:sym typeface="Helvetica Light"/>
                </a:rPr>
                <a:t>Desinvestimento &amp; Contabilidade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996E780-C371-3571-78B7-D2898D614515}"/>
              </a:ext>
            </a:extLst>
          </p:cNvPr>
          <p:cNvGrpSpPr/>
          <p:nvPr/>
        </p:nvGrpSpPr>
        <p:grpSpPr>
          <a:xfrm>
            <a:off x="3060100" y="6183342"/>
            <a:ext cx="885547" cy="230832"/>
            <a:chOff x="1561408" y="6240198"/>
            <a:chExt cx="933349" cy="243292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6C3D879B-CBEC-D8F0-5318-407303A9372E}"/>
                </a:ext>
              </a:extLst>
            </p:cNvPr>
            <p:cNvSpPr/>
            <p:nvPr/>
          </p:nvSpPr>
          <p:spPr>
            <a:xfrm>
              <a:off x="1561408" y="6283614"/>
              <a:ext cx="144000" cy="144000"/>
            </a:xfrm>
            <a:prstGeom prst="rect">
              <a:avLst/>
            </a:prstGeom>
            <a:solidFill>
              <a:srgbClr val="62B96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217"/>
              <a:endParaRPr lang="pt-PT">
                <a:solidFill>
                  <a:prstClr val="white"/>
                </a:solidFill>
                <a:latin typeface="Arial"/>
                <a:sym typeface="Helvetica Light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BB2118A-FA3F-BF55-36D9-DF1B85526679}"/>
                </a:ext>
              </a:extLst>
            </p:cNvPr>
            <p:cNvSpPr txBox="1"/>
            <p:nvPr/>
          </p:nvSpPr>
          <p:spPr>
            <a:xfrm>
              <a:off x="1705407" y="6240198"/>
              <a:ext cx="789350" cy="2432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17"/>
              <a:r>
                <a:rPr lang="pt-PT" sz="900" dirty="0" smtClean="0">
                  <a:solidFill>
                    <a:prstClr val="black"/>
                  </a:solidFill>
                  <a:latin typeface="Muli"/>
                  <a:sym typeface="Helvetica Light"/>
                </a:rPr>
                <a:t>Tecnologia</a:t>
              </a:r>
              <a:endParaRPr lang="pt-PT" sz="900" dirty="0">
                <a:solidFill>
                  <a:prstClr val="black"/>
                </a:solidFill>
                <a:latin typeface="Muli"/>
                <a:sym typeface="Helvetica Light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0DD1D6D-4DCD-5094-C06D-9440D8FABCC5}"/>
              </a:ext>
            </a:extLst>
          </p:cNvPr>
          <p:cNvGrpSpPr/>
          <p:nvPr/>
        </p:nvGrpSpPr>
        <p:grpSpPr>
          <a:xfrm>
            <a:off x="4461341" y="6183339"/>
            <a:ext cx="629700" cy="219010"/>
            <a:chOff x="3056074" y="6261463"/>
            <a:chExt cx="663694" cy="230832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14E5490-5A41-8CAC-36F3-802AFAC9FD65}"/>
                </a:ext>
              </a:extLst>
            </p:cNvPr>
            <p:cNvSpPr/>
            <p:nvPr/>
          </p:nvSpPr>
          <p:spPr>
            <a:xfrm>
              <a:off x="3056074" y="6304879"/>
              <a:ext cx="144000" cy="144000"/>
            </a:xfrm>
            <a:prstGeom prst="rect">
              <a:avLst/>
            </a:prstGeom>
            <a:solidFill>
              <a:srgbClr val="DEEDF1">
                <a:lumMod val="9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217"/>
              <a:endParaRPr lang="pt-PT">
                <a:solidFill>
                  <a:prstClr val="white"/>
                </a:solidFill>
                <a:latin typeface="Arial"/>
                <a:sym typeface="Helvetica Light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B9E9B86-6857-B3F2-A52E-78003EBB5989}"/>
                </a:ext>
              </a:extLst>
            </p:cNvPr>
            <p:cNvSpPr txBox="1"/>
            <p:nvPr/>
          </p:nvSpPr>
          <p:spPr>
            <a:xfrm>
              <a:off x="3200074" y="6261463"/>
              <a:ext cx="5196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17"/>
              <a:r>
                <a:rPr lang="pt-PT" sz="900" dirty="0" err="1">
                  <a:solidFill>
                    <a:prstClr val="black"/>
                  </a:solidFill>
                  <a:latin typeface="Muli"/>
                  <a:sym typeface="Helvetica Light"/>
                </a:rPr>
                <a:t>Gloval</a:t>
              </a:r>
              <a:endParaRPr lang="pt-PT" sz="900" dirty="0">
                <a:solidFill>
                  <a:prstClr val="black"/>
                </a:solidFill>
                <a:latin typeface="Muli"/>
                <a:sym typeface="Helvetica Light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933684A-70DF-3D0D-9501-382AA3FE6825}"/>
              </a:ext>
            </a:extLst>
          </p:cNvPr>
          <p:cNvGrpSpPr/>
          <p:nvPr/>
        </p:nvGrpSpPr>
        <p:grpSpPr>
          <a:xfrm>
            <a:off x="5208596" y="6183339"/>
            <a:ext cx="1014488" cy="219010"/>
            <a:chOff x="3864976" y="6272670"/>
            <a:chExt cx="1069253" cy="230832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09797A01-5CCC-3750-E417-E02C5D6BD7B0}"/>
                </a:ext>
              </a:extLst>
            </p:cNvPr>
            <p:cNvSpPr/>
            <p:nvPr/>
          </p:nvSpPr>
          <p:spPr>
            <a:xfrm>
              <a:off x="3864976" y="6316086"/>
              <a:ext cx="144000" cy="144000"/>
            </a:xfrm>
            <a:prstGeom prst="rect">
              <a:avLst/>
            </a:prstGeom>
            <a:solidFill>
              <a:srgbClr val="EB0000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217"/>
              <a:endParaRPr lang="pt-PT">
                <a:solidFill>
                  <a:prstClr val="white"/>
                </a:solidFill>
                <a:latin typeface="Arial"/>
                <a:sym typeface="Helvetica Light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6B95EAA-5766-8EE9-0F32-90E28B440EE3}"/>
                </a:ext>
              </a:extLst>
            </p:cNvPr>
            <p:cNvSpPr txBox="1"/>
            <p:nvPr/>
          </p:nvSpPr>
          <p:spPr>
            <a:xfrm>
              <a:off x="4008976" y="6272670"/>
              <a:ext cx="92525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17"/>
              <a:r>
                <a:rPr lang="pt-PT" sz="900" dirty="0">
                  <a:solidFill>
                    <a:prstClr val="black"/>
                  </a:solidFill>
                  <a:latin typeface="Muli"/>
                  <a:sym typeface="Helvetica Light"/>
                </a:rPr>
                <a:t>Contabilidade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D64F5D6-375B-9140-DEF3-AD4A9A760F03}"/>
              </a:ext>
            </a:extLst>
          </p:cNvPr>
          <p:cNvGrpSpPr/>
          <p:nvPr/>
        </p:nvGrpSpPr>
        <p:grpSpPr>
          <a:xfrm>
            <a:off x="6340639" y="6183339"/>
            <a:ext cx="702704" cy="219010"/>
            <a:chOff x="5026747" y="6240199"/>
            <a:chExt cx="740638" cy="230832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9205EB8A-F980-D26C-99DD-26DD5F761756}"/>
                </a:ext>
              </a:extLst>
            </p:cNvPr>
            <p:cNvSpPr/>
            <p:nvPr/>
          </p:nvSpPr>
          <p:spPr>
            <a:xfrm>
              <a:off x="5026747" y="6283615"/>
              <a:ext cx="144000" cy="144000"/>
            </a:xfrm>
            <a:prstGeom prst="rect">
              <a:avLst/>
            </a:prstGeom>
            <a:solidFill>
              <a:srgbClr val="1AB2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217"/>
              <a:endParaRPr lang="pt-PT">
                <a:solidFill>
                  <a:prstClr val="white"/>
                </a:solidFill>
                <a:latin typeface="Arial"/>
                <a:sym typeface="Helvetica Light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EE1BD7F-47E9-2FC5-751E-F675268D481E}"/>
                </a:ext>
              </a:extLst>
            </p:cNvPr>
            <p:cNvSpPr txBox="1"/>
            <p:nvPr/>
          </p:nvSpPr>
          <p:spPr>
            <a:xfrm>
              <a:off x="5170747" y="6240199"/>
              <a:ext cx="59663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17"/>
              <a:r>
                <a:rPr lang="pt-PT" sz="900" dirty="0" err="1">
                  <a:solidFill>
                    <a:prstClr val="black"/>
                  </a:solidFill>
                  <a:latin typeface="Muli"/>
                  <a:sym typeface="Helvetica Light"/>
                </a:rPr>
                <a:t>Neyond</a:t>
              </a:r>
              <a:endParaRPr lang="pt-PT" sz="900" dirty="0">
                <a:solidFill>
                  <a:prstClr val="black"/>
                </a:solidFill>
                <a:latin typeface="Muli"/>
                <a:sym typeface="Helvetica Light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0F1F493-2419-4F87-2535-28EF21E34971}"/>
              </a:ext>
            </a:extLst>
          </p:cNvPr>
          <p:cNvGrpSpPr/>
          <p:nvPr/>
        </p:nvGrpSpPr>
        <p:grpSpPr>
          <a:xfrm>
            <a:off x="7160900" y="6183339"/>
            <a:ext cx="903464" cy="219010"/>
            <a:chOff x="5934890" y="6248749"/>
            <a:chExt cx="952235" cy="230832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474B1AB-4021-1030-3C1A-DD89D18B2B65}"/>
                </a:ext>
              </a:extLst>
            </p:cNvPr>
            <p:cNvSpPr/>
            <p:nvPr/>
          </p:nvSpPr>
          <p:spPr>
            <a:xfrm>
              <a:off x="5934890" y="6292165"/>
              <a:ext cx="144000" cy="144000"/>
            </a:xfrm>
            <a:prstGeom prst="rect">
              <a:avLst/>
            </a:prstGeom>
            <a:solidFill>
              <a:srgbClr val="EB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217"/>
              <a:endParaRPr lang="pt-PT">
                <a:solidFill>
                  <a:prstClr val="white"/>
                </a:solidFill>
                <a:latin typeface="Arial"/>
                <a:sym typeface="Helvetica Light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EABB4C5-1347-5CF0-5398-EBCCF1F5E098}"/>
                </a:ext>
              </a:extLst>
            </p:cNvPr>
            <p:cNvSpPr txBox="1"/>
            <p:nvPr/>
          </p:nvSpPr>
          <p:spPr>
            <a:xfrm>
              <a:off x="6078890" y="6248749"/>
              <a:ext cx="80823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17"/>
              <a:r>
                <a:rPr lang="pt-PT" sz="900" dirty="0">
                  <a:solidFill>
                    <a:prstClr val="black"/>
                  </a:solidFill>
                  <a:latin typeface="Muli"/>
                  <a:sym typeface="Helvetica Light"/>
                </a:rPr>
                <a:t>Corporação</a:t>
              </a: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E7D33982-5487-0088-D081-8EB063230B86}"/>
              </a:ext>
            </a:extLst>
          </p:cNvPr>
          <p:cNvSpPr txBox="1"/>
          <p:nvPr/>
        </p:nvSpPr>
        <p:spPr>
          <a:xfrm>
            <a:off x="851043" y="5947149"/>
            <a:ext cx="877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217"/>
            <a:r>
              <a:rPr lang="pt-PT" sz="1000" b="1" dirty="0">
                <a:solidFill>
                  <a:prstClr val="black"/>
                </a:solidFill>
                <a:latin typeface="Muli"/>
                <a:sym typeface="Helvetica Light"/>
              </a:rPr>
              <a:t>Legenda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F27900AA-4B94-777D-354E-E7DD109B7E28}"/>
              </a:ext>
            </a:extLst>
          </p:cNvPr>
          <p:cNvSpPr txBox="1">
            <a:spLocks/>
          </p:cNvSpPr>
          <p:nvPr/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PT" sz="1600" b="0" kern="1200" dirty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267" marR="0" lvl="0" indent="-114267" algn="l" defTabSz="457066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>
                <a:solidFill>
                  <a:srgbClr val="003E51"/>
                </a:solidFill>
                <a:sym typeface="Helvetica Light"/>
              </a:rPr>
              <a:t>Calendário – Reporte de </a:t>
            </a:r>
            <a:r>
              <a:rPr lang="pt-PT" dirty="0" smtClean="0">
                <a:solidFill>
                  <a:srgbClr val="003E51"/>
                </a:solidFill>
                <a:sym typeface="Helvetica Light"/>
              </a:rPr>
              <a:t>Agosto 2025</a:t>
            </a:r>
            <a:endParaRPr kumimoji="0" lang="pt-PT" sz="12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05EB8A-F980-D26C-99DD-26DD5F761756}"/>
              </a:ext>
            </a:extLst>
          </p:cNvPr>
          <p:cNvSpPr/>
          <p:nvPr/>
        </p:nvSpPr>
        <p:spPr>
          <a:xfrm>
            <a:off x="2575255" y="5036859"/>
            <a:ext cx="2633771" cy="255051"/>
          </a:xfrm>
          <a:prstGeom prst="rect">
            <a:avLst/>
          </a:prstGeom>
          <a:solidFill>
            <a:srgbClr val="1AB2B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/>
            <a:r>
              <a:rPr lang="pt-PT" sz="1000" dirty="0" smtClean="0">
                <a:solidFill>
                  <a:prstClr val="white"/>
                </a:solidFill>
                <a:sym typeface="Helvetica Light"/>
              </a:rPr>
              <a:t>Passagem conhecimento </a:t>
            </a:r>
            <a:r>
              <a:rPr lang="pt-PT" sz="1000" i="1" dirty="0" smtClean="0">
                <a:solidFill>
                  <a:prstClr val="white"/>
                </a:solidFill>
                <a:sym typeface="Helvetica Light"/>
              </a:rPr>
              <a:t>Templates</a:t>
            </a:r>
            <a:r>
              <a:rPr lang="pt-PT" sz="1000" dirty="0" smtClean="0">
                <a:solidFill>
                  <a:prstClr val="white"/>
                </a:solidFill>
                <a:sym typeface="Helvetica Light"/>
              </a:rPr>
              <a:t> Locais</a:t>
            </a:r>
            <a:endParaRPr lang="pt-PT" sz="1000" dirty="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443250-149A-FCA5-E4DF-E1281749A3AC}"/>
              </a:ext>
            </a:extLst>
          </p:cNvPr>
          <p:cNvSpPr txBox="1"/>
          <p:nvPr/>
        </p:nvSpPr>
        <p:spPr>
          <a:xfrm>
            <a:off x="1096681" y="2438843"/>
            <a:ext cx="7056000" cy="215444"/>
          </a:xfrm>
          <a:prstGeom prst="rect">
            <a:avLst/>
          </a:prstGeom>
          <a:solidFill>
            <a:srgbClr val="62B967">
              <a:lumMod val="20000"/>
              <a:lumOff val="80000"/>
            </a:srgbClr>
          </a:solidFill>
        </p:spPr>
        <p:txBody>
          <a:bodyPr wrap="square" rtlCol="0">
            <a:spAutoFit/>
          </a:bodyPr>
          <a:lstStyle/>
          <a:p>
            <a:pPr algn="ctr" defTabSz="914217"/>
            <a:r>
              <a:rPr lang="pt-PT" sz="800" dirty="0" smtClean="0">
                <a:solidFill>
                  <a:prstClr val="black"/>
                </a:solidFill>
                <a:sym typeface="Helvetica Light"/>
              </a:rPr>
              <a:t>Implementação da tabela de universos Corporativo e Local</a:t>
            </a:r>
            <a:endParaRPr lang="pt-PT" sz="800" dirty="0">
              <a:solidFill>
                <a:prstClr val="black"/>
              </a:solidFill>
              <a:latin typeface="Muli"/>
              <a:sym typeface="Helvetica Ligh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443250-149A-FCA5-E4DF-E1281749A3AC}"/>
              </a:ext>
            </a:extLst>
          </p:cNvPr>
          <p:cNvSpPr txBox="1"/>
          <p:nvPr/>
        </p:nvSpPr>
        <p:spPr>
          <a:xfrm>
            <a:off x="1096681" y="3346684"/>
            <a:ext cx="7056000" cy="215444"/>
          </a:xfrm>
          <a:prstGeom prst="rect">
            <a:avLst/>
          </a:prstGeom>
          <a:solidFill>
            <a:srgbClr val="62B967">
              <a:lumMod val="20000"/>
              <a:lumOff val="80000"/>
            </a:srgbClr>
          </a:solidFill>
        </p:spPr>
        <p:txBody>
          <a:bodyPr wrap="square" rtlCol="0">
            <a:spAutoFit/>
          </a:bodyPr>
          <a:lstStyle/>
          <a:p>
            <a:pPr algn="ctr" defTabSz="914217"/>
            <a:r>
              <a:rPr lang="pt-PT" sz="800" dirty="0" smtClean="0">
                <a:solidFill>
                  <a:prstClr val="black"/>
                </a:solidFill>
                <a:sym typeface="Helvetica Light"/>
              </a:rPr>
              <a:t>Implementação da tabela de universos Corporativo e Local</a:t>
            </a:r>
            <a:endParaRPr lang="pt-PT" sz="800" dirty="0">
              <a:solidFill>
                <a:prstClr val="black"/>
              </a:solidFill>
              <a:latin typeface="Muli"/>
              <a:sym typeface="Helvetica Ligh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443250-149A-FCA5-E4DF-E1281749A3AC}"/>
              </a:ext>
            </a:extLst>
          </p:cNvPr>
          <p:cNvSpPr txBox="1"/>
          <p:nvPr/>
        </p:nvSpPr>
        <p:spPr>
          <a:xfrm>
            <a:off x="1096681" y="4176254"/>
            <a:ext cx="7056000" cy="215444"/>
          </a:xfrm>
          <a:prstGeom prst="rect">
            <a:avLst/>
          </a:prstGeom>
          <a:solidFill>
            <a:srgbClr val="62B967">
              <a:lumMod val="20000"/>
              <a:lumOff val="80000"/>
            </a:srgbClr>
          </a:solidFill>
        </p:spPr>
        <p:txBody>
          <a:bodyPr wrap="square" rtlCol="0">
            <a:spAutoFit/>
          </a:bodyPr>
          <a:lstStyle/>
          <a:p>
            <a:pPr algn="ctr" defTabSz="914217"/>
            <a:r>
              <a:rPr lang="pt-PT" sz="800" dirty="0" smtClean="0">
                <a:solidFill>
                  <a:prstClr val="black"/>
                </a:solidFill>
                <a:sym typeface="Helvetica Light"/>
              </a:rPr>
              <a:t>Implementação da tabela de universos Corporativo e Local</a:t>
            </a:r>
            <a:endParaRPr lang="pt-PT" sz="800" dirty="0">
              <a:solidFill>
                <a:prstClr val="black"/>
              </a:solidFill>
              <a:latin typeface="Muli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952438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822" y="1132466"/>
            <a:ext cx="10039039" cy="452368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3EE483-0A14-4FAB-AA30-F2A1D9723C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b="1" dirty="0">
                <a:latin typeface="+mn-lt"/>
              </a:rPr>
              <a:t>Pilar III ESG</a:t>
            </a:r>
            <a:endParaRPr lang="pt-PT" b="1" i="1" dirty="0">
              <a:latin typeface="+mn-lt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2853C35-B707-1D1B-D953-FDE54833DDDB}"/>
              </a:ext>
            </a:extLst>
          </p:cNvPr>
          <p:cNvGrpSpPr/>
          <p:nvPr/>
        </p:nvGrpSpPr>
        <p:grpSpPr>
          <a:xfrm>
            <a:off x="956199" y="6183339"/>
            <a:ext cx="1986342" cy="219010"/>
            <a:chOff x="583525" y="6243989"/>
            <a:chExt cx="2093573" cy="230832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54A498C-E6B6-81F9-A7CA-7F86401F3595}"/>
                </a:ext>
              </a:extLst>
            </p:cNvPr>
            <p:cNvSpPr/>
            <p:nvPr/>
          </p:nvSpPr>
          <p:spPr>
            <a:xfrm>
              <a:off x="583525" y="6287405"/>
              <a:ext cx="144000" cy="144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217"/>
              <a:endParaRPr lang="pt-PT">
                <a:solidFill>
                  <a:prstClr val="white"/>
                </a:solidFill>
                <a:latin typeface="Arial"/>
                <a:sym typeface="Helvetica Light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E2455F7-0DC1-747D-1CBB-45A35A08A425}"/>
                </a:ext>
              </a:extLst>
            </p:cNvPr>
            <p:cNvSpPr txBox="1"/>
            <p:nvPr/>
          </p:nvSpPr>
          <p:spPr>
            <a:xfrm>
              <a:off x="727525" y="6243989"/>
              <a:ext cx="194957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17"/>
              <a:r>
                <a:rPr lang="pt-PT" sz="900" dirty="0">
                  <a:solidFill>
                    <a:prstClr val="black"/>
                  </a:solidFill>
                  <a:latin typeface="Muli"/>
                  <a:sym typeface="Helvetica Light"/>
                </a:rPr>
                <a:t>Desinvestimento &amp; Contabilidade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996E780-C371-3571-78B7-D2898D614515}"/>
              </a:ext>
            </a:extLst>
          </p:cNvPr>
          <p:cNvGrpSpPr/>
          <p:nvPr/>
        </p:nvGrpSpPr>
        <p:grpSpPr>
          <a:xfrm>
            <a:off x="3060100" y="6183342"/>
            <a:ext cx="885547" cy="230832"/>
            <a:chOff x="1561408" y="6240198"/>
            <a:chExt cx="933349" cy="243292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6C3D879B-CBEC-D8F0-5318-407303A9372E}"/>
                </a:ext>
              </a:extLst>
            </p:cNvPr>
            <p:cNvSpPr/>
            <p:nvPr/>
          </p:nvSpPr>
          <p:spPr>
            <a:xfrm>
              <a:off x="1561408" y="6283614"/>
              <a:ext cx="144000" cy="144000"/>
            </a:xfrm>
            <a:prstGeom prst="rect">
              <a:avLst/>
            </a:prstGeom>
            <a:solidFill>
              <a:srgbClr val="62B96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217"/>
              <a:endParaRPr lang="pt-PT">
                <a:solidFill>
                  <a:prstClr val="white"/>
                </a:solidFill>
                <a:latin typeface="Arial"/>
                <a:sym typeface="Helvetica Light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BB2118A-FA3F-BF55-36D9-DF1B85526679}"/>
                </a:ext>
              </a:extLst>
            </p:cNvPr>
            <p:cNvSpPr txBox="1"/>
            <p:nvPr/>
          </p:nvSpPr>
          <p:spPr>
            <a:xfrm>
              <a:off x="1705407" y="6240198"/>
              <a:ext cx="789350" cy="2432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17"/>
              <a:r>
                <a:rPr lang="pt-PT" sz="900" dirty="0" smtClean="0">
                  <a:solidFill>
                    <a:prstClr val="black"/>
                  </a:solidFill>
                  <a:latin typeface="Muli"/>
                  <a:sym typeface="Helvetica Light"/>
                </a:rPr>
                <a:t>Tecnologia</a:t>
              </a:r>
              <a:endParaRPr lang="pt-PT" sz="900" dirty="0">
                <a:solidFill>
                  <a:prstClr val="black"/>
                </a:solidFill>
                <a:latin typeface="Muli"/>
                <a:sym typeface="Helvetica Light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0DD1D6D-4DCD-5094-C06D-9440D8FABCC5}"/>
              </a:ext>
            </a:extLst>
          </p:cNvPr>
          <p:cNvGrpSpPr/>
          <p:nvPr/>
        </p:nvGrpSpPr>
        <p:grpSpPr>
          <a:xfrm>
            <a:off x="4461341" y="6183339"/>
            <a:ext cx="629700" cy="219010"/>
            <a:chOff x="3056074" y="6261463"/>
            <a:chExt cx="663694" cy="230832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14E5490-5A41-8CAC-36F3-802AFAC9FD65}"/>
                </a:ext>
              </a:extLst>
            </p:cNvPr>
            <p:cNvSpPr/>
            <p:nvPr/>
          </p:nvSpPr>
          <p:spPr>
            <a:xfrm>
              <a:off x="3056074" y="6304879"/>
              <a:ext cx="144000" cy="144000"/>
            </a:xfrm>
            <a:prstGeom prst="rect">
              <a:avLst/>
            </a:prstGeom>
            <a:solidFill>
              <a:srgbClr val="DEEDF1">
                <a:lumMod val="9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217"/>
              <a:endParaRPr lang="pt-PT">
                <a:solidFill>
                  <a:prstClr val="white"/>
                </a:solidFill>
                <a:latin typeface="Arial"/>
                <a:sym typeface="Helvetica Light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B9E9B86-6857-B3F2-A52E-78003EBB5989}"/>
                </a:ext>
              </a:extLst>
            </p:cNvPr>
            <p:cNvSpPr txBox="1"/>
            <p:nvPr/>
          </p:nvSpPr>
          <p:spPr>
            <a:xfrm>
              <a:off x="3200074" y="6261463"/>
              <a:ext cx="5196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17"/>
              <a:r>
                <a:rPr lang="pt-PT" sz="900" dirty="0" err="1">
                  <a:solidFill>
                    <a:prstClr val="black"/>
                  </a:solidFill>
                  <a:latin typeface="Muli"/>
                  <a:sym typeface="Helvetica Light"/>
                </a:rPr>
                <a:t>Gloval</a:t>
              </a:r>
              <a:endParaRPr lang="pt-PT" sz="900" dirty="0">
                <a:solidFill>
                  <a:prstClr val="black"/>
                </a:solidFill>
                <a:latin typeface="Muli"/>
                <a:sym typeface="Helvetica Light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933684A-70DF-3D0D-9501-382AA3FE6825}"/>
              </a:ext>
            </a:extLst>
          </p:cNvPr>
          <p:cNvGrpSpPr/>
          <p:nvPr/>
        </p:nvGrpSpPr>
        <p:grpSpPr>
          <a:xfrm>
            <a:off x="5208596" y="6183339"/>
            <a:ext cx="1014488" cy="219010"/>
            <a:chOff x="3864976" y="6272670"/>
            <a:chExt cx="1069253" cy="230832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09797A01-5CCC-3750-E417-E02C5D6BD7B0}"/>
                </a:ext>
              </a:extLst>
            </p:cNvPr>
            <p:cNvSpPr/>
            <p:nvPr/>
          </p:nvSpPr>
          <p:spPr>
            <a:xfrm>
              <a:off x="3864976" y="6316086"/>
              <a:ext cx="144000" cy="144000"/>
            </a:xfrm>
            <a:prstGeom prst="rect">
              <a:avLst/>
            </a:prstGeom>
            <a:solidFill>
              <a:srgbClr val="EB0000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217"/>
              <a:endParaRPr lang="pt-PT">
                <a:solidFill>
                  <a:prstClr val="white"/>
                </a:solidFill>
                <a:latin typeface="Arial"/>
                <a:sym typeface="Helvetica Light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6B95EAA-5766-8EE9-0F32-90E28B440EE3}"/>
                </a:ext>
              </a:extLst>
            </p:cNvPr>
            <p:cNvSpPr txBox="1"/>
            <p:nvPr/>
          </p:nvSpPr>
          <p:spPr>
            <a:xfrm>
              <a:off x="4008976" y="6272670"/>
              <a:ext cx="92525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17"/>
              <a:r>
                <a:rPr lang="pt-PT" sz="900" dirty="0">
                  <a:solidFill>
                    <a:prstClr val="black"/>
                  </a:solidFill>
                  <a:latin typeface="Muli"/>
                  <a:sym typeface="Helvetica Light"/>
                </a:rPr>
                <a:t>Contabilidade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D64F5D6-375B-9140-DEF3-AD4A9A760F03}"/>
              </a:ext>
            </a:extLst>
          </p:cNvPr>
          <p:cNvGrpSpPr/>
          <p:nvPr/>
        </p:nvGrpSpPr>
        <p:grpSpPr>
          <a:xfrm>
            <a:off x="6340639" y="6183339"/>
            <a:ext cx="702704" cy="219010"/>
            <a:chOff x="5026747" y="6240199"/>
            <a:chExt cx="740638" cy="230832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9205EB8A-F980-D26C-99DD-26DD5F761756}"/>
                </a:ext>
              </a:extLst>
            </p:cNvPr>
            <p:cNvSpPr/>
            <p:nvPr/>
          </p:nvSpPr>
          <p:spPr>
            <a:xfrm>
              <a:off x="5026747" y="6283615"/>
              <a:ext cx="144000" cy="144000"/>
            </a:xfrm>
            <a:prstGeom prst="rect">
              <a:avLst/>
            </a:prstGeom>
            <a:solidFill>
              <a:srgbClr val="1AB2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217"/>
              <a:endParaRPr lang="pt-PT">
                <a:solidFill>
                  <a:prstClr val="white"/>
                </a:solidFill>
                <a:latin typeface="Arial"/>
                <a:sym typeface="Helvetica Light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EE1BD7F-47E9-2FC5-751E-F675268D481E}"/>
                </a:ext>
              </a:extLst>
            </p:cNvPr>
            <p:cNvSpPr txBox="1"/>
            <p:nvPr/>
          </p:nvSpPr>
          <p:spPr>
            <a:xfrm>
              <a:off x="5170747" y="6240199"/>
              <a:ext cx="59663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17"/>
              <a:r>
                <a:rPr lang="pt-PT" sz="900" dirty="0" err="1">
                  <a:solidFill>
                    <a:prstClr val="black"/>
                  </a:solidFill>
                  <a:latin typeface="Muli"/>
                  <a:sym typeface="Helvetica Light"/>
                </a:rPr>
                <a:t>Neyond</a:t>
              </a:r>
              <a:endParaRPr lang="pt-PT" sz="900" dirty="0">
                <a:solidFill>
                  <a:prstClr val="black"/>
                </a:solidFill>
                <a:latin typeface="Muli"/>
                <a:sym typeface="Helvetica Light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0F1F493-2419-4F87-2535-28EF21E34971}"/>
              </a:ext>
            </a:extLst>
          </p:cNvPr>
          <p:cNvGrpSpPr/>
          <p:nvPr/>
        </p:nvGrpSpPr>
        <p:grpSpPr>
          <a:xfrm>
            <a:off x="7160900" y="6183339"/>
            <a:ext cx="903464" cy="219010"/>
            <a:chOff x="5934890" y="6248749"/>
            <a:chExt cx="952235" cy="230832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474B1AB-4021-1030-3C1A-DD89D18B2B65}"/>
                </a:ext>
              </a:extLst>
            </p:cNvPr>
            <p:cNvSpPr/>
            <p:nvPr/>
          </p:nvSpPr>
          <p:spPr>
            <a:xfrm>
              <a:off x="5934890" y="6292165"/>
              <a:ext cx="144000" cy="144000"/>
            </a:xfrm>
            <a:prstGeom prst="rect">
              <a:avLst/>
            </a:prstGeom>
            <a:solidFill>
              <a:srgbClr val="EB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217"/>
              <a:endParaRPr lang="pt-PT">
                <a:solidFill>
                  <a:prstClr val="white"/>
                </a:solidFill>
                <a:latin typeface="Arial"/>
                <a:sym typeface="Helvetica Light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EABB4C5-1347-5CF0-5398-EBCCF1F5E098}"/>
                </a:ext>
              </a:extLst>
            </p:cNvPr>
            <p:cNvSpPr txBox="1"/>
            <p:nvPr/>
          </p:nvSpPr>
          <p:spPr>
            <a:xfrm>
              <a:off x="6078890" y="6248749"/>
              <a:ext cx="80823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17"/>
              <a:r>
                <a:rPr lang="pt-PT" sz="900" dirty="0">
                  <a:solidFill>
                    <a:prstClr val="black"/>
                  </a:solidFill>
                  <a:latin typeface="Muli"/>
                  <a:sym typeface="Helvetica Light"/>
                </a:rPr>
                <a:t>Corporação</a:t>
              </a: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E7D33982-5487-0088-D081-8EB063230B86}"/>
              </a:ext>
            </a:extLst>
          </p:cNvPr>
          <p:cNvSpPr txBox="1"/>
          <p:nvPr/>
        </p:nvSpPr>
        <p:spPr>
          <a:xfrm>
            <a:off x="851043" y="5947149"/>
            <a:ext cx="877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217"/>
            <a:r>
              <a:rPr lang="pt-PT" sz="1000" b="1" dirty="0">
                <a:solidFill>
                  <a:prstClr val="black"/>
                </a:solidFill>
                <a:latin typeface="Muli"/>
                <a:sym typeface="Helvetica Light"/>
              </a:rPr>
              <a:t>Legenda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F27900AA-4B94-777D-354E-E7DD109B7E28}"/>
              </a:ext>
            </a:extLst>
          </p:cNvPr>
          <p:cNvSpPr txBox="1">
            <a:spLocks/>
          </p:cNvSpPr>
          <p:nvPr/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pt-PT" sz="1600" b="0" kern="1200" dirty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267" marR="0" lvl="0" indent="-114267" algn="l" defTabSz="457066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>
                <a:solidFill>
                  <a:srgbClr val="003E51"/>
                </a:solidFill>
                <a:sym typeface="Helvetica Light"/>
              </a:rPr>
              <a:t>Calendário – Reporte de </a:t>
            </a:r>
            <a:r>
              <a:rPr lang="pt-PT" dirty="0" smtClean="0">
                <a:solidFill>
                  <a:srgbClr val="003E51"/>
                </a:solidFill>
                <a:sym typeface="Helvetica Light"/>
              </a:rPr>
              <a:t>Setembro 2025</a:t>
            </a:r>
            <a:endParaRPr kumimoji="0" lang="pt-PT" sz="12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205EB8A-F980-D26C-99DD-26DD5F761756}"/>
              </a:ext>
            </a:extLst>
          </p:cNvPr>
          <p:cNvSpPr/>
          <p:nvPr/>
        </p:nvSpPr>
        <p:spPr>
          <a:xfrm>
            <a:off x="5403850" y="4176874"/>
            <a:ext cx="2719800" cy="255051"/>
          </a:xfrm>
          <a:prstGeom prst="rect">
            <a:avLst/>
          </a:prstGeom>
          <a:solidFill>
            <a:srgbClr val="1AB2B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/>
            <a:r>
              <a:rPr lang="pt-PT" sz="1000" dirty="0" smtClean="0">
                <a:solidFill>
                  <a:prstClr val="white"/>
                </a:solidFill>
                <a:sym typeface="Helvetica Light"/>
              </a:rPr>
              <a:t>Passagem conhecimento universos</a:t>
            </a:r>
            <a:endParaRPr lang="pt-PT" sz="1000" dirty="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05EB8A-F980-D26C-99DD-26DD5F761756}"/>
              </a:ext>
            </a:extLst>
          </p:cNvPr>
          <p:cNvSpPr/>
          <p:nvPr/>
        </p:nvSpPr>
        <p:spPr>
          <a:xfrm>
            <a:off x="1092822" y="1561888"/>
            <a:ext cx="7105028" cy="255051"/>
          </a:xfrm>
          <a:prstGeom prst="rect">
            <a:avLst/>
          </a:prstGeom>
          <a:solidFill>
            <a:srgbClr val="1AB2B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/>
            <a:r>
              <a:rPr lang="pt-PT" sz="1000" dirty="0" smtClean="0">
                <a:solidFill>
                  <a:prstClr val="white"/>
                </a:solidFill>
                <a:sym typeface="Helvetica Light"/>
              </a:rPr>
              <a:t>Certificação das tabelas de universos Corporativo e Local e incorporação nos processos de geração dos </a:t>
            </a:r>
            <a:r>
              <a:rPr lang="pt-PT" sz="1000" i="1" dirty="0" smtClean="0">
                <a:solidFill>
                  <a:prstClr val="white"/>
                </a:solidFill>
                <a:sym typeface="Helvetica Light"/>
              </a:rPr>
              <a:t>Templates</a:t>
            </a:r>
            <a:r>
              <a:rPr lang="pt-PT" sz="1000" dirty="0" smtClean="0">
                <a:solidFill>
                  <a:prstClr val="white"/>
                </a:solidFill>
                <a:sym typeface="Helvetica Light"/>
              </a:rPr>
              <a:t> e Satélites</a:t>
            </a:r>
            <a:endParaRPr lang="pt-PT" sz="1000" dirty="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05EB8A-F980-D26C-99DD-26DD5F761756}"/>
              </a:ext>
            </a:extLst>
          </p:cNvPr>
          <p:cNvSpPr/>
          <p:nvPr/>
        </p:nvSpPr>
        <p:spPr>
          <a:xfrm>
            <a:off x="1092822" y="4176699"/>
            <a:ext cx="4252399" cy="255051"/>
          </a:xfrm>
          <a:prstGeom prst="rect">
            <a:avLst/>
          </a:prstGeom>
          <a:solidFill>
            <a:srgbClr val="1AB2B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/>
            <a:r>
              <a:rPr lang="pt-PT" sz="1000" dirty="0" smtClean="0">
                <a:solidFill>
                  <a:prstClr val="white"/>
                </a:solidFill>
                <a:sym typeface="Helvetica Light"/>
              </a:rPr>
              <a:t>Certificação das tabelas de universos Corporativo e Local e incorporação nos processos de geração dos </a:t>
            </a:r>
            <a:r>
              <a:rPr lang="pt-PT" sz="1000" i="1" dirty="0" smtClean="0">
                <a:solidFill>
                  <a:prstClr val="white"/>
                </a:solidFill>
                <a:sym typeface="Helvetica Light"/>
              </a:rPr>
              <a:t>Templates</a:t>
            </a:r>
            <a:r>
              <a:rPr lang="pt-PT" sz="1000" dirty="0" smtClean="0">
                <a:solidFill>
                  <a:prstClr val="white"/>
                </a:solidFill>
                <a:sym typeface="Helvetica Light"/>
              </a:rPr>
              <a:t> e Satélites</a:t>
            </a:r>
            <a:endParaRPr lang="pt-PT" sz="1000" dirty="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205EB8A-F980-D26C-99DD-26DD5F761756}"/>
              </a:ext>
            </a:extLst>
          </p:cNvPr>
          <p:cNvSpPr/>
          <p:nvPr/>
        </p:nvSpPr>
        <p:spPr>
          <a:xfrm>
            <a:off x="1092822" y="2462165"/>
            <a:ext cx="7105028" cy="255051"/>
          </a:xfrm>
          <a:prstGeom prst="rect">
            <a:avLst/>
          </a:prstGeom>
          <a:solidFill>
            <a:srgbClr val="1AB2B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/>
            <a:r>
              <a:rPr lang="pt-PT" sz="1000" dirty="0" smtClean="0">
                <a:solidFill>
                  <a:prstClr val="white"/>
                </a:solidFill>
                <a:sym typeface="Helvetica Light"/>
              </a:rPr>
              <a:t>Certificação das tabelas de universos Corporativo e Local e incorporação nos processos de geração dos </a:t>
            </a:r>
            <a:r>
              <a:rPr lang="pt-PT" sz="1000" i="1" dirty="0" smtClean="0">
                <a:solidFill>
                  <a:prstClr val="white"/>
                </a:solidFill>
                <a:sym typeface="Helvetica Light"/>
              </a:rPr>
              <a:t>Templates</a:t>
            </a:r>
            <a:r>
              <a:rPr lang="pt-PT" sz="1000" dirty="0" smtClean="0">
                <a:solidFill>
                  <a:prstClr val="white"/>
                </a:solidFill>
                <a:sym typeface="Helvetica Light"/>
              </a:rPr>
              <a:t> e Satélites</a:t>
            </a:r>
            <a:endParaRPr lang="pt-PT" sz="1000" dirty="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205EB8A-F980-D26C-99DD-26DD5F761756}"/>
              </a:ext>
            </a:extLst>
          </p:cNvPr>
          <p:cNvSpPr/>
          <p:nvPr/>
        </p:nvSpPr>
        <p:spPr>
          <a:xfrm>
            <a:off x="1092822" y="3305143"/>
            <a:ext cx="7105028" cy="255051"/>
          </a:xfrm>
          <a:prstGeom prst="rect">
            <a:avLst/>
          </a:prstGeom>
          <a:solidFill>
            <a:srgbClr val="1AB2B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/>
            <a:r>
              <a:rPr lang="pt-PT" sz="1000" dirty="0" smtClean="0">
                <a:solidFill>
                  <a:prstClr val="white"/>
                </a:solidFill>
                <a:sym typeface="Helvetica Light"/>
              </a:rPr>
              <a:t>Certificação das tabelas de universos Corporativo e Local e incorporação nos processos de geração dos </a:t>
            </a:r>
            <a:r>
              <a:rPr lang="pt-PT" sz="1000" i="1" dirty="0" smtClean="0">
                <a:solidFill>
                  <a:prstClr val="white"/>
                </a:solidFill>
                <a:sym typeface="Helvetica Light"/>
              </a:rPr>
              <a:t>Templates</a:t>
            </a:r>
            <a:r>
              <a:rPr lang="pt-PT" sz="1000" dirty="0" smtClean="0">
                <a:solidFill>
                  <a:prstClr val="white"/>
                </a:solidFill>
                <a:sym typeface="Helvetica Light"/>
              </a:rPr>
              <a:t> e Satélites</a:t>
            </a:r>
            <a:endParaRPr lang="pt-PT" sz="1000" dirty="0">
              <a:solidFill>
                <a:prstClr val="white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651945738"/>
      </p:ext>
    </p:extLst>
  </p:cSld>
  <p:clrMapOvr>
    <a:masterClrMapping/>
  </p:clrMapOvr>
</p:sld>
</file>

<file path=ppt/theme/theme1.xml><?xml version="1.0" encoding="utf-8"?>
<a:theme xmlns:a="http://schemas.openxmlformats.org/drawingml/2006/main" name="16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50000"/>
            <a:lumOff val="50000"/>
          </a:schemeClr>
        </a:solidFill>
        <a:ln w="25400" cap="flat" cmpd="sng" algn="ctr">
          <a:noFill/>
          <a:prstDash val="solid"/>
        </a:ln>
        <a:effectLst/>
      </a:spPr>
      <a:bodyPr rtlCol="0" anchor="ctr">
        <a:noAutofit/>
      </a:bodyPr>
      <a:lstStyle>
        <a:defPPr marL="0" marR="0" indent="0" algn="l" defTabSz="1375364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kern="1200" cap="none" spc="0" normalizeH="0" baseline="0" noProof="0" dirty="0">
            <a:ln>
              <a:noFill/>
            </a:ln>
            <a:solidFill>
              <a:srgbClr val="FFFFFF"/>
            </a:solidFill>
            <a:effectLst/>
            <a:uLnTx/>
            <a:uFillTx/>
            <a:latin typeface="Muli Light" panose="00000400000000000000" pitchFamily="2" charset="0"/>
            <a:ea typeface="+mn-ea"/>
          </a:defRPr>
        </a:defPPr>
      </a:lstStyle>
    </a:spDef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neyond3">
      <a:dk1>
        <a:srgbClr val="003E51"/>
      </a:dk1>
      <a:lt1>
        <a:srgbClr val="FFFFFF"/>
      </a:lt1>
      <a:dk2>
        <a:srgbClr val="009FDF"/>
      </a:dk2>
      <a:lt2>
        <a:srgbClr val="EBEB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Muli Black"/>
        <a:ea typeface=""/>
        <a:cs typeface=""/>
      </a:majorFont>
      <a:minorFont>
        <a:latin typeface="Mul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CB2EC0B2B90E8438FD7BC14926F993E" ma:contentTypeVersion="4" ma:contentTypeDescription="Criar um novo documento." ma:contentTypeScope="" ma:versionID="be759159fba742280a39fb3521d08ed2">
  <xsd:schema xmlns:xsd="http://www.w3.org/2001/XMLSchema" xmlns:xs="http://www.w3.org/2001/XMLSchema" xmlns:p="http://schemas.microsoft.com/office/2006/metadata/properties" xmlns:ns2="572bdb13-c576-4166-8827-65186753b8b5" targetNamespace="http://schemas.microsoft.com/office/2006/metadata/properties" ma:root="true" ma:fieldsID="d490092f0e6329ebb50fc4120afe6317" ns2:_="">
    <xsd:import namespace="572bdb13-c576-4166-8827-65186753b8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2bdb13-c576-4166-8827-65186753b8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DBB344-F44E-4909-9303-14027A61D8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8D91E9-E06C-4398-882C-59DCB9A37A16}">
  <ds:schemaRefs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infopath/2007/PartnerControls"/>
    <ds:schemaRef ds:uri="http://purl.org/dc/elements/1.1/"/>
    <ds:schemaRef ds:uri="http://schemas.microsoft.com/sharepoint/v3"/>
    <ds:schemaRef ds:uri="http://schemas.openxmlformats.org/package/2006/metadata/core-properties"/>
    <ds:schemaRef ds:uri="340aea95-890d-43fd-a456-8e279056e40c"/>
    <ds:schemaRef ds:uri="c1fb8f92-2b85-4698-b4e6-d8439f298c5f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CA7BE62-DE60-4F0F-B8AE-5916099261AE}"/>
</file>

<file path=docProps/app.xml><?xml version="1.0" encoding="utf-8"?>
<Properties xmlns="http://schemas.openxmlformats.org/officeDocument/2006/extended-properties" xmlns:vt="http://schemas.openxmlformats.org/officeDocument/2006/docPropsVTypes">
  <TotalTime>1969</TotalTime>
  <Words>244</Words>
  <Application>Microsoft Office PowerPoint</Application>
  <PresentationFormat>Widescreen</PresentationFormat>
  <Paragraphs>54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5" baseType="lpstr">
      <vt:lpstr>Abril Fatface</vt:lpstr>
      <vt:lpstr>Arial</vt:lpstr>
      <vt:lpstr>Calibri</vt:lpstr>
      <vt:lpstr>Courier New</vt:lpstr>
      <vt:lpstr>Helvetica Light</vt:lpstr>
      <vt:lpstr>Muli</vt:lpstr>
      <vt:lpstr>Muli Black</vt:lpstr>
      <vt:lpstr>Muli Bold</vt:lpstr>
      <vt:lpstr>Muli Light</vt:lpstr>
      <vt:lpstr>Wingdings</vt:lpstr>
      <vt:lpstr>16_Custom Design</vt:lpstr>
      <vt:lpstr>Custom Design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Braga, Joana Almeida</dc:creator>
  <cp:lastModifiedBy>Ana Rita Geraldo de Caguerelho</cp:lastModifiedBy>
  <cp:revision>36</cp:revision>
  <dcterms:created xsi:type="dcterms:W3CDTF">2024-07-04T17:26:11Z</dcterms:created>
  <dcterms:modified xsi:type="dcterms:W3CDTF">2025-07-25T17:22:33Z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0x010100FCB2EC0B2B90E8438FD7BC14926F993E</vt:lpwstr>
  </property>
  <property fmtid="{D5CDD505-2E9C-101B-9397-08002B2CF9AE}" pid="3" name="MediaServiceImageTags">
    <vt:lpwstr/>
  </property>
  <property fmtid="{D5CDD505-2E9C-101B-9397-08002B2CF9AE}" pid="4" name="MSIP_Label_0c2abd79-57a9-4473-8700-c843f76a1e37_Enabled">
    <vt:lpwstr>true</vt:lpwstr>
  </property>
  <property fmtid="{D5CDD505-2E9C-101B-9397-08002B2CF9AE}" pid="5" name="MSIP_Label_0c2abd79-57a9-4473-8700-c843f76a1e37_SetDate">
    <vt:lpwstr>2025-01-15T14:13:05Z</vt:lpwstr>
  </property>
  <property fmtid="{D5CDD505-2E9C-101B-9397-08002B2CF9AE}" pid="6" name="MSIP_Label_0c2abd79-57a9-4473-8700-c843f76a1e37_Method">
    <vt:lpwstr>Privileged</vt:lpwstr>
  </property>
  <property fmtid="{D5CDD505-2E9C-101B-9397-08002B2CF9AE}" pid="7" name="MSIP_Label_0c2abd79-57a9-4473-8700-c843f76a1e37_Name">
    <vt:lpwstr>Internal</vt:lpwstr>
  </property>
  <property fmtid="{D5CDD505-2E9C-101B-9397-08002B2CF9AE}" pid="8" name="MSIP_Label_0c2abd79-57a9-4473-8700-c843f76a1e37_SiteId">
    <vt:lpwstr>35595a02-4d6d-44ac-99e1-f9ab4cd872db</vt:lpwstr>
  </property>
  <property fmtid="{D5CDD505-2E9C-101B-9397-08002B2CF9AE}" pid="9" name="MSIP_Label_0c2abd79-57a9-4473-8700-c843f76a1e37_ActionId">
    <vt:lpwstr>9b9e3cc7-a211-4133-9450-44874f436c3e</vt:lpwstr>
  </property>
  <property fmtid="{D5CDD505-2E9C-101B-9397-08002B2CF9AE}" pid="10" name="MSIP_Label_0c2abd79-57a9-4473-8700-c843f76a1e37_ContentBits">
    <vt:lpwstr>0</vt:lpwstr>
  </property>
</Properties>
</file>